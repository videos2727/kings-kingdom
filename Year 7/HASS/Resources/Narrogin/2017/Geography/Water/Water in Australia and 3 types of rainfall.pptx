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9" r:id="rId3"/>
    <p:sldId id="260" r:id="rId4"/>
    <p:sldId id="261" r:id="rId5"/>
    <p:sldId id="263" r:id="rId6"/>
    <p:sldId id="264" r:id="rId7"/>
    <p:sldId id="262" r:id="rId8"/>
    <p:sldId id="265" r:id="rId9"/>
    <p:sldId id="266" r:id="rId10"/>
    <p:sldId id="267" r:id="rId11"/>
    <p:sldId id="269"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4" d="100"/>
          <a:sy n="114" d="100"/>
        </p:scale>
        <p:origin x="-72" y="-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E903A-F962-40B7-8717-1FC8248373F7}" type="datetimeFigureOut">
              <a:rPr lang="en-AU" smtClean="0"/>
              <a:t>27/07/2017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7A0392-6977-4E32-AD4E-19BF879309E2}" type="slidenum">
              <a:rPr lang="en-AU" smtClean="0"/>
              <a:t>‹#›</a:t>
            </a:fld>
            <a:endParaRPr lang="en-AU"/>
          </a:p>
        </p:txBody>
      </p:sp>
    </p:spTree>
    <p:extLst>
      <p:ext uri="{BB962C8B-B14F-4D97-AF65-F5344CB8AC3E}">
        <p14:creationId xmlns:p14="http://schemas.microsoft.com/office/powerpoint/2010/main" val="3761329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eaLnBrk="1" hangingPunct="1"/>
            <a:fld id="{E5392085-D797-47B7-A314-C4890687CC92}" type="slidenum">
              <a:rPr lang="en-GB" sz="1200" smtClean="0">
                <a:solidFill>
                  <a:schemeClr val="tx1"/>
                </a:solidFill>
              </a:rPr>
              <a:pPr eaLnBrk="1" hangingPunct="1"/>
              <a:t>8</a:t>
            </a:fld>
            <a:endParaRPr lang="en-GB" sz="1200" smtClean="0">
              <a:solidFill>
                <a:schemeClr val="tx1"/>
              </a:solidFill>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p:spPr>
        <p:txBody>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eaLnBrk="1" hangingPunct="1"/>
            <a:fld id="{C342D301-DC54-4B44-A863-C2EF2CF8524A}" type="slidenum">
              <a:rPr lang="en-GB" sz="1200" smtClean="0">
                <a:solidFill>
                  <a:schemeClr val="tx1"/>
                </a:solidFill>
              </a:rPr>
              <a:pPr eaLnBrk="1" hangingPunct="1"/>
              <a:t>9</a:t>
            </a:fld>
            <a:endParaRPr lang="en-GB" sz="1200" smtClean="0">
              <a:solidFill>
                <a:schemeClr val="tx1"/>
              </a:solidFill>
            </a:endParaRPr>
          </a:p>
        </p:txBody>
      </p:sp>
      <p:sp>
        <p:nvSpPr>
          <p:cNvPr id="13315" name="Rectangle 2"/>
          <p:cNvSpPr>
            <a:spLocks noGrp="1" noRot="1" noChangeAspect="1" noChangeArrowheads="1" noTextEdit="1"/>
          </p:cNvSpPr>
          <p:nvPr>
            <p:ph type="sldImg"/>
          </p:nvPr>
        </p:nvSpPr>
        <p:spPr>
          <a:xfrm>
            <a:off x="736600" y="685800"/>
            <a:ext cx="5384800" cy="4038600"/>
          </a:xfrm>
          <a:ln/>
        </p:spPr>
      </p:sp>
      <p:sp>
        <p:nvSpPr>
          <p:cNvPr id="13316" name="Rectangle 3"/>
          <p:cNvSpPr>
            <a:spLocks noGrp="1" noChangeArrowheads="1"/>
          </p:cNvSpPr>
          <p:nvPr>
            <p:ph type="body" idx="1"/>
          </p:nvPr>
        </p:nvSpPr>
        <p:spPr>
          <a:xfrm>
            <a:off x="914400" y="4876800"/>
            <a:ext cx="5029200" cy="3581400"/>
          </a:xfrm>
          <a:noFill/>
        </p:spPr>
        <p:txBody>
          <a:bodyPr/>
          <a:lstStyle/>
          <a:p>
            <a:pPr algn="ctr" eaLnBrk="1" hangingPunct="1"/>
            <a:r>
              <a:rPr lang="en-GB" sz="1600" smtClean="0">
                <a:latin typeface="Verdana" pitchFamily="34" charset="0"/>
              </a:rPr>
              <a:t>Write detailed notes on each process here: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eaLnBrk="1" hangingPunct="1"/>
            <a:fld id="{83C562D0-4738-4003-82F2-45DA82FB9E17}" type="slidenum">
              <a:rPr lang="en-GB" sz="1200" smtClean="0">
                <a:solidFill>
                  <a:schemeClr val="tx1"/>
                </a:solidFill>
              </a:rPr>
              <a:pPr eaLnBrk="1" hangingPunct="1"/>
              <a:t>10</a:t>
            </a:fld>
            <a:endParaRPr lang="en-GB" sz="1200" smtClean="0">
              <a:solidFill>
                <a:schemeClr val="tx1"/>
              </a:solidFill>
            </a:endParaRPr>
          </a:p>
        </p:txBody>
      </p:sp>
      <p:sp>
        <p:nvSpPr>
          <p:cNvPr id="14339" name="Rectangle 1026"/>
          <p:cNvSpPr>
            <a:spLocks noGrp="1" noRot="1" noChangeAspect="1" noChangeArrowheads="1" noTextEdit="1"/>
          </p:cNvSpPr>
          <p:nvPr>
            <p:ph type="sldImg"/>
          </p:nvPr>
        </p:nvSpPr>
        <p:spPr>
          <a:xfrm>
            <a:off x="939800" y="381000"/>
            <a:ext cx="4978400" cy="3733800"/>
          </a:xfrm>
          <a:ln/>
        </p:spPr>
      </p:sp>
      <p:sp>
        <p:nvSpPr>
          <p:cNvPr id="14340" name="Rectangle 1027"/>
          <p:cNvSpPr>
            <a:spLocks noGrp="1" noChangeArrowheads="1"/>
          </p:cNvSpPr>
          <p:nvPr>
            <p:ph type="body" idx="1"/>
          </p:nvPr>
        </p:nvSpPr>
        <p:spPr>
          <a:noFill/>
        </p:spPr>
        <p:txBody>
          <a:bodyPr/>
          <a:lstStyle/>
          <a:p>
            <a:pPr eaLnBrk="1" hangingPunct="1"/>
            <a:endParaRPr lang="en-US" sz="1600" smtClean="0">
              <a:latin typeface="Verdana"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FA5DADC6-B77A-49EB-B3A3-89CD102A84B2}"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4218232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FA5DADC6-B77A-49EB-B3A3-89CD102A84B2}"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2723433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5DADC6-B77A-49EB-B3A3-89CD102A84B2}"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1560692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FA5DADC6-B77A-49EB-B3A3-89CD102A84B2}" type="datetimeFigureOut">
              <a:rPr lang="en-AU" smtClean="0"/>
              <a:t>27/07/2017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3834519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FA5DADC6-B77A-49EB-B3A3-89CD102A84B2}" type="datetimeFigureOut">
              <a:rPr lang="en-AU" smtClean="0"/>
              <a:t>27/07/2017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3059597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FA5DADC6-B77A-49EB-B3A3-89CD102A84B2}" type="datetimeFigureOut">
              <a:rPr lang="en-AU" smtClean="0"/>
              <a:t>27/07/2017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2298737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5DADC6-B77A-49EB-B3A3-89CD102A84B2}" type="datetimeFigureOut">
              <a:rPr lang="en-AU" smtClean="0"/>
              <a:t>27/07/2017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4117882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5DADC6-B77A-49EB-B3A3-89CD102A84B2}" type="datetimeFigureOut">
              <a:rPr lang="en-AU" smtClean="0"/>
              <a:t>27/07/2017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703381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5DADC6-B77A-49EB-B3A3-89CD102A84B2}" type="datetimeFigureOut">
              <a:rPr lang="en-AU" smtClean="0"/>
              <a:t>27/07/2017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1497024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FA5DADC6-B77A-49EB-B3A3-89CD102A84B2}"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881252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FA5DADC6-B77A-49EB-B3A3-89CD102A84B2}"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126505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7000"/>
            <a:lum/>
          </a:blip>
          <a:srcRect/>
          <a:stretch>
            <a:fillRect l="-7000" r="-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5DADC6-B77A-49EB-B3A3-89CD102A84B2}" type="datetimeFigureOut">
              <a:rPr lang="en-AU" smtClean="0"/>
              <a:t>27/07/2017</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9383AE-ABD2-4981-998E-581DB4A6A3A9}" type="slidenum">
              <a:rPr lang="en-AU" smtClean="0"/>
              <a:t>‹#›</a:t>
            </a:fld>
            <a:endParaRPr lang="en-AU"/>
          </a:p>
        </p:txBody>
      </p:sp>
    </p:spTree>
    <p:extLst>
      <p:ext uri="{BB962C8B-B14F-4D97-AF65-F5344CB8AC3E}">
        <p14:creationId xmlns:p14="http://schemas.microsoft.com/office/powerpoint/2010/main" val="414850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gif"/></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3.gif"/></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3.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Investigating </a:t>
            </a:r>
            <a:r>
              <a:rPr lang="en-AU" dirty="0"/>
              <a:t>W</a:t>
            </a:r>
            <a:r>
              <a:rPr lang="en-AU" dirty="0" smtClean="0"/>
              <a:t>ater </a:t>
            </a:r>
            <a:endParaRPr lang="en-AU" dirty="0"/>
          </a:p>
        </p:txBody>
      </p:sp>
      <p:sp>
        <p:nvSpPr>
          <p:cNvPr id="3" name="Subtitle 2"/>
          <p:cNvSpPr>
            <a:spLocks noGrp="1"/>
          </p:cNvSpPr>
          <p:nvPr>
            <p:ph type="subTitle" idx="1"/>
          </p:nvPr>
        </p:nvSpPr>
        <p:spPr/>
        <p:txBody>
          <a:bodyPr/>
          <a:lstStyle/>
          <a:p>
            <a:r>
              <a:rPr lang="en-AU" dirty="0" smtClean="0"/>
              <a:t>- Where it comes from</a:t>
            </a:r>
          </a:p>
          <a:p>
            <a:r>
              <a:rPr lang="en-AU" dirty="0" smtClean="0"/>
              <a:t> - How we use it </a:t>
            </a:r>
            <a:endParaRPr lang="en-AU" dirty="0"/>
          </a:p>
        </p:txBody>
      </p:sp>
    </p:spTree>
    <p:extLst>
      <p:ext uri="{BB962C8B-B14F-4D97-AF65-F5344CB8AC3E}">
        <p14:creationId xmlns:p14="http://schemas.microsoft.com/office/powerpoint/2010/main" val="26454018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Think , Pair, Share</a:t>
            </a:r>
            <a:endParaRPr lang="en-AU" dirty="0"/>
          </a:p>
        </p:txBody>
      </p:sp>
      <p:sp>
        <p:nvSpPr>
          <p:cNvPr id="3" name="Content Placeholder 2"/>
          <p:cNvSpPr>
            <a:spLocks noGrp="1"/>
          </p:cNvSpPr>
          <p:nvPr>
            <p:ph idx="1"/>
          </p:nvPr>
        </p:nvSpPr>
        <p:spPr/>
        <p:txBody>
          <a:bodyPr/>
          <a:lstStyle/>
          <a:p>
            <a:r>
              <a:rPr lang="en-AU" dirty="0" smtClean="0"/>
              <a:t>On you own think about the following question:</a:t>
            </a:r>
          </a:p>
          <a:p>
            <a:pPr marL="0" indent="0" algn="ctr">
              <a:buNone/>
            </a:pPr>
            <a:endParaRPr lang="en-US" dirty="0" smtClean="0"/>
          </a:p>
          <a:p>
            <a:pPr marL="0" indent="0" algn="ctr">
              <a:buNone/>
            </a:pPr>
            <a:r>
              <a:rPr lang="en-US" dirty="0" smtClean="0"/>
              <a:t>Where does </a:t>
            </a:r>
            <a:r>
              <a:rPr lang="en-US" dirty="0"/>
              <a:t>Australia’s water </a:t>
            </a:r>
            <a:r>
              <a:rPr lang="en-US" dirty="0" smtClean="0"/>
              <a:t>come from?</a:t>
            </a:r>
          </a:p>
          <a:p>
            <a:pPr marL="0" indent="0" algn="ctr">
              <a:buNone/>
            </a:pPr>
            <a:endParaRPr lang="en-US" dirty="0" smtClean="0"/>
          </a:p>
          <a:p>
            <a:r>
              <a:rPr lang="en-US" dirty="0" smtClean="0"/>
              <a:t>When your time is up share your ideas with the person next to you.</a:t>
            </a:r>
          </a:p>
          <a:p>
            <a:r>
              <a:rPr lang="en-US" dirty="0" smtClean="0"/>
              <a:t>Be prepared to share with the class. </a:t>
            </a:r>
          </a:p>
        </p:txBody>
      </p:sp>
    </p:spTree>
    <p:extLst>
      <p:ext uri="{BB962C8B-B14F-4D97-AF65-F5344CB8AC3E}">
        <p14:creationId xmlns:p14="http://schemas.microsoft.com/office/powerpoint/2010/main" val="13697687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 in Australia</a:t>
            </a:r>
            <a:endParaRPr lang="en-AU" dirty="0"/>
          </a:p>
        </p:txBody>
      </p:sp>
      <p:sp>
        <p:nvSpPr>
          <p:cNvPr id="3" name="Content Placeholder 2"/>
          <p:cNvSpPr>
            <a:spLocks noGrp="1"/>
          </p:cNvSpPr>
          <p:nvPr>
            <p:ph idx="1"/>
          </p:nvPr>
        </p:nvSpPr>
        <p:spPr/>
        <p:txBody>
          <a:bodyPr/>
          <a:lstStyle/>
          <a:p>
            <a:r>
              <a:rPr lang="en-AU" dirty="0" smtClean="0"/>
              <a:t>We should already know the main uses of water in our country. </a:t>
            </a:r>
          </a:p>
          <a:p>
            <a:pPr marL="0" indent="0">
              <a:buNone/>
            </a:pPr>
            <a:endParaRPr lang="en-AU" dirty="0"/>
          </a:p>
          <a:p>
            <a:pPr marL="0" indent="0" algn="ctr">
              <a:buNone/>
            </a:pPr>
            <a:r>
              <a:rPr lang="en-AU" dirty="0" smtClean="0"/>
              <a:t>Can you name them?</a:t>
            </a:r>
          </a:p>
          <a:p>
            <a:pPr marL="0" indent="0" algn="ctr">
              <a:buNone/>
            </a:pPr>
            <a:endParaRPr lang="en-AU" dirty="0" smtClean="0"/>
          </a:p>
          <a:p>
            <a:r>
              <a:rPr lang="en-AU" dirty="0" smtClean="0"/>
              <a:t>Water availability is therefore critical to the well being of our society.</a:t>
            </a:r>
          </a:p>
          <a:p>
            <a:pPr algn="ctr"/>
            <a:endParaRPr lang="en-AU" dirty="0" smtClean="0"/>
          </a:p>
          <a:p>
            <a:pPr marL="0" indent="0">
              <a:buNone/>
            </a:pPr>
            <a:endParaRPr lang="en-AU" dirty="0"/>
          </a:p>
          <a:p>
            <a:pPr marL="0" indent="0">
              <a:buNone/>
            </a:pPr>
            <a:endParaRPr lang="en-AU" dirty="0" smtClean="0"/>
          </a:p>
        </p:txBody>
      </p:sp>
    </p:spTree>
    <p:extLst>
      <p:ext uri="{BB962C8B-B14F-4D97-AF65-F5344CB8AC3E}">
        <p14:creationId xmlns:p14="http://schemas.microsoft.com/office/powerpoint/2010/main" val="5243981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 Cycle</a:t>
            </a:r>
            <a:endParaRPr lang="en-AU" dirty="0"/>
          </a:p>
        </p:txBody>
      </p:sp>
      <p:sp>
        <p:nvSpPr>
          <p:cNvPr id="3" name="Content Placeholder 2"/>
          <p:cNvSpPr>
            <a:spLocks noGrp="1"/>
          </p:cNvSpPr>
          <p:nvPr>
            <p:ph idx="1"/>
          </p:nvPr>
        </p:nvSpPr>
        <p:spPr/>
        <p:txBody>
          <a:bodyPr/>
          <a:lstStyle/>
          <a:p>
            <a:r>
              <a:rPr lang="en-AU" dirty="0" smtClean="0"/>
              <a:t>We also know that water is essentially a renewable resource as it is part of a closed system where water is constantly exchanged between the oceans, land and the atmosphere.</a:t>
            </a:r>
          </a:p>
          <a:p>
            <a:endParaRPr lang="en-AU" dirty="0"/>
          </a:p>
          <a:p>
            <a:pPr marL="0" indent="0" algn="ctr">
              <a:buNone/>
            </a:pPr>
            <a:r>
              <a:rPr lang="en-AU" dirty="0" smtClean="0"/>
              <a:t>Can you remember PERTIC??</a:t>
            </a:r>
            <a:endParaRPr lang="en-AU" dirty="0"/>
          </a:p>
        </p:txBody>
      </p:sp>
    </p:spTree>
    <p:extLst>
      <p:ext uri="{BB962C8B-B14F-4D97-AF65-F5344CB8AC3E}">
        <p14:creationId xmlns:p14="http://schemas.microsoft.com/office/powerpoint/2010/main" val="10683388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 Availability</a:t>
            </a:r>
            <a:endParaRPr lang="en-AU" dirty="0"/>
          </a:p>
        </p:txBody>
      </p:sp>
      <p:sp>
        <p:nvSpPr>
          <p:cNvPr id="3" name="Content Placeholder 2"/>
          <p:cNvSpPr>
            <a:spLocks noGrp="1"/>
          </p:cNvSpPr>
          <p:nvPr>
            <p:ph idx="1"/>
          </p:nvPr>
        </p:nvSpPr>
        <p:spPr/>
        <p:txBody>
          <a:bodyPr/>
          <a:lstStyle/>
          <a:p>
            <a:pPr marL="0" indent="0">
              <a:buNone/>
            </a:pPr>
            <a:r>
              <a:rPr lang="en-AU" dirty="0" smtClean="0"/>
              <a:t>However…</a:t>
            </a:r>
          </a:p>
          <a:p>
            <a:pPr marL="0" indent="0">
              <a:buNone/>
            </a:pPr>
            <a:r>
              <a:rPr lang="en-AU" dirty="0" smtClean="0"/>
              <a:t>The following processes determine how much water is available to us:</a:t>
            </a:r>
            <a:endParaRPr lang="en-AU" dirty="0"/>
          </a:p>
          <a:p>
            <a:pPr>
              <a:buFontTx/>
              <a:buChar char="-"/>
            </a:pPr>
            <a:r>
              <a:rPr lang="en-AU" dirty="0" smtClean="0"/>
              <a:t>How much rain we receive  </a:t>
            </a:r>
          </a:p>
          <a:p>
            <a:pPr>
              <a:buFontTx/>
              <a:buChar char="-"/>
            </a:pPr>
            <a:r>
              <a:rPr lang="en-AU" dirty="0" smtClean="0"/>
              <a:t>How quickly it evaporates</a:t>
            </a:r>
          </a:p>
          <a:p>
            <a:pPr>
              <a:buFontTx/>
              <a:buChar char="-"/>
            </a:pPr>
            <a:r>
              <a:rPr lang="en-AU" dirty="0" smtClean="0"/>
              <a:t>How much is transpired by plants</a:t>
            </a:r>
          </a:p>
          <a:p>
            <a:pPr>
              <a:buFontTx/>
              <a:buChar char="-"/>
            </a:pPr>
            <a:r>
              <a:rPr lang="en-AU" dirty="0" smtClean="0"/>
              <a:t>How much runs off land to fill lakes and aquifers</a:t>
            </a:r>
          </a:p>
          <a:p>
            <a:pPr marL="0" indent="0">
              <a:buNone/>
            </a:pPr>
            <a:endParaRPr lang="en-AU" dirty="0" smtClean="0"/>
          </a:p>
          <a:p>
            <a:pPr>
              <a:buFontTx/>
              <a:buChar char="-"/>
            </a:pPr>
            <a:endParaRPr lang="en-AU" dirty="0" smtClean="0"/>
          </a:p>
          <a:p>
            <a:pPr>
              <a:buFontTx/>
              <a:buChar char="-"/>
            </a:pPr>
            <a:endParaRPr lang="en-AU" dirty="0" smtClean="0"/>
          </a:p>
          <a:p>
            <a:pPr marL="0" indent="0">
              <a:buNone/>
            </a:pPr>
            <a:endParaRPr lang="en-AU" dirty="0"/>
          </a:p>
          <a:p>
            <a:pPr marL="0" indent="0">
              <a:buNone/>
            </a:pPr>
            <a:endParaRPr lang="en-AU" dirty="0"/>
          </a:p>
        </p:txBody>
      </p:sp>
    </p:spTree>
    <p:extLst>
      <p:ext uri="{BB962C8B-B14F-4D97-AF65-F5344CB8AC3E}">
        <p14:creationId xmlns:p14="http://schemas.microsoft.com/office/powerpoint/2010/main" val="21047727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 </a:t>
            </a:r>
            <a:r>
              <a:rPr lang="en-AU" dirty="0" smtClean="0"/>
              <a:t>Availability</a:t>
            </a:r>
            <a:endParaRPr lang="en-AU" dirty="0"/>
          </a:p>
        </p:txBody>
      </p:sp>
      <p:sp>
        <p:nvSpPr>
          <p:cNvPr id="3" name="Content Placeholder 2"/>
          <p:cNvSpPr>
            <a:spLocks noGrp="1"/>
          </p:cNvSpPr>
          <p:nvPr>
            <p:ph idx="1"/>
          </p:nvPr>
        </p:nvSpPr>
        <p:spPr/>
        <p:txBody>
          <a:bodyPr>
            <a:normAutofit lnSpcReduction="10000"/>
          </a:bodyPr>
          <a:lstStyle/>
          <a:p>
            <a:r>
              <a:rPr lang="en-AU" dirty="0"/>
              <a:t>Water is a scarce resource in many parts of Australia. </a:t>
            </a:r>
            <a:endParaRPr lang="en-AU" dirty="0" smtClean="0"/>
          </a:p>
          <a:p>
            <a:r>
              <a:rPr lang="en-AU" dirty="0"/>
              <a:t>To secure water supplies, water is stored above ground (for example, in dams) and below ground in </a:t>
            </a:r>
            <a:r>
              <a:rPr lang="en-AU" dirty="0" smtClean="0"/>
              <a:t>aquifers</a:t>
            </a:r>
          </a:p>
          <a:p>
            <a:r>
              <a:rPr lang="en-AU" dirty="0"/>
              <a:t>This is important in Australia because of variable rainfall, both across the continent and from year-to-year. </a:t>
            </a:r>
            <a:r>
              <a:rPr lang="en-AU" dirty="0" smtClean="0"/>
              <a:t/>
            </a:r>
            <a:br>
              <a:rPr lang="en-AU" dirty="0" smtClean="0"/>
            </a:br>
            <a:endParaRPr lang="en-AU" dirty="0"/>
          </a:p>
        </p:txBody>
      </p:sp>
    </p:spTree>
    <p:extLst>
      <p:ext uri="{BB962C8B-B14F-4D97-AF65-F5344CB8AC3E}">
        <p14:creationId xmlns:p14="http://schemas.microsoft.com/office/powerpoint/2010/main" val="2323965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Rainfall</a:t>
            </a:r>
            <a:endParaRPr lang="en-AU" dirty="0"/>
          </a:p>
        </p:txBody>
      </p:sp>
      <p:sp>
        <p:nvSpPr>
          <p:cNvPr id="3" name="Content Placeholder 2"/>
          <p:cNvSpPr>
            <a:spLocks noGrp="1"/>
          </p:cNvSpPr>
          <p:nvPr>
            <p:ph idx="1"/>
          </p:nvPr>
        </p:nvSpPr>
        <p:spPr/>
        <p:txBody>
          <a:bodyPr/>
          <a:lstStyle/>
          <a:p>
            <a:pPr marL="0" indent="0">
              <a:buNone/>
            </a:pPr>
            <a:r>
              <a:rPr lang="en-AU" dirty="0" smtClean="0"/>
              <a:t>Lets take a closer look at the different types of rainfall we might receive.</a:t>
            </a:r>
          </a:p>
          <a:p>
            <a:pPr marL="0" indent="0">
              <a:buNone/>
            </a:pPr>
            <a:r>
              <a:rPr lang="en-AU" dirty="0" smtClean="0"/>
              <a:t>We need to try and understand why the amount of rainfall we receive might vary.</a:t>
            </a:r>
          </a:p>
          <a:p>
            <a:pPr marL="0" indent="0">
              <a:buNone/>
            </a:pPr>
            <a:endParaRPr lang="en-AU" dirty="0"/>
          </a:p>
          <a:p>
            <a:pPr marL="0" indent="0" algn="ctr">
              <a:buNone/>
            </a:pPr>
            <a:r>
              <a:rPr lang="en-AU" dirty="0" smtClean="0"/>
              <a:t>How might each of the following rainfall processes effect the amount of rainfall each state gets?</a:t>
            </a:r>
            <a:endParaRPr lang="en-AU" dirty="0"/>
          </a:p>
        </p:txBody>
      </p:sp>
    </p:spTree>
    <p:extLst>
      <p:ext uri="{BB962C8B-B14F-4D97-AF65-F5344CB8AC3E}">
        <p14:creationId xmlns:p14="http://schemas.microsoft.com/office/powerpoint/2010/main" val="15283215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6000" r="-6000"/>
          </a:stretch>
        </a:blipFill>
        <a:effectLst/>
      </p:bgPr>
    </p:bg>
    <p:spTree>
      <p:nvGrpSpPr>
        <p:cNvPr id="1" name=""/>
        <p:cNvGrpSpPr/>
        <p:nvPr/>
      </p:nvGrpSpPr>
      <p:grpSpPr>
        <a:xfrm>
          <a:off x="0" y="0"/>
          <a:ext cx="0" cy="0"/>
          <a:chOff x="0" y="0"/>
          <a:chExt cx="0" cy="0"/>
        </a:xfrm>
      </p:grpSpPr>
      <p:pic>
        <p:nvPicPr>
          <p:cNvPr id="5122" name="Picture 2" descr="C:\WINDOWS\Clip Art and Images\Images\Animated Gifs\Weather\rain.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62000" y="533400"/>
            <a:ext cx="19050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ext Box 3"/>
          <p:cNvSpPr txBox="1">
            <a:spLocks noChangeArrowheads="1"/>
          </p:cNvSpPr>
          <p:nvPr/>
        </p:nvSpPr>
        <p:spPr bwMode="auto">
          <a:xfrm>
            <a:off x="3348038" y="609600"/>
            <a:ext cx="549116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algn="r" eaLnBrk="1" hangingPunct="1"/>
            <a:r>
              <a:rPr lang="en-GB" sz="2400" u="sng">
                <a:solidFill>
                  <a:schemeClr val="tx1"/>
                </a:solidFill>
              </a:rPr>
              <a:t>The Three Causes of Rain</a:t>
            </a:r>
          </a:p>
          <a:p>
            <a:pPr eaLnBrk="1" hangingPunct="1"/>
            <a:r>
              <a:rPr lang="en-GB" sz="2400" u="sng">
                <a:solidFill>
                  <a:schemeClr val="tx1"/>
                </a:solidFill>
              </a:rPr>
              <a:t>Convectional</a:t>
            </a:r>
          </a:p>
        </p:txBody>
      </p:sp>
      <p:sp>
        <p:nvSpPr>
          <p:cNvPr id="5128" name="Text Box 8"/>
          <p:cNvSpPr txBox="1">
            <a:spLocks noChangeArrowheads="1"/>
          </p:cNvSpPr>
          <p:nvPr/>
        </p:nvSpPr>
        <p:spPr bwMode="auto">
          <a:xfrm>
            <a:off x="4211960" y="1737833"/>
            <a:ext cx="4495800"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114300" eaLnBrk="0" hangingPunct="0">
              <a:defRPr sz="700">
                <a:solidFill>
                  <a:srgbClr val="000000"/>
                </a:solidFill>
                <a:latin typeface="Verdana" pitchFamily="34" charset="0"/>
              </a:defRPr>
            </a:lvl1pPr>
            <a:lvl2pPr marL="742950" indent="-285750" defTabSz="114300" eaLnBrk="0" hangingPunct="0">
              <a:defRPr sz="700">
                <a:solidFill>
                  <a:srgbClr val="000000"/>
                </a:solidFill>
                <a:latin typeface="Verdana" pitchFamily="34" charset="0"/>
              </a:defRPr>
            </a:lvl2pPr>
            <a:lvl3pPr marL="1143000" indent="-228600" defTabSz="114300" eaLnBrk="0" hangingPunct="0">
              <a:defRPr sz="700">
                <a:solidFill>
                  <a:srgbClr val="000000"/>
                </a:solidFill>
                <a:latin typeface="Verdana" pitchFamily="34" charset="0"/>
              </a:defRPr>
            </a:lvl3pPr>
            <a:lvl4pPr marL="1600200" indent="-228600" defTabSz="114300" eaLnBrk="0" hangingPunct="0">
              <a:defRPr sz="700">
                <a:solidFill>
                  <a:srgbClr val="000000"/>
                </a:solidFill>
                <a:latin typeface="Verdana" pitchFamily="34" charset="0"/>
              </a:defRPr>
            </a:lvl4pPr>
            <a:lvl5pPr marL="2057400" indent="-228600" defTabSz="114300" eaLnBrk="0" hangingPunct="0">
              <a:defRPr sz="700">
                <a:solidFill>
                  <a:srgbClr val="000000"/>
                </a:solidFill>
                <a:latin typeface="Verdana" pitchFamily="34" charset="0"/>
              </a:defRPr>
            </a:lvl5pPr>
            <a:lvl6pPr marL="2514600" indent="-228600" defTabSz="114300" eaLnBrk="0" fontAlgn="base" hangingPunct="0">
              <a:spcBef>
                <a:spcPct val="50000"/>
              </a:spcBef>
              <a:spcAft>
                <a:spcPct val="0"/>
              </a:spcAft>
              <a:defRPr sz="700">
                <a:solidFill>
                  <a:srgbClr val="000000"/>
                </a:solidFill>
                <a:latin typeface="Verdana" pitchFamily="34" charset="0"/>
              </a:defRPr>
            </a:lvl6pPr>
            <a:lvl7pPr marL="2971800" indent="-228600" defTabSz="114300" eaLnBrk="0" fontAlgn="base" hangingPunct="0">
              <a:spcBef>
                <a:spcPct val="50000"/>
              </a:spcBef>
              <a:spcAft>
                <a:spcPct val="0"/>
              </a:spcAft>
              <a:defRPr sz="700">
                <a:solidFill>
                  <a:srgbClr val="000000"/>
                </a:solidFill>
                <a:latin typeface="Verdana" pitchFamily="34" charset="0"/>
              </a:defRPr>
            </a:lvl7pPr>
            <a:lvl8pPr marL="3429000" indent="-228600" defTabSz="114300" eaLnBrk="0" fontAlgn="base" hangingPunct="0">
              <a:spcBef>
                <a:spcPct val="50000"/>
              </a:spcBef>
              <a:spcAft>
                <a:spcPct val="0"/>
              </a:spcAft>
              <a:defRPr sz="700">
                <a:solidFill>
                  <a:srgbClr val="000000"/>
                </a:solidFill>
                <a:latin typeface="Verdana" pitchFamily="34" charset="0"/>
              </a:defRPr>
            </a:lvl8pPr>
            <a:lvl9pPr marL="3886200" indent="-228600" defTabSz="114300" eaLnBrk="0" fontAlgn="base" hangingPunct="0">
              <a:spcBef>
                <a:spcPct val="50000"/>
              </a:spcBef>
              <a:spcAft>
                <a:spcPct val="0"/>
              </a:spcAft>
              <a:defRPr sz="700">
                <a:solidFill>
                  <a:srgbClr val="000000"/>
                </a:solidFill>
                <a:latin typeface="Verdana" pitchFamily="34" charset="0"/>
              </a:defRPr>
            </a:lvl9pPr>
          </a:lstStyle>
          <a:p>
            <a:pPr algn="just" eaLnBrk="1" hangingPunct="1"/>
            <a:r>
              <a:rPr lang="en-GB" sz="1400" dirty="0">
                <a:ea typeface="Verdana" pitchFamily="34" charset="0"/>
                <a:cs typeface="Verdana" pitchFamily="34" charset="0"/>
              </a:rPr>
              <a:t>1 - The sun is the driving force behind the process of convection which is the main process behind the creation of rain.</a:t>
            </a:r>
          </a:p>
          <a:p>
            <a:pPr algn="just" eaLnBrk="1" hangingPunct="1"/>
            <a:r>
              <a:rPr lang="en-GB" sz="1400" dirty="0">
                <a:ea typeface="Verdana" pitchFamily="34" charset="0"/>
                <a:cs typeface="Verdana" pitchFamily="34" charset="0"/>
              </a:rPr>
              <a:t>2 - The sun heats up the ground and this in turn heats up the air. The sun cannot directly heat the air. When the water is heated, it turns to water vapour – a gas!</a:t>
            </a:r>
          </a:p>
          <a:p>
            <a:pPr algn="just" eaLnBrk="1" hangingPunct="1"/>
            <a:r>
              <a:rPr lang="en-GB" sz="1400" dirty="0">
                <a:ea typeface="Verdana" pitchFamily="34" charset="0"/>
                <a:cs typeface="Verdana" pitchFamily="34" charset="0"/>
              </a:rPr>
              <a:t>3 - As the air is warm, it rises up into the atmosphere, taking the water vapour with it. As it does so, it cools as it gets further away from its heat source (the sea).</a:t>
            </a:r>
          </a:p>
          <a:p>
            <a:pPr algn="just" eaLnBrk="1" hangingPunct="1"/>
            <a:r>
              <a:rPr lang="en-GB" sz="1400" dirty="0">
                <a:ea typeface="Verdana" pitchFamily="34" charset="0"/>
                <a:cs typeface="Verdana" pitchFamily="34" charset="0"/>
              </a:rPr>
              <a:t>4 - Eventually, the air and vapour cool to the point where the vapour (gas) condenses, making it visible as clouds.</a:t>
            </a:r>
          </a:p>
          <a:p>
            <a:pPr algn="just" eaLnBrk="1" hangingPunct="1"/>
            <a:r>
              <a:rPr lang="en-GB" sz="1400" dirty="0">
                <a:ea typeface="Verdana" pitchFamily="34" charset="0"/>
                <a:cs typeface="Verdana" pitchFamily="34" charset="0"/>
              </a:rPr>
              <a:t>5 - Water droplets within the clouds collide and join together to form rain drops, which fall back down to the sea / ground. </a:t>
            </a:r>
            <a:br>
              <a:rPr lang="en-GB" sz="1400" dirty="0">
                <a:ea typeface="Verdana" pitchFamily="34" charset="0"/>
                <a:cs typeface="Verdana" pitchFamily="34" charset="0"/>
              </a:rPr>
            </a:br>
            <a:endParaRPr lang="en-GB" sz="1400" dirty="0">
              <a:ea typeface="Verdana" pitchFamily="34" charset="0"/>
              <a:cs typeface="Verdana" pitchFamily="34" charset="0"/>
            </a:endParaRPr>
          </a:p>
        </p:txBody>
      </p:sp>
      <p:pic>
        <p:nvPicPr>
          <p:cNvPr id="8" name="Picture 7" descr="C:\Users\Dave\Desktop\Park House School\KS3 Resources\Geography\PHS Weather &amp; Climate\PHS Work book\Scan_Pic0028.jpg"/>
          <p:cNvPicPr/>
          <p:nvPr/>
        </p:nvPicPr>
        <p:blipFill rotWithShape="1">
          <a:blip r:embed="rId5" cstate="print">
            <a:extLst>
              <a:ext uri="{28A0092B-C50C-407E-A947-70E740481C1C}">
                <a14:useLocalDpi xmlns:a14="http://schemas.microsoft.com/office/drawing/2010/main" val="0"/>
              </a:ext>
            </a:extLst>
          </a:blip>
          <a:srcRect l="6456" t="17647" r="51984" b="60294"/>
          <a:stretch/>
        </p:blipFill>
        <p:spPr bwMode="auto">
          <a:xfrm>
            <a:off x="323528" y="2416895"/>
            <a:ext cx="3640654" cy="3024336"/>
          </a:xfrm>
          <a:prstGeom prst="rect">
            <a:avLst/>
          </a:prstGeom>
          <a:ln w="2286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309919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nodeType="after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1+#ppt_w/2"/>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5123"/>
                                        </p:tgtEl>
                                        <p:attrNameLst>
                                          <p:attrName>style.visibility</p:attrName>
                                        </p:attrNameLst>
                                      </p:cBhvr>
                                      <p:to>
                                        <p:strVal val="visible"/>
                                      </p:to>
                                    </p:set>
                                    <p:anim calcmode="lin" valueType="num">
                                      <p:cBhvr additive="base">
                                        <p:cTn id="12" dur="500" fill="hold"/>
                                        <p:tgtEl>
                                          <p:spTgt spid="5123"/>
                                        </p:tgtEl>
                                        <p:attrNameLst>
                                          <p:attrName>ppt_x</p:attrName>
                                        </p:attrNameLst>
                                      </p:cBhvr>
                                      <p:tavLst>
                                        <p:tav tm="0">
                                          <p:val>
                                            <p:strVal val="#ppt_x"/>
                                          </p:val>
                                        </p:tav>
                                        <p:tav tm="100000">
                                          <p:val>
                                            <p:strVal val="#ppt_x"/>
                                          </p:val>
                                        </p:tav>
                                      </p:tavLst>
                                    </p:anim>
                                    <p:anim calcmode="lin" valueType="num">
                                      <p:cBhvr additive="base">
                                        <p:cTn id="13" dur="500" fill="hold"/>
                                        <p:tgtEl>
                                          <p:spTgt spid="5123"/>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5128"/>
                                        </p:tgtEl>
                                        <p:attrNameLst>
                                          <p:attrName>style.visibility</p:attrName>
                                        </p:attrNameLst>
                                      </p:cBhvr>
                                      <p:to>
                                        <p:strVal val="visible"/>
                                      </p:to>
                                    </p:set>
                                    <p:animEffect transition="in" filter="dissolve">
                                      <p:cBhvr>
                                        <p:cTn id="18" dur="500"/>
                                        <p:tgtEl>
                                          <p:spTgt spid="5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8"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7000"/>
            <a:lum/>
          </a:blip>
          <a:srcRect/>
          <a:stretch>
            <a:fillRect l="-6000" r="-6000"/>
          </a:stretch>
        </a:blipFill>
        <a:effectLst/>
      </p:bgPr>
    </p:bg>
    <p:spTree>
      <p:nvGrpSpPr>
        <p:cNvPr id="1" name=""/>
        <p:cNvGrpSpPr/>
        <p:nvPr/>
      </p:nvGrpSpPr>
      <p:grpSpPr>
        <a:xfrm>
          <a:off x="0" y="0"/>
          <a:ext cx="0" cy="0"/>
          <a:chOff x="0" y="0"/>
          <a:chExt cx="0" cy="0"/>
        </a:xfrm>
      </p:grpSpPr>
      <p:pic>
        <p:nvPicPr>
          <p:cNvPr id="6146" name="Picture 2" descr="C:\WINDOWS\Clip Art and Images\Images\Animated Gifs\Weather\rain.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62000" y="533400"/>
            <a:ext cx="19050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Text Box 3"/>
          <p:cNvSpPr txBox="1">
            <a:spLocks noChangeArrowheads="1"/>
          </p:cNvSpPr>
          <p:nvPr/>
        </p:nvSpPr>
        <p:spPr bwMode="auto">
          <a:xfrm>
            <a:off x="2971800" y="609600"/>
            <a:ext cx="5867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algn="r" eaLnBrk="1" hangingPunct="1"/>
            <a:r>
              <a:rPr lang="en-GB" sz="2800" u="sng">
                <a:solidFill>
                  <a:schemeClr val="tx1"/>
                </a:solidFill>
              </a:rPr>
              <a:t>The Three Causes of Rain</a:t>
            </a:r>
          </a:p>
          <a:p>
            <a:pPr eaLnBrk="1" hangingPunct="1"/>
            <a:r>
              <a:rPr lang="en-GB" sz="2400" u="sng">
                <a:solidFill>
                  <a:schemeClr val="tx1"/>
                </a:solidFill>
              </a:rPr>
              <a:t>Relief / Orographic Rain</a:t>
            </a:r>
          </a:p>
        </p:txBody>
      </p:sp>
      <p:sp>
        <p:nvSpPr>
          <p:cNvPr id="6150" name="Text Box 6"/>
          <p:cNvSpPr txBox="1">
            <a:spLocks noChangeArrowheads="1"/>
          </p:cNvSpPr>
          <p:nvPr/>
        </p:nvSpPr>
        <p:spPr bwMode="auto">
          <a:xfrm>
            <a:off x="4355976" y="2209800"/>
            <a:ext cx="4343400" cy="413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algn="just" eaLnBrk="1" hangingPunct="1"/>
            <a:r>
              <a:rPr lang="en-GB" sz="1400" dirty="0"/>
              <a:t>1 - Air is forced to rise over a hill or mountain. As air rises away from the heat source (the ground heated up by the sun) the air cools by 1°C per 100m.</a:t>
            </a:r>
          </a:p>
          <a:p>
            <a:pPr algn="just" eaLnBrk="1" hangingPunct="1"/>
            <a:r>
              <a:rPr lang="en-GB" sz="1400" dirty="0"/>
              <a:t>2 - As the water vapour in the air condenses, it forms clouds and rains. Air that has cooled cannot hold as much water as warmer air.</a:t>
            </a:r>
          </a:p>
          <a:p>
            <a:pPr algn="just" eaLnBrk="1" hangingPunct="1"/>
            <a:r>
              <a:rPr lang="en-GB" sz="1400" dirty="0"/>
              <a:t>3 - The air starts to descend the hill or mountain and begins to warm up again.</a:t>
            </a:r>
          </a:p>
          <a:p>
            <a:pPr algn="just" eaLnBrk="1" hangingPunct="1"/>
            <a:r>
              <a:rPr lang="en-GB" sz="1400" dirty="0"/>
              <a:t>4 - As air warms up, it can hold more water and as it has precipitated, the air has less water overall. Therefore clouds disappear and rain stops. This side of the relief feature is known as a RAINSHADOW.</a:t>
            </a:r>
          </a:p>
          <a:p>
            <a:pPr algn="just" eaLnBrk="1" hangingPunct="1"/>
            <a:endParaRPr lang="en-GB" sz="1400" dirty="0"/>
          </a:p>
        </p:txBody>
      </p:sp>
      <p:pic>
        <p:nvPicPr>
          <p:cNvPr id="8" name="Picture 7" descr="C:\Users\Dave\Desktop\Park House School\KS3 Resources\Geography\PHS Weather &amp; Climate\PHS Work book\Scan_Pic0028.jpg"/>
          <p:cNvPicPr/>
          <p:nvPr/>
        </p:nvPicPr>
        <p:blipFill rotWithShape="1">
          <a:blip r:embed="rId5" cstate="print">
            <a:extLst>
              <a:ext uri="{28A0092B-C50C-407E-A947-70E740481C1C}">
                <a14:useLocalDpi xmlns:a14="http://schemas.microsoft.com/office/drawing/2010/main" val="0"/>
              </a:ext>
            </a:extLst>
          </a:blip>
          <a:srcRect l="7464" t="45294" r="51985" b="33677"/>
          <a:stretch/>
        </p:blipFill>
        <p:spPr bwMode="auto">
          <a:xfrm>
            <a:off x="346908" y="2564904"/>
            <a:ext cx="3721036" cy="3024336"/>
          </a:xfrm>
          <a:prstGeom prst="rect">
            <a:avLst/>
          </a:prstGeom>
          <a:ln w="2286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4990872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nodeType="after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1+#ppt_w/2"/>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6147"/>
                                        </p:tgtEl>
                                        <p:attrNameLst>
                                          <p:attrName>style.visibility</p:attrName>
                                        </p:attrNameLst>
                                      </p:cBhvr>
                                      <p:to>
                                        <p:strVal val="visible"/>
                                      </p:to>
                                    </p:set>
                                    <p:anim calcmode="lin" valueType="num">
                                      <p:cBhvr additive="base">
                                        <p:cTn id="12" dur="500" fill="hold"/>
                                        <p:tgtEl>
                                          <p:spTgt spid="6147"/>
                                        </p:tgtEl>
                                        <p:attrNameLst>
                                          <p:attrName>ppt_x</p:attrName>
                                        </p:attrNameLst>
                                      </p:cBhvr>
                                      <p:tavLst>
                                        <p:tav tm="0">
                                          <p:val>
                                            <p:strVal val="#ppt_x"/>
                                          </p:val>
                                        </p:tav>
                                        <p:tav tm="100000">
                                          <p:val>
                                            <p:strVal val="#ppt_x"/>
                                          </p:val>
                                        </p:tav>
                                      </p:tavLst>
                                    </p:anim>
                                    <p:anim calcmode="lin" valueType="num">
                                      <p:cBhvr additive="base">
                                        <p:cTn id="13" dur="500" fill="hold"/>
                                        <p:tgtEl>
                                          <p:spTgt spid="6147"/>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150"/>
                                        </p:tgtEl>
                                        <p:attrNameLst>
                                          <p:attrName>style.visibility</p:attrName>
                                        </p:attrNameLst>
                                      </p:cBhvr>
                                      <p:to>
                                        <p:strVal val="visible"/>
                                      </p:to>
                                    </p:set>
                                    <p:animEffect transition="in" filter="dissolve">
                                      <p:cBhvr>
                                        <p:cTn id="18" dur="500"/>
                                        <p:tgtEl>
                                          <p:spTgt spid="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p:bldP spid="6150"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7000"/>
            <a:lum/>
          </a:blip>
          <a:srcRect/>
          <a:stretch>
            <a:fillRect l="-17000" r="-17000"/>
          </a:stretch>
        </a:blipFill>
        <a:effectLst/>
      </p:bgPr>
    </p:bg>
    <p:spTree>
      <p:nvGrpSpPr>
        <p:cNvPr id="1" name=""/>
        <p:cNvGrpSpPr/>
        <p:nvPr/>
      </p:nvGrpSpPr>
      <p:grpSpPr>
        <a:xfrm>
          <a:off x="0" y="0"/>
          <a:ext cx="0" cy="0"/>
          <a:chOff x="0" y="0"/>
          <a:chExt cx="0" cy="0"/>
        </a:xfrm>
      </p:grpSpPr>
      <p:pic>
        <p:nvPicPr>
          <p:cNvPr id="7170" name="Picture 2" descr="C:\WINDOWS\Clip Art and Images\Images\Animated Gifs\Weather\rain.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62000" y="533400"/>
            <a:ext cx="19050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Text Box 3"/>
          <p:cNvSpPr txBox="1">
            <a:spLocks noChangeArrowheads="1"/>
          </p:cNvSpPr>
          <p:nvPr/>
        </p:nvSpPr>
        <p:spPr bwMode="auto">
          <a:xfrm>
            <a:off x="2971800" y="609600"/>
            <a:ext cx="5867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algn="r" eaLnBrk="1" hangingPunct="1"/>
            <a:r>
              <a:rPr lang="en-GB" sz="2800" u="sng">
                <a:solidFill>
                  <a:schemeClr val="tx1"/>
                </a:solidFill>
              </a:rPr>
              <a:t>The Three Causes of Rain</a:t>
            </a:r>
          </a:p>
          <a:p>
            <a:pPr eaLnBrk="1" hangingPunct="1"/>
            <a:r>
              <a:rPr lang="en-GB" sz="2400" u="sng">
                <a:solidFill>
                  <a:schemeClr val="tx1"/>
                </a:solidFill>
              </a:rPr>
              <a:t>Frontal / Cyclonic Rain</a:t>
            </a:r>
          </a:p>
        </p:txBody>
      </p:sp>
      <p:sp>
        <p:nvSpPr>
          <p:cNvPr id="7176" name="Text Box 8"/>
          <p:cNvSpPr txBox="1">
            <a:spLocks noChangeArrowheads="1"/>
          </p:cNvSpPr>
          <p:nvPr/>
        </p:nvSpPr>
        <p:spPr bwMode="auto">
          <a:xfrm>
            <a:off x="4427984" y="2381315"/>
            <a:ext cx="4648200" cy="3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eaLnBrk="1" hangingPunct="1"/>
            <a:r>
              <a:rPr lang="en-GB" sz="1600" dirty="0"/>
              <a:t>1 - The colder air mass is more dense than the warmer air mass, so carries on pushing forward along the ground.</a:t>
            </a:r>
          </a:p>
          <a:p>
            <a:pPr eaLnBrk="1" hangingPunct="1"/>
            <a:r>
              <a:rPr lang="en-GB" sz="1600" dirty="0"/>
              <a:t>2 - The warmer air mass is lighter than the colder one so is forced to rise over the advancing cold air mass.</a:t>
            </a:r>
          </a:p>
          <a:p>
            <a:pPr eaLnBrk="1" hangingPunct="1"/>
            <a:r>
              <a:rPr lang="en-GB" sz="1600" dirty="0"/>
              <a:t>3 - As the air is forced to rise, it cools and water vapour in the air condenses to form clouds.</a:t>
            </a:r>
          </a:p>
          <a:p>
            <a:pPr eaLnBrk="1" hangingPunct="1"/>
            <a:r>
              <a:rPr lang="en-GB" sz="1600" dirty="0"/>
              <a:t>4 - Further forcing of the air (now with clouds) upwards causes precipitation to occur.</a:t>
            </a:r>
          </a:p>
        </p:txBody>
      </p:sp>
      <p:pic>
        <p:nvPicPr>
          <p:cNvPr id="8" name="Picture 7" descr="C:\Users\Dave\Desktop\Park House School\KS3 Resources\Geography\PHS Weather &amp; Climate\PHS Work book\Scan_Pic0028.jpg"/>
          <p:cNvPicPr/>
          <p:nvPr/>
        </p:nvPicPr>
        <p:blipFill rotWithShape="1">
          <a:blip r:embed="rId5" cstate="print">
            <a:extLst>
              <a:ext uri="{28A0092B-C50C-407E-A947-70E740481C1C}">
                <a14:useLocalDpi xmlns:a14="http://schemas.microsoft.com/office/drawing/2010/main" val="0"/>
              </a:ext>
            </a:extLst>
          </a:blip>
          <a:srcRect l="8070" t="69706" r="51984" b="6912"/>
          <a:stretch/>
        </p:blipFill>
        <p:spPr bwMode="auto">
          <a:xfrm>
            <a:off x="355282" y="2590800"/>
            <a:ext cx="3856678" cy="3142456"/>
          </a:xfrm>
          <a:prstGeom prst="rect">
            <a:avLst/>
          </a:prstGeom>
          <a:ln w="2286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138870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nodeType="after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1+#ppt_w/2"/>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7171"/>
                                        </p:tgtEl>
                                        <p:attrNameLst>
                                          <p:attrName>style.visibility</p:attrName>
                                        </p:attrNameLst>
                                      </p:cBhvr>
                                      <p:to>
                                        <p:strVal val="visible"/>
                                      </p:to>
                                    </p:set>
                                    <p:anim calcmode="lin" valueType="num">
                                      <p:cBhvr additive="base">
                                        <p:cTn id="12" dur="500" fill="hold"/>
                                        <p:tgtEl>
                                          <p:spTgt spid="7171"/>
                                        </p:tgtEl>
                                        <p:attrNameLst>
                                          <p:attrName>ppt_x</p:attrName>
                                        </p:attrNameLst>
                                      </p:cBhvr>
                                      <p:tavLst>
                                        <p:tav tm="0">
                                          <p:val>
                                            <p:strVal val="#ppt_x"/>
                                          </p:val>
                                        </p:tav>
                                        <p:tav tm="100000">
                                          <p:val>
                                            <p:strVal val="#ppt_x"/>
                                          </p:val>
                                        </p:tav>
                                      </p:tavLst>
                                    </p:anim>
                                    <p:anim calcmode="lin" valueType="num">
                                      <p:cBhvr additive="base">
                                        <p:cTn id="13" dur="500" fill="hold"/>
                                        <p:tgtEl>
                                          <p:spTgt spid="7171"/>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7176"/>
                                        </p:tgtEl>
                                        <p:attrNameLst>
                                          <p:attrName>style.visibility</p:attrName>
                                        </p:attrNameLst>
                                      </p:cBhvr>
                                      <p:to>
                                        <p:strVal val="visible"/>
                                      </p:to>
                                    </p:set>
                                    <p:animEffect transition="in" filter="dissolve">
                                      <p:cBhvr>
                                        <p:cTn id="18" dur="500"/>
                                        <p:tgtEl>
                                          <p:spTgt spid="7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P spid="717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Your Task</a:t>
            </a:r>
            <a:endParaRPr lang="en-AU" dirty="0"/>
          </a:p>
        </p:txBody>
      </p:sp>
      <p:sp>
        <p:nvSpPr>
          <p:cNvPr id="3" name="Content Placeholder 2"/>
          <p:cNvSpPr>
            <a:spLocks noGrp="1"/>
          </p:cNvSpPr>
          <p:nvPr>
            <p:ph idx="1"/>
          </p:nvPr>
        </p:nvSpPr>
        <p:spPr/>
        <p:txBody>
          <a:bodyPr>
            <a:normAutofit fontScale="92500" lnSpcReduction="20000"/>
          </a:bodyPr>
          <a:lstStyle/>
          <a:p>
            <a:pPr marL="0" indent="0">
              <a:buNone/>
            </a:pPr>
            <a:r>
              <a:rPr lang="en-AU" dirty="0" smtClean="0"/>
              <a:t>Watch the video which will help give another explanation of the 3 types of rain.</a:t>
            </a:r>
          </a:p>
          <a:p>
            <a:pPr marL="0" indent="0">
              <a:buNone/>
            </a:pPr>
            <a:endParaRPr lang="en-AU" dirty="0"/>
          </a:p>
          <a:p>
            <a:pPr marL="0" indent="0">
              <a:buNone/>
            </a:pPr>
            <a:r>
              <a:rPr lang="en-AU" dirty="0" smtClean="0"/>
              <a:t>Once it has finished try to complete the work sheet to help you remember how each type of rain occurs. </a:t>
            </a:r>
          </a:p>
          <a:p>
            <a:pPr marL="0" indent="0">
              <a:buNone/>
            </a:pPr>
            <a:endParaRPr lang="en-AU" dirty="0" smtClean="0"/>
          </a:p>
          <a:p>
            <a:pPr marL="0" indent="0">
              <a:buNone/>
            </a:pPr>
            <a:r>
              <a:rPr lang="en-AU" dirty="0" smtClean="0"/>
              <a:t>Ext: If you finish the worksheet try to write an explanation under each one to suggest how this type of rainfall might influence different parts of Australia.</a:t>
            </a:r>
            <a:endParaRPr lang="en-AU" dirty="0"/>
          </a:p>
        </p:txBody>
      </p:sp>
    </p:spTree>
    <p:extLst>
      <p:ext uri="{BB962C8B-B14F-4D97-AF65-F5344CB8AC3E}">
        <p14:creationId xmlns:p14="http://schemas.microsoft.com/office/powerpoint/2010/main" val="3413356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713</Words>
  <Application>Microsoft Office PowerPoint</Application>
  <PresentationFormat>On-screen Show (4:3)</PresentationFormat>
  <Paragraphs>69</Paragraphs>
  <Slides>11</Slides>
  <Notes>3</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Investigating Water </vt:lpstr>
      <vt:lpstr>Think , Pair, Share</vt:lpstr>
      <vt:lpstr>Water in Australia</vt:lpstr>
      <vt:lpstr>Water Cycle</vt:lpstr>
      <vt:lpstr>Water Availability</vt:lpstr>
      <vt:lpstr>Water Availability</vt:lpstr>
      <vt:lpstr>Rainfall</vt:lpstr>
      <vt:lpstr>PowerPoint Presentation</vt:lpstr>
      <vt:lpstr>PowerPoint Presentation</vt:lpstr>
      <vt:lpstr>PowerPoint Presentation</vt:lpstr>
      <vt:lpstr>Your Task</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Investigating Water</dc:title>
  <dc:creator>LocalAdmin</dc:creator>
  <cp:lastModifiedBy>GOODWIN Nina</cp:lastModifiedBy>
  <cp:revision>7</cp:revision>
  <dcterms:created xsi:type="dcterms:W3CDTF">2015-08-09T02:04:10Z</dcterms:created>
  <dcterms:modified xsi:type="dcterms:W3CDTF">2017-07-27T08:11:34Z</dcterms:modified>
</cp:coreProperties>
</file>
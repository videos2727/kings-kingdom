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2" r:id="rId4"/>
    <p:sldId id="263" r:id="rId5"/>
    <p:sldId id="257" r:id="rId6"/>
    <p:sldId id="259" r:id="rId7"/>
    <p:sldId id="258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918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38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30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695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567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77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104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913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409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887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300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66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573DF-6660-415E-95FC-066448ED88C4}" type="datetimeFigureOut">
              <a:rPr lang="en-AU" smtClean="0"/>
              <a:t>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A7DEE-B496-4B24-A5E8-A2759FF02A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70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000" dirty="0" smtClean="0">
                <a:latin typeface="Book Antiqua" pitchFamily="18" charset="0"/>
              </a:rPr>
              <a:t>Accessing Water </a:t>
            </a:r>
            <a:endParaRPr lang="en-AU" sz="4000" dirty="0">
              <a:latin typeface="Book Antiqu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accent1">
                    <a:lumMod val="75000"/>
                  </a:schemeClr>
                </a:solidFill>
              </a:rPr>
              <a:t>Water scarcity in the world</a:t>
            </a:r>
          </a:p>
          <a:p>
            <a:r>
              <a:rPr lang="en-AU" dirty="0" smtClean="0">
                <a:solidFill>
                  <a:schemeClr val="accent1">
                    <a:lumMod val="75000"/>
                  </a:schemeClr>
                </a:solidFill>
              </a:rPr>
              <a:t>7/8/2017 </a:t>
            </a:r>
            <a:endParaRPr lang="en-A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34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AU" dirty="0" smtClean="0"/>
              <a:t>What is SPICESS?</a:t>
            </a:r>
          </a:p>
          <a:p>
            <a:r>
              <a:rPr lang="en-AU" dirty="0" smtClean="0"/>
              <a:t>What is BOLTSS?</a:t>
            </a:r>
          </a:p>
          <a:p>
            <a:r>
              <a:rPr lang="en-AU" dirty="0" smtClean="0"/>
              <a:t>What is PERTIC?</a:t>
            </a:r>
          </a:p>
          <a:p>
            <a:endParaRPr lang="en-AU" dirty="0"/>
          </a:p>
          <a:p>
            <a:r>
              <a:rPr lang="en-AU" dirty="0" smtClean="0"/>
              <a:t>Write them down and be prepared to share your answers.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943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AU" dirty="0" smtClean="0"/>
              <a:t>Definitions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001419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AU" b="1" dirty="0"/>
              <a:t>Water scarcity</a:t>
            </a:r>
            <a:r>
              <a:rPr lang="en-AU" dirty="0"/>
              <a:t>: when the demand for water is greater than the amount available 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r>
              <a:rPr lang="en-AU" b="1" dirty="0"/>
              <a:t>Water consumption</a:t>
            </a:r>
            <a:r>
              <a:rPr lang="en-AU" dirty="0"/>
              <a:t>: is the portion of water use that is not returned to the original water source after being withdrawn. It is no longer capable of reuse.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483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AU" b="1" dirty="0"/>
              <a:t>Water use: </a:t>
            </a:r>
            <a:r>
              <a:rPr lang="en-AU" dirty="0"/>
              <a:t>describes the total amount of water withdrawn from its source to be used. </a:t>
            </a:r>
          </a:p>
          <a:p>
            <a:r>
              <a:rPr lang="en-AU" b="1" dirty="0"/>
              <a:t>Water recycling: </a:t>
            </a:r>
            <a:r>
              <a:rPr lang="en-AU" dirty="0"/>
              <a:t>is wastewater that has been purified so it can be used again for new purposes</a:t>
            </a:r>
          </a:p>
        </p:txBody>
      </p:sp>
    </p:spTree>
    <p:extLst>
      <p:ext uri="{BB962C8B-B14F-4D97-AF65-F5344CB8AC3E}">
        <p14:creationId xmlns:p14="http://schemas.microsoft.com/office/powerpoint/2010/main" val="192258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Book Antiqua" pitchFamily="18" charset="0"/>
              </a:rPr>
              <a:t>Why might these people place a higher value on water than you do?</a:t>
            </a:r>
            <a:endParaRPr lang="en-AU" dirty="0">
              <a:latin typeface="Book Antiqua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746" y="2060848"/>
            <a:ext cx="5715000" cy="3571875"/>
          </a:xfrm>
          <a:prstGeom prst="rect">
            <a:avLst/>
          </a:prstGeom>
        </p:spPr>
      </p:pic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92065">
            <a:off x="22167" y="1989884"/>
            <a:ext cx="1340894" cy="892304"/>
          </a:xfr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92065">
            <a:off x="82978" y="3095198"/>
            <a:ext cx="1360859" cy="905590"/>
          </a:xfrm>
          <a:prstGeom prst="rect">
            <a:avLst/>
          </a:prstGeom>
        </p:spPr>
      </p:pic>
      <p:pic>
        <p:nvPicPr>
          <p:cNvPr id="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92065">
            <a:off x="125793" y="4329052"/>
            <a:ext cx="1245631" cy="828911"/>
          </a:xfrm>
          <a:prstGeom prst="rect">
            <a:avLst/>
          </a:prstGeom>
        </p:spPr>
      </p:pic>
      <p:pic>
        <p:nvPicPr>
          <p:cNvPr id="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92065">
            <a:off x="192660" y="5574863"/>
            <a:ext cx="1245631" cy="82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68760"/>
            <a:ext cx="8544010" cy="4178846"/>
          </a:xfrm>
        </p:spPr>
      </p:pic>
      <p:sp>
        <p:nvSpPr>
          <p:cNvPr id="7" name="Rectangle 6"/>
          <p:cNvSpPr/>
          <p:nvPr/>
        </p:nvSpPr>
        <p:spPr>
          <a:xfrm>
            <a:off x="5076056" y="6237312"/>
            <a:ext cx="3915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Source: http://gettingthepicture.info/3/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821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52" y="2708920"/>
            <a:ext cx="81369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 smtClean="0">
                <a:latin typeface="Book Antiqua" pitchFamily="18" charset="0"/>
              </a:rPr>
              <a:t>Water Rich </a:t>
            </a:r>
            <a:r>
              <a:rPr lang="en-AU" sz="2000" dirty="0">
                <a:latin typeface="Book Antiqua" pitchFamily="18" charset="0"/>
              </a:rPr>
              <a:t>-</a:t>
            </a:r>
            <a:r>
              <a:rPr lang="en-AU" sz="2000" dirty="0" smtClean="0">
                <a:latin typeface="Book Antiqua" pitchFamily="18" charset="0"/>
              </a:rPr>
              <a:t> A country that usually has more available water than it needs for its population. They have access to water bodies such as large rivers and tend to have high rainfall.</a:t>
            </a:r>
          </a:p>
          <a:p>
            <a:pPr algn="ctr"/>
            <a:endParaRPr lang="en-AU" sz="2000" dirty="0">
              <a:latin typeface="Book Antiqua" pitchFamily="18" charset="0"/>
            </a:endParaRPr>
          </a:p>
          <a:p>
            <a:pPr algn="ctr"/>
            <a:r>
              <a:rPr lang="en-AU" sz="2000" b="1" dirty="0" smtClean="0">
                <a:latin typeface="Book Antiqua" pitchFamily="18" charset="0"/>
              </a:rPr>
              <a:t>Water Poor </a:t>
            </a:r>
            <a:r>
              <a:rPr lang="en-AU" sz="2000" dirty="0" smtClean="0">
                <a:latin typeface="Book Antiqua" pitchFamily="18" charset="0"/>
              </a:rPr>
              <a:t>– A country that does not have enough water for its needs is considered water poor. These tend to be countries with drier climates that experience less rainfall. </a:t>
            </a:r>
          </a:p>
          <a:p>
            <a:pPr algn="ctr"/>
            <a:endParaRPr lang="en-AU" sz="2000" b="1" dirty="0">
              <a:latin typeface="Book Antiqua" pitchFamily="18" charset="0"/>
            </a:endParaRPr>
          </a:p>
          <a:p>
            <a:pPr algn="ctr"/>
            <a:r>
              <a:rPr lang="en-AU" sz="2000" b="1" dirty="0" smtClean="0">
                <a:latin typeface="Book Antiqua" pitchFamily="18" charset="0"/>
              </a:rPr>
              <a:t>Can we think of a country in the world that is water poor?</a:t>
            </a:r>
          </a:p>
          <a:p>
            <a:pPr algn="ctr"/>
            <a:endParaRPr lang="en-AU" sz="2000" dirty="0">
              <a:latin typeface="Book Antiqua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585" y="548680"/>
            <a:ext cx="6582822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0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20688"/>
            <a:ext cx="8280920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Water scarcity – pages 90-91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 smtClean="0"/>
              <a:t>Questions:</a:t>
            </a:r>
          </a:p>
          <a:p>
            <a:pPr marL="514350" indent="-514350">
              <a:buAutoNum type="arabicPeriod"/>
            </a:pPr>
            <a:r>
              <a:rPr lang="en-AU" dirty="0" smtClean="0"/>
              <a:t>What happens to drinking water in countries that have water scarcity (little water)?</a:t>
            </a:r>
          </a:p>
          <a:p>
            <a:pPr marL="514350" indent="-514350">
              <a:buAutoNum type="arabicPeriod"/>
            </a:pPr>
            <a:r>
              <a:rPr lang="en-AU" dirty="0" smtClean="0"/>
              <a:t>How many countries in Africa experience </a:t>
            </a:r>
            <a:r>
              <a:rPr lang="en-AU" b="1" dirty="0" smtClean="0"/>
              <a:t>water stress</a:t>
            </a:r>
            <a:r>
              <a:rPr lang="en-AU" dirty="0" smtClean="0"/>
              <a:t>?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AU" dirty="0" smtClean="0"/>
              <a:t>List the </a:t>
            </a:r>
            <a:r>
              <a:rPr lang="en-AU" dirty="0"/>
              <a:t>features of BOLTSS can you see on </a:t>
            </a:r>
            <a:r>
              <a:rPr lang="en-AU" dirty="0" smtClean="0"/>
              <a:t>the world </a:t>
            </a:r>
            <a:r>
              <a:rPr lang="en-AU" dirty="0"/>
              <a:t>map on page </a:t>
            </a:r>
            <a:r>
              <a:rPr lang="en-AU" dirty="0" smtClean="0"/>
              <a:t>90</a:t>
            </a:r>
            <a:r>
              <a:rPr lang="en-AU" dirty="0"/>
              <a:t>?</a:t>
            </a:r>
            <a:endParaRPr lang="en-AU" dirty="0" smtClean="0"/>
          </a:p>
          <a:p>
            <a:pPr marL="514350" indent="-514350">
              <a:buAutoNum type="arabicPeriod"/>
            </a:pPr>
            <a:r>
              <a:rPr lang="en-AU" dirty="0" smtClean="0"/>
              <a:t>Use an Atlas and the map of the world on page 90 to list the</a:t>
            </a:r>
            <a:r>
              <a:rPr lang="en-AU" b="1" dirty="0" smtClean="0"/>
              <a:t> continents </a:t>
            </a:r>
            <a:r>
              <a:rPr lang="en-AU" dirty="0" smtClean="0"/>
              <a:t>that are experiencing water scarcity or water stress. </a:t>
            </a:r>
          </a:p>
          <a:p>
            <a:pPr marL="514350" indent="-514350">
              <a:buAutoNum type="arabicPeriod"/>
            </a:pPr>
            <a:r>
              <a:rPr lang="en-AU" dirty="0" smtClean="0"/>
              <a:t>True </a:t>
            </a:r>
            <a:r>
              <a:rPr lang="en-AU" dirty="0" smtClean="0"/>
              <a:t>or false? Australia experiences water stress.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78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295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Accessing Water </vt:lpstr>
      <vt:lpstr>Review</vt:lpstr>
      <vt:lpstr>Definitions </vt:lpstr>
      <vt:lpstr>Definitions </vt:lpstr>
      <vt:lpstr>Why might these people place a higher value on water than you do?</vt:lpstr>
      <vt:lpstr>PowerPoint Presentation</vt:lpstr>
      <vt:lpstr>PowerPoint Presentation</vt:lpstr>
      <vt:lpstr>PowerPoint Presentation</vt:lpstr>
      <vt:lpstr>Water scarcity – pages 90-91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Accessing Water</dc:title>
  <dc:creator>LocalAdmin</dc:creator>
  <cp:lastModifiedBy>GOODWIN Nina</cp:lastModifiedBy>
  <cp:revision>16</cp:revision>
  <dcterms:created xsi:type="dcterms:W3CDTF">2015-07-02T06:41:57Z</dcterms:created>
  <dcterms:modified xsi:type="dcterms:W3CDTF">2017-08-08T10:26:28Z</dcterms:modified>
</cp:coreProperties>
</file>
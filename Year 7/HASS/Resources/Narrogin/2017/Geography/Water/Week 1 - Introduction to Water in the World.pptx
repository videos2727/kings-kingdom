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0"/>
  </p:notesMasterIdLst>
  <p:sldIdLst>
    <p:sldId id="256" r:id="rId2"/>
    <p:sldId id="257" r:id="rId3"/>
    <p:sldId id="269" r:id="rId4"/>
    <p:sldId id="264" r:id="rId5"/>
    <p:sldId id="259" r:id="rId6"/>
    <p:sldId id="260" r:id="rId7"/>
    <p:sldId id="265" r:id="rId8"/>
    <p:sldId id="271" r:id="rId9"/>
    <p:sldId id="272" r:id="rId10"/>
    <p:sldId id="268" r:id="rId11"/>
    <p:sldId id="270" r:id="rId12"/>
    <p:sldId id="273" r:id="rId13"/>
    <p:sldId id="274" r:id="rId14"/>
    <p:sldId id="275" r:id="rId15"/>
    <p:sldId id="276" r:id="rId16"/>
    <p:sldId id="277" r:id="rId17"/>
    <p:sldId id="278" r:id="rId18"/>
    <p:sldId id="279" r:id="rId19"/>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155" autoAdjust="0"/>
    <p:restoredTop sz="94660"/>
  </p:normalViewPr>
  <p:slideViewPr>
    <p:cSldViewPr>
      <p:cViewPr>
        <p:scale>
          <a:sx n="114" d="100"/>
          <a:sy n="114" d="100"/>
        </p:scale>
        <p:origin x="120" y="-72"/>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AU"/>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BD63416C-2274-4397-9FBD-CA92146027F1}" type="datetimeFigureOut">
              <a:rPr lang="en-AU" smtClean="0"/>
              <a:t>27/07/2017</a:t>
            </a:fld>
            <a:endParaRPr lang="en-AU"/>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AU"/>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AU"/>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CC88DAEE-8414-497B-AED5-7C75CA17A4B8}" type="slidenum">
              <a:rPr lang="en-AU" smtClean="0"/>
              <a:t>‹#›</a:t>
            </a:fld>
            <a:endParaRPr lang="en-AU"/>
          </a:p>
        </p:txBody>
      </p:sp>
    </p:spTree>
    <p:extLst>
      <p:ext uri="{BB962C8B-B14F-4D97-AF65-F5344CB8AC3E}">
        <p14:creationId xmlns:p14="http://schemas.microsoft.com/office/powerpoint/2010/main" val="286913052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10"/>
          </p:nvPr>
        </p:nvSpPr>
        <p:spPr/>
        <p:txBody>
          <a:bodyPr/>
          <a:lstStyle/>
          <a:p>
            <a:fld id="{CC88DAEE-8414-497B-AED5-7C75CA17A4B8}" type="slidenum">
              <a:rPr lang="en-AU" smtClean="0"/>
              <a:t>1</a:t>
            </a:fld>
            <a:endParaRPr lang="en-AU"/>
          </a:p>
        </p:txBody>
      </p:sp>
    </p:spTree>
    <p:extLst>
      <p:ext uri="{BB962C8B-B14F-4D97-AF65-F5344CB8AC3E}">
        <p14:creationId xmlns:p14="http://schemas.microsoft.com/office/powerpoint/2010/main" val="421171549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dirty="0" smtClean="0"/>
              <a:t>Task – Card Sort</a:t>
            </a:r>
            <a:endParaRPr lang="en-AU" dirty="0"/>
          </a:p>
        </p:txBody>
      </p:sp>
      <p:sp>
        <p:nvSpPr>
          <p:cNvPr id="4" name="Slide Number Placeholder 3"/>
          <p:cNvSpPr>
            <a:spLocks noGrp="1"/>
          </p:cNvSpPr>
          <p:nvPr>
            <p:ph type="sldNum" sz="quarter" idx="10"/>
          </p:nvPr>
        </p:nvSpPr>
        <p:spPr/>
        <p:txBody>
          <a:bodyPr/>
          <a:lstStyle/>
          <a:p>
            <a:fld id="{CC88DAEE-8414-497B-AED5-7C75CA17A4B8}" type="slidenum">
              <a:rPr lang="en-AU" smtClean="0"/>
              <a:t>2</a:t>
            </a:fld>
            <a:endParaRPr lang="en-AU"/>
          </a:p>
        </p:txBody>
      </p:sp>
    </p:spTree>
    <p:extLst>
      <p:ext uri="{BB962C8B-B14F-4D97-AF65-F5344CB8AC3E}">
        <p14:creationId xmlns:p14="http://schemas.microsoft.com/office/powerpoint/2010/main" val="244881694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dirty="0" smtClean="0"/>
              <a:t>What is a natural Resource?</a:t>
            </a:r>
          </a:p>
          <a:p>
            <a:pPr marL="0" marR="0" indent="0" algn="l" defTabSz="914400" rtl="0" eaLnBrk="1" fontAlgn="auto" latinLnBrk="0" hangingPunct="1">
              <a:lnSpc>
                <a:spcPct val="100000"/>
              </a:lnSpc>
              <a:spcBef>
                <a:spcPts val="0"/>
              </a:spcBef>
              <a:spcAft>
                <a:spcPts val="0"/>
              </a:spcAft>
              <a:buClrTx/>
              <a:buSzTx/>
              <a:buFontTx/>
              <a:buNone/>
              <a:tabLst/>
              <a:defRPr/>
            </a:pPr>
            <a:endParaRPr lang="en-US" dirty="0" smtClean="0"/>
          </a:p>
          <a:p>
            <a:r>
              <a:rPr lang="en-AU" dirty="0" smtClean="0"/>
              <a:t> The most common categories of natural resources are minerals (such as gold and tin) and energy resources (such as coal and oil). </a:t>
            </a:r>
          </a:p>
          <a:p>
            <a:r>
              <a:rPr lang="en-AU" dirty="0" smtClean="0"/>
              <a:t>The air, forests and oceans can also be classified as natural resources. </a:t>
            </a:r>
          </a:p>
          <a:p>
            <a:r>
              <a:rPr lang="en-AU" dirty="0" smtClean="0"/>
              <a:t>Natural resources change in value over time, depending on what a society most needs or considers most valuable. </a:t>
            </a:r>
          </a:p>
          <a:p>
            <a:pPr marL="0" marR="0" indent="0" algn="l" defTabSz="914400" rtl="0" eaLnBrk="1" fontAlgn="auto" latinLnBrk="0" hangingPunct="1">
              <a:lnSpc>
                <a:spcPct val="100000"/>
              </a:lnSpc>
              <a:spcBef>
                <a:spcPts val="0"/>
              </a:spcBef>
              <a:spcAft>
                <a:spcPts val="0"/>
              </a:spcAft>
              <a:buClrTx/>
              <a:buSzTx/>
              <a:buFontTx/>
              <a:buNone/>
              <a:tabLst/>
              <a:defRPr/>
            </a:pPr>
            <a:endParaRPr lang="en-AU" dirty="0" smtClean="0"/>
          </a:p>
          <a:p>
            <a:endParaRPr lang="en-AU" dirty="0"/>
          </a:p>
        </p:txBody>
      </p:sp>
      <p:sp>
        <p:nvSpPr>
          <p:cNvPr id="4" name="Slide Number Placeholder 3"/>
          <p:cNvSpPr>
            <a:spLocks noGrp="1"/>
          </p:cNvSpPr>
          <p:nvPr>
            <p:ph type="sldNum" sz="quarter" idx="10"/>
          </p:nvPr>
        </p:nvSpPr>
        <p:spPr/>
        <p:txBody>
          <a:bodyPr/>
          <a:lstStyle/>
          <a:p>
            <a:fld id="{CC88DAEE-8414-497B-AED5-7C75CA17A4B8}" type="slidenum">
              <a:rPr lang="en-AU" smtClean="0"/>
              <a:t>4</a:t>
            </a:fld>
            <a:endParaRPr lang="en-AU"/>
          </a:p>
        </p:txBody>
      </p:sp>
    </p:spTree>
    <p:extLst>
      <p:ext uri="{BB962C8B-B14F-4D97-AF65-F5344CB8AC3E}">
        <p14:creationId xmlns:p14="http://schemas.microsoft.com/office/powerpoint/2010/main" val="294382067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dirty="0" smtClean="0"/>
              <a:t>How</a:t>
            </a:r>
            <a:r>
              <a:rPr lang="en-AU" baseline="0" dirty="0" smtClean="0"/>
              <a:t> do we categorise them?</a:t>
            </a:r>
            <a:endParaRPr lang="en-AU" dirty="0"/>
          </a:p>
        </p:txBody>
      </p:sp>
      <p:sp>
        <p:nvSpPr>
          <p:cNvPr id="4" name="Slide Number Placeholder 3"/>
          <p:cNvSpPr>
            <a:spLocks noGrp="1"/>
          </p:cNvSpPr>
          <p:nvPr>
            <p:ph type="sldNum" sz="quarter" idx="10"/>
          </p:nvPr>
        </p:nvSpPr>
        <p:spPr/>
        <p:txBody>
          <a:bodyPr/>
          <a:lstStyle/>
          <a:p>
            <a:fld id="{CC88DAEE-8414-497B-AED5-7C75CA17A4B8}" type="slidenum">
              <a:rPr lang="en-AU" smtClean="0"/>
              <a:t>5</a:t>
            </a:fld>
            <a:endParaRPr lang="en-AU"/>
          </a:p>
        </p:txBody>
      </p:sp>
    </p:spTree>
    <p:extLst>
      <p:ext uri="{BB962C8B-B14F-4D97-AF65-F5344CB8AC3E}">
        <p14:creationId xmlns:p14="http://schemas.microsoft.com/office/powerpoint/2010/main" val="142994762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10"/>
          </p:nvPr>
        </p:nvSpPr>
        <p:spPr/>
        <p:txBody>
          <a:bodyPr/>
          <a:lstStyle/>
          <a:p>
            <a:fld id="{CC88DAEE-8414-497B-AED5-7C75CA17A4B8}" type="slidenum">
              <a:rPr lang="en-AU" smtClean="0"/>
              <a:t>6</a:t>
            </a:fld>
            <a:endParaRPr lang="en-AU"/>
          </a:p>
        </p:txBody>
      </p:sp>
    </p:spTree>
    <p:extLst>
      <p:ext uri="{BB962C8B-B14F-4D97-AF65-F5344CB8AC3E}">
        <p14:creationId xmlns:p14="http://schemas.microsoft.com/office/powerpoint/2010/main" val="414112831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AU"/>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AU"/>
          </a:p>
        </p:txBody>
      </p:sp>
      <p:sp>
        <p:nvSpPr>
          <p:cNvPr id="4" name="Date Placeholder 3"/>
          <p:cNvSpPr>
            <a:spLocks noGrp="1"/>
          </p:cNvSpPr>
          <p:nvPr>
            <p:ph type="dt" sz="half" idx="10"/>
          </p:nvPr>
        </p:nvSpPr>
        <p:spPr/>
        <p:txBody>
          <a:bodyPr/>
          <a:lstStyle/>
          <a:p>
            <a:fld id="{30CFE70C-4128-4788-A498-A7C11BF9B0FF}" type="datetimeFigureOut">
              <a:rPr lang="en-AU" smtClean="0"/>
              <a:t>27/07/2017</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AE00FDF9-91C0-42CB-80E1-82520B4AE6AB}" type="slidenum">
              <a:rPr lang="en-AU" smtClean="0"/>
              <a:t>‹#›</a:t>
            </a:fld>
            <a:endParaRPr lang="en-AU"/>
          </a:p>
        </p:txBody>
      </p:sp>
    </p:spTree>
    <p:extLst>
      <p:ext uri="{BB962C8B-B14F-4D97-AF65-F5344CB8AC3E}">
        <p14:creationId xmlns:p14="http://schemas.microsoft.com/office/powerpoint/2010/main" val="305079849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AU"/>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Date Placeholder 3"/>
          <p:cNvSpPr>
            <a:spLocks noGrp="1"/>
          </p:cNvSpPr>
          <p:nvPr>
            <p:ph type="dt" sz="half" idx="10"/>
          </p:nvPr>
        </p:nvSpPr>
        <p:spPr/>
        <p:txBody>
          <a:bodyPr/>
          <a:lstStyle/>
          <a:p>
            <a:fld id="{30CFE70C-4128-4788-A498-A7C11BF9B0FF}" type="datetimeFigureOut">
              <a:rPr lang="en-AU" smtClean="0"/>
              <a:t>27/07/2017</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AE00FDF9-91C0-42CB-80E1-82520B4AE6AB}" type="slidenum">
              <a:rPr lang="en-AU" smtClean="0"/>
              <a:t>‹#›</a:t>
            </a:fld>
            <a:endParaRPr lang="en-AU"/>
          </a:p>
        </p:txBody>
      </p:sp>
    </p:spTree>
    <p:extLst>
      <p:ext uri="{BB962C8B-B14F-4D97-AF65-F5344CB8AC3E}">
        <p14:creationId xmlns:p14="http://schemas.microsoft.com/office/powerpoint/2010/main" val="24214698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AU"/>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30CFE70C-4128-4788-A498-A7C11BF9B0FF}" type="datetimeFigureOut">
              <a:rPr lang="en-AU" smtClean="0"/>
              <a:t>27/07/2017</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AE00FDF9-91C0-42CB-80E1-82520B4AE6AB}" type="slidenum">
              <a:rPr lang="en-AU" smtClean="0"/>
              <a:t>‹#›</a:t>
            </a:fld>
            <a:endParaRPr lang="en-AU"/>
          </a:p>
        </p:txBody>
      </p:sp>
    </p:spTree>
    <p:extLst>
      <p:ext uri="{BB962C8B-B14F-4D97-AF65-F5344CB8AC3E}">
        <p14:creationId xmlns:p14="http://schemas.microsoft.com/office/powerpoint/2010/main" val="79153043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AU"/>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5" name="Date Placeholder 4"/>
          <p:cNvSpPr>
            <a:spLocks noGrp="1"/>
          </p:cNvSpPr>
          <p:nvPr>
            <p:ph type="dt" sz="half" idx="10"/>
          </p:nvPr>
        </p:nvSpPr>
        <p:spPr/>
        <p:txBody>
          <a:bodyPr/>
          <a:lstStyle/>
          <a:p>
            <a:fld id="{30CFE70C-4128-4788-A498-A7C11BF9B0FF}" type="datetimeFigureOut">
              <a:rPr lang="en-AU" smtClean="0"/>
              <a:t>27/07/2017</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AE00FDF9-91C0-42CB-80E1-82520B4AE6AB}" type="slidenum">
              <a:rPr lang="en-AU" smtClean="0"/>
              <a:t>‹#›</a:t>
            </a:fld>
            <a:endParaRPr lang="en-AU"/>
          </a:p>
        </p:txBody>
      </p:sp>
    </p:spTree>
    <p:extLst>
      <p:ext uri="{BB962C8B-B14F-4D97-AF65-F5344CB8AC3E}">
        <p14:creationId xmlns:p14="http://schemas.microsoft.com/office/powerpoint/2010/main" val="97919931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AU"/>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7" name="Date Placeholder 6"/>
          <p:cNvSpPr>
            <a:spLocks noGrp="1"/>
          </p:cNvSpPr>
          <p:nvPr>
            <p:ph type="dt" sz="half" idx="10"/>
          </p:nvPr>
        </p:nvSpPr>
        <p:spPr/>
        <p:txBody>
          <a:bodyPr/>
          <a:lstStyle/>
          <a:p>
            <a:fld id="{30CFE70C-4128-4788-A498-A7C11BF9B0FF}" type="datetimeFigureOut">
              <a:rPr lang="en-AU" smtClean="0"/>
              <a:t>27/07/2017</a:t>
            </a:fld>
            <a:endParaRPr lang="en-AU"/>
          </a:p>
        </p:txBody>
      </p:sp>
      <p:sp>
        <p:nvSpPr>
          <p:cNvPr id="8" name="Footer Placeholder 7"/>
          <p:cNvSpPr>
            <a:spLocks noGrp="1"/>
          </p:cNvSpPr>
          <p:nvPr>
            <p:ph type="ftr" sz="quarter" idx="11"/>
          </p:nvPr>
        </p:nvSpPr>
        <p:spPr/>
        <p:txBody>
          <a:bodyPr/>
          <a:lstStyle/>
          <a:p>
            <a:endParaRPr lang="en-AU"/>
          </a:p>
        </p:txBody>
      </p:sp>
      <p:sp>
        <p:nvSpPr>
          <p:cNvPr id="9" name="Slide Number Placeholder 8"/>
          <p:cNvSpPr>
            <a:spLocks noGrp="1"/>
          </p:cNvSpPr>
          <p:nvPr>
            <p:ph type="sldNum" sz="quarter" idx="12"/>
          </p:nvPr>
        </p:nvSpPr>
        <p:spPr/>
        <p:txBody>
          <a:bodyPr/>
          <a:lstStyle/>
          <a:p>
            <a:fld id="{AE00FDF9-91C0-42CB-80E1-82520B4AE6AB}" type="slidenum">
              <a:rPr lang="en-AU" smtClean="0"/>
              <a:t>‹#›</a:t>
            </a:fld>
            <a:endParaRPr lang="en-AU"/>
          </a:p>
        </p:txBody>
      </p:sp>
    </p:spTree>
    <p:extLst>
      <p:ext uri="{BB962C8B-B14F-4D97-AF65-F5344CB8AC3E}">
        <p14:creationId xmlns:p14="http://schemas.microsoft.com/office/powerpoint/2010/main" val="45438839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AU"/>
          </a:p>
        </p:txBody>
      </p:sp>
      <p:sp>
        <p:nvSpPr>
          <p:cNvPr id="3" name="Date Placeholder 2"/>
          <p:cNvSpPr>
            <a:spLocks noGrp="1"/>
          </p:cNvSpPr>
          <p:nvPr>
            <p:ph type="dt" sz="half" idx="10"/>
          </p:nvPr>
        </p:nvSpPr>
        <p:spPr/>
        <p:txBody>
          <a:bodyPr/>
          <a:lstStyle/>
          <a:p>
            <a:fld id="{30CFE70C-4128-4788-A498-A7C11BF9B0FF}" type="datetimeFigureOut">
              <a:rPr lang="en-AU" smtClean="0"/>
              <a:t>27/07/2017</a:t>
            </a:fld>
            <a:endParaRPr lang="en-AU"/>
          </a:p>
        </p:txBody>
      </p:sp>
      <p:sp>
        <p:nvSpPr>
          <p:cNvPr id="4" name="Footer Placeholder 3"/>
          <p:cNvSpPr>
            <a:spLocks noGrp="1"/>
          </p:cNvSpPr>
          <p:nvPr>
            <p:ph type="ftr" sz="quarter" idx="11"/>
          </p:nvPr>
        </p:nvSpPr>
        <p:spPr/>
        <p:txBody>
          <a:bodyPr/>
          <a:lstStyle/>
          <a:p>
            <a:endParaRPr lang="en-AU"/>
          </a:p>
        </p:txBody>
      </p:sp>
      <p:sp>
        <p:nvSpPr>
          <p:cNvPr id="5" name="Slide Number Placeholder 4"/>
          <p:cNvSpPr>
            <a:spLocks noGrp="1"/>
          </p:cNvSpPr>
          <p:nvPr>
            <p:ph type="sldNum" sz="quarter" idx="12"/>
          </p:nvPr>
        </p:nvSpPr>
        <p:spPr/>
        <p:txBody>
          <a:bodyPr/>
          <a:lstStyle/>
          <a:p>
            <a:fld id="{AE00FDF9-91C0-42CB-80E1-82520B4AE6AB}" type="slidenum">
              <a:rPr lang="en-AU" smtClean="0"/>
              <a:t>‹#›</a:t>
            </a:fld>
            <a:endParaRPr lang="en-AU"/>
          </a:p>
        </p:txBody>
      </p:sp>
    </p:spTree>
    <p:extLst>
      <p:ext uri="{BB962C8B-B14F-4D97-AF65-F5344CB8AC3E}">
        <p14:creationId xmlns:p14="http://schemas.microsoft.com/office/powerpoint/2010/main" val="333319610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0CFE70C-4128-4788-A498-A7C11BF9B0FF}" type="datetimeFigureOut">
              <a:rPr lang="en-AU" smtClean="0"/>
              <a:t>27/07/2017</a:t>
            </a:fld>
            <a:endParaRPr lang="en-AU"/>
          </a:p>
        </p:txBody>
      </p:sp>
      <p:sp>
        <p:nvSpPr>
          <p:cNvPr id="3" name="Footer Placeholder 2"/>
          <p:cNvSpPr>
            <a:spLocks noGrp="1"/>
          </p:cNvSpPr>
          <p:nvPr>
            <p:ph type="ftr" sz="quarter" idx="11"/>
          </p:nvPr>
        </p:nvSpPr>
        <p:spPr/>
        <p:txBody>
          <a:bodyPr/>
          <a:lstStyle/>
          <a:p>
            <a:endParaRPr lang="en-AU"/>
          </a:p>
        </p:txBody>
      </p:sp>
      <p:sp>
        <p:nvSpPr>
          <p:cNvPr id="4" name="Slide Number Placeholder 3"/>
          <p:cNvSpPr>
            <a:spLocks noGrp="1"/>
          </p:cNvSpPr>
          <p:nvPr>
            <p:ph type="sldNum" sz="quarter" idx="12"/>
          </p:nvPr>
        </p:nvSpPr>
        <p:spPr/>
        <p:txBody>
          <a:bodyPr/>
          <a:lstStyle/>
          <a:p>
            <a:fld id="{AE00FDF9-91C0-42CB-80E1-82520B4AE6AB}" type="slidenum">
              <a:rPr lang="en-AU" smtClean="0"/>
              <a:t>‹#›</a:t>
            </a:fld>
            <a:endParaRPr lang="en-AU"/>
          </a:p>
        </p:txBody>
      </p:sp>
    </p:spTree>
    <p:extLst>
      <p:ext uri="{BB962C8B-B14F-4D97-AF65-F5344CB8AC3E}">
        <p14:creationId xmlns:p14="http://schemas.microsoft.com/office/powerpoint/2010/main" val="102940580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AU"/>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30CFE70C-4128-4788-A498-A7C11BF9B0FF}" type="datetimeFigureOut">
              <a:rPr lang="en-AU" smtClean="0"/>
              <a:t>27/07/2017</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AE00FDF9-91C0-42CB-80E1-82520B4AE6AB}" type="slidenum">
              <a:rPr lang="en-AU" smtClean="0"/>
              <a:t>‹#›</a:t>
            </a:fld>
            <a:endParaRPr lang="en-AU"/>
          </a:p>
        </p:txBody>
      </p:sp>
    </p:spTree>
    <p:extLst>
      <p:ext uri="{BB962C8B-B14F-4D97-AF65-F5344CB8AC3E}">
        <p14:creationId xmlns:p14="http://schemas.microsoft.com/office/powerpoint/2010/main" val="176240081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AU"/>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AU"/>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30CFE70C-4128-4788-A498-A7C11BF9B0FF}" type="datetimeFigureOut">
              <a:rPr lang="en-AU" smtClean="0"/>
              <a:t>27/07/2017</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AE00FDF9-91C0-42CB-80E1-82520B4AE6AB}" type="slidenum">
              <a:rPr lang="en-AU" smtClean="0"/>
              <a:t>‹#›</a:t>
            </a:fld>
            <a:endParaRPr lang="en-AU"/>
          </a:p>
        </p:txBody>
      </p:sp>
    </p:spTree>
    <p:extLst>
      <p:ext uri="{BB962C8B-B14F-4D97-AF65-F5344CB8AC3E}">
        <p14:creationId xmlns:p14="http://schemas.microsoft.com/office/powerpoint/2010/main" val="164246032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AU"/>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Date Placeholder 3"/>
          <p:cNvSpPr>
            <a:spLocks noGrp="1"/>
          </p:cNvSpPr>
          <p:nvPr>
            <p:ph type="dt" sz="half" idx="10"/>
          </p:nvPr>
        </p:nvSpPr>
        <p:spPr/>
        <p:txBody>
          <a:bodyPr/>
          <a:lstStyle/>
          <a:p>
            <a:fld id="{30CFE70C-4128-4788-A498-A7C11BF9B0FF}" type="datetimeFigureOut">
              <a:rPr lang="en-AU" smtClean="0"/>
              <a:t>27/07/2017</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AE00FDF9-91C0-42CB-80E1-82520B4AE6AB}" type="slidenum">
              <a:rPr lang="en-AU" smtClean="0"/>
              <a:t>‹#›</a:t>
            </a:fld>
            <a:endParaRPr lang="en-AU"/>
          </a:p>
        </p:txBody>
      </p:sp>
    </p:spTree>
    <p:extLst>
      <p:ext uri="{BB962C8B-B14F-4D97-AF65-F5344CB8AC3E}">
        <p14:creationId xmlns:p14="http://schemas.microsoft.com/office/powerpoint/2010/main" val="331511864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AU"/>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Date Placeholder 3"/>
          <p:cNvSpPr>
            <a:spLocks noGrp="1"/>
          </p:cNvSpPr>
          <p:nvPr>
            <p:ph type="dt" sz="half" idx="10"/>
          </p:nvPr>
        </p:nvSpPr>
        <p:spPr/>
        <p:txBody>
          <a:bodyPr/>
          <a:lstStyle/>
          <a:p>
            <a:fld id="{30CFE70C-4128-4788-A498-A7C11BF9B0FF}" type="datetimeFigureOut">
              <a:rPr lang="en-AU" smtClean="0"/>
              <a:t>27/07/2017</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AE00FDF9-91C0-42CB-80E1-82520B4AE6AB}" type="slidenum">
              <a:rPr lang="en-AU" smtClean="0"/>
              <a:t>‹#›</a:t>
            </a:fld>
            <a:endParaRPr lang="en-AU"/>
          </a:p>
        </p:txBody>
      </p:sp>
    </p:spTree>
    <p:extLst>
      <p:ext uri="{BB962C8B-B14F-4D97-AF65-F5344CB8AC3E}">
        <p14:creationId xmlns:p14="http://schemas.microsoft.com/office/powerpoint/2010/main" val="284622784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alphaModFix amt="26000"/>
            <a:lum/>
          </a:blip>
          <a:srcRect/>
          <a:stretch>
            <a:fillRect t="-22000" b="-22000"/>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AU"/>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0CFE70C-4128-4788-A498-A7C11BF9B0FF}" type="datetimeFigureOut">
              <a:rPr lang="en-AU" smtClean="0"/>
              <a:t>27/07/2017</a:t>
            </a:fld>
            <a:endParaRPr lang="en-AU"/>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AU"/>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E00FDF9-91C0-42CB-80E1-82520B4AE6AB}" type="slidenum">
              <a:rPr lang="en-AU" smtClean="0"/>
              <a:t>‹#›</a:t>
            </a:fld>
            <a:endParaRPr lang="en-AU"/>
          </a:p>
        </p:txBody>
      </p:sp>
    </p:spTree>
    <p:extLst>
      <p:ext uri="{BB962C8B-B14F-4D97-AF65-F5344CB8AC3E}">
        <p14:creationId xmlns:p14="http://schemas.microsoft.com/office/powerpoint/2010/main" val="23821318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5.jpeg"/><Relationship Id="rId5" Type="http://schemas.openxmlformats.org/officeDocument/2006/relationships/image" Target="../media/image4.jpeg"/><Relationship Id="rId4" Type="http://schemas.openxmlformats.org/officeDocument/2006/relationships/image" Target="../media/image3.jpeg"/></Relationships>
</file>

<file path=ppt/slides/_rels/slide2.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7.jpeg"/></Relationships>
</file>

<file path=ppt/slides/_rels/slide3.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image" Target="../media/image8.png"/><Relationship Id="rId1" Type="http://schemas.openxmlformats.org/officeDocument/2006/relationships/slideLayout" Target="../slideLayouts/slideLayout2.xml"/><Relationship Id="rId5" Type="http://schemas.openxmlformats.org/officeDocument/2006/relationships/image" Target="../media/image11.jpg"/><Relationship Id="rId4" Type="http://schemas.openxmlformats.org/officeDocument/2006/relationships/image" Target="../media/image10.jpg"/></Relationships>
</file>

<file path=ppt/slides/_rels/slide4.xml.rels><?xml version="1.0" encoding="UTF-8" standalone="yes"?>
<Relationships xmlns="http://schemas.openxmlformats.org/package/2006/relationships"><Relationship Id="rId3" Type="http://schemas.openxmlformats.org/officeDocument/2006/relationships/image" Target="../media/image12.jp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3.jp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4.jp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5.jpg"/><Relationship Id="rId2" Type="http://schemas.openxmlformats.org/officeDocument/2006/relationships/hyperlink" Target="https://www.youtube.com/watch?v=TWb4KlM2vts" TargetMode="Externa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a:bodyPr>
          <a:lstStyle/>
          <a:p>
            <a:r>
              <a:rPr lang="en-US" sz="4000" b="1" dirty="0" smtClean="0">
                <a:latin typeface="Book Antiqua" pitchFamily="18" charset="0"/>
              </a:rPr>
              <a:t>Water in the World</a:t>
            </a:r>
            <a:endParaRPr lang="en-AU" sz="4000" b="1" dirty="0">
              <a:latin typeface="Book Antiqua" pitchFamily="18" charset="0"/>
            </a:endParaRPr>
          </a:p>
        </p:txBody>
      </p:sp>
      <p:sp>
        <p:nvSpPr>
          <p:cNvPr id="3" name="Subtitle 2"/>
          <p:cNvSpPr>
            <a:spLocks noGrp="1"/>
          </p:cNvSpPr>
          <p:nvPr>
            <p:ph type="subTitle" idx="1"/>
          </p:nvPr>
        </p:nvSpPr>
        <p:spPr/>
        <p:txBody>
          <a:bodyPr/>
          <a:lstStyle/>
          <a:p>
            <a:r>
              <a:rPr lang="en-US" b="1" dirty="0" smtClean="0">
                <a:solidFill>
                  <a:schemeClr val="tx1"/>
                </a:solidFill>
                <a:latin typeface="Book Antiqua" pitchFamily="18" charset="0"/>
              </a:rPr>
              <a:t>Year 7 - Term 3 </a:t>
            </a:r>
          </a:p>
          <a:p>
            <a:r>
              <a:rPr lang="en-US" b="1" dirty="0" smtClean="0">
                <a:solidFill>
                  <a:schemeClr val="tx1"/>
                </a:solidFill>
                <a:latin typeface="Book Antiqua" pitchFamily="18" charset="0"/>
              </a:rPr>
              <a:t>2017</a:t>
            </a:r>
            <a:endParaRPr lang="en-AU" b="1" dirty="0">
              <a:solidFill>
                <a:schemeClr val="tx1"/>
              </a:solidFill>
              <a:latin typeface="Book Antiqua" pitchFamily="18" charset="0"/>
            </a:endParaRPr>
          </a:p>
        </p:txBody>
      </p:sp>
      <p:pic>
        <p:nvPicPr>
          <p:cNvPr id="1026" name="Picture 2" descr="C:\Users\e4092482\AppData\Local\Microsoft\Windows\Temporary Internet Files\Content.IE5\CL4HW3X0\Wasser[1].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092280" y="980728"/>
            <a:ext cx="1236877" cy="2103829"/>
          </a:xfrm>
          <a:prstGeom prst="rect">
            <a:avLst/>
          </a:prstGeom>
          <a:noFill/>
          <a:extLst>
            <a:ext uri="{909E8E84-426E-40DD-AFC4-6F175D3DCCD1}">
              <a14:hiddenFill xmlns:a14="http://schemas.microsoft.com/office/drawing/2010/main">
                <a:solidFill>
                  <a:srgbClr val="FFFFFF"/>
                </a:solidFill>
              </a14:hiddenFill>
            </a:ext>
          </a:extLst>
        </p:spPr>
      </p:pic>
      <p:pic>
        <p:nvPicPr>
          <p:cNvPr id="1027" name="Picture 3" descr="C:\Users\e4092482\AppData\Local\Microsoft\Windows\Temporary Internet Files\Content.IE5\HALTT132\bottled-water[1].jpg"/>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516831" y="3501008"/>
            <a:ext cx="2063818" cy="3356992"/>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C:\Users\e4092482\AppData\Local\Microsoft\Windows\Temporary Internet Files\Content.IE5\CL4HW3X0\Coniston_Water_(7167130554)[1].jpg"/>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5868144" y="4581128"/>
            <a:ext cx="2699792" cy="1799861"/>
          </a:xfrm>
          <a:prstGeom prst="rect">
            <a:avLst/>
          </a:prstGeom>
          <a:noFill/>
          <a:extLst>
            <a:ext uri="{909E8E84-426E-40DD-AFC4-6F175D3DCCD1}">
              <a14:hiddenFill xmlns:a14="http://schemas.microsoft.com/office/drawing/2010/main">
                <a:solidFill>
                  <a:srgbClr val="FFFFFF"/>
                </a:solidFill>
              </a14:hiddenFill>
            </a:ext>
          </a:extLst>
        </p:spPr>
      </p:pic>
      <p:pic>
        <p:nvPicPr>
          <p:cNvPr id="1029" name="Picture 5" descr="C:\Users\e4092482\AppData\Local\Microsoft\Windows\Temporary Internet Files\Content.IE5\1AD7J0HL\Stones-in-water[1].jpg"/>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1397975" y="188640"/>
            <a:ext cx="2623840" cy="196788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92886804"/>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483768" y="836712"/>
            <a:ext cx="6408712" cy="1143000"/>
          </a:xfrm>
        </p:spPr>
        <p:txBody>
          <a:bodyPr>
            <a:normAutofit/>
          </a:bodyPr>
          <a:lstStyle/>
          <a:p>
            <a:r>
              <a:rPr lang="en-AU" sz="4000" b="1" dirty="0" smtClean="0">
                <a:latin typeface="Book Antiqua" pitchFamily="18" charset="0"/>
              </a:rPr>
              <a:t>Introduction </a:t>
            </a:r>
            <a:endParaRPr lang="en-AU" sz="4000" b="1" dirty="0">
              <a:latin typeface="Book Antiqua" pitchFamily="18" charset="0"/>
            </a:endParaRPr>
          </a:p>
        </p:txBody>
      </p:sp>
      <p:sp>
        <p:nvSpPr>
          <p:cNvPr id="3" name="Content Placeholder 2"/>
          <p:cNvSpPr>
            <a:spLocks noGrp="1"/>
          </p:cNvSpPr>
          <p:nvPr>
            <p:ph idx="1"/>
          </p:nvPr>
        </p:nvSpPr>
        <p:spPr>
          <a:xfrm>
            <a:off x="539552" y="2564904"/>
            <a:ext cx="6491064" cy="4021907"/>
          </a:xfrm>
        </p:spPr>
        <p:txBody>
          <a:bodyPr>
            <a:normAutofit lnSpcReduction="10000"/>
          </a:bodyPr>
          <a:lstStyle/>
          <a:p>
            <a:pPr marL="0" indent="0" algn="ctr">
              <a:buNone/>
            </a:pPr>
            <a:r>
              <a:rPr lang="en-US" dirty="0" smtClean="0">
                <a:latin typeface="Book Antiqua" pitchFamily="18" charset="0"/>
              </a:rPr>
              <a:t>This term we will be looking at water, how we use it and why its valuable to us.</a:t>
            </a:r>
          </a:p>
          <a:p>
            <a:pPr marL="0" indent="0" algn="ctr">
              <a:buNone/>
            </a:pPr>
            <a:r>
              <a:rPr lang="en-US" dirty="0" smtClean="0">
                <a:latin typeface="Book Antiqua" pitchFamily="18" charset="0"/>
              </a:rPr>
              <a:t>- We will develop your ideas about and understanding of the environment. </a:t>
            </a:r>
          </a:p>
          <a:p>
            <a:pPr marL="0" indent="0" algn="ctr">
              <a:buNone/>
            </a:pPr>
            <a:r>
              <a:rPr lang="en-US" dirty="0" smtClean="0">
                <a:latin typeface="Book Antiqua" pitchFamily="18" charset="0"/>
              </a:rPr>
              <a:t>- We look at how different people value the environment and water</a:t>
            </a:r>
          </a:p>
          <a:p>
            <a:pPr marL="0" indent="0" algn="ctr">
              <a:buNone/>
            </a:pPr>
            <a:endParaRPr lang="en-AU" dirty="0">
              <a:latin typeface="Book Antiqua" pitchFamily="18" charset="0"/>
            </a:endParaRPr>
          </a:p>
        </p:txBody>
      </p:sp>
      <p:pic>
        <p:nvPicPr>
          <p:cNvPr id="2050" name="Picture 2" descr="C:\Users\e4092482\AppData\Local\Microsoft\Windows\Temporary Internet Files\Content.IE5\CL4HW3X0\_small_water_drops1[1].jp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164288" y="3717032"/>
            <a:ext cx="1881892" cy="2393504"/>
          </a:xfrm>
          <a:prstGeom prst="rect">
            <a:avLst/>
          </a:prstGeom>
          <a:noFill/>
          <a:extLst>
            <a:ext uri="{909E8E84-426E-40DD-AFC4-6F175D3DCCD1}">
              <a14:hiddenFill xmlns:a14="http://schemas.microsoft.com/office/drawing/2010/main">
                <a:solidFill>
                  <a:srgbClr val="FFFFFF"/>
                </a:solidFill>
              </a14:hiddenFill>
            </a:ext>
          </a:extLst>
        </p:spPr>
      </p:pic>
      <p:pic>
        <p:nvPicPr>
          <p:cNvPr id="2051" name="Picture 3" descr="C:\Users\e4092482\AppData\Local\Microsoft\Windows\Temporary Internet Files\Content.IE5\WONY46SC\blue-water-drops[1].jpg"/>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83568" y="260648"/>
            <a:ext cx="2940668" cy="207684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64304586"/>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Brainstorm on Water!</a:t>
            </a:r>
            <a:endParaRPr lang="en-AU" dirty="0"/>
          </a:p>
        </p:txBody>
      </p:sp>
      <p:sp>
        <p:nvSpPr>
          <p:cNvPr id="3" name="Content Placeholder 2"/>
          <p:cNvSpPr>
            <a:spLocks noGrp="1"/>
          </p:cNvSpPr>
          <p:nvPr>
            <p:ph idx="1"/>
          </p:nvPr>
        </p:nvSpPr>
        <p:spPr/>
        <p:txBody>
          <a:bodyPr/>
          <a:lstStyle/>
          <a:p>
            <a:r>
              <a:rPr lang="en-AU" b="1" dirty="0" smtClean="0"/>
              <a:t>Where do we find water? </a:t>
            </a:r>
            <a:r>
              <a:rPr lang="en-AU" dirty="0" smtClean="0"/>
              <a:t>List as many places you can think of where we find water. </a:t>
            </a:r>
          </a:p>
          <a:p>
            <a:r>
              <a:rPr lang="en-AU" dirty="0" smtClean="0"/>
              <a:t>We will then construct a mind map of all of our ideas. </a:t>
            </a:r>
            <a:endParaRPr lang="en-AU" dirty="0"/>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789706" y="4653136"/>
            <a:ext cx="2381250" cy="1790700"/>
          </a:xfrm>
          <a:prstGeom prst="rect">
            <a:avLst/>
          </a:prstGeom>
        </p:spPr>
      </p:pic>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646581" y="4332907"/>
            <a:ext cx="2143125" cy="2143125"/>
          </a:xfrm>
          <a:prstGeom prst="rect">
            <a:avLst/>
          </a:prstGeom>
        </p:spPr>
      </p:pic>
      <p:pic>
        <p:nvPicPr>
          <p:cNvPr id="6" name="Picture 5"/>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51520" y="4653136"/>
            <a:ext cx="2395061" cy="1790700"/>
          </a:xfrm>
          <a:prstGeom prst="rect">
            <a:avLst/>
          </a:prstGeom>
        </p:spPr>
      </p:pic>
      <p:pic>
        <p:nvPicPr>
          <p:cNvPr id="7" name="Picture 6"/>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013458" y="4723432"/>
            <a:ext cx="2114550" cy="1752600"/>
          </a:xfrm>
          <a:prstGeom prst="rect">
            <a:avLst/>
          </a:prstGeom>
        </p:spPr>
      </p:pic>
    </p:spTree>
    <p:extLst>
      <p:ext uri="{BB962C8B-B14F-4D97-AF65-F5344CB8AC3E}">
        <p14:creationId xmlns:p14="http://schemas.microsoft.com/office/powerpoint/2010/main" val="2389897711"/>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b="1" dirty="0" smtClean="0">
                <a:latin typeface="Book Antiqua" pitchFamily="18" charset="0"/>
              </a:rPr>
              <a:t>Natural Resources</a:t>
            </a:r>
            <a:endParaRPr lang="en-AU" sz="4000" b="1" dirty="0">
              <a:latin typeface="Book Antiqua" pitchFamily="18" charset="0"/>
            </a:endParaRPr>
          </a:p>
        </p:txBody>
      </p:sp>
      <p:sp>
        <p:nvSpPr>
          <p:cNvPr id="4" name="Content Placeholder 2"/>
          <p:cNvSpPr txBox="1">
            <a:spLocks/>
          </p:cNvSpPr>
          <p:nvPr/>
        </p:nvSpPr>
        <p:spPr>
          <a:xfrm>
            <a:off x="609600" y="1752600"/>
            <a:ext cx="8229600" cy="4525963"/>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buNone/>
            </a:pPr>
            <a:r>
              <a:rPr lang="en-AU" dirty="0" smtClean="0">
                <a:latin typeface="Book Antiqua" pitchFamily="18" charset="0"/>
              </a:rPr>
              <a:t>A natural resource is any kind of substance in its natural form which is needed and wanted by humans.</a:t>
            </a:r>
          </a:p>
        </p:txBody>
      </p:sp>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699792" y="3968124"/>
            <a:ext cx="3858369" cy="2682212"/>
          </a:xfrm>
          <a:prstGeom prst="rect">
            <a:avLst/>
          </a:prstGeom>
        </p:spPr>
      </p:pic>
    </p:spTree>
    <p:extLst>
      <p:ext uri="{BB962C8B-B14F-4D97-AF65-F5344CB8AC3E}">
        <p14:creationId xmlns:p14="http://schemas.microsoft.com/office/powerpoint/2010/main" val="3100011741"/>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latin typeface="Book Antiqua" pitchFamily="18" charset="0"/>
              </a:rPr>
              <a:t>Renewable or Non-Renewable?</a:t>
            </a:r>
            <a:endParaRPr lang="en-AU" b="1" dirty="0">
              <a:latin typeface="Book Antiqua" pitchFamily="18" charset="0"/>
            </a:endParaRPr>
          </a:p>
        </p:txBody>
      </p:sp>
      <p:sp>
        <p:nvSpPr>
          <p:cNvPr id="3" name="Content Placeholder 2"/>
          <p:cNvSpPr>
            <a:spLocks noGrp="1"/>
          </p:cNvSpPr>
          <p:nvPr>
            <p:ph idx="1"/>
          </p:nvPr>
        </p:nvSpPr>
        <p:spPr/>
        <p:txBody>
          <a:bodyPr>
            <a:normAutofit/>
          </a:bodyPr>
          <a:lstStyle/>
          <a:p>
            <a:pPr marL="0" indent="0" algn="ctr">
              <a:buNone/>
            </a:pPr>
            <a:r>
              <a:rPr lang="en-AU" dirty="0">
                <a:latin typeface="Book Antiqua" pitchFamily="18" charset="0"/>
              </a:rPr>
              <a:t>The various types of natural resources are often separated into renewable and non-renewable resources</a:t>
            </a:r>
            <a:r>
              <a:rPr lang="en-AU" dirty="0" smtClean="0">
                <a:latin typeface="Book Antiqua" pitchFamily="18" charset="0"/>
              </a:rPr>
              <a:t>.</a:t>
            </a:r>
          </a:p>
          <a:p>
            <a:pPr marL="0" indent="0" algn="ctr">
              <a:buNone/>
            </a:pPr>
            <a:endParaRPr lang="en-US" dirty="0" smtClean="0">
              <a:latin typeface="Book Antiqua" pitchFamily="18" charset="0"/>
            </a:endParaRPr>
          </a:p>
        </p:txBody>
      </p:sp>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11560" y="2780928"/>
            <a:ext cx="1512168" cy="1439847"/>
          </a:xfrm>
          <a:prstGeom prst="rect">
            <a:avLst/>
          </a:prstGeom>
        </p:spPr>
      </p:pic>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804248" y="2780927"/>
            <a:ext cx="1512168" cy="1439847"/>
          </a:xfrm>
          <a:prstGeom prst="rect">
            <a:avLst/>
          </a:prstGeom>
        </p:spPr>
      </p:pic>
    </p:spTree>
    <p:extLst>
      <p:ext uri="{BB962C8B-B14F-4D97-AF65-F5344CB8AC3E}">
        <p14:creationId xmlns:p14="http://schemas.microsoft.com/office/powerpoint/2010/main" val="1162272035"/>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02913" y="0"/>
            <a:ext cx="8229600" cy="1143000"/>
          </a:xfrm>
        </p:spPr>
        <p:txBody>
          <a:bodyPr>
            <a:normAutofit/>
          </a:bodyPr>
          <a:lstStyle/>
          <a:p>
            <a:r>
              <a:rPr lang="en-US" sz="4000" b="1" dirty="0" smtClean="0">
                <a:latin typeface="Book Antiqua" pitchFamily="18" charset="0"/>
              </a:rPr>
              <a:t>Renewable</a:t>
            </a:r>
            <a:endParaRPr lang="en-AU" sz="4000" b="1" dirty="0">
              <a:latin typeface="Book Antiqua" pitchFamily="18" charset="0"/>
            </a:endParaRPr>
          </a:p>
        </p:txBody>
      </p:sp>
      <p:sp>
        <p:nvSpPr>
          <p:cNvPr id="4" name="TextBox 3"/>
          <p:cNvSpPr txBox="1"/>
          <p:nvPr/>
        </p:nvSpPr>
        <p:spPr>
          <a:xfrm>
            <a:off x="191665" y="908720"/>
            <a:ext cx="8604448" cy="6494085"/>
          </a:xfrm>
          <a:prstGeom prst="rect">
            <a:avLst/>
          </a:prstGeom>
          <a:noFill/>
        </p:spPr>
        <p:txBody>
          <a:bodyPr wrap="square" rtlCol="0">
            <a:spAutoFit/>
          </a:bodyPr>
          <a:lstStyle/>
          <a:p>
            <a:pPr marL="285750" indent="-285750">
              <a:buFont typeface="Arial" pitchFamily="34" charset="0"/>
              <a:buChar char="•"/>
            </a:pPr>
            <a:r>
              <a:rPr lang="en-US" sz="3200" dirty="0" smtClean="0">
                <a:latin typeface="Book Antiqua" pitchFamily="18" charset="0"/>
              </a:rPr>
              <a:t>Usually living resources as they can reproduce or re stock themselves</a:t>
            </a:r>
          </a:p>
          <a:p>
            <a:endParaRPr lang="en-US" sz="3200" dirty="0" smtClean="0">
              <a:latin typeface="Book Antiqua" pitchFamily="18" charset="0"/>
            </a:endParaRPr>
          </a:p>
          <a:p>
            <a:pPr marL="285750" indent="-285750">
              <a:buFont typeface="Arial" pitchFamily="34" charset="0"/>
              <a:buChar char="•"/>
            </a:pPr>
            <a:r>
              <a:rPr lang="en-US" sz="3200" dirty="0">
                <a:latin typeface="Book Antiqua" pitchFamily="18" charset="0"/>
              </a:rPr>
              <a:t>T</a:t>
            </a:r>
            <a:r>
              <a:rPr lang="en-US" sz="3200" dirty="0" smtClean="0">
                <a:latin typeface="Book Antiqua" pitchFamily="18" charset="0"/>
              </a:rPr>
              <a:t>hey are part of a cycle that allows them to be reused.</a:t>
            </a:r>
          </a:p>
          <a:p>
            <a:pPr marL="285750" indent="-285750">
              <a:buFont typeface="Arial" pitchFamily="34" charset="0"/>
              <a:buChar char="•"/>
            </a:pPr>
            <a:endParaRPr lang="en-US" sz="3200" dirty="0">
              <a:latin typeface="Book Antiqua" pitchFamily="18" charset="0"/>
            </a:endParaRPr>
          </a:p>
          <a:p>
            <a:pPr marL="285750" indent="-285750">
              <a:buFont typeface="Arial" pitchFamily="34" charset="0"/>
              <a:buChar char="•"/>
            </a:pPr>
            <a:r>
              <a:rPr lang="en-US" sz="3200" dirty="0" smtClean="0">
                <a:latin typeface="Book Antiqua" pitchFamily="18" charset="0"/>
              </a:rPr>
              <a:t>Only exist if they are not being used faster then they can replenish themselves.</a:t>
            </a:r>
          </a:p>
          <a:p>
            <a:pPr marL="285750" indent="-285750">
              <a:buFont typeface="Arial" pitchFamily="34" charset="0"/>
              <a:buChar char="•"/>
            </a:pPr>
            <a:endParaRPr lang="en-US" sz="3200" dirty="0">
              <a:latin typeface="Book Antiqua" pitchFamily="18" charset="0"/>
            </a:endParaRPr>
          </a:p>
          <a:p>
            <a:pPr marL="285750" indent="-285750">
              <a:buFont typeface="Arial" pitchFamily="34" charset="0"/>
              <a:buChar char="•"/>
            </a:pPr>
            <a:r>
              <a:rPr lang="en-US" sz="3200" dirty="0" smtClean="0">
                <a:latin typeface="Book Antiqua" pitchFamily="18" charset="0"/>
              </a:rPr>
              <a:t>Can include ground water, rivers, soil and fish</a:t>
            </a:r>
          </a:p>
          <a:p>
            <a:pPr marL="285750" indent="-285750">
              <a:buFont typeface="Arial" pitchFamily="34" charset="0"/>
              <a:buChar char="•"/>
            </a:pPr>
            <a:endParaRPr lang="en-US" sz="3200" dirty="0" smtClean="0">
              <a:latin typeface="Book Antiqua" pitchFamily="18" charset="0"/>
            </a:endParaRPr>
          </a:p>
          <a:p>
            <a:pPr marL="285750" indent="-285750">
              <a:buFont typeface="Arial" pitchFamily="34" charset="0"/>
              <a:buChar char="•"/>
            </a:pPr>
            <a:endParaRPr lang="en-AU" sz="3200" dirty="0"/>
          </a:p>
        </p:txBody>
      </p:sp>
    </p:spTree>
    <p:extLst>
      <p:ext uri="{BB962C8B-B14F-4D97-AF65-F5344CB8AC3E}">
        <p14:creationId xmlns:p14="http://schemas.microsoft.com/office/powerpoint/2010/main" val="2146040285"/>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7544" y="260648"/>
            <a:ext cx="8229600" cy="1143000"/>
          </a:xfrm>
        </p:spPr>
        <p:txBody>
          <a:bodyPr>
            <a:normAutofit/>
          </a:bodyPr>
          <a:lstStyle/>
          <a:p>
            <a:r>
              <a:rPr lang="en-US" sz="4000" b="1" dirty="0" smtClean="0">
                <a:latin typeface="Book Antiqua" pitchFamily="18" charset="0"/>
              </a:rPr>
              <a:t>Non-Renewable</a:t>
            </a:r>
            <a:endParaRPr lang="en-AU" sz="4000" b="1" dirty="0">
              <a:latin typeface="Book Antiqua" pitchFamily="18" charset="0"/>
            </a:endParaRPr>
          </a:p>
        </p:txBody>
      </p:sp>
      <p:sp>
        <p:nvSpPr>
          <p:cNvPr id="5" name="TextBox 4"/>
          <p:cNvSpPr txBox="1"/>
          <p:nvPr/>
        </p:nvSpPr>
        <p:spPr>
          <a:xfrm>
            <a:off x="323528" y="1412776"/>
            <a:ext cx="8424936" cy="4524315"/>
          </a:xfrm>
          <a:prstGeom prst="rect">
            <a:avLst/>
          </a:prstGeom>
          <a:noFill/>
        </p:spPr>
        <p:txBody>
          <a:bodyPr wrap="square" rtlCol="0">
            <a:spAutoFit/>
          </a:bodyPr>
          <a:lstStyle/>
          <a:p>
            <a:pPr marL="285750" indent="-285750">
              <a:buFont typeface="Arial" pitchFamily="34" charset="0"/>
              <a:buChar char="•"/>
            </a:pPr>
            <a:r>
              <a:rPr lang="en-US" sz="3200" dirty="0" smtClean="0">
                <a:latin typeface="Book Antiqua" pitchFamily="18" charset="0"/>
              </a:rPr>
              <a:t>Cannot be re-produced or re-grown and are therefore in limited supply</a:t>
            </a:r>
          </a:p>
          <a:p>
            <a:pPr marL="285750" indent="-285750">
              <a:buFont typeface="Arial" pitchFamily="34" charset="0"/>
              <a:buChar char="•"/>
            </a:pPr>
            <a:endParaRPr lang="en-US" sz="3200" dirty="0">
              <a:latin typeface="Book Antiqua" pitchFamily="18" charset="0"/>
            </a:endParaRPr>
          </a:p>
          <a:p>
            <a:pPr marL="285750" indent="-285750">
              <a:buFont typeface="Arial" pitchFamily="34" charset="0"/>
              <a:buChar char="•"/>
            </a:pPr>
            <a:r>
              <a:rPr lang="en-US" sz="3200" dirty="0" smtClean="0">
                <a:latin typeface="Book Antiqua" pitchFamily="18" charset="0"/>
              </a:rPr>
              <a:t>Coal is considered a non-renewable resource. It is constantly being formed but too slowly to keep up with demand.</a:t>
            </a:r>
          </a:p>
          <a:p>
            <a:pPr marL="285750" indent="-285750">
              <a:buFont typeface="Arial" pitchFamily="34" charset="0"/>
              <a:buChar char="•"/>
            </a:pPr>
            <a:endParaRPr lang="en-US" sz="3200" dirty="0">
              <a:latin typeface="Book Antiqua" pitchFamily="18" charset="0"/>
            </a:endParaRPr>
          </a:p>
          <a:p>
            <a:pPr marL="285750" indent="-285750">
              <a:buFont typeface="Arial" pitchFamily="34" charset="0"/>
              <a:buChar char="•"/>
            </a:pPr>
            <a:r>
              <a:rPr lang="en-US" sz="3200" dirty="0" smtClean="0">
                <a:latin typeface="Book Antiqua" pitchFamily="18" charset="0"/>
              </a:rPr>
              <a:t>Other examples include oil, minerals and plants that become extinct </a:t>
            </a:r>
          </a:p>
        </p:txBody>
      </p:sp>
    </p:spTree>
    <p:extLst>
      <p:ext uri="{BB962C8B-B14F-4D97-AF65-F5344CB8AC3E}">
        <p14:creationId xmlns:p14="http://schemas.microsoft.com/office/powerpoint/2010/main" val="4106807534"/>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b="1" dirty="0" smtClean="0">
                <a:latin typeface="Book Antiqua" panose="02040602050305030304" pitchFamily="18" charset="0"/>
              </a:rPr>
              <a:t>Continuous Resources </a:t>
            </a:r>
            <a:endParaRPr lang="en-AU" b="1" dirty="0">
              <a:latin typeface="Book Antiqua" panose="02040602050305030304" pitchFamily="18" charset="0"/>
            </a:endParaRPr>
          </a:p>
        </p:txBody>
      </p:sp>
      <p:sp>
        <p:nvSpPr>
          <p:cNvPr id="3" name="Content Placeholder 2"/>
          <p:cNvSpPr>
            <a:spLocks noGrp="1"/>
          </p:cNvSpPr>
          <p:nvPr>
            <p:ph idx="1"/>
          </p:nvPr>
        </p:nvSpPr>
        <p:spPr/>
        <p:txBody>
          <a:bodyPr/>
          <a:lstStyle/>
          <a:p>
            <a:r>
              <a:rPr lang="en-AU" dirty="0" smtClean="0">
                <a:latin typeface="Book Antiqua" panose="02040602050305030304" pitchFamily="18" charset="0"/>
              </a:rPr>
              <a:t>These resources will always exist</a:t>
            </a:r>
          </a:p>
          <a:p>
            <a:r>
              <a:rPr lang="en-AU" dirty="0" smtClean="0">
                <a:latin typeface="Book Antiqua" panose="02040602050305030304" pitchFamily="18" charset="0"/>
              </a:rPr>
              <a:t>They will not run out </a:t>
            </a:r>
          </a:p>
          <a:p>
            <a:r>
              <a:rPr lang="en-AU" dirty="0" smtClean="0">
                <a:latin typeface="Book Antiqua" panose="02040602050305030304" pitchFamily="18" charset="0"/>
              </a:rPr>
              <a:t>They include solar radiation (the sun), wind, tides, air, waves and water (not all water)</a:t>
            </a:r>
            <a:endParaRPr lang="en-AU" dirty="0">
              <a:latin typeface="Book Antiqua" panose="02040602050305030304" pitchFamily="18" charset="0"/>
            </a:endParaRPr>
          </a:p>
        </p:txBody>
      </p:sp>
    </p:spTree>
    <p:extLst>
      <p:ext uri="{BB962C8B-B14F-4D97-AF65-F5344CB8AC3E}">
        <p14:creationId xmlns:p14="http://schemas.microsoft.com/office/powerpoint/2010/main" val="2912483099"/>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b="1" dirty="0" smtClean="0">
                <a:latin typeface="Book Antiqua" panose="02040602050305030304" pitchFamily="18" charset="0"/>
              </a:rPr>
              <a:t>Non – Continuous </a:t>
            </a:r>
            <a:endParaRPr lang="en-AU" b="1" dirty="0">
              <a:latin typeface="Book Antiqua" panose="02040602050305030304" pitchFamily="18" charset="0"/>
            </a:endParaRPr>
          </a:p>
        </p:txBody>
      </p:sp>
      <p:sp>
        <p:nvSpPr>
          <p:cNvPr id="3" name="Content Placeholder 2"/>
          <p:cNvSpPr>
            <a:spLocks noGrp="1"/>
          </p:cNvSpPr>
          <p:nvPr>
            <p:ph idx="1"/>
          </p:nvPr>
        </p:nvSpPr>
        <p:spPr/>
        <p:txBody>
          <a:bodyPr/>
          <a:lstStyle/>
          <a:p>
            <a:r>
              <a:rPr lang="en-AU" dirty="0" smtClean="0">
                <a:latin typeface="Book Antiqua" panose="02040602050305030304" pitchFamily="18" charset="0"/>
              </a:rPr>
              <a:t>These resources may not exist in the future</a:t>
            </a:r>
          </a:p>
          <a:p>
            <a:r>
              <a:rPr lang="en-AU" dirty="0" smtClean="0">
                <a:latin typeface="Book Antiqua" panose="02040602050305030304" pitchFamily="18" charset="0"/>
              </a:rPr>
              <a:t>The availability depends on human activity and could run out in the future</a:t>
            </a:r>
          </a:p>
          <a:p>
            <a:r>
              <a:rPr lang="en-AU" dirty="0" smtClean="0">
                <a:latin typeface="Book Antiqua" panose="02040602050305030304" pitchFamily="18" charset="0"/>
              </a:rPr>
              <a:t>For example drawing water from a lake and leaving it dry). </a:t>
            </a:r>
          </a:p>
          <a:p>
            <a:endParaRPr lang="en-AU" dirty="0"/>
          </a:p>
        </p:txBody>
      </p:sp>
    </p:spTree>
    <p:extLst>
      <p:ext uri="{BB962C8B-B14F-4D97-AF65-F5344CB8AC3E}">
        <p14:creationId xmlns:p14="http://schemas.microsoft.com/office/powerpoint/2010/main" val="2993391607"/>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b="1" dirty="0" smtClean="0">
                <a:latin typeface="Book Antiqua" pitchFamily="18" charset="0"/>
              </a:rPr>
              <a:t>Your Task  - think/write/share</a:t>
            </a:r>
            <a:endParaRPr lang="en-AU" sz="4000" b="1" dirty="0">
              <a:latin typeface="Book Antiqua" pitchFamily="18" charset="0"/>
            </a:endParaRPr>
          </a:p>
        </p:txBody>
      </p:sp>
      <p:sp>
        <p:nvSpPr>
          <p:cNvPr id="3" name="Content Placeholder 2"/>
          <p:cNvSpPr>
            <a:spLocks noGrp="1"/>
          </p:cNvSpPr>
          <p:nvPr>
            <p:ph idx="1"/>
          </p:nvPr>
        </p:nvSpPr>
        <p:spPr>
          <a:xfrm>
            <a:off x="457200" y="1268760"/>
            <a:ext cx="8229600" cy="5112568"/>
          </a:xfrm>
        </p:spPr>
        <p:txBody>
          <a:bodyPr>
            <a:noAutofit/>
          </a:bodyPr>
          <a:lstStyle/>
          <a:p>
            <a:pPr marL="0" indent="0" algn="ctr">
              <a:buNone/>
            </a:pPr>
            <a:r>
              <a:rPr lang="en-AU" sz="3000" b="1" dirty="0" smtClean="0">
                <a:latin typeface="Book Antiqua" pitchFamily="18" charset="0"/>
              </a:rPr>
              <a:t>Think about how you use water each day. </a:t>
            </a:r>
          </a:p>
          <a:p>
            <a:pPr marL="514350" indent="-514350">
              <a:buAutoNum type="arabicPeriod"/>
            </a:pPr>
            <a:r>
              <a:rPr lang="en-AU" sz="3000" b="1" dirty="0" smtClean="0">
                <a:latin typeface="Book Antiqua" pitchFamily="18" charset="0"/>
              </a:rPr>
              <a:t>When do you use water? At what time of the day?</a:t>
            </a:r>
          </a:p>
          <a:p>
            <a:pPr marL="514350" indent="-514350">
              <a:buAutoNum type="arabicPeriod"/>
            </a:pPr>
            <a:endParaRPr lang="en-AU" sz="3000" b="1" dirty="0" smtClean="0">
              <a:latin typeface="Book Antiqua" pitchFamily="18" charset="0"/>
            </a:endParaRPr>
          </a:p>
          <a:p>
            <a:pPr marL="514350" indent="-514350">
              <a:buAutoNum type="arabicPeriod"/>
            </a:pPr>
            <a:r>
              <a:rPr lang="en-AU" sz="3000" b="1" dirty="0" smtClean="0">
                <a:latin typeface="Book Antiqua" pitchFamily="18" charset="0"/>
              </a:rPr>
              <a:t>What do you use it for?</a:t>
            </a:r>
          </a:p>
          <a:p>
            <a:pPr marL="514350" indent="-514350">
              <a:buAutoNum type="arabicPeriod"/>
            </a:pPr>
            <a:endParaRPr lang="en-AU" sz="3000" b="1" dirty="0" smtClean="0">
              <a:latin typeface="Book Antiqua" pitchFamily="18" charset="0"/>
            </a:endParaRPr>
          </a:p>
          <a:p>
            <a:pPr marL="514350" indent="-514350">
              <a:buAutoNum type="arabicPeriod"/>
            </a:pPr>
            <a:r>
              <a:rPr lang="en-AU" sz="3000" b="1" dirty="0" smtClean="0">
                <a:latin typeface="Book Antiqua" pitchFamily="18" charset="0"/>
              </a:rPr>
              <a:t>How much water do you think you use? (how many litres of water?)</a:t>
            </a:r>
          </a:p>
          <a:p>
            <a:pPr marL="514350" indent="-514350">
              <a:buAutoNum type="arabicPeriod"/>
            </a:pPr>
            <a:endParaRPr lang="en-AU" sz="3000" b="1" dirty="0" smtClean="0">
              <a:latin typeface="Book Antiqua" pitchFamily="18" charset="0"/>
            </a:endParaRPr>
          </a:p>
          <a:p>
            <a:pPr marL="514350" indent="-514350">
              <a:buAutoNum type="arabicPeriod"/>
            </a:pPr>
            <a:r>
              <a:rPr lang="en-AU" sz="3000" b="1" dirty="0" smtClean="0">
                <a:latin typeface="Book Antiqua" pitchFamily="18" charset="0"/>
              </a:rPr>
              <a:t>Why is water so important for humans?</a:t>
            </a:r>
            <a:endParaRPr lang="en-AU" sz="3000" b="1" dirty="0">
              <a:latin typeface="Book Antiqua" pitchFamily="18" charset="0"/>
            </a:endParaRPr>
          </a:p>
        </p:txBody>
      </p:sp>
    </p:spTree>
    <p:extLst>
      <p:ext uri="{BB962C8B-B14F-4D97-AF65-F5344CB8AC3E}">
        <p14:creationId xmlns:p14="http://schemas.microsoft.com/office/powerpoint/2010/main" val="1066056957"/>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How much we use each day</a:t>
            </a:r>
            <a:endParaRPr lang="en-AU" dirty="0"/>
          </a:p>
        </p:txBody>
      </p:sp>
      <p:sp>
        <p:nvSpPr>
          <p:cNvPr id="3" name="Content Placeholder 2"/>
          <p:cNvSpPr>
            <a:spLocks noGrp="1"/>
          </p:cNvSpPr>
          <p:nvPr>
            <p:ph idx="1"/>
          </p:nvPr>
        </p:nvSpPr>
        <p:spPr>
          <a:xfrm>
            <a:off x="457200" y="1600200"/>
            <a:ext cx="4474840" cy="4525963"/>
          </a:xfrm>
        </p:spPr>
        <p:txBody>
          <a:bodyPr/>
          <a:lstStyle/>
          <a:p>
            <a:r>
              <a:rPr lang="en-AU" dirty="0"/>
              <a:t>The current average daily water consumption is </a:t>
            </a:r>
            <a:r>
              <a:rPr lang="en-AU" b="1" dirty="0"/>
              <a:t>340 litres</a:t>
            </a:r>
            <a:r>
              <a:rPr lang="en-AU" dirty="0"/>
              <a:t> per person, or </a:t>
            </a:r>
            <a:r>
              <a:rPr lang="en-AU" b="1" dirty="0"/>
              <a:t>900 litres</a:t>
            </a:r>
            <a:r>
              <a:rPr lang="en-AU" dirty="0"/>
              <a:t> per household</a:t>
            </a:r>
            <a:r>
              <a:rPr lang="en-AU" dirty="0" smtClean="0"/>
              <a:t>.</a:t>
            </a:r>
          </a:p>
          <a:p>
            <a:r>
              <a:rPr lang="en-AU" dirty="0" smtClean="0"/>
              <a:t>That’s 340 bottles of Mt Franklin water!!!</a:t>
            </a:r>
          </a:p>
          <a:p>
            <a:pPr marL="0" indent="0">
              <a:buNone/>
            </a:pPr>
            <a:endParaRPr lang="en-AU" dirty="0"/>
          </a:p>
        </p:txBody>
      </p:sp>
      <p:pic>
        <p:nvPicPr>
          <p:cNvPr id="4" name="Picture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498372" y="2852935"/>
            <a:ext cx="3337303" cy="3337303"/>
          </a:xfrm>
          <a:prstGeom prst="rect">
            <a:avLst/>
          </a:prstGeom>
        </p:spPr>
      </p:pic>
    </p:spTree>
    <p:extLst>
      <p:ext uri="{BB962C8B-B14F-4D97-AF65-F5344CB8AC3E}">
        <p14:creationId xmlns:p14="http://schemas.microsoft.com/office/powerpoint/2010/main" val="2623028436"/>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AU" dirty="0" smtClean="0"/>
              <a:t>The </a:t>
            </a:r>
            <a:r>
              <a:rPr lang="en-AU" dirty="0"/>
              <a:t>Water </a:t>
            </a:r>
            <a:r>
              <a:rPr lang="en-AU" dirty="0" smtClean="0"/>
              <a:t>Cycle</a:t>
            </a:r>
            <a:br>
              <a:rPr lang="en-AU" dirty="0" smtClean="0"/>
            </a:br>
            <a:r>
              <a:rPr lang="en-AU" sz="1700" dirty="0" smtClean="0">
                <a:hlinkClick r:id="rId2"/>
              </a:rPr>
              <a:t>https</a:t>
            </a:r>
            <a:r>
              <a:rPr lang="en-AU" sz="1700" dirty="0">
                <a:hlinkClick r:id="rId2"/>
              </a:rPr>
              <a:t>://</a:t>
            </a:r>
            <a:r>
              <a:rPr lang="en-AU" sz="1700" dirty="0" smtClean="0">
                <a:hlinkClick r:id="rId2"/>
              </a:rPr>
              <a:t>www.youtube.com/watch?v=TWb4KlM2vts</a:t>
            </a:r>
            <a:r>
              <a:rPr lang="en-AU" sz="1700" dirty="0" smtClean="0"/>
              <a:t/>
            </a:r>
            <a:br>
              <a:rPr lang="en-AU" sz="1700" dirty="0" smtClean="0"/>
            </a:br>
            <a:endParaRPr lang="en-AU" sz="1700" dirty="0"/>
          </a:p>
        </p:txBody>
      </p:sp>
      <p:sp>
        <p:nvSpPr>
          <p:cNvPr id="3" name="Content Placeholder 2"/>
          <p:cNvSpPr>
            <a:spLocks noGrp="1"/>
          </p:cNvSpPr>
          <p:nvPr>
            <p:ph idx="1"/>
          </p:nvPr>
        </p:nvSpPr>
        <p:spPr>
          <a:xfrm>
            <a:off x="467544" y="1340768"/>
            <a:ext cx="8229600" cy="4525963"/>
          </a:xfrm>
        </p:spPr>
        <p:txBody>
          <a:bodyPr/>
          <a:lstStyle/>
          <a:p>
            <a:r>
              <a:rPr lang="en-AU" dirty="0" smtClean="0"/>
              <a:t>Remember PERTIC!  </a:t>
            </a:r>
          </a:p>
          <a:p>
            <a:endParaRPr lang="en-AU" dirty="0"/>
          </a:p>
          <a:p>
            <a:endParaRPr lang="en-AU" dirty="0"/>
          </a:p>
        </p:txBody>
      </p:sp>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15616" y="2024844"/>
            <a:ext cx="6551712" cy="4094820"/>
          </a:xfrm>
          <a:prstGeom prst="rect">
            <a:avLst/>
          </a:prstGeom>
        </p:spPr>
      </p:pic>
    </p:spTree>
    <p:extLst>
      <p:ext uri="{BB962C8B-B14F-4D97-AF65-F5344CB8AC3E}">
        <p14:creationId xmlns:p14="http://schemas.microsoft.com/office/powerpoint/2010/main" val="414146652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Precipitation </a:t>
            </a:r>
            <a:endParaRPr lang="en-AU" dirty="0"/>
          </a:p>
        </p:txBody>
      </p:sp>
      <p:sp>
        <p:nvSpPr>
          <p:cNvPr id="3" name="Content Placeholder 2"/>
          <p:cNvSpPr>
            <a:spLocks noGrp="1"/>
          </p:cNvSpPr>
          <p:nvPr>
            <p:ph idx="1"/>
          </p:nvPr>
        </p:nvSpPr>
        <p:spPr/>
        <p:txBody>
          <a:bodyPr/>
          <a:lstStyle/>
          <a:p>
            <a:r>
              <a:rPr lang="en-US" dirty="0"/>
              <a:t>Wet air is forced higher into the atmosphere. It cools down and droplets join together and become heavier. They then fall as precipitation (rain, snow, hail) onto land, ocean, rivers or lakes</a:t>
            </a:r>
            <a:endParaRPr lang="en-AU" dirty="0"/>
          </a:p>
          <a:p>
            <a:endParaRPr lang="en-AU" dirty="0"/>
          </a:p>
        </p:txBody>
      </p:sp>
    </p:spTree>
    <p:extLst>
      <p:ext uri="{BB962C8B-B14F-4D97-AF65-F5344CB8AC3E}">
        <p14:creationId xmlns:p14="http://schemas.microsoft.com/office/powerpoint/2010/main" val="148898654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Evaporation </a:t>
            </a:r>
            <a:endParaRPr lang="en-AU" dirty="0"/>
          </a:p>
        </p:txBody>
      </p:sp>
      <p:sp>
        <p:nvSpPr>
          <p:cNvPr id="3" name="Content Placeholder 2"/>
          <p:cNvSpPr>
            <a:spLocks noGrp="1"/>
          </p:cNvSpPr>
          <p:nvPr>
            <p:ph idx="1"/>
          </p:nvPr>
        </p:nvSpPr>
        <p:spPr/>
        <p:txBody>
          <a:bodyPr/>
          <a:lstStyle/>
          <a:p>
            <a:r>
              <a:rPr lang="en-US" dirty="0"/>
              <a:t>The sun heats the water in oceans, lakes and rivers and turns it into a gas called water </a:t>
            </a:r>
            <a:r>
              <a:rPr lang="en-US" dirty="0" err="1"/>
              <a:t>vapour</a:t>
            </a:r>
            <a:r>
              <a:rPr lang="en-US" dirty="0"/>
              <a:t>. It rises into the air through a process known as evaporation</a:t>
            </a:r>
            <a:endParaRPr lang="en-AU" dirty="0"/>
          </a:p>
          <a:p>
            <a:endParaRPr lang="en-AU" dirty="0"/>
          </a:p>
        </p:txBody>
      </p:sp>
    </p:spTree>
    <p:extLst>
      <p:ext uri="{BB962C8B-B14F-4D97-AF65-F5344CB8AC3E}">
        <p14:creationId xmlns:p14="http://schemas.microsoft.com/office/powerpoint/2010/main" val="302510513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Run-off </a:t>
            </a:r>
            <a:endParaRPr lang="en-AU" dirty="0"/>
          </a:p>
        </p:txBody>
      </p:sp>
      <p:sp>
        <p:nvSpPr>
          <p:cNvPr id="3" name="Content Placeholder 2"/>
          <p:cNvSpPr>
            <a:spLocks noGrp="1"/>
          </p:cNvSpPr>
          <p:nvPr>
            <p:ph idx="1"/>
          </p:nvPr>
        </p:nvSpPr>
        <p:spPr/>
        <p:txBody>
          <a:bodyPr/>
          <a:lstStyle/>
          <a:p>
            <a:r>
              <a:rPr lang="en-US" dirty="0"/>
              <a:t> </a:t>
            </a:r>
            <a:r>
              <a:rPr lang="en-US" dirty="0" smtClean="0"/>
              <a:t>Some </a:t>
            </a:r>
            <a:r>
              <a:rPr lang="en-US" dirty="0"/>
              <a:t>of the precipitation that falls on land returns straight to rivers, lakes and oceans as run-off</a:t>
            </a:r>
            <a:endParaRPr lang="en-AU" dirty="0"/>
          </a:p>
          <a:p>
            <a:endParaRPr lang="en-AU" dirty="0"/>
          </a:p>
        </p:txBody>
      </p:sp>
    </p:spTree>
    <p:extLst>
      <p:ext uri="{BB962C8B-B14F-4D97-AF65-F5344CB8AC3E}">
        <p14:creationId xmlns:p14="http://schemas.microsoft.com/office/powerpoint/2010/main" val="222699687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Transpiration </a:t>
            </a:r>
            <a:endParaRPr lang="en-AU" dirty="0"/>
          </a:p>
        </p:txBody>
      </p:sp>
      <p:sp>
        <p:nvSpPr>
          <p:cNvPr id="3" name="Content Placeholder 2"/>
          <p:cNvSpPr>
            <a:spLocks noGrp="1"/>
          </p:cNvSpPr>
          <p:nvPr>
            <p:ph idx="1"/>
          </p:nvPr>
        </p:nvSpPr>
        <p:spPr/>
        <p:txBody>
          <a:bodyPr/>
          <a:lstStyle/>
          <a:p>
            <a:r>
              <a:rPr lang="en-US" dirty="0"/>
              <a:t>The process of water moving through a plant then being evaporated from its leaves, flowers and stems. </a:t>
            </a:r>
            <a:endParaRPr lang="en-AU" dirty="0"/>
          </a:p>
        </p:txBody>
      </p:sp>
    </p:spTree>
    <p:extLst>
      <p:ext uri="{BB962C8B-B14F-4D97-AF65-F5344CB8AC3E}">
        <p14:creationId xmlns:p14="http://schemas.microsoft.com/office/powerpoint/2010/main" val="340947336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Infiltration </a:t>
            </a:r>
            <a:endParaRPr lang="en-AU" dirty="0"/>
          </a:p>
        </p:txBody>
      </p:sp>
      <p:sp>
        <p:nvSpPr>
          <p:cNvPr id="3" name="Content Placeholder 2"/>
          <p:cNvSpPr>
            <a:spLocks noGrp="1"/>
          </p:cNvSpPr>
          <p:nvPr>
            <p:ph idx="1"/>
          </p:nvPr>
        </p:nvSpPr>
        <p:spPr/>
        <p:txBody>
          <a:bodyPr/>
          <a:lstStyle/>
          <a:p>
            <a:r>
              <a:rPr lang="en-US" dirty="0"/>
              <a:t>Water lands on the ground and soaks into the soil. Plants take it in through their roots. </a:t>
            </a:r>
            <a:endParaRPr lang="en-AU" dirty="0"/>
          </a:p>
          <a:p>
            <a:endParaRPr lang="en-AU" dirty="0"/>
          </a:p>
        </p:txBody>
      </p:sp>
    </p:spTree>
    <p:extLst>
      <p:ext uri="{BB962C8B-B14F-4D97-AF65-F5344CB8AC3E}">
        <p14:creationId xmlns:p14="http://schemas.microsoft.com/office/powerpoint/2010/main" val="311847745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Condensation </a:t>
            </a:r>
            <a:endParaRPr lang="en-AU" dirty="0"/>
          </a:p>
        </p:txBody>
      </p:sp>
      <p:sp>
        <p:nvSpPr>
          <p:cNvPr id="3" name="Content Placeholder 2"/>
          <p:cNvSpPr>
            <a:spLocks noGrp="1"/>
          </p:cNvSpPr>
          <p:nvPr>
            <p:ph idx="1"/>
          </p:nvPr>
        </p:nvSpPr>
        <p:spPr/>
        <p:txBody>
          <a:bodyPr/>
          <a:lstStyle/>
          <a:p>
            <a:r>
              <a:rPr lang="en-US" dirty="0" err="1"/>
              <a:t>Vapour</a:t>
            </a:r>
            <a:r>
              <a:rPr lang="en-US" dirty="0"/>
              <a:t> in the air that changes into drops and gathers into clouds. The drops are so small they can float in the air.</a:t>
            </a:r>
            <a:endParaRPr lang="en-AU" dirty="0"/>
          </a:p>
        </p:txBody>
      </p:sp>
    </p:spTree>
    <p:extLst>
      <p:ext uri="{BB962C8B-B14F-4D97-AF65-F5344CB8AC3E}">
        <p14:creationId xmlns:p14="http://schemas.microsoft.com/office/powerpoint/2010/main" val="74685691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544</TotalTime>
  <Words>541</Words>
  <Application>Microsoft Office PowerPoint</Application>
  <PresentationFormat>On-screen Show (4:3)</PresentationFormat>
  <Paragraphs>74</Paragraphs>
  <Slides>18</Slides>
  <Notes>5</Notes>
  <HiddenSlides>0</HiddenSlides>
  <MMClips>0</MMClips>
  <ScaleCrop>false</ScaleCrop>
  <HeadingPairs>
    <vt:vector size="4" baseType="variant">
      <vt:variant>
        <vt:lpstr>Theme</vt:lpstr>
      </vt:variant>
      <vt:variant>
        <vt:i4>1</vt:i4>
      </vt:variant>
      <vt:variant>
        <vt:lpstr>Slide Titles</vt:lpstr>
      </vt:variant>
      <vt:variant>
        <vt:i4>18</vt:i4>
      </vt:variant>
    </vt:vector>
  </HeadingPairs>
  <TitlesOfParts>
    <vt:vector size="19" baseType="lpstr">
      <vt:lpstr>Office Theme</vt:lpstr>
      <vt:lpstr>Water in the World</vt:lpstr>
      <vt:lpstr>Introduction </vt:lpstr>
      <vt:lpstr>Brainstorm on Water!</vt:lpstr>
      <vt:lpstr>Natural Resources</vt:lpstr>
      <vt:lpstr>Renewable or Non-Renewable?</vt:lpstr>
      <vt:lpstr>Renewable</vt:lpstr>
      <vt:lpstr>Non-Renewable</vt:lpstr>
      <vt:lpstr>Continuous Resources </vt:lpstr>
      <vt:lpstr>Non – Continuous </vt:lpstr>
      <vt:lpstr>Your Task  - think/write/share</vt:lpstr>
      <vt:lpstr>How much we use each day</vt:lpstr>
      <vt:lpstr>The Water Cycle https://www.youtube.com/watch?v=TWb4KlM2vts </vt:lpstr>
      <vt:lpstr>Precipitation </vt:lpstr>
      <vt:lpstr>Evaporation </vt:lpstr>
      <vt:lpstr>Run-off </vt:lpstr>
      <vt:lpstr>Transpiration </vt:lpstr>
      <vt:lpstr>Infiltration </vt:lpstr>
      <vt:lpstr>Condensation </vt:lpstr>
    </vt:vector>
  </TitlesOfParts>
  <Company>The Department of Education</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LocalAdmin</dc:creator>
  <cp:lastModifiedBy>GOODWIN Nina</cp:lastModifiedBy>
  <cp:revision>23</cp:revision>
  <dcterms:created xsi:type="dcterms:W3CDTF">2015-06-26T09:16:23Z</dcterms:created>
  <dcterms:modified xsi:type="dcterms:W3CDTF">2017-07-27T08:38:54Z</dcterms:modified>
</cp:coreProperties>
</file>
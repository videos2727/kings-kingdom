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67" r:id="rId6"/>
    <p:sldId id="268" r:id="rId7"/>
    <p:sldId id="269" r:id="rId8"/>
    <p:sldId id="260" r:id="rId9"/>
    <p:sldId id="27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0E3A8-E6F9-FF44-AF8F-45C3081EFDEF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33C66-0671-D749-AE87-C69813FC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17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33C66-0671-D749-AE87-C69813FCA1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21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-TextureFore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796303"/>
            <a:ext cx="7086600" cy="1847850"/>
          </a:xfrm>
        </p:spPr>
        <p:txBody>
          <a:bodyPr vert="horz" lIns="91440" tIns="45720" rIns="91440" bIns="45720" rtlCol="0" anchor="b" anchorCtr="0">
            <a:noAutofit/>
            <a:scene3d>
              <a:camera prst="orthographicFront"/>
              <a:lightRig rig="threePt" dir="t">
                <a:rot lat="0" lon="0" rev="10800000"/>
              </a:lightRig>
            </a:scene3d>
            <a:sp3d extrusionH="25400">
              <a:bevelT w="12700" h="12700" prst="relaxedInset"/>
              <a:bevelB w="12700" h="12700" prst="relaxedInset"/>
            </a:sp3d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schemeClr val="bg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66565"/>
            <a:ext cx="7086600" cy="1752600"/>
          </a:xfrm>
        </p:spPr>
        <p:txBody>
          <a:bodyPr vert="horz" lIns="91440" tIns="45720" rIns="91440" bIns="45720" rtlCol="0" anchor="t" anchorCtr="0">
            <a:noAutofit/>
            <a:scene3d>
              <a:camera prst="orthographicFront"/>
              <a:lightRig rig="threePt" dir="t">
                <a:rot lat="0" lon="0" rev="10800000"/>
              </a:lightRig>
            </a:scene3d>
            <a:sp3d extrusionH="25400">
              <a:bevelT w="12700" h="12700" prst="relaxedInset"/>
              <a:bevelB w="12700" h="12700" prst="relaxedInset"/>
            </a:sp3d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schemeClr val="bg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8423" y="6221506"/>
            <a:ext cx="2743200" cy="365125"/>
          </a:xfrm>
        </p:spPr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0" y="6221506"/>
            <a:ext cx="27432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792224"/>
            <a:ext cx="7086600" cy="1847088"/>
          </a:xfrm>
        </p:spPr>
        <p:txBody>
          <a:bodyPr vert="horz" lIns="91440" tIns="45720" rIns="91440" bIns="45720" rtlCol="0" anchor="b" anchorCtr="0">
            <a:noAutofit/>
            <a:scene3d>
              <a:camera prst="orthographicFront"/>
              <a:lightRig rig="threePt" dir="t">
                <a:rot lat="0" lon="0" rev="10800000"/>
              </a:lightRig>
            </a:scene3d>
            <a:sp3d extrusionH="25400">
              <a:bevelT w="12700" h="12700" prst="relaxedInset"/>
              <a:bevelB w="12700" h="12700" prst="relaxedInset"/>
            </a:sp3d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schemeClr val="bg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666744"/>
            <a:ext cx="7086600" cy="1755648"/>
          </a:xfrm>
        </p:spPr>
        <p:txBody>
          <a:bodyPr vert="horz" lIns="91440" tIns="45720" rIns="91440" bIns="45720" rtlCol="0" anchor="t" anchorCtr="0">
            <a:noAutofit/>
            <a:scene3d>
              <a:camera prst="orthographicFront"/>
              <a:lightRig rig="threePt" dir="t">
                <a:rot lat="0" lon="0" rev="10800000"/>
              </a:lightRig>
            </a:scene3d>
            <a:sp3d extrusionH="25400">
              <a:bevelT w="12700" h="12700" prst="relaxedInset"/>
              <a:bevelB w="12700" h="12700" prst="relaxedInset"/>
            </a:sp3d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schemeClr val="bg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024" y="274637"/>
            <a:ext cx="7272339" cy="1339009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9023" y="1816100"/>
            <a:ext cx="3429000" cy="4310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2363" y="1816100"/>
            <a:ext cx="3429000" cy="4310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024" y="274637"/>
            <a:ext cx="7272339" cy="1339009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9024" y="1688679"/>
            <a:ext cx="3429000" cy="827088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9024" y="2590800"/>
            <a:ext cx="3429000" cy="35353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2363" y="1688679"/>
            <a:ext cx="3429000" cy="827088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2363" y="2590800"/>
            <a:ext cx="3429000" cy="35353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729" y="381000"/>
            <a:ext cx="3429000" cy="1649506"/>
          </a:xfrm>
        </p:spPr>
        <p:txBody>
          <a:bodyPr anchor="b"/>
          <a:lstStyle>
            <a:lvl1pPr algn="ctr">
              <a:lnSpc>
                <a:spcPct val="100000"/>
              </a:lnSpc>
              <a:defRPr sz="3600" b="1"/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588" y="381000"/>
            <a:ext cx="3429000" cy="57451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4729" y="2057401"/>
            <a:ext cx="3429000" cy="3657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2363" y="739588"/>
            <a:ext cx="3429000" cy="1290380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88136" y="779929"/>
            <a:ext cx="3429000" cy="4935071"/>
          </a:xfrm>
          <a:ln w="76200" cmpd="dbl">
            <a:solidFill>
              <a:schemeClr val="tx1"/>
            </a:solidFill>
            <a:miter lim="800000"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2363" y="2057400"/>
            <a:ext cx="3429000" cy="3657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000"/>
              </a:spcBef>
              <a:buFont typeface="Wingdings" pitchFamily="2" charset="2"/>
              <a:buNone/>
            </a:pPr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025" y="3765177"/>
            <a:ext cx="7272338" cy="1098176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78013" y="777240"/>
            <a:ext cx="4294363" cy="2866913"/>
          </a:xfrm>
          <a:ln w="76200" cmpd="dbl">
            <a:solidFill>
              <a:schemeClr val="tx1"/>
            </a:solidFill>
            <a:miter lim="800000"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9025" y="4867836"/>
            <a:ext cx="7272338" cy="126402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000"/>
              </a:spcBef>
              <a:buFont typeface="Wingdings" pitchFamily="2" charset="2"/>
              <a:buNone/>
            </a:pPr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6588" y="609600"/>
            <a:ext cx="1524000" cy="5516563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9024" y="609600"/>
            <a:ext cx="5921376" cy="55165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9024" y="274637"/>
            <a:ext cx="7272339" cy="13390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AU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9024" y="1801906"/>
            <a:ext cx="7272339" cy="432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2187" y="6356350"/>
            <a:ext cx="24294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90C4CEC-16D5-4229-B4DE-FDE9B679D7E2}" type="datetimeFigureOut">
              <a:rPr lang="en-US" smtClean="0"/>
              <a:t>6/19/2017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20393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BAE4E6-4D12-4A48-9B6B-6FA0B79BEE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ts val="5200"/>
        </a:lnSpc>
        <a:spcBef>
          <a:spcPct val="0"/>
        </a:spcBef>
        <a:buNone/>
        <a:defRPr sz="48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2000"/>
        </a:spcBef>
        <a:buFont typeface="Wingdings" pitchFamily="2" charset="2"/>
        <a:buChar char="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Font typeface="Wingdings" pitchFamily="2" charset="2"/>
        <a:buChar char="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Font typeface="Wingdings" pitchFamily="2" charset="2"/>
        <a:buChar char="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Font typeface="Wingdings" pitchFamily="2" charset="2"/>
        <a:buChar char="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Font typeface="Wingdings" pitchFamily="2" charset="2"/>
        <a:buChar char="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11325" indent="-288925" algn="l" defTabSz="914400" rtl="0" eaLnBrk="1" latinLnBrk="0" hangingPunct="1">
        <a:spcBef>
          <a:spcPct val="20000"/>
        </a:spcBef>
        <a:buFont typeface="Wingdings" pitchFamily="2" charset="2"/>
        <a:buChar char="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00250" indent="-288925" algn="l" defTabSz="914400" rtl="0" eaLnBrk="1" latinLnBrk="0" hangingPunct="1">
        <a:spcBef>
          <a:spcPct val="20000"/>
        </a:spcBef>
        <a:buFont typeface="Wingdings" pitchFamily="2" charset="2"/>
        <a:buChar char="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90763" indent="-288925" algn="l" defTabSz="914400" rtl="0" eaLnBrk="1" latinLnBrk="0" hangingPunct="1">
        <a:spcBef>
          <a:spcPct val="20000"/>
        </a:spcBef>
        <a:buFont typeface="Wingdings" pitchFamily="2" charset="2"/>
        <a:buChar char="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71750" indent="-288925" algn="l" defTabSz="914400" rtl="0" eaLnBrk="1" latinLnBrk="0" hangingPunct="1">
        <a:spcBef>
          <a:spcPct val="20000"/>
        </a:spcBef>
        <a:buFont typeface="Wingdings" pitchFamily="2" charset="2"/>
        <a:buChar char="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057400" y="2790825"/>
            <a:ext cx="7086600" cy="1752600"/>
          </a:xfrm>
        </p:spPr>
        <p:txBody>
          <a:bodyPr/>
          <a:lstStyle/>
          <a:p>
            <a:endParaRPr lang="en-US" sz="2800" b="1" dirty="0" smtClean="0">
              <a:solidFill>
                <a:srgbClr val="3366FF"/>
              </a:solidFill>
              <a:latin typeface="Abadi MT Condensed Extra Bold"/>
              <a:cs typeface="Abadi MT Condensed Extra Bold"/>
            </a:endParaRPr>
          </a:p>
          <a:p>
            <a:endParaRPr lang="en-US" sz="2800" b="1" dirty="0">
              <a:solidFill>
                <a:srgbClr val="3366FF"/>
              </a:solidFill>
              <a:latin typeface="Abadi MT Condensed Extra Bold"/>
              <a:cs typeface="Abadi MT Condensed Extra Bold"/>
            </a:endParaRPr>
          </a:p>
          <a:p>
            <a:endParaRPr lang="en-US" sz="2800" b="1" dirty="0" smtClean="0">
              <a:solidFill>
                <a:srgbClr val="3366FF"/>
              </a:solidFill>
              <a:latin typeface="Abadi MT Condensed Extra Bold"/>
              <a:cs typeface="Abadi MT Condensed Extra Bold"/>
            </a:endParaRPr>
          </a:p>
          <a:p>
            <a:endParaRPr lang="en-US" sz="2800" b="1" dirty="0">
              <a:solidFill>
                <a:srgbClr val="3366FF"/>
              </a:solidFill>
              <a:latin typeface="Abadi MT Condensed Extra Bold"/>
              <a:cs typeface="Abadi MT Condensed Extra Bold"/>
            </a:endParaRPr>
          </a:p>
          <a:p>
            <a:endParaRPr lang="en-US" sz="2800" b="1" dirty="0" smtClean="0">
              <a:solidFill>
                <a:srgbClr val="3366FF"/>
              </a:solidFill>
              <a:latin typeface="Abadi MT Condensed Extra Bold"/>
              <a:cs typeface="Abadi MT Condensed Extra Bold"/>
            </a:endParaRPr>
          </a:p>
          <a:p>
            <a:endParaRPr lang="en-US" sz="2800" b="1" dirty="0">
              <a:solidFill>
                <a:srgbClr val="3366FF"/>
              </a:solidFill>
              <a:latin typeface="Abadi MT Condensed Extra Bold"/>
              <a:cs typeface="Abadi MT Condensed Extra Bold"/>
            </a:endParaRPr>
          </a:p>
          <a:p>
            <a:endParaRPr lang="en-US" sz="2800" b="1" dirty="0" smtClean="0">
              <a:solidFill>
                <a:srgbClr val="3366FF"/>
              </a:solidFill>
              <a:latin typeface="Abadi MT Condensed Extra Bold"/>
              <a:cs typeface="Abadi MT Condensed Extra Bold"/>
            </a:endParaRPr>
          </a:p>
          <a:p>
            <a:endParaRPr lang="en-US" sz="2800" b="1" dirty="0">
              <a:solidFill>
                <a:srgbClr val="3366FF"/>
              </a:solidFill>
              <a:latin typeface="Abadi MT Condensed Extra Bold"/>
              <a:cs typeface="Abadi MT Condensed Extra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58101" y="5605543"/>
            <a:ext cx="4818296" cy="1107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THE COURTS </a:t>
            </a:r>
            <a:endParaRPr lang="en-US" sz="66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0000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183" y="1283855"/>
            <a:ext cx="7215096" cy="355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8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purpose of a court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Our </a:t>
            </a:r>
            <a:r>
              <a:rPr lang="en-AU" b="1" dirty="0"/>
              <a:t>courts</a:t>
            </a:r>
            <a:r>
              <a:rPr lang="en-AU" dirty="0"/>
              <a:t> provide a forum to resolve disputes and to test and enforce laws in a fair and rational manner</a:t>
            </a:r>
            <a:endParaRPr lang="en-US" dirty="0"/>
          </a:p>
        </p:txBody>
      </p:sp>
      <p:pic>
        <p:nvPicPr>
          <p:cNvPr id="4" name="Picture 3" descr="cou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15" y="3094654"/>
            <a:ext cx="3073400" cy="2641600"/>
          </a:xfrm>
          <a:prstGeom prst="rect">
            <a:avLst/>
          </a:prstGeom>
        </p:spPr>
      </p:pic>
      <p:pic>
        <p:nvPicPr>
          <p:cNvPr id="5" name="Picture 4" descr="judge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736" y="3088304"/>
            <a:ext cx="30607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1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Levels of Courts</a:t>
            </a:r>
            <a:br>
              <a:rPr lang="en-US" dirty="0" smtClean="0"/>
            </a:br>
            <a:r>
              <a:rPr lang="en-US" sz="1400" dirty="0" smtClean="0"/>
              <a:t>(Low to high)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Magistrates Court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District Court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Supreme Court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High Court</a:t>
            </a:r>
          </a:p>
          <a:p>
            <a:pPr marL="0" indent="0">
              <a:buNone/>
            </a:pPr>
            <a:endParaRPr lang="en-US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-1877985" y="350614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374" y="4345285"/>
            <a:ext cx="5069410" cy="135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Magistrates Court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Magistrates Court of Western Australia is the lowest court in WA.</a:t>
            </a:r>
          </a:p>
          <a:p>
            <a:r>
              <a:rPr lang="en-US" dirty="0" smtClean="0"/>
              <a:t>It hears cases that are minor criminal cases such as stealing and traffic offences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618" y="3737041"/>
            <a:ext cx="4014932" cy="267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6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District Court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district court is between Magistrate Court and the Supreme Court in WA. </a:t>
            </a:r>
          </a:p>
          <a:p>
            <a:r>
              <a:rPr lang="en-US" dirty="0" smtClean="0"/>
              <a:t>It deals with serious criminal offence including assaults and burglary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526" y="3918157"/>
            <a:ext cx="4245235" cy="239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Supreme Court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024" y="1473818"/>
            <a:ext cx="7272339" cy="4324257"/>
          </a:xfrm>
        </p:spPr>
        <p:txBody>
          <a:bodyPr/>
          <a:lstStyle/>
          <a:p>
            <a:r>
              <a:rPr lang="en-US" dirty="0" smtClean="0"/>
              <a:t>The Supreme Court is the highest court in the state </a:t>
            </a:r>
          </a:p>
          <a:p>
            <a:r>
              <a:rPr lang="en-US" dirty="0" smtClean="0"/>
              <a:t>It deals with serious criminal charges eg. Murder, armed robbery, drug offences</a:t>
            </a:r>
          </a:p>
          <a:p>
            <a:r>
              <a:rPr lang="en-US" dirty="0" smtClean="0"/>
              <a:t>The court of Appeal hears appeals from single judge of Supreme Court and lower Court.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419" y="4109927"/>
            <a:ext cx="3888508" cy="23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8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Court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High Court is in Canberra </a:t>
            </a:r>
          </a:p>
          <a:p>
            <a:r>
              <a:rPr lang="en-US" dirty="0" smtClean="0"/>
              <a:t>The High Court is the highest court of all in Australia, they make the final decisions.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09" y="3537527"/>
            <a:ext cx="3711143" cy="246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5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Court Personnel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528" y="1089892"/>
            <a:ext cx="7363836" cy="50362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Judge:                                                                                                                                                          </a:t>
            </a:r>
            <a:r>
              <a:rPr lang="en-US" dirty="0" smtClean="0">
                <a:solidFill>
                  <a:schemeClr val="tx1"/>
                </a:solidFill>
              </a:rPr>
              <a:t>the person who runs the courtroom and makes decisions about the law. They also make sure that lawyers follow the rules and the court is in order.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Jury: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 is a group of 12 people who listen to the evidence of a case. They then decide who is guilty or not guilty </a:t>
            </a:r>
          </a:p>
          <a:p>
            <a:pPr marL="0" indent="0">
              <a:buNone/>
            </a:pPr>
            <a:r>
              <a:rPr lang="en-US" b="1" dirty="0" err="1" smtClean="0"/>
              <a:t>Defence</a:t>
            </a:r>
            <a:r>
              <a:rPr lang="en-US" b="1" dirty="0" smtClean="0"/>
              <a:t> lawyer</a:t>
            </a:r>
            <a:r>
              <a:rPr lang="en-US" b="1" dirty="0"/>
              <a:t>:</a:t>
            </a:r>
            <a:r>
              <a:rPr lang="en-US" b="1" dirty="0" smtClean="0"/>
              <a:t>                                                                                                                                                    </a:t>
            </a:r>
            <a:r>
              <a:rPr lang="en-US" dirty="0" smtClean="0"/>
              <a:t>is a </a:t>
            </a:r>
            <a:r>
              <a:rPr lang="en-US" dirty="0"/>
              <a:t>criminal defense lawyer </a:t>
            </a:r>
            <a:r>
              <a:rPr lang="en-US" dirty="0" smtClean="0"/>
              <a:t>who </a:t>
            </a:r>
            <a:r>
              <a:rPr lang="en-US" dirty="0" err="1" smtClean="0"/>
              <a:t>specialises</a:t>
            </a:r>
            <a:r>
              <a:rPr lang="en-US" dirty="0" smtClean="0"/>
              <a:t> in defending people</a:t>
            </a:r>
          </a:p>
          <a:p>
            <a:pPr marL="0" indent="0">
              <a:buNone/>
            </a:pPr>
            <a:r>
              <a:rPr lang="en-US" b="1" dirty="0" smtClean="0"/>
              <a:t>Prosecution lawyer: </a:t>
            </a:r>
            <a:r>
              <a:rPr lang="en-US" dirty="0" smtClean="0"/>
              <a:t>is a lawyer from the government who brings a case against the accused person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The Accused/defendant: </a:t>
            </a:r>
            <a:r>
              <a:rPr lang="en-US" dirty="0" smtClean="0"/>
              <a:t>is the person who is on trial. They have been accused of a crime.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Witness                                                                                                                                                                    </a:t>
            </a:r>
            <a:r>
              <a:rPr lang="en-US" dirty="0" smtClean="0"/>
              <a:t> is someone that gives evidence during the trial.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2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Court personnel 2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 smtClean="0"/>
              <a:t>Judges associate/assistant: </a:t>
            </a:r>
            <a:r>
              <a:rPr lang="en-AU" dirty="0" smtClean="0"/>
              <a:t>assists the judge with the case, provides information and support to the judge. </a:t>
            </a:r>
          </a:p>
          <a:p>
            <a:r>
              <a:rPr lang="en-AU" b="1" dirty="0" smtClean="0"/>
              <a:t>The court orderly: </a:t>
            </a:r>
            <a:r>
              <a:rPr lang="en-AU" dirty="0" smtClean="0"/>
              <a:t>assists the judge and other people in the court room </a:t>
            </a:r>
          </a:p>
          <a:p>
            <a:r>
              <a:rPr lang="en-AU" b="1" dirty="0" smtClean="0"/>
              <a:t>Public: </a:t>
            </a:r>
            <a:r>
              <a:rPr lang="en-AU" dirty="0" smtClean="0"/>
              <a:t>members of the public sit in the public gallery at the back of the courtroom</a:t>
            </a:r>
          </a:p>
          <a:p>
            <a:r>
              <a:rPr lang="en-AU" b="1" dirty="0" smtClean="0"/>
              <a:t>Magistrate: </a:t>
            </a:r>
            <a:r>
              <a:rPr lang="en-AU" dirty="0" smtClean="0"/>
              <a:t>a judge in the </a:t>
            </a:r>
            <a:r>
              <a:rPr lang="en-AU" smtClean="0"/>
              <a:t>magistrates court.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21135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dition">
  <a:themeElements>
    <a:clrScheme name="Tradition">
      <a:dk1>
        <a:srgbClr val="000000"/>
      </a:dk1>
      <a:lt1>
        <a:srgbClr val="FFFFFF"/>
      </a:lt1>
      <a:dk2>
        <a:srgbClr val="59480D"/>
      </a:dk2>
      <a:lt2>
        <a:srgbClr val="D28E11"/>
      </a:lt2>
      <a:accent1>
        <a:srgbClr val="6B4A0B"/>
      </a:accent1>
      <a:accent2>
        <a:srgbClr val="790A14"/>
      </a:accent2>
      <a:accent3>
        <a:srgbClr val="908342"/>
      </a:accent3>
      <a:accent4>
        <a:srgbClr val="423E5C"/>
      </a:accent4>
      <a:accent5>
        <a:srgbClr val="641345"/>
      </a:accent5>
      <a:accent6>
        <a:srgbClr val="748A2F"/>
      </a:accent6>
      <a:hlink>
        <a:srgbClr val="DD7E0E"/>
      </a:hlink>
      <a:folHlink>
        <a:srgbClr val="7F6F6F"/>
      </a:folHlink>
    </a:clrScheme>
    <a:fontScheme name="Tradition">
      <a:majorFont>
        <a:latin typeface="Candara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andara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Tradit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150000"/>
              </a:schemeClr>
              <a:schemeClr val="phClr">
                <a:tint val="90000"/>
                <a:satMod val="30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10000"/>
                <a:satMod val="150000"/>
              </a:schemeClr>
              <a:schemeClr val="phClr">
                <a:tint val="90000"/>
                <a:satMod val="300000"/>
              </a:schemeClr>
            </a:duotone>
          </a:blip>
          <a:stretch/>
        </a:blipFill>
      </a:fillStyleLst>
      <a:lnStyleLst>
        <a:ln w="1587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38100" cap="flat" cmpd="sng" algn="ctr">
          <a:solidFill>
            <a:schemeClr val="phClr">
              <a:shade val="90000"/>
            </a:schemeClr>
          </a:solidFill>
          <a:prstDash val="solid"/>
          <a:miter/>
        </a:ln>
        <a:ln w="76200" cap="flat" cmpd="dbl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innerShdw blurRad="127000">
              <a:srgbClr val="FFFFFF">
                <a:alpha val="35000"/>
              </a:srgbClr>
            </a:innerShdw>
          </a:effectLst>
          <a:scene3d>
            <a:camera prst="orthographicFront">
              <a:rot lat="0" lon="0" rev="0"/>
            </a:camera>
            <a:lightRig rig="chilly" dir="tl">
              <a:rot lat="0" lon="0" rev="5400000"/>
            </a:lightRig>
          </a:scene3d>
          <a:sp3d prstMaterial="softEdge">
            <a:bevelT w="0" h="0"/>
          </a:sp3d>
        </a:effectStyle>
        <a:effectStyle>
          <a:effectLst>
            <a:outerShdw blurRad="63500" dist="25400" dir="5400000" algn="br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3600000"/>
            </a:lightRig>
          </a:scene3d>
          <a:sp3d>
            <a:bevelT w="889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3">
            <a:duotone>
              <a:schemeClr val="phClr">
                <a:shade val="10000"/>
                <a:satMod val="175000"/>
              </a:schemeClr>
              <a:schemeClr val="phClr">
                <a:satMod val="3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Tradition.thmx</Template>
  <TotalTime>3547</TotalTime>
  <Words>343</Words>
  <Application>Microsoft Office PowerPoint</Application>
  <PresentationFormat>On-screen Show (4:3)</PresentationFormat>
  <Paragraphs>41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Tradition</vt:lpstr>
      <vt:lpstr>PowerPoint Presentation</vt:lpstr>
      <vt:lpstr>The purpose of a court</vt:lpstr>
      <vt:lpstr>Levels of Courts (Low to high)</vt:lpstr>
      <vt:lpstr>Magistrates Court</vt:lpstr>
      <vt:lpstr>District Court</vt:lpstr>
      <vt:lpstr>Supreme Court</vt:lpstr>
      <vt:lpstr>High Court </vt:lpstr>
      <vt:lpstr>Court Personnel</vt:lpstr>
      <vt:lpstr>Court personnel 2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GOODWIN Nina</cp:lastModifiedBy>
  <cp:revision>64</cp:revision>
  <dcterms:created xsi:type="dcterms:W3CDTF">2014-08-22T05:06:23Z</dcterms:created>
  <dcterms:modified xsi:type="dcterms:W3CDTF">2017-06-19T04:06:45Z</dcterms:modified>
</cp:coreProperties>
</file>
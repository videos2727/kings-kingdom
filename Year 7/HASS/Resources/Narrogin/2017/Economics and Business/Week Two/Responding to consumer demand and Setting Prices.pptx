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75" r:id="rId3"/>
    <p:sldId id="257" r:id="rId4"/>
    <p:sldId id="262" r:id="rId5"/>
    <p:sldId id="263" r:id="rId6"/>
    <p:sldId id="264" r:id="rId7"/>
    <p:sldId id="265" r:id="rId8"/>
    <p:sldId id="266" r:id="rId9"/>
    <p:sldId id="260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80" r:id="rId21"/>
    <p:sldId id="281" r:id="rId22"/>
    <p:sldId id="282" r:id="rId23"/>
    <p:sldId id="283" r:id="rId24"/>
    <p:sldId id="284" r:id="rId25"/>
    <p:sldId id="278" r:id="rId26"/>
    <p:sldId id="287" r:id="rId27"/>
    <p:sldId id="286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7" d="100"/>
          <a:sy n="67" d="100"/>
        </p:scale>
        <p:origin x="5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2" y="0"/>
            <a:ext cx="54609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4277500" y="4382967"/>
            <a:ext cx="7000400" cy="1546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buClr>
                <a:srgbClr val="FFFFFF"/>
              </a:buClr>
              <a:buSzPct val="100000"/>
              <a:buFont typeface="Lato Light"/>
              <a:defRPr sz="66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609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13" descr="paint_transparent4.png"/>
          <p:cNvPicPr preferRelativeResize="0"/>
          <p:nvPr/>
        </p:nvPicPr>
        <p:blipFill rotWithShape="1">
          <a:blip r:embed="rId3">
            <a:alphaModFix/>
          </a:blip>
          <a:srcRect r="49954"/>
          <a:stretch/>
        </p:blipFill>
        <p:spPr>
          <a:xfrm>
            <a:off x="6090568" y="0"/>
            <a:ext cx="6101433" cy="6858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-200"/>
            <a:ext cx="7067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1900" tIns="121900" rIns="121900" bIns="12190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914400" y="3838333"/>
            <a:ext cx="5219600" cy="1546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6400"/>
            </a:lvl1pPr>
            <a:lvl2pPr lvl="1" rtl="0">
              <a:spcBef>
                <a:spcPts val="0"/>
              </a:spcBef>
              <a:buSzPct val="100000"/>
              <a:defRPr sz="6400"/>
            </a:lvl2pPr>
            <a:lvl3pPr lvl="2" rtl="0">
              <a:spcBef>
                <a:spcPts val="0"/>
              </a:spcBef>
              <a:buSzPct val="100000"/>
              <a:defRPr sz="6400"/>
            </a:lvl3pPr>
            <a:lvl4pPr lvl="3" rtl="0">
              <a:spcBef>
                <a:spcPts val="0"/>
              </a:spcBef>
              <a:buSzPct val="100000"/>
              <a:defRPr sz="6400"/>
            </a:lvl4pPr>
            <a:lvl5pPr lvl="4" rtl="0">
              <a:spcBef>
                <a:spcPts val="0"/>
              </a:spcBef>
              <a:buSzPct val="100000"/>
              <a:defRPr sz="6400"/>
            </a:lvl5pPr>
            <a:lvl6pPr lvl="5" rtl="0">
              <a:spcBef>
                <a:spcPts val="0"/>
              </a:spcBef>
              <a:buSzPct val="100000"/>
              <a:defRPr sz="6400"/>
            </a:lvl6pPr>
            <a:lvl7pPr lvl="6" rtl="0">
              <a:spcBef>
                <a:spcPts val="0"/>
              </a:spcBef>
              <a:buSzPct val="100000"/>
              <a:defRPr sz="6400"/>
            </a:lvl7pPr>
            <a:lvl8pPr lvl="7" rtl="0">
              <a:spcBef>
                <a:spcPts val="0"/>
              </a:spcBef>
              <a:buSzPct val="100000"/>
              <a:defRPr sz="6400"/>
            </a:lvl8pPr>
            <a:lvl9pPr lvl="8" rtl="0">
              <a:spcBef>
                <a:spcPts val="0"/>
              </a:spcBef>
              <a:buSzPct val="100000"/>
              <a:defRPr sz="64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914400" y="5513939"/>
            <a:ext cx="5219600" cy="104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92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18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3311133" y="1114833"/>
            <a:ext cx="5569600" cy="46284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defRPr sz="32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39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hape 22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buFont typeface="Lato Hairline"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78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Shape 2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609600" y="2949100"/>
            <a:ext cx="3566800" cy="3517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133"/>
            </a:lvl1pPr>
            <a:lvl2pPr lvl="1">
              <a:spcBef>
                <a:spcPts val="0"/>
              </a:spcBef>
              <a:buSzPct val="100000"/>
              <a:defRPr sz="2133"/>
            </a:lvl2pPr>
            <a:lvl3pPr lvl="2">
              <a:spcBef>
                <a:spcPts val="0"/>
              </a:spcBef>
              <a:buSzPct val="100000"/>
              <a:defRPr sz="2133"/>
            </a:lvl3pPr>
            <a:lvl4pPr lvl="3">
              <a:spcBef>
                <a:spcPts val="0"/>
              </a:spcBef>
              <a:buSzPct val="100000"/>
              <a:defRPr sz="2133"/>
            </a:lvl4pPr>
            <a:lvl5pPr lvl="4">
              <a:spcBef>
                <a:spcPts val="0"/>
              </a:spcBef>
              <a:buSzPct val="100000"/>
              <a:defRPr sz="2133"/>
            </a:lvl5pPr>
            <a:lvl6pPr lvl="5">
              <a:spcBef>
                <a:spcPts val="0"/>
              </a:spcBef>
              <a:buSzPct val="100000"/>
              <a:defRPr sz="2133"/>
            </a:lvl6pPr>
            <a:lvl7pPr lvl="6">
              <a:spcBef>
                <a:spcPts val="0"/>
              </a:spcBef>
              <a:buSzPct val="100000"/>
              <a:defRPr sz="2133"/>
            </a:lvl7pPr>
            <a:lvl8pPr lvl="7">
              <a:spcBef>
                <a:spcPts val="0"/>
              </a:spcBef>
              <a:buSzPct val="100000"/>
              <a:defRPr sz="2133"/>
            </a:lvl8pPr>
            <a:lvl9pPr lvl="8">
              <a:spcBef>
                <a:spcPts val="0"/>
              </a:spcBef>
              <a:buSzPct val="100000"/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Shape 30"/>
          <p:cNvSpPr txBox="1">
            <a:spLocks noGrp="1"/>
          </p:cNvSpPr>
          <p:nvPr>
            <p:ph type="body" idx="2"/>
          </p:nvPr>
        </p:nvSpPr>
        <p:spPr>
          <a:xfrm>
            <a:off x="4391208" y="2949100"/>
            <a:ext cx="3566800" cy="3517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133"/>
            </a:lvl1pPr>
            <a:lvl2pPr lvl="1">
              <a:spcBef>
                <a:spcPts val="0"/>
              </a:spcBef>
              <a:buSzPct val="100000"/>
              <a:defRPr sz="2133"/>
            </a:lvl2pPr>
            <a:lvl3pPr lvl="2">
              <a:spcBef>
                <a:spcPts val="0"/>
              </a:spcBef>
              <a:buSzPct val="100000"/>
              <a:defRPr sz="2133"/>
            </a:lvl3pPr>
            <a:lvl4pPr lvl="3">
              <a:spcBef>
                <a:spcPts val="0"/>
              </a:spcBef>
              <a:buSzPct val="100000"/>
              <a:defRPr sz="2133"/>
            </a:lvl4pPr>
            <a:lvl5pPr lvl="4">
              <a:spcBef>
                <a:spcPts val="0"/>
              </a:spcBef>
              <a:buSzPct val="100000"/>
              <a:defRPr sz="2133"/>
            </a:lvl5pPr>
            <a:lvl6pPr lvl="5">
              <a:spcBef>
                <a:spcPts val="0"/>
              </a:spcBef>
              <a:buSzPct val="100000"/>
              <a:defRPr sz="2133"/>
            </a:lvl6pPr>
            <a:lvl7pPr lvl="6">
              <a:spcBef>
                <a:spcPts val="0"/>
              </a:spcBef>
              <a:buSzPct val="100000"/>
              <a:defRPr sz="2133"/>
            </a:lvl7pPr>
            <a:lvl8pPr lvl="7">
              <a:spcBef>
                <a:spcPts val="0"/>
              </a:spcBef>
              <a:buSzPct val="100000"/>
              <a:defRPr sz="2133"/>
            </a:lvl8pPr>
            <a:lvl9pPr lvl="8">
              <a:spcBef>
                <a:spcPts val="0"/>
              </a:spcBef>
              <a:buSzPct val="100000"/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79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Shape 33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653033" y="3083300"/>
            <a:ext cx="2442000" cy="3484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buSzPct val="100000"/>
              <a:defRPr sz="1600"/>
            </a:lvl4pPr>
            <a:lvl5pPr lvl="4" rtl="0">
              <a:spcBef>
                <a:spcPts val="0"/>
              </a:spcBef>
              <a:buSzPct val="100000"/>
              <a:defRPr sz="1600"/>
            </a:lvl5pPr>
            <a:lvl6pPr lvl="5" rtl="0">
              <a:spcBef>
                <a:spcPts val="0"/>
              </a:spcBef>
              <a:buSzPct val="100000"/>
              <a:defRPr sz="1600"/>
            </a:lvl6pPr>
            <a:lvl7pPr lvl="6" rtl="0">
              <a:spcBef>
                <a:spcPts val="0"/>
              </a:spcBef>
              <a:buSzPct val="100000"/>
              <a:defRPr sz="1600"/>
            </a:lvl7pPr>
            <a:lvl8pPr lvl="7" rtl="0">
              <a:spcBef>
                <a:spcPts val="0"/>
              </a:spcBef>
              <a:buSzPct val="100000"/>
              <a:defRPr sz="1600"/>
            </a:lvl8pPr>
            <a:lvl9pPr lvl="8" rtl="0">
              <a:spcBef>
                <a:spcPts val="0"/>
              </a:spcBef>
              <a:buSzPct val="100000"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3220181" y="3083300"/>
            <a:ext cx="2442000" cy="3484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buSzPct val="100000"/>
              <a:defRPr sz="1600"/>
            </a:lvl4pPr>
            <a:lvl5pPr lvl="4" rtl="0">
              <a:spcBef>
                <a:spcPts val="0"/>
              </a:spcBef>
              <a:buSzPct val="100000"/>
              <a:defRPr sz="1600"/>
            </a:lvl5pPr>
            <a:lvl6pPr lvl="5" rtl="0">
              <a:spcBef>
                <a:spcPts val="0"/>
              </a:spcBef>
              <a:buSzPct val="100000"/>
              <a:defRPr sz="1600"/>
            </a:lvl6pPr>
            <a:lvl7pPr lvl="6" rtl="0">
              <a:spcBef>
                <a:spcPts val="0"/>
              </a:spcBef>
              <a:buSzPct val="100000"/>
              <a:defRPr sz="1600"/>
            </a:lvl7pPr>
            <a:lvl8pPr lvl="7" rtl="0">
              <a:spcBef>
                <a:spcPts val="0"/>
              </a:spcBef>
              <a:buSzPct val="100000"/>
              <a:defRPr sz="1600"/>
            </a:lvl8pPr>
            <a:lvl9pPr lvl="8" rtl="0">
              <a:spcBef>
                <a:spcPts val="0"/>
              </a:spcBef>
              <a:buSzPct val="100000"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7" name="Shape 37"/>
          <p:cNvSpPr txBox="1">
            <a:spLocks noGrp="1"/>
          </p:cNvSpPr>
          <p:nvPr>
            <p:ph type="body" idx="3"/>
          </p:nvPr>
        </p:nvSpPr>
        <p:spPr>
          <a:xfrm>
            <a:off x="5787329" y="3083300"/>
            <a:ext cx="2442000" cy="3484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600"/>
            </a:lvl1pPr>
            <a:lvl2pPr lvl="1" rtl="0">
              <a:spcBef>
                <a:spcPts val="0"/>
              </a:spcBef>
              <a:buSzPct val="100000"/>
              <a:defRPr sz="1600"/>
            </a:lvl2pPr>
            <a:lvl3pPr lvl="2" rtl="0">
              <a:spcBef>
                <a:spcPts val="0"/>
              </a:spcBef>
              <a:buSzPct val="100000"/>
              <a:defRPr sz="1600"/>
            </a:lvl3pPr>
            <a:lvl4pPr lvl="3" rtl="0">
              <a:spcBef>
                <a:spcPts val="0"/>
              </a:spcBef>
              <a:buSzPct val="100000"/>
              <a:defRPr sz="1600"/>
            </a:lvl4pPr>
            <a:lvl5pPr lvl="4" rtl="0">
              <a:spcBef>
                <a:spcPts val="0"/>
              </a:spcBef>
              <a:buSzPct val="100000"/>
              <a:defRPr sz="1600"/>
            </a:lvl5pPr>
            <a:lvl6pPr lvl="5" rtl="0">
              <a:spcBef>
                <a:spcPts val="0"/>
              </a:spcBef>
              <a:buSzPct val="100000"/>
              <a:defRPr sz="1600"/>
            </a:lvl6pPr>
            <a:lvl7pPr lvl="6" rtl="0">
              <a:spcBef>
                <a:spcPts val="0"/>
              </a:spcBef>
              <a:buSzPct val="100000"/>
              <a:defRPr sz="1600"/>
            </a:lvl7pPr>
            <a:lvl8pPr lvl="7" rtl="0">
              <a:spcBef>
                <a:spcPts val="0"/>
              </a:spcBef>
              <a:buSzPct val="100000"/>
              <a:defRPr sz="1600"/>
            </a:lvl8pPr>
            <a:lvl9pPr lvl="8" rtl="0">
              <a:spcBef>
                <a:spcPts val="0"/>
              </a:spcBef>
              <a:buSzPct val="100000"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47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Shape 40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12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hape 44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480"/>
              </a:spcBef>
              <a:buSzPct val="100000"/>
              <a:buNone/>
              <a:defRPr sz="1867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09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Shape 48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18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Shape 5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5730200" y="5930631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70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half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  <p:pic>
        <p:nvPicPr>
          <p:cNvPr id="55" name="Shape 55" descr="paint_transparent1.png"/>
          <p:cNvPicPr preferRelativeResize="0"/>
          <p:nvPr/>
        </p:nvPicPr>
        <p:blipFill rotWithShape="1">
          <a:blip r:embed="rId3">
            <a:alphaModFix/>
          </a:blip>
          <a:srcRect l="27161"/>
          <a:stretch/>
        </p:blipFill>
        <p:spPr>
          <a:xfrm>
            <a:off x="0" y="0"/>
            <a:ext cx="888073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1864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5AEAD2-48DB-433C-A833-C85C99348457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71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116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679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345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192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96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0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438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3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27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811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05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buClr>
                <a:srgbClr val="434343"/>
              </a:buClr>
              <a:buSzPct val="1000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B7B7B7"/>
              </a:buClr>
              <a:buSzPct val="1000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>
              <a:spcBef>
                <a:spcPts val="480"/>
              </a:spcBef>
              <a:buClr>
                <a:srgbClr val="B7B7B7"/>
              </a:buClr>
              <a:buSzPct val="1000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>
              <a:spcBef>
                <a:spcPts val="480"/>
              </a:spcBef>
              <a:buClr>
                <a:srgbClr val="B7B7B7"/>
              </a:buClr>
              <a:buSzPct val="1000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>
              <a:spcBef>
                <a:spcPts val="360"/>
              </a:spcBef>
              <a:buClr>
                <a:srgbClr val="B7B7B7"/>
              </a:buClr>
              <a:buSzPct val="1000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fld id="{D5DFED0C-453E-4439-8795-C14D4EE11C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1558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55563-30C0-4E9A-85AC-A2E110782F3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/>
              <a:t>17/10/2017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5C721-7927-4F29-9038-E7EA5980BAC1}" type="slidenum">
              <a:rPr lang="en-AU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75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k9b3jbJroM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environment/2017/jun/28/a-million-a-minute-worlds-plastic-bottle-binge-as-dangerous-as-climate-change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Responding to consumer demand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678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561503"/>
            <a:ext cx="9314329" cy="1143200"/>
          </a:xfrm>
        </p:spPr>
        <p:txBody>
          <a:bodyPr/>
          <a:lstStyle/>
          <a:p>
            <a:r>
              <a:rPr lang="en-AU" dirty="0" smtClean="0"/>
              <a:t>Title: Responding to Consumer Demand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6" y="1916768"/>
            <a:ext cx="8211671" cy="4363008"/>
          </a:xfrm>
        </p:spPr>
        <p:txBody>
          <a:bodyPr/>
          <a:lstStyle/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Learning Intention: Understand that consumer demand can change considerably over time due to consumer preferences.</a:t>
            </a:r>
          </a:p>
          <a:p>
            <a:pPr>
              <a:buClrTx/>
            </a:pPr>
            <a:endParaRPr lang="en-AU" sz="32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Success Criteria: Can describe what consumer preferences are and how changes in these can effect producers. </a:t>
            </a:r>
            <a:endParaRPr lang="en-AU" sz="3200" dirty="0">
              <a:solidFill>
                <a:schemeClr val="tx1"/>
              </a:solidFill>
            </a:endParaRPr>
          </a:p>
        </p:txBody>
      </p:sp>
      <p:pic>
        <p:nvPicPr>
          <p:cNvPr id="4" name="Picture 2" descr="Image result for write down ic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173" y="1571624"/>
            <a:ext cx="1941827" cy="194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71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1290918" y="1370327"/>
            <a:ext cx="1007184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Important to note: Patterns of consumer demand change considerably over time.</a:t>
            </a:r>
            <a:endParaRPr lang="en-AU" sz="6600" kern="0" dirty="0"/>
          </a:p>
        </p:txBody>
      </p:sp>
      <p:pic>
        <p:nvPicPr>
          <p:cNvPr id="3" name="Picture 2" descr="Image result for write down ic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640" y="323807"/>
            <a:ext cx="1368250" cy="136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49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1290918" y="1370327"/>
            <a:ext cx="1007184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Why could this be?</a:t>
            </a:r>
            <a:endParaRPr lang="en-AU" sz="6600" kern="0" dirty="0"/>
          </a:p>
        </p:txBody>
      </p:sp>
    </p:spTree>
    <p:extLst>
      <p:ext uri="{BB962C8B-B14F-4D97-AF65-F5344CB8AC3E}">
        <p14:creationId xmlns:p14="http://schemas.microsoft.com/office/powerpoint/2010/main" val="200429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1419506" y="1241740"/>
            <a:ext cx="10071847" cy="12921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Consumer demand changes because of changes to fashion and consumer preferences. </a:t>
            </a:r>
            <a:endParaRPr lang="en-AU" sz="6600" kern="0" dirty="0"/>
          </a:p>
        </p:txBody>
      </p:sp>
      <p:pic>
        <p:nvPicPr>
          <p:cNvPr id="4" name="Picture 2" descr="Image result for write down ic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102" y="266657"/>
            <a:ext cx="1368250" cy="136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00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668" y="400050"/>
            <a:ext cx="9459155" cy="5852832"/>
          </a:xfrm>
        </p:spPr>
        <p:txBody>
          <a:bodyPr/>
          <a:lstStyle/>
          <a:p>
            <a:pPr>
              <a:buNone/>
            </a:pPr>
            <a:r>
              <a:rPr lang="en-AU" sz="3600" b="1" dirty="0" smtClean="0">
                <a:solidFill>
                  <a:schemeClr val="tx1"/>
                </a:solidFill>
              </a:rPr>
              <a:t>As fashion and consumer preferences change, firms may find that they struggle to sell products that were once very popular. </a:t>
            </a:r>
          </a:p>
          <a:p>
            <a:pPr>
              <a:buNone/>
            </a:pPr>
            <a:endParaRPr lang="en-AU" sz="3600" b="1" dirty="0">
              <a:solidFill>
                <a:schemeClr val="tx1"/>
              </a:solidFill>
            </a:endParaRPr>
          </a:p>
          <a:p>
            <a:pPr>
              <a:buNone/>
            </a:pPr>
            <a:endParaRPr lang="en-AU" sz="3600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AU" sz="3600" b="1" dirty="0" smtClean="0">
                <a:solidFill>
                  <a:schemeClr val="tx1"/>
                </a:solidFill>
              </a:rPr>
              <a:t>Can you think of any products that were once very popular and now no one WANTS to buy them anymore?</a:t>
            </a:r>
            <a:endParaRPr lang="en-AU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66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ivot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0913" y="510277"/>
            <a:ext cx="6326335" cy="5614751"/>
          </a:xfrm>
        </p:spPr>
        <p:txBody>
          <a:bodyPr/>
          <a:lstStyle/>
          <a:p>
            <a:r>
              <a:rPr lang="en-AU" sz="4400" dirty="0" smtClean="0"/>
              <a:t>Fads and fashion trends are one type of change, but consumers are becoming more conscious, sometimes we change how we want our goods to be produced!</a:t>
            </a:r>
            <a:endParaRPr lang="en-AU" sz="4400" dirty="0"/>
          </a:p>
        </p:txBody>
      </p:sp>
      <p:pic>
        <p:nvPicPr>
          <p:cNvPr id="2050" name="Picture 2" descr="Image result for fidget spinn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4078"/>
            <a:ext cx="5366498" cy="545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64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94446" y="1916768"/>
            <a:ext cx="8618925" cy="4363008"/>
          </a:xfrm>
        </p:spPr>
        <p:txBody>
          <a:bodyPr/>
          <a:lstStyle/>
          <a:p>
            <a:pPr>
              <a:buNone/>
            </a:pPr>
            <a:r>
              <a:rPr lang="en-AU" sz="3600" dirty="0" smtClean="0">
                <a:solidFill>
                  <a:schemeClr val="tx1"/>
                </a:solidFill>
              </a:rPr>
              <a:t>In order to survive, producers need to be able to respond to these changes by:</a:t>
            </a:r>
          </a:p>
          <a:p>
            <a:pPr>
              <a:buNone/>
            </a:pPr>
            <a:endParaRPr lang="en-AU" sz="3600" dirty="0">
              <a:solidFill>
                <a:schemeClr val="tx1"/>
              </a:solidFill>
            </a:endParaRPr>
          </a:p>
          <a:p>
            <a:pPr algn="ctr"/>
            <a:r>
              <a:rPr lang="en-AU" sz="3600" dirty="0" smtClean="0">
                <a:solidFill>
                  <a:schemeClr val="tx1"/>
                </a:solidFill>
              </a:rPr>
              <a:t>Altering their products</a:t>
            </a:r>
          </a:p>
          <a:p>
            <a:pPr algn="ctr">
              <a:buNone/>
            </a:pPr>
            <a:r>
              <a:rPr lang="en-AU" sz="3600" dirty="0" smtClean="0">
                <a:solidFill>
                  <a:schemeClr val="tx1"/>
                </a:solidFill>
              </a:rPr>
              <a:t>OR</a:t>
            </a:r>
            <a:endParaRPr lang="en-AU" sz="3600" dirty="0">
              <a:solidFill>
                <a:schemeClr val="tx1"/>
              </a:solidFill>
            </a:endParaRPr>
          </a:p>
          <a:p>
            <a:pPr algn="ctr"/>
            <a:r>
              <a:rPr lang="en-AU" sz="3600" dirty="0" smtClean="0">
                <a:solidFill>
                  <a:schemeClr val="tx1"/>
                </a:solidFill>
              </a:rPr>
              <a:t>Introducing new options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94447" y="561503"/>
            <a:ext cx="9314329" cy="1143200"/>
          </a:xfrm>
        </p:spPr>
        <p:txBody>
          <a:bodyPr/>
          <a:lstStyle/>
          <a:p>
            <a:r>
              <a:rPr lang="en-AU" sz="5400" dirty="0" smtClean="0">
                <a:solidFill>
                  <a:schemeClr val="tx1"/>
                </a:solidFill>
              </a:rPr>
              <a:t>Important to note:</a:t>
            </a:r>
            <a:endParaRPr lang="en-AU" sz="5400" dirty="0">
              <a:solidFill>
                <a:schemeClr val="tx1"/>
              </a:solidFill>
            </a:endParaRPr>
          </a:p>
        </p:txBody>
      </p:sp>
      <p:pic>
        <p:nvPicPr>
          <p:cNvPr id="7" name="Picture 2" descr="Image result for write down ic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300" y="246403"/>
            <a:ext cx="1670365" cy="167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42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fair trade logo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8" b="25166"/>
          <a:stretch/>
        </p:blipFill>
        <p:spPr bwMode="auto">
          <a:xfrm>
            <a:off x="433137" y="673768"/>
            <a:ext cx="4424614" cy="406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 txBox="1">
            <a:spLocks/>
          </p:cNvSpPr>
          <p:nvPr/>
        </p:nvSpPr>
        <p:spPr>
          <a:xfrm>
            <a:off x="5143500" y="673768"/>
            <a:ext cx="6634162" cy="43630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Have you seen this symbol before?</a:t>
            </a:r>
          </a:p>
          <a:p>
            <a:pPr algn="r"/>
            <a:endParaRPr lang="en-AU" sz="4400" kern="0" dirty="0">
              <a:solidFill>
                <a:schemeClr val="tx1"/>
              </a:solidFill>
            </a:endParaRPr>
          </a:p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Do you know what it means?</a:t>
            </a:r>
            <a:endParaRPr lang="en-AU" sz="4400" kern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7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fair tra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36" y="673768"/>
            <a:ext cx="4541215" cy="54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 txBox="1">
            <a:spLocks/>
          </p:cNvSpPr>
          <p:nvPr/>
        </p:nvSpPr>
        <p:spPr>
          <a:xfrm>
            <a:off x="5143500" y="673768"/>
            <a:ext cx="6634162" cy="43630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One area where firms are responding to changing patterns of demand is the fair trade movement. </a:t>
            </a:r>
            <a:endParaRPr lang="en-AU" sz="4400" kern="0" dirty="0" smtClean="0">
              <a:solidFill>
                <a:schemeClr val="tx1"/>
              </a:solidFill>
            </a:endParaRPr>
          </a:p>
        </p:txBody>
      </p:sp>
      <p:pic>
        <p:nvPicPr>
          <p:cNvPr id="4100" name="Picture 4" descr="Image result for video icon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525" y="3105152"/>
            <a:ext cx="3459163" cy="345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13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/>
          </p:cNvSpPr>
          <p:nvPr/>
        </p:nvSpPr>
        <p:spPr>
          <a:xfrm>
            <a:off x="5143500" y="673768"/>
            <a:ext cx="6634162" cy="43630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Boom in bottled water.</a:t>
            </a:r>
          </a:p>
          <a:p>
            <a:pPr algn="r"/>
            <a:r>
              <a:rPr lang="en-AU" sz="4400" dirty="0"/>
              <a:t>Pure, natural and healthy. The "clever and powerful" marketing of bottled water has led to Australians buying record amounts at prices far higher than for milk or petrol.</a:t>
            </a:r>
            <a:r>
              <a:rPr lang="en-AU" sz="4400" kern="0" dirty="0" smtClean="0">
                <a:solidFill>
                  <a:schemeClr val="tx1"/>
                </a:solidFill>
              </a:rPr>
              <a:t> </a:t>
            </a:r>
            <a:endParaRPr lang="en-AU" sz="4400" kern="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 descr="Image result for bottled wat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53" b="-1251"/>
          <a:stretch/>
        </p:blipFill>
        <p:spPr bwMode="auto">
          <a:xfrm>
            <a:off x="-385760" y="559467"/>
            <a:ext cx="5049144" cy="594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08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/>
          </p:cNvSpPr>
          <p:nvPr/>
        </p:nvSpPr>
        <p:spPr>
          <a:xfrm>
            <a:off x="5143500" y="673768"/>
            <a:ext cx="6634162" cy="43630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But there is a change in consumer demand emerging now…</a:t>
            </a:r>
          </a:p>
          <a:p>
            <a:pPr algn="r"/>
            <a:endParaRPr lang="en-AU" sz="4400" kern="0" dirty="0">
              <a:solidFill>
                <a:schemeClr val="tx1"/>
              </a:solidFill>
            </a:endParaRPr>
          </a:p>
          <a:p>
            <a:pPr algn="r"/>
            <a:r>
              <a:rPr lang="en-AU" sz="4400" kern="0" dirty="0" smtClean="0">
                <a:solidFill>
                  <a:schemeClr val="tx1"/>
                </a:solidFill>
              </a:rPr>
              <a:t>Reusable bottled water and coffee cups</a:t>
            </a:r>
            <a:endParaRPr lang="en-AU" sz="4400" kern="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 descr="Image result for bottled wat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53" b="-1251"/>
          <a:stretch/>
        </p:blipFill>
        <p:spPr bwMode="auto">
          <a:xfrm>
            <a:off x="-385760" y="559467"/>
            <a:ext cx="5049144" cy="594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mage result for video icon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4265610"/>
            <a:ext cx="2235202" cy="223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741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3600" dirty="0" smtClean="0"/>
              <a:t>Why?</a:t>
            </a:r>
            <a:br>
              <a:rPr lang="en-AU" sz="3600" dirty="0" smtClean="0"/>
            </a:br>
            <a:r>
              <a:rPr lang="en-AU" sz="3600" dirty="0"/>
              <a:t/>
            </a:r>
            <a:br>
              <a:rPr lang="en-AU" sz="3600" dirty="0"/>
            </a:br>
            <a:r>
              <a:rPr lang="en-AU" sz="3600" dirty="0" smtClean="0"/>
              <a:t>Because consumers are becoming more environmentally conscious. If we demand goods that are more environmentally friendly, consumers will respond by making or adapting their products to achieve this.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65327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AU" sz="5400" dirty="0" smtClean="0"/>
              <a:t>Turn to page 44 of Pearson 7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2108812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342" y="422275"/>
            <a:ext cx="11549063" cy="1049337"/>
          </a:xfrm>
        </p:spPr>
        <p:txBody>
          <a:bodyPr/>
          <a:lstStyle/>
          <a:p>
            <a:r>
              <a:rPr lang="en-AU" sz="4000" dirty="0" smtClean="0"/>
              <a:t>Read the sections called “Fair Trade Chocolate” and “Reusable water bottles and coffee cups”</a:t>
            </a:r>
            <a:endParaRPr lang="en-AU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987" y="1587499"/>
            <a:ext cx="11534776" cy="4727575"/>
          </a:xfrm>
        </p:spPr>
        <p:txBody>
          <a:bodyPr/>
          <a:lstStyle/>
          <a:p>
            <a:pPr algn="l">
              <a:buClrTx/>
            </a:pPr>
            <a:r>
              <a:rPr lang="en-AU" sz="2800" dirty="0" smtClean="0">
                <a:solidFill>
                  <a:schemeClr val="tx1"/>
                </a:solidFill>
              </a:rPr>
              <a:t>Then answer the questions below: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State when the fair trade movement began.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Complete the sentence “When a firm advertises…”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Outline how the fair trade movement has effected consumer preferences and the sale of chocolate in Australia. 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State how much money Australian’s spend on bottled water each year.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Complete the sentence “The rise in popularity of…”</a:t>
            </a:r>
          </a:p>
          <a:p>
            <a:pPr marL="457200" indent="-457200" algn="l">
              <a:buClrTx/>
              <a:buAutoNum type="arabicParenR"/>
            </a:pPr>
            <a:r>
              <a:rPr lang="en-AU" sz="2800" dirty="0" smtClean="0">
                <a:solidFill>
                  <a:schemeClr val="tx1"/>
                </a:solidFill>
              </a:rPr>
              <a:t>Identify the reasons that a movement against the movement of bottled water began. </a:t>
            </a:r>
            <a:endParaRPr lang="en-A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15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561503"/>
            <a:ext cx="9314329" cy="1143200"/>
          </a:xfrm>
        </p:spPr>
        <p:txBody>
          <a:bodyPr/>
          <a:lstStyle/>
          <a:p>
            <a:r>
              <a:rPr lang="en-AU" dirty="0" smtClean="0"/>
              <a:t>Reflect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6" y="1916768"/>
            <a:ext cx="8211671" cy="4363008"/>
          </a:xfrm>
        </p:spPr>
        <p:txBody>
          <a:bodyPr/>
          <a:lstStyle/>
          <a:p>
            <a:pPr>
              <a:buClrTx/>
              <a:buNone/>
            </a:pPr>
            <a:endParaRPr lang="en-AU" sz="32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Success Criteria: Can YOU describe what consumer preferences are and how changes in these can effect producers. </a:t>
            </a:r>
            <a:endParaRPr lang="en-AU" sz="3200" dirty="0">
              <a:solidFill>
                <a:schemeClr val="tx1"/>
              </a:solidFill>
            </a:endParaRPr>
          </a:p>
        </p:txBody>
      </p:sp>
      <p:pic>
        <p:nvPicPr>
          <p:cNvPr id="7170" name="Picture 2" descr="Image result for green t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913" y="2667001"/>
            <a:ext cx="40005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0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Price and demand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568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561503"/>
            <a:ext cx="9314329" cy="1143200"/>
          </a:xfrm>
        </p:spPr>
        <p:txBody>
          <a:bodyPr/>
          <a:lstStyle/>
          <a:p>
            <a:r>
              <a:rPr lang="en-AU" dirty="0" smtClean="0"/>
              <a:t>Title: Price and Demand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6" y="1916768"/>
            <a:ext cx="8211671" cy="4363008"/>
          </a:xfrm>
        </p:spPr>
        <p:txBody>
          <a:bodyPr/>
          <a:lstStyle/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Learning Intention: Understand that when a producer sets the price for their product they need to consider how this will effect the demand for their product. </a:t>
            </a:r>
          </a:p>
          <a:p>
            <a:pPr>
              <a:buClrTx/>
              <a:buNone/>
            </a:pPr>
            <a:endParaRPr lang="en-AU" sz="32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Success Criteria: Can list the questions that producers ask when deciding what price to sell their products for. </a:t>
            </a:r>
            <a:endParaRPr lang="en-AU" sz="3200" dirty="0">
              <a:solidFill>
                <a:schemeClr val="tx1"/>
              </a:solidFill>
            </a:endParaRPr>
          </a:p>
        </p:txBody>
      </p:sp>
      <p:pic>
        <p:nvPicPr>
          <p:cNvPr id="4" name="Picture 2" descr="Image result for write down icon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173" y="1571624"/>
            <a:ext cx="1941827" cy="194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12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1057276" y="441639"/>
            <a:ext cx="1060552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Have you ever wondered…</a:t>
            </a:r>
          </a:p>
          <a:p>
            <a:pPr algn="ctr"/>
            <a:r>
              <a:rPr lang="en-AU" sz="5400" i="1" kern="0" dirty="0" smtClean="0"/>
              <a:t>Why do goods and services cost what they do?</a:t>
            </a:r>
          </a:p>
          <a:p>
            <a:pPr algn="ctr"/>
            <a:r>
              <a:rPr lang="en-AU" sz="5400" i="1" kern="0" dirty="0" smtClean="0"/>
              <a:t>Who decides the price?</a:t>
            </a:r>
          </a:p>
          <a:p>
            <a:pPr algn="ctr"/>
            <a:r>
              <a:rPr lang="en-AU" sz="5400" i="1" kern="0" dirty="0" smtClean="0"/>
              <a:t>Why do some goods cost more than others?</a:t>
            </a:r>
          </a:p>
          <a:p>
            <a:pPr algn="ctr"/>
            <a:endParaRPr lang="en-AU" sz="6600" kern="0" dirty="0" smtClean="0"/>
          </a:p>
          <a:p>
            <a:pPr algn="ctr"/>
            <a:endParaRPr lang="en-AU" sz="6600" kern="0" dirty="0"/>
          </a:p>
        </p:txBody>
      </p:sp>
    </p:spTree>
    <p:extLst>
      <p:ext uri="{BB962C8B-B14F-4D97-AF65-F5344CB8AC3E}">
        <p14:creationId xmlns:p14="http://schemas.microsoft.com/office/powerpoint/2010/main" val="2580281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1057276" y="441639"/>
            <a:ext cx="1060552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One of the biggest challenges for businesses is deciding what price to sell their product for. </a:t>
            </a:r>
            <a:endParaRPr lang="en-AU" sz="5400" i="1" kern="0" dirty="0" smtClean="0"/>
          </a:p>
          <a:p>
            <a:pPr algn="ctr"/>
            <a:endParaRPr lang="en-AU" sz="6600" kern="0" dirty="0" smtClean="0"/>
          </a:p>
          <a:p>
            <a:pPr algn="ctr"/>
            <a:endParaRPr lang="en-AU" sz="6600" kern="0" dirty="0"/>
          </a:p>
        </p:txBody>
      </p:sp>
    </p:spTree>
    <p:extLst>
      <p:ext uri="{BB962C8B-B14F-4D97-AF65-F5344CB8AC3E}">
        <p14:creationId xmlns:p14="http://schemas.microsoft.com/office/powerpoint/2010/main" val="1627420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900113" y="1727514"/>
            <a:ext cx="1060552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If the price is too LOW, consumer demand may be greater than the firm can meet and profits will suffer. </a:t>
            </a:r>
            <a:endParaRPr lang="en-AU" sz="5400" i="1" kern="0" dirty="0" smtClean="0"/>
          </a:p>
          <a:p>
            <a:pPr algn="ctr"/>
            <a:endParaRPr lang="en-AU" sz="6600" kern="0" dirty="0" smtClean="0"/>
          </a:p>
          <a:p>
            <a:pPr algn="ctr"/>
            <a:endParaRPr lang="en-AU" sz="6600" kern="0" dirty="0"/>
          </a:p>
        </p:txBody>
      </p:sp>
    </p:spTree>
    <p:extLst>
      <p:ext uri="{BB962C8B-B14F-4D97-AF65-F5344CB8AC3E}">
        <p14:creationId xmlns:p14="http://schemas.microsoft.com/office/powerpoint/2010/main" val="1900769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/>
          </p:cNvSpPr>
          <p:nvPr/>
        </p:nvSpPr>
        <p:spPr>
          <a:xfrm>
            <a:off x="800100" y="313051"/>
            <a:ext cx="10605527" cy="4628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AU" sz="6600" kern="0" dirty="0" smtClean="0"/>
              <a:t>If the price is too HIGH, consumers may not be willing to pay and the firm could lose customers and make a smaller profit than if the price was set correctly. </a:t>
            </a:r>
            <a:endParaRPr lang="en-AU" sz="5400" i="1" kern="0" dirty="0" smtClean="0"/>
          </a:p>
          <a:p>
            <a:pPr algn="ctr"/>
            <a:endParaRPr lang="en-AU" sz="6600" kern="0" dirty="0" smtClean="0"/>
          </a:p>
          <a:p>
            <a:pPr algn="ctr"/>
            <a:endParaRPr lang="en-AU" sz="6600" kern="0" dirty="0"/>
          </a:p>
        </p:txBody>
      </p:sp>
    </p:spTree>
    <p:extLst>
      <p:ext uri="{BB962C8B-B14F-4D97-AF65-F5344CB8AC3E}">
        <p14:creationId xmlns:p14="http://schemas.microsoft.com/office/powerpoint/2010/main" val="1481705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5847" y="1490190"/>
            <a:ext cx="9314329" cy="1143200"/>
          </a:xfrm>
        </p:spPr>
        <p:txBody>
          <a:bodyPr/>
          <a:lstStyle/>
          <a:p>
            <a:r>
              <a:rPr lang="en-AU" sz="4400" dirty="0" smtClean="0">
                <a:solidFill>
                  <a:schemeClr val="tx1"/>
                </a:solidFill>
              </a:rPr>
              <a:t>When determining the appropriate price to charge, businesses consider the following factors:</a:t>
            </a:r>
            <a:endParaRPr lang="en-AU" sz="4400" dirty="0">
              <a:solidFill>
                <a:schemeClr val="tx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365871" y="2202518"/>
            <a:ext cx="8618925" cy="4363008"/>
          </a:xfrm>
        </p:spPr>
        <p:txBody>
          <a:bodyPr/>
          <a:lstStyle/>
          <a:p>
            <a:pPr>
              <a:buNone/>
            </a:pPr>
            <a:endParaRPr lang="en-AU" sz="3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AU" sz="3600" dirty="0">
                <a:solidFill>
                  <a:schemeClr val="tx1"/>
                </a:solidFill>
              </a:rPr>
              <a:t> T</a:t>
            </a:r>
            <a:r>
              <a:rPr lang="en-AU" sz="3600" dirty="0" smtClean="0">
                <a:solidFill>
                  <a:schemeClr val="tx1"/>
                </a:solidFill>
              </a:rPr>
              <a:t>he resources used to make the product</a:t>
            </a:r>
          </a:p>
          <a:p>
            <a:pPr>
              <a:buClrTx/>
            </a:pPr>
            <a:r>
              <a:rPr lang="en-AU" sz="3600" dirty="0" smtClean="0">
                <a:solidFill>
                  <a:schemeClr val="tx1"/>
                </a:solidFill>
              </a:rPr>
              <a:t> The amount of profit the firm wants to make</a:t>
            </a:r>
          </a:p>
          <a:p>
            <a:pPr>
              <a:buClrTx/>
            </a:pPr>
            <a:r>
              <a:rPr lang="en-AU" sz="3600" dirty="0" smtClean="0">
                <a:solidFill>
                  <a:schemeClr val="tx1"/>
                </a:solidFill>
              </a:rPr>
              <a:t> What customers are willing to pay</a:t>
            </a:r>
          </a:p>
        </p:txBody>
      </p:sp>
    </p:spTree>
    <p:extLst>
      <p:ext uri="{BB962C8B-B14F-4D97-AF65-F5344CB8AC3E}">
        <p14:creationId xmlns:p14="http://schemas.microsoft.com/office/powerpoint/2010/main" val="240711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25421" y="1186271"/>
            <a:ext cx="6161480" cy="4628400"/>
          </a:xfrm>
        </p:spPr>
        <p:txBody>
          <a:bodyPr/>
          <a:lstStyle/>
          <a:p>
            <a:pPr>
              <a:buNone/>
            </a:pPr>
            <a:r>
              <a:rPr lang="en-AU" sz="5400" dirty="0" smtClean="0"/>
              <a:t>Turn to page 46 of Pearson 7 </a:t>
            </a:r>
          </a:p>
          <a:p>
            <a:pPr>
              <a:buNone/>
            </a:pPr>
            <a:endParaRPr lang="en-AU" sz="5400" dirty="0"/>
          </a:p>
          <a:p>
            <a:pPr>
              <a:buNone/>
            </a:pPr>
            <a:r>
              <a:rPr lang="en-AU" sz="5400" dirty="0" smtClean="0"/>
              <a:t>Complete the graphic organiser. 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521345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02384" y="2203776"/>
            <a:ext cx="11280016" cy="4255639"/>
            <a:chOff x="163627" y="0"/>
            <a:chExt cx="10303836" cy="4666919"/>
          </a:xfrm>
        </p:grpSpPr>
        <p:grpSp>
          <p:nvGrpSpPr>
            <p:cNvPr id="17" name="Group 16"/>
            <p:cNvGrpSpPr/>
            <p:nvPr/>
          </p:nvGrpSpPr>
          <p:grpSpPr>
            <a:xfrm>
              <a:off x="3452884" y="0"/>
              <a:ext cx="3302758" cy="4626591"/>
              <a:chOff x="0" y="0"/>
              <a:chExt cx="3302758" cy="4626591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0" y="0"/>
                <a:ext cx="330275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Text Box 7"/>
              <p:cNvSpPr txBox="1"/>
              <p:nvPr/>
            </p:nvSpPr>
            <p:spPr>
              <a:xfrm>
                <a:off x="136455" y="259307"/>
                <a:ext cx="2674982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63627" y="0"/>
              <a:ext cx="3016301" cy="4625975"/>
              <a:chOff x="0" y="0"/>
              <a:chExt cx="3016808" cy="4626591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0" y="0"/>
                <a:ext cx="301680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Text Box 11"/>
              <p:cNvSpPr txBox="1"/>
              <p:nvPr/>
            </p:nvSpPr>
            <p:spPr>
              <a:xfrm>
                <a:off x="216319" y="286567"/>
                <a:ext cx="2581590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7165053" y="40944"/>
              <a:ext cx="3302410" cy="4625975"/>
              <a:chOff x="0" y="0"/>
              <a:chExt cx="3302758" cy="4626591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0" y="0"/>
                <a:ext cx="330275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Text Box 14"/>
              <p:cNvSpPr txBox="1"/>
              <p:nvPr/>
            </p:nvSpPr>
            <p:spPr>
              <a:xfrm>
                <a:off x="218152" y="259307"/>
                <a:ext cx="2538696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512474" y="245538"/>
            <a:ext cx="9798686" cy="2183131"/>
            <a:chOff x="0" y="0"/>
            <a:chExt cx="9676263" cy="2620334"/>
          </a:xfrm>
        </p:grpSpPr>
        <p:sp>
          <p:nvSpPr>
            <p:cNvPr id="6" name="Rounded Rectangle 5"/>
            <p:cNvSpPr/>
            <p:nvPr/>
          </p:nvSpPr>
          <p:spPr>
            <a:xfrm>
              <a:off x="3275463" y="0"/>
              <a:ext cx="3056796" cy="4367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endParaRPr lang="en-AU" sz="12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0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endParaRPr lang="en-AU" sz="12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23286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endParaRPr lang="en-AU" sz="12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933063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endParaRPr lang="en-AU" sz="12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982639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4503762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038532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3" name="Bent Arrow 12"/>
            <p:cNvSpPr/>
            <p:nvPr/>
          </p:nvSpPr>
          <p:spPr>
            <a:xfrm rot="16200000" flipH="1">
              <a:off x="1542197" y="-477672"/>
              <a:ext cx="1173177" cy="2292426"/>
            </a:xfrm>
            <a:prstGeom prst="bentArrow">
              <a:avLst>
                <a:gd name="adj1" fmla="val 26755"/>
                <a:gd name="adj2" fmla="val 30243"/>
                <a:gd name="adj3" fmla="val 25000"/>
                <a:gd name="adj4" fmla="val 4375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4" name="Bent Arrow 13"/>
            <p:cNvSpPr/>
            <p:nvPr/>
          </p:nvSpPr>
          <p:spPr>
            <a:xfrm rot="5400000">
              <a:off x="6892120" y="-477672"/>
              <a:ext cx="1173177" cy="2292426"/>
            </a:xfrm>
            <a:prstGeom prst="bentArrow">
              <a:avLst>
                <a:gd name="adj1" fmla="val 26755"/>
                <a:gd name="adj2" fmla="val 30243"/>
                <a:gd name="adj3" fmla="val 25000"/>
                <a:gd name="adj4" fmla="val 4375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4503762" y="436728"/>
              <a:ext cx="655093" cy="818198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</p:grpSp>
      <p:pic>
        <p:nvPicPr>
          <p:cNvPr id="4" name="Picture 3" descr="Image result for price tag clip ar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606933">
            <a:off x="9624016" y="-56897"/>
            <a:ext cx="2590618" cy="224768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 rot="1658772">
            <a:off x="10034233" y="570172"/>
            <a:ext cx="177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Name:</a:t>
            </a:r>
          </a:p>
        </p:txBody>
      </p:sp>
    </p:spTree>
    <p:extLst>
      <p:ext uri="{BB962C8B-B14F-4D97-AF65-F5344CB8AC3E}">
        <p14:creationId xmlns:p14="http://schemas.microsoft.com/office/powerpoint/2010/main" val="3835537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02384" y="2203776"/>
            <a:ext cx="11280016" cy="4255639"/>
            <a:chOff x="163627" y="0"/>
            <a:chExt cx="10303836" cy="4666919"/>
          </a:xfrm>
        </p:grpSpPr>
        <p:grpSp>
          <p:nvGrpSpPr>
            <p:cNvPr id="17" name="Group 16"/>
            <p:cNvGrpSpPr/>
            <p:nvPr/>
          </p:nvGrpSpPr>
          <p:grpSpPr>
            <a:xfrm>
              <a:off x="3452884" y="0"/>
              <a:ext cx="3302758" cy="4626591"/>
              <a:chOff x="0" y="0"/>
              <a:chExt cx="3302758" cy="4626591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0" y="0"/>
                <a:ext cx="330275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Text Box 7"/>
              <p:cNvSpPr txBox="1"/>
              <p:nvPr/>
            </p:nvSpPr>
            <p:spPr>
              <a:xfrm>
                <a:off x="136455" y="259307"/>
                <a:ext cx="2674982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Firms want to make a reasonable amount of profit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Many firms use a ‘cost-plus’ pricing strategy.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Costs of producing the item is calculated and desired level of profit added.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Sometimes firms will offer their product at a low price for a short time period.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Helps firm enter a new market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Puts pressure on competitors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Higher profit may be earned in the long run. 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63627" y="0"/>
              <a:ext cx="3016301" cy="4625975"/>
              <a:chOff x="0" y="0"/>
              <a:chExt cx="3016808" cy="4626591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0" y="0"/>
                <a:ext cx="301680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Text Box 11"/>
              <p:cNvSpPr txBox="1"/>
              <p:nvPr/>
            </p:nvSpPr>
            <p:spPr>
              <a:xfrm>
                <a:off x="216319" y="286567"/>
                <a:ext cx="2581590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The more it costs to produce an item the higher the price charged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Cost depends on the amount and type of resources used in production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Resources are all the INPUTS in the production process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Resources are grouped into four categories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Land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Labour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Capital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Enterprise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7165053" y="40944"/>
              <a:ext cx="3302410" cy="4625975"/>
              <a:chOff x="0" y="0"/>
              <a:chExt cx="3302758" cy="4626591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0" y="0"/>
                <a:ext cx="3302758" cy="462659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Text Box 14"/>
              <p:cNvSpPr txBox="1"/>
              <p:nvPr/>
            </p:nvSpPr>
            <p:spPr>
              <a:xfrm>
                <a:off x="218152" y="259307"/>
                <a:ext cx="2538696" cy="412162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Demand for the product needs to be considered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Sensitivity of demand is an important element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If demand is high, firms can set a higher price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If there is a lot of competition in the market, firms should be careful not to charge too much or not enough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alibri" panose="020F0502020204030204" pitchFamily="34" charset="0"/>
                  <a:buChar char="-"/>
                </a:pPr>
                <a:r>
                  <a:rPr lang="en-AU" sz="1400" dirty="0">
                    <a:solidFill>
                      <a:prstClr val="black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Advertising can influence demand and make consumers want their product over other substitute products</a:t>
                </a:r>
                <a:endParaRPr lang="en-AU" sz="1100" dirty="0">
                  <a:solidFill>
                    <a:prstClr val="black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512474" y="245538"/>
            <a:ext cx="9798686" cy="2183131"/>
            <a:chOff x="0" y="0"/>
            <a:chExt cx="9676263" cy="2620334"/>
          </a:xfrm>
        </p:grpSpPr>
        <p:sp>
          <p:nvSpPr>
            <p:cNvPr id="6" name="Rounded Rectangle 5"/>
            <p:cNvSpPr/>
            <p:nvPr/>
          </p:nvSpPr>
          <p:spPr>
            <a:xfrm>
              <a:off x="3275463" y="0"/>
              <a:ext cx="3056796" cy="4367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AU" sz="1400" b="1">
                  <a:solidFill>
                    <a:prstClr val="black"/>
                  </a:solidFill>
                  <a:latin typeface="Calibri Light" panose="020F03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Setting Prices</a:t>
              </a:r>
              <a:endParaRPr lang="en-AU" sz="1200" b="1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0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AU" sz="1400" b="1">
                  <a:solidFill>
                    <a:prstClr val="black"/>
                  </a:solidFill>
                  <a:latin typeface="Calibri Light" panose="020F03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Resources used to make the good or service</a:t>
              </a:r>
              <a:endParaRPr lang="en-AU" sz="1200" b="1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23286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AU" sz="1400" b="1">
                  <a:solidFill>
                    <a:prstClr val="black"/>
                  </a:solidFill>
                  <a:latin typeface="Calibri Light" panose="020F03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 amount of profit the firm wants to make</a:t>
              </a:r>
              <a:endParaRPr lang="en-AU" sz="1200" b="1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933063" y="1146412"/>
              <a:ext cx="2743200" cy="100965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AU" sz="1400" b="1">
                  <a:solidFill>
                    <a:prstClr val="black"/>
                  </a:solidFill>
                  <a:latin typeface="Calibri Light" panose="020F03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 customers are willing to pay</a:t>
              </a:r>
              <a:endParaRPr lang="en-AU" sz="1200" b="1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982639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4503762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038532" y="1965277"/>
              <a:ext cx="655093" cy="655057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3" name="Bent Arrow 12"/>
            <p:cNvSpPr/>
            <p:nvPr/>
          </p:nvSpPr>
          <p:spPr>
            <a:xfrm rot="16200000" flipH="1">
              <a:off x="1542197" y="-477672"/>
              <a:ext cx="1173177" cy="2292426"/>
            </a:xfrm>
            <a:prstGeom prst="bentArrow">
              <a:avLst>
                <a:gd name="adj1" fmla="val 26755"/>
                <a:gd name="adj2" fmla="val 30243"/>
                <a:gd name="adj3" fmla="val 25000"/>
                <a:gd name="adj4" fmla="val 4375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4" name="Bent Arrow 13"/>
            <p:cNvSpPr/>
            <p:nvPr/>
          </p:nvSpPr>
          <p:spPr>
            <a:xfrm rot="5400000">
              <a:off x="6892120" y="-477672"/>
              <a:ext cx="1173177" cy="2292426"/>
            </a:xfrm>
            <a:prstGeom prst="bentArrow">
              <a:avLst>
                <a:gd name="adj1" fmla="val 26755"/>
                <a:gd name="adj2" fmla="val 30243"/>
                <a:gd name="adj3" fmla="val 25000"/>
                <a:gd name="adj4" fmla="val 4375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4503762" y="436728"/>
              <a:ext cx="655093" cy="818198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sz="2000" b="1">
                <a:solidFill>
                  <a:prstClr val="white"/>
                </a:solidFill>
              </a:endParaRPr>
            </a:p>
          </p:txBody>
        </p:sp>
      </p:grpSp>
      <p:pic>
        <p:nvPicPr>
          <p:cNvPr id="4" name="Picture 3" descr="Image result for price tag clip ar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606933">
            <a:off x="9624016" y="-56897"/>
            <a:ext cx="2590618" cy="224768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 rot="1658772">
            <a:off x="10034233" y="570172"/>
            <a:ext cx="177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Name:</a:t>
            </a:r>
          </a:p>
        </p:txBody>
      </p:sp>
    </p:spTree>
    <p:extLst>
      <p:ext uri="{BB962C8B-B14F-4D97-AF65-F5344CB8AC3E}">
        <p14:creationId xmlns:p14="http://schemas.microsoft.com/office/powerpoint/2010/main" val="2916527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561503"/>
            <a:ext cx="9314329" cy="1143200"/>
          </a:xfrm>
        </p:spPr>
        <p:txBody>
          <a:bodyPr/>
          <a:lstStyle/>
          <a:p>
            <a:r>
              <a:rPr lang="en-AU" dirty="0" smtClean="0"/>
              <a:t>Reflect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6" y="1916768"/>
            <a:ext cx="8211671" cy="4363008"/>
          </a:xfrm>
        </p:spPr>
        <p:txBody>
          <a:bodyPr/>
          <a:lstStyle/>
          <a:p>
            <a:pPr>
              <a:buClrTx/>
              <a:buNone/>
            </a:pPr>
            <a:endParaRPr lang="en-AU" sz="32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AU" sz="3200" dirty="0" smtClean="0">
                <a:solidFill>
                  <a:schemeClr val="tx1"/>
                </a:solidFill>
              </a:rPr>
              <a:t>Success Criteria: </a:t>
            </a:r>
            <a:r>
              <a:rPr lang="en-AU" sz="3200" dirty="0">
                <a:solidFill>
                  <a:schemeClr val="tx1"/>
                </a:solidFill>
              </a:rPr>
              <a:t>Can </a:t>
            </a:r>
            <a:r>
              <a:rPr lang="en-AU" sz="3200" dirty="0" smtClean="0">
                <a:solidFill>
                  <a:schemeClr val="tx1"/>
                </a:solidFill>
              </a:rPr>
              <a:t>YOU list </a:t>
            </a:r>
            <a:r>
              <a:rPr lang="en-AU" sz="3200" dirty="0">
                <a:solidFill>
                  <a:schemeClr val="tx1"/>
                </a:solidFill>
              </a:rPr>
              <a:t>the questions that producers ask when deciding what price to sell their products for. </a:t>
            </a:r>
          </a:p>
        </p:txBody>
      </p:sp>
      <p:pic>
        <p:nvPicPr>
          <p:cNvPr id="7170" name="Picture 2" descr="Image result for green ti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913" y="2667001"/>
            <a:ext cx="40005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287965"/>
      </p:ext>
    </p:extLst>
  </p:cSld>
  <p:clrMapOvr>
    <a:masterClrMapping/>
  </p:clrMapOvr>
</p:sld>
</file>

<file path=ppt/theme/theme1.xml><?xml version="1.0" encoding="utf-8"?>
<a:theme xmlns:a="http://schemas.openxmlformats.org/drawingml/2006/main" name="Eglamour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glamour" id="{6996E81A-5E0F-4615-BC43-E9D3BF0053B5}" vid="{E3D5CDAC-A7A0-428A-BEB9-C6FAAB61ED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Eglamour</Template>
  <TotalTime>157</TotalTime>
  <Words>798</Words>
  <Application>Microsoft Office PowerPoint</Application>
  <PresentationFormat>Widescreen</PresentationFormat>
  <Paragraphs>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Lato Hairline</vt:lpstr>
      <vt:lpstr>Lato Light</vt:lpstr>
      <vt:lpstr>Times New Roman</vt:lpstr>
      <vt:lpstr>Eglamour</vt:lpstr>
      <vt:lpstr>Office Theme</vt:lpstr>
      <vt:lpstr>Responding to consumer demand</vt:lpstr>
      <vt:lpstr>Title: Responding to Consumer Demand</vt:lpstr>
      <vt:lpstr>PowerPoint Presentation</vt:lpstr>
      <vt:lpstr>PowerPoint Presentation</vt:lpstr>
      <vt:lpstr>PowerPoint Presentation</vt:lpstr>
      <vt:lpstr>PowerPoint Presentation</vt:lpstr>
      <vt:lpstr>Fads and fashion trends are one type of change, but consumers are becoming more conscious, sometimes we change how we want our goods to be produced!</vt:lpstr>
      <vt:lpstr>Important to note:</vt:lpstr>
      <vt:lpstr>PowerPoint Presentation</vt:lpstr>
      <vt:lpstr>PowerPoint Presentation</vt:lpstr>
      <vt:lpstr>PowerPoint Presentation</vt:lpstr>
      <vt:lpstr>PowerPoint Presentation</vt:lpstr>
      <vt:lpstr>Why?  Because consumers are becoming more environmentally conscious. If we demand goods that are more environmentally friendly, consumers will respond by making or adapting their products to achieve this. </vt:lpstr>
      <vt:lpstr>PowerPoint Presentation</vt:lpstr>
      <vt:lpstr>Read the sections called “Fair Trade Chocolate” and “Reusable water bottles and coffee cups”</vt:lpstr>
      <vt:lpstr>Reflect</vt:lpstr>
      <vt:lpstr>Price and demand</vt:lpstr>
      <vt:lpstr>Title: Price and Demand</vt:lpstr>
      <vt:lpstr>PowerPoint Presentation</vt:lpstr>
      <vt:lpstr>PowerPoint Presentation</vt:lpstr>
      <vt:lpstr>PowerPoint Presentation</vt:lpstr>
      <vt:lpstr>PowerPoint Presentation</vt:lpstr>
      <vt:lpstr>When determining the appropriate price to charge, businesses consider the following factors:</vt:lpstr>
      <vt:lpstr>PowerPoint Presentation</vt:lpstr>
      <vt:lpstr>PowerPoint Presentation</vt:lpstr>
      <vt:lpstr>PowerPoint Presentation</vt:lpstr>
      <vt:lpstr>Reflect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Donavon</dc:creator>
  <cp:lastModifiedBy>Rebecca Donavon</cp:lastModifiedBy>
  <cp:revision>15</cp:revision>
  <dcterms:created xsi:type="dcterms:W3CDTF">2017-10-17T11:11:19Z</dcterms:created>
  <dcterms:modified xsi:type="dcterms:W3CDTF">2017-10-17T13:48:28Z</dcterms:modified>
</cp:coreProperties>
</file>
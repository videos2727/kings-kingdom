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95C8F3B3-EA1C-4386-AB63-1177C997C664}" type="datetimeFigureOut">
              <a:rPr lang="en-AU" smtClean="0"/>
              <a:t>27/11/2019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821932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5C8F3B3-EA1C-4386-AB63-1177C997C664}" type="datetimeFigureOut">
              <a:rPr lang="en-AU" smtClean="0"/>
              <a:t>27/11/2019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1348141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5C8F3B3-EA1C-4386-AB63-1177C997C664}" type="datetimeFigureOut">
              <a:rPr lang="en-AU" smtClean="0"/>
              <a:t>27/11/2019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2718193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95C8F3B3-EA1C-4386-AB63-1177C997C664}" type="datetimeFigureOut">
              <a:rPr lang="en-AU" smtClean="0"/>
              <a:t>27/11/2019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2039099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95C8F3B3-EA1C-4386-AB63-1177C997C664}" type="datetimeFigureOut">
              <a:rPr lang="en-AU" smtClean="0"/>
              <a:t>27/11/2019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604398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95C8F3B3-EA1C-4386-AB63-1177C997C664}" type="datetimeFigureOut">
              <a:rPr lang="en-AU" smtClean="0"/>
              <a:t>27/11/2019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2066353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C8F3B3-EA1C-4386-AB63-1177C997C664}" type="datetimeFigureOut">
              <a:rPr lang="en-AU" smtClean="0"/>
              <a:t>27/11/2019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198872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C8F3B3-EA1C-4386-AB63-1177C997C664}" type="datetimeFigureOut">
              <a:rPr lang="en-AU" smtClean="0"/>
              <a:t>27/11/2019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1288790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C8F3B3-EA1C-4386-AB63-1177C997C664}" type="datetimeFigureOut">
              <a:rPr lang="en-AU" smtClean="0"/>
              <a:t>27/11/2019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668217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5C8F3B3-EA1C-4386-AB63-1177C997C664}" type="datetimeFigureOut">
              <a:rPr lang="en-AU" smtClean="0"/>
              <a:t>27/11/2019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1235516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5C8F3B3-EA1C-4386-AB63-1177C997C664}" type="datetimeFigureOut">
              <a:rPr lang="en-AU" smtClean="0"/>
              <a:t>27/11/2019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B30F93B-8FFE-478A-B24F-3AF6E3C60D5D}" type="slidenum">
              <a:rPr lang="en-AU" smtClean="0"/>
              <a:t>‹#›</a:t>
            </a:fld>
            <a:endParaRPr lang="en-AU"/>
          </a:p>
        </p:txBody>
      </p:sp>
    </p:spTree>
    <p:extLst>
      <p:ext uri="{BB962C8B-B14F-4D97-AF65-F5344CB8AC3E}">
        <p14:creationId xmlns:p14="http://schemas.microsoft.com/office/powerpoint/2010/main" val="4000303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C8F3B3-EA1C-4386-AB63-1177C997C664}" type="datetimeFigureOut">
              <a:rPr lang="en-AU" smtClean="0"/>
              <a:t>27/11/2019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30F93B-8FFE-478A-B24F-3AF6E3C60D5D}" type="slidenum">
              <a:rPr lang="en-AU" smtClean="0"/>
              <a:t>‹#›</a:t>
            </a:fld>
            <a:endParaRPr lang="en-AU"/>
          </a:p>
        </p:txBody>
      </p:sp>
    </p:spTree>
    <p:extLst>
      <p:ext uri="{BB962C8B-B14F-4D97-AF65-F5344CB8AC3E}">
        <p14:creationId xmlns:p14="http://schemas.microsoft.com/office/powerpoint/2010/main" val="70368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AU" sz="4400" dirty="0" smtClean="0"/>
              <a:t>In this activity you will have to decide if the potential jurors listed below will be fair for this case. Remind yourself of the importance of the right to a fair trial that the Constitution guarantees.</a:t>
            </a:r>
            <a:endParaRPr lang="en-AU" sz="4400" dirty="0"/>
          </a:p>
        </p:txBody>
      </p:sp>
      <p:sp>
        <p:nvSpPr>
          <p:cNvPr id="7" name="Text Placeholder 6"/>
          <p:cNvSpPr>
            <a:spLocks noGrp="1"/>
          </p:cNvSpPr>
          <p:nvPr>
            <p:ph type="body" idx="1"/>
          </p:nvPr>
        </p:nvSpPr>
        <p:spPr/>
        <p:txBody>
          <a:bodyPr/>
          <a:lstStyle/>
          <a:p>
            <a:endParaRPr lang="en-AU"/>
          </a:p>
        </p:txBody>
      </p:sp>
    </p:spTree>
    <p:extLst>
      <p:ext uri="{BB962C8B-B14F-4D97-AF65-F5344CB8AC3E}">
        <p14:creationId xmlns:p14="http://schemas.microsoft.com/office/powerpoint/2010/main" val="2327441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err="1" smtClean="0"/>
              <a:t>Voir</a:t>
            </a:r>
            <a:r>
              <a:rPr lang="en-AU" dirty="0" smtClean="0"/>
              <a:t> Dire</a:t>
            </a:r>
            <a:endParaRPr lang="en-AU" dirty="0"/>
          </a:p>
        </p:txBody>
      </p:sp>
      <p:sp>
        <p:nvSpPr>
          <p:cNvPr id="3" name="Content Placeholder 2"/>
          <p:cNvSpPr>
            <a:spLocks noGrp="1"/>
          </p:cNvSpPr>
          <p:nvPr>
            <p:ph idx="1"/>
          </p:nvPr>
        </p:nvSpPr>
        <p:spPr/>
        <p:txBody>
          <a:bodyPr/>
          <a:lstStyle/>
          <a:p>
            <a:r>
              <a:rPr lang="en-AU" dirty="0" smtClean="0"/>
              <a:t>Lawyers are charged with selecting an impartial jury through a process known as </a:t>
            </a:r>
            <a:r>
              <a:rPr lang="en-AU" dirty="0" err="1" smtClean="0"/>
              <a:t>voir</a:t>
            </a:r>
            <a:r>
              <a:rPr lang="en-AU" dirty="0" smtClean="0"/>
              <a:t> dire. During </a:t>
            </a:r>
            <a:r>
              <a:rPr lang="en-AU" dirty="0" err="1" smtClean="0"/>
              <a:t>voir</a:t>
            </a:r>
            <a:r>
              <a:rPr lang="en-AU" dirty="0" smtClean="0"/>
              <a:t> dire, lawyers interview the jurors to try to discover any bias or prejudice that could affect their ability to be fair and impartial. It is the judge’s responsibility to excuse any biased jurors. It is important that the jurors be able to decide a verdict based on the evidence. Jurors cannot allow any strong opinions about the issues or preconceived notions about either the plaintiff’s claims or the defendant’s </a:t>
            </a:r>
            <a:r>
              <a:rPr lang="en-AU" dirty="0" err="1" smtClean="0"/>
              <a:t>defense</a:t>
            </a:r>
            <a:r>
              <a:rPr lang="en-AU" dirty="0" smtClean="0"/>
              <a:t> to bias their judgment. Jurors should decide a case on the basis of the evidence they hear and see during the trial, not on strong emotional feelings in </a:t>
            </a:r>
            <a:r>
              <a:rPr lang="en-AU" dirty="0" err="1" smtClean="0"/>
              <a:t>favor</a:t>
            </a:r>
            <a:r>
              <a:rPr lang="en-AU" dirty="0" smtClean="0"/>
              <a:t> of or against one of the parties.</a:t>
            </a:r>
            <a:endParaRPr lang="en-AU" dirty="0"/>
          </a:p>
        </p:txBody>
      </p:sp>
    </p:spTree>
    <p:extLst>
      <p:ext uri="{BB962C8B-B14F-4D97-AF65-F5344CB8AC3E}">
        <p14:creationId xmlns:p14="http://schemas.microsoft.com/office/powerpoint/2010/main" val="1934297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marL="0" indent="0">
              <a:buNone/>
            </a:pPr>
            <a:r>
              <a:rPr lang="en-AU" dirty="0" smtClean="0"/>
              <a:t>The case is between the plaintiff (Sharon Franks) and the defendant (Express Car Repair). The plaintiff is suing the defendant because she claims she brought her car to Express Car Repair for an oil change and the repair shop damaged her car. Based on the jurors’ answers, list advantages or disadvantages for the plaintiff and the defendant. Will this juror be fair and impartial and up to the standard set by the Constitution? List whether the answer given indicates bias or impartiality. Then decide whether each person should be on the jury.</a:t>
            </a:r>
            <a:endParaRPr lang="en-AU" dirty="0"/>
          </a:p>
        </p:txBody>
      </p:sp>
    </p:spTree>
    <p:extLst>
      <p:ext uri="{BB962C8B-B14F-4D97-AF65-F5344CB8AC3E}">
        <p14:creationId xmlns:p14="http://schemas.microsoft.com/office/powerpoint/2010/main" val="1030997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Juror 1 Josie Batch, waitress, age 26</a:t>
            </a:r>
            <a:endParaRPr lang="en-AU" dirty="0"/>
          </a:p>
        </p:txBody>
      </p:sp>
      <p:sp>
        <p:nvSpPr>
          <p:cNvPr id="3" name="Content Placeholder 2"/>
          <p:cNvSpPr>
            <a:spLocks noGrp="1"/>
          </p:cNvSpPr>
          <p:nvPr>
            <p:ph idx="1"/>
          </p:nvPr>
        </p:nvSpPr>
        <p:spPr/>
        <p:txBody>
          <a:bodyPr/>
          <a:lstStyle/>
          <a:p>
            <a:pPr marL="0" indent="0">
              <a:buNone/>
            </a:pPr>
            <a:r>
              <a:rPr lang="en-AU" dirty="0" smtClean="0"/>
              <a:t>Describe your work ethic. </a:t>
            </a:r>
            <a:r>
              <a:rPr lang="en-AU" i="1" dirty="0" smtClean="0"/>
              <a:t>I work very hard to support myself and help my family. </a:t>
            </a:r>
          </a:p>
          <a:p>
            <a:pPr marL="0" indent="0">
              <a:buNone/>
            </a:pPr>
            <a:r>
              <a:rPr lang="en-AU" dirty="0" smtClean="0"/>
              <a:t>Have you ever been fired from a job? </a:t>
            </a:r>
            <a:r>
              <a:rPr lang="en-AU" i="1" dirty="0" smtClean="0"/>
              <a:t>Yes. I used to work for the plaintiff until she fired me.</a:t>
            </a:r>
            <a:r>
              <a:rPr lang="en-AU" dirty="0" smtClean="0"/>
              <a:t> </a:t>
            </a:r>
          </a:p>
          <a:p>
            <a:pPr marL="0" indent="0">
              <a:buNone/>
            </a:pPr>
            <a:r>
              <a:rPr lang="en-AU" dirty="0" smtClean="0"/>
              <a:t>So you know the plaintiff? </a:t>
            </a:r>
            <a:r>
              <a:rPr lang="en-AU" i="1" dirty="0" smtClean="0"/>
              <a:t>Yes. I really don’t like her and don’t feel like I can listen to the evidence fairly.</a:t>
            </a:r>
            <a:r>
              <a:rPr lang="en-AU" dirty="0" smtClean="0"/>
              <a:t> </a:t>
            </a:r>
          </a:p>
          <a:p>
            <a:pPr marL="0" indent="0">
              <a:buNone/>
            </a:pPr>
            <a:r>
              <a:rPr lang="en-AU" dirty="0" smtClean="0">
                <a:solidFill>
                  <a:srgbClr val="FF0000"/>
                </a:solidFill>
              </a:rPr>
              <a:t>Advantages/disadvantages for the plaintiff: </a:t>
            </a:r>
          </a:p>
          <a:p>
            <a:pPr marL="0" indent="0">
              <a:buNone/>
            </a:pPr>
            <a:r>
              <a:rPr lang="en-AU" dirty="0" smtClean="0">
                <a:solidFill>
                  <a:srgbClr val="FF0000"/>
                </a:solidFill>
              </a:rPr>
              <a:t>Advantages/disadvantages for the defendant: </a:t>
            </a:r>
          </a:p>
          <a:p>
            <a:pPr marL="0" indent="0">
              <a:buNone/>
            </a:pPr>
            <a:r>
              <a:rPr lang="en-AU" dirty="0" smtClean="0">
                <a:solidFill>
                  <a:srgbClr val="FF0000"/>
                </a:solidFill>
              </a:rPr>
              <a:t>Determination on juror:</a:t>
            </a:r>
            <a:endParaRPr lang="en-AU" dirty="0">
              <a:solidFill>
                <a:srgbClr val="FF0000"/>
              </a:solidFill>
            </a:endParaRPr>
          </a:p>
        </p:txBody>
      </p:sp>
    </p:spTree>
    <p:extLst>
      <p:ext uri="{BB962C8B-B14F-4D97-AF65-F5344CB8AC3E}">
        <p14:creationId xmlns:p14="http://schemas.microsoft.com/office/powerpoint/2010/main" val="361484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Juror 2 Christopher Grace, teacher, age 55</a:t>
            </a:r>
            <a:endParaRPr lang="en-AU" dirty="0"/>
          </a:p>
        </p:txBody>
      </p:sp>
      <p:sp>
        <p:nvSpPr>
          <p:cNvPr id="3" name="Content Placeholder 2"/>
          <p:cNvSpPr>
            <a:spLocks noGrp="1"/>
          </p:cNvSpPr>
          <p:nvPr>
            <p:ph idx="1"/>
          </p:nvPr>
        </p:nvSpPr>
        <p:spPr/>
        <p:txBody>
          <a:bodyPr>
            <a:normAutofit lnSpcReduction="10000"/>
          </a:bodyPr>
          <a:lstStyle/>
          <a:p>
            <a:pPr marL="0" indent="0">
              <a:buNone/>
            </a:pPr>
            <a:r>
              <a:rPr lang="en-AU" dirty="0" smtClean="0"/>
              <a:t>Have you ever taken a car to Express Car Repair? </a:t>
            </a:r>
            <a:r>
              <a:rPr lang="en-AU" i="1" dirty="0" smtClean="0"/>
              <a:t>I take both of my cars there. A few months ago one of my cars was dented while at the repair shop. </a:t>
            </a:r>
          </a:p>
          <a:p>
            <a:pPr marL="0" indent="0">
              <a:buNone/>
            </a:pPr>
            <a:r>
              <a:rPr lang="en-AU" dirty="0" smtClean="0"/>
              <a:t>Was it badly damaged? </a:t>
            </a:r>
            <a:r>
              <a:rPr lang="en-AU" i="1" dirty="0" smtClean="0"/>
              <a:t>It hasn’t affected how the car drives, but it looks bad. </a:t>
            </a:r>
            <a:endParaRPr lang="en-AU" i="1" dirty="0"/>
          </a:p>
          <a:p>
            <a:pPr marL="0" indent="0">
              <a:buNone/>
            </a:pPr>
            <a:r>
              <a:rPr lang="en-AU" dirty="0" smtClean="0"/>
              <a:t>Do you think that experience will keep you from being a fair juror in this case? </a:t>
            </a:r>
            <a:r>
              <a:rPr lang="en-AU" i="1" dirty="0" smtClean="0"/>
              <a:t>No, I don’t. </a:t>
            </a:r>
          </a:p>
          <a:p>
            <a:pPr marL="0" indent="0">
              <a:buNone/>
            </a:pPr>
            <a:r>
              <a:rPr lang="en-AU" dirty="0" smtClean="0">
                <a:solidFill>
                  <a:srgbClr val="FF0000"/>
                </a:solidFill>
              </a:rPr>
              <a:t>Advantages/disadvantages for the plaintiff: </a:t>
            </a:r>
          </a:p>
          <a:p>
            <a:pPr marL="0" indent="0">
              <a:buNone/>
            </a:pPr>
            <a:r>
              <a:rPr lang="en-AU" dirty="0" smtClean="0">
                <a:solidFill>
                  <a:srgbClr val="FF0000"/>
                </a:solidFill>
              </a:rPr>
              <a:t>Advantages/disadvantages for the defendant: </a:t>
            </a:r>
          </a:p>
          <a:p>
            <a:pPr marL="0" indent="0">
              <a:buNone/>
            </a:pPr>
            <a:r>
              <a:rPr lang="en-AU" dirty="0" smtClean="0">
                <a:solidFill>
                  <a:srgbClr val="FF0000"/>
                </a:solidFill>
              </a:rPr>
              <a:t>Determination on juror:</a:t>
            </a:r>
            <a:endParaRPr lang="en-AU" dirty="0">
              <a:solidFill>
                <a:srgbClr val="FF0000"/>
              </a:solidFill>
            </a:endParaRPr>
          </a:p>
        </p:txBody>
      </p:sp>
    </p:spTree>
    <p:extLst>
      <p:ext uri="{BB962C8B-B14F-4D97-AF65-F5344CB8AC3E}">
        <p14:creationId xmlns:p14="http://schemas.microsoft.com/office/powerpoint/2010/main" val="160335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Juror 3 Janet </a:t>
            </a:r>
            <a:r>
              <a:rPr lang="en-AU" dirty="0" err="1" smtClean="0"/>
              <a:t>Casson</a:t>
            </a:r>
            <a:r>
              <a:rPr lang="en-AU" dirty="0" smtClean="0"/>
              <a:t>, owner of Lots to Read Bookstore, age 39</a:t>
            </a:r>
            <a:endParaRPr lang="en-AU" dirty="0"/>
          </a:p>
        </p:txBody>
      </p:sp>
      <p:sp>
        <p:nvSpPr>
          <p:cNvPr id="3" name="Content Placeholder 2"/>
          <p:cNvSpPr>
            <a:spLocks noGrp="1"/>
          </p:cNvSpPr>
          <p:nvPr>
            <p:ph idx="1"/>
          </p:nvPr>
        </p:nvSpPr>
        <p:spPr/>
        <p:txBody>
          <a:bodyPr>
            <a:normAutofit fontScale="92500" lnSpcReduction="10000"/>
          </a:bodyPr>
          <a:lstStyle/>
          <a:p>
            <a:pPr marL="0" indent="0">
              <a:buNone/>
            </a:pPr>
            <a:r>
              <a:rPr lang="en-AU" dirty="0" smtClean="0"/>
              <a:t>How long has your business been located next door to Express Car Repair? </a:t>
            </a:r>
            <a:r>
              <a:rPr lang="en-AU" i="1" dirty="0" smtClean="0"/>
              <a:t>About two years. </a:t>
            </a:r>
          </a:p>
          <a:p>
            <a:pPr marL="0" indent="0">
              <a:buNone/>
            </a:pPr>
            <a:r>
              <a:rPr lang="en-AU" dirty="0" smtClean="0"/>
              <a:t>Do you know anyone who works at Express Car Repair? </a:t>
            </a:r>
            <a:r>
              <a:rPr lang="en-AU" i="1" dirty="0" smtClean="0"/>
              <a:t>The people who work at the repair shop are always parking in front of my store, but I don’t know any of them by name. </a:t>
            </a:r>
          </a:p>
          <a:p>
            <a:pPr marL="0" indent="0">
              <a:buNone/>
            </a:pPr>
            <a:r>
              <a:rPr lang="en-AU" dirty="0" smtClean="0"/>
              <a:t>Is there any reason you would not be able to consider evidence fairly? </a:t>
            </a:r>
            <a:r>
              <a:rPr lang="en-AU" i="1" dirty="0" smtClean="0"/>
              <a:t>I’ve taken my car to the repair shop and did not really like their work, but I would try not to let anything influence my judgment. </a:t>
            </a:r>
          </a:p>
          <a:p>
            <a:pPr marL="0" indent="0">
              <a:buNone/>
            </a:pPr>
            <a:r>
              <a:rPr lang="en-AU" dirty="0" smtClean="0">
                <a:solidFill>
                  <a:srgbClr val="FF0000"/>
                </a:solidFill>
              </a:rPr>
              <a:t>Advantages/disadvantages for the plaintiff: </a:t>
            </a:r>
          </a:p>
          <a:p>
            <a:pPr marL="0" indent="0">
              <a:buNone/>
            </a:pPr>
            <a:r>
              <a:rPr lang="en-AU" dirty="0" smtClean="0">
                <a:solidFill>
                  <a:srgbClr val="FF0000"/>
                </a:solidFill>
              </a:rPr>
              <a:t>Advantages/disadvantages for the defendant: </a:t>
            </a:r>
          </a:p>
          <a:p>
            <a:pPr marL="0" indent="0">
              <a:buNone/>
            </a:pPr>
            <a:r>
              <a:rPr lang="en-AU" dirty="0" smtClean="0">
                <a:solidFill>
                  <a:srgbClr val="FF0000"/>
                </a:solidFill>
              </a:rPr>
              <a:t>Determination on juror: </a:t>
            </a:r>
            <a:endParaRPr lang="en-AU" dirty="0">
              <a:solidFill>
                <a:srgbClr val="FF0000"/>
              </a:solidFill>
            </a:endParaRPr>
          </a:p>
        </p:txBody>
      </p:sp>
    </p:spTree>
    <p:extLst>
      <p:ext uri="{BB962C8B-B14F-4D97-AF65-F5344CB8AC3E}">
        <p14:creationId xmlns:p14="http://schemas.microsoft.com/office/powerpoint/2010/main" val="2096970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586</Words>
  <Application>Microsoft Office PowerPoint</Application>
  <PresentationFormat>Widescreen</PresentationFormat>
  <Paragraphs>25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In this activity you will have to decide if the potential jurors listed below will be fair for this case. Remind yourself of the importance of the right to a fair trial that the Constitution guarantees.</vt:lpstr>
      <vt:lpstr>Voir Dire</vt:lpstr>
      <vt:lpstr>PowerPoint Presentation</vt:lpstr>
      <vt:lpstr>Juror 1 Josie Batch, waitress, age 26</vt:lpstr>
      <vt:lpstr>Juror 2 Christopher Grace, teacher, age 55</vt:lpstr>
      <vt:lpstr>Juror 3 Janet Casson, owner of Lots to Read Bookstore, age 39</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 this activity you will have to decide if the potential jurors listed below will be fair for this case. Referring to a copy of the Sixth Amendment, remind yourself of the importance of the right to a fair trial that the Constitution guarantees.</dc:title>
  <dc:creator>DONAVON Rebecca [Narrogin Senior High School]</dc:creator>
  <cp:lastModifiedBy>DONAVON Rebecca [Narrogin Senior High School]</cp:lastModifiedBy>
  <cp:revision>2</cp:revision>
  <dcterms:created xsi:type="dcterms:W3CDTF">2019-11-27T02:46:58Z</dcterms:created>
  <dcterms:modified xsi:type="dcterms:W3CDTF">2019-11-27T06:23:37Z</dcterms:modified>
</cp:coreProperties>
</file>
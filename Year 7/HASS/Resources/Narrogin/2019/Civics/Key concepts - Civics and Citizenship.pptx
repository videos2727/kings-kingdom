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10"/>
  </p:handoutMasterIdLst>
  <p:sldIdLst>
    <p:sldId id="257" r:id="rId2"/>
    <p:sldId id="271" r:id="rId3"/>
    <p:sldId id="264" r:id="rId4"/>
    <p:sldId id="262" r:id="rId5"/>
    <p:sldId id="274" r:id="rId6"/>
    <p:sldId id="275" r:id="rId7"/>
    <p:sldId id="276" r:id="rId8"/>
    <p:sldId id="280" r:id="rId9"/>
  </p:sldIdLst>
  <p:sldSz cx="12192000" cy="6858000"/>
  <p:notesSz cx="6794500" cy="9931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1" d="100"/>
          <a:sy n="81" d="100"/>
        </p:scale>
        <p:origin x="-78" y="-6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813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48100" y="0"/>
            <a:ext cx="2944813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A78058-4946-43FE-AA75-2F99DC7F2BAB}" type="datetimeFigureOut">
              <a:rPr lang="en-AU" smtClean="0"/>
              <a:t>9/10/2018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32925"/>
            <a:ext cx="2944813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48100" y="9432925"/>
            <a:ext cx="2944813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374C25-C3BE-4808-9E5A-8C7D39BA011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9109601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55F8726-BE8E-47DA-AC40-0FC87DB24F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646E8EA1-FD7B-4033-A159-5D01CD405F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0FF67DF-9F5D-4970-9EE9-5B75A291A3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00124-4BF0-4C04-AA45-090C6FE4A313}" type="datetimeFigureOut">
              <a:rPr lang="en-AU" smtClean="0"/>
              <a:t>9/10/2018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4F17EA62-E2FD-4FD4-AA88-F4A0B92CE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50F9080-8A7B-4FC8-89B0-F61926DA0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DF75A-8AEB-4EFA-B0C3-6863A9845A5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83871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80C37E0-93A8-40B0-A623-38DF6F331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3559148-3C23-45DB-BD3C-9510DE7524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43F22CED-C553-4B85-B823-937618359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00124-4BF0-4C04-AA45-090C6FE4A313}" type="datetimeFigureOut">
              <a:rPr lang="en-AU" smtClean="0"/>
              <a:t>9/10/2018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A5A8FC6-6C25-47FA-B8BA-DECC50DBF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FA8090FE-AC0C-491A-B742-39D6153D5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DF75A-8AEB-4EFA-B0C3-6863A9845A5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90384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EEDB89D-41EA-42A2-A410-09FC8CE56F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1373F6F7-3FFC-42A5-870A-61E9FD44EE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DA75715-9247-4223-9C5A-95BC6DF835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00124-4BF0-4C04-AA45-090C6FE4A313}" type="datetimeFigureOut">
              <a:rPr lang="en-AU" smtClean="0"/>
              <a:t>9/10/2018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65E94650-45C7-4766-A9B0-2F6C8E0B7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442BE317-997A-4B13-A7E4-230D48ABBA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DF75A-8AEB-4EFA-B0C3-6863A9845A5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75872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AE6C29B-8F3E-4A2A-AAAC-3E089E215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0A7D744-201D-44F2-99C7-ECE7A6131F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B75CA6EF-B80E-45AA-9A67-D8E7CDBE94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BC9627ED-DA83-4231-9286-FDEE88A6A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00124-4BF0-4C04-AA45-090C6FE4A313}" type="datetimeFigureOut">
              <a:rPr lang="en-AU" smtClean="0"/>
              <a:t>9/10/2018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1B6F9607-D210-459D-88FC-69C18E0DE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11A643E3-4981-4E18-9ADC-49B39D02E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DF75A-8AEB-4EFA-B0C3-6863A9845A5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238195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7ECEA6C-8136-4FF9-AD8B-028AA1A5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76ACB9EC-0809-43F1-8045-D3FBFF3401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4421B7AF-C3B6-4206-914D-D0B94A870E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DF3E09FA-5A68-4614-AA31-1DF4775D9C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44CC3BB7-EB90-491B-8EED-C041EB3C0F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378C0F62-8B60-4E1F-BE41-C29EB90D41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00124-4BF0-4C04-AA45-090C6FE4A313}" type="datetimeFigureOut">
              <a:rPr lang="en-AU" smtClean="0"/>
              <a:t>9/10/2018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1FA8064E-4842-4AF8-BFBB-0233CDB7B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4CB4720B-0717-4B01-8802-B66AD27E4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DF75A-8AEB-4EFA-B0C3-6863A9845A5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537295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ACE9F6A-5B35-448C-AE96-B4DDB96B8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15242C8A-31BD-4CCD-95A2-C3C4D2799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00124-4BF0-4C04-AA45-090C6FE4A313}" type="datetimeFigureOut">
              <a:rPr lang="en-AU" smtClean="0"/>
              <a:t>9/10/2018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B8F235CE-9F7F-4959-A4B1-8BE96DC92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1FB6533C-242C-48EB-9309-F034AD842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DF75A-8AEB-4EFA-B0C3-6863A9845A5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255542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C58F2E1F-709A-4E82-95FE-E0FD87CBDE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00124-4BF0-4C04-AA45-090C6FE4A313}" type="datetimeFigureOut">
              <a:rPr lang="en-AU" smtClean="0"/>
              <a:t>9/10/2018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3A64C7BA-348D-4B8F-BEBB-CC12BD909B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51FA84A8-54B5-4D06-B807-DBE4F8130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DF75A-8AEB-4EFA-B0C3-6863A9845A5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938169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BE11DBF-A723-47FA-9F5C-69F8063FA7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403F54D-EBB8-425A-9E0F-D4D8C0CD0C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764CC53B-AC11-4940-89CA-C4300B7D00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86E6CAE3-EFE1-45A1-8B0D-B8E87BB8BB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00124-4BF0-4C04-AA45-090C6FE4A313}" type="datetimeFigureOut">
              <a:rPr lang="en-AU" smtClean="0"/>
              <a:t>9/10/2018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378644A7-51CA-401C-9EEB-E99FCC037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3143378B-BABB-4143-91A8-C830FF9B6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DF75A-8AEB-4EFA-B0C3-6863A9845A5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452315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CE7D99A-3B3A-4692-B19F-5C654B706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06C741D2-94B1-4A0F-89F2-1686293639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6408650B-466E-498A-B812-81AD306CAA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F38F304A-9661-4C75-A8EE-CE797A34DA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00124-4BF0-4C04-AA45-090C6FE4A313}" type="datetimeFigureOut">
              <a:rPr lang="en-AU" smtClean="0"/>
              <a:t>9/10/2018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88728A01-C032-491A-ADF3-68A82C488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C04C83A0-728D-4573-AD00-E46D8D8EE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DF75A-8AEB-4EFA-B0C3-6863A9845A5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708193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7E7744A-D3BA-4611-A66B-26BB2AD46A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063F2C2A-8C3E-4A87-8A54-92A8DE77AC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18D7221B-C93B-4E30-8173-15D7592E83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00124-4BF0-4C04-AA45-090C6FE4A313}" type="datetimeFigureOut">
              <a:rPr lang="en-AU" smtClean="0"/>
              <a:t>9/10/2018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F82B6F4-57FA-4BF7-A014-FFDDA0849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4E4C2C0-148B-43B2-B99A-587A5CCBD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DF75A-8AEB-4EFA-B0C3-6863A9845A5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693910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1444AAC8-2ABC-4DB1-A722-6BDA703F3C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60FF72ED-0F6D-4A93-8CE9-214C932973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4CD3DDB1-9DBC-458F-88E0-4A83990A0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00124-4BF0-4C04-AA45-090C6FE4A313}" type="datetimeFigureOut">
              <a:rPr lang="en-AU" smtClean="0"/>
              <a:t>9/10/2018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6D18837D-CA39-4383-80FA-D7737F031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BF4119D7-27A9-4DB9-9CDC-C65A1E7F2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DF75A-8AEB-4EFA-B0C3-6863A9845A5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964687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274638"/>
            <a:ext cx="10566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D2CFC-7FBC-4F2C-9DC1-147E5996F45C}" type="datetimeFigureOut">
              <a:rPr lang="en-AU" smtClean="0"/>
              <a:t>9/10/2018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39191-7186-41D5-875C-93DC919074DA}" type="slidenum">
              <a:rPr lang="en-AU" smtClean="0"/>
              <a:t>‹#›</a:t>
            </a:fld>
            <a:endParaRPr lang="en-AU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812800" y="1600200"/>
            <a:ext cx="105664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0880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A4B29660-DA82-42BA-9E23-4BF83D2FF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1FBCBF15-330A-44E4-A449-C49C87D6F0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EA05F993-2418-4074-863E-F7738F8FC6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600124-4BF0-4C04-AA45-090C6FE4A313}" type="datetimeFigureOut">
              <a:rPr lang="en-AU" smtClean="0"/>
              <a:t>9/10/2018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D7F350BB-C7B8-4E89-8ABF-FDFAFF34E8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EAA76C4-2516-41B2-B355-65F2B5FD99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6DF75A-8AEB-4EFA-B0C3-6863A9845A5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57760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2.xml"/><Relationship Id="rId5" Type="http://schemas.openxmlformats.org/officeDocument/2006/relationships/hyperlink" Target="https://www.youtube.com/watch?v=qbN9kx6YHQQ" TargetMode="External"/><Relationship Id="rId4" Type="http://schemas.openxmlformats.org/officeDocument/2006/relationships/hyperlink" Target="http://www.abc.net.au/btn/story/s4460249.htm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abc.net.au/btn/story/s4464749.htm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www.youtube.com/watch?v=oh3BbLk5UIQ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6B8207AE-D657-49B7-833B-71AE26E391A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5615" t="17622" r="26730" b="1016"/>
          <a:stretch/>
        </p:blipFill>
        <p:spPr>
          <a:xfrm>
            <a:off x="2327538" y="0"/>
            <a:ext cx="753692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6786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 descr="Image result for democracy">
            <a:extLst>
              <a:ext uri="{FF2B5EF4-FFF2-40B4-BE49-F238E27FC236}">
                <a16:creationId xmlns:a16="http://schemas.microsoft.com/office/drawing/2014/main" xmlns="" id="{3B5ADE3F-2815-486A-9FA6-CE314035EFC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370" b="12073"/>
          <a:stretch/>
        </p:blipFill>
        <p:spPr bwMode="auto">
          <a:xfrm>
            <a:off x="-1" y="10"/>
            <a:ext cx="12192001" cy="46669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7" name="Picture 136">
            <a:extLst>
              <a:ext uri="{FF2B5EF4-FFF2-40B4-BE49-F238E27FC236}">
                <a16:creationId xmlns:a16="http://schemas.microsoft.com/office/drawing/2014/main" xmlns="" id="{EE09A529-E47C-4634-BB98-0A9526C372B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9" name="Oval 138">
            <a:extLst>
              <a:ext uri="{FF2B5EF4-FFF2-40B4-BE49-F238E27FC236}">
                <a16:creationId xmlns:a16="http://schemas.microsoft.com/office/drawing/2014/main" xmlns="" id="{569C1A01-6FB5-43CE-ADCC-936728ACAC0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1456267" y="4388303"/>
            <a:ext cx="824089" cy="70298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998" y="4551037"/>
            <a:ext cx="5021782" cy="1509931"/>
          </a:xfrm>
        </p:spPr>
        <p:txBody>
          <a:bodyPr>
            <a:normAutofit/>
          </a:bodyPr>
          <a:lstStyle/>
          <a:p>
            <a:r>
              <a:rPr lang="en-AU" sz="6000" b="1" dirty="0">
                <a:solidFill>
                  <a:srgbClr val="000000"/>
                </a:solidFill>
              </a:rPr>
              <a:t>Democracy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5219114" y="4569355"/>
            <a:ext cx="6852793" cy="199044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AU" sz="4000" dirty="0">
                <a:solidFill>
                  <a:srgbClr val="000000"/>
                </a:solidFill>
              </a:rPr>
              <a:t>A system of government in which people choose their rulers by voting in elections.</a:t>
            </a:r>
          </a:p>
          <a:p>
            <a:pPr marL="0" indent="0">
              <a:buNone/>
            </a:pPr>
            <a:endParaRPr lang="en-AU" sz="1800" dirty="0">
              <a:solidFill>
                <a:srgbClr val="00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DA85A7DB-7484-46E1-89B7-62ECE1BB8C10}"/>
              </a:ext>
            </a:extLst>
          </p:cNvPr>
          <p:cNvSpPr txBox="1"/>
          <p:nvPr/>
        </p:nvSpPr>
        <p:spPr>
          <a:xfrm>
            <a:off x="238539" y="6060968"/>
            <a:ext cx="308775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>
                <a:hlinkClick r:id="rId4"/>
              </a:rPr>
              <a:t>http://www.abc.net.au/btn/story/s4460249.htm</a:t>
            </a:r>
            <a:r>
              <a:rPr lang="en-AU" sz="1000" dirty="0"/>
              <a:t> </a:t>
            </a:r>
          </a:p>
          <a:p>
            <a:endParaRPr lang="en-AU" sz="1000" dirty="0"/>
          </a:p>
          <a:p>
            <a:r>
              <a:rPr lang="en-AU" sz="1000" dirty="0">
                <a:hlinkClick r:id="rId5"/>
              </a:rPr>
              <a:t>https://www.youtube.com/watch?v=qbN9kx6YHQQ</a:t>
            </a:r>
            <a:r>
              <a:rPr lang="en-AU" sz="10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86854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Rectangle 71">
            <a:extLst>
              <a:ext uri="{FF2B5EF4-FFF2-40B4-BE49-F238E27FC236}">
                <a16:creationId xmlns:a16="http://schemas.microsoft.com/office/drawing/2014/main" xmlns="" id="{F56F5174-31D9-4DBB-AAB7-A1FD7BDB135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1" y="0"/>
            <a:ext cx="5614875" cy="6858000"/>
          </a:xfrm>
          <a:prstGeom prst="rect">
            <a:avLst/>
          </a:prstGeom>
          <a:gradFill>
            <a:gsLst>
              <a:gs pos="0">
                <a:schemeClr val="accent1">
                  <a:lumMod val="100000"/>
                  <a:alpha val="82000"/>
                </a:schemeClr>
              </a:gs>
              <a:gs pos="25000">
                <a:schemeClr val="accent1">
                  <a:alpha val="60000"/>
                </a:schemeClr>
              </a:gs>
              <a:gs pos="94000">
                <a:schemeClr val="bg2">
                  <a:lumMod val="75000"/>
                </a:schemeClr>
              </a:gs>
              <a:gs pos="100000">
                <a:schemeClr val="bg2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4" name="Picture 73">
            <a:extLst>
              <a:ext uri="{FF2B5EF4-FFF2-40B4-BE49-F238E27FC236}">
                <a16:creationId xmlns:a16="http://schemas.microsoft.com/office/drawing/2014/main" xmlns="" id="{AE113210-7872-481A-ADE6-3A05CCAF5EB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06646" y="180205"/>
            <a:ext cx="4977976" cy="1454051"/>
          </a:xfrm>
        </p:spPr>
        <p:txBody>
          <a:bodyPr>
            <a:normAutofit/>
          </a:bodyPr>
          <a:lstStyle/>
          <a:p>
            <a:r>
              <a:rPr lang="en-AU" b="1" dirty="0">
                <a:solidFill>
                  <a:srgbClr val="000000"/>
                </a:solidFill>
              </a:rPr>
              <a:t>Democratic values</a:t>
            </a:r>
          </a:p>
        </p:txBody>
      </p:sp>
      <p:sp>
        <p:nvSpPr>
          <p:cNvPr id="76" name="Freeform 62">
            <a:extLst>
              <a:ext uri="{FF2B5EF4-FFF2-40B4-BE49-F238E27FC236}">
                <a16:creationId xmlns:a16="http://schemas.microsoft.com/office/drawing/2014/main" xmlns="" id="{F9A95BEE-6BB1-4A28-A8E6-A34B2E42EF8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738619"/>
            <a:ext cx="5000438" cy="5400962"/>
          </a:xfrm>
          <a:custGeom>
            <a:avLst/>
            <a:gdLst>
              <a:gd name="connsiteX0" fmla="*/ 2299956 w 5000438"/>
              <a:gd name="connsiteY0" fmla="*/ 0 h 5400962"/>
              <a:gd name="connsiteX1" fmla="*/ 5000438 w 5000438"/>
              <a:gd name="connsiteY1" fmla="*/ 2700481 h 5400962"/>
              <a:gd name="connsiteX2" fmla="*/ 2299956 w 5000438"/>
              <a:gd name="connsiteY2" fmla="*/ 5400962 h 5400962"/>
              <a:gd name="connsiteX3" fmla="*/ 60675 w 5000438"/>
              <a:gd name="connsiteY3" fmla="*/ 4210346 h 5400962"/>
              <a:gd name="connsiteX4" fmla="*/ 0 w 5000438"/>
              <a:gd name="connsiteY4" fmla="*/ 4110472 h 5400962"/>
              <a:gd name="connsiteX5" fmla="*/ 0 w 5000438"/>
              <a:gd name="connsiteY5" fmla="*/ 1290491 h 5400962"/>
              <a:gd name="connsiteX6" fmla="*/ 60675 w 5000438"/>
              <a:gd name="connsiteY6" fmla="*/ 1190617 h 5400962"/>
              <a:gd name="connsiteX7" fmla="*/ 2299956 w 5000438"/>
              <a:gd name="connsiteY7" fmla="*/ 0 h 540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000438" h="5400962">
                <a:moveTo>
                  <a:pt x="2299956" y="0"/>
                </a:moveTo>
                <a:cubicBezTo>
                  <a:pt x="3791390" y="0"/>
                  <a:pt x="5000438" y="1209047"/>
                  <a:pt x="5000438" y="2700481"/>
                </a:cubicBezTo>
                <a:cubicBezTo>
                  <a:pt x="5000438" y="4191915"/>
                  <a:pt x="3791390" y="5400962"/>
                  <a:pt x="2299956" y="5400962"/>
                </a:cubicBezTo>
                <a:cubicBezTo>
                  <a:pt x="1367810" y="5400962"/>
                  <a:pt x="545971" y="4928678"/>
                  <a:pt x="60675" y="4210346"/>
                </a:cubicBezTo>
                <a:lnTo>
                  <a:pt x="0" y="4110472"/>
                </a:lnTo>
                <a:lnTo>
                  <a:pt x="0" y="1290491"/>
                </a:lnTo>
                <a:lnTo>
                  <a:pt x="60675" y="1190617"/>
                </a:lnTo>
                <a:cubicBezTo>
                  <a:pt x="545971" y="472284"/>
                  <a:pt x="1367810" y="0"/>
                  <a:pt x="2299956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 rotWithShape="1"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214" r="18967" b="-1"/>
          <a:stretch/>
        </p:blipFill>
        <p:spPr bwMode="auto">
          <a:xfrm>
            <a:off x="20" y="907231"/>
            <a:ext cx="4838021" cy="5063738"/>
          </a:xfrm>
          <a:custGeom>
            <a:avLst/>
            <a:gdLst>
              <a:gd name="connsiteX0" fmla="*/ 2306172 w 4838041"/>
              <a:gd name="connsiteY0" fmla="*/ 0 h 5063738"/>
              <a:gd name="connsiteX1" fmla="*/ 4838041 w 4838041"/>
              <a:gd name="connsiteY1" fmla="*/ 2531869 h 5063738"/>
              <a:gd name="connsiteX2" fmla="*/ 2306172 w 4838041"/>
              <a:gd name="connsiteY2" fmla="*/ 5063738 h 5063738"/>
              <a:gd name="connsiteX3" fmla="*/ 79886 w 4838041"/>
              <a:gd name="connsiteY3" fmla="*/ 3738709 h 5063738"/>
              <a:gd name="connsiteX4" fmla="*/ 0 w 4838041"/>
              <a:gd name="connsiteY4" fmla="*/ 3572876 h 5063738"/>
              <a:gd name="connsiteX5" fmla="*/ 0 w 4838041"/>
              <a:gd name="connsiteY5" fmla="*/ 1490863 h 5063738"/>
              <a:gd name="connsiteX6" fmla="*/ 79886 w 4838041"/>
              <a:gd name="connsiteY6" fmla="*/ 1325030 h 5063738"/>
              <a:gd name="connsiteX7" fmla="*/ 2306172 w 4838041"/>
              <a:gd name="connsiteY7" fmla="*/ 0 h 50637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838041" h="5063738">
                <a:moveTo>
                  <a:pt x="2306172" y="0"/>
                </a:moveTo>
                <a:cubicBezTo>
                  <a:pt x="3704485" y="0"/>
                  <a:pt x="4838041" y="1133556"/>
                  <a:pt x="4838041" y="2531869"/>
                </a:cubicBezTo>
                <a:cubicBezTo>
                  <a:pt x="4838041" y="3930182"/>
                  <a:pt x="3704485" y="5063738"/>
                  <a:pt x="2306172" y="5063738"/>
                </a:cubicBezTo>
                <a:cubicBezTo>
                  <a:pt x="1344832" y="5063738"/>
                  <a:pt x="508631" y="4527956"/>
                  <a:pt x="79886" y="3738709"/>
                </a:cubicBezTo>
                <a:lnTo>
                  <a:pt x="0" y="3572876"/>
                </a:lnTo>
                <a:lnTo>
                  <a:pt x="0" y="1490863"/>
                </a:lnTo>
                <a:lnTo>
                  <a:pt x="79886" y="1325030"/>
                </a:lnTo>
                <a:cubicBezTo>
                  <a:pt x="508631" y="535783"/>
                  <a:pt x="1344832" y="0"/>
                  <a:pt x="2306172" y="0"/>
                </a:cubicBezTo>
                <a:close/>
              </a:path>
            </a:pathLst>
          </a:custGeom>
          <a:noFill/>
          <a:effectLst>
            <a:softEdge rad="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5800211" y="1394740"/>
            <a:ext cx="6241734" cy="5283055"/>
          </a:xfrm>
        </p:spPr>
        <p:txBody>
          <a:bodyPr anchor="ctr">
            <a:normAutofit lnSpcReduction="10000"/>
          </a:bodyPr>
          <a:lstStyle/>
          <a:p>
            <a:pPr marL="0" indent="0">
              <a:buNone/>
            </a:pPr>
            <a:r>
              <a:rPr lang="en-AU" sz="3000" dirty="0">
                <a:solidFill>
                  <a:srgbClr val="000000"/>
                </a:solidFill>
              </a:rPr>
              <a:t>The Australian democracy has at its heart, the following core </a:t>
            </a:r>
            <a:r>
              <a:rPr lang="en-AU" sz="3000" b="1" dirty="0">
                <a:solidFill>
                  <a:srgbClr val="000000"/>
                </a:solidFill>
              </a:rPr>
              <a:t>values</a:t>
            </a:r>
            <a:r>
              <a:rPr lang="en-AU" sz="3000" dirty="0">
                <a:solidFill>
                  <a:srgbClr val="000000"/>
                </a:solidFill>
              </a:rPr>
              <a:t>:</a:t>
            </a:r>
          </a:p>
          <a:p>
            <a:pPr marL="0" indent="0">
              <a:buNone/>
            </a:pPr>
            <a:endParaRPr lang="en-AU" sz="3000" dirty="0">
              <a:solidFill>
                <a:srgbClr val="000000"/>
              </a:solidFill>
            </a:endParaRPr>
          </a:p>
          <a:p>
            <a:pPr>
              <a:buFont typeface="+mj-lt"/>
              <a:buAutoNum type="arabicPeriod"/>
            </a:pPr>
            <a:r>
              <a:rPr lang="en-AU" sz="3000" dirty="0">
                <a:solidFill>
                  <a:srgbClr val="000000"/>
                </a:solidFill>
              </a:rPr>
              <a:t>Freedom of election and being elected</a:t>
            </a:r>
          </a:p>
          <a:p>
            <a:pPr>
              <a:buFont typeface="+mj-lt"/>
              <a:buAutoNum type="arabicPeriod"/>
            </a:pPr>
            <a:r>
              <a:rPr lang="en-AU" sz="3000" dirty="0">
                <a:solidFill>
                  <a:srgbClr val="000000"/>
                </a:solidFill>
              </a:rPr>
              <a:t>Freedom of assembly and political participation</a:t>
            </a:r>
          </a:p>
          <a:p>
            <a:pPr>
              <a:buFont typeface="+mj-lt"/>
              <a:buAutoNum type="arabicPeriod"/>
            </a:pPr>
            <a:r>
              <a:rPr lang="en-AU" sz="3000" dirty="0">
                <a:solidFill>
                  <a:srgbClr val="000000"/>
                </a:solidFill>
              </a:rPr>
              <a:t>Freedom of speech, expression and religious belief</a:t>
            </a:r>
          </a:p>
          <a:p>
            <a:pPr>
              <a:buFont typeface="+mj-lt"/>
              <a:buAutoNum type="arabicPeriod"/>
            </a:pPr>
            <a:r>
              <a:rPr lang="en-AU" sz="3000" dirty="0">
                <a:solidFill>
                  <a:srgbClr val="000000"/>
                </a:solidFill>
              </a:rPr>
              <a:t>Rule of law</a:t>
            </a:r>
          </a:p>
          <a:p>
            <a:pPr>
              <a:buFont typeface="+mj-lt"/>
              <a:buAutoNum type="arabicPeriod"/>
            </a:pPr>
            <a:r>
              <a:rPr lang="en-AU" sz="3000" dirty="0">
                <a:solidFill>
                  <a:srgbClr val="000000"/>
                </a:solidFill>
              </a:rPr>
              <a:t>Human rights</a:t>
            </a:r>
          </a:p>
          <a:p>
            <a:endParaRPr lang="en-AU" sz="20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40071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Image result for westminster">
            <a:extLst>
              <a:ext uri="{FF2B5EF4-FFF2-40B4-BE49-F238E27FC236}">
                <a16:creationId xmlns:a16="http://schemas.microsoft.com/office/drawing/2014/main" xmlns="" id="{4AF371F2-2974-4B1C-8B1B-45F3E1C7C1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163"/>
          <a:stretch/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1" name="Rectangle 70">
            <a:extLst>
              <a:ext uri="{FF2B5EF4-FFF2-40B4-BE49-F238E27FC236}">
                <a16:creationId xmlns:a16="http://schemas.microsoft.com/office/drawing/2014/main" xmlns="" id="{86C7B4A1-154A-4DF0-AC46-F88D75A2E0F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 bwMode="ltGray">
          <a:xfrm>
            <a:off x="336884" y="321176"/>
            <a:ext cx="7197772" cy="5896743"/>
          </a:xfrm>
          <a:prstGeom prst="rect">
            <a:avLst/>
          </a:prstGeom>
          <a:solidFill>
            <a:schemeClr val="bg1">
              <a:alpha val="90000"/>
            </a:schemeClr>
          </a:solidFill>
          <a:ln w="127000" cap="sq" cmpd="thinThick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803" y="321176"/>
            <a:ext cx="6619811" cy="902713"/>
          </a:xfrm>
        </p:spPr>
        <p:txBody>
          <a:bodyPr>
            <a:normAutofit/>
          </a:bodyPr>
          <a:lstStyle/>
          <a:p>
            <a:r>
              <a:rPr lang="en-AU" sz="3500" b="1" dirty="0"/>
              <a:t>The Westminster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625517" y="1114865"/>
            <a:ext cx="6620505" cy="494831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AU" sz="2500" dirty="0"/>
              <a:t>A democratic system of government modelled from the United Kingdom (Palace of Westminster of British Parliament). </a:t>
            </a:r>
          </a:p>
          <a:p>
            <a:pPr marL="0" indent="0">
              <a:buNone/>
            </a:pPr>
            <a:endParaRPr lang="en-AU" sz="2500" dirty="0"/>
          </a:p>
          <a:p>
            <a:pPr marL="0" indent="0">
              <a:buNone/>
            </a:pPr>
            <a:r>
              <a:rPr lang="en-AU" sz="2500" i="1" dirty="0"/>
              <a:t>Features of the Westminster system:</a:t>
            </a:r>
          </a:p>
          <a:p>
            <a:pPr marL="0" indent="0">
              <a:buNone/>
            </a:pPr>
            <a:endParaRPr lang="en-AU" sz="2500" dirty="0"/>
          </a:p>
          <a:p>
            <a:pPr>
              <a:buFont typeface="+mj-lt"/>
              <a:buAutoNum type="arabicPeriod"/>
            </a:pPr>
            <a:r>
              <a:rPr lang="en-AU" sz="2500" dirty="0"/>
              <a:t>Executive branch – made up of members of the legislature and Prime Minister</a:t>
            </a:r>
          </a:p>
          <a:p>
            <a:pPr>
              <a:buFont typeface="+mj-lt"/>
              <a:buAutoNum type="arabicPeriod"/>
            </a:pPr>
            <a:r>
              <a:rPr lang="en-AU" sz="2500" dirty="0"/>
              <a:t>Opposition parties</a:t>
            </a:r>
          </a:p>
          <a:p>
            <a:pPr>
              <a:buFont typeface="+mj-lt"/>
              <a:buAutoNum type="arabicPeriod"/>
            </a:pPr>
            <a:r>
              <a:rPr lang="en-AU" sz="2500" dirty="0"/>
              <a:t>Bicameral or Unicameral legislature </a:t>
            </a:r>
          </a:p>
          <a:p>
            <a:pPr>
              <a:buFont typeface="+mj-lt"/>
              <a:buAutoNum type="arabicPeriod"/>
            </a:pPr>
            <a:r>
              <a:rPr lang="en-AU" sz="2500" dirty="0"/>
              <a:t>Ceremonial head of state (Queen Elizabeth II)</a:t>
            </a:r>
          </a:p>
        </p:txBody>
      </p:sp>
    </p:spTree>
    <p:extLst>
      <p:ext uri="{BB962C8B-B14F-4D97-AF65-F5344CB8AC3E}">
        <p14:creationId xmlns:p14="http://schemas.microsoft.com/office/powerpoint/2010/main" val="36136784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Image result for lady justice">
            <a:extLst>
              <a:ext uri="{FF2B5EF4-FFF2-40B4-BE49-F238E27FC236}">
                <a16:creationId xmlns:a16="http://schemas.microsoft.com/office/drawing/2014/main" xmlns="" id="{722A45B4-3ECB-4BC1-8946-6FD8453370F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96" r="21402"/>
          <a:stretch/>
        </p:blipFill>
        <p:spPr bwMode="auto">
          <a:xfrm>
            <a:off x="5797848" y="0"/>
            <a:ext cx="639415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" name="Picture 70">
            <a:extLst>
              <a:ext uri="{FF2B5EF4-FFF2-40B4-BE49-F238E27FC236}">
                <a16:creationId xmlns:a16="http://schemas.microsoft.com/office/drawing/2014/main" xmlns="" id="{54DDEBDD-D8BD-41A6-8A0D-B00E3768B0F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 flipV="1"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1451" y="311427"/>
            <a:ext cx="4803636" cy="1311664"/>
          </a:xfrm>
        </p:spPr>
        <p:txBody>
          <a:bodyPr>
            <a:normAutofit/>
          </a:bodyPr>
          <a:lstStyle/>
          <a:p>
            <a:r>
              <a:rPr lang="en-AU" sz="6000" b="1" dirty="0">
                <a:solidFill>
                  <a:srgbClr val="000000"/>
                </a:solidFill>
              </a:rPr>
              <a:t>Justice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545523" y="1934518"/>
            <a:ext cx="4706803" cy="471950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AU" sz="3500" dirty="0">
                <a:solidFill>
                  <a:srgbClr val="000000"/>
                </a:solidFill>
              </a:rPr>
              <a:t>Fairness in the way people are treated.</a:t>
            </a:r>
          </a:p>
          <a:p>
            <a:pPr marL="0" indent="0">
              <a:buNone/>
            </a:pPr>
            <a:endParaRPr lang="en-AU" sz="3500" dirty="0">
              <a:solidFill>
                <a:srgbClr val="000000"/>
              </a:solidFill>
            </a:endParaRPr>
          </a:p>
          <a:p>
            <a:pPr marL="457200" indent="-457200">
              <a:buAutoNum type="arabicPeriod"/>
            </a:pPr>
            <a:r>
              <a:rPr lang="en-AU" sz="3500" dirty="0">
                <a:solidFill>
                  <a:srgbClr val="000000"/>
                </a:solidFill>
              </a:rPr>
              <a:t>Equality before the law</a:t>
            </a:r>
          </a:p>
          <a:p>
            <a:pPr marL="457200" indent="-457200">
              <a:buAutoNum type="arabicPeriod"/>
            </a:pPr>
            <a:r>
              <a:rPr lang="en-AU" sz="3500" dirty="0">
                <a:solidFill>
                  <a:srgbClr val="000000"/>
                </a:solidFill>
              </a:rPr>
              <a:t>No one is above the law  </a:t>
            </a:r>
          </a:p>
        </p:txBody>
      </p:sp>
    </p:spTree>
    <p:extLst>
      <p:ext uri="{BB962C8B-B14F-4D97-AF65-F5344CB8AC3E}">
        <p14:creationId xmlns:p14="http://schemas.microsoft.com/office/powerpoint/2010/main" val="38881367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3795" y="82419"/>
            <a:ext cx="3651467" cy="1676603"/>
          </a:xfrm>
        </p:spPr>
        <p:txBody>
          <a:bodyPr>
            <a:normAutofit/>
          </a:bodyPr>
          <a:lstStyle/>
          <a:p>
            <a:r>
              <a:rPr lang="en-AU" b="1" dirty="0"/>
              <a:t>Participation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352210" y="1363399"/>
            <a:ext cx="3934637" cy="41312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3000" dirty="0"/>
              <a:t>How an individual can be involved in the political and legal system. </a:t>
            </a:r>
          </a:p>
          <a:p>
            <a:pPr marL="0" indent="0">
              <a:buNone/>
            </a:pPr>
            <a:endParaRPr lang="en-AU" sz="3000" dirty="0"/>
          </a:p>
          <a:p>
            <a:r>
              <a:rPr lang="en-AU" sz="3000" dirty="0"/>
              <a:t>As both a decision maker </a:t>
            </a:r>
          </a:p>
          <a:p>
            <a:r>
              <a:rPr lang="en-AU" sz="3000" dirty="0"/>
              <a:t>As an agent of change</a:t>
            </a:r>
          </a:p>
        </p:txBody>
      </p:sp>
      <p:pic>
        <p:nvPicPr>
          <p:cNvPr id="5122" name="Picture 2" descr="Image result for australian government">
            <a:extLst>
              <a:ext uri="{FF2B5EF4-FFF2-40B4-BE49-F238E27FC236}">
                <a16:creationId xmlns:a16="http://schemas.microsoft.com/office/drawing/2014/main" xmlns="" id="{952A057E-9C63-4A0F-958D-21186D28993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21" r="9927" b="2"/>
          <a:stretch/>
        </p:blipFill>
        <p:spPr bwMode="auto">
          <a:xfrm>
            <a:off x="4639056" y="10"/>
            <a:ext cx="7552944" cy="6857990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0" y="6014446"/>
            <a:ext cx="63201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For example, people can </a:t>
            </a:r>
            <a:r>
              <a:rPr lang="en-AU" b="1" dirty="0" smtClean="0"/>
              <a:t>participate </a:t>
            </a:r>
            <a:r>
              <a:rPr lang="en-AU" dirty="0" smtClean="0"/>
              <a:t>in the Australian government </a:t>
            </a:r>
            <a:r>
              <a:rPr lang="en-AU" dirty="0"/>
              <a:t>by voting. </a:t>
            </a:r>
            <a:r>
              <a:rPr lang="en-AU" dirty="0">
                <a:hlinkClick r:id="rId3"/>
              </a:rPr>
              <a:t>http://</a:t>
            </a:r>
            <a:r>
              <a:rPr lang="en-AU" dirty="0" smtClean="0">
                <a:hlinkClick r:id="rId3"/>
              </a:rPr>
              <a:t>www.abc.net.au/btn/story/s4464749.htm</a:t>
            </a:r>
            <a:r>
              <a:rPr lang="en-AU" dirty="0" smtClean="0"/>
              <a:t>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5602015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Image result for human rights">
            <a:extLst>
              <a:ext uri="{FF2B5EF4-FFF2-40B4-BE49-F238E27FC236}">
                <a16:creationId xmlns:a16="http://schemas.microsoft.com/office/drawing/2014/main" xmlns="" id="{20EEDDEF-661F-4395-9943-974D4AF177B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60" r="679" b="-1"/>
          <a:stretch/>
        </p:blipFill>
        <p:spPr bwMode="auto">
          <a:xfrm>
            <a:off x="-1" y="10"/>
            <a:ext cx="12192001" cy="46669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" name="Picture 70">
            <a:extLst>
              <a:ext uri="{FF2B5EF4-FFF2-40B4-BE49-F238E27FC236}">
                <a16:creationId xmlns:a16="http://schemas.microsoft.com/office/drawing/2014/main" xmlns="" id="{EE09A529-E47C-4634-BB98-0A9526C372B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3" name="Oval 72">
            <a:extLst>
              <a:ext uri="{FF2B5EF4-FFF2-40B4-BE49-F238E27FC236}">
                <a16:creationId xmlns:a16="http://schemas.microsoft.com/office/drawing/2014/main" xmlns="" id="{569C1A01-6FB5-43CE-ADCC-936728ACAC0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1456267" y="4388303"/>
            <a:ext cx="824089" cy="70298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998" y="4551037"/>
            <a:ext cx="5021782" cy="1509931"/>
          </a:xfrm>
        </p:spPr>
        <p:txBody>
          <a:bodyPr>
            <a:normAutofit/>
          </a:bodyPr>
          <a:lstStyle/>
          <a:p>
            <a:r>
              <a:rPr lang="en-AU" sz="4000" b="1" dirty="0">
                <a:solidFill>
                  <a:srgbClr val="000000"/>
                </a:solidFill>
              </a:rPr>
              <a:t>Rights and responsibilities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5257868" y="4099570"/>
            <a:ext cx="7290483" cy="230363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AU" sz="3000" dirty="0">
                <a:solidFill>
                  <a:srgbClr val="000000"/>
                </a:solidFill>
              </a:rPr>
              <a:t>A right is a freedom that is protected </a:t>
            </a:r>
            <a:r>
              <a:rPr lang="en-AU" sz="3000" dirty="0" smtClean="0">
                <a:solidFill>
                  <a:srgbClr val="000000"/>
                </a:solidFill>
              </a:rPr>
              <a:t>(human rights).</a:t>
            </a:r>
            <a:endParaRPr lang="en-AU" sz="3000" dirty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en-AU" sz="3000" dirty="0">
                <a:solidFill>
                  <a:srgbClr val="000000"/>
                </a:solidFill>
              </a:rPr>
              <a:t>A responsibility is a duty of something you should do (voting).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57868" y="6223702"/>
            <a:ext cx="64884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/>
              <a:t>For example, </a:t>
            </a:r>
            <a:r>
              <a:rPr lang="en-AU" sz="1000" dirty="0" smtClean="0"/>
              <a:t>human </a:t>
            </a:r>
            <a:r>
              <a:rPr lang="en-AU" sz="1000" dirty="0"/>
              <a:t>rights are basic entitlements that belong to every one of </a:t>
            </a:r>
            <a:r>
              <a:rPr lang="en-AU" sz="1000" dirty="0" smtClean="0"/>
              <a:t>us.</a:t>
            </a:r>
          </a:p>
          <a:p>
            <a:r>
              <a:rPr lang="en-AU" sz="1000" dirty="0">
                <a:hlinkClick r:id="rId4"/>
              </a:rPr>
              <a:t>https://</a:t>
            </a:r>
            <a:r>
              <a:rPr lang="en-AU" sz="1000" dirty="0" smtClean="0">
                <a:hlinkClick r:id="rId4"/>
              </a:rPr>
              <a:t>www.youtube.com/watch?v=oh3BbLk5UIQ</a:t>
            </a:r>
            <a:r>
              <a:rPr lang="en-AU" sz="1000" dirty="0" smtClean="0"/>
              <a:t> (</a:t>
            </a:r>
            <a:r>
              <a:rPr lang="en-AU" sz="1000" smtClean="0"/>
              <a:t>10</a:t>
            </a:r>
            <a:r>
              <a:rPr lang="en-AU" sz="1000" smtClean="0"/>
              <a:t>)</a:t>
            </a:r>
            <a:endParaRPr lang="en-AU" sz="1000" dirty="0" smtClean="0"/>
          </a:p>
        </p:txBody>
      </p:sp>
    </p:spTree>
    <p:extLst>
      <p:ext uri="{BB962C8B-B14F-4D97-AF65-F5344CB8AC3E}">
        <p14:creationId xmlns:p14="http://schemas.microsoft.com/office/powerpoint/2010/main" val="36652855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 result for lady justice">
            <a:extLst>
              <a:ext uri="{FF2B5EF4-FFF2-40B4-BE49-F238E27FC236}">
                <a16:creationId xmlns:a16="http://schemas.microsoft.com/office/drawing/2014/main" xmlns="" id="{A22C57CE-AADA-4E3C-9350-765A9AFE78A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856" r="19142"/>
          <a:stretch/>
        </p:blipFill>
        <p:spPr bwMode="auto">
          <a:xfrm>
            <a:off x="5797543" y="10"/>
            <a:ext cx="639415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" name="Picture 70">
            <a:extLst>
              <a:ext uri="{FF2B5EF4-FFF2-40B4-BE49-F238E27FC236}">
                <a16:creationId xmlns:a16="http://schemas.microsoft.com/office/drawing/2014/main" xmlns="" id="{54DDEBDD-D8BD-41A6-8A0D-B00E3768B0F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 flipV="1"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xmlns="" id="{30CC3575-4324-4471-AC46-4C45588296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4095" y="122584"/>
            <a:ext cx="4803636" cy="131166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4400" b="1" dirty="0">
                <a:solidFill>
                  <a:srgbClr val="000000"/>
                </a:solidFill>
              </a:rPr>
              <a:t>Success Criteria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6A4FF8BD-C77E-4275-AA5A-EBB556D5BB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3790" y="1258653"/>
            <a:ext cx="5295375" cy="534092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114300" algn="l"/>
            <a:r>
              <a:rPr lang="en-US" sz="3000" dirty="0">
                <a:solidFill>
                  <a:srgbClr val="000000"/>
                </a:solidFill>
              </a:rPr>
              <a:t>On the </a:t>
            </a:r>
            <a:r>
              <a:rPr lang="en-US" sz="3000" dirty="0" smtClean="0">
                <a:solidFill>
                  <a:srgbClr val="000000"/>
                </a:solidFill>
              </a:rPr>
              <a:t>scrap </a:t>
            </a:r>
            <a:r>
              <a:rPr lang="en-US" sz="3000" dirty="0">
                <a:solidFill>
                  <a:srgbClr val="000000"/>
                </a:solidFill>
              </a:rPr>
              <a:t>piece of paper given to you, write your name and complete these activities.</a:t>
            </a:r>
          </a:p>
          <a:p>
            <a:pPr marL="114300" algn="l"/>
            <a:endParaRPr lang="en-US" sz="3000" dirty="0">
              <a:solidFill>
                <a:srgbClr val="000000"/>
              </a:solidFill>
            </a:endParaRPr>
          </a:p>
          <a:p>
            <a:pPr marL="114300" algn="l"/>
            <a:r>
              <a:rPr lang="en-US" sz="3000" dirty="0">
                <a:solidFill>
                  <a:srgbClr val="000000"/>
                </a:solidFill>
              </a:rPr>
              <a:t>1. In one sentence, briefly explain what the study of civics and citizenship is</a:t>
            </a:r>
          </a:p>
          <a:p>
            <a:pPr marL="114300" algn="l"/>
            <a:endParaRPr lang="en-US" sz="3000" dirty="0">
              <a:solidFill>
                <a:srgbClr val="000000"/>
              </a:solidFill>
            </a:endParaRPr>
          </a:p>
          <a:p>
            <a:pPr marL="114300" algn="l"/>
            <a:r>
              <a:rPr lang="en-US" sz="3000" dirty="0">
                <a:solidFill>
                  <a:srgbClr val="000000"/>
                </a:solidFill>
              </a:rPr>
              <a:t>2. List the 6 key concepts of civics and citizenship</a:t>
            </a:r>
          </a:p>
        </p:txBody>
      </p:sp>
    </p:spTree>
    <p:extLst>
      <p:ext uri="{BB962C8B-B14F-4D97-AF65-F5344CB8AC3E}">
        <p14:creationId xmlns:p14="http://schemas.microsoft.com/office/powerpoint/2010/main" val="18968305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273</Words>
  <Application>Microsoft Office PowerPoint</Application>
  <PresentationFormat>Custom</PresentationFormat>
  <Paragraphs>44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PowerPoint Presentation</vt:lpstr>
      <vt:lpstr>Democracy</vt:lpstr>
      <vt:lpstr>Democratic values</vt:lpstr>
      <vt:lpstr>The Westminster System</vt:lpstr>
      <vt:lpstr>Justice</vt:lpstr>
      <vt:lpstr>Participation</vt:lpstr>
      <vt:lpstr>Rights and responsibilities</vt:lpstr>
      <vt:lpstr>Success Criteria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Classroom expectations</dc:title>
  <dc:creator>Natasha Hawkes</dc:creator>
  <cp:lastModifiedBy>e4097773</cp:lastModifiedBy>
  <cp:revision>10</cp:revision>
  <cp:lastPrinted>2018-10-07T23:55:46Z</cp:lastPrinted>
  <dcterms:created xsi:type="dcterms:W3CDTF">2018-09-16T05:46:59Z</dcterms:created>
  <dcterms:modified xsi:type="dcterms:W3CDTF">2018-10-09T01:50:19Z</dcterms:modified>
</cp:coreProperties>
</file>
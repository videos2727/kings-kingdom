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4"/>
  </p:handoutMasterIdLst>
  <p:sldIdLst>
    <p:sldId id="267" r:id="rId2"/>
    <p:sldId id="256" r:id="rId3"/>
    <p:sldId id="257" r:id="rId4"/>
    <p:sldId id="258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</p:sldIdLst>
  <p:sldSz cx="12192000" cy="6858000"/>
  <p:notesSz cx="9931400" cy="6794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4381" cy="3410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4700" y="0"/>
            <a:ext cx="4304381" cy="3410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F946F9-F195-42DB-9D99-8DDA0F8AA429}" type="datetimeFigureOut">
              <a:rPr lang="en-AU" smtClean="0"/>
              <a:t>17/10/2018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453472"/>
            <a:ext cx="4304381" cy="341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4700" y="6453472"/>
            <a:ext cx="4304381" cy="341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2C52E-C25B-45BB-B830-446D653904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05130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17/10/2018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2460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17/10/2018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879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17/10/2018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5265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17/10/2018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393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17/10/2018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485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17/10/2018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7230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17/10/2018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8547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17/10/2018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2765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17/10/2018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2977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17/10/2018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3946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17/10/2018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8881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AF98B-3803-43BA-A2AF-C4209DB68860}" type="datetimeFigureOut">
              <a:rPr lang="en-AU" smtClean="0"/>
              <a:t>17/10/2018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7657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FzYnLI9xxw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793" y="4120308"/>
            <a:ext cx="11457541" cy="2517354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AU" dirty="0" smtClean="0"/>
              <a:t>Should </a:t>
            </a:r>
            <a:r>
              <a:rPr lang="en-AU" dirty="0"/>
              <a:t>disposable products (such as plastic cups, plates, and cutlery) that contain less than 50% of biodegradable material be banned</a:t>
            </a:r>
            <a:r>
              <a:rPr lang="en-AU" dirty="0" smtClean="0"/>
              <a:t>?</a:t>
            </a:r>
            <a:endParaRPr lang="en-AU" dirty="0"/>
          </a:p>
        </p:txBody>
      </p:sp>
      <p:pic>
        <p:nvPicPr>
          <p:cNvPr id="1026" name="Picture 2" descr="Image result for environmental issu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9131" cy="401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692308" y="6499162"/>
            <a:ext cx="34996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u="sng" dirty="0">
                <a:hlinkClick r:id="rId3"/>
              </a:rPr>
              <a:t>https://www.youtube.com/watch?v=PFzYnLI9xxw</a:t>
            </a:r>
            <a:r>
              <a:rPr lang="en-AU" sz="1200" dirty="0"/>
              <a:t> </a:t>
            </a:r>
            <a:r>
              <a:rPr lang="en-AU" sz="1200" dirty="0" smtClean="0"/>
              <a:t> </a:t>
            </a: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93033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The separation of powers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77500" lnSpcReduction="20000"/>
          </a:bodyPr>
          <a:lstStyle/>
          <a:p>
            <a:pPr algn="l"/>
            <a:r>
              <a:rPr lang="en-AU" u="sng" dirty="0" smtClean="0"/>
              <a:t>Learning intentions: </a:t>
            </a:r>
          </a:p>
          <a:p>
            <a:pPr algn="l"/>
            <a:r>
              <a:rPr lang="en-AU" dirty="0" smtClean="0"/>
              <a:t>Identify the role and composition of each branch of government.</a:t>
            </a:r>
          </a:p>
          <a:p>
            <a:pPr algn="l"/>
            <a:endParaRPr lang="en-AU" dirty="0" smtClean="0"/>
          </a:p>
          <a:p>
            <a:pPr algn="l"/>
            <a:r>
              <a:rPr lang="en-AU" u="sng" dirty="0" smtClean="0"/>
              <a:t>Success criteria:</a:t>
            </a:r>
          </a:p>
          <a:p>
            <a:pPr algn="l"/>
            <a:r>
              <a:rPr lang="en-AU" dirty="0" smtClean="0"/>
              <a:t>State the 3 branches of government, including their role and composition.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15950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The three branches of government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3000" dirty="0" smtClean="0"/>
              <a:t>There are 3 main branches of the Australian government:</a:t>
            </a:r>
          </a:p>
          <a:p>
            <a:pPr marL="0" indent="0">
              <a:lnSpc>
                <a:spcPct val="150000"/>
              </a:lnSpc>
              <a:buNone/>
            </a:pPr>
            <a:endParaRPr lang="en-AU" sz="30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AU" sz="3000" dirty="0" smtClean="0"/>
              <a:t>The parliament/legislature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AU" sz="3000" dirty="0" smtClean="0"/>
              <a:t>The executive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AU" sz="3000" dirty="0" smtClean="0"/>
              <a:t>The judiciary </a:t>
            </a:r>
            <a:endParaRPr lang="en-AU" sz="3000" dirty="0"/>
          </a:p>
        </p:txBody>
      </p:sp>
    </p:spTree>
    <p:extLst>
      <p:ext uri="{BB962C8B-B14F-4D97-AF65-F5344CB8AC3E}">
        <p14:creationId xmlns:p14="http://schemas.microsoft.com/office/powerpoint/2010/main" val="3750111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separation of powers austral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752" y="0"/>
            <a:ext cx="994203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1311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6454966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The Parliament/Legislative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AU" sz="3000" dirty="0" smtClean="0"/>
              <a:t>This </a:t>
            </a:r>
            <a:r>
              <a:rPr lang="en-AU" sz="3000" dirty="0"/>
              <a:t>is the parliament, which has the power to make new laws and to change or repeal existing laws. </a:t>
            </a:r>
            <a:endParaRPr lang="en-AU" sz="3000" dirty="0" smtClean="0"/>
          </a:p>
          <a:p>
            <a:pPr>
              <a:lnSpc>
                <a:spcPct val="150000"/>
              </a:lnSpc>
            </a:pPr>
            <a:r>
              <a:rPr lang="en-AU" sz="3000" dirty="0" smtClean="0"/>
              <a:t>It </a:t>
            </a:r>
            <a:r>
              <a:rPr lang="en-AU" sz="3000" dirty="0"/>
              <a:t>consists of two separate ‘houses’ – the House of Representatives and the Senate – together with the Governor-General as the representative of the Queen. </a:t>
            </a:r>
          </a:p>
        </p:txBody>
      </p:sp>
      <p:pic>
        <p:nvPicPr>
          <p:cNvPr id="4" name="Picture 2" descr="Image result for separation of powers australi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3" t="66024" r="48534"/>
          <a:stretch/>
        </p:blipFill>
        <p:spPr bwMode="auto">
          <a:xfrm>
            <a:off x="8292029" y="0"/>
            <a:ext cx="3899971" cy="1845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768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3722783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The Executive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673924"/>
            <a:ext cx="10515600" cy="3231117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endParaRPr lang="en-AU" sz="3000" dirty="0" smtClean="0"/>
          </a:p>
          <a:p>
            <a:pPr>
              <a:lnSpc>
                <a:spcPct val="150000"/>
              </a:lnSpc>
            </a:pPr>
            <a:r>
              <a:rPr lang="en-AU" sz="3000" dirty="0" smtClean="0"/>
              <a:t>This </a:t>
            </a:r>
            <a:r>
              <a:rPr lang="en-AU" sz="3000" dirty="0"/>
              <a:t>is the </a:t>
            </a:r>
            <a:r>
              <a:rPr lang="en-AU" sz="3000" dirty="0" smtClean="0"/>
              <a:t>branch </a:t>
            </a:r>
            <a:r>
              <a:rPr lang="en-AU" sz="3000" dirty="0"/>
              <a:t>of government with the responsibility of putting laws into action. </a:t>
            </a:r>
            <a:endParaRPr lang="en-AU" sz="3000" dirty="0" smtClean="0"/>
          </a:p>
          <a:p>
            <a:pPr>
              <a:lnSpc>
                <a:spcPct val="150000"/>
              </a:lnSpc>
            </a:pPr>
            <a:r>
              <a:rPr lang="en-AU" sz="3000" dirty="0" smtClean="0"/>
              <a:t>Executive </a:t>
            </a:r>
            <a:r>
              <a:rPr lang="en-AU" sz="3000" dirty="0"/>
              <a:t>power officially lies with the Governor-General, but is usually exercised by government ministers. </a:t>
            </a:r>
          </a:p>
        </p:txBody>
      </p:sp>
      <p:pic>
        <p:nvPicPr>
          <p:cNvPr id="4" name="Picture 2" descr="Image result for separation of powers australi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18" t="36305" b="4096"/>
          <a:stretch/>
        </p:blipFill>
        <p:spPr bwMode="auto">
          <a:xfrm>
            <a:off x="9382853" y="0"/>
            <a:ext cx="2809147" cy="269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6224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3557530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The Judiciary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66300"/>
            <a:ext cx="10515600" cy="4351338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AU" sz="3000" dirty="0"/>
              <a:t>This includes the judiciary and the </a:t>
            </a:r>
            <a:r>
              <a:rPr lang="en-AU" sz="3000" dirty="0" smtClean="0"/>
              <a:t>courts.</a:t>
            </a:r>
          </a:p>
          <a:p>
            <a:pPr>
              <a:lnSpc>
                <a:spcPct val="150000"/>
              </a:lnSpc>
            </a:pPr>
            <a:r>
              <a:rPr lang="en-AU" sz="3000" dirty="0" smtClean="0"/>
              <a:t>These are </a:t>
            </a:r>
            <a:r>
              <a:rPr lang="en-AU" sz="3000" dirty="0"/>
              <a:t>responsible for enforcing the law and settling disputes that might arise under the law. </a:t>
            </a:r>
            <a:endParaRPr lang="en-AU" sz="3000" dirty="0" smtClean="0"/>
          </a:p>
          <a:p>
            <a:pPr>
              <a:lnSpc>
                <a:spcPct val="150000"/>
              </a:lnSpc>
            </a:pPr>
            <a:r>
              <a:rPr lang="en-AU" sz="3000" dirty="0" smtClean="0"/>
              <a:t>The </a:t>
            </a:r>
            <a:r>
              <a:rPr lang="en-AU" sz="3000" dirty="0"/>
              <a:t>High Court of Australia has the power to interpret and enforce the Constitution. </a:t>
            </a:r>
          </a:p>
        </p:txBody>
      </p:sp>
      <p:pic>
        <p:nvPicPr>
          <p:cNvPr id="4" name="Picture 2" descr="Image result for separation of powers australi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6" t="15261" r="38118" b="46827"/>
          <a:stretch/>
        </p:blipFill>
        <p:spPr bwMode="auto">
          <a:xfrm>
            <a:off x="8159825" y="0"/>
            <a:ext cx="4032175" cy="2599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14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4951" y="4683737"/>
            <a:ext cx="3249058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Worksheet!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10879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5000" b="1" dirty="0" smtClean="0"/>
              <a:t>State and federal roles</a:t>
            </a:r>
            <a:endParaRPr lang="en-AU" sz="5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03575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3000" dirty="0" smtClean="0"/>
              <a:t>The Australian Constitution lists those areas of government that come under </a:t>
            </a:r>
            <a:r>
              <a:rPr lang="en-AU" sz="3000" b="1" dirty="0" smtClean="0"/>
              <a:t>federal</a:t>
            </a:r>
            <a:r>
              <a:rPr lang="en-AU" sz="3000" dirty="0" smtClean="0"/>
              <a:t> and </a:t>
            </a:r>
            <a:r>
              <a:rPr lang="en-AU" sz="3000" b="1" dirty="0" smtClean="0"/>
              <a:t>state</a:t>
            </a:r>
            <a:r>
              <a:rPr lang="en-AU" sz="3000" dirty="0" smtClean="0"/>
              <a:t> </a:t>
            </a:r>
            <a:r>
              <a:rPr lang="en-AU" sz="3000" b="1" dirty="0" smtClean="0"/>
              <a:t>responsibilities.</a:t>
            </a:r>
          </a:p>
          <a:p>
            <a:pPr marL="0" indent="0">
              <a:lnSpc>
                <a:spcPct val="150000"/>
              </a:lnSpc>
              <a:buNone/>
            </a:pPr>
            <a:endParaRPr lang="en-AU" sz="30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AU" sz="3000" dirty="0" smtClean="0"/>
              <a:t>That means that the federal government and state governments have different roles.</a:t>
            </a:r>
            <a:endParaRPr lang="en-AU" sz="3000" dirty="0"/>
          </a:p>
        </p:txBody>
      </p:sp>
      <p:pic>
        <p:nvPicPr>
          <p:cNvPr id="1026" name="Picture 2" descr="Image result for wa state governm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6029" y="4466749"/>
            <a:ext cx="3099942" cy="2324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federal government austral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2308" y="4595261"/>
            <a:ext cx="2582369" cy="2001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8326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09728"/>
            <a:ext cx="7793736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Draw this table in your notes.</a:t>
            </a:r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1115568" y="1305352"/>
          <a:ext cx="9957816" cy="5552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78908">
                  <a:extLst>
                    <a:ext uri="{9D8B030D-6E8A-4147-A177-3AD203B41FA5}">
                      <a16:colId xmlns:a16="http://schemas.microsoft.com/office/drawing/2014/main" val="1744316593"/>
                    </a:ext>
                  </a:extLst>
                </a:gridCol>
                <a:gridCol w="4978908">
                  <a:extLst>
                    <a:ext uri="{9D8B030D-6E8A-4147-A177-3AD203B41FA5}">
                      <a16:colId xmlns:a16="http://schemas.microsoft.com/office/drawing/2014/main" val="3019572021"/>
                    </a:ext>
                  </a:extLst>
                </a:gridCol>
              </a:tblGrid>
              <a:tr h="421748">
                <a:tc>
                  <a:txBody>
                    <a:bodyPr/>
                    <a:lstStyle/>
                    <a:p>
                      <a:pPr algn="ctr"/>
                      <a:r>
                        <a:rPr lang="en-AU" sz="2300" b="1" dirty="0" smtClean="0"/>
                        <a:t>FEDERAL</a:t>
                      </a:r>
                      <a:endParaRPr lang="en-AU" sz="23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00" b="1" dirty="0" smtClean="0"/>
                        <a:t>STATE</a:t>
                      </a:r>
                      <a:endParaRPr lang="en-AU" sz="23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756736"/>
                  </a:ext>
                </a:extLst>
              </a:tr>
              <a:tr h="5110688">
                <a:tc>
                  <a:txBody>
                    <a:bodyPr/>
                    <a:lstStyle/>
                    <a:p>
                      <a:pPr lvl="0" algn="ctr"/>
                      <a:endParaRPr lang="en-US" sz="2300" dirty="0" smtClean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3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33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4302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900863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Guessing game!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4000" dirty="0" smtClean="0"/>
              <a:t>Cut out the responsibilities given to you by your teacher.</a:t>
            </a:r>
          </a:p>
          <a:p>
            <a:pPr marL="0" indent="0">
              <a:buNone/>
            </a:pPr>
            <a:endParaRPr lang="en-AU" sz="4000" dirty="0"/>
          </a:p>
          <a:p>
            <a:pPr marL="0" indent="0">
              <a:buNone/>
            </a:pPr>
            <a:r>
              <a:rPr lang="en-AU" sz="4000" dirty="0" smtClean="0"/>
              <a:t>Place them in the columns you think they go under.</a:t>
            </a:r>
          </a:p>
          <a:p>
            <a:pPr marL="0" indent="0">
              <a:buNone/>
            </a:pPr>
            <a:endParaRPr lang="en-AU" sz="4000" dirty="0"/>
          </a:p>
          <a:p>
            <a:pPr marL="0" indent="0">
              <a:buNone/>
            </a:pPr>
            <a:r>
              <a:rPr lang="en-AU" sz="4000" dirty="0" smtClean="0"/>
              <a:t>DO NOT glue them down.</a:t>
            </a:r>
            <a:endParaRPr lang="en-AU" sz="4000" dirty="0"/>
          </a:p>
        </p:txBody>
      </p:sp>
      <p:pic>
        <p:nvPicPr>
          <p:cNvPr id="2050" name="Picture 2" descr="Image result for guess clip 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7939" y="4584032"/>
            <a:ext cx="1745250" cy="1848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3119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307592" y="493775"/>
          <a:ext cx="9957816" cy="58775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78908">
                  <a:extLst>
                    <a:ext uri="{9D8B030D-6E8A-4147-A177-3AD203B41FA5}">
                      <a16:colId xmlns:a16="http://schemas.microsoft.com/office/drawing/2014/main" val="1744316593"/>
                    </a:ext>
                  </a:extLst>
                </a:gridCol>
                <a:gridCol w="4978908">
                  <a:extLst>
                    <a:ext uri="{9D8B030D-6E8A-4147-A177-3AD203B41FA5}">
                      <a16:colId xmlns:a16="http://schemas.microsoft.com/office/drawing/2014/main" val="3019572021"/>
                    </a:ext>
                  </a:extLst>
                </a:gridCol>
              </a:tblGrid>
              <a:tr h="448057">
                <a:tc>
                  <a:txBody>
                    <a:bodyPr/>
                    <a:lstStyle/>
                    <a:p>
                      <a:pPr algn="ctr"/>
                      <a:r>
                        <a:rPr lang="en-AU" sz="2300" b="1" dirty="0" smtClean="0"/>
                        <a:t>FEDERAL</a:t>
                      </a:r>
                      <a:endParaRPr lang="en-AU" sz="23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00" b="1" dirty="0" smtClean="0"/>
                        <a:t>STATE</a:t>
                      </a:r>
                      <a:endParaRPr lang="en-AU" sz="23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756736"/>
                  </a:ext>
                </a:extLst>
              </a:tr>
              <a:tr h="678688">
                <a:tc>
                  <a:txBody>
                    <a:bodyPr/>
                    <a:lstStyle/>
                    <a:p>
                      <a:pPr lvl="0" algn="ctr"/>
                      <a:r>
                        <a:rPr lang="en-US" sz="2300" dirty="0" smtClean="0"/>
                        <a:t>Foreign policy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00" dirty="0" smtClean="0"/>
                        <a:t>Schools</a:t>
                      </a:r>
                      <a:endParaRPr lang="en-AU" sz="23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33377"/>
                  </a:ext>
                </a:extLst>
              </a:tr>
              <a:tr h="678688">
                <a:tc>
                  <a:txBody>
                    <a:bodyPr/>
                    <a:lstStyle/>
                    <a:p>
                      <a:pPr lvl="0" algn="ctr"/>
                      <a:r>
                        <a:rPr lang="en-US" sz="2300" dirty="0" smtClean="0"/>
                        <a:t>Currency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00" dirty="0" smtClean="0"/>
                        <a:t>Hospitals</a:t>
                      </a:r>
                      <a:endParaRPr lang="en-AU" sz="23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05513"/>
                  </a:ext>
                </a:extLst>
              </a:tr>
              <a:tr h="678688">
                <a:tc>
                  <a:txBody>
                    <a:bodyPr/>
                    <a:lstStyle/>
                    <a:p>
                      <a:pPr lvl="0" algn="ctr"/>
                      <a:r>
                        <a:rPr lang="en-US" sz="2300" dirty="0" smtClean="0"/>
                        <a:t>Immigration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00" dirty="0" smtClean="0"/>
                        <a:t>Roads and railways</a:t>
                      </a:r>
                      <a:endParaRPr lang="en-AU" sz="23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33516"/>
                  </a:ext>
                </a:extLst>
              </a:tr>
              <a:tr h="678688">
                <a:tc>
                  <a:txBody>
                    <a:bodyPr/>
                    <a:lstStyle/>
                    <a:p>
                      <a:pPr lvl="0" algn="ctr"/>
                      <a:r>
                        <a:rPr lang="en-US" sz="2300" dirty="0" smtClean="0"/>
                        <a:t>Defence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00" dirty="0" smtClean="0"/>
                        <a:t>Police</a:t>
                      </a:r>
                      <a:endParaRPr lang="en-AU" sz="23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580459"/>
                  </a:ext>
                </a:extLst>
              </a:tr>
              <a:tr h="678688">
                <a:tc>
                  <a:txBody>
                    <a:bodyPr/>
                    <a:lstStyle/>
                    <a:p>
                      <a:pPr lvl="0" algn="ctr"/>
                      <a:r>
                        <a:rPr lang="en-US" sz="2300" dirty="0" smtClean="0"/>
                        <a:t>Weights and measures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00" dirty="0" smtClean="0"/>
                        <a:t>Mining</a:t>
                      </a:r>
                      <a:r>
                        <a:rPr lang="en-AU" sz="2300" baseline="0" dirty="0" smtClean="0"/>
                        <a:t> and agriculture</a:t>
                      </a:r>
                      <a:endParaRPr lang="en-AU" sz="23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03457"/>
                  </a:ext>
                </a:extLst>
              </a:tr>
              <a:tr h="678688">
                <a:tc>
                  <a:txBody>
                    <a:bodyPr/>
                    <a:lstStyle/>
                    <a:p>
                      <a:pPr lvl="0" algn="ctr"/>
                      <a:r>
                        <a:rPr lang="en-US" sz="2300" dirty="0" smtClean="0"/>
                        <a:t>Social security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00" dirty="0" smtClean="0"/>
                        <a:t>Prisons</a:t>
                      </a:r>
                      <a:endParaRPr lang="en-AU" sz="23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339200"/>
                  </a:ext>
                </a:extLst>
              </a:tr>
              <a:tr h="678688">
                <a:tc>
                  <a:txBody>
                    <a:bodyPr/>
                    <a:lstStyle/>
                    <a:p>
                      <a:pPr lvl="0" algn="ctr"/>
                      <a:r>
                        <a:rPr lang="en-US" sz="2300" dirty="0" smtClean="0"/>
                        <a:t>Trade and commerce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00" dirty="0" smtClean="0"/>
                        <a:t>Public transport</a:t>
                      </a:r>
                      <a:endParaRPr lang="en-AU" sz="23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8633"/>
                  </a:ext>
                </a:extLst>
              </a:tr>
              <a:tr h="6786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dirty="0" smtClean="0"/>
                        <a:t>Postal and communication services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00" dirty="0" smtClean="0"/>
                        <a:t>Utilities such as electricity and water</a:t>
                      </a:r>
                      <a:endParaRPr lang="en-AU" sz="23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891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524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322</Words>
  <Application>Microsoft Office PowerPoint</Application>
  <PresentationFormat>Widescreen</PresentationFormat>
  <Paragraphs>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Should disposable products (such as plastic cups, plates, and cutlery) that contain less than 50% of biodegradable material be banned?</vt:lpstr>
      <vt:lpstr>The separation of powers</vt:lpstr>
      <vt:lpstr>The three branches of government</vt:lpstr>
      <vt:lpstr>PowerPoint Presentation</vt:lpstr>
      <vt:lpstr>The Parliament/Legislative</vt:lpstr>
      <vt:lpstr>The Executive</vt:lpstr>
      <vt:lpstr>The Judiciary</vt:lpstr>
      <vt:lpstr>Worksheet!</vt:lpstr>
      <vt:lpstr>State and federal roles</vt:lpstr>
      <vt:lpstr>Draw this table in your notes.</vt:lpstr>
      <vt:lpstr>Guessing game!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separation of powers</dc:title>
  <dc:creator>HAWKES Natasha [Narrogin Senior High School]</dc:creator>
  <cp:lastModifiedBy>HAWKES Natasha [Narrogin Senior High School]</cp:lastModifiedBy>
  <cp:revision>12</cp:revision>
  <cp:lastPrinted>2018-10-16T07:49:09Z</cp:lastPrinted>
  <dcterms:created xsi:type="dcterms:W3CDTF">2018-10-15T04:41:27Z</dcterms:created>
  <dcterms:modified xsi:type="dcterms:W3CDTF">2018-10-17T02:48:52Z</dcterms:modified>
</cp:coreProperties>
</file>
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handoutMasterIdLst>
    <p:handoutMasterId r:id="rId12"/>
  </p:handoutMasterIdLst>
  <p:sldIdLst>
    <p:sldId id="259" r:id="rId3"/>
    <p:sldId id="260" r:id="rId4"/>
    <p:sldId id="261" r:id="rId5"/>
    <p:sldId id="262" r:id="rId6"/>
    <p:sldId id="263" r:id="rId7"/>
    <p:sldId id="264" r:id="rId8"/>
    <p:sldId id="267" r:id="rId9"/>
    <p:sldId id="265" r:id="rId10"/>
    <p:sldId id="266" r:id="rId11"/>
  </p:sldIdLst>
  <p:sldSz cx="12192000" cy="6858000"/>
  <p:notesSz cx="9931400" cy="6794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05" d="100"/>
          <a:sy n="105" d="100"/>
        </p:scale>
        <p:origin x="120" y="2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3607" cy="34090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5625495" y="0"/>
            <a:ext cx="4303607" cy="340905"/>
          </a:xfrm>
          <a:prstGeom prst="rect">
            <a:avLst/>
          </a:prstGeom>
        </p:spPr>
        <p:txBody>
          <a:bodyPr vert="horz" lIns="91440" tIns="45720" rIns="91440" bIns="45720" rtlCol="0"/>
          <a:lstStyle>
            <a:lvl1pPr algn="r">
              <a:defRPr sz="1200"/>
            </a:lvl1pPr>
          </a:lstStyle>
          <a:p>
            <a:fld id="{73EA7C19-22D6-4ABE-85AF-7865481E7CFE}" type="datetimeFigureOut">
              <a:rPr lang="en-AU" smtClean="0"/>
              <a:t>15/10/2018</a:t>
            </a:fld>
            <a:endParaRPr lang="en-AU"/>
          </a:p>
        </p:txBody>
      </p:sp>
      <p:sp>
        <p:nvSpPr>
          <p:cNvPr id="4" name="Footer Placeholder 3"/>
          <p:cNvSpPr>
            <a:spLocks noGrp="1"/>
          </p:cNvSpPr>
          <p:nvPr>
            <p:ph type="ftr" sz="quarter" idx="2"/>
          </p:nvPr>
        </p:nvSpPr>
        <p:spPr>
          <a:xfrm>
            <a:off x="0" y="6453596"/>
            <a:ext cx="4303607" cy="340904"/>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5625495" y="6453596"/>
            <a:ext cx="4303607" cy="340904"/>
          </a:xfrm>
          <a:prstGeom prst="rect">
            <a:avLst/>
          </a:prstGeom>
        </p:spPr>
        <p:txBody>
          <a:bodyPr vert="horz" lIns="91440" tIns="45720" rIns="91440" bIns="45720" rtlCol="0" anchor="b"/>
          <a:lstStyle>
            <a:lvl1pPr algn="r">
              <a:defRPr sz="1200"/>
            </a:lvl1pPr>
          </a:lstStyle>
          <a:p>
            <a:fld id="{8F524C38-C178-4E44-8BF2-4AC5DD9B6664}" type="slidenum">
              <a:rPr lang="en-AU" smtClean="0"/>
              <a:t>‹#›</a:t>
            </a:fld>
            <a:endParaRPr lang="en-AU"/>
          </a:p>
        </p:txBody>
      </p:sp>
    </p:spTree>
    <p:extLst>
      <p:ext uri="{BB962C8B-B14F-4D97-AF65-F5344CB8AC3E}">
        <p14:creationId xmlns:p14="http://schemas.microsoft.com/office/powerpoint/2010/main" val="362024147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621B7D6-22BB-4373-8D11-79ACE13FC3F7}" type="datetimeFigureOut">
              <a:rPr lang="en-AU" smtClean="0"/>
              <a:t>15/10/2018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405169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21B7D6-22BB-4373-8D11-79ACE13FC3F7}" type="datetimeFigureOut">
              <a:rPr lang="en-AU" smtClean="0"/>
              <a:t>15/10/2018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58496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621B7D6-22BB-4373-8D11-79ACE13FC3F7}" type="datetimeFigureOut">
              <a:rPr lang="en-AU" smtClean="0"/>
              <a:t>15/10/2018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2883928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621B7D6-22BB-4373-8D11-79ACE13FC3F7}" type="datetimeFigureOut">
              <a:rPr lang="en-AU" smtClean="0"/>
              <a:t>15/10/2018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2720180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621B7D6-22BB-4373-8D11-79ACE13FC3F7}" type="datetimeFigureOut">
              <a:rPr lang="en-AU" smtClean="0"/>
              <a:t>15/10/2018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2860674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621B7D6-22BB-4373-8D11-79ACE13FC3F7}" type="datetimeFigureOut">
              <a:rPr lang="en-AU" smtClean="0"/>
              <a:t>15/10/2018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2079766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21B7D6-22BB-4373-8D11-79ACE13FC3F7}" type="datetimeFigureOut">
              <a:rPr lang="en-AU" smtClean="0"/>
              <a:t>15/10/2018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2910801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621B7D6-22BB-4373-8D11-79ACE13FC3F7}" type="datetimeFigureOut">
              <a:rPr lang="en-AU" smtClean="0"/>
              <a:t>15/10/2018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3763577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621B7D6-22BB-4373-8D11-79ACE13FC3F7}" type="datetimeFigureOut">
              <a:rPr lang="en-AU" smtClean="0"/>
              <a:t>15/10/2018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3943452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21B7D6-22BB-4373-8D11-79ACE13FC3F7}" type="datetimeFigureOut">
              <a:rPr lang="en-AU" smtClean="0"/>
              <a:t>15/10/2018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2752716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21B7D6-22BB-4373-8D11-79ACE13FC3F7}" type="datetimeFigureOut">
              <a:rPr lang="en-AU" smtClean="0"/>
              <a:t>15/10/2018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D93FA9-D89D-4A1F-A960-117F792C29D7}" type="slidenum">
              <a:rPr lang="en-AU" smtClean="0"/>
              <a:t>‹#›</a:t>
            </a:fld>
            <a:endParaRPr lang="en-AU"/>
          </a:p>
        </p:txBody>
      </p:sp>
    </p:spTree>
    <p:extLst>
      <p:ext uri="{BB962C8B-B14F-4D97-AF65-F5344CB8AC3E}">
        <p14:creationId xmlns:p14="http://schemas.microsoft.com/office/powerpoint/2010/main" val="2191768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2696963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921001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665232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endParaRPr lang="en-AU">
              <a:solidFill>
                <a:prstClr val="black">
                  <a:tint val="75000"/>
                </a:prstClr>
              </a:solidFill>
            </a:endParaRPr>
          </a:p>
        </p:txBody>
      </p:sp>
      <p:sp>
        <p:nvSpPr>
          <p:cNvPr id="7" name="Slide Number Placeholder 6"/>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507323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8" name="Footer Placeholder 7"/>
          <p:cNvSpPr>
            <a:spLocks noGrp="1"/>
          </p:cNvSpPr>
          <p:nvPr>
            <p:ph type="ftr" sz="quarter" idx="11"/>
          </p:nvPr>
        </p:nvSpPr>
        <p:spPr/>
        <p:txBody>
          <a:bodyPr/>
          <a:lstStyle/>
          <a:p>
            <a:endParaRPr lang="en-AU">
              <a:solidFill>
                <a:prstClr val="black">
                  <a:tint val="75000"/>
                </a:prstClr>
              </a:solidFill>
            </a:endParaRPr>
          </a:p>
        </p:txBody>
      </p:sp>
      <p:sp>
        <p:nvSpPr>
          <p:cNvPr id="9" name="Slide Number Placeholder 8"/>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928957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4" name="Footer Placeholder 3"/>
          <p:cNvSpPr>
            <a:spLocks noGrp="1"/>
          </p:cNvSpPr>
          <p:nvPr>
            <p:ph type="ftr" sz="quarter" idx="11"/>
          </p:nvPr>
        </p:nvSpPr>
        <p:spPr/>
        <p:txBody>
          <a:bodyPr/>
          <a:lstStyle/>
          <a:p>
            <a:endParaRPr lang="en-AU">
              <a:solidFill>
                <a:prstClr val="black">
                  <a:tint val="75000"/>
                </a:prstClr>
              </a:solidFill>
            </a:endParaRPr>
          </a:p>
        </p:txBody>
      </p:sp>
      <p:sp>
        <p:nvSpPr>
          <p:cNvPr id="5" name="Slide Number Placeholder 4"/>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483374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3" name="Footer Placeholder 2"/>
          <p:cNvSpPr>
            <a:spLocks noGrp="1"/>
          </p:cNvSpPr>
          <p:nvPr>
            <p:ph type="ftr" sz="quarter" idx="11"/>
          </p:nvPr>
        </p:nvSpPr>
        <p:spPr/>
        <p:txBody>
          <a:bodyPr/>
          <a:lstStyle/>
          <a:p>
            <a:endParaRPr lang="en-AU">
              <a:solidFill>
                <a:prstClr val="black">
                  <a:tint val="75000"/>
                </a:prstClr>
              </a:solidFill>
            </a:endParaRPr>
          </a:p>
        </p:txBody>
      </p:sp>
      <p:sp>
        <p:nvSpPr>
          <p:cNvPr id="4" name="Slide Number Placeholder 3"/>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5203510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endParaRPr lang="en-AU">
              <a:solidFill>
                <a:prstClr val="black">
                  <a:tint val="75000"/>
                </a:prstClr>
              </a:solidFill>
            </a:endParaRPr>
          </a:p>
        </p:txBody>
      </p:sp>
      <p:sp>
        <p:nvSpPr>
          <p:cNvPr id="7" name="Slide Number Placeholder 6"/>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1622772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endParaRPr lang="en-AU">
              <a:solidFill>
                <a:prstClr val="black">
                  <a:tint val="75000"/>
                </a:prstClr>
              </a:solidFill>
            </a:endParaRPr>
          </a:p>
        </p:txBody>
      </p:sp>
      <p:sp>
        <p:nvSpPr>
          <p:cNvPr id="7" name="Slide Number Placeholder 6"/>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23633643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9798985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513447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21B7D6-22BB-4373-8D11-79ACE13FC3F7}" type="datetimeFigureOut">
              <a:rPr lang="en-AU" smtClean="0"/>
              <a:t>15/10/2018</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D93FA9-D89D-4A1F-A960-117F792C29D7}" type="slidenum">
              <a:rPr lang="en-AU" smtClean="0"/>
              <a:t>‹#›</a:t>
            </a:fld>
            <a:endParaRPr lang="en-AU"/>
          </a:p>
        </p:txBody>
      </p:sp>
    </p:spTree>
    <p:extLst>
      <p:ext uri="{BB962C8B-B14F-4D97-AF65-F5344CB8AC3E}">
        <p14:creationId xmlns:p14="http://schemas.microsoft.com/office/powerpoint/2010/main" val="1763921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21B7D6-22BB-4373-8D11-79ACE13FC3F7}" type="datetimeFigureOut">
              <a:rPr lang="en-AU" smtClean="0">
                <a:solidFill>
                  <a:prstClr val="black">
                    <a:tint val="75000"/>
                  </a:prstClr>
                </a:solidFill>
              </a:rPr>
              <a:pPr/>
              <a:t>15/10/2018</a:t>
            </a:fld>
            <a:endParaRPr lang="en-AU">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D93FA9-D89D-4A1F-A960-117F792C29D7}"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409415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268" y="0"/>
            <a:ext cx="10515600" cy="1325563"/>
          </a:xfrm>
          <a:solidFill>
            <a:schemeClr val="accent2">
              <a:lumMod val="20000"/>
              <a:lumOff val="80000"/>
            </a:schemeClr>
          </a:solidFill>
        </p:spPr>
        <p:txBody>
          <a:bodyPr/>
          <a:lstStyle/>
          <a:p>
            <a:pPr algn="ctr"/>
            <a:r>
              <a:rPr lang="en-AU" dirty="0" smtClean="0"/>
              <a:t>How do we change the Constitution?</a:t>
            </a:r>
            <a:endParaRPr lang="en-AU" dirty="0"/>
          </a:p>
        </p:txBody>
      </p:sp>
      <p:sp>
        <p:nvSpPr>
          <p:cNvPr id="15" name="TextBox 14"/>
          <p:cNvSpPr txBox="1"/>
          <p:nvPr/>
        </p:nvSpPr>
        <p:spPr>
          <a:xfrm>
            <a:off x="319489" y="1564395"/>
            <a:ext cx="11512627" cy="4893647"/>
          </a:xfrm>
          <a:prstGeom prst="rect">
            <a:avLst/>
          </a:prstGeom>
          <a:noFill/>
        </p:spPr>
        <p:txBody>
          <a:bodyPr wrap="square" rtlCol="0">
            <a:spAutoFit/>
          </a:bodyPr>
          <a:lstStyle/>
          <a:p>
            <a:r>
              <a:rPr lang="en-AU" sz="2400" dirty="0" smtClean="0"/>
              <a:t>Steps:</a:t>
            </a:r>
          </a:p>
          <a:p>
            <a:endParaRPr lang="en-AU" sz="2400" dirty="0"/>
          </a:p>
          <a:p>
            <a:r>
              <a:rPr lang="en-AU" sz="2400" dirty="0" smtClean="0"/>
              <a:t>1.  </a:t>
            </a:r>
          </a:p>
          <a:p>
            <a:endParaRPr lang="en-AU" sz="2400" dirty="0"/>
          </a:p>
          <a:p>
            <a:r>
              <a:rPr lang="en-AU" sz="2400" dirty="0" smtClean="0"/>
              <a:t>2.  </a:t>
            </a:r>
          </a:p>
          <a:p>
            <a:r>
              <a:rPr lang="en-AU" sz="2400" dirty="0"/>
              <a:t> </a:t>
            </a:r>
            <a:endParaRPr lang="en-AU" sz="2400" dirty="0" smtClean="0"/>
          </a:p>
          <a:p>
            <a:r>
              <a:rPr lang="en-AU" sz="2400" dirty="0" smtClean="0"/>
              <a:t>3.  </a:t>
            </a:r>
          </a:p>
          <a:p>
            <a:endParaRPr lang="en-AU" sz="2400" dirty="0"/>
          </a:p>
          <a:p>
            <a:r>
              <a:rPr lang="en-AU" sz="2400" dirty="0" smtClean="0"/>
              <a:t>4.  </a:t>
            </a:r>
          </a:p>
          <a:p>
            <a:endParaRPr lang="en-AU" sz="2400" dirty="0"/>
          </a:p>
          <a:p>
            <a:r>
              <a:rPr lang="en-AU" sz="2400" dirty="0" smtClean="0"/>
              <a:t>5.  </a:t>
            </a:r>
          </a:p>
          <a:p>
            <a:endParaRPr lang="en-AU" sz="2400" dirty="0"/>
          </a:p>
          <a:p>
            <a:r>
              <a:rPr lang="en-AU" sz="2400" dirty="0" smtClean="0"/>
              <a:t>6.  </a:t>
            </a:r>
            <a:endParaRPr lang="en-AU" sz="2400" dirty="0"/>
          </a:p>
        </p:txBody>
      </p:sp>
    </p:spTree>
    <p:extLst>
      <p:ext uri="{BB962C8B-B14F-4D97-AF65-F5344CB8AC3E}">
        <p14:creationId xmlns:p14="http://schemas.microsoft.com/office/powerpoint/2010/main" val="880072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Definition</a:t>
            </a:r>
            <a:endParaRPr lang="en-AU" dirty="0"/>
          </a:p>
        </p:txBody>
      </p:sp>
      <p:sp>
        <p:nvSpPr>
          <p:cNvPr id="3" name="Content Placeholder 2"/>
          <p:cNvSpPr>
            <a:spLocks noGrp="1"/>
          </p:cNvSpPr>
          <p:nvPr>
            <p:ph idx="1"/>
          </p:nvPr>
        </p:nvSpPr>
        <p:spPr>
          <a:xfrm>
            <a:off x="838200" y="2105307"/>
            <a:ext cx="10515600" cy="4351338"/>
          </a:xfrm>
          <a:ln>
            <a:solidFill>
              <a:schemeClr val="tx1"/>
            </a:solidFill>
          </a:ln>
        </p:spPr>
        <p:txBody>
          <a:bodyPr>
            <a:normAutofit/>
          </a:bodyPr>
          <a:lstStyle/>
          <a:p>
            <a:pPr marL="0" indent="0">
              <a:lnSpc>
                <a:spcPct val="150000"/>
              </a:lnSpc>
              <a:buNone/>
            </a:pPr>
            <a:r>
              <a:rPr lang="en-AU" sz="5000" dirty="0" smtClean="0"/>
              <a:t>A </a:t>
            </a:r>
            <a:r>
              <a:rPr lang="en-AU" sz="5000" b="1" dirty="0" smtClean="0"/>
              <a:t>referendum </a:t>
            </a:r>
            <a:r>
              <a:rPr lang="en-AU" sz="5000" dirty="0" smtClean="0"/>
              <a:t>is a vote of the Australian electors on a proposed change to the Constitution.</a:t>
            </a:r>
            <a:endParaRPr lang="en-AU" sz="5000" dirty="0"/>
          </a:p>
        </p:txBody>
      </p:sp>
      <p:pic>
        <p:nvPicPr>
          <p:cNvPr id="1026" name="Picture 2" descr="Image result for yes n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5501" y="0"/>
            <a:ext cx="3295723" cy="1883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723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Western Australian daylight saving referendum, 2009</a:t>
            </a:r>
          </a:p>
        </p:txBody>
      </p:sp>
      <p:sp>
        <p:nvSpPr>
          <p:cNvPr id="3" name="Content Placeholder 2"/>
          <p:cNvSpPr>
            <a:spLocks noGrp="1"/>
          </p:cNvSpPr>
          <p:nvPr>
            <p:ph idx="1"/>
          </p:nvPr>
        </p:nvSpPr>
        <p:spPr>
          <a:xfrm>
            <a:off x="838200" y="2104221"/>
            <a:ext cx="10515600" cy="4753779"/>
          </a:xfrm>
        </p:spPr>
        <p:txBody>
          <a:bodyPr>
            <a:noAutofit/>
          </a:bodyPr>
          <a:lstStyle/>
          <a:p>
            <a:pPr marL="0" indent="0">
              <a:lnSpc>
                <a:spcPct val="150000"/>
              </a:lnSpc>
              <a:buNone/>
            </a:pPr>
            <a:r>
              <a:rPr lang="en-AU" sz="3400" dirty="0" smtClean="0"/>
              <a:t>The 2009 Western Australian daylight savings referendum was held on 16 May 2009 in the Australian state of Western Australia to decide if daylight saving time should be adopted. It was the fourth such proposal which had been put to Western Australian voters and followed a three-year trial period.</a:t>
            </a:r>
            <a:endParaRPr lang="en-AU" sz="3400" dirty="0"/>
          </a:p>
        </p:txBody>
      </p:sp>
      <p:pic>
        <p:nvPicPr>
          <p:cNvPr id="2050" name="Picture 2" descr="Image result for daylight sav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6033" y="82445"/>
            <a:ext cx="2832215" cy="1890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4338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76" y="1682496"/>
            <a:ext cx="10515600" cy="4800600"/>
          </a:xfrm>
        </p:spPr>
        <p:txBody>
          <a:bodyPr>
            <a:normAutofit fontScale="90000"/>
          </a:bodyPr>
          <a:lstStyle/>
          <a:p>
            <a:pPr>
              <a:lnSpc>
                <a:spcPct val="150000"/>
              </a:lnSpc>
            </a:pPr>
            <a:r>
              <a:rPr lang="en-AU" dirty="0"/>
              <a:t>Are you in favour of daylight saving being introduced in Western Australia by standard time in the State being advanced one hour from the last Sunday in October 2009 until the last Sunday in March 2010 and in similar fashion for each following year?</a:t>
            </a:r>
          </a:p>
        </p:txBody>
      </p:sp>
      <p:pic>
        <p:nvPicPr>
          <p:cNvPr id="5" name="Picture 4"/>
          <p:cNvPicPr>
            <a:picLocks noChangeAspect="1"/>
          </p:cNvPicPr>
          <p:nvPr/>
        </p:nvPicPr>
        <p:blipFill>
          <a:blip r:embed="rId2"/>
          <a:stretch>
            <a:fillRect/>
          </a:stretch>
        </p:blipFill>
        <p:spPr>
          <a:xfrm>
            <a:off x="3962971" y="228600"/>
            <a:ext cx="4010025" cy="1143000"/>
          </a:xfrm>
          <a:prstGeom prst="rect">
            <a:avLst/>
          </a:prstGeom>
        </p:spPr>
      </p:pic>
    </p:spTree>
    <p:extLst>
      <p:ext uri="{BB962C8B-B14F-4D97-AF65-F5344CB8AC3E}">
        <p14:creationId xmlns:p14="http://schemas.microsoft.com/office/powerpoint/2010/main" val="3443735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Referendum worksheet!</a:t>
            </a:r>
            <a:endParaRPr lang="en-AU" dirty="0"/>
          </a:p>
        </p:txBody>
      </p:sp>
      <p:sp>
        <p:nvSpPr>
          <p:cNvPr id="3" name="Content Placeholder 2"/>
          <p:cNvSpPr>
            <a:spLocks noGrp="1"/>
          </p:cNvSpPr>
          <p:nvPr>
            <p:ph idx="1"/>
          </p:nvPr>
        </p:nvSpPr>
        <p:spPr>
          <a:xfrm>
            <a:off x="838200" y="4846319"/>
            <a:ext cx="10515600" cy="1330643"/>
          </a:xfrm>
        </p:spPr>
        <p:txBody>
          <a:bodyPr/>
          <a:lstStyle/>
          <a:p>
            <a:pPr marL="0" indent="0">
              <a:buNone/>
            </a:pPr>
            <a:r>
              <a:rPr lang="en-AU" dirty="0" smtClean="0"/>
              <a:t>Complete the worksheet or it is homework!</a:t>
            </a:r>
            <a:endParaRPr lang="en-AU" dirty="0"/>
          </a:p>
        </p:txBody>
      </p:sp>
      <p:pic>
        <p:nvPicPr>
          <p:cNvPr id="4098" name="Picture 2" descr="Image result for think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7657" y="1164017"/>
            <a:ext cx="3682301" cy="3682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2730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20000"/>
              <a:lumOff val="80000"/>
            </a:schemeClr>
          </a:solidFill>
        </p:spPr>
        <p:txBody>
          <a:bodyPr>
            <a:normAutofit/>
          </a:bodyPr>
          <a:lstStyle/>
          <a:p>
            <a:r>
              <a:rPr lang="en-AU" sz="5000" b="1" dirty="0" smtClean="0"/>
              <a:t>State and federal roles</a:t>
            </a:r>
            <a:endParaRPr lang="en-AU" sz="5000" b="1" dirty="0"/>
          </a:p>
        </p:txBody>
      </p:sp>
      <p:sp>
        <p:nvSpPr>
          <p:cNvPr id="3" name="Content Placeholder 2"/>
          <p:cNvSpPr>
            <a:spLocks noGrp="1"/>
          </p:cNvSpPr>
          <p:nvPr>
            <p:ph idx="1"/>
          </p:nvPr>
        </p:nvSpPr>
        <p:spPr>
          <a:xfrm>
            <a:off x="838200" y="1825625"/>
            <a:ext cx="10515600" cy="3203575"/>
          </a:xfrm>
          <a:solidFill>
            <a:schemeClr val="accent1">
              <a:lumMod val="20000"/>
              <a:lumOff val="80000"/>
            </a:schemeClr>
          </a:solidFill>
        </p:spPr>
        <p:txBody>
          <a:bodyPr>
            <a:normAutofit fontScale="92500" lnSpcReduction="20000"/>
          </a:bodyPr>
          <a:lstStyle/>
          <a:p>
            <a:pPr marL="0" indent="0">
              <a:lnSpc>
                <a:spcPct val="150000"/>
              </a:lnSpc>
              <a:buNone/>
            </a:pPr>
            <a:r>
              <a:rPr lang="en-AU" sz="3000" dirty="0" smtClean="0"/>
              <a:t>The Australian Constitution lists those areas of government that come under </a:t>
            </a:r>
            <a:r>
              <a:rPr lang="en-AU" sz="3000" b="1" dirty="0" smtClean="0"/>
              <a:t>federal</a:t>
            </a:r>
            <a:r>
              <a:rPr lang="en-AU" sz="3000" dirty="0" smtClean="0"/>
              <a:t> and </a:t>
            </a:r>
            <a:r>
              <a:rPr lang="en-AU" sz="3000" b="1" dirty="0" smtClean="0"/>
              <a:t>state</a:t>
            </a:r>
            <a:r>
              <a:rPr lang="en-AU" sz="3000" dirty="0" smtClean="0"/>
              <a:t> </a:t>
            </a:r>
            <a:r>
              <a:rPr lang="en-AU" sz="3000" b="1" dirty="0" smtClean="0"/>
              <a:t>responsibilities.</a:t>
            </a:r>
          </a:p>
          <a:p>
            <a:pPr marL="0" indent="0">
              <a:lnSpc>
                <a:spcPct val="150000"/>
              </a:lnSpc>
              <a:buNone/>
            </a:pPr>
            <a:endParaRPr lang="en-AU" sz="3000" b="1" dirty="0"/>
          </a:p>
          <a:p>
            <a:pPr marL="0" indent="0">
              <a:lnSpc>
                <a:spcPct val="150000"/>
              </a:lnSpc>
              <a:buNone/>
            </a:pPr>
            <a:r>
              <a:rPr lang="en-AU" sz="3000" dirty="0" smtClean="0"/>
              <a:t>That means that the federal government and state governments have different roles.</a:t>
            </a:r>
            <a:endParaRPr lang="en-AU" sz="3000" dirty="0"/>
          </a:p>
        </p:txBody>
      </p:sp>
      <p:pic>
        <p:nvPicPr>
          <p:cNvPr id="1026" name="Picture 2" descr="Image result for wa state govern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029" y="4466749"/>
            <a:ext cx="3099942" cy="232495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federal government australi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92308" y="4595261"/>
            <a:ext cx="2582369" cy="2001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574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304" y="109728"/>
            <a:ext cx="7793736" cy="1325563"/>
          </a:xfrm>
        </p:spPr>
        <p:txBody>
          <a:bodyPr/>
          <a:lstStyle/>
          <a:p>
            <a:r>
              <a:rPr lang="en-AU" dirty="0" smtClean="0"/>
              <a:t>Draw this table in your notes.</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2496193681"/>
              </p:ext>
            </p:extLst>
          </p:nvPr>
        </p:nvGraphicFramePr>
        <p:xfrm>
          <a:off x="1115568" y="1305352"/>
          <a:ext cx="9957816" cy="5552648"/>
        </p:xfrm>
        <a:graphic>
          <a:graphicData uri="http://schemas.openxmlformats.org/drawingml/2006/table">
            <a:tbl>
              <a:tblPr firstRow="1" bandRow="1">
                <a:tableStyleId>{5940675A-B579-460E-94D1-54222C63F5DA}</a:tableStyleId>
              </a:tblPr>
              <a:tblGrid>
                <a:gridCol w="4978908">
                  <a:extLst>
                    <a:ext uri="{9D8B030D-6E8A-4147-A177-3AD203B41FA5}">
                      <a16:colId xmlns:a16="http://schemas.microsoft.com/office/drawing/2014/main" val="1744316593"/>
                    </a:ext>
                  </a:extLst>
                </a:gridCol>
                <a:gridCol w="4978908">
                  <a:extLst>
                    <a:ext uri="{9D8B030D-6E8A-4147-A177-3AD203B41FA5}">
                      <a16:colId xmlns:a16="http://schemas.microsoft.com/office/drawing/2014/main" val="3019572021"/>
                    </a:ext>
                  </a:extLst>
                </a:gridCol>
              </a:tblGrid>
              <a:tr h="421748">
                <a:tc>
                  <a:txBody>
                    <a:bodyPr/>
                    <a:lstStyle/>
                    <a:p>
                      <a:pPr algn="ctr"/>
                      <a:r>
                        <a:rPr lang="en-AU" sz="2300" b="1" dirty="0" smtClean="0"/>
                        <a:t>FEDERAL</a:t>
                      </a:r>
                      <a:endParaRPr lang="en-AU" sz="2300" b="1" dirty="0"/>
                    </a:p>
                  </a:txBody>
                  <a:tcPr>
                    <a:solidFill>
                      <a:schemeClr val="bg1"/>
                    </a:solidFill>
                  </a:tcPr>
                </a:tc>
                <a:tc>
                  <a:txBody>
                    <a:bodyPr/>
                    <a:lstStyle/>
                    <a:p>
                      <a:pPr algn="ctr"/>
                      <a:r>
                        <a:rPr lang="en-AU" sz="2300" b="1" dirty="0" smtClean="0"/>
                        <a:t>STATE</a:t>
                      </a:r>
                      <a:endParaRPr lang="en-AU" sz="2300" b="1" dirty="0"/>
                    </a:p>
                  </a:txBody>
                  <a:tcPr>
                    <a:solidFill>
                      <a:schemeClr val="bg1"/>
                    </a:solidFill>
                  </a:tcPr>
                </a:tc>
                <a:extLst>
                  <a:ext uri="{0D108BD9-81ED-4DB2-BD59-A6C34878D82A}">
                    <a16:rowId xmlns:a16="http://schemas.microsoft.com/office/drawing/2014/main" val="4058756736"/>
                  </a:ext>
                </a:extLst>
              </a:tr>
              <a:tr h="5110688">
                <a:tc>
                  <a:txBody>
                    <a:bodyPr/>
                    <a:lstStyle/>
                    <a:p>
                      <a:pPr lvl="0" algn="ctr"/>
                      <a:endParaRPr lang="en-US" sz="2300" dirty="0" smtClean="0"/>
                    </a:p>
                  </a:txBody>
                  <a:tcPr>
                    <a:noFill/>
                  </a:tcPr>
                </a:tc>
                <a:tc>
                  <a:txBody>
                    <a:bodyPr/>
                    <a:lstStyle/>
                    <a:p>
                      <a:pPr algn="ctr"/>
                      <a:endParaRPr lang="en-AU" sz="2300" dirty="0"/>
                    </a:p>
                  </a:txBody>
                  <a:tcPr>
                    <a:noFill/>
                  </a:tcPr>
                </a:tc>
                <a:extLst>
                  <a:ext uri="{0D108BD9-81ED-4DB2-BD59-A6C34878D82A}">
                    <a16:rowId xmlns:a16="http://schemas.microsoft.com/office/drawing/2014/main" val="256933377"/>
                  </a:ext>
                </a:extLst>
              </a:tr>
            </a:tbl>
          </a:graphicData>
        </a:graphic>
      </p:graphicFrame>
    </p:spTree>
    <p:extLst>
      <p:ext uri="{BB962C8B-B14F-4D97-AF65-F5344CB8AC3E}">
        <p14:creationId xmlns:p14="http://schemas.microsoft.com/office/powerpoint/2010/main" val="1344739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Guessing game!</a:t>
            </a:r>
            <a:endParaRPr lang="en-AU" dirty="0"/>
          </a:p>
        </p:txBody>
      </p:sp>
      <p:sp>
        <p:nvSpPr>
          <p:cNvPr id="3" name="Content Placeholder 2"/>
          <p:cNvSpPr>
            <a:spLocks noGrp="1"/>
          </p:cNvSpPr>
          <p:nvPr>
            <p:ph idx="1"/>
          </p:nvPr>
        </p:nvSpPr>
        <p:spPr/>
        <p:txBody>
          <a:bodyPr/>
          <a:lstStyle/>
          <a:p>
            <a:pPr marL="0" indent="0">
              <a:buNone/>
            </a:pPr>
            <a:r>
              <a:rPr lang="en-AU" dirty="0" smtClean="0"/>
              <a:t>Cut out the responsibilities given to you by your teacher.</a:t>
            </a:r>
          </a:p>
          <a:p>
            <a:pPr marL="0" indent="0">
              <a:buNone/>
            </a:pPr>
            <a:endParaRPr lang="en-AU" dirty="0"/>
          </a:p>
          <a:p>
            <a:pPr marL="0" indent="0">
              <a:buNone/>
            </a:pPr>
            <a:r>
              <a:rPr lang="en-AU" dirty="0" smtClean="0"/>
              <a:t>Place them in the columns you think they go under.</a:t>
            </a:r>
            <a:endParaRPr lang="en-AU" dirty="0"/>
          </a:p>
        </p:txBody>
      </p:sp>
      <p:pic>
        <p:nvPicPr>
          <p:cNvPr id="2050" name="Picture 2" descr="Image result for guess clip 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3325" y="3384932"/>
            <a:ext cx="2877201" cy="3047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0022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5064108"/>
              </p:ext>
            </p:extLst>
          </p:nvPr>
        </p:nvGraphicFramePr>
        <p:xfrm>
          <a:off x="1307592" y="493775"/>
          <a:ext cx="9957816" cy="5877561"/>
        </p:xfrm>
        <a:graphic>
          <a:graphicData uri="http://schemas.openxmlformats.org/drawingml/2006/table">
            <a:tbl>
              <a:tblPr firstRow="1" bandRow="1">
                <a:tableStyleId>{5940675A-B579-460E-94D1-54222C63F5DA}</a:tableStyleId>
              </a:tblPr>
              <a:tblGrid>
                <a:gridCol w="4978908">
                  <a:extLst>
                    <a:ext uri="{9D8B030D-6E8A-4147-A177-3AD203B41FA5}">
                      <a16:colId xmlns:a16="http://schemas.microsoft.com/office/drawing/2014/main" val="1744316593"/>
                    </a:ext>
                  </a:extLst>
                </a:gridCol>
                <a:gridCol w="4978908">
                  <a:extLst>
                    <a:ext uri="{9D8B030D-6E8A-4147-A177-3AD203B41FA5}">
                      <a16:colId xmlns:a16="http://schemas.microsoft.com/office/drawing/2014/main" val="3019572021"/>
                    </a:ext>
                  </a:extLst>
                </a:gridCol>
              </a:tblGrid>
              <a:tr h="448057">
                <a:tc>
                  <a:txBody>
                    <a:bodyPr/>
                    <a:lstStyle/>
                    <a:p>
                      <a:pPr algn="ctr"/>
                      <a:r>
                        <a:rPr lang="en-AU" sz="2300" b="1" dirty="0" smtClean="0"/>
                        <a:t>FEDERAL</a:t>
                      </a:r>
                      <a:endParaRPr lang="en-AU" sz="2300" b="1" dirty="0"/>
                    </a:p>
                  </a:txBody>
                  <a:tcPr>
                    <a:solidFill>
                      <a:schemeClr val="bg1"/>
                    </a:solidFill>
                  </a:tcPr>
                </a:tc>
                <a:tc>
                  <a:txBody>
                    <a:bodyPr/>
                    <a:lstStyle/>
                    <a:p>
                      <a:pPr algn="ctr"/>
                      <a:r>
                        <a:rPr lang="en-AU" sz="2300" b="1" dirty="0" smtClean="0"/>
                        <a:t>STATE</a:t>
                      </a:r>
                      <a:endParaRPr lang="en-AU" sz="2300" b="1" dirty="0"/>
                    </a:p>
                  </a:txBody>
                  <a:tcPr>
                    <a:solidFill>
                      <a:schemeClr val="bg1"/>
                    </a:solidFill>
                  </a:tcPr>
                </a:tc>
                <a:extLst>
                  <a:ext uri="{0D108BD9-81ED-4DB2-BD59-A6C34878D82A}">
                    <a16:rowId xmlns:a16="http://schemas.microsoft.com/office/drawing/2014/main" val="4058756736"/>
                  </a:ext>
                </a:extLst>
              </a:tr>
              <a:tr h="678688">
                <a:tc>
                  <a:txBody>
                    <a:bodyPr/>
                    <a:lstStyle/>
                    <a:p>
                      <a:pPr lvl="0" algn="ctr"/>
                      <a:r>
                        <a:rPr lang="en-US" sz="2300" dirty="0" smtClean="0"/>
                        <a:t>Foreign policy</a:t>
                      </a:r>
                    </a:p>
                  </a:txBody>
                  <a:tcPr>
                    <a:solidFill>
                      <a:schemeClr val="accent1">
                        <a:lumMod val="40000"/>
                        <a:lumOff val="60000"/>
                      </a:schemeClr>
                    </a:solidFill>
                  </a:tcPr>
                </a:tc>
                <a:tc>
                  <a:txBody>
                    <a:bodyPr/>
                    <a:lstStyle/>
                    <a:p>
                      <a:pPr algn="ctr"/>
                      <a:r>
                        <a:rPr lang="en-AU" sz="2300" dirty="0" smtClean="0"/>
                        <a:t>Schools</a:t>
                      </a:r>
                      <a:endParaRPr lang="en-AU" sz="2300" dirty="0"/>
                    </a:p>
                  </a:txBody>
                  <a:tcPr>
                    <a:solidFill>
                      <a:schemeClr val="accent2">
                        <a:lumMod val="60000"/>
                        <a:lumOff val="40000"/>
                      </a:schemeClr>
                    </a:solidFill>
                  </a:tcPr>
                </a:tc>
                <a:extLst>
                  <a:ext uri="{0D108BD9-81ED-4DB2-BD59-A6C34878D82A}">
                    <a16:rowId xmlns:a16="http://schemas.microsoft.com/office/drawing/2014/main" val="256933377"/>
                  </a:ext>
                </a:extLst>
              </a:tr>
              <a:tr h="678688">
                <a:tc>
                  <a:txBody>
                    <a:bodyPr/>
                    <a:lstStyle/>
                    <a:p>
                      <a:pPr lvl="0" algn="ctr"/>
                      <a:r>
                        <a:rPr lang="en-US" sz="2300" dirty="0" smtClean="0"/>
                        <a:t>Currency</a:t>
                      </a:r>
                    </a:p>
                  </a:txBody>
                  <a:tcPr>
                    <a:solidFill>
                      <a:schemeClr val="accent1">
                        <a:lumMod val="40000"/>
                        <a:lumOff val="60000"/>
                      </a:schemeClr>
                    </a:solidFill>
                  </a:tcPr>
                </a:tc>
                <a:tc>
                  <a:txBody>
                    <a:bodyPr/>
                    <a:lstStyle/>
                    <a:p>
                      <a:pPr algn="ctr"/>
                      <a:r>
                        <a:rPr lang="en-AU" sz="2300" dirty="0" smtClean="0"/>
                        <a:t>Hospitals</a:t>
                      </a:r>
                      <a:endParaRPr lang="en-AU" sz="2300" dirty="0"/>
                    </a:p>
                  </a:txBody>
                  <a:tcPr>
                    <a:solidFill>
                      <a:schemeClr val="accent2">
                        <a:lumMod val="60000"/>
                        <a:lumOff val="40000"/>
                      </a:schemeClr>
                    </a:solidFill>
                  </a:tcPr>
                </a:tc>
                <a:extLst>
                  <a:ext uri="{0D108BD9-81ED-4DB2-BD59-A6C34878D82A}">
                    <a16:rowId xmlns:a16="http://schemas.microsoft.com/office/drawing/2014/main" val="2447505513"/>
                  </a:ext>
                </a:extLst>
              </a:tr>
              <a:tr h="678688">
                <a:tc>
                  <a:txBody>
                    <a:bodyPr/>
                    <a:lstStyle/>
                    <a:p>
                      <a:pPr lvl="0" algn="ctr"/>
                      <a:r>
                        <a:rPr lang="en-US" sz="2300" dirty="0" smtClean="0"/>
                        <a:t>Immigration</a:t>
                      </a:r>
                    </a:p>
                  </a:txBody>
                  <a:tcPr>
                    <a:solidFill>
                      <a:schemeClr val="accent1">
                        <a:lumMod val="40000"/>
                        <a:lumOff val="60000"/>
                      </a:schemeClr>
                    </a:solidFill>
                  </a:tcPr>
                </a:tc>
                <a:tc>
                  <a:txBody>
                    <a:bodyPr/>
                    <a:lstStyle/>
                    <a:p>
                      <a:pPr algn="ctr"/>
                      <a:r>
                        <a:rPr lang="en-AU" sz="2300" dirty="0" smtClean="0"/>
                        <a:t>Roads and railways</a:t>
                      </a:r>
                      <a:endParaRPr lang="en-AU" sz="2300" dirty="0"/>
                    </a:p>
                  </a:txBody>
                  <a:tcPr>
                    <a:solidFill>
                      <a:schemeClr val="accent2">
                        <a:lumMod val="60000"/>
                        <a:lumOff val="40000"/>
                      </a:schemeClr>
                    </a:solidFill>
                  </a:tcPr>
                </a:tc>
                <a:extLst>
                  <a:ext uri="{0D108BD9-81ED-4DB2-BD59-A6C34878D82A}">
                    <a16:rowId xmlns:a16="http://schemas.microsoft.com/office/drawing/2014/main" val="308233516"/>
                  </a:ext>
                </a:extLst>
              </a:tr>
              <a:tr h="678688">
                <a:tc>
                  <a:txBody>
                    <a:bodyPr/>
                    <a:lstStyle/>
                    <a:p>
                      <a:pPr lvl="0" algn="ctr"/>
                      <a:r>
                        <a:rPr lang="en-US" sz="2300" dirty="0" smtClean="0"/>
                        <a:t>Defence</a:t>
                      </a:r>
                    </a:p>
                  </a:txBody>
                  <a:tcPr>
                    <a:solidFill>
                      <a:schemeClr val="accent1">
                        <a:lumMod val="40000"/>
                        <a:lumOff val="60000"/>
                      </a:schemeClr>
                    </a:solidFill>
                  </a:tcPr>
                </a:tc>
                <a:tc>
                  <a:txBody>
                    <a:bodyPr/>
                    <a:lstStyle/>
                    <a:p>
                      <a:pPr algn="ctr"/>
                      <a:r>
                        <a:rPr lang="en-AU" sz="2300" dirty="0" smtClean="0"/>
                        <a:t>Police</a:t>
                      </a:r>
                      <a:endParaRPr lang="en-AU" sz="2300" dirty="0"/>
                    </a:p>
                  </a:txBody>
                  <a:tcPr>
                    <a:solidFill>
                      <a:schemeClr val="accent2">
                        <a:lumMod val="60000"/>
                        <a:lumOff val="40000"/>
                      </a:schemeClr>
                    </a:solidFill>
                  </a:tcPr>
                </a:tc>
                <a:extLst>
                  <a:ext uri="{0D108BD9-81ED-4DB2-BD59-A6C34878D82A}">
                    <a16:rowId xmlns:a16="http://schemas.microsoft.com/office/drawing/2014/main" val="2432580459"/>
                  </a:ext>
                </a:extLst>
              </a:tr>
              <a:tr h="678688">
                <a:tc>
                  <a:txBody>
                    <a:bodyPr/>
                    <a:lstStyle/>
                    <a:p>
                      <a:pPr lvl="0" algn="ctr"/>
                      <a:r>
                        <a:rPr lang="en-US" sz="2300" dirty="0" smtClean="0"/>
                        <a:t>Weights and measures</a:t>
                      </a:r>
                    </a:p>
                  </a:txBody>
                  <a:tcPr>
                    <a:solidFill>
                      <a:schemeClr val="accent1">
                        <a:lumMod val="40000"/>
                        <a:lumOff val="60000"/>
                      </a:schemeClr>
                    </a:solidFill>
                  </a:tcPr>
                </a:tc>
                <a:tc>
                  <a:txBody>
                    <a:bodyPr/>
                    <a:lstStyle/>
                    <a:p>
                      <a:pPr algn="ctr"/>
                      <a:r>
                        <a:rPr lang="en-AU" sz="2300" dirty="0" smtClean="0"/>
                        <a:t>Mining</a:t>
                      </a:r>
                      <a:r>
                        <a:rPr lang="en-AU" sz="2300" baseline="0" dirty="0" smtClean="0"/>
                        <a:t> and agriculture</a:t>
                      </a:r>
                      <a:endParaRPr lang="en-AU" sz="2300" dirty="0"/>
                    </a:p>
                  </a:txBody>
                  <a:tcPr>
                    <a:solidFill>
                      <a:schemeClr val="accent2">
                        <a:lumMod val="60000"/>
                        <a:lumOff val="40000"/>
                      </a:schemeClr>
                    </a:solidFill>
                  </a:tcPr>
                </a:tc>
                <a:extLst>
                  <a:ext uri="{0D108BD9-81ED-4DB2-BD59-A6C34878D82A}">
                    <a16:rowId xmlns:a16="http://schemas.microsoft.com/office/drawing/2014/main" val="338803457"/>
                  </a:ext>
                </a:extLst>
              </a:tr>
              <a:tr h="678688">
                <a:tc>
                  <a:txBody>
                    <a:bodyPr/>
                    <a:lstStyle/>
                    <a:p>
                      <a:pPr lvl="0" algn="ctr"/>
                      <a:r>
                        <a:rPr lang="en-US" sz="2300" dirty="0" smtClean="0"/>
                        <a:t>Social security</a:t>
                      </a:r>
                    </a:p>
                  </a:txBody>
                  <a:tcPr>
                    <a:solidFill>
                      <a:schemeClr val="accent1">
                        <a:lumMod val="40000"/>
                        <a:lumOff val="60000"/>
                      </a:schemeClr>
                    </a:solidFill>
                  </a:tcPr>
                </a:tc>
                <a:tc>
                  <a:txBody>
                    <a:bodyPr/>
                    <a:lstStyle/>
                    <a:p>
                      <a:pPr algn="ctr"/>
                      <a:r>
                        <a:rPr lang="en-AU" sz="2300" dirty="0" smtClean="0"/>
                        <a:t>Prisons</a:t>
                      </a:r>
                      <a:endParaRPr lang="en-AU" sz="2300" dirty="0"/>
                    </a:p>
                  </a:txBody>
                  <a:tcPr>
                    <a:solidFill>
                      <a:schemeClr val="accent2">
                        <a:lumMod val="60000"/>
                        <a:lumOff val="40000"/>
                      </a:schemeClr>
                    </a:solidFill>
                  </a:tcPr>
                </a:tc>
                <a:extLst>
                  <a:ext uri="{0D108BD9-81ED-4DB2-BD59-A6C34878D82A}">
                    <a16:rowId xmlns:a16="http://schemas.microsoft.com/office/drawing/2014/main" val="3912339200"/>
                  </a:ext>
                </a:extLst>
              </a:tr>
              <a:tr h="678688">
                <a:tc>
                  <a:txBody>
                    <a:bodyPr/>
                    <a:lstStyle/>
                    <a:p>
                      <a:pPr lvl="0" algn="ctr"/>
                      <a:r>
                        <a:rPr lang="en-US" sz="2300" dirty="0" smtClean="0"/>
                        <a:t>Trade and commerce</a:t>
                      </a:r>
                    </a:p>
                  </a:txBody>
                  <a:tcPr>
                    <a:solidFill>
                      <a:schemeClr val="accent1">
                        <a:lumMod val="40000"/>
                        <a:lumOff val="60000"/>
                      </a:schemeClr>
                    </a:solidFill>
                  </a:tcPr>
                </a:tc>
                <a:tc>
                  <a:txBody>
                    <a:bodyPr/>
                    <a:lstStyle/>
                    <a:p>
                      <a:pPr algn="ctr"/>
                      <a:r>
                        <a:rPr lang="en-AU" sz="2300" dirty="0" smtClean="0"/>
                        <a:t>Public transport</a:t>
                      </a:r>
                      <a:endParaRPr lang="en-AU" sz="2300" dirty="0"/>
                    </a:p>
                  </a:txBody>
                  <a:tcPr>
                    <a:solidFill>
                      <a:schemeClr val="accent2">
                        <a:lumMod val="60000"/>
                        <a:lumOff val="40000"/>
                      </a:schemeClr>
                    </a:solidFill>
                  </a:tcPr>
                </a:tc>
                <a:extLst>
                  <a:ext uri="{0D108BD9-81ED-4DB2-BD59-A6C34878D82A}">
                    <a16:rowId xmlns:a16="http://schemas.microsoft.com/office/drawing/2014/main" val="21018633"/>
                  </a:ext>
                </a:extLst>
              </a:tr>
              <a:tr h="6786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dirty="0" smtClean="0"/>
                        <a:t>Postal and communication services</a:t>
                      </a:r>
                    </a:p>
                  </a:txBody>
                  <a:tcPr>
                    <a:solidFill>
                      <a:schemeClr val="accent1">
                        <a:lumMod val="40000"/>
                        <a:lumOff val="60000"/>
                      </a:schemeClr>
                    </a:solidFill>
                  </a:tcPr>
                </a:tc>
                <a:tc>
                  <a:txBody>
                    <a:bodyPr/>
                    <a:lstStyle/>
                    <a:p>
                      <a:pPr algn="ctr"/>
                      <a:r>
                        <a:rPr lang="en-AU" sz="2300" dirty="0" smtClean="0"/>
                        <a:t>Utilities such as electricity and water</a:t>
                      </a:r>
                      <a:endParaRPr lang="en-AU" sz="2300" dirty="0"/>
                    </a:p>
                  </a:txBody>
                  <a:tcPr>
                    <a:solidFill>
                      <a:schemeClr val="accent2">
                        <a:lumMod val="60000"/>
                        <a:lumOff val="40000"/>
                      </a:schemeClr>
                    </a:solidFill>
                  </a:tcPr>
                </a:tc>
                <a:extLst>
                  <a:ext uri="{0D108BD9-81ED-4DB2-BD59-A6C34878D82A}">
                    <a16:rowId xmlns:a16="http://schemas.microsoft.com/office/drawing/2014/main" val="3474891939"/>
                  </a:ext>
                </a:extLst>
              </a:tr>
            </a:tbl>
          </a:graphicData>
        </a:graphic>
      </p:graphicFrame>
    </p:spTree>
    <p:extLst>
      <p:ext uri="{BB962C8B-B14F-4D97-AF65-F5344CB8AC3E}">
        <p14:creationId xmlns:p14="http://schemas.microsoft.com/office/powerpoint/2010/main" val="3711822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258</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9</vt:i4>
      </vt:variant>
    </vt:vector>
  </HeadingPairs>
  <TitlesOfParts>
    <vt:vector size="14" baseType="lpstr">
      <vt:lpstr>Arial</vt:lpstr>
      <vt:lpstr>Calibri</vt:lpstr>
      <vt:lpstr>Calibri Light</vt:lpstr>
      <vt:lpstr>Office Theme</vt:lpstr>
      <vt:lpstr>1_Office Theme</vt:lpstr>
      <vt:lpstr>How do we change the Constitution?</vt:lpstr>
      <vt:lpstr>Definition</vt:lpstr>
      <vt:lpstr>Western Australian daylight saving referendum, 2009</vt:lpstr>
      <vt:lpstr>Are you in favour of daylight saving being introduced in Western Australia by standard time in the State being advanced one hour from the last Sunday in October 2009 until the last Sunday in March 2010 and in similar fashion for each following year?</vt:lpstr>
      <vt:lpstr>Referendum worksheet!</vt:lpstr>
      <vt:lpstr>State and federal roles</vt:lpstr>
      <vt:lpstr>Draw this table in your notes.</vt:lpstr>
      <vt:lpstr>Guessing game!</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Cut out the different roles and try to remember which column they belong to!</dc:title>
  <dc:creator>HAWKES Natasha [Narrogin Senior High School]</dc:creator>
  <cp:lastModifiedBy>HAWKES Natasha [Narrogin Senior High School]</cp:lastModifiedBy>
  <cp:revision>11</cp:revision>
  <cp:lastPrinted>2018-10-15T08:11:55Z</cp:lastPrinted>
  <dcterms:created xsi:type="dcterms:W3CDTF">2018-10-12T03:30:10Z</dcterms:created>
  <dcterms:modified xsi:type="dcterms:W3CDTF">2018-10-15T08:14:21Z</dcterms:modified>
</cp:coreProperties>
</file>
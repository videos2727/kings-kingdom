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2" r:id="rId12"/>
    <p:sldId id="266" r:id="rId13"/>
    <p:sldId id="267" r:id="rId14"/>
    <p:sldId id="268" r:id="rId15"/>
    <p:sldId id="271" r:id="rId16"/>
    <p:sldId id="269" r:id="rId17"/>
    <p:sldId id="270" r:id="rId18"/>
    <p:sldId id="280" r:id="rId19"/>
    <p:sldId id="281" r:id="rId20"/>
    <p:sldId id="282" r:id="rId21"/>
    <p:sldId id="283" r:id="rId22"/>
    <p:sldId id="284" r:id="rId23"/>
    <p:sldId id="273" r:id="rId24"/>
    <p:sldId id="278" r:id="rId25"/>
    <p:sldId id="274" r:id="rId26"/>
    <p:sldId id="275" r:id="rId27"/>
    <p:sldId id="276" r:id="rId28"/>
    <p:sldId id="277" r:id="rId29"/>
    <p:sldId id="279" r:id="rId30"/>
    <p:sldId id="285" r:id="rId31"/>
    <p:sldId id="286" r:id="rId32"/>
    <p:sldId id="288" r:id="rId33"/>
    <p:sldId id="287" r:id="rId34"/>
  </p:sldIdLst>
  <p:sldSz cx="9144000" cy="6858000" type="screen4x3"/>
  <p:notesSz cx="6858000" cy="9144000"/>
  <p:custDataLst>
    <p:tags r:id="rId35"/>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99"/>
    <a:srgbClr val="FFCCFF"/>
    <a:srgbClr val="FFFFFF"/>
    <a:srgbClr val="FF99FF"/>
    <a:srgbClr val="3399FF"/>
    <a:srgbClr val="CCFF99"/>
    <a:srgbClr val="00FFCC"/>
    <a:srgbClr val="00FF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1111" autoAdjust="0"/>
  </p:normalViewPr>
  <p:slideViewPr>
    <p:cSldViewPr>
      <p:cViewPr varScale="1">
        <p:scale>
          <a:sx n="70" d="100"/>
          <a:sy n="70" d="100"/>
        </p:scale>
        <p:origin x="-138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89F9FA1-84D9-4FA7-BADD-2F7B969A8F8F}" type="datetimeFigureOut">
              <a:rPr lang="en-US"/>
              <a:pPr>
                <a:defRPr/>
              </a:pPr>
              <a:t>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77421CC-7F1A-4954-B52F-F2FCEA0756E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20F7D8-0FB1-49CE-A87A-3E79A5807B51}" type="datetimeFigureOut">
              <a:rPr lang="en-US"/>
              <a:pPr>
                <a:defRPr/>
              </a:pPr>
              <a:t>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65E4E3F-A03D-4FA9-B7FD-1C1039EF9E0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6C123A25-3B0F-4F0A-943E-F799D8A9347A}" type="datetimeFigureOut">
              <a:rPr lang="en-US"/>
              <a:pPr>
                <a:defRPr/>
              </a:pPr>
              <a:t>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5D31616-541C-4AC5-A3E5-8163C1E60E8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F5288088-8BF9-45FB-B14E-D23C9F6351BE}" type="datetimeFigureOut">
              <a:rPr lang="en-US"/>
              <a:pPr>
                <a:defRPr/>
              </a:pPr>
              <a:t>2/6/2014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2471D2E-7058-45DE-A055-C3426A76290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E581CC8-D80A-452C-BEE9-532D0D0FD356}" type="datetimeFigureOut">
              <a:rPr lang="en-US"/>
              <a:pPr>
                <a:defRPr/>
              </a:pPr>
              <a:t>2/6/2014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1532F6B-2050-4D78-AFA4-D173A7ED712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2DF0BF6-EBA5-4635-95EB-C0F5E04F81BE}" type="datetimeFigureOut">
              <a:rPr lang="en-US"/>
              <a:pPr>
                <a:defRPr/>
              </a:pPr>
              <a:t>2/6/2014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F476232-78CC-4AA1-8AC4-EC008320E53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E62A513-D78F-4788-B1CD-8D8DAD817A3D}" type="datetimeFigureOut">
              <a:rPr lang="en-US"/>
              <a:pPr>
                <a:defRPr/>
              </a:pPr>
              <a:t>2/6/2014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138C982-EE90-4630-9F4D-C81DDC6F4306}"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473BDCE-2F29-444C-83B4-8E04E7830B62}" type="datetimeFigureOut">
              <a:rPr lang="en-US"/>
              <a:pPr>
                <a:defRPr/>
              </a:pPr>
              <a:t>2/6/2014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C2FDBB0-7793-41B1-B52F-EAEBFBA03E9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E2883B3-BAF5-4CD2-B769-769CB613DE63}" type="datetimeFigureOut">
              <a:rPr lang="en-US"/>
              <a:pPr>
                <a:defRPr/>
              </a:pPr>
              <a:t>2/6/2014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EDCC0B0-2479-4ECE-B33C-34AF73D0730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22E4BDE-3F92-4E9A-9C4B-4F4F8D87540D}" type="datetimeFigureOut">
              <a:rPr lang="en-US"/>
              <a:pPr>
                <a:defRPr/>
              </a:pPr>
              <a:t>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4341E14-E7C5-4E86-9605-BB2706D91CB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B23978E-CD95-43C1-BAC8-83B2452F6E78}" type="datetimeFigureOut">
              <a:rPr lang="en-US"/>
              <a:pPr>
                <a:defRPr/>
              </a:pPr>
              <a:t>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79B8B-1024-40E1-A9CD-66655446F9B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9F8149A6-B5AF-41D9-8559-E06840A2322C}" type="datetimeFigureOut">
              <a:rPr lang="en-US"/>
              <a:pPr>
                <a:defRPr/>
              </a:pPr>
              <a:t>2/6/2014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B9C135BF-06F8-472D-B2EC-BE36193BD61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6.xml"/><Relationship Id="rId5" Type="http://schemas.openxmlformats.org/officeDocument/2006/relationships/image" Target="../media/image21.jpeg"/><Relationship Id="rId4" Type="http://schemas.openxmlformats.org/officeDocument/2006/relationships/hyperlink" Target="http://en.wikipedia.org/wiki/File:Willendorf-Venus-1468.jp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2" descr="http://thumbs.dreamstime.com/z/question-marks-background-7361598.jpg"/>
          <p:cNvPicPr>
            <a:picLocks noChangeAspect="1" noChangeArrowheads="1"/>
          </p:cNvPicPr>
          <p:nvPr/>
        </p:nvPicPr>
        <p:blipFill>
          <a:blip r:embed="rId2"/>
          <a:srcRect/>
          <a:stretch>
            <a:fillRect/>
          </a:stretch>
        </p:blipFill>
        <p:spPr bwMode="auto">
          <a:xfrm>
            <a:off x="-457200" y="-838200"/>
            <a:ext cx="10037763" cy="7818438"/>
          </a:xfrm>
          <a:prstGeom prst="rect">
            <a:avLst/>
          </a:prstGeom>
          <a:noFill/>
          <a:ln w="9525">
            <a:noFill/>
            <a:miter lim="800000"/>
            <a:headEnd/>
            <a:tailEnd/>
          </a:ln>
        </p:spPr>
      </p:pic>
      <p:sp>
        <p:nvSpPr>
          <p:cNvPr id="13314" name="Title 1"/>
          <p:cNvSpPr>
            <a:spLocks noGrp="1"/>
          </p:cNvSpPr>
          <p:nvPr>
            <p:ph type="ctrTitle"/>
          </p:nvPr>
        </p:nvSpPr>
        <p:spPr/>
        <p:txBody>
          <a:bodyPr/>
          <a:lstStyle/>
          <a:p>
            <a:pPr eaLnBrk="1" hangingPunct="1"/>
            <a:r>
              <a:rPr lang="en-AU" sz="8000" b="1" smtClean="0">
                <a:solidFill>
                  <a:srgbClr val="CC3399"/>
                </a:solidFill>
                <a:latin typeface="Comic Sans MS" pitchFamily="66" charset="0"/>
              </a:rPr>
              <a:t>How do we know</a:t>
            </a:r>
            <a:r>
              <a:rPr lang="en-AU" sz="8000" b="1" smtClean="0">
                <a:latin typeface="Comic Sans MS" pitchFamily="66" charset="0"/>
              </a:rPr>
              <a:t>?</a:t>
            </a:r>
          </a:p>
        </p:txBody>
      </p:sp>
      <p:sp>
        <p:nvSpPr>
          <p:cNvPr id="3" name="Subtitle 2"/>
          <p:cNvSpPr>
            <a:spLocks noGrp="1"/>
          </p:cNvSpPr>
          <p:nvPr>
            <p:ph type="subTitle" idx="1"/>
          </p:nvPr>
        </p:nvSpPr>
        <p:spPr>
          <a:xfrm>
            <a:off x="1219200" y="4572000"/>
            <a:ext cx="6400800" cy="1752600"/>
          </a:xfrm>
        </p:spPr>
        <p:txBody>
          <a:bodyPr rtlCol="0">
            <a:normAutofit/>
          </a:bodyPr>
          <a:lstStyle/>
          <a:p>
            <a:pPr eaLnBrk="1" fontAlgn="auto" hangingPunct="1">
              <a:spcAft>
                <a:spcPts val="0"/>
              </a:spcAft>
              <a:buFont typeface="Arial" pitchFamily="34" charset="0"/>
              <a:buNone/>
              <a:defRPr/>
            </a:pPr>
            <a:r>
              <a:rPr lang="en-AU" b="1" dirty="0" smtClean="0">
                <a:solidFill>
                  <a:schemeClr val="accent3"/>
                </a:solidFill>
              </a:rPr>
              <a:t>The Evidence for the Establishment of Ancient Societies</a:t>
            </a:r>
            <a:r>
              <a:rPr lang="en-AU" dirty="0" smtClean="0">
                <a:solidFill>
                  <a:schemeClr val="accent3"/>
                </a:solidFill>
              </a:rPr>
              <a:t>.</a:t>
            </a:r>
            <a:endParaRPr lang="en-AU" dirty="0">
              <a:solidFill>
                <a:schemeClr val="accent3"/>
              </a:solidFill>
            </a:endParaRPr>
          </a:p>
        </p:txBody>
      </p:sp>
      <p:sp>
        <p:nvSpPr>
          <p:cNvPr id="13316" name="Rectangle 3"/>
          <p:cNvSpPr>
            <a:spLocks noChangeArrowheads="1"/>
          </p:cNvSpPr>
          <p:nvPr/>
        </p:nvSpPr>
        <p:spPr bwMode="auto">
          <a:xfrm>
            <a:off x="5008563" y="0"/>
            <a:ext cx="4572000" cy="1938338"/>
          </a:xfrm>
          <a:prstGeom prst="rect">
            <a:avLst/>
          </a:prstGeom>
          <a:noFill/>
          <a:ln w="9525">
            <a:noFill/>
            <a:miter lim="800000"/>
            <a:headEnd/>
            <a:tailEnd/>
          </a:ln>
        </p:spPr>
        <p:txBody>
          <a:bodyPr>
            <a:spAutoFit/>
          </a:bodyPr>
          <a:lstStyle/>
          <a:p>
            <a:r>
              <a:rPr lang="en-AU" sz="2400" b="1">
                <a:latin typeface="Calibri" pitchFamily="34" charset="0"/>
              </a:rPr>
              <a:t>Syllabus Aspect- the evidence for the emergence and establishment of ancient societies, including art,</a:t>
            </a:r>
          </a:p>
          <a:p>
            <a:r>
              <a:rPr lang="en-AU" sz="2400" b="1">
                <a:latin typeface="Calibri" pitchFamily="34" charset="0"/>
              </a:rPr>
              <a:t>iconography, writing, tools and pottery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14338" name="Title 3"/>
          <p:cNvSpPr>
            <a:spLocks noGrp="1"/>
          </p:cNvSpPr>
          <p:nvPr>
            <p:ph type="title"/>
          </p:nvPr>
        </p:nvSpPr>
        <p:spPr>
          <a:xfrm>
            <a:off x="609600" y="3048000"/>
            <a:ext cx="8229600" cy="2971800"/>
          </a:xfrm>
        </p:spPr>
        <p:txBody>
          <a:bodyPr/>
          <a:lstStyle/>
          <a:p>
            <a:pPr eaLnBrk="1" hangingPunct="1"/>
            <a:r>
              <a:rPr lang="en-AU" smtClean="0"/>
              <a:t>Listen and look as we go through the following and then be ready to answer some related questions.</a:t>
            </a:r>
          </a:p>
        </p:txBody>
      </p:sp>
      <p:pic>
        <p:nvPicPr>
          <p:cNvPr id="14339" name="Picture 2" descr="https://encrypted-tbn0.gstatic.com/images?q=tbn:ANd9GcSBE6OzjLpXd0xIixBjUhINbxPi--ho0atdBLVBZwH_A9Pu7xnY"/>
          <p:cNvPicPr>
            <a:picLocks noChangeAspect="1" noChangeArrowheads="1"/>
          </p:cNvPicPr>
          <p:nvPr/>
        </p:nvPicPr>
        <p:blipFill>
          <a:blip r:embed="rId2"/>
          <a:srcRect/>
          <a:stretch>
            <a:fillRect/>
          </a:stretch>
        </p:blipFill>
        <p:spPr bwMode="auto">
          <a:xfrm>
            <a:off x="6705600" y="312738"/>
            <a:ext cx="1752600" cy="2859087"/>
          </a:xfrm>
          <a:prstGeom prst="rect">
            <a:avLst/>
          </a:prstGeom>
          <a:noFill/>
          <a:ln w="9525">
            <a:noFill/>
            <a:miter lim="800000"/>
            <a:headEnd/>
            <a:tailEnd/>
          </a:ln>
        </p:spPr>
      </p:pic>
      <p:sp>
        <p:nvSpPr>
          <p:cNvPr id="14340" name="AutoShape 4" descr="data:image/jpeg;base64,/9j/4AAQSkZJRgABAQAAAQABAAD/2wCEAAkGBhQRERUUEhMUFRUWGBgaFRgUGBgYGRwcHRceHBwYGxodHiceGxwjGxobHy8hIycqLCwsHB4xNTAsNSYsLSkBCQoKBQUFDQUFDSkYEhgpKSkpKSkpKSkpKSkpKSkpKSkpKSkpKSkpKSkpKSkpKSkpKSkpKSkpKSkpKSkpKSkpKf/AABEIAHcAxQMBIgACEQEDEQH/xAAbAAACAgMBAAAAAAAAAAAAAAAABgQFAgMHAf/EAFAQAAIBAwIDBAYECAoFDQAAAAECAwAEEQUSBiExE0FRYQciMnGBkRRCUqEWU2JykqKxwRUjJDM0gpSkwtNDVGOj0SU1RGSDhJOys8Ph8PH/xAAUAQEAAAAAAAAAAAAAAAAAAAAA/8QAFBEBAAAAAAAAAAAAAAAAAAAAAP/aAAwDAQACEQMRAD8A7jRRRQFFFFApLdXtzcXS29xBDFBIsS77czMW7GN2Oe1THOTHTurN9P1KNWZtQtyACSTZHkAMnpcVt4G9ZLmT8Ze3J/Rk7IfdGK3cfXXZ6ZeMOvYSAe9lKg/NqCVwrqEk9lbzTBRJLEjsFGBllB5DJx18a813X0tVUsGd3bbDFHzkkb7Kr95JwFHMkCpdpbrDCiZwsaKufAKuM/IUv8IwG5J1CXO6YEW4P+jt85QAdzScpGPflR0UUGaadf3HrS3As1PSO2VJJB+fNICpPkqAeZrL8FblOcWp3W7wmSCVPivZqfkwplzRmgWrTiKWGZIL9ERpDthniz2MrdyYb1opCOiMSGx6pPSmUGoer6VHdQvDKu5HGCO/xBB7mB5g9xANLdhxU1taXQuiXmsSUc98oIBgcDxlVlH524UFprfEYhdYYYzcXLjKxKQuF/GSuciOPPLJBJ6AGoq6Bezc579oj9izjjRR5b5Vd39/q9/KpXCeitBEXmw11PiS5cd749geCIPUUdwHiSavaBYPDl5Fzg1GVz9m7jikQ+RMaxuvvDfA1v0biRnlNtcx9hcqNwXduSRR1eF8DcoPUEBlyMjvq/3VUcS6F9KhwrbJkIe3kHWOQeyfzT7LDvUkUGPGGrvbWcksW0yDYqbhkbnlWMZGRnm3TNRf4N1Icxe2p8jZsAfeRc5qn1HW/plnYll2tLeWyTJ9l4pS0ieYDwkD4U9A0CxperXi3otbn6M4MDyh4BKpGHVAGV2bruPQ/VqFa8R3jtLdRxLNZCR0SNBifZGdrToc7ZQzh/UODtAwSTgweItQf6fdJCcTyxWtpCR9UuZpJJPdHEd/wHjT1punpBDHFGMJGiqo8lGBQY6XqcdxEssLh0cZVh+/vBB5EHmCCDUvNc94gv2sLq6kswuBbdvdI4PZdq0gWKTCkEOyiQtj2ggJ586uzDqvUSaefLsrgZ+PanHyoGiiqjhPWTd2cM7KFaRcsq5wGBIIGeeMg1b0BRRRQFFFFAUUUUC16Pv6GT9q4uz/AHqSsfSSM6dMPtGFf0p41/fWXo+P8iA8J7ofK6lFXep6ZHcxNFMoeNsblJI6EMOYIIwQDy8KCl9IVwU0y7IyD2LqP6w2/wCKr60tljjVFGFRQqjwCjA+4Vznj/gqJY4Y7YSJJPI8WTNM4ObaYgFWcgjcF7u6njh3VxdWsM4/0kasR4Nj1lPmGyD7qCv1nU5prj6JaMI2Ch7icqG7JGJCKink0r7WxnkoGSDkCsPwLx6y31+JPtmfcCfOMqYiPLaBXmhkR6jfxsMNJ2EyflR9isRx+bIhB/OHjUe7ia+v54Hlmihto4SEgkaJnaUMTIzqQ21QoUAHGdxPdQWHD+symSS1utvbxBWDoMLLGxIWULz2kMCrLk4I5ciKVeMUxq0EX1bk2ZkHc3YTyON36o88YrbwrcSSarJEzmUWKTQtM3tMsrQvErkci67ZFJ79mepNaOKpC91c3aglNPNkDjnnZK0s+D+TDKM+6g6WBSzqeoz3Nw9rav2KRBfpM4UMylhlYYgw27yvrFiCFBXkSeTGrgjIOQRyI7x40tcJtsuNQiblJ9JM3PvjliTYw8RlGTl3oaDI8GFfWivr5JOoZ5e1Un8qJxsI8QAPeKl8Oa1JKZILhVW4gKiTZnY6sMpMmeYVsEYPssrDnjNUlnpz6g1zLJdXERjnlhhWCUxrEIm2hmUcpHbG878jDKMY6xeAdXe9uWuGxlLSKGZl5K0nayNkDuGzD+QlFBGdAL8wjoNWjkA/P05pW/WyfjXSM1zexcyXEF1gbbjVJih8Y0spIEb3N2Rb410kUCxpfCJTUrq+kIYybFgUEnYoiRXJyPaZl+Q8zV7qepJbwyTSnCRqWc+QGT7z4DxqVilXj4EJAzgm1jnSS7Cj1uzUEqx8Y1l2O467QfA0FNqmnuujXs042z3amWUHqm7ascX/AGcYVffuPfXQQOQ+FLXpAlDabJtIIkMCgjmDvnjXI+DUySyBQSTgDmSfKgW/Rr/zbD75vl28mPupopb9HMeNLtPyog/6ZL/4qZKAooooCiiigKKKKBa4D5QTJ9i8ux853Yfcwplpfu+BLOSR5GiIdzudo5JYyT4nYw58q1D0f246SXg/75dfvkoPeMeUlgfC9QfpQyr++ockv8FzuzZ+gzuXLAcreZj6xfwhkPrZ6K2c4Dcp8HAtukkcmbh2jbcgluJ5FDYIB2s5UkZPUVfPEGBBAIPIg8wR4YoKnWNDS6Ebq7RyploZ4iNy7hzxkFWRhjKkEHl3gELmqcD3lzIjSXscbINontoZIpyucmM4mKbT15qcHmBVv+BQiz9DuZ7QEk9nGVeHn4RSKypz54Tb1rFOGbtuU2pzlc8xDFBCT5bgrMPgR8KCCI4tLjFnYL2l3NlgHO5snk1zcN1CDqScbsbV5mmDRtAS3txDzkzuMrOOcjuSZHYflMTy7hy7qy0fh2G1VhCmC5zI5JaRz4vI2Wc+81ZAUChot8dPkWyuWIiztsp3PqsuOVu7d0qDkM+2oGOeRVtrnDouGSVJHguIwQkseCdpOSjqfVkjJ+qfeMHnVhfadHPG0cyJIjDDK4BU/A1R/gfJEMWl9cwr3I+y4RfJe1UuB5bqCh1H0b3NzKzSXqxCQATNaRyxNMAAP4xTM0YbaMbgp5cuY5CQbWNE/gvTBsxyuplOexRvby/1rhxyA6r7RwABVsOE55Bi51C4kXvWJY7cH3tGN/yYVdabpEVtGI4I0jReioMDzPmT4nmaBd4ntVgGmrGoVIryBFA6BTHJEAP0hTYKh6xo0V1H2cyll3KwwzIQynKsGUhgQe8VUDgG3HSS8HkLy5/fJQbbLiyOS/nsipSSEIyk9JAyKx2+BXcAR15g1aarqEUELyzsFjUZctzGOmMd5PQAcyTiqC54AiWNvo7SR3G8Sxzu8krLIq7RkuSWQqSjJ0Kk+VZ6bw/NO6z6iY2dCDFBESYIyPr8+ckngzcl+qB1oFi502YWCW7L2Ud5eRpBBIqymCFj2m0g8sgRs4XmEyFB5VF4h9F0draTz9qhMUbyKBawAFlUkZ3Bu/Aro2t8OxXaoswb1G3oUd42VsEZDIQehI+Jqsf0e2rcnNzIPsyXVwynyZS+GHkRQXmmRbIY1IAIRQQoCjko6AcgPIVKrwCvaAooooKbVeK4beUROJmkK79sMMsxC52hj2anaCwI5+FRfw7h/E339hu/8qsNAHaahqEvXYYLdfLZF2p/Wn+6mbFAtnjyAf6K9/sV3/l1ZaHxBFeIzwliFcowdGRlYYyCrAEEZFT5GA5noOZpc9HiE2EcrZ3XDSXDZ/20jOB8FIHwoLHWeJIbQoJS+6TdsWOOSV22jLYVFJwARUH8O4PxN9/Yrv8Ayqwujv1iAfirSd/jJLGg+5GplxQUmm8aWtxKIY5CJSCQkkcsTHHXAdR0qzvNQjhQvK6RovVpGCqPeTyFLfEV8keo28khwlva3k8h8BmJc4927/6ay0XQDcFbu+UPK2GihbnHbqfZVV6GXHtOeeeQwBQbB6Q7VhmMXMy/ahtbmRPfuEeD8Kl6bxpaXEnZpMok/FyhopPhHIFY/AGrvFQtW0eG5j7OeJZFPcwzg+IPVT5gg0G2+1KOBN80iRIOrSMEX5sQKqW4+08db60+E0Z/Y1KbQsNTtdOmbt44i91E0vrsYjFJEI5CfbZJDyY8ypXPMZroqWaAYCKPcoFBQx+kbTm6X1t8ZFH7a3Lx5p56X1p8Z4h+1quvoy/ZX5CtUunxN7UaH3qp/dQeWGqRTruhljlXpujdXHzUkVI3UjwX8On3moErtQizZI4lG5ndHjWNFHV2KDl88AE1Jn0yWVDNqd0beLr2EMvYxoPCWcFWkbpnBVc5AB60DhmikDTrTS532WV48c2DtMN1LuOOpCyMUkxjJ5MPGrvSNYminFpelWkYFoJlG1ZlXmwK9ElUcyo5EesOhABjavaStRtribU5jb3Bja3t4NqtloXLySlllQeKquGXDLyIz0NvpHFQkk7CdDb3QH805yHA6vC/ISp7uY7wKC/opa1bXroXf0a0ghkKxLLI00rRgBnZVUbUbJ9Qmj+F9RU+tYQsP9ldgn5PEv7aBkJozXPUuI9Vu7RpBMsUtpcP2XaumHjuI0y3ZuA3It48qvj6PbP6qzrn7Fzcr+ySgZM0Un6D/Jb27tw8rRCO2kjEsjylS/aq2Gck4PZjlmigl8Dc1u373vbk/oP2Y+5BTNSz6P8A+iufG6vD/e5aZqCj43uuy067cHBW3mx7+zIH3kVYaPZ9jbxRfi40T9FQP3VUekSBn0y6VFZi0ZGFBYnmM4A5nlnpQOPrX/rH9kuv8qgxsRu1e5P2LS1X9KWdv3Uy0l8IavHc6lqDxFiAlonrK6MMLMcFXAYcyeop0oOZekQZuLsnolla7vzWvyZM+WyPn5V0zNKsdos2o30cgDI1paxsp71ZrjcPjmtFjrL6cBBfbjCuBDeYJQr0VbjH83IBgbj6rcjkHlQZ8YDUVlR7QnsAnrrEkUku/d12ylQybccldWznrkYgaTx7cu5hNuk0wGdqP9Fl9729xhlH5SM4p4guVkQMjKysMhlIYHzBBwah6toUF2m2eNXAOVPRlP2kcesjeakGgRXJs9TgvNRljjaeKdDgkxRBTH2UIcgZODIxYgbiT4CnnTOJrW5Yrb3MErAZKxyIzAeOAc45jnVXoN5LDcNZXDmQhO0tpm5NJGCAySY5GSNmALD2gynGc58lhX+GIsKBizmJwAM5miHP5UDRVXrPE9raFRczxxFslQ7YJA6keQyKszS1fctYtfO0uvulgoKbQ1h1DUp9QVt0ECxxRHmFaRUZnlwQD6iy7By72qdw9pgvgt9doH3ktaRuMpDFn1GCHkZXXDlzzG4KMAVr4ehZ9GlYfzk63cme8tI8jA+/BUfAVjqN6f4FtzC5QTJZxB15FEleKNiD3EKzYPcSKC51aC0vg9q0kTSKMgI6mWJh7MigHcjKcEHlVbqVhcT6WrTLsvYUEqnI5TxcwwIyAHwRj7MhFT5uCbYLEIYkgMEiPG0SKGG081J6sHXcrZPMMasNa1WO2gkllYKiqc57z0Cgd5JwABzJOKBf4I1Bbm4vbhfZkNpt/NNnHIB/vTTDq+iQ3UfZzxh1zlc8mU9zIwwyMPtKQaUfRFYNDBOkgw6yRKw8CtnACvw6fCn6gXOHuF5La5llkuXnDxxRx9oo7RVRnbDuOTnLn1sA8ueav7iXapY/VBPyGa2VXcRPttLgjuhlPyQ0CXwVFtfSh46bM5/ryWzftaui0icNpi709R9TSj8Mvbgf+U/KnugSb92GqXG0Z/k1pn/xLmipEUe7Vbzvxb2Y/WuD++igkcAf0eUfZu7wf3qQ/vpmpV4SuFjmv4WZQVvHZQSAcSRRyZAz9pm++mgSA9CKD0ijFe5rzNBz3gWT/lnWAepa3PyEg/eK6HXNeGv4viG+BOO1Vsf1Etm/95q6TmgQtf1V7a/uOxAM01vZRw7vZEj3E6KzY+qoyx8hjvq1XgNCuXur1piOcouJFOfERg9kB+TsIxyOareK9JM+ookbhJXtWeFsbgstvcxyISO8fxhBHeC1WdrxvGhEd8v0ObwlIEL46mKb2GHkSGGeYFAuzcB3kTE2rwK59meNntXz4zQIrwTeHJVz5Guh2iMEUSEM4UbiBgE45kDuBOTisoplYAqwIPeCCKqNX4vt7duz39rMfYgg/jJmPkg9kflNgDvNBF1nnqliF9pUumb8zai/Iuy/KvAf+WfdY/tuP/it3DukS75Lq62i4mAXYp3LDEuSsIb6xySzMMAseXICtcoxrEf5dlL+rPGf8dAy0s3vPWLbytLn75YP+FM1LLetrI/2dkf95OP8qg89HxxYrE3tQyTwuPApM4AP9XafcRVXo2k/SNMuNPLbXt3lgViPZ2P2lu+PAIYmHuqfLKLC+ZnOLa9K+t0WO5AC+segEqBQD9pMfWFSNW0qeOc3dmEZ2VVnhc7VmVc7WV8epKuSASCCOR6AgIv4U3bIIVsZluzhSZF/kqnvlMwOHTvCrhzyGBzxJ17g62vG3yKBdKi9nMpIkjKklHQZOAHJPPIPQ5rFuKLhgVi025EvT+OMSRA+LSB2yo/IDHyqjiiZmltreXtrybAv7wD1IF/Fp3BgpIjiB5c2bv3BK9FGotcQXMr43yXAZsdNxtoMkeROSPKnctikfhvULWxub63aWGFUkg7NJJEQ7PocKjAYjPNcZrPjzia0k026VLu3ZjE+0JNGWJAzgYbOeXdQO2aqeL3xYXZ8Leb/ANNqpoXudPAz2l3Z4BB9u5gHn3zxjy9cD7WM1L4g1GK60q7khkWRGtpsMhyP5tuXkR3g8x30C/BxBb2d6jXUgiUafbIhYNgku5YAgEcsLn3ir1fSVYHG243Z6BI5nJ9wVCap9JsJL6Wf+WXcMcIto0W3kVBk2ySNkFDk5kHyq5Tgjl619qLe+4Iz8VVfuoMeEpTNdX1x2cqJI0KxGaN4iypEMkK4DY3Mw6d1Fe8AbjbOTI8i/SblY2kYyN2aTsiesxyeS9TXtBZahwtaXDbp7WCVuXrSRozchgcyM8hUBvRzp3+pW4/NQL+zFMlFAtH0c6f/AKpH+t/xrFfRppw/6KvxaQ/cWpnooF48A2GzZ9DhK7i2CuSGIAJBPMEhQOvcK0j0b6fnP0VPm+PluxTPRQVGlcKWlqxe3toomIwWRQGI8N3U9BVlPbq6lXUMp6hgCD7weRrbRQLkvo809jk2VuD37UCg/AYFWml6HBbLtghiiHeI0Vc+/A5/Gp9FAVU6zwxBdsjSq+5MhHjkkiYBiCRuRgcEqOXlVtRQLX4CxgYW5v1HgLuY4/SYmpWh8KpayPKJZ5pHVUL3EhkIVSSFHIYGWJq7ooI97YpMjRyqro4wysAQQe4g0vjhW5hG20vnSMdI7mNblV8ArFlkAHgzNTRRQK/4KXE39LvppF/F26i1QjwYqTKf0xV7pumR28YjhjWONfZVBgf/AL599S6KCJcaXFIcvFG56ZZFY/Miq2S20+GRY2S0jkYFlUrErEAgEjl3EirwiuZ8Q+iy6vbgyzXsDqGcxLJao+xWBATmeajkcHlu59aB+Ot24H8/CBnH84nUd3WlLX9NsrgStb30VtNNGwd4pYikispUmWMnZJ7XtcmHLDeK8voOkAGLmz882ER5nr39Khn0Cz7gRc2mNxc5tF67cBducbe/b0B50DJpNu9nuS31TTyJXMgEybmI2quNy3AyoUKByq/+iam3L6VZKPFLaVj+tcYrnsXoFnD7jc2hAzgG0Ug7uuVzgYwMeGTjHf07hjTLmCIrdXKXDZ9QpEsIVQMbdq8j76Ddw7oos7aKAMX7NcFjyLHOWYjuyxJxnvoq0ooCiiigKKKKAooooCiiigKKKKAooooCiiigKKKKAooooCiiigKKKKAooooCiiig/9k="/>
          <p:cNvSpPr>
            <a:spLocks noChangeAspect="1" noChangeArrowheads="1"/>
          </p:cNvSpPr>
          <p:nvPr/>
        </p:nvSpPr>
        <p:spPr bwMode="auto">
          <a:xfrm>
            <a:off x="0" y="-384175"/>
            <a:ext cx="304800" cy="304800"/>
          </a:xfrm>
          <a:prstGeom prst="rect">
            <a:avLst/>
          </a:prstGeom>
          <a:noFill/>
          <a:ln w="9525">
            <a:noFill/>
            <a:miter lim="800000"/>
            <a:headEnd/>
            <a:tailEnd/>
          </a:ln>
        </p:spPr>
        <p:txBody>
          <a:bodyPr/>
          <a:lstStyle/>
          <a:p>
            <a:endParaRPr lang="en-AU">
              <a:latin typeface="Calibri" pitchFamily="34" charset="0"/>
            </a:endParaRPr>
          </a:p>
        </p:txBody>
      </p:sp>
      <p:sp>
        <p:nvSpPr>
          <p:cNvPr id="14341" name="AutoShape 6" descr="data:image/jpeg;base64,/9j/4AAQSkZJRgABAQAAAQABAAD/2wCEAAkGBhQRERUUEhMUFRUWGBgaFRgUGBgYGRwcHRceHBwYGxodHiceGxwjGxobHy8hIycqLCwsHB4xNTAsNSYsLSkBCQoKBQUFDQUFDSkYEhgpKSkpKSkpKSkpKSkpKSkpKSkpKSkpKSkpKSkpKSkpKSkpKSkpKSkpKSkpKSkpKSkpKf/AABEIAHcAxQMBIgACEQEDEQH/xAAbAAACAgMBAAAAAAAAAAAAAAAABgQFAgMHAf/EAFAQAAIBAwIDBAYECAoFDQAAAAECAwAEEQUSBiExE0FRYQciMnGBkRRCUqEWU2JykqKxwRUjJDM0gpSkwtNDVGOj0SU1RGSDhJOys8Ph8PH/xAAUAQEAAAAAAAAAAAAAAAAAAAAA/8QAFBEBAAAAAAAAAAAAAAAAAAAAAP/aAAwDAQACEQMRAD8A7jRRRQFFFFApLdXtzcXS29xBDFBIsS77czMW7GN2Oe1THOTHTurN9P1KNWZtQtyACSTZHkAMnpcVt4G9ZLmT8Ze3J/Rk7IfdGK3cfXXZ6ZeMOvYSAe9lKg/NqCVwrqEk9lbzTBRJLEjsFGBllB5DJx18a813X0tVUsGd3bbDFHzkkb7Kr95JwFHMkCpdpbrDCiZwsaKufAKuM/IUv8IwG5J1CXO6YEW4P+jt85QAdzScpGPflR0UUGaadf3HrS3As1PSO2VJJB+fNICpPkqAeZrL8FblOcWp3W7wmSCVPivZqfkwplzRmgWrTiKWGZIL9ERpDthniz2MrdyYb1opCOiMSGx6pPSmUGoer6VHdQvDKu5HGCO/xBB7mB5g9xANLdhxU1taXQuiXmsSUc98oIBgcDxlVlH524UFprfEYhdYYYzcXLjKxKQuF/GSuciOPPLJBJ6AGoq6Bezc579oj9izjjRR5b5Vd39/q9/KpXCeitBEXmw11PiS5cd749geCIPUUdwHiSavaBYPDl5Fzg1GVz9m7jikQ+RMaxuvvDfA1v0biRnlNtcx9hcqNwXduSRR1eF8DcoPUEBlyMjvq/3VUcS6F9KhwrbJkIe3kHWOQeyfzT7LDvUkUGPGGrvbWcksW0yDYqbhkbnlWMZGRnm3TNRf4N1Icxe2p8jZsAfeRc5qn1HW/plnYll2tLeWyTJ9l4pS0ieYDwkD4U9A0CxperXi3otbn6M4MDyh4BKpGHVAGV2bruPQ/VqFa8R3jtLdRxLNZCR0SNBifZGdrToc7ZQzh/UODtAwSTgweItQf6fdJCcTyxWtpCR9UuZpJJPdHEd/wHjT1punpBDHFGMJGiqo8lGBQY6XqcdxEssLh0cZVh+/vBB5EHmCCDUvNc94gv2sLq6kswuBbdvdI4PZdq0gWKTCkEOyiQtj2ggJ586uzDqvUSaefLsrgZ+PanHyoGiiqjhPWTd2cM7KFaRcsq5wGBIIGeeMg1b0BRRRQFFFFAUUUUC16Pv6GT9q4uz/AHqSsfSSM6dMPtGFf0p41/fWXo+P8iA8J7ofK6lFXep6ZHcxNFMoeNsblJI6EMOYIIwQDy8KCl9IVwU0y7IyD2LqP6w2/wCKr60tljjVFGFRQqjwCjA+4Vznj/gqJY4Y7YSJJPI8WTNM4ObaYgFWcgjcF7u6njh3VxdWsM4/0kasR4Nj1lPmGyD7qCv1nU5prj6JaMI2Ch7icqG7JGJCKink0r7WxnkoGSDkCsPwLx6y31+JPtmfcCfOMqYiPLaBXmhkR6jfxsMNJ2EyflR9isRx+bIhB/OHjUe7ia+v54Hlmihto4SEgkaJnaUMTIzqQ21QoUAHGdxPdQWHD+symSS1utvbxBWDoMLLGxIWULz2kMCrLk4I5ciKVeMUxq0EX1bk2ZkHc3YTyON36o88YrbwrcSSarJEzmUWKTQtM3tMsrQvErkci67ZFJ79mepNaOKpC91c3aglNPNkDjnnZK0s+D+TDKM+6g6WBSzqeoz3Nw9rav2KRBfpM4UMylhlYYgw27yvrFiCFBXkSeTGrgjIOQRyI7x40tcJtsuNQiblJ9JM3PvjliTYw8RlGTl3oaDI8GFfWivr5JOoZ5e1Un8qJxsI8QAPeKl8Oa1JKZILhVW4gKiTZnY6sMpMmeYVsEYPssrDnjNUlnpz6g1zLJdXERjnlhhWCUxrEIm2hmUcpHbG878jDKMY6xeAdXe9uWuGxlLSKGZl5K0nayNkDuGzD+QlFBGdAL8wjoNWjkA/P05pW/WyfjXSM1zexcyXEF1gbbjVJih8Y0spIEb3N2Rb410kUCxpfCJTUrq+kIYybFgUEnYoiRXJyPaZl+Q8zV7qepJbwyTSnCRqWc+QGT7z4DxqVilXj4EJAzgm1jnSS7Cj1uzUEqx8Y1l2O467QfA0FNqmnuujXs042z3amWUHqm7ascX/AGcYVffuPfXQQOQ+FLXpAlDabJtIIkMCgjmDvnjXI+DUySyBQSTgDmSfKgW/Rr/zbD75vl28mPupopb9HMeNLtPyog/6ZL/4qZKAooooCiiigKKKKBa4D5QTJ9i8ux853Yfcwplpfu+BLOSR5GiIdzudo5JYyT4nYw58q1D0f246SXg/75dfvkoPeMeUlgfC9QfpQyr++ockv8FzuzZ+gzuXLAcreZj6xfwhkPrZ6K2c4Dcp8HAtukkcmbh2jbcgluJ5FDYIB2s5UkZPUVfPEGBBAIPIg8wR4YoKnWNDS6Ebq7RyploZ4iNy7hzxkFWRhjKkEHl3gELmqcD3lzIjSXscbINontoZIpyucmM4mKbT15qcHmBVv+BQiz9DuZ7QEk9nGVeHn4RSKypz54Tb1rFOGbtuU2pzlc8xDFBCT5bgrMPgR8KCCI4tLjFnYL2l3NlgHO5snk1zcN1CDqScbsbV5mmDRtAS3txDzkzuMrOOcjuSZHYflMTy7hy7qy0fh2G1VhCmC5zI5JaRz4vI2Wc+81ZAUChot8dPkWyuWIiztsp3PqsuOVu7d0qDkM+2oGOeRVtrnDouGSVJHguIwQkseCdpOSjqfVkjJ+qfeMHnVhfadHPG0cyJIjDDK4BU/A1R/gfJEMWl9cwr3I+y4RfJe1UuB5bqCh1H0b3NzKzSXqxCQATNaRyxNMAAP4xTM0YbaMbgp5cuY5CQbWNE/gvTBsxyuplOexRvby/1rhxyA6r7RwABVsOE55Bi51C4kXvWJY7cH3tGN/yYVdabpEVtGI4I0jReioMDzPmT4nmaBd4ntVgGmrGoVIryBFA6BTHJEAP0hTYKh6xo0V1H2cyll3KwwzIQynKsGUhgQe8VUDgG3HSS8HkLy5/fJQbbLiyOS/nsipSSEIyk9JAyKx2+BXcAR15g1aarqEUELyzsFjUZctzGOmMd5PQAcyTiqC54AiWNvo7SR3G8Sxzu8krLIq7RkuSWQqSjJ0Kk+VZ6bw/NO6z6iY2dCDFBESYIyPr8+ckngzcl+qB1oFi502YWCW7L2Ud5eRpBBIqymCFj2m0g8sgRs4XmEyFB5VF4h9F0draTz9qhMUbyKBawAFlUkZ3Bu/Aro2t8OxXaoswb1G3oUd42VsEZDIQehI+Jqsf0e2rcnNzIPsyXVwynyZS+GHkRQXmmRbIY1IAIRQQoCjko6AcgPIVKrwCvaAooooKbVeK4beUROJmkK79sMMsxC52hj2anaCwI5+FRfw7h/E339hu/8qsNAHaahqEvXYYLdfLZF2p/Wn+6mbFAtnjyAf6K9/sV3/l1ZaHxBFeIzwliFcowdGRlYYyCrAEEZFT5GA5noOZpc9HiE2EcrZ3XDSXDZ/20jOB8FIHwoLHWeJIbQoJS+6TdsWOOSV22jLYVFJwARUH8O4PxN9/Yrv8Ayqwujv1iAfirSd/jJLGg+5GplxQUmm8aWtxKIY5CJSCQkkcsTHHXAdR0qzvNQjhQvK6RovVpGCqPeTyFLfEV8keo28khwlva3k8h8BmJc4927/6ay0XQDcFbu+UPK2GihbnHbqfZVV6GXHtOeeeQwBQbB6Q7VhmMXMy/ahtbmRPfuEeD8Kl6bxpaXEnZpMok/FyhopPhHIFY/AGrvFQtW0eG5j7OeJZFPcwzg+IPVT5gg0G2+1KOBN80iRIOrSMEX5sQKqW4+08db60+E0Z/Y1KbQsNTtdOmbt44i91E0vrsYjFJEI5CfbZJDyY8ypXPMZroqWaAYCKPcoFBQx+kbTm6X1t8ZFH7a3Lx5p56X1p8Z4h+1quvoy/ZX5CtUunxN7UaH3qp/dQeWGqRTruhljlXpujdXHzUkVI3UjwX8On3moErtQizZI4lG5ndHjWNFHV2KDl88AE1Jn0yWVDNqd0beLr2EMvYxoPCWcFWkbpnBVc5AB60DhmikDTrTS532WV48c2DtMN1LuOOpCyMUkxjJ5MPGrvSNYminFpelWkYFoJlG1ZlXmwK9ElUcyo5EesOhABjavaStRtribU5jb3Bja3t4NqtloXLySlllQeKquGXDLyIz0NvpHFQkk7CdDb3QH805yHA6vC/ISp7uY7wKC/opa1bXroXf0a0ghkKxLLI00rRgBnZVUbUbJ9Qmj+F9RU+tYQsP9ldgn5PEv7aBkJozXPUuI9Vu7RpBMsUtpcP2XaumHjuI0y3ZuA3It48qvj6PbP6qzrn7Fzcr+ySgZM0Un6D/Jb27tw8rRCO2kjEsjylS/aq2Gck4PZjlmigl8Dc1u373vbk/oP2Y+5BTNSz6P8A+iufG6vD/e5aZqCj43uuy067cHBW3mx7+zIH3kVYaPZ9jbxRfi40T9FQP3VUekSBn0y6VFZi0ZGFBYnmM4A5nlnpQOPrX/rH9kuv8qgxsRu1e5P2LS1X9KWdv3Uy0l8IavHc6lqDxFiAlonrK6MMLMcFXAYcyeop0oOZekQZuLsnolla7vzWvyZM+WyPn5V0zNKsdos2o30cgDI1paxsp71ZrjcPjmtFjrL6cBBfbjCuBDeYJQr0VbjH83IBgbj6rcjkHlQZ8YDUVlR7QnsAnrrEkUku/d12ylQybccldWznrkYgaTx7cu5hNuk0wGdqP9Fl9729xhlH5SM4p4guVkQMjKysMhlIYHzBBwah6toUF2m2eNXAOVPRlP2kcesjeakGgRXJs9TgvNRljjaeKdDgkxRBTH2UIcgZODIxYgbiT4CnnTOJrW5Yrb3MErAZKxyIzAeOAc45jnVXoN5LDcNZXDmQhO0tpm5NJGCAySY5GSNmALD2gynGc58lhX+GIsKBizmJwAM5miHP5UDRVXrPE9raFRczxxFslQ7YJA6keQyKszS1fctYtfO0uvulgoKbQ1h1DUp9QVt0ECxxRHmFaRUZnlwQD6iy7By72qdw9pgvgt9doH3ktaRuMpDFn1GCHkZXXDlzzG4KMAVr4ehZ9GlYfzk63cme8tI8jA+/BUfAVjqN6f4FtzC5QTJZxB15FEleKNiD3EKzYPcSKC51aC0vg9q0kTSKMgI6mWJh7MigHcjKcEHlVbqVhcT6WrTLsvYUEqnI5TxcwwIyAHwRj7MhFT5uCbYLEIYkgMEiPG0SKGG081J6sHXcrZPMMasNa1WO2gkllYKiqc57z0Cgd5JwABzJOKBf4I1Bbm4vbhfZkNpt/NNnHIB/vTTDq+iQ3UfZzxh1zlc8mU9zIwwyMPtKQaUfRFYNDBOkgw6yRKw8CtnACvw6fCn6gXOHuF5La5llkuXnDxxRx9oo7RVRnbDuOTnLn1sA8ueav7iXapY/VBPyGa2VXcRPttLgjuhlPyQ0CXwVFtfSh46bM5/ryWzftaui0icNpi709R9TSj8Mvbgf+U/KnugSb92GqXG0Z/k1pn/xLmipEUe7Vbzvxb2Y/WuD++igkcAf0eUfZu7wf3qQ/vpmpV4SuFjmv4WZQVvHZQSAcSRRyZAz9pm++mgSA9CKD0ijFe5rzNBz3gWT/lnWAepa3PyEg/eK6HXNeGv4viG+BOO1Vsf1Etm/95q6TmgQtf1V7a/uOxAM01vZRw7vZEj3E6KzY+qoyx8hjvq1XgNCuXur1piOcouJFOfERg9kB+TsIxyOareK9JM+ookbhJXtWeFsbgstvcxyISO8fxhBHeC1WdrxvGhEd8v0ObwlIEL46mKb2GHkSGGeYFAuzcB3kTE2rwK59meNntXz4zQIrwTeHJVz5Guh2iMEUSEM4UbiBgE45kDuBOTisoplYAqwIPeCCKqNX4vt7duz39rMfYgg/jJmPkg9kflNgDvNBF1nnqliF9pUumb8zai/Iuy/KvAf+WfdY/tuP/it3DukS75Lq62i4mAXYp3LDEuSsIb6xySzMMAseXICtcoxrEf5dlL+rPGf8dAy0s3vPWLbytLn75YP+FM1LLetrI/2dkf95OP8qg89HxxYrE3tQyTwuPApM4AP9XafcRVXo2k/SNMuNPLbXt3lgViPZ2P2lu+PAIYmHuqfLKLC+ZnOLa9K+t0WO5AC+segEqBQD9pMfWFSNW0qeOc3dmEZ2VVnhc7VmVc7WV8epKuSASCCOR6AgIv4U3bIIVsZluzhSZF/kqnvlMwOHTvCrhzyGBzxJ17g62vG3yKBdKi9nMpIkjKklHQZOAHJPPIPQ5rFuKLhgVi025EvT+OMSRA+LSB2yo/IDHyqjiiZmltreXtrybAv7wD1IF/Fp3BgpIjiB5c2bv3BK9FGotcQXMr43yXAZsdNxtoMkeROSPKnctikfhvULWxub63aWGFUkg7NJJEQ7PocKjAYjPNcZrPjzia0k026VLu3ZjE+0JNGWJAzgYbOeXdQO2aqeL3xYXZ8Leb/ANNqpoXudPAz2l3Z4BB9u5gHn3zxjy9cD7WM1L4g1GK60q7khkWRGtpsMhyP5tuXkR3g8x30C/BxBb2d6jXUgiUafbIhYNgku5YAgEcsLn3ir1fSVYHG243Z6BI5nJ9wVCap9JsJL6Wf+WXcMcIto0W3kVBk2ySNkFDk5kHyq5Tgjl619qLe+4Iz8VVfuoMeEpTNdX1x2cqJI0KxGaN4iypEMkK4DY3Mw6d1Fe8AbjbOTI8i/SblY2kYyN2aTsiesxyeS9TXtBZahwtaXDbp7WCVuXrSRozchgcyM8hUBvRzp3+pW4/NQL+zFMlFAtH0c6f/AKpH+t/xrFfRppw/6KvxaQ/cWpnooF48A2GzZ9DhK7i2CuSGIAJBPMEhQOvcK0j0b6fnP0VPm+PluxTPRQVGlcKWlqxe3toomIwWRQGI8N3U9BVlPbq6lXUMp6hgCD7weRrbRQLkvo809jk2VuD37UCg/AYFWml6HBbLtghiiHeI0Vc+/A5/Gp9FAVU6zwxBdsjSq+5MhHjkkiYBiCRuRgcEqOXlVtRQLX4CxgYW5v1HgLuY4/SYmpWh8KpayPKJZ5pHVUL3EhkIVSSFHIYGWJq7ooI97YpMjRyqro4wysAQQe4g0vjhW5hG20vnSMdI7mNblV8ArFlkAHgzNTRRQK/4KXE39LvppF/F26i1QjwYqTKf0xV7pumR28YjhjWONfZVBgf/AL599S6KCJcaXFIcvFG56ZZFY/Miq2S20+GRY2S0jkYFlUrErEAgEjl3EirwiuZ8Q+iy6vbgyzXsDqGcxLJao+xWBATmeajkcHlu59aB+Ot24H8/CBnH84nUd3WlLX9NsrgStb30VtNNGwd4pYikispUmWMnZJ7XtcmHLDeK8voOkAGLmz882ER5nr39Khn0Cz7gRc2mNxc5tF67cBducbe/b0B50DJpNu9nuS31TTyJXMgEybmI2quNy3AyoUKByq/+iam3L6VZKPFLaVj+tcYrnsXoFnD7jc2hAzgG0Ug7uuVzgYwMeGTjHf07hjTLmCIrdXKXDZ9QpEsIVQMbdq8j76Ddw7oos7aKAMX7NcFjyLHOWYjuyxJxnvoq0ooCiiigKKKKAooooCiiigKKKKAooooCiiigKKKKAooooCiiigKKKKAooooCiiig/9k="/>
          <p:cNvSpPr>
            <a:spLocks noChangeAspect="1" noChangeArrowheads="1"/>
          </p:cNvSpPr>
          <p:nvPr/>
        </p:nvSpPr>
        <p:spPr bwMode="auto">
          <a:xfrm>
            <a:off x="152400" y="-231775"/>
            <a:ext cx="304800" cy="304800"/>
          </a:xfrm>
          <a:prstGeom prst="rect">
            <a:avLst/>
          </a:prstGeom>
          <a:noFill/>
          <a:ln w="9525">
            <a:noFill/>
            <a:miter lim="800000"/>
            <a:headEnd/>
            <a:tailEnd/>
          </a:ln>
        </p:spPr>
        <p:txBody>
          <a:bodyPr/>
          <a:lstStyle/>
          <a:p>
            <a:endParaRPr lang="en-AU">
              <a:latin typeface="Calibri" pitchFamily="34" charset="0"/>
            </a:endParaRPr>
          </a:p>
        </p:txBody>
      </p:sp>
      <p:pic>
        <p:nvPicPr>
          <p:cNvPr id="14342" name="Picture 8" descr="http://www.makinglearningfun.com/images/photos/LookListen-BW.jpg"/>
          <p:cNvPicPr>
            <a:picLocks noChangeAspect="1" noChangeArrowheads="1"/>
          </p:cNvPicPr>
          <p:nvPr/>
        </p:nvPicPr>
        <p:blipFill>
          <a:blip r:embed="rId3"/>
          <a:srcRect/>
          <a:stretch>
            <a:fillRect/>
          </a:stretch>
        </p:blipFill>
        <p:spPr bwMode="auto">
          <a:xfrm>
            <a:off x="914400" y="363538"/>
            <a:ext cx="4830763" cy="2913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09600" y="381000"/>
            <a:ext cx="7772400" cy="1470025"/>
          </a:xfrm>
          <a:solidFill>
            <a:schemeClr val="accent2">
              <a:lumMod val="40000"/>
              <a:lumOff val="60000"/>
            </a:schemeClr>
          </a:solidFill>
        </p:spPr>
        <p:txBody>
          <a:bodyPr rtlCol="0">
            <a:normAutofit fontScale="90000"/>
          </a:bodyPr>
          <a:lstStyle/>
          <a:p>
            <a:pPr algn="l" eaLnBrk="1" fontAlgn="auto" hangingPunct="1">
              <a:spcAft>
                <a:spcPts val="0"/>
              </a:spcAft>
              <a:defRPr/>
            </a:pPr>
            <a:r>
              <a:rPr lang="en-AU" sz="4000" dirty="0" smtClean="0"/>
              <a:t>There is evidence to support the theory that Homo Sapien Sapiens migrated and slowly populated most of the planet</a:t>
            </a:r>
            <a:r>
              <a:rPr lang="en-AU" dirty="0" smtClean="0"/>
              <a:t>.  </a:t>
            </a:r>
            <a:endParaRPr lang="en-AU" dirty="0"/>
          </a:p>
        </p:txBody>
      </p:sp>
      <p:sp>
        <p:nvSpPr>
          <p:cNvPr id="4" name="Subtitle 3"/>
          <p:cNvSpPr>
            <a:spLocks noGrp="1"/>
          </p:cNvSpPr>
          <p:nvPr>
            <p:ph type="subTitle" idx="1"/>
          </p:nvPr>
        </p:nvSpPr>
        <p:spPr>
          <a:xfrm>
            <a:off x="228600" y="2057400"/>
            <a:ext cx="6400800" cy="1752600"/>
          </a:xfrm>
          <a:solidFill>
            <a:schemeClr val="accent3">
              <a:lumMod val="60000"/>
              <a:lumOff val="40000"/>
            </a:schemeClr>
          </a:solidFill>
        </p:spPr>
        <p:txBody>
          <a:bodyPr rtlCol="0">
            <a:normAutofit/>
          </a:bodyPr>
          <a:lstStyle/>
          <a:p>
            <a:pPr eaLnBrk="1" fontAlgn="auto" hangingPunct="1">
              <a:spcAft>
                <a:spcPts val="0"/>
              </a:spcAft>
              <a:buFont typeface="Arial" pitchFamily="34" charset="0"/>
              <a:buNone/>
              <a:defRPr/>
            </a:pPr>
            <a:r>
              <a:rPr lang="en-AU" dirty="0" smtClean="0"/>
              <a:t>Archaeologists have found many of these clues.  There are many different types of clues.</a:t>
            </a:r>
            <a:endParaRPr lang="en-AU" dirty="0"/>
          </a:p>
        </p:txBody>
      </p:sp>
      <p:pic>
        <p:nvPicPr>
          <p:cNvPr id="15363" name="Picture 2" descr="http://ancienthistory.pppst.com/banner_archaeology.gif"/>
          <p:cNvPicPr>
            <a:picLocks noChangeAspect="1" noChangeArrowheads="1"/>
          </p:cNvPicPr>
          <p:nvPr/>
        </p:nvPicPr>
        <p:blipFill>
          <a:blip r:embed="rId2"/>
          <a:srcRect/>
          <a:stretch>
            <a:fillRect/>
          </a:stretch>
        </p:blipFill>
        <p:spPr bwMode="auto">
          <a:xfrm>
            <a:off x="304800" y="3886200"/>
            <a:ext cx="5915025" cy="3021013"/>
          </a:xfrm>
          <a:prstGeom prst="rect">
            <a:avLst/>
          </a:prstGeom>
          <a:noFill/>
          <a:ln w="9525">
            <a:noFill/>
            <a:miter lim="800000"/>
            <a:headEnd/>
            <a:tailEnd/>
          </a:ln>
        </p:spPr>
      </p:pic>
      <p:sp>
        <p:nvSpPr>
          <p:cNvPr id="5" name="TextBox 4"/>
          <p:cNvSpPr txBox="1"/>
          <p:nvPr/>
        </p:nvSpPr>
        <p:spPr>
          <a:xfrm>
            <a:off x="6477000" y="3124200"/>
            <a:ext cx="2667000" cy="3046413"/>
          </a:xfrm>
          <a:prstGeom prst="rect">
            <a:avLst/>
          </a:prstGeom>
          <a:solidFill>
            <a:schemeClr val="accent6">
              <a:lumMod val="60000"/>
              <a:lumOff val="40000"/>
            </a:schemeClr>
          </a:solidFill>
        </p:spPr>
        <p:txBody>
          <a:bodyPr>
            <a:spAutoFit/>
          </a:bodyPr>
          <a:lstStyle/>
          <a:p>
            <a:pPr fontAlgn="auto">
              <a:spcBef>
                <a:spcPts val="0"/>
              </a:spcBef>
              <a:spcAft>
                <a:spcPts val="0"/>
              </a:spcAft>
              <a:defRPr/>
            </a:pPr>
            <a:r>
              <a:rPr lang="en-AU" sz="2400" dirty="0">
                <a:latin typeface="+mn-lt"/>
              </a:rPr>
              <a:t>Archaeologists search for the </a:t>
            </a:r>
            <a:r>
              <a:rPr lang="en-AU" sz="2400" b="1" dirty="0">
                <a:latin typeface="+mn-lt"/>
              </a:rPr>
              <a:t>remains of human civilisations </a:t>
            </a:r>
            <a:r>
              <a:rPr lang="en-AU" sz="2400" dirty="0">
                <a:latin typeface="+mn-lt"/>
              </a:rPr>
              <a:t>(artefacts)including bones, statues, pottery and buildings.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229600" cy="5257800"/>
          </a:xfrm>
          <a:solidFill>
            <a:schemeClr val="accent4"/>
          </a:solidFill>
        </p:spPr>
        <p:txBody>
          <a:bodyPr>
            <a:normAutofit/>
          </a:bodyPr>
          <a:lstStyle/>
          <a:p>
            <a:pPr eaLnBrk="1" hangingPunct="1">
              <a:lnSpc>
                <a:spcPct val="90000"/>
              </a:lnSpc>
            </a:pPr>
            <a:r>
              <a:rPr lang="en-AU" smtClean="0">
                <a:solidFill>
                  <a:srgbClr val="FFFFFF"/>
                </a:solidFill>
                <a:latin typeface="Comic Sans MS" pitchFamily="66" charset="0"/>
              </a:rPr>
              <a:t>Archaeologists </a:t>
            </a:r>
            <a:r>
              <a:rPr lang="en-AU" u="sng" smtClean="0">
                <a:solidFill>
                  <a:srgbClr val="FFFFFF"/>
                </a:solidFill>
                <a:latin typeface="Comic Sans MS" pitchFamily="66" charset="0"/>
              </a:rPr>
              <a:t>find and put together the clues to learn out about our ancestors.  </a:t>
            </a:r>
          </a:p>
          <a:p>
            <a:pPr eaLnBrk="1" hangingPunct="1">
              <a:lnSpc>
                <a:spcPct val="90000"/>
              </a:lnSpc>
            </a:pPr>
            <a:r>
              <a:rPr lang="en-AU" smtClean="0">
                <a:solidFill>
                  <a:srgbClr val="FFFFFF"/>
                </a:solidFill>
                <a:latin typeface="Comic Sans MS" pitchFamily="66" charset="0"/>
              </a:rPr>
              <a:t>Using the evidence, we can discover many things including:</a:t>
            </a:r>
          </a:p>
          <a:p>
            <a:pPr eaLnBrk="1" hangingPunct="1">
              <a:lnSpc>
                <a:spcPct val="90000"/>
              </a:lnSpc>
              <a:buFont typeface="Arial" charset="0"/>
              <a:buNone/>
            </a:pPr>
            <a:r>
              <a:rPr lang="en-AU" smtClean="0">
                <a:solidFill>
                  <a:srgbClr val="FFFFFF"/>
                </a:solidFill>
                <a:latin typeface="Comic Sans MS" pitchFamily="66" charset="0"/>
              </a:rPr>
              <a:t>-When humans came to an area.</a:t>
            </a:r>
          </a:p>
          <a:p>
            <a:pPr eaLnBrk="1" hangingPunct="1">
              <a:lnSpc>
                <a:spcPct val="90000"/>
              </a:lnSpc>
              <a:buFontTx/>
              <a:buChar char="-"/>
            </a:pPr>
            <a:r>
              <a:rPr lang="en-AU" smtClean="0">
                <a:solidFill>
                  <a:srgbClr val="FFFFFF"/>
                </a:solidFill>
                <a:latin typeface="Comic Sans MS" pitchFamily="66" charset="0"/>
              </a:rPr>
              <a:t>How they lived.</a:t>
            </a:r>
          </a:p>
          <a:p>
            <a:pPr eaLnBrk="1" hangingPunct="1">
              <a:lnSpc>
                <a:spcPct val="90000"/>
              </a:lnSpc>
              <a:buFontTx/>
              <a:buChar char="-"/>
            </a:pPr>
            <a:r>
              <a:rPr lang="en-AU" smtClean="0">
                <a:solidFill>
                  <a:srgbClr val="FFFFFF"/>
                </a:solidFill>
                <a:latin typeface="Comic Sans MS" pitchFamily="66" charset="0"/>
              </a:rPr>
              <a:t>How long they lived.</a:t>
            </a:r>
          </a:p>
          <a:p>
            <a:pPr eaLnBrk="1" hangingPunct="1">
              <a:lnSpc>
                <a:spcPct val="90000"/>
              </a:lnSpc>
              <a:buFontTx/>
              <a:buChar char="-"/>
            </a:pPr>
            <a:r>
              <a:rPr lang="en-AU" smtClean="0">
                <a:solidFill>
                  <a:srgbClr val="FFFFFF"/>
                </a:solidFill>
                <a:latin typeface="Comic Sans MS" pitchFamily="66" charset="0"/>
              </a:rPr>
              <a:t>Their lifestyle, food, diseases and many other things about our ancestors.</a:t>
            </a:r>
          </a:p>
          <a:p>
            <a:pPr eaLnBrk="1" hangingPunct="1">
              <a:lnSpc>
                <a:spcPct val="90000"/>
              </a:lnSpc>
              <a:buFontTx/>
              <a:buChar char="-"/>
            </a:pPr>
            <a:endParaRPr lang="en-AU" smtClean="0">
              <a:solidFill>
                <a:srgbClr val="FFFFFF"/>
              </a:solidFill>
              <a:latin typeface="Comic Sans MS" pitchFamily="66"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rtlCol="0">
            <a:normAutofit fontScale="90000"/>
          </a:bodyPr>
          <a:lstStyle/>
          <a:p>
            <a:pPr algn="l" eaLnBrk="1" fontAlgn="auto" hangingPunct="1">
              <a:spcAft>
                <a:spcPts val="0"/>
              </a:spcAft>
              <a:defRPr/>
            </a:pPr>
            <a:r>
              <a:rPr lang="en-AU" dirty="0" smtClean="0">
                <a:latin typeface="Adobe Fan Heiti Std B" pitchFamily="34" charset="-128"/>
                <a:ea typeface="Adobe Fan Heiti Std B" pitchFamily="34" charset="-128"/>
              </a:rPr>
              <a:t>We can tell how long ago humans came to an area by finding the clues they left behind and using different scientific methods to date these clues</a:t>
            </a:r>
            <a:endParaRPr lang="en-AU" dirty="0">
              <a:latin typeface="Adobe Fan Heiti Std B" pitchFamily="34" charset="-128"/>
              <a:ea typeface="Adobe Fan Heiti Std B" pitchFamily="34" charset="-128"/>
            </a:endParaRPr>
          </a:p>
        </p:txBody>
      </p:sp>
      <p:sp>
        <p:nvSpPr>
          <p:cNvPr id="3" name="Subtitle 2"/>
          <p:cNvSpPr>
            <a:spLocks noGrp="1"/>
          </p:cNvSpPr>
          <p:nvPr>
            <p:ph type="subTitle" idx="1"/>
          </p:nvPr>
        </p:nvSpPr>
        <p:spPr>
          <a:xfrm>
            <a:off x="1371600" y="4724400"/>
            <a:ext cx="6400800" cy="1752600"/>
          </a:xfrm>
          <a:solidFill>
            <a:schemeClr val="accent6"/>
          </a:solidFill>
          <a:ln w="76200">
            <a:solidFill>
              <a:schemeClr val="tx1"/>
            </a:solidFill>
          </a:ln>
        </p:spPr>
        <p:txBody>
          <a:bodyPr rtlCol="0">
            <a:normAutofit/>
          </a:bodyPr>
          <a:lstStyle/>
          <a:p>
            <a:pPr eaLnBrk="1" fontAlgn="auto" hangingPunct="1">
              <a:spcAft>
                <a:spcPts val="0"/>
              </a:spcAft>
              <a:buFont typeface="Arial" pitchFamily="34" charset="0"/>
              <a:buNone/>
              <a:defRPr/>
            </a:pPr>
            <a:r>
              <a:rPr lang="en-AU" b="1" dirty="0" smtClean="0">
                <a:solidFill>
                  <a:schemeClr val="bg1"/>
                </a:solidFill>
                <a:latin typeface="Comic Sans MS" pitchFamily="66" charset="0"/>
              </a:rPr>
              <a:t>What examples of possible clues can you think of?</a:t>
            </a:r>
            <a:endParaRPr lang="en-AU" b="1" dirty="0">
              <a:solidFill>
                <a:schemeClr val="bg1"/>
              </a:solidFill>
              <a:latin typeface="Comic Sans MS" pitchFamily="66" charset="0"/>
            </a:endParaRPr>
          </a:p>
        </p:txBody>
      </p:sp>
      <p:pic>
        <p:nvPicPr>
          <p:cNvPr id="17411" name="Picture 2"/>
          <p:cNvPicPr>
            <a:picLocks noChangeAspect="1" noChangeArrowheads="1"/>
          </p:cNvPicPr>
          <p:nvPr/>
        </p:nvPicPr>
        <p:blipFill>
          <a:blip r:embed="rId2"/>
          <a:srcRect/>
          <a:stretch>
            <a:fillRect/>
          </a:stretch>
        </p:blipFill>
        <p:spPr bwMode="auto">
          <a:xfrm>
            <a:off x="6819900" y="381000"/>
            <a:ext cx="2324100" cy="2619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pPr eaLnBrk="1" hangingPunct="1"/>
            <a:r>
              <a:rPr lang="en-AU" b="1" smtClean="0">
                <a:latin typeface="Agency FB" pitchFamily="34" charset="0"/>
              </a:rPr>
              <a:t>Possible clues include…</a:t>
            </a:r>
          </a:p>
        </p:txBody>
      </p:sp>
      <p:sp>
        <p:nvSpPr>
          <p:cNvPr id="3" name="Content Placeholder 2"/>
          <p:cNvSpPr>
            <a:spLocks noGrp="1"/>
          </p:cNvSpPr>
          <p:nvPr>
            <p:ph idx="1"/>
          </p:nvPr>
        </p:nvSpPr>
        <p:spPr>
          <a:solidFill>
            <a:srgbClr val="92D050"/>
          </a:solidFill>
        </p:spPr>
        <p:txBody>
          <a:bodyPr>
            <a:normAutofit/>
          </a:bodyPr>
          <a:lstStyle/>
          <a:p>
            <a:pPr eaLnBrk="1" hangingPunct="1"/>
            <a:r>
              <a:rPr lang="en-AU" sz="3000" b="1" smtClean="0">
                <a:latin typeface="Bradley Hand ITC" pitchFamily="66" charset="0"/>
              </a:rPr>
              <a:t>Footprints that have been preserved.</a:t>
            </a:r>
          </a:p>
          <a:p>
            <a:pPr eaLnBrk="1" hangingPunct="1"/>
            <a:r>
              <a:rPr lang="en-AU" sz="3000" b="1" smtClean="0">
                <a:latin typeface="Bradley Hand ITC" pitchFamily="66" charset="0"/>
              </a:rPr>
              <a:t>Tools, weapons and jewellery. </a:t>
            </a:r>
          </a:p>
          <a:p>
            <a:pPr eaLnBrk="1" hangingPunct="1"/>
            <a:r>
              <a:rPr lang="en-AU" sz="3000" b="1" smtClean="0">
                <a:latin typeface="Bradley Hand ITC" pitchFamily="66" charset="0"/>
              </a:rPr>
              <a:t>Buildings/shelters.</a:t>
            </a:r>
          </a:p>
          <a:p>
            <a:pPr eaLnBrk="1" hangingPunct="1"/>
            <a:r>
              <a:rPr lang="en-AU" sz="3000" b="1" smtClean="0">
                <a:latin typeface="Bradley Hand ITC" pitchFamily="66" charset="0"/>
              </a:rPr>
              <a:t>Artworks.</a:t>
            </a:r>
          </a:p>
          <a:p>
            <a:pPr eaLnBrk="1" hangingPunct="1"/>
            <a:r>
              <a:rPr lang="en-AU" sz="3000" b="1" smtClean="0">
                <a:latin typeface="Bradley Hand ITC" pitchFamily="66" charset="0"/>
              </a:rPr>
              <a:t>Graves (human remains and burial goods)</a:t>
            </a:r>
          </a:p>
          <a:p>
            <a:pPr eaLnBrk="1" hangingPunct="1"/>
            <a:r>
              <a:rPr lang="en-AU" sz="3000" b="1" smtClean="0">
                <a:latin typeface="Bradley Hand ITC" pitchFamily="66" charset="0"/>
              </a:rPr>
              <a:t>Pottery</a:t>
            </a:r>
          </a:p>
          <a:p>
            <a:pPr eaLnBrk="1" hangingPunct="1"/>
            <a:r>
              <a:rPr lang="en-AU" sz="3000" b="1" smtClean="0">
                <a:latin typeface="Bradley Hand ITC" pitchFamily="66" charset="0"/>
              </a:rPr>
              <a:t>Ancient rubbish piles</a:t>
            </a:r>
          </a:p>
          <a:p>
            <a:pPr eaLnBrk="1" hangingPunct="1">
              <a:buFont typeface="Arial" charset="0"/>
              <a:buNone/>
            </a:pPr>
            <a:r>
              <a:rPr lang="en-AU" sz="3000" b="1" smtClean="0">
                <a:latin typeface="Bradley Hand ITC" pitchFamily="66" charset="0"/>
              </a:rPr>
              <a:t>There are also many more clues archaeologists use</a:t>
            </a:r>
            <a:r>
              <a:rPr lang="en-AU" sz="3000" smtClean="0">
                <a:latin typeface="Bradley Hand ITC" pitchFamily="66" charset="0"/>
              </a:rPr>
              <a: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solidFill>
            <a:srgbClr val="FFFF00"/>
          </a:solidFill>
        </p:spPr>
        <p:txBody>
          <a:bodyPr rtlCol="0">
            <a:normAutofit fontScale="90000"/>
          </a:bodyPr>
          <a:lstStyle/>
          <a:p>
            <a:pPr eaLnBrk="1" fontAlgn="auto" hangingPunct="1">
              <a:spcAft>
                <a:spcPts val="0"/>
              </a:spcAft>
              <a:defRPr/>
            </a:pPr>
            <a:r>
              <a:rPr lang="en-AU" dirty="0" smtClean="0"/>
              <a:t>Dating of Artefacts</a:t>
            </a:r>
            <a:endParaRPr lang="en-AU" dirty="0"/>
          </a:p>
        </p:txBody>
      </p:sp>
      <p:sp>
        <p:nvSpPr>
          <p:cNvPr id="3" name="Content Placeholder 2"/>
          <p:cNvSpPr>
            <a:spLocks noGrp="1"/>
          </p:cNvSpPr>
          <p:nvPr>
            <p:ph idx="1"/>
          </p:nvPr>
        </p:nvSpPr>
        <p:spPr>
          <a:xfrm>
            <a:off x="381000" y="1066800"/>
            <a:ext cx="8305800" cy="5059363"/>
          </a:xfrm>
        </p:spPr>
        <p:txBody>
          <a:bodyPr rtlCol="0">
            <a:noAutofit/>
          </a:bodyPr>
          <a:lstStyle/>
          <a:p>
            <a:pPr eaLnBrk="1" fontAlgn="auto" hangingPunct="1">
              <a:spcAft>
                <a:spcPts val="0"/>
              </a:spcAft>
              <a:buFont typeface="Arial" pitchFamily="34" charset="0"/>
              <a:buChar char="•"/>
              <a:defRPr/>
            </a:pPr>
            <a:r>
              <a:rPr lang="en-AU" sz="2100" dirty="0" smtClean="0"/>
              <a:t>There are many ways in which archaeologists (with the help of specialist scientists) can date artefacts including:</a:t>
            </a:r>
          </a:p>
          <a:p>
            <a:pPr eaLnBrk="1" fontAlgn="auto" hangingPunct="1">
              <a:spcAft>
                <a:spcPts val="0"/>
              </a:spcAft>
              <a:buFont typeface="Arial" pitchFamily="34" charset="0"/>
              <a:buChar char="•"/>
              <a:defRPr/>
            </a:pPr>
            <a:r>
              <a:rPr lang="en-AU" sz="2100" dirty="0" smtClean="0"/>
              <a:t>Radio-carbon dating- scientists can read the ‘carbon signature’ and use this to date items because they know the rate at which carbon deteriorates.</a:t>
            </a:r>
          </a:p>
          <a:p>
            <a:pPr eaLnBrk="1" fontAlgn="auto" hangingPunct="1">
              <a:spcAft>
                <a:spcPts val="0"/>
              </a:spcAft>
              <a:buFont typeface="Arial" pitchFamily="34" charset="0"/>
              <a:buChar char="•"/>
              <a:defRPr/>
            </a:pPr>
            <a:r>
              <a:rPr lang="en-AU" sz="2100" dirty="0" smtClean="0"/>
              <a:t>Tree-ring dating (dendrochronology) can be used to match items with similar ‘atmosphere readings’ and growth cycles.  </a:t>
            </a:r>
          </a:p>
          <a:p>
            <a:pPr eaLnBrk="1" fontAlgn="auto" hangingPunct="1">
              <a:spcAft>
                <a:spcPts val="0"/>
              </a:spcAft>
              <a:buFont typeface="Arial" pitchFamily="34" charset="0"/>
              <a:buChar char="•"/>
              <a:defRPr/>
            </a:pPr>
            <a:r>
              <a:rPr lang="en-AU" sz="2100" dirty="0" smtClean="0"/>
              <a:t>Stratification (stratigraphy)- how  deep an items is buried gives information about its age (usually the deeper it is the older it is).</a:t>
            </a:r>
          </a:p>
          <a:p>
            <a:pPr eaLnBrk="1" fontAlgn="auto" hangingPunct="1">
              <a:spcAft>
                <a:spcPts val="0"/>
              </a:spcAft>
              <a:buFont typeface="Arial" pitchFamily="34" charset="0"/>
              <a:buChar char="•"/>
              <a:defRPr/>
            </a:pPr>
            <a:r>
              <a:rPr lang="en-AU" sz="2100" dirty="0" smtClean="0"/>
              <a:t>Matching artefacts to ancient writings when available.</a:t>
            </a:r>
          </a:p>
          <a:p>
            <a:pPr eaLnBrk="1" fontAlgn="auto" hangingPunct="1">
              <a:spcAft>
                <a:spcPts val="0"/>
              </a:spcAft>
              <a:buFont typeface="Arial" pitchFamily="34" charset="0"/>
              <a:buChar char="•"/>
              <a:defRPr/>
            </a:pPr>
            <a:r>
              <a:rPr lang="en-AU" sz="2100" dirty="0" smtClean="0"/>
              <a:t>Geology.</a:t>
            </a:r>
          </a:p>
          <a:p>
            <a:pPr eaLnBrk="1" fontAlgn="auto" hangingPunct="1">
              <a:spcAft>
                <a:spcPts val="0"/>
              </a:spcAft>
              <a:buFont typeface="Arial" pitchFamily="34" charset="0"/>
              <a:buChar char="•"/>
              <a:defRPr/>
            </a:pPr>
            <a:r>
              <a:rPr lang="en-AU" sz="2100" dirty="0" smtClean="0"/>
              <a:t>Patterns and styles of pottery unique to a particular era and place.</a:t>
            </a:r>
          </a:p>
          <a:p>
            <a:pPr marL="0" indent="0" eaLnBrk="1" fontAlgn="auto" hangingPunct="1">
              <a:spcAft>
                <a:spcPts val="0"/>
              </a:spcAft>
              <a:buFont typeface="Arial" pitchFamily="34" charset="0"/>
              <a:buNone/>
              <a:defRPr/>
            </a:pPr>
            <a:r>
              <a:rPr lang="en-AU" sz="1800" dirty="0" smtClean="0"/>
              <a:t>THESE AND OTHER METHODS HELP TO DATE ARTEFACTS AND EARLY HUMAN SETTLEMENTS, BUT SOMETIMES THESE DIFFERENT METHODS COME UP WITH DIFFERENT DATES.  BECAUSE OF THIS AND THE HUGE EXPANSE OF TIME WE ARE DEALING WITH, THERE IS SOME DISAGREEMENT BETWEEN HISTORIANS ON THE EXACT TIME PERIOD FOR SOME CULTURES AND ARTEFACTS</a:t>
            </a:r>
            <a:r>
              <a:rPr lang="en-AU" sz="2100" dirty="0" smtClean="0"/>
              <a:t>.</a:t>
            </a:r>
            <a:endParaRPr lang="en-AU" sz="21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pPr eaLnBrk="1" hangingPunct="1"/>
            <a:r>
              <a:rPr lang="en-AU" smtClean="0">
                <a:latin typeface="Adobe Fan Heiti Std B" pitchFamily="34" charset="-128"/>
                <a:ea typeface="Adobe Fan Heiti Std B" pitchFamily="34" charset="-128"/>
              </a:rPr>
              <a:t>Radio-carbon dating</a:t>
            </a:r>
          </a:p>
        </p:txBody>
      </p:sp>
      <p:pic>
        <p:nvPicPr>
          <p:cNvPr id="20482" name="Picture 2" descr="http://www.world-faiths.com/Year%209%20Projects/CARBON.gif"/>
          <p:cNvPicPr>
            <a:picLocks noChangeAspect="1" noChangeArrowheads="1"/>
          </p:cNvPicPr>
          <p:nvPr/>
        </p:nvPicPr>
        <p:blipFill>
          <a:blip r:embed="rId2"/>
          <a:srcRect/>
          <a:stretch>
            <a:fillRect/>
          </a:stretch>
        </p:blipFill>
        <p:spPr bwMode="auto">
          <a:xfrm>
            <a:off x="3871913" y="1371600"/>
            <a:ext cx="5181600" cy="4541838"/>
          </a:xfrm>
          <a:prstGeom prst="rect">
            <a:avLst/>
          </a:prstGeom>
          <a:noFill/>
          <a:ln w="9525">
            <a:noFill/>
            <a:miter lim="800000"/>
            <a:headEnd/>
            <a:tailEnd/>
          </a:ln>
        </p:spPr>
      </p:pic>
      <p:pic>
        <p:nvPicPr>
          <p:cNvPr id="20483" name="Picture 4" descr="http://t1.gstatic.com/images?q=tbn:ANd9GcTgtUcTT5aehl41wxtUBMiRTOvY97b6H9uIgQDNYBtTsGxW3Ir__IvltE8M"/>
          <p:cNvPicPr>
            <a:picLocks noChangeAspect="1" noChangeArrowheads="1"/>
          </p:cNvPicPr>
          <p:nvPr/>
        </p:nvPicPr>
        <p:blipFill>
          <a:blip r:embed="rId3"/>
          <a:srcRect/>
          <a:stretch>
            <a:fillRect/>
          </a:stretch>
        </p:blipFill>
        <p:spPr bwMode="auto">
          <a:xfrm>
            <a:off x="6350" y="3352800"/>
            <a:ext cx="3657600" cy="3200400"/>
          </a:xfrm>
          <a:prstGeom prst="rect">
            <a:avLst/>
          </a:prstGeom>
          <a:noFill/>
          <a:ln w="9525">
            <a:noFill/>
            <a:miter lim="800000"/>
            <a:headEnd/>
            <a:tailEnd/>
          </a:ln>
        </p:spPr>
      </p:pic>
      <p:sp>
        <p:nvSpPr>
          <p:cNvPr id="20484" name="TextBox 3"/>
          <p:cNvSpPr txBox="1">
            <a:spLocks noChangeArrowheads="1"/>
          </p:cNvSpPr>
          <p:nvPr/>
        </p:nvSpPr>
        <p:spPr bwMode="auto">
          <a:xfrm>
            <a:off x="533400" y="1676400"/>
            <a:ext cx="3338513" cy="1323975"/>
          </a:xfrm>
          <a:prstGeom prst="rect">
            <a:avLst/>
          </a:prstGeom>
          <a:noFill/>
          <a:ln w="9525">
            <a:noFill/>
            <a:miter lim="800000"/>
            <a:headEnd/>
            <a:tailEnd/>
          </a:ln>
        </p:spPr>
        <p:txBody>
          <a:bodyPr>
            <a:spAutoFit/>
          </a:bodyPr>
          <a:lstStyle/>
          <a:p>
            <a:r>
              <a:rPr lang="en-AU" sz="2000" b="1">
                <a:latin typeface="Calibri" pitchFamily="34" charset="0"/>
              </a:rPr>
              <a:t>This method can be used to date many things including  wood,  soil, pottery, human remains and tools.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AU" dirty="0" smtClean="0"/>
              <a:t>Dendrochronology (tree ring dating)</a:t>
            </a:r>
            <a:endParaRPr lang="en-AU" dirty="0"/>
          </a:p>
        </p:txBody>
      </p:sp>
      <p:pic>
        <p:nvPicPr>
          <p:cNvPr id="21506" name="Picture 2" descr="http://www.humboldt.edu/natmus/redwoods/redwood-secret/Dendro-large-signage.jpg"/>
          <p:cNvPicPr>
            <a:picLocks noChangeAspect="1" noChangeArrowheads="1"/>
          </p:cNvPicPr>
          <p:nvPr/>
        </p:nvPicPr>
        <p:blipFill>
          <a:blip r:embed="rId2"/>
          <a:srcRect/>
          <a:stretch>
            <a:fillRect/>
          </a:stretch>
        </p:blipFill>
        <p:spPr bwMode="auto">
          <a:xfrm>
            <a:off x="838200" y="1447800"/>
            <a:ext cx="7281863" cy="5424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r>
              <a:rPr lang="en-AU" smtClean="0">
                <a:latin typeface="Adobe Heiti Std R" pitchFamily="34" charset="-128"/>
                <a:ea typeface="Adobe Heiti Std R" pitchFamily="34" charset="-128"/>
              </a:rPr>
              <a:t>Stratigraphy</a:t>
            </a:r>
          </a:p>
        </p:txBody>
      </p:sp>
      <p:pic>
        <p:nvPicPr>
          <p:cNvPr id="22530" name="Picture 2" descr="https://www.york.ac.uk/archaeology/staff/sites/tarbat/images/N185_04.jpg"/>
          <p:cNvPicPr>
            <a:picLocks noChangeAspect="1" noChangeArrowheads="1"/>
          </p:cNvPicPr>
          <p:nvPr/>
        </p:nvPicPr>
        <p:blipFill>
          <a:blip r:embed="rId2"/>
          <a:srcRect/>
          <a:stretch>
            <a:fillRect/>
          </a:stretch>
        </p:blipFill>
        <p:spPr bwMode="auto">
          <a:xfrm>
            <a:off x="33338" y="3886200"/>
            <a:ext cx="3559175" cy="2362200"/>
          </a:xfrm>
          <a:prstGeom prst="rect">
            <a:avLst/>
          </a:prstGeom>
          <a:noFill/>
          <a:ln w="9525">
            <a:noFill/>
            <a:miter lim="800000"/>
            <a:headEnd/>
            <a:tailEnd/>
          </a:ln>
        </p:spPr>
      </p:pic>
      <p:sp>
        <p:nvSpPr>
          <p:cNvPr id="22531" name="TextBox 3"/>
          <p:cNvSpPr txBox="1">
            <a:spLocks noChangeArrowheads="1"/>
          </p:cNvSpPr>
          <p:nvPr/>
        </p:nvSpPr>
        <p:spPr bwMode="auto">
          <a:xfrm>
            <a:off x="684213" y="1371600"/>
            <a:ext cx="2895600" cy="1754188"/>
          </a:xfrm>
          <a:prstGeom prst="rect">
            <a:avLst/>
          </a:prstGeom>
          <a:noFill/>
          <a:ln w="9525">
            <a:noFill/>
            <a:miter lim="800000"/>
            <a:headEnd/>
            <a:tailEnd/>
          </a:ln>
        </p:spPr>
        <p:txBody>
          <a:bodyPr>
            <a:spAutoFit/>
          </a:bodyPr>
          <a:lstStyle/>
          <a:p>
            <a:r>
              <a:rPr lang="en-AU">
                <a:latin typeface="Calibri" pitchFamily="34" charset="0"/>
              </a:rPr>
              <a:t>The layer of earth where an object is found can be used to date it.  Unless the layers have been disturbed, the deeper the item, the older it is.</a:t>
            </a:r>
          </a:p>
        </p:txBody>
      </p:sp>
      <p:pic>
        <p:nvPicPr>
          <p:cNvPr id="22532" name="Picture 4" descr="http://nationalheritagemuseum.typepad.com/.a/6a00e550caa66d8834010535e28a50970b-800wi"/>
          <p:cNvPicPr>
            <a:picLocks noChangeAspect="1" noChangeArrowheads="1"/>
          </p:cNvPicPr>
          <p:nvPr/>
        </p:nvPicPr>
        <p:blipFill>
          <a:blip r:embed="rId3"/>
          <a:srcRect/>
          <a:stretch>
            <a:fillRect/>
          </a:stretch>
        </p:blipFill>
        <p:spPr bwMode="auto">
          <a:xfrm>
            <a:off x="4495800" y="1090613"/>
            <a:ext cx="3886200" cy="5591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8229600" cy="2057400"/>
          </a:xfrm>
          <a:solidFill>
            <a:schemeClr val="accent1">
              <a:lumMod val="75000"/>
            </a:schemeClr>
          </a:solidFill>
        </p:spPr>
        <p:txBody>
          <a:bodyPr rtlCol="0">
            <a:noAutofit/>
          </a:bodyPr>
          <a:lstStyle/>
          <a:p>
            <a:pPr eaLnBrk="1" fontAlgn="auto" hangingPunct="1">
              <a:spcAft>
                <a:spcPts val="0"/>
              </a:spcAft>
              <a:defRPr/>
            </a:pPr>
            <a:r>
              <a:rPr lang="en-AU" sz="7200" dirty="0" smtClean="0"/>
              <a:t>How do we know about early humans?</a:t>
            </a:r>
            <a:endParaRPr lang="en-AU" sz="7200" dirty="0"/>
          </a:p>
        </p:txBody>
      </p:sp>
      <p:sp>
        <p:nvSpPr>
          <p:cNvPr id="3" name="Content Placeholder 2"/>
          <p:cNvSpPr>
            <a:spLocks noGrp="1"/>
          </p:cNvSpPr>
          <p:nvPr>
            <p:ph idx="1"/>
          </p:nvPr>
        </p:nvSpPr>
        <p:spPr>
          <a:xfrm>
            <a:off x="685800" y="3048000"/>
            <a:ext cx="8229600" cy="3429000"/>
          </a:xfrm>
          <a:solidFill>
            <a:srgbClr val="CCFF99"/>
          </a:solidFill>
        </p:spPr>
        <p:txBody>
          <a:bodyPr/>
          <a:lstStyle/>
          <a:p>
            <a:pPr marL="0" indent="0" eaLnBrk="1" hangingPunct="1">
              <a:buFont typeface="Arial" charset="0"/>
              <a:buNone/>
            </a:pPr>
            <a:r>
              <a:rPr lang="en-AU" sz="6600" smtClean="0"/>
              <a:t>Evidence like the following is used to reconstruct the past.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AU" dirty="0" smtClean="0"/>
              <a:t>Footprints at Lake Mungo NSW show evidence of early humans in Australia</a:t>
            </a:r>
            <a:endParaRPr lang="en-AU" dirty="0"/>
          </a:p>
        </p:txBody>
      </p:sp>
      <p:sp>
        <p:nvSpPr>
          <p:cNvPr id="24578" name="TextBox 2"/>
          <p:cNvSpPr txBox="1">
            <a:spLocks noChangeArrowheads="1"/>
          </p:cNvSpPr>
          <p:nvPr/>
        </p:nvSpPr>
        <p:spPr bwMode="auto">
          <a:xfrm>
            <a:off x="93663" y="3590925"/>
            <a:ext cx="3124200" cy="3048000"/>
          </a:xfrm>
          <a:prstGeom prst="rect">
            <a:avLst/>
          </a:prstGeom>
          <a:noFill/>
          <a:ln w="9525">
            <a:noFill/>
            <a:miter lim="800000"/>
            <a:headEnd/>
            <a:tailEnd/>
          </a:ln>
        </p:spPr>
        <p:txBody>
          <a:bodyPr>
            <a:spAutoFit/>
          </a:bodyPr>
          <a:lstStyle/>
          <a:p>
            <a:r>
              <a:rPr lang="en-AU" sz="2400">
                <a:latin typeface="Calibri" pitchFamily="34" charset="0"/>
              </a:rPr>
              <a:t>Different dating methods have shown these footprints to be 30 000 to 60 000 years old.  Therefore, humans have been in Australia at least this long.</a:t>
            </a:r>
          </a:p>
        </p:txBody>
      </p:sp>
      <p:pic>
        <p:nvPicPr>
          <p:cNvPr id="24579" name="Picture 2" descr="http://www.visitmungo.com.au/images/photos/footprint-inspection.jpg"/>
          <p:cNvPicPr>
            <a:picLocks noChangeAspect="1" noChangeArrowheads="1"/>
          </p:cNvPicPr>
          <p:nvPr/>
        </p:nvPicPr>
        <p:blipFill>
          <a:blip r:embed="rId2"/>
          <a:srcRect/>
          <a:stretch>
            <a:fillRect/>
          </a:stretch>
        </p:blipFill>
        <p:spPr bwMode="auto">
          <a:xfrm>
            <a:off x="3200400" y="3048000"/>
            <a:ext cx="5381625" cy="3590925"/>
          </a:xfrm>
          <a:prstGeom prst="rect">
            <a:avLst/>
          </a:prstGeom>
          <a:noFill/>
          <a:ln w="9525">
            <a:noFill/>
            <a:miter lim="800000"/>
            <a:headEnd/>
            <a:tailEnd/>
          </a:ln>
        </p:spPr>
      </p:pic>
      <p:pic>
        <p:nvPicPr>
          <p:cNvPr id="24580" name="Picture 4" descr="http://donsmaps.com/images6/mungoprint2.jpg"/>
          <p:cNvPicPr>
            <a:picLocks noChangeAspect="1" noChangeArrowheads="1"/>
          </p:cNvPicPr>
          <p:nvPr/>
        </p:nvPicPr>
        <p:blipFill>
          <a:blip r:embed="rId3"/>
          <a:srcRect/>
          <a:stretch>
            <a:fillRect/>
          </a:stretch>
        </p:blipFill>
        <p:spPr bwMode="auto">
          <a:xfrm>
            <a:off x="304800" y="1503363"/>
            <a:ext cx="3124200" cy="2087562"/>
          </a:xfrm>
          <a:prstGeom prst="rect">
            <a:avLst/>
          </a:prstGeom>
          <a:noFill/>
          <a:ln w="9525">
            <a:noFill/>
            <a:miter lim="800000"/>
            <a:headEnd/>
            <a:tailEnd/>
          </a:ln>
        </p:spPr>
      </p:pic>
      <p:sp>
        <p:nvSpPr>
          <p:cNvPr id="24581" name="TextBox 3"/>
          <p:cNvSpPr txBox="1">
            <a:spLocks noChangeArrowheads="1"/>
          </p:cNvSpPr>
          <p:nvPr/>
        </p:nvSpPr>
        <p:spPr bwMode="auto">
          <a:xfrm>
            <a:off x="3733800" y="1530350"/>
            <a:ext cx="4848225" cy="1477963"/>
          </a:xfrm>
          <a:prstGeom prst="rect">
            <a:avLst/>
          </a:prstGeom>
          <a:noFill/>
          <a:ln w="9525">
            <a:noFill/>
            <a:miter lim="800000"/>
            <a:headEnd/>
            <a:tailEnd/>
          </a:ln>
        </p:spPr>
        <p:txBody>
          <a:bodyPr>
            <a:spAutoFit/>
          </a:bodyPr>
          <a:lstStyle/>
          <a:p>
            <a:r>
              <a:rPr lang="en-AU">
                <a:latin typeface="Calibri" pitchFamily="34" charset="0"/>
              </a:rPr>
              <a:t>Scientists can also tell the ages of the people who left these prints and how fast they were moving (one even shows evidence of using a walking stick).  Evidence shows they were mixed ages and running  (and probably hunting).</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276600" cy="1143000"/>
          </a:xfrm>
          <a:solidFill>
            <a:schemeClr val="accent4">
              <a:lumMod val="40000"/>
              <a:lumOff val="60000"/>
            </a:schemeClr>
          </a:solidFill>
        </p:spPr>
        <p:txBody>
          <a:bodyPr rtlCol="0">
            <a:noAutofit/>
          </a:bodyPr>
          <a:lstStyle/>
          <a:p>
            <a:pPr algn="l" eaLnBrk="1" fontAlgn="auto" hangingPunct="1">
              <a:spcAft>
                <a:spcPts val="0"/>
              </a:spcAft>
              <a:defRPr/>
            </a:pPr>
            <a:r>
              <a:rPr lang="en-AU" sz="2400" dirty="0" smtClean="0"/>
              <a:t>Prehistoric graves- more evidence of early humans</a:t>
            </a:r>
            <a:endParaRPr lang="en-AU" sz="2400" dirty="0"/>
          </a:p>
        </p:txBody>
      </p:sp>
      <p:pic>
        <p:nvPicPr>
          <p:cNvPr id="25603" name="Picture 2" descr="http://images.fineartamerica.com/images-medium-large/prehistoric-burial-on-display-jim-richardson.jpg"/>
          <p:cNvPicPr>
            <a:picLocks noChangeAspect="1" noChangeArrowheads="1"/>
          </p:cNvPicPr>
          <p:nvPr/>
        </p:nvPicPr>
        <p:blipFill>
          <a:blip r:embed="rId2"/>
          <a:srcRect/>
          <a:stretch>
            <a:fillRect/>
          </a:stretch>
        </p:blipFill>
        <p:spPr bwMode="auto">
          <a:xfrm>
            <a:off x="588963" y="1600200"/>
            <a:ext cx="3295650" cy="4970463"/>
          </a:xfrm>
          <a:prstGeom prst="rect">
            <a:avLst/>
          </a:prstGeom>
          <a:noFill/>
          <a:ln w="9525">
            <a:noFill/>
            <a:miter lim="800000"/>
            <a:headEnd/>
            <a:tailEnd/>
          </a:ln>
        </p:spPr>
      </p:pic>
      <p:sp>
        <p:nvSpPr>
          <p:cNvPr id="3" name="TextBox 2"/>
          <p:cNvSpPr txBox="1">
            <a:spLocks noChangeArrowheads="1"/>
          </p:cNvSpPr>
          <p:nvPr/>
        </p:nvSpPr>
        <p:spPr bwMode="auto">
          <a:xfrm>
            <a:off x="4267200" y="381000"/>
            <a:ext cx="4267200" cy="2308225"/>
          </a:xfrm>
          <a:prstGeom prst="rect">
            <a:avLst/>
          </a:prstGeom>
          <a:noFill/>
          <a:ln w="9525">
            <a:noFill/>
            <a:miter lim="800000"/>
            <a:headEnd/>
            <a:tailEnd/>
          </a:ln>
        </p:spPr>
        <p:txBody>
          <a:bodyPr>
            <a:spAutoFit/>
          </a:bodyPr>
          <a:lstStyle/>
          <a:p>
            <a:r>
              <a:rPr lang="en-AU" sz="2400">
                <a:latin typeface="Calibri" pitchFamily="34" charset="0"/>
              </a:rPr>
              <a:t>This prehistoric grave site gives archaeologists lots of information.  What sort of clues and evidence can you see here and what might the clues reveal?</a:t>
            </a:r>
          </a:p>
        </p:txBody>
      </p:sp>
      <p:sp>
        <p:nvSpPr>
          <p:cNvPr id="4" name="TextBox 3"/>
          <p:cNvSpPr txBox="1">
            <a:spLocks noChangeArrowheads="1"/>
          </p:cNvSpPr>
          <p:nvPr/>
        </p:nvSpPr>
        <p:spPr bwMode="auto">
          <a:xfrm>
            <a:off x="4302125" y="2689225"/>
            <a:ext cx="4689475" cy="4094163"/>
          </a:xfrm>
          <a:prstGeom prst="rect">
            <a:avLst/>
          </a:prstGeom>
          <a:noFill/>
          <a:ln w="9525">
            <a:noFill/>
            <a:miter lim="800000"/>
            <a:headEnd/>
            <a:tailEnd/>
          </a:ln>
        </p:spPr>
        <p:txBody>
          <a:bodyPr>
            <a:spAutoFit/>
          </a:bodyPr>
          <a:lstStyle/>
          <a:p>
            <a:r>
              <a:rPr lang="en-AU" sz="2000">
                <a:latin typeface="Calibri" pitchFamily="34" charset="0"/>
              </a:rPr>
              <a:t>Yes- this burial can tell us things like:</a:t>
            </a:r>
          </a:p>
          <a:p>
            <a:r>
              <a:rPr lang="en-AU" sz="2000">
                <a:latin typeface="Calibri" pitchFamily="34" charset="0"/>
              </a:rPr>
              <a:t>-This person was buried with care &amp; placed on their side with grave goods, which shows compassion and some sort of belief about burial or even an afterlife.</a:t>
            </a:r>
          </a:p>
          <a:p>
            <a:r>
              <a:rPr lang="en-AU" sz="2000">
                <a:latin typeface="Calibri" pitchFamily="34" charset="0"/>
              </a:rPr>
              <a:t>-These people knew how to use metal and decorated themselves with jewellery.  They also had craft skills.</a:t>
            </a:r>
          </a:p>
          <a:p>
            <a:r>
              <a:rPr lang="en-AU" sz="2000">
                <a:latin typeface="Calibri" pitchFamily="34" charset="0"/>
              </a:rPr>
              <a:t>-Examination of the skeleton can tell us things like age, gender, health and nutrition of this person.</a:t>
            </a:r>
          </a:p>
          <a:p>
            <a:r>
              <a:rPr lang="en-AU" sz="2000">
                <a:latin typeface="Calibri" pitchFamily="34" charset="0"/>
              </a:rPr>
              <a:t>-Dating methods can tell us the time of the burial.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457200" y="274638"/>
            <a:ext cx="4648200" cy="1143000"/>
          </a:xfrm>
        </p:spPr>
        <p:txBody>
          <a:bodyPr/>
          <a:lstStyle/>
          <a:p>
            <a:pPr eaLnBrk="1" hangingPunct="1"/>
            <a:r>
              <a:rPr lang="en-AU" smtClean="0">
                <a:solidFill>
                  <a:srgbClr val="CC3399"/>
                </a:solidFill>
              </a:rPr>
              <a:t>Ancient Tools</a:t>
            </a:r>
          </a:p>
        </p:txBody>
      </p:sp>
      <p:pic>
        <p:nvPicPr>
          <p:cNvPr id="26626" name="Picture 2" descr="http://aboutfacts.net/Ancient/AN140/NPS/National_park_stone_tools.jpg"/>
          <p:cNvPicPr>
            <a:picLocks noChangeAspect="1" noChangeArrowheads="1"/>
          </p:cNvPicPr>
          <p:nvPr/>
        </p:nvPicPr>
        <p:blipFill>
          <a:blip r:embed="rId2"/>
          <a:srcRect/>
          <a:stretch>
            <a:fillRect/>
          </a:stretch>
        </p:blipFill>
        <p:spPr bwMode="auto">
          <a:xfrm>
            <a:off x="290513" y="3962400"/>
            <a:ext cx="4149725" cy="2768600"/>
          </a:xfrm>
          <a:prstGeom prst="rect">
            <a:avLst/>
          </a:prstGeom>
          <a:noFill/>
          <a:ln w="9525">
            <a:noFill/>
            <a:miter lim="800000"/>
            <a:headEnd/>
            <a:tailEnd/>
          </a:ln>
        </p:spPr>
      </p:pic>
      <p:pic>
        <p:nvPicPr>
          <p:cNvPr id="26627" name="Picture 4" descr="http://media-cdn.tripadvisor.com/media/photo-s/00/14/d9/38/ancient-tools.jpg"/>
          <p:cNvPicPr>
            <a:picLocks noChangeAspect="1" noChangeArrowheads="1"/>
          </p:cNvPicPr>
          <p:nvPr/>
        </p:nvPicPr>
        <p:blipFill>
          <a:blip r:embed="rId3"/>
          <a:srcRect/>
          <a:stretch>
            <a:fillRect/>
          </a:stretch>
        </p:blipFill>
        <p:spPr bwMode="auto">
          <a:xfrm>
            <a:off x="4721225" y="152400"/>
            <a:ext cx="4322763" cy="3140075"/>
          </a:xfrm>
          <a:prstGeom prst="rect">
            <a:avLst/>
          </a:prstGeom>
          <a:noFill/>
          <a:ln w="9525">
            <a:noFill/>
            <a:miter lim="800000"/>
            <a:headEnd/>
            <a:tailEnd/>
          </a:ln>
        </p:spPr>
      </p:pic>
      <p:sp>
        <p:nvSpPr>
          <p:cNvPr id="3" name="TextBox 2"/>
          <p:cNvSpPr txBox="1">
            <a:spLocks noChangeArrowheads="1"/>
          </p:cNvSpPr>
          <p:nvPr/>
        </p:nvSpPr>
        <p:spPr bwMode="auto">
          <a:xfrm>
            <a:off x="304800" y="1219200"/>
            <a:ext cx="4322763" cy="2586038"/>
          </a:xfrm>
          <a:prstGeom prst="rect">
            <a:avLst/>
          </a:prstGeom>
          <a:noFill/>
          <a:ln w="9525">
            <a:noFill/>
            <a:miter lim="800000"/>
            <a:headEnd/>
            <a:tailEnd/>
          </a:ln>
        </p:spPr>
        <p:txBody>
          <a:bodyPr>
            <a:spAutoFit/>
          </a:bodyPr>
          <a:lstStyle/>
          <a:p>
            <a:r>
              <a:rPr lang="en-AU">
                <a:latin typeface="Calibri" pitchFamily="34" charset="0"/>
              </a:rPr>
              <a:t>Ancient tools such as these provide evidence of humans living in an area and can also reveal things like hunting and food preparation techniques.  Migration and trade can also be confirmed based on the ‘trail’ of tools as humans moved and the original origins of the materials used to make them.  Dating of items can tell us ‘when’</a:t>
            </a:r>
          </a:p>
        </p:txBody>
      </p:sp>
      <p:sp>
        <p:nvSpPr>
          <p:cNvPr id="4" name="TextBox 3"/>
          <p:cNvSpPr txBox="1">
            <a:spLocks noChangeArrowheads="1"/>
          </p:cNvSpPr>
          <p:nvPr/>
        </p:nvSpPr>
        <p:spPr bwMode="auto">
          <a:xfrm>
            <a:off x="4741863" y="3505200"/>
            <a:ext cx="4149725" cy="1200150"/>
          </a:xfrm>
          <a:prstGeom prst="rect">
            <a:avLst/>
          </a:prstGeom>
          <a:noFill/>
          <a:ln w="9525">
            <a:noFill/>
            <a:miter lim="800000"/>
            <a:headEnd/>
            <a:tailEnd/>
          </a:ln>
        </p:spPr>
        <p:txBody>
          <a:bodyPr>
            <a:spAutoFit/>
          </a:bodyPr>
          <a:lstStyle/>
          <a:p>
            <a:r>
              <a:rPr lang="en-AU">
                <a:latin typeface="Calibri" pitchFamily="34" charset="0"/>
              </a:rPr>
              <a:t>If archaeologists found a 15000 year old stone tool  in America made from rock only found in Russia, what might that suggest?</a:t>
            </a:r>
          </a:p>
        </p:txBody>
      </p:sp>
      <p:sp>
        <p:nvSpPr>
          <p:cNvPr id="5" name="TextBox 4"/>
          <p:cNvSpPr txBox="1">
            <a:spLocks noChangeArrowheads="1"/>
          </p:cNvSpPr>
          <p:nvPr/>
        </p:nvSpPr>
        <p:spPr bwMode="auto">
          <a:xfrm>
            <a:off x="4721225" y="4746625"/>
            <a:ext cx="4170363" cy="1754188"/>
          </a:xfrm>
          <a:prstGeom prst="rect">
            <a:avLst/>
          </a:prstGeom>
          <a:noFill/>
          <a:ln w="9525">
            <a:solidFill>
              <a:srgbClr val="CC3399"/>
            </a:solidFill>
            <a:miter lim="800000"/>
            <a:headEnd/>
            <a:tailEnd/>
          </a:ln>
        </p:spPr>
        <p:txBody>
          <a:bodyPr>
            <a:spAutoFit/>
          </a:bodyPr>
          <a:lstStyle/>
          <a:p>
            <a:r>
              <a:rPr lang="en-AU">
                <a:latin typeface="Calibri" pitchFamily="34" charset="0"/>
              </a:rPr>
              <a:t>A- this could help to prove that humans were living in America at least 15000 years ago and that they either migrated from Russia where the rock came from or had traded it directly or indirectly with people from Russia.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875" y="152400"/>
            <a:ext cx="5029200" cy="1143000"/>
          </a:xfrm>
        </p:spPr>
        <p:txBody>
          <a:bodyPr rtlCol="0">
            <a:normAutofit fontScale="90000"/>
          </a:bodyPr>
          <a:lstStyle/>
          <a:p>
            <a:pPr eaLnBrk="1" fontAlgn="auto" hangingPunct="1">
              <a:spcAft>
                <a:spcPts val="0"/>
              </a:spcAft>
              <a:defRPr/>
            </a:pPr>
            <a:r>
              <a:rPr lang="en-AU" dirty="0" smtClean="0">
                <a:solidFill>
                  <a:srgbClr val="7030A0"/>
                </a:solidFill>
              </a:rPr>
              <a:t>Ancient and Prehistoric Homes</a:t>
            </a:r>
            <a:endParaRPr lang="en-AU" dirty="0">
              <a:solidFill>
                <a:srgbClr val="7030A0"/>
              </a:solidFill>
            </a:endParaRPr>
          </a:p>
        </p:txBody>
      </p:sp>
      <p:pic>
        <p:nvPicPr>
          <p:cNvPr id="27650" name="Picture 2" descr="http://www.sciencephoto.com/image/185504/350wm/E9000492-Mammoth_bone_hut_excavation,_Ukraine-SPL.jpg"/>
          <p:cNvPicPr>
            <a:picLocks noChangeAspect="1" noChangeArrowheads="1"/>
          </p:cNvPicPr>
          <p:nvPr/>
        </p:nvPicPr>
        <p:blipFill>
          <a:blip r:embed="rId2"/>
          <a:srcRect/>
          <a:stretch>
            <a:fillRect/>
          </a:stretch>
        </p:blipFill>
        <p:spPr bwMode="auto">
          <a:xfrm>
            <a:off x="269875" y="1295400"/>
            <a:ext cx="3333750" cy="2438400"/>
          </a:xfrm>
          <a:prstGeom prst="rect">
            <a:avLst/>
          </a:prstGeom>
          <a:noFill/>
          <a:ln w="9525">
            <a:noFill/>
            <a:miter lim="800000"/>
            <a:headEnd/>
            <a:tailEnd/>
          </a:ln>
        </p:spPr>
      </p:pic>
      <p:pic>
        <p:nvPicPr>
          <p:cNvPr id="27651" name="Picture 4" descr="http://www.ushistory.org/civ/images/00011339.jpg"/>
          <p:cNvPicPr>
            <a:picLocks noChangeAspect="1" noChangeArrowheads="1"/>
          </p:cNvPicPr>
          <p:nvPr/>
        </p:nvPicPr>
        <p:blipFill>
          <a:blip r:embed="rId3"/>
          <a:srcRect/>
          <a:stretch>
            <a:fillRect/>
          </a:stretch>
        </p:blipFill>
        <p:spPr bwMode="auto">
          <a:xfrm>
            <a:off x="2736850" y="4191000"/>
            <a:ext cx="3581400" cy="2441575"/>
          </a:xfrm>
          <a:prstGeom prst="rect">
            <a:avLst/>
          </a:prstGeom>
          <a:noFill/>
          <a:ln w="9525">
            <a:noFill/>
            <a:miter lim="800000"/>
            <a:headEnd/>
            <a:tailEnd/>
          </a:ln>
        </p:spPr>
      </p:pic>
      <p:sp>
        <p:nvSpPr>
          <p:cNvPr id="27652" name="TextBox 2"/>
          <p:cNvSpPr txBox="1">
            <a:spLocks noChangeArrowheads="1"/>
          </p:cNvSpPr>
          <p:nvPr/>
        </p:nvSpPr>
        <p:spPr bwMode="auto">
          <a:xfrm>
            <a:off x="269875" y="4191000"/>
            <a:ext cx="2320925" cy="2032000"/>
          </a:xfrm>
          <a:prstGeom prst="rect">
            <a:avLst/>
          </a:prstGeom>
          <a:noFill/>
          <a:ln w="9525">
            <a:noFill/>
            <a:miter lim="800000"/>
            <a:headEnd/>
            <a:tailEnd/>
          </a:ln>
        </p:spPr>
        <p:txBody>
          <a:bodyPr>
            <a:spAutoFit/>
          </a:bodyPr>
          <a:lstStyle/>
          <a:p>
            <a:r>
              <a:rPr lang="en-AU">
                <a:latin typeface="Calibri" pitchFamily="34" charset="0"/>
              </a:rPr>
              <a:t>A prehistoric mammoth hut being excavated in the Ukraine (above) and a modern reconstruction of this style of home (right)</a:t>
            </a:r>
          </a:p>
        </p:txBody>
      </p:sp>
      <p:pic>
        <p:nvPicPr>
          <p:cNvPr id="27653" name="Picture 6" descr="http://xy2.org/sitebuilder/images/E49_Deir_el-Medina-505x376.jpg"/>
          <p:cNvPicPr>
            <a:picLocks noChangeAspect="1" noChangeArrowheads="1"/>
          </p:cNvPicPr>
          <p:nvPr/>
        </p:nvPicPr>
        <p:blipFill>
          <a:blip r:embed="rId4"/>
          <a:srcRect/>
          <a:stretch>
            <a:fillRect/>
          </a:stretch>
        </p:blipFill>
        <p:spPr bwMode="auto">
          <a:xfrm>
            <a:off x="4527550" y="925513"/>
            <a:ext cx="4267200" cy="3178175"/>
          </a:xfrm>
          <a:prstGeom prst="rect">
            <a:avLst/>
          </a:prstGeom>
          <a:noFill/>
          <a:ln w="9525">
            <a:noFill/>
            <a:miter lim="800000"/>
            <a:headEnd/>
            <a:tailEnd/>
          </a:ln>
        </p:spPr>
      </p:pic>
      <p:sp>
        <p:nvSpPr>
          <p:cNvPr id="27654" name="TextBox 3"/>
          <p:cNvSpPr txBox="1">
            <a:spLocks noChangeArrowheads="1"/>
          </p:cNvSpPr>
          <p:nvPr/>
        </p:nvSpPr>
        <p:spPr bwMode="auto">
          <a:xfrm>
            <a:off x="6632575" y="4673600"/>
            <a:ext cx="2408238" cy="1476375"/>
          </a:xfrm>
          <a:prstGeom prst="rect">
            <a:avLst/>
          </a:prstGeom>
          <a:noFill/>
          <a:ln w="9525">
            <a:noFill/>
            <a:miter lim="800000"/>
            <a:headEnd/>
            <a:tailEnd/>
          </a:ln>
        </p:spPr>
        <p:txBody>
          <a:bodyPr>
            <a:spAutoFit/>
          </a:bodyPr>
          <a:lstStyle/>
          <a:p>
            <a:r>
              <a:rPr lang="en-AU">
                <a:latin typeface="Calibri" pitchFamily="34" charset="0"/>
              </a:rPr>
              <a:t>Above- the ruins of a tomb builder’s village from Ancient Egypt near the Valley of the Kings.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7975" y="215900"/>
            <a:ext cx="4900613" cy="1143000"/>
          </a:xfrm>
        </p:spPr>
        <p:txBody>
          <a:bodyPr rtlCol="0">
            <a:normAutofit fontScale="90000"/>
          </a:bodyPr>
          <a:lstStyle/>
          <a:p>
            <a:pPr eaLnBrk="1" fontAlgn="auto" hangingPunct="1">
              <a:spcAft>
                <a:spcPts val="0"/>
              </a:spcAft>
              <a:defRPr/>
            </a:pPr>
            <a:r>
              <a:rPr lang="en-AU" dirty="0" smtClean="0">
                <a:latin typeface="Bauhaus 93" pitchFamily="82" charset="0"/>
              </a:rPr>
              <a:t>Artworks- evidence of our ancestors</a:t>
            </a:r>
            <a:endParaRPr lang="en-AU" dirty="0">
              <a:latin typeface="Bauhaus 93" pitchFamily="82" charset="0"/>
            </a:endParaRPr>
          </a:p>
        </p:txBody>
      </p:sp>
      <p:pic>
        <p:nvPicPr>
          <p:cNvPr id="28674" name="Picture 2" descr="http://upload.wikimedia.org/wikipedia/commons/0/07/Lascaux2.jpg"/>
          <p:cNvPicPr>
            <a:picLocks noChangeAspect="1" noChangeArrowheads="1"/>
          </p:cNvPicPr>
          <p:nvPr/>
        </p:nvPicPr>
        <p:blipFill>
          <a:blip r:embed="rId2"/>
          <a:srcRect/>
          <a:stretch>
            <a:fillRect/>
          </a:stretch>
        </p:blipFill>
        <p:spPr bwMode="auto">
          <a:xfrm>
            <a:off x="149225" y="2933700"/>
            <a:ext cx="3941763" cy="2971800"/>
          </a:xfrm>
          <a:prstGeom prst="rect">
            <a:avLst/>
          </a:prstGeom>
          <a:noFill/>
          <a:ln w="9525">
            <a:noFill/>
            <a:miter lim="800000"/>
            <a:headEnd/>
            <a:tailEnd/>
          </a:ln>
        </p:spPr>
      </p:pic>
      <p:pic>
        <p:nvPicPr>
          <p:cNvPr id="28675" name="Picture 4" descr="http://madamepickwickartblog.com/wp-content/uploads/2011/05/lascaux9.jpg"/>
          <p:cNvPicPr>
            <a:picLocks noChangeAspect="1" noChangeArrowheads="1"/>
          </p:cNvPicPr>
          <p:nvPr/>
        </p:nvPicPr>
        <p:blipFill>
          <a:blip r:embed="rId3"/>
          <a:srcRect/>
          <a:stretch>
            <a:fillRect/>
          </a:stretch>
        </p:blipFill>
        <p:spPr bwMode="auto">
          <a:xfrm>
            <a:off x="341313" y="242888"/>
            <a:ext cx="3556000" cy="2676525"/>
          </a:xfrm>
          <a:prstGeom prst="rect">
            <a:avLst/>
          </a:prstGeom>
          <a:noFill/>
          <a:ln w="9525">
            <a:noFill/>
            <a:miter lim="800000"/>
            <a:headEnd/>
            <a:tailEnd/>
          </a:ln>
        </p:spPr>
      </p:pic>
      <p:sp>
        <p:nvSpPr>
          <p:cNvPr id="28676" name="TextBox 2"/>
          <p:cNvSpPr txBox="1">
            <a:spLocks noChangeArrowheads="1"/>
          </p:cNvSpPr>
          <p:nvPr/>
        </p:nvSpPr>
        <p:spPr bwMode="auto">
          <a:xfrm>
            <a:off x="169863" y="6027738"/>
            <a:ext cx="4762500" cy="646112"/>
          </a:xfrm>
          <a:prstGeom prst="rect">
            <a:avLst/>
          </a:prstGeom>
          <a:noFill/>
          <a:ln w="9525">
            <a:noFill/>
            <a:miter lim="800000"/>
            <a:headEnd/>
            <a:tailEnd/>
          </a:ln>
        </p:spPr>
        <p:txBody>
          <a:bodyPr>
            <a:spAutoFit/>
          </a:bodyPr>
          <a:lstStyle/>
          <a:p>
            <a:r>
              <a:rPr lang="en-AU">
                <a:latin typeface="Calibri" pitchFamily="34" charset="0"/>
              </a:rPr>
              <a:t>Palaeolithic Cave Paintings in Lascaux </a:t>
            </a:r>
          </a:p>
          <a:p>
            <a:r>
              <a:rPr lang="en-AU">
                <a:latin typeface="Calibri" pitchFamily="34" charset="0"/>
              </a:rPr>
              <a:t>France are about 17 000 years old</a:t>
            </a:r>
          </a:p>
        </p:txBody>
      </p:sp>
      <p:pic>
        <p:nvPicPr>
          <p:cNvPr id="28677" name="Picture 6" descr="http://upload.wikimedia.org/wikipedia/commons/thumb/f/f7/Willendorf-Venus-1468.jpg/220px-Willendorf-Venus-1468.jpg">
            <a:hlinkClick r:id="rId4"/>
          </p:cNvPr>
          <p:cNvPicPr>
            <a:picLocks noChangeAspect="1" noChangeArrowheads="1"/>
          </p:cNvPicPr>
          <p:nvPr/>
        </p:nvPicPr>
        <p:blipFill>
          <a:blip r:embed="rId5"/>
          <a:srcRect/>
          <a:stretch>
            <a:fillRect/>
          </a:stretch>
        </p:blipFill>
        <p:spPr bwMode="auto">
          <a:xfrm>
            <a:off x="5334000" y="1595438"/>
            <a:ext cx="2667000" cy="4230687"/>
          </a:xfrm>
          <a:prstGeom prst="rect">
            <a:avLst/>
          </a:prstGeom>
          <a:noFill/>
          <a:ln w="9525">
            <a:noFill/>
            <a:miter lim="800000"/>
            <a:headEnd/>
            <a:tailEnd/>
          </a:ln>
        </p:spPr>
      </p:pic>
      <p:sp>
        <p:nvSpPr>
          <p:cNvPr id="28678" name="TextBox 3"/>
          <p:cNvSpPr txBox="1">
            <a:spLocks noChangeArrowheads="1"/>
          </p:cNvSpPr>
          <p:nvPr/>
        </p:nvSpPr>
        <p:spPr bwMode="auto">
          <a:xfrm>
            <a:off x="4343400" y="6027738"/>
            <a:ext cx="4419600" cy="922337"/>
          </a:xfrm>
          <a:prstGeom prst="rect">
            <a:avLst/>
          </a:prstGeom>
          <a:noFill/>
          <a:ln w="9525">
            <a:noFill/>
            <a:miter lim="800000"/>
            <a:headEnd/>
            <a:tailEnd/>
          </a:ln>
        </p:spPr>
        <p:txBody>
          <a:bodyPr>
            <a:spAutoFit/>
          </a:bodyPr>
          <a:lstStyle/>
          <a:p>
            <a:r>
              <a:rPr lang="en-AU">
                <a:latin typeface="Calibri" pitchFamily="34" charset="0"/>
              </a:rPr>
              <a:t>This ‘Venus of Willendorf’ found in Austria  is 27 000 to 30 000 years old.  It is made of limestone of non-Austrian origin.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457200" y="274638"/>
            <a:ext cx="3657600" cy="1143000"/>
          </a:xfrm>
        </p:spPr>
        <p:txBody>
          <a:bodyPr/>
          <a:lstStyle/>
          <a:p>
            <a:pPr eaLnBrk="1" hangingPunct="1"/>
            <a:r>
              <a:rPr lang="en-AU" smtClean="0">
                <a:latin typeface="Brush Script Std" pitchFamily="66" charset="0"/>
              </a:rPr>
              <a:t>Ancient Texts</a:t>
            </a:r>
          </a:p>
        </p:txBody>
      </p:sp>
      <p:pic>
        <p:nvPicPr>
          <p:cNvPr id="29698" name="Picture 2" descr="http://2.bp.blogspot.com/-gHXwlB4It50/Te657L933bI/AAAAAAAAAOE/t0ImTD8jzjE/s1600/Cuneiform2+Tablet.jpg"/>
          <p:cNvPicPr>
            <a:picLocks noChangeAspect="1" noChangeArrowheads="1"/>
          </p:cNvPicPr>
          <p:nvPr/>
        </p:nvPicPr>
        <p:blipFill>
          <a:blip r:embed="rId2"/>
          <a:srcRect/>
          <a:stretch>
            <a:fillRect/>
          </a:stretch>
        </p:blipFill>
        <p:spPr bwMode="auto">
          <a:xfrm>
            <a:off x="4219575" y="-381000"/>
            <a:ext cx="4365625" cy="5257800"/>
          </a:xfrm>
          <a:prstGeom prst="rect">
            <a:avLst/>
          </a:prstGeom>
          <a:noFill/>
          <a:ln w="9525">
            <a:noFill/>
            <a:miter lim="800000"/>
            <a:headEnd/>
            <a:tailEnd/>
          </a:ln>
        </p:spPr>
      </p:pic>
      <p:sp>
        <p:nvSpPr>
          <p:cNvPr id="29699" name="TextBox 2"/>
          <p:cNvSpPr txBox="1">
            <a:spLocks noChangeArrowheads="1"/>
          </p:cNvSpPr>
          <p:nvPr/>
        </p:nvSpPr>
        <p:spPr bwMode="auto">
          <a:xfrm>
            <a:off x="609600" y="1328738"/>
            <a:ext cx="3657600" cy="1568450"/>
          </a:xfrm>
          <a:prstGeom prst="rect">
            <a:avLst/>
          </a:prstGeom>
          <a:noFill/>
          <a:ln w="9525">
            <a:noFill/>
            <a:miter lim="800000"/>
            <a:headEnd/>
            <a:tailEnd/>
          </a:ln>
        </p:spPr>
        <p:txBody>
          <a:bodyPr>
            <a:spAutoFit/>
          </a:bodyPr>
          <a:lstStyle/>
          <a:p>
            <a:r>
              <a:rPr lang="en-AU" sz="2400">
                <a:latin typeface="Calibri" pitchFamily="34" charset="0"/>
              </a:rPr>
              <a:t>Ancient clay tablet of cuneiform writing from Mesopotamian circa 2050 BCE</a:t>
            </a:r>
          </a:p>
        </p:txBody>
      </p:sp>
      <p:pic>
        <p:nvPicPr>
          <p:cNvPr id="29700" name="Picture 4" descr="http://www.ancientscripts.com/images/su_signs.gif"/>
          <p:cNvPicPr>
            <a:picLocks noChangeAspect="1" noChangeArrowheads="1"/>
          </p:cNvPicPr>
          <p:nvPr/>
        </p:nvPicPr>
        <p:blipFill>
          <a:blip r:embed="rId3"/>
          <a:srcRect/>
          <a:stretch>
            <a:fillRect/>
          </a:stretch>
        </p:blipFill>
        <p:spPr bwMode="auto">
          <a:xfrm>
            <a:off x="914400" y="2932113"/>
            <a:ext cx="2647950" cy="3590925"/>
          </a:xfrm>
          <a:prstGeom prst="rect">
            <a:avLst/>
          </a:prstGeom>
          <a:noFill/>
          <a:ln w="9525">
            <a:noFill/>
            <a:miter lim="800000"/>
            <a:headEnd/>
            <a:tailEnd/>
          </a:ln>
        </p:spPr>
      </p:pic>
      <p:sp>
        <p:nvSpPr>
          <p:cNvPr id="4" name="TextBox 3"/>
          <p:cNvSpPr txBox="1">
            <a:spLocks noChangeArrowheads="1"/>
          </p:cNvSpPr>
          <p:nvPr/>
        </p:nvSpPr>
        <p:spPr bwMode="auto">
          <a:xfrm>
            <a:off x="3810000" y="4727575"/>
            <a:ext cx="5181600" cy="1200150"/>
          </a:xfrm>
          <a:prstGeom prst="rect">
            <a:avLst/>
          </a:prstGeom>
          <a:noFill/>
          <a:ln w="9525">
            <a:noFill/>
            <a:miter lim="800000"/>
            <a:headEnd/>
            <a:tailEnd/>
          </a:ln>
        </p:spPr>
        <p:txBody>
          <a:bodyPr>
            <a:spAutoFit/>
          </a:bodyPr>
          <a:lstStyle/>
          <a:p>
            <a:r>
              <a:rPr lang="en-AU" sz="3600">
                <a:latin typeface="Calibri" pitchFamily="34" charset="0"/>
              </a:rPr>
              <a:t>What clues might this give us about early humans?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4"/>
                                        </p:tgtEl>
                                        <p:attrNameLst>
                                          <p:attrName>fillcolor</p:attrName>
                                        </p:attrNameLst>
                                      </p:cBhvr>
                                      <p:to>
                                        <a:schemeClr val="accent2"/>
                                      </p:to>
                                    </p:animClr>
                                    <p:set>
                                      <p:cBhvr>
                                        <p:cTn id="7" dur="2000" fill="hold"/>
                                        <p:tgtEl>
                                          <p:spTgt spid="4"/>
                                        </p:tgtEl>
                                        <p:attrNameLst>
                                          <p:attrName>fill.type</p:attrName>
                                        </p:attrNameLst>
                                      </p:cBhvr>
                                      <p:to>
                                        <p:strVal val="solid"/>
                                      </p:to>
                                    </p:set>
                                    <p:set>
                                      <p:cBhvr>
                                        <p:cTn id="8" dur="2000" fill="hold"/>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txBox="1">
            <a:spLocks/>
          </p:cNvSpPr>
          <p:nvPr/>
        </p:nvSpPr>
        <p:spPr bwMode="auto">
          <a:xfrm>
            <a:off x="457200" y="304800"/>
            <a:ext cx="4419600" cy="1112838"/>
          </a:xfrm>
          <a:prstGeom prst="rect">
            <a:avLst/>
          </a:prstGeom>
          <a:noFill/>
          <a:ln w="9525">
            <a:noFill/>
            <a:miter lim="800000"/>
            <a:headEnd/>
            <a:tailEnd/>
          </a:ln>
        </p:spPr>
        <p:txBody>
          <a:bodyPr/>
          <a:lstStyle/>
          <a:p>
            <a:pPr algn="ctr"/>
            <a:r>
              <a:rPr lang="en-AU" sz="4400">
                <a:latin typeface="Calibri" pitchFamily="34" charset="0"/>
              </a:rPr>
              <a:t>Early Writing</a:t>
            </a:r>
          </a:p>
        </p:txBody>
      </p:sp>
      <p:sp>
        <p:nvSpPr>
          <p:cNvPr id="3" name="Content Placeholder 2"/>
          <p:cNvSpPr txBox="1">
            <a:spLocks/>
          </p:cNvSpPr>
          <p:nvPr/>
        </p:nvSpPr>
        <p:spPr>
          <a:xfrm>
            <a:off x="228600" y="1219200"/>
            <a:ext cx="4648200" cy="5334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defRPr/>
            </a:pPr>
            <a:r>
              <a:rPr lang="en-AU" sz="2800" dirty="0" smtClean="0"/>
              <a:t>Some societies developed writing to keep records for:</a:t>
            </a:r>
          </a:p>
          <a:p>
            <a:pPr marL="0" indent="0" fontAlgn="auto">
              <a:spcAft>
                <a:spcPts val="0"/>
              </a:spcAft>
              <a:buFont typeface="Arial" pitchFamily="34" charset="0"/>
              <a:buNone/>
              <a:defRPr/>
            </a:pPr>
            <a:r>
              <a:rPr lang="en-AU" sz="2800" dirty="0" smtClean="0"/>
              <a:t>-trade and transactions</a:t>
            </a:r>
          </a:p>
          <a:p>
            <a:pPr marL="0" indent="0" fontAlgn="auto">
              <a:spcAft>
                <a:spcPts val="0"/>
              </a:spcAft>
              <a:buFont typeface="Arial" pitchFamily="34" charset="0"/>
              <a:buNone/>
              <a:defRPr/>
            </a:pPr>
            <a:r>
              <a:rPr lang="en-AU" sz="2800" dirty="0" smtClean="0"/>
              <a:t>-agricultural produce</a:t>
            </a:r>
          </a:p>
          <a:p>
            <a:pPr marL="0" indent="0" fontAlgn="auto">
              <a:spcAft>
                <a:spcPts val="0"/>
              </a:spcAft>
              <a:buFont typeface="Arial" pitchFamily="34" charset="0"/>
              <a:buNone/>
              <a:defRPr/>
            </a:pPr>
            <a:r>
              <a:rPr lang="en-AU" sz="2800" dirty="0" smtClean="0"/>
              <a:t>-temple receipts in offerings</a:t>
            </a:r>
          </a:p>
          <a:p>
            <a:pPr marL="0" indent="0" fontAlgn="auto">
              <a:spcAft>
                <a:spcPts val="0"/>
              </a:spcAft>
              <a:buFont typeface="Arial" pitchFamily="34" charset="0"/>
              <a:buNone/>
              <a:defRPr/>
            </a:pPr>
            <a:r>
              <a:rPr lang="en-AU" sz="2800" dirty="0" smtClean="0"/>
              <a:t>-tribute received (like a kind of tax paid in goods such as crops).</a:t>
            </a:r>
          </a:p>
          <a:p>
            <a:pPr marL="0" indent="0" fontAlgn="auto">
              <a:spcAft>
                <a:spcPts val="0"/>
              </a:spcAft>
              <a:buFont typeface="Arial" pitchFamily="34" charset="0"/>
              <a:buNone/>
              <a:defRPr/>
            </a:pPr>
            <a:endParaRPr lang="en-AU" sz="2800" dirty="0"/>
          </a:p>
          <a:p>
            <a:pPr marL="0" indent="0" fontAlgn="auto">
              <a:spcAft>
                <a:spcPts val="0"/>
              </a:spcAft>
              <a:buFont typeface="Arial" pitchFamily="34" charset="0"/>
              <a:buNone/>
              <a:defRPr/>
            </a:pPr>
            <a:r>
              <a:rPr lang="en-AU" sz="2800" dirty="0" err="1" smtClean="0"/>
              <a:t>Harappan</a:t>
            </a:r>
            <a:r>
              <a:rPr lang="en-AU" sz="2800" dirty="0" smtClean="0"/>
              <a:t> writing </a:t>
            </a:r>
          </a:p>
          <a:p>
            <a:pPr marL="0" indent="0" fontAlgn="auto">
              <a:spcAft>
                <a:spcPts val="0"/>
              </a:spcAft>
              <a:buFont typeface="Arial" pitchFamily="34" charset="0"/>
              <a:buNone/>
              <a:defRPr/>
            </a:pPr>
            <a:endParaRPr lang="en-AU" sz="1500" dirty="0" smtClean="0"/>
          </a:p>
        </p:txBody>
      </p:sp>
      <p:pic>
        <p:nvPicPr>
          <p:cNvPr id="30723" name="Picture 2" descr="http://world-history.nmhblogs.org/files/2013/04/Indus-script-on-a-tablet-004.jpg"/>
          <p:cNvPicPr>
            <a:picLocks noChangeAspect="1" noChangeArrowheads="1"/>
          </p:cNvPicPr>
          <p:nvPr/>
        </p:nvPicPr>
        <p:blipFill>
          <a:blip r:embed="rId2"/>
          <a:srcRect/>
          <a:stretch>
            <a:fillRect/>
          </a:stretch>
        </p:blipFill>
        <p:spPr bwMode="auto">
          <a:xfrm>
            <a:off x="5105400" y="166688"/>
            <a:ext cx="3590925" cy="3590925"/>
          </a:xfrm>
          <a:prstGeom prst="rect">
            <a:avLst/>
          </a:prstGeom>
          <a:noFill/>
          <a:ln w="9525">
            <a:noFill/>
            <a:miter lim="800000"/>
            <a:headEnd/>
            <a:tailEnd/>
          </a:ln>
        </p:spPr>
      </p:pic>
      <p:pic>
        <p:nvPicPr>
          <p:cNvPr id="30724" name="Picture 4" descr="http://www.harappa.com/script/gif/parpola11.gif"/>
          <p:cNvPicPr>
            <a:picLocks noChangeAspect="1" noChangeArrowheads="1"/>
          </p:cNvPicPr>
          <p:nvPr/>
        </p:nvPicPr>
        <p:blipFill>
          <a:blip r:embed="rId3"/>
          <a:srcRect/>
          <a:stretch>
            <a:fillRect/>
          </a:stretch>
        </p:blipFill>
        <p:spPr bwMode="auto">
          <a:xfrm>
            <a:off x="5105400" y="3676650"/>
            <a:ext cx="3686175" cy="3181350"/>
          </a:xfrm>
          <a:prstGeom prst="rect">
            <a:avLst/>
          </a:prstGeom>
          <a:noFill/>
          <a:ln w="9525">
            <a:noFill/>
            <a:miter lim="800000"/>
            <a:headEnd/>
            <a:tailEnd/>
          </a:ln>
        </p:spPr>
      </p:pic>
      <p:cxnSp>
        <p:nvCxnSpPr>
          <p:cNvPr id="5" name="Straight Arrow Connector 4"/>
          <p:cNvCxnSpPr/>
          <p:nvPr/>
        </p:nvCxnSpPr>
        <p:spPr>
          <a:xfrm flipV="1">
            <a:off x="3124200" y="4648200"/>
            <a:ext cx="14478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457200" y="533400"/>
            <a:ext cx="4038600" cy="5354638"/>
          </a:xfrm>
          <a:prstGeom prst="rect">
            <a:avLst/>
          </a:prstGeom>
          <a:noFill/>
          <a:ln w="9525">
            <a:noFill/>
            <a:miter lim="800000"/>
            <a:headEnd/>
            <a:tailEnd/>
          </a:ln>
        </p:spPr>
        <p:txBody>
          <a:bodyPr>
            <a:spAutoFit/>
          </a:bodyPr>
          <a:lstStyle/>
          <a:p>
            <a:r>
              <a:rPr lang="en-AU">
                <a:latin typeface="Calibri" pitchFamily="34" charset="0"/>
              </a:rPr>
              <a:t>Early writing includes:</a:t>
            </a:r>
          </a:p>
          <a:p>
            <a:endParaRPr lang="en-AU">
              <a:latin typeface="Calibri" pitchFamily="34" charset="0"/>
            </a:endParaRPr>
          </a:p>
          <a:p>
            <a:r>
              <a:rPr lang="en-AU" b="1">
                <a:latin typeface="Calibri" pitchFamily="34" charset="0"/>
              </a:rPr>
              <a:t>Sumer in ancient Mesopotamia</a:t>
            </a:r>
            <a:r>
              <a:rPr lang="en-AU">
                <a:latin typeface="Calibri" pitchFamily="34" charset="0"/>
              </a:rPr>
              <a:t> (modern Iraq) around </a:t>
            </a:r>
            <a:r>
              <a:rPr lang="en-AU" b="1">
                <a:latin typeface="Calibri" pitchFamily="34" charset="0"/>
              </a:rPr>
              <a:t>3600 BCE  </a:t>
            </a:r>
            <a:r>
              <a:rPr lang="en-AU">
                <a:latin typeface="Calibri" pitchFamily="34" charset="0"/>
              </a:rPr>
              <a:t>where a triangular tool was used to press number  symbols into clay.  By 3000 BCE picture symbols were being added.  This was </a:t>
            </a:r>
            <a:r>
              <a:rPr lang="en-AU" b="1">
                <a:latin typeface="Calibri" pitchFamily="34" charset="0"/>
              </a:rPr>
              <a:t>cuneiform writing</a:t>
            </a:r>
            <a:r>
              <a:rPr lang="en-AU">
                <a:latin typeface="Calibri" pitchFamily="34" charset="0"/>
              </a:rPr>
              <a:t>.</a:t>
            </a:r>
          </a:p>
          <a:p>
            <a:r>
              <a:rPr lang="en-AU">
                <a:latin typeface="Calibri" pitchFamily="34" charset="0"/>
              </a:rPr>
              <a:t>Indus Valley (India and Pakistan) Harappa script emerged around 3500 BCE.</a:t>
            </a:r>
          </a:p>
          <a:p>
            <a:endParaRPr lang="en-AU">
              <a:latin typeface="Calibri" pitchFamily="34" charset="0"/>
            </a:endParaRPr>
          </a:p>
          <a:p>
            <a:r>
              <a:rPr lang="en-AU" b="1">
                <a:latin typeface="Calibri" pitchFamily="34" charset="0"/>
              </a:rPr>
              <a:t>Hieroglyphics Egypt 3200 BCE</a:t>
            </a:r>
          </a:p>
          <a:p>
            <a:endParaRPr lang="en-AU" b="1">
              <a:latin typeface="Calibri" pitchFamily="34" charset="0"/>
            </a:endParaRPr>
          </a:p>
          <a:p>
            <a:r>
              <a:rPr lang="en-AU" b="1">
                <a:latin typeface="Calibri" pitchFamily="34" charset="0"/>
              </a:rPr>
              <a:t>Canaanite writing 1900 BCE </a:t>
            </a:r>
            <a:r>
              <a:rPr lang="en-AU">
                <a:latin typeface="Calibri" pitchFamily="34" charset="0"/>
              </a:rPr>
              <a:t>in areas now known as Jordan, Lebanon &amp; Israel.</a:t>
            </a:r>
          </a:p>
          <a:p>
            <a:endParaRPr lang="en-AU" b="1">
              <a:latin typeface="Calibri" pitchFamily="34" charset="0"/>
            </a:endParaRPr>
          </a:p>
          <a:p>
            <a:r>
              <a:rPr lang="en-AU" b="1">
                <a:latin typeface="Calibri" pitchFamily="34" charset="0"/>
              </a:rPr>
              <a:t>China 1200 BCE</a:t>
            </a:r>
          </a:p>
          <a:p>
            <a:endParaRPr lang="en-AU" b="1">
              <a:latin typeface="Calibri" pitchFamily="34" charset="0"/>
            </a:endParaRPr>
          </a:p>
          <a:p>
            <a:r>
              <a:rPr lang="en-AU" b="1">
                <a:latin typeface="Calibri" pitchFamily="34" charset="0"/>
              </a:rPr>
              <a:t>Central America 1000 BCE</a:t>
            </a:r>
          </a:p>
        </p:txBody>
      </p:sp>
      <p:sp>
        <p:nvSpPr>
          <p:cNvPr id="31746" name="AutoShape 2" descr="data:image/jpeg;base64,/9j/4AAQSkZJRgABAQAAAQABAAD/2wCEAAkGBhQSEBUUExMWFRUWGR0aGBcYFx8bGxwaIB0gHhoYIBobHSceHRojGhkaHy8gIycpLCwtGB8xNTAqNSYrLCkBCQoKDgwOGg8PGCwkHCQsLCwsLCwsLCwsLCkpLCwsLCksLCwsLCwsLCwsLCwsLCwsLCwsLCwsLCwsLCwsLCwsLP/AABEIALcBEwMBIgACEQEDEQH/xAAbAAADAQEBAQEAAAAAAAAAAAADBAUCAAEGB//EAE8QAAIBAgQEAwQGBQkECAcBAAECEQMhAAQSMQVBUWETInEygZGhBhQjQrHwUmJywdEVJDNzgpKy4fE0Q6LCJVRjg5Ojs9IWNURTZKS0B//EABgBAQEBAQEAAAAAAAAAAAAAAAABAgMF/8QAGxEBAQEBAAMBAAAAAAAAAAAAABEBIRJBUTH/2gAMAwEAAhEDEQA/AKXDMz4j+VpK6NUSJBgi3Tl7iOWBSWbOLq0ktVRTMfc0i/K/448yXFKT1Jp1RUMgFgepmCe8HC4hqmbE7tUIgwZgEQRcQb48x6Bvha1BQRXpgaEAciop2gEwAca8WteFkC0CppGqw1AQYDCDHXCvBM3qy1JiTJQSZkm0G/fFPL1liPj3wXS2bNXwHKKisAY82ombbQsbi8mOmA8VJWkt7ePRB6bnDGfrBQkHTDSZ5j2T8mLf92cKcSrhqFMggzmKBB5EeYzPMWwH0CkR5hEC5/fhermNVZFO7mAP0UHOOxj3nHPVBHQAyN9+R9B0wlTpimz1ajwWgSbBQOUzvJLd57Yv6mBNXLZmjpnQEaqe5J8MfC/xGKhe3P4m+ICcUpBgEzFBoqMVlzOl5JQiIsxFx+iMV0Zo80doM/iBgNZSsWzWalj7dMXP/Zrf4mcLJVzZ0lHUITIVgQQCS4UjkQB4R/b1XiMNcNp6s3mRsC6fKkpxK4j9F6deWDMKjGZ1EgdLTEemGmH6pzQM+IrEGYuA0CYifLqkL2NMH7xwxkWzNKSa+uNIum+m03O76rxto5ziR9E85U01KdY6vBfw9UyfQnnHXfB89w9a+a1Co6NRRPZYXmTMGbSCDa5HbCFNVOI16eTrMz/aojnWIAJ1WeBtIvHfDOY4iPDUVGEOQBqMHURYSCO/PCnF0P1TMGZPhkbR95eXpOC1soGgG4UEQbgyANuwmD3OAWp/SOiACKqkQDuTbSX5m9gfw3x630jy8wainSNVgbER36MLevQ4ZXKgFmgCWLEwBEsG5bQyg40Mouk6CoJ0wQeaklZjl5mH9o4QuAf/ABDlyUIqLJIi0SSWUb/sm/Qg88P1eLlKyUwYDUGaP1tYAMDbY4n5wKRoKLUUwsafECt5QA0A6RpC3t7HpgVVQM+g5DLCPTxGxYKL52paGsLwRv8AA/LGaMyIOm24EfGOX7vTBGpyQAN8eVKZBI6b+p5e78R2wiVMocarHNCmdJUguCHM6QeYiJk7euKuWNGhTao3lCA+Yk7mY7mSwxB4fT1Z+qw2pUxTJ/WJkj3C2LjZWlVo1qVUEoysbGCBGsEHqrC2+3PFhXyPEvp4tkTU+jcsbMbXjeDHO+DfR76R+LWALuhdiW8w06uwIJAItAPLEA//AOYsyirl8ynhvpIFUFXGows6Qym5AkR6YTH0czmWrBXFrQ4BKxe5IEjY7gG2J4/Naua+7zOZrJTzBVyGXMqqhnJFmWFkCYMgntg30tdjkj5jIdOZ3J2nfeMRKlascrmA5CVPHpsS+oESVGsRNgQpnoZw7xys/wBTpCpoY+MgcoZUxMESLgi/vwZNlmOeQMZ/m+39s9zz54raSLKxE99/4Yl1DHEQLH7D5az88VKxHhkgjcAkkC0jr1MDvfFQPPcRM6tRVFknrAEnvyJjCHAuL1aih2YkMdQVhsDy68/ljHHwTSZFI82gNB/ScA35SN+xw/SoaQQbxseY6/P8cUAztRvBqswRiqOymoqtFiVuRyiMIJ4Iy9N8zlqHmB2pL0JBlQCJAnlvGHeKj+b1+9N/8MfgMb4VSmhR7U1iCRuFP/KPhio+QzHDOHhj9m/9nUR7iTjsfeJmGQaQWA7Exe559TjsO/Tj5HgFejUZ2p0DSJYK4I0yY5AMQIn543kq4Rq7wCPErSD+iCQefQfLHvB3psdVJtSFpuLgk35Decb4fTkVQOdWsO4+1Pbp+OOOumFcuMqi+WqVUSYFZ4A8pP3v+0X4+uCjPZctHisSCB/S1TuxQbP+kPmDtiooAM6EB3EIsbnlHu9LYLTWOUWiw7R06H8kTgqJR4rR02ZoiNJLmAZ5Eno1+Xvu7nqqvlqRT2TWolCNok7dI6Ycq5vRGsFgfaGksYgAmACSJA+Pc4TqZJadCmqWT6whUSYgsSBBEgxgG8pnz9Yq0XAATQQ07hwDtyInG87k6Zrt4iK5Ww1XA2uA2x57c8KZ7LVVzbVKdNaivSpqYqIplVgzqPY4abieYJg0SD/XpPQnf82xUBzHCMtVGk00uDBACn1BAwp9HqD03q0fE8SnTjSTOpSROnpEHl0xUoZqtUJVl0HkTWBExIBA6/k4Dkq9fVFWmgtcq4N52i5/074tQ1kcwRmszcytYR7qaR8MMVKahiQCJ5A+XfoRI9JwjlP9ozV/99/yJihSIK+bSCG8vtH42i/vxNCS5ZlVlooihmLMzk3Y7mBLGdrkYkccStRq5aoXVn8TTCppJVo1JuZWxa+xE4vZisFR2DBiqliADyXVG28dse73Y6juPSOXbf44uDHFxOWzHP7JrdbjHtWsABLAAsFGrusadxfUCcD4iZytcC32Tc+4tftIwSQwUtbe3qI+IkwRtJxKEG4plKq/aurqOTTG2qdMfo+uAVKPDlIgUoLR5WcCQQLgPBEsPx5HFSpXpqfMyKZ1ctywaQN/av64C2corZgVECCabKsQy76beVmHocUdwniOVUClRYAybQfaMsTcdAfkOmM1yTxBO2W+XiN/HDCtRcSpR/MCNLT5vKRsZGyn3euF68fygrdMsD/5jDFqRWpuF1OzBdAm+07gnp193rhTLZuaRqGygFgCDJ5yemwMHrgXEsotVFS+nUC/6/W8zew9BHPCVR3HiJ4hKKVAYKPZMCDEWht+ZBGFI9+j+XKiqWPmaqzEzMgwVM9CpHzxUqXWoRv4dS3qpt+e+EKHCVEapIiIIvp2IJm4I5HbBclkzT+sGSfEDttEDw9tz064UMfRyiHytJGAYeGvl2mIIgzvYEemF8xX8WqSRKBvMvMfrdYVp223x3Az/N6P9Wt/cMUBSmbix1EkT6x6zHeRgAVqGlarFBVkiEMXsJXzbQRy7EYgcPpJVypXwQqlwwCeXU2wI0wJ9qR+ri/n8ytKmxbZFkgHkBAWfTE3gHDRSopYgsAzKTI1QbjpYge7FHqVA2fB5fVl683J9xxSYBSRO8kd/wAmJHLEfX/0g0cqC/4se8QzmZNU06VKkyqQ6s7mf0WjbmGHxxM1YczOXl+zLoYESCASZsQQYYj39sFoaou+orZvJB23JmRO898T1fMmJp0k76i3vgfxwHi3DGYBTVDV2UlAqhIAI5yTHqdz3OGamqHGL5bMfsP8dN/S8++cDzFZ6OVoFbAgAm0DyTfnMSYkTG+BVVYcPYVCNXgNJGxOnfbn+ODBKhyyogpMCihg7EbAQQQN+hxQjWfNqxVAxQE6SopsCvIgtLXF7k47F/I13SmqkU5Aizf5jHYghcDplaVIOIYgST+lMwTtfHcJAmqQxI8arYjn4jYq5RfOsR7Q5YiUc0tCjWqGXVatQ6QAGH2pUm5uJZe4/DKneIVaYpxUVtPRNUnt5fMR1E4+ZqZ7JoxnL5mn3D1F/wCHxMffLoNOmZVSAZufd78LVsijTLoQdwZM/LBSHCM5QqqWonV1mS3TzapaY64NxNvs6Zj/AH9Kb9zH5/hiTwz6PeBmqrKIQrClXseoK7xzE7Rilxe9GmJgmukW5i+Abz2QpuysKzhYUFVqBQGMLBBuJY7bScK0uDIAZrVGEyNVQSOVjuDFpnAqRAzVYWlkpE9Ygj3+yDjfFKOqhXWJmm9t9kJHLeVnEBBwgEAePVn+uvtG8Xta/bAaeV8PNAa3ZPDMhqurzE+UgdNI3A3wbK1JVSOagjGKixmKbad6dRZi061aJ5SCTHriglNR4+ZP/aj3kUkn5nB6ubCgWLEmNKiT8OQ7m2FKTAV81qsoqkkjkBTUk/AYPl5ZdbWJE6eQHJfcIvgMozBywpm8TNRBsAAYLWMAA35epwLLVUEUyKlNhOlHM2H6DXDADoSRAwHOcUpMlWnqJmmwJCsQsiJJUcjfG8tlUrUFA1IrqpAknSYs66pKupuCInpfAM8TWcpmP6o/iMarmiaStWFPStwXAOkkC199tueEzmi+QrM1m8Jg8bagwVo7EgnDec4ktJaSuhPiuVVlI9qBuD6zbqcQZ4VmMs5Jy7U5HteGNPPmoidt46Yo552FMtTjVcLJtME3i8AfiOuJFPgtNa/jIpRoIMEaWnqNIvilqkaWmxkEbg7HpII7jYYtREp8ZqpmadOsiRVEB0BHmiYaTuJPfzemHK4B4ikN/wDTAN0u7QPmD7sdnOHo1Wi51Hwy2npqI3Nz+iY7nC7g/wAozG+WU/P+OAZqZ6rMDK1rc5p6bd9cQbYBXrVIIGVqDWQY1Ulkhg5Ma77CY6nFZHtHI4+a+mv0ZLa6lHUagVCy6iAfINRA2k7wD1tgKp4hW/6q/wD4tP8A92DtnT9XrM1NqRWnU8pIJ9gwQVJEYlfRHN1amVp+IumBAMg6lmxt0gi/XFHjDH6tX/qn/wAJxpBuFAChSv8AcXtyGDZjNhEVdy7CAN2taO0yfdOwwpw6DSTmNKzykQJGOzOV15hqivcLppyshepjUJJAjcWGIBcdoeLQNNZLFCxUc9LqWUd9G3vw1kswKtMOrSpEgkRba45G1/TEitUcV4LjWia1K03uWt4ek1dN9IPMWvEHHtTgQWhWp02ILwQgGlFO7EXaAY2thiwQf7ee9Fd/2yCMNGsftUAQsoL05FyGc2HUeWOmpjhCnl4zwFyRlx7/ADtM+7GuF5hnD64JSq6CwEKCLW9PfgH6mfU02qUzTK2g3hSSF8wm0E3B2iDjyjlVXNO5X+lVQjXIETNOb6dgwk3k9MYzVVlajDe1VCtaZUqx585XfvhyoCPx/wApxpCfH80i0KqEgE0mIEG42mYjf83wnxEO2VU0/aKLp8xFvKTGk3ty5/DEr6VnMVeH19DFmp5hiYEE0kJWLbxIYyNhPLHx30TzrvWXVW0IoJIY+U29ne07Ty+GL47Klyx+m8J4itSgjQRK7b7W3Jk7Y7C/DeHUxRQHQ5CiW3k+vMY9xlVfJuC6xPtDlHMdcTctlDmMnmKQYAuapXUYk+NMSdpCxh3g2oigXHm8mrrNpwnwQkUFnqx9ZdjOMqxkK9cLpqUTIAEq1O//ABjlGGqWacmDRcd9VO3/AJmGYN8Y4jTAy7lmdTpsV3Ebn4fvxFK5jNVVP+zuR2amffPiY84ufsqB/wDyUse67fnpgf0bqM2VRizOW1HzGdiYA9w+ON8ZqzRokf8AWace8HANs+0nYQPz+7C+czNVfYy9RyI2gT6CZPuGG6FEswAIBMgNAMW37x0xBzeazFMU2NSmyu6IQKcG53kk98RVSnnCR/Q1weYekQB/amPnjNNHDEkgKZOkr5lYn9KSCttu9rRijkhLqI3J+AviDwiqdeYVmY6agIJM2ZQQL9uW2KjXEHj6+eYaoP8Ay1H78V85Uo0zTDvdwIEGJ3FhaLi57YkcRH/zC/3mEH9lfxxUrVxrpoXERUsTAkGmVUX3vYRz74DzPqCwp6pRtQbldYBT5mf2TgifhjquSqa3h6TU9bEb6g25sTECSCP1iOeFh46tRDIrBnYM6EkBQp3n2DOm5naMAoW/mecESR41v++wTj3DalXLoaUF6VTVpkT7I2B3uu2N16wGSzci+qtc/wBfcYdDdcApl87UKpry9QNEnTpifUv+O2PeLNmKehqaBlJuCyA9N9Vj6fPDZH57fxxquitTam8kOu14nUIM8iL7XwCOfesKmXASEaWeIJXSCNJIJEww2vgVY/8ASAt/9Mv+I4BwSkUq5mnqZlRl06iW3WSJ+GGnMcSQjf6sp/42xQZuKqhPtSCymEY+YcrDny6wehxjivGKFVHDBwdOglNQJAIWRY7zPdQx2GHqRghFBZgJABvZtQudoZibm041Tp1gBCoAIAXUxNpAiF5BiQIPOOmGCNkuI0aVNaas2lREsp2LRJMAWENP6JU88GqZgPlq7qSAaNXcEGQjCCDsd/hht6hVCai6EiNQOtNMRewYLpGmWUCBGF+J0x9Xruukh6VViykEE6DLSLSbTgCrUVUogkDxFATeCQoJuLCxnBHUj5YQrnUmUgwfETSeX9E0j3wMXBuJEEEdudvngiFU4ghqo3j0yio6waiyGLAgxN7SO0YZHE6UwKqajAHmFydgOuB8DrqaFHSyklBIDCZ52mbY1xbNA0tJcahUpEDUJ/pF5TOKAmRnpvfLif7zDDGS4Z4euGJ1OzgECQWvpkb+uEq6/wDSC3N6G39psVq11gOqO4Ipzfzj9Wb+7ATeI5xNWWkNLVQUK9QttQPLzjvv0xaKSMfPqj6qX1hkLeJ9mVpspDlX9pWIkW2gXi+KWUWpSq/b5pGWpamvhimdfQXvblJ3xrGdCzlM0MvmShMkVHBO4L7gEAbSYPfHmc8NKFM1ERgzJ4jFFsGWAzGJ9uL/AK2CfSH/AGWvz8h/EfxxnO5mktACqDpqIF0lSSRpE2A5WvyOAVP0UojZSB0FVgPcJx2N0/pBSCgBasAAD7I7e/HmLxOquUeKiftD8cI/R8TlqVrFBh7L3qLNjP7/AIf64W+jt8rRAH3B/D8cc21KhSsWOy/M8hiF9Js+Uy1RvvMNI9SY/j8MWM7moZaVM3A1PzA5SepJED0PTCH0jyaVlQSU0aXIixC2b8ZntgDZHLinQRI9lVH8bes4ncX/AKOlBic0h98MT+84sVWtJgRcnl3M7RiZxemTTo9frVPbsrD8+mJ7XFTh8CopJgc+n5g4j8dyNRqVMKoYrVpsQGWYG53vh6tmESzMqmATJggGTPpY37YyM9T28RP7w6kfiMMDuUEuvK9vgcfN8Jtmq6nmlJvfpg2xfyvEqXtK6vpBaFMkhQCf8S/HC2X4atqukCoyAEgnaAdMbdtsBPz4lc8efiMP/TGGONozVMsVSQKg1sB7JUk+YjkVZYnp2wPPqNGfMf74jbvTj8fng/0kolKHiI5Vkdn9SGC6DfYT8LXgYqGVABdhZmrAjRB1KSORPMSTEGxOB0HigoBsFtbTbxApBBOpWExuQQ040qgVMupAu9Q3F1YCTAHLzERMbYXopK0+R8eogOok6dTEwef9Gtje2AWrPOQzRjc1T/8Asf5Yrr1xIzJP8n5rl9o//wDT698W6VGTv7+gxFekQpaJJkAHna59BPxjC3Ec2KSGobkCw6kmFHx/fjWcq/apTX2mBgfo01HmP7UmPUnphX6SUg+pVsqtTq/2NcH4EEn09cEHy9HQLmXPtECCz3Pz29wGFSZz8g7ZanFv1icUXpTf5eu/zAPuxMYzxA98tT/HFVWfIpWIZqaM+2ogAx6iDzwvxIDL0XYK7BVLaTWqcvaHtGLTy5YYrcRFFSfCqVAt2KMtpWQCC03BHLtgXFM0Hy1ddBQhHUgmbeGHB9CGHwPTBBqeXRFsqwZsfMe9zJwjnSBQzAAABoVTAEA+QibWw8tU6AOUCMI8SI8CubSaNSY5jQ2/yv2wBaWVU0aIZQ2gI6xaGCi9vXbG87nxTXWQxP3QFJJPuFvfjuHV5pU5EwqkXP6IwxXqNO/uH59MKIQ47QmDT8N/1qJVvcdPPbDeZzDv7KBhKhtViBPtDUtyBaD2jnj186XFRKdQrUWV2JhgYEja/fE/6K8SqVVqeLdkfTO3La3SMB5WqzxBB0oH3+Zv3Rjz6U8KqOtKrSEmmTHMgyDPf8cdXpH+U1/qP+ZsXUrMv3o3sYvPr6D4YKgtxanmfD8WlXWqjh4RDGoCP7pgbxtvhb6cQfq9QEiGACncEw23WwG/IY+tOdVVlmVV6mAIxMz/ABqk3sCnXVdRMEeWBMhiIFp5gW3mx0yH9JXjKV/2fj5hhps8o8KmyyXViDMadIXV8RH93EfjGc8XIVqg9llBUcwNSgz6mfTDb3qZZtSgw/lO5BQXXrEX7Yoq+Gn6I/vHHYHr7Y7BG+HurMmk+WVIKnlMiMKfRysVy9ExPlsJ7nT3+9bAuA5FaLKqMSmvyzchSZAmL269TjuAnTlqcj2RBtuBPmEbiffzxho4mVXU7AFWciSpva0Xm38T3wPMcOHilbyArAwoI1jzXCXkjbfDiGY6fm849pt4VfWV3AVgTsU1BTEdCDvFviEkUaNRK1JXkkFGKkSvWwAkcp2xriqeXLgXJzA9ZCc/zzxOyPDdPEarU7IKfmHLU0ELPu14f40vmyu8+O3/AKf+WIp2vQV2l0QwALqDYAWMi4sT/aYc4x5T4fTG1Kl/4YPXt3/DBHO3Pp8Pz8sFFOBJ8szfv6YCbxSitFRVXLqxBYHR5YUg6gY3QhtuynlOGuEZlalCmyggabAmSIJET7onBs/mAKQDEkFdIE3uIgfHCv0e4caFBKbG4knsTeMVCmbpal4hTuSzuVHfSrAe8pjdXN0q1IJVdCrKtRRMG4EmLSCVn1nvhvLKfGzLBSSKh2I80QeZA1X7YWo5aqhikr01JJ8OpGgczoZWJQSZ0wRvcYih/WU1URqvRLiACZDKIiRIhRPx6Y9yirKAuvkrPV5jyfaE79A4ntOKNNsyY1IosZPiTHTYfH1wDMvVJZKtKo629gAqR3lpj33/ABoTeiTw2qGsWQvflqqBxbreMWjm1pQWgXFjcE7gCLnb5Yn8azE5Gu2krKizCCPtFBBHXDXHOILRp09S6hUqBQIBE9fNtEjBGBTIqF0phTGkMzRaZiACY53x4+XcmWp0nOkr5XYeU7rDAKRM2Ji/KcBGWpLWNNQ9NlUNCu4XSdraivaIx6lBGqujKxKBSC1VmBDjVETG4gg4ilsnWpK6pBpVP0GLiewBYqw6Rj0rHE2XmcvTC/Hb89MVTRW3lURf2RaPQYm5hRUzpNw1OjTvMGRUYH1tioWz3FFWhUqowJNYW56dcgf3KSjDWZzK1fFFMhjUyxZRMSYdefONIxV8FdLLoSGuw0LBjra8dT1xmlUTUArqrAEDSRI9w9BhCofCvpKhUJX+yqLAlgQrfwJjn1w7xzLB8s7oAwFOppYXIDI0rI3BEEHsRh7PNpWNV22U31dtPOfTn7sTBXBytVghQeHVGhk0kQhsVNonmLbYoPwyPApSRdFtO/lG3X/LDrQg1X/V7n+Efu64Uy2VU0EWLBF2PRRfvG/uxjiuc0+GEbU1RYRYMxElipFiBeD2GIA8RzvhUmqbsWCoOrsbA/j7sa4Tw9aFJU3JJZ22JY3Pb09MLcVyXiVqIQhkSqHK/qnyoduur064fymZFRQVuLzJBiCR36HFNTmEcTS4/wBnsD+23T442Povl6ra2pTr0kHW0ywuoM/pBhz2x1T/AOYpN9OWB/425+/Hv8nf01IHSJQ03M2hQVM9nBn1brgGsvwOikFaGociRqHxY/mccziq7ItPTSQ6DeCz31LC3AXbuZ6XVq+IyIWSD4oFVQwMASdQP3lLhTOC5gMjhqc+cgVB1OwqCe3lPohveWIR4xkVo5GutMaVja/Ook7k/DCnFamh8lVMgDcjYWWRf9UnFHj7lspmIvCA9RZxO3MROCZKvqoUpA9hTEc9MWkdiPdigj8XpAwatP8AvjHmPS//AGanvYfKMeYBjh1EU/DUbKAOm22Fvo8o+q0r20Kfjfl02wThnEKdZ18Jw4DAGOR6T35cjgXADGVo7gBFn0G/+XeMZaVqPlUkgA7D+P564ncd4h4VB6hEmPLPMkwPn+GC8arnUlJPbcQxW4RR7R9RYDqWwt9IqK1Vp0/ZCqGpmQB4lPenffVqEXnfpghvheS8OmFYyxu7dWN2PxPwAwpxcyMuea5jkeRQX9CI+N8PUs6rwVYGbiDeN9uvUeuE+NSfq07isY7jSs/icRT2VpkjzW3npH+nztjdaprYgWAGqN4Ai18dQfynbbYnc3j10j5nthfh6GkGeoyhmYkyfLpnypfkFi/UnrgFtRfPMZGijTUAD9KpJB/uj54qg3n8/O2JWXV9SsAp9pGIYEMsyhnfykaYItqMbYeo1G5iL7SDNv8AURi1IFkGh8zef5w8f8Nv3YJnM/Spn7SoiXkSwBBjkN9vx9MKZfMrTObciVSs5gc4C+X3sQPfhlAADqjUPaJA53mSNo59sKAVOKUWRtNRCZVSFfzXdVNgQ0gE4FULUCXUh6CvpbUWLAFwrMGJMqGO3QHDtWtT0s9mAuSihjbc+USSDf3Ymu5ZHRQ7JUcPKI+pbhnGmLqWWQR+mel4p76RLGSr/sjlP31+XfCP0zozk0cX8Ni0xH6AmOW4xnifEBWyNd1J2jobVVBF78xhrjOXNXKeED56hYDV20E7T5Yi8bge+0dVFT6wKy0ndHoL7PUNJX1E41Rf+cM3h1QKiIsGmRpZZFzMRBF+xwpSzNRatKg5saCmQL6wdJhunl+eK7L2H4fP888QDHEYcI1GoAZuUOmf2hYTEgg8xhIXz9SCf6GkD3JLfn34ozBiN9sTsrH16pNh4VC/a5/fioa4dnlzFMOASpkQwjYlTIBv8djgOc4NllRnOXpwIJ0pBA6+UgxvP+RwrwLK1sujU2RGUMxBFUc77R7+t8UaWaqn7ijv4hsYt/u9iflPpiKWFSiFD01WEIKwSbGzbmSYLH3HrjfGrZevaR4VT/A2F6dEVQRTagGViW0HVDREwFiCJ+A9285TcZWuHYGKdTYbLpIX1MRfvhgayRijTmG8qWNxYDr3x1TKq1fxgvnC6RBJtJMAE2JMfhgGVqgUEYkABF5iNh7rEY3ks7Tq2pVFYjptvA2/N8VC2VrJUfUlrlYJ0keYjYESpYEgcr9cdnkSlUSsAAzNpZVHtFyADHKDLH15YzwqnDVysx49QRO0OYAHqSfecd9IPYo2MivTiN/vSI6WHvAwVlATxE9qC7d2B/fjX0ZA8EiSdNSoL/tfO2Ao0cQBUiDlwTb9Yx+AOKQy8SEhZJcgCx1GeREGRvB3+FCXGaY8fKxY+I20baL252GGjUcVNPlIAlWEgz3F+gvffCfG+JPRagDTDoz+ZiLqZKqR0J83rEYfe09j178u2CPnaVOMhnAthqq7dqlvQRbFTI1CaFMgqZRDDb7XuD2n44zx2Rk80eZS9omWUE25359Bg/C1+xpiI8q/4QbTy63xQ/ToFhMC/UnHYjZ3itHxGl2BnYEgDoI0G8b33x2J0b4DTAzVUKhX7UapbUCdINiADpKkb3wLg+YqLlabUh4hWNSKfMAJ8w6wQLbgXwf6OV0evUenUWor1FcRMr5VUhgRvabYJwJgtCkzXCr5ibkC4b3xN/44zqh0eOl3ZSlXXHlL0iAe2pA0ev4Y9y3GapfS1BypEhkIKn36hb59r4by+Z0tpbVZVaZ6khpBB5gC36QOPM17L6F84WZncswOkHqaYG/NlwATmqzBiEpqYMB3JOqLSAPwOMZ+tJysxPjPPP8A3YJ+f7sNUqKhF0ny6RAPTcHtMz78K55STlj0rMGHrS3ufzHxKazHiiDT0uJEgNoblPtwI9DzOA0aR1DVlCDBOo6GIg82JJ64PmMizFtNdkXYAIGB8sFxPIljzkaBgR4fAbxMySp3lQAoNiQxJIgAH1YjviDC5AFrUvAJ+8lUKfetMMrejA4cyC1NqjK5kQVQr8bkfCOeEOG5Km6+XNO6wAQCDB3Atzkm9vZXDPC8k1OofMWViGiTKvsbX8sAGx3B7YoXzVDUM4NtVaR0uV3HO4+fbD9SglWmyVaczA3tAMjlcbHt8cABU1K6OAwNUmNjYXAMdDM+otOPKfCknUKlcTvFXv3TBGOF8Fp5eq70WZFZQGSfKDO4PLmL9Tj3NVJzdETvTqiCbgyh29B+OGafB6Rswd9VvPUJkHkRt8MTaVGlUraTl2pvRbSHBbTYRHTYSLdMUPcbI+p5jb2APi6gzzm2CGgfFpmRAR0I5gkoRy/VPPAOLJGUzExYDfn57H3mPTG3yavS0OHEwZVoggfEj06YgX4tSTxUqJXam6qUKqnifeYnygzcnYj34xT4ysgVMxpB/wDuZc0jPLzM2nfoMby2TqU7LWBts1G5HqjAn4csc2bLVfDGZMidSClYzt7c2i3PfEV6Mm61UIrtBBMFQVbaRIaxgiI5D1xl0P15yIjwKQbqJnT8ws9jgNejRpZgU1FWmXgrpIFIsfMITYNBBsB+7DNBj9frg3PhUJI/Y+Ppioey5nex5/uI7fx7YI8xe87+hG/vG3PG6CgGWvFzymP4kwcLZpm8GrWEFYa45QpIgdLcuuAg/QqGFd9AXVUhdrAfc6iDi7xVf5rX/qan+A4nfRjLGnlqamDqGsHn5vaUjrMX7/GnxFf5tmLAfYvef1T/AKY17QtwlEqZOkGHJTYDkDaGHvnCGY4LQo1lrToAJm1mJ22252GHeGGMvR6aVuOVpHv3xRy6nUxgNCkgdY5R857DpjKoFNaLNUehmqiBnkgAFRUa8eYWBPWeQw5U4PrCaqtVjTcVL6YMTAgKLXPPCHBAGo16VaFfWSzz95rhweqkbfqjFvhubFWijxGoSR+PukGMUTWpj+Uh0FBZ/vGY+OGQoUwa5JHZew2JPPpzO2AuAOJA7j6umr+9B+OGP5KpsrGoqs5ltUR5hqOod7gxNymCB5zJ0qgqF60q1NUBDA6SrGoDO0zf0+WUdI0nNM0eX2kFyYnaZuB7xhRBklJXSsEkxBNiR5epGkMvoTtE4yr5cuaYUajJHlF4AkzHOdU9SemKPeOUf5hmPMWBVSCTOzoNxytPxxTyTqcuP0jTXSSOqg398ddsJcUywGQzKU9gAQs7DWGgegDR6Rj3JOzUk0KJ8O4PljyWYEWI1FfS/TFQXhvCUp0lVkDsJ1OSQWYkkn4k47GKLhlBqIdR/RMiOR230xPecdiI1wXJU0rSlMUy7AkCRz3iY58rXOEsq+nKklvLoMsBdCGLHUBygXtz9MUshmX1rqosIMjzow93m9cJ5fNulEg06gKmAzKdLDXq9oKRtYz1OMttnNJb7VdStz5gwCp5EEOl+oX0wanmkLsRVA1FfKY8pHkjrdqZMHmDgGXzdUqIy6G4BGvpOn7v60Xm1uVjcOz1HMLsuq4ZDBNhpgnmIj4zij2lmVEhXBG6gEEgEB408xDahHI7WnGc00jLMpUg1SRYixSPkDPu5Y2eKUxX8JvKTcFgAjXJseZljb1x7nqQV8ogsBVcAdhSEDEDpLx9z1MjC2YNRdSFabhl02Y8yBBBXnYe/tikKkDubD3bnEnikmmKaTqqtoBHIG7t/cDe8jASeFNWpZZnKUyGdiDrAkzy6jsOxxR4Px41mCimSwgnSysN+ob8RitTy+mgFEaVcaY6FSNuthiFwm/EcySBI8OLchz/AAnANUaxarXJpsftNQusgxH6UXjn6Y9fOMvtUa28ErTYja5JEgX79MGoAGtmOoqke6F+O/zw9WOlIJiYJtyMQveZFvTASK3FHV1N0VTfUjGf7RGkDvhXhuYBqVm1ylSpKkn70XPdJ8sdhhvjDPSpDS2k1HRQ4+6jGG9NgPVhh6jQC7AAbnTa8CTAtPeJwE7jGdV8lmBzGixIMjWtwQTIxTSqpi8GAYPfvsRbCnF8orZSrrVXKAMpKjUDMSDHQ+/BKeQTwpNOIVdMALc7gaY6TH8cUNNUKlWEEgbHliNw5nfMVy2wIpr0OkCR1kY3WqaQWux3EEqx5LdSFPmgQRvjeR4QKQOln83mIZp8535fPub4mBXP1ia7FuWapJt0oGDG15/DDtOlPEqsDehSn1gb/DCnGcoPFchSNeYy+lg1mPhsGPPoe84cyeVB4qxV2EUaQMwYJUATO4A0n44o1m6qZuggy7aUd/tZnUADdR6257E4LXFRKSyyqpfTqQtAA8wJlbXXrz54h8BymYoB6dSjWZdRNqcgnYMG1CNha/qMU+J5WrVy6qiOCGDsGUgkieYkQS0wY2wDWUovKy6hCS0FLwSSRAEizcjhFXqLks14x1NorXBkaTsO0GbHBOK5GqaYeipVlfVBIEi8i0idtwN++E6ubqNkswzIVJosCpjmQu432+OCHuD0h9WpjlpE8iDvIjmD+HfDgXW4pSQ4TXIJHmJIRZB56H+IwtwxvsKcAEaF2PYdYwbLNGZRyCFZQpOmYKOW+7O6vb9k4CXwisr1MxWAhEaJidRAl26zJ2H+j3C88KtFaiKwVpInexPKex54Vp8Fq0MlWorL1KhcggEDzACb84n4jBeA1/sFQ03pGmAsMpFhzFricUKsSeJNf/cLI7Tb898WKZYFdJAMgwf0YOqO4Et7sRnVRxNyQLUEj3gT+/FIvTWpSqM0U6evywWBDBRIN4AAIj9blgAUchT0ANTRpG8CexHzxF+jGivWzFUiBrCoI2UTAAPp8cW62apqTpWu4sZWkSPjiZ9GaFKl4i062sltWll0OLc1JxcTVXiaxlcyQY+yJ+BH8cBytE6FMRKqIFiDbYgzOw3wbiqA5bMKedON+flPuE74zlCTSpkMLou43sDtt3HrgFq2cQMQahBHLRP/ACHHYfGecWOmfQ47BGuGH7Rb21Afnridw5nOSXQTqLK8FokCrqIBPb8MOcOy5DoDBhYnYlhYbDmLz6YX4BTHgUdVvKCR1HPY7X+eMtnqbk6XIhgbgteJjdZB2nmNsL5KgkhswlMuWdhOnUAXPssIOxHxwCvwOm5bUfP92oqaXU7qdQa9iB0MeuGvA10hTqksYjULHVuHU/dIN57Xm+IF89wIOnhltalgVLE6gZJ3IPIxB95OMcZ4eBTywBZStUhTM308yJkbY0xZarFW1NSIp1QVI17eaANOtRAkbr6DBuIhgcts32zRyPsXBsQSIN7TgD18/TFRVYhXI8oBNx1g8974TzeY01TUIB8J2U6fKRTeCjQbMAu/qDyOA/Smh/O8tUXSrgot7T5Ad9t7e8YqrUO4kWggHbtgC0+IU2puAQwENIMEAAxIvynCHCMpTev9YpMzCuAvbymARYEXHOcUlXUtXVM6DvzFgb+k4ifQYxRNiNNZtges8uUHFDeQ1F65iZqsT6hRP5jAxxWnmqqe2jUhq8OohEyDDjt7RHqfcTgBDVay2h6zyCCPaADQe8m4/hhHgJ+0qgEsqU6fhs24oyxCsQIDSTeOnXAVM9kxUWJmziAYlXC9Qb+WQbXGEc/mzltDv4roRcwraYgaiVUWnvzwpn/pBXpAt9WBpjmtQMyjeYGw3wx9Is0tTKpWpVGlqdRABZWpEA1AQRZwCY9O2ED2cqrVylaNmQb2NyDEGP8AXBsrniFCsSp6cj6d/ngPFYXI1gmwVAB0EgbdRv7sD4x4QRBUy71BcKUVjsRvpPK0TgO4hTLmQwINPTJYAqyNrp1IO4kwfTvb2hnC0ak0ki8OjKOZurkxPOMS8pncs1bwfqZUlTGtIkAGTdpFouOZwzmcpTogMuUpuTAgQDYb3HUxPpiAvEKQqBQrpNOsjkE7quoMLTeD8seZd/8ApCsBF6VHn+qo/PuxP4Zm8tXqFPq60KyHUFK3MdCIPqPxxQZAc/WMAxSpX/si97xihrPVqiPoNOqFJ/pKah7b/dB9JjC1Nss7XWqX56jWDe6CPwxTFASILKTMRJiYuQZBuNvXEo5zMqpC5WuYMCNJG5M6QQwE8jtgglbJuKbHLvVUz7FYyp6wT51N5vIOM8TBGRzGoBWNJpCmRMi/vxoVqznQ1M0ww3O42uINiDym8eowvnkcZHMiodTeGx1qPKbiLSSLADDA4cvNCkA5peUEuCARYCDPXUx9UHXHUeEVtMHNMbHkNzBF4+6VAnmHPoV83lUq5OmHdTEWI9oGmQAOjAicayObNDI0WYNUhVHluxkWgCeWCjU+GVdInMuGgkxABbcSpkfeIt/9tTzxlMrWStTmuKqbMpgN7JXVHQEKxH656YXyX0yoVanhlaiNNgyxJ6WMzhHMZTwuJIxIu1VjUUEEq0Babfskj0DDltUPoQ3Eak8qNMdDaJ9+G63Ch4hdagAKwVenqvG8g/uwnmtP8pIZgrQUsD94mwE9YjFjUOUdo/PywglPkGEHxlUiYIBFo21CGiRzP4XRyuYo5sQ/2jKPNICsp7EeaPQx+97ilcaaggFdDEnc2EncW23xI+jFYimGdSHqs1TURYg33G2xthhq61FUoVZnSEJuSTEWE79B+OE+H5bRQQgkjQpi7DYWAIm3a/wwfiVT+bZiCD9kYIP5vOGeG05ytGIJ8NSQDeYtbuL7c8VEuvTOo+Zhft+/HYcrZsBiAy2tuMdiLVDLr5h2IPe1/ft88TOGFVyiOSAopqe0kCPixA/M4q8Mq6mQkESRYi4ncEdvzviZk8uWyCItn0hkvHmVg6qSdgY09pwRutlarEFaunUJWaaskRfYhxBMG95Ujng/DKpeQwCuj6WAMjUOh3gggg98Apuw0qtGoqwQ6su+rmrg6RpmbHmY9kDDGRpEGoxmXaYO+lVCLMWkhZMdcRWqVIDNZg38603v10spv/YHzwPjG+WtP2rbj9Q4K1P7bXcAppN7GNJUx1BZx6YHxVD/ADYiTpqMSRylCBPYmL98Aj9NJXwXSTD0SABqny/wxX8IdOe0/n192FVfVmnDC1JaSoNhdAxNufLDQaOsWExPxjnAiT3wDGWNnWPuNf0H5+WPm/o5TelXrLEL4isrQR7W4E7wImO++2LObqMMvW0e14bxA56Tt3ifhgWXq+VCghYFomLCLbmJv7t8AHg1QCrX3H85ImdpiNuUDfAeCfaVc6pOjxIBBHsVJJK2F0BUD+1hjK0wlbNMZCiszHy/dVQxNtxE99uZwDIsyVgzTGaDOQT7FUXKzHNCv91t4wU5mMq6qdVPUCDIBBDTyB6H95npiFxDhQo8MFNo1eJqmJAeGOgeoGjvj6Q3FoiDaN5vyuP88Kcayprhcv7OpTUL7QVkUR0PnkntgMcUWMnV17wk3IEze4vfbFKimpGpsTyKtPMdxBkyRt0xHr1mrZFyVKvpXUsQQysARflvy2OHuJZXM6UNEpBkMGQtcGBEbSADAG+AnfyawzIqNsKOgEQTOq55QRY+8+6lnKWtVhglRJFx5W5jcH71jhQ5XMNGogQZBp03mRf7xgg7QRBtsdhVMlmJtWJMffoGDBN9xBvBjkBgF34W/wBeWoSoCUyBzuZsY3F+XLvhxGI4hmJUEeHR1X5aBM9bT3tiVSzWYpZqlRqlSpBOsUyJsfLJ7gbYsUKRGdrkizJRKmN/JETtaD8MVDuWlQykECbG23KSI6Ym/STNhaYpB2pPVYeG4ix1gm8iBz5G8c8WEUTf093P+OPnvpTw8tTriorEgFqZCk3BhdPUQQLWjAUaVXTKs7sVIklfNF7nSOoN8C47XAymZjfwiPiQBvjXDEbwqXie3oWevYHuB1wxxSkXy2YUDUTRMAbyDNvdFo5d8Arm6aHIOu801uCPKLQ3u2wXL5d3y9B6YmEGpZkxAgwJnoYvYY6lSjLUqTIxWrpRrbJp1NPMHYf6YHwKgyU/CcFalIlQSDDLPlMjdSAL4ikPpDw2pWah9kfsyajtsQgjUom5J3jtg1St4ueYSQUp3t3TS/o4+S4vBJYbye872IM8sfPvQf6yKqK4p1C1Jh7JTwzFM9gQCfjgg6tqz9Sb6aFIDrcTyxQr+VLmDyJ9bmesdRzwj9TZM67jVoelTEwCCwEEGLgix95xT8WoBGoEDaVHPflzt+dqIHG6GqmtJVYtVMMQfZS5Y9LhSB1g9MDoZE01AQnT92SSIN43BFyT64e4iaqv4gAcawwiQY0aCnqCSRfnjFKtqJUSQDvcRBg7jcMCI6HAY4qG+pZjaNHMz96d4DT6zsME4dU0U6SEQwpgiDJIEAnYfk4zxRdeTrhgBaLGec8x2FsCCN4mUqlTp8JkLASA24noI29cUbznC6T1GcuyljJAVd+e6TvfHmKq5gY9xEAo1yQW0+zMgG4j5fA4YViNht6Wx2OxBxOldoAv6c8eSeQn3/5Y9x2KNCSJAJjlIwKpX0zqRoESfLs1gfa7Y7HYijaSd1mdpIvpiD2wOoYPOGIUepEgbzsPS+PcdgjqU8hM7xYxBIP7t7csZAJYQLyNzz22AjmefPHY7BXQfaC9/avaeemecX5HthPhWbqsWDiJMqQRtcA+7uOeOx2IuHwrcgOlzt1Hs7bnA6tQgDb0JJ5SQDp/Pwx2OwR6dQsRvJHmm95G20j4Y46wDAB/tEeYX6cx2x2OxVaLP7UCP2tjGxGnqYlTyvgGbeopMwpEH2jBBnTt3Ui4/HHY7BAkWoZChWiYGsi+8ewB8f8AMmRmDQVA5Xbrysv6px2OwBjUYG+n4n4+zjD1mmNSlel9ouI2N592Ox2KAisTzS1tm66b2M9OtsaBYG7pAB5NNva2mQPzvGOx2IDNNjK2Gxm1riQvLHpqNP3CPVgQf7sHl8cdjsUc1Qg7qLdT/wC31xhNYkDQfUsP+U47HYgfLpzQGFg+YgEx7XszuYjoB6Y3mGpQSqmAwEEnaVnl+gT749cdjsa8mYm5koGGmQSJYEkiYPMCY1AfBjucCrFDIUKPK0FtROouSpMD9CBjsdhVg2bpUalGtTJYB1GlpJbUNRM2H6lp/S7YLR8FUIWdQshkwYAibdTGOx2LUhM1mFtS/wBw/wARjsdjsYV//9k="/>
          <p:cNvSpPr>
            <a:spLocks noChangeAspect="1" noChangeArrowheads="1"/>
          </p:cNvSpPr>
          <p:nvPr/>
        </p:nvSpPr>
        <p:spPr bwMode="auto">
          <a:xfrm>
            <a:off x="0" y="-384175"/>
            <a:ext cx="304800" cy="304800"/>
          </a:xfrm>
          <a:prstGeom prst="rect">
            <a:avLst/>
          </a:prstGeom>
          <a:noFill/>
          <a:ln w="9525">
            <a:noFill/>
            <a:miter lim="800000"/>
            <a:headEnd/>
            <a:tailEnd/>
          </a:ln>
        </p:spPr>
        <p:txBody>
          <a:bodyPr/>
          <a:lstStyle/>
          <a:p>
            <a:endParaRPr lang="en-AU">
              <a:latin typeface="Calibri" pitchFamily="34" charset="0"/>
            </a:endParaRPr>
          </a:p>
        </p:txBody>
      </p:sp>
      <p:pic>
        <p:nvPicPr>
          <p:cNvPr id="31747" name="Picture 4" descr="http://sophiedaveyphoto.files.wordpress.com/2013/03/hieroglyphics-at-karnak-tem.jpg"/>
          <p:cNvPicPr>
            <a:picLocks noChangeAspect="1" noChangeArrowheads="1"/>
          </p:cNvPicPr>
          <p:nvPr/>
        </p:nvPicPr>
        <p:blipFill>
          <a:blip r:embed="rId2"/>
          <a:srcRect/>
          <a:stretch>
            <a:fillRect/>
          </a:stretch>
        </p:blipFill>
        <p:spPr bwMode="auto">
          <a:xfrm>
            <a:off x="4953000" y="304800"/>
            <a:ext cx="3775075" cy="2514600"/>
          </a:xfrm>
          <a:prstGeom prst="rect">
            <a:avLst/>
          </a:prstGeom>
          <a:noFill/>
          <a:ln w="9525">
            <a:noFill/>
            <a:miter lim="800000"/>
            <a:headEnd/>
            <a:tailEnd/>
          </a:ln>
        </p:spPr>
      </p:pic>
      <p:sp>
        <p:nvSpPr>
          <p:cNvPr id="31748" name="TextBox 3"/>
          <p:cNvSpPr txBox="1">
            <a:spLocks noChangeArrowheads="1"/>
          </p:cNvSpPr>
          <p:nvPr/>
        </p:nvSpPr>
        <p:spPr bwMode="auto">
          <a:xfrm>
            <a:off x="4953000" y="3025775"/>
            <a:ext cx="4343400" cy="369888"/>
          </a:xfrm>
          <a:prstGeom prst="rect">
            <a:avLst/>
          </a:prstGeom>
          <a:noFill/>
          <a:ln w="9525">
            <a:noFill/>
            <a:miter lim="800000"/>
            <a:headEnd/>
            <a:tailEnd/>
          </a:ln>
        </p:spPr>
        <p:txBody>
          <a:bodyPr>
            <a:spAutoFit/>
          </a:bodyPr>
          <a:lstStyle/>
          <a:p>
            <a:r>
              <a:rPr lang="en-AU">
                <a:latin typeface="Calibri" pitchFamily="34" charset="0"/>
              </a:rPr>
              <a:t>Hieroglyphics Egypt </a:t>
            </a:r>
          </a:p>
        </p:txBody>
      </p:sp>
      <p:pic>
        <p:nvPicPr>
          <p:cNvPr id="31749" name="Picture 6" descr="http://www.archeolog-home.com/medias/images/1-150.jpg"/>
          <p:cNvPicPr>
            <a:picLocks noChangeAspect="1" noChangeArrowheads="1"/>
          </p:cNvPicPr>
          <p:nvPr/>
        </p:nvPicPr>
        <p:blipFill>
          <a:blip r:embed="rId3"/>
          <a:srcRect/>
          <a:stretch>
            <a:fillRect/>
          </a:stretch>
        </p:blipFill>
        <p:spPr bwMode="auto">
          <a:xfrm>
            <a:off x="4953000" y="3581400"/>
            <a:ext cx="3298825" cy="2630488"/>
          </a:xfrm>
          <a:prstGeom prst="rect">
            <a:avLst/>
          </a:prstGeom>
          <a:noFill/>
          <a:ln w="9525">
            <a:noFill/>
            <a:miter lim="800000"/>
            <a:headEnd/>
            <a:tailEnd/>
          </a:ln>
        </p:spPr>
      </p:pic>
      <p:sp>
        <p:nvSpPr>
          <p:cNvPr id="31750" name="TextBox 4"/>
          <p:cNvSpPr txBox="1">
            <a:spLocks noChangeArrowheads="1"/>
          </p:cNvSpPr>
          <p:nvPr/>
        </p:nvSpPr>
        <p:spPr bwMode="auto">
          <a:xfrm>
            <a:off x="5181600" y="6445250"/>
            <a:ext cx="3546475" cy="368300"/>
          </a:xfrm>
          <a:prstGeom prst="rect">
            <a:avLst/>
          </a:prstGeom>
          <a:noFill/>
          <a:ln w="9525">
            <a:noFill/>
            <a:miter lim="800000"/>
            <a:headEnd/>
            <a:tailEnd/>
          </a:ln>
        </p:spPr>
        <p:txBody>
          <a:bodyPr>
            <a:spAutoFit/>
          </a:bodyPr>
          <a:lstStyle/>
          <a:p>
            <a:r>
              <a:rPr lang="en-AU">
                <a:latin typeface="Calibri" pitchFamily="34" charset="0"/>
              </a:rPr>
              <a:t>Early Chinese Writing</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lgn="l" eaLnBrk="1" fontAlgn="auto" hangingPunct="1">
              <a:spcAft>
                <a:spcPts val="0"/>
              </a:spcAft>
              <a:defRPr/>
            </a:pPr>
            <a:r>
              <a:rPr lang="en-AU" dirty="0" smtClean="0"/>
              <a:t>Archaeologists have been able to decipher some ancient writing but not others:</a:t>
            </a:r>
            <a:endParaRPr lang="en-AU" dirty="0"/>
          </a:p>
        </p:txBody>
      </p:sp>
      <p:pic>
        <p:nvPicPr>
          <p:cNvPr id="32770" name="Picture 2" descr="http://www.ancientscripts.com/images/chinese_obi_polysemy.gif"/>
          <p:cNvPicPr>
            <a:picLocks noChangeAspect="1" noChangeArrowheads="1"/>
          </p:cNvPicPr>
          <p:nvPr/>
        </p:nvPicPr>
        <p:blipFill>
          <a:blip r:embed="rId2"/>
          <a:srcRect/>
          <a:stretch>
            <a:fillRect/>
          </a:stretch>
        </p:blipFill>
        <p:spPr bwMode="auto">
          <a:xfrm>
            <a:off x="685800" y="1905000"/>
            <a:ext cx="7272338" cy="4022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4800600" y="457200"/>
            <a:ext cx="3581400" cy="5362575"/>
          </a:xfrm>
        </p:spPr>
        <p:txBody>
          <a:bodyPr/>
          <a:lstStyle/>
          <a:p>
            <a:pPr eaLnBrk="1" hangingPunct="1"/>
            <a:r>
              <a:rPr lang="en-AU" sz="2800" smtClean="0"/>
              <a:t>No one has yet been able to decipher the “Linear A” text from the ancient Minoans on Crete  because we do not know their language.  There are some similarities to the later Mycenaean “Linear B”  though which may be a clue to help eventually solve this puzzle.</a:t>
            </a:r>
          </a:p>
        </p:txBody>
      </p:sp>
      <p:pic>
        <p:nvPicPr>
          <p:cNvPr id="33794" name="Picture 2" descr="http://www.athenapub.com/phaidisk.GIF"/>
          <p:cNvPicPr>
            <a:picLocks noChangeAspect="1" noChangeArrowheads="1"/>
          </p:cNvPicPr>
          <p:nvPr/>
        </p:nvPicPr>
        <p:blipFill>
          <a:blip r:embed="rId2"/>
          <a:srcRect/>
          <a:stretch>
            <a:fillRect/>
          </a:stretch>
        </p:blipFill>
        <p:spPr bwMode="auto">
          <a:xfrm>
            <a:off x="457200" y="2438400"/>
            <a:ext cx="3429000" cy="3381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extBox 2"/>
          <p:cNvSpPr txBox="1">
            <a:spLocks noChangeArrowheads="1"/>
          </p:cNvSpPr>
          <p:nvPr/>
        </p:nvSpPr>
        <p:spPr bwMode="auto">
          <a:xfrm>
            <a:off x="1066800" y="609600"/>
            <a:ext cx="4114800" cy="584200"/>
          </a:xfrm>
          <a:prstGeom prst="rect">
            <a:avLst/>
          </a:prstGeom>
          <a:noFill/>
          <a:ln w="9525">
            <a:noFill/>
            <a:miter lim="800000"/>
            <a:headEnd/>
            <a:tailEnd/>
          </a:ln>
        </p:spPr>
        <p:txBody>
          <a:bodyPr>
            <a:spAutoFit/>
          </a:bodyPr>
          <a:lstStyle/>
          <a:p>
            <a:r>
              <a:rPr lang="en-AU" sz="3200">
                <a:latin typeface="Calibri" pitchFamily="34" charset="0"/>
              </a:rPr>
              <a:t>Discussion:</a:t>
            </a:r>
          </a:p>
        </p:txBody>
      </p:sp>
      <p:sp>
        <p:nvSpPr>
          <p:cNvPr id="5" name="Cloud Callout 4"/>
          <p:cNvSpPr/>
          <p:nvPr/>
        </p:nvSpPr>
        <p:spPr>
          <a:xfrm>
            <a:off x="609600" y="1524000"/>
            <a:ext cx="8229600" cy="41910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dirty="0"/>
          </a:p>
        </p:txBody>
      </p:sp>
      <p:sp>
        <p:nvSpPr>
          <p:cNvPr id="8" name="Title 1"/>
          <p:cNvSpPr>
            <a:spLocks/>
          </p:cNvSpPr>
          <p:nvPr/>
        </p:nvSpPr>
        <p:spPr bwMode="auto">
          <a:xfrm>
            <a:off x="2438400" y="3124200"/>
            <a:ext cx="5486400" cy="1143000"/>
          </a:xfrm>
          <a:prstGeom prst="cloudCallout">
            <a:avLst>
              <a:gd name="adj1" fmla="val -20833"/>
              <a:gd name="adj2" fmla="val 62500"/>
            </a:avLst>
          </a:prstGeom>
          <a:noFill/>
          <a:ln w="9525">
            <a:noFill/>
            <a:round/>
            <a:headEnd/>
            <a:tailEnd/>
          </a:ln>
        </p:spPr>
        <p:txBody>
          <a:bodyPr anchor="ctr"/>
          <a:lstStyle/>
          <a:p>
            <a:pPr algn="ctr"/>
            <a:r>
              <a:rPr lang="en-AU" sz="3200" b="1">
                <a:latin typeface="Calibri" pitchFamily="34" charset="0"/>
              </a:rPr>
              <a:t>What difference would being able to decode ancient writing make to our understanding of past societies?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FF9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1752600"/>
            <a:ext cx="8229600" cy="1143000"/>
          </a:xfrm>
        </p:spPr>
        <p:txBody>
          <a:bodyPr rtlCol="0">
            <a:normAutofit fontScale="90000"/>
          </a:bodyPr>
          <a:lstStyle/>
          <a:p>
            <a:pPr algn="l" eaLnBrk="1" fontAlgn="auto" hangingPunct="1">
              <a:spcAft>
                <a:spcPts val="0"/>
              </a:spcAft>
              <a:defRPr/>
            </a:pPr>
            <a:r>
              <a:rPr lang="en-AU" dirty="0" smtClean="0">
                <a:latin typeface="Bauhaus 93" pitchFamily="82" charset="0"/>
              </a:rPr>
              <a:t/>
            </a:r>
            <a:br>
              <a:rPr lang="en-AU" dirty="0" smtClean="0">
                <a:latin typeface="Bauhaus 93" pitchFamily="82" charset="0"/>
              </a:rPr>
            </a:br>
            <a:r>
              <a:rPr lang="en-AU" dirty="0">
                <a:latin typeface="Bauhaus 93" pitchFamily="82" charset="0"/>
              </a:rPr>
              <a:t/>
            </a:r>
            <a:br>
              <a:rPr lang="en-AU" dirty="0">
                <a:latin typeface="Bauhaus 93" pitchFamily="82" charset="0"/>
              </a:rPr>
            </a:br>
            <a:r>
              <a:rPr lang="en-AU" dirty="0" smtClean="0">
                <a:latin typeface="Bauhaus 93" pitchFamily="82" charset="0"/>
              </a:rPr>
              <a:t/>
            </a:r>
            <a:br>
              <a:rPr lang="en-AU" dirty="0" smtClean="0">
                <a:latin typeface="Bauhaus 93" pitchFamily="82" charset="0"/>
              </a:rPr>
            </a:br>
            <a:r>
              <a:rPr lang="en-AU" dirty="0">
                <a:latin typeface="Bauhaus 93" pitchFamily="82" charset="0"/>
              </a:rPr>
              <a:t/>
            </a:r>
            <a:br>
              <a:rPr lang="en-AU" dirty="0">
                <a:latin typeface="Bauhaus 93" pitchFamily="82" charset="0"/>
              </a:rPr>
            </a:br>
            <a:r>
              <a:rPr lang="en-AU" dirty="0" smtClean="0">
                <a:latin typeface="Bauhaus 93" pitchFamily="82" charset="0"/>
              </a:rPr>
              <a:t>From the different clues found, the following has been discovered about early humans based on evidence:</a:t>
            </a:r>
            <a:br>
              <a:rPr lang="en-AU" dirty="0" smtClean="0">
                <a:latin typeface="Bauhaus 93" pitchFamily="82" charset="0"/>
              </a:rPr>
            </a:br>
            <a:r>
              <a:rPr lang="en-AU" dirty="0" smtClean="0">
                <a:latin typeface="Bauhaus 93" pitchFamily="82" charset="0"/>
              </a:rPr>
              <a:t/>
            </a:r>
            <a:br>
              <a:rPr lang="en-AU" dirty="0" smtClean="0">
                <a:latin typeface="Bauhaus 93" pitchFamily="82" charset="0"/>
              </a:rPr>
            </a:br>
            <a:r>
              <a:rPr lang="en-AU" sz="3100" dirty="0" smtClean="0">
                <a:latin typeface="Bradley Hand ITC" pitchFamily="66" charset="0"/>
              </a:rPr>
              <a:t>*The earliest humans and their ancestors probably emerged in Africa.  Skeletal remains indicate this.</a:t>
            </a:r>
            <a:br>
              <a:rPr lang="en-AU" sz="3100" dirty="0" smtClean="0">
                <a:latin typeface="Bradley Hand ITC" pitchFamily="66" charset="0"/>
              </a:rPr>
            </a:br>
            <a:r>
              <a:rPr lang="en-AU" sz="3100" dirty="0">
                <a:latin typeface="Bradley Hand ITC" pitchFamily="66" charset="0"/>
              </a:rPr>
              <a:t/>
            </a:r>
            <a:br>
              <a:rPr lang="en-AU" sz="3100" dirty="0">
                <a:latin typeface="Bradley Hand ITC" pitchFamily="66" charset="0"/>
              </a:rPr>
            </a:br>
            <a:r>
              <a:rPr lang="en-AU" sz="3100" dirty="0" smtClean="0">
                <a:latin typeface="Bradley Hand ITC" pitchFamily="66" charset="0"/>
              </a:rPr>
              <a:t>*Humans were able to migrate out of Africa and spread due to lower seal levels in the last ice age that meant our continents were joined by land bridges that are now underwater. </a:t>
            </a:r>
            <a:br>
              <a:rPr lang="en-AU" sz="3100" dirty="0" smtClean="0">
                <a:latin typeface="Bradley Hand ITC" pitchFamily="66" charset="0"/>
              </a:rPr>
            </a:br>
            <a:r>
              <a:rPr lang="en-AU" sz="3100" dirty="0" smtClean="0">
                <a:latin typeface="Bradley Hand ITC" pitchFamily="66" charset="0"/>
              </a:rPr>
              <a:t/>
            </a:r>
            <a:br>
              <a:rPr lang="en-AU" sz="3100" dirty="0" smtClean="0">
                <a:latin typeface="Bradley Hand ITC" pitchFamily="66" charset="0"/>
              </a:rPr>
            </a:br>
            <a:endParaRPr lang="en-AU" sz="3100" dirty="0">
              <a:latin typeface="Bauhaus 93" pitchFamily="82"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FF99"/>
        </a:solidFill>
        <a:effectLst/>
      </p:bgPr>
    </p:bg>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85800" y="1981200"/>
            <a:ext cx="8077200" cy="4032250"/>
          </a:xfrm>
          <a:prstGeom prst="rect">
            <a:avLst/>
          </a:prstGeom>
          <a:noFill/>
          <a:ln w="9525">
            <a:noFill/>
            <a:miter lim="800000"/>
            <a:headEnd/>
            <a:tailEnd/>
          </a:ln>
        </p:spPr>
        <p:txBody>
          <a:bodyPr>
            <a:spAutoFit/>
          </a:bodyPr>
          <a:lstStyle/>
          <a:p>
            <a:r>
              <a:rPr lang="en-AU">
                <a:latin typeface="Bradley Hand ITC" pitchFamily="66" charset="0"/>
              </a:rPr>
              <a:t>*</a:t>
            </a:r>
            <a:r>
              <a:rPr lang="en-AU" sz="3200">
                <a:latin typeface="Bradley Hand ITC" pitchFamily="66" charset="0"/>
              </a:rPr>
              <a:t>Humans were in </a:t>
            </a:r>
            <a:r>
              <a:rPr lang="en-AU" sz="3200" b="1">
                <a:latin typeface="Bradley Hand ITC" pitchFamily="66" charset="0"/>
              </a:rPr>
              <a:t>Australia by 30 000 to  60 000 years ago </a:t>
            </a:r>
            <a:r>
              <a:rPr lang="en-AU" sz="3200">
                <a:latin typeface="Bradley Hand ITC" pitchFamily="66" charset="0"/>
              </a:rPr>
              <a:t>(based on the trail of evidence left such as remains and tools).</a:t>
            </a:r>
          </a:p>
          <a:p>
            <a:r>
              <a:rPr lang="en-AU" sz="3200">
                <a:latin typeface="Bradley Hand ITC" pitchFamily="66" charset="0"/>
              </a:rPr>
              <a:t/>
            </a:r>
            <a:br>
              <a:rPr lang="en-AU" sz="3200">
                <a:latin typeface="Bradley Hand ITC" pitchFamily="66" charset="0"/>
              </a:rPr>
            </a:br>
            <a:r>
              <a:rPr lang="en-AU" sz="3200">
                <a:latin typeface="Bradley Hand ITC" pitchFamily="66" charset="0"/>
              </a:rPr>
              <a:t>*Based on traces of early humans in </a:t>
            </a:r>
            <a:r>
              <a:rPr lang="en-AU" sz="3200" b="1">
                <a:latin typeface="Bradley Hand ITC" pitchFamily="66" charset="0"/>
              </a:rPr>
              <a:t>America,</a:t>
            </a:r>
            <a:r>
              <a:rPr lang="en-AU" sz="3200">
                <a:latin typeface="Bradley Hand ITC" pitchFamily="66" charset="0"/>
              </a:rPr>
              <a:t> humans did not arrive there until about  </a:t>
            </a:r>
            <a:r>
              <a:rPr lang="en-AU" sz="3200" b="1">
                <a:latin typeface="Bradley Hand ITC" pitchFamily="66" charset="0"/>
              </a:rPr>
              <a:t>15 000 years ago </a:t>
            </a:r>
            <a:r>
              <a:rPr lang="en-AU" sz="3200">
                <a:latin typeface="Bradley Hand ITC" pitchFamily="66" charset="0"/>
              </a:rPr>
              <a:t>(possibly up to 35 000 years depending on dating).</a:t>
            </a:r>
            <a:endParaRPr lang="en-AU" sz="3200">
              <a:latin typeface="Calibri"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FF9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rtlCol="0">
            <a:normAutofit fontScale="90000"/>
          </a:bodyPr>
          <a:lstStyle/>
          <a:p>
            <a:pPr algn="l" eaLnBrk="1" fontAlgn="auto" hangingPunct="1">
              <a:spcAft>
                <a:spcPts val="0"/>
              </a:spcAft>
              <a:defRPr/>
            </a:pPr>
            <a:r>
              <a:rPr lang="en-AU" sz="2800" dirty="0" smtClean="0">
                <a:latin typeface="Bradley Hand ITC" pitchFamily="66" charset="0"/>
              </a:rPr>
              <a:t> </a:t>
            </a:r>
            <a:br>
              <a:rPr lang="en-AU" sz="2800" dirty="0" smtClean="0">
                <a:latin typeface="Bradley Hand ITC" pitchFamily="66" charset="0"/>
              </a:rPr>
            </a:br>
            <a:r>
              <a:rPr lang="en-AU" sz="2800" dirty="0">
                <a:latin typeface="Bradley Hand ITC" pitchFamily="66" charset="0"/>
              </a:rPr>
              <a:t/>
            </a:r>
            <a:br>
              <a:rPr lang="en-AU" sz="2800" dirty="0">
                <a:latin typeface="Bradley Hand ITC" pitchFamily="66" charset="0"/>
              </a:rPr>
            </a:br>
            <a:r>
              <a:rPr lang="en-AU" sz="2800" dirty="0" smtClean="0">
                <a:latin typeface="Bradley Hand ITC" pitchFamily="66" charset="0"/>
              </a:rPr>
              <a:t>*</a:t>
            </a:r>
            <a:r>
              <a:rPr lang="en-AU" sz="2800" dirty="0">
                <a:latin typeface="Bradley Hand ITC" pitchFamily="66" charset="0"/>
              </a:rPr>
              <a:t>Humans have been in Europe for at least 27 000 years based on evidence such as cave paintings and artefacts such as the “Willendorf Venus</a:t>
            </a:r>
            <a:r>
              <a:rPr lang="en-AU" sz="2800" dirty="0" smtClean="0">
                <a:latin typeface="Bradley Hand ITC" pitchFamily="66" charset="0"/>
              </a:rPr>
              <a:t>”.</a:t>
            </a:r>
            <a:br>
              <a:rPr lang="en-AU" sz="2800" dirty="0" smtClean="0">
                <a:latin typeface="Bradley Hand ITC" pitchFamily="66" charset="0"/>
              </a:rPr>
            </a:br>
            <a:r>
              <a:rPr lang="en-AU" sz="2800" dirty="0" smtClean="0">
                <a:latin typeface="Bradley Hand ITC" pitchFamily="66" charset="0"/>
              </a:rPr>
              <a:t/>
            </a:r>
            <a:br>
              <a:rPr lang="en-AU" sz="2800" dirty="0" smtClean="0">
                <a:latin typeface="Bradley Hand ITC" pitchFamily="66" charset="0"/>
              </a:rPr>
            </a:br>
            <a:r>
              <a:rPr lang="en-AU" sz="2800" dirty="0" smtClean="0">
                <a:latin typeface="Bradley Hand ITC" pitchFamily="66" charset="0"/>
              </a:rPr>
              <a:t>*</a:t>
            </a:r>
            <a:r>
              <a:rPr lang="en-AU" sz="2800" dirty="0">
                <a:latin typeface="Bradley Hand ITC" pitchFamily="66" charset="0"/>
              </a:rPr>
              <a:t>Sometimes early humans didn’t get along as shown by some people who died from weapon wounds</a:t>
            </a:r>
            <a:r>
              <a:rPr lang="en-AU" sz="2800" dirty="0" smtClean="0">
                <a:latin typeface="Bradley Hand ITC" pitchFamily="66" charset="0"/>
              </a:rPr>
              <a:t>.</a:t>
            </a:r>
            <a:br>
              <a:rPr lang="en-AU" sz="2800" dirty="0" smtClean="0">
                <a:latin typeface="Bradley Hand ITC" pitchFamily="66" charset="0"/>
              </a:rPr>
            </a:br>
            <a:r>
              <a:rPr lang="en-AU" sz="2800" dirty="0" smtClean="0">
                <a:latin typeface="Bradley Hand ITC" pitchFamily="66" charset="0"/>
              </a:rPr>
              <a:t/>
            </a:r>
            <a:br>
              <a:rPr lang="en-AU" sz="2800" dirty="0" smtClean="0">
                <a:latin typeface="Bradley Hand ITC" pitchFamily="66" charset="0"/>
              </a:rPr>
            </a:br>
            <a:r>
              <a:rPr lang="en-AU" sz="2800" dirty="0" smtClean="0">
                <a:latin typeface="Bradley Hand ITC" pitchFamily="66" charset="0"/>
              </a:rPr>
              <a:t>*Homo </a:t>
            </a:r>
            <a:r>
              <a:rPr lang="en-AU" sz="2800" dirty="0">
                <a:latin typeface="Bradley Hand ITC" pitchFamily="66" charset="0"/>
              </a:rPr>
              <a:t>sapien sapiens made </a:t>
            </a:r>
            <a:r>
              <a:rPr lang="en-AU" sz="2800" b="1" dirty="0">
                <a:latin typeface="Bradley Hand ITC" pitchFamily="66" charset="0"/>
              </a:rPr>
              <a:t>weapons, tools and jewellery</a:t>
            </a:r>
            <a:r>
              <a:rPr lang="en-AU" sz="2800" dirty="0">
                <a:latin typeface="Bradley Hand ITC" pitchFamily="66" charset="0"/>
              </a:rPr>
              <a:t>.  </a:t>
            </a:r>
            <a:r>
              <a:rPr lang="en-AU" sz="2800" b="1" dirty="0">
                <a:latin typeface="Bradley Hand ITC" pitchFamily="66" charset="0"/>
              </a:rPr>
              <a:t>Early materials included stone, bone and obsidian </a:t>
            </a:r>
            <a:r>
              <a:rPr lang="en-AU" sz="2800" dirty="0">
                <a:latin typeface="Bradley Hand ITC" pitchFamily="66" charset="0"/>
              </a:rPr>
              <a:t>(volcanic glass). Later (around </a:t>
            </a:r>
            <a:r>
              <a:rPr lang="en-AU" sz="2800" b="1" dirty="0">
                <a:latin typeface="Bradley Hand ITC" pitchFamily="66" charset="0"/>
              </a:rPr>
              <a:t>9500 BCE copper was discovered </a:t>
            </a:r>
            <a:r>
              <a:rPr lang="en-AU" sz="2800" dirty="0">
                <a:latin typeface="Bradley Hand ITC" pitchFamily="66" charset="0"/>
              </a:rPr>
              <a:t>&amp; </a:t>
            </a:r>
            <a:r>
              <a:rPr lang="en-AU" sz="2800" dirty="0" smtClean="0">
                <a:latin typeface="Bradley Hand ITC" pitchFamily="66" charset="0"/>
              </a:rPr>
              <a:t>used by beating natural ore).</a:t>
            </a:r>
            <a:br>
              <a:rPr lang="en-AU" sz="2800" dirty="0" smtClean="0">
                <a:latin typeface="Bradley Hand ITC" pitchFamily="66" charset="0"/>
              </a:rPr>
            </a:br>
            <a:r>
              <a:rPr lang="en-AU" sz="2800" dirty="0" smtClean="0">
                <a:latin typeface="Bradley Hand ITC" pitchFamily="66" charset="0"/>
              </a:rPr>
              <a:t/>
            </a:r>
            <a:br>
              <a:rPr lang="en-AU" sz="2800" dirty="0" smtClean="0">
                <a:latin typeface="Bradley Hand ITC" pitchFamily="66" charset="0"/>
              </a:rPr>
            </a:br>
            <a:r>
              <a:rPr lang="en-AU" sz="2800" dirty="0" smtClean="0">
                <a:latin typeface="Bradley Hand ITC" pitchFamily="66" charset="0"/>
              </a:rPr>
              <a:t>* By </a:t>
            </a:r>
            <a:r>
              <a:rPr lang="en-AU" sz="2800" b="1" dirty="0" smtClean="0">
                <a:latin typeface="Bradley Hand ITC" pitchFamily="66" charset="0"/>
              </a:rPr>
              <a:t>6000 BCE </a:t>
            </a:r>
            <a:r>
              <a:rPr lang="en-AU" sz="2800" dirty="0" smtClean="0">
                <a:latin typeface="Bradley Hand ITC" pitchFamily="66" charset="0"/>
              </a:rPr>
              <a:t>humans had learned to </a:t>
            </a:r>
            <a:r>
              <a:rPr lang="en-AU" sz="2800" b="1" dirty="0" smtClean="0">
                <a:latin typeface="Bradley Hand ITC" pitchFamily="66" charset="0"/>
              </a:rPr>
              <a:t>smelt copper</a:t>
            </a:r>
            <a:r>
              <a:rPr lang="en-AU" sz="2800" dirty="0" smtClean="0">
                <a:latin typeface="Bradley Hand ITC" pitchFamily="66" charset="0"/>
              </a:rPr>
              <a:t>.</a:t>
            </a:r>
            <a:br>
              <a:rPr lang="en-AU" sz="2800" dirty="0" smtClean="0">
                <a:latin typeface="Bradley Hand ITC" pitchFamily="66" charset="0"/>
              </a:rPr>
            </a:br>
            <a:r>
              <a:rPr lang="en-AU" sz="2800" dirty="0" smtClean="0">
                <a:latin typeface="Bradley Hand ITC" pitchFamily="66" charset="0"/>
              </a:rPr>
              <a:t/>
            </a:r>
            <a:br>
              <a:rPr lang="en-AU" sz="2800" dirty="0" smtClean="0">
                <a:latin typeface="Bradley Hand ITC" pitchFamily="66" charset="0"/>
              </a:rPr>
            </a:br>
            <a:r>
              <a:rPr lang="en-AU" sz="2800" dirty="0" smtClean="0">
                <a:latin typeface="Bradley Hand ITC" pitchFamily="66" charset="0"/>
              </a:rPr>
              <a:t>*Over time techniques, tools and knowledge became </a:t>
            </a:r>
            <a:r>
              <a:rPr lang="en-AU" sz="2800" b="1" dirty="0" smtClean="0">
                <a:latin typeface="Bradley Hand ITC" pitchFamily="66" charset="0"/>
              </a:rPr>
              <a:t>more sophisticated as bronze then iron were discovered.</a:t>
            </a:r>
            <a:r>
              <a:rPr lang="en-AU" sz="2800" dirty="0" smtClean="0">
                <a:latin typeface="Bradley Hand ITC" pitchFamily="66" charset="0"/>
              </a:rPr>
              <a:t/>
            </a:r>
            <a:br>
              <a:rPr lang="en-AU" sz="2800" dirty="0" smtClean="0">
                <a:latin typeface="Bradley Hand ITC" pitchFamily="66" charset="0"/>
              </a:rPr>
            </a:br>
            <a:r>
              <a:rPr lang="en-AU" sz="2800" dirty="0" smtClean="0">
                <a:latin typeface="Bradley Hand ITC" pitchFamily="66" charset="0"/>
              </a:rPr>
              <a:t/>
            </a:r>
            <a:br>
              <a:rPr lang="en-AU" sz="2800" dirty="0" smtClean="0">
                <a:latin typeface="Bradley Hand ITC" pitchFamily="66" charset="0"/>
              </a:rPr>
            </a:br>
            <a:endParaRPr lang="en-AU" sz="28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ctrTitle"/>
          </p:nvPr>
        </p:nvSpPr>
        <p:spPr>
          <a:xfrm>
            <a:off x="685800" y="228600"/>
            <a:ext cx="7772400" cy="1470025"/>
          </a:xfrm>
          <a:solidFill>
            <a:srgbClr val="3399FF"/>
          </a:solidFill>
        </p:spPr>
        <p:txBody>
          <a:bodyPr/>
          <a:lstStyle/>
          <a:p>
            <a:pPr algn="l" eaLnBrk="1" hangingPunct="1"/>
            <a:r>
              <a:rPr lang="en-AU" sz="2800" smtClean="0"/>
              <a:t>Copy and Answer the following based on what you have just learned:</a:t>
            </a:r>
          </a:p>
        </p:txBody>
      </p:sp>
      <p:sp>
        <p:nvSpPr>
          <p:cNvPr id="3" name="Subtitle 2"/>
          <p:cNvSpPr>
            <a:spLocks noGrp="1"/>
          </p:cNvSpPr>
          <p:nvPr>
            <p:ph type="subTitle" idx="1"/>
          </p:nvPr>
        </p:nvSpPr>
        <p:spPr>
          <a:xfrm>
            <a:off x="381000" y="1981200"/>
            <a:ext cx="8610600" cy="4495800"/>
          </a:xfrm>
          <a:solidFill>
            <a:srgbClr val="FF99FF"/>
          </a:solidFill>
        </p:spPr>
        <p:txBody>
          <a:bodyPr rtlCol="0">
            <a:noAutofit/>
          </a:bodyPr>
          <a:lstStyle/>
          <a:p>
            <a:pPr algn="l" eaLnBrk="1" fontAlgn="auto" hangingPunct="1">
              <a:spcAft>
                <a:spcPts val="0"/>
              </a:spcAft>
              <a:buFont typeface="Arial" pitchFamily="34" charset="0"/>
              <a:buNone/>
              <a:defRPr/>
            </a:pPr>
            <a:r>
              <a:rPr lang="en-AU" sz="2000" dirty="0" smtClean="0">
                <a:solidFill>
                  <a:schemeClr val="tx1"/>
                </a:solidFill>
              </a:rPr>
              <a:t>Heading:                     </a:t>
            </a:r>
            <a:r>
              <a:rPr lang="en-AU" sz="2000" u="sng" dirty="0" smtClean="0">
                <a:solidFill>
                  <a:schemeClr val="tx1"/>
                </a:solidFill>
              </a:rPr>
              <a:t>Early Humans</a:t>
            </a:r>
          </a:p>
          <a:p>
            <a:pPr marL="457200" indent="-457200" algn="l" eaLnBrk="1" fontAlgn="auto" hangingPunct="1">
              <a:spcAft>
                <a:spcPts val="0"/>
              </a:spcAft>
              <a:buFont typeface="Arial" pitchFamily="34" charset="0"/>
              <a:buAutoNum type="arabicPeriod"/>
              <a:defRPr/>
            </a:pPr>
            <a:r>
              <a:rPr lang="en-AU" sz="2000" dirty="0" smtClean="0">
                <a:solidFill>
                  <a:schemeClr val="tx1"/>
                </a:solidFill>
              </a:rPr>
              <a:t>Humans have lived in Australia for at least _____________ years.  We know this because… (fill in your own answer).</a:t>
            </a:r>
          </a:p>
          <a:p>
            <a:pPr marL="457200" indent="-457200" algn="l" eaLnBrk="1" fontAlgn="auto" hangingPunct="1">
              <a:spcAft>
                <a:spcPts val="0"/>
              </a:spcAft>
              <a:buFont typeface="Arial" pitchFamily="34" charset="0"/>
              <a:buAutoNum type="arabicPeriod"/>
              <a:defRPr/>
            </a:pPr>
            <a:r>
              <a:rPr lang="en-AU" sz="2000" dirty="0" smtClean="0">
                <a:solidFill>
                  <a:schemeClr val="tx1"/>
                </a:solidFill>
              </a:rPr>
              <a:t>Humans did not arrive in the Americas until at least 35 000 to ___________ years ago.  We know this because … (fill in your own answer)</a:t>
            </a:r>
          </a:p>
          <a:p>
            <a:pPr marL="457200" indent="-457200" algn="l" eaLnBrk="1" fontAlgn="auto" hangingPunct="1">
              <a:spcAft>
                <a:spcPts val="0"/>
              </a:spcAft>
              <a:buFont typeface="Arial" pitchFamily="34" charset="0"/>
              <a:buAutoNum type="arabicPeriod"/>
              <a:defRPr/>
            </a:pPr>
            <a:r>
              <a:rPr lang="en-AU" sz="2000" dirty="0" smtClean="0">
                <a:solidFill>
                  <a:schemeClr val="tx1"/>
                </a:solidFill>
              </a:rPr>
              <a:t>Two things we can learn from early human skeletons are… (fill in your own answer)</a:t>
            </a:r>
          </a:p>
          <a:p>
            <a:pPr marL="457200" indent="-457200" algn="l" eaLnBrk="1" fontAlgn="auto" hangingPunct="1">
              <a:spcAft>
                <a:spcPts val="0"/>
              </a:spcAft>
              <a:buFont typeface="Arial" pitchFamily="34" charset="0"/>
              <a:buAutoNum type="arabicPeriod"/>
              <a:defRPr/>
            </a:pPr>
            <a:r>
              <a:rPr lang="en-AU" sz="2000" dirty="0" smtClean="0">
                <a:solidFill>
                  <a:schemeClr val="tx1"/>
                </a:solidFill>
              </a:rPr>
              <a:t>Early cave art in France is  about ________________________ years old.</a:t>
            </a:r>
          </a:p>
          <a:p>
            <a:pPr marL="457200" indent="-457200" algn="l" eaLnBrk="1" fontAlgn="auto" hangingPunct="1">
              <a:spcAft>
                <a:spcPts val="0"/>
              </a:spcAft>
              <a:buFont typeface="Arial" pitchFamily="34" charset="0"/>
              <a:buAutoNum type="arabicPeriod"/>
              <a:defRPr/>
            </a:pPr>
            <a:r>
              <a:rPr lang="en-AU" sz="2000" dirty="0" smtClean="0">
                <a:solidFill>
                  <a:schemeClr val="tx1"/>
                </a:solidFill>
              </a:rPr>
              <a:t>Two other types of early human artefacts are  ____________________ and _________________.</a:t>
            </a:r>
          </a:p>
          <a:p>
            <a:pPr marL="457200" indent="-457200" algn="l" eaLnBrk="1" fontAlgn="auto" hangingPunct="1">
              <a:spcAft>
                <a:spcPts val="0"/>
              </a:spcAft>
              <a:buFont typeface="Arial" pitchFamily="34" charset="0"/>
              <a:buAutoNum type="arabicPeriod"/>
              <a:defRPr/>
            </a:pPr>
            <a:r>
              <a:rPr lang="en-AU" sz="2000" dirty="0" smtClean="0">
                <a:solidFill>
                  <a:schemeClr val="tx1"/>
                </a:solidFill>
              </a:rPr>
              <a:t>Two things we can tell from evidence include:</a:t>
            </a:r>
          </a:p>
          <a:p>
            <a:pPr algn="l" eaLnBrk="1" fontAlgn="auto" hangingPunct="1">
              <a:spcAft>
                <a:spcPts val="0"/>
              </a:spcAft>
              <a:buFont typeface="Arial" pitchFamily="34" charset="0"/>
              <a:buNone/>
              <a:defRPr/>
            </a:pPr>
            <a:r>
              <a:rPr lang="en-AU" sz="2000" dirty="0" smtClean="0">
                <a:solidFill>
                  <a:schemeClr val="tx1"/>
                </a:solidFill>
              </a:rPr>
              <a:t>(fill in your answer).</a:t>
            </a:r>
            <a:endParaRPr lang="en-AU" sz="2000" dirty="0">
              <a:solidFill>
                <a:schemeClr val="tx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CCFF"/>
        </a:solidFill>
        <a:effectLst/>
      </p:bgPr>
    </p:bg>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AU" smtClean="0"/>
              <a:t>Check your answers:</a:t>
            </a:r>
          </a:p>
        </p:txBody>
      </p:sp>
      <p:sp>
        <p:nvSpPr>
          <p:cNvPr id="4" name="Subtitle 2"/>
          <p:cNvSpPr>
            <a:spLocks noGrp="1"/>
          </p:cNvSpPr>
          <p:nvPr>
            <p:ph idx="1"/>
          </p:nvPr>
        </p:nvSpPr>
        <p:spPr>
          <a:xfrm>
            <a:off x="533400" y="1371600"/>
            <a:ext cx="8229600" cy="5257800"/>
          </a:xfrm>
        </p:spPr>
        <p:txBody>
          <a:bodyPr rtlCol="0">
            <a:noAutofit/>
          </a:bodyPr>
          <a:lstStyle/>
          <a:p>
            <a:pPr eaLnBrk="1" fontAlgn="auto" hangingPunct="1">
              <a:spcAft>
                <a:spcPts val="0"/>
              </a:spcAft>
              <a:buFont typeface="Arial" pitchFamily="34" charset="0"/>
              <a:buChar char="•"/>
              <a:defRPr/>
            </a:pPr>
            <a:r>
              <a:rPr lang="en-AU" sz="2000" dirty="0" smtClean="0"/>
              <a:t>Heading:                     </a:t>
            </a:r>
            <a:r>
              <a:rPr lang="en-AU" sz="2000" u="sng" dirty="0" smtClean="0"/>
              <a:t>Early Humans</a:t>
            </a:r>
          </a:p>
          <a:p>
            <a:pPr marL="457200" indent="-457200" eaLnBrk="1" fontAlgn="auto" hangingPunct="1">
              <a:spcAft>
                <a:spcPts val="0"/>
              </a:spcAft>
              <a:buFont typeface="Arial" pitchFamily="34" charset="0"/>
              <a:buAutoNum type="arabicPeriod"/>
              <a:defRPr/>
            </a:pPr>
            <a:r>
              <a:rPr lang="en-AU" sz="2000" dirty="0" smtClean="0"/>
              <a:t>Humans have lived in Australia for at least </a:t>
            </a:r>
            <a:r>
              <a:rPr lang="en-AU" sz="2000" b="1" dirty="0">
                <a:solidFill>
                  <a:srgbClr val="0070C0"/>
                </a:solidFill>
              </a:rPr>
              <a:t>6</a:t>
            </a:r>
            <a:r>
              <a:rPr lang="en-AU" sz="2000" b="1" dirty="0" smtClean="0">
                <a:solidFill>
                  <a:srgbClr val="0070C0"/>
                </a:solidFill>
              </a:rPr>
              <a:t>0 000 – 30 000  </a:t>
            </a:r>
            <a:r>
              <a:rPr lang="en-AU" sz="2000" dirty="0" smtClean="0"/>
              <a:t>years.  We know this because</a:t>
            </a:r>
            <a:r>
              <a:rPr lang="en-AU" sz="2000" dirty="0" smtClean="0">
                <a:solidFill>
                  <a:srgbClr val="0070C0"/>
                </a:solidFill>
              </a:rPr>
              <a:t> </a:t>
            </a:r>
            <a:r>
              <a:rPr lang="en-AU" sz="2000" b="1" dirty="0" smtClean="0">
                <a:solidFill>
                  <a:srgbClr val="0070C0"/>
                </a:solidFill>
              </a:rPr>
              <a:t>of evidence such as Lake Mungo footprints, burial sites and ancient tools found.</a:t>
            </a:r>
          </a:p>
          <a:p>
            <a:pPr marL="457200" indent="-457200" eaLnBrk="1" fontAlgn="auto" hangingPunct="1">
              <a:spcAft>
                <a:spcPts val="0"/>
              </a:spcAft>
              <a:buFont typeface="Arial" pitchFamily="34" charset="0"/>
              <a:buAutoNum type="arabicPeriod"/>
              <a:defRPr/>
            </a:pPr>
            <a:r>
              <a:rPr lang="en-AU" sz="2000" dirty="0" smtClean="0"/>
              <a:t>Humans did not arrive in the Americas until at least 35 000 to </a:t>
            </a:r>
            <a:r>
              <a:rPr lang="en-AU" sz="2000" b="1" dirty="0" smtClean="0">
                <a:solidFill>
                  <a:srgbClr val="0070C0"/>
                </a:solidFill>
              </a:rPr>
              <a:t>15 000 </a:t>
            </a:r>
            <a:r>
              <a:rPr lang="en-AU" sz="2000" dirty="0" smtClean="0"/>
              <a:t>years ago.  We know this because </a:t>
            </a:r>
            <a:r>
              <a:rPr lang="en-AU" sz="2000" b="1" dirty="0" smtClean="0">
                <a:solidFill>
                  <a:srgbClr val="0070C0"/>
                </a:solidFill>
              </a:rPr>
              <a:t>there is no trace of humans there before then.</a:t>
            </a:r>
          </a:p>
          <a:p>
            <a:pPr marL="457200" indent="-457200" eaLnBrk="1" fontAlgn="auto" hangingPunct="1">
              <a:spcAft>
                <a:spcPts val="0"/>
              </a:spcAft>
              <a:buFont typeface="Arial" pitchFamily="34" charset="0"/>
              <a:buAutoNum type="arabicPeriod"/>
              <a:defRPr/>
            </a:pPr>
            <a:r>
              <a:rPr lang="en-AU" sz="2000" dirty="0" smtClean="0"/>
              <a:t>Two things we can learn from early human skeletons are</a:t>
            </a:r>
            <a:r>
              <a:rPr lang="en-AU" sz="2000" dirty="0" smtClean="0">
                <a:solidFill>
                  <a:srgbClr val="0070C0"/>
                </a:solidFill>
              </a:rPr>
              <a:t> </a:t>
            </a:r>
            <a:r>
              <a:rPr lang="en-AU" sz="2000" b="1" dirty="0" smtClean="0">
                <a:solidFill>
                  <a:srgbClr val="0070C0"/>
                </a:solidFill>
              </a:rPr>
              <a:t>whether male or female and how old they were at death (other answers include diseases, injuries  and beliefs based on how they were buried etc.).</a:t>
            </a:r>
          </a:p>
          <a:p>
            <a:pPr marL="457200" indent="-457200" eaLnBrk="1" fontAlgn="auto" hangingPunct="1">
              <a:spcAft>
                <a:spcPts val="0"/>
              </a:spcAft>
              <a:buFont typeface="Arial" pitchFamily="34" charset="0"/>
              <a:buAutoNum type="arabicPeriod"/>
              <a:defRPr/>
            </a:pPr>
            <a:r>
              <a:rPr lang="en-AU" sz="2000" dirty="0" smtClean="0"/>
              <a:t>Early cave art in France is  about </a:t>
            </a:r>
            <a:r>
              <a:rPr lang="en-AU" sz="2000" b="1" dirty="0" smtClean="0">
                <a:solidFill>
                  <a:srgbClr val="0070C0"/>
                </a:solidFill>
              </a:rPr>
              <a:t>17 000</a:t>
            </a:r>
            <a:r>
              <a:rPr lang="en-AU" sz="2000" dirty="0" smtClean="0"/>
              <a:t> years old.</a:t>
            </a:r>
          </a:p>
          <a:p>
            <a:pPr marL="457200" indent="-457200" eaLnBrk="1" fontAlgn="auto" hangingPunct="1">
              <a:spcAft>
                <a:spcPts val="0"/>
              </a:spcAft>
              <a:buFont typeface="Arial" pitchFamily="34" charset="0"/>
              <a:buAutoNum type="arabicPeriod"/>
              <a:defRPr/>
            </a:pPr>
            <a:r>
              <a:rPr lang="en-AU" sz="2000" dirty="0" smtClean="0"/>
              <a:t>Two other types of early human artefacts are  </a:t>
            </a:r>
            <a:r>
              <a:rPr lang="en-AU" sz="2000" b="1" dirty="0" smtClean="0">
                <a:solidFill>
                  <a:srgbClr val="0070C0"/>
                </a:solidFill>
              </a:rPr>
              <a:t>tools</a:t>
            </a:r>
            <a:r>
              <a:rPr lang="en-AU" sz="2000" dirty="0" smtClean="0"/>
              <a:t> and </a:t>
            </a:r>
            <a:r>
              <a:rPr lang="en-AU" sz="2000" b="1" dirty="0" smtClean="0">
                <a:solidFill>
                  <a:srgbClr val="0070C0"/>
                </a:solidFill>
              </a:rPr>
              <a:t>shelters (or artwork, graves, writing, weapons, jewellery, pottery </a:t>
            </a:r>
            <a:r>
              <a:rPr lang="en-AU" sz="2000" b="1" dirty="0" err="1" smtClean="0">
                <a:solidFill>
                  <a:srgbClr val="0070C0"/>
                </a:solidFill>
              </a:rPr>
              <a:t>etc</a:t>
            </a:r>
            <a:r>
              <a:rPr lang="en-AU" sz="2000" b="1" dirty="0" smtClean="0">
                <a:solidFill>
                  <a:srgbClr val="0070C0"/>
                </a:solidFill>
              </a:rPr>
              <a:t>) </a:t>
            </a:r>
            <a:r>
              <a:rPr lang="en-AU" sz="2000" dirty="0" smtClean="0"/>
              <a:t>.</a:t>
            </a:r>
          </a:p>
          <a:p>
            <a:pPr marL="457200" indent="-457200" eaLnBrk="1" fontAlgn="auto" hangingPunct="1">
              <a:spcAft>
                <a:spcPts val="0"/>
              </a:spcAft>
              <a:buFont typeface="Arial" pitchFamily="34" charset="0"/>
              <a:buAutoNum type="arabicPeriod"/>
              <a:defRPr/>
            </a:pPr>
            <a:r>
              <a:rPr lang="en-AU" sz="2000" dirty="0" smtClean="0"/>
              <a:t>Two things we can tell from evidence include: </a:t>
            </a:r>
          </a:p>
          <a:p>
            <a:pPr marL="0" indent="0" eaLnBrk="1" fontAlgn="auto" hangingPunct="1">
              <a:spcAft>
                <a:spcPts val="0"/>
              </a:spcAft>
              <a:buFont typeface="Arial" pitchFamily="34" charset="0"/>
              <a:buNone/>
              <a:defRPr/>
            </a:pPr>
            <a:r>
              <a:rPr lang="en-AU" sz="2000" b="1" dirty="0" smtClean="0"/>
              <a:t>-</a:t>
            </a:r>
            <a:r>
              <a:rPr lang="en-AU" sz="2000" b="1" dirty="0" smtClean="0">
                <a:solidFill>
                  <a:srgbClr val="0070C0"/>
                </a:solidFill>
              </a:rPr>
              <a:t>How long people have lived in an area</a:t>
            </a:r>
          </a:p>
          <a:p>
            <a:pPr marL="0" indent="0" eaLnBrk="1" fontAlgn="auto" hangingPunct="1">
              <a:spcAft>
                <a:spcPts val="0"/>
              </a:spcAft>
              <a:buFont typeface="Arial" pitchFamily="34" charset="0"/>
              <a:buNone/>
              <a:defRPr/>
            </a:pPr>
            <a:r>
              <a:rPr lang="en-AU" sz="2000" b="1" dirty="0" smtClean="0">
                <a:solidFill>
                  <a:srgbClr val="0070C0"/>
                </a:solidFill>
              </a:rPr>
              <a:t>-How people lived based on artefacts (other answers are also possible).</a:t>
            </a:r>
            <a:endParaRPr lang="en-AU" sz="2000" dirty="0" smtClean="0"/>
          </a:p>
          <a:p>
            <a:pPr marL="457200" indent="-457200" eaLnBrk="1" fontAlgn="auto" hangingPunct="1">
              <a:spcAft>
                <a:spcPts val="0"/>
              </a:spcAft>
              <a:buFont typeface="Arial" pitchFamily="34" charset="0"/>
              <a:buAutoNum type="arabicPeriod"/>
              <a:defRPr/>
            </a:pPr>
            <a:endParaRPr lang="en-AU" sz="20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normAutofit/>
          </a:bodyPr>
          <a:lstStyle/>
          <a:p>
            <a:pPr eaLnBrk="1" hangingPunct="1"/>
            <a:r>
              <a:rPr lang="en-AU" sz="4000" smtClean="0">
                <a:solidFill>
                  <a:srgbClr val="FFFFFF"/>
                </a:solidFill>
              </a:rPr>
              <a:t>What do you think?  Copy and complete the following:</a:t>
            </a:r>
          </a:p>
        </p:txBody>
      </p:sp>
      <p:sp>
        <p:nvSpPr>
          <p:cNvPr id="3" name="Content Placeholder 2"/>
          <p:cNvSpPr>
            <a:spLocks noGrp="1"/>
          </p:cNvSpPr>
          <p:nvPr>
            <p:ph idx="1"/>
          </p:nvPr>
        </p:nvSpPr>
        <p:spPr/>
        <p:txBody>
          <a:bodyPr rtlCol="0">
            <a:normAutofit lnSpcReduction="10000"/>
          </a:bodyPr>
          <a:lstStyle/>
          <a:p>
            <a:pPr eaLnBrk="1" fontAlgn="auto" hangingPunct="1">
              <a:spcAft>
                <a:spcPts val="0"/>
              </a:spcAft>
              <a:buFont typeface="Arial" pitchFamily="34" charset="0"/>
              <a:buChar char="•"/>
              <a:defRPr/>
            </a:pPr>
            <a:r>
              <a:rPr lang="en-AU" dirty="0" smtClean="0"/>
              <a:t>1. I think early humans wore jewellery because…</a:t>
            </a:r>
          </a:p>
          <a:p>
            <a:pPr eaLnBrk="1" fontAlgn="auto" hangingPunct="1">
              <a:spcAft>
                <a:spcPts val="0"/>
              </a:spcAft>
              <a:buFont typeface="Arial" pitchFamily="34" charset="0"/>
              <a:buChar char="•"/>
              <a:defRPr/>
            </a:pPr>
            <a:r>
              <a:rPr lang="en-AU" dirty="0" smtClean="0"/>
              <a:t>2. Two reasons why I think early humans might have migrated to new places such as Australia and America are:</a:t>
            </a:r>
          </a:p>
          <a:p>
            <a:pPr marL="0" indent="0" eaLnBrk="1" fontAlgn="auto" hangingPunct="1">
              <a:spcAft>
                <a:spcPts val="0"/>
              </a:spcAft>
              <a:buFont typeface="Arial" pitchFamily="34" charset="0"/>
              <a:buNone/>
              <a:defRPr/>
            </a:pPr>
            <a:r>
              <a:rPr lang="en-AU" dirty="0" smtClean="0"/>
              <a:t>- __________________________</a:t>
            </a:r>
          </a:p>
          <a:p>
            <a:pPr marL="0" indent="0" eaLnBrk="1" fontAlgn="auto" hangingPunct="1">
              <a:spcAft>
                <a:spcPts val="0"/>
              </a:spcAft>
              <a:buFont typeface="Arial" pitchFamily="34" charset="0"/>
              <a:buNone/>
              <a:defRPr/>
            </a:pPr>
            <a:r>
              <a:rPr lang="en-AU" dirty="0" smtClean="0"/>
              <a:t>-___________________________</a:t>
            </a:r>
          </a:p>
          <a:p>
            <a:pPr eaLnBrk="1" fontAlgn="auto" hangingPunct="1">
              <a:spcAft>
                <a:spcPts val="0"/>
              </a:spcAft>
              <a:buFont typeface="Arial" pitchFamily="34" charset="0"/>
              <a:buChar char="•"/>
              <a:defRPr/>
            </a:pPr>
            <a:r>
              <a:rPr lang="en-AU" dirty="0" smtClean="0"/>
              <a:t>3. I think the development of metal helped early humans progress because…</a:t>
            </a:r>
          </a:p>
          <a:p>
            <a:pPr marL="0" indent="0" eaLnBrk="1" fontAlgn="auto" hangingPunct="1">
              <a:spcAft>
                <a:spcPts val="0"/>
              </a:spcAft>
              <a:buFont typeface="Arial" pitchFamily="34" charset="0"/>
              <a:buNone/>
              <a:defRPr/>
            </a:pPr>
            <a:endParaRPr lang="en-AU"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5"/>
          <p:cNvSpPr>
            <a:spLocks noGrp="1"/>
          </p:cNvSpPr>
          <p:nvPr>
            <p:ph type="title"/>
          </p:nvPr>
        </p:nvSpPr>
        <p:spPr>
          <a:xfrm>
            <a:off x="457200" y="228600"/>
            <a:ext cx="8229600" cy="1189038"/>
          </a:xfrm>
        </p:spPr>
        <p:txBody>
          <a:bodyPr/>
          <a:lstStyle/>
          <a:p>
            <a:pPr eaLnBrk="1" hangingPunct="1"/>
            <a:r>
              <a:rPr lang="en-AU" smtClean="0"/>
              <a:t>Source Analysis</a:t>
            </a:r>
          </a:p>
        </p:txBody>
      </p:sp>
      <p:sp>
        <p:nvSpPr>
          <p:cNvPr id="41986" name="TextBox 6"/>
          <p:cNvSpPr txBox="1">
            <a:spLocks noChangeArrowheads="1"/>
          </p:cNvSpPr>
          <p:nvPr/>
        </p:nvSpPr>
        <p:spPr bwMode="auto">
          <a:xfrm>
            <a:off x="762000" y="2743200"/>
            <a:ext cx="8001000" cy="3540125"/>
          </a:xfrm>
          <a:prstGeom prst="rect">
            <a:avLst/>
          </a:prstGeom>
          <a:noFill/>
          <a:ln w="9525">
            <a:noFill/>
            <a:miter lim="800000"/>
            <a:headEnd/>
            <a:tailEnd/>
          </a:ln>
        </p:spPr>
        <p:txBody>
          <a:bodyPr>
            <a:spAutoFit/>
          </a:bodyPr>
          <a:lstStyle/>
          <a:p>
            <a:r>
              <a:rPr lang="en-AU" sz="2800">
                <a:latin typeface="Calibri" pitchFamily="34" charset="0"/>
              </a:rPr>
              <a:t>Historians and archaeologists ask questions about the past using evidence.</a:t>
            </a:r>
          </a:p>
          <a:p>
            <a:endParaRPr lang="en-AU" sz="2800">
              <a:latin typeface="Calibri" pitchFamily="34" charset="0"/>
            </a:endParaRPr>
          </a:p>
          <a:p>
            <a:r>
              <a:rPr lang="en-AU" sz="2800">
                <a:latin typeface="Calibri" pitchFamily="34" charset="0"/>
              </a:rPr>
              <a:t>These questions are the ‘5 Ws + H’ of history (Who? What? Why? Where? When? How?).</a:t>
            </a:r>
          </a:p>
          <a:p>
            <a:endParaRPr lang="en-AU" sz="2800">
              <a:latin typeface="Calibri" pitchFamily="34" charset="0"/>
            </a:endParaRPr>
          </a:p>
          <a:p>
            <a:r>
              <a:rPr lang="en-AU" sz="2800">
                <a:latin typeface="Calibri" pitchFamily="34" charset="0"/>
              </a:rPr>
              <a:t>Look at the following sources  and complete the activities on your copy.</a:t>
            </a:r>
          </a:p>
        </p:txBody>
      </p:sp>
      <p:pic>
        <p:nvPicPr>
          <p:cNvPr id="41987" name="Picture 2"/>
          <p:cNvPicPr>
            <a:picLocks noChangeAspect="1" noChangeArrowheads="1"/>
          </p:cNvPicPr>
          <p:nvPr/>
        </p:nvPicPr>
        <p:blipFill>
          <a:blip r:embed="rId2"/>
          <a:srcRect/>
          <a:stretch>
            <a:fillRect/>
          </a:stretch>
        </p:blipFill>
        <p:spPr bwMode="auto">
          <a:xfrm>
            <a:off x="533400" y="249238"/>
            <a:ext cx="2111375" cy="24939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pPr eaLnBrk="1" hangingPunct="1"/>
            <a:r>
              <a:rPr lang="en-AU" sz="2800" smtClean="0"/>
              <a:t>Source 1- Clay bison sculptures from Tuc d’Audobert Cave France are 10 000 to 14 000 years old</a:t>
            </a:r>
          </a:p>
        </p:txBody>
      </p:sp>
      <p:pic>
        <p:nvPicPr>
          <p:cNvPr id="43010" name="Picture 2" descr="http://www.mitchellteachers.net/WorldHistory/MrMEarlyHumansProject/Images/paleolithicart/PaleolithicArt4.jpg"/>
          <p:cNvPicPr>
            <a:picLocks noChangeAspect="1" noChangeArrowheads="1"/>
          </p:cNvPicPr>
          <p:nvPr/>
        </p:nvPicPr>
        <p:blipFill>
          <a:blip r:embed="rId2"/>
          <a:srcRect/>
          <a:stretch>
            <a:fillRect/>
          </a:stretch>
        </p:blipFill>
        <p:spPr bwMode="auto">
          <a:xfrm>
            <a:off x="0" y="1371600"/>
            <a:ext cx="5334000" cy="3667125"/>
          </a:xfrm>
          <a:prstGeom prst="rect">
            <a:avLst/>
          </a:prstGeom>
          <a:noFill/>
          <a:ln w="9525">
            <a:noFill/>
            <a:miter lim="800000"/>
            <a:headEnd/>
            <a:tailEnd/>
          </a:ln>
        </p:spPr>
      </p:pic>
      <p:sp>
        <p:nvSpPr>
          <p:cNvPr id="43011" name="TextBox 2"/>
          <p:cNvSpPr txBox="1">
            <a:spLocks noChangeArrowheads="1"/>
          </p:cNvSpPr>
          <p:nvPr/>
        </p:nvSpPr>
        <p:spPr bwMode="auto">
          <a:xfrm>
            <a:off x="5486400" y="1371600"/>
            <a:ext cx="3505200" cy="1108075"/>
          </a:xfrm>
          <a:prstGeom prst="rect">
            <a:avLst/>
          </a:prstGeom>
          <a:noFill/>
          <a:ln w="9525">
            <a:noFill/>
            <a:miter lim="800000"/>
            <a:headEnd/>
            <a:tailEnd/>
          </a:ln>
        </p:spPr>
        <p:txBody>
          <a:bodyPr>
            <a:spAutoFit/>
          </a:bodyPr>
          <a:lstStyle/>
          <a:p>
            <a:r>
              <a:rPr lang="en-AU" sz="2200">
                <a:latin typeface="Calibri" pitchFamily="34" charset="0"/>
              </a:rPr>
              <a:t>Compose 3 historical questions about this source and write them below:</a:t>
            </a:r>
          </a:p>
        </p:txBody>
      </p:sp>
      <p:graphicFrame>
        <p:nvGraphicFramePr>
          <p:cNvPr id="4" name="Table 3"/>
          <p:cNvGraphicFramePr>
            <a:graphicFrameLocks noGrp="1"/>
          </p:cNvGraphicFramePr>
          <p:nvPr/>
        </p:nvGraphicFramePr>
        <p:xfrm>
          <a:off x="5600700" y="2590800"/>
          <a:ext cx="3276600" cy="2279650"/>
        </p:xfrm>
        <a:graphic>
          <a:graphicData uri="http://schemas.openxmlformats.org/drawingml/2006/table">
            <a:tbl>
              <a:tblPr firstRow="1" bandRow="1">
                <a:tableStyleId>{5940675A-B579-460E-94D1-54222C63F5DA}</a:tableStyleId>
              </a:tblPr>
              <a:tblGrid>
                <a:gridCol w="3276599"/>
              </a:tblGrid>
              <a:tr h="0">
                <a:tc>
                  <a:txBody>
                    <a:bodyPr/>
                    <a:lstStyle/>
                    <a:p>
                      <a:endParaRPr lang="en-AU" dirty="0"/>
                    </a:p>
                  </a:txBody>
                  <a:tcPr/>
                </a:tc>
              </a:tr>
              <a:tr h="478548">
                <a:tc>
                  <a:txBody>
                    <a:bodyPr/>
                    <a:lstStyle/>
                    <a:p>
                      <a:endParaRPr lang="en-AU" dirty="0"/>
                    </a:p>
                  </a:txBody>
                  <a:tcPr/>
                </a:tc>
              </a:tr>
              <a:tr h="478548">
                <a:tc>
                  <a:txBody>
                    <a:bodyPr/>
                    <a:lstStyle/>
                    <a:p>
                      <a:endParaRPr lang="en-AU" dirty="0"/>
                    </a:p>
                  </a:txBody>
                  <a:tcPr/>
                </a:tc>
              </a:tr>
              <a:tr h="478548">
                <a:tc>
                  <a:txBody>
                    <a:bodyPr/>
                    <a:lstStyle/>
                    <a:p>
                      <a:endParaRPr lang="en-AU" dirty="0"/>
                    </a:p>
                  </a:txBody>
                  <a:tcPr/>
                </a:tc>
              </a:tr>
              <a:tr h="478548">
                <a:tc>
                  <a:txBody>
                    <a:bodyPr/>
                    <a:lstStyle/>
                    <a:p>
                      <a:endParaRPr lang="en-AU" dirty="0"/>
                    </a:p>
                  </a:txBody>
                  <a:tcPr/>
                </a:tc>
              </a:tr>
            </a:tbl>
          </a:graphicData>
        </a:graphic>
      </p:graphicFrame>
      <p:graphicFrame>
        <p:nvGraphicFramePr>
          <p:cNvPr id="7" name="Table 6"/>
          <p:cNvGraphicFramePr>
            <a:graphicFrameLocks noGrp="1"/>
          </p:cNvGraphicFramePr>
          <p:nvPr/>
        </p:nvGraphicFramePr>
        <p:xfrm>
          <a:off x="228600" y="5029200"/>
          <a:ext cx="8596313" cy="2030413"/>
        </p:xfrm>
        <a:graphic>
          <a:graphicData uri="http://schemas.openxmlformats.org/drawingml/2006/table">
            <a:tbl>
              <a:tblPr firstRow="1" bandRow="1">
                <a:tableStyleId>{5940675A-B579-460E-94D1-54222C63F5DA}</a:tableStyleId>
              </a:tblPr>
              <a:tblGrid>
                <a:gridCol w="8596745"/>
              </a:tblGrid>
              <a:tr h="594360">
                <a:tc>
                  <a:txBody>
                    <a:bodyPr/>
                    <a:lstStyle/>
                    <a:p>
                      <a:endParaRPr lang="en-AU" dirty="0"/>
                    </a:p>
                  </a:txBody>
                  <a:tcPr/>
                </a:tc>
              </a:tr>
              <a:tr h="478548">
                <a:tc>
                  <a:txBody>
                    <a:bodyPr/>
                    <a:lstStyle/>
                    <a:p>
                      <a:endParaRPr lang="en-AU" dirty="0"/>
                    </a:p>
                  </a:txBody>
                  <a:tcPr/>
                </a:tc>
              </a:tr>
              <a:tr h="478548">
                <a:tc>
                  <a:txBody>
                    <a:bodyPr/>
                    <a:lstStyle/>
                    <a:p>
                      <a:endParaRPr lang="en-AU" dirty="0"/>
                    </a:p>
                  </a:txBody>
                  <a:tcPr/>
                </a:tc>
              </a:tr>
              <a:tr h="478548">
                <a:tc>
                  <a:txBody>
                    <a:bodyPr/>
                    <a:lstStyle/>
                    <a:p>
                      <a:endParaRPr lang="en-AU" dirty="0"/>
                    </a:p>
                  </a:txBody>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2" descr="http://www.sciencephoto.com/image/185504/350wm/E9000492-Mammoth_bone_hut_excavation,_Ukraine-SPL.jpg"/>
          <p:cNvPicPr>
            <a:picLocks noChangeAspect="1" noChangeArrowheads="1"/>
          </p:cNvPicPr>
          <p:nvPr/>
        </p:nvPicPr>
        <p:blipFill>
          <a:blip r:embed="rId2"/>
          <a:srcRect/>
          <a:stretch>
            <a:fillRect/>
          </a:stretch>
        </p:blipFill>
        <p:spPr bwMode="auto">
          <a:xfrm>
            <a:off x="34925" y="93663"/>
            <a:ext cx="5826125" cy="4260850"/>
          </a:xfrm>
          <a:prstGeom prst="rect">
            <a:avLst/>
          </a:prstGeom>
          <a:noFill/>
          <a:ln w="9525">
            <a:noFill/>
            <a:miter lim="800000"/>
            <a:headEnd/>
            <a:tailEnd/>
          </a:ln>
        </p:spPr>
      </p:pic>
      <p:sp>
        <p:nvSpPr>
          <p:cNvPr id="44034" name="TextBox 2"/>
          <p:cNvSpPr txBox="1">
            <a:spLocks noChangeArrowheads="1"/>
          </p:cNvSpPr>
          <p:nvPr/>
        </p:nvSpPr>
        <p:spPr bwMode="auto">
          <a:xfrm>
            <a:off x="6096000" y="381000"/>
            <a:ext cx="2514600" cy="3108325"/>
          </a:xfrm>
          <a:prstGeom prst="rect">
            <a:avLst/>
          </a:prstGeom>
          <a:noFill/>
          <a:ln w="9525">
            <a:noFill/>
            <a:miter lim="800000"/>
            <a:headEnd/>
            <a:tailEnd/>
          </a:ln>
        </p:spPr>
        <p:txBody>
          <a:bodyPr>
            <a:spAutoFit/>
          </a:bodyPr>
          <a:lstStyle/>
          <a:p>
            <a:r>
              <a:rPr lang="en-AU" sz="2800">
                <a:latin typeface="Calibri" pitchFamily="34" charset="0"/>
              </a:rPr>
              <a:t>Source 2</a:t>
            </a:r>
          </a:p>
          <a:p>
            <a:r>
              <a:rPr lang="en-AU" sz="2800">
                <a:latin typeface="Calibri" pitchFamily="34" charset="0"/>
              </a:rPr>
              <a:t>Remains of a Palaeolithic hut made of mammoth bones located in The Ukraine.</a:t>
            </a:r>
          </a:p>
        </p:txBody>
      </p:sp>
      <p:sp>
        <p:nvSpPr>
          <p:cNvPr id="44035" name="TextBox 3"/>
          <p:cNvSpPr txBox="1">
            <a:spLocks noChangeArrowheads="1"/>
          </p:cNvSpPr>
          <p:nvPr/>
        </p:nvSpPr>
        <p:spPr bwMode="auto">
          <a:xfrm>
            <a:off x="228600" y="4354513"/>
            <a:ext cx="8763000" cy="1016000"/>
          </a:xfrm>
          <a:prstGeom prst="rect">
            <a:avLst/>
          </a:prstGeom>
          <a:noFill/>
          <a:ln w="9525">
            <a:noFill/>
            <a:miter lim="800000"/>
            <a:headEnd/>
            <a:tailEnd/>
          </a:ln>
        </p:spPr>
        <p:txBody>
          <a:bodyPr>
            <a:spAutoFit/>
          </a:bodyPr>
          <a:lstStyle/>
          <a:p>
            <a:r>
              <a:rPr lang="en-AU" sz="2000">
                <a:latin typeface="Calibri" pitchFamily="34" charset="0"/>
              </a:rPr>
              <a:t>How and why might Source 2 be useful to a historian studying early humans in the Palaeolithic era?  (that is, what types of things could be find out using this evidence?)</a:t>
            </a:r>
          </a:p>
        </p:txBody>
      </p:sp>
      <p:graphicFrame>
        <p:nvGraphicFramePr>
          <p:cNvPr id="5" name="Table 4"/>
          <p:cNvGraphicFramePr>
            <a:graphicFrameLocks noGrp="1"/>
          </p:cNvGraphicFramePr>
          <p:nvPr/>
        </p:nvGraphicFramePr>
        <p:xfrm>
          <a:off x="311150" y="5399088"/>
          <a:ext cx="8596313" cy="1398587"/>
        </p:xfrm>
        <a:graphic>
          <a:graphicData uri="http://schemas.openxmlformats.org/drawingml/2006/table">
            <a:tbl>
              <a:tblPr firstRow="1" bandRow="1">
                <a:tableStyleId>{5940675A-B579-460E-94D1-54222C63F5DA}</a:tableStyleId>
              </a:tblPr>
              <a:tblGrid>
                <a:gridCol w="8596745"/>
              </a:tblGrid>
              <a:tr h="441961">
                <a:tc>
                  <a:txBody>
                    <a:bodyPr/>
                    <a:lstStyle/>
                    <a:p>
                      <a:endParaRPr lang="en-AU" dirty="0"/>
                    </a:p>
                  </a:txBody>
                  <a:tcPr/>
                </a:tc>
              </a:tr>
              <a:tr h="478548">
                <a:tc>
                  <a:txBody>
                    <a:bodyPr/>
                    <a:lstStyle/>
                    <a:p>
                      <a:endParaRPr lang="en-AU" dirty="0"/>
                    </a:p>
                  </a:txBody>
                  <a:tcPr/>
                </a:tc>
              </a:tr>
              <a:tr h="478548">
                <a:tc>
                  <a:txBody>
                    <a:bodyPr/>
                    <a:lstStyle/>
                    <a:p>
                      <a:endParaRPr lang="en-AU" dirty="0"/>
                    </a:p>
                  </a:txBody>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
          <p:cNvSpPr>
            <a:spLocks noChangeArrowheads="1"/>
          </p:cNvSpPr>
          <p:nvPr/>
        </p:nvSpPr>
        <p:spPr bwMode="auto">
          <a:xfrm>
            <a:off x="681038" y="442913"/>
            <a:ext cx="7620000" cy="6864350"/>
          </a:xfrm>
          <a:prstGeom prst="rect">
            <a:avLst/>
          </a:prstGeom>
          <a:noFill/>
          <a:ln w="9525">
            <a:noFill/>
            <a:miter lim="800000"/>
            <a:headEnd/>
            <a:tailEnd/>
          </a:ln>
        </p:spPr>
        <p:txBody>
          <a:bodyPr>
            <a:spAutoFit/>
          </a:bodyPr>
          <a:lstStyle/>
          <a:p>
            <a:r>
              <a:rPr lang="en-AU" sz="4000">
                <a:latin typeface="Calibri" pitchFamily="34" charset="0"/>
              </a:rPr>
              <a:t>Make two historical judgements about any of these sources based on the evidence you have available.</a:t>
            </a:r>
          </a:p>
          <a:p>
            <a:endParaRPr lang="en-AU" sz="4000">
              <a:latin typeface="Calibri" pitchFamily="34" charset="0"/>
            </a:endParaRPr>
          </a:p>
          <a:p>
            <a:r>
              <a:rPr lang="en-AU" sz="2800">
                <a:latin typeface="Calibri" pitchFamily="34" charset="0"/>
              </a:rPr>
              <a:t>Source number ___________</a:t>
            </a:r>
          </a:p>
          <a:p>
            <a:r>
              <a:rPr lang="en-AU" sz="2800">
                <a:latin typeface="Calibri" pitchFamily="34" charset="0"/>
              </a:rPr>
              <a:t>My historical judgement using the clues:</a:t>
            </a:r>
          </a:p>
          <a:p>
            <a:endParaRPr lang="en-AU" sz="2800">
              <a:latin typeface="Calibri" pitchFamily="34" charset="0"/>
            </a:endParaRPr>
          </a:p>
          <a:p>
            <a:endParaRPr lang="en-AU" sz="2800">
              <a:latin typeface="Calibri" pitchFamily="34" charset="0"/>
            </a:endParaRPr>
          </a:p>
          <a:p>
            <a:r>
              <a:rPr lang="en-AU" sz="2800">
                <a:latin typeface="Calibri" pitchFamily="34" charset="0"/>
              </a:rPr>
              <a:t>Source number ___________</a:t>
            </a:r>
          </a:p>
          <a:p>
            <a:r>
              <a:rPr lang="en-AU" sz="2800">
                <a:latin typeface="Calibri" pitchFamily="34" charset="0"/>
              </a:rPr>
              <a:t>My historical judgement using the clues:</a:t>
            </a:r>
          </a:p>
          <a:p>
            <a:endParaRPr lang="en-AU" sz="2800">
              <a:latin typeface="Calibri" pitchFamily="34" charset="0"/>
            </a:endParaRPr>
          </a:p>
          <a:p>
            <a:endParaRPr lang="en-AU" sz="2800">
              <a:latin typeface="Calibri" pitchFamily="34" charset="0"/>
            </a:endParaRPr>
          </a:p>
          <a:p>
            <a:endParaRPr lang="en-AU" sz="2800">
              <a:latin typeface="Calibri" pitchFamily="34" charset="0"/>
            </a:endParaRPr>
          </a:p>
          <a:p>
            <a:endParaRPr lang="en-AU" sz="2800">
              <a:latin typeface="Calibri" pitchFamily="34" charset="0"/>
            </a:endParaRPr>
          </a:p>
        </p:txBody>
      </p:sp>
      <p:pic>
        <p:nvPicPr>
          <p:cNvPr id="45058" name="Picture 2"/>
          <p:cNvPicPr>
            <a:picLocks noChangeAspect="1" noChangeArrowheads="1"/>
          </p:cNvPicPr>
          <p:nvPr/>
        </p:nvPicPr>
        <p:blipFill>
          <a:blip r:embed="rId2"/>
          <a:srcRect/>
          <a:stretch>
            <a:fillRect/>
          </a:stretch>
        </p:blipFill>
        <p:spPr bwMode="auto">
          <a:xfrm>
            <a:off x="7781925" y="990600"/>
            <a:ext cx="1362075" cy="1819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2" descr="http://www.mitchellteachers.net/WorldHistory/MrMEarlyHumansProject/Images/paleolithicart/PaleolithicArt5.jpg"/>
          <p:cNvPicPr>
            <a:picLocks noChangeAspect="1" noChangeArrowheads="1"/>
          </p:cNvPicPr>
          <p:nvPr/>
        </p:nvPicPr>
        <p:blipFill>
          <a:blip r:embed="rId2"/>
          <a:srcRect/>
          <a:stretch>
            <a:fillRect/>
          </a:stretch>
        </p:blipFill>
        <p:spPr bwMode="auto">
          <a:xfrm>
            <a:off x="63500" y="914400"/>
            <a:ext cx="3429000" cy="4733925"/>
          </a:xfrm>
          <a:prstGeom prst="rect">
            <a:avLst/>
          </a:prstGeom>
          <a:noFill/>
          <a:ln w="9525">
            <a:noFill/>
            <a:miter lim="800000"/>
            <a:headEnd/>
            <a:tailEnd/>
          </a:ln>
        </p:spPr>
      </p:pic>
      <p:sp>
        <p:nvSpPr>
          <p:cNvPr id="46082" name="TextBox 1"/>
          <p:cNvSpPr txBox="1">
            <a:spLocks noChangeArrowheads="1"/>
          </p:cNvSpPr>
          <p:nvPr/>
        </p:nvSpPr>
        <p:spPr bwMode="auto">
          <a:xfrm>
            <a:off x="3892550" y="457200"/>
            <a:ext cx="4572000" cy="1800225"/>
          </a:xfrm>
          <a:prstGeom prst="rect">
            <a:avLst/>
          </a:prstGeom>
          <a:noFill/>
          <a:ln w="9525">
            <a:noFill/>
            <a:miter lim="800000"/>
            <a:headEnd/>
            <a:tailEnd/>
          </a:ln>
        </p:spPr>
        <p:txBody>
          <a:bodyPr>
            <a:spAutoFit/>
          </a:bodyPr>
          <a:lstStyle/>
          <a:p>
            <a:r>
              <a:rPr lang="en-AU" sz="2800">
                <a:latin typeface="Calibri" pitchFamily="34" charset="0"/>
              </a:rPr>
              <a:t>Source 3- two female figurines from Ice Age Malta that are about 14 000 years old.</a:t>
            </a:r>
          </a:p>
        </p:txBody>
      </p:sp>
      <p:sp>
        <p:nvSpPr>
          <p:cNvPr id="46083" name="TextBox 2"/>
          <p:cNvSpPr txBox="1">
            <a:spLocks noChangeArrowheads="1"/>
          </p:cNvSpPr>
          <p:nvPr/>
        </p:nvSpPr>
        <p:spPr bwMode="auto">
          <a:xfrm>
            <a:off x="3892550" y="2333625"/>
            <a:ext cx="4870450" cy="4524375"/>
          </a:xfrm>
          <a:prstGeom prst="rect">
            <a:avLst/>
          </a:prstGeom>
          <a:noFill/>
          <a:ln w="9525">
            <a:noFill/>
            <a:miter lim="800000"/>
            <a:headEnd/>
            <a:tailEnd/>
          </a:ln>
        </p:spPr>
        <p:txBody>
          <a:bodyPr>
            <a:spAutoFit/>
          </a:bodyPr>
          <a:lstStyle/>
          <a:p>
            <a:r>
              <a:rPr lang="en-AU" sz="2400">
                <a:latin typeface="Calibri" pitchFamily="34" charset="0"/>
              </a:rPr>
              <a:t>What additional information might you need about these artefacts to be able to be able to develop historical theories about them?  List two extra things you might need to know?</a:t>
            </a:r>
          </a:p>
          <a:p>
            <a:r>
              <a:rPr lang="en-AU" sz="2400">
                <a:latin typeface="Calibri" pitchFamily="34" charset="0"/>
              </a:rPr>
              <a:t>______________________________</a:t>
            </a:r>
          </a:p>
          <a:p>
            <a:endParaRPr lang="en-AU" sz="2400">
              <a:latin typeface="Calibri" pitchFamily="34" charset="0"/>
            </a:endParaRPr>
          </a:p>
          <a:p>
            <a:r>
              <a:rPr lang="en-AU" sz="2400">
                <a:latin typeface="Calibri" pitchFamily="34" charset="0"/>
              </a:rPr>
              <a:t>______________________________</a:t>
            </a:r>
          </a:p>
          <a:p>
            <a:endParaRPr lang="en-AU" sz="2400">
              <a:latin typeface="Calibri" pitchFamily="34" charset="0"/>
            </a:endParaRPr>
          </a:p>
          <a:p>
            <a:r>
              <a:rPr lang="en-AU" sz="2400">
                <a:latin typeface="Calibri" pitchFamily="34" charset="0"/>
              </a:rPr>
              <a:t>______________________________</a:t>
            </a:r>
          </a:p>
          <a:p>
            <a:endParaRPr lang="en-AU" sz="2400">
              <a:latin typeface="Calibri" pitchFamily="34" charset="0"/>
            </a:endParaRPr>
          </a:p>
          <a:p>
            <a:r>
              <a:rPr lang="en-AU" sz="2400">
                <a:latin typeface="Calibri" pitchFamily="34" charset="0"/>
              </a:rPr>
              <a:t>______________________________</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How do we know?&amp;quot;&quot;/&gt;&lt;property id=&quot;20307&quot; value=&quot;256&quot;/&gt;&lt;/object&gt;&lt;object type=&quot;3&quot; unique_id=&quot;10014&quot;&gt;&lt;property id=&quot;20148&quot; value=&quot;5&quot;/&gt;&lt;property id=&quot;20300&quot; value=&quot;Slide 2 - &amp;quot;Listen and look as we go through the following and then be ready to answer some related questions.&amp;quot;&quot;/&gt;&lt;property id=&quot;20307&quot; value=&quot;257&quot;/&gt;&lt;/object&gt;&lt;object type=&quot;3&quot; unique_id=&quot;10015&quot;&gt;&lt;property id=&quot;20148&quot; value=&quot;5&quot;/&gt;&lt;property id=&quot;20300&quot; value=&quot;Slide 3 - &amp;quot;There is evidence to support the theory that Homo Sapien Sapiens migrated and slowly populated most of the planet. &quot;/&gt;&lt;property id=&quot;20307&quot; value=&quot;258&quot;/&gt;&lt;/object&gt;&lt;object type=&quot;3&quot; unique_id=&quot;10016&quot;&gt;&lt;property id=&quot;20148&quot; value=&quot;5&quot;/&gt;&lt;property id=&quot;20300&quot; value=&quot;Slide 4&quot;/&gt;&lt;property id=&quot;20307&quot; value=&quot;259&quot;/&gt;&lt;/object&gt;&lt;object type=&quot;3&quot; unique_id=&quot;10029&quot;&gt;&lt;property id=&quot;20148&quot; value=&quot;5&quot;/&gt;&lt;property id=&quot;20300&quot; value=&quot;Slide 5 - &amp;quot;We can tell how long ago humans came to an area by finding the clues they left behind and using different scientifi&quot;/&gt;&lt;property id=&quot;20307&quot; value=&quot;260&quot;/&gt;&lt;/object&gt;&lt;object type=&quot;3&quot; unique_id=&quot;10030&quot;&gt;&lt;property id=&quot;20148&quot; value=&quot;5&quot;/&gt;&lt;property id=&quot;20300&quot; value=&quot;Slide 6 - &amp;quot;Possible clues include…&amp;quot;&quot;/&gt;&lt;property id=&quot;20307&quot; value=&quot;261&quot;/&gt;&lt;/object&gt;&lt;object type=&quot;3&quot; unique_id=&quot;10031&quot;&gt;&lt;property id=&quot;20148&quot; value=&quot;5&quot;/&gt;&lt;property id=&quot;20300&quot; value=&quot;Slide 7 - &amp;quot;Dating of Artefacts&amp;quot;&quot;/&gt;&lt;property id=&quot;20307&quot; value=&quot;262&quot;/&gt;&lt;/object&gt;&lt;object type=&quot;3&quot; unique_id=&quot;10032&quot;&gt;&lt;property id=&quot;20148&quot; value=&quot;5&quot;/&gt;&lt;property id=&quot;20300&quot; value=&quot;Slide 8 - &amp;quot;Radio-carbon dating&amp;quot;&quot;/&gt;&lt;property id=&quot;20307&quot; value=&quot;263&quot;/&gt;&lt;/object&gt;&lt;object type=&quot;3&quot; unique_id=&quot;10053&quot;&gt;&lt;property id=&quot;20148&quot; value=&quot;5&quot;/&gt;&lt;property id=&quot;20300&quot; value=&quot;Slide 9 - &amp;quot;Dendrochronology (tree ring dating)&amp;quot;&quot;/&gt;&lt;property id=&quot;20307&quot; value=&quot;264&quot;/&gt;&lt;/object&gt;&lt;object type=&quot;3&quot; unique_id=&quot;10076&quot;&gt;&lt;property id=&quot;20148&quot; value=&quot;5&quot;/&gt;&lt;property id=&quot;20300&quot; value=&quot;Slide 10 - &amp;quot;Stratigraphy&amp;quot;&quot;/&gt;&lt;property id=&quot;20307&quot; value=&quot;265&quot;/&gt;&lt;/object&gt;&lt;object type=&quot;3&quot; unique_id=&quot;10101&quot;&gt;&lt;property id=&quot;20148&quot; value=&quot;5&quot;/&gt;&lt;property id=&quot;20300&quot; value=&quot;Slide 12 - &amp;quot;Footprints at Lake Mungo NSW show evidence of early humans in Australia&amp;quot;&quot;/&gt;&lt;property id=&quot;20307&quot; value=&quot;266&quot;/&gt;&lt;/object&gt;&lt;object type=&quot;3&quot; unique_id=&quot;10128&quot;&gt;&lt;property id=&quot;20148&quot; value=&quot;5&quot;/&gt;&lt;property id=&quot;20300&quot; value=&quot;Slide 13 - &amp;quot;Prehistoric graves- more evidence of early humans&amp;quot;&quot;/&gt;&lt;property id=&quot;20307&quot; value=&quot;267&quot;/&gt;&lt;/object&gt;&lt;object type=&quot;3&quot; unique_id=&quot;10157&quot;&gt;&lt;property id=&quot;20148&quot; value=&quot;5&quot;/&gt;&lt;property id=&quot;20300&quot; value=&quot;Slide 14 - &amp;quot;Ancient Tools&amp;quot;&quot;/&gt;&lt;property id=&quot;20307&quot; value=&quot;268&quot;/&gt;&lt;/object&gt;&lt;object type=&quot;3&quot; unique_id=&quot;10188&quot;&gt;&lt;property id=&quot;20148&quot; value=&quot;5&quot;/&gt;&lt;property id=&quot;20300&quot; value=&quot;Slide 16 - &amp;quot;Artworks- evidence of our ancestors&amp;quot;&quot;/&gt;&lt;property id=&quot;20307&quot; value=&quot;269&quot;/&gt;&lt;/object&gt;&lt;object type=&quot;3&quot; unique_id=&quot;10189&quot;&gt;&lt;property id=&quot;20148&quot; value=&quot;5&quot;/&gt;&lt;property id=&quot;20300&quot; value=&quot;Slide 17 - &amp;quot;Ancient Texts&amp;quot;&quot;/&gt;&lt;property id=&quot;20307&quot; value=&quot;270&quot;/&gt;&lt;/object&gt;&lt;object type=&quot;3&quot; unique_id=&quot;10224&quot;&gt;&lt;property id=&quot;20148&quot; value=&quot;5&quot;/&gt;&lt;property id=&quot;20300&quot; value=&quot;Slide 11 - &amp;quot;How do we know about early humans?&amp;quot;&quot;/&gt;&lt;property id=&quot;20307&quot; value=&quot;272&quot;/&gt;&lt;/object&gt;&lt;object type=&quot;3&quot; unique_id=&quot;10225&quot;&gt;&lt;property id=&quot;20148&quot; value=&quot;5&quot;/&gt;&lt;property id=&quot;20300&quot; value=&quot;Slide 15 - &amp;quot;Ancient and Prehistoric Homes&amp;quot;&quot;/&gt;&lt;property id=&quot;20307&quot; value=&quot;271&quot;/&gt;&lt;/object&gt;&lt;object type=&quot;3&quot; unique_id=&quot;10378&quot;&gt;&lt;property id=&quot;20148&quot; value=&quot;5&quot;/&gt;&lt;property id=&quot;20300&quot; value=&quot;Slide 23 - &amp;quot;&amp;#x0D;&amp;#x0A;&amp;#x0D;&amp;#x0A;&amp;#x0D;&amp;#x0A;&amp;#x0D;&amp;#x0A;From the different clues found, the following has been discovered about early humans based on evidence:&amp;#x0D;&amp;#x0A;&amp;#x0D;&amp;#x0A;*The &quot;/&gt;&lt;property id=&quot;20307&quot; value=&quot;273&quot;/&gt;&lt;/object&gt;&lt;object type=&quot;3&quot; unique_id=&quot;10379&quot;&gt;&lt;property id=&quot;20148&quot; value=&quot;5&quot;/&gt;&lt;property id=&quot;20300&quot; value=&quot;Slide 25 - &amp;quot; &amp;#x0D;&amp;#x0A;&amp;#x0D;&amp;#x0A;*Humans have been in Europe for at least 27 000 years based on evidence such as cave paintings and artefacts su&quot;/&gt;&lt;property id=&quot;20307&quot; value=&quot;274&quot;/&gt;&lt;/object&gt;&lt;object type=&quot;3&quot; unique_id=&quot;10380&quot;&gt;&lt;property id=&quot;20148&quot; value=&quot;5&quot;/&gt;&lt;property id=&quot;20300&quot; value=&quot;Slide 26 - &amp;quot;Copy and Answer the following based on what you have just learned:&amp;quot;&quot;/&gt;&lt;property id=&quot;20307&quot; value=&quot;275&quot;/&gt;&lt;/object&gt;&lt;object type=&quot;3&quot; unique_id=&quot;10381&quot;&gt;&lt;property id=&quot;20148&quot; value=&quot;5&quot;/&gt;&lt;property id=&quot;20300&quot; value=&quot;Slide 27 - &amp;quot;Check your answers:&amp;quot;&quot;/&gt;&lt;property id=&quot;20307&quot; value=&quot;276&quot;/&gt;&lt;/object&gt;&lt;object type=&quot;3&quot; unique_id=&quot;10428&quot;&gt;&lt;property id=&quot;20148&quot; value=&quot;5&quot;/&gt;&lt;property id=&quot;20300&quot; value=&quot;Slide 18&quot;/&gt;&lt;property id=&quot;20307&quot; value=&quot;280&quot;/&gt;&lt;/object&gt;&lt;object type=&quot;3&quot; unique_id=&quot;10429&quot;&gt;&lt;property id=&quot;20148&quot; value=&quot;5&quot;/&gt;&lt;property id=&quot;20300&quot; value=&quot;Slide 19&quot;/&gt;&lt;property id=&quot;20307&quot; value=&quot;281&quot;/&gt;&lt;/object&gt;&lt;object type=&quot;3&quot; unique_id=&quot;10430&quot;&gt;&lt;property id=&quot;20148&quot; value=&quot;5&quot;/&gt;&lt;property id=&quot;20300&quot; value=&quot;Slide 20 - &amp;quot;Archaeologists have been able to decipher some ancient writing but not others:&amp;quot;&quot;/&gt;&lt;property id=&quot;20307&quot; value=&quot;282&quot;/&gt;&lt;/object&gt;&lt;object type=&quot;3&quot; unique_id=&quot;10431&quot;&gt;&lt;property id=&quot;20148&quot; value=&quot;5&quot;/&gt;&lt;property id=&quot;20300&quot; value=&quot;Slide 21 - &amp;quot;No one has yet been able to decipher the “Linear A” text from the ancient Minoans on Crete  because we do not know&quot;/&gt;&lt;property id=&quot;20307&quot; value=&quot;283&quot;/&gt;&lt;/object&gt;&lt;object type=&quot;3&quot; unique_id=&quot;10432&quot;&gt;&lt;property id=&quot;20148&quot; value=&quot;5&quot;/&gt;&lt;property id=&quot;20300&quot; value=&quot;Slide 22&quot;/&gt;&lt;property id=&quot;20307&quot; value=&quot;284&quot;/&gt;&lt;/object&gt;&lt;object type=&quot;3&quot; unique_id=&quot;10433&quot;&gt;&lt;property id=&quot;20148&quot; value=&quot;5&quot;/&gt;&lt;property id=&quot;20300&quot; value=&quot;Slide 24&quot;/&gt;&lt;property id=&quot;20307&quot; value=&quot;278&quot;/&gt;&lt;/object&gt;&lt;object type=&quot;3&quot; unique_id=&quot;10434&quot;&gt;&lt;property id=&quot;20148&quot; value=&quot;5&quot;/&gt;&lt;property id=&quot;20300&quot; value=&quot;Slide 28 - &amp;quot;What do you think?  Copy and complete the following:&amp;quot;&quot;/&gt;&lt;property id=&quot;20307&quot; value=&quot;277&quot;/&gt;&lt;/object&gt;&lt;object type=&quot;3&quot; unique_id=&quot;10435&quot;&gt;&lt;property id=&quot;20148&quot; value=&quot;5&quot;/&gt;&lt;property id=&quot;20300&quot; value=&quot;Slide 29 - &amp;quot;Source Analysis&amp;quot;&quot;/&gt;&lt;property id=&quot;20307&quot; value=&quot;279&quot;/&gt;&lt;/object&gt;&lt;object type=&quot;3&quot; unique_id=&quot;10560&quot;&gt;&lt;property id=&quot;20148&quot; value=&quot;5&quot;/&gt;&lt;property id=&quot;20300&quot; value=&quot;Slide 30 - &amp;quot;Source 1- Clay bison sculptures from Tuc d’Audobert Cave France is 10 000 to 14 000 years old&amp;quot;&quot;/&gt;&lt;property id=&quot;20307&quot; value=&quot;285&quot;/&gt;&lt;/object&gt;&lt;object type=&quot;3&quot; unique_id=&quot;10561&quot;&gt;&lt;property id=&quot;20148&quot; value=&quot;5&quot;/&gt;&lt;property id=&quot;20300&quot; value=&quot;Slide 31&quot;/&gt;&lt;property id=&quot;20307&quot; value=&quot;286&quot;/&gt;&lt;/object&gt;&lt;object type=&quot;3&quot; unique_id=&quot;10562&quot;&gt;&lt;property id=&quot;20148&quot; value=&quot;5&quot;/&gt;&lt;property id=&quot;20300&quot; value=&quot;Slide 33&quot;/&gt;&lt;property id=&quot;20307&quot; value=&quot;287&quot;/&gt;&lt;/object&gt;&lt;object type=&quot;3&quot; unique_id=&quot;10631&quot;&gt;&lt;property id=&quot;20148&quot; value=&quot;5&quot;/&gt;&lt;property id=&quot;20300&quot; value=&quot;Slide 32&quot;/&gt;&lt;property id=&quot;20307&quot; value=&quot;288&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548</TotalTime>
  <Words>1740</Words>
  <Application>Microsoft Office PowerPoint</Application>
  <PresentationFormat>On-screen Show (4:3)</PresentationFormat>
  <Paragraphs>150</Paragraphs>
  <Slides>33</Slides>
  <Notes>0</Notes>
  <HiddenSlides>0</HiddenSlides>
  <MMClips>0</MMClips>
  <ScaleCrop>false</ScaleCrop>
  <HeadingPairs>
    <vt:vector size="6" baseType="variant">
      <vt:variant>
        <vt:lpstr>Fonts Used</vt:lpstr>
      </vt:variant>
      <vt:variant>
        <vt:i4>9</vt:i4>
      </vt:variant>
      <vt:variant>
        <vt:lpstr>Design Template</vt:lpstr>
      </vt:variant>
      <vt:variant>
        <vt:i4>1</vt:i4>
      </vt:variant>
      <vt:variant>
        <vt:lpstr>Slide Titles</vt:lpstr>
      </vt:variant>
      <vt:variant>
        <vt:i4>33</vt:i4>
      </vt:variant>
    </vt:vector>
  </HeadingPairs>
  <TitlesOfParts>
    <vt:vector size="43" baseType="lpstr">
      <vt:lpstr>Arial</vt:lpstr>
      <vt:lpstr>Calibri</vt:lpstr>
      <vt:lpstr>Comic Sans MS</vt:lpstr>
      <vt:lpstr>Adobe Fan Heiti Std B</vt:lpstr>
      <vt:lpstr>Agency FB</vt:lpstr>
      <vt:lpstr>Bradley Hand ITC</vt:lpstr>
      <vt:lpstr>Adobe Heiti Std R</vt:lpstr>
      <vt:lpstr>Bauhaus 93</vt:lpstr>
      <vt:lpstr>Brush Script Std</vt:lpstr>
      <vt:lpstr>Office Theme</vt:lpstr>
      <vt:lpstr>How do we know?</vt:lpstr>
      <vt:lpstr>Listen and look as we go through the following and then be ready to answer some related questions.</vt:lpstr>
      <vt:lpstr>There is evidence to support the theory that Homo Sapien Sapiens migrated and slowly populated most of the planet.  </vt:lpstr>
      <vt:lpstr>Slide 4</vt:lpstr>
      <vt:lpstr>We can tell how long ago humans came to an area by finding the clues they left behind and using different scientific methods to date these clues</vt:lpstr>
      <vt:lpstr>Possible clues include…</vt:lpstr>
      <vt:lpstr>Dating of Artefacts</vt:lpstr>
      <vt:lpstr>Radio-carbon dating</vt:lpstr>
      <vt:lpstr>Dendrochronology (tree ring dating)</vt:lpstr>
      <vt:lpstr>Stratigraphy</vt:lpstr>
      <vt:lpstr>How do we know about early humans?</vt:lpstr>
      <vt:lpstr>Footprints at Lake Mungo NSW show evidence of early humans in Australia</vt:lpstr>
      <vt:lpstr>Prehistoric graves- more evidence of early humans</vt:lpstr>
      <vt:lpstr>Ancient Tools</vt:lpstr>
      <vt:lpstr>Ancient and Prehistoric Homes</vt:lpstr>
      <vt:lpstr>Artworks- evidence of our ancestors</vt:lpstr>
      <vt:lpstr>Ancient Texts</vt:lpstr>
      <vt:lpstr>Slide 18</vt:lpstr>
      <vt:lpstr>Slide 19</vt:lpstr>
      <vt:lpstr>Archaeologists have been able to decipher some ancient writing but not others:</vt:lpstr>
      <vt:lpstr>No one has yet been able to decipher the “Linear A” text from the ancient Minoans on Crete  because we do not know their language.  There are some similarities to the later Mycenaean “Linear B”  though which may be a clue to help eventually solve this puzzle.</vt:lpstr>
      <vt:lpstr>Slide 22</vt:lpstr>
      <vt:lpstr>    From the different clues found, the following has been discovered about early humans based on evidence:  *The earliest humans and their ancestors probably emerged in Africa.  Skeletal remains indicate this.  *Humans were able to migrate out of Africa and spread due to lower seal levels in the last ice age that meant our continents were joined by land bridges that are now underwater.   </vt:lpstr>
      <vt:lpstr>Slide 24</vt:lpstr>
      <vt:lpstr>   *Humans have been in Europe for at least 27 000 years based on evidence such as cave paintings and artefacts such as the “Willendorf Venus”.  *Sometimes early humans didn’t get along as shown by some people who died from weapon wounds.  *Homo sapien sapiens made weapons, tools and jewellery.  Early materials included stone, bone and obsidian (volcanic glass). Later (around 9500 BCE copper was discovered &amp; used by beating natural ore).  * By 6000 BCE humans had learned to smelt copper.  *Over time techniques, tools and knowledge became more sophisticated as bronze then iron were discovered.  </vt:lpstr>
      <vt:lpstr>Copy and Answer the following based on what you have just learned:</vt:lpstr>
      <vt:lpstr>Check your answers:</vt:lpstr>
      <vt:lpstr>What do you think?  Copy and complete the following:</vt:lpstr>
      <vt:lpstr>Source Analysis</vt:lpstr>
      <vt:lpstr>Source 1- Clay bison sculptures from Tuc d’Audobert Cave France are 10 000 to 14 000 years old</vt:lpstr>
      <vt:lpstr>Slide 31</vt:lpstr>
      <vt:lpstr>Slide 32</vt:lpstr>
      <vt:lpstr>Slide 33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we know?</dc:title>
  <dc:creator>Mehmet, Carol</dc:creator>
  <cp:lastModifiedBy>DET</cp:lastModifiedBy>
  <cp:revision>48</cp:revision>
  <dcterms:created xsi:type="dcterms:W3CDTF">2006-08-16T00:00:00Z</dcterms:created>
  <dcterms:modified xsi:type="dcterms:W3CDTF">2014-02-06T12:12:34Z</dcterms:modified>
</cp:coreProperties>
</file>
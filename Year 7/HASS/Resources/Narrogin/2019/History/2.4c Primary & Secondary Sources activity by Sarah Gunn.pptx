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61" r:id="rId5"/>
    <p:sldId id="262" r:id="rId6"/>
    <p:sldId id="263" r:id="rId7"/>
    <p:sldId id="265" r:id="rId8"/>
    <p:sldId id="264" r:id="rId9"/>
    <p:sldId id="267" r:id="rId10"/>
    <p:sldId id="268" r:id="rId11"/>
    <p:sldId id="269" r:id="rId12"/>
    <p:sldId id="258" r:id="rId13"/>
    <p:sldId id="260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BA4F8-01BC-43F6-91C1-0ED00A42BA94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B7FCD-D23C-4F42-A95B-0E9271A8D01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F05A8-2BBD-442C-8A33-F0DE33D9B807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110EB-5BE8-4189-ABB9-4A11E55DE63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5B6F8F-24C0-4EF6-A1A6-BA0EA6585884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52B51-6E71-46AC-99A0-A7A1BCEC4C2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1F7AA-02AF-4536-A169-E50D110D646A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25032-1461-4CE0-93AF-34EB7103F7E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2A51F-8C50-4955-BDD9-B2093A4BD3D6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405F86-A4B0-4122-A82D-B528F047AE0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F1B53-3967-4659-8111-0B15918CCCBF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4C73E-A4C7-4863-8334-1D8BFF114DB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F0871-2BA1-46A5-92B0-F857001CD104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73F12-486F-44E3-AFDA-E5C0C048DCD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57FE3-5B25-49CC-B6F3-1A42155DF0F0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F299B-5B7B-45C2-B9F7-F141018A10F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BD077-B852-4075-9EA4-7EA2F9A8075E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ABD7E-ED80-4D4D-8050-8037690013A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2A9A4-44BA-4093-870E-B2291B159726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E1E92-EB89-480F-9DC9-5F0B42F12AF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E4729-01BE-4009-BEB7-4F5C564B4203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31E5B0-AAC1-44C1-9066-4FB4D4F89AA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A0C1557-4A71-47BC-B8C4-1FCE61CED3F4}" type="datetimeFigureOut">
              <a:rPr lang="en-AU"/>
              <a:pPr>
                <a:defRPr/>
              </a:pPr>
              <a:t>14/01/2015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44E5AD5-07E4-4BC2-9C59-4430517FE3E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prezi.com/pwtldbkerrkx/primary-and-secondary-sources-presentatio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ctrTitle"/>
          </p:nvPr>
        </p:nvSpPr>
        <p:spPr>
          <a:xfrm>
            <a:off x="684213" y="-242888"/>
            <a:ext cx="7772400" cy="1470026"/>
          </a:xfrm>
        </p:spPr>
        <p:txBody>
          <a:bodyPr/>
          <a:lstStyle/>
          <a:p>
            <a:r>
              <a:rPr lang="en-AU" sz="3600" b="1" u="sng" smtClean="0">
                <a:solidFill>
                  <a:srgbClr val="002060"/>
                </a:solidFill>
              </a:rPr>
              <a:t>Primary &amp; Secondary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388" y="1949450"/>
            <a:ext cx="4159250" cy="4892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600" b="1" u="sng" dirty="0">
                <a:latin typeface="+mn-lt"/>
              </a:rPr>
              <a:t>Starter: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2600" dirty="0">
                <a:latin typeface="+mn-lt"/>
              </a:rPr>
              <a:t>Imagine you’re a historian trying to find out about Ice Age life &amp; you’ve discovered these </a:t>
            </a:r>
            <a:r>
              <a:rPr lang="en-AU" sz="2600" b="1" dirty="0">
                <a:latin typeface="+mn-lt"/>
              </a:rPr>
              <a:t>artefacts.</a:t>
            </a:r>
            <a:endParaRPr lang="en-AU" sz="2600" dirty="0">
              <a:latin typeface="+mn-lt"/>
            </a:endParaRP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AU" sz="2600" dirty="0">
                <a:latin typeface="+mn-lt"/>
              </a:rPr>
              <a:t>Are they useful?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AU" sz="2600" dirty="0">
                <a:latin typeface="+mn-lt"/>
              </a:rPr>
              <a:t>Can these artefacts tell you anything about the lifestyle of the people who created &amp; used them?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AU" sz="2600" dirty="0">
                <a:latin typeface="+mn-lt"/>
              </a:rPr>
              <a:t>If so, </a:t>
            </a:r>
            <a:r>
              <a:rPr lang="en-AU" sz="2600" i="1" dirty="0">
                <a:latin typeface="+mn-lt"/>
              </a:rPr>
              <a:t>what? </a:t>
            </a:r>
          </a:p>
        </p:txBody>
      </p:sp>
      <p:pic>
        <p:nvPicPr>
          <p:cNvPr id="13317" name="Picture 11"/>
          <p:cNvPicPr>
            <a:picLocks noChangeAspect="1"/>
          </p:cNvPicPr>
          <p:nvPr/>
        </p:nvPicPr>
        <p:blipFill>
          <a:blip r:embed="rId2"/>
          <a:srcRect l="18163" t="1244" r="19720" b="3098"/>
          <a:stretch>
            <a:fillRect/>
          </a:stretch>
        </p:blipFill>
        <p:spPr bwMode="auto">
          <a:xfrm>
            <a:off x="7827963" y="2109788"/>
            <a:ext cx="1285875" cy="471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12"/>
          <p:cNvPicPr>
            <a:picLocks noChangeAspect="1"/>
          </p:cNvPicPr>
          <p:nvPr/>
        </p:nvPicPr>
        <p:blipFill>
          <a:blip r:embed="rId3"/>
          <a:srcRect l="2757" t="3188" r="7379"/>
          <a:stretch>
            <a:fillRect/>
          </a:stretch>
        </p:blipFill>
        <p:spPr bwMode="auto">
          <a:xfrm>
            <a:off x="4570413" y="4598988"/>
            <a:ext cx="3382962" cy="218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TextBox 13"/>
          <p:cNvSpPr txBox="1">
            <a:spLocks noChangeArrowheads="1"/>
          </p:cNvSpPr>
          <p:nvPr/>
        </p:nvSpPr>
        <p:spPr bwMode="auto">
          <a:xfrm>
            <a:off x="4716463" y="2271713"/>
            <a:ext cx="2879725" cy="2124075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2200" b="1">
                <a:latin typeface="Calibri" pitchFamily="34" charset="0"/>
              </a:rPr>
              <a:t>Ice Age weapons</a:t>
            </a:r>
            <a:r>
              <a:rPr lang="en-AU" sz="2200">
                <a:latin typeface="Calibri" pitchFamily="34" charset="0"/>
              </a:rPr>
              <a:t>: flint points lashed to wooden handles and a harpoon made from an antler. </a:t>
            </a:r>
            <a:r>
              <a:rPr lang="en-AU" sz="2200" b="1">
                <a:latin typeface="Calibri" pitchFamily="34" charset="0"/>
              </a:rPr>
              <a:t>Between 18 000  &amp; 10 000 BCE.   </a:t>
            </a:r>
          </a:p>
        </p:txBody>
      </p:sp>
      <p:sp>
        <p:nvSpPr>
          <p:cNvPr id="13320" name="TextBox 14"/>
          <p:cNvSpPr txBox="1">
            <a:spLocks noChangeArrowheads="1"/>
          </p:cNvSpPr>
          <p:nvPr/>
        </p:nvSpPr>
        <p:spPr bwMode="auto">
          <a:xfrm>
            <a:off x="4491038" y="2070100"/>
            <a:ext cx="4654550" cy="471963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r>
              <a:rPr lang="en-AU" sz="3600" b="1" u="sng" smtClean="0">
                <a:solidFill>
                  <a:srgbClr val="002060"/>
                </a:solidFill>
              </a:rPr>
              <a:t>What’s the difference between primary &amp; secondary sources?: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8088"/>
            <a:ext cx="8229600" cy="533400"/>
          </a:xfrm>
        </p:spPr>
        <p:txBody>
          <a:bodyPr rtlCol="0">
            <a:normAutofit/>
          </a:bodyPr>
          <a:lstStyle/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sz="2000" dirty="0" smtClean="0">
                <a:hlinkClick r:id="rId2"/>
              </a:rPr>
              <a:t>http://prezi.com/pwtldbkerrkx/primary-and-secondary-sources-presentation/</a:t>
            </a:r>
            <a:endParaRPr lang="en-AU" sz="2000" dirty="0" smtClean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 smtClean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AU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07950" y="1741488"/>
            <a:ext cx="4176713" cy="458628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2400" b="1" u="sng">
                <a:latin typeface="Calibri" pitchFamily="34" charset="0"/>
              </a:rPr>
              <a:t>Primary Source:</a:t>
            </a:r>
          </a:p>
          <a:p>
            <a:r>
              <a:rPr lang="en-AU" sz="2500" i="1">
                <a:latin typeface="Calibri" pitchFamily="34" charset="0"/>
              </a:rPr>
              <a:t>An authentic document or original item that was produced at the time of the events you are studying. </a:t>
            </a:r>
          </a:p>
          <a:p>
            <a:r>
              <a:rPr lang="en-AU" sz="2400">
                <a:latin typeface="Calibri" pitchFamily="34" charset="0"/>
              </a:rPr>
              <a:t>It was created by someone who lived at the time and is therefore a great source of records or evidence. </a:t>
            </a:r>
            <a:r>
              <a:rPr lang="en-AU" sz="2400" b="1" u="sng">
                <a:latin typeface="Calibri" pitchFamily="34" charset="0"/>
              </a:rPr>
              <a:t> </a:t>
            </a:r>
          </a:p>
          <a:p>
            <a:r>
              <a:rPr lang="en-AU" sz="2400" b="1" u="sng">
                <a:latin typeface="Calibri" pitchFamily="34" charset="0"/>
              </a:rPr>
              <a:t>E.g- The Great Pyramid of Giza is a primary source from Ancient Egypt. 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72000" y="1741488"/>
            <a:ext cx="4464050" cy="4894262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2400" b="1" u="sng">
                <a:latin typeface="Calibri" pitchFamily="34" charset="0"/>
              </a:rPr>
              <a:t>Secondary Source:</a:t>
            </a:r>
          </a:p>
          <a:p>
            <a:r>
              <a:rPr lang="en-AU" sz="2400" i="1">
                <a:latin typeface="Calibri" pitchFamily="34" charset="0"/>
              </a:rPr>
              <a:t>A description, report or recording about the past that was produced after the events being studied took place. </a:t>
            </a:r>
          </a:p>
          <a:p>
            <a:r>
              <a:rPr lang="en-AU" sz="2400">
                <a:latin typeface="Calibri" pitchFamily="34" charset="0"/>
              </a:rPr>
              <a:t>It may contain an opinion, as the author may have wanted to express their point of view on the topic. </a:t>
            </a:r>
            <a:r>
              <a:rPr lang="en-AU" sz="2400" b="1" u="sng">
                <a:latin typeface="Calibri" pitchFamily="34" charset="0"/>
              </a:rPr>
              <a:t> </a:t>
            </a:r>
          </a:p>
          <a:p>
            <a:r>
              <a:rPr lang="en-AU" sz="2400" b="1" u="sng">
                <a:latin typeface="Calibri" pitchFamily="34" charset="0"/>
              </a:rPr>
              <a:t>E.g- An encyclopaedia article about the Great Pyramid of Giza is a secondary source on Ancient Egypt.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smtClean="0">
                <a:solidFill>
                  <a:srgbClr val="002060"/>
                </a:solidFill>
              </a:rPr>
              <a:t>Are </a:t>
            </a:r>
            <a:r>
              <a:rPr lang="en-AU" b="1" i="1" u="sng" smtClean="0">
                <a:solidFill>
                  <a:srgbClr val="002060"/>
                </a:solidFill>
              </a:rPr>
              <a:t>YOU</a:t>
            </a:r>
            <a:r>
              <a:rPr lang="en-AU" b="1" u="sng" smtClean="0">
                <a:solidFill>
                  <a:srgbClr val="002060"/>
                </a:solidFill>
              </a:rPr>
              <a:t> Source-Savvy? </a:t>
            </a: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107950" y="1268413"/>
            <a:ext cx="8856663" cy="3960812"/>
          </a:xfrm>
        </p:spPr>
        <p:txBody>
          <a:bodyPr/>
          <a:lstStyle/>
          <a:p>
            <a:r>
              <a:rPr lang="en-AU" b="1" smtClean="0"/>
              <a:t>Class competition time! </a:t>
            </a:r>
          </a:p>
          <a:p>
            <a:r>
              <a:rPr lang="en-AU" smtClean="0"/>
              <a:t>Your teacher will give you an A4, laminated, red/blue laminated card. </a:t>
            </a:r>
          </a:p>
          <a:p>
            <a:r>
              <a:rPr lang="en-AU" smtClean="0"/>
              <a:t>8 pictures of a mixture of primary or secondary sources will flash up on the screen. For each one, you need to hold up your </a:t>
            </a:r>
            <a:r>
              <a:rPr lang="en-AU" b="1" smtClean="0">
                <a:solidFill>
                  <a:srgbClr val="FF0000"/>
                </a:solidFill>
              </a:rPr>
              <a:t>RED CARD</a:t>
            </a:r>
            <a:r>
              <a:rPr lang="en-AU" b="1" smtClean="0"/>
              <a:t> </a:t>
            </a:r>
            <a:r>
              <a:rPr lang="en-AU" smtClean="0"/>
              <a:t>for </a:t>
            </a:r>
            <a:r>
              <a:rPr lang="en-AU" b="1" smtClean="0">
                <a:solidFill>
                  <a:srgbClr val="FF0000"/>
                </a:solidFill>
              </a:rPr>
              <a:t>PRIMARY SOURCE</a:t>
            </a:r>
            <a:r>
              <a:rPr lang="en-AU" b="1" smtClean="0"/>
              <a:t> </a:t>
            </a:r>
            <a:r>
              <a:rPr lang="en-AU" smtClean="0"/>
              <a:t>or </a:t>
            </a:r>
            <a:r>
              <a:rPr lang="en-AU" b="1" smtClean="0">
                <a:solidFill>
                  <a:srgbClr val="0070C0"/>
                </a:solidFill>
              </a:rPr>
              <a:t>BLUE CARD</a:t>
            </a:r>
            <a:r>
              <a:rPr lang="en-AU" smtClean="0">
                <a:solidFill>
                  <a:srgbClr val="0070C0"/>
                </a:solidFill>
              </a:rPr>
              <a:t> </a:t>
            </a:r>
            <a:r>
              <a:rPr lang="en-AU" smtClean="0"/>
              <a:t>for </a:t>
            </a:r>
            <a:r>
              <a:rPr lang="en-AU" b="1" smtClean="0">
                <a:solidFill>
                  <a:srgbClr val="0070C0"/>
                </a:solidFill>
              </a:rPr>
              <a:t>SECONDARY SOURCE</a:t>
            </a:r>
            <a:r>
              <a:rPr lang="en-AU" smtClean="0"/>
              <a:t>. </a:t>
            </a:r>
          </a:p>
        </p:txBody>
      </p:sp>
      <p:sp>
        <p:nvSpPr>
          <p:cNvPr id="15363" name="TextBox 3"/>
          <p:cNvSpPr txBox="1">
            <a:spLocks noChangeArrowheads="1"/>
          </p:cNvSpPr>
          <p:nvPr/>
        </p:nvSpPr>
        <p:spPr bwMode="auto">
          <a:xfrm>
            <a:off x="323850" y="5229225"/>
            <a:ext cx="8640763" cy="1692275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2600" b="1">
                <a:latin typeface="Calibri" pitchFamily="34" charset="0"/>
              </a:rPr>
              <a:t>Careful, though! You MUST be sure of your decision. Your teacher will be choosing people at random to JUSTIFY their answer. (Explain why they think what they do). So don’t just be a crowd follower!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smtClean="0">
                <a:latin typeface="Aharoni"/>
                <a:ea typeface="Aharoni"/>
                <a:cs typeface="Aharoni"/>
              </a:rPr>
              <a:t>Greek Parthenon. 447 BCE.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23825" y="1557338"/>
            <a:ext cx="8896350" cy="5189537"/>
          </a:xfr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11413" y="2781300"/>
            <a:ext cx="4681537" cy="280035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8800" b="1">
                <a:solidFill>
                  <a:schemeClr val="bg1"/>
                </a:solidFill>
                <a:latin typeface="Adobe Fangsong Std R" pitchFamily="18" charset="-128"/>
                <a:ea typeface="Adobe Fangsong Std R" pitchFamily="18" charset="-128"/>
              </a:rPr>
              <a:t>Primary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AU" u="sng" dirty="0" smtClean="0">
                <a:latin typeface="Aharoni" panose="02010803020104030203" pitchFamily="2" charset="-79"/>
                <a:cs typeface="Aharoni" panose="02010803020104030203" pitchFamily="2" charset="-79"/>
              </a:rPr>
              <a:t>1789 Illustration of Ancient Roman water </a:t>
            </a:r>
            <a:r>
              <a:rPr lang="en-AU" u="sng" dirty="0"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  <a:r>
              <a:rPr lang="en-AU" u="sng" dirty="0" smtClean="0">
                <a:latin typeface="Aharoni" panose="02010803020104030203" pitchFamily="2" charset="-79"/>
                <a:cs typeface="Aharoni" panose="02010803020104030203" pitchFamily="2" charset="-79"/>
              </a:rPr>
              <a:t>ump. </a:t>
            </a:r>
            <a:endParaRPr lang="en-AU" u="sng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79613" y="1417638"/>
            <a:ext cx="5616575" cy="5395912"/>
          </a:xfr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835150" y="2560638"/>
            <a:ext cx="5761038" cy="280035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8800" b="1">
                <a:solidFill>
                  <a:schemeClr val="bg1"/>
                </a:solidFill>
                <a:latin typeface="Adobe Fangsong Std R" pitchFamily="18" charset="-128"/>
                <a:ea typeface="Adobe Fangsong Std R" pitchFamily="18" charset="-128"/>
              </a:rPr>
              <a:t>Secondary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smtClean="0">
                <a:latin typeface="Aharoni"/>
                <a:ea typeface="Aharoni"/>
                <a:cs typeface="Aharoni"/>
              </a:rPr>
              <a:t>Ancient hieroglyphic script.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r="2222" b="2599"/>
          <a:stretch>
            <a:fillRect/>
          </a:stretch>
        </p:blipFill>
        <p:spPr>
          <a:xfrm>
            <a:off x="1331913" y="1249363"/>
            <a:ext cx="6480175" cy="5597525"/>
          </a:xfr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411413" y="2781300"/>
            <a:ext cx="4681537" cy="280035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8800" b="1">
                <a:solidFill>
                  <a:schemeClr val="bg1"/>
                </a:solidFill>
                <a:latin typeface="Adobe Fangsong Std R" pitchFamily="18" charset="-128"/>
                <a:ea typeface="Adobe Fangsong Std R" pitchFamily="18" charset="-128"/>
              </a:rPr>
              <a:t>Primary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smtClean="0">
                <a:latin typeface="Aharoni"/>
                <a:ea typeface="Aharoni"/>
                <a:cs typeface="Aharoni"/>
              </a:rPr>
              <a:t>Peruvian earth drawings: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562100" y="1274763"/>
            <a:ext cx="6019800" cy="5591175"/>
          </a:xfr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32025" y="2741613"/>
            <a:ext cx="4679950" cy="280035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8800" b="1">
                <a:solidFill>
                  <a:schemeClr val="bg1"/>
                </a:solidFill>
                <a:latin typeface="Adobe Fangsong Std R" pitchFamily="18" charset="-128"/>
                <a:ea typeface="Adobe Fangsong Std R" pitchFamily="18" charset="-128"/>
              </a:rPr>
              <a:t>Primary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AU" b="1" u="sng" dirty="0" smtClean="0">
                <a:latin typeface="Aharoni" panose="02010803020104030203" pitchFamily="2" charset="-79"/>
                <a:cs typeface="Aharoni" panose="02010803020104030203" pitchFamily="2" charset="-79"/>
              </a:rPr>
              <a:t>Map showing the site of ancient Peruvian earth drawings </a:t>
            </a:r>
            <a:endParaRPr lang="en-AU" b="1" u="sng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555875" y="1557338"/>
            <a:ext cx="4032250" cy="5210175"/>
          </a:xfr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835150" y="2560638"/>
            <a:ext cx="5761038" cy="280035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8800" b="1">
                <a:solidFill>
                  <a:schemeClr val="bg1"/>
                </a:solidFill>
                <a:latin typeface="Adobe Fangsong Std R" pitchFamily="18" charset="-128"/>
                <a:ea typeface="Adobe Fangsong Std R" pitchFamily="18" charset="-128"/>
              </a:rPr>
              <a:t>Secondary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smtClean="0">
                <a:latin typeface="Aharoni"/>
                <a:ea typeface="Aharoni"/>
                <a:cs typeface="Aharoni"/>
              </a:rPr>
              <a:t>Remains of the Titanic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4805"/>
          <a:stretch>
            <a:fillRect/>
          </a:stretch>
        </p:blipFill>
        <p:spPr bwMode="auto">
          <a:xfrm>
            <a:off x="201613" y="1398588"/>
            <a:ext cx="8740775" cy="467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32025" y="2347913"/>
            <a:ext cx="4679950" cy="280035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8800" b="1">
                <a:solidFill>
                  <a:schemeClr val="bg1"/>
                </a:solidFill>
                <a:latin typeface="Adobe Fangsong Std R" pitchFamily="18" charset="-128"/>
                <a:ea typeface="Adobe Fangsong Std R" pitchFamily="18" charset="-128"/>
              </a:rPr>
              <a:t>Primary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274638"/>
            <a:ext cx="8362950" cy="17145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AU" b="1" u="sng" dirty="0" smtClean="0"/>
              <a:t>Thucydides, Ancient Greek general, writing about the Peloponnesian War </a:t>
            </a:r>
            <a:r>
              <a:rPr lang="en-AU" b="1" i="1" u="sng" dirty="0" smtClean="0"/>
              <a:t>at the time.  </a:t>
            </a:r>
            <a:endParaRPr lang="en-AU" b="1" i="1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276600" y="2200275"/>
            <a:ext cx="2663825" cy="4635500"/>
          </a:xfr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11413" y="2781300"/>
            <a:ext cx="4681537" cy="280035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8800" b="1">
                <a:solidFill>
                  <a:schemeClr val="bg1"/>
                </a:solidFill>
                <a:latin typeface="Adobe Fangsong Std R" pitchFamily="18" charset="-128"/>
                <a:ea typeface="Adobe Fangsong Std R" pitchFamily="18" charset="-128"/>
              </a:rPr>
              <a:t>Primary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AU" b="1" u="sng" dirty="0" smtClean="0">
                <a:latin typeface="Aharoni" panose="02010803020104030203" pitchFamily="2" charset="-79"/>
                <a:cs typeface="Aharoni" panose="02010803020104030203" pitchFamily="2" charset="-79"/>
              </a:rPr>
              <a:t>YOU, creating a screencast on the Peloponnesian War.</a:t>
            </a:r>
            <a:endParaRPr lang="en-AU" b="1" u="sng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8538" y="1773238"/>
            <a:ext cx="4824412" cy="475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835150" y="2560638"/>
            <a:ext cx="5761038" cy="280035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8800" b="1">
                <a:solidFill>
                  <a:schemeClr val="bg1"/>
                </a:solidFill>
                <a:latin typeface="Adobe Fangsong Std R" pitchFamily="18" charset="-128"/>
                <a:ea typeface="Adobe Fangsong Std R" pitchFamily="18" charset="-128"/>
              </a:rPr>
              <a:t>Secondary 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484188" y="0"/>
            <a:ext cx="8229600" cy="1143000"/>
          </a:xfrm>
        </p:spPr>
        <p:txBody>
          <a:bodyPr/>
          <a:lstStyle/>
          <a:p>
            <a:r>
              <a:rPr lang="en-AU" b="1" u="sng" smtClean="0">
                <a:solidFill>
                  <a:srgbClr val="002060"/>
                </a:solidFill>
              </a:rPr>
              <a:t>Task: </a:t>
            </a: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250825" y="1706563"/>
            <a:ext cx="4259263" cy="4525962"/>
          </a:xfrm>
        </p:spPr>
        <p:txBody>
          <a:bodyPr/>
          <a:lstStyle/>
          <a:p>
            <a:r>
              <a:rPr lang="en-AU" i="1" smtClean="0"/>
              <a:t>Historical Information- where does it come from? </a:t>
            </a:r>
          </a:p>
          <a:p>
            <a:r>
              <a:rPr lang="en-AU" smtClean="0"/>
              <a:t>Trim, glue and have your pencil ready- we will go through this worksheet together as a class.  </a:t>
            </a:r>
          </a:p>
        </p:txBody>
      </p:sp>
      <p:pic>
        <p:nvPicPr>
          <p:cNvPr id="24579" name="Picture 2" descr="https://images.bookworld.com.au/images/bau/97814425/9781442534377/0/0/plain/pearson-history-year-7-activity-boo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32363" y="1268413"/>
            <a:ext cx="3810000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468313" y="-100013"/>
            <a:ext cx="8229600" cy="1143001"/>
          </a:xfrm>
        </p:spPr>
        <p:txBody>
          <a:bodyPr/>
          <a:lstStyle/>
          <a:p>
            <a:r>
              <a:rPr lang="en-AU" b="1" u="sng" smtClean="0">
                <a:solidFill>
                  <a:srgbClr val="002060"/>
                </a:solidFill>
              </a:rPr>
              <a:t>Plenary: Exit Card </a:t>
            </a:r>
          </a:p>
        </p:txBody>
      </p:sp>
      <p:pic>
        <p:nvPicPr>
          <p:cNvPr id="25602" name="Picture 2" descr="http://t1.gstatic.com/images?q=tbn:ANd9GcT-5d7bs6PfYIHPHTg0lYc1UiMbMwSmdIjGexzuLpu6a5-GtBUMvGHfCFa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2663" y="908050"/>
            <a:ext cx="7199312" cy="404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TextBox 3"/>
          <p:cNvSpPr txBox="1">
            <a:spLocks noChangeArrowheads="1"/>
          </p:cNvSpPr>
          <p:nvPr/>
        </p:nvSpPr>
        <p:spPr bwMode="auto">
          <a:xfrm>
            <a:off x="153988" y="5157788"/>
            <a:ext cx="8856662" cy="1568450"/>
          </a:xfrm>
          <a:prstGeom prst="rect">
            <a:avLst/>
          </a:prstGeom>
          <a:noFill/>
          <a:ln w="57150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3200" b="1">
                <a:latin typeface="Calibri" pitchFamily="34" charset="0"/>
              </a:rPr>
              <a:t>A letter from an American soldier to his family during WWII, c 1942. </a:t>
            </a:r>
          </a:p>
          <a:p>
            <a:pPr algn="ctr"/>
            <a:r>
              <a:rPr lang="en-AU" sz="3200" b="1" i="1" u="sng">
                <a:latin typeface="Calibri" pitchFamily="34" charset="0"/>
              </a:rPr>
              <a:t>Primary or Secondary source? Why?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444</Words>
  <Application>Microsoft Office PowerPoint</Application>
  <PresentationFormat>On-screen Show (4:3)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Adobe Fangsong Std R</vt:lpstr>
      <vt:lpstr>Aharoni</vt:lpstr>
      <vt:lpstr>Arial</vt:lpstr>
      <vt:lpstr>Calibri</vt:lpstr>
      <vt:lpstr>Office Theme</vt:lpstr>
      <vt:lpstr>Primary &amp; Secondary Sources</vt:lpstr>
      <vt:lpstr>What’s the difference between primary &amp; secondary sources?: </vt:lpstr>
      <vt:lpstr>Are YOU Source-Savvy? </vt:lpstr>
      <vt:lpstr>Greek Parthenon. 447 BCE. </vt:lpstr>
      <vt:lpstr>1789 Illustration of Ancient Roman water pump. </vt:lpstr>
      <vt:lpstr>Ancient hieroglyphic script. </vt:lpstr>
      <vt:lpstr>Peruvian earth drawings: </vt:lpstr>
      <vt:lpstr>Map showing the site of ancient Peruvian earth drawings </vt:lpstr>
      <vt:lpstr>Remains of the Titanic</vt:lpstr>
      <vt:lpstr>Thucydides, Ancient Greek general, writing about the Peloponnesian War at the time.  </vt:lpstr>
      <vt:lpstr>YOU, creating a screencast on the Peloponnesian War.</vt:lpstr>
      <vt:lpstr>Task: </vt:lpstr>
      <vt:lpstr>Plenary: Exit Card </vt:lpstr>
    </vt:vector>
  </TitlesOfParts>
  <Company>St Laurence's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Primary &amp; Secondary Sources</dc:title>
  <dc:creator>Sarah Gunn</dc:creator>
  <cp:lastModifiedBy>Joe Elson</cp:lastModifiedBy>
  <cp:revision>25</cp:revision>
  <dcterms:created xsi:type="dcterms:W3CDTF">2013-01-16T06:57:26Z</dcterms:created>
  <dcterms:modified xsi:type="dcterms:W3CDTF">2015-01-14T05:16:43Z</dcterms:modified>
</cp:coreProperties>
</file>
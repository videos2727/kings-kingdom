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1"/>
  </p:sldMasterIdLst>
  <p:sldIdLst>
    <p:sldId id="281" r:id="rId2"/>
    <p:sldId id="282" r:id="rId3"/>
    <p:sldId id="261" r:id="rId4"/>
    <p:sldId id="262" r:id="rId5"/>
    <p:sldId id="256" r:id="rId6"/>
    <p:sldId id="275" r:id="rId7"/>
    <p:sldId id="257" r:id="rId8"/>
    <p:sldId id="276" r:id="rId9"/>
    <p:sldId id="259" r:id="rId10"/>
    <p:sldId id="260" r:id="rId11"/>
    <p:sldId id="277" r:id="rId12"/>
    <p:sldId id="278" r:id="rId13"/>
    <p:sldId id="264" r:id="rId14"/>
    <p:sldId id="279" r:id="rId15"/>
    <p:sldId id="280" r:id="rId16"/>
    <p:sldId id="270" r:id="rId17"/>
    <p:sldId id="274" r:id="rId18"/>
    <p:sldId id="285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286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449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1476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71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2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07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38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57261"/>
            <a:ext cx="3840480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0"/>
            <a:ext cx="6172200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" y="2621512"/>
            <a:ext cx="3840480" cy="3236976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784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600" y="640080"/>
            <a:ext cx="6248398" cy="558414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920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0765" y="642931"/>
            <a:ext cx="2446670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42932"/>
            <a:ext cx="7070678" cy="467810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36187" y="5927131"/>
            <a:ext cx="3814856" cy="365125"/>
          </a:xfrm>
        </p:spPr>
        <p:txBody>
          <a:bodyPr/>
          <a:lstStyle/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6187" y="6315949"/>
            <a:ext cx="381485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/>
          <a:lstStyle/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  <p:cxnSp>
        <p:nvCxnSpPr>
          <p:cNvPr id="13" name="Straight Connector 12" title="Horizontal Rule Line"/>
          <p:cNvCxnSpPr/>
          <p:nvPr/>
        </p:nvCxnSpPr>
        <p:spPr>
          <a:xfrm>
            <a:off x="0" y="6199730"/>
            <a:ext cx="10260011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5086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4F9F8A64-56EF-4F12-A544-D9665455A7AC}" type="datetimeFigureOut">
              <a:rPr lang="en-AU" smtClean="0"/>
              <a:t>10/05/2019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311620BF-A96E-4EE5-8B8E-8BE9D12E25A2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73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3" Type="http://schemas.openxmlformats.org/officeDocument/2006/relationships/image" Target="../media/image4.jpg"/><Relationship Id="rId7" Type="http://schemas.openxmlformats.org/officeDocument/2006/relationships/image" Target="../media/image8.jpeg"/><Relationship Id="rId12" Type="http://schemas.openxmlformats.org/officeDocument/2006/relationships/image" Target="../media/image13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5" Type="http://schemas.openxmlformats.org/officeDocument/2006/relationships/image" Target="../media/image6.jpe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3" Type="http://schemas.openxmlformats.org/officeDocument/2006/relationships/image" Target="../media/image4.jpg"/><Relationship Id="rId7" Type="http://schemas.openxmlformats.org/officeDocument/2006/relationships/image" Target="../media/image8.jpeg"/><Relationship Id="rId12" Type="http://schemas.openxmlformats.org/officeDocument/2006/relationships/image" Target="../media/image13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5" Type="http://schemas.openxmlformats.org/officeDocument/2006/relationships/image" Target="../media/image6.jpe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eg"/><Relationship Id="rId3" Type="http://schemas.openxmlformats.org/officeDocument/2006/relationships/image" Target="../media/image4.jpg"/><Relationship Id="rId21" Type="http://schemas.openxmlformats.org/officeDocument/2006/relationships/image" Target="../media/image22.jpeg"/><Relationship Id="rId7" Type="http://schemas.openxmlformats.org/officeDocument/2006/relationships/image" Target="../media/image8.jpeg"/><Relationship Id="rId12" Type="http://schemas.openxmlformats.org/officeDocument/2006/relationships/image" Target="../media/image13.jpg"/><Relationship Id="rId17" Type="http://schemas.openxmlformats.org/officeDocument/2006/relationships/image" Target="../media/image18.jpeg"/><Relationship Id="rId25" Type="http://schemas.openxmlformats.org/officeDocument/2006/relationships/image" Target="../media/image26.jpe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gif"/><Relationship Id="rId5" Type="http://schemas.openxmlformats.org/officeDocument/2006/relationships/image" Target="../media/image6.jpeg"/><Relationship Id="rId15" Type="http://schemas.openxmlformats.org/officeDocument/2006/relationships/image" Target="../media/image16.jpe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eg"/><Relationship Id="rId4" Type="http://schemas.openxmlformats.org/officeDocument/2006/relationships/image" Target="../media/image5.jpg"/><Relationship Id="rId9" Type="http://schemas.openxmlformats.org/officeDocument/2006/relationships/image" Target="../media/image10.jpeg"/><Relationship Id="rId14" Type="http://schemas.openxmlformats.org/officeDocument/2006/relationships/image" Target="../media/image15.jpg"/><Relationship Id="rId22" Type="http://schemas.openxmlformats.org/officeDocument/2006/relationships/image" Target="../media/image23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eg"/><Relationship Id="rId3" Type="http://schemas.openxmlformats.org/officeDocument/2006/relationships/image" Target="../media/image4.jpg"/><Relationship Id="rId21" Type="http://schemas.openxmlformats.org/officeDocument/2006/relationships/image" Target="../media/image22.jpeg"/><Relationship Id="rId7" Type="http://schemas.openxmlformats.org/officeDocument/2006/relationships/image" Target="../media/image8.jpeg"/><Relationship Id="rId12" Type="http://schemas.openxmlformats.org/officeDocument/2006/relationships/image" Target="../media/image13.jpg"/><Relationship Id="rId17" Type="http://schemas.openxmlformats.org/officeDocument/2006/relationships/image" Target="../media/image18.jpeg"/><Relationship Id="rId25" Type="http://schemas.openxmlformats.org/officeDocument/2006/relationships/image" Target="../media/image26.jpe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gif"/><Relationship Id="rId5" Type="http://schemas.openxmlformats.org/officeDocument/2006/relationships/image" Target="../media/image6.jpeg"/><Relationship Id="rId15" Type="http://schemas.openxmlformats.org/officeDocument/2006/relationships/image" Target="../media/image16.jpe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eg"/><Relationship Id="rId4" Type="http://schemas.openxmlformats.org/officeDocument/2006/relationships/image" Target="../media/image5.jpg"/><Relationship Id="rId9" Type="http://schemas.openxmlformats.org/officeDocument/2006/relationships/image" Target="../media/image10.jpeg"/><Relationship Id="rId14" Type="http://schemas.openxmlformats.org/officeDocument/2006/relationships/image" Target="../media/image15.jpg"/><Relationship Id="rId22" Type="http://schemas.openxmlformats.org/officeDocument/2006/relationships/image" Target="../media/image23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3" Type="http://schemas.openxmlformats.org/officeDocument/2006/relationships/image" Target="../media/image4.jpg"/><Relationship Id="rId7" Type="http://schemas.openxmlformats.org/officeDocument/2006/relationships/image" Target="../media/image8.jpeg"/><Relationship Id="rId12" Type="http://schemas.openxmlformats.org/officeDocument/2006/relationships/image" Target="../media/image13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5" Type="http://schemas.openxmlformats.org/officeDocument/2006/relationships/image" Target="../media/image6.jpe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LYECIjmnQ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Tod1moy8VZM&amp;feature=related" TargetMode="External"/><Relationship Id="rId2" Type="http://schemas.openxmlformats.org/officeDocument/2006/relationships/hyperlink" Target="http://dictionary.reference.com/browse/entrepreneu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arey.jhu.edu/one/2010/fall/the-mind-of-the-entrepreneur/" TargetMode="External"/><Relationship Id="rId4" Type="http://schemas.openxmlformats.org/officeDocument/2006/relationships/hyperlink" Target="http://andysacker.com/the-top-3-rules-on-becoming-a-rebel-entrepreneu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756" y="133082"/>
            <a:ext cx="8069251" cy="6051939"/>
          </a:xfrm>
        </p:spPr>
      </p:pic>
      <p:sp>
        <p:nvSpPr>
          <p:cNvPr id="2" name="Rectangle 1"/>
          <p:cNvSpPr/>
          <p:nvPr/>
        </p:nvSpPr>
        <p:spPr>
          <a:xfrm>
            <a:off x="3176954" y="4607169"/>
            <a:ext cx="5744308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5400" b="1" dirty="0" smtClean="0"/>
              <a:t>????</a:t>
            </a:r>
            <a:endParaRPr lang="en-AU" sz="5400" b="1" dirty="0"/>
          </a:p>
        </p:txBody>
      </p:sp>
      <p:sp>
        <p:nvSpPr>
          <p:cNvPr id="3" name="Rectangle 2"/>
          <p:cNvSpPr/>
          <p:nvPr/>
        </p:nvSpPr>
        <p:spPr>
          <a:xfrm rot="19976432">
            <a:off x="512347" y="772403"/>
            <a:ext cx="3187091" cy="923330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Who am I?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505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756" y="133082"/>
            <a:ext cx="8069251" cy="6051939"/>
          </a:xfrm>
        </p:spPr>
      </p:pic>
    </p:spTree>
    <p:extLst>
      <p:ext uri="{BB962C8B-B14F-4D97-AF65-F5344CB8AC3E}">
        <p14:creationId xmlns:p14="http://schemas.microsoft.com/office/powerpoint/2010/main" val="378141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0" y="-304801"/>
            <a:ext cx="12293600" cy="81063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242" y="5558593"/>
            <a:ext cx="7153022" cy="3112394"/>
          </a:xfrm>
        </p:spPr>
        <p:txBody>
          <a:bodyPr>
            <a:noAutofit/>
          </a:bodyPr>
          <a:lstStyle/>
          <a:p>
            <a:r>
              <a:rPr lang="en-AU" sz="4400" dirty="0" smtClean="0"/>
              <a:t>Entrepreneur’s and their Characteristics!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32900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61375"/>
            <a:ext cx="11659809" cy="4379987"/>
          </a:xfrm>
        </p:spPr>
        <p:txBody>
          <a:bodyPr>
            <a:normAutofit lnSpcReduction="10000"/>
          </a:bodyPr>
          <a:lstStyle/>
          <a:p>
            <a:r>
              <a:rPr lang="en-US" sz="3600" b="1" dirty="0" smtClean="0"/>
              <a:t>Title: </a:t>
            </a:r>
            <a:r>
              <a:rPr lang="en-US" sz="3600" dirty="0" smtClean="0"/>
              <a:t>Entrepreneurs and their Characteristics</a:t>
            </a:r>
          </a:p>
          <a:p>
            <a:r>
              <a:rPr lang="en-US" sz="3600" b="1" dirty="0" smtClean="0"/>
              <a:t>Learning Intention: </a:t>
            </a:r>
            <a:r>
              <a:rPr lang="en-US" sz="3600" dirty="0" smtClean="0"/>
              <a:t>Understand that Entrepreneurs </a:t>
            </a:r>
            <a:r>
              <a:rPr lang="en-US" sz="3600" dirty="0"/>
              <a:t>and their unique characteristics are important to businesses and their success</a:t>
            </a:r>
            <a:endParaRPr lang="en-AU" sz="3600" dirty="0"/>
          </a:p>
          <a:p>
            <a:r>
              <a:rPr lang="en-US" sz="3600" b="1" dirty="0" smtClean="0"/>
              <a:t>Success Criteria: </a:t>
            </a:r>
            <a:r>
              <a:rPr lang="en-US" sz="3600" dirty="0" smtClean="0"/>
              <a:t>Explain </a:t>
            </a:r>
            <a:r>
              <a:rPr lang="en-US" sz="3600" dirty="0"/>
              <a:t>what the term entrepreneur means and provide examples of well-known entrepreneurs.</a:t>
            </a:r>
            <a:endParaRPr lang="en-AU" sz="3600" dirty="0"/>
          </a:p>
          <a:p>
            <a:pPr marL="0" indent="0">
              <a:buNone/>
            </a:pP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2:00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1:59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1:58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1:57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1:56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1:55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1:54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1:53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1:52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1:51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1:50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1:49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1:48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1:47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1:46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1:45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1:44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1:43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1:42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1:41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1:40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1:39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1:38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1:37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1:36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1:35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1:34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1:33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1:32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1:31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1:30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1:29</a:t>
            </a: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1:28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1:27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1:26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1:25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1:24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1:23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1:22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1:21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1:20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1:19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1:18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1:17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1:16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1:15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1:14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1:13</a:t>
            </a:r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1:12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1:11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1:10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1:09</a:t>
            </a: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1:08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1:07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1:06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1:05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1:04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1:03</a:t>
            </a: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1:02</a:t>
            </a: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1:01</a:t>
            </a: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9322935" y="343127"/>
            <a:ext cx="2376487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1:00</a:t>
            </a: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0:59</a:t>
            </a: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0:58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0:57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0:56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0:55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0:54</a:t>
            </a:r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0:53</a:t>
            </a: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0:52</a:t>
            </a:r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0:51</a:t>
            </a:r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0:50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0:49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0:48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0:47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0:46</a:t>
            </a:r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0:45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0:44</a:t>
            </a:r>
          </a:p>
        </p:txBody>
      </p:sp>
      <p:sp>
        <p:nvSpPr>
          <p:cNvPr id="83" name="Rectangle 82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0:43</a:t>
            </a:r>
          </a:p>
        </p:txBody>
      </p:sp>
      <p:sp>
        <p:nvSpPr>
          <p:cNvPr id="84" name="Rectangle 83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0:42</a:t>
            </a:r>
          </a:p>
        </p:txBody>
      </p:sp>
      <p:sp>
        <p:nvSpPr>
          <p:cNvPr id="85" name="Rectangle 84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0:41</a:t>
            </a:r>
          </a:p>
        </p:txBody>
      </p:sp>
      <p:sp>
        <p:nvSpPr>
          <p:cNvPr id="86" name="Rectangle 85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0:40</a:t>
            </a:r>
          </a:p>
        </p:txBody>
      </p:sp>
      <p:sp>
        <p:nvSpPr>
          <p:cNvPr id="87" name="Rectangle 86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0:39</a:t>
            </a:r>
          </a:p>
        </p:txBody>
      </p:sp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0:38</a:t>
            </a:r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0:37</a:t>
            </a: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0:36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0:35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0:34</a:t>
            </a:r>
          </a:p>
        </p:txBody>
      </p:sp>
      <p:sp>
        <p:nvSpPr>
          <p:cNvPr id="93" name="Rectangle 92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0:33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0:32</a:t>
            </a: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0:31</a:t>
            </a: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0:30</a:t>
            </a:r>
          </a:p>
        </p:txBody>
      </p:sp>
      <p:sp>
        <p:nvSpPr>
          <p:cNvPr id="97" name="Rectangle 96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0:29</a:t>
            </a:r>
          </a:p>
        </p:txBody>
      </p:sp>
      <p:sp>
        <p:nvSpPr>
          <p:cNvPr id="98" name="Rectangle 97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0:28</a:t>
            </a:r>
          </a:p>
        </p:txBody>
      </p:sp>
      <p:sp>
        <p:nvSpPr>
          <p:cNvPr id="99" name="Rectangle 98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0:27</a:t>
            </a:r>
          </a:p>
        </p:txBody>
      </p:sp>
      <p:sp>
        <p:nvSpPr>
          <p:cNvPr id="100" name="Rectangle 99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0:26</a:t>
            </a:r>
          </a:p>
        </p:txBody>
      </p:sp>
      <p:sp>
        <p:nvSpPr>
          <p:cNvPr id="101" name="Rectangle 100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0:25</a:t>
            </a:r>
          </a:p>
        </p:txBody>
      </p:sp>
      <p:sp>
        <p:nvSpPr>
          <p:cNvPr id="102" name="Rectangle 101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0:24</a:t>
            </a:r>
          </a:p>
        </p:txBody>
      </p:sp>
      <p:sp>
        <p:nvSpPr>
          <p:cNvPr id="103" name="Rectangle 102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0:23</a:t>
            </a:r>
          </a:p>
        </p:txBody>
      </p:sp>
      <p:sp>
        <p:nvSpPr>
          <p:cNvPr id="104" name="Rectangle 103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0:22</a:t>
            </a:r>
          </a:p>
        </p:txBody>
      </p:sp>
      <p:sp>
        <p:nvSpPr>
          <p:cNvPr id="105" name="Rectangle 104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0:21</a:t>
            </a:r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0:20</a:t>
            </a:r>
          </a:p>
        </p:txBody>
      </p:sp>
      <p:sp>
        <p:nvSpPr>
          <p:cNvPr id="107" name="Rectangle 106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0:19</a:t>
            </a:r>
          </a:p>
        </p:txBody>
      </p:sp>
      <p:sp>
        <p:nvSpPr>
          <p:cNvPr id="108" name="Rectangle 107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0:18</a:t>
            </a:r>
          </a:p>
        </p:txBody>
      </p:sp>
      <p:sp>
        <p:nvSpPr>
          <p:cNvPr id="109" name="Rectangle 108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0:17</a:t>
            </a:r>
          </a:p>
        </p:txBody>
      </p:sp>
      <p:sp>
        <p:nvSpPr>
          <p:cNvPr id="110" name="Rectangle 109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0:16</a:t>
            </a:r>
          </a:p>
        </p:txBody>
      </p:sp>
      <p:sp>
        <p:nvSpPr>
          <p:cNvPr id="111" name="Rectangle 110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0:15</a:t>
            </a:r>
          </a:p>
        </p:txBody>
      </p:sp>
      <p:sp>
        <p:nvSpPr>
          <p:cNvPr id="112" name="Rectangle 111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0:14</a:t>
            </a:r>
          </a:p>
        </p:txBody>
      </p:sp>
      <p:sp>
        <p:nvSpPr>
          <p:cNvPr id="113" name="Rectangle 112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0:13</a:t>
            </a:r>
          </a:p>
        </p:txBody>
      </p:sp>
      <p:sp>
        <p:nvSpPr>
          <p:cNvPr id="114" name="Rectangle 113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0:12</a:t>
            </a:r>
          </a:p>
        </p:txBody>
      </p:sp>
      <p:sp>
        <p:nvSpPr>
          <p:cNvPr id="115" name="Rectangle 114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0:11</a:t>
            </a:r>
          </a:p>
        </p:txBody>
      </p:sp>
      <p:sp>
        <p:nvSpPr>
          <p:cNvPr id="116" name="Rectangle 115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0:10</a:t>
            </a:r>
          </a:p>
        </p:txBody>
      </p:sp>
      <p:sp>
        <p:nvSpPr>
          <p:cNvPr id="117" name="Rectangle 116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0:09</a:t>
            </a:r>
          </a:p>
        </p:txBody>
      </p:sp>
      <p:sp>
        <p:nvSpPr>
          <p:cNvPr id="118" name="Rectangle 117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0:08</a:t>
            </a:r>
          </a:p>
        </p:txBody>
      </p:sp>
      <p:sp>
        <p:nvSpPr>
          <p:cNvPr id="119" name="Rectangle 118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0:07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0:06</a:t>
            </a:r>
          </a:p>
        </p:txBody>
      </p:sp>
      <p:sp>
        <p:nvSpPr>
          <p:cNvPr id="121" name="Rectangle 120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0:05</a:t>
            </a:r>
          </a:p>
        </p:txBody>
      </p:sp>
      <p:sp>
        <p:nvSpPr>
          <p:cNvPr id="122" name="Rectangle 121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0:04</a:t>
            </a:r>
          </a:p>
        </p:txBody>
      </p:sp>
      <p:sp>
        <p:nvSpPr>
          <p:cNvPr id="123" name="Rectangle 122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0:03</a:t>
            </a:r>
          </a:p>
        </p:txBody>
      </p:sp>
      <p:sp>
        <p:nvSpPr>
          <p:cNvPr id="124" name="Rectangle 123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0:02</a:t>
            </a:r>
          </a:p>
        </p:txBody>
      </p:sp>
      <p:sp>
        <p:nvSpPr>
          <p:cNvPr id="125" name="Rectangle 124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0:01</a:t>
            </a:r>
          </a:p>
        </p:txBody>
      </p:sp>
      <p:sp>
        <p:nvSpPr>
          <p:cNvPr id="126" name="Rectangle 125"/>
          <p:cNvSpPr>
            <a:spLocks noChangeArrowheads="1"/>
          </p:cNvSpPr>
          <p:nvPr/>
        </p:nvSpPr>
        <p:spPr bwMode="auto">
          <a:xfrm>
            <a:off x="9324522" y="343127"/>
            <a:ext cx="2376488" cy="10445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7880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4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8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1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4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8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8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9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0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1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3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4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65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6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7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8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69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70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71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2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730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4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50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6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70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8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9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810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8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830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84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8500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6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70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88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89000"/>
                            </p:stCondLst>
                            <p:childTnLst>
                              <p:par>
                                <p:cTn id="2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90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910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92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93000"/>
                            </p:stCondLst>
                            <p:childTnLst>
                              <p:par>
                                <p:cTn id="28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94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95000"/>
                            </p:stCondLst>
                            <p:childTnLst>
                              <p:par>
                                <p:cTn id="29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96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97000"/>
                            </p:stCondLst>
                            <p:childTnLst>
                              <p:par>
                                <p:cTn id="29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98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99000"/>
                            </p:stCondLst>
                            <p:childTnLst>
                              <p:par>
                                <p:cTn id="30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01000"/>
                            </p:stCondLst>
                            <p:childTnLst>
                              <p:par>
                                <p:cTn id="3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03000"/>
                            </p:stCondLst>
                            <p:childTnLst>
                              <p:par>
                                <p:cTn id="3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04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5000"/>
                            </p:stCondLst>
                            <p:childTnLst>
                              <p:par>
                                <p:cTn id="3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6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7000"/>
                            </p:stCondLst>
                            <p:childTnLst>
                              <p:par>
                                <p:cTn id="3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08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090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10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11000"/>
                            </p:stCondLst>
                            <p:childTnLst>
                              <p:par>
                                <p:cTn id="3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12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13000"/>
                            </p:stCondLst>
                            <p:childTnLst>
                              <p:par>
                                <p:cTn id="3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14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15000"/>
                            </p:stCondLst>
                            <p:childTnLst>
                              <p:par>
                                <p:cTn id="3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16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17000"/>
                            </p:stCondLst>
                            <p:childTnLst>
                              <p:par>
                                <p:cTn id="3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8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19000"/>
                            </p:stCondLst>
                            <p:childTnLst>
                              <p:par>
                                <p:cTn id="3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355917"/>
            <a:ext cx="1541780" cy="116268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755" y="355917"/>
            <a:ext cx="1009650" cy="134620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5" t="-1" r="10338" b="732"/>
          <a:stretch/>
        </p:blipFill>
        <p:spPr bwMode="auto">
          <a:xfrm>
            <a:off x="3656330" y="355917"/>
            <a:ext cx="1516380" cy="1377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1" y="1947545"/>
            <a:ext cx="1185230" cy="1412876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968" y="1883411"/>
            <a:ext cx="1214438" cy="147701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095" y="1883410"/>
            <a:ext cx="1316672" cy="1477011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19100"/>
          <a:stretch/>
        </p:blipFill>
        <p:spPr bwMode="auto">
          <a:xfrm>
            <a:off x="172322" y="3636964"/>
            <a:ext cx="1514475" cy="1360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/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0" b="4044"/>
          <a:stretch/>
        </p:blipFill>
        <p:spPr bwMode="auto">
          <a:xfrm>
            <a:off x="1834832" y="3704274"/>
            <a:ext cx="1801495" cy="1292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96" y="3509964"/>
            <a:ext cx="1068070" cy="1487170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62" y="5065396"/>
            <a:ext cx="1473835" cy="147383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18"/>
          <a:stretch/>
        </p:blipFill>
        <p:spPr bwMode="auto">
          <a:xfrm>
            <a:off x="1873409" y="5320665"/>
            <a:ext cx="1519555" cy="1145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24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97" y="5184140"/>
            <a:ext cx="1106170" cy="1418590"/>
          </a:xfrm>
          <a:prstGeom prst="rect">
            <a:avLst/>
          </a:prstGeom>
        </p:spPr>
      </p:pic>
      <p:sp>
        <p:nvSpPr>
          <p:cNvPr id="26" name="Title 3"/>
          <p:cNvSpPr txBox="1">
            <a:spLocks/>
          </p:cNvSpPr>
          <p:nvPr/>
        </p:nvSpPr>
        <p:spPr>
          <a:xfrm>
            <a:off x="5881926" y="1033718"/>
            <a:ext cx="5834742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700" b="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Do any of these people Look familiar?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57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355917"/>
            <a:ext cx="1541780" cy="116268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755" y="355917"/>
            <a:ext cx="1009650" cy="134620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5" t="-1" r="10338" b="732"/>
          <a:stretch/>
        </p:blipFill>
        <p:spPr bwMode="auto">
          <a:xfrm>
            <a:off x="3656330" y="355917"/>
            <a:ext cx="1516380" cy="1377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1" y="1947545"/>
            <a:ext cx="1185230" cy="1412876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968" y="1883411"/>
            <a:ext cx="1214438" cy="147701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095" y="1883410"/>
            <a:ext cx="1316672" cy="1477011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19100"/>
          <a:stretch/>
        </p:blipFill>
        <p:spPr bwMode="auto">
          <a:xfrm>
            <a:off x="172322" y="3636964"/>
            <a:ext cx="1514475" cy="1360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/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0" b="4044"/>
          <a:stretch/>
        </p:blipFill>
        <p:spPr bwMode="auto">
          <a:xfrm>
            <a:off x="1834832" y="3704274"/>
            <a:ext cx="1801495" cy="1292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96" y="3509964"/>
            <a:ext cx="1068070" cy="1487170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62" y="5065396"/>
            <a:ext cx="1473835" cy="147383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18"/>
          <a:stretch/>
        </p:blipFill>
        <p:spPr bwMode="auto">
          <a:xfrm>
            <a:off x="1873409" y="5320665"/>
            <a:ext cx="1519555" cy="1145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24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97" y="5184140"/>
            <a:ext cx="1106170" cy="1418590"/>
          </a:xfrm>
          <a:prstGeom prst="rect">
            <a:avLst/>
          </a:prstGeom>
        </p:spPr>
      </p:pic>
      <p:sp>
        <p:nvSpPr>
          <p:cNvPr id="26" name="Title 3"/>
          <p:cNvSpPr txBox="1">
            <a:spLocks/>
          </p:cNvSpPr>
          <p:nvPr/>
        </p:nvSpPr>
        <p:spPr>
          <a:xfrm>
            <a:off x="5572205" y="955368"/>
            <a:ext cx="5834742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700" b="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What do they have in common?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386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355917"/>
            <a:ext cx="1541780" cy="116268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755" y="355917"/>
            <a:ext cx="1009650" cy="134620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5" t="-1" r="10338" b="732"/>
          <a:stretch/>
        </p:blipFill>
        <p:spPr bwMode="auto">
          <a:xfrm>
            <a:off x="3656330" y="355917"/>
            <a:ext cx="1516380" cy="1377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1" y="1947545"/>
            <a:ext cx="1185230" cy="1412876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968" y="1883411"/>
            <a:ext cx="1214438" cy="147701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095" y="1883410"/>
            <a:ext cx="1316672" cy="1477011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19100"/>
          <a:stretch/>
        </p:blipFill>
        <p:spPr bwMode="auto">
          <a:xfrm>
            <a:off x="172322" y="3636964"/>
            <a:ext cx="1514475" cy="1360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/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0" b="4044"/>
          <a:stretch/>
        </p:blipFill>
        <p:spPr bwMode="auto">
          <a:xfrm>
            <a:off x="1834832" y="3704274"/>
            <a:ext cx="1801495" cy="1292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96" y="3509964"/>
            <a:ext cx="1068070" cy="1487170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62" y="5065396"/>
            <a:ext cx="1473835" cy="147383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18"/>
          <a:stretch/>
        </p:blipFill>
        <p:spPr bwMode="auto">
          <a:xfrm>
            <a:off x="1873409" y="5320665"/>
            <a:ext cx="1519555" cy="1145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24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97" y="5184140"/>
            <a:ext cx="1106170" cy="1418590"/>
          </a:xfrm>
          <a:prstGeom prst="rect">
            <a:avLst/>
          </a:prstGeom>
        </p:spPr>
      </p:pic>
      <p:pic>
        <p:nvPicPr>
          <p:cNvPr id="50" name="Picture 49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770" y="363771"/>
            <a:ext cx="1682021" cy="1154831"/>
          </a:xfrm>
          <a:prstGeom prst="rect">
            <a:avLst/>
          </a:prstGeom>
        </p:spPr>
      </p:pic>
      <p:pic>
        <p:nvPicPr>
          <p:cNvPr id="51" name="Picture 50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039" y="2039372"/>
            <a:ext cx="833755" cy="974725"/>
          </a:xfrm>
          <a:prstGeom prst="rect">
            <a:avLst/>
          </a:prstGeom>
        </p:spPr>
      </p:pic>
      <p:pic>
        <p:nvPicPr>
          <p:cNvPr id="52" name="Picture 51"/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58" y="540959"/>
            <a:ext cx="2277208" cy="568952"/>
          </a:xfrm>
          <a:prstGeom prst="rect">
            <a:avLst/>
          </a:prstGeom>
        </p:spPr>
      </p:pic>
      <p:pic>
        <p:nvPicPr>
          <p:cNvPr id="53" name="Picture 52"/>
          <p:cNvPicPr/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01" y="493246"/>
            <a:ext cx="1333500" cy="887730"/>
          </a:xfrm>
          <a:prstGeom prst="rect">
            <a:avLst/>
          </a:prstGeom>
        </p:spPr>
      </p:pic>
      <p:pic>
        <p:nvPicPr>
          <p:cNvPr id="54" name="Picture 53"/>
          <p:cNvPicPr/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048" y="2039372"/>
            <a:ext cx="1436370" cy="1076960"/>
          </a:xfrm>
          <a:prstGeom prst="rect">
            <a:avLst/>
          </a:prstGeom>
        </p:spPr>
      </p:pic>
      <p:pic>
        <p:nvPicPr>
          <p:cNvPr id="55" name="Picture 54"/>
          <p:cNvPicPr/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984" y="3763665"/>
            <a:ext cx="1660049" cy="1301731"/>
          </a:xfrm>
          <a:prstGeom prst="rect">
            <a:avLst/>
          </a:prstGeom>
        </p:spPr>
      </p:pic>
      <p:pic>
        <p:nvPicPr>
          <p:cNvPr id="56" name="Picture 55"/>
          <p:cNvPicPr/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342" y="3696701"/>
            <a:ext cx="1761093" cy="1036116"/>
          </a:xfrm>
          <a:prstGeom prst="rect">
            <a:avLst/>
          </a:prstGeom>
        </p:spPr>
      </p:pic>
      <p:pic>
        <p:nvPicPr>
          <p:cNvPr id="57" name="Picture 56"/>
          <p:cNvPicPr/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074" y="5143500"/>
            <a:ext cx="1499870" cy="1499870"/>
          </a:xfrm>
          <a:prstGeom prst="rect">
            <a:avLst/>
          </a:prstGeom>
        </p:spPr>
      </p:pic>
      <p:pic>
        <p:nvPicPr>
          <p:cNvPr id="58" name="Picture 57"/>
          <p:cNvPicPr/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353" y="3749949"/>
            <a:ext cx="1087120" cy="1087120"/>
          </a:xfrm>
          <a:prstGeom prst="rect">
            <a:avLst/>
          </a:prstGeom>
        </p:spPr>
      </p:pic>
      <p:pic>
        <p:nvPicPr>
          <p:cNvPr id="59" name="Picture 58"/>
          <p:cNvPicPr/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567" y="5602055"/>
            <a:ext cx="1889704" cy="582760"/>
          </a:xfrm>
          <a:prstGeom prst="rect">
            <a:avLst/>
          </a:prstGeom>
        </p:spPr>
      </p:pic>
      <p:pic>
        <p:nvPicPr>
          <p:cNvPr id="60" name="Picture 59"/>
          <p:cNvPicPr/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063" y="1953647"/>
            <a:ext cx="1248410" cy="1248410"/>
          </a:xfrm>
          <a:prstGeom prst="rect">
            <a:avLst/>
          </a:prstGeom>
        </p:spPr>
      </p:pic>
      <p:pic>
        <p:nvPicPr>
          <p:cNvPr id="61" name="Picture 60"/>
          <p:cNvPicPr/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323" y="5210810"/>
            <a:ext cx="1637665" cy="11830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89397" y="1128100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60718" y="1149166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78435" y="1280500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 smtClean="0"/>
              <a:t>3</a:t>
            </a:r>
            <a:endParaRPr lang="en-AU" sz="2000" dirty="0"/>
          </a:p>
        </p:txBody>
      </p:sp>
      <p:sp>
        <p:nvSpPr>
          <p:cNvPr id="76" name="Rectangle 75"/>
          <p:cNvSpPr/>
          <p:nvPr/>
        </p:nvSpPr>
        <p:spPr>
          <a:xfrm>
            <a:off x="98475" y="2833296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73409" y="2859681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48343" y="2788424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48031" y="4518507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90032" y="4437185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7313" y="4544564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0309" y="6132204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32098" y="6101310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798516" y="6184815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1691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71" y="559678"/>
            <a:ext cx="4218535" cy="4952492"/>
          </a:xfrm>
        </p:spPr>
        <p:txBody>
          <a:bodyPr/>
          <a:lstStyle/>
          <a:p>
            <a:r>
              <a:rPr lang="en-AU" dirty="0" smtClean="0"/>
              <a:t>Match the Entrepreneur with the logo/business they are known for!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2:00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1:59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1:58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1:57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1:56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1:55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1:54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1:53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1:52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1:51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1:50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1:49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1:48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1:47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1:46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1:45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1:44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1:43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1:42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1:41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1:40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1:39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1:38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1:37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1:36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1:35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1:34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1:33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1:32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1:31</a:t>
            </a: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1:30</a:t>
            </a: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1:29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1:28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1:27</a:t>
            </a: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1:26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1:25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1:24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1:23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1:22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1:21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1:20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1:19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1:18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1:17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1:16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1:15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1:14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1:13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1:12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1:11</a:t>
            </a:r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1:10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1:09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1:08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1:07</a:t>
            </a: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1:06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1:05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1:04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1:03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1:02</a:t>
            </a: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1:01</a:t>
            </a: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6391049" y="2534784"/>
            <a:ext cx="3535134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1:00</a:t>
            </a: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0:59</a:t>
            </a: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0:58</a:t>
            </a: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0:57</a:t>
            </a: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0:56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0:55</a:t>
            </a: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0:54</a:t>
            </a: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0:53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0:52</a:t>
            </a:r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0:51</a:t>
            </a: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0:50</a:t>
            </a:r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0:49</a:t>
            </a:r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0:48</a:t>
            </a:r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0:47</a:t>
            </a:r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0:46</a:t>
            </a:r>
          </a:p>
        </p:txBody>
      </p:sp>
      <p:sp>
        <p:nvSpPr>
          <p:cNvPr id="79" name="Rectangle 78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0:45</a:t>
            </a:r>
          </a:p>
        </p:txBody>
      </p: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0:44</a:t>
            </a:r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0:43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0:42</a:t>
            </a:r>
          </a:p>
        </p:txBody>
      </p:sp>
      <p:sp>
        <p:nvSpPr>
          <p:cNvPr id="83" name="Rectangle 82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0:41</a:t>
            </a:r>
          </a:p>
        </p:txBody>
      </p:sp>
      <p:sp>
        <p:nvSpPr>
          <p:cNvPr id="84" name="Rectangle 83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0:40</a:t>
            </a:r>
          </a:p>
        </p:txBody>
      </p:sp>
      <p:sp>
        <p:nvSpPr>
          <p:cNvPr id="85" name="Rectangle 84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0:39</a:t>
            </a:r>
          </a:p>
        </p:txBody>
      </p:sp>
      <p:sp>
        <p:nvSpPr>
          <p:cNvPr id="86" name="Rectangle 85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0:38</a:t>
            </a:r>
          </a:p>
        </p:txBody>
      </p:sp>
      <p:sp>
        <p:nvSpPr>
          <p:cNvPr id="87" name="Rectangle 86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0:37</a:t>
            </a:r>
          </a:p>
        </p:txBody>
      </p:sp>
      <p:sp>
        <p:nvSpPr>
          <p:cNvPr id="88" name="Rectangle 87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0:36</a:t>
            </a:r>
          </a:p>
        </p:txBody>
      </p:sp>
      <p:sp>
        <p:nvSpPr>
          <p:cNvPr id="89" name="Rectangle 88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0:35</a:t>
            </a: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0:34</a:t>
            </a: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0:33</a:t>
            </a: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0:32</a:t>
            </a:r>
          </a:p>
        </p:txBody>
      </p:sp>
      <p:sp>
        <p:nvSpPr>
          <p:cNvPr id="93" name="Rectangle 92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0:31</a:t>
            </a:r>
          </a:p>
        </p:txBody>
      </p:sp>
      <p:sp>
        <p:nvSpPr>
          <p:cNvPr id="94" name="Rectangle 93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0:30</a:t>
            </a: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0:29</a:t>
            </a: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0:28</a:t>
            </a:r>
          </a:p>
        </p:txBody>
      </p:sp>
      <p:sp>
        <p:nvSpPr>
          <p:cNvPr id="97" name="Rectangle 96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0:27</a:t>
            </a:r>
          </a:p>
        </p:txBody>
      </p:sp>
      <p:sp>
        <p:nvSpPr>
          <p:cNvPr id="98" name="Rectangle 97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0:26</a:t>
            </a:r>
          </a:p>
        </p:txBody>
      </p:sp>
      <p:sp>
        <p:nvSpPr>
          <p:cNvPr id="99" name="Rectangle 98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0:25</a:t>
            </a:r>
          </a:p>
        </p:txBody>
      </p:sp>
      <p:sp>
        <p:nvSpPr>
          <p:cNvPr id="100" name="Rectangle 99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0:24</a:t>
            </a:r>
          </a:p>
        </p:txBody>
      </p:sp>
      <p:sp>
        <p:nvSpPr>
          <p:cNvPr id="101" name="Rectangle 100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0:23</a:t>
            </a:r>
          </a:p>
        </p:txBody>
      </p:sp>
      <p:sp>
        <p:nvSpPr>
          <p:cNvPr id="102" name="Rectangle 101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0:22</a:t>
            </a:r>
          </a:p>
        </p:txBody>
      </p:sp>
      <p:sp>
        <p:nvSpPr>
          <p:cNvPr id="103" name="Rectangle 102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0:21</a:t>
            </a:r>
          </a:p>
        </p:txBody>
      </p:sp>
      <p:sp>
        <p:nvSpPr>
          <p:cNvPr id="104" name="Rectangle 103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0:20</a:t>
            </a:r>
          </a:p>
        </p:txBody>
      </p:sp>
      <p:sp>
        <p:nvSpPr>
          <p:cNvPr id="105" name="Rectangle 104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0:19</a:t>
            </a:r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0:18</a:t>
            </a:r>
          </a:p>
        </p:txBody>
      </p:sp>
      <p:sp>
        <p:nvSpPr>
          <p:cNvPr id="107" name="Rectangle 106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0:17</a:t>
            </a:r>
          </a:p>
        </p:txBody>
      </p:sp>
      <p:sp>
        <p:nvSpPr>
          <p:cNvPr id="108" name="Rectangle 107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0:16</a:t>
            </a:r>
          </a:p>
        </p:txBody>
      </p:sp>
      <p:sp>
        <p:nvSpPr>
          <p:cNvPr id="109" name="Rectangle 108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0:15</a:t>
            </a:r>
          </a:p>
        </p:txBody>
      </p:sp>
      <p:sp>
        <p:nvSpPr>
          <p:cNvPr id="110" name="Rectangle 109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0:14</a:t>
            </a:r>
          </a:p>
        </p:txBody>
      </p:sp>
      <p:sp>
        <p:nvSpPr>
          <p:cNvPr id="111" name="Rectangle 110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0:13</a:t>
            </a:r>
          </a:p>
        </p:txBody>
      </p:sp>
      <p:sp>
        <p:nvSpPr>
          <p:cNvPr id="112" name="Rectangle 111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0:12</a:t>
            </a:r>
          </a:p>
        </p:txBody>
      </p:sp>
      <p:sp>
        <p:nvSpPr>
          <p:cNvPr id="113" name="Rectangle 112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0:11</a:t>
            </a:r>
          </a:p>
        </p:txBody>
      </p:sp>
      <p:sp>
        <p:nvSpPr>
          <p:cNvPr id="114" name="Rectangle 113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0:10</a:t>
            </a:r>
          </a:p>
        </p:txBody>
      </p:sp>
      <p:sp>
        <p:nvSpPr>
          <p:cNvPr id="115" name="Rectangle 114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0:09</a:t>
            </a:r>
          </a:p>
        </p:txBody>
      </p:sp>
      <p:sp>
        <p:nvSpPr>
          <p:cNvPr id="116" name="Rectangle 115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0:08</a:t>
            </a:r>
          </a:p>
        </p:txBody>
      </p:sp>
      <p:sp>
        <p:nvSpPr>
          <p:cNvPr id="117" name="Rectangle 116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0:07</a:t>
            </a:r>
          </a:p>
        </p:txBody>
      </p:sp>
      <p:sp>
        <p:nvSpPr>
          <p:cNvPr id="118" name="Rectangle 117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0:06</a:t>
            </a:r>
          </a:p>
        </p:txBody>
      </p:sp>
      <p:sp>
        <p:nvSpPr>
          <p:cNvPr id="119" name="Rectangle 118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0:05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0:04</a:t>
            </a:r>
          </a:p>
        </p:txBody>
      </p:sp>
      <p:sp>
        <p:nvSpPr>
          <p:cNvPr id="121" name="Rectangle 120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0:03</a:t>
            </a:r>
          </a:p>
        </p:txBody>
      </p:sp>
      <p:sp>
        <p:nvSpPr>
          <p:cNvPr id="122" name="Rectangle 121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0:02</a:t>
            </a:r>
          </a:p>
        </p:txBody>
      </p:sp>
      <p:sp>
        <p:nvSpPr>
          <p:cNvPr id="123" name="Rectangle 122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0:01</a:t>
            </a:r>
          </a:p>
        </p:txBody>
      </p:sp>
      <p:sp>
        <p:nvSpPr>
          <p:cNvPr id="124" name="Rectangle 123"/>
          <p:cNvSpPr>
            <a:spLocks noChangeArrowheads="1"/>
          </p:cNvSpPr>
          <p:nvPr/>
        </p:nvSpPr>
        <p:spPr bwMode="auto">
          <a:xfrm>
            <a:off x="6392635" y="2534784"/>
            <a:ext cx="3535135" cy="205173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660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8902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3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7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4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8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1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4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8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4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8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9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0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1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3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4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65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6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7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8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69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70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71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2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730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4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50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6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70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8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79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810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8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830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84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8500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6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70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88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89000"/>
                            </p:stCondLst>
                            <p:childTnLst>
                              <p:par>
                                <p:cTn id="2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90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910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92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93000"/>
                            </p:stCondLst>
                            <p:childTnLst>
                              <p:par>
                                <p:cTn id="28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94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95000"/>
                            </p:stCondLst>
                            <p:childTnLst>
                              <p:par>
                                <p:cTn id="29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96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97000"/>
                            </p:stCondLst>
                            <p:childTnLst>
                              <p:par>
                                <p:cTn id="29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98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99000"/>
                            </p:stCondLst>
                            <p:childTnLst>
                              <p:par>
                                <p:cTn id="30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01000"/>
                            </p:stCondLst>
                            <p:childTnLst>
                              <p:par>
                                <p:cTn id="3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03000"/>
                            </p:stCondLst>
                            <p:childTnLst>
                              <p:par>
                                <p:cTn id="3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04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5000"/>
                            </p:stCondLst>
                            <p:childTnLst>
                              <p:par>
                                <p:cTn id="3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6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07000"/>
                            </p:stCondLst>
                            <p:childTnLst>
                              <p:par>
                                <p:cTn id="3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108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090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10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11000"/>
                            </p:stCondLst>
                            <p:childTnLst>
                              <p:par>
                                <p:cTn id="3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12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13000"/>
                            </p:stCondLst>
                            <p:childTnLst>
                              <p:par>
                                <p:cTn id="3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14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15000"/>
                            </p:stCondLst>
                            <p:childTnLst>
                              <p:par>
                                <p:cTn id="3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16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117000"/>
                            </p:stCondLst>
                            <p:childTnLst>
                              <p:par>
                                <p:cTn id="3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8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19000"/>
                            </p:stCondLst>
                            <p:childTnLst>
                              <p:par>
                                <p:cTn id="3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3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355917"/>
            <a:ext cx="1541780" cy="116268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550" y="298451"/>
            <a:ext cx="1009650" cy="134620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5" t="-1" r="10338" b="732"/>
          <a:stretch/>
        </p:blipFill>
        <p:spPr bwMode="auto">
          <a:xfrm>
            <a:off x="7926465" y="406535"/>
            <a:ext cx="1516380" cy="1377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84" y="1915477"/>
            <a:ext cx="1185230" cy="1412876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769" y="1983934"/>
            <a:ext cx="1214438" cy="147701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731" y="2017162"/>
            <a:ext cx="1316672" cy="1477011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19100"/>
          <a:stretch/>
        </p:blipFill>
        <p:spPr bwMode="auto">
          <a:xfrm>
            <a:off x="172322" y="3636964"/>
            <a:ext cx="1514475" cy="1360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/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0" b="4044"/>
          <a:stretch/>
        </p:blipFill>
        <p:spPr bwMode="auto">
          <a:xfrm>
            <a:off x="3718609" y="3704274"/>
            <a:ext cx="1801495" cy="1292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65" y="3746749"/>
            <a:ext cx="1068070" cy="1487170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62" y="5065396"/>
            <a:ext cx="1473835" cy="147383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18"/>
          <a:stretch/>
        </p:blipFill>
        <p:spPr bwMode="auto">
          <a:xfrm>
            <a:off x="3869841" y="5393691"/>
            <a:ext cx="1519555" cy="1145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24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65" y="5257166"/>
            <a:ext cx="1106170" cy="1418590"/>
          </a:xfrm>
          <a:prstGeom prst="rect">
            <a:avLst/>
          </a:prstGeom>
        </p:spPr>
      </p:pic>
      <p:pic>
        <p:nvPicPr>
          <p:cNvPr id="50" name="Picture 49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297" y="3819311"/>
            <a:ext cx="1682021" cy="1154831"/>
          </a:xfrm>
          <a:prstGeom prst="rect">
            <a:avLst/>
          </a:prstGeom>
        </p:spPr>
      </p:pic>
      <p:pic>
        <p:nvPicPr>
          <p:cNvPr id="51" name="Picture 50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374" y="2052797"/>
            <a:ext cx="833755" cy="974725"/>
          </a:xfrm>
          <a:prstGeom prst="rect">
            <a:avLst/>
          </a:prstGeom>
        </p:spPr>
      </p:pic>
      <p:pic>
        <p:nvPicPr>
          <p:cNvPr id="52" name="Picture 51"/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100" y="811034"/>
            <a:ext cx="2277208" cy="568952"/>
          </a:xfrm>
          <a:prstGeom prst="rect">
            <a:avLst/>
          </a:prstGeom>
        </p:spPr>
      </p:pic>
      <p:pic>
        <p:nvPicPr>
          <p:cNvPr id="53" name="Picture 52"/>
          <p:cNvPicPr/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318" y="5651501"/>
            <a:ext cx="1333500" cy="887730"/>
          </a:xfrm>
          <a:prstGeom prst="rect">
            <a:avLst/>
          </a:prstGeom>
        </p:spPr>
      </p:pic>
      <p:pic>
        <p:nvPicPr>
          <p:cNvPr id="54" name="Picture 53"/>
          <p:cNvPicPr/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931" y="2160676"/>
            <a:ext cx="1436370" cy="1076960"/>
          </a:xfrm>
          <a:prstGeom prst="rect">
            <a:avLst/>
          </a:prstGeom>
        </p:spPr>
      </p:pic>
      <p:pic>
        <p:nvPicPr>
          <p:cNvPr id="55" name="Picture 54"/>
          <p:cNvPicPr/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984" y="3763665"/>
            <a:ext cx="1660049" cy="1301731"/>
          </a:xfrm>
          <a:prstGeom prst="rect">
            <a:avLst/>
          </a:prstGeom>
        </p:spPr>
      </p:pic>
      <p:pic>
        <p:nvPicPr>
          <p:cNvPr id="56" name="Picture 55"/>
          <p:cNvPicPr/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919" y="2228723"/>
            <a:ext cx="1761093" cy="1036116"/>
          </a:xfrm>
          <a:prstGeom prst="rect">
            <a:avLst/>
          </a:prstGeom>
        </p:spPr>
      </p:pic>
      <p:pic>
        <p:nvPicPr>
          <p:cNvPr id="57" name="Picture 56"/>
          <p:cNvPicPr/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104" y="221616"/>
            <a:ext cx="1499870" cy="1499870"/>
          </a:xfrm>
          <a:prstGeom prst="rect">
            <a:avLst/>
          </a:prstGeom>
        </p:spPr>
      </p:pic>
      <p:pic>
        <p:nvPicPr>
          <p:cNvPr id="58" name="Picture 57"/>
          <p:cNvPicPr/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584" y="3910014"/>
            <a:ext cx="1087120" cy="1087120"/>
          </a:xfrm>
          <a:prstGeom prst="rect">
            <a:avLst/>
          </a:prstGeom>
        </p:spPr>
      </p:pic>
      <p:pic>
        <p:nvPicPr>
          <p:cNvPr id="59" name="Picture 58"/>
          <p:cNvPicPr/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94" y="5599478"/>
            <a:ext cx="1889704" cy="582760"/>
          </a:xfrm>
          <a:prstGeom prst="rect">
            <a:avLst/>
          </a:prstGeom>
        </p:spPr>
      </p:pic>
      <p:pic>
        <p:nvPicPr>
          <p:cNvPr id="60" name="Picture 59"/>
          <p:cNvPicPr/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968" y="355917"/>
            <a:ext cx="1127262" cy="1153601"/>
          </a:xfrm>
          <a:prstGeom prst="rect">
            <a:avLst/>
          </a:prstGeom>
        </p:spPr>
      </p:pic>
      <p:pic>
        <p:nvPicPr>
          <p:cNvPr id="61" name="Picture 60"/>
          <p:cNvPicPr/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6161" y="5348370"/>
            <a:ext cx="1637665" cy="1183005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229408" y="1136476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41564" y="1257920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98735" y="1199475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3470" y="2882963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063162" y="2997599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678654" y="2983515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706384" y="4660533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9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86503" y="4590696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8508" y="4581115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000" dirty="0"/>
              <a:t>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2322" y="6044795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783704" y="6246726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54572" y="6193771"/>
            <a:ext cx="440162" cy="585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3866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5486" y="269392"/>
            <a:ext cx="5421086" cy="4952492"/>
          </a:xfrm>
        </p:spPr>
        <p:txBody>
          <a:bodyPr/>
          <a:lstStyle/>
          <a:p>
            <a:r>
              <a:rPr lang="en-AU" dirty="0" smtClean="0"/>
              <a:t>What is an Entrepreneur?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930401"/>
            <a:ext cx="9169758" cy="4110962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GB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“A person who organises, operates, and assumes the </a:t>
            </a:r>
            <a:r>
              <a:rPr lang="en-GB" sz="2800" dirty="0" smtClean="0">
                <a:solidFill>
                  <a:srgbClr val="9933FF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risk</a:t>
            </a:r>
            <a:r>
              <a:rPr lang="en-GB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 for a business venture”</a:t>
            </a:r>
          </a:p>
          <a:p>
            <a:pPr algn="ctr">
              <a:buNone/>
            </a:pPr>
            <a:endParaRPr lang="en-GB" sz="2800" dirty="0" smtClean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pPr algn="ctr">
              <a:buNone/>
            </a:pPr>
            <a:r>
              <a:rPr lang="en-GB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“A person who takes the risk in starting a </a:t>
            </a:r>
            <a:r>
              <a:rPr lang="en-GB" sz="2800" dirty="0" smtClean="0">
                <a:solidFill>
                  <a:srgbClr val="9933FF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new business</a:t>
            </a:r>
            <a:r>
              <a:rPr lang="en-GB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”</a:t>
            </a:r>
          </a:p>
          <a:p>
            <a:pPr algn="ctr">
              <a:buNone/>
            </a:pPr>
            <a:endParaRPr lang="en-GB" sz="2800" dirty="0" smtClean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pPr algn="ctr">
              <a:buNone/>
            </a:pPr>
            <a:r>
              <a:rPr lang="en-AU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“A</a:t>
            </a:r>
            <a:r>
              <a:rPr lang="en-AU" sz="2800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 person who </a:t>
            </a:r>
            <a:r>
              <a:rPr lang="en-AU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organises</a:t>
            </a:r>
            <a:r>
              <a:rPr lang="en-AU" sz="2800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 and manages any </a:t>
            </a:r>
            <a:endParaRPr lang="en-AU" sz="2800" dirty="0" smtClean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pPr algn="ctr">
              <a:buNone/>
            </a:pPr>
            <a:r>
              <a:rPr lang="en-AU" sz="2800" dirty="0" smtClean="0">
                <a:solidFill>
                  <a:srgbClr val="7030A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enterprise</a:t>
            </a:r>
            <a:r>
              <a:rPr lang="en-AU" sz="2800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, especially a </a:t>
            </a:r>
            <a:r>
              <a:rPr lang="en-AU" sz="28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business</a:t>
            </a:r>
            <a:r>
              <a:rPr lang="en-AU" sz="2800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, usually with </a:t>
            </a:r>
            <a:endParaRPr lang="en-AU" sz="2800" dirty="0" smtClean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pPr algn="ctr">
              <a:buNone/>
            </a:pPr>
            <a:r>
              <a:rPr lang="en-AU" sz="2800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c</a:t>
            </a:r>
            <a:r>
              <a:rPr lang="en-AU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onsiderable</a:t>
            </a:r>
            <a:r>
              <a:rPr lang="en-AU" sz="2800" dirty="0" smtClean="0">
                <a:solidFill>
                  <a:srgbClr val="7030A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 initiative</a:t>
            </a:r>
            <a:r>
              <a:rPr lang="en-AU" sz="2800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 and </a:t>
            </a:r>
            <a:r>
              <a:rPr lang="en-AU" sz="28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risk</a:t>
            </a:r>
            <a:r>
              <a:rPr lang="en-AU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.”</a:t>
            </a:r>
          </a:p>
          <a:p>
            <a:pPr algn="r">
              <a:buNone/>
            </a:pPr>
            <a:r>
              <a:rPr lang="en-AU" sz="17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(Dictionary.com, 2014)</a:t>
            </a:r>
            <a:endParaRPr lang="en-GB" sz="1700" dirty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472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5486" y="269392"/>
            <a:ext cx="5421086" cy="4952492"/>
          </a:xfrm>
        </p:spPr>
        <p:txBody>
          <a:bodyPr/>
          <a:lstStyle/>
          <a:p>
            <a:r>
              <a:rPr lang="en-AU" dirty="0" smtClean="0"/>
              <a:t>What is an Entrepreneur?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930401"/>
            <a:ext cx="9169758" cy="411096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Entrepreneur: an </a:t>
            </a:r>
            <a:r>
              <a:rPr lang="en-GB" sz="2800" b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innovative </a:t>
            </a:r>
            <a:r>
              <a:rPr lang="en-GB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person who sets out to build a successful business in a new field, often taking on </a:t>
            </a:r>
            <a:r>
              <a:rPr lang="en-GB" sz="2800" b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risks</a:t>
            </a:r>
            <a:r>
              <a:rPr lang="en-GB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 to do so. </a:t>
            </a:r>
            <a:endParaRPr lang="en-GB" sz="2800" dirty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423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5486" y="269392"/>
            <a:ext cx="5421086" cy="4952492"/>
          </a:xfrm>
        </p:spPr>
        <p:txBody>
          <a:bodyPr/>
          <a:lstStyle/>
          <a:p>
            <a:r>
              <a:rPr lang="en-AU" dirty="0" smtClean="0"/>
              <a:t>Key words…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395046"/>
            <a:ext cx="10101330" cy="4646317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2400" i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Entrepreneur: an </a:t>
            </a:r>
            <a:r>
              <a:rPr lang="en-GB" sz="2400" b="1" i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innovative </a:t>
            </a:r>
            <a:r>
              <a:rPr lang="en-GB" sz="2400" i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person who sets out to build a successful business in a new field, often taking on </a:t>
            </a:r>
            <a:r>
              <a:rPr lang="en-GB" sz="2400" b="1" i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risks</a:t>
            </a:r>
            <a:r>
              <a:rPr lang="en-GB" sz="2400" i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 to do so. </a:t>
            </a:r>
            <a:endParaRPr lang="en-GB" sz="2400" i="1" dirty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AU" sz="2800" b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Innovative:  </a:t>
            </a:r>
            <a:r>
              <a:rPr lang="en-AU" sz="2800" dirty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A person can be described as innovative when the introduce new ideas, are original and creative thinkers. </a:t>
            </a:r>
            <a:endParaRPr lang="en-AU" sz="2800" dirty="0" smtClean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AU" sz="2800" b="1" dirty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AU" sz="2800" b="1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Risk: </a:t>
            </a:r>
            <a:r>
              <a:rPr lang="en-AU" sz="2800" dirty="0" smtClean="0">
                <a:latin typeface="Century Gothic" panose="020B0502020202020204" pitchFamily="34" charset="0"/>
                <a:ea typeface="ＭＳ Ｐゴシック" panose="020B0600070205080204" pitchFamily="34" charset="-128"/>
              </a:rPr>
              <a:t>a situation involving danger, harm or loss.</a:t>
            </a:r>
            <a:endParaRPr lang="en-AU" sz="2800" dirty="0">
              <a:latin typeface="Century Gothic" panose="020B0502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479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355917"/>
            <a:ext cx="1541780" cy="116268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755" y="355917"/>
            <a:ext cx="1009650" cy="134620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35" t="-1" r="10338" b="732"/>
          <a:stretch/>
        </p:blipFill>
        <p:spPr bwMode="auto">
          <a:xfrm>
            <a:off x="3656330" y="355917"/>
            <a:ext cx="1516380" cy="13779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1" y="1947545"/>
            <a:ext cx="1185230" cy="1412876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968" y="1883411"/>
            <a:ext cx="1214438" cy="147701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095" y="1883410"/>
            <a:ext cx="1316672" cy="1477011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0" r="19100"/>
          <a:stretch/>
        </p:blipFill>
        <p:spPr bwMode="auto">
          <a:xfrm>
            <a:off x="172322" y="3636964"/>
            <a:ext cx="1514475" cy="1360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/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30" b="4044"/>
          <a:stretch/>
        </p:blipFill>
        <p:spPr bwMode="auto">
          <a:xfrm>
            <a:off x="1834832" y="3704274"/>
            <a:ext cx="1801495" cy="1292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96" y="3509964"/>
            <a:ext cx="1068070" cy="1487170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62" y="5065396"/>
            <a:ext cx="1473835" cy="1473835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18"/>
          <a:stretch/>
        </p:blipFill>
        <p:spPr bwMode="auto">
          <a:xfrm>
            <a:off x="1873409" y="5320665"/>
            <a:ext cx="1519555" cy="11455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Picture 24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597" y="5184140"/>
            <a:ext cx="1106170" cy="14185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4482" y="1279744"/>
            <a:ext cx="52698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 smtClean="0"/>
              <a:t>What </a:t>
            </a:r>
            <a:r>
              <a:rPr lang="en-AU" sz="4800" b="1" dirty="0" smtClean="0"/>
              <a:t>characteristics</a:t>
            </a:r>
            <a:r>
              <a:rPr lang="en-AU" sz="4800" dirty="0" smtClean="0"/>
              <a:t> do you think have led all of these Entrepreneurs to be </a:t>
            </a:r>
            <a:r>
              <a:rPr lang="en-AU" sz="4800" b="1" dirty="0" smtClean="0"/>
              <a:t>successful?</a:t>
            </a:r>
            <a:endParaRPr lang="en-AU" sz="4800" b="1" dirty="0"/>
          </a:p>
        </p:txBody>
      </p:sp>
    </p:spTree>
    <p:extLst>
      <p:ext uri="{BB962C8B-B14F-4D97-AF65-F5344CB8AC3E}">
        <p14:creationId xmlns:p14="http://schemas.microsoft.com/office/powerpoint/2010/main" val="260495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6862" y="559678"/>
            <a:ext cx="4337538" cy="495249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Most successful entrepreneurs demonstrate a combination of these characteristics!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Innovation</a:t>
            </a:r>
          </a:p>
          <a:p>
            <a:endParaRPr lang="en-AU" sz="3200" dirty="0"/>
          </a:p>
          <a:p>
            <a:r>
              <a:rPr lang="en-AU" sz="3200" dirty="0" smtClean="0"/>
              <a:t>Initiative</a:t>
            </a:r>
          </a:p>
          <a:p>
            <a:endParaRPr lang="en-AU" sz="3200" dirty="0"/>
          </a:p>
          <a:p>
            <a:r>
              <a:rPr lang="en-AU" sz="3200" dirty="0" smtClean="0"/>
              <a:t>Self-motivation</a:t>
            </a:r>
          </a:p>
          <a:p>
            <a:endParaRPr lang="en-AU" sz="3200" dirty="0"/>
          </a:p>
          <a:p>
            <a:r>
              <a:rPr lang="en-AU" sz="3200" dirty="0" smtClean="0"/>
              <a:t>Willingness to take on appropriate risks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850551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432" y="2571722"/>
            <a:ext cx="11136922" cy="3286153"/>
          </a:xfrm>
        </p:spPr>
        <p:txBody>
          <a:bodyPr>
            <a:noAutofit/>
          </a:bodyPr>
          <a:lstStyle/>
          <a:p>
            <a:r>
              <a:rPr lang="en-AU" sz="5400" dirty="0" smtClean="0"/>
              <a:t>Read the chapter and</a:t>
            </a:r>
            <a:r>
              <a:rPr lang="en-AU" sz="5400" dirty="0" smtClean="0"/>
              <a:t/>
            </a:r>
            <a:br>
              <a:rPr lang="en-AU" sz="5400" dirty="0" smtClean="0"/>
            </a:br>
            <a:r>
              <a:rPr lang="en-AU" sz="5400" dirty="0" smtClean="0"/>
              <a:t>using the text make a note of a definition and example for each characteristic</a:t>
            </a:r>
            <a:endParaRPr lang="en-AU" sz="5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AU" sz="2800" dirty="0" smtClean="0"/>
              <a:t>Page 50 Pearson </a:t>
            </a:r>
            <a:r>
              <a:rPr lang="en-AU" sz="2800" dirty="0" smtClean="0"/>
              <a:t>7 Humanities and Social Sciences Textbook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638474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Concluding questions…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What is the definition of an Entrepreneur?</a:t>
            </a:r>
          </a:p>
          <a:p>
            <a:r>
              <a:rPr lang="en-AU" sz="2800" dirty="0" smtClean="0"/>
              <a:t>What are the shared characteristics of entrepreneurs?</a:t>
            </a:r>
          </a:p>
          <a:p>
            <a:r>
              <a:rPr lang="en-AU" sz="2800" dirty="0" smtClean="0"/>
              <a:t>Which characteristics do you believe are the most important?</a:t>
            </a:r>
          </a:p>
          <a:p>
            <a:r>
              <a:rPr lang="en-AU" sz="2800" dirty="0" smtClean="0"/>
              <a:t>Which characteristics do you think you possess?</a:t>
            </a:r>
          </a:p>
          <a:p>
            <a:r>
              <a:rPr lang="en-AU" sz="2800" dirty="0" smtClean="0"/>
              <a:t>Who in the class do you think is most like an Entrepreneur?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212095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773" y="290612"/>
            <a:ext cx="5434885" cy="6128700"/>
          </a:xfrm>
        </p:spPr>
      </p:pic>
    </p:spTree>
    <p:extLst>
      <p:ext uri="{BB962C8B-B14F-4D97-AF65-F5344CB8AC3E}">
        <p14:creationId xmlns:p14="http://schemas.microsoft.com/office/powerpoint/2010/main" val="961832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Famous Failures!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</a:t>
            </a:r>
            <a:r>
              <a:rPr lang="en-AU" dirty="0" smtClean="0">
                <a:hlinkClick r:id="rId2"/>
              </a:rPr>
              <a:t>www.youtube.com/watch?v=zLYECIjmnQs</a:t>
            </a:r>
            <a:r>
              <a:rPr lang="en-AU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205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References</a:t>
            </a:r>
            <a:endParaRPr lang="en-AU" dirty="0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677334" y="2160589"/>
            <a:ext cx="8596668" cy="282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Dictionary.com. 2014. Entrepreneur. Retrieved from</a:t>
            </a:r>
            <a:r>
              <a:rPr lang="en-AU" dirty="0"/>
              <a:t> </a:t>
            </a:r>
            <a:r>
              <a:rPr lang="en-AU" u="sng" dirty="0">
                <a:hlinkClick r:id="rId2"/>
              </a:rPr>
              <a:t>http://</a:t>
            </a:r>
            <a:r>
              <a:rPr lang="en-AU" u="sng" dirty="0" smtClean="0">
                <a:hlinkClick r:id="rId2"/>
              </a:rPr>
              <a:t>dictionary.reference.com/browse/entrepreneur</a:t>
            </a:r>
            <a:endParaRPr lang="en-AU" u="sng" dirty="0" smtClean="0"/>
          </a:p>
          <a:p>
            <a:r>
              <a:rPr lang="en-AU" dirty="0" smtClean="0"/>
              <a:t>Jones, P [</a:t>
            </a:r>
            <a:r>
              <a:rPr lang="en-AU" dirty="0" err="1" smtClean="0"/>
              <a:t>ThisisPJTV</a:t>
            </a:r>
            <a:r>
              <a:rPr lang="en-AU" dirty="0" smtClean="0"/>
              <a:t>]. (2008, January 8). </a:t>
            </a:r>
            <a:r>
              <a:rPr lang="en-AU" i="1" dirty="0" smtClean="0"/>
              <a:t>Peter Jones’s ten rules for entrepreneurial success. </a:t>
            </a:r>
            <a:r>
              <a:rPr lang="en-AU" dirty="0" smtClean="0"/>
              <a:t>[Video file]. Retrieved from </a:t>
            </a:r>
            <a:r>
              <a:rPr lang="en-AU" dirty="0" smtClean="0">
                <a:hlinkClick r:id="rId3"/>
              </a:rPr>
              <a:t>http</a:t>
            </a:r>
            <a:r>
              <a:rPr lang="en-AU" dirty="0">
                <a:hlinkClick r:id="rId3"/>
              </a:rPr>
              <a:t>://</a:t>
            </a:r>
            <a:r>
              <a:rPr lang="en-AU" dirty="0" smtClean="0">
                <a:hlinkClick r:id="rId3"/>
              </a:rPr>
              <a:t>www.youtube.com/watch?v=Tod1moy8VZM&amp;feature=related</a:t>
            </a: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Image Credits:</a:t>
            </a:r>
            <a:endParaRPr lang="en-AU" dirty="0"/>
          </a:p>
          <a:p>
            <a:r>
              <a:rPr lang="en-AU" dirty="0">
                <a:hlinkClick r:id="rId4"/>
              </a:rPr>
              <a:t>http://andysacker.com/the-top-3-rules-on-becoming-a-rebel-entrepreneur</a:t>
            </a:r>
            <a:r>
              <a:rPr lang="en-AU" dirty="0" smtClean="0">
                <a:hlinkClick r:id="rId4"/>
              </a:rPr>
              <a:t>/</a:t>
            </a:r>
            <a:endParaRPr lang="en-AU" dirty="0"/>
          </a:p>
          <a:p>
            <a:r>
              <a:rPr lang="en-AU" dirty="0">
                <a:hlinkClick r:id="rId5"/>
              </a:rPr>
              <a:t>http://carey.jhu.edu/one/2010/fall/the-mind-of-the-entrepreneur</a:t>
            </a:r>
            <a:r>
              <a:rPr lang="en-AU" dirty="0" smtClean="0">
                <a:hlinkClick r:id="rId5"/>
              </a:rPr>
              <a:t>/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7209638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TM10001103[[fn=Headlines]]</Template>
  <TotalTime>334</TotalTime>
  <Words>583</Words>
  <Application>Microsoft Office PowerPoint</Application>
  <PresentationFormat>Widescreen</PresentationFormat>
  <Paragraphs>317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ＭＳ Ｐゴシック</vt:lpstr>
      <vt:lpstr>Arial</vt:lpstr>
      <vt:lpstr>Century Gothic</vt:lpstr>
      <vt:lpstr>Century Schoolbook</vt:lpstr>
      <vt:lpstr>Corbel</vt:lpstr>
      <vt:lpstr>Headlines</vt:lpstr>
      <vt:lpstr>PowerPoint Presentation</vt:lpstr>
      <vt:lpstr>PowerPoint Presentation</vt:lpstr>
      <vt:lpstr>Entrepreneur’s and their Characteristics!</vt:lpstr>
      <vt:lpstr>PowerPoint Presentation</vt:lpstr>
      <vt:lpstr>PowerPoint Presentation</vt:lpstr>
      <vt:lpstr>PowerPoint Presentation</vt:lpstr>
      <vt:lpstr>PowerPoint Presentation</vt:lpstr>
      <vt:lpstr>Match the Entrepreneur with the logo/business they are known for!</vt:lpstr>
      <vt:lpstr>PowerPoint Presentation</vt:lpstr>
      <vt:lpstr>What is an Entrepreneur?</vt:lpstr>
      <vt:lpstr>What is an Entrepreneur?</vt:lpstr>
      <vt:lpstr>Key words…</vt:lpstr>
      <vt:lpstr>PowerPoint Presentation</vt:lpstr>
      <vt:lpstr>Most successful entrepreneurs demonstrate a combination of these characteristics!</vt:lpstr>
      <vt:lpstr>Read the chapter and using the text make a note of a definition and example for each characteristic</vt:lpstr>
      <vt:lpstr>Concluding questions…</vt:lpstr>
      <vt:lpstr>PowerPoint Presentation</vt:lpstr>
      <vt:lpstr>Famous Failures!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Rebecca Donavon</dc:creator>
  <cp:lastModifiedBy>DONAVON Rebecca [Narrogin Senior High School]</cp:lastModifiedBy>
  <cp:revision>24</cp:revision>
  <dcterms:created xsi:type="dcterms:W3CDTF">2014-04-07T11:55:23Z</dcterms:created>
  <dcterms:modified xsi:type="dcterms:W3CDTF">2019-05-10T08:18:26Z</dcterms:modified>
</cp:coreProperties>
</file>
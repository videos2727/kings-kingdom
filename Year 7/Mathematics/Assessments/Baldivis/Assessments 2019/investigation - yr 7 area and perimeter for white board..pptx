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1" r:id="rId2"/>
    <p:sldId id="258" r:id="rId3"/>
    <p:sldId id="259" r:id="rId4"/>
    <p:sldId id="260" r:id="rId5"/>
    <p:sldId id="256" r:id="rId6"/>
    <p:sldId id="257" r:id="rId7"/>
    <p:sldId id="262" r:id="rId8"/>
    <p:sldId id="263" r:id="rId9"/>
    <p:sldId id="264" r:id="rId10"/>
  </p:sldIdLst>
  <p:sldSz cx="9144000" cy="5715000" type="screen16x1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7" d="100"/>
          <a:sy n="87" d="100"/>
        </p:scale>
        <p:origin x="9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A484E-5E84-491D-8DC2-291FDFDFD21D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73EB1-AFC2-4E4E-B020-13D13FD463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1824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A484E-5E84-491D-8DC2-291FDFDFD21D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73EB1-AFC2-4E4E-B020-13D13FD463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258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A484E-5E84-491D-8DC2-291FDFDFD21D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73EB1-AFC2-4E4E-B020-13D13FD463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6011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A484E-5E84-491D-8DC2-291FDFDFD21D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73EB1-AFC2-4E4E-B020-13D13FD463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292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A484E-5E84-491D-8DC2-291FDFDFD21D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73EB1-AFC2-4E4E-B020-13D13FD463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5723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A484E-5E84-491D-8DC2-291FDFDFD21D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73EB1-AFC2-4E4E-B020-13D13FD463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4219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A484E-5E84-491D-8DC2-291FDFDFD21D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73EB1-AFC2-4E4E-B020-13D13FD463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575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A484E-5E84-491D-8DC2-291FDFDFD21D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73EB1-AFC2-4E4E-B020-13D13FD463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4502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A484E-5E84-491D-8DC2-291FDFDFD21D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73EB1-AFC2-4E4E-B020-13D13FD463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1468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A484E-5E84-491D-8DC2-291FDFDFD21D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73EB1-AFC2-4E4E-B020-13D13FD463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4828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A484E-5E84-491D-8DC2-291FDFDFD21D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73EB1-AFC2-4E4E-B020-13D13FD463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2123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A484E-5E84-491D-8DC2-291FDFDFD21D}" type="datetimeFigureOut">
              <a:rPr lang="en-AU" smtClean="0"/>
              <a:t>23/05/2019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773EB1-AFC2-4E4E-B020-13D13FD463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6307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1FD666D-0104-4B85-B02F-1769CE9C91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618432"/>
              </p:ext>
            </p:extLst>
          </p:nvPr>
        </p:nvGraphicFramePr>
        <p:xfrm>
          <a:off x="1101687" y="605927"/>
          <a:ext cx="6508286" cy="1581229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{2D5ABB26-0587-4C30-8999-92F81FD0307C}</a:tableStyleId>
              </a:tblPr>
              <a:tblGrid>
                <a:gridCol w="1154675">
                  <a:extLst>
                    <a:ext uri="{9D8B030D-6E8A-4147-A177-3AD203B41FA5}">
                      <a16:colId xmlns:a16="http://schemas.microsoft.com/office/drawing/2014/main" val="2569470469"/>
                    </a:ext>
                  </a:extLst>
                </a:gridCol>
                <a:gridCol w="4021870">
                  <a:extLst>
                    <a:ext uri="{9D8B030D-6E8A-4147-A177-3AD203B41FA5}">
                      <a16:colId xmlns:a16="http://schemas.microsoft.com/office/drawing/2014/main" val="2917185707"/>
                    </a:ext>
                  </a:extLst>
                </a:gridCol>
                <a:gridCol w="1331741">
                  <a:extLst>
                    <a:ext uri="{9D8B030D-6E8A-4147-A177-3AD203B41FA5}">
                      <a16:colId xmlns:a16="http://schemas.microsoft.com/office/drawing/2014/main" val="2455032625"/>
                    </a:ext>
                  </a:extLst>
                </a:gridCol>
              </a:tblGrid>
              <a:tr h="71343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>
                          <a:effectLst/>
                        </a:rPr>
                        <a:t>Name: 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>
                          <a:effectLst/>
                        </a:rPr>
                        <a:t>Class:</a:t>
                      </a:r>
                      <a:endParaRPr lang="en-A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40" marR="5834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 dirty="0">
                          <a:effectLst/>
                        </a:rPr>
                        <a:t>____________________________________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 dirty="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 dirty="0">
                          <a:effectLst/>
                        </a:rPr>
                        <a:t>________________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 dirty="0">
                          <a:effectLst/>
                        </a:rPr>
                        <a:t> </a:t>
                      </a:r>
                      <a:endParaRPr lang="en-A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40" marR="5834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 dirty="0">
                          <a:effectLst/>
                        </a:rPr>
                        <a:t>Date:_________</a:t>
                      </a:r>
                      <a:endParaRPr lang="en-A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40" marR="58340" marT="0" marB="0"/>
                </a:tc>
                <a:extLst>
                  <a:ext uri="{0D108BD9-81ED-4DB2-BD59-A6C34878D82A}">
                    <a16:rowId xmlns:a16="http://schemas.microsoft.com/office/drawing/2014/main" val="3764351360"/>
                  </a:ext>
                </a:extLst>
              </a:tr>
              <a:tr h="86779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endParaRPr lang="en-A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0" marR="58340" marT="0" marB="0"/>
                </a:tc>
                <a:tc gridSpan="2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effectLst/>
                        </a:rPr>
                        <a:t>Year 7 Mathematics 2019</a:t>
                      </a:r>
                      <a:r>
                        <a:rPr lang="en-AU" sz="1200" dirty="0">
                          <a:effectLst/>
                        </a:rPr>
                        <a:t> </a:t>
                      </a:r>
                      <a:r>
                        <a:rPr lang="en-AU" sz="1400" dirty="0">
                          <a:effectLst/>
                        </a:rPr>
                        <a:t>Investigation #1 Area and Perimeter</a:t>
                      </a:r>
                      <a:endParaRPr lang="en-AU" sz="1200" dirty="0">
                        <a:effectLst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Resources Allowed: Personal notebook/ calculator</a:t>
                      </a:r>
                      <a:endParaRPr lang="en-AU" sz="1000" dirty="0">
                        <a:effectLst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Time allowed:  20mins for part A and 35mins for part B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AU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Part A : Collaborative Component (not marked)</a:t>
                      </a:r>
                      <a:endParaRPr lang="en-AU" sz="1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40" marR="58340" marT="0" marB="0"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8791456"/>
                  </a:ext>
                </a:extLst>
              </a:tr>
            </a:tbl>
          </a:graphicData>
        </a:graphic>
      </p:graphicFrame>
      <p:pic>
        <p:nvPicPr>
          <p:cNvPr id="5" name="Picture 8">
            <a:extLst>
              <a:ext uri="{FF2B5EF4-FFF2-40B4-BE49-F238E27FC236}">
                <a16:creationId xmlns:a16="http://schemas.microsoft.com/office/drawing/2014/main" id="{D792B3AC-E260-4D85-8F90-2D5E0A91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5019" y="1346156"/>
            <a:ext cx="692262" cy="746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1F1FD8-4680-4FCB-9EFA-2983F16DA1C6}"/>
              </a:ext>
            </a:extLst>
          </p:cNvPr>
          <p:cNvSpPr txBox="1"/>
          <p:nvPr/>
        </p:nvSpPr>
        <p:spPr>
          <a:xfrm>
            <a:off x="607303" y="2743200"/>
            <a:ext cx="74721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For the first part of our assessment, we work through the questions together.</a:t>
            </a:r>
          </a:p>
          <a:p>
            <a:pPr algn="ctr"/>
            <a:endParaRPr lang="en-AU" dirty="0"/>
          </a:p>
          <a:p>
            <a:pPr algn="ctr"/>
            <a:r>
              <a:rPr lang="en-AU" dirty="0"/>
              <a:t>There are no marks for this part, but it will show you how to do the rest of the investigation</a:t>
            </a:r>
          </a:p>
        </p:txBody>
      </p:sp>
    </p:spTree>
    <p:extLst>
      <p:ext uri="{BB962C8B-B14F-4D97-AF65-F5344CB8AC3E}">
        <p14:creationId xmlns:p14="http://schemas.microsoft.com/office/powerpoint/2010/main" val="1867839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316AE6-334D-4CDA-A021-D36EC680E15B}"/>
              </a:ext>
            </a:extLst>
          </p:cNvPr>
          <p:cNvSpPr txBox="1"/>
          <p:nvPr/>
        </p:nvSpPr>
        <p:spPr>
          <a:xfrm>
            <a:off x="275422" y="199316"/>
            <a:ext cx="85931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Three Farmers need to make a paddock for their sheep.  Farmer Jill makes a square paddock that is 50m x 50m.  Farmer Steph makes a paddock that is 65m x 35m and Farmer Adam makes a paddock that is 80m x 20m.</a:t>
            </a:r>
          </a:p>
          <a:p>
            <a:endParaRPr lang="en-AU" sz="1600" dirty="0"/>
          </a:p>
          <a:p>
            <a:r>
              <a:rPr lang="en-AU" sz="1600" dirty="0"/>
              <a:t>a) Add these dimensions to the diagrams below.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716CAC-41DC-4907-A6ED-AF067A4E1E1B}"/>
              </a:ext>
            </a:extLst>
          </p:cNvPr>
          <p:cNvSpPr/>
          <p:nvPr/>
        </p:nvSpPr>
        <p:spPr>
          <a:xfrm>
            <a:off x="5786051" y="1755282"/>
            <a:ext cx="1146087" cy="9907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2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899961-0370-4976-BD0F-E3E978642A40}"/>
              </a:ext>
            </a:extLst>
          </p:cNvPr>
          <p:cNvSpPr txBox="1"/>
          <p:nvPr/>
        </p:nvSpPr>
        <p:spPr>
          <a:xfrm>
            <a:off x="5982062" y="2007639"/>
            <a:ext cx="754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Jill’s Paddock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644051-47EC-43C1-BCFE-4FAE35BA2BFE}"/>
              </a:ext>
            </a:extLst>
          </p:cNvPr>
          <p:cNvSpPr/>
          <p:nvPr/>
        </p:nvSpPr>
        <p:spPr>
          <a:xfrm>
            <a:off x="2324065" y="1791358"/>
            <a:ext cx="2126750" cy="9546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2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DCF9BC-FD5C-42FE-86FD-528EDBB547D2}"/>
              </a:ext>
            </a:extLst>
          </p:cNvPr>
          <p:cNvSpPr txBox="1"/>
          <p:nvPr/>
        </p:nvSpPr>
        <p:spPr>
          <a:xfrm>
            <a:off x="3122649" y="2091908"/>
            <a:ext cx="1051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Steph’s Paddock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F9956E-C235-4767-9D54-260C0B72CDBA}"/>
              </a:ext>
            </a:extLst>
          </p:cNvPr>
          <p:cNvSpPr/>
          <p:nvPr/>
        </p:nvSpPr>
        <p:spPr>
          <a:xfrm>
            <a:off x="3285780" y="2956621"/>
            <a:ext cx="2934168" cy="6539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2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D94EEC-DF19-4DF8-BEC1-CDAEF77DB5F7}"/>
              </a:ext>
            </a:extLst>
          </p:cNvPr>
          <p:cNvSpPr txBox="1"/>
          <p:nvPr/>
        </p:nvSpPr>
        <p:spPr>
          <a:xfrm>
            <a:off x="4173665" y="3113470"/>
            <a:ext cx="1051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Adam’s Paddock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90EC41-E8A5-44EF-B1F0-CED821C3532C}"/>
              </a:ext>
            </a:extLst>
          </p:cNvPr>
          <p:cNvSpPr txBox="1"/>
          <p:nvPr/>
        </p:nvSpPr>
        <p:spPr>
          <a:xfrm>
            <a:off x="332619" y="3915246"/>
            <a:ext cx="873583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b) Use your knowledge of perimeter to work out the amount of fence required for each paddock.</a:t>
            </a:r>
          </a:p>
          <a:p>
            <a:endParaRPr lang="en-AU" sz="1400" dirty="0"/>
          </a:p>
          <a:p>
            <a:endParaRPr lang="en-AU" sz="1400" dirty="0"/>
          </a:p>
          <a:p>
            <a:endParaRPr lang="en-AU" sz="1400" dirty="0"/>
          </a:p>
          <a:p>
            <a:r>
              <a:rPr lang="en-AU" sz="1400" dirty="0"/>
              <a:t>c)Now use the area formula below to calculate the area inside each paddock and complete the table on the next page.</a:t>
            </a:r>
          </a:p>
          <a:p>
            <a:endParaRPr lang="en-AU" sz="1400" dirty="0"/>
          </a:p>
          <a:p>
            <a:r>
              <a:rPr lang="en-AU" sz="1400" dirty="0"/>
              <a:t>				</a:t>
            </a:r>
            <a:r>
              <a:rPr lang="en-AU" sz="1400" b="1" dirty="0"/>
              <a:t>Area of a rectangle = length x width </a:t>
            </a:r>
          </a:p>
        </p:txBody>
      </p:sp>
    </p:spTree>
    <p:extLst>
      <p:ext uri="{BB962C8B-B14F-4D97-AF65-F5344CB8AC3E}">
        <p14:creationId xmlns:p14="http://schemas.microsoft.com/office/powerpoint/2010/main" val="1967053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8F6CDC-9111-4B57-BCED-1233C9883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56" y="198304"/>
            <a:ext cx="8730159" cy="36597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BEB236-D6E2-4A3C-BC7D-B6B331DCF349}"/>
              </a:ext>
            </a:extLst>
          </p:cNvPr>
          <p:cNvSpPr txBox="1"/>
          <p:nvPr/>
        </p:nvSpPr>
        <p:spPr>
          <a:xfrm rot="5400000">
            <a:off x="4025608" y="448999"/>
            <a:ext cx="1015663" cy="836180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AU" dirty="0"/>
              <a:t>Looking at the paddock with the largest area, what do you notice about the length of the sides?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90772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F002BDD-7269-49E9-87B8-B4720CE601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644260"/>
              </p:ext>
            </p:extLst>
          </p:nvPr>
        </p:nvGraphicFramePr>
        <p:xfrm>
          <a:off x="1081827" y="578321"/>
          <a:ext cx="6533147" cy="1613932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{2D5ABB26-0587-4C30-8999-92F81FD0307C}</a:tableStyleId>
              </a:tblPr>
              <a:tblGrid>
                <a:gridCol w="1159086">
                  <a:extLst>
                    <a:ext uri="{9D8B030D-6E8A-4147-A177-3AD203B41FA5}">
                      <a16:colId xmlns:a16="http://schemas.microsoft.com/office/drawing/2014/main" val="2569470469"/>
                    </a:ext>
                  </a:extLst>
                </a:gridCol>
                <a:gridCol w="4037233">
                  <a:extLst>
                    <a:ext uri="{9D8B030D-6E8A-4147-A177-3AD203B41FA5}">
                      <a16:colId xmlns:a16="http://schemas.microsoft.com/office/drawing/2014/main" val="2917185707"/>
                    </a:ext>
                  </a:extLst>
                </a:gridCol>
                <a:gridCol w="1336828">
                  <a:extLst>
                    <a:ext uri="{9D8B030D-6E8A-4147-A177-3AD203B41FA5}">
                      <a16:colId xmlns:a16="http://schemas.microsoft.com/office/drawing/2014/main" val="2455032625"/>
                    </a:ext>
                  </a:extLst>
                </a:gridCol>
              </a:tblGrid>
              <a:tr h="72819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>
                          <a:effectLst/>
                        </a:rPr>
                        <a:t>Name: 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>
                          <a:effectLst/>
                        </a:rPr>
                        <a:t>Class:</a:t>
                      </a:r>
                      <a:endParaRPr lang="en-A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40" marR="5834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 dirty="0">
                          <a:effectLst/>
                        </a:rPr>
                        <a:t>____________________________________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 dirty="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 dirty="0">
                          <a:effectLst/>
                        </a:rPr>
                        <a:t>________________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 dirty="0">
                          <a:effectLst/>
                        </a:rPr>
                        <a:t> </a:t>
                      </a:r>
                      <a:endParaRPr lang="en-A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40" marR="5834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 dirty="0">
                          <a:effectLst/>
                        </a:rPr>
                        <a:t>Date:_________</a:t>
                      </a:r>
                      <a:endParaRPr lang="en-A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40" marR="58340" marT="0" marB="0"/>
                </a:tc>
                <a:extLst>
                  <a:ext uri="{0D108BD9-81ED-4DB2-BD59-A6C34878D82A}">
                    <a16:rowId xmlns:a16="http://schemas.microsoft.com/office/drawing/2014/main" val="3764351360"/>
                  </a:ext>
                </a:extLst>
              </a:tr>
              <a:tr h="88574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endParaRPr lang="en-A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0" marR="58340" marT="0" marB="0"/>
                </a:tc>
                <a:tc gridSpan="2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effectLst/>
                        </a:rPr>
                        <a:t>Year 7 Mathematics 2019</a:t>
                      </a:r>
                      <a:r>
                        <a:rPr lang="en-AU" sz="1200" dirty="0">
                          <a:effectLst/>
                        </a:rPr>
                        <a:t> </a:t>
                      </a:r>
                      <a:r>
                        <a:rPr lang="en-AU" sz="1400" dirty="0">
                          <a:effectLst/>
                        </a:rPr>
                        <a:t>Investigation #1 Area and Perimeter</a:t>
                      </a:r>
                      <a:endParaRPr lang="en-AU" sz="1200" dirty="0">
                        <a:effectLst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Resources Allowed: Personal notebook/ calculator</a:t>
                      </a:r>
                      <a:endParaRPr lang="en-AU" sz="1000" dirty="0">
                        <a:effectLst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Time allowed:  35mins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AU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Part B : Individual Component</a:t>
                      </a:r>
                      <a:endParaRPr lang="en-AU" sz="1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40" marR="58340" marT="0" marB="0"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8791456"/>
                  </a:ext>
                </a:extLst>
              </a:tr>
            </a:tbl>
          </a:graphicData>
        </a:graphic>
      </p:graphicFrame>
      <p:pic>
        <p:nvPicPr>
          <p:cNvPr id="6" name="Picture 8">
            <a:extLst>
              <a:ext uri="{FF2B5EF4-FFF2-40B4-BE49-F238E27FC236}">
                <a16:creationId xmlns:a16="http://schemas.microsoft.com/office/drawing/2014/main" id="{A9F3AC69-2D70-4CF3-9E85-A690BF8AEE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215" y="1366196"/>
            <a:ext cx="692262" cy="746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Box 3">
            <a:extLst>
              <a:ext uri="{FF2B5EF4-FFF2-40B4-BE49-F238E27FC236}">
                <a16:creationId xmlns:a16="http://schemas.microsoft.com/office/drawing/2014/main" id="{2C8EB2AF-485E-47D2-B28E-16B09B15A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0793" y="1646982"/>
            <a:ext cx="1392984" cy="60759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marL="914400">
              <a:lnSpc>
                <a:spcPct val="115000"/>
              </a:lnSpc>
              <a:spcAft>
                <a:spcPts val="0"/>
              </a:spcAft>
            </a:pPr>
            <a:r>
              <a:rPr lang="en-AU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/6</a:t>
            </a:r>
            <a:endParaRPr lang="en-A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ED97EC-A83C-4854-B0F0-4A2065E83675}"/>
              </a:ext>
            </a:extLst>
          </p:cNvPr>
          <p:cNvSpPr txBox="1"/>
          <p:nvPr/>
        </p:nvSpPr>
        <p:spPr>
          <a:xfrm>
            <a:off x="442050" y="2584570"/>
            <a:ext cx="74721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For the second part of our assessment, you need to complete this on your own.</a:t>
            </a:r>
          </a:p>
          <a:p>
            <a:pPr algn="ctr"/>
            <a:endParaRPr lang="en-AU" dirty="0"/>
          </a:p>
          <a:p>
            <a:pPr algn="ctr"/>
            <a:r>
              <a:rPr lang="en-AU" dirty="0"/>
              <a:t>There are 6 marks for this part, and we will mark it before we give you the validation.</a:t>
            </a:r>
          </a:p>
        </p:txBody>
      </p:sp>
    </p:spTree>
    <p:extLst>
      <p:ext uri="{BB962C8B-B14F-4D97-AF65-F5344CB8AC3E}">
        <p14:creationId xmlns:p14="http://schemas.microsoft.com/office/powerpoint/2010/main" val="3140376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24FCFE0-D782-4F2E-97E9-DC3F184F6FA0}"/>
              </a:ext>
            </a:extLst>
          </p:cNvPr>
          <p:cNvSpPr txBox="1"/>
          <p:nvPr/>
        </p:nvSpPr>
        <p:spPr>
          <a:xfrm>
            <a:off x="305060" y="4184939"/>
            <a:ext cx="73957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8587" indent="-178587">
              <a:buAutoNum type="alphaLcParenR"/>
            </a:pPr>
            <a:r>
              <a:rPr lang="en-AU" sz="1600" dirty="0"/>
              <a:t>How much fence did they each use? </a:t>
            </a:r>
          </a:p>
          <a:p>
            <a:endParaRPr lang="en-AU" sz="1600" dirty="0"/>
          </a:p>
          <a:p>
            <a:r>
              <a:rPr lang="en-AU" sz="1600" dirty="0"/>
              <a:t>b) How did you work this out? Show all 3 calculations</a:t>
            </a:r>
          </a:p>
          <a:p>
            <a:r>
              <a:rPr lang="en-AU" sz="1600" dirty="0"/>
              <a:t> </a:t>
            </a:r>
          </a:p>
          <a:p>
            <a:r>
              <a:rPr lang="en-AU" sz="1600" dirty="0"/>
              <a:t>c) Mathematically What is the term we use for “the distance around the shape”? 	</a:t>
            </a:r>
          </a:p>
          <a:p>
            <a:endParaRPr lang="en-AU" sz="16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E793415-BC17-40FB-A3CA-1F253F218260}"/>
              </a:ext>
            </a:extLst>
          </p:cNvPr>
          <p:cNvSpPr/>
          <p:nvPr/>
        </p:nvSpPr>
        <p:spPr>
          <a:xfrm>
            <a:off x="163547" y="175496"/>
            <a:ext cx="88169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600" b="1" dirty="0"/>
              <a:t>Question 1. </a:t>
            </a:r>
          </a:p>
          <a:p>
            <a:r>
              <a:rPr lang="en-AU" sz="1600" dirty="0"/>
              <a:t>Farmer Jill, Farmer Steph and Farmer Adam needed to build a small enclosure for chickens.  Each farmer used the same amount of fencing. </a:t>
            </a:r>
            <a:endParaRPr lang="en-AU" sz="16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44BEE8-DE40-4937-B90F-4519DC9D9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469" y="1135013"/>
            <a:ext cx="4570216" cy="344497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56ABCC9-59CD-4E05-832E-11CFE94E15E0}"/>
              </a:ext>
            </a:extLst>
          </p:cNvPr>
          <p:cNvSpPr txBox="1"/>
          <p:nvPr/>
        </p:nvSpPr>
        <p:spPr>
          <a:xfrm>
            <a:off x="4979624" y="3249976"/>
            <a:ext cx="716096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62533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2529BA-3734-41A9-A00D-B9FB0F08C330}"/>
              </a:ext>
            </a:extLst>
          </p:cNvPr>
          <p:cNvSpPr txBox="1"/>
          <p:nvPr/>
        </p:nvSpPr>
        <p:spPr>
          <a:xfrm>
            <a:off x="215343" y="132446"/>
            <a:ext cx="860417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 dirty="0"/>
              <a:t>Question2.</a:t>
            </a:r>
          </a:p>
          <a:p>
            <a:r>
              <a:rPr lang="en-AU" sz="1400" dirty="0"/>
              <a:t>The three farmers all thought their enclosures were the biggest. Use the area of a triangle formula to work out which farmer is right. </a:t>
            </a:r>
            <a:endParaRPr lang="en-AU" sz="1400" b="1" dirty="0"/>
          </a:p>
          <a:p>
            <a:endParaRPr lang="en-AU" sz="1400" b="1" dirty="0"/>
          </a:p>
          <a:p>
            <a:r>
              <a:rPr lang="en-AU" sz="1400" b="1" dirty="0"/>
              <a:t>	Area of a triangle  = base x height ÷ 2</a:t>
            </a:r>
          </a:p>
          <a:p>
            <a:endParaRPr lang="en-AU" sz="1400" dirty="0"/>
          </a:p>
          <a:p>
            <a:r>
              <a:rPr lang="en-AU" sz="1400" dirty="0"/>
              <a:t>a) What is the area of Jill’s enclosure?</a:t>
            </a:r>
          </a:p>
          <a:p>
            <a:endParaRPr lang="en-AU" sz="1400" dirty="0"/>
          </a:p>
          <a:p>
            <a:r>
              <a:rPr lang="en-AU" sz="1400" dirty="0"/>
              <a:t>b) What is the area of Steph’s enclosure? </a:t>
            </a:r>
          </a:p>
          <a:p>
            <a:endParaRPr lang="en-AU" sz="1400" dirty="0"/>
          </a:p>
          <a:p>
            <a:r>
              <a:rPr lang="en-AU" sz="1400" dirty="0"/>
              <a:t>c) What is the area of Adam’s enclosure? </a:t>
            </a:r>
          </a:p>
          <a:p>
            <a:endParaRPr lang="en-AU" sz="1400" dirty="0"/>
          </a:p>
          <a:p>
            <a:r>
              <a:rPr lang="en-AU" sz="1400" dirty="0"/>
              <a:t>d) Use the information you have calculated so far to complete the table below.</a:t>
            </a:r>
          </a:p>
          <a:p>
            <a:endParaRPr lang="en-AU" sz="1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9D4C65E-8345-479A-8FFD-68C2D17F55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1364721"/>
              </p:ext>
            </p:extLst>
          </p:nvPr>
        </p:nvGraphicFramePr>
        <p:xfrm>
          <a:off x="324483" y="3091894"/>
          <a:ext cx="8185532" cy="1645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6832">
                  <a:extLst>
                    <a:ext uri="{9D8B030D-6E8A-4147-A177-3AD203B41FA5}">
                      <a16:colId xmlns:a16="http://schemas.microsoft.com/office/drawing/2014/main" val="3542617279"/>
                    </a:ext>
                  </a:extLst>
                </a:gridCol>
                <a:gridCol w="1048387">
                  <a:extLst>
                    <a:ext uri="{9D8B030D-6E8A-4147-A177-3AD203B41FA5}">
                      <a16:colId xmlns:a16="http://schemas.microsoft.com/office/drawing/2014/main" val="659375798"/>
                    </a:ext>
                  </a:extLst>
                </a:gridCol>
                <a:gridCol w="1048387">
                  <a:extLst>
                    <a:ext uri="{9D8B030D-6E8A-4147-A177-3AD203B41FA5}">
                      <a16:colId xmlns:a16="http://schemas.microsoft.com/office/drawing/2014/main" val="941564361"/>
                    </a:ext>
                  </a:extLst>
                </a:gridCol>
                <a:gridCol w="1048387">
                  <a:extLst>
                    <a:ext uri="{9D8B030D-6E8A-4147-A177-3AD203B41FA5}">
                      <a16:colId xmlns:a16="http://schemas.microsoft.com/office/drawing/2014/main" val="2778764158"/>
                    </a:ext>
                  </a:extLst>
                </a:gridCol>
                <a:gridCol w="1216490">
                  <a:extLst>
                    <a:ext uri="{9D8B030D-6E8A-4147-A177-3AD203B41FA5}">
                      <a16:colId xmlns:a16="http://schemas.microsoft.com/office/drawing/2014/main" val="1364812798"/>
                    </a:ext>
                  </a:extLst>
                </a:gridCol>
                <a:gridCol w="1075421">
                  <a:extLst>
                    <a:ext uri="{9D8B030D-6E8A-4147-A177-3AD203B41FA5}">
                      <a16:colId xmlns:a16="http://schemas.microsoft.com/office/drawing/2014/main" val="2795509683"/>
                    </a:ext>
                  </a:extLst>
                </a:gridCol>
                <a:gridCol w="948995">
                  <a:extLst>
                    <a:ext uri="{9D8B030D-6E8A-4147-A177-3AD203B41FA5}">
                      <a16:colId xmlns:a16="http://schemas.microsoft.com/office/drawing/2014/main" val="3095371932"/>
                    </a:ext>
                  </a:extLst>
                </a:gridCol>
                <a:gridCol w="952633">
                  <a:extLst>
                    <a:ext uri="{9D8B030D-6E8A-4147-A177-3AD203B41FA5}">
                      <a16:colId xmlns:a16="http://schemas.microsoft.com/office/drawing/2014/main" val="1522455720"/>
                    </a:ext>
                  </a:extLst>
                </a:gridCol>
              </a:tblGrid>
              <a:tr h="478819">
                <a:tc>
                  <a:txBody>
                    <a:bodyPr/>
                    <a:lstStyle/>
                    <a:p>
                      <a:endParaRPr lang="en-AU" sz="1400" dirty="0"/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Side length 1 </a:t>
                      </a:r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Side length 2</a:t>
                      </a:r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Side length 3 </a:t>
                      </a:r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Perimeter</a:t>
                      </a:r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Base Length</a:t>
                      </a:r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Height</a:t>
                      </a:r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Area</a:t>
                      </a:r>
                    </a:p>
                  </a:txBody>
                  <a:tcPr marL="47625" marR="47625" marT="23813" marB="23813"/>
                </a:tc>
                <a:extLst>
                  <a:ext uri="{0D108BD9-81ED-4DB2-BD59-A6C34878D82A}">
                    <a16:rowId xmlns:a16="http://schemas.microsoft.com/office/drawing/2014/main" val="2922521002"/>
                  </a:ext>
                </a:extLst>
              </a:tr>
              <a:tr h="388847">
                <a:tc>
                  <a:txBody>
                    <a:bodyPr/>
                    <a:lstStyle/>
                    <a:p>
                      <a:r>
                        <a:rPr lang="en-AU" sz="1400" dirty="0"/>
                        <a:t>Jill</a:t>
                      </a:r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endParaRPr lang="en-AU" sz="1400" dirty="0"/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endParaRPr lang="en-AU" sz="1400" dirty="0"/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endParaRPr lang="en-AU" sz="1400"/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endParaRPr lang="en-AU" sz="1400"/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endParaRPr lang="en-AU" sz="1400" dirty="0"/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endParaRPr lang="en-AU" sz="1400" dirty="0"/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endParaRPr lang="en-AU" sz="1400" dirty="0"/>
                    </a:p>
                  </a:txBody>
                  <a:tcPr marL="47625" marR="47625" marT="23813" marB="23813"/>
                </a:tc>
                <a:extLst>
                  <a:ext uri="{0D108BD9-81ED-4DB2-BD59-A6C34878D82A}">
                    <a16:rowId xmlns:a16="http://schemas.microsoft.com/office/drawing/2014/main" val="1518300637"/>
                  </a:ext>
                </a:extLst>
              </a:tr>
              <a:tr h="388847">
                <a:tc>
                  <a:txBody>
                    <a:bodyPr/>
                    <a:lstStyle/>
                    <a:p>
                      <a:r>
                        <a:rPr lang="en-AU" sz="1400" dirty="0"/>
                        <a:t>Steph</a:t>
                      </a:r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endParaRPr lang="en-AU" sz="1400" dirty="0"/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endParaRPr lang="en-AU" sz="1400"/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endParaRPr lang="en-AU" sz="1400"/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endParaRPr lang="en-AU" sz="1400"/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endParaRPr lang="en-AU" sz="1400" dirty="0"/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endParaRPr lang="en-AU" sz="1400" dirty="0"/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endParaRPr lang="en-AU" sz="1400"/>
                    </a:p>
                  </a:txBody>
                  <a:tcPr marL="47625" marR="47625" marT="23813" marB="23813"/>
                </a:tc>
                <a:extLst>
                  <a:ext uri="{0D108BD9-81ED-4DB2-BD59-A6C34878D82A}">
                    <a16:rowId xmlns:a16="http://schemas.microsoft.com/office/drawing/2014/main" val="1161213448"/>
                  </a:ext>
                </a:extLst>
              </a:tr>
              <a:tr h="388847">
                <a:tc>
                  <a:txBody>
                    <a:bodyPr/>
                    <a:lstStyle/>
                    <a:p>
                      <a:r>
                        <a:rPr lang="en-AU" sz="1400" dirty="0"/>
                        <a:t>Adam</a:t>
                      </a:r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endParaRPr lang="en-AU" sz="1400"/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endParaRPr lang="en-AU" sz="1400" dirty="0"/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endParaRPr lang="en-AU" sz="1400" dirty="0"/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endParaRPr lang="en-AU" sz="1400" dirty="0"/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endParaRPr lang="en-AU" sz="1400" dirty="0"/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endParaRPr lang="en-AU" sz="1400"/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endParaRPr lang="en-AU" sz="1400" dirty="0"/>
                    </a:p>
                  </a:txBody>
                  <a:tcPr marL="47625" marR="47625" marT="23813" marB="23813"/>
                </a:tc>
                <a:extLst>
                  <a:ext uri="{0D108BD9-81ED-4DB2-BD59-A6C34878D82A}">
                    <a16:rowId xmlns:a16="http://schemas.microsoft.com/office/drawing/2014/main" val="37714502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7031663-C809-447E-AF1B-AE4CDE93E52E}"/>
              </a:ext>
            </a:extLst>
          </p:cNvPr>
          <p:cNvSpPr txBox="1"/>
          <p:nvPr/>
        </p:nvSpPr>
        <p:spPr>
          <a:xfrm>
            <a:off x="215343" y="4936223"/>
            <a:ext cx="87935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e) Looking at the triangle that has the biggest area, what do you notice about the lengths of the sides compare to the other 2? </a:t>
            </a:r>
          </a:p>
        </p:txBody>
      </p:sp>
    </p:spTree>
    <p:extLst>
      <p:ext uri="{BB962C8B-B14F-4D97-AF65-F5344CB8AC3E}">
        <p14:creationId xmlns:p14="http://schemas.microsoft.com/office/powerpoint/2010/main" val="3753203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890DCD-A6C0-4E0C-BCAB-BD543E55BD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91768"/>
              </p:ext>
            </p:extLst>
          </p:nvPr>
        </p:nvGraphicFramePr>
        <p:xfrm>
          <a:off x="1081827" y="578321"/>
          <a:ext cx="6533147" cy="1613932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{2D5ABB26-0587-4C30-8999-92F81FD0307C}</a:tableStyleId>
              </a:tblPr>
              <a:tblGrid>
                <a:gridCol w="1159086">
                  <a:extLst>
                    <a:ext uri="{9D8B030D-6E8A-4147-A177-3AD203B41FA5}">
                      <a16:colId xmlns:a16="http://schemas.microsoft.com/office/drawing/2014/main" val="2569470469"/>
                    </a:ext>
                  </a:extLst>
                </a:gridCol>
                <a:gridCol w="4037233">
                  <a:extLst>
                    <a:ext uri="{9D8B030D-6E8A-4147-A177-3AD203B41FA5}">
                      <a16:colId xmlns:a16="http://schemas.microsoft.com/office/drawing/2014/main" val="2917185707"/>
                    </a:ext>
                  </a:extLst>
                </a:gridCol>
                <a:gridCol w="1336828">
                  <a:extLst>
                    <a:ext uri="{9D8B030D-6E8A-4147-A177-3AD203B41FA5}">
                      <a16:colId xmlns:a16="http://schemas.microsoft.com/office/drawing/2014/main" val="2455032625"/>
                    </a:ext>
                  </a:extLst>
                </a:gridCol>
              </a:tblGrid>
              <a:tr h="72819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>
                          <a:effectLst/>
                        </a:rPr>
                        <a:t>Name: 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>
                          <a:effectLst/>
                        </a:rPr>
                        <a:t>Class:</a:t>
                      </a:r>
                      <a:endParaRPr lang="en-A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40" marR="5834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 dirty="0">
                          <a:effectLst/>
                        </a:rPr>
                        <a:t>____________________________________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 dirty="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 dirty="0">
                          <a:effectLst/>
                        </a:rPr>
                        <a:t>________________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 dirty="0">
                          <a:effectLst/>
                        </a:rPr>
                        <a:t> </a:t>
                      </a:r>
                      <a:endParaRPr lang="en-A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40" marR="5834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r>
                        <a:rPr lang="en-AU" sz="1000" dirty="0">
                          <a:effectLst/>
                        </a:rPr>
                        <a:t>Date:_________</a:t>
                      </a:r>
                      <a:endParaRPr lang="en-A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40" marR="58340" marT="0" marB="0"/>
                </a:tc>
                <a:extLst>
                  <a:ext uri="{0D108BD9-81ED-4DB2-BD59-A6C34878D82A}">
                    <a16:rowId xmlns:a16="http://schemas.microsoft.com/office/drawing/2014/main" val="3764351360"/>
                  </a:ext>
                </a:extLst>
              </a:tr>
              <a:tr h="88574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2637155" algn="ctr"/>
                          <a:tab pos="5274310" algn="r"/>
                          <a:tab pos="-1257300" algn="ctr"/>
                          <a:tab pos="2637155" algn="ctr"/>
                          <a:tab pos="5274310" algn="r"/>
                        </a:tabLst>
                      </a:pPr>
                      <a:endParaRPr lang="en-A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0" marR="58340" marT="0" marB="0"/>
                </a:tc>
                <a:tc gridSpan="2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dirty="0">
                          <a:effectLst/>
                        </a:rPr>
                        <a:t>Year 7 Mathematics 2019</a:t>
                      </a:r>
                      <a:r>
                        <a:rPr lang="en-AU" sz="1200" dirty="0">
                          <a:effectLst/>
                        </a:rPr>
                        <a:t> </a:t>
                      </a:r>
                      <a:r>
                        <a:rPr lang="en-AU" sz="1400" dirty="0">
                          <a:effectLst/>
                        </a:rPr>
                        <a:t>Investigation #1 Area and Perimeter</a:t>
                      </a:r>
                      <a:endParaRPr lang="en-AU" sz="1200" dirty="0">
                        <a:effectLst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Resources Allowed: Personal notebook/ calculator</a:t>
                      </a:r>
                      <a:endParaRPr lang="en-AU" sz="1000" dirty="0">
                        <a:effectLst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AU" sz="1400" dirty="0">
                          <a:effectLst/>
                        </a:rPr>
                        <a:t>Time allowed:  35mins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AU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Part B : Individual Component</a:t>
                      </a:r>
                      <a:endParaRPr lang="en-AU" sz="1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340" marR="58340" marT="0" marB="0"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8791456"/>
                  </a:ext>
                </a:extLst>
              </a:tr>
            </a:tbl>
          </a:graphicData>
        </a:graphic>
      </p:graphicFrame>
      <p:pic>
        <p:nvPicPr>
          <p:cNvPr id="5" name="Picture 8">
            <a:extLst>
              <a:ext uri="{FF2B5EF4-FFF2-40B4-BE49-F238E27FC236}">
                <a16:creationId xmlns:a16="http://schemas.microsoft.com/office/drawing/2014/main" id="{6D137C9C-5B25-4300-8E1A-E4BFE1EF17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215" y="1366196"/>
            <a:ext cx="692262" cy="746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Box 3">
            <a:extLst>
              <a:ext uri="{FF2B5EF4-FFF2-40B4-BE49-F238E27FC236}">
                <a16:creationId xmlns:a16="http://schemas.microsoft.com/office/drawing/2014/main" id="{5FD5DFA1-53DA-4439-AEE7-D76E0E3BB5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0793" y="1646982"/>
            <a:ext cx="1392984" cy="60759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marL="914400">
              <a:lnSpc>
                <a:spcPct val="115000"/>
              </a:lnSpc>
              <a:spcAft>
                <a:spcPts val="0"/>
              </a:spcAft>
            </a:pPr>
            <a:r>
              <a:rPr lang="en-AU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/6</a:t>
            </a:r>
            <a:endParaRPr lang="en-A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6393B9-ED13-49FA-8B3D-8523EB92DCB3}"/>
              </a:ext>
            </a:extLst>
          </p:cNvPr>
          <p:cNvSpPr txBox="1"/>
          <p:nvPr/>
        </p:nvSpPr>
        <p:spPr>
          <a:xfrm>
            <a:off x="375949" y="2811862"/>
            <a:ext cx="7472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Answers</a:t>
            </a:r>
          </a:p>
        </p:txBody>
      </p:sp>
    </p:spTree>
    <p:extLst>
      <p:ext uri="{BB962C8B-B14F-4D97-AF65-F5344CB8AC3E}">
        <p14:creationId xmlns:p14="http://schemas.microsoft.com/office/powerpoint/2010/main" val="4268407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24FCFE0-D782-4F2E-97E9-DC3F184F6FA0}"/>
              </a:ext>
            </a:extLst>
          </p:cNvPr>
          <p:cNvSpPr txBox="1"/>
          <p:nvPr/>
        </p:nvSpPr>
        <p:spPr>
          <a:xfrm>
            <a:off x="294573" y="3821382"/>
            <a:ext cx="73957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8587" indent="-178587">
              <a:buAutoNum type="alphaLcParenR"/>
            </a:pPr>
            <a:r>
              <a:rPr lang="en-AU" sz="1600" dirty="0"/>
              <a:t>How much fence did they each use? </a:t>
            </a:r>
          </a:p>
          <a:p>
            <a:r>
              <a:rPr lang="en-AU" sz="1600" dirty="0"/>
              <a:t>	</a:t>
            </a:r>
            <a:r>
              <a:rPr lang="en-AU" sz="1600" b="1" dirty="0">
                <a:solidFill>
                  <a:srgbClr val="C00000"/>
                </a:solidFill>
              </a:rPr>
              <a:t>36m</a:t>
            </a:r>
            <a:endParaRPr lang="en-AU" sz="1600" b="1" dirty="0"/>
          </a:p>
          <a:p>
            <a:r>
              <a:rPr lang="en-AU" sz="1600" dirty="0"/>
              <a:t>b) How did you work this out? Show all 3 calculations</a:t>
            </a:r>
          </a:p>
          <a:p>
            <a:r>
              <a:rPr lang="en-AU" sz="1600" dirty="0"/>
              <a:t>	</a:t>
            </a:r>
            <a:r>
              <a:rPr lang="en-AU" sz="1600" b="1" dirty="0">
                <a:solidFill>
                  <a:srgbClr val="C00000"/>
                </a:solidFill>
              </a:rPr>
              <a:t>7+14+15 = 36m			10+15+11 = 36m		12+12+12 = 36m 	</a:t>
            </a:r>
          </a:p>
          <a:p>
            <a:r>
              <a:rPr lang="en-AU" sz="1600" dirty="0"/>
              <a:t>c) Mathematically What is the term we use for “the distance around the shape”? 	</a:t>
            </a:r>
          </a:p>
          <a:p>
            <a:r>
              <a:rPr lang="en-AU" sz="1600" dirty="0"/>
              <a:t>	</a:t>
            </a:r>
            <a:r>
              <a:rPr lang="en-AU" sz="1600" b="1" dirty="0">
                <a:solidFill>
                  <a:srgbClr val="C00000"/>
                </a:solidFill>
              </a:rPr>
              <a:t>The perimeter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E793415-BC17-40FB-A3CA-1F253F218260}"/>
              </a:ext>
            </a:extLst>
          </p:cNvPr>
          <p:cNvSpPr/>
          <p:nvPr/>
        </p:nvSpPr>
        <p:spPr>
          <a:xfrm>
            <a:off x="163547" y="175496"/>
            <a:ext cx="88169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600" b="1" dirty="0"/>
              <a:t>Question 1. </a:t>
            </a:r>
          </a:p>
          <a:p>
            <a:r>
              <a:rPr lang="en-AU" sz="1600" dirty="0"/>
              <a:t>Farmer Jill, Farmer Steph and Farmer Adam needed to build a small enclosure for chickens.  Each farmer used the same amount of fencing. </a:t>
            </a:r>
            <a:endParaRPr lang="en-AU" sz="16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44BEE8-DE40-4937-B90F-4519DC9D9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211" y="807129"/>
            <a:ext cx="4570216" cy="34449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295612-916B-4297-9189-B4EAA0EF6BAA}"/>
              </a:ext>
            </a:extLst>
          </p:cNvPr>
          <p:cNvSpPr txBox="1"/>
          <p:nvPr/>
        </p:nvSpPr>
        <p:spPr>
          <a:xfrm>
            <a:off x="5497416" y="2963537"/>
            <a:ext cx="716096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9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33803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2529BA-3734-41A9-A00D-B9FB0F08C330}"/>
              </a:ext>
            </a:extLst>
          </p:cNvPr>
          <p:cNvSpPr txBox="1"/>
          <p:nvPr/>
        </p:nvSpPr>
        <p:spPr>
          <a:xfrm>
            <a:off x="215343" y="132446"/>
            <a:ext cx="860417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 dirty="0"/>
              <a:t>Question2.</a:t>
            </a:r>
          </a:p>
          <a:p>
            <a:r>
              <a:rPr lang="en-AU" sz="1400" dirty="0"/>
              <a:t>The three farmers all thought their enclosures were the biggest. Use the area of a triangle formula to work out which farmer is right. </a:t>
            </a:r>
            <a:endParaRPr lang="en-AU" sz="1400" b="1" dirty="0"/>
          </a:p>
          <a:p>
            <a:endParaRPr lang="en-AU" sz="1400" b="1" dirty="0"/>
          </a:p>
          <a:p>
            <a:r>
              <a:rPr lang="en-AU" sz="1400" b="1" dirty="0"/>
              <a:t>	Area of a triangle  = base x height ÷ 2</a:t>
            </a:r>
          </a:p>
          <a:p>
            <a:endParaRPr lang="en-AU" sz="1400" dirty="0"/>
          </a:p>
          <a:p>
            <a:r>
              <a:rPr lang="en-AU" sz="1400" dirty="0"/>
              <a:t>a) What is the area of Jill’s enclosure?	  </a:t>
            </a:r>
            <a:r>
              <a:rPr lang="en-AU" sz="1400" b="1" dirty="0">
                <a:solidFill>
                  <a:srgbClr val="C00000"/>
                </a:solidFill>
              </a:rPr>
              <a:t>6.5x15÷2</a:t>
            </a:r>
            <a:r>
              <a:rPr lang="ko-KR" altLang="en-US" sz="1400" b="1" dirty="0">
                <a:solidFill>
                  <a:srgbClr val="C00000"/>
                </a:solidFill>
              </a:rPr>
              <a:t> </a:t>
            </a:r>
            <a:r>
              <a:rPr lang="en-AU" altLang="ko-KR" sz="1400" b="1" dirty="0">
                <a:solidFill>
                  <a:srgbClr val="C00000"/>
                </a:solidFill>
              </a:rPr>
              <a:t>=</a:t>
            </a:r>
            <a:r>
              <a:rPr lang="ko-KR" altLang="en-US" sz="1400" b="1" dirty="0">
                <a:solidFill>
                  <a:srgbClr val="C00000"/>
                </a:solidFill>
              </a:rPr>
              <a:t> </a:t>
            </a:r>
            <a:r>
              <a:rPr lang="en-AU" altLang="ko-KR" sz="1400" b="1" dirty="0">
                <a:solidFill>
                  <a:srgbClr val="C00000"/>
                </a:solidFill>
              </a:rPr>
              <a:t>48.75m</a:t>
            </a:r>
            <a:r>
              <a:rPr lang="en-AU" altLang="ko-KR" sz="1400" b="1" baseline="30000" dirty="0">
                <a:solidFill>
                  <a:srgbClr val="C00000"/>
                </a:solidFill>
              </a:rPr>
              <a:t>2</a:t>
            </a:r>
            <a:endParaRPr lang="en-AU" sz="1400" b="1" dirty="0">
              <a:solidFill>
                <a:srgbClr val="C00000"/>
              </a:solidFill>
            </a:endParaRPr>
          </a:p>
          <a:p>
            <a:endParaRPr lang="en-AU" sz="1400" dirty="0"/>
          </a:p>
          <a:p>
            <a:r>
              <a:rPr lang="en-AU" sz="1400" dirty="0"/>
              <a:t>b) What is the area of Steph’s enclosure?  	</a:t>
            </a:r>
            <a:r>
              <a:rPr lang="en-AU" sz="1400" b="1" dirty="0">
                <a:solidFill>
                  <a:srgbClr val="C00000"/>
                </a:solidFill>
              </a:rPr>
              <a:t> 10x11÷2</a:t>
            </a:r>
            <a:r>
              <a:rPr lang="ko-KR" altLang="en-US" sz="1400" b="1" dirty="0">
                <a:solidFill>
                  <a:srgbClr val="C00000"/>
                </a:solidFill>
              </a:rPr>
              <a:t> </a:t>
            </a:r>
            <a:r>
              <a:rPr lang="en-AU" altLang="ko-KR" sz="1400" b="1" dirty="0">
                <a:solidFill>
                  <a:srgbClr val="C00000"/>
                </a:solidFill>
              </a:rPr>
              <a:t>=</a:t>
            </a:r>
            <a:r>
              <a:rPr lang="ko-KR" altLang="en-US" sz="1400" b="1" dirty="0">
                <a:solidFill>
                  <a:srgbClr val="C00000"/>
                </a:solidFill>
              </a:rPr>
              <a:t> </a:t>
            </a:r>
            <a:r>
              <a:rPr lang="en-AU" altLang="ko-KR" sz="1400" b="1" dirty="0">
                <a:solidFill>
                  <a:srgbClr val="C00000"/>
                </a:solidFill>
              </a:rPr>
              <a:t>55m</a:t>
            </a:r>
            <a:r>
              <a:rPr lang="en-AU" altLang="ko-KR" sz="1400" b="1" baseline="30000" dirty="0">
                <a:solidFill>
                  <a:srgbClr val="C00000"/>
                </a:solidFill>
              </a:rPr>
              <a:t>2</a:t>
            </a:r>
            <a:endParaRPr lang="en-AU" sz="1400" dirty="0"/>
          </a:p>
          <a:p>
            <a:endParaRPr lang="en-AU" sz="1400" dirty="0"/>
          </a:p>
          <a:p>
            <a:r>
              <a:rPr lang="en-AU" sz="1400" dirty="0"/>
              <a:t>c) What is the area of Adam’s enclosure?  	</a:t>
            </a:r>
            <a:r>
              <a:rPr lang="en-AU" sz="1400" b="1" dirty="0">
                <a:solidFill>
                  <a:srgbClr val="C00000"/>
                </a:solidFill>
              </a:rPr>
              <a:t>11.5x12÷2</a:t>
            </a:r>
            <a:r>
              <a:rPr lang="ko-KR" altLang="en-US" sz="1400" b="1" dirty="0">
                <a:solidFill>
                  <a:srgbClr val="C00000"/>
                </a:solidFill>
              </a:rPr>
              <a:t> </a:t>
            </a:r>
            <a:r>
              <a:rPr lang="en-AU" altLang="ko-KR" sz="1400" b="1" dirty="0">
                <a:solidFill>
                  <a:srgbClr val="C00000"/>
                </a:solidFill>
              </a:rPr>
              <a:t>=</a:t>
            </a:r>
            <a:r>
              <a:rPr lang="ko-KR" altLang="en-US" sz="1400" b="1" dirty="0">
                <a:solidFill>
                  <a:srgbClr val="C00000"/>
                </a:solidFill>
              </a:rPr>
              <a:t> </a:t>
            </a:r>
            <a:r>
              <a:rPr lang="en-AU" altLang="ko-KR" sz="1400" b="1" dirty="0">
                <a:solidFill>
                  <a:srgbClr val="C00000"/>
                </a:solidFill>
              </a:rPr>
              <a:t>69m</a:t>
            </a:r>
            <a:r>
              <a:rPr lang="en-AU" altLang="ko-KR" sz="1400" b="1" baseline="30000" dirty="0">
                <a:solidFill>
                  <a:srgbClr val="C00000"/>
                </a:solidFill>
              </a:rPr>
              <a:t>2</a:t>
            </a:r>
            <a:endParaRPr lang="en-AU" sz="1400" dirty="0"/>
          </a:p>
          <a:p>
            <a:endParaRPr lang="en-AU" sz="1400" dirty="0"/>
          </a:p>
          <a:p>
            <a:r>
              <a:rPr lang="en-AU" sz="1400" dirty="0"/>
              <a:t>d) Use the information you have calculated so far to complete the table below.</a:t>
            </a:r>
          </a:p>
          <a:p>
            <a:endParaRPr lang="en-AU" sz="1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9D4C65E-8345-479A-8FFD-68C2D17F55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164463"/>
              </p:ext>
            </p:extLst>
          </p:nvPr>
        </p:nvGraphicFramePr>
        <p:xfrm>
          <a:off x="324483" y="3091894"/>
          <a:ext cx="8185532" cy="1645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6832">
                  <a:extLst>
                    <a:ext uri="{9D8B030D-6E8A-4147-A177-3AD203B41FA5}">
                      <a16:colId xmlns:a16="http://schemas.microsoft.com/office/drawing/2014/main" val="3542617279"/>
                    </a:ext>
                  </a:extLst>
                </a:gridCol>
                <a:gridCol w="1048387">
                  <a:extLst>
                    <a:ext uri="{9D8B030D-6E8A-4147-A177-3AD203B41FA5}">
                      <a16:colId xmlns:a16="http://schemas.microsoft.com/office/drawing/2014/main" val="659375798"/>
                    </a:ext>
                  </a:extLst>
                </a:gridCol>
                <a:gridCol w="1048387">
                  <a:extLst>
                    <a:ext uri="{9D8B030D-6E8A-4147-A177-3AD203B41FA5}">
                      <a16:colId xmlns:a16="http://schemas.microsoft.com/office/drawing/2014/main" val="941564361"/>
                    </a:ext>
                  </a:extLst>
                </a:gridCol>
                <a:gridCol w="1048387">
                  <a:extLst>
                    <a:ext uri="{9D8B030D-6E8A-4147-A177-3AD203B41FA5}">
                      <a16:colId xmlns:a16="http://schemas.microsoft.com/office/drawing/2014/main" val="2778764158"/>
                    </a:ext>
                  </a:extLst>
                </a:gridCol>
                <a:gridCol w="1216490">
                  <a:extLst>
                    <a:ext uri="{9D8B030D-6E8A-4147-A177-3AD203B41FA5}">
                      <a16:colId xmlns:a16="http://schemas.microsoft.com/office/drawing/2014/main" val="1364812798"/>
                    </a:ext>
                  </a:extLst>
                </a:gridCol>
                <a:gridCol w="1075421">
                  <a:extLst>
                    <a:ext uri="{9D8B030D-6E8A-4147-A177-3AD203B41FA5}">
                      <a16:colId xmlns:a16="http://schemas.microsoft.com/office/drawing/2014/main" val="2795509683"/>
                    </a:ext>
                  </a:extLst>
                </a:gridCol>
                <a:gridCol w="948995">
                  <a:extLst>
                    <a:ext uri="{9D8B030D-6E8A-4147-A177-3AD203B41FA5}">
                      <a16:colId xmlns:a16="http://schemas.microsoft.com/office/drawing/2014/main" val="3095371932"/>
                    </a:ext>
                  </a:extLst>
                </a:gridCol>
                <a:gridCol w="952633">
                  <a:extLst>
                    <a:ext uri="{9D8B030D-6E8A-4147-A177-3AD203B41FA5}">
                      <a16:colId xmlns:a16="http://schemas.microsoft.com/office/drawing/2014/main" val="1522455720"/>
                    </a:ext>
                  </a:extLst>
                </a:gridCol>
              </a:tblGrid>
              <a:tr h="478819">
                <a:tc>
                  <a:txBody>
                    <a:bodyPr/>
                    <a:lstStyle/>
                    <a:p>
                      <a:endParaRPr lang="en-AU" sz="1400" dirty="0"/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Side length 1 </a:t>
                      </a:r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Side length 2</a:t>
                      </a:r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Side length 3 </a:t>
                      </a:r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Perimeter</a:t>
                      </a:r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Base Length</a:t>
                      </a:r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Height</a:t>
                      </a:r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Area</a:t>
                      </a:r>
                    </a:p>
                  </a:txBody>
                  <a:tcPr marL="47625" marR="47625" marT="23813" marB="23813"/>
                </a:tc>
                <a:extLst>
                  <a:ext uri="{0D108BD9-81ED-4DB2-BD59-A6C34878D82A}">
                    <a16:rowId xmlns:a16="http://schemas.microsoft.com/office/drawing/2014/main" val="2922521002"/>
                  </a:ext>
                </a:extLst>
              </a:tr>
              <a:tr h="388847">
                <a:tc>
                  <a:txBody>
                    <a:bodyPr/>
                    <a:lstStyle/>
                    <a:p>
                      <a:r>
                        <a:rPr lang="en-AU" sz="1400" dirty="0"/>
                        <a:t>Jill</a:t>
                      </a:r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b="1" dirty="0">
                          <a:solidFill>
                            <a:srgbClr val="C00000"/>
                          </a:solidFill>
                        </a:rPr>
                        <a:t>7</a:t>
                      </a:r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b="1" dirty="0">
                          <a:solidFill>
                            <a:srgbClr val="C00000"/>
                          </a:solidFill>
                        </a:rPr>
                        <a:t>14</a:t>
                      </a:r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b="1" dirty="0">
                          <a:solidFill>
                            <a:srgbClr val="C00000"/>
                          </a:solidFill>
                        </a:rPr>
                        <a:t>15</a:t>
                      </a:r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b="1" dirty="0">
                          <a:solidFill>
                            <a:srgbClr val="C00000"/>
                          </a:solidFill>
                        </a:rPr>
                        <a:t>36m</a:t>
                      </a:r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b="1" dirty="0">
                          <a:solidFill>
                            <a:srgbClr val="C00000"/>
                          </a:solidFill>
                        </a:rPr>
                        <a:t>15</a:t>
                      </a:r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b="1" dirty="0">
                          <a:solidFill>
                            <a:srgbClr val="C00000"/>
                          </a:solidFill>
                        </a:rPr>
                        <a:t>6.5</a:t>
                      </a:r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b="1" dirty="0">
                          <a:solidFill>
                            <a:srgbClr val="C00000"/>
                          </a:solidFill>
                        </a:rPr>
                        <a:t>48.75m</a:t>
                      </a:r>
                      <a:r>
                        <a:rPr lang="en-AU" sz="1600" b="1" baseline="30000" dirty="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en-AU" sz="1600" b="1" dirty="0">
                        <a:solidFill>
                          <a:srgbClr val="C00000"/>
                        </a:solidFill>
                      </a:endParaRPr>
                    </a:p>
                  </a:txBody>
                  <a:tcPr marL="47625" marR="47625" marT="23813" marB="23813"/>
                </a:tc>
                <a:extLst>
                  <a:ext uri="{0D108BD9-81ED-4DB2-BD59-A6C34878D82A}">
                    <a16:rowId xmlns:a16="http://schemas.microsoft.com/office/drawing/2014/main" val="1518300637"/>
                  </a:ext>
                </a:extLst>
              </a:tr>
              <a:tr h="388847">
                <a:tc>
                  <a:txBody>
                    <a:bodyPr/>
                    <a:lstStyle/>
                    <a:p>
                      <a:r>
                        <a:rPr lang="en-AU" sz="1400" dirty="0"/>
                        <a:t>Steph</a:t>
                      </a:r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b="1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b="1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b="1" dirty="0">
                          <a:solidFill>
                            <a:srgbClr val="C00000"/>
                          </a:solidFill>
                        </a:rPr>
                        <a:t>15</a:t>
                      </a:r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b="1" dirty="0">
                          <a:solidFill>
                            <a:srgbClr val="C00000"/>
                          </a:solidFill>
                        </a:rPr>
                        <a:t>36m</a:t>
                      </a:r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b="1" dirty="0">
                          <a:solidFill>
                            <a:srgbClr val="C00000"/>
                          </a:solidFill>
                        </a:rPr>
                        <a:t>11</a:t>
                      </a:r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b="1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b="1" dirty="0">
                          <a:solidFill>
                            <a:srgbClr val="C00000"/>
                          </a:solidFill>
                        </a:rPr>
                        <a:t>55m</a:t>
                      </a:r>
                      <a:r>
                        <a:rPr lang="en-AU" sz="1600" b="1" baseline="30000" dirty="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en-AU" sz="1600" b="1" dirty="0">
                        <a:solidFill>
                          <a:srgbClr val="C00000"/>
                        </a:solidFill>
                      </a:endParaRPr>
                    </a:p>
                  </a:txBody>
                  <a:tcPr marL="47625" marR="47625" marT="23813" marB="23813"/>
                </a:tc>
                <a:extLst>
                  <a:ext uri="{0D108BD9-81ED-4DB2-BD59-A6C34878D82A}">
                    <a16:rowId xmlns:a16="http://schemas.microsoft.com/office/drawing/2014/main" val="1161213448"/>
                  </a:ext>
                </a:extLst>
              </a:tr>
              <a:tr h="388847">
                <a:tc>
                  <a:txBody>
                    <a:bodyPr/>
                    <a:lstStyle/>
                    <a:p>
                      <a:r>
                        <a:rPr lang="en-AU" sz="1400" dirty="0"/>
                        <a:t>Adam</a:t>
                      </a:r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b="1" dirty="0">
                          <a:solidFill>
                            <a:srgbClr val="C00000"/>
                          </a:solidFill>
                        </a:rPr>
                        <a:t>12</a:t>
                      </a:r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b="1" dirty="0">
                          <a:solidFill>
                            <a:srgbClr val="C00000"/>
                          </a:solidFill>
                        </a:rPr>
                        <a:t>12</a:t>
                      </a:r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b="1" dirty="0">
                          <a:solidFill>
                            <a:srgbClr val="C00000"/>
                          </a:solidFill>
                        </a:rPr>
                        <a:t>12</a:t>
                      </a:r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b="1" dirty="0">
                          <a:solidFill>
                            <a:srgbClr val="C00000"/>
                          </a:solidFill>
                        </a:rPr>
                        <a:t>36m</a:t>
                      </a:r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b="1" dirty="0">
                          <a:solidFill>
                            <a:srgbClr val="C00000"/>
                          </a:solidFill>
                        </a:rPr>
                        <a:t>12</a:t>
                      </a:r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b="1" dirty="0">
                          <a:solidFill>
                            <a:srgbClr val="C00000"/>
                          </a:solidFill>
                        </a:rPr>
                        <a:t>11.5</a:t>
                      </a:r>
                    </a:p>
                  </a:txBody>
                  <a:tcPr marL="47625" marR="47625" marT="23813" marB="238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600" b="1" dirty="0">
                          <a:solidFill>
                            <a:srgbClr val="C00000"/>
                          </a:solidFill>
                        </a:rPr>
                        <a:t>69m</a:t>
                      </a:r>
                      <a:r>
                        <a:rPr lang="en-AU" sz="1600" b="1" baseline="30000" dirty="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en-AU" sz="1600" b="1" dirty="0">
                        <a:solidFill>
                          <a:srgbClr val="C00000"/>
                        </a:solidFill>
                      </a:endParaRPr>
                    </a:p>
                  </a:txBody>
                  <a:tcPr marL="47625" marR="47625" marT="23813" marB="23813"/>
                </a:tc>
                <a:extLst>
                  <a:ext uri="{0D108BD9-81ED-4DB2-BD59-A6C34878D82A}">
                    <a16:rowId xmlns:a16="http://schemas.microsoft.com/office/drawing/2014/main" val="37714502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7031663-C809-447E-AF1B-AE4CDE93E52E}"/>
              </a:ext>
            </a:extLst>
          </p:cNvPr>
          <p:cNvSpPr txBox="1"/>
          <p:nvPr/>
        </p:nvSpPr>
        <p:spPr>
          <a:xfrm>
            <a:off x="175202" y="4737254"/>
            <a:ext cx="87935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e) Looking at the triangle that has the biggest area, what do you notice about the lengths of the sides compare to the other 2?  </a:t>
            </a:r>
            <a:r>
              <a:rPr lang="en-AU" b="1" dirty="0">
                <a:solidFill>
                  <a:srgbClr val="C00000"/>
                </a:solidFill>
              </a:rPr>
              <a:t>When triangles have the same perimeter, the closer the sides are to </a:t>
            </a:r>
            <a:r>
              <a:rPr lang="en-AU" b="1" dirty="0" err="1">
                <a:solidFill>
                  <a:srgbClr val="C00000"/>
                </a:solidFill>
              </a:rPr>
              <a:t>beging</a:t>
            </a:r>
            <a:r>
              <a:rPr lang="en-AU" b="1" dirty="0">
                <a:solidFill>
                  <a:srgbClr val="C00000"/>
                </a:solidFill>
              </a:rPr>
              <a:t> equal, the larger the area.</a:t>
            </a:r>
          </a:p>
        </p:txBody>
      </p:sp>
    </p:spTree>
    <p:extLst>
      <p:ext uri="{BB962C8B-B14F-4D97-AF65-F5344CB8AC3E}">
        <p14:creationId xmlns:p14="http://schemas.microsoft.com/office/powerpoint/2010/main" val="1200023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4059</TotalTime>
  <Words>602</Words>
  <Application>Microsoft Office PowerPoint</Application>
  <PresentationFormat>On-screen Show (16:10)</PresentationFormat>
  <Paragraphs>143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맑은 고딕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WILSON</dc:creator>
  <cp:lastModifiedBy>WILSON James [Baldivis Secondary College]</cp:lastModifiedBy>
  <cp:revision>42</cp:revision>
  <cp:lastPrinted>2019-05-21T02:54:41Z</cp:lastPrinted>
  <dcterms:created xsi:type="dcterms:W3CDTF">2019-04-08T13:45:02Z</dcterms:created>
  <dcterms:modified xsi:type="dcterms:W3CDTF">2019-05-23T07:43:53Z</dcterms:modified>
</cp:coreProperties>
</file>
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56" r:id="rId4"/>
    <p:sldId id="257" r:id="rId5"/>
    <p:sldId id="263" r:id="rId6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1260" y="-1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002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718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939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211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6405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67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9804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436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1609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24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036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084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316AE6-334D-4CDA-A021-D36EC680E15B}"/>
              </a:ext>
            </a:extLst>
          </p:cNvPr>
          <p:cNvSpPr txBox="1"/>
          <p:nvPr/>
        </p:nvSpPr>
        <p:spPr>
          <a:xfrm>
            <a:off x="339640" y="2227111"/>
            <a:ext cx="61912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Three Farmers need to make a paddock for their sheep.  Farmer Jill makes a square paddock that is 50m x 50m.  Farmer Steph makes a paddock that is 65m x 35m and Farmer Adam makes a paddock that is 80m x 20m.</a:t>
            </a:r>
          </a:p>
          <a:p>
            <a:endParaRPr lang="en-AU" sz="1400" dirty="0"/>
          </a:p>
          <a:p>
            <a:r>
              <a:rPr lang="en-AU" sz="1400" dirty="0"/>
              <a:t>a) Add these dimensions to the diagrams below.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716CAC-41DC-4907-A6ED-AF067A4E1E1B}"/>
              </a:ext>
            </a:extLst>
          </p:cNvPr>
          <p:cNvSpPr/>
          <p:nvPr/>
        </p:nvSpPr>
        <p:spPr>
          <a:xfrm>
            <a:off x="4653467" y="4134470"/>
            <a:ext cx="1447800" cy="12555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99961-0370-4976-BD0F-E3E978642A40}"/>
              </a:ext>
            </a:extLst>
          </p:cNvPr>
          <p:cNvSpPr txBox="1"/>
          <p:nvPr/>
        </p:nvSpPr>
        <p:spPr>
          <a:xfrm>
            <a:off x="4699085" y="4644909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Jill’s Paddock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644051-47EC-43C1-BCFE-4FAE35BA2BFE}"/>
              </a:ext>
            </a:extLst>
          </p:cNvPr>
          <p:cNvSpPr/>
          <p:nvPr/>
        </p:nvSpPr>
        <p:spPr>
          <a:xfrm>
            <a:off x="711115" y="4107513"/>
            <a:ext cx="3000375" cy="12555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CF9BC-FD5C-42FE-86FD-528EDBB547D2}"/>
              </a:ext>
            </a:extLst>
          </p:cNvPr>
          <p:cNvSpPr txBox="1"/>
          <p:nvPr/>
        </p:nvSpPr>
        <p:spPr>
          <a:xfrm>
            <a:off x="1411048" y="4607105"/>
            <a:ext cx="201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Steph’s Paddock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F9956E-C235-4767-9D54-260C0B72CDBA}"/>
              </a:ext>
            </a:extLst>
          </p:cNvPr>
          <p:cNvSpPr/>
          <p:nvPr/>
        </p:nvSpPr>
        <p:spPr>
          <a:xfrm>
            <a:off x="1330740" y="5908128"/>
            <a:ext cx="4314829" cy="590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94EEC-DF19-4DF8-BEC1-CDAEF77DB5F7}"/>
              </a:ext>
            </a:extLst>
          </p:cNvPr>
          <p:cNvSpPr txBox="1"/>
          <p:nvPr/>
        </p:nvSpPr>
        <p:spPr>
          <a:xfrm>
            <a:off x="2420023" y="6036724"/>
            <a:ext cx="201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Adam’s Paddock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90EC41-E8A5-44EF-B1F0-CED821C3532C}"/>
              </a:ext>
            </a:extLst>
          </p:cNvPr>
          <p:cNvSpPr txBox="1"/>
          <p:nvPr/>
        </p:nvSpPr>
        <p:spPr>
          <a:xfrm>
            <a:off x="339640" y="7147792"/>
            <a:ext cx="63436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b) Use your knowledge of perimeter to work out the amount of fence required for each paddock.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c)Now use the area formula below to calculate the area inside each paddock and complete the table on the next page.</a:t>
            </a:r>
          </a:p>
          <a:p>
            <a:endParaRPr lang="en-AU" sz="1400" dirty="0"/>
          </a:p>
          <a:p>
            <a:r>
              <a:rPr lang="en-AU" sz="1400" dirty="0"/>
              <a:t>	Area of a rectangle = length x width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2DA92A5-4F5B-42AE-8BE0-286FB2629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50689"/>
              </p:ext>
            </p:extLst>
          </p:nvPr>
        </p:nvGraphicFramePr>
        <p:xfrm>
          <a:off x="162426" y="253736"/>
          <a:ext cx="6533147" cy="161393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1159086">
                  <a:extLst>
                    <a:ext uri="{9D8B030D-6E8A-4147-A177-3AD203B41FA5}">
                      <a16:colId xmlns:a16="http://schemas.microsoft.com/office/drawing/2014/main" val="2569470469"/>
                    </a:ext>
                  </a:extLst>
                </a:gridCol>
                <a:gridCol w="4037233">
                  <a:extLst>
                    <a:ext uri="{9D8B030D-6E8A-4147-A177-3AD203B41FA5}">
                      <a16:colId xmlns:a16="http://schemas.microsoft.com/office/drawing/2014/main" val="2917185707"/>
                    </a:ext>
                  </a:extLst>
                </a:gridCol>
                <a:gridCol w="1336828">
                  <a:extLst>
                    <a:ext uri="{9D8B030D-6E8A-4147-A177-3AD203B41FA5}">
                      <a16:colId xmlns:a16="http://schemas.microsoft.com/office/drawing/2014/main" val="2455032625"/>
                    </a:ext>
                  </a:extLst>
                </a:gridCol>
              </a:tblGrid>
              <a:tr h="72819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Name: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Class:</a:t>
                      </a:r>
                      <a:endParaRPr lang="en-A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____________________________________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________________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 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Date:_________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extLst>
                  <a:ext uri="{0D108BD9-81ED-4DB2-BD59-A6C34878D82A}">
                    <a16:rowId xmlns:a16="http://schemas.microsoft.com/office/drawing/2014/main" val="3764351360"/>
                  </a:ext>
                </a:extLst>
              </a:tr>
              <a:tr h="88574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0" marR="58340" marT="0" marB="0"/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Year 7 Mathematics 2019</a:t>
                      </a:r>
                      <a:r>
                        <a:rPr lang="en-AU" sz="120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Investigation #1 Area and Perimeter</a:t>
                      </a:r>
                      <a:endParaRPr lang="en-AU" sz="12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Resources Allowed: Personal notebook/ calculator</a:t>
                      </a:r>
                      <a:endParaRPr lang="en-AU" sz="10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Time allowed:  20mins for part A and 35mins for part B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 A : Collaborative Component (not marked)</a:t>
                      </a:r>
                      <a:endParaRPr lang="en-AU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791456"/>
                  </a:ext>
                </a:extLst>
              </a:tr>
            </a:tbl>
          </a:graphicData>
        </a:graphic>
      </p:graphicFrame>
      <p:pic>
        <p:nvPicPr>
          <p:cNvPr id="13" name="Picture 8">
            <a:extLst>
              <a:ext uri="{FF2B5EF4-FFF2-40B4-BE49-F238E27FC236}">
                <a16:creationId xmlns:a16="http://schemas.microsoft.com/office/drawing/2014/main" id="{5D06EC44-01B2-4EF1-AE4B-12BCD991A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19" y="1026667"/>
            <a:ext cx="692262" cy="74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7053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8F6CDC-9111-4B57-BCED-1233C9883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881719" y="3016555"/>
            <a:ext cx="8382256" cy="35139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BEB236-D6E2-4A3C-BC7D-B6B331DCF349}"/>
              </a:ext>
            </a:extLst>
          </p:cNvPr>
          <p:cNvSpPr txBox="1"/>
          <p:nvPr/>
        </p:nvSpPr>
        <p:spPr>
          <a:xfrm>
            <a:off x="4181893" y="582386"/>
            <a:ext cx="615553" cy="838225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AU" sz="1400" dirty="0"/>
              <a:t>Looking at the paddock with the largest area, what do you notice about the length of the sides?</a:t>
            </a:r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190772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F45212D-7C2E-4649-88C5-DC6D1A6D70A8}"/>
              </a:ext>
            </a:extLst>
          </p:cNvPr>
          <p:cNvGrpSpPr/>
          <p:nvPr/>
        </p:nvGrpSpPr>
        <p:grpSpPr>
          <a:xfrm>
            <a:off x="745997" y="2449074"/>
            <a:ext cx="4005441" cy="2029693"/>
            <a:chOff x="634847" y="425851"/>
            <a:chExt cx="4005441" cy="202969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CCD2CB6-35E7-4199-B074-1A70D0399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4847" y="425851"/>
              <a:ext cx="4005441" cy="2029693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DB8D39C-369F-4492-ACD6-71D6952E8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920114" y="632458"/>
              <a:ext cx="348615" cy="117157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865E286-D247-4BF8-86E4-5E3D605B7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74" y="4475910"/>
            <a:ext cx="2965765" cy="25003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81C3BB-EBAA-44DF-9F96-1EED236A1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9988" y="4475909"/>
            <a:ext cx="2832923" cy="25003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4FCFE0-D782-4F2E-97E9-DC3F184F6FA0}"/>
              </a:ext>
            </a:extLst>
          </p:cNvPr>
          <p:cNvSpPr txBox="1"/>
          <p:nvPr/>
        </p:nvSpPr>
        <p:spPr>
          <a:xfrm>
            <a:off x="539783" y="7007122"/>
            <a:ext cx="604952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400" dirty="0"/>
          </a:p>
          <a:p>
            <a:pPr marL="342900" indent="-342900">
              <a:buAutoNum type="alphaLcParenR"/>
            </a:pPr>
            <a:r>
              <a:rPr lang="en-AU" sz="1400" dirty="0"/>
              <a:t>How much fence did they each use? </a:t>
            </a:r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b) How did you work this out? Show all 3 calculations</a:t>
            </a:r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 </a:t>
            </a:r>
          </a:p>
          <a:p>
            <a:r>
              <a:rPr lang="en-AU" sz="1400" dirty="0"/>
              <a:t>c) Mathematically What is the term we use for “the distance around the shape”? 	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B91BCD-6029-45AA-AA9A-5B2418216E3E}"/>
              </a:ext>
            </a:extLst>
          </p:cNvPr>
          <p:cNvSpPr txBox="1"/>
          <p:nvPr/>
        </p:nvSpPr>
        <p:spPr>
          <a:xfrm>
            <a:off x="1407640" y="317399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Jill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8993F6-51ED-4506-8B2A-6A259560B941}"/>
              </a:ext>
            </a:extLst>
          </p:cNvPr>
          <p:cNvSpPr txBox="1"/>
          <p:nvPr/>
        </p:nvSpPr>
        <p:spPr>
          <a:xfrm>
            <a:off x="907281" y="5582755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1E7A8D-FAD3-4B1A-9423-D55F1F482480}"/>
              </a:ext>
            </a:extLst>
          </p:cNvPr>
          <p:cNvSpPr txBox="1"/>
          <p:nvPr/>
        </p:nvSpPr>
        <p:spPr>
          <a:xfrm>
            <a:off x="4879327" y="563555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Adam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30F95A-4FD3-4345-B5BE-D0C71B3B4F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4908" y="6621042"/>
            <a:ext cx="288357" cy="1276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479195-CC3C-40C6-B6F9-1139363A8F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575" y="6586446"/>
            <a:ext cx="291065" cy="12767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201601D-3CAD-4BAD-A2F2-42EBBABA43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1549" y="6694714"/>
            <a:ext cx="277064" cy="12767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EABD67-05CD-48A4-8749-3C2B9FED0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7976" y="6694714"/>
            <a:ext cx="277721" cy="1276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37BD06-DDF6-4BB2-967D-282E8AA183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602" y="4016455"/>
            <a:ext cx="324853" cy="1595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ECC21D-0F77-4D0D-96FA-084303D1CB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9327" y="4661582"/>
            <a:ext cx="289093" cy="1652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CCBC10-0A92-4213-8923-F8F88F9568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783" y="4583865"/>
            <a:ext cx="367498" cy="1653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67D0B8-4D28-4F22-9582-F5B32EB602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3497" y="4032500"/>
            <a:ext cx="352087" cy="18448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DE48C29-3588-4460-892C-AEC296A61F2E}"/>
              </a:ext>
            </a:extLst>
          </p:cNvPr>
          <p:cNvSpPr txBox="1"/>
          <p:nvPr/>
        </p:nvSpPr>
        <p:spPr>
          <a:xfrm>
            <a:off x="4340081" y="6218538"/>
            <a:ext cx="22047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The height of Adam’s triangle is 11.5m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71098C-AAD8-427F-97DC-77293B120BBE}"/>
              </a:ext>
            </a:extLst>
          </p:cNvPr>
          <p:cNvSpPr txBox="1"/>
          <p:nvPr/>
        </p:nvSpPr>
        <p:spPr>
          <a:xfrm>
            <a:off x="907281" y="6129126"/>
            <a:ext cx="20106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The height of Steph’s triangle is 10m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AFAEC33-45C3-466A-8D70-F06C62210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947555"/>
              </p:ext>
            </p:extLst>
          </p:nvPr>
        </p:nvGraphicFramePr>
        <p:xfrm>
          <a:off x="156410" y="104596"/>
          <a:ext cx="6533147" cy="161393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1159086">
                  <a:extLst>
                    <a:ext uri="{9D8B030D-6E8A-4147-A177-3AD203B41FA5}">
                      <a16:colId xmlns:a16="http://schemas.microsoft.com/office/drawing/2014/main" val="2569470469"/>
                    </a:ext>
                  </a:extLst>
                </a:gridCol>
                <a:gridCol w="4037233">
                  <a:extLst>
                    <a:ext uri="{9D8B030D-6E8A-4147-A177-3AD203B41FA5}">
                      <a16:colId xmlns:a16="http://schemas.microsoft.com/office/drawing/2014/main" val="2917185707"/>
                    </a:ext>
                  </a:extLst>
                </a:gridCol>
                <a:gridCol w="1336828">
                  <a:extLst>
                    <a:ext uri="{9D8B030D-6E8A-4147-A177-3AD203B41FA5}">
                      <a16:colId xmlns:a16="http://schemas.microsoft.com/office/drawing/2014/main" val="2455032625"/>
                    </a:ext>
                  </a:extLst>
                </a:gridCol>
              </a:tblGrid>
              <a:tr h="72819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Name: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Class:</a:t>
                      </a:r>
                      <a:endParaRPr lang="en-A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____________________________________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________________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 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Date:_________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extLst>
                  <a:ext uri="{0D108BD9-81ED-4DB2-BD59-A6C34878D82A}">
                    <a16:rowId xmlns:a16="http://schemas.microsoft.com/office/drawing/2014/main" val="3764351360"/>
                  </a:ext>
                </a:extLst>
              </a:tr>
              <a:tr h="88574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0" marR="58340" marT="0" marB="0"/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Year 7 Mathematics 2019</a:t>
                      </a:r>
                      <a:r>
                        <a:rPr lang="en-AU" sz="120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Investigation #1 Area and Perimeter</a:t>
                      </a:r>
                      <a:endParaRPr lang="en-AU" sz="12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Resources Allowed: Personal notebook/ calculator</a:t>
                      </a:r>
                      <a:endParaRPr lang="en-AU" sz="10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Time allowed:  35mins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 B : Individual Component</a:t>
                      </a:r>
                      <a:endParaRPr lang="en-AU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791456"/>
                  </a:ext>
                </a:extLst>
              </a:tr>
            </a:tbl>
          </a:graphicData>
        </a:graphic>
      </p:graphicFrame>
      <p:pic>
        <p:nvPicPr>
          <p:cNvPr id="2052" name="Picture 8">
            <a:extLst>
              <a:ext uri="{FF2B5EF4-FFF2-40B4-BE49-F238E27FC236}">
                <a16:creationId xmlns:a16="http://schemas.microsoft.com/office/drawing/2014/main" id="{0F81D27F-8429-46DA-AEA4-3CCC37BAF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98" y="892471"/>
            <a:ext cx="692262" cy="74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Box 3">
            <a:extLst>
              <a:ext uri="{FF2B5EF4-FFF2-40B4-BE49-F238E27FC236}">
                <a16:creationId xmlns:a16="http://schemas.microsoft.com/office/drawing/2014/main" id="{A60D37D3-288C-40B6-8A36-5A362F0F6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5376" y="1173257"/>
            <a:ext cx="1392984" cy="60759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marL="914400">
              <a:lnSpc>
                <a:spcPct val="115000"/>
              </a:lnSpc>
              <a:spcAft>
                <a:spcPts val="0"/>
              </a:spcAft>
            </a:pPr>
            <a:r>
              <a:rPr lang="en-AU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/6</a:t>
            </a:r>
            <a:endParaRPr lang="en-A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793415-BC17-40FB-A3CA-1F253F218260}"/>
              </a:ext>
            </a:extLst>
          </p:cNvPr>
          <p:cNvSpPr/>
          <p:nvPr/>
        </p:nvSpPr>
        <p:spPr>
          <a:xfrm>
            <a:off x="269566" y="1741758"/>
            <a:ext cx="653314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b="1" dirty="0"/>
              <a:t>Question 1. </a:t>
            </a:r>
          </a:p>
          <a:p>
            <a:r>
              <a:rPr lang="en-AU" sz="1400" dirty="0"/>
              <a:t>Farmer Jill, Farmer Steph and Farmer Adam needed to build a small enclosure for chickens.  Each farmer used the same amount of fencing. </a:t>
            </a:r>
            <a:endParaRPr lang="en-AU" sz="1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FF4EFA-E7C1-43BF-8954-42244B7E3795}"/>
              </a:ext>
            </a:extLst>
          </p:cNvPr>
          <p:cNvSpPr txBox="1"/>
          <p:nvPr/>
        </p:nvSpPr>
        <p:spPr>
          <a:xfrm>
            <a:off x="1116575" y="3584410"/>
            <a:ext cx="2443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The height of Jill’s triangle is 6.5m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012371-43FC-481B-A6CC-9575E8F77C52}"/>
              </a:ext>
            </a:extLst>
          </p:cNvPr>
          <p:cNvSpPr txBox="1"/>
          <p:nvPr/>
        </p:nvSpPr>
        <p:spPr>
          <a:xfrm>
            <a:off x="2198812" y="5416851"/>
            <a:ext cx="71609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62533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2529BA-3734-41A9-A00D-B9FB0F08C330}"/>
              </a:ext>
            </a:extLst>
          </p:cNvPr>
          <p:cNvSpPr txBox="1"/>
          <p:nvPr/>
        </p:nvSpPr>
        <p:spPr>
          <a:xfrm>
            <a:off x="371475" y="115082"/>
            <a:ext cx="59055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Question2.</a:t>
            </a:r>
          </a:p>
          <a:p>
            <a:r>
              <a:rPr lang="en-AU" sz="1400" dirty="0"/>
              <a:t>The three farmers all thought their enclosures were the biggest. Use the area of a triangle formula to work out which farmer is right. </a:t>
            </a:r>
            <a:endParaRPr lang="en-AU" sz="1400" b="1" dirty="0"/>
          </a:p>
          <a:p>
            <a:endParaRPr lang="en-AU" sz="1400" dirty="0"/>
          </a:p>
          <a:p>
            <a:r>
              <a:rPr lang="en-AU" sz="1400" dirty="0"/>
              <a:t>	Area of a triangle  = base x height ÷ 2</a:t>
            </a:r>
          </a:p>
          <a:p>
            <a:endParaRPr lang="en-AU" sz="1400" dirty="0"/>
          </a:p>
          <a:p>
            <a:r>
              <a:rPr lang="en-AU" sz="1400" dirty="0"/>
              <a:t>a) What is the area of Jill’s enclosure?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b) What is the area of Steph’s enclosure? 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c) What is the area of Adam’s enclosure? 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d) Use the information you have calculated so far to complete the table below.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D4C65E-8345-479A-8FFD-68C2D17F5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377591"/>
              </p:ext>
            </p:extLst>
          </p:nvPr>
        </p:nvGraphicFramePr>
        <p:xfrm>
          <a:off x="284399" y="5233817"/>
          <a:ext cx="6079651" cy="15811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8968">
                  <a:extLst>
                    <a:ext uri="{9D8B030D-6E8A-4147-A177-3AD203B41FA5}">
                      <a16:colId xmlns:a16="http://schemas.microsoft.com/office/drawing/2014/main" val="3542617279"/>
                    </a:ext>
                  </a:extLst>
                </a:gridCol>
                <a:gridCol w="778669">
                  <a:extLst>
                    <a:ext uri="{9D8B030D-6E8A-4147-A177-3AD203B41FA5}">
                      <a16:colId xmlns:a16="http://schemas.microsoft.com/office/drawing/2014/main" val="659375798"/>
                    </a:ext>
                  </a:extLst>
                </a:gridCol>
                <a:gridCol w="778669">
                  <a:extLst>
                    <a:ext uri="{9D8B030D-6E8A-4147-A177-3AD203B41FA5}">
                      <a16:colId xmlns:a16="http://schemas.microsoft.com/office/drawing/2014/main" val="941564361"/>
                    </a:ext>
                  </a:extLst>
                </a:gridCol>
                <a:gridCol w="778669">
                  <a:extLst>
                    <a:ext uri="{9D8B030D-6E8A-4147-A177-3AD203B41FA5}">
                      <a16:colId xmlns:a16="http://schemas.microsoft.com/office/drawing/2014/main" val="2778764158"/>
                    </a:ext>
                  </a:extLst>
                </a:gridCol>
                <a:gridCol w="903526">
                  <a:extLst>
                    <a:ext uri="{9D8B030D-6E8A-4147-A177-3AD203B41FA5}">
                      <a16:colId xmlns:a16="http://schemas.microsoft.com/office/drawing/2014/main" val="1364812798"/>
                    </a:ext>
                  </a:extLst>
                </a:gridCol>
                <a:gridCol w="798749">
                  <a:extLst>
                    <a:ext uri="{9D8B030D-6E8A-4147-A177-3AD203B41FA5}">
                      <a16:colId xmlns:a16="http://schemas.microsoft.com/office/drawing/2014/main" val="2795509683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095371932"/>
                    </a:ext>
                  </a:extLst>
                </a:gridCol>
                <a:gridCol w="707551">
                  <a:extLst>
                    <a:ext uri="{9D8B030D-6E8A-4147-A177-3AD203B41FA5}">
                      <a16:colId xmlns:a16="http://schemas.microsoft.com/office/drawing/2014/main" val="1522455720"/>
                    </a:ext>
                  </a:extLst>
                </a:gridCol>
              </a:tblGrid>
              <a:tr h="35941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Side length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Side length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Side length 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Perimeter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Base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521002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r>
                        <a:rPr lang="en-AU" dirty="0"/>
                        <a:t>Jill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300637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r>
                        <a:rPr lang="en-AU" dirty="0"/>
                        <a:t>Steph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213448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r>
                        <a:rPr lang="en-AU" dirty="0"/>
                        <a:t>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4502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7031663-C809-447E-AF1B-AE4CDE93E52E}"/>
              </a:ext>
            </a:extLst>
          </p:cNvPr>
          <p:cNvSpPr txBox="1"/>
          <p:nvPr/>
        </p:nvSpPr>
        <p:spPr>
          <a:xfrm>
            <a:off x="257175" y="7200900"/>
            <a:ext cx="6343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e) Looking at the triangle that has the biggest area, what do you notice about the lengths of the sides compare to the other 2? </a:t>
            </a:r>
          </a:p>
        </p:txBody>
      </p:sp>
    </p:spTree>
    <p:extLst>
      <p:ext uri="{BB962C8B-B14F-4D97-AF65-F5344CB8AC3E}">
        <p14:creationId xmlns:p14="http://schemas.microsoft.com/office/powerpoint/2010/main" val="3753203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arallelogram 17">
            <a:extLst>
              <a:ext uri="{FF2B5EF4-FFF2-40B4-BE49-F238E27FC236}">
                <a16:creationId xmlns:a16="http://schemas.microsoft.com/office/drawing/2014/main" id="{BC115628-4D56-4B39-AFBE-3FC80B65D622}"/>
              </a:ext>
            </a:extLst>
          </p:cNvPr>
          <p:cNvSpPr/>
          <p:nvPr/>
        </p:nvSpPr>
        <p:spPr>
          <a:xfrm>
            <a:off x="1211519" y="4524957"/>
            <a:ext cx="2536634" cy="1083787"/>
          </a:xfrm>
          <a:prstGeom prst="parallelogram">
            <a:avLst>
              <a:gd name="adj" fmla="val 3482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Flowchart: Data 1">
            <a:extLst>
              <a:ext uri="{FF2B5EF4-FFF2-40B4-BE49-F238E27FC236}">
                <a16:creationId xmlns:a16="http://schemas.microsoft.com/office/drawing/2014/main" id="{90F5321C-76D4-4FBB-9D73-C6D8DF662F78}"/>
              </a:ext>
            </a:extLst>
          </p:cNvPr>
          <p:cNvSpPr/>
          <p:nvPr/>
        </p:nvSpPr>
        <p:spPr>
          <a:xfrm>
            <a:off x="984336" y="2905138"/>
            <a:ext cx="3963296" cy="738664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316AE6-334D-4CDA-A021-D36EC680E15B}"/>
              </a:ext>
            </a:extLst>
          </p:cNvPr>
          <p:cNvSpPr txBox="1"/>
          <p:nvPr/>
        </p:nvSpPr>
        <p:spPr>
          <a:xfrm>
            <a:off x="333375" y="1670371"/>
            <a:ext cx="61912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Question 3</a:t>
            </a:r>
          </a:p>
          <a:p>
            <a:r>
              <a:rPr lang="en-AU" sz="1400" dirty="0"/>
              <a:t>Our 3 farmers now need to make a paddock for their sheep.  Below are the 3 paddocks they are each planning.</a:t>
            </a:r>
          </a:p>
          <a:p>
            <a:endParaRPr lang="en-AU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CF9BC-FD5C-42FE-86FD-528EDBB547D2}"/>
              </a:ext>
            </a:extLst>
          </p:cNvPr>
          <p:cNvSpPr txBox="1"/>
          <p:nvPr/>
        </p:nvSpPr>
        <p:spPr>
          <a:xfrm>
            <a:off x="2218746" y="3025000"/>
            <a:ext cx="201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Steph’s Paddock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90EC41-E8A5-44EF-B1F0-CED821C3532C}"/>
              </a:ext>
            </a:extLst>
          </p:cNvPr>
          <p:cNvSpPr txBox="1"/>
          <p:nvPr/>
        </p:nvSpPr>
        <p:spPr>
          <a:xfrm>
            <a:off x="333375" y="8406245"/>
            <a:ext cx="63436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Given what you know about area and perimeter from rectangles and triangles, what can you tell me about these three paddocks.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2CE0943-6D2F-483F-86EC-3A62C1F2200E}"/>
              </a:ext>
            </a:extLst>
          </p:cNvPr>
          <p:cNvCxnSpPr>
            <a:cxnSpLocks/>
          </p:cNvCxnSpPr>
          <p:nvPr/>
        </p:nvCxnSpPr>
        <p:spPr>
          <a:xfrm flipH="1">
            <a:off x="1955885" y="2905138"/>
            <a:ext cx="16736" cy="75244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6DC61B6-B7DF-41C5-81DC-3B9BDDE7A5C4}"/>
              </a:ext>
            </a:extLst>
          </p:cNvPr>
          <p:cNvSpPr txBox="1"/>
          <p:nvPr/>
        </p:nvSpPr>
        <p:spPr>
          <a:xfrm>
            <a:off x="2218746" y="3596085"/>
            <a:ext cx="1800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90m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0B1DA4-567E-4332-8B7E-087707466B0A}"/>
              </a:ext>
            </a:extLst>
          </p:cNvPr>
          <p:cNvSpPr txBox="1"/>
          <p:nvPr/>
        </p:nvSpPr>
        <p:spPr>
          <a:xfrm rot="19143581">
            <a:off x="1149127" y="2932150"/>
            <a:ext cx="641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10m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AE9D5B-4767-43BF-831C-C20DD2FD5B34}"/>
              </a:ext>
            </a:extLst>
          </p:cNvPr>
          <p:cNvSpPr txBox="1"/>
          <p:nvPr/>
        </p:nvSpPr>
        <p:spPr>
          <a:xfrm rot="16200000">
            <a:off x="1540154" y="3062379"/>
            <a:ext cx="641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8m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FC421E-FACB-4D37-BCFC-0A6E0F710EB4}"/>
              </a:ext>
            </a:extLst>
          </p:cNvPr>
          <p:cNvSpPr txBox="1"/>
          <p:nvPr/>
        </p:nvSpPr>
        <p:spPr>
          <a:xfrm>
            <a:off x="2280399" y="5535126"/>
            <a:ext cx="1800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75m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AA6427-25A7-4F14-A428-F2047DFFCDBC}"/>
              </a:ext>
            </a:extLst>
          </p:cNvPr>
          <p:cNvSpPr txBox="1"/>
          <p:nvPr/>
        </p:nvSpPr>
        <p:spPr>
          <a:xfrm rot="17405291">
            <a:off x="1049035" y="4676267"/>
            <a:ext cx="677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25m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86D7063-6302-4DC8-9429-6A82ADD538DC}"/>
              </a:ext>
            </a:extLst>
          </p:cNvPr>
          <p:cNvCxnSpPr>
            <a:cxnSpLocks/>
          </p:cNvCxnSpPr>
          <p:nvPr/>
        </p:nvCxnSpPr>
        <p:spPr>
          <a:xfrm>
            <a:off x="1697707" y="4524957"/>
            <a:ext cx="0" cy="108378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638E9FE-B670-4170-BC5C-F52FBA69D8A3}"/>
              </a:ext>
            </a:extLst>
          </p:cNvPr>
          <p:cNvSpPr txBox="1"/>
          <p:nvPr/>
        </p:nvSpPr>
        <p:spPr>
          <a:xfrm rot="16200000">
            <a:off x="1481014" y="4714052"/>
            <a:ext cx="641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20m</a:t>
            </a:r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A8DDF008-D21C-45ED-B885-0F0A551C9712}"/>
              </a:ext>
            </a:extLst>
          </p:cNvPr>
          <p:cNvSpPr/>
          <p:nvPr/>
        </p:nvSpPr>
        <p:spPr>
          <a:xfrm>
            <a:off x="1415291" y="6163000"/>
            <a:ext cx="2269858" cy="1549182"/>
          </a:xfrm>
          <a:prstGeom prst="parallelogram">
            <a:avLst>
              <a:gd name="adj" fmla="val 3482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75F234-F337-481A-AC94-85E0EDC3B0BA}"/>
              </a:ext>
            </a:extLst>
          </p:cNvPr>
          <p:cNvSpPr txBox="1"/>
          <p:nvPr/>
        </p:nvSpPr>
        <p:spPr>
          <a:xfrm>
            <a:off x="2158144" y="7640530"/>
            <a:ext cx="1800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50m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66D0B5-3342-4B5F-A504-ABB80BF5C132}"/>
              </a:ext>
            </a:extLst>
          </p:cNvPr>
          <p:cNvSpPr txBox="1"/>
          <p:nvPr/>
        </p:nvSpPr>
        <p:spPr>
          <a:xfrm rot="17405291">
            <a:off x="1175103" y="6498825"/>
            <a:ext cx="10876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50m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6088FEA-7546-4DF5-9B61-24E7085C8138}"/>
              </a:ext>
            </a:extLst>
          </p:cNvPr>
          <p:cNvCxnSpPr>
            <a:cxnSpLocks/>
          </p:cNvCxnSpPr>
          <p:nvPr/>
        </p:nvCxnSpPr>
        <p:spPr>
          <a:xfrm>
            <a:off x="2065382" y="6185046"/>
            <a:ext cx="0" cy="154695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9466FE5-DBE0-4B58-9A55-46DD5A7A25A0}"/>
              </a:ext>
            </a:extLst>
          </p:cNvPr>
          <p:cNvSpPr txBox="1"/>
          <p:nvPr/>
        </p:nvSpPr>
        <p:spPr>
          <a:xfrm rot="16200000">
            <a:off x="1610951" y="6416826"/>
            <a:ext cx="1031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40m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F39A9B-2650-4B85-A44C-C36801B86089}"/>
              </a:ext>
            </a:extLst>
          </p:cNvPr>
          <p:cNvSpPr txBox="1"/>
          <p:nvPr/>
        </p:nvSpPr>
        <p:spPr>
          <a:xfrm>
            <a:off x="1917451" y="4801901"/>
            <a:ext cx="201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Jill’s Paddock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2EE680-6BFC-4FD2-888D-9E0076DE7E9C}"/>
              </a:ext>
            </a:extLst>
          </p:cNvPr>
          <p:cNvSpPr txBox="1"/>
          <p:nvPr/>
        </p:nvSpPr>
        <p:spPr>
          <a:xfrm>
            <a:off x="2317872" y="6417736"/>
            <a:ext cx="129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Adam’s </a:t>
            </a:r>
          </a:p>
          <a:p>
            <a:r>
              <a:rPr lang="en-AU" dirty="0"/>
              <a:t>Paddock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5D4C3F-388D-4EF4-BF7B-D96CC4E65E1C}"/>
              </a:ext>
            </a:extLst>
          </p:cNvPr>
          <p:cNvSpPr txBox="1"/>
          <p:nvPr/>
        </p:nvSpPr>
        <p:spPr>
          <a:xfrm>
            <a:off x="1801997" y="7989618"/>
            <a:ext cx="4231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Area of a parallelogram = base x height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AC69658-F1AA-4E5D-BF78-4ABE3E880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105378"/>
              </p:ext>
            </p:extLst>
          </p:nvPr>
        </p:nvGraphicFramePr>
        <p:xfrm>
          <a:off x="156410" y="104596"/>
          <a:ext cx="6533147" cy="161393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1159086">
                  <a:extLst>
                    <a:ext uri="{9D8B030D-6E8A-4147-A177-3AD203B41FA5}">
                      <a16:colId xmlns:a16="http://schemas.microsoft.com/office/drawing/2014/main" val="2569470469"/>
                    </a:ext>
                  </a:extLst>
                </a:gridCol>
                <a:gridCol w="4037233">
                  <a:extLst>
                    <a:ext uri="{9D8B030D-6E8A-4147-A177-3AD203B41FA5}">
                      <a16:colId xmlns:a16="http://schemas.microsoft.com/office/drawing/2014/main" val="2917185707"/>
                    </a:ext>
                  </a:extLst>
                </a:gridCol>
                <a:gridCol w="1336828">
                  <a:extLst>
                    <a:ext uri="{9D8B030D-6E8A-4147-A177-3AD203B41FA5}">
                      <a16:colId xmlns:a16="http://schemas.microsoft.com/office/drawing/2014/main" val="2455032625"/>
                    </a:ext>
                  </a:extLst>
                </a:gridCol>
              </a:tblGrid>
              <a:tr h="72819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Name: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Class:</a:t>
                      </a:r>
                      <a:endParaRPr lang="en-A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____________________________________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________________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 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Date:_________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extLst>
                  <a:ext uri="{0D108BD9-81ED-4DB2-BD59-A6C34878D82A}">
                    <a16:rowId xmlns:a16="http://schemas.microsoft.com/office/drawing/2014/main" val="3764351360"/>
                  </a:ext>
                </a:extLst>
              </a:tr>
              <a:tr h="88574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0" marR="58340" marT="0" marB="0"/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Year 7 Mathematics 2019</a:t>
                      </a:r>
                      <a:r>
                        <a:rPr lang="en-AU" sz="120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Investigation #1 Area and Perimeter</a:t>
                      </a:r>
                      <a:endParaRPr lang="en-AU" sz="12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Resources Allowed: Personal notebook/ calculator</a:t>
                      </a:r>
                      <a:endParaRPr lang="en-AU" sz="10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Time allowed:  35mins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 B : Validation</a:t>
                      </a:r>
                      <a:endParaRPr lang="en-AU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791456"/>
                  </a:ext>
                </a:extLst>
              </a:tr>
            </a:tbl>
          </a:graphicData>
        </a:graphic>
      </p:graphicFrame>
      <p:sp>
        <p:nvSpPr>
          <p:cNvPr id="29" name="Text Box 3">
            <a:extLst>
              <a:ext uri="{FF2B5EF4-FFF2-40B4-BE49-F238E27FC236}">
                <a16:creationId xmlns:a16="http://schemas.microsoft.com/office/drawing/2014/main" id="{9C5EBF24-15B3-4A04-94E8-B676091AC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5376" y="1173257"/>
            <a:ext cx="1392984" cy="60759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marL="914400">
              <a:lnSpc>
                <a:spcPct val="115000"/>
              </a:lnSpc>
              <a:spcAft>
                <a:spcPts val="0"/>
              </a:spcAft>
            </a:pPr>
            <a:r>
              <a:rPr lang="en-AU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/19</a:t>
            </a:r>
            <a:endParaRPr lang="en-A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" name="Picture 8">
            <a:extLst>
              <a:ext uri="{FF2B5EF4-FFF2-40B4-BE49-F238E27FC236}">
                <a16:creationId xmlns:a16="http://schemas.microsoft.com/office/drawing/2014/main" id="{7B388CF2-727D-4A88-8147-C42B5D74D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98" y="892471"/>
            <a:ext cx="692262" cy="74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156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4049</TotalTime>
  <Words>469</Words>
  <Application>Microsoft Office PowerPoint</Application>
  <PresentationFormat>A4 Paper (210x297 mm)</PresentationFormat>
  <Paragraphs>125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WILSON</dc:creator>
  <cp:lastModifiedBy>WILSON James [Baldivis Secondary College]</cp:lastModifiedBy>
  <cp:revision>38</cp:revision>
  <cp:lastPrinted>2019-05-21T02:54:41Z</cp:lastPrinted>
  <dcterms:created xsi:type="dcterms:W3CDTF">2019-04-08T13:45:02Z</dcterms:created>
  <dcterms:modified xsi:type="dcterms:W3CDTF">2019-05-23T07:45:52Z</dcterms:modified>
</cp:coreProperties>
</file>
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2" r:id="rId2"/>
    <p:sldId id="313" r:id="rId3"/>
    <p:sldId id="333" r:id="rId4"/>
    <p:sldId id="317" r:id="rId5"/>
    <p:sldId id="318" r:id="rId6"/>
    <p:sldId id="319" r:id="rId7"/>
    <p:sldId id="320" r:id="rId8"/>
    <p:sldId id="257" r:id="rId9"/>
    <p:sldId id="315" r:id="rId10"/>
    <p:sldId id="314" r:id="rId11"/>
    <p:sldId id="316" r:id="rId12"/>
    <p:sldId id="321" r:id="rId13"/>
    <p:sldId id="323" r:id="rId14"/>
    <p:sldId id="324" r:id="rId15"/>
    <p:sldId id="337" r:id="rId16"/>
    <p:sldId id="338" r:id="rId17"/>
    <p:sldId id="325" r:id="rId18"/>
    <p:sldId id="326" r:id="rId19"/>
    <p:sldId id="328" r:id="rId20"/>
    <p:sldId id="329" r:id="rId21"/>
    <p:sldId id="327" r:id="rId22"/>
    <p:sldId id="330" r:id="rId23"/>
    <p:sldId id="339" r:id="rId24"/>
    <p:sldId id="334" r:id="rId25"/>
    <p:sldId id="33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9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E6BB-3F3A-4F6B-B1A3-1BED2C0D8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7AD8D-FB3D-4914-BB5D-818758EB2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8957E-D038-423A-99B2-7DD963C7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893CF-02DA-4754-ABA7-7F244161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35201-3BEE-4664-9FA6-99D56DAC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594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F991-45BD-434D-938F-DA7880F4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BFF1D-B8D9-4396-B980-BEC47350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971B-6BFD-4666-A1DC-41F636A4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76F19-1EC1-4319-85D4-12F5AF15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13663-A39F-4652-8D72-C1B4F41E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927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AF98-1640-450E-A226-B25E9CA0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B48D7-DFF2-4524-AE2B-4B80BE042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4576A-50F6-4868-A108-6FF78627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57C84-0507-489A-B7F0-4BBA10A2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19688-745C-4489-AAC1-9F5DB3A2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348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1810-741E-451D-BCE5-1D316B67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F8583-088A-476F-9051-128716E0C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FCBA3-4DEC-48DE-AB4E-407545973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D118-15A8-47E5-B278-523DA1B2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9E444-DF00-400C-856D-5661CB14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164A2-FF6F-448D-A13D-3F5218E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37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70EB-7497-447A-A430-65CF2E3C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65AD4-5BBA-4CD3-854D-4DE31631D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75E06-08EC-443D-9D13-1AED74033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49E9E-7936-4262-BB63-A3C3B192A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BF30D-FE73-4474-BF5A-A7D1CF0FB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E772F-4623-4437-B453-EA03E27A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999F3-D264-43A4-93B0-C3DB52DD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231FD-EC30-4259-9775-B686788A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178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E9D9-A393-4C0A-9356-0E693596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26077-0722-4D12-AAB8-B0EEF497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4317D-5128-4679-B68A-C7DEA022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46FD4-5FAA-4A41-9BE4-4571A1A3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570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D25DF-3BF1-4861-8B1C-27D02D16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CCD06-4A81-4247-A5B8-310636EE6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4B930-2934-495B-BBA4-E2923F02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288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8A2CC-FE14-48E9-AD42-20DF7414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7AAE5-BFCE-4FF8-BDAD-7FD97BAEF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E9984-853C-4084-98F9-7102E6E5B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0748E-27CD-4123-AE14-A1DA889E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4FC2C-C940-4E68-8FF0-B8BE60B1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36AFF-B216-4FCA-85D7-5506461A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7146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059D-0E89-49BE-BC20-63C9145D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3C52D-F2CA-4ECD-9E9E-9E07AE4E9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68AAF-1880-4450-92AE-057D7C1A4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1F028-2A1E-420A-B822-E027E5AB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249C1-749B-46C1-BF94-99D99144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35403-E0D1-4F2D-BD32-49092963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608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BC3C-2A7A-4FF5-A2CC-CD2A88CB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EF2B1-D4A2-44EF-B6E6-D91066ED2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D3E8A-FF2B-4CE3-99B5-973C5790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50A9D-9C13-4CEA-8D15-9320EEBE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735B8-A899-4C97-9408-5E5A2E79A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747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76357-A7B4-4880-A6C5-A09206ED9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94814-F4EA-4080-8E4B-F295043B5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5DC3E-A425-407E-A989-1B8CFFC8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51E8-8D38-477C-A14E-9A093556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AAED0-5359-472F-BE02-CA030AC6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327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0A2657-6886-420B-BBA8-5EDFBF82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6A261-3B16-47D1-AC48-DCBD0BD37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166C8-2718-4F6C-BDC8-FE56B9F04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0F9F9-7A40-4966-8F32-A3E2821B366C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BA221-EF99-4612-A124-79300C0E8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C0C3D-BB07-4531-8193-9661D1AB4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A8DF5-22EC-4218-8B38-5399D5FA9C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303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255469" y="826426"/>
            <a:ext cx="11696434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/>
              <a:t>I will </a:t>
            </a:r>
            <a:r>
              <a:rPr lang="en-AU" sz="4000" b="1" dirty="0"/>
              <a:t>u</a:t>
            </a:r>
            <a:r>
              <a:rPr lang="en-AU" sz="4000" b="1" dirty="0" smtClean="0"/>
              <a:t>se the “make </a:t>
            </a:r>
            <a:r>
              <a:rPr lang="en-AU" sz="4000" b="1" dirty="0"/>
              <a:t>easy </a:t>
            </a:r>
            <a:r>
              <a:rPr lang="en-AU" sz="4000" b="1" dirty="0" smtClean="0"/>
              <a:t>numbers” </a:t>
            </a:r>
            <a:r>
              <a:rPr lang="en-AU" sz="4000" b="1" dirty="0"/>
              <a:t>strategy </a:t>
            </a:r>
            <a:r>
              <a:rPr lang="en-AU" sz="4000" b="1" dirty="0" smtClean="0"/>
              <a:t>and identify </a:t>
            </a:r>
            <a:r>
              <a:rPr lang="en-AU" sz="4000" b="1" dirty="0"/>
              <a:t>the commutative and associative laws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0" y="2041904"/>
            <a:ext cx="12207373" cy="70788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73663" y="2830499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File Paper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Pencil, 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Scissors and glue stick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Calculator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123" y="2939479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1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7F7D4-5903-4E98-9165-0E03CE925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83" y="861390"/>
            <a:ext cx="11820939" cy="5830957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No daily review.</a:t>
            </a:r>
            <a:endParaRPr lang="en-AU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AU" sz="2000" dirty="0"/>
          </a:p>
        </p:txBody>
      </p:sp>
      <p:pic>
        <p:nvPicPr>
          <p:cNvPr id="2050" name="Picture 2" descr="Image result for shrug gif">
            <a:extLst>
              <a:ext uri="{FF2B5EF4-FFF2-40B4-BE49-F238E27FC236}">
                <a16:creationId xmlns:a16="http://schemas.microsoft.com/office/drawing/2014/main" id="{427DAD04-2842-45F9-A3D0-CB98953ED98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4" y="2231935"/>
            <a:ext cx="6674955" cy="3764675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43C974-B200-4D83-87A9-31B7BC2AEF6E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46141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305148" y="1111972"/>
            <a:ext cx="93588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 smtClean="0"/>
              <a:t>I will use </a:t>
            </a:r>
            <a:r>
              <a:rPr lang="en-AU" sz="3200" b="1" dirty="0"/>
              <a:t>the </a:t>
            </a:r>
            <a:r>
              <a:rPr lang="en-AU" sz="3200" b="1" dirty="0" smtClean="0"/>
              <a:t>“make </a:t>
            </a:r>
            <a:r>
              <a:rPr lang="en-AU" sz="3200" b="1" dirty="0"/>
              <a:t>easy </a:t>
            </a:r>
            <a:r>
              <a:rPr lang="en-AU" sz="3200" b="1" dirty="0" smtClean="0"/>
              <a:t>numbers” </a:t>
            </a:r>
            <a:r>
              <a:rPr lang="en-AU" sz="3200" b="1" dirty="0"/>
              <a:t>strategy and identify the commutative and associative laws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414104" y="4440062"/>
            <a:ext cx="91409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/>
              <a:t>Calculate using the “make easy numbers’ strategy</a:t>
            </a:r>
            <a:r>
              <a:rPr lang="en-AU" sz="2800" dirty="0"/>
              <a:t> </a:t>
            </a:r>
            <a:endParaRPr lang="en-A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 smtClean="0">
                <a:cs typeface="Arial" panose="020B0604020202020204" pitchFamily="34" charset="0"/>
              </a:rPr>
              <a:t>Identify the commutative law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Identify the </a:t>
            </a:r>
            <a:r>
              <a:rPr lang="en-AU" sz="2800" b="1" dirty="0" smtClean="0">
                <a:cs typeface="Arial" panose="020B0604020202020204" pitchFamily="34" charset="0"/>
              </a:rPr>
              <a:t>associative </a:t>
            </a:r>
            <a:r>
              <a:rPr lang="en-AU" sz="2800" b="1" dirty="0">
                <a:cs typeface="Arial" panose="020B0604020202020204" pitchFamily="34" charset="0"/>
              </a:rPr>
              <a:t>law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162E80-D033-4498-861C-98BA3DE75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629" y="2708146"/>
            <a:ext cx="3675267" cy="205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3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sz="3200" b="1" dirty="0" smtClean="0"/>
              <a:t>Add 5 and 6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605090" y="186613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5 + 6 = 11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328375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Add 7 and 9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689849" y="45534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+ 9 = 16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448205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8057803" y="159192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773606" y="1242163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2 + 6 =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7773607" y="2037731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5</a:t>
            </a:r>
            <a:r>
              <a:rPr lang="en-AU" sz="3200" dirty="0" smtClean="0"/>
              <a:t> + 7 =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773608" y="2784309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4</a:t>
            </a:r>
            <a:r>
              <a:rPr lang="en-AU" sz="3200" dirty="0" smtClean="0"/>
              <a:t> + 10 =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7773605" y="3634725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1 + 1 =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7773604" y="4485989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7</a:t>
            </a:r>
            <a:r>
              <a:rPr lang="en-AU" sz="3200" dirty="0" smtClean="0"/>
              <a:t> + 9 =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7773603" y="5279236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23 + 16 =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89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  <p:bldP spid="2" grpId="0" animBg="1"/>
      <p:bldP spid="4" grpId="0"/>
      <p:bldP spid="18" grpId="0"/>
      <p:bldP spid="19" grpId="0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sz="3200" b="1" dirty="0" smtClean="0"/>
              <a:t>Multiply 5 and 6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605090" y="186613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5 x 6 = 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328375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Multiply 7 and 9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689849" y="45534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x 9 = 63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448205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17" name="TextBox 16"/>
          <p:cNvSpPr txBox="1"/>
          <p:nvPr/>
        </p:nvSpPr>
        <p:spPr>
          <a:xfrm>
            <a:off x="8057803" y="159192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773606" y="1242163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2 x 6 =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773607" y="2037731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5</a:t>
            </a:r>
            <a:r>
              <a:rPr lang="en-AU" sz="3200" dirty="0" smtClean="0"/>
              <a:t> x 8 =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7773608" y="2784309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2 x 11 =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7773605" y="3634725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12 x 1 =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7773604" y="4485989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3 x </a:t>
            </a:r>
            <a:r>
              <a:rPr lang="en-AU" sz="3200" dirty="0"/>
              <a:t>7</a:t>
            </a:r>
            <a:r>
              <a:rPr lang="en-AU" sz="3200" dirty="0" smtClean="0"/>
              <a:t> =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7773603" y="5279236"/>
            <a:ext cx="2660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20 </a:t>
            </a:r>
            <a:r>
              <a:rPr lang="en-AU" sz="3200" dirty="0"/>
              <a:t>x</a:t>
            </a:r>
            <a:r>
              <a:rPr lang="en-AU" sz="3200" dirty="0" smtClean="0"/>
              <a:t> 6 =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381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  <p:bldP spid="17" grpId="0" animBg="1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You will need to develop easy strategies to help you add and multiply without a calculator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26230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That scooter looks awesome – I have $230 and the scooter is $192, but I need enough money for my bus fare…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441681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Luckily, I can use my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mental strategies to help!!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236" y="44384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201488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Relevance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9934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sz="3200" b="1" dirty="0"/>
              <a:t>C</a:t>
            </a:r>
            <a:r>
              <a:rPr lang="en-AU" sz="3200" b="1" dirty="0" smtClean="0"/>
              <a:t>ommutative law – the order in which I add or multiply any two numbers does not change the answer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Commutative law?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6471" y="284643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x 5 = 35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236" y="44384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688732" y="284306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5</a:t>
            </a:r>
            <a:r>
              <a:rPr lang="en-AU" sz="3200" b="1" dirty="0" smtClean="0"/>
              <a:t> x 7 = 35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6471" y="4038096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+ </a:t>
            </a:r>
            <a:r>
              <a:rPr lang="en-AU" sz="3200" b="1" dirty="0"/>
              <a:t>8</a:t>
            </a:r>
            <a:r>
              <a:rPr lang="en-AU" sz="3200" b="1" dirty="0" smtClean="0"/>
              <a:t> =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688732" y="4040393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8</a:t>
            </a:r>
            <a:r>
              <a:rPr lang="en-AU" sz="3200" b="1" dirty="0" smtClean="0"/>
              <a:t> + 7 =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4022609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60374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0" grpId="0" build="p"/>
      <p:bldP spid="14" grpId="0" build="p"/>
      <p:bldP spid="15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The order in which you add or multiply two numbers,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4+7 and 7+4?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4 + 7 = 11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7</a:t>
            </a:r>
            <a:r>
              <a:rPr lang="en-AU" sz="3200" b="1" dirty="0" smtClean="0"/>
              <a:t> + 4 = 11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commutative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3+8 and 8+3?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3056383"/>
            <a:ext cx="2146851" cy="1239965"/>
            <a:chOff x="660398" y="3602071"/>
            <a:chExt cx="2035631" cy="882026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21385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The order in which you add or multiply two numbers,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14+7 and 7+14?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10 + 7 = 17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7</a:t>
            </a:r>
            <a:r>
              <a:rPr lang="en-AU" sz="3200" b="1" dirty="0" smtClean="0"/>
              <a:t> + 10 = 17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commutative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13+8 and 8+13?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3056383"/>
            <a:ext cx="2146851" cy="1239965"/>
            <a:chOff x="660398" y="3602071"/>
            <a:chExt cx="2035631" cy="8820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07321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The order in which you add or multiply two numbers,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4x7 and 7x4?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4 x 7 = 28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</a:t>
            </a:r>
            <a:r>
              <a:rPr lang="en-AU" sz="3200" b="1" dirty="0"/>
              <a:t>x</a:t>
            </a:r>
            <a:r>
              <a:rPr lang="en-AU" sz="3200" b="1" dirty="0" smtClean="0"/>
              <a:t> 4 = 28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commutative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3x8 and 8x3?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3059411"/>
            <a:ext cx="2146851" cy="1239965"/>
            <a:chOff x="660398" y="3602071"/>
            <a:chExt cx="2035631" cy="8820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4448863"/>
            <a:ext cx="2146851" cy="1239965"/>
            <a:chOff x="660398" y="3602071"/>
            <a:chExt cx="2035631" cy="88202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this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7618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The order in which you add or multiply two numbers,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4x10 and 10x4?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10 x 7 = 70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</a:t>
            </a:r>
            <a:r>
              <a:rPr lang="en-AU" sz="3200" b="1" dirty="0"/>
              <a:t>x</a:t>
            </a:r>
            <a:r>
              <a:rPr lang="en-AU" sz="3200" b="1" dirty="0" smtClean="0"/>
              <a:t> 10 = 70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commutative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10x8 and 8x10?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3059411"/>
            <a:ext cx="2146851" cy="1239965"/>
            <a:chOff x="660398" y="3602071"/>
            <a:chExt cx="2035631" cy="8820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4448863"/>
            <a:ext cx="2146851" cy="1239965"/>
            <a:chOff x="660398" y="3602071"/>
            <a:chExt cx="2035631" cy="88202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this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18237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Associative law – the order in which 3 or more numbers are added or multiplied,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7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Associative law?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72177" y="2605383"/>
            <a:ext cx="324969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x 3 x 5 = 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the associative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236" y="44384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346823" y="258291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3</a:t>
            </a:r>
            <a:r>
              <a:rPr lang="en-AU" sz="3200" b="1" dirty="0" smtClean="0"/>
              <a:t> x </a:t>
            </a:r>
            <a:r>
              <a:rPr lang="en-AU" sz="3200" b="1" dirty="0"/>
              <a:t>5</a:t>
            </a:r>
            <a:r>
              <a:rPr lang="en-AU" sz="3200" b="1" dirty="0" smtClean="0"/>
              <a:t> x </a:t>
            </a:r>
            <a:r>
              <a:rPr lang="en-AU" sz="3200" b="1" dirty="0"/>
              <a:t>2</a:t>
            </a:r>
            <a:r>
              <a:rPr lang="en-AU" sz="3200" b="1" dirty="0" smtClean="0"/>
              <a:t> =30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72177" y="4565680"/>
            <a:ext cx="270676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6 + 7 + 8 = 21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346823" y="456567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7</a:t>
            </a:r>
            <a:r>
              <a:rPr lang="en-AU" sz="3200" b="1" dirty="0" smtClean="0"/>
              <a:t> + </a:t>
            </a:r>
            <a:r>
              <a:rPr lang="en-AU" sz="3200" b="1" dirty="0"/>
              <a:t>8</a:t>
            </a:r>
            <a:r>
              <a:rPr lang="en-AU" sz="3200" b="1" dirty="0" smtClean="0"/>
              <a:t> + </a:t>
            </a:r>
            <a:r>
              <a:rPr lang="en-AU" sz="3200" b="1" dirty="0"/>
              <a:t>6</a:t>
            </a:r>
            <a:r>
              <a:rPr lang="en-AU" sz="3200" b="1" dirty="0" smtClean="0"/>
              <a:t> = 21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8334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0" grpId="0" build="p"/>
      <p:bldP spid="14" grpId="0" build="p"/>
      <p:bldP spid="15" grpId="0" build="p"/>
      <p:bldP spid="1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The order in which three or more numbers are added or multiplied,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4 x 10 x 2 </a:t>
              </a:r>
              <a:r>
                <a:rPr lang="en-AU" dirty="0">
                  <a:solidFill>
                    <a:schemeClr val="tx1"/>
                  </a:solidFill>
                </a:rPr>
                <a:t>and </a:t>
              </a:r>
              <a:r>
                <a:rPr lang="en-AU" dirty="0" smtClean="0">
                  <a:solidFill>
                    <a:schemeClr val="tx1"/>
                  </a:solidFill>
                </a:rPr>
                <a:t>10 </a:t>
              </a:r>
              <a:r>
                <a:rPr lang="en-AU" dirty="0">
                  <a:solidFill>
                    <a:schemeClr val="tx1"/>
                  </a:solidFill>
                </a:rPr>
                <a:t>x </a:t>
              </a:r>
              <a:r>
                <a:rPr lang="en-AU" dirty="0" smtClean="0">
                  <a:solidFill>
                    <a:schemeClr val="tx1"/>
                  </a:solidFill>
                </a:rPr>
                <a:t>2 x 4? 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 x 7 x 2 = 42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7</a:t>
            </a:r>
            <a:r>
              <a:rPr lang="en-AU" sz="3200" b="1" dirty="0" smtClean="0"/>
              <a:t> </a:t>
            </a:r>
            <a:r>
              <a:rPr lang="en-AU" sz="3200" b="1" dirty="0"/>
              <a:t>x</a:t>
            </a:r>
            <a:r>
              <a:rPr lang="en-AU" sz="3200" b="1" dirty="0" smtClean="0"/>
              <a:t> </a:t>
            </a:r>
            <a:r>
              <a:rPr lang="en-AU" sz="3200" b="1" dirty="0"/>
              <a:t>2</a:t>
            </a:r>
            <a:r>
              <a:rPr lang="en-AU" sz="3200" b="1" dirty="0" smtClean="0"/>
              <a:t> x </a:t>
            </a:r>
            <a:r>
              <a:rPr lang="en-AU" sz="3200" b="1" dirty="0"/>
              <a:t>3</a:t>
            </a:r>
            <a:r>
              <a:rPr lang="en-AU" sz="3200" b="1" dirty="0" smtClean="0"/>
              <a:t> = 42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associative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(10x2)x4 </a:t>
              </a:r>
              <a:r>
                <a:rPr lang="en-AU" dirty="0">
                  <a:solidFill>
                    <a:schemeClr val="tx1"/>
                  </a:solidFill>
                </a:rPr>
                <a:t>and </a:t>
              </a:r>
              <a:r>
                <a:rPr lang="en-AU" dirty="0" smtClean="0">
                  <a:solidFill>
                    <a:schemeClr val="tx1"/>
                  </a:solidFill>
                </a:rPr>
                <a:t>10x(2x4)?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3059411"/>
            <a:ext cx="2146851" cy="1239965"/>
            <a:chOff x="660398" y="3602071"/>
            <a:chExt cx="2035631" cy="8820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4448863"/>
            <a:ext cx="2146851" cy="1239965"/>
            <a:chOff x="660398" y="3602071"/>
            <a:chExt cx="2035631" cy="88202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this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43688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The order in which three or more numbers are added or multiplied,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92656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4 x 5 x 2 </a:t>
              </a:r>
              <a:r>
                <a:rPr lang="en-AU" dirty="0">
                  <a:solidFill>
                    <a:schemeClr val="tx1"/>
                  </a:solidFill>
                </a:rPr>
                <a:t>and </a:t>
              </a:r>
              <a:endParaRPr lang="en-AU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5 x 4 </a:t>
              </a:r>
              <a:r>
                <a:rPr lang="en-AU" dirty="0">
                  <a:solidFill>
                    <a:schemeClr val="tx1"/>
                  </a:solidFill>
                </a:rPr>
                <a:t>x </a:t>
              </a:r>
              <a:r>
                <a:rPr lang="en-AU" dirty="0" smtClean="0">
                  <a:solidFill>
                    <a:schemeClr val="tx1"/>
                  </a:solidFill>
                </a:rPr>
                <a:t>2? 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20569" y="287855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5 x 2 x 3 = 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5019" y="38109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x 3 x 5 = 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028319" y="511906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This is called the associative law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7" y="1638591"/>
            <a:ext cx="2146851" cy="1239965"/>
            <a:chOff x="660398" y="3602071"/>
            <a:chExt cx="2035631" cy="88202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  <a:r>
                <a:rPr lang="en-AU" sz="1400" b="1" dirty="0" smtClean="0">
                  <a:solidFill>
                    <a:schemeClr val="bg1"/>
                  </a:solidFill>
                </a:rPr>
                <a:t>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 we know about 3x2x4 </a:t>
              </a:r>
              <a:r>
                <a:rPr lang="en-AU" dirty="0">
                  <a:solidFill>
                    <a:schemeClr val="tx1"/>
                  </a:solidFill>
                </a:rPr>
                <a:t>and </a:t>
              </a:r>
              <a:r>
                <a:rPr lang="en-AU" dirty="0" smtClean="0">
                  <a:solidFill>
                    <a:schemeClr val="tx1"/>
                  </a:solidFill>
                </a:rPr>
                <a:t>2x4x3?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3059411"/>
            <a:ext cx="2146851" cy="1239965"/>
            <a:chOff x="660398" y="3602071"/>
            <a:chExt cx="2035631" cy="8820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this law called?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5" y="4448863"/>
            <a:ext cx="2146851" cy="1239965"/>
            <a:chOff x="660398" y="3602071"/>
            <a:chExt cx="2035631" cy="88202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this law state?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63943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4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are examples of the commutative law?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3 + 4 = 4 + 3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5 x 6 = 6 x 5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B:      10 + 6 = 5 + 5 + 3 + 3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4 + 2 + 10 = 10 + 4 + 2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3 x 4 x 8 = 3 x 8 x 4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3 x 4 = 10 + 2</a:t>
            </a:r>
            <a:endParaRPr lang="en-A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6495011" y="72044"/>
            <a:ext cx="517605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There may be more than one!!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2279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are examples of the associative law?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3.2 + 7.4 = 7.4 + 3.2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17 x 6 = 6 x 17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B:      10 + 6 = 5 + 5 + 3 + 3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D:     4 + 2 + 10 = 10 + 4 + 2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3 x 4 x 8 = 3 x 8 x 4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3 x 4 x 7 = 7 x 4 x 3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31282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3599846" y="4367742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Why did we place the 7 and 13 together?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+ 32 + 13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7 + 13 + 32   (swap the 32 and the 13)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20 </a:t>
            </a:r>
            <a:r>
              <a:rPr lang="en-AU" sz="3200" b="1" dirty="0" smtClean="0"/>
              <a:t>+ 32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52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8240683" y="2401590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3</a:t>
            </a:r>
            <a:r>
              <a:rPr lang="en-AU" sz="3200" b="1" dirty="0" smtClean="0"/>
              <a:t> + 44 + 17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7087985" y="1526638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34894" y="143004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71100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  <p:bldP spid="12" grpId="0" build="p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3464118" y="4189703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Why did we place the 5 and 5 together?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5</a:t>
            </a:r>
            <a:r>
              <a:rPr lang="en-AU" sz="3200" b="1" dirty="0" smtClean="0"/>
              <a:t> + 32 + 5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5 + 5 + 32   (swap the 32 and the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10 </a:t>
            </a:r>
            <a:r>
              <a:rPr lang="en-AU" sz="3200" b="1" dirty="0" smtClean="0"/>
              <a:t>+ 32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>
                <a:solidFill>
                  <a:srgbClr val="FF0000"/>
                </a:solidFill>
              </a:rPr>
              <a:t>4</a:t>
            </a:r>
            <a:r>
              <a:rPr lang="en-AU" sz="3200" b="1" dirty="0" smtClean="0">
                <a:solidFill>
                  <a:srgbClr val="FF0000"/>
                </a:solidFill>
              </a:rPr>
              <a:t>2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8240683" y="2401590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25 + 52 + </a:t>
            </a:r>
            <a:r>
              <a:rPr lang="en-AU" sz="3200" b="1" dirty="0"/>
              <a:t>5</a:t>
            </a:r>
            <a:r>
              <a:rPr lang="en-AU" sz="3200" b="1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7087985" y="1526638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34894" y="143004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14990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  <p:bldP spid="12" grpId="0" build="p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3884481" y="4035762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Why did we swap the 13 and 5?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x 13 x 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2 x 5 x 13 (swap 13 and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10 </a:t>
            </a:r>
            <a:r>
              <a:rPr lang="en-AU" sz="3200" b="1" dirty="0"/>
              <a:t>x</a:t>
            </a:r>
            <a:r>
              <a:rPr lang="en-AU" sz="3200" b="1" dirty="0" smtClean="0"/>
              <a:t> 13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130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8240683" y="2401590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 </a:t>
            </a:r>
            <a:r>
              <a:rPr lang="en-AU" sz="3200" b="1" dirty="0"/>
              <a:t>x</a:t>
            </a:r>
            <a:r>
              <a:rPr lang="en-AU" sz="3200" b="1" dirty="0" smtClean="0"/>
              <a:t> 22 x 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7087985" y="1526638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34894" y="143004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50214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  <p:bldP spid="12" grpId="0" build="p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3563807" y="4300274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Why did we swap the 9 and 5?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x 9 x 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2 x 5 x 9 (swap 9 and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10 </a:t>
            </a:r>
            <a:r>
              <a:rPr lang="en-AU" sz="3200" b="1" dirty="0"/>
              <a:t>x</a:t>
            </a:r>
            <a:r>
              <a:rPr lang="en-AU" sz="3200" b="1" dirty="0" smtClean="0"/>
              <a:t> 9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90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8240683" y="2401590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4 </a:t>
            </a:r>
            <a:r>
              <a:rPr lang="en-AU" sz="3200" b="1" dirty="0"/>
              <a:t>x</a:t>
            </a:r>
            <a:r>
              <a:rPr lang="en-AU" sz="3200" b="1" dirty="0" smtClean="0"/>
              <a:t> 7 x 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7087985" y="1526638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34894" y="143004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64159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  <p:bldP spid="12" grpId="0" build="p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3563807" y="4189703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Why did we subtract 7 from 568?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293 + 568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293 + 7 + 561   (take the 7 </a:t>
            </a:r>
            <a:r>
              <a:rPr lang="en-AU" sz="3200" b="1" smtClean="0"/>
              <a:t>from 568)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300 </a:t>
            </a:r>
            <a:r>
              <a:rPr lang="en-AU" sz="3200" b="1" dirty="0" smtClean="0"/>
              <a:t>+ 561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861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8240683" y="2401590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194 + 365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7087985" y="1526638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34894" y="143004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42231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  <p:bldP spid="13" grpId="0" build="p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We will now add using the 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423 + 96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419 + 96 + 4 (take 4 from the 423)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419 + </a:t>
            </a:r>
            <a:r>
              <a:rPr lang="en-AU" sz="3200" b="1" dirty="0" smtClean="0">
                <a:solidFill>
                  <a:srgbClr val="FF0000"/>
                </a:solidFill>
              </a:rPr>
              <a:t>100</a:t>
            </a:r>
            <a:endParaRPr lang="en-AU" sz="3200" b="1" dirty="0" smtClean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519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8240683" y="2401590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763 + 198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7087985" y="1526638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34894" y="143004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15231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9" grpId="0" build="p"/>
      <p:bldP spid="40" grpId="0" build="p"/>
      <p:bldP spid="19" grpId="0" build="p"/>
      <p:bldP spid="20" grpId="0" build="p"/>
      <p:bldP spid="12" grpId="0" build="p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47406" y="1522021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4 + 23 + 16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276310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Mixed Practice</a:t>
            </a:r>
            <a:endParaRPr lang="en-AU" sz="3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561588" y="1520291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2</a:t>
            </a:r>
            <a:r>
              <a:rPr lang="en-AU" sz="3200" b="1" dirty="0" smtClean="0"/>
              <a:t> x 18 x 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554187" y="1549979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09606" y="24045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8693524" y="1442705"/>
            <a:ext cx="2254799" cy="63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382 + 104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7462070" y="1549979"/>
            <a:ext cx="55419" cy="501824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09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7778" y="1250855"/>
            <a:ext cx="6762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Lesson Objectives: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b="1" dirty="0">
                <a:latin typeface="+mn-lt"/>
              </a:rPr>
              <a:t>What have we learnt today?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875B8-730A-4182-A181-5A8DBC604CE3}"/>
              </a:ext>
            </a:extLst>
          </p:cNvPr>
          <p:cNvSpPr txBox="1"/>
          <p:nvPr/>
        </p:nvSpPr>
        <p:spPr>
          <a:xfrm>
            <a:off x="363771" y="2019357"/>
            <a:ext cx="111780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I will use the “make easy numbers” strategy and identify the commutative and associative laws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810982" y="311197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299 + 188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59398" y="499892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300 </a:t>
            </a:r>
            <a:r>
              <a:rPr lang="en-AU" sz="3200" b="1" dirty="0" smtClean="0"/>
              <a:t>+ 187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59398" y="5971813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</a:t>
            </a:r>
            <a:r>
              <a:rPr lang="en-AU" sz="3200" b="1" dirty="0" smtClean="0">
                <a:solidFill>
                  <a:srgbClr val="FF0000"/>
                </a:solidFill>
              </a:rPr>
              <a:t>487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59398" y="4129403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= 299 + 1 + 187   (take 1 from 188)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pic>
        <p:nvPicPr>
          <p:cNvPr id="1026" name="Picture 2" descr="Image result for math meme cla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776" y="2862074"/>
            <a:ext cx="4807301" cy="350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89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3" grpId="0" build="p"/>
      <p:bldP spid="14" grpId="0" build="p"/>
      <p:bldP spid="1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</a:t>
            </a:r>
            <a:r>
              <a:rPr lang="en-AU" b="1" dirty="0" smtClean="0"/>
              <a:t>1.1  </a:t>
            </a:r>
            <a:endParaRPr lang="en-AU" b="1" dirty="0"/>
          </a:p>
          <a:p>
            <a:pPr marL="0" indent="0">
              <a:buNone/>
            </a:pPr>
            <a:r>
              <a:rPr lang="en-AU" b="1" dirty="0"/>
              <a:t>Questions</a:t>
            </a:r>
            <a:r>
              <a:rPr lang="en-AU" b="1"/>
              <a:t>: </a:t>
            </a:r>
            <a:r>
              <a:rPr lang="en-AU" b="1" smtClean="0"/>
              <a:t>1</a:t>
            </a: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7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1270</TotalTime>
  <Words>1399</Words>
  <Application>Microsoft Office PowerPoint</Application>
  <PresentationFormat>Widescreen</PresentationFormat>
  <Paragraphs>307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 Diep</dc:creator>
  <cp:lastModifiedBy>STEDMAN Shaun [Harrisdale Senior High School]</cp:lastModifiedBy>
  <cp:revision>79</cp:revision>
  <dcterms:created xsi:type="dcterms:W3CDTF">2019-01-02T02:05:22Z</dcterms:created>
  <dcterms:modified xsi:type="dcterms:W3CDTF">2021-12-16T05:10:18Z</dcterms:modified>
</cp:coreProperties>
</file>
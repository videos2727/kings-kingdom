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1" r:id="rId2"/>
    <p:sldId id="354" r:id="rId3"/>
    <p:sldId id="358" r:id="rId4"/>
    <p:sldId id="377" r:id="rId5"/>
    <p:sldId id="360" r:id="rId6"/>
    <p:sldId id="337" r:id="rId7"/>
    <p:sldId id="375" r:id="rId8"/>
    <p:sldId id="372" r:id="rId9"/>
    <p:sldId id="317" r:id="rId10"/>
    <p:sldId id="361" r:id="rId11"/>
    <p:sldId id="378" r:id="rId12"/>
    <p:sldId id="319" r:id="rId13"/>
    <p:sldId id="320" r:id="rId14"/>
    <p:sldId id="362" r:id="rId15"/>
    <p:sldId id="365" r:id="rId16"/>
    <p:sldId id="366" r:id="rId17"/>
    <p:sldId id="367" r:id="rId18"/>
    <p:sldId id="368" r:id="rId19"/>
    <p:sldId id="369" r:id="rId20"/>
    <p:sldId id="344" r:id="rId21"/>
    <p:sldId id="363" r:id="rId22"/>
    <p:sldId id="364" r:id="rId23"/>
    <p:sldId id="370" r:id="rId24"/>
    <p:sldId id="379" r:id="rId25"/>
    <p:sldId id="373" r:id="rId26"/>
    <p:sldId id="374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99" y="9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CE6BB-3F3A-4F6B-B1A3-1BED2C0D85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07AD8D-FB3D-4914-BB5D-818758EB2F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8957E-D038-423A-99B2-7DD963C7A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F9F9-7A40-4966-8F32-A3E2821B366C}" type="datetimeFigureOut">
              <a:rPr lang="en-AU" smtClean="0"/>
              <a:t>15/12/2021</a:t>
            </a:fld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893CF-02DA-4754-ABA7-7F2441614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35201-3BEE-4664-9FA6-99D56DAC5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A8DF5-22EC-4218-8B38-5399D5FA9C2C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5946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1F991-45BD-434D-938F-DA7880F4E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BFF1D-B8D9-4396-B980-BEC47350D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8971B-6BFD-4666-A1DC-41F636A42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F9F9-7A40-4966-8F32-A3E2821B366C}" type="datetimeFigureOut">
              <a:rPr lang="en-AU" smtClean="0"/>
              <a:t>15/12/2021</a:t>
            </a:fld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76F19-1EC1-4319-85D4-12F5AF150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513663-A39F-4652-8D72-C1B4F41E6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A8DF5-22EC-4218-8B38-5399D5FA9C2C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59271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1AF98-1640-450E-A226-B25E9CA05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0B48D7-DFF2-4524-AE2B-4B80BE0426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24576A-50F6-4868-A108-6FF786271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F9F9-7A40-4966-8F32-A3E2821B366C}" type="datetimeFigureOut">
              <a:rPr lang="en-AU" smtClean="0"/>
              <a:t>15/12/2021</a:t>
            </a:fld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C57C84-0507-489A-B7F0-4BBA10A21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19688-745C-4489-AAC1-9F5DB3A2B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A8DF5-22EC-4218-8B38-5399D5FA9C2C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83485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A1810-741E-451D-BCE5-1D316B676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F8583-088A-476F-9051-128716E0C0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6FCBA3-4DEC-48DE-AB4E-4075459734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98D118-15A8-47E5-B278-523DA1B2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F9F9-7A40-4966-8F32-A3E2821B366C}" type="datetimeFigureOut">
              <a:rPr lang="en-AU" smtClean="0"/>
              <a:t>15/12/2021</a:t>
            </a:fld>
            <a:endParaRPr lang="en-AU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9E444-DF00-400C-856D-5661CB14D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C164A2-FF6F-448D-A13D-3F5218E21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A8DF5-22EC-4218-8B38-5399D5FA9C2C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37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870EB-7497-447A-A430-65CF2E3C7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465AD4-5BBA-4CD3-854D-4DE31631DF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475E06-08EC-443D-9D13-1AED74033A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349E9E-7936-4262-BB63-A3C3B192A9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6BF30D-FE73-4474-BF5A-A7D1CF0FB9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BE772F-4623-4437-B453-EA03E27A5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F9F9-7A40-4966-8F32-A3E2821B366C}" type="datetimeFigureOut">
              <a:rPr lang="en-AU" smtClean="0"/>
              <a:t>15/12/2021</a:t>
            </a:fld>
            <a:endParaRPr lang="en-AU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7999F3-D264-43A4-93B0-C3DB52DDE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7231FD-EC30-4259-9775-B686788A3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A8DF5-22EC-4218-8B38-5399D5FA9C2C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1786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4E9D9-A393-4C0A-9356-0E693596B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726077-0722-4D12-AAB8-B0EEF4977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F9F9-7A40-4966-8F32-A3E2821B366C}" type="datetimeFigureOut">
              <a:rPr lang="en-AU" smtClean="0"/>
              <a:t>15/12/2021</a:t>
            </a:fld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E4317D-5128-4679-B68A-C7DEA0223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946FD4-5FAA-4A41-9BE4-4571A1A3A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A8DF5-22EC-4218-8B38-5399D5FA9C2C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15708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9D25DF-3BF1-4861-8B1C-27D02D164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F9F9-7A40-4966-8F32-A3E2821B366C}" type="datetimeFigureOut">
              <a:rPr lang="en-AU" smtClean="0"/>
              <a:t>15/12/2021</a:t>
            </a:fld>
            <a:endParaRPr lang="en-AU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2CCD06-4A81-4247-A5B8-310636EE6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64B930-2934-495B-BBA4-E2923F020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A8DF5-22EC-4218-8B38-5399D5FA9C2C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22883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8A2CC-FE14-48E9-AD42-20DF7414C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7AAE5-BFCE-4FF8-BDAD-7FD97BAEF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FE9984-853C-4084-98F9-7102E6E5BE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F0748E-27CD-4123-AE14-A1DA889EA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F9F9-7A40-4966-8F32-A3E2821B366C}" type="datetimeFigureOut">
              <a:rPr lang="en-AU" smtClean="0"/>
              <a:t>15/12/2021</a:t>
            </a:fld>
            <a:endParaRPr lang="en-AU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34FC2C-C940-4E68-8FF0-B8BE60B1C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F36AFF-B216-4FCA-85D7-5506461A0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A8DF5-22EC-4218-8B38-5399D5FA9C2C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07146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5059D-0E89-49BE-BC20-63C9145D0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B3C52D-F2CA-4ECD-9E9E-9E07AE4E9C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C68AAF-1880-4450-92AE-057D7C1A44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F1F028-2A1E-420A-B822-E027E5AB0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F9F9-7A40-4966-8F32-A3E2821B366C}" type="datetimeFigureOut">
              <a:rPr lang="en-AU" smtClean="0"/>
              <a:t>15/12/2021</a:t>
            </a:fld>
            <a:endParaRPr lang="en-AU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E249C1-749B-46C1-BF94-99D99144F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035403-E0D1-4F2D-BD32-490929634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A8DF5-22EC-4218-8B38-5399D5FA9C2C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86084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0BC3C-2A7A-4FF5-A2CC-CD2A88CBB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2EF2B1-D4A2-44EF-B6E6-D91066ED2E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D3E8A-FF2B-4CE3-99B5-973C57901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F9F9-7A40-4966-8F32-A3E2821B366C}" type="datetimeFigureOut">
              <a:rPr lang="en-AU" smtClean="0"/>
              <a:t>15/12/2021</a:t>
            </a:fld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50A9D-9C13-4CEA-8D15-9320EEBE8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735B8-A899-4C97-9408-5E5A2E79A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A8DF5-22EC-4218-8B38-5399D5FA9C2C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77479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676357-A7B4-4880-A6C5-A09206ED9C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A94814-F4EA-4080-8E4B-F295043B5E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B5DC3E-A425-407E-A989-1B8CFFC83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F9F9-7A40-4966-8F32-A3E2821B366C}" type="datetimeFigureOut">
              <a:rPr lang="en-AU" smtClean="0"/>
              <a:t>15/12/2021</a:t>
            </a:fld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B51E8-8D38-477C-A14E-9A093556F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AAED0-5359-472F-BE02-CA030AC68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A8DF5-22EC-4218-8B38-5399D5FA9C2C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3271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0A2657-6886-420B-BBA8-5EDFBF821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D6A261-3B16-47D1-AC48-DCBD0BD37F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166C8-2718-4F6C-BDC8-FE56B9F04A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80F9F9-7A40-4966-8F32-A3E2821B366C}" type="datetimeFigureOut">
              <a:rPr lang="en-AU" smtClean="0"/>
              <a:t>15/12/2021</a:t>
            </a:fld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BA221-EF99-4612-A124-79300C0E82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C0C3D-BB07-4531-8193-9661D1AB47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FA8DF5-22EC-4218-8B38-5399D5FA9C2C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03038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99DDC62D-BC4A-4A69-84F2-CF2A22E4E446}"/>
              </a:ext>
            </a:extLst>
          </p:cNvPr>
          <p:cNvSpPr txBox="1"/>
          <p:nvPr/>
        </p:nvSpPr>
        <p:spPr>
          <a:xfrm>
            <a:off x="723872" y="934008"/>
            <a:ext cx="10759627" cy="132343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4000" b="1" dirty="0" smtClean="0">
                <a:cs typeface="Arial" panose="020B0604020202020204" pitchFamily="34" charset="0"/>
              </a:rPr>
              <a:t>I </a:t>
            </a:r>
            <a:r>
              <a:rPr lang="en-AU" sz="4000" b="1" dirty="0">
                <a:cs typeface="Arial" panose="020B0604020202020204" pitchFamily="34" charset="0"/>
              </a:rPr>
              <a:t>will use the “work in stages” strategy to multiply and divide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0" y="-6605"/>
            <a:ext cx="342440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Learning Objective</a:t>
            </a:r>
          </a:p>
        </p:txBody>
      </p:sp>
      <p:sp>
        <p:nvSpPr>
          <p:cNvPr id="264" name="Title 1"/>
          <p:cNvSpPr txBox="1">
            <a:spLocks/>
          </p:cNvSpPr>
          <p:nvPr/>
        </p:nvSpPr>
        <p:spPr>
          <a:xfrm>
            <a:off x="-15373" y="1641894"/>
            <a:ext cx="12207373" cy="1070988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b="1" i="1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Enter quietly, please be ready with the following on your desk:</a:t>
            </a:r>
          </a:p>
        </p:txBody>
      </p:sp>
      <p:sp>
        <p:nvSpPr>
          <p:cNvPr id="265" name="Content Placeholder 2"/>
          <p:cNvSpPr txBox="1">
            <a:spLocks/>
          </p:cNvSpPr>
          <p:nvPr/>
        </p:nvSpPr>
        <p:spPr>
          <a:xfrm>
            <a:off x="1980020" y="2972878"/>
            <a:ext cx="7921679" cy="30071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 marker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Exercise Book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Pencil, pen, </a:t>
            </a:r>
            <a:r>
              <a:rPr lang="en-AU" b="1" dirty="0"/>
              <a:t>ruler and red pen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Diary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Calculator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Device – charged or borrowed from Library before maths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9214" y="2712882"/>
            <a:ext cx="3649887" cy="261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437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19" y="846559"/>
            <a:ext cx="8932826" cy="91874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sz="3200" b="1" dirty="0" smtClean="0"/>
              <a:t>Distributive law – we split large numbers into 1s, 10s and 100s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8" y="-19987"/>
            <a:ext cx="2146850" cy="1365083"/>
            <a:chOff x="660399" y="3602071"/>
            <a:chExt cx="2035630" cy="97102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1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is the </a:t>
              </a:r>
              <a:r>
                <a:rPr lang="en-AU" dirty="0">
                  <a:solidFill>
                    <a:schemeClr val="tx1"/>
                  </a:solidFill>
                </a:rPr>
                <a:t>d</a:t>
              </a:r>
              <a:r>
                <a:rPr lang="en-AU" dirty="0" smtClean="0">
                  <a:solidFill>
                    <a:schemeClr val="tx1"/>
                  </a:solidFill>
                </a:rPr>
                <a:t>istributive law?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7" y="1638590"/>
            <a:ext cx="2146851" cy="1594940"/>
            <a:chOff x="660398" y="3602071"/>
            <a:chExt cx="2035631" cy="1134531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</a:t>
              </a:r>
              <a:r>
                <a:rPr lang="en-AU" sz="1400" b="1" dirty="0" smtClean="0">
                  <a:solidFill>
                    <a:schemeClr val="bg1"/>
                  </a:solidFill>
                </a:rPr>
                <a:t>2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893641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does the </a:t>
              </a:r>
              <a:r>
                <a:rPr lang="en-AU" dirty="0">
                  <a:solidFill>
                    <a:schemeClr val="tx1"/>
                  </a:solidFill>
                </a:rPr>
                <a:t>distributive </a:t>
              </a:r>
              <a:r>
                <a:rPr lang="en-AU" dirty="0" smtClean="0">
                  <a:solidFill>
                    <a:schemeClr val="tx1"/>
                  </a:solidFill>
                </a:rPr>
                <a:t>law involve?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1695044" y="6326859"/>
            <a:ext cx="549965" cy="4306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93823" y="2328919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8 x 18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48377" y="3252609"/>
            <a:ext cx="8166973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/>
              <a:t>8</a:t>
            </a:r>
            <a:r>
              <a:rPr lang="en-AU" sz="3200" b="1" dirty="0" smtClean="0"/>
              <a:t> is a small number so we leave it as it is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48377" y="4349779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 smtClean="0"/>
              <a:t>18 is a large number so we split it into 10 + 8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pic>
        <p:nvPicPr>
          <p:cNvPr id="1026" name="Picture 2" descr="Image result for mental maths clipar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6649" y="3264401"/>
            <a:ext cx="2857500" cy="330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B16BD8E-CB7A-4D37-B7E9-272120B92CF9}"/>
              </a:ext>
            </a:extLst>
          </p:cNvPr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</p:spTree>
    <p:extLst>
      <p:ext uri="{BB962C8B-B14F-4D97-AF65-F5344CB8AC3E}">
        <p14:creationId xmlns:p14="http://schemas.microsoft.com/office/powerpoint/2010/main" val="2957258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4" grpId="0" build="p"/>
      <p:bldP spid="15" grpId="0" build="p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19" y="846559"/>
            <a:ext cx="8932826" cy="91874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sz="3200" b="1" dirty="0" smtClean="0"/>
              <a:t>Distributive law – we split large numbers into 1s, 10s and 100s</a:t>
            </a:r>
          </a:p>
          <a:p>
            <a:pPr marL="0" indent="0">
              <a:buNone/>
            </a:pPr>
            <a:endParaRPr lang="en-AU" b="1" dirty="0"/>
          </a:p>
        </p:txBody>
      </p:sp>
      <p:sp>
        <p:nvSpPr>
          <p:cNvPr id="2" name="TextBox 1"/>
          <p:cNvSpPr txBox="1"/>
          <p:nvPr/>
        </p:nvSpPr>
        <p:spPr>
          <a:xfrm>
            <a:off x="11695044" y="6326859"/>
            <a:ext cx="549965" cy="4306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285873" y="1977237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/>
              <a:t>2</a:t>
            </a:r>
            <a:r>
              <a:rPr lang="en-AU" sz="3200" b="1" dirty="0" smtClean="0"/>
              <a:t> x 43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32963" y="2690553"/>
            <a:ext cx="8166973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2 is a small number so we leave it as it is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285873" y="3428880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 smtClean="0"/>
              <a:t>43 is a large number so we split it into 40 + 3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32963" y="4253302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/>
              <a:t>2</a:t>
            </a:r>
            <a:r>
              <a:rPr lang="en-AU" sz="3200" b="1" dirty="0" smtClean="0"/>
              <a:t> x (40 + 3)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32963" y="5001094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 smtClean="0"/>
              <a:t>2x40 + 2x3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32963" y="5659485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/>
              <a:t>8</a:t>
            </a:r>
            <a:r>
              <a:rPr lang="en-AU" sz="3200" b="1" dirty="0" smtClean="0"/>
              <a:t>0 + 6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823175" y="679069"/>
            <a:ext cx="2146851" cy="984132"/>
            <a:chOff x="660398" y="3602071"/>
            <a:chExt cx="2035631" cy="700044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</a:t>
              </a:r>
              <a:r>
                <a:rPr lang="en-AU" sz="1400" b="1" dirty="0" smtClean="0">
                  <a:solidFill>
                    <a:schemeClr val="bg1"/>
                  </a:solidFill>
                </a:rPr>
                <a:t>1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459154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How can I split 32?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823173" y="2093234"/>
            <a:ext cx="2146851" cy="984132"/>
            <a:chOff x="660398" y="3602071"/>
            <a:chExt cx="2035631" cy="700044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2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459154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How can I split 92?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823173" y="3717980"/>
            <a:ext cx="2146851" cy="984132"/>
            <a:chOff x="660398" y="3602071"/>
            <a:chExt cx="2035631" cy="700044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</a:t>
              </a:r>
              <a:r>
                <a:rPr lang="en-AU" sz="1400" b="1" dirty="0" smtClean="0">
                  <a:solidFill>
                    <a:schemeClr val="bg1"/>
                  </a:solidFill>
                </a:rPr>
                <a:t>3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459154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How can I split 59?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32963" y="6199609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 smtClean="0"/>
              <a:t>86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B16BD8E-CB7A-4D37-B7E9-272120B92CF9}"/>
              </a:ext>
            </a:extLst>
          </p:cNvPr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</p:spTree>
    <p:extLst>
      <p:ext uri="{BB962C8B-B14F-4D97-AF65-F5344CB8AC3E}">
        <p14:creationId xmlns:p14="http://schemas.microsoft.com/office/powerpoint/2010/main" val="3822782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4" grpId="0" build="p"/>
      <p:bldP spid="15" grpId="0" build="p"/>
      <p:bldP spid="16" grpId="0"/>
      <p:bldP spid="18" grpId="0"/>
      <p:bldP spid="19" grpId="0"/>
      <p:bldP spid="20" grpId="0"/>
      <p:bldP spid="3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19" y="846559"/>
            <a:ext cx="8932826" cy="91874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sz="3200" b="1" dirty="0" smtClean="0">
                <a:solidFill>
                  <a:srgbClr val="C00000"/>
                </a:solidFill>
              </a:rPr>
              <a:t>Distributive law </a:t>
            </a:r>
            <a:r>
              <a:rPr lang="en-AU" sz="3200" b="1" dirty="0" smtClean="0"/>
              <a:t>– we split large numbers into 1s, 10s and 100s</a:t>
            </a:r>
          </a:p>
          <a:p>
            <a:pPr marL="0" indent="0">
              <a:buNone/>
            </a:pPr>
            <a:endParaRPr lang="en-AU" b="1" dirty="0"/>
          </a:p>
        </p:txBody>
      </p:sp>
      <p:sp>
        <p:nvSpPr>
          <p:cNvPr id="2" name="TextBox 1"/>
          <p:cNvSpPr txBox="1"/>
          <p:nvPr/>
        </p:nvSpPr>
        <p:spPr>
          <a:xfrm>
            <a:off x="11695044" y="6326859"/>
            <a:ext cx="549965" cy="4306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A866814-1C68-4ED0-A5C6-5F6F9D8ECF03}"/>
              </a:ext>
            </a:extLst>
          </p:cNvPr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6004886" y="2329991"/>
            <a:ext cx="2254799" cy="630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4 x 55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4491689" y="1638590"/>
            <a:ext cx="55419" cy="501824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755504" y="1484701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285873" y="1977237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/>
              <a:t>2</a:t>
            </a:r>
            <a:r>
              <a:rPr lang="en-AU" sz="3200" b="1" dirty="0" smtClean="0"/>
              <a:t> x 43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285873" y="2847565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/>
              <a:t>2</a:t>
            </a:r>
            <a:r>
              <a:rPr lang="en-AU" sz="3200" b="1" dirty="0" smtClean="0"/>
              <a:t> x (40 + 3)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285873" y="3595357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 smtClean="0"/>
              <a:t>2x40 + 2x3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285873" y="4253748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/>
              <a:t>8</a:t>
            </a:r>
            <a:r>
              <a:rPr lang="en-AU" sz="3200" b="1" dirty="0" smtClean="0"/>
              <a:t>0 + 6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285873" y="4793872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 smtClean="0"/>
              <a:t>86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3888558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1" grpId="0" build="p"/>
      <p:bldP spid="35" grpId="0"/>
      <p:bldP spid="39" grpId="0"/>
      <p:bldP spid="40" grpId="0"/>
      <p:bldP spid="4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19" y="846559"/>
            <a:ext cx="8932826" cy="91874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sz="3200" b="1" dirty="0" smtClean="0"/>
              <a:t>Distributive law – we split large numbers into 1s, 10s and 100s</a:t>
            </a:r>
          </a:p>
          <a:p>
            <a:pPr marL="0" indent="0">
              <a:buNone/>
            </a:pPr>
            <a:endParaRPr lang="en-AU" b="1" dirty="0"/>
          </a:p>
        </p:txBody>
      </p:sp>
      <p:sp>
        <p:nvSpPr>
          <p:cNvPr id="2" name="TextBox 1"/>
          <p:cNvSpPr txBox="1"/>
          <p:nvPr/>
        </p:nvSpPr>
        <p:spPr>
          <a:xfrm>
            <a:off x="11695044" y="6326859"/>
            <a:ext cx="549965" cy="4306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285873" y="1977237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15 x 13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32963" y="2690553"/>
            <a:ext cx="8166973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13 is the smaller number so we leave it as it is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285873" y="3428880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 smtClean="0"/>
              <a:t>15 is the larger number so we split it into 10 + 5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32963" y="4253302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 smtClean="0"/>
              <a:t>13 x (10 + 5)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32963" y="5001094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 smtClean="0"/>
              <a:t>13x10 + 13x5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32963" y="5659485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 smtClean="0"/>
              <a:t>130 + 65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7" y="911826"/>
            <a:ext cx="2146851" cy="984132"/>
            <a:chOff x="660398" y="3602071"/>
            <a:chExt cx="2035631" cy="700044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</a:t>
              </a:r>
              <a:r>
                <a:rPr lang="en-AU" sz="1400" b="1" dirty="0" smtClean="0">
                  <a:solidFill>
                    <a:schemeClr val="bg1"/>
                  </a:solidFill>
                </a:rPr>
                <a:t>1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459154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How can I split 87?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64670" y="2630133"/>
            <a:ext cx="2146851" cy="984132"/>
            <a:chOff x="660398" y="3602071"/>
            <a:chExt cx="2035631" cy="700044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2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459154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How can I split 56?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64668" y="4090431"/>
            <a:ext cx="2146851" cy="984132"/>
            <a:chOff x="660398" y="3602071"/>
            <a:chExt cx="2035631" cy="700044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3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459154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How can I split 37?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32963" y="6199609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 smtClean="0"/>
              <a:t>195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B16BD8E-CB7A-4D37-B7E9-272120B92CF9}"/>
              </a:ext>
            </a:extLst>
          </p:cNvPr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</p:spTree>
    <p:extLst>
      <p:ext uri="{BB962C8B-B14F-4D97-AF65-F5344CB8AC3E}">
        <p14:creationId xmlns:p14="http://schemas.microsoft.com/office/powerpoint/2010/main" val="129905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4" grpId="0" build="p"/>
      <p:bldP spid="15" grpId="0" build="p"/>
      <p:bldP spid="16" grpId="0"/>
      <p:bldP spid="18" grpId="0"/>
      <p:bldP spid="19" grpId="0"/>
      <p:bldP spid="20" grpId="0"/>
      <p:bldP spid="3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19" y="846559"/>
            <a:ext cx="8932826" cy="9187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b="1" dirty="0" smtClean="0"/>
              <a:t>We will now add using the ‘make easy numbers’ strategy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91493" y="1946367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7 + 32 + 13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170819" y="2825189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= 7 + 13 + 32   (swap the 32 and the 13)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206858" y="3848717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= </a:t>
            </a:r>
            <a:r>
              <a:rPr lang="en-AU" sz="3200" b="1" dirty="0" smtClean="0">
                <a:solidFill>
                  <a:srgbClr val="FF0000"/>
                </a:solidFill>
              </a:rPr>
              <a:t>20 </a:t>
            </a:r>
            <a:r>
              <a:rPr lang="en-AU" sz="3200" b="1" dirty="0" smtClean="0"/>
              <a:t>+ 32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206858" y="4821605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= </a:t>
            </a:r>
            <a:r>
              <a:rPr lang="en-AU" sz="3200" b="1" dirty="0" smtClean="0">
                <a:solidFill>
                  <a:srgbClr val="FF0000"/>
                </a:solidFill>
              </a:rPr>
              <a:t>52</a:t>
            </a: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16BD8E-CB7A-4D37-B7E9-272120B92CF9}"/>
              </a:ext>
            </a:extLst>
          </p:cNvPr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8441398" y="2246864"/>
            <a:ext cx="2254799" cy="630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36 </a:t>
            </a:r>
            <a:r>
              <a:rPr lang="en-AU" sz="3200" b="1" dirty="0"/>
              <a:t>+</a:t>
            </a:r>
            <a:r>
              <a:rPr lang="en-AU" sz="3200" b="1" dirty="0" smtClean="0"/>
              <a:t> 55 + 14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6928201" y="1555463"/>
            <a:ext cx="55419" cy="501824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192016" y="1401574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2160779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9" grpId="0" build="p"/>
      <p:bldP spid="40" grpId="0" build="p"/>
      <p:bldP spid="19" grpId="0" build="p"/>
      <p:bldP spid="2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8EB2D910-A430-43CC-A2A0-712A82CB8DA8}"/>
              </a:ext>
            </a:extLst>
          </p:cNvPr>
          <p:cNvSpPr txBox="1"/>
          <p:nvPr/>
        </p:nvSpPr>
        <p:spPr>
          <a:xfrm>
            <a:off x="0" y="0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55264B4-7E87-46B3-AD65-B1FA73EDF651}"/>
              </a:ext>
            </a:extLst>
          </p:cNvPr>
          <p:cNvSpPr txBox="1"/>
          <p:nvPr/>
        </p:nvSpPr>
        <p:spPr>
          <a:xfrm>
            <a:off x="287727" y="804831"/>
            <a:ext cx="97855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cs typeface="Arial" panose="020B0604020202020204" pitchFamily="34" charset="0"/>
              </a:rPr>
              <a:t>Write the following in expanded form: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6658624-395D-43B1-84E8-FEB69BB85585}"/>
              </a:ext>
            </a:extLst>
          </p:cNvPr>
          <p:cNvGrpSpPr/>
          <p:nvPr/>
        </p:nvGrpSpPr>
        <p:grpSpPr>
          <a:xfrm>
            <a:off x="10156369" y="0"/>
            <a:ext cx="2035631" cy="1486678"/>
            <a:chOff x="660399" y="3602071"/>
            <a:chExt cx="2035631" cy="1486678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A19BC36-AD6F-4FAC-9C68-79D62B9621F6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VOCABULARY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F132760-CD2B-45E4-9D54-FE88922287EB}"/>
                </a:ext>
              </a:extLst>
            </p:cNvPr>
            <p:cNvSpPr/>
            <p:nvPr/>
          </p:nvSpPr>
          <p:spPr>
            <a:xfrm>
              <a:off x="660399" y="3931961"/>
              <a:ext cx="2035629" cy="1156788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Index Form – Simplified into a base and power 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(e.g. 7</a:t>
              </a:r>
              <a:r>
                <a:rPr lang="en-AU" baseline="30000" dirty="0">
                  <a:solidFill>
                    <a:schemeClr val="tx1"/>
                  </a:solidFill>
                </a:rPr>
                <a:t>3</a:t>
              </a:r>
              <a:r>
                <a:rPr lang="en-AU" dirty="0">
                  <a:solidFill>
                    <a:schemeClr val="tx1"/>
                  </a:solidFill>
                </a:rPr>
                <a:t>).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6658624-395D-43B1-84E8-FEB69BB85585}"/>
              </a:ext>
            </a:extLst>
          </p:cNvPr>
          <p:cNvGrpSpPr/>
          <p:nvPr/>
        </p:nvGrpSpPr>
        <p:grpSpPr>
          <a:xfrm>
            <a:off x="10156367" y="1576648"/>
            <a:ext cx="2035631" cy="1486678"/>
            <a:chOff x="660399" y="3602071"/>
            <a:chExt cx="2035631" cy="1486678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EA19BC36-AD6F-4FAC-9C68-79D62B9621F6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VOCABULARY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6F132760-CD2B-45E4-9D54-FE88922287EB}"/>
                </a:ext>
              </a:extLst>
            </p:cNvPr>
            <p:cNvSpPr/>
            <p:nvPr/>
          </p:nvSpPr>
          <p:spPr>
            <a:xfrm>
              <a:off x="660399" y="3931961"/>
              <a:ext cx="2035629" cy="1156788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Expanded Form – Showing all of the multiplications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(e.g. 7 x 7 x 7).</a:t>
              </a:r>
            </a:p>
          </p:txBody>
        </p:sp>
      </p:grpSp>
      <p:sp>
        <p:nvSpPr>
          <p:cNvPr id="49" name="Content Placeholder 2">
            <a:extLst>
              <a:ext uri="{FF2B5EF4-FFF2-40B4-BE49-F238E27FC236}">
                <a16:creationId xmlns:a16="http://schemas.microsoft.com/office/drawing/2014/main" id="{565C3D40-8861-4F6C-A104-5EC9581ECDE2}"/>
              </a:ext>
            </a:extLst>
          </p:cNvPr>
          <p:cNvSpPr txBox="1">
            <a:spLocks/>
          </p:cNvSpPr>
          <p:nvPr/>
        </p:nvSpPr>
        <p:spPr>
          <a:xfrm>
            <a:off x="591442" y="2636122"/>
            <a:ext cx="947415" cy="6628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4000" b="1" dirty="0"/>
              <a:t>2</a:t>
            </a:r>
            <a:r>
              <a:rPr lang="en-AU" sz="4000" b="1" baseline="30000" dirty="0" smtClean="0"/>
              <a:t>3</a:t>
            </a:r>
            <a:endParaRPr lang="en-AU" sz="4000" b="1" dirty="0"/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565C3D40-8861-4F6C-A104-5EC9581ECDE2}"/>
              </a:ext>
            </a:extLst>
          </p:cNvPr>
          <p:cNvSpPr txBox="1">
            <a:spLocks/>
          </p:cNvSpPr>
          <p:nvPr/>
        </p:nvSpPr>
        <p:spPr>
          <a:xfrm>
            <a:off x="4914680" y="1609662"/>
            <a:ext cx="947415" cy="6628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4000" b="1" dirty="0"/>
              <a:t>9</a:t>
            </a:r>
            <a:r>
              <a:rPr lang="en-AU" sz="4000" b="1" baseline="30000" dirty="0" smtClean="0"/>
              <a:t>4</a:t>
            </a:r>
            <a:endParaRPr lang="en-AU" sz="4000" b="1" dirty="0"/>
          </a:p>
        </p:txBody>
      </p:sp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565C3D40-8861-4F6C-A104-5EC9581ECDE2}"/>
              </a:ext>
            </a:extLst>
          </p:cNvPr>
          <p:cNvSpPr txBox="1">
            <a:spLocks/>
          </p:cNvSpPr>
          <p:nvPr/>
        </p:nvSpPr>
        <p:spPr>
          <a:xfrm>
            <a:off x="4901683" y="2636122"/>
            <a:ext cx="947415" cy="6628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4000" b="1" dirty="0" smtClean="0"/>
              <a:t>47</a:t>
            </a:r>
            <a:r>
              <a:rPr lang="en-AU" sz="4000" b="1" baseline="30000" dirty="0" smtClean="0"/>
              <a:t>2</a:t>
            </a:r>
            <a:endParaRPr lang="en-AU" sz="4000" b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55264B4-7E87-46B3-AD65-B1FA73EDF651}"/>
              </a:ext>
            </a:extLst>
          </p:cNvPr>
          <p:cNvSpPr txBox="1"/>
          <p:nvPr/>
        </p:nvSpPr>
        <p:spPr>
          <a:xfrm>
            <a:off x="287726" y="3567427"/>
            <a:ext cx="90417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cs typeface="Arial" panose="020B0604020202020204" pitchFamily="34" charset="0"/>
              </a:rPr>
              <a:t>Write the following in index form:</a:t>
            </a: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565C3D40-8861-4F6C-A104-5EC9581ECDE2}"/>
              </a:ext>
            </a:extLst>
          </p:cNvPr>
          <p:cNvSpPr txBox="1">
            <a:spLocks/>
          </p:cNvSpPr>
          <p:nvPr/>
        </p:nvSpPr>
        <p:spPr>
          <a:xfrm>
            <a:off x="591443" y="4467414"/>
            <a:ext cx="3194272" cy="6628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4000" b="1" dirty="0"/>
              <a:t>4</a:t>
            </a:r>
            <a:r>
              <a:rPr lang="en-AU" sz="4000" b="1" dirty="0" smtClean="0"/>
              <a:t> </a:t>
            </a:r>
            <a:r>
              <a:rPr lang="en-AU" sz="4000" b="1" dirty="0"/>
              <a:t>x </a:t>
            </a:r>
            <a:r>
              <a:rPr lang="en-AU" sz="4000" b="1" dirty="0" smtClean="0"/>
              <a:t>4 </a:t>
            </a:r>
            <a:r>
              <a:rPr lang="en-AU" sz="4000" b="1" dirty="0"/>
              <a:t>x </a:t>
            </a:r>
            <a:r>
              <a:rPr lang="en-AU" sz="4000" b="1" dirty="0" smtClean="0"/>
              <a:t>4 </a:t>
            </a:r>
            <a:r>
              <a:rPr lang="en-AU" sz="4000" b="1" dirty="0"/>
              <a:t>x </a:t>
            </a:r>
            <a:r>
              <a:rPr lang="en-AU" sz="4000" b="1" dirty="0" smtClean="0"/>
              <a:t>4</a:t>
            </a:r>
            <a:endParaRPr lang="en-AU" sz="4000" b="1" dirty="0"/>
          </a:p>
        </p:txBody>
      </p:sp>
      <p:sp>
        <p:nvSpPr>
          <p:cNvPr id="60" name="Content Placeholder 2">
            <a:extLst>
              <a:ext uri="{FF2B5EF4-FFF2-40B4-BE49-F238E27FC236}">
                <a16:creationId xmlns:a16="http://schemas.microsoft.com/office/drawing/2014/main" id="{565C3D40-8861-4F6C-A104-5EC9581ECDE2}"/>
              </a:ext>
            </a:extLst>
          </p:cNvPr>
          <p:cNvSpPr txBox="1">
            <a:spLocks/>
          </p:cNvSpPr>
          <p:nvPr/>
        </p:nvSpPr>
        <p:spPr>
          <a:xfrm>
            <a:off x="591442" y="5567466"/>
            <a:ext cx="3194272" cy="6628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4000" b="1" dirty="0"/>
              <a:t>2</a:t>
            </a:r>
            <a:r>
              <a:rPr lang="en-AU" sz="4000" b="1" dirty="0" smtClean="0"/>
              <a:t>2 x 22</a:t>
            </a:r>
            <a:endParaRPr lang="en-AU" sz="4000" b="1" dirty="0"/>
          </a:p>
        </p:txBody>
      </p:sp>
      <p:sp>
        <p:nvSpPr>
          <p:cNvPr id="61" name="Content Placeholder 2">
            <a:extLst>
              <a:ext uri="{FF2B5EF4-FFF2-40B4-BE49-F238E27FC236}">
                <a16:creationId xmlns:a16="http://schemas.microsoft.com/office/drawing/2014/main" id="{565C3D40-8861-4F6C-A104-5EC9581ECDE2}"/>
              </a:ext>
            </a:extLst>
          </p:cNvPr>
          <p:cNvSpPr txBox="1">
            <a:spLocks/>
          </p:cNvSpPr>
          <p:nvPr/>
        </p:nvSpPr>
        <p:spPr>
          <a:xfrm>
            <a:off x="4901684" y="4467414"/>
            <a:ext cx="3943058" cy="6628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4000" b="1" dirty="0"/>
              <a:t>8</a:t>
            </a:r>
            <a:r>
              <a:rPr lang="en-AU" sz="4000" b="1" dirty="0" smtClean="0"/>
              <a:t> </a:t>
            </a:r>
            <a:r>
              <a:rPr lang="en-AU" sz="4000" b="1" dirty="0"/>
              <a:t>x 8</a:t>
            </a:r>
            <a:r>
              <a:rPr lang="en-AU" sz="4000" b="1" dirty="0" smtClean="0"/>
              <a:t> x </a:t>
            </a:r>
            <a:r>
              <a:rPr lang="en-AU" sz="4000" b="1" dirty="0"/>
              <a:t>8</a:t>
            </a:r>
            <a:r>
              <a:rPr lang="en-AU" sz="4000" b="1" dirty="0" smtClean="0"/>
              <a:t> </a:t>
            </a:r>
            <a:r>
              <a:rPr lang="en-AU" sz="4000" b="1" dirty="0"/>
              <a:t>x 8</a:t>
            </a:r>
            <a:r>
              <a:rPr lang="en-AU" sz="4000" b="1" dirty="0" smtClean="0"/>
              <a:t> x 8</a:t>
            </a:r>
            <a:endParaRPr lang="en-AU" sz="4000" b="1" dirty="0"/>
          </a:p>
        </p:txBody>
      </p:sp>
      <p:sp>
        <p:nvSpPr>
          <p:cNvPr id="62" name="Content Placeholder 2">
            <a:extLst>
              <a:ext uri="{FF2B5EF4-FFF2-40B4-BE49-F238E27FC236}">
                <a16:creationId xmlns:a16="http://schemas.microsoft.com/office/drawing/2014/main" id="{565C3D40-8861-4F6C-A104-5EC9581ECDE2}"/>
              </a:ext>
            </a:extLst>
          </p:cNvPr>
          <p:cNvSpPr txBox="1">
            <a:spLocks/>
          </p:cNvSpPr>
          <p:nvPr/>
        </p:nvSpPr>
        <p:spPr>
          <a:xfrm>
            <a:off x="4901683" y="5567466"/>
            <a:ext cx="3194272" cy="6628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4000" b="1" dirty="0"/>
              <a:t>2</a:t>
            </a:r>
            <a:r>
              <a:rPr lang="en-AU" sz="4000" b="1" dirty="0" smtClean="0"/>
              <a:t> </a:t>
            </a:r>
            <a:r>
              <a:rPr lang="en-AU" sz="4000" b="1" dirty="0"/>
              <a:t>x 2</a:t>
            </a:r>
            <a:r>
              <a:rPr lang="en-AU" sz="4000" b="1" dirty="0" smtClean="0"/>
              <a:t> </a:t>
            </a:r>
            <a:r>
              <a:rPr lang="en-AU" sz="4000" b="1" dirty="0"/>
              <a:t>x 5</a:t>
            </a:r>
            <a:r>
              <a:rPr lang="en-AU" sz="4000" b="1" dirty="0" smtClean="0"/>
              <a:t> </a:t>
            </a:r>
            <a:r>
              <a:rPr lang="en-AU" sz="4000" b="1" dirty="0"/>
              <a:t>x 5</a:t>
            </a:r>
          </a:p>
        </p:txBody>
      </p:sp>
      <p:sp>
        <p:nvSpPr>
          <p:cNvPr id="63" name="Content Placeholder 2">
            <a:extLst>
              <a:ext uri="{FF2B5EF4-FFF2-40B4-BE49-F238E27FC236}">
                <a16:creationId xmlns:a16="http://schemas.microsoft.com/office/drawing/2014/main" id="{565C3D40-8861-4F6C-A104-5EC9581ECDE2}"/>
              </a:ext>
            </a:extLst>
          </p:cNvPr>
          <p:cNvSpPr txBox="1">
            <a:spLocks/>
          </p:cNvSpPr>
          <p:nvPr/>
        </p:nvSpPr>
        <p:spPr>
          <a:xfrm>
            <a:off x="1186093" y="1609662"/>
            <a:ext cx="3194272" cy="6628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4000" b="1" dirty="0">
                <a:solidFill>
                  <a:srgbClr val="C00000"/>
                </a:solidFill>
              </a:rPr>
              <a:t>= </a:t>
            </a:r>
            <a:r>
              <a:rPr lang="en-AU" sz="4000" b="1" dirty="0" smtClean="0">
                <a:solidFill>
                  <a:srgbClr val="C00000"/>
                </a:solidFill>
              </a:rPr>
              <a:t>8 </a:t>
            </a:r>
            <a:r>
              <a:rPr lang="en-AU" sz="4000" b="1" dirty="0">
                <a:solidFill>
                  <a:srgbClr val="C00000"/>
                </a:solidFill>
              </a:rPr>
              <a:t>x </a:t>
            </a:r>
            <a:r>
              <a:rPr lang="en-AU" sz="4000" b="1" dirty="0" smtClean="0">
                <a:solidFill>
                  <a:srgbClr val="C00000"/>
                </a:solidFill>
              </a:rPr>
              <a:t>8 </a:t>
            </a:r>
            <a:r>
              <a:rPr lang="en-AU" sz="4000" b="1" dirty="0">
                <a:solidFill>
                  <a:srgbClr val="C00000"/>
                </a:solidFill>
              </a:rPr>
              <a:t>x 8</a:t>
            </a:r>
          </a:p>
        </p:txBody>
      </p:sp>
      <p:sp>
        <p:nvSpPr>
          <p:cNvPr id="64" name="Content Placeholder 2">
            <a:extLst>
              <a:ext uri="{FF2B5EF4-FFF2-40B4-BE49-F238E27FC236}">
                <a16:creationId xmlns:a16="http://schemas.microsoft.com/office/drawing/2014/main" id="{565C3D40-8861-4F6C-A104-5EC9581ECDE2}"/>
              </a:ext>
            </a:extLst>
          </p:cNvPr>
          <p:cNvSpPr txBox="1">
            <a:spLocks/>
          </p:cNvSpPr>
          <p:nvPr/>
        </p:nvSpPr>
        <p:spPr>
          <a:xfrm>
            <a:off x="1173096" y="2636122"/>
            <a:ext cx="3194272" cy="6628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4000" b="1" dirty="0">
                <a:solidFill>
                  <a:srgbClr val="C00000"/>
                </a:solidFill>
              </a:rPr>
              <a:t>= </a:t>
            </a:r>
            <a:r>
              <a:rPr lang="en-AU" sz="4000" b="1" dirty="0" smtClean="0">
                <a:solidFill>
                  <a:srgbClr val="C00000"/>
                </a:solidFill>
              </a:rPr>
              <a:t>2 </a:t>
            </a:r>
            <a:r>
              <a:rPr lang="en-AU" sz="4000" b="1" dirty="0">
                <a:solidFill>
                  <a:srgbClr val="C00000"/>
                </a:solidFill>
              </a:rPr>
              <a:t>x </a:t>
            </a:r>
            <a:r>
              <a:rPr lang="en-AU" sz="4000" b="1" dirty="0" smtClean="0">
                <a:solidFill>
                  <a:srgbClr val="C00000"/>
                </a:solidFill>
              </a:rPr>
              <a:t>2 </a:t>
            </a:r>
            <a:r>
              <a:rPr lang="en-AU" sz="4000" b="1" dirty="0">
                <a:solidFill>
                  <a:srgbClr val="C00000"/>
                </a:solidFill>
              </a:rPr>
              <a:t>x </a:t>
            </a:r>
            <a:r>
              <a:rPr lang="en-AU" sz="4000" b="1" dirty="0" smtClean="0">
                <a:solidFill>
                  <a:srgbClr val="C00000"/>
                </a:solidFill>
              </a:rPr>
              <a:t>2</a:t>
            </a:r>
            <a:endParaRPr lang="en-AU" sz="4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AU" sz="4000" b="1" dirty="0">
              <a:solidFill>
                <a:srgbClr val="C00000"/>
              </a:solidFill>
            </a:endParaRPr>
          </a:p>
        </p:txBody>
      </p:sp>
      <p:sp>
        <p:nvSpPr>
          <p:cNvPr id="67" name="Content Placeholder 2">
            <a:extLst>
              <a:ext uri="{FF2B5EF4-FFF2-40B4-BE49-F238E27FC236}">
                <a16:creationId xmlns:a16="http://schemas.microsoft.com/office/drawing/2014/main" id="{565C3D40-8861-4F6C-A104-5EC9581ECDE2}"/>
              </a:ext>
            </a:extLst>
          </p:cNvPr>
          <p:cNvSpPr txBox="1">
            <a:spLocks/>
          </p:cNvSpPr>
          <p:nvPr/>
        </p:nvSpPr>
        <p:spPr>
          <a:xfrm>
            <a:off x="611018" y="1609662"/>
            <a:ext cx="947415" cy="6628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4000" b="1" dirty="0"/>
              <a:t>8</a:t>
            </a:r>
            <a:r>
              <a:rPr lang="en-AU" sz="4000" b="1" baseline="30000" dirty="0" smtClean="0"/>
              <a:t>3</a:t>
            </a:r>
            <a:endParaRPr lang="en-AU" sz="4000" b="1" dirty="0"/>
          </a:p>
        </p:txBody>
      </p:sp>
      <p:sp>
        <p:nvSpPr>
          <p:cNvPr id="71" name="Content Placeholder 2">
            <a:extLst>
              <a:ext uri="{FF2B5EF4-FFF2-40B4-BE49-F238E27FC236}">
                <a16:creationId xmlns:a16="http://schemas.microsoft.com/office/drawing/2014/main" id="{565C3D40-8861-4F6C-A104-5EC9581ECDE2}"/>
              </a:ext>
            </a:extLst>
          </p:cNvPr>
          <p:cNvSpPr txBox="1">
            <a:spLocks/>
          </p:cNvSpPr>
          <p:nvPr/>
        </p:nvSpPr>
        <p:spPr>
          <a:xfrm>
            <a:off x="3292494" y="4467414"/>
            <a:ext cx="1150456" cy="6628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4000" b="1" dirty="0">
                <a:solidFill>
                  <a:srgbClr val="C00000"/>
                </a:solidFill>
              </a:rPr>
              <a:t>= 4</a:t>
            </a:r>
            <a:r>
              <a:rPr lang="en-AU" sz="4000" b="1" baseline="30000" dirty="0" smtClean="0">
                <a:solidFill>
                  <a:srgbClr val="C00000"/>
                </a:solidFill>
              </a:rPr>
              <a:t>4</a:t>
            </a:r>
            <a:endParaRPr lang="en-AU" sz="4000" b="1" dirty="0">
              <a:solidFill>
                <a:srgbClr val="C00000"/>
              </a:solidFill>
            </a:endParaRPr>
          </a:p>
        </p:txBody>
      </p:sp>
      <p:sp>
        <p:nvSpPr>
          <p:cNvPr id="72" name="Content Placeholder 2">
            <a:extLst>
              <a:ext uri="{FF2B5EF4-FFF2-40B4-BE49-F238E27FC236}">
                <a16:creationId xmlns:a16="http://schemas.microsoft.com/office/drawing/2014/main" id="{565C3D40-8861-4F6C-A104-5EC9581ECDE2}"/>
              </a:ext>
            </a:extLst>
          </p:cNvPr>
          <p:cNvSpPr txBox="1">
            <a:spLocks/>
          </p:cNvSpPr>
          <p:nvPr/>
        </p:nvSpPr>
        <p:spPr>
          <a:xfrm>
            <a:off x="2278343" y="5567466"/>
            <a:ext cx="1463038" cy="6628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4000" b="1" dirty="0">
                <a:solidFill>
                  <a:srgbClr val="C00000"/>
                </a:solidFill>
              </a:rPr>
              <a:t>= </a:t>
            </a:r>
            <a:r>
              <a:rPr lang="en-AU" sz="4000" b="1" dirty="0" smtClean="0">
                <a:solidFill>
                  <a:srgbClr val="C00000"/>
                </a:solidFill>
              </a:rPr>
              <a:t>22</a:t>
            </a:r>
            <a:r>
              <a:rPr lang="en-AU" sz="4000" b="1" baseline="30000" dirty="0" smtClean="0">
                <a:solidFill>
                  <a:srgbClr val="C00000"/>
                </a:solidFill>
              </a:rPr>
              <a:t>2</a:t>
            </a:r>
            <a:endParaRPr lang="en-AU" sz="4000" b="1" dirty="0">
              <a:solidFill>
                <a:srgbClr val="C0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184326" y="1004316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3099697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59" grpId="0"/>
      <p:bldP spid="60" grpId="0"/>
      <p:bldP spid="61" grpId="0"/>
      <p:bldP spid="62" grpId="0"/>
      <p:bldP spid="63" grpId="0"/>
      <p:bldP spid="64" grpId="0"/>
      <p:bldP spid="71" grpId="0"/>
      <p:bldP spid="7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C175E2EE-D511-47BA-96B1-2D89396BAFBE}"/>
              </a:ext>
            </a:extLst>
          </p:cNvPr>
          <p:cNvSpPr txBox="1"/>
          <p:nvPr/>
        </p:nvSpPr>
        <p:spPr>
          <a:xfrm>
            <a:off x="0" y="-6605"/>
            <a:ext cx="342440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Learning Objective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A1404F-2D51-4BE2-B71E-AC3D0D10D9AE}"/>
              </a:ext>
            </a:extLst>
          </p:cNvPr>
          <p:cNvSpPr txBox="1"/>
          <p:nvPr/>
        </p:nvSpPr>
        <p:spPr>
          <a:xfrm>
            <a:off x="0" y="3336331"/>
            <a:ext cx="2916437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Success Criteria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7F0A19D-2337-4957-A59A-BBE73EC03E1F}"/>
              </a:ext>
            </a:extLst>
          </p:cNvPr>
          <p:cNvGrpSpPr/>
          <p:nvPr/>
        </p:nvGrpSpPr>
        <p:grpSpPr>
          <a:xfrm>
            <a:off x="10156369" y="0"/>
            <a:ext cx="2035631" cy="971026"/>
            <a:chOff x="660399" y="3602071"/>
            <a:chExt cx="2035631" cy="971026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484506A-3C79-4667-940B-36880AE95A8C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6F11CF9-6738-4A82-BE25-AAEDB65F620F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will we learn today?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5381CDC7-58C6-4B00-AF95-88D3AE68A65D}"/>
              </a:ext>
            </a:extLst>
          </p:cNvPr>
          <p:cNvSpPr txBox="1"/>
          <p:nvPr/>
        </p:nvSpPr>
        <p:spPr>
          <a:xfrm>
            <a:off x="513247" y="1303945"/>
            <a:ext cx="782004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cs typeface="Arial" panose="020B0604020202020204" pitchFamily="34" charset="0"/>
              </a:rPr>
              <a:t>I will use the “work in stages” strategy to multiply and divide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9F6B83B5-A429-4FF7-B454-245FD8B54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1656" y="3068468"/>
            <a:ext cx="2501639" cy="3544833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38C0F990-FA28-4D59-B1A1-CF11ADF42B0E}"/>
              </a:ext>
            </a:extLst>
          </p:cNvPr>
          <p:cNvGrpSpPr/>
          <p:nvPr/>
        </p:nvGrpSpPr>
        <p:grpSpPr>
          <a:xfrm>
            <a:off x="10156369" y="1080311"/>
            <a:ext cx="2035631" cy="1194596"/>
            <a:chOff x="660399" y="3602071"/>
            <a:chExt cx="2035631" cy="1194596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65C0C49-9730-415E-90E7-F880952B87EB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7CC9CE05-2369-4108-82FB-59DF26374DA3}"/>
                </a:ext>
              </a:extLst>
            </p:cNvPr>
            <p:cNvSpPr/>
            <p:nvPr/>
          </p:nvSpPr>
          <p:spPr>
            <a:xfrm>
              <a:off x="660399" y="3931961"/>
              <a:ext cx="2035629" cy="864706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How will you know that you are successful?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7269AF61-750A-4C41-991C-B4142C532DB6}"/>
              </a:ext>
            </a:extLst>
          </p:cNvPr>
          <p:cNvSpPr txBox="1"/>
          <p:nvPr/>
        </p:nvSpPr>
        <p:spPr>
          <a:xfrm>
            <a:off x="346993" y="4197215"/>
            <a:ext cx="852545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cs typeface="Arial" panose="020B0604020202020204" pitchFamily="34" charset="0"/>
              </a:rPr>
              <a:t>At the end of the lesson, I will be able to: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 smtClean="0">
                <a:cs typeface="Arial" panose="020B0604020202020204" pitchFamily="34" charset="0"/>
              </a:rPr>
              <a:t>Multiply and divide using the “work in stages” strategy</a:t>
            </a:r>
            <a:endParaRPr lang="en-AU" sz="2800" b="1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7307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19" y="846559"/>
            <a:ext cx="8932826" cy="918741"/>
          </a:xfrm>
        </p:spPr>
        <p:txBody>
          <a:bodyPr/>
          <a:lstStyle/>
          <a:p>
            <a:pPr marL="0" indent="0">
              <a:buNone/>
            </a:pPr>
            <a:r>
              <a:rPr lang="en-AU" sz="3200" b="1" dirty="0" smtClean="0"/>
              <a:t>Split 8 into simpler multiplications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1605090" y="1866135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/>
              <a:t>8</a:t>
            </a:r>
            <a:r>
              <a:rPr lang="en-AU" sz="3200" b="1" dirty="0" smtClean="0"/>
              <a:t> = </a:t>
            </a:r>
            <a:r>
              <a:rPr lang="en-AU" sz="3200" b="1" dirty="0" smtClean="0">
                <a:solidFill>
                  <a:srgbClr val="FF0000"/>
                </a:solidFill>
              </a:rPr>
              <a:t>4</a:t>
            </a:r>
            <a:r>
              <a:rPr lang="en-AU" sz="3200" b="1" dirty="0" smtClean="0"/>
              <a:t> x 2 = </a:t>
            </a:r>
            <a:r>
              <a:rPr lang="en-AU" sz="3200" b="1" dirty="0" smtClean="0">
                <a:solidFill>
                  <a:srgbClr val="FF0000"/>
                </a:solidFill>
              </a:rPr>
              <a:t>2 x 2 </a:t>
            </a:r>
            <a:r>
              <a:rPr lang="en-AU" sz="3200" b="1" dirty="0" smtClean="0"/>
              <a:t>x 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170819" y="3283754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/>
              <a:t>Split </a:t>
            </a:r>
            <a:r>
              <a:rPr lang="en-AU" sz="3200" b="1" dirty="0" smtClean="0"/>
              <a:t>12 </a:t>
            </a:r>
            <a:r>
              <a:rPr lang="en-AU" sz="3200" b="1" dirty="0"/>
              <a:t>into simpler multiplications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1683499" y="4224222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12 = </a:t>
            </a:r>
            <a:r>
              <a:rPr lang="en-AU" sz="3200" b="1" dirty="0" smtClean="0">
                <a:solidFill>
                  <a:srgbClr val="FF0000"/>
                </a:solidFill>
              </a:rPr>
              <a:t>6</a:t>
            </a:r>
            <a:r>
              <a:rPr lang="en-AU" sz="3200" b="1" dirty="0" smtClean="0"/>
              <a:t> x 2 = </a:t>
            </a:r>
            <a:r>
              <a:rPr lang="en-AU" sz="3200" b="1" dirty="0" smtClean="0">
                <a:solidFill>
                  <a:srgbClr val="FF0000"/>
                </a:solidFill>
              </a:rPr>
              <a:t>2 x 3 </a:t>
            </a:r>
            <a:r>
              <a:rPr lang="en-AU" sz="3200" b="1" dirty="0" smtClean="0"/>
              <a:t>x 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360612" y="1621052"/>
            <a:ext cx="2146851" cy="1239965"/>
            <a:chOff x="660398" y="3602071"/>
            <a:chExt cx="2035631" cy="882026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641136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On your whiteboard, split </a:t>
              </a:r>
              <a:r>
                <a:rPr lang="en-AU" dirty="0">
                  <a:solidFill>
                    <a:schemeClr val="tx1"/>
                  </a:solidFill>
                </a:rPr>
                <a:t>9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C175E2EE-D511-47BA-96B1-2D89396BAFBE}"/>
              </a:ext>
            </a:extLst>
          </p:cNvPr>
          <p:cNvSpPr txBox="1"/>
          <p:nvPr/>
        </p:nvSpPr>
        <p:spPr>
          <a:xfrm>
            <a:off x="0" y="-6605"/>
            <a:ext cx="4498548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Activate Prior Knowledge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276898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9" grpId="0" build="p"/>
      <p:bldP spid="40" grpId="0"/>
      <p:bldP spid="41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19" y="846559"/>
            <a:ext cx="8932826" cy="918741"/>
          </a:xfrm>
        </p:spPr>
        <p:txBody>
          <a:bodyPr/>
          <a:lstStyle/>
          <a:p>
            <a:pPr marL="0" indent="0">
              <a:buNone/>
            </a:pPr>
            <a:r>
              <a:rPr lang="en-AU" sz="3200" b="1" dirty="0" smtClean="0"/>
              <a:t>Split 10 into simpler multiplications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1605090" y="1866135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10 = </a:t>
            </a:r>
            <a:r>
              <a:rPr lang="en-AU" sz="3200" b="1" dirty="0">
                <a:solidFill>
                  <a:srgbClr val="FF0000"/>
                </a:solidFill>
              </a:rPr>
              <a:t>5</a:t>
            </a:r>
            <a:r>
              <a:rPr lang="en-AU" sz="3200" b="1" dirty="0" smtClean="0"/>
              <a:t> x 2  (cannot be simplified further)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170819" y="3283754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/>
              <a:t>Split </a:t>
            </a:r>
            <a:r>
              <a:rPr lang="en-AU" sz="3200" b="1" dirty="0" smtClean="0"/>
              <a:t>18 </a:t>
            </a:r>
            <a:r>
              <a:rPr lang="en-AU" sz="3200" b="1" dirty="0"/>
              <a:t>into simpler multiplications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1683499" y="4224222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18 = </a:t>
            </a:r>
            <a:r>
              <a:rPr lang="en-AU" sz="3200" b="1" dirty="0" smtClean="0">
                <a:solidFill>
                  <a:srgbClr val="FF0000"/>
                </a:solidFill>
              </a:rPr>
              <a:t>6</a:t>
            </a:r>
            <a:r>
              <a:rPr lang="en-AU" sz="3200" b="1" dirty="0" smtClean="0"/>
              <a:t> x 3 = </a:t>
            </a:r>
            <a:r>
              <a:rPr lang="en-AU" sz="3200" b="1" dirty="0" smtClean="0">
                <a:solidFill>
                  <a:srgbClr val="FF0000"/>
                </a:solidFill>
              </a:rPr>
              <a:t>2 x 3 </a:t>
            </a:r>
            <a:r>
              <a:rPr lang="en-AU" sz="3200" b="1" dirty="0" smtClean="0"/>
              <a:t>x 3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75E2EE-D511-47BA-96B1-2D89396BAFBE}"/>
              </a:ext>
            </a:extLst>
          </p:cNvPr>
          <p:cNvSpPr txBox="1"/>
          <p:nvPr/>
        </p:nvSpPr>
        <p:spPr>
          <a:xfrm>
            <a:off x="0" y="-6605"/>
            <a:ext cx="4498548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Activate Prior Knowledge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3187365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9" grpId="0" build="p"/>
      <p:bldP spid="40" grpId="0"/>
      <p:bldP spid="41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19" y="846559"/>
            <a:ext cx="8932826" cy="918741"/>
          </a:xfrm>
        </p:spPr>
        <p:txBody>
          <a:bodyPr/>
          <a:lstStyle/>
          <a:p>
            <a:pPr marL="0" indent="0">
              <a:buNone/>
            </a:pPr>
            <a:r>
              <a:rPr lang="en-AU" sz="3200" b="1" dirty="0" smtClean="0"/>
              <a:t>Split the following into simpler multiplications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75E2EE-D511-47BA-96B1-2D89396BAFBE}"/>
              </a:ext>
            </a:extLst>
          </p:cNvPr>
          <p:cNvSpPr txBox="1"/>
          <p:nvPr/>
        </p:nvSpPr>
        <p:spPr>
          <a:xfrm>
            <a:off x="0" y="-6605"/>
            <a:ext cx="2308149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Whiteboard</a:t>
            </a:r>
            <a:endParaRPr lang="en-AU" sz="3200" dirty="0"/>
          </a:p>
        </p:txBody>
      </p:sp>
      <p:sp>
        <p:nvSpPr>
          <p:cNvPr id="2" name="TextBox 1"/>
          <p:cNvSpPr txBox="1"/>
          <p:nvPr/>
        </p:nvSpPr>
        <p:spPr>
          <a:xfrm>
            <a:off x="1230283" y="1765300"/>
            <a:ext cx="7315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 smtClean="0"/>
              <a:t>15</a:t>
            </a:r>
            <a:endParaRPr lang="en-AU" sz="24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1230283" y="3330372"/>
            <a:ext cx="7315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9</a:t>
            </a:r>
            <a:endParaRPr lang="en-AU" sz="24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1230282" y="4895444"/>
            <a:ext cx="7315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 smtClean="0"/>
              <a:t>12</a:t>
            </a:r>
            <a:endParaRPr lang="en-AU" sz="24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6874625" y="1881385"/>
            <a:ext cx="7315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 smtClean="0"/>
              <a:t>20</a:t>
            </a:r>
            <a:endParaRPr lang="en-AU" sz="24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6982691" y="3483263"/>
            <a:ext cx="7315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 smtClean="0"/>
              <a:t>18</a:t>
            </a:r>
            <a:endParaRPr lang="en-AU" sz="24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7040880" y="5037743"/>
            <a:ext cx="7315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 smtClean="0"/>
              <a:t>32</a:t>
            </a:r>
            <a:endParaRPr lang="en-AU" sz="24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6874625" y="268809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3933337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19" y="846559"/>
            <a:ext cx="8932826" cy="91874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sz="3200" b="1" dirty="0" smtClean="0"/>
              <a:t>You will need to develop easy strategies to help you add and multiply without a calculator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8" y="-19987"/>
            <a:ext cx="2146850" cy="1365083"/>
            <a:chOff x="660399" y="3602071"/>
            <a:chExt cx="2035630" cy="97102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1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When do you need mental strategies?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170819" y="2262306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If I have 120 lollies, and I need to divide them evenly between my 8 friends, how many does each of my friends receive?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170819" y="4416814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Luckily, I can use my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mental strategies to help!!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7" y="1638590"/>
            <a:ext cx="2146851" cy="1594940"/>
            <a:chOff x="660398" y="3602071"/>
            <a:chExt cx="2035631" cy="1134531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</a:t>
              </a:r>
              <a:r>
                <a:rPr lang="en-AU" sz="1400" b="1" dirty="0" smtClean="0">
                  <a:solidFill>
                    <a:schemeClr val="bg1"/>
                  </a:solidFill>
                </a:rPr>
                <a:t>2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893641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is an example of a real life calculation you could make in a store?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pic>
        <p:nvPicPr>
          <p:cNvPr id="2050" name="Picture 2" descr="Menta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3236" y="4438423"/>
            <a:ext cx="2319131" cy="2319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1695044" y="6326859"/>
            <a:ext cx="549965" cy="4306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75E2EE-D511-47BA-96B1-2D89396BAFBE}"/>
              </a:ext>
            </a:extLst>
          </p:cNvPr>
          <p:cNvSpPr txBox="1"/>
          <p:nvPr/>
        </p:nvSpPr>
        <p:spPr>
          <a:xfrm>
            <a:off x="0" y="-6605"/>
            <a:ext cx="2014888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Relevance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199340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9" grpId="0" build="p"/>
      <p:bldP spid="40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19" y="846559"/>
            <a:ext cx="8932826" cy="9187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3200" b="1" dirty="0" smtClean="0"/>
              <a:t>In the expression:  18 x 27 = 486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8" y="-19987"/>
            <a:ext cx="2146850" cy="1365083"/>
            <a:chOff x="660399" y="3602071"/>
            <a:chExt cx="2035630" cy="97102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1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In 5 x 8 = 40, what is the 5?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266621" y="2225173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18 is the multiplier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6" y="1427703"/>
            <a:ext cx="2146851" cy="1594940"/>
            <a:chOff x="660398" y="3602071"/>
            <a:chExt cx="2035631" cy="1134531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</a:t>
              </a:r>
              <a:r>
                <a:rPr lang="en-AU" sz="1400" b="1" dirty="0" smtClean="0">
                  <a:solidFill>
                    <a:schemeClr val="bg1"/>
                  </a:solidFill>
                </a:rPr>
                <a:t>2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893641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In 5 x 8 = 40, what is the </a:t>
              </a:r>
              <a:r>
                <a:rPr lang="en-AU" dirty="0" smtClean="0">
                  <a:solidFill>
                    <a:schemeClr val="tx1"/>
                  </a:solidFill>
                </a:rPr>
                <a:t>8?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pic>
        <p:nvPicPr>
          <p:cNvPr id="2050" name="Picture 2" descr="Menta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3236" y="4438423"/>
            <a:ext cx="2319131" cy="2319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1695044" y="6326859"/>
            <a:ext cx="549965" cy="4306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77332" y="3640343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27 is the multiplier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77332" y="4939598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486 is the product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899375" y="3053514"/>
            <a:ext cx="2146851" cy="1594940"/>
            <a:chOff x="660398" y="3602071"/>
            <a:chExt cx="2035631" cy="1134531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</a:t>
              </a:r>
              <a:r>
                <a:rPr lang="en-AU" sz="1400" b="1" dirty="0" smtClean="0">
                  <a:solidFill>
                    <a:schemeClr val="bg1"/>
                  </a:solidFill>
                </a:rPr>
                <a:t>2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893641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In 5 x 8 = 40, what is the </a:t>
              </a:r>
              <a:r>
                <a:rPr lang="en-AU" dirty="0" smtClean="0">
                  <a:solidFill>
                    <a:schemeClr val="tx1"/>
                  </a:solidFill>
                </a:rPr>
                <a:t>40?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C175E2EE-D511-47BA-96B1-2D89396BAFBE}"/>
              </a:ext>
            </a:extLst>
          </p:cNvPr>
          <p:cNvSpPr txBox="1"/>
          <p:nvPr/>
        </p:nvSpPr>
        <p:spPr>
          <a:xfrm>
            <a:off x="0" y="-6605"/>
            <a:ext cx="402309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Concept Development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603741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0" grpId="0" build="p"/>
      <p:bldP spid="16" grpId="0" build="p"/>
      <p:bldP spid="17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19" y="846559"/>
            <a:ext cx="8932826" cy="9187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3200" b="1" dirty="0" smtClean="0"/>
              <a:t>In the expression:  32 </a:t>
            </a:r>
            <a:r>
              <a:rPr lang="en-AU" sz="3200" b="1" dirty="0"/>
              <a:t>÷</a:t>
            </a:r>
            <a:r>
              <a:rPr lang="en-AU" sz="3200" b="1" dirty="0" smtClean="0"/>
              <a:t> 10 = 3 remainder 2</a:t>
            </a: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8" y="-19987"/>
            <a:ext cx="2146850" cy="1365083"/>
            <a:chOff x="660399" y="3602071"/>
            <a:chExt cx="2035630" cy="97102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dirty="0">
                  <a:solidFill>
                    <a:schemeClr val="bg1"/>
                  </a:solidFill>
                </a:rPr>
                <a:t>CFU</a:t>
              </a:r>
              <a:r>
                <a:rPr lang="en-AU" sz="1400" dirty="0"/>
                <a:t> </a:t>
              </a:r>
              <a:r>
                <a:rPr lang="en-AU" sz="14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In 14 ÷ 10 = 1 remainder 4, what is the dividend?  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266621" y="2225173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32 is the dividend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6" y="1427703"/>
            <a:ext cx="2146851" cy="1594940"/>
            <a:chOff x="660398" y="3602071"/>
            <a:chExt cx="2035631" cy="1134531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dirty="0">
                  <a:solidFill>
                    <a:schemeClr val="bg1"/>
                  </a:solidFill>
                </a:rPr>
                <a:t>CFU </a:t>
              </a:r>
              <a:r>
                <a:rPr lang="en-AU" sz="1400" dirty="0" smtClean="0">
                  <a:solidFill>
                    <a:schemeClr val="bg1"/>
                  </a:solidFill>
                </a:rPr>
                <a:t>2</a:t>
              </a:r>
              <a:endParaRPr lang="en-AU" sz="1400" dirty="0">
                <a:solidFill>
                  <a:schemeClr val="bg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893641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In 14 ÷ 10 = 1 remainder 4, what is the </a:t>
              </a:r>
              <a:r>
                <a:rPr lang="en-AU" dirty="0" smtClean="0">
                  <a:solidFill>
                    <a:schemeClr val="tx1"/>
                  </a:solidFill>
                </a:rPr>
                <a:t>divisor?  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pic>
        <p:nvPicPr>
          <p:cNvPr id="2050" name="Picture 2" descr="Menta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8436" y="3117623"/>
            <a:ext cx="2319131" cy="2319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1695044" y="6326859"/>
            <a:ext cx="549965" cy="4306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266621" y="3312940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10 is the divisor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34482" y="4400707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3 is the quotient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899375" y="3053514"/>
            <a:ext cx="2146851" cy="1594940"/>
            <a:chOff x="660398" y="3602071"/>
            <a:chExt cx="2035631" cy="1134531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dirty="0">
                  <a:solidFill>
                    <a:schemeClr val="bg1"/>
                  </a:solidFill>
                </a:rPr>
                <a:t>CFU 3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893641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In 14 ÷ 10 = 1 remainder 4, what is the </a:t>
              </a:r>
              <a:r>
                <a:rPr lang="en-AU" dirty="0" smtClean="0">
                  <a:solidFill>
                    <a:schemeClr val="tx1"/>
                  </a:solidFill>
                </a:rPr>
                <a:t>quotient?  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34482" y="5353207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2 is the remainder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899375" y="4731919"/>
            <a:ext cx="2146851" cy="1594940"/>
            <a:chOff x="660398" y="3602071"/>
            <a:chExt cx="2035631" cy="1134531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dirty="0">
                  <a:solidFill>
                    <a:schemeClr val="bg1"/>
                  </a:solidFill>
                </a:rPr>
                <a:t>CFU 4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893641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In 14 ÷ 10 = 1 remainder 4, what is the </a:t>
              </a:r>
              <a:r>
                <a:rPr lang="en-AU" dirty="0" smtClean="0">
                  <a:solidFill>
                    <a:schemeClr val="tx1"/>
                  </a:solidFill>
                </a:rPr>
                <a:t>remainder?  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C175E2EE-D511-47BA-96B1-2D89396BAFBE}"/>
              </a:ext>
            </a:extLst>
          </p:cNvPr>
          <p:cNvSpPr txBox="1"/>
          <p:nvPr/>
        </p:nvSpPr>
        <p:spPr>
          <a:xfrm>
            <a:off x="0" y="-6605"/>
            <a:ext cx="402309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Concept Development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2305195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0" grpId="0" build="p"/>
      <p:bldP spid="16" grpId="0" build="p"/>
      <p:bldP spid="17" grpId="0" build="p"/>
      <p:bldP spid="21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19" y="846559"/>
            <a:ext cx="8932826" cy="9187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3200" b="1" dirty="0" smtClean="0"/>
              <a:t>Break down each number by dividing it into parts: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11695044" y="6326859"/>
            <a:ext cx="549965" cy="4306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581934" y="1851925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8 = 4 x 2 = 2 x 2 x 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53613" y="2526263"/>
            <a:ext cx="9414287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 smtClean="0"/>
              <a:t>12 = 4 x 3 = 2 x 2 x 3</a:t>
            </a:r>
            <a:endParaRPr lang="en-AU" sz="32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AU" sz="3200" b="1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53613" y="3255334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 smtClean="0"/>
              <a:t>28 = 7 x 4 = 7 x 2 x 2</a:t>
            </a:r>
            <a:endParaRPr lang="en-AU" sz="3200" b="1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pic>
        <p:nvPicPr>
          <p:cNvPr id="1026" name="Picture 2" descr="Image result for mental maths clipar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2949" y="2990208"/>
            <a:ext cx="2857500" cy="330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53613" y="3984405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 smtClean="0"/>
              <a:t>36 = 9 x 4 = 3 x 3 x 2 x 2</a:t>
            </a:r>
            <a:endParaRPr lang="en-AU" sz="32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AU" sz="3200" b="1" dirty="0" smtClean="0">
                <a:solidFill>
                  <a:srgbClr val="FF0000"/>
                </a:solidFill>
              </a:rPr>
              <a:t> </a:t>
            </a:r>
            <a:endParaRPr lang="en-AU" sz="3200" b="1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75E2EE-D511-47BA-96B1-2D89396BAFBE}"/>
              </a:ext>
            </a:extLst>
          </p:cNvPr>
          <p:cNvSpPr txBox="1"/>
          <p:nvPr/>
        </p:nvSpPr>
        <p:spPr>
          <a:xfrm>
            <a:off x="0" y="-6605"/>
            <a:ext cx="3310182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Skill Development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697147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  <p:bldP spid="15" grpId="0" uiExpand="1" build="p"/>
      <p:bldP spid="16" grpId="0"/>
      <p:bldP spid="1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19" y="846559"/>
            <a:ext cx="8932826" cy="9187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3200" b="1" dirty="0" smtClean="0"/>
              <a:t>Break down each number by dividing it into parts: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11695044" y="6326859"/>
            <a:ext cx="549965" cy="4306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53613" y="1925227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18</a:t>
            </a: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53613" y="2816043"/>
            <a:ext cx="9414287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 smtClean="0"/>
              <a:t>30 </a:t>
            </a:r>
            <a:endParaRPr lang="en-AU" sz="32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AU" sz="3200" b="1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pic>
        <p:nvPicPr>
          <p:cNvPr id="1026" name="Picture 2" descr="Image result for mental maths clipar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2949" y="2990208"/>
            <a:ext cx="2857500" cy="330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53613" y="4637091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 smtClean="0"/>
              <a:t>50</a:t>
            </a:r>
            <a:endParaRPr lang="en-AU" sz="3200" b="1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75E2EE-D511-47BA-96B1-2D89396BAFBE}"/>
              </a:ext>
            </a:extLst>
          </p:cNvPr>
          <p:cNvSpPr txBox="1"/>
          <p:nvPr/>
        </p:nvSpPr>
        <p:spPr>
          <a:xfrm>
            <a:off x="0" y="-6605"/>
            <a:ext cx="3310182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Skill Development</a:t>
            </a:r>
            <a:endParaRPr lang="en-AU" sz="3200" dirty="0"/>
          </a:p>
        </p:txBody>
      </p:sp>
      <p:sp>
        <p:nvSpPr>
          <p:cNvPr id="20" name="TextBox 19"/>
          <p:cNvSpPr txBox="1"/>
          <p:nvPr/>
        </p:nvSpPr>
        <p:spPr>
          <a:xfrm>
            <a:off x="6718813" y="1453284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53613" y="3746275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 smtClean="0"/>
              <a:t>4</a:t>
            </a:r>
            <a:r>
              <a:rPr lang="en-AU" sz="3200" b="1" dirty="0"/>
              <a:t>2</a:t>
            </a:r>
            <a:endParaRPr lang="en-AU" sz="3200" b="1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4195339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  <p:bldP spid="15" grpId="0" uiExpand="1" build="p"/>
      <p:bldP spid="18" grpId="0"/>
      <p:bldP spid="2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052" y="770281"/>
            <a:ext cx="9639931" cy="91874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sz="3200" b="1" dirty="0" smtClean="0"/>
              <a:t>Use the “work in stages” strategy to calculate the following: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8" y="-19987"/>
            <a:ext cx="2146850" cy="1249639"/>
            <a:chOff x="660399" y="3602071"/>
            <a:chExt cx="2035630" cy="97102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1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is step 1 in “working in stages”?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7" y="1638592"/>
            <a:ext cx="2146851" cy="1216869"/>
            <a:chOff x="660398" y="3602071"/>
            <a:chExt cx="2035631" cy="865597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</a:t>
              </a:r>
              <a:r>
                <a:rPr lang="en-AU" sz="1400" b="1" dirty="0" smtClean="0">
                  <a:solidFill>
                    <a:schemeClr val="bg1"/>
                  </a:solidFill>
                </a:rPr>
                <a:t>2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32475"/>
              <a:ext cx="2035629" cy="635193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is step </a:t>
              </a:r>
              <a:r>
                <a:rPr lang="en-AU" dirty="0" smtClean="0">
                  <a:solidFill>
                    <a:schemeClr val="tx1"/>
                  </a:solidFill>
                </a:rPr>
                <a:t>2 </a:t>
              </a:r>
              <a:r>
                <a:rPr lang="en-AU" dirty="0">
                  <a:solidFill>
                    <a:schemeClr val="tx1"/>
                  </a:solidFill>
                </a:rPr>
                <a:t>in “working in stages”?</a:t>
              </a: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1695044" y="6326859"/>
            <a:ext cx="549965" cy="4306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246052" y="1964596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 smtClean="0"/>
              <a:t> 1</a:t>
            </a:r>
            <a:r>
              <a:rPr lang="en-AU" sz="3200" b="1" dirty="0"/>
              <a:t>)</a:t>
            </a:r>
            <a:r>
              <a:rPr lang="en-AU" sz="3200" b="1" dirty="0" smtClean="0"/>
              <a:t>      25 x 4 = 25 x 2 </a:t>
            </a:r>
            <a:r>
              <a:rPr lang="en-AU" sz="3200" b="1" dirty="0"/>
              <a:t>x 2 </a:t>
            </a:r>
            <a:r>
              <a:rPr lang="en-AU" sz="3200" b="1" dirty="0">
                <a:solidFill>
                  <a:srgbClr val="FF0000"/>
                </a:solidFill>
              </a:rPr>
              <a:t>(Break down the </a:t>
            </a:r>
            <a:r>
              <a:rPr lang="en-AU" sz="3200" b="1" dirty="0" smtClean="0">
                <a:solidFill>
                  <a:srgbClr val="FF0000"/>
                </a:solidFill>
              </a:rPr>
              <a:t>4)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58873" y="3164530"/>
            <a:ext cx="9414287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 smtClean="0"/>
              <a:t>2)      25 x 2 = 50 x 2 </a:t>
            </a:r>
            <a:r>
              <a:rPr lang="en-AU" sz="3200" b="1" dirty="0" smtClean="0">
                <a:solidFill>
                  <a:srgbClr val="FF0000"/>
                </a:solidFill>
              </a:rPr>
              <a:t>(multiply by the first 2) </a:t>
            </a:r>
            <a:endParaRPr lang="en-AU" sz="32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AU" sz="3200" b="1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1416707" y="4057494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/>
              <a:t> </a:t>
            </a:r>
            <a:r>
              <a:rPr lang="en-AU" sz="3200" b="1" dirty="0" smtClean="0"/>
              <a:t>     = 100 </a:t>
            </a:r>
            <a:r>
              <a:rPr lang="en-AU" sz="3200" b="1" dirty="0" smtClean="0">
                <a:solidFill>
                  <a:srgbClr val="FF0000"/>
                </a:solidFill>
              </a:rPr>
              <a:t>(multiply by the second 2)</a:t>
            </a:r>
            <a:endParaRPr lang="en-AU" sz="3200" b="1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75E2EE-D511-47BA-96B1-2D89396BAFBE}"/>
              </a:ext>
            </a:extLst>
          </p:cNvPr>
          <p:cNvSpPr txBox="1"/>
          <p:nvPr/>
        </p:nvSpPr>
        <p:spPr>
          <a:xfrm>
            <a:off x="0" y="-6605"/>
            <a:ext cx="402309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Concept Development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2671610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052" y="770281"/>
            <a:ext cx="9639931" cy="91874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sz="3200" b="1" dirty="0" smtClean="0"/>
              <a:t>Use the “work in stages” strategy to calculate the following: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8" y="-19987"/>
            <a:ext cx="2146850" cy="1249639"/>
            <a:chOff x="660399" y="3602071"/>
            <a:chExt cx="2035630" cy="97102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1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is step 1 in “working in stages”?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7" y="1638592"/>
            <a:ext cx="2146851" cy="1216869"/>
            <a:chOff x="660398" y="3602071"/>
            <a:chExt cx="2035631" cy="865597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</a:t>
              </a:r>
              <a:r>
                <a:rPr lang="en-AU" sz="1400" b="1" dirty="0" smtClean="0">
                  <a:solidFill>
                    <a:schemeClr val="bg1"/>
                  </a:solidFill>
                </a:rPr>
                <a:t>2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32475"/>
              <a:ext cx="2035629" cy="635193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is step </a:t>
              </a:r>
              <a:r>
                <a:rPr lang="en-AU" dirty="0" smtClean="0">
                  <a:solidFill>
                    <a:schemeClr val="tx1"/>
                  </a:solidFill>
                </a:rPr>
                <a:t>2 </a:t>
              </a:r>
              <a:r>
                <a:rPr lang="en-AU" dirty="0">
                  <a:solidFill>
                    <a:schemeClr val="tx1"/>
                  </a:solidFill>
                </a:rPr>
                <a:t>in “working in stages”?</a:t>
              </a: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1695044" y="6326859"/>
            <a:ext cx="549965" cy="4306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246052" y="1964596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 smtClean="0"/>
              <a:t> 1)    27 x 4 = 27 x 2 </a:t>
            </a:r>
            <a:r>
              <a:rPr lang="en-AU" sz="3200" b="1" dirty="0"/>
              <a:t>x 2 </a:t>
            </a:r>
            <a:r>
              <a:rPr lang="en-AU" sz="3200" b="1" dirty="0">
                <a:solidFill>
                  <a:srgbClr val="FF0000"/>
                </a:solidFill>
              </a:rPr>
              <a:t>(Break down the </a:t>
            </a:r>
            <a:r>
              <a:rPr lang="en-AU" sz="3200" b="1" dirty="0" smtClean="0">
                <a:solidFill>
                  <a:srgbClr val="FF0000"/>
                </a:solidFill>
              </a:rPr>
              <a:t>4)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58873" y="3164530"/>
            <a:ext cx="9414287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 smtClean="0"/>
              <a:t>2)     27 x 2 = 54 x 2 </a:t>
            </a:r>
            <a:r>
              <a:rPr lang="en-AU" sz="3200" b="1" dirty="0" smtClean="0">
                <a:solidFill>
                  <a:srgbClr val="FF0000"/>
                </a:solidFill>
              </a:rPr>
              <a:t>(multiply by the first 2) </a:t>
            </a:r>
            <a:endParaRPr lang="en-AU" sz="32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AU" sz="3200" b="1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1372257" y="4035268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/>
              <a:t> </a:t>
            </a:r>
            <a:r>
              <a:rPr lang="en-AU" sz="3200" b="1" dirty="0" smtClean="0"/>
              <a:t>     = 108 </a:t>
            </a:r>
            <a:r>
              <a:rPr lang="en-AU" sz="3200" b="1" dirty="0" smtClean="0">
                <a:solidFill>
                  <a:srgbClr val="FF0000"/>
                </a:solidFill>
              </a:rPr>
              <a:t>(multiply by the second 2)</a:t>
            </a:r>
            <a:endParaRPr lang="en-AU" sz="3200" b="1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75E2EE-D511-47BA-96B1-2D89396BAFBE}"/>
              </a:ext>
            </a:extLst>
          </p:cNvPr>
          <p:cNvSpPr txBox="1"/>
          <p:nvPr/>
        </p:nvSpPr>
        <p:spPr>
          <a:xfrm>
            <a:off x="0" y="-6605"/>
            <a:ext cx="402309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Concept Development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3963136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052" y="770281"/>
            <a:ext cx="9639931" cy="91874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sz="3200" b="1" dirty="0" smtClean="0"/>
              <a:t>Use the “work in stages” strategy to calculate the following: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11695044" y="6326859"/>
            <a:ext cx="549965" cy="4306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246052" y="1964596"/>
            <a:ext cx="10493992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 smtClean="0"/>
              <a:t> 1)    45 x 8 </a:t>
            </a:r>
            <a:r>
              <a:rPr lang="en-AU" sz="3200" b="1" dirty="0">
                <a:solidFill>
                  <a:srgbClr val="FF0000"/>
                </a:solidFill>
              </a:rPr>
              <a:t>(Break down the 8</a:t>
            </a:r>
            <a:r>
              <a:rPr lang="en-AU" sz="3200" b="1" dirty="0" smtClean="0">
                <a:solidFill>
                  <a:srgbClr val="FF0000"/>
                </a:solidFill>
              </a:rPr>
              <a:t>)</a:t>
            </a:r>
            <a:endParaRPr lang="en-AU" sz="3200" b="1" dirty="0" smtClean="0"/>
          </a:p>
          <a:p>
            <a:pPr marL="0" indent="0">
              <a:buNone/>
            </a:pPr>
            <a:r>
              <a:rPr lang="en-AU" sz="3200" b="1" dirty="0"/>
              <a:t> </a:t>
            </a:r>
            <a:r>
              <a:rPr lang="en-AU" sz="3200" b="1" dirty="0" smtClean="0"/>
              <a:t>       = 45 x 4 x 2 </a:t>
            </a:r>
          </a:p>
          <a:p>
            <a:pPr marL="0" indent="0">
              <a:buNone/>
            </a:pPr>
            <a:r>
              <a:rPr lang="en-AU" sz="3200" b="1" dirty="0" smtClean="0"/>
              <a:t>         = 45 x 2 x 2 x 2</a:t>
            </a:r>
            <a:endParaRPr lang="en-AU" sz="3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75E2EE-D511-47BA-96B1-2D89396BAFBE}"/>
              </a:ext>
            </a:extLst>
          </p:cNvPr>
          <p:cNvSpPr txBox="1"/>
          <p:nvPr/>
        </p:nvSpPr>
        <p:spPr>
          <a:xfrm>
            <a:off x="0" y="-6605"/>
            <a:ext cx="402309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Concept Development</a:t>
            </a:r>
            <a:endParaRPr lang="en-AU" sz="3200" dirty="0"/>
          </a:p>
        </p:txBody>
      </p:sp>
      <p:sp>
        <p:nvSpPr>
          <p:cNvPr id="17" name="TextBox 16"/>
          <p:cNvSpPr txBox="1"/>
          <p:nvPr/>
        </p:nvSpPr>
        <p:spPr>
          <a:xfrm>
            <a:off x="9445387" y="1287583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1072341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19" y="846559"/>
            <a:ext cx="8932826" cy="91874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AU" sz="3200" b="1" dirty="0" smtClean="0"/>
              <a:t>Calculate the following using the “work in stages”</a:t>
            </a:r>
          </a:p>
          <a:p>
            <a:pPr marL="0" indent="0">
              <a:buNone/>
            </a:pPr>
            <a:r>
              <a:rPr lang="en-AU" sz="3200" b="1" dirty="0" smtClean="0"/>
              <a:t>Strategy: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11695044" y="6326859"/>
            <a:ext cx="549965" cy="4306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93823" y="1867872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34 x </a:t>
            </a:r>
            <a:r>
              <a:rPr lang="en-AU" sz="3200" b="1" dirty="0" smtClean="0">
                <a:solidFill>
                  <a:srgbClr val="FF0000"/>
                </a:solidFill>
              </a:rPr>
              <a:t>8 (break the 8 down by dividing it into parts)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pic>
        <p:nvPicPr>
          <p:cNvPr id="1026" name="Picture 2" descr="Image result for mental maths clipar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6649" y="3264401"/>
            <a:ext cx="2857500" cy="330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175E2EE-D511-47BA-96B1-2D89396BAFBE}"/>
              </a:ext>
            </a:extLst>
          </p:cNvPr>
          <p:cNvSpPr txBox="1"/>
          <p:nvPr/>
        </p:nvSpPr>
        <p:spPr>
          <a:xfrm>
            <a:off x="0" y="-6605"/>
            <a:ext cx="2945880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Guided Practice</a:t>
            </a:r>
            <a:endParaRPr lang="en-AU" sz="3200" dirty="0"/>
          </a:p>
        </p:txBody>
      </p:sp>
      <p:sp>
        <p:nvSpPr>
          <p:cNvPr id="22" name="TextBox 21"/>
          <p:cNvSpPr txBox="1"/>
          <p:nvPr/>
        </p:nvSpPr>
        <p:spPr>
          <a:xfrm>
            <a:off x="7879617" y="1262955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3900375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19" y="846559"/>
            <a:ext cx="8932826" cy="91874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AU" sz="3200" b="1" dirty="0" smtClean="0"/>
              <a:t>Calculate the following using the “work in stages”</a:t>
            </a:r>
          </a:p>
          <a:p>
            <a:pPr marL="0" indent="0">
              <a:buNone/>
            </a:pPr>
            <a:r>
              <a:rPr lang="en-AU" sz="3200" b="1" dirty="0" smtClean="0"/>
              <a:t>Strategy: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11695044" y="6326859"/>
            <a:ext cx="549965" cy="4306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93823" y="1867872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35 x </a:t>
            </a:r>
            <a:r>
              <a:rPr lang="en-AU" sz="3200" b="1" dirty="0"/>
              <a:t>9</a:t>
            </a: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75E2EE-D511-47BA-96B1-2D89396BAFBE}"/>
              </a:ext>
            </a:extLst>
          </p:cNvPr>
          <p:cNvSpPr txBox="1"/>
          <p:nvPr/>
        </p:nvSpPr>
        <p:spPr>
          <a:xfrm>
            <a:off x="0" y="-6605"/>
            <a:ext cx="2945880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Guided Practice</a:t>
            </a:r>
            <a:endParaRPr lang="en-AU" sz="3200" dirty="0"/>
          </a:p>
        </p:txBody>
      </p:sp>
      <p:sp>
        <p:nvSpPr>
          <p:cNvPr id="22" name="TextBox 21"/>
          <p:cNvSpPr txBox="1"/>
          <p:nvPr/>
        </p:nvSpPr>
        <p:spPr>
          <a:xfrm>
            <a:off x="8822344" y="846559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987208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19" y="846559"/>
            <a:ext cx="8932826" cy="91874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AU" sz="3200" b="1" dirty="0" smtClean="0"/>
              <a:t>Calculate the following using the “work in stages”</a:t>
            </a:r>
          </a:p>
          <a:p>
            <a:pPr marL="0" indent="0">
              <a:buNone/>
            </a:pPr>
            <a:r>
              <a:rPr lang="en-AU" sz="3200" b="1" dirty="0" smtClean="0"/>
              <a:t>Strategy: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8" y="-19987"/>
            <a:ext cx="2146850" cy="1365083"/>
            <a:chOff x="660399" y="3602071"/>
            <a:chExt cx="2035630" cy="97102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1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is the first step in “work in stages”?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7" y="1638590"/>
            <a:ext cx="2146851" cy="1594940"/>
            <a:chOff x="660398" y="3602071"/>
            <a:chExt cx="2035631" cy="1134531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</a:t>
              </a:r>
              <a:r>
                <a:rPr lang="en-AU" sz="1400" b="1" dirty="0" smtClean="0">
                  <a:solidFill>
                    <a:schemeClr val="bg1"/>
                  </a:solidFill>
                </a:rPr>
                <a:t>2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893641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is the second step in “work in stages”?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1695044" y="6326859"/>
            <a:ext cx="549965" cy="4306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93822" y="1867872"/>
            <a:ext cx="9353427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900 </a:t>
            </a:r>
            <a:r>
              <a:rPr lang="en-AU" sz="3200" b="1" dirty="0"/>
              <a:t>÷</a:t>
            </a:r>
            <a:r>
              <a:rPr lang="en-AU" sz="3200" b="1" dirty="0" smtClean="0"/>
              <a:t> </a:t>
            </a:r>
            <a:r>
              <a:rPr lang="en-AU" sz="3200" b="1" dirty="0" smtClean="0">
                <a:solidFill>
                  <a:srgbClr val="FF0000"/>
                </a:solidFill>
              </a:rPr>
              <a:t>15 (break the 15 down by dividing it into parts)</a:t>
            </a: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53613" y="2526263"/>
            <a:ext cx="8166973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 smtClean="0"/>
              <a:t>900 </a:t>
            </a:r>
            <a:r>
              <a:rPr lang="en-AU" sz="3200" b="1" dirty="0"/>
              <a:t>÷</a:t>
            </a:r>
            <a:r>
              <a:rPr lang="en-AU" sz="3200" b="1" dirty="0" smtClean="0"/>
              <a:t> </a:t>
            </a:r>
            <a:r>
              <a:rPr lang="en-AU" sz="3200" b="1" dirty="0">
                <a:solidFill>
                  <a:srgbClr val="FF0000"/>
                </a:solidFill>
              </a:rPr>
              <a:t>3</a:t>
            </a:r>
            <a:r>
              <a:rPr lang="en-AU" sz="3200" b="1" dirty="0" smtClean="0">
                <a:solidFill>
                  <a:srgbClr val="FF0000"/>
                </a:solidFill>
              </a:rPr>
              <a:t> </a:t>
            </a:r>
            <a:r>
              <a:rPr lang="en-AU" sz="3200" b="1" dirty="0"/>
              <a:t>÷</a:t>
            </a:r>
            <a:r>
              <a:rPr lang="en-AU" sz="3200" b="1" dirty="0" smtClean="0">
                <a:solidFill>
                  <a:srgbClr val="FF0000"/>
                </a:solidFill>
              </a:rPr>
              <a:t> 5 </a:t>
            </a:r>
            <a:r>
              <a:rPr lang="en-AU" sz="3200" b="1" dirty="0">
                <a:solidFill>
                  <a:srgbClr val="FF0000"/>
                </a:solidFill>
              </a:rPr>
              <a:t>(divide 900 by 3)</a:t>
            </a:r>
          </a:p>
          <a:p>
            <a:pPr marL="0" indent="0">
              <a:buNone/>
            </a:pPr>
            <a:endParaRPr lang="en-AU" sz="3200" b="1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53613" y="3255334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 smtClean="0"/>
              <a:t>300 </a:t>
            </a:r>
            <a:r>
              <a:rPr lang="en-AU" sz="3200" b="1" dirty="0"/>
              <a:t>÷</a:t>
            </a:r>
            <a:r>
              <a:rPr lang="en-AU" sz="3200" b="1" dirty="0" smtClean="0">
                <a:solidFill>
                  <a:srgbClr val="FF0000"/>
                </a:solidFill>
              </a:rPr>
              <a:t> 5  (divide 300 by 5)</a:t>
            </a:r>
            <a:endParaRPr lang="en-AU" sz="3200" b="1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pic>
        <p:nvPicPr>
          <p:cNvPr id="1026" name="Picture 2" descr="Image result for mental maths clipar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6649" y="3264401"/>
            <a:ext cx="2857500" cy="330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53613" y="3984405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 smtClean="0"/>
              <a:t>60</a:t>
            </a:r>
            <a:endParaRPr lang="en-AU" sz="3200" b="1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75E2EE-D511-47BA-96B1-2D89396BAFBE}"/>
              </a:ext>
            </a:extLst>
          </p:cNvPr>
          <p:cNvSpPr txBox="1"/>
          <p:nvPr/>
        </p:nvSpPr>
        <p:spPr>
          <a:xfrm>
            <a:off x="0" y="-6605"/>
            <a:ext cx="2945880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Guided Practice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1624143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  <p:bldP spid="15" grpId="0" uiExpand="1" build="p"/>
      <p:bldP spid="16" grpId="0"/>
      <p:bldP spid="1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19" y="846559"/>
            <a:ext cx="8932826" cy="91874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AU" sz="3200" b="1" dirty="0" smtClean="0"/>
              <a:t>Calculate the following using the “work in stages”</a:t>
            </a:r>
          </a:p>
          <a:p>
            <a:pPr marL="0" indent="0">
              <a:buNone/>
            </a:pPr>
            <a:r>
              <a:rPr lang="en-AU" sz="3200" b="1" dirty="0" smtClean="0"/>
              <a:t>Strategy: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8" y="-19987"/>
            <a:ext cx="2146850" cy="1365083"/>
            <a:chOff x="660399" y="3602071"/>
            <a:chExt cx="2035630" cy="97102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1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is the first step in “work in stages”?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7" y="1638590"/>
            <a:ext cx="2146851" cy="1594940"/>
            <a:chOff x="660398" y="3602071"/>
            <a:chExt cx="2035631" cy="1134531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</a:t>
              </a:r>
              <a:r>
                <a:rPr lang="en-AU" sz="1400" b="1" dirty="0" smtClean="0">
                  <a:solidFill>
                    <a:schemeClr val="bg1"/>
                  </a:solidFill>
                </a:rPr>
                <a:t>2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893641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is the second step in “work in stages”?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1695044" y="6326859"/>
            <a:ext cx="549965" cy="4306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93822" y="1867872"/>
            <a:ext cx="9353427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/>
              <a:t>2</a:t>
            </a:r>
            <a:r>
              <a:rPr lang="en-AU" sz="3200" b="1" dirty="0" smtClean="0"/>
              <a:t>00 </a:t>
            </a:r>
            <a:r>
              <a:rPr lang="en-AU" sz="3200" b="1" dirty="0"/>
              <a:t>÷</a:t>
            </a:r>
            <a:r>
              <a:rPr lang="en-AU" sz="3200" b="1" dirty="0" smtClean="0"/>
              <a:t> </a:t>
            </a:r>
            <a:r>
              <a:rPr lang="en-AU" sz="3200" b="1" dirty="0">
                <a:solidFill>
                  <a:srgbClr val="FF0000"/>
                </a:solidFill>
              </a:rPr>
              <a:t>8</a:t>
            </a:r>
            <a:r>
              <a:rPr lang="en-AU" sz="3200" b="1" dirty="0" smtClean="0">
                <a:solidFill>
                  <a:srgbClr val="FF0000"/>
                </a:solidFill>
              </a:rPr>
              <a:t> (break the </a:t>
            </a:r>
            <a:r>
              <a:rPr lang="en-AU" sz="3200" b="1" dirty="0">
                <a:solidFill>
                  <a:srgbClr val="FF0000"/>
                </a:solidFill>
              </a:rPr>
              <a:t>8</a:t>
            </a:r>
            <a:r>
              <a:rPr lang="en-AU" sz="3200" b="1" dirty="0" smtClean="0">
                <a:solidFill>
                  <a:srgbClr val="FF0000"/>
                </a:solidFill>
              </a:rPr>
              <a:t> down by dividing it into parts)</a:t>
            </a: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53613" y="2526263"/>
            <a:ext cx="929363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/>
              <a:t>2</a:t>
            </a:r>
            <a:r>
              <a:rPr lang="en-AU" sz="3200" b="1" dirty="0" smtClean="0"/>
              <a:t>00 </a:t>
            </a:r>
            <a:r>
              <a:rPr lang="en-AU" sz="3200" b="1" dirty="0"/>
              <a:t>÷</a:t>
            </a:r>
            <a:r>
              <a:rPr lang="en-AU" sz="3200" b="1" dirty="0" smtClean="0"/>
              <a:t> </a:t>
            </a:r>
            <a:r>
              <a:rPr lang="en-AU" sz="3200" b="1" dirty="0">
                <a:solidFill>
                  <a:srgbClr val="FF0000"/>
                </a:solidFill>
              </a:rPr>
              <a:t>4</a:t>
            </a:r>
            <a:r>
              <a:rPr lang="en-AU" sz="3200" b="1" dirty="0" smtClean="0">
                <a:solidFill>
                  <a:srgbClr val="FF0000"/>
                </a:solidFill>
              </a:rPr>
              <a:t> </a:t>
            </a:r>
            <a:r>
              <a:rPr lang="en-AU" sz="3200" b="1" dirty="0"/>
              <a:t>÷</a:t>
            </a:r>
            <a:r>
              <a:rPr lang="en-AU" sz="3200" b="1" dirty="0" smtClean="0">
                <a:solidFill>
                  <a:srgbClr val="FF0000"/>
                </a:solidFill>
              </a:rPr>
              <a:t> </a:t>
            </a:r>
            <a:r>
              <a:rPr lang="en-AU" sz="3200" b="1" dirty="0">
                <a:solidFill>
                  <a:srgbClr val="FF0000"/>
                </a:solidFill>
              </a:rPr>
              <a:t>2 (break the </a:t>
            </a:r>
            <a:r>
              <a:rPr lang="en-AU" sz="3200" b="1" dirty="0" smtClean="0">
                <a:solidFill>
                  <a:srgbClr val="FF0000"/>
                </a:solidFill>
              </a:rPr>
              <a:t>4 </a:t>
            </a:r>
            <a:r>
              <a:rPr lang="en-AU" sz="3200" b="1" dirty="0">
                <a:solidFill>
                  <a:srgbClr val="FF0000"/>
                </a:solidFill>
              </a:rPr>
              <a:t>down by dividing it into parts)</a:t>
            </a:r>
          </a:p>
          <a:p>
            <a:pPr marL="0" indent="0">
              <a:buNone/>
            </a:pPr>
            <a:endParaRPr lang="en-AU" sz="3200" b="1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53613" y="3255334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/>
              <a:t>2</a:t>
            </a:r>
            <a:r>
              <a:rPr lang="en-AU" sz="3200" b="1" dirty="0" smtClean="0"/>
              <a:t>00 </a:t>
            </a:r>
            <a:r>
              <a:rPr lang="en-AU" sz="3200" b="1" dirty="0"/>
              <a:t>÷</a:t>
            </a:r>
            <a:r>
              <a:rPr lang="en-AU" sz="3200" b="1" dirty="0" smtClean="0">
                <a:solidFill>
                  <a:srgbClr val="FF0000"/>
                </a:solidFill>
              </a:rPr>
              <a:t> 2 </a:t>
            </a:r>
            <a:r>
              <a:rPr lang="en-AU" sz="3200" b="1" dirty="0"/>
              <a:t>÷</a:t>
            </a:r>
            <a:r>
              <a:rPr lang="en-AU" sz="3200" b="1" dirty="0" smtClean="0">
                <a:solidFill>
                  <a:srgbClr val="FF0000"/>
                </a:solidFill>
              </a:rPr>
              <a:t> 2 </a:t>
            </a:r>
            <a:r>
              <a:rPr lang="en-AU" sz="3200" b="1" dirty="0" smtClean="0"/>
              <a:t>÷ </a:t>
            </a:r>
            <a:r>
              <a:rPr lang="en-AU" sz="3200" b="1" dirty="0">
                <a:solidFill>
                  <a:srgbClr val="FF0000"/>
                </a:solidFill>
              </a:rPr>
              <a:t>2 </a:t>
            </a:r>
            <a:r>
              <a:rPr lang="en-AU" sz="3200" b="1" dirty="0" smtClean="0">
                <a:solidFill>
                  <a:srgbClr val="FF0000"/>
                </a:solidFill>
              </a:rPr>
              <a:t>(divide </a:t>
            </a:r>
            <a:r>
              <a:rPr lang="en-AU" sz="3200" b="1" dirty="0" smtClean="0"/>
              <a:t>200 by the first 2</a:t>
            </a:r>
            <a:r>
              <a:rPr lang="en-AU" sz="3200" b="1" dirty="0" smtClean="0">
                <a:solidFill>
                  <a:srgbClr val="FF0000"/>
                </a:solidFill>
              </a:rPr>
              <a:t>)</a:t>
            </a:r>
            <a:endParaRPr lang="en-AU" sz="3200" b="1" dirty="0">
              <a:solidFill>
                <a:srgbClr val="FF0000"/>
              </a:solidFill>
            </a:endParaRPr>
          </a:p>
        </p:txBody>
      </p:sp>
      <p:pic>
        <p:nvPicPr>
          <p:cNvPr id="1026" name="Picture 2" descr="Image result for mental maths clipar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6649" y="3264401"/>
            <a:ext cx="2857500" cy="330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175E2EE-D511-47BA-96B1-2D89396BAFBE}"/>
              </a:ext>
            </a:extLst>
          </p:cNvPr>
          <p:cNvSpPr txBox="1"/>
          <p:nvPr/>
        </p:nvSpPr>
        <p:spPr>
          <a:xfrm>
            <a:off x="0" y="-6605"/>
            <a:ext cx="2945880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Guided Practice</a:t>
            </a:r>
            <a:endParaRPr lang="en-AU" sz="3200" dirty="0"/>
          </a:p>
        </p:txBody>
      </p:sp>
      <p:sp>
        <p:nvSpPr>
          <p:cNvPr id="20" name="TextBox 19"/>
          <p:cNvSpPr txBox="1"/>
          <p:nvPr/>
        </p:nvSpPr>
        <p:spPr>
          <a:xfrm>
            <a:off x="7302323" y="3682892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3321402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  <p:bldP spid="15" grpId="0" uiExpand="1" build="p"/>
      <p:bldP spid="16" grpId="0"/>
      <p:bldP spid="2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19" y="846559"/>
            <a:ext cx="8932826" cy="91874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AU" sz="3200" b="1" dirty="0" smtClean="0"/>
              <a:t>Calculate the following using the “work in stages”</a:t>
            </a:r>
          </a:p>
          <a:p>
            <a:pPr marL="0" indent="0">
              <a:buNone/>
            </a:pPr>
            <a:r>
              <a:rPr lang="en-AU" sz="3200" b="1" dirty="0" smtClean="0"/>
              <a:t>Strategy: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8" y="-19987"/>
            <a:ext cx="2146850" cy="1365083"/>
            <a:chOff x="660399" y="3602071"/>
            <a:chExt cx="2035630" cy="97102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1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is the first step in “work in stages”?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7" y="1638590"/>
            <a:ext cx="2146851" cy="1594940"/>
            <a:chOff x="660398" y="3602071"/>
            <a:chExt cx="2035631" cy="1134531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</a:t>
              </a:r>
              <a:r>
                <a:rPr lang="en-AU" sz="1400" b="1" dirty="0" smtClean="0">
                  <a:solidFill>
                    <a:schemeClr val="bg1"/>
                  </a:solidFill>
                </a:rPr>
                <a:t>2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893641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is the second step in “work in stages”?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1695044" y="6326859"/>
            <a:ext cx="549965" cy="4306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93822" y="1867872"/>
            <a:ext cx="9353427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200 ÷ 25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pic>
        <p:nvPicPr>
          <p:cNvPr id="1026" name="Picture 2" descr="Image result for mental maths clipar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6649" y="3264401"/>
            <a:ext cx="2857500" cy="330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175E2EE-D511-47BA-96B1-2D89396BAFBE}"/>
              </a:ext>
            </a:extLst>
          </p:cNvPr>
          <p:cNvSpPr txBox="1"/>
          <p:nvPr/>
        </p:nvSpPr>
        <p:spPr>
          <a:xfrm>
            <a:off x="0" y="-6605"/>
            <a:ext cx="2945880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Guided Practice</a:t>
            </a:r>
            <a:endParaRPr lang="en-AU" sz="3200" dirty="0"/>
          </a:p>
        </p:txBody>
      </p:sp>
      <p:sp>
        <p:nvSpPr>
          <p:cNvPr id="20" name="TextBox 19"/>
          <p:cNvSpPr txBox="1"/>
          <p:nvPr/>
        </p:nvSpPr>
        <p:spPr>
          <a:xfrm>
            <a:off x="7691504" y="1397624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1977165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84AD6CD-2DC4-4B5D-AD09-1A8D829939F5}"/>
              </a:ext>
            </a:extLst>
          </p:cNvPr>
          <p:cNvSpPr txBox="1"/>
          <p:nvPr/>
        </p:nvSpPr>
        <p:spPr>
          <a:xfrm>
            <a:off x="0" y="0"/>
            <a:ext cx="2311405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Skill Closure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EC25B51-5C6C-4C99-A581-743B79CF847B}"/>
              </a:ext>
            </a:extLst>
          </p:cNvPr>
          <p:cNvSpPr txBox="1">
            <a:spLocks/>
          </p:cNvSpPr>
          <p:nvPr/>
        </p:nvSpPr>
        <p:spPr>
          <a:xfrm>
            <a:off x="2434620" y="-88976"/>
            <a:ext cx="960250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4800" dirty="0">
                <a:latin typeface="Arial Black" panose="020B0A04020102020204" pitchFamily="34" charset="0"/>
              </a:rPr>
              <a:t>What have we learnt today?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130" y="1097282"/>
            <a:ext cx="44323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latin typeface="Arial Black" panose="020B0A04020102020204" pitchFamily="34" charset="0"/>
              </a:rPr>
              <a:t>Lesson Objectives: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001D6D-24F0-4E0D-BA00-2E146786E7EB}"/>
              </a:ext>
            </a:extLst>
          </p:cNvPr>
          <p:cNvSpPr txBox="1"/>
          <p:nvPr/>
        </p:nvSpPr>
        <p:spPr>
          <a:xfrm>
            <a:off x="264130" y="1763082"/>
            <a:ext cx="109494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cs typeface="Arial" panose="020B0604020202020204" pitchFamily="34" charset="0"/>
              </a:rPr>
              <a:t>I will use the “work in stages” strategy to multiply and divide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999539-7935-41B4-9F0B-8A944F4322CC}"/>
              </a:ext>
            </a:extLst>
          </p:cNvPr>
          <p:cNvSpPr txBox="1"/>
          <p:nvPr/>
        </p:nvSpPr>
        <p:spPr>
          <a:xfrm>
            <a:off x="264130" y="2553650"/>
            <a:ext cx="665609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Break down each number into parts</a:t>
            </a:r>
          </a:p>
          <a:p>
            <a:endParaRPr lang="en-AU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20 = 5 x 5</a:t>
            </a:r>
          </a:p>
          <a:p>
            <a:endParaRPr lang="en-AU" sz="28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50 = </a:t>
            </a:r>
            <a:r>
              <a:rPr lang="en-AU" sz="28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x 5 = 2 x 5 x 5</a:t>
            </a:r>
          </a:p>
          <a:p>
            <a:endParaRPr lang="en-AU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75 = </a:t>
            </a:r>
            <a:r>
              <a:rPr lang="en-AU" sz="28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x 5 = 3 x 5 x 5</a:t>
            </a:r>
          </a:p>
          <a:p>
            <a:endParaRPr lang="en-AU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9084" y="2763463"/>
            <a:ext cx="4572000" cy="344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124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4A8D08E-840A-4ABF-BDB3-968EFCCE1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348" y="791955"/>
            <a:ext cx="11738113" cy="5887141"/>
          </a:xfrm>
        </p:spPr>
        <p:txBody>
          <a:bodyPr/>
          <a:lstStyle/>
          <a:p>
            <a:pPr marL="0" indent="0">
              <a:buNone/>
            </a:pPr>
            <a:r>
              <a:rPr lang="en-AU" b="1" dirty="0"/>
              <a:t>Open your textbooks to:</a:t>
            </a:r>
            <a:endParaRPr lang="en-AU" dirty="0"/>
          </a:p>
          <a:p>
            <a:pPr marL="0" indent="0">
              <a:buNone/>
            </a:pPr>
            <a:r>
              <a:rPr lang="en-AU" b="1" dirty="0"/>
              <a:t>Chapter</a:t>
            </a:r>
            <a:r>
              <a:rPr lang="en-AU" dirty="0"/>
              <a:t> </a:t>
            </a:r>
            <a:r>
              <a:rPr lang="en-AU" dirty="0" smtClean="0"/>
              <a:t>1.3 </a:t>
            </a:r>
            <a:endParaRPr lang="en-AU" dirty="0"/>
          </a:p>
          <a:p>
            <a:pPr marL="0" indent="0">
              <a:buNone/>
            </a:pPr>
            <a:r>
              <a:rPr lang="en-AU" b="1" dirty="0"/>
              <a:t>Questions</a:t>
            </a:r>
            <a:r>
              <a:rPr lang="en-AU" b="1" dirty="0" smtClean="0"/>
              <a:t>: </a:t>
            </a:r>
            <a:r>
              <a:rPr lang="en-AU" dirty="0" smtClean="0"/>
              <a:t>1, 7, 8</a:t>
            </a:r>
            <a:endParaRPr lang="en-AU" dirty="0"/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  <a:p>
            <a:pPr marL="0" indent="0" algn="ctr">
              <a:buNone/>
            </a:pPr>
            <a:endParaRPr lang="en-AU" dirty="0"/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0C1DE274-75E8-4178-AF08-49F3C0182597}"/>
              </a:ext>
            </a:extLst>
          </p:cNvPr>
          <p:cNvSpPr txBox="1">
            <a:spLocks/>
          </p:cNvSpPr>
          <p:nvPr/>
        </p:nvSpPr>
        <p:spPr>
          <a:xfrm>
            <a:off x="7133193" y="197964"/>
            <a:ext cx="4598366" cy="490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b="1" dirty="0"/>
              <a:t>Mathematics Page Layout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5975EB-6091-42EA-BFE3-72460378C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794" y="2302057"/>
            <a:ext cx="3554706" cy="45100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D24C62-EECE-4C3B-93F2-AB10B845F190}"/>
              </a:ext>
            </a:extLst>
          </p:cNvPr>
          <p:cNvSpPr txBox="1"/>
          <p:nvPr/>
        </p:nvSpPr>
        <p:spPr>
          <a:xfrm>
            <a:off x="0" y="0"/>
            <a:ext cx="389546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Independent Practice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C2A0945-420F-49DC-8F2A-6BDF186E9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4742" y="791955"/>
            <a:ext cx="4598366" cy="592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137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1206</TotalTime>
  <Words>1463</Words>
  <Application>Microsoft Office PowerPoint</Application>
  <PresentationFormat>Widescreen</PresentationFormat>
  <Paragraphs>286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Arial Black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Vic Diep</dc:creator>
  <cp:lastModifiedBy>STEDMAN Shaun [Harrisdale Senior High School]</cp:lastModifiedBy>
  <cp:revision>119</cp:revision>
  <dcterms:created xsi:type="dcterms:W3CDTF">2019-01-02T02:05:22Z</dcterms:created>
  <dcterms:modified xsi:type="dcterms:W3CDTF">2021-12-15T04:54:33Z</dcterms:modified>
</cp:coreProperties>
</file>
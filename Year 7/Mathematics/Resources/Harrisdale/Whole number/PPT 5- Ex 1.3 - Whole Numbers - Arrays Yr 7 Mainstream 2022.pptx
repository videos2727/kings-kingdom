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3" r:id="rId2"/>
    <p:sldId id="370" r:id="rId3"/>
    <p:sldId id="371" r:id="rId4"/>
    <p:sldId id="374" r:id="rId5"/>
    <p:sldId id="376" r:id="rId6"/>
    <p:sldId id="351" r:id="rId7"/>
    <p:sldId id="352" r:id="rId8"/>
    <p:sldId id="391" r:id="rId9"/>
    <p:sldId id="384" r:id="rId10"/>
    <p:sldId id="382" r:id="rId11"/>
    <p:sldId id="387" r:id="rId12"/>
    <p:sldId id="388" r:id="rId13"/>
    <p:sldId id="389" r:id="rId14"/>
    <p:sldId id="390" r:id="rId15"/>
    <p:sldId id="319" r:id="rId16"/>
    <p:sldId id="365" r:id="rId17"/>
    <p:sldId id="377" r:id="rId18"/>
    <p:sldId id="378" r:id="rId19"/>
    <p:sldId id="379" r:id="rId20"/>
    <p:sldId id="380" r:id="rId21"/>
    <p:sldId id="381" r:id="rId22"/>
    <p:sldId id="392" r:id="rId23"/>
    <p:sldId id="385" r:id="rId24"/>
    <p:sldId id="38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99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E6BB-3F3A-4F6B-B1A3-1BED2C0D8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7AD8D-FB3D-4914-BB5D-818758EB2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8957E-D038-423A-99B2-7DD963C7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31/01/2022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893CF-02DA-4754-ABA7-7F244161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35201-3BEE-4664-9FA6-99D56DAC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594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F991-45BD-434D-938F-DA7880F4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BFF1D-B8D9-4396-B980-BEC47350D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971B-6BFD-4666-A1DC-41F636A4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31/01/2022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76F19-1EC1-4319-85D4-12F5AF15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13663-A39F-4652-8D72-C1B4F41E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927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1AF98-1640-450E-A226-B25E9CA0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B48D7-DFF2-4524-AE2B-4B80BE042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4576A-50F6-4868-A108-6FF78627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31/01/2022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57C84-0507-489A-B7F0-4BBA10A2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19688-745C-4489-AAC1-9F5DB3A2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3485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810-741E-451D-BCE5-1D316B67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F8583-088A-476F-9051-128716E0C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FCBA3-4DEC-48DE-AB4E-407545973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D118-15A8-47E5-B278-523DA1B2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31/01/2022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9E444-DF00-400C-856D-5661CB14D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164A2-FF6F-448D-A13D-3F5218E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37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870EB-7497-447A-A430-65CF2E3C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65AD4-5BBA-4CD3-854D-4DE31631D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75E06-08EC-443D-9D13-1AED74033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49E9E-7936-4262-BB63-A3C3B192A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BF30D-FE73-4474-BF5A-A7D1CF0FB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BE772F-4623-4437-B453-EA03E27A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31/01/2022</a:t>
            </a:fld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999F3-D264-43A4-93B0-C3DB52DD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7231FD-EC30-4259-9775-B686788A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1786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4E9D9-A393-4C0A-9356-0E693596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726077-0722-4D12-AAB8-B0EEF497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31/01/2022</a:t>
            </a:fld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4317D-5128-4679-B68A-C7DEA022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46FD4-5FAA-4A41-9BE4-4571A1A3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570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9D25DF-3BF1-4861-8B1C-27D02D164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31/01/2022</a:t>
            </a:fld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CCD06-4A81-4247-A5B8-310636EE6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4B930-2934-495B-BBA4-E2923F02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288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8A2CC-FE14-48E9-AD42-20DF7414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7AAE5-BFCE-4FF8-BDAD-7FD97BAEF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E9984-853C-4084-98F9-7102E6E5B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0748E-27CD-4123-AE14-A1DA889E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31/01/2022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4FC2C-C940-4E68-8FF0-B8BE60B1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36AFF-B216-4FCA-85D7-5506461A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7146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059D-0E89-49BE-BC20-63C9145D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B3C52D-F2CA-4ECD-9E9E-9E07AE4E9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68AAF-1880-4450-92AE-057D7C1A4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1F028-2A1E-420A-B822-E027E5AB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31/01/2022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249C1-749B-46C1-BF94-99D99144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35403-E0D1-4F2D-BD32-49092963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608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BC3C-2A7A-4FF5-A2CC-CD2A88CB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EF2B1-D4A2-44EF-B6E6-D91066ED2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D3E8A-FF2B-4CE3-99B5-973C5790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31/01/2022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50A9D-9C13-4CEA-8D15-9320EEBE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735B8-A899-4C97-9408-5E5A2E79A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7479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76357-A7B4-4880-A6C5-A09206ED9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94814-F4EA-4080-8E4B-F295043B5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5DC3E-A425-407E-A989-1B8CFFC83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31/01/2022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B51E8-8D38-477C-A14E-9A093556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AAED0-5359-472F-BE02-CA030AC6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327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0A2657-6886-420B-BBA8-5EDFBF821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6A261-3B16-47D1-AC48-DCBD0BD37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166C8-2718-4F6C-BDC8-FE56B9F04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0F9F9-7A40-4966-8F32-A3E2821B366C}" type="datetimeFigureOut">
              <a:rPr lang="en-AU" smtClean="0"/>
              <a:t>31/01/2022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BA221-EF99-4612-A124-79300C0E8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C0C3D-BB07-4531-8193-9661D1AB4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303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</a:t>
            </a:r>
            <a:r>
              <a:rPr lang="en-AU" sz="4000" b="1" dirty="0">
                <a:cs typeface="Arial" panose="020B0604020202020204" pitchFamily="34" charset="0"/>
              </a:rPr>
              <a:t>will use </a:t>
            </a:r>
            <a:r>
              <a:rPr lang="en-AU" sz="4000" b="1" dirty="0" smtClean="0">
                <a:cs typeface="Arial" panose="020B0604020202020204" pitchFamily="34" charset="0"/>
              </a:rPr>
              <a:t>an array to multiply two and three digit numbers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6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 smtClean="0"/>
              <a:t>Break down each number by dividing it into parts: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249639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Break 14 into parts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2"/>
            <a:ext cx="2146851" cy="1216869"/>
            <a:chOff x="660398" y="3602071"/>
            <a:chExt cx="2035631" cy="86559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Break 32 into parts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185192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20 = 4 x 5 = 2 x 2 x 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2526263"/>
            <a:ext cx="941428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30 = 6 x 5 = 3 x 2 x 5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325533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42 = 7 x 6 = 7 x 2 x 3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949" y="2990208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39844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50 = 5 x 10 = 5 x 5 x 2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AU" sz="3200" b="1" dirty="0" smtClean="0">
                <a:solidFill>
                  <a:srgbClr val="FF0000"/>
                </a:solidFill>
              </a:rPr>
              <a:t> 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180825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5" grpId="0" build="p"/>
      <p:bldP spid="16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52" y="770281"/>
            <a:ext cx="9639931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Use the “work in stages” strategy to calculate the following: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249639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step 1 in “working in stages”?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2"/>
            <a:ext cx="2146851" cy="1216869"/>
            <a:chOff x="660398" y="3602071"/>
            <a:chExt cx="2035631" cy="86559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2 </a:t>
              </a:r>
              <a:r>
                <a:rPr lang="en-AU" dirty="0">
                  <a:solidFill>
                    <a:schemeClr val="tx1"/>
                  </a:solidFill>
                </a:rPr>
                <a:t>in “working in stages”?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46052" y="1964596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 1. 55 x 4 = </a:t>
            </a:r>
            <a:r>
              <a:rPr lang="en-AU" sz="3200" b="1" dirty="0" smtClean="0"/>
              <a:t>55 </a:t>
            </a:r>
            <a:r>
              <a:rPr lang="en-AU" sz="3200" b="1" dirty="0" smtClean="0"/>
              <a:t>x 2 </a:t>
            </a:r>
            <a:r>
              <a:rPr lang="en-AU" sz="3200" b="1" dirty="0"/>
              <a:t>x 2 </a:t>
            </a:r>
            <a:r>
              <a:rPr lang="en-AU" sz="3200" b="1" dirty="0">
                <a:solidFill>
                  <a:srgbClr val="FF0000"/>
                </a:solidFill>
              </a:rPr>
              <a:t>(Break down the </a:t>
            </a:r>
            <a:r>
              <a:rPr lang="en-AU" sz="3200" b="1" dirty="0" smtClean="0">
                <a:solidFill>
                  <a:srgbClr val="FF0000"/>
                </a:solidFill>
              </a:rPr>
              <a:t>4)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58873" y="3164530"/>
            <a:ext cx="941428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/>
              <a:t> </a:t>
            </a:r>
            <a:r>
              <a:rPr lang="en-AU" sz="3200" b="1" smtClean="0"/>
              <a:t>  </a:t>
            </a:r>
            <a:r>
              <a:rPr lang="en-AU" sz="3200" b="1" smtClean="0"/>
              <a:t>             </a:t>
            </a:r>
            <a:r>
              <a:rPr lang="en-AU" sz="3200" b="1" dirty="0" smtClean="0"/>
              <a:t>= </a:t>
            </a:r>
            <a:r>
              <a:rPr lang="en-AU" sz="3200" b="1" dirty="0" smtClean="0"/>
              <a:t>110 </a:t>
            </a:r>
            <a:r>
              <a:rPr lang="en-AU" sz="3200" b="1" dirty="0" smtClean="0"/>
              <a:t>x 2 </a:t>
            </a:r>
            <a:r>
              <a:rPr lang="en-AU" sz="3200" b="1" dirty="0" smtClean="0">
                <a:solidFill>
                  <a:srgbClr val="FF0000"/>
                </a:solidFill>
              </a:rPr>
              <a:t>(multiply by the first 2) 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416707" y="405749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 </a:t>
            </a:r>
            <a:r>
              <a:rPr lang="en-AU" sz="3200" b="1" dirty="0" smtClean="0"/>
              <a:t> </a:t>
            </a:r>
            <a:r>
              <a:rPr lang="en-AU" sz="3200" b="1" dirty="0" smtClean="0"/>
              <a:t>   </a:t>
            </a:r>
            <a:r>
              <a:rPr lang="en-AU" sz="3200" b="1" dirty="0" smtClean="0"/>
              <a:t>= </a:t>
            </a:r>
            <a:r>
              <a:rPr lang="en-AU" sz="3200" b="1" dirty="0" smtClean="0"/>
              <a:t>22</a:t>
            </a:r>
            <a:r>
              <a:rPr lang="en-AU" sz="3200" b="1" dirty="0" smtClean="0"/>
              <a:t>0 </a:t>
            </a:r>
            <a:r>
              <a:rPr lang="en-AU" sz="3200" b="1" dirty="0" smtClean="0">
                <a:solidFill>
                  <a:srgbClr val="FF0000"/>
                </a:solidFill>
              </a:rPr>
              <a:t>(multiply by the second 2)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16953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3200" b="1" dirty="0" smtClean="0"/>
              <a:t>Calculate the following using the “work in stages”</a:t>
            </a:r>
          </a:p>
          <a:p>
            <a:pPr marL="0" indent="0">
              <a:buNone/>
            </a:pPr>
            <a:r>
              <a:rPr lang="en-AU" sz="3200" b="1" dirty="0" smtClean="0"/>
              <a:t>Strategy: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first step in “work in stages”?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second step in “work in stages”?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3" y="186787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34 x 8 (break the 8 down by dividing it into parts)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649" y="3264401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021" y="1441871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75833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3200" b="1" dirty="0" smtClean="0"/>
              <a:t>Calculate the following using the “work in stages”</a:t>
            </a:r>
          </a:p>
          <a:p>
            <a:pPr marL="0" indent="0">
              <a:buNone/>
            </a:pPr>
            <a:r>
              <a:rPr lang="en-AU" sz="3200" b="1" dirty="0" smtClean="0"/>
              <a:t>Strategy: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first step in “work in stages”?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second step in “work in stages”?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2" y="1867872"/>
            <a:ext cx="935342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900 </a:t>
            </a:r>
            <a:r>
              <a:rPr lang="en-AU" sz="3200" b="1" dirty="0"/>
              <a:t>÷</a:t>
            </a:r>
            <a:r>
              <a:rPr lang="en-AU" sz="3200" b="1" dirty="0" smtClean="0"/>
              <a:t> </a:t>
            </a:r>
            <a:r>
              <a:rPr lang="en-AU" sz="3200" b="1" dirty="0" smtClean="0">
                <a:solidFill>
                  <a:srgbClr val="FF0000"/>
                </a:solidFill>
              </a:rPr>
              <a:t>15 (break the 15 down by dividing it into parts)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3613" y="2526263"/>
            <a:ext cx="816697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900 </a:t>
            </a:r>
            <a:r>
              <a:rPr lang="en-AU" sz="3200" b="1" dirty="0"/>
              <a:t>÷</a:t>
            </a:r>
            <a:r>
              <a:rPr lang="en-AU" sz="3200" b="1" dirty="0" smtClean="0"/>
              <a:t> </a:t>
            </a:r>
            <a:r>
              <a:rPr lang="en-AU" sz="3200" b="1" dirty="0">
                <a:solidFill>
                  <a:srgbClr val="FF0000"/>
                </a:solidFill>
              </a:rPr>
              <a:t>3</a:t>
            </a:r>
            <a:r>
              <a:rPr lang="en-AU" sz="3200" b="1" dirty="0" smtClean="0">
                <a:solidFill>
                  <a:srgbClr val="FF0000"/>
                </a:solidFill>
              </a:rPr>
              <a:t> </a:t>
            </a:r>
            <a:r>
              <a:rPr lang="en-AU" sz="3200" b="1" dirty="0"/>
              <a:t>÷</a:t>
            </a:r>
            <a:r>
              <a:rPr lang="en-AU" sz="3200" b="1" dirty="0" smtClean="0">
                <a:solidFill>
                  <a:srgbClr val="FF0000"/>
                </a:solidFill>
              </a:rPr>
              <a:t> 5 </a:t>
            </a:r>
            <a:r>
              <a:rPr lang="en-AU" sz="3200" b="1" dirty="0">
                <a:solidFill>
                  <a:srgbClr val="FF0000"/>
                </a:solidFill>
              </a:rPr>
              <a:t>(divide 900 by 3)</a:t>
            </a: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649" y="3264401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2876" y="2855458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0285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5" grpId="0" build="p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sz="3200" b="1" dirty="0"/>
              <a:t>C</a:t>
            </a:r>
            <a:r>
              <a:rPr lang="en-AU" sz="3200" b="1" dirty="0" smtClean="0"/>
              <a:t>ommutative law – the order in which I add or multiply any two numbers does not change the answer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Write down the Commutative law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6471" y="284643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x 5 = 35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the commutative law state?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50" name="Picture 2" descr="Men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236" y="4438423"/>
            <a:ext cx="2319131" cy="231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688732" y="284306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5</a:t>
            </a:r>
            <a:r>
              <a:rPr lang="en-AU" sz="3200" b="1" dirty="0" smtClean="0"/>
              <a:t> x 7 = 35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6471" y="4038096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+ </a:t>
            </a:r>
            <a:r>
              <a:rPr lang="en-AU" sz="3200" b="1" dirty="0"/>
              <a:t>8</a:t>
            </a:r>
            <a:r>
              <a:rPr lang="en-AU" sz="3200" b="1" dirty="0" smtClean="0"/>
              <a:t> = 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688732" y="4040393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8</a:t>
            </a:r>
            <a:r>
              <a:rPr lang="en-AU" sz="3200" b="1" dirty="0" smtClean="0"/>
              <a:t> + 7 = 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310596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0" grpId="0" build="p"/>
      <p:bldP spid="14" grpId="0" build="p"/>
      <p:bldP spid="15" grpId="0" build="p"/>
      <p:bldP spid="1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Associative law – the order in which 3 or more numbers are added or multiplied,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Write down the Associative law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72177" y="2605383"/>
            <a:ext cx="3249692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x 3 x 5 = 30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the associative law state?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50" name="Picture 2" descr="Men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236" y="4438423"/>
            <a:ext cx="2319131" cy="231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346823" y="258291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3 x 5 x 2 =30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72177" y="4565680"/>
            <a:ext cx="270676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6 + 7 + 8 = 21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346823" y="456567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8 + 7 + 6 = 21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66287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0" grpId="0" build="p"/>
      <p:bldP spid="14" grpId="0" build="p"/>
      <p:bldP spid="15" grpId="0" build="p"/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following are examples of the commutative law?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3 + 14 = 4 + 13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7 x 6 = 6 x 7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B:      10 + 6 = 8 + 8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4 + 2 + 10 = 10 + 4 + 2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8 x 3 = 3 x 8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2 + 10 = 10 + 2</a:t>
            </a:r>
            <a:endParaRPr lang="en-A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6495011" y="72044"/>
            <a:ext cx="517605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There may be more than one!!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52032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1404F-2D51-4BE2-B71E-AC3D0D10D9AE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513247" y="1303945"/>
            <a:ext cx="7820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cs typeface="Arial" panose="020B0604020202020204" pitchFamily="34" charset="0"/>
              </a:rPr>
              <a:t>I will use an array to multiply two and three digit numbers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F6B83B5-A429-4FF7-B454-245FD8B5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656" y="3068468"/>
            <a:ext cx="2501639" cy="3544833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38C0F990-FA28-4D59-B1A1-CF11ADF42B0E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5C0C49-9730-415E-90E7-F880952B87E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CC9CE05-2369-4108-82FB-59DF26374DA3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269AF61-750A-4C41-991C-B4142C532DB6}"/>
              </a:ext>
            </a:extLst>
          </p:cNvPr>
          <p:cNvSpPr txBox="1"/>
          <p:nvPr/>
        </p:nvSpPr>
        <p:spPr>
          <a:xfrm>
            <a:off x="346993" y="4197215"/>
            <a:ext cx="85254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 smtClean="0">
                <a:cs typeface="Arial" panose="020B0604020202020204" pitchFamily="34" charset="0"/>
              </a:rPr>
              <a:t>Multiply using arrays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 smtClean="0">
                <a:cs typeface="Arial" panose="020B0604020202020204" pitchFamily="34" charset="0"/>
              </a:rPr>
              <a:t>Multiply and divide by multiples of 10 </a:t>
            </a:r>
            <a:endParaRPr lang="en-AU" sz="28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36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95" y="2024355"/>
            <a:ext cx="8932826" cy="9187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3200" b="1" dirty="0" smtClean="0"/>
              <a:t>Step 1:  </a:t>
            </a:r>
            <a:r>
              <a:rPr lang="en-AU" sz="3200" b="1" dirty="0" smtClean="0">
                <a:solidFill>
                  <a:srgbClr val="00B050"/>
                </a:solidFill>
              </a:rPr>
              <a:t>Multiply the first numbers    </a:t>
            </a:r>
          </a:p>
          <a:p>
            <a:pPr marL="0" indent="0">
              <a:buNone/>
            </a:pPr>
            <a:r>
              <a:rPr lang="en-AU" sz="3200" b="1" dirty="0" smtClean="0"/>
              <a:t>Step 2:  </a:t>
            </a:r>
            <a:r>
              <a:rPr lang="en-AU" sz="3200" b="1" dirty="0" smtClean="0">
                <a:solidFill>
                  <a:srgbClr val="0070C0"/>
                </a:solidFill>
              </a:rPr>
              <a:t>Add in all zeros at the end      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will you multiply 8 x 300?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multiply </a:t>
              </a:r>
              <a:r>
                <a:rPr lang="en-AU" dirty="0" smtClean="0">
                  <a:solidFill>
                    <a:schemeClr val="tx1"/>
                  </a:solidFill>
                </a:rPr>
                <a:t>4 x 500</a:t>
              </a:r>
              <a:r>
                <a:rPr lang="en-AU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3056383"/>
            <a:ext cx="2146851" cy="1239965"/>
            <a:chOff x="660398" y="3602071"/>
            <a:chExt cx="2035631" cy="882026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multiply </a:t>
              </a:r>
              <a:r>
                <a:rPr lang="en-AU" dirty="0" smtClean="0">
                  <a:solidFill>
                    <a:schemeClr val="tx1"/>
                  </a:solidFill>
                </a:rPr>
                <a:t>3 </a:t>
              </a:r>
              <a:r>
                <a:rPr lang="en-AU" dirty="0">
                  <a:solidFill>
                    <a:schemeClr val="tx1"/>
                  </a:solidFill>
                </a:rPr>
                <a:t>x </a:t>
              </a:r>
              <a:r>
                <a:rPr lang="en-AU" dirty="0" smtClean="0">
                  <a:solidFill>
                    <a:schemeClr val="tx1"/>
                  </a:solidFill>
                </a:rPr>
                <a:t>3000</a:t>
              </a:r>
              <a:r>
                <a:rPr lang="en-AU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0" y="767932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Calculate: 7 x 900</a:t>
            </a:r>
            <a:endParaRPr lang="en-AU" sz="3200" b="1" u="sng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6082115" y="2142717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>
                <a:solidFill>
                  <a:srgbClr val="00B050"/>
                </a:solidFill>
              </a:rPr>
              <a:t>7</a:t>
            </a:r>
            <a:r>
              <a:rPr lang="en-AU" sz="3200" b="1" dirty="0" smtClean="0"/>
              <a:t> x </a:t>
            </a:r>
            <a:r>
              <a:rPr lang="en-AU" sz="3200" b="1" dirty="0" smtClean="0">
                <a:solidFill>
                  <a:srgbClr val="00B050"/>
                </a:solidFill>
              </a:rPr>
              <a:t>9</a:t>
            </a:r>
            <a:r>
              <a:rPr lang="en-AU" sz="3200" b="1" dirty="0" smtClean="0">
                <a:solidFill>
                  <a:srgbClr val="0070C0"/>
                </a:solidFill>
              </a:rPr>
              <a:t>00</a:t>
            </a:r>
            <a:r>
              <a:rPr lang="en-AU" sz="3200" b="1" dirty="0" smtClean="0"/>
              <a:t> = </a:t>
            </a:r>
            <a:r>
              <a:rPr lang="en-AU" sz="3200" b="1" dirty="0" smtClean="0">
                <a:solidFill>
                  <a:srgbClr val="00B050"/>
                </a:solidFill>
              </a:rPr>
              <a:t>63</a:t>
            </a:r>
            <a:r>
              <a:rPr lang="en-AU" sz="3200" b="1" dirty="0" smtClean="0">
                <a:solidFill>
                  <a:srgbClr val="0070C0"/>
                </a:solidFill>
              </a:rPr>
              <a:t>00</a:t>
            </a:r>
            <a:r>
              <a:rPr lang="en-AU" sz="3200" b="1" u="sng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449854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03629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95" y="2024355"/>
            <a:ext cx="8932826" cy="9187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3200" b="1" dirty="0" smtClean="0"/>
              <a:t>Step 1:  </a:t>
            </a:r>
            <a:r>
              <a:rPr lang="en-AU" sz="3200" b="1" dirty="0" smtClean="0">
                <a:solidFill>
                  <a:srgbClr val="00B050"/>
                </a:solidFill>
              </a:rPr>
              <a:t>Multiply the first numbers    </a:t>
            </a:r>
          </a:p>
          <a:p>
            <a:pPr marL="0" indent="0">
              <a:buNone/>
            </a:pPr>
            <a:r>
              <a:rPr lang="en-AU" sz="3200" b="1" dirty="0" smtClean="0"/>
              <a:t>Step 2:  </a:t>
            </a:r>
            <a:r>
              <a:rPr lang="en-AU" sz="3200" b="1" dirty="0" smtClean="0">
                <a:solidFill>
                  <a:srgbClr val="0070C0"/>
                </a:solidFill>
              </a:rPr>
              <a:t>Add in all zeros at the end      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will you multiply 8 x 300?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multiply </a:t>
              </a:r>
              <a:r>
                <a:rPr lang="en-AU" dirty="0" smtClean="0">
                  <a:solidFill>
                    <a:schemeClr val="tx1"/>
                  </a:solidFill>
                </a:rPr>
                <a:t>4 x 500</a:t>
              </a:r>
              <a:r>
                <a:rPr lang="en-AU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3056383"/>
            <a:ext cx="2146851" cy="1239965"/>
            <a:chOff x="660398" y="3602071"/>
            <a:chExt cx="2035631" cy="882026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multiply </a:t>
              </a:r>
              <a:r>
                <a:rPr lang="en-AU" dirty="0" smtClean="0">
                  <a:solidFill>
                    <a:schemeClr val="tx1"/>
                  </a:solidFill>
                </a:rPr>
                <a:t>3 </a:t>
              </a:r>
              <a:r>
                <a:rPr lang="en-AU" dirty="0">
                  <a:solidFill>
                    <a:schemeClr val="tx1"/>
                  </a:solidFill>
                </a:rPr>
                <a:t>x </a:t>
              </a:r>
              <a:r>
                <a:rPr lang="en-AU" dirty="0" smtClean="0">
                  <a:solidFill>
                    <a:schemeClr val="tx1"/>
                  </a:solidFill>
                </a:rPr>
                <a:t>3000</a:t>
              </a:r>
              <a:r>
                <a:rPr lang="en-AU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0" y="767932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Calculate: 500 x 700</a:t>
            </a:r>
            <a:endParaRPr lang="en-AU" sz="3200" b="1" u="sng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6082115" y="2142717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>
                <a:solidFill>
                  <a:srgbClr val="00B050"/>
                </a:solidFill>
              </a:rPr>
              <a:t>5</a:t>
            </a:r>
            <a:r>
              <a:rPr lang="en-AU" sz="3200" b="1" dirty="0" smtClean="0">
                <a:solidFill>
                  <a:srgbClr val="0070C0"/>
                </a:solidFill>
              </a:rPr>
              <a:t>00</a:t>
            </a:r>
            <a:r>
              <a:rPr lang="en-AU" sz="3200" b="1" dirty="0" smtClean="0"/>
              <a:t> x </a:t>
            </a:r>
            <a:r>
              <a:rPr lang="en-AU" sz="3200" b="1" dirty="0">
                <a:solidFill>
                  <a:srgbClr val="00B050"/>
                </a:solidFill>
              </a:rPr>
              <a:t>7</a:t>
            </a:r>
            <a:r>
              <a:rPr lang="en-AU" sz="3200" b="1" dirty="0" smtClean="0">
                <a:solidFill>
                  <a:srgbClr val="0070C0"/>
                </a:solidFill>
              </a:rPr>
              <a:t>00</a:t>
            </a:r>
            <a:r>
              <a:rPr lang="en-AU" sz="3200" b="1" dirty="0" smtClean="0"/>
              <a:t> = </a:t>
            </a:r>
            <a:r>
              <a:rPr lang="en-AU" sz="3200" b="1" dirty="0" smtClean="0">
                <a:solidFill>
                  <a:srgbClr val="00B050"/>
                </a:solidFill>
              </a:rPr>
              <a:t>35</a:t>
            </a:r>
            <a:r>
              <a:rPr lang="en-AU" sz="3200" b="1" dirty="0" smtClean="0">
                <a:solidFill>
                  <a:srgbClr val="0070C0"/>
                </a:solidFill>
              </a:rPr>
              <a:t>0 000</a:t>
            </a:r>
            <a:r>
              <a:rPr lang="en-AU" sz="3200" b="1" u="sng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449854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sp>
        <p:nvSpPr>
          <p:cNvPr id="18" name="TextBox 17"/>
          <p:cNvSpPr txBox="1"/>
          <p:nvPr/>
        </p:nvSpPr>
        <p:spPr>
          <a:xfrm>
            <a:off x="3496348" y="3210271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191490" y="4073237"/>
            <a:ext cx="2460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30 x 40</a:t>
            </a:r>
            <a:endParaRPr lang="en-AU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026130" y="4073237"/>
            <a:ext cx="2460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8</a:t>
            </a:r>
            <a:r>
              <a:rPr lang="en-AU" sz="3200" b="1" dirty="0" smtClean="0"/>
              <a:t>0 x 500</a:t>
            </a:r>
            <a:endParaRPr lang="en-AU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785955" y="4073236"/>
            <a:ext cx="2460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6</a:t>
            </a:r>
            <a:r>
              <a:rPr lang="en-AU" sz="3200" b="1" dirty="0" smtClean="0"/>
              <a:t> x 7 000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54315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7" grpId="0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95" y="2024355"/>
            <a:ext cx="8932826" cy="91874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AU" sz="3200" b="1" dirty="0" smtClean="0"/>
              <a:t>Step 1:  </a:t>
            </a:r>
            <a:r>
              <a:rPr lang="en-AU" sz="3200" b="1" dirty="0" smtClean="0">
                <a:solidFill>
                  <a:srgbClr val="00B050"/>
                </a:solidFill>
              </a:rPr>
              <a:t>Cross out the zeros (one at a time until there are no more common zeros to cross out)  </a:t>
            </a:r>
          </a:p>
          <a:p>
            <a:pPr marL="0" indent="0">
              <a:buNone/>
            </a:pPr>
            <a:r>
              <a:rPr lang="en-AU" sz="3200" b="1" dirty="0" smtClean="0"/>
              <a:t>Step 2:  </a:t>
            </a:r>
            <a:r>
              <a:rPr lang="en-AU" sz="3200" b="1" dirty="0" smtClean="0">
                <a:solidFill>
                  <a:srgbClr val="0070C0"/>
                </a:solidFill>
              </a:rPr>
              <a:t>Divide the remaining numbers to get the answer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will you divide 300 ÷ 30 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divide 500 </a:t>
              </a:r>
              <a:r>
                <a:rPr lang="en-AU" dirty="0" smtClean="0">
                  <a:solidFill>
                    <a:schemeClr val="tx1"/>
                  </a:solidFill>
                </a:rPr>
                <a:t>÷ 10?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3056383"/>
            <a:ext cx="2146851" cy="1239965"/>
            <a:chOff x="660398" y="3602071"/>
            <a:chExt cx="2035631" cy="882026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divide 3000 </a:t>
              </a:r>
              <a:r>
                <a:rPr lang="en-AU" dirty="0" smtClean="0">
                  <a:solidFill>
                    <a:schemeClr val="tx1"/>
                  </a:solidFill>
                </a:rPr>
                <a:t>÷ 250?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0" y="767932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Calculate: 2000 ÷ </a:t>
            </a:r>
            <a:r>
              <a:rPr lang="en-AU" sz="3200" b="1" dirty="0"/>
              <a:t>5</a:t>
            </a:r>
            <a:r>
              <a:rPr lang="en-AU" sz="3200" b="1" dirty="0" smtClean="0"/>
              <a:t>00</a:t>
            </a:r>
            <a:endParaRPr lang="en-AU" sz="3200" b="1" u="sng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82201" y="3942897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5400" b="1" dirty="0" smtClean="0">
                <a:solidFill>
                  <a:srgbClr val="00B050"/>
                </a:solidFill>
              </a:rPr>
              <a:t>2</a:t>
            </a:r>
            <a:r>
              <a:rPr lang="en-AU" sz="5400" b="1" dirty="0" smtClean="0">
                <a:solidFill>
                  <a:srgbClr val="0070C0"/>
                </a:solidFill>
              </a:rPr>
              <a:t>000</a:t>
            </a:r>
            <a:r>
              <a:rPr lang="en-AU" sz="5400" b="1" dirty="0"/>
              <a:t> ÷ </a:t>
            </a:r>
            <a:r>
              <a:rPr lang="en-AU" sz="5400" b="1" dirty="0" smtClean="0">
                <a:solidFill>
                  <a:srgbClr val="00B050"/>
                </a:solidFill>
              </a:rPr>
              <a:t>5</a:t>
            </a:r>
            <a:r>
              <a:rPr lang="en-AU" sz="5400" b="1" dirty="0" smtClean="0">
                <a:solidFill>
                  <a:srgbClr val="0070C0"/>
                </a:solidFill>
              </a:rPr>
              <a:t>00</a:t>
            </a:r>
            <a:endParaRPr lang="en-AU" sz="5400" b="1" u="sng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449854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6270944" y="3982239"/>
            <a:ext cx="238069" cy="66009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4588503" y="3966298"/>
            <a:ext cx="238069" cy="66009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5909608" y="3982239"/>
            <a:ext cx="238069" cy="66009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227167" y="3959419"/>
            <a:ext cx="238069" cy="66009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82201" y="5007238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5400" b="1" dirty="0" smtClean="0">
                <a:solidFill>
                  <a:srgbClr val="00B050"/>
                </a:solidFill>
              </a:rPr>
              <a:t>2</a:t>
            </a:r>
            <a:r>
              <a:rPr lang="en-AU" sz="5400" b="1" dirty="0">
                <a:solidFill>
                  <a:srgbClr val="0070C0"/>
                </a:solidFill>
              </a:rPr>
              <a:t>0</a:t>
            </a:r>
            <a:r>
              <a:rPr lang="en-AU" sz="5400" b="1" dirty="0" smtClean="0"/>
              <a:t> </a:t>
            </a:r>
            <a:r>
              <a:rPr lang="en-AU" sz="5400" b="1" dirty="0"/>
              <a:t>÷ </a:t>
            </a:r>
            <a:r>
              <a:rPr lang="en-AU" sz="5400" b="1" dirty="0" smtClean="0">
                <a:solidFill>
                  <a:srgbClr val="00B050"/>
                </a:solidFill>
              </a:rPr>
              <a:t>5</a:t>
            </a:r>
            <a:r>
              <a:rPr lang="en-AU" sz="5400" b="1" dirty="0">
                <a:solidFill>
                  <a:srgbClr val="0070C0"/>
                </a:solidFill>
              </a:rPr>
              <a:t> </a:t>
            </a:r>
            <a:r>
              <a:rPr lang="en-AU" sz="5400" b="1" dirty="0" smtClean="0">
                <a:solidFill>
                  <a:srgbClr val="0070C0"/>
                </a:solidFill>
              </a:rPr>
              <a:t>= 4</a:t>
            </a:r>
            <a:endParaRPr lang="en-AU" sz="5400" b="1" u="sng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050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7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95" y="2024355"/>
            <a:ext cx="8932826" cy="91874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AU" sz="3200" b="1" dirty="0" smtClean="0"/>
              <a:t>Step 1:  </a:t>
            </a:r>
            <a:r>
              <a:rPr lang="en-AU" sz="3200" b="1" dirty="0" smtClean="0">
                <a:solidFill>
                  <a:srgbClr val="00B050"/>
                </a:solidFill>
              </a:rPr>
              <a:t>Cross out the zeros (one at a time until there are no more common zeros to cross out)  </a:t>
            </a:r>
          </a:p>
          <a:p>
            <a:pPr marL="0" indent="0">
              <a:buNone/>
            </a:pPr>
            <a:r>
              <a:rPr lang="en-AU" sz="3200" b="1" dirty="0" smtClean="0"/>
              <a:t>Step 2:  </a:t>
            </a:r>
            <a:r>
              <a:rPr lang="en-AU" sz="3200" b="1" dirty="0" smtClean="0">
                <a:solidFill>
                  <a:srgbClr val="0070C0"/>
                </a:solidFill>
              </a:rPr>
              <a:t>Divide the remaining numbers to get the answer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will you multiply 600 </a:t>
              </a:r>
              <a:r>
                <a:rPr lang="en-AU" dirty="0">
                  <a:solidFill>
                    <a:schemeClr val="tx1"/>
                  </a:solidFill>
                </a:rPr>
                <a:t>÷ 30 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multiply </a:t>
              </a:r>
              <a:r>
                <a:rPr lang="en-AU" dirty="0" smtClean="0">
                  <a:solidFill>
                    <a:schemeClr val="tx1"/>
                  </a:solidFill>
                </a:rPr>
                <a:t>8500 </a:t>
              </a:r>
              <a:r>
                <a:rPr lang="en-AU" dirty="0">
                  <a:solidFill>
                    <a:schemeClr val="tx1"/>
                  </a:solidFill>
                </a:rPr>
                <a:t>÷ </a:t>
              </a:r>
              <a:r>
                <a:rPr lang="en-AU" dirty="0" smtClean="0">
                  <a:solidFill>
                    <a:schemeClr val="tx1"/>
                  </a:solidFill>
                </a:rPr>
                <a:t>20 </a:t>
              </a:r>
              <a:r>
                <a:rPr lang="en-AU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3056383"/>
            <a:ext cx="2146851" cy="1239965"/>
            <a:chOff x="660398" y="3602071"/>
            <a:chExt cx="2035631" cy="882026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multiply </a:t>
              </a:r>
              <a:r>
                <a:rPr lang="en-AU" dirty="0" smtClean="0">
                  <a:solidFill>
                    <a:schemeClr val="tx1"/>
                  </a:solidFill>
                </a:rPr>
                <a:t>720 </a:t>
              </a:r>
              <a:r>
                <a:rPr lang="en-AU" dirty="0">
                  <a:solidFill>
                    <a:schemeClr val="tx1"/>
                  </a:solidFill>
                </a:rPr>
                <a:t>÷ </a:t>
              </a:r>
              <a:r>
                <a:rPr lang="en-AU" dirty="0" smtClean="0">
                  <a:solidFill>
                    <a:schemeClr val="tx1"/>
                  </a:solidFill>
                </a:rPr>
                <a:t>80 </a:t>
              </a:r>
              <a:r>
                <a:rPr lang="en-AU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0" y="767932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Calculate: 3</a:t>
            </a:r>
            <a:r>
              <a:rPr lang="en-AU" sz="3200" b="1" dirty="0"/>
              <a:t>5</a:t>
            </a:r>
            <a:r>
              <a:rPr lang="en-AU" sz="3200" b="1" dirty="0" smtClean="0"/>
              <a:t>00 ÷ </a:t>
            </a:r>
            <a:r>
              <a:rPr lang="en-AU" sz="3200" b="1" dirty="0"/>
              <a:t>1</a:t>
            </a:r>
            <a:r>
              <a:rPr lang="en-AU" sz="3200" b="1" dirty="0" smtClean="0"/>
              <a:t>00</a:t>
            </a:r>
            <a:endParaRPr lang="en-AU" sz="3200" b="1" u="sng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82201" y="3942897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5400" b="1" dirty="0" smtClean="0">
                <a:solidFill>
                  <a:srgbClr val="00B050"/>
                </a:solidFill>
              </a:rPr>
              <a:t>3</a:t>
            </a:r>
            <a:r>
              <a:rPr lang="en-AU" sz="5400" b="1" dirty="0">
                <a:solidFill>
                  <a:srgbClr val="0070C0"/>
                </a:solidFill>
              </a:rPr>
              <a:t>5</a:t>
            </a:r>
            <a:r>
              <a:rPr lang="en-AU" sz="5400" b="1" dirty="0" smtClean="0">
                <a:solidFill>
                  <a:srgbClr val="0070C0"/>
                </a:solidFill>
              </a:rPr>
              <a:t>00</a:t>
            </a:r>
            <a:r>
              <a:rPr lang="en-AU" sz="5400" b="1" dirty="0" smtClean="0"/>
              <a:t> </a:t>
            </a:r>
            <a:r>
              <a:rPr lang="en-AU" sz="5400" b="1" dirty="0"/>
              <a:t>÷ </a:t>
            </a:r>
            <a:r>
              <a:rPr lang="en-AU" sz="5400" b="1" dirty="0">
                <a:solidFill>
                  <a:srgbClr val="00B050"/>
                </a:solidFill>
              </a:rPr>
              <a:t>1</a:t>
            </a:r>
            <a:r>
              <a:rPr lang="en-AU" sz="5400" b="1" dirty="0" smtClean="0">
                <a:solidFill>
                  <a:srgbClr val="0070C0"/>
                </a:solidFill>
              </a:rPr>
              <a:t>00</a:t>
            </a:r>
            <a:endParaRPr lang="en-AU" sz="5400" b="1" u="sng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449854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6270944" y="3982239"/>
            <a:ext cx="238069" cy="66009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4588503" y="3966298"/>
            <a:ext cx="238069" cy="66009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5909608" y="3982239"/>
            <a:ext cx="238069" cy="66009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227167" y="3959419"/>
            <a:ext cx="238069" cy="66009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82201" y="5007238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5400" b="1" dirty="0" smtClean="0">
                <a:solidFill>
                  <a:srgbClr val="00B050"/>
                </a:solidFill>
              </a:rPr>
              <a:t>35</a:t>
            </a:r>
            <a:r>
              <a:rPr lang="en-AU" sz="5400" b="1" dirty="0" smtClean="0"/>
              <a:t> </a:t>
            </a:r>
            <a:r>
              <a:rPr lang="en-AU" sz="5400" b="1" dirty="0"/>
              <a:t>÷ </a:t>
            </a:r>
            <a:r>
              <a:rPr lang="en-AU" sz="5400" b="1" dirty="0">
                <a:solidFill>
                  <a:srgbClr val="00B050"/>
                </a:solidFill>
              </a:rPr>
              <a:t>1</a:t>
            </a:r>
            <a:r>
              <a:rPr lang="en-AU" sz="5400" b="1" dirty="0" smtClean="0">
                <a:solidFill>
                  <a:srgbClr val="0070C0"/>
                </a:solidFill>
              </a:rPr>
              <a:t> = 35</a:t>
            </a:r>
            <a:endParaRPr lang="en-AU" sz="5400" b="1" u="sng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199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7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0" y="767932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Calculate: 9900 ÷ </a:t>
            </a:r>
            <a:r>
              <a:rPr lang="en-AU" sz="3200" b="1" dirty="0" smtClean="0"/>
              <a:t>1100</a:t>
            </a: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449854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5136726" y="832831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0" y="3946164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Calculate: </a:t>
            </a:r>
            <a:r>
              <a:rPr lang="en-AU" sz="3200" b="1" dirty="0" smtClean="0"/>
              <a:t>2400 </a:t>
            </a:r>
            <a:r>
              <a:rPr lang="en-AU" sz="3200" b="1" dirty="0"/>
              <a:t>÷ 8</a:t>
            </a:r>
            <a:r>
              <a:rPr lang="en-AU" sz="3200" b="1" dirty="0" smtClean="0"/>
              <a:t>00</a:t>
            </a: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38546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You will need to develop easy strategies to help you add and multiply without a calculator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When do you need mental strategies?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262306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If I purchase 18 packets of pencils, and each packet costs </a:t>
            </a:r>
            <a:r>
              <a:rPr lang="en-AU" sz="3200" b="1" smtClean="0"/>
              <a:t>$12, how </a:t>
            </a:r>
            <a:r>
              <a:rPr lang="en-AU" sz="3200" b="1" dirty="0" smtClean="0"/>
              <a:t>could I calculate this using an array?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441681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Luckily, I can use my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mental strategies to help!!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Write an example of a real life calculation you could make in a store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50" name="Picture 2" descr="Men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236" y="4438423"/>
            <a:ext cx="2319131" cy="231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201488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Relevance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9934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Break down each number by dividing each number into two parts: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249639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Break 32 into two parts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2"/>
            <a:ext cx="2146851" cy="1216869"/>
            <a:chOff x="660398" y="3602071"/>
            <a:chExt cx="2035631" cy="86559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Break 52 into two parts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81934" y="185192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>
                <a:solidFill>
                  <a:srgbClr val="00B0F0"/>
                </a:solidFill>
              </a:rPr>
              <a:t>18</a:t>
            </a:r>
            <a:r>
              <a:rPr lang="en-AU" sz="3200" b="1" dirty="0" smtClean="0"/>
              <a:t> x </a:t>
            </a:r>
            <a:r>
              <a:rPr lang="en-AU" sz="3200" b="1" dirty="0" smtClean="0">
                <a:solidFill>
                  <a:srgbClr val="00B050"/>
                </a:solidFill>
              </a:rPr>
              <a:t>12</a:t>
            </a:r>
            <a:r>
              <a:rPr lang="en-AU" sz="3200" b="1" dirty="0" smtClean="0"/>
              <a:t> = (</a:t>
            </a:r>
            <a:r>
              <a:rPr lang="en-AU" sz="3200" b="1" dirty="0" smtClean="0">
                <a:solidFill>
                  <a:srgbClr val="00B0F0"/>
                </a:solidFill>
              </a:rPr>
              <a:t>10 </a:t>
            </a:r>
            <a:r>
              <a:rPr lang="en-AU" sz="3200" b="1" dirty="0" smtClean="0"/>
              <a:t>+ </a:t>
            </a:r>
            <a:r>
              <a:rPr lang="en-AU" sz="3200" b="1" dirty="0" smtClean="0">
                <a:solidFill>
                  <a:srgbClr val="00B0F0"/>
                </a:solidFill>
              </a:rPr>
              <a:t>8 </a:t>
            </a:r>
            <a:r>
              <a:rPr lang="en-AU" sz="3200" b="1" dirty="0" smtClean="0"/>
              <a:t>) x (</a:t>
            </a:r>
            <a:r>
              <a:rPr lang="en-AU" sz="3200" b="1" dirty="0" smtClean="0">
                <a:solidFill>
                  <a:srgbClr val="00B050"/>
                </a:solidFill>
              </a:rPr>
              <a:t>10</a:t>
            </a:r>
            <a:r>
              <a:rPr lang="en-AU" sz="3200" b="1" dirty="0" smtClean="0"/>
              <a:t> + </a:t>
            </a:r>
            <a:r>
              <a:rPr lang="en-AU" sz="3200" b="1" dirty="0" smtClean="0">
                <a:solidFill>
                  <a:srgbClr val="00B050"/>
                </a:solidFill>
              </a:rPr>
              <a:t>2</a:t>
            </a:r>
            <a:r>
              <a:rPr lang="en-AU" sz="3200" b="1" dirty="0" smtClean="0"/>
              <a:t> )</a:t>
            </a:r>
            <a:endParaRPr lang="en-AU" sz="3200" b="1" dirty="0" smtClean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81934" y="3276555"/>
            <a:ext cx="941428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>
                <a:solidFill>
                  <a:srgbClr val="00B0F0"/>
                </a:solidFill>
              </a:rPr>
              <a:t>24</a:t>
            </a:r>
            <a:r>
              <a:rPr lang="en-AU" sz="3200" b="1" dirty="0" smtClean="0"/>
              <a:t> </a:t>
            </a:r>
            <a:r>
              <a:rPr lang="en-AU" sz="3200" b="1" dirty="0"/>
              <a:t>x </a:t>
            </a:r>
            <a:r>
              <a:rPr lang="en-AU" sz="3200" b="1" dirty="0" smtClean="0">
                <a:solidFill>
                  <a:srgbClr val="00B050"/>
                </a:solidFill>
              </a:rPr>
              <a:t>15</a:t>
            </a:r>
            <a:r>
              <a:rPr lang="en-AU" sz="3200" b="1" dirty="0" smtClean="0"/>
              <a:t> </a:t>
            </a:r>
            <a:r>
              <a:rPr lang="en-AU" sz="3200" b="1" dirty="0"/>
              <a:t>= </a:t>
            </a:r>
            <a:r>
              <a:rPr lang="en-AU" sz="3200" b="1" dirty="0" smtClean="0"/>
              <a:t>(</a:t>
            </a:r>
            <a:r>
              <a:rPr lang="en-AU" sz="3200" b="1" dirty="0" smtClean="0">
                <a:solidFill>
                  <a:srgbClr val="00B0F0"/>
                </a:solidFill>
              </a:rPr>
              <a:t>20 </a:t>
            </a:r>
            <a:r>
              <a:rPr lang="en-AU" sz="3200" b="1" dirty="0"/>
              <a:t>+ </a:t>
            </a:r>
            <a:r>
              <a:rPr lang="en-AU" sz="3200" b="1" dirty="0" smtClean="0">
                <a:solidFill>
                  <a:srgbClr val="00B0F0"/>
                </a:solidFill>
              </a:rPr>
              <a:t>4 </a:t>
            </a:r>
            <a:r>
              <a:rPr lang="en-AU" sz="3200" b="1" dirty="0"/>
              <a:t>) x (</a:t>
            </a:r>
            <a:r>
              <a:rPr lang="en-AU" sz="3200" b="1" dirty="0">
                <a:solidFill>
                  <a:srgbClr val="00B050"/>
                </a:solidFill>
              </a:rPr>
              <a:t>10</a:t>
            </a:r>
            <a:r>
              <a:rPr lang="en-AU" sz="3200" b="1" dirty="0"/>
              <a:t> + </a:t>
            </a:r>
            <a:r>
              <a:rPr lang="en-AU" sz="3200" b="1" dirty="0" smtClean="0">
                <a:solidFill>
                  <a:srgbClr val="00B050"/>
                </a:solidFill>
              </a:rPr>
              <a:t>5</a:t>
            </a:r>
            <a:r>
              <a:rPr lang="en-AU" sz="3200" b="1" dirty="0" smtClean="0"/>
              <a:t> </a:t>
            </a:r>
            <a:r>
              <a:rPr lang="en-AU" sz="3200" b="1" dirty="0"/>
              <a:t>)</a:t>
            </a:r>
            <a:endParaRPr lang="en-AU" sz="32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630843" y="460674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>
                <a:solidFill>
                  <a:srgbClr val="00B0F0"/>
                </a:solidFill>
              </a:rPr>
              <a:t>12</a:t>
            </a:r>
            <a:r>
              <a:rPr lang="en-AU" sz="3200" b="1" dirty="0" smtClean="0"/>
              <a:t> </a:t>
            </a:r>
            <a:r>
              <a:rPr lang="en-AU" sz="3200" b="1" dirty="0"/>
              <a:t>x </a:t>
            </a:r>
            <a:r>
              <a:rPr lang="en-AU" sz="3200" b="1" dirty="0" smtClean="0">
                <a:solidFill>
                  <a:srgbClr val="00B050"/>
                </a:solidFill>
              </a:rPr>
              <a:t>23</a:t>
            </a:r>
            <a:r>
              <a:rPr lang="en-AU" sz="3200" b="1" dirty="0" smtClean="0"/>
              <a:t> </a:t>
            </a:r>
            <a:r>
              <a:rPr lang="en-AU" sz="3200" b="1" dirty="0"/>
              <a:t>= (</a:t>
            </a:r>
            <a:r>
              <a:rPr lang="en-AU" sz="3200" b="1" dirty="0">
                <a:solidFill>
                  <a:srgbClr val="00B0F0"/>
                </a:solidFill>
              </a:rPr>
              <a:t>10 </a:t>
            </a:r>
            <a:r>
              <a:rPr lang="en-AU" sz="3200" b="1" dirty="0"/>
              <a:t>+ </a:t>
            </a:r>
            <a:r>
              <a:rPr lang="en-AU" sz="3200" b="1" dirty="0" smtClean="0">
                <a:solidFill>
                  <a:srgbClr val="00B0F0"/>
                </a:solidFill>
              </a:rPr>
              <a:t>2 </a:t>
            </a:r>
            <a:r>
              <a:rPr lang="en-AU" sz="3200" b="1" dirty="0"/>
              <a:t>) x </a:t>
            </a:r>
            <a:r>
              <a:rPr lang="en-AU" sz="3200" b="1" dirty="0" smtClean="0"/>
              <a:t>(</a:t>
            </a:r>
            <a:r>
              <a:rPr lang="en-AU" sz="3200" b="1" dirty="0" smtClean="0">
                <a:solidFill>
                  <a:srgbClr val="00B050"/>
                </a:solidFill>
              </a:rPr>
              <a:t>20</a:t>
            </a:r>
            <a:r>
              <a:rPr lang="en-AU" sz="3200" b="1" dirty="0" smtClean="0"/>
              <a:t> </a:t>
            </a:r>
            <a:r>
              <a:rPr lang="en-AU" sz="3200" b="1" dirty="0"/>
              <a:t>+ </a:t>
            </a:r>
            <a:r>
              <a:rPr lang="en-AU" sz="3200" b="1" dirty="0" smtClean="0">
                <a:solidFill>
                  <a:srgbClr val="00B050"/>
                </a:solidFill>
              </a:rPr>
              <a:t>3</a:t>
            </a:r>
            <a:r>
              <a:rPr lang="en-AU" sz="3200" b="1" dirty="0" smtClean="0"/>
              <a:t> </a:t>
            </a:r>
            <a:r>
              <a:rPr lang="en-AU" sz="3200" b="1" dirty="0"/>
              <a:t>)</a:t>
            </a:r>
            <a:endParaRPr lang="en-AU" sz="3200" b="1" dirty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949" y="2990208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3310182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69714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Break down each number by dividing each number into two parts: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81934" y="185192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>
                <a:solidFill>
                  <a:srgbClr val="00B0F0"/>
                </a:solidFill>
              </a:rPr>
              <a:t>27</a:t>
            </a:r>
            <a:r>
              <a:rPr lang="en-AU" sz="3200" b="1" dirty="0" smtClean="0"/>
              <a:t> x </a:t>
            </a:r>
            <a:r>
              <a:rPr lang="en-AU" sz="3200" b="1" dirty="0" smtClean="0">
                <a:solidFill>
                  <a:srgbClr val="00B050"/>
                </a:solidFill>
              </a:rPr>
              <a:t>16</a:t>
            </a:r>
            <a:r>
              <a:rPr lang="en-AU" sz="3200" b="1" dirty="0" smtClean="0"/>
              <a:t> =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81934" y="3276555"/>
            <a:ext cx="941428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>
                <a:solidFill>
                  <a:srgbClr val="00B0F0"/>
                </a:solidFill>
              </a:rPr>
              <a:t>32</a:t>
            </a:r>
            <a:r>
              <a:rPr lang="en-AU" sz="3200" b="1" dirty="0" smtClean="0"/>
              <a:t> </a:t>
            </a:r>
            <a:r>
              <a:rPr lang="en-AU" sz="3200" b="1" dirty="0"/>
              <a:t>x </a:t>
            </a:r>
            <a:r>
              <a:rPr lang="en-AU" sz="3200" b="1" dirty="0" smtClean="0">
                <a:solidFill>
                  <a:srgbClr val="00B050"/>
                </a:solidFill>
              </a:rPr>
              <a:t>21</a:t>
            </a:r>
            <a:r>
              <a:rPr lang="en-AU" sz="3200" b="1" dirty="0" smtClean="0"/>
              <a:t> </a:t>
            </a:r>
            <a:r>
              <a:rPr lang="en-AU" sz="3200" b="1" dirty="0"/>
              <a:t>= 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630843" y="460674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>
                <a:solidFill>
                  <a:srgbClr val="00B0F0"/>
                </a:solidFill>
              </a:rPr>
              <a:t>17</a:t>
            </a:r>
            <a:r>
              <a:rPr lang="en-AU" sz="3200" b="1" dirty="0" smtClean="0"/>
              <a:t> </a:t>
            </a:r>
            <a:r>
              <a:rPr lang="en-AU" sz="3200" b="1" dirty="0"/>
              <a:t>x </a:t>
            </a:r>
            <a:r>
              <a:rPr lang="en-AU" sz="3200" b="1" dirty="0" smtClean="0">
                <a:solidFill>
                  <a:srgbClr val="00B050"/>
                </a:solidFill>
              </a:rPr>
              <a:t>19</a:t>
            </a:r>
            <a:r>
              <a:rPr lang="en-AU" sz="3200" b="1" dirty="0" smtClean="0"/>
              <a:t> =</a:t>
            </a:r>
            <a:endParaRPr lang="en-AU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3310182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17" name="TextBox 16"/>
          <p:cNvSpPr txBox="1"/>
          <p:nvPr/>
        </p:nvSpPr>
        <p:spPr>
          <a:xfrm>
            <a:off x="6779875" y="1346947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60478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5" grpId="0"/>
      <p:bldP spid="16" grpId="0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02678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Calculate 27 x 16 using an array: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6"/>
            <a:ext cx="2146850" cy="1087148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step 1 in using an array?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09175" y="1067162"/>
            <a:ext cx="2146851" cy="972123"/>
            <a:chOff x="660398" y="3602071"/>
            <a:chExt cx="2035631" cy="86559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2 </a:t>
              </a:r>
              <a:r>
                <a:rPr lang="en-AU" dirty="0">
                  <a:solidFill>
                    <a:schemeClr val="tx1"/>
                  </a:solidFill>
                </a:rPr>
                <a:t>in using an array?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" y="138089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1: split the numbers into 1s and 10s </a:t>
            </a:r>
          </a:p>
          <a:p>
            <a:pPr marL="0" indent="0">
              <a:buNone/>
            </a:pPr>
            <a:r>
              <a:rPr lang="en-AU" b="1" dirty="0" smtClean="0">
                <a:solidFill>
                  <a:srgbClr val="00B0F0"/>
                </a:solidFill>
              </a:rPr>
              <a:t>             27</a:t>
            </a:r>
            <a:r>
              <a:rPr lang="en-AU" b="1" dirty="0" smtClean="0"/>
              <a:t> x </a:t>
            </a:r>
            <a:r>
              <a:rPr lang="en-AU" b="1" dirty="0" smtClean="0">
                <a:solidFill>
                  <a:srgbClr val="00B050"/>
                </a:solidFill>
              </a:rPr>
              <a:t>16</a:t>
            </a:r>
            <a:r>
              <a:rPr lang="en-AU" b="1" dirty="0" smtClean="0"/>
              <a:t> = (</a:t>
            </a:r>
            <a:r>
              <a:rPr lang="en-AU" b="1" dirty="0" smtClean="0">
                <a:solidFill>
                  <a:srgbClr val="00B0F0"/>
                </a:solidFill>
              </a:rPr>
              <a:t>20 </a:t>
            </a:r>
            <a:r>
              <a:rPr lang="en-AU" b="1" dirty="0"/>
              <a:t>+</a:t>
            </a:r>
            <a:r>
              <a:rPr lang="en-AU" b="1" dirty="0" smtClean="0">
                <a:solidFill>
                  <a:srgbClr val="00B0F0"/>
                </a:solidFill>
              </a:rPr>
              <a:t> 7 </a:t>
            </a:r>
            <a:r>
              <a:rPr lang="en-AU" b="1" dirty="0" smtClean="0"/>
              <a:t>) x (</a:t>
            </a:r>
            <a:r>
              <a:rPr lang="en-AU" b="1" dirty="0" smtClean="0">
                <a:solidFill>
                  <a:srgbClr val="00B050"/>
                </a:solidFill>
              </a:rPr>
              <a:t>10</a:t>
            </a:r>
            <a:r>
              <a:rPr lang="en-AU" b="1" dirty="0" smtClean="0"/>
              <a:t> + </a:t>
            </a:r>
            <a:r>
              <a:rPr lang="en-AU" b="1" dirty="0" smtClean="0">
                <a:solidFill>
                  <a:srgbClr val="00B050"/>
                </a:solidFill>
              </a:rPr>
              <a:t>6 </a:t>
            </a:r>
            <a:r>
              <a:rPr lang="en-AU" b="1" dirty="0" smtClean="0"/>
              <a:t>)</a:t>
            </a:r>
            <a:endParaRPr lang="en-AU" b="1" dirty="0" smtClean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6" y="2048297"/>
            <a:ext cx="2146851" cy="1091699"/>
            <a:chOff x="660398" y="3602071"/>
            <a:chExt cx="2035631" cy="8655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3 </a:t>
              </a:r>
              <a:r>
                <a:rPr lang="en-AU" dirty="0">
                  <a:solidFill>
                    <a:schemeClr val="tx1"/>
                  </a:solidFill>
                </a:rPr>
                <a:t>in using an array?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" y="2684310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2: enter the numbers on the sides of the array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247" t="49167" r="55864" b="32963"/>
          <a:stretch/>
        </p:blipFill>
        <p:spPr>
          <a:xfrm>
            <a:off x="1857814" y="3372279"/>
            <a:ext cx="3191517" cy="201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64300" y="3940208"/>
            <a:ext cx="450850" cy="37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2535688" y="3139996"/>
            <a:ext cx="205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00B0F0"/>
                </a:solidFill>
              </a:rPr>
              <a:t>20                    7              </a:t>
            </a:r>
            <a:r>
              <a:rPr lang="en-AU" b="1" dirty="0" smtClean="0"/>
              <a:t>           </a:t>
            </a:r>
            <a:endParaRPr lang="en-A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812099" y="3778590"/>
            <a:ext cx="43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00B050"/>
                </a:solidFill>
              </a:rPr>
              <a:t>10</a:t>
            </a:r>
          </a:p>
          <a:p>
            <a:endParaRPr lang="en-AU" b="1" dirty="0">
              <a:solidFill>
                <a:srgbClr val="00B050"/>
              </a:solidFill>
            </a:endParaRPr>
          </a:p>
          <a:p>
            <a:endParaRPr lang="en-AU" b="1" dirty="0" smtClean="0">
              <a:solidFill>
                <a:srgbClr val="00B050"/>
              </a:solidFill>
            </a:endParaRPr>
          </a:p>
          <a:p>
            <a:r>
              <a:rPr lang="en-AU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4884" y="5401157"/>
            <a:ext cx="1042261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3: multiply each horizontal by each vertical and enter in the array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449193" y="3755542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200</a:t>
            </a:r>
            <a:endParaRPr lang="en-AU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676777" y="3777811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70</a:t>
            </a:r>
            <a:endParaRPr lang="en-AU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2388981" y="4592961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120</a:t>
            </a:r>
            <a:endParaRPr lang="en-AU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3659827" y="4592961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42</a:t>
            </a:r>
            <a:endParaRPr lang="en-AU" b="1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4884" y="6070703"/>
            <a:ext cx="1042261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4: add up each number inside the array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9575800" y="4546600"/>
            <a:ext cx="2119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200</a:t>
            </a:r>
          </a:p>
          <a:p>
            <a:r>
              <a:rPr lang="en-AU" b="1" dirty="0" smtClean="0"/>
              <a:t>120</a:t>
            </a:r>
          </a:p>
          <a:p>
            <a:r>
              <a:rPr lang="en-AU" b="1" dirty="0"/>
              <a:t> </a:t>
            </a:r>
            <a:r>
              <a:rPr lang="en-AU" b="1" dirty="0" smtClean="0"/>
              <a:t> 70</a:t>
            </a:r>
          </a:p>
          <a:p>
            <a:r>
              <a:rPr lang="en-AU" b="1" dirty="0"/>
              <a:t> </a:t>
            </a:r>
            <a:r>
              <a:rPr lang="en-AU" b="1" dirty="0" smtClean="0"/>
              <a:t> 42</a:t>
            </a:r>
            <a:endParaRPr lang="en-AU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9486900" y="5803900"/>
            <a:ext cx="844550" cy="6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336859" y="532936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+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9636941" y="5873366"/>
            <a:ext cx="114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432</a:t>
            </a:r>
            <a:endParaRPr lang="en-AU" b="1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6" y="3122918"/>
            <a:ext cx="2146851" cy="1091699"/>
            <a:chOff x="660398" y="3602071"/>
            <a:chExt cx="2035631" cy="86559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44033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4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4</a:t>
              </a:r>
              <a:r>
                <a:rPr lang="en-AU" dirty="0" smtClean="0">
                  <a:solidFill>
                    <a:schemeClr val="tx1"/>
                  </a:solidFill>
                </a:rPr>
                <a:t> </a:t>
              </a:r>
              <a:r>
                <a:rPr lang="en-AU" dirty="0">
                  <a:solidFill>
                    <a:schemeClr val="tx1"/>
                  </a:solidFill>
                </a:rPr>
                <a:t>in using an array?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76937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8" grpId="0" build="p"/>
      <p:bldP spid="24" grpId="0"/>
      <p:bldP spid="7" grpId="0"/>
      <p:bldP spid="25" grpId="0" build="p"/>
      <p:bldP spid="8" grpId="0"/>
      <p:bldP spid="26" grpId="0"/>
      <p:bldP spid="27" grpId="0"/>
      <p:bldP spid="28" grpId="0"/>
      <p:bldP spid="29" grpId="0" build="p"/>
      <p:bldP spid="9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02678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Calculate 23 x 47 using an array: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6"/>
            <a:ext cx="2146850" cy="1087148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step 1 in using an array?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09175" y="1067162"/>
            <a:ext cx="2146851" cy="972123"/>
            <a:chOff x="660398" y="3602071"/>
            <a:chExt cx="2035631" cy="86559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2 </a:t>
              </a:r>
              <a:r>
                <a:rPr lang="en-AU" dirty="0">
                  <a:solidFill>
                    <a:schemeClr val="tx1"/>
                  </a:solidFill>
                </a:rPr>
                <a:t>in using an array?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" y="138089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1: split the numbers into 1s and 10s </a:t>
            </a:r>
          </a:p>
          <a:p>
            <a:pPr marL="0" indent="0">
              <a:buNone/>
            </a:pPr>
            <a:r>
              <a:rPr lang="en-AU" b="1" dirty="0" smtClean="0">
                <a:solidFill>
                  <a:srgbClr val="00B0F0"/>
                </a:solidFill>
              </a:rPr>
              <a:t>             23</a:t>
            </a:r>
            <a:r>
              <a:rPr lang="en-AU" b="1" dirty="0" smtClean="0"/>
              <a:t> x </a:t>
            </a:r>
            <a:r>
              <a:rPr lang="en-AU" b="1" dirty="0" smtClean="0">
                <a:solidFill>
                  <a:srgbClr val="00B050"/>
                </a:solidFill>
              </a:rPr>
              <a:t>47</a:t>
            </a:r>
            <a:r>
              <a:rPr lang="en-AU" b="1" dirty="0" smtClean="0"/>
              <a:t> = (</a:t>
            </a:r>
            <a:r>
              <a:rPr lang="en-AU" b="1" dirty="0" smtClean="0">
                <a:solidFill>
                  <a:srgbClr val="00B0F0"/>
                </a:solidFill>
              </a:rPr>
              <a:t>20 </a:t>
            </a:r>
            <a:r>
              <a:rPr lang="en-AU" b="1" dirty="0"/>
              <a:t>+</a:t>
            </a:r>
            <a:r>
              <a:rPr lang="en-AU" b="1" dirty="0" smtClean="0">
                <a:solidFill>
                  <a:srgbClr val="00B0F0"/>
                </a:solidFill>
              </a:rPr>
              <a:t> </a:t>
            </a:r>
            <a:r>
              <a:rPr lang="en-AU" b="1" dirty="0">
                <a:solidFill>
                  <a:srgbClr val="00B0F0"/>
                </a:solidFill>
              </a:rPr>
              <a:t>3</a:t>
            </a:r>
            <a:r>
              <a:rPr lang="en-AU" b="1" dirty="0" smtClean="0">
                <a:solidFill>
                  <a:srgbClr val="00B0F0"/>
                </a:solidFill>
              </a:rPr>
              <a:t> </a:t>
            </a:r>
            <a:r>
              <a:rPr lang="en-AU" b="1" dirty="0" smtClean="0"/>
              <a:t>) x (</a:t>
            </a:r>
            <a:r>
              <a:rPr lang="en-AU" b="1" dirty="0" smtClean="0">
                <a:solidFill>
                  <a:srgbClr val="00B050"/>
                </a:solidFill>
              </a:rPr>
              <a:t>40</a:t>
            </a:r>
            <a:r>
              <a:rPr lang="en-AU" b="1" dirty="0" smtClean="0"/>
              <a:t> + </a:t>
            </a:r>
            <a:r>
              <a:rPr lang="en-AU" b="1" dirty="0">
                <a:solidFill>
                  <a:srgbClr val="00B050"/>
                </a:solidFill>
              </a:rPr>
              <a:t>7</a:t>
            </a:r>
            <a:r>
              <a:rPr lang="en-AU" b="1" dirty="0" smtClean="0">
                <a:solidFill>
                  <a:srgbClr val="00B050"/>
                </a:solidFill>
              </a:rPr>
              <a:t> </a:t>
            </a:r>
            <a:r>
              <a:rPr lang="en-AU" b="1" dirty="0" smtClean="0"/>
              <a:t>)</a:t>
            </a:r>
            <a:endParaRPr lang="en-AU" b="1" dirty="0" smtClean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6" y="2048297"/>
            <a:ext cx="2146851" cy="1091699"/>
            <a:chOff x="660398" y="3602071"/>
            <a:chExt cx="2035631" cy="8655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3 </a:t>
              </a:r>
              <a:r>
                <a:rPr lang="en-AU" dirty="0">
                  <a:solidFill>
                    <a:schemeClr val="tx1"/>
                  </a:solidFill>
                </a:rPr>
                <a:t>in using an array?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" y="2684310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2: enter the numbers on the sides of the array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247" t="49167" r="55864" b="32963"/>
          <a:stretch/>
        </p:blipFill>
        <p:spPr>
          <a:xfrm>
            <a:off x="1857814" y="3372279"/>
            <a:ext cx="3191517" cy="201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64300" y="3940208"/>
            <a:ext cx="450850" cy="37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2535688" y="3139996"/>
            <a:ext cx="205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00B0F0"/>
                </a:solidFill>
              </a:rPr>
              <a:t>20                    3             </a:t>
            </a:r>
            <a:r>
              <a:rPr lang="en-AU" b="1" dirty="0" smtClean="0"/>
              <a:t>           </a:t>
            </a:r>
            <a:endParaRPr lang="en-A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812099" y="3778590"/>
            <a:ext cx="43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00B050"/>
                </a:solidFill>
              </a:rPr>
              <a:t>40</a:t>
            </a:r>
          </a:p>
          <a:p>
            <a:endParaRPr lang="en-AU" b="1" dirty="0">
              <a:solidFill>
                <a:srgbClr val="00B050"/>
              </a:solidFill>
            </a:endParaRPr>
          </a:p>
          <a:p>
            <a:endParaRPr lang="en-AU" b="1" dirty="0" smtClean="0">
              <a:solidFill>
                <a:srgbClr val="00B050"/>
              </a:solidFill>
            </a:endParaRPr>
          </a:p>
          <a:p>
            <a:r>
              <a:rPr lang="en-AU" b="1" dirty="0" smtClean="0">
                <a:solidFill>
                  <a:srgbClr val="00B050"/>
                </a:solidFill>
              </a:rPr>
              <a:t>7</a:t>
            </a:r>
            <a:endParaRPr lang="en-AU" b="1" dirty="0">
              <a:solidFill>
                <a:srgbClr val="00B050"/>
              </a:solidFill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4884" y="5401157"/>
            <a:ext cx="1042261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3: multiply each horizontal by each vertical and enter in the array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449193" y="3755542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8</a:t>
            </a:r>
            <a:r>
              <a:rPr lang="en-AU" b="1" dirty="0" smtClean="0"/>
              <a:t>00</a:t>
            </a:r>
            <a:endParaRPr lang="en-AU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676777" y="3777811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120</a:t>
            </a:r>
            <a:endParaRPr lang="en-AU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2388981" y="4592961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140</a:t>
            </a:r>
            <a:endParaRPr lang="en-AU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3659827" y="4592961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21</a:t>
            </a:r>
            <a:endParaRPr lang="en-AU" b="1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4884" y="6070703"/>
            <a:ext cx="1042261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4: add up each number inside the array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9575800" y="4546600"/>
            <a:ext cx="2119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8</a:t>
            </a:r>
            <a:r>
              <a:rPr lang="en-AU" b="1" dirty="0" smtClean="0"/>
              <a:t>00</a:t>
            </a:r>
          </a:p>
          <a:p>
            <a:r>
              <a:rPr lang="en-AU" b="1" dirty="0" smtClean="0"/>
              <a:t>120</a:t>
            </a:r>
          </a:p>
          <a:p>
            <a:r>
              <a:rPr lang="en-AU" b="1" dirty="0" smtClean="0"/>
              <a:t>140</a:t>
            </a:r>
          </a:p>
          <a:p>
            <a:r>
              <a:rPr lang="en-AU" b="1" dirty="0"/>
              <a:t> </a:t>
            </a:r>
            <a:r>
              <a:rPr lang="en-AU" b="1" dirty="0" smtClean="0"/>
              <a:t> 21</a:t>
            </a:r>
            <a:endParaRPr lang="en-AU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9486900" y="5803900"/>
            <a:ext cx="844550" cy="6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336859" y="532936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+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9494781" y="5894246"/>
            <a:ext cx="114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1081</a:t>
            </a:r>
            <a:endParaRPr lang="en-AU" b="1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6" y="3122918"/>
            <a:ext cx="2146851" cy="1091699"/>
            <a:chOff x="660398" y="3602071"/>
            <a:chExt cx="2035631" cy="86559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44033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4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4</a:t>
              </a:r>
              <a:r>
                <a:rPr lang="en-AU" dirty="0" smtClean="0">
                  <a:solidFill>
                    <a:schemeClr val="tx1"/>
                  </a:solidFill>
                </a:rPr>
                <a:t> </a:t>
              </a:r>
              <a:r>
                <a:rPr lang="en-AU" dirty="0">
                  <a:solidFill>
                    <a:schemeClr val="tx1"/>
                  </a:solidFill>
                </a:rPr>
                <a:t>in using an array?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73929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8" grpId="0" build="p"/>
      <p:bldP spid="24" grpId="0"/>
      <p:bldP spid="7" grpId="0"/>
      <p:bldP spid="25" grpId="0" build="p"/>
      <p:bldP spid="8" grpId="0"/>
      <p:bldP spid="26" grpId="0"/>
      <p:bldP spid="27" grpId="0"/>
      <p:bldP spid="28" grpId="0"/>
      <p:bldP spid="29" grpId="0" build="p"/>
      <p:bldP spid="9" grpId="0"/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02678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Calculate 39 x 56 using an array: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6"/>
            <a:ext cx="2146850" cy="1087148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step 1 in using an array?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09175" y="1067162"/>
            <a:ext cx="2146851" cy="972123"/>
            <a:chOff x="660398" y="3602071"/>
            <a:chExt cx="2035631" cy="86559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2 </a:t>
              </a:r>
              <a:r>
                <a:rPr lang="en-AU" dirty="0">
                  <a:solidFill>
                    <a:schemeClr val="tx1"/>
                  </a:solidFill>
                </a:rPr>
                <a:t>in using an array?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" y="138089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1: split the numbers into 1s and 10s </a:t>
            </a:r>
          </a:p>
          <a:p>
            <a:pPr marL="0" indent="0">
              <a:buNone/>
            </a:pPr>
            <a:r>
              <a:rPr lang="en-AU" b="1" dirty="0" smtClean="0">
                <a:solidFill>
                  <a:srgbClr val="00B0F0"/>
                </a:solidFill>
              </a:rPr>
              <a:t>             39</a:t>
            </a:r>
            <a:r>
              <a:rPr lang="en-AU" b="1" dirty="0" smtClean="0"/>
              <a:t> x </a:t>
            </a:r>
            <a:r>
              <a:rPr lang="en-AU" b="1" dirty="0" smtClean="0">
                <a:solidFill>
                  <a:srgbClr val="00B050"/>
                </a:solidFill>
              </a:rPr>
              <a:t>56</a:t>
            </a:r>
            <a:r>
              <a:rPr lang="en-AU" b="1" dirty="0" smtClean="0"/>
              <a:t> = (</a:t>
            </a:r>
            <a:r>
              <a:rPr lang="en-AU" b="1" dirty="0">
                <a:solidFill>
                  <a:srgbClr val="00B0F0"/>
                </a:solidFill>
              </a:rPr>
              <a:t>3</a:t>
            </a:r>
            <a:r>
              <a:rPr lang="en-AU" b="1" dirty="0" smtClean="0">
                <a:solidFill>
                  <a:srgbClr val="00B0F0"/>
                </a:solidFill>
              </a:rPr>
              <a:t>0 </a:t>
            </a:r>
            <a:r>
              <a:rPr lang="en-AU" b="1" dirty="0"/>
              <a:t>+</a:t>
            </a:r>
            <a:r>
              <a:rPr lang="en-AU" b="1" dirty="0" smtClean="0">
                <a:solidFill>
                  <a:srgbClr val="00B0F0"/>
                </a:solidFill>
              </a:rPr>
              <a:t> 9 </a:t>
            </a:r>
            <a:r>
              <a:rPr lang="en-AU" b="1" dirty="0" smtClean="0"/>
              <a:t>) x (</a:t>
            </a:r>
            <a:r>
              <a:rPr lang="en-AU" b="1" dirty="0">
                <a:solidFill>
                  <a:srgbClr val="00B050"/>
                </a:solidFill>
              </a:rPr>
              <a:t>5</a:t>
            </a:r>
            <a:r>
              <a:rPr lang="en-AU" b="1" dirty="0" smtClean="0">
                <a:solidFill>
                  <a:srgbClr val="00B050"/>
                </a:solidFill>
              </a:rPr>
              <a:t>0</a:t>
            </a:r>
            <a:r>
              <a:rPr lang="en-AU" b="1" dirty="0" smtClean="0"/>
              <a:t> + </a:t>
            </a:r>
            <a:r>
              <a:rPr lang="en-AU" b="1" dirty="0" smtClean="0">
                <a:solidFill>
                  <a:srgbClr val="00B050"/>
                </a:solidFill>
              </a:rPr>
              <a:t>6 </a:t>
            </a:r>
            <a:r>
              <a:rPr lang="en-AU" b="1" dirty="0" smtClean="0"/>
              <a:t>)</a:t>
            </a:r>
            <a:endParaRPr lang="en-AU" b="1" dirty="0" smtClean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6" y="2048297"/>
            <a:ext cx="2146851" cy="1091699"/>
            <a:chOff x="660398" y="3602071"/>
            <a:chExt cx="2035631" cy="8655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3 </a:t>
              </a:r>
              <a:r>
                <a:rPr lang="en-AU" dirty="0">
                  <a:solidFill>
                    <a:schemeClr val="tx1"/>
                  </a:solidFill>
                </a:rPr>
                <a:t>in using an array?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" y="2684310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2: enter the numbers on the sides of the array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247" t="49167" r="55864" b="32963"/>
          <a:stretch/>
        </p:blipFill>
        <p:spPr>
          <a:xfrm>
            <a:off x="1857814" y="3372279"/>
            <a:ext cx="3191517" cy="201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64300" y="3940208"/>
            <a:ext cx="450850" cy="37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2535688" y="3139996"/>
            <a:ext cx="205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3</a:t>
            </a:r>
            <a:r>
              <a:rPr lang="en-AU" b="1" dirty="0" smtClean="0">
                <a:solidFill>
                  <a:srgbClr val="00B0F0"/>
                </a:solidFill>
              </a:rPr>
              <a:t>0                    </a:t>
            </a:r>
            <a:r>
              <a:rPr lang="en-AU" b="1" dirty="0">
                <a:solidFill>
                  <a:srgbClr val="00B0F0"/>
                </a:solidFill>
              </a:rPr>
              <a:t>9</a:t>
            </a:r>
            <a:r>
              <a:rPr lang="en-AU" b="1" dirty="0" smtClean="0">
                <a:solidFill>
                  <a:srgbClr val="00B0F0"/>
                </a:solidFill>
              </a:rPr>
              <a:t>             </a:t>
            </a:r>
            <a:r>
              <a:rPr lang="en-AU" b="1" dirty="0" smtClean="0"/>
              <a:t>           </a:t>
            </a:r>
            <a:endParaRPr lang="en-A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812099" y="3778590"/>
            <a:ext cx="43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50"/>
                </a:solidFill>
              </a:rPr>
              <a:t>5</a:t>
            </a:r>
            <a:r>
              <a:rPr lang="en-AU" b="1" dirty="0" smtClean="0">
                <a:solidFill>
                  <a:srgbClr val="00B050"/>
                </a:solidFill>
              </a:rPr>
              <a:t>0</a:t>
            </a:r>
          </a:p>
          <a:p>
            <a:endParaRPr lang="en-AU" b="1" dirty="0">
              <a:solidFill>
                <a:srgbClr val="00B050"/>
              </a:solidFill>
            </a:endParaRPr>
          </a:p>
          <a:p>
            <a:endParaRPr lang="en-AU" b="1" dirty="0" smtClean="0">
              <a:solidFill>
                <a:srgbClr val="00B050"/>
              </a:solidFill>
            </a:endParaRPr>
          </a:p>
          <a:p>
            <a:r>
              <a:rPr lang="en-AU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4884" y="5401157"/>
            <a:ext cx="1042261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3: multiply each horizontal by each vertical and enter in the array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4884" y="6070703"/>
            <a:ext cx="1042261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4: add up each number inside the array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6" y="3122918"/>
            <a:ext cx="2146851" cy="1091699"/>
            <a:chOff x="660398" y="3602071"/>
            <a:chExt cx="2035631" cy="86559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44033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4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4</a:t>
              </a:r>
              <a:r>
                <a:rPr lang="en-AU" dirty="0" smtClean="0">
                  <a:solidFill>
                    <a:schemeClr val="tx1"/>
                  </a:solidFill>
                </a:rPr>
                <a:t> </a:t>
              </a:r>
              <a:r>
                <a:rPr lang="en-AU" dirty="0">
                  <a:solidFill>
                    <a:schemeClr val="tx1"/>
                  </a:solidFill>
                </a:rPr>
                <a:t>in using an array?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34" name="TextBox 33"/>
          <p:cNvSpPr txBox="1"/>
          <p:nvPr/>
        </p:nvSpPr>
        <p:spPr>
          <a:xfrm>
            <a:off x="6092689" y="3276806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98024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8" grpId="0" build="p"/>
      <p:bldP spid="24" grpId="0"/>
      <p:bldP spid="7" grpId="0"/>
      <p:bldP spid="25" grpId="0" build="p"/>
      <p:bldP spid="29" grpId="0" build="p"/>
      <p:bldP spid="3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02678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Calculate 12 x 41 using an array: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6"/>
            <a:ext cx="2146850" cy="1087148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step 1 in using an array?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09175" y="1067162"/>
            <a:ext cx="2146851" cy="972123"/>
            <a:chOff x="660398" y="3602071"/>
            <a:chExt cx="2035631" cy="86559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2 </a:t>
              </a:r>
              <a:r>
                <a:rPr lang="en-AU" dirty="0">
                  <a:solidFill>
                    <a:schemeClr val="tx1"/>
                  </a:solidFill>
                </a:rPr>
                <a:t>in using an array?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" y="138089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1: split the numbers into 1s and 10s </a:t>
            </a:r>
          </a:p>
          <a:p>
            <a:pPr marL="0" indent="0">
              <a:buNone/>
            </a:pPr>
            <a:r>
              <a:rPr lang="en-AU" b="1" dirty="0" smtClean="0">
                <a:solidFill>
                  <a:srgbClr val="00B0F0"/>
                </a:solidFill>
              </a:rPr>
              <a:t>             12</a:t>
            </a:r>
            <a:r>
              <a:rPr lang="en-AU" b="1" dirty="0" smtClean="0"/>
              <a:t> x </a:t>
            </a:r>
            <a:r>
              <a:rPr lang="en-AU" b="1" dirty="0" smtClean="0">
                <a:solidFill>
                  <a:srgbClr val="00B050"/>
                </a:solidFill>
              </a:rPr>
              <a:t>41</a:t>
            </a:r>
            <a:r>
              <a:rPr lang="en-AU" b="1" dirty="0" smtClean="0"/>
              <a:t> = (</a:t>
            </a:r>
            <a:r>
              <a:rPr lang="en-AU" b="1" dirty="0" smtClean="0">
                <a:solidFill>
                  <a:srgbClr val="00B0F0"/>
                </a:solidFill>
              </a:rPr>
              <a:t>10 </a:t>
            </a:r>
            <a:r>
              <a:rPr lang="en-AU" b="1" dirty="0"/>
              <a:t>+</a:t>
            </a:r>
            <a:r>
              <a:rPr lang="en-AU" b="1" dirty="0" smtClean="0">
                <a:solidFill>
                  <a:srgbClr val="00B0F0"/>
                </a:solidFill>
              </a:rPr>
              <a:t> </a:t>
            </a:r>
            <a:r>
              <a:rPr lang="en-AU" b="1" dirty="0">
                <a:solidFill>
                  <a:srgbClr val="00B0F0"/>
                </a:solidFill>
              </a:rPr>
              <a:t>2</a:t>
            </a:r>
            <a:r>
              <a:rPr lang="en-AU" b="1" dirty="0" smtClean="0">
                <a:solidFill>
                  <a:srgbClr val="00B0F0"/>
                </a:solidFill>
              </a:rPr>
              <a:t> </a:t>
            </a:r>
            <a:r>
              <a:rPr lang="en-AU" b="1" dirty="0" smtClean="0"/>
              <a:t>) x (</a:t>
            </a:r>
            <a:r>
              <a:rPr lang="en-AU" b="1" dirty="0" smtClean="0">
                <a:solidFill>
                  <a:srgbClr val="00B050"/>
                </a:solidFill>
              </a:rPr>
              <a:t>40</a:t>
            </a:r>
            <a:r>
              <a:rPr lang="en-AU" b="1" dirty="0" smtClean="0"/>
              <a:t> + </a:t>
            </a:r>
            <a:r>
              <a:rPr lang="en-AU" b="1" dirty="0" smtClean="0">
                <a:solidFill>
                  <a:srgbClr val="00B050"/>
                </a:solidFill>
              </a:rPr>
              <a:t>1 </a:t>
            </a:r>
            <a:r>
              <a:rPr lang="en-AU" b="1" dirty="0" smtClean="0"/>
              <a:t>)</a:t>
            </a:r>
            <a:endParaRPr lang="en-AU" b="1" dirty="0" smtClean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6" y="2048297"/>
            <a:ext cx="2146851" cy="1091699"/>
            <a:chOff x="660398" y="3602071"/>
            <a:chExt cx="2035631" cy="8655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3 </a:t>
              </a:r>
              <a:r>
                <a:rPr lang="en-AU" dirty="0">
                  <a:solidFill>
                    <a:schemeClr val="tx1"/>
                  </a:solidFill>
                </a:rPr>
                <a:t>in using an array?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" y="2684310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2: enter the numbers on the sides of the array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247" t="49167" r="55864" b="32963"/>
          <a:stretch/>
        </p:blipFill>
        <p:spPr>
          <a:xfrm>
            <a:off x="1857814" y="3372279"/>
            <a:ext cx="3191517" cy="201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64300" y="3940208"/>
            <a:ext cx="450850" cy="37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6" y="3122918"/>
            <a:ext cx="2146851" cy="1091699"/>
            <a:chOff x="660398" y="3602071"/>
            <a:chExt cx="2035631" cy="86559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44033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4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4</a:t>
              </a:r>
              <a:r>
                <a:rPr lang="en-AU" dirty="0" smtClean="0">
                  <a:solidFill>
                    <a:schemeClr val="tx1"/>
                  </a:solidFill>
                </a:rPr>
                <a:t> </a:t>
              </a:r>
              <a:r>
                <a:rPr lang="en-AU" dirty="0">
                  <a:solidFill>
                    <a:schemeClr val="tx1"/>
                  </a:solidFill>
                </a:rPr>
                <a:t>in using an array?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34" name="TextBox 33"/>
          <p:cNvSpPr txBox="1"/>
          <p:nvPr/>
        </p:nvSpPr>
        <p:spPr>
          <a:xfrm>
            <a:off x="6689725" y="3111868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19306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8" grpId="0" build="p"/>
      <p:bldP spid="3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02678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Calculate 12 x 41 using an array: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6464300" y="3940208"/>
            <a:ext cx="450850" cy="37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24" name="TextBox 23"/>
          <p:cNvSpPr txBox="1"/>
          <p:nvPr/>
        </p:nvSpPr>
        <p:spPr>
          <a:xfrm>
            <a:off x="6104919" y="116505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0" y="3609362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Calculate 23 x 84 using an array: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863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84AD6CD-2DC4-4B5D-AD09-1A8D829939F5}"/>
              </a:ext>
            </a:extLst>
          </p:cNvPr>
          <p:cNvSpPr txBox="1"/>
          <p:nvPr/>
        </p:nvSpPr>
        <p:spPr>
          <a:xfrm>
            <a:off x="0" y="0"/>
            <a:ext cx="231140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Closure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C25B51-5C6C-4C99-A581-743B79CF847B}"/>
              </a:ext>
            </a:extLst>
          </p:cNvPr>
          <p:cNvSpPr txBox="1">
            <a:spLocks/>
          </p:cNvSpPr>
          <p:nvPr/>
        </p:nvSpPr>
        <p:spPr>
          <a:xfrm>
            <a:off x="2434620" y="-88976"/>
            <a:ext cx="960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>
                <a:latin typeface="Arial Black" panose="020B0A04020102020204" pitchFamily="34" charset="0"/>
              </a:rPr>
              <a:t>What have we learnt today?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781" y="885855"/>
            <a:ext cx="4432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 Black" panose="020B0A04020102020204" pitchFamily="34" charset="0"/>
              </a:rPr>
              <a:t>Lesson Objectives: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001D6D-24F0-4E0D-BA00-2E146786E7EB}"/>
              </a:ext>
            </a:extLst>
          </p:cNvPr>
          <p:cNvSpPr txBox="1"/>
          <p:nvPr/>
        </p:nvSpPr>
        <p:spPr>
          <a:xfrm>
            <a:off x="462434" y="1449919"/>
            <a:ext cx="10949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cs typeface="Arial" panose="020B0604020202020204" pitchFamily="34" charset="0"/>
              </a:rPr>
              <a:t>I will use an array to multiply two and three digit numbers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4884" y="193209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1: split the numbers into 1s and 10s </a:t>
            </a:r>
          </a:p>
          <a:p>
            <a:pPr marL="0" indent="0">
              <a:buNone/>
            </a:pPr>
            <a:r>
              <a:rPr lang="en-AU" b="1" dirty="0" smtClean="0">
                <a:solidFill>
                  <a:srgbClr val="00B0F0"/>
                </a:solidFill>
              </a:rPr>
              <a:t>             22</a:t>
            </a:r>
            <a:r>
              <a:rPr lang="en-AU" b="1" dirty="0" smtClean="0"/>
              <a:t> x </a:t>
            </a:r>
            <a:r>
              <a:rPr lang="en-AU" b="1" dirty="0" smtClean="0">
                <a:solidFill>
                  <a:srgbClr val="00B050"/>
                </a:solidFill>
              </a:rPr>
              <a:t>15</a:t>
            </a:r>
            <a:r>
              <a:rPr lang="en-AU" b="1" dirty="0" smtClean="0"/>
              <a:t> = (</a:t>
            </a:r>
            <a:r>
              <a:rPr lang="en-AU" b="1" dirty="0" smtClean="0">
                <a:solidFill>
                  <a:srgbClr val="00B0F0"/>
                </a:solidFill>
              </a:rPr>
              <a:t>20 </a:t>
            </a:r>
            <a:r>
              <a:rPr lang="en-AU" b="1" dirty="0"/>
              <a:t>+</a:t>
            </a:r>
            <a:r>
              <a:rPr lang="en-AU" b="1" dirty="0" smtClean="0">
                <a:solidFill>
                  <a:srgbClr val="00B0F0"/>
                </a:solidFill>
              </a:rPr>
              <a:t> 2 </a:t>
            </a:r>
            <a:r>
              <a:rPr lang="en-AU" b="1" dirty="0" smtClean="0"/>
              <a:t>) x (</a:t>
            </a:r>
            <a:r>
              <a:rPr lang="en-AU" b="1" dirty="0" smtClean="0">
                <a:solidFill>
                  <a:srgbClr val="00B050"/>
                </a:solidFill>
              </a:rPr>
              <a:t>10</a:t>
            </a:r>
            <a:r>
              <a:rPr lang="en-AU" b="1" dirty="0" smtClean="0"/>
              <a:t> + </a:t>
            </a:r>
            <a:r>
              <a:rPr lang="en-AU" b="1" dirty="0">
                <a:solidFill>
                  <a:srgbClr val="00B050"/>
                </a:solidFill>
              </a:rPr>
              <a:t>5</a:t>
            </a:r>
            <a:r>
              <a:rPr lang="en-AU" b="1" dirty="0" smtClean="0">
                <a:solidFill>
                  <a:srgbClr val="00B050"/>
                </a:solidFill>
              </a:rPr>
              <a:t> </a:t>
            </a:r>
            <a:r>
              <a:rPr lang="en-AU" b="1" dirty="0" smtClean="0"/>
              <a:t>)</a:t>
            </a:r>
            <a:endParaRPr lang="en-AU" b="1" dirty="0" smtClean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0" y="2816006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2: enter the numbers on the sides of the array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l="25247" t="49167" r="55864" b="32963"/>
          <a:stretch/>
        </p:blipFill>
        <p:spPr>
          <a:xfrm>
            <a:off x="1857814" y="3372279"/>
            <a:ext cx="3191517" cy="2012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64300" y="3940208"/>
            <a:ext cx="450850" cy="37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535688" y="3139996"/>
            <a:ext cx="205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00B0F0"/>
                </a:solidFill>
              </a:rPr>
              <a:t>20                    2              </a:t>
            </a:r>
            <a:r>
              <a:rPr lang="en-AU" b="1" dirty="0" smtClean="0"/>
              <a:t>           </a:t>
            </a:r>
            <a:endParaRPr lang="en-AU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812099" y="3778590"/>
            <a:ext cx="43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00B050"/>
                </a:solidFill>
              </a:rPr>
              <a:t>10</a:t>
            </a:r>
          </a:p>
          <a:p>
            <a:endParaRPr lang="en-AU" b="1" dirty="0">
              <a:solidFill>
                <a:srgbClr val="00B050"/>
              </a:solidFill>
            </a:endParaRPr>
          </a:p>
          <a:p>
            <a:endParaRPr lang="en-AU" b="1" dirty="0" smtClean="0">
              <a:solidFill>
                <a:srgbClr val="00B050"/>
              </a:solidFill>
            </a:endParaRPr>
          </a:p>
          <a:p>
            <a:r>
              <a:rPr lang="en-AU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4884" y="5401157"/>
            <a:ext cx="1042261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3: multiply each horizontal by each vertical and enter in the array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2449193" y="3755542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200</a:t>
            </a:r>
            <a:endParaRPr lang="en-AU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3676777" y="3777811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2</a:t>
            </a:r>
            <a:r>
              <a:rPr lang="en-AU" b="1" dirty="0" smtClean="0"/>
              <a:t>0</a:t>
            </a:r>
            <a:endParaRPr lang="en-AU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2388981" y="4592961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100</a:t>
            </a:r>
            <a:endParaRPr lang="en-AU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3659827" y="4592961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10</a:t>
            </a:r>
            <a:endParaRPr lang="en-AU" b="1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4884" y="6070703"/>
            <a:ext cx="1042261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 smtClean="0"/>
              <a:t>Step 4: add up each number inside the array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9486900" y="5803900"/>
            <a:ext cx="844550" cy="6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336859" y="532936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+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9636941" y="5873366"/>
            <a:ext cx="114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330</a:t>
            </a:r>
            <a:endParaRPr lang="en-AU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9575800" y="4546600"/>
            <a:ext cx="2119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200</a:t>
            </a:r>
          </a:p>
          <a:p>
            <a:r>
              <a:rPr lang="en-AU" b="1" dirty="0" smtClean="0"/>
              <a:t>100</a:t>
            </a:r>
          </a:p>
          <a:p>
            <a:r>
              <a:rPr lang="en-AU" b="1" dirty="0"/>
              <a:t> </a:t>
            </a:r>
            <a:r>
              <a:rPr lang="en-AU" b="1" dirty="0" smtClean="0"/>
              <a:t> 20</a:t>
            </a:r>
          </a:p>
          <a:p>
            <a:r>
              <a:rPr lang="en-AU" b="1" dirty="0"/>
              <a:t> </a:t>
            </a:r>
            <a:r>
              <a:rPr lang="en-AU" b="1" dirty="0" smtClean="0"/>
              <a:t> 10</a:t>
            </a:r>
            <a:endParaRPr lang="en-AU" b="1" dirty="0"/>
          </a:p>
        </p:txBody>
      </p:sp>
      <p:pic>
        <p:nvPicPr>
          <p:cNvPr id="1026" name="Picture 2" descr="Image result for math meme funn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4903" y="1995728"/>
            <a:ext cx="2828544" cy="2535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9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7" grpId="0" build="p"/>
      <p:bldP spid="8" grpId="0" build="p"/>
      <p:bldP spid="16" grpId="0"/>
      <p:bldP spid="17" grpId="0"/>
      <p:bldP spid="18" grpId="0" build="p"/>
      <p:bldP spid="19" grpId="0"/>
      <p:bldP spid="20" grpId="0"/>
      <p:bldP spid="21" grpId="0"/>
      <p:bldP spid="22" grpId="0"/>
      <p:bldP spid="23" grpId="0" build="p"/>
      <p:bldP spid="25" grpId="0"/>
      <p:bldP spid="26" grpId="0"/>
      <p:bldP spid="2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48" y="791955"/>
            <a:ext cx="11738113" cy="5887141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Open your textbooks to: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Chapter</a:t>
            </a:r>
            <a:r>
              <a:rPr lang="en-AU" dirty="0"/>
              <a:t> </a:t>
            </a:r>
            <a:r>
              <a:rPr lang="en-AU" dirty="0" smtClean="0"/>
              <a:t>1.3 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Questions</a:t>
            </a:r>
            <a:r>
              <a:rPr lang="en-AU" b="1" dirty="0" smtClean="0"/>
              <a:t>: </a:t>
            </a:r>
            <a:r>
              <a:rPr lang="en-AU" dirty="0" smtClean="0"/>
              <a:t>2, 3, 4 (2 columns) 5, 6</a:t>
            </a: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75EB-6091-42EA-BFE3-7246037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94" y="2302057"/>
            <a:ext cx="3554706" cy="451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742" y="791955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2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1238</TotalTime>
  <Words>1688</Words>
  <Application>Microsoft Office PowerPoint</Application>
  <PresentationFormat>Widescreen</PresentationFormat>
  <Paragraphs>316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 Diep</dc:creator>
  <cp:lastModifiedBy>STEDMAN Shaun [Harrisdale Senior High School]</cp:lastModifiedBy>
  <cp:revision>142</cp:revision>
  <dcterms:created xsi:type="dcterms:W3CDTF">2019-01-02T02:05:22Z</dcterms:created>
  <dcterms:modified xsi:type="dcterms:W3CDTF">2022-01-31T04:19:33Z</dcterms:modified>
</cp:coreProperties>
</file>
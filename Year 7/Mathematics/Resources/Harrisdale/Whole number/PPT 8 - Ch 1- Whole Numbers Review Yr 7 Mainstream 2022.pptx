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37" r:id="rId2"/>
    <p:sldId id="385" r:id="rId3"/>
    <p:sldId id="321" r:id="rId4"/>
    <p:sldId id="647" r:id="rId5"/>
    <p:sldId id="648" r:id="rId6"/>
    <p:sldId id="325" r:id="rId7"/>
    <p:sldId id="327" r:id="rId8"/>
    <p:sldId id="343" r:id="rId9"/>
    <p:sldId id="347" r:id="rId10"/>
    <p:sldId id="365" r:id="rId11"/>
    <p:sldId id="378" r:id="rId12"/>
    <p:sldId id="631" r:id="rId13"/>
    <p:sldId id="632" r:id="rId14"/>
    <p:sldId id="633" r:id="rId15"/>
    <p:sldId id="636" r:id="rId16"/>
    <p:sldId id="639" r:id="rId17"/>
    <p:sldId id="638" r:id="rId18"/>
    <p:sldId id="640" r:id="rId19"/>
    <p:sldId id="641" r:id="rId20"/>
    <p:sldId id="634" r:id="rId21"/>
    <p:sldId id="635" r:id="rId22"/>
    <p:sldId id="646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" initials="E" lastIdx="1" clrIdx="0">
    <p:extLst>
      <p:ext uri="{19B8F6BF-5375-455C-9EA6-DF929625EA0E}">
        <p15:presenceInfo xmlns:p15="http://schemas.microsoft.com/office/powerpoint/2012/main" userId="El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>
        <p:scale>
          <a:sx n="84" d="100"/>
          <a:sy n="84" d="100"/>
        </p:scale>
        <p:origin x="69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16/12/2021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review my work on whole numbers.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8" y="846559"/>
            <a:ext cx="9409409" cy="9187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rgbClr val="C00000"/>
                </a:solidFill>
              </a:rPr>
              <a:t>Commutative law </a:t>
            </a:r>
            <a:r>
              <a:rPr lang="en-AU" sz="3200" b="1" dirty="0"/>
              <a:t>– the order in which I add or multiply </a:t>
            </a:r>
            <a:r>
              <a:rPr lang="en-AU" sz="3200" b="1" i="1" dirty="0"/>
              <a:t>any two numbers </a:t>
            </a:r>
            <a:r>
              <a:rPr lang="en-AU" sz="3200" b="1" dirty="0"/>
              <a:t>does not change the answer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12183" y="2917563"/>
            <a:ext cx="182167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7 x 5 = 35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10045149" y="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does the commutative law state?</a:t>
              </a: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664444" y="2914200"/>
            <a:ext cx="182167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5 x 7 = 35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12183" y="4109227"/>
            <a:ext cx="182167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7 + 8 =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664444" y="4111524"/>
            <a:ext cx="182167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8 + 7 =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16BD8E-CB7A-4D37-B7E9-272120B92CF9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4A3AEC2-5E9A-4C20-A08E-9E6E4C475C5E}"/>
              </a:ext>
            </a:extLst>
          </p:cNvPr>
          <p:cNvGrpSpPr/>
          <p:nvPr/>
        </p:nvGrpSpPr>
        <p:grpSpPr>
          <a:xfrm>
            <a:off x="10045149" y="1722377"/>
            <a:ext cx="2146851" cy="1594940"/>
            <a:chOff x="660398" y="3602071"/>
            <a:chExt cx="2035631" cy="11345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55DF9B-9719-43D6-BD84-3ECCE78CA6BD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D9C938-CA9A-4C5B-8CA5-0AE0E9865A62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Write another example of the commutative law.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301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/>
      <p:bldP spid="14" grpId="0" build="p"/>
      <p:bldP spid="15" grpId="0" build="p"/>
      <p:bldP spid="1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rgbClr val="C00000"/>
                </a:solidFill>
              </a:rPr>
              <a:t>Associative law </a:t>
            </a:r>
            <a:r>
              <a:rPr lang="en-AU" sz="3200" b="1" dirty="0"/>
              <a:t>– the order in which </a:t>
            </a:r>
            <a:r>
              <a:rPr lang="en-AU" sz="3200" b="1" i="1" dirty="0"/>
              <a:t>3 or more numbers </a:t>
            </a:r>
            <a:r>
              <a:rPr lang="en-AU" sz="3200" b="1" dirty="0"/>
              <a:t>are added or multiplied, does not change the results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42054" y="2640323"/>
            <a:ext cx="324969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2 </a:t>
            </a:r>
            <a:r>
              <a:rPr lang="en-AU" sz="3200" b="1" dirty="0"/>
              <a:t>x </a:t>
            </a:r>
            <a:r>
              <a:rPr lang="en-AU" sz="3200" b="1" dirty="0" smtClean="0"/>
              <a:t>3 </a:t>
            </a:r>
            <a:r>
              <a:rPr lang="en-AU" sz="3200" b="1" dirty="0"/>
              <a:t>x 5 = 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10045149" y="0"/>
            <a:ext cx="2146851" cy="1594940"/>
            <a:chOff x="660398" y="3602071"/>
            <a:chExt cx="2035631" cy="113453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does the associative law state?</a:t>
              </a:r>
            </a:p>
          </p:txBody>
        </p:sp>
      </p:grpSp>
      <p:pic>
        <p:nvPicPr>
          <p:cNvPr id="2050" name="Picture 2" descr="Men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236" y="4438423"/>
            <a:ext cx="2319131" cy="231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846872" y="2617860"/>
            <a:ext cx="270676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3 </a:t>
            </a:r>
            <a:r>
              <a:rPr lang="en-AU" sz="3200" b="1" dirty="0"/>
              <a:t>x </a:t>
            </a:r>
            <a:r>
              <a:rPr lang="en-AU" sz="3200" b="1" dirty="0" smtClean="0"/>
              <a:t>5 x 2 </a:t>
            </a:r>
            <a:r>
              <a:rPr lang="en-AU" sz="3200" b="1" dirty="0"/>
              <a:t>=30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42054" y="4600620"/>
            <a:ext cx="270676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6 </a:t>
            </a:r>
            <a:r>
              <a:rPr lang="en-AU" sz="3200" b="1" dirty="0"/>
              <a:t>+ </a:t>
            </a:r>
            <a:r>
              <a:rPr lang="en-AU" sz="3200" b="1" dirty="0" smtClean="0"/>
              <a:t>7 </a:t>
            </a:r>
            <a:r>
              <a:rPr lang="en-AU" sz="3200" b="1" dirty="0"/>
              <a:t>+ 8 = 21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846872" y="4600620"/>
            <a:ext cx="270676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7 </a:t>
            </a:r>
            <a:r>
              <a:rPr lang="en-AU" sz="3200" b="1" dirty="0"/>
              <a:t>+ </a:t>
            </a:r>
            <a:r>
              <a:rPr lang="en-AU" sz="3200" b="1" dirty="0" smtClean="0"/>
              <a:t>6 + 8</a:t>
            </a:r>
            <a:r>
              <a:rPr lang="en-AU" sz="3200" b="1" dirty="0" smtClean="0"/>
              <a:t> </a:t>
            </a:r>
            <a:r>
              <a:rPr lang="en-AU" sz="3200" b="1" dirty="0"/>
              <a:t>= 21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C4C7BA-CFFF-47AA-A036-0D34BA30FC57}"/>
              </a:ext>
            </a:extLst>
          </p:cNvPr>
          <p:cNvGrpSpPr/>
          <p:nvPr/>
        </p:nvGrpSpPr>
        <p:grpSpPr>
          <a:xfrm>
            <a:off x="10045149" y="1722377"/>
            <a:ext cx="2146851" cy="1594940"/>
            <a:chOff x="660398" y="3602071"/>
            <a:chExt cx="2035631" cy="11345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106522-CD0A-4706-BC35-C353D754B948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A22BEE-66DC-455D-BE9A-23A7D5BC54A2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Write another example of the associative law.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58D9D7C-079D-4073-A519-FA19693DCBB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31833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 build="p"/>
      <p:bldP spid="14" grpId="0" build="p"/>
      <p:bldP spid="15" grpId="0" build="p"/>
      <p:bldP spid="1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examples of the commutative law?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3 + </a:t>
            </a:r>
            <a:r>
              <a:rPr lang="en-AU" sz="3200" dirty="0" smtClean="0"/>
              <a:t>7 </a:t>
            </a:r>
            <a:r>
              <a:rPr lang="en-AU" sz="3200" dirty="0" smtClean="0"/>
              <a:t>= </a:t>
            </a:r>
            <a:r>
              <a:rPr lang="en-AU" sz="3200" dirty="0" smtClean="0"/>
              <a:t>7 </a:t>
            </a:r>
            <a:r>
              <a:rPr lang="en-AU" sz="3200" dirty="0" smtClean="0"/>
              <a:t>+ 3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5 x 6 = 6 x </a:t>
            </a:r>
            <a:r>
              <a:rPr lang="en-AU" sz="3200" dirty="0" smtClean="0"/>
              <a:t>6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10 + 6 = </a:t>
            </a:r>
            <a:r>
              <a:rPr lang="en-AU" sz="3200" dirty="0" smtClean="0"/>
              <a:t>6 + 10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4 + 2 + 10 = 10 + 4 + 2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</a:t>
            </a:r>
            <a:r>
              <a:rPr lang="en-AU" sz="3200" dirty="0" smtClean="0"/>
              <a:t>4 </a:t>
            </a:r>
            <a:r>
              <a:rPr lang="en-AU" sz="3200" dirty="0" smtClean="0"/>
              <a:t>x 8 </a:t>
            </a:r>
            <a:r>
              <a:rPr lang="en-AU" sz="3200" dirty="0" smtClean="0"/>
              <a:t>= 8 </a:t>
            </a:r>
            <a:r>
              <a:rPr lang="en-AU" sz="3200" dirty="0" smtClean="0"/>
              <a:t>x 4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3 x 4 </a:t>
            </a:r>
            <a:r>
              <a:rPr lang="en-AU" sz="3200" dirty="0" smtClean="0"/>
              <a:t>x 10 = 10 x 4 x 3</a:t>
            </a:r>
            <a:endParaRPr lang="en-A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6495011" y="72044"/>
            <a:ext cx="517605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There may be more than one!!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3288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examples of the associative law?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3.2 + 7.4 = 7.4 + 3.2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17 x </a:t>
            </a:r>
            <a:r>
              <a:rPr lang="en-AU" sz="3200" dirty="0" smtClean="0"/>
              <a:t>3 x 6 </a:t>
            </a:r>
            <a:r>
              <a:rPr lang="en-AU" sz="3200" dirty="0" smtClean="0"/>
              <a:t>= 6 x </a:t>
            </a:r>
            <a:r>
              <a:rPr lang="en-AU" sz="3200" dirty="0" smtClean="0"/>
              <a:t>17 x 3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B:      10 + 6 = 5 + 5 + 3 + 3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D:     4 + 2 + 10 = 10 + 4 + 2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3 x 4 x </a:t>
            </a:r>
            <a:r>
              <a:rPr lang="en-AU" sz="3200" dirty="0" smtClean="0"/>
              <a:t>18 </a:t>
            </a:r>
            <a:r>
              <a:rPr lang="en-AU" sz="3200" dirty="0" smtClean="0"/>
              <a:t>= 3 x 8 x </a:t>
            </a:r>
            <a:r>
              <a:rPr lang="en-AU" sz="3200" dirty="0" smtClean="0"/>
              <a:t>14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3 x 4 x 7 = 7 x 4 x 3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86510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We will now add using the </a:t>
            </a:r>
            <a:r>
              <a:rPr lang="en-AU" b="1" dirty="0">
                <a:solidFill>
                  <a:srgbClr val="C00000"/>
                </a:solidFill>
              </a:rPr>
              <a:t>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2494988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7 + 32 + 13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2494988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= 7 + 13 + 32</a:t>
            </a: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2494988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= </a:t>
            </a:r>
            <a:r>
              <a:rPr lang="en-AU" sz="3200" b="1" dirty="0">
                <a:solidFill>
                  <a:srgbClr val="FF0000"/>
                </a:solidFill>
              </a:rPr>
              <a:t>20 </a:t>
            </a:r>
            <a:r>
              <a:rPr lang="en-AU" sz="3200" b="1" dirty="0"/>
              <a:t>+ 32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2494988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= </a:t>
            </a:r>
            <a:r>
              <a:rPr lang="en-AU" sz="3200" b="1" dirty="0">
                <a:solidFill>
                  <a:srgbClr val="FF0000"/>
                </a:solidFill>
              </a:rPr>
              <a:t>52</a:t>
            </a: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6C91E7-367D-45D8-9D67-962497D6D685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DC66211-6884-4D9E-AC20-0BC2B49B853B}"/>
              </a:ext>
            </a:extLst>
          </p:cNvPr>
          <p:cNvSpPr txBox="1">
            <a:spLocks/>
          </p:cNvSpPr>
          <p:nvPr/>
        </p:nvSpPr>
        <p:spPr>
          <a:xfrm>
            <a:off x="4469462" y="1955290"/>
            <a:ext cx="4861253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4</a:t>
            </a:r>
            <a:r>
              <a:rPr lang="en-AU" sz="3200" b="1" dirty="0" smtClean="0"/>
              <a:t> </a:t>
            </a:r>
            <a:r>
              <a:rPr lang="en-AU" sz="3200" b="1" dirty="0"/>
              <a:t>x </a:t>
            </a:r>
            <a:r>
              <a:rPr lang="en-AU" sz="3200" b="1" dirty="0" smtClean="0"/>
              <a:t>7 </a:t>
            </a:r>
            <a:r>
              <a:rPr lang="en-AU" sz="3200" b="1" dirty="0"/>
              <a:t>x 5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8BFF05AA-DE2B-4BCB-8B81-C2D7F020134E}"/>
              </a:ext>
            </a:extLst>
          </p:cNvPr>
          <p:cNvSpPr txBox="1">
            <a:spLocks/>
          </p:cNvSpPr>
          <p:nvPr/>
        </p:nvSpPr>
        <p:spPr>
          <a:xfrm>
            <a:off x="7644973" y="1966049"/>
            <a:ext cx="4800354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5 x </a:t>
            </a:r>
            <a:r>
              <a:rPr lang="en-AU" sz="3200" b="1" dirty="0" smtClean="0"/>
              <a:t>81</a:t>
            </a:r>
            <a:r>
              <a:rPr lang="en-AU" sz="3200" b="1" dirty="0" smtClean="0"/>
              <a:t> </a:t>
            </a:r>
            <a:r>
              <a:rPr lang="en-AU" sz="3200" b="1" dirty="0"/>
              <a:t>x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5445998" y="1365745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71100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/>
      <p:bldP spid="40" grpId="0" build="p"/>
      <p:bldP spid="19" grpId="0" build="p"/>
      <p:bldP spid="20" grpId="0" build="p"/>
      <p:bldP spid="25" grpId="0"/>
      <p:bldP spid="29" grpId="0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We will now add using the </a:t>
            </a:r>
            <a:r>
              <a:rPr lang="en-AU" b="1" dirty="0">
                <a:solidFill>
                  <a:srgbClr val="C00000"/>
                </a:solidFill>
              </a:rPr>
              <a:t>‘make easy numbers’ strategy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B7BD2F-3E41-4666-9423-6504EF550CDD}"/>
              </a:ext>
            </a:extLst>
          </p:cNvPr>
          <p:cNvGrpSpPr/>
          <p:nvPr/>
        </p:nvGrpSpPr>
        <p:grpSpPr>
          <a:xfrm>
            <a:off x="10045150" y="0"/>
            <a:ext cx="2146850" cy="1365083"/>
            <a:chOff x="660399" y="3602071"/>
            <a:chExt cx="2035630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71421F4-0FD3-4306-AB8B-AC3112E2199C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 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A591B49-2139-4D2E-A0CF-CA941EFFA339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did we subtract 7 from 568?</a:t>
              </a:r>
            </a:p>
          </p:txBody>
        </p:sp>
      </p:grp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1493" y="1946367"/>
            <a:ext cx="2854483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293 + 568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70819" y="2825189"/>
            <a:ext cx="2854483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= 293 + 7 + 561</a:t>
            </a: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3848717"/>
            <a:ext cx="2854483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= </a:t>
            </a:r>
            <a:r>
              <a:rPr lang="en-AU" sz="3200" b="1" dirty="0">
                <a:solidFill>
                  <a:srgbClr val="FF0000"/>
                </a:solidFill>
              </a:rPr>
              <a:t>300 </a:t>
            </a:r>
            <a:r>
              <a:rPr lang="en-AU" sz="3200" b="1" dirty="0"/>
              <a:t>+ 561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06858" y="4821605"/>
            <a:ext cx="2854483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= </a:t>
            </a:r>
            <a:r>
              <a:rPr lang="en-AU" sz="3200" b="1" dirty="0">
                <a:solidFill>
                  <a:srgbClr val="FF0000"/>
                </a:solidFill>
              </a:rPr>
              <a:t>861</a:t>
            </a: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F7492-DC3E-46BF-9C1C-FF1A0AA3FC6C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13DE92-E3A0-4578-B478-CE6A30C42332}"/>
              </a:ext>
            </a:extLst>
          </p:cNvPr>
          <p:cNvCxnSpPr/>
          <p:nvPr/>
        </p:nvCxnSpPr>
        <p:spPr>
          <a:xfrm flipH="1">
            <a:off x="1721796" y="2402732"/>
            <a:ext cx="175098" cy="422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688F23-BEE1-4DFB-8FE5-304FBC7E1318}"/>
              </a:ext>
            </a:extLst>
          </p:cNvPr>
          <p:cNvCxnSpPr>
            <a:cxnSpLocks/>
          </p:cNvCxnSpPr>
          <p:nvPr/>
        </p:nvCxnSpPr>
        <p:spPr>
          <a:xfrm>
            <a:off x="1896894" y="2402732"/>
            <a:ext cx="437744" cy="4224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5F95B4D-D028-4B11-81DB-D90F859C5C68}"/>
              </a:ext>
            </a:extLst>
          </p:cNvPr>
          <p:cNvSpPr txBox="1">
            <a:spLocks/>
          </p:cNvSpPr>
          <p:nvPr/>
        </p:nvSpPr>
        <p:spPr>
          <a:xfrm>
            <a:off x="4612318" y="1946367"/>
            <a:ext cx="2854483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198 + 342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6BCBF45-1885-4BDD-BA42-B01268E98F42}"/>
              </a:ext>
            </a:extLst>
          </p:cNvPr>
          <p:cNvSpPr txBox="1">
            <a:spLocks/>
          </p:cNvSpPr>
          <p:nvPr/>
        </p:nvSpPr>
        <p:spPr>
          <a:xfrm>
            <a:off x="8842206" y="1946367"/>
            <a:ext cx="2854483" cy="658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695 + 226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5445998" y="136687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42231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uild="p"/>
      <p:bldP spid="40" grpId="0"/>
      <p:bldP spid="19" grpId="0" build="p"/>
      <p:bldP spid="20" grpId="0" build="p"/>
      <p:bldP spid="21" grpId="0"/>
      <p:bldP spid="27" grpId="0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rgbClr val="C00000"/>
                </a:solidFill>
              </a:rPr>
              <a:t>Distributive law </a:t>
            </a:r>
            <a:r>
              <a:rPr lang="en-AU" sz="3200" b="1" dirty="0"/>
              <a:t>– we split large numbers into 1s, 10s and 100s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232891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>
                <a:solidFill>
                  <a:srgbClr val="7030A0"/>
                </a:solidFill>
              </a:rPr>
              <a:t>16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93823" y="323353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16 is a large number so we split it into 10 + 6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649" y="3264401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1EB3EB-A966-4560-948B-DE3C86391E1D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A3109A-BB52-4E47-BC6D-84CDD31E2C74}"/>
              </a:ext>
            </a:extLst>
          </p:cNvPr>
          <p:cNvGrpSpPr/>
          <p:nvPr/>
        </p:nvGrpSpPr>
        <p:grpSpPr>
          <a:xfrm>
            <a:off x="10045149" y="0"/>
            <a:ext cx="2146851" cy="1594940"/>
            <a:chOff x="660398" y="3602071"/>
            <a:chExt cx="2035631" cy="113453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8CEDA7D-E5FE-4B7E-867F-BE60B0A3E90D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3C1E35-0763-4C1E-9488-1553A826E7C7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does the distributive law involve?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FC5AFA-C7F0-4012-BBBA-2B0435C9289D}"/>
              </a:ext>
            </a:extLst>
          </p:cNvPr>
          <p:cNvGrpSpPr/>
          <p:nvPr/>
        </p:nvGrpSpPr>
        <p:grpSpPr>
          <a:xfrm>
            <a:off x="10045149" y="1722377"/>
            <a:ext cx="2146851" cy="1594940"/>
            <a:chOff x="660398" y="3602071"/>
            <a:chExt cx="2035631" cy="11345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D94A6A-05B7-4487-9684-27D85FF67679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18931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EA594F-A650-447C-BE5D-6F354AFECBAB}"/>
                </a:ext>
              </a:extLst>
            </p:cNvPr>
            <p:cNvSpPr/>
            <p:nvPr/>
          </p:nvSpPr>
          <p:spPr>
            <a:xfrm>
              <a:off x="660398" y="3842961"/>
              <a:ext cx="2035629" cy="89364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Write another example of the distributive law.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845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8154" y="2607366"/>
            <a:ext cx="2880020" cy="523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2 x (10 + 3)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8154" y="3201557"/>
            <a:ext cx="2880020" cy="43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2 x 10 + 2 x 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8154" y="3778312"/>
            <a:ext cx="2880020" cy="43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20 + 6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498154" y="4330551"/>
            <a:ext cx="2880020" cy="43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>
                <a:solidFill>
                  <a:srgbClr val="C00000"/>
                </a:solidFill>
              </a:rPr>
              <a:t>= 26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EB85A0E-444A-4251-A2A8-916DC43E1FC7}"/>
              </a:ext>
            </a:extLst>
          </p:cNvPr>
          <p:cNvSpPr txBox="1">
            <a:spLocks/>
          </p:cNvSpPr>
          <p:nvPr/>
        </p:nvSpPr>
        <p:spPr>
          <a:xfrm>
            <a:off x="498154" y="2033689"/>
            <a:ext cx="2880020" cy="500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 x 13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5AFF99D-D1DD-4F41-BDBA-209AFD88B841}"/>
              </a:ext>
            </a:extLst>
          </p:cNvPr>
          <p:cNvSpPr txBox="1">
            <a:spLocks/>
          </p:cNvSpPr>
          <p:nvPr/>
        </p:nvSpPr>
        <p:spPr>
          <a:xfrm>
            <a:off x="170818" y="846559"/>
            <a:ext cx="11375913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>
                <a:solidFill>
                  <a:srgbClr val="C00000"/>
                </a:solidFill>
              </a:rPr>
              <a:t>Distributive law </a:t>
            </a:r>
            <a:r>
              <a:rPr lang="en-AU" sz="3200" b="1" dirty="0"/>
              <a:t>– we split large numbers into 1s, 10s and 100s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3D6F92-FCA9-4D90-B15F-A55E18AD3AD0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6256EA2D-D25D-46D8-8BD6-22FF5663FF3F}"/>
              </a:ext>
            </a:extLst>
          </p:cNvPr>
          <p:cNvSpPr txBox="1">
            <a:spLocks/>
          </p:cNvSpPr>
          <p:nvPr/>
        </p:nvSpPr>
        <p:spPr>
          <a:xfrm>
            <a:off x="4817235" y="2033689"/>
            <a:ext cx="2880020" cy="500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2 x 43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C5123E65-DD1D-41C6-8201-9E3A2330032A}"/>
              </a:ext>
            </a:extLst>
          </p:cNvPr>
          <p:cNvSpPr txBox="1">
            <a:spLocks/>
          </p:cNvSpPr>
          <p:nvPr/>
        </p:nvSpPr>
        <p:spPr>
          <a:xfrm>
            <a:off x="8813826" y="2033689"/>
            <a:ext cx="2880020" cy="500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57 x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2872" y="1437829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6768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32" grpId="0"/>
      <p:bldP spid="28" grpId="0" build="p"/>
      <p:bldP spid="38" grpId="0"/>
      <p:bldP spid="43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9508202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/>
              <a:t>Break down each number into simpler multiplications: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97107" y="1845044"/>
            <a:ext cx="4641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11591" y="2933537"/>
            <a:ext cx="4891818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12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11590" y="5254561"/>
            <a:ext cx="4641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28 =</a:t>
            </a:r>
            <a:endParaRPr lang="en-AU" sz="32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Image result for mental maths clip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323709"/>
            <a:ext cx="28575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11590" y="4094049"/>
            <a:ext cx="4641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36</a:t>
            </a:r>
            <a:endParaRPr lang="en-AU" sz="32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AAEEC0C-E53C-4395-AC1A-C0AE39C0EC80}"/>
              </a:ext>
            </a:extLst>
          </p:cNvPr>
          <p:cNvSpPr txBox="1">
            <a:spLocks/>
          </p:cNvSpPr>
          <p:nvPr/>
        </p:nvSpPr>
        <p:spPr>
          <a:xfrm>
            <a:off x="959057" y="1845043"/>
            <a:ext cx="1560407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= 4 x 2</a:t>
            </a:r>
            <a:endParaRPr lang="en-AU" sz="32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D301272-B42C-42DF-A35B-4059A13B74E6}"/>
              </a:ext>
            </a:extLst>
          </p:cNvPr>
          <p:cNvSpPr txBox="1">
            <a:spLocks/>
          </p:cNvSpPr>
          <p:nvPr/>
        </p:nvSpPr>
        <p:spPr>
          <a:xfrm>
            <a:off x="1098787" y="2933537"/>
            <a:ext cx="4891818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4 x 3 </a:t>
            </a:r>
            <a:r>
              <a:rPr lang="en-AU" sz="3200" b="1" dirty="0">
                <a:solidFill>
                  <a:srgbClr val="C00000"/>
                </a:solidFill>
              </a:rPr>
              <a:t>= 2 x 2 x 3</a:t>
            </a: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EE79214-1F49-41B4-A3C0-651125A250B6}"/>
              </a:ext>
            </a:extLst>
          </p:cNvPr>
          <p:cNvSpPr txBox="1">
            <a:spLocks/>
          </p:cNvSpPr>
          <p:nvPr/>
        </p:nvSpPr>
        <p:spPr>
          <a:xfrm>
            <a:off x="1098787" y="4094048"/>
            <a:ext cx="4641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9 x </a:t>
            </a:r>
            <a:r>
              <a:rPr lang="en-AU" sz="3200" b="1" dirty="0" smtClean="0"/>
              <a:t>4 =</a:t>
            </a:r>
            <a:endParaRPr lang="en-AU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1634C-5444-43F2-828F-8C8C1AA9BAF0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66D8E13-C167-4414-AEAD-E5441D1ABA3D}"/>
              </a:ext>
            </a:extLst>
          </p:cNvPr>
          <p:cNvSpPr txBox="1">
            <a:spLocks/>
          </p:cNvSpPr>
          <p:nvPr/>
        </p:nvSpPr>
        <p:spPr>
          <a:xfrm>
            <a:off x="2216825" y="1845041"/>
            <a:ext cx="4641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>
                <a:solidFill>
                  <a:srgbClr val="C00000"/>
                </a:solidFill>
              </a:rPr>
              <a:t>= 2 x 2 x 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4271627" y="321000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69714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build="p"/>
      <p:bldP spid="20" grpId="0" uiExpand="1" build="p"/>
      <p:bldP spid="24" grpId="0"/>
      <p:bldP spid="27" grpId="0" build="p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52" y="770281"/>
            <a:ext cx="10512739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/>
              <a:t>Use the </a:t>
            </a:r>
            <a:r>
              <a:rPr lang="en-AU" sz="3200" b="1" dirty="0">
                <a:solidFill>
                  <a:srgbClr val="C00000"/>
                </a:solidFill>
              </a:rPr>
              <a:t>“work in stages” strategy </a:t>
            </a:r>
            <a:r>
              <a:rPr lang="en-AU" sz="3200" b="1" dirty="0"/>
              <a:t>to calculate the following: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627468" y="2917030"/>
            <a:ext cx="1800394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 25  x  4</a:t>
            </a: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14523" y="4052812"/>
            <a:ext cx="6475644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50  x  2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514524" y="4688029"/>
            <a:ext cx="1400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100 </a:t>
            </a:r>
            <a:endParaRPr lang="en-AU" sz="3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4693904-2008-40AF-A548-5EDB616687A1}"/>
              </a:ext>
            </a:extLst>
          </p:cNvPr>
          <p:cNvSpPr txBox="1">
            <a:spLocks/>
          </p:cNvSpPr>
          <p:nvPr/>
        </p:nvSpPr>
        <p:spPr>
          <a:xfrm>
            <a:off x="833763" y="1388799"/>
            <a:ext cx="7408195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 Step 1. Break down the smaller multiplier.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DF2F48-26D2-41E2-9EC1-5A4FDF9F72B2}"/>
              </a:ext>
            </a:extLst>
          </p:cNvPr>
          <p:cNvSpPr txBox="1">
            <a:spLocks/>
          </p:cNvSpPr>
          <p:nvPr/>
        </p:nvSpPr>
        <p:spPr>
          <a:xfrm>
            <a:off x="833763" y="1995677"/>
            <a:ext cx="9679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 Step 2. Perform the multiplications one at a time.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3DE3D34-BB29-4FAE-83F9-17459A12B145}"/>
              </a:ext>
            </a:extLst>
          </p:cNvPr>
          <p:cNvSpPr txBox="1">
            <a:spLocks/>
          </p:cNvSpPr>
          <p:nvPr/>
        </p:nvSpPr>
        <p:spPr>
          <a:xfrm>
            <a:off x="514523" y="3484921"/>
            <a:ext cx="6144470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25  x  2  x  2</a:t>
            </a:r>
            <a:endParaRPr lang="en-AU" sz="3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77F041-4C20-4C85-914D-9F7D6B32812B}"/>
              </a:ext>
            </a:extLst>
          </p:cNvPr>
          <p:cNvCxnSpPr/>
          <p:nvPr/>
        </p:nvCxnSpPr>
        <p:spPr>
          <a:xfrm>
            <a:off x="1779992" y="3399196"/>
            <a:ext cx="4000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8BB7C2-D0B8-4F0F-80CA-F70BE6620A82}"/>
              </a:ext>
            </a:extLst>
          </p:cNvPr>
          <p:cNvCxnSpPr>
            <a:cxnSpLocks/>
          </p:cNvCxnSpPr>
          <p:nvPr/>
        </p:nvCxnSpPr>
        <p:spPr>
          <a:xfrm>
            <a:off x="884642" y="4029638"/>
            <a:ext cx="11866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9D2E1A-77E5-4AA5-8611-E9EE564AA9BC}"/>
              </a:ext>
            </a:extLst>
          </p:cNvPr>
          <p:cNvCxnSpPr>
            <a:cxnSpLocks/>
          </p:cNvCxnSpPr>
          <p:nvPr/>
        </p:nvCxnSpPr>
        <p:spPr>
          <a:xfrm>
            <a:off x="884642" y="4601138"/>
            <a:ext cx="11866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545A2D9-45BB-4E67-8D59-A0F5F9E02C6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098EDEE-4352-4313-9A4F-E2C987563668}"/>
              </a:ext>
            </a:extLst>
          </p:cNvPr>
          <p:cNvSpPr txBox="1">
            <a:spLocks/>
          </p:cNvSpPr>
          <p:nvPr/>
        </p:nvSpPr>
        <p:spPr>
          <a:xfrm>
            <a:off x="4296777" y="2913955"/>
            <a:ext cx="1800394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 27  x  4</a:t>
            </a:r>
            <a:endParaRPr lang="en-AU" sz="3200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A23FF96-4C2C-4310-A6FF-E31C8A815259}"/>
              </a:ext>
            </a:extLst>
          </p:cNvPr>
          <p:cNvSpPr txBox="1">
            <a:spLocks/>
          </p:cNvSpPr>
          <p:nvPr/>
        </p:nvSpPr>
        <p:spPr>
          <a:xfrm>
            <a:off x="8155492" y="2917030"/>
            <a:ext cx="2582719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 45  x  8</a:t>
            </a:r>
            <a:endParaRPr lang="en-AU" sz="3200" dirty="0"/>
          </a:p>
        </p:txBody>
      </p:sp>
      <p:sp>
        <p:nvSpPr>
          <p:cNvPr id="36" name="TextBox 35"/>
          <p:cNvSpPr txBox="1"/>
          <p:nvPr/>
        </p:nvSpPr>
        <p:spPr>
          <a:xfrm>
            <a:off x="6332234" y="247634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90488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21" grpId="0"/>
      <p:bldP spid="28" grpId="0"/>
      <p:bldP spid="35" grpId="0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52" y="770281"/>
            <a:ext cx="10512739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/>
              <a:t>Use the </a:t>
            </a:r>
            <a:r>
              <a:rPr lang="en-AU" sz="3200" b="1" dirty="0">
                <a:solidFill>
                  <a:srgbClr val="C00000"/>
                </a:solidFill>
              </a:rPr>
              <a:t>“work in stages” strategy </a:t>
            </a:r>
            <a:r>
              <a:rPr lang="en-AU" sz="3200" b="1" dirty="0"/>
              <a:t>to calculate the following:</a:t>
            </a:r>
            <a:endParaRPr lang="en-AU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4693904-2008-40AF-A548-5EDB616687A1}"/>
              </a:ext>
            </a:extLst>
          </p:cNvPr>
          <p:cNvSpPr txBox="1">
            <a:spLocks/>
          </p:cNvSpPr>
          <p:nvPr/>
        </p:nvSpPr>
        <p:spPr>
          <a:xfrm>
            <a:off x="833763" y="1388799"/>
            <a:ext cx="7408195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 Step 1. Break down the smaller divisor.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DF2F48-26D2-41E2-9EC1-5A4FDF9F72B2}"/>
              </a:ext>
            </a:extLst>
          </p:cNvPr>
          <p:cNvSpPr txBox="1">
            <a:spLocks/>
          </p:cNvSpPr>
          <p:nvPr/>
        </p:nvSpPr>
        <p:spPr>
          <a:xfrm>
            <a:off x="833763" y="2063752"/>
            <a:ext cx="9679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/>
              <a:t> Step 2. Perform the divisions one at a time.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45A2D9-45BB-4E67-8D59-A0F5F9E02C6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52947005-5256-409C-A109-4AF0E989D0B7}"/>
              </a:ext>
            </a:extLst>
          </p:cNvPr>
          <p:cNvSpPr txBox="1">
            <a:spLocks/>
          </p:cNvSpPr>
          <p:nvPr/>
        </p:nvSpPr>
        <p:spPr>
          <a:xfrm>
            <a:off x="612401" y="2977650"/>
            <a:ext cx="1966442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900  ÷  15</a:t>
            </a:r>
            <a:endParaRPr lang="en-AU" sz="3200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1AC2D2D-1C89-4B17-9EB0-181909381EB8}"/>
              </a:ext>
            </a:extLst>
          </p:cNvPr>
          <p:cNvSpPr txBox="1">
            <a:spLocks/>
          </p:cNvSpPr>
          <p:nvPr/>
        </p:nvSpPr>
        <p:spPr>
          <a:xfrm>
            <a:off x="446430" y="4113433"/>
            <a:ext cx="3020301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300  ÷  5</a:t>
            </a: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9167625B-7EE0-4FE6-8753-35AD0F322878}"/>
              </a:ext>
            </a:extLst>
          </p:cNvPr>
          <p:cNvSpPr txBox="1">
            <a:spLocks/>
          </p:cNvSpPr>
          <p:nvPr/>
        </p:nvSpPr>
        <p:spPr>
          <a:xfrm>
            <a:off x="446431" y="4748650"/>
            <a:ext cx="140064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60 </a:t>
            </a:r>
            <a:endParaRPr lang="en-AU" sz="3200" dirty="0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2C91509-7DC8-42B8-9DE4-EE97ABC46B4D}"/>
              </a:ext>
            </a:extLst>
          </p:cNvPr>
          <p:cNvSpPr txBox="1">
            <a:spLocks/>
          </p:cNvSpPr>
          <p:nvPr/>
        </p:nvSpPr>
        <p:spPr>
          <a:xfrm>
            <a:off x="446430" y="3545542"/>
            <a:ext cx="2865838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= 900  ÷  3  ÷  5</a:t>
            </a:r>
            <a:endParaRPr lang="en-AU" sz="32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31AFC1-D1B3-44BE-889A-B991509A4D5D}"/>
              </a:ext>
            </a:extLst>
          </p:cNvPr>
          <p:cNvCxnSpPr>
            <a:cxnSpLocks/>
          </p:cNvCxnSpPr>
          <p:nvPr/>
        </p:nvCxnSpPr>
        <p:spPr>
          <a:xfrm>
            <a:off x="1926851" y="3431242"/>
            <a:ext cx="48594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ADD8E08-3965-4552-9F74-8C444EAFACA1}"/>
              </a:ext>
            </a:extLst>
          </p:cNvPr>
          <p:cNvCxnSpPr>
            <a:cxnSpLocks/>
          </p:cNvCxnSpPr>
          <p:nvPr/>
        </p:nvCxnSpPr>
        <p:spPr>
          <a:xfrm>
            <a:off x="816549" y="4014059"/>
            <a:ext cx="145749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EB46411-CA35-49B1-BB80-A6C71C29806B}"/>
              </a:ext>
            </a:extLst>
          </p:cNvPr>
          <p:cNvCxnSpPr>
            <a:cxnSpLocks/>
          </p:cNvCxnSpPr>
          <p:nvPr/>
        </p:nvCxnSpPr>
        <p:spPr>
          <a:xfrm>
            <a:off x="816549" y="4642709"/>
            <a:ext cx="138129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1128F09-4CD5-43A9-9FD6-613C4FD91F35}"/>
              </a:ext>
            </a:extLst>
          </p:cNvPr>
          <p:cNvSpPr txBox="1">
            <a:spLocks/>
          </p:cNvSpPr>
          <p:nvPr/>
        </p:nvSpPr>
        <p:spPr>
          <a:xfrm>
            <a:off x="4614656" y="2983811"/>
            <a:ext cx="2145050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 200  ÷  8</a:t>
            </a:r>
            <a:endParaRPr lang="en-AU" sz="3200" dirty="0"/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766F7A73-5013-40F6-BE55-D524F41DFCFC}"/>
              </a:ext>
            </a:extLst>
          </p:cNvPr>
          <p:cNvSpPr txBox="1">
            <a:spLocks/>
          </p:cNvSpPr>
          <p:nvPr/>
        </p:nvSpPr>
        <p:spPr>
          <a:xfrm>
            <a:off x="8339049" y="2983811"/>
            <a:ext cx="2145050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/>
              <a:t>132 ÷  12</a:t>
            </a:r>
            <a:endParaRPr lang="en-AU" sz="3200" dirty="0"/>
          </a:p>
        </p:txBody>
      </p:sp>
      <p:sp>
        <p:nvSpPr>
          <p:cNvPr id="34" name="TextBox 33"/>
          <p:cNvSpPr txBox="1"/>
          <p:nvPr/>
        </p:nvSpPr>
        <p:spPr>
          <a:xfrm>
            <a:off x="6332234" y="247634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75505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43" grpId="0"/>
      <p:bldP spid="54" grpId="0"/>
      <p:bldP spid="63" grpId="0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47" y="699584"/>
            <a:ext cx="9508202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/>
              <a:t>Use an </a:t>
            </a:r>
            <a:r>
              <a:rPr lang="en-AU" sz="3200" b="1" dirty="0">
                <a:solidFill>
                  <a:srgbClr val="C00000"/>
                </a:solidFill>
              </a:rPr>
              <a:t>array</a:t>
            </a:r>
            <a:r>
              <a:rPr lang="en-AU" sz="3200" b="1" dirty="0"/>
              <a:t> to solve the following multiplications: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1634C-5444-43F2-828F-8C8C1AA9BAF0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97C2DF4-0ED7-4DB7-80D8-1296A3EB2CE6}"/>
              </a:ext>
            </a:extLst>
          </p:cNvPr>
          <p:cNvSpPr txBox="1">
            <a:spLocks/>
          </p:cNvSpPr>
          <p:nvPr/>
        </p:nvSpPr>
        <p:spPr>
          <a:xfrm>
            <a:off x="904673" y="1205539"/>
            <a:ext cx="8932826" cy="4340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/>
              <a:t>Step 1: split the numbers into 1s and 10s.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D7AF350-C061-4FC1-A671-75AEA99841EE}"/>
              </a:ext>
            </a:extLst>
          </p:cNvPr>
          <p:cNvSpPr txBox="1">
            <a:spLocks/>
          </p:cNvSpPr>
          <p:nvPr/>
        </p:nvSpPr>
        <p:spPr>
          <a:xfrm>
            <a:off x="904673" y="1593328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/>
              <a:t>Step 2: enter the numbers on the sides of the array.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81CE5C-B51F-4C97-BD74-0673AE7228B1}"/>
              </a:ext>
            </a:extLst>
          </p:cNvPr>
          <p:cNvSpPr txBox="1">
            <a:spLocks/>
          </p:cNvSpPr>
          <p:nvPr/>
        </p:nvSpPr>
        <p:spPr>
          <a:xfrm>
            <a:off x="904673" y="1971833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/>
              <a:t>Step 3: multiply each horizontal by each vertical and enter in the array.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4B24A25-FAD6-438E-8CEF-25ADC2B2841D}"/>
              </a:ext>
            </a:extLst>
          </p:cNvPr>
          <p:cNvSpPr txBox="1">
            <a:spLocks/>
          </p:cNvSpPr>
          <p:nvPr/>
        </p:nvSpPr>
        <p:spPr>
          <a:xfrm>
            <a:off x="904673" y="2350338"/>
            <a:ext cx="1042261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400" b="1" dirty="0"/>
              <a:t>Step 4: add up each number inside the array.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AU" sz="2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0BCD43-DADB-4B0E-B3A0-D5F338613BB8}"/>
              </a:ext>
            </a:extLst>
          </p:cNvPr>
          <p:cNvSpPr txBox="1"/>
          <p:nvPr/>
        </p:nvSpPr>
        <p:spPr>
          <a:xfrm>
            <a:off x="4928162" y="2814960"/>
            <a:ext cx="186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32 x 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663FAEC-B474-4FD5-A0A1-C74B68B8EFC2}"/>
              </a:ext>
            </a:extLst>
          </p:cNvPr>
          <p:cNvSpPr/>
          <p:nvPr/>
        </p:nvSpPr>
        <p:spPr>
          <a:xfrm>
            <a:off x="5324978" y="4064616"/>
            <a:ext cx="2095153" cy="6809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AAA31DE-C259-41EF-9B0D-05797EDB4AA7}"/>
              </a:ext>
            </a:extLst>
          </p:cNvPr>
          <p:cNvCxnSpPr>
            <a:cxnSpLocks/>
            <a:stCxn id="55" idx="0"/>
            <a:endCxn id="55" idx="2"/>
          </p:cNvCxnSpPr>
          <p:nvPr/>
        </p:nvCxnSpPr>
        <p:spPr>
          <a:xfrm>
            <a:off x="6372555" y="4064616"/>
            <a:ext cx="0" cy="6809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34CE1AC-79DB-42D4-AF66-A476C97C623B}"/>
              </a:ext>
            </a:extLst>
          </p:cNvPr>
          <p:cNvSpPr txBox="1"/>
          <p:nvPr/>
        </p:nvSpPr>
        <p:spPr>
          <a:xfrm>
            <a:off x="5554278" y="3484670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A96BE0-88C2-4A7A-8AA3-FADD1E021722}"/>
              </a:ext>
            </a:extLst>
          </p:cNvPr>
          <p:cNvSpPr txBox="1"/>
          <p:nvPr/>
        </p:nvSpPr>
        <p:spPr>
          <a:xfrm>
            <a:off x="6447706" y="3484670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B643D2-A49C-4F27-8363-52C6B1F6E99E}"/>
              </a:ext>
            </a:extLst>
          </p:cNvPr>
          <p:cNvSpPr txBox="1"/>
          <p:nvPr/>
        </p:nvSpPr>
        <p:spPr>
          <a:xfrm>
            <a:off x="4580107" y="4112703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3C43E3-388A-411F-81A7-4D80E6B23DC8}"/>
              </a:ext>
            </a:extLst>
          </p:cNvPr>
          <p:cNvSpPr txBox="1"/>
          <p:nvPr/>
        </p:nvSpPr>
        <p:spPr>
          <a:xfrm>
            <a:off x="884064" y="2814960"/>
            <a:ext cx="186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87 x 6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00FC7E0-BF8E-4E65-8CD7-2E8A8E38CF58}"/>
              </a:ext>
            </a:extLst>
          </p:cNvPr>
          <p:cNvSpPr/>
          <p:nvPr/>
        </p:nvSpPr>
        <p:spPr>
          <a:xfrm>
            <a:off x="1280880" y="4064616"/>
            <a:ext cx="2095153" cy="6809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659225F-25F9-47E0-8927-0232C9216819}"/>
              </a:ext>
            </a:extLst>
          </p:cNvPr>
          <p:cNvCxnSpPr>
            <a:stCxn id="66" idx="0"/>
            <a:endCxn id="66" idx="2"/>
          </p:cNvCxnSpPr>
          <p:nvPr/>
        </p:nvCxnSpPr>
        <p:spPr>
          <a:xfrm>
            <a:off x="2328457" y="4064616"/>
            <a:ext cx="0" cy="6809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E3C992D-4F28-41DC-96EB-343410400CBA}"/>
              </a:ext>
            </a:extLst>
          </p:cNvPr>
          <p:cNvSpPr txBox="1"/>
          <p:nvPr/>
        </p:nvSpPr>
        <p:spPr>
          <a:xfrm>
            <a:off x="1510180" y="3484670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38D2D13-8DC5-4050-870E-3EE4A1B83915}"/>
              </a:ext>
            </a:extLst>
          </p:cNvPr>
          <p:cNvSpPr txBox="1"/>
          <p:nvPr/>
        </p:nvSpPr>
        <p:spPr>
          <a:xfrm>
            <a:off x="2403608" y="3484670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CC4E5D-787F-49FB-BED9-06554A17AD49}"/>
              </a:ext>
            </a:extLst>
          </p:cNvPr>
          <p:cNvSpPr txBox="1"/>
          <p:nvPr/>
        </p:nvSpPr>
        <p:spPr>
          <a:xfrm>
            <a:off x="536009" y="4112703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3EACDA-E2D8-4287-BCF5-C15D17CF3653}"/>
              </a:ext>
            </a:extLst>
          </p:cNvPr>
          <p:cNvSpPr txBox="1"/>
          <p:nvPr/>
        </p:nvSpPr>
        <p:spPr>
          <a:xfrm>
            <a:off x="1354286" y="4112703"/>
            <a:ext cx="899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480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A670DFF-5B02-4BC9-87A3-0A461972CAF5}"/>
              </a:ext>
            </a:extLst>
          </p:cNvPr>
          <p:cNvSpPr txBox="1"/>
          <p:nvPr/>
        </p:nvSpPr>
        <p:spPr>
          <a:xfrm>
            <a:off x="2385783" y="4112703"/>
            <a:ext cx="899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41AE1D-F122-4A17-9B4E-F780888B71AD}"/>
              </a:ext>
            </a:extLst>
          </p:cNvPr>
          <p:cNvSpPr txBox="1"/>
          <p:nvPr/>
        </p:nvSpPr>
        <p:spPr>
          <a:xfrm>
            <a:off x="1280880" y="4981092"/>
            <a:ext cx="13485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480</a:t>
            </a:r>
          </a:p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+   42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7598D567-A476-4684-8CBD-0DE7CFFD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86" y="5948772"/>
            <a:ext cx="1292429" cy="21907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ED0747EC-1DC5-4B6B-B691-6884547B6614}"/>
              </a:ext>
            </a:extLst>
          </p:cNvPr>
          <p:cNvSpPr txBox="1"/>
          <p:nvPr/>
        </p:nvSpPr>
        <p:spPr>
          <a:xfrm>
            <a:off x="1730391" y="6067026"/>
            <a:ext cx="899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C95A3EF-5096-4972-A5D5-7504D20E75E8}"/>
              </a:ext>
            </a:extLst>
          </p:cNvPr>
          <p:cNvSpPr txBox="1"/>
          <p:nvPr/>
        </p:nvSpPr>
        <p:spPr>
          <a:xfrm>
            <a:off x="9163721" y="2810954"/>
            <a:ext cx="1862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49 x 8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8F2C87E-5D5C-46EC-9B9F-AB16969BF780}"/>
              </a:ext>
            </a:extLst>
          </p:cNvPr>
          <p:cNvSpPr/>
          <p:nvPr/>
        </p:nvSpPr>
        <p:spPr>
          <a:xfrm>
            <a:off x="9645388" y="4093441"/>
            <a:ext cx="2095153" cy="68094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8737392-160D-4CF7-AAE8-5E4570188C31}"/>
              </a:ext>
            </a:extLst>
          </p:cNvPr>
          <p:cNvCxnSpPr>
            <a:stCxn id="77" idx="0"/>
            <a:endCxn id="77" idx="2"/>
          </p:cNvCxnSpPr>
          <p:nvPr/>
        </p:nvCxnSpPr>
        <p:spPr>
          <a:xfrm>
            <a:off x="10692965" y="4093441"/>
            <a:ext cx="0" cy="6809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12119" y="2696502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45460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57" grpId="0"/>
      <p:bldP spid="58" grpId="0"/>
      <p:bldP spid="59" grpId="0"/>
      <p:bldP spid="66" grpId="0" animBg="1"/>
      <p:bldP spid="68" grpId="0"/>
      <p:bldP spid="69" grpId="0"/>
      <p:bldP spid="70" grpId="0"/>
      <p:bldP spid="71" grpId="0"/>
      <p:bldP spid="72" grpId="0"/>
      <p:bldP spid="73" grpId="0"/>
      <p:bldP spid="75" grpId="0"/>
      <p:bldP spid="76" grpId="0"/>
      <p:bldP spid="77" grpId="0" animBg="1"/>
      <p:bldP spid="4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47" y="699584"/>
            <a:ext cx="9508202" cy="918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/>
              <a:t>Use an </a:t>
            </a:r>
            <a:r>
              <a:rPr lang="en-AU" sz="3200" b="1" dirty="0">
                <a:solidFill>
                  <a:srgbClr val="C00000"/>
                </a:solidFill>
              </a:rPr>
              <a:t>array</a:t>
            </a:r>
            <a:r>
              <a:rPr lang="en-AU" sz="3200" b="1" dirty="0"/>
              <a:t> to solve the following multiplications: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1634C-5444-43F2-828F-8C8C1AA9BAF0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3C43E3-388A-411F-81A7-4D80E6B23DC8}"/>
              </a:ext>
            </a:extLst>
          </p:cNvPr>
          <p:cNvSpPr txBox="1"/>
          <p:nvPr/>
        </p:nvSpPr>
        <p:spPr>
          <a:xfrm>
            <a:off x="714830" y="1369670"/>
            <a:ext cx="2189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94 x 32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00FC7E0-BF8E-4E65-8CD7-2E8A8E38CF58}"/>
              </a:ext>
            </a:extLst>
          </p:cNvPr>
          <p:cNvSpPr/>
          <p:nvPr/>
        </p:nvSpPr>
        <p:spPr>
          <a:xfrm>
            <a:off x="1193331" y="2624310"/>
            <a:ext cx="2095153" cy="56586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659225F-25F9-47E0-8927-0232C9216819}"/>
              </a:ext>
            </a:extLst>
          </p:cNvPr>
          <p:cNvCxnSpPr>
            <a:cxnSpLocks/>
            <a:stCxn id="66" idx="0"/>
            <a:endCxn id="87" idx="2"/>
          </p:cNvCxnSpPr>
          <p:nvPr/>
        </p:nvCxnSpPr>
        <p:spPr>
          <a:xfrm flipH="1">
            <a:off x="2240907" y="2624310"/>
            <a:ext cx="1" cy="11058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E3C992D-4F28-41DC-96EB-343410400CBA}"/>
              </a:ext>
            </a:extLst>
          </p:cNvPr>
          <p:cNvSpPr txBox="1"/>
          <p:nvPr/>
        </p:nvSpPr>
        <p:spPr>
          <a:xfrm>
            <a:off x="1422631" y="2099734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38D2D13-8DC5-4050-870E-3EE4A1B83915}"/>
              </a:ext>
            </a:extLst>
          </p:cNvPr>
          <p:cNvSpPr txBox="1"/>
          <p:nvPr/>
        </p:nvSpPr>
        <p:spPr>
          <a:xfrm>
            <a:off x="2316059" y="2099734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CC4E5D-787F-49FB-BED9-06554A17AD49}"/>
              </a:ext>
            </a:extLst>
          </p:cNvPr>
          <p:cNvSpPr txBox="1"/>
          <p:nvPr/>
        </p:nvSpPr>
        <p:spPr>
          <a:xfrm>
            <a:off x="445661" y="2608681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3EACDA-E2D8-4287-BCF5-C15D17CF3653}"/>
              </a:ext>
            </a:extLst>
          </p:cNvPr>
          <p:cNvSpPr txBox="1"/>
          <p:nvPr/>
        </p:nvSpPr>
        <p:spPr>
          <a:xfrm>
            <a:off x="1066250" y="2629280"/>
            <a:ext cx="1264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2,700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A670DFF-5B02-4BC9-87A3-0A461972CAF5}"/>
              </a:ext>
            </a:extLst>
          </p:cNvPr>
          <p:cNvSpPr txBox="1"/>
          <p:nvPr/>
        </p:nvSpPr>
        <p:spPr>
          <a:xfrm>
            <a:off x="2316059" y="2638809"/>
            <a:ext cx="8990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41AE1D-F122-4A17-9B4E-F780888B71AD}"/>
              </a:ext>
            </a:extLst>
          </p:cNvPr>
          <p:cNvSpPr txBox="1"/>
          <p:nvPr/>
        </p:nvSpPr>
        <p:spPr>
          <a:xfrm>
            <a:off x="1261424" y="3891020"/>
            <a:ext cx="13485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2,700</a:t>
            </a:r>
          </a:p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  <a:p>
            <a:pPr algn="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+      8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7598D567-A476-4684-8CBD-0DE7CFFD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30" y="5834869"/>
            <a:ext cx="1292429" cy="21907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ED0747EC-1DC5-4B6B-B691-6884547B6614}"/>
              </a:ext>
            </a:extLst>
          </p:cNvPr>
          <p:cNvSpPr txBox="1"/>
          <p:nvPr/>
        </p:nvSpPr>
        <p:spPr>
          <a:xfrm>
            <a:off x="1334830" y="5953123"/>
            <a:ext cx="1275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3,008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1BE03F8-0ABD-49F3-BD24-0344B739B95A}"/>
              </a:ext>
            </a:extLst>
          </p:cNvPr>
          <p:cNvSpPr/>
          <p:nvPr/>
        </p:nvSpPr>
        <p:spPr>
          <a:xfrm>
            <a:off x="1193330" y="3190174"/>
            <a:ext cx="2095153" cy="54001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3B85512-A096-417F-99FF-608A4284EB36}"/>
              </a:ext>
            </a:extLst>
          </p:cNvPr>
          <p:cNvSpPr txBox="1"/>
          <p:nvPr/>
        </p:nvSpPr>
        <p:spPr>
          <a:xfrm>
            <a:off x="446709" y="3211434"/>
            <a:ext cx="6697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C08199-DEAB-4C78-92F5-ED0341AD7C2C}"/>
              </a:ext>
            </a:extLst>
          </p:cNvPr>
          <p:cNvSpPr txBox="1"/>
          <p:nvPr/>
        </p:nvSpPr>
        <p:spPr>
          <a:xfrm>
            <a:off x="1182904" y="3179507"/>
            <a:ext cx="11482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044D60B-E036-4639-8C24-71870CB9F12B}"/>
              </a:ext>
            </a:extLst>
          </p:cNvPr>
          <p:cNvSpPr txBox="1"/>
          <p:nvPr/>
        </p:nvSpPr>
        <p:spPr>
          <a:xfrm>
            <a:off x="2316059" y="3189036"/>
            <a:ext cx="8990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5715AC-04C7-4959-AF39-708C71527FAE}"/>
              </a:ext>
            </a:extLst>
          </p:cNvPr>
          <p:cNvSpPr txBox="1"/>
          <p:nvPr/>
        </p:nvSpPr>
        <p:spPr>
          <a:xfrm>
            <a:off x="4551939" y="1369670"/>
            <a:ext cx="2697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44 x 83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28AB91C-33E8-475C-ADDA-A714F7E814EE}"/>
              </a:ext>
            </a:extLst>
          </p:cNvPr>
          <p:cNvSpPr txBox="1"/>
          <p:nvPr/>
        </p:nvSpPr>
        <p:spPr>
          <a:xfrm>
            <a:off x="8534611" y="1378829"/>
            <a:ext cx="2691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71 x 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4284" y="127807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33699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8" grpId="0"/>
      <p:bldP spid="69" grpId="0"/>
      <p:bldP spid="70" grpId="0"/>
      <p:bldP spid="71" grpId="0"/>
      <p:bldP spid="72" grpId="0"/>
      <p:bldP spid="73" grpId="0"/>
      <p:bldP spid="75" grpId="0"/>
      <p:bldP spid="87" grpId="0" animBg="1"/>
      <p:bldP spid="88" grpId="0"/>
      <p:bldP spid="89" grpId="0"/>
      <p:bldP spid="90" grpId="0"/>
      <p:bldP spid="91" grpId="0"/>
      <p:bldP spid="92" grpId="0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91634C-5444-43F2-828F-8C8C1AA9BAF0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3C43E3-388A-411F-81A7-4D80E6B23DC8}"/>
              </a:ext>
            </a:extLst>
          </p:cNvPr>
          <p:cNvSpPr txBox="1"/>
          <p:nvPr/>
        </p:nvSpPr>
        <p:spPr>
          <a:xfrm>
            <a:off x="739997" y="895263"/>
            <a:ext cx="2189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1)  94 x 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0747EC-1DC5-4B6B-B691-6884547B6614}"/>
              </a:ext>
            </a:extLst>
          </p:cNvPr>
          <p:cNvSpPr txBox="1"/>
          <p:nvPr/>
        </p:nvSpPr>
        <p:spPr>
          <a:xfrm>
            <a:off x="629174" y="1610753"/>
            <a:ext cx="1610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940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5715AC-04C7-4959-AF39-708C71527FAE}"/>
              </a:ext>
            </a:extLst>
          </p:cNvPr>
          <p:cNvSpPr txBox="1"/>
          <p:nvPr/>
        </p:nvSpPr>
        <p:spPr>
          <a:xfrm>
            <a:off x="4299167" y="895263"/>
            <a:ext cx="2697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2)  68 x 100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28AB91C-33E8-475C-ADDA-A714F7E814EE}"/>
              </a:ext>
            </a:extLst>
          </p:cNvPr>
          <p:cNvSpPr txBox="1"/>
          <p:nvPr/>
        </p:nvSpPr>
        <p:spPr>
          <a:xfrm>
            <a:off x="8366831" y="895263"/>
            <a:ext cx="3204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3)  342 x </a:t>
            </a:r>
            <a:r>
              <a:rPr lang="en-A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1 000</a:t>
            </a: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BA22377-7D8A-4661-8E1A-63E22F3811A9}"/>
              </a:ext>
            </a:extLst>
          </p:cNvPr>
          <p:cNvSpPr txBox="1"/>
          <p:nvPr/>
        </p:nvSpPr>
        <p:spPr>
          <a:xfrm>
            <a:off x="4498477" y="1607771"/>
            <a:ext cx="1826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6 800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630ECB-E6ED-48B9-9353-5D21CD0740FB}"/>
              </a:ext>
            </a:extLst>
          </p:cNvPr>
          <p:cNvSpPr txBox="1"/>
          <p:nvPr/>
        </p:nvSpPr>
        <p:spPr>
          <a:xfrm>
            <a:off x="8583915" y="1610752"/>
            <a:ext cx="2546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342 000</a:t>
            </a:r>
            <a:endParaRPr lang="en-AU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55A787-9A42-42C1-AE81-F9D2F90E92F4}"/>
              </a:ext>
            </a:extLst>
          </p:cNvPr>
          <p:cNvSpPr txBox="1"/>
          <p:nvPr/>
        </p:nvSpPr>
        <p:spPr>
          <a:xfrm>
            <a:off x="739997" y="2724641"/>
            <a:ext cx="2707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4)  630 </a:t>
            </a:r>
            <a:r>
              <a:rPr lang="en-AU" sz="3200" dirty="0"/>
              <a:t>÷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BADD11-63F1-4333-8003-3121BE560D5C}"/>
              </a:ext>
            </a:extLst>
          </p:cNvPr>
          <p:cNvSpPr txBox="1"/>
          <p:nvPr/>
        </p:nvSpPr>
        <p:spPr>
          <a:xfrm>
            <a:off x="629174" y="3440131"/>
            <a:ext cx="1375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1C1B2-FB6F-4729-8588-45D067A75A72}"/>
              </a:ext>
            </a:extLst>
          </p:cNvPr>
          <p:cNvSpPr txBox="1"/>
          <p:nvPr/>
        </p:nvSpPr>
        <p:spPr>
          <a:xfrm>
            <a:off x="4299167" y="2724641"/>
            <a:ext cx="3335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5) 4 800 </a:t>
            </a:r>
            <a:r>
              <a:rPr lang="en-AU" sz="3200" dirty="0"/>
              <a:t>÷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100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92EB6F-196D-4ED0-B91D-712B4D7C280B}"/>
              </a:ext>
            </a:extLst>
          </p:cNvPr>
          <p:cNvSpPr txBox="1"/>
          <p:nvPr/>
        </p:nvSpPr>
        <p:spPr>
          <a:xfrm>
            <a:off x="8366831" y="2724641"/>
            <a:ext cx="3328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6)  3 000 </a:t>
            </a:r>
            <a:r>
              <a:rPr lang="en-AU" sz="3200" dirty="0"/>
              <a:t>÷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1 000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71D21C-C49E-4ACF-B0E8-F261D6D67757}"/>
              </a:ext>
            </a:extLst>
          </p:cNvPr>
          <p:cNvSpPr txBox="1"/>
          <p:nvPr/>
        </p:nvSpPr>
        <p:spPr>
          <a:xfrm>
            <a:off x="4498477" y="3437149"/>
            <a:ext cx="13067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564273-477D-49CC-833C-F262909C28D1}"/>
              </a:ext>
            </a:extLst>
          </p:cNvPr>
          <p:cNvSpPr txBox="1"/>
          <p:nvPr/>
        </p:nvSpPr>
        <p:spPr>
          <a:xfrm>
            <a:off x="8295618" y="3440130"/>
            <a:ext cx="1653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BC2131-DE0E-4F56-B77D-8FD93876178F}"/>
              </a:ext>
            </a:extLst>
          </p:cNvPr>
          <p:cNvSpPr txBox="1"/>
          <p:nvPr/>
        </p:nvSpPr>
        <p:spPr>
          <a:xfrm>
            <a:off x="739997" y="4603491"/>
            <a:ext cx="2707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7)  40 </a:t>
            </a:r>
            <a:r>
              <a:rPr lang="en-AU" sz="3200" dirty="0"/>
              <a:t>÷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195BAD-3975-4A8C-8F98-2BABA9ED5886}"/>
              </a:ext>
            </a:extLst>
          </p:cNvPr>
          <p:cNvSpPr txBox="1"/>
          <p:nvPr/>
        </p:nvSpPr>
        <p:spPr>
          <a:xfrm>
            <a:off x="1031846" y="5318981"/>
            <a:ext cx="2088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= 4 ÷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C6CE43-7118-4C2F-A3BC-DB957764F245}"/>
              </a:ext>
            </a:extLst>
          </p:cNvPr>
          <p:cNvSpPr txBox="1"/>
          <p:nvPr/>
        </p:nvSpPr>
        <p:spPr>
          <a:xfrm>
            <a:off x="4299167" y="4603491"/>
            <a:ext cx="3335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8) 6 800 </a:t>
            </a:r>
            <a:r>
              <a:rPr lang="en-AU" sz="3200" dirty="0"/>
              <a:t>÷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200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36AF52-DBC2-4503-83B2-3203037DB3A6}"/>
              </a:ext>
            </a:extLst>
          </p:cNvPr>
          <p:cNvSpPr txBox="1"/>
          <p:nvPr/>
        </p:nvSpPr>
        <p:spPr>
          <a:xfrm>
            <a:off x="8366831" y="4603491"/>
            <a:ext cx="3328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9)  9000 </a:t>
            </a:r>
            <a:r>
              <a:rPr lang="en-AU" sz="3200" dirty="0"/>
              <a:t>÷</a:t>
            </a: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300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7FB109-D74E-4DC9-9F26-9706DFB21999}"/>
              </a:ext>
            </a:extLst>
          </p:cNvPr>
          <p:cNvCxnSpPr/>
          <p:nvPr/>
        </p:nvCxnSpPr>
        <p:spPr>
          <a:xfrm flipH="1">
            <a:off x="1624904" y="4711320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675585B-6DFF-4187-80E0-748CC3210A64}"/>
              </a:ext>
            </a:extLst>
          </p:cNvPr>
          <p:cNvCxnSpPr/>
          <p:nvPr/>
        </p:nvCxnSpPr>
        <p:spPr>
          <a:xfrm flipH="1">
            <a:off x="2538575" y="4708027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7B81E73-29FA-4F01-B331-0C4291CD7BCB}"/>
              </a:ext>
            </a:extLst>
          </p:cNvPr>
          <p:cNvSpPr txBox="1"/>
          <p:nvPr/>
        </p:nvSpPr>
        <p:spPr>
          <a:xfrm>
            <a:off x="1049166" y="5935052"/>
            <a:ext cx="2088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BEEA6CF-0429-445E-94A6-55109FE3ADAF}"/>
              </a:ext>
            </a:extLst>
          </p:cNvPr>
          <p:cNvCxnSpPr/>
          <p:nvPr/>
        </p:nvCxnSpPr>
        <p:spPr>
          <a:xfrm flipH="1">
            <a:off x="5411628" y="4711320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8AB085B-40D0-428E-AF20-5AC9B2CDB0FA}"/>
              </a:ext>
            </a:extLst>
          </p:cNvPr>
          <p:cNvCxnSpPr/>
          <p:nvPr/>
        </p:nvCxnSpPr>
        <p:spPr>
          <a:xfrm flipH="1">
            <a:off x="5672602" y="4708026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513A791-4AF5-4EE1-899E-4C48EC28C2E6}"/>
              </a:ext>
            </a:extLst>
          </p:cNvPr>
          <p:cNvCxnSpPr/>
          <p:nvPr/>
        </p:nvCxnSpPr>
        <p:spPr>
          <a:xfrm flipH="1">
            <a:off x="6524089" y="4711320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D2841A9-2BB4-4473-80C0-7E01836FE3A6}"/>
              </a:ext>
            </a:extLst>
          </p:cNvPr>
          <p:cNvCxnSpPr/>
          <p:nvPr/>
        </p:nvCxnSpPr>
        <p:spPr>
          <a:xfrm flipH="1">
            <a:off x="6785063" y="4708026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A3357CF-2A26-4E7D-975D-03805B4F6325}"/>
              </a:ext>
            </a:extLst>
          </p:cNvPr>
          <p:cNvSpPr txBox="1"/>
          <p:nvPr/>
        </p:nvSpPr>
        <p:spPr>
          <a:xfrm>
            <a:off x="4696204" y="5181676"/>
            <a:ext cx="2088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= 68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B2CAA1-5887-4FB7-A2C1-7518366942B2}"/>
              </a:ext>
            </a:extLst>
          </p:cNvPr>
          <p:cNvSpPr txBox="1"/>
          <p:nvPr/>
        </p:nvSpPr>
        <p:spPr>
          <a:xfrm>
            <a:off x="4713524" y="5797747"/>
            <a:ext cx="2088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F31CFA1-0C1B-4191-A56A-F0462C670635}"/>
              </a:ext>
            </a:extLst>
          </p:cNvPr>
          <p:cNvCxnSpPr/>
          <p:nvPr/>
        </p:nvCxnSpPr>
        <p:spPr>
          <a:xfrm flipH="1">
            <a:off x="9475140" y="4710536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5CD3FD1-D6AF-4ED0-B569-5912F3A31725}"/>
              </a:ext>
            </a:extLst>
          </p:cNvPr>
          <p:cNvCxnSpPr/>
          <p:nvPr/>
        </p:nvCxnSpPr>
        <p:spPr>
          <a:xfrm flipH="1">
            <a:off x="9736114" y="4707242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604B9C-5C4F-4728-AE7B-CE54FDADE7CB}"/>
              </a:ext>
            </a:extLst>
          </p:cNvPr>
          <p:cNvCxnSpPr/>
          <p:nvPr/>
        </p:nvCxnSpPr>
        <p:spPr>
          <a:xfrm flipH="1">
            <a:off x="10587601" y="4710536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D2205C6-206A-4778-AE9B-2874F5B430F9}"/>
              </a:ext>
            </a:extLst>
          </p:cNvPr>
          <p:cNvCxnSpPr/>
          <p:nvPr/>
        </p:nvCxnSpPr>
        <p:spPr>
          <a:xfrm flipH="1">
            <a:off x="10848575" y="4707242"/>
            <a:ext cx="209725" cy="3691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CCF929C-3494-4E7A-B034-5D5EF7411B69}"/>
              </a:ext>
            </a:extLst>
          </p:cNvPr>
          <p:cNvSpPr txBox="1"/>
          <p:nvPr/>
        </p:nvSpPr>
        <p:spPr>
          <a:xfrm>
            <a:off x="8742396" y="5181676"/>
            <a:ext cx="2088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= 90 ÷ 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F2F8A2-AA81-47FF-9891-42AA59F8F9B2}"/>
              </a:ext>
            </a:extLst>
          </p:cNvPr>
          <p:cNvSpPr txBox="1"/>
          <p:nvPr/>
        </p:nvSpPr>
        <p:spPr>
          <a:xfrm>
            <a:off x="8759716" y="5797747"/>
            <a:ext cx="2088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7538" y="150498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4012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91" grpId="0"/>
      <p:bldP spid="92" grpId="0"/>
      <p:bldP spid="93" grpId="0"/>
      <p:bldP spid="94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4" grpId="0"/>
      <p:bldP spid="49" grpId="0"/>
      <p:bldP spid="50" grpId="0"/>
      <p:bldP spid="55" grpId="0"/>
      <p:bldP spid="56" grpId="0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D318AD0-8C23-41D4-B5A8-A9FFFDC5F64F}"/>
              </a:ext>
            </a:extLst>
          </p:cNvPr>
          <p:cNvCxnSpPr>
            <a:cxnSpLocks/>
          </p:cNvCxnSpPr>
          <p:nvPr/>
        </p:nvCxnSpPr>
        <p:spPr>
          <a:xfrm flipV="1">
            <a:off x="1185273" y="5317393"/>
            <a:ext cx="1" cy="550935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26">
            <a:extLst>
              <a:ext uri="{FF2B5EF4-FFF2-40B4-BE49-F238E27FC236}">
                <a16:creationId xmlns:a16="http://schemas.microsoft.com/office/drawing/2014/main" id="{1C43182D-DC47-4145-AE27-8982A28B9A8B}"/>
              </a:ext>
            </a:extLst>
          </p:cNvPr>
          <p:cNvSpPr/>
          <p:nvPr/>
        </p:nvSpPr>
        <p:spPr>
          <a:xfrm>
            <a:off x="247240" y="5861129"/>
            <a:ext cx="2052615" cy="6705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EF036-67C7-427F-A32F-A6AD26EDBCC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47882B-8F92-4A98-B531-A1A7628AD771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D53B65-BD6D-4727-B0D8-A3B3BE7DDD7A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2C8EAE-60A9-4E61-B5A6-3F76DD8473DD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Why do we use index notation?</a:t>
              </a:r>
            </a:p>
          </p:txBody>
        </p:sp>
      </p:grpSp>
      <p:sp>
        <p:nvSpPr>
          <p:cNvPr id="23" name="Rectangle: Rounded Corners 8"/>
          <p:cNvSpPr/>
          <p:nvPr/>
        </p:nvSpPr>
        <p:spPr>
          <a:xfrm>
            <a:off x="5883578" y="2483220"/>
            <a:ext cx="4441244" cy="69897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: Rounded Corners 7"/>
          <p:cNvSpPr/>
          <p:nvPr/>
        </p:nvSpPr>
        <p:spPr>
          <a:xfrm>
            <a:off x="1044089" y="2914107"/>
            <a:ext cx="1700613" cy="70788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/>
          <p:cNvSpPr txBox="1"/>
          <p:nvPr/>
        </p:nvSpPr>
        <p:spPr>
          <a:xfrm>
            <a:off x="3872748" y="2483220"/>
            <a:ext cx="2512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600" b="1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Arial Rounded MT Bold" panose="020F0704030504030204" pitchFamily="34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5189" y="2474312"/>
            <a:ext cx="1948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Rounded MT Bold" panose="020F0704030504030204" pitchFamily="34" charset="0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1413" y="2914107"/>
            <a:ext cx="1705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Arial Rounded MT Bold" panose="020F0704030504030204" pitchFamily="34" charset="0"/>
              </a:rPr>
              <a:t>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3578" y="2474312"/>
            <a:ext cx="49340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Arial Rounded MT Bold" panose="020F0704030504030204" pitchFamily="34" charset="0"/>
              </a:rPr>
              <a:t>INDEX or POWER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744702" y="3268050"/>
            <a:ext cx="11280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5128980" y="2828255"/>
            <a:ext cx="7545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7668" y="4456741"/>
            <a:ext cx="9061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4</a:t>
            </a:r>
            <a:r>
              <a:rPr lang="en-AU" sz="5400" baseline="30000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5</a:t>
            </a:r>
            <a:r>
              <a:rPr lang="en-AU" sz="5400" dirty="0">
                <a:latin typeface="Arial Rounded MT Bold" panose="020F0704030504030204" pitchFamily="34" charset="0"/>
              </a:rPr>
              <a:t> = </a:t>
            </a:r>
            <a:r>
              <a:rPr lang="en-AU" sz="54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</a:rPr>
              <a:t>4 x 4 x 4 x 4 x 4 </a:t>
            </a:r>
            <a:r>
              <a:rPr lang="en-AU" sz="5400" dirty="0">
                <a:latin typeface="Arial Rounded MT Bold" panose="020F0704030504030204" pitchFamily="34" charset="0"/>
              </a:rPr>
              <a:t>= </a:t>
            </a:r>
            <a:r>
              <a:rPr lang="en-AU" sz="5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1,024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81CDC7-58C6-4B00-AF95-88D3AE68A65D}"/>
              </a:ext>
            </a:extLst>
          </p:cNvPr>
          <p:cNvSpPr txBox="1"/>
          <p:nvPr/>
        </p:nvSpPr>
        <p:spPr>
          <a:xfrm>
            <a:off x="369160" y="853012"/>
            <a:ext cx="9445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Index notation </a:t>
            </a:r>
            <a:r>
              <a:rPr lang="en-AU" sz="3200" b="1" dirty="0">
                <a:cs typeface="Arial" panose="020B0604020202020204" pitchFamily="34" charset="0"/>
              </a:rPr>
              <a:t>– to save space when repeating a number multiplied by itself, mathematicians write in index form.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847882B-8F92-4A98-B531-A1A7628AD771}"/>
              </a:ext>
            </a:extLst>
          </p:cNvPr>
          <p:cNvGrpSpPr/>
          <p:nvPr/>
        </p:nvGrpSpPr>
        <p:grpSpPr>
          <a:xfrm>
            <a:off x="10156369" y="1072584"/>
            <a:ext cx="2035631" cy="971026"/>
            <a:chOff x="660399" y="3602071"/>
            <a:chExt cx="2035631" cy="97102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D53B65-BD6D-4727-B0D8-A3B3BE7DDD7A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32C8EAE-60A9-4E61-B5A6-3F76DD8473DD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 7</a:t>
              </a:r>
              <a:r>
                <a:rPr lang="en-AU" baseline="30000" dirty="0">
                  <a:solidFill>
                    <a:schemeClr val="tx1"/>
                  </a:solidFill>
                </a:rPr>
                <a:t>8 </a:t>
              </a:r>
              <a:r>
                <a:rPr lang="en-AU" dirty="0">
                  <a:solidFill>
                    <a:schemeClr val="tx1"/>
                  </a:solidFill>
                </a:rPr>
                <a:t>what is the base?</a:t>
              </a:r>
            </a:p>
          </p:txBody>
        </p:sp>
      </p:grp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145234" y="5932203"/>
            <a:ext cx="2226664" cy="783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3200" b="1" dirty="0"/>
              <a:t>Index Form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" name="Right Brace 1"/>
          <p:cNvSpPr/>
          <p:nvPr/>
        </p:nvSpPr>
        <p:spPr>
          <a:xfrm rot="5400000">
            <a:off x="4497435" y="3018281"/>
            <a:ext cx="531068" cy="5026876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: Rounded Corners 6">
            <a:extLst>
              <a:ext uri="{FF2B5EF4-FFF2-40B4-BE49-F238E27FC236}">
                <a16:creationId xmlns:a16="http://schemas.microsoft.com/office/drawing/2014/main" id="{BB5ACA74-D543-49FF-81B3-CE901BFEC473}"/>
              </a:ext>
            </a:extLst>
          </p:cNvPr>
          <p:cNvSpPr/>
          <p:nvPr/>
        </p:nvSpPr>
        <p:spPr>
          <a:xfrm>
            <a:off x="3280389" y="5861129"/>
            <a:ext cx="2943073" cy="6705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48885" y="5932203"/>
            <a:ext cx="2828168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3200" b="1" dirty="0"/>
              <a:t>Expanded Form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318AD0-8C23-41D4-B5A8-A9FFFDC5F64F}"/>
              </a:ext>
            </a:extLst>
          </p:cNvPr>
          <p:cNvCxnSpPr>
            <a:cxnSpLocks/>
          </p:cNvCxnSpPr>
          <p:nvPr/>
        </p:nvCxnSpPr>
        <p:spPr>
          <a:xfrm flipV="1">
            <a:off x="8847824" y="5317393"/>
            <a:ext cx="1" cy="5509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26">
            <a:extLst>
              <a:ext uri="{FF2B5EF4-FFF2-40B4-BE49-F238E27FC236}">
                <a16:creationId xmlns:a16="http://schemas.microsoft.com/office/drawing/2014/main" id="{1C43182D-DC47-4145-AE27-8982A28B9A8B}"/>
              </a:ext>
            </a:extLst>
          </p:cNvPr>
          <p:cNvSpPr/>
          <p:nvPr/>
        </p:nvSpPr>
        <p:spPr>
          <a:xfrm>
            <a:off x="7909791" y="5861129"/>
            <a:ext cx="2052615" cy="670560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7807785" y="5932203"/>
            <a:ext cx="2226664" cy="7837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3200" b="1" dirty="0"/>
              <a:t>Answer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847882B-8F92-4A98-B531-A1A7628AD771}"/>
              </a:ext>
            </a:extLst>
          </p:cNvPr>
          <p:cNvGrpSpPr/>
          <p:nvPr/>
        </p:nvGrpSpPr>
        <p:grpSpPr>
          <a:xfrm>
            <a:off x="10156369" y="3404959"/>
            <a:ext cx="2035631" cy="971026"/>
            <a:chOff x="660399" y="3602071"/>
            <a:chExt cx="2035631" cy="97102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9D53B65-BD6D-4727-B0D8-A3B3BE7DDD7A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32C8EAE-60A9-4E61-B5A6-3F76DD8473DD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 7</a:t>
              </a:r>
              <a:r>
                <a:rPr lang="en-AU" baseline="30000" dirty="0">
                  <a:solidFill>
                    <a:schemeClr val="tx1"/>
                  </a:solidFill>
                </a:rPr>
                <a:t>8 </a:t>
              </a:r>
              <a:r>
                <a:rPr lang="en-AU" dirty="0">
                  <a:solidFill>
                    <a:schemeClr val="tx1"/>
                  </a:solidFill>
                </a:rPr>
                <a:t>what is the power?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847882B-8F92-4A98-B531-A1A7628AD771}"/>
              </a:ext>
            </a:extLst>
          </p:cNvPr>
          <p:cNvGrpSpPr/>
          <p:nvPr/>
        </p:nvGrpSpPr>
        <p:grpSpPr>
          <a:xfrm>
            <a:off x="10156369" y="4498656"/>
            <a:ext cx="2035631" cy="971026"/>
            <a:chOff x="660399" y="3602071"/>
            <a:chExt cx="2035631" cy="97102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9D53B65-BD6D-4727-B0D8-A3B3BE7DDD7A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32C8EAE-60A9-4E61-B5A6-3F76DD8473DD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Write 9</a:t>
              </a:r>
              <a:r>
                <a:rPr lang="en-AU" baseline="30000" dirty="0">
                  <a:solidFill>
                    <a:schemeClr val="tx1"/>
                  </a:solidFill>
                </a:rPr>
                <a:t>3</a:t>
              </a:r>
              <a:r>
                <a:rPr lang="en-AU" dirty="0">
                  <a:solidFill>
                    <a:schemeClr val="tx1"/>
                  </a:solidFill>
                </a:rPr>
                <a:t> in expanded form.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141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31" grpId="0"/>
      <p:bldP spid="38" grpId="0"/>
      <p:bldP spid="2" grpId="0" animBg="1"/>
      <p:bldP spid="39" grpId="0" animBg="1"/>
      <p:bldP spid="40" grpId="0"/>
      <p:bldP spid="42" grpId="0" animBg="1"/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604439" y="160966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7</a:t>
            </a:r>
            <a:r>
              <a:rPr lang="en-AU" sz="4000" b="1" baseline="30000" dirty="0"/>
              <a:t>3</a:t>
            </a:r>
            <a:endParaRPr lang="en-AU" sz="4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5264B4-7E87-46B3-AD65-B1FA73EDF651}"/>
              </a:ext>
            </a:extLst>
          </p:cNvPr>
          <p:cNvSpPr txBox="1"/>
          <p:nvPr/>
        </p:nvSpPr>
        <p:spPr>
          <a:xfrm>
            <a:off x="287727" y="804831"/>
            <a:ext cx="9785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Write the following in expanded form: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658624-395D-43B1-84E8-FEB69BB85585}"/>
              </a:ext>
            </a:extLst>
          </p:cNvPr>
          <p:cNvGrpSpPr/>
          <p:nvPr/>
        </p:nvGrpSpPr>
        <p:grpSpPr>
          <a:xfrm>
            <a:off x="10156369" y="0"/>
            <a:ext cx="2035631" cy="1486678"/>
            <a:chOff x="660399" y="3602071"/>
            <a:chExt cx="2035631" cy="148667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19BC36-AD6F-4FAC-9C68-79D62B9621F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F132760-CD2B-45E4-9D54-FE88922287EB}"/>
                </a:ext>
              </a:extLst>
            </p:cNvPr>
            <p:cNvSpPr/>
            <p:nvPr/>
          </p:nvSpPr>
          <p:spPr>
            <a:xfrm>
              <a:off x="660399" y="3931961"/>
              <a:ext cx="2035629" cy="115678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Index Form – Simplified into a base and power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(e.g. 7</a:t>
              </a:r>
              <a:r>
                <a:rPr lang="en-AU" baseline="30000" dirty="0">
                  <a:solidFill>
                    <a:schemeClr val="tx1"/>
                  </a:solidFill>
                </a:rPr>
                <a:t>3</a:t>
              </a:r>
              <a:r>
                <a:rPr lang="en-AU" dirty="0">
                  <a:solidFill>
                    <a:schemeClr val="tx1"/>
                  </a:solidFill>
                </a:rPr>
                <a:t>).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658624-395D-43B1-84E8-FEB69BB85585}"/>
              </a:ext>
            </a:extLst>
          </p:cNvPr>
          <p:cNvGrpSpPr/>
          <p:nvPr/>
        </p:nvGrpSpPr>
        <p:grpSpPr>
          <a:xfrm>
            <a:off x="10156367" y="1576648"/>
            <a:ext cx="2035631" cy="1486678"/>
            <a:chOff x="660399" y="3602071"/>
            <a:chExt cx="2035631" cy="148667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A19BC36-AD6F-4FAC-9C68-79D62B9621F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F132760-CD2B-45E4-9D54-FE88922287EB}"/>
                </a:ext>
              </a:extLst>
            </p:cNvPr>
            <p:cNvSpPr/>
            <p:nvPr/>
          </p:nvSpPr>
          <p:spPr>
            <a:xfrm>
              <a:off x="660399" y="3931961"/>
              <a:ext cx="2035629" cy="115678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Expanded Form – Showing all of the multiplications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(e.g. 7 x 7 x 7).</a:t>
              </a:r>
            </a:p>
          </p:txBody>
        </p:sp>
      </p:grp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591442" y="263612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6</a:t>
            </a:r>
            <a:r>
              <a:rPr lang="en-AU" sz="4000" b="1" baseline="30000" dirty="0"/>
              <a:t>3</a:t>
            </a:r>
            <a:endParaRPr lang="en-AU" sz="4000" b="1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4914680" y="160966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2</a:t>
            </a:r>
            <a:r>
              <a:rPr lang="en-AU" sz="4000" b="1" baseline="30000" dirty="0"/>
              <a:t>4</a:t>
            </a:r>
            <a:endParaRPr lang="en-AU" sz="4000" b="1" dirty="0"/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4901683" y="263612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58</a:t>
            </a:r>
            <a:r>
              <a:rPr lang="en-AU" sz="4000" b="1" baseline="30000" dirty="0"/>
              <a:t>2</a:t>
            </a:r>
            <a:endParaRPr lang="en-AU" sz="40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5264B4-7E87-46B3-AD65-B1FA73EDF651}"/>
              </a:ext>
            </a:extLst>
          </p:cNvPr>
          <p:cNvSpPr txBox="1"/>
          <p:nvPr/>
        </p:nvSpPr>
        <p:spPr>
          <a:xfrm>
            <a:off x="287726" y="3567427"/>
            <a:ext cx="9041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Write the following in index form: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591443" y="4467414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3 x 3 x 3 x 3</a:t>
            </a:r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591442" y="5567466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92 x 92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4901684" y="4467414"/>
            <a:ext cx="3943058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5 x 5 x 5 x 5 x 5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4901683" y="5567466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4 x 4 x 4 x 7</a:t>
            </a: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1186093" y="1609662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>
                <a:solidFill>
                  <a:srgbClr val="C00000"/>
                </a:solidFill>
              </a:rPr>
              <a:t>= 7 x 7 x 7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1173096" y="2636122"/>
            <a:ext cx="3194272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>
                <a:solidFill>
                  <a:srgbClr val="C00000"/>
                </a:solidFill>
              </a:rPr>
              <a:t>= 6 x 6 x 6</a:t>
            </a:r>
          </a:p>
          <a:p>
            <a:pPr marL="0" indent="0">
              <a:buNone/>
            </a:pPr>
            <a:endParaRPr lang="en-AU" sz="4000" b="1" dirty="0">
              <a:solidFill>
                <a:srgbClr val="C00000"/>
              </a:solidFill>
            </a:endParaRP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611018" y="1609662"/>
            <a:ext cx="947415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/>
              <a:t>7</a:t>
            </a:r>
            <a:r>
              <a:rPr lang="en-AU" sz="4000" b="1" baseline="30000" dirty="0"/>
              <a:t>3</a:t>
            </a:r>
            <a:endParaRPr lang="en-AU" sz="4000" b="1" dirty="0"/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3292494" y="4467414"/>
            <a:ext cx="1150456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>
                <a:solidFill>
                  <a:srgbClr val="C00000"/>
                </a:solidFill>
              </a:rPr>
              <a:t>= 3</a:t>
            </a:r>
            <a:r>
              <a:rPr lang="en-AU" sz="4000" b="1" baseline="30000" dirty="0">
                <a:solidFill>
                  <a:srgbClr val="C00000"/>
                </a:solidFill>
              </a:rPr>
              <a:t>4</a:t>
            </a:r>
            <a:endParaRPr lang="en-AU" sz="4000" b="1" dirty="0">
              <a:solidFill>
                <a:srgbClr val="C00000"/>
              </a:solidFill>
            </a:endParaRP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565C3D40-8861-4F6C-A104-5EC9581ECDE2}"/>
              </a:ext>
            </a:extLst>
          </p:cNvPr>
          <p:cNvSpPr txBox="1">
            <a:spLocks/>
          </p:cNvSpPr>
          <p:nvPr/>
        </p:nvSpPr>
        <p:spPr>
          <a:xfrm>
            <a:off x="2278343" y="5567466"/>
            <a:ext cx="1463038" cy="662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b="1" dirty="0">
                <a:solidFill>
                  <a:srgbClr val="C00000"/>
                </a:solidFill>
              </a:rPr>
              <a:t>= 92</a:t>
            </a:r>
            <a:r>
              <a:rPr lang="en-AU" sz="4000" b="1" baseline="30000" dirty="0">
                <a:solidFill>
                  <a:srgbClr val="C00000"/>
                </a:solidFill>
              </a:rPr>
              <a:t>2</a:t>
            </a:r>
            <a:endParaRPr lang="en-AU" sz="4000" b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73213" y="927941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2376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3" grpId="0"/>
      <p:bldP spid="64" grpId="0"/>
      <p:bldP spid="71" grpId="0"/>
      <p:bldP spid="72" grpId="0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658624-395D-43B1-84E8-FEB69BB85585}"/>
              </a:ext>
            </a:extLst>
          </p:cNvPr>
          <p:cNvGrpSpPr/>
          <p:nvPr/>
        </p:nvGrpSpPr>
        <p:grpSpPr>
          <a:xfrm>
            <a:off x="10156369" y="0"/>
            <a:ext cx="2035631" cy="1486678"/>
            <a:chOff x="660399" y="3602071"/>
            <a:chExt cx="2035631" cy="1486678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19BC36-AD6F-4FAC-9C68-79D62B9621F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VOCABULARY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F132760-CD2B-45E4-9D54-FE88922287EB}"/>
                </a:ext>
              </a:extLst>
            </p:cNvPr>
            <p:cNvSpPr/>
            <p:nvPr/>
          </p:nvSpPr>
          <p:spPr>
            <a:xfrm>
              <a:off x="660399" y="3931961"/>
              <a:ext cx="2035629" cy="115678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Square – the result of a number multiplied by itself.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(e.g. 2 x 2 = 4).</a:t>
              </a:r>
            </a:p>
          </p:txBody>
        </p:sp>
      </p:grpSp>
      <p:sp>
        <p:nvSpPr>
          <p:cNvPr id="29" name="Rounded Rectangle 11">
            <a:extLst>
              <a:ext uri="{FF2B5EF4-FFF2-40B4-BE49-F238E27FC236}">
                <a16:creationId xmlns:a16="http://schemas.microsoft.com/office/drawing/2014/main" id="{097F9E8F-CEE9-44FB-BCB7-8DB331379AD4}"/>
              </a:ext>
            </a:extLst>
          </p:cNvPr>
          <p:cNvSpPr/>
          <p:nvPr/>
        </p:nvSpPr>
        <p:spPr>
          <a:xfrm>
            <a:off x="3951551" y="5150346"/>
            <a:ext cx="1322578" cy="591127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600"/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E2F99E07-2829-48B4-8D76-7428F737B636}"/>
              </a:ext>
            </a:extLst>
          </p:cNvPr>
          <p:cNvSpPr/>
          <p:nvPr/>
        </p:nvSpPr>
        <p:spPr>
          <a:xfrm>
            <a:off x="10552153" y="3839859"/>
            <a:ext cx="1142999" cy="606025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600"/>
          </a:p>
        </p:txBody>
      </p:sp>
      <p:sp>
        <p:nvSpPr>
          <p:cNvPr id="31" name="Rounded Rectangle 7">
            <a:extLst>
              <a:ext uri="{FF2B5EF4-FFF2-40B4-BE49-F238E27FC236}">
                <a16:creationId xmlns:a16="http://schemas.microsoft.com/office/drawing/2014/main" id="{5BD9A6AB-1833-4485-9A0C-5766CA18A8B5}"/>
              </a:ext>
            </a:extLst>
          </p:cNvPr>
          <p:cNvSpPr/>
          <p:nvPr/>
        </p:nvSpPr>
        <p:spPr>
          <a:xfrm>
            <a:off x="6237515" y="3840889"/>
            <a:ext cx="1142999" cy="646331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011249-40BE-44BA-883D-D00766FD829F}"/>
              </a:ext>
            </a:extLst>
          </p:cNvPr>
          <p:cNvSpPr txBox="1"/>
          <p:nvPr/>
        </p:nvSpPr>
        <p:spPr>
          <a:xfrm>
            <a:off x="1412403" y="5147790"/>
            <a:ext cx="9367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>
                <a:cs typeface="Arial" panose="020B0604020202020204" pitchFamily="34" charset="0"/>
              </a:rPr>
              <a:t>0.04 x 0.04 = 0.0016			28 x 29 = 812	</a:t>
            </a:r>
            <a:endParaRPr lang="en-AU" sz="3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73BC1C-8174-4120-8257-FA481B3D5633}"/>
              </a:ext>
            </a:extLst>
          </p:cNvPr>
          <p:cNvSpPr txBox="1"/>
          <p:nvPr/>
        </p:nvSpPr>
        <p:spPr>
          <a:xfrm>
            <a:off x="208972" y="1628917"/>
            <a:ext cx="117740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/>
              <a:t>A square is the result of a number multiplied by itself.</a:t>
            </a:r>
          </a:p>
          <a:p>
            <a:pPr algn="ctr"/>
            <a:endParaRPr lang="en-AU" sz="3600" dirty="0"/>
          </a:p>
          <a:p>
            <a:pPr algn="ctr"/>
            <a:r>
              <a:rPr lang="en-AU" sz="3600" dirty="0">
                <a:cs typeface="Arial" panose="020B0604020202020204" pitchFamily="34" charset="0"/>
              </a:rPr>
              <a:t>Which of these are squares?</a:t>
            </a:r>
          </a:p>
          <a:p>
            <a:pPr algn="ctr"/>
            <a:endParaRPr lang="en-AU" sz="3600" dirty="0"/>
          </a:p>
          <a:p>
            <a:pPr algn="ctr"/>
            <a:r>
              <a:rPr lang="en-AU" sz="3600" dirty="0">
                <a:cs typeface="Arial" panose="020B0604020202020204" pitchFamily="34" charset="0"/>
              </a:rPr>
              <a:t>2 x 8 = 16			4.8 x 4.8 = 23.04		42 x 42 = 1764</a:t>
            </a:r>
          </a:p>
          <a:p>
            <a:pPr algn="ctr"/>
            <a:endParaRPr lang="en-AU" sz="3600" dirty="0">
              <a:cs typeface="Arial" panose="020B0604020202020204" pitchFamily="34" charset="0"/>
            </a:endParaRPr>
          </a:p>
          <a:p>
            <a:pPr algn="ctr"/>
            <a:r>
              <a:rPr lang="en-AU" sz="3600" dirty="0">
                <a:cs typeface="Arial" panose="020B0604020202020204" pitchFamily="34" charset="0"/>
              </a:rPr>
              <a:t>				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16658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3650" y="3153326"/>
            <a:ext cx="74703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√ 100 = 10			√64 = 8</a:t>
            </a:r>
          </a:p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√36 = 6				√16 = 4</a:t>
            </a:r>
          </a:p>
          <a:p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√4 = 2				 √6.25 = 2.5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FBA2C9-09E6-4476-8BA5-FC570F940727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B0E4D-6519-4286-80D5-CE3C9E3A3B2E}"/>
              </a:ext>
            </a:extLst>
          </p:cNvPr>
          <p:cNvSpPr txBox="1"/>
          <p:nvPr/>
        </p:nvSpPr>
        <p:spPr>
          <a:xfrm>
            <a:off x="381626" y="1211713"/>
            <a:ext cx="9970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  <a:cs typeface="Arial" panose="020B0604020202020204" pitchFamily="34" charset="0"/>
              </a:rPr>
              <a:t>Square Root </a:t>
            </a:r>
            <a:r>
              <a:rPr lang="en-AU" sz="3200" b="1" dirty="0">
                <a:cs typeface="Arial" panose="020B0604020202020204" pitchFamily="34" charset="0"/>
              </a:rPr>
              <a:t>– </a:t>
            </a:r>
            <a:r>
              <a:rPr lang="en-AU" sz="3200" b="1" dirty="0"/>
              <a:t>Square rooting a number is the opposite of squaring a number. </a:t>
            </a:r>
            <a:r>
              <a:rPr lang="en-AU" sz="3200" b="1" dirty="0">
                <a:cs typeface="Arial" panose="020B0604020202020204" pitchFamily="34" charset="0"/>
              </a:rPr>
              <a:t>Its symbol is √.</a:t>
            </a:r>
          </a:p>
          <a:p>
            <a:endParaRPr lang="en-AU" sz="32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CB8937-6266-45B5-98EE-C58EFB275E7A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3971C4-132D-4BC8-89A6-0CDD2E95D0F7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78C0F5-458B-452E-A77D-FC0503FA3CB0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a square root?</a:t>
              </a:r>
            </a:p>
          </p:txBody>
        </p:sp>
      </p:grpSp>
      <p:pic>
        <p:nvPicPr>
          <p:cNvPr id="1026" name="Picture 2" descr="Image result for tree square root">
            <a:extLst>
              <a:ext uri="{FF2B5EF4-FFF2-40B4-BE49-F238E27FC236}">
                <a16:creationId xmlns:a16="http://schemas.microsoft.com/office/drawing/2014/main" id="{B8A58795-8FB6-4605-9A90-9BA8571F7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165" y="3559629"/>
            <a:ext cx="4198013" cy="314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62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33CB3D59-769D-45EB-8004-E0B7E8357D42}"/>
              </a:ext>
            </a:extLst>
          </p:cNvPr>
          <p:cNvSpPr txBox="1"/>
          <p:nvPr/>
        </p:nvSpPr>
        <p:spPr>
          <a:xfrm>
            <a:off x="3336462" y="3394581"/>
            <a:ext cx="21140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Is there any: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1. </a:t>
            </a:r>
            <a:r>
              <a:rPr lang="en-AU" sz="2800" b="1" dirty="0">
                <a:solidFill>
                  <a:srgbClr val="0070C0"/>
                </a:solidFill>
                <a:cs typeface="Arial" panose="020B0604020202020204" pitchFamily="34" charset="0"/>
              </a:rPr>
              <a:t>Brackets</a:t>
            </a:r>
            <a:r>
              <a:rPr lang="en-AU" sz="2800" b="1" dirty="0">
                <a:cs typeface="Arial" panose="020B0604020202020204" pitchFamily="34" charset="0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9088" y="292387"/>
            <a:ext cx="368049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UNDERLINE, DO and DROP.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331F0C7-9A19-406A-AF34-5D77ABFDBC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548" y="3394768"/>
                <a:ext cx="2871086" cy="7887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600" b="1" dirty="0"/>
                  <a:t> + (5 x 2)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331F0C7-9A19-406A-AF34-5D77ABFDB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48" y="3394768"/>
                <a:ext cx="2871086" cy="788774"/>
              </a:xfrm>
              <a:prstGeom prst="rect">
                <a:avLst/>
              </a:prstGeom>
              <a:blipFill>
                <a:blip r:embed="rId2"/>
                <a:stretch>
                  <a:fillRect t="-17054" b="-6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565C3D40-8861-4F6C-A104-5EC9581ECD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0457" y="3389042"/>
                <a:ext cx="2871085" cy="6628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3600" b="1" dirty="0" smtClean="0"/>
                  <a:t>(8 – 3) </a:t>
                </a:r>
                <a:r>
                  <a:rPr lang="en-AU" sz="3600" b="1" dirty="0"/>
                  <a:t>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3600" b="1" dirty="0"/>
              </a:p>
            </p:txBody>
          </p:sp>
        </mc:Choice>
        <mc:Fallback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565C3D40-8861-4F6C-A104-5EC9581EC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457" y="3389042"/>
                <a:ext cx="2871085" cy="662805"/>
              </a:xfrm>
              <a:prstGeom prst="rect">
                <a:avLst/>
              </a:prstGeom>
              <a:blipFill>
                <a:blip r:embed="rId3"/>
                <a:stretch>
                  <a:fillRect l="-6596" t="-20183" b="-256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512FCEDC-EA9B-4EBE-B7F4-83401A4E29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82017" y="3395277"/>
                <a:ext cx="3154005" cy="6628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3600" b="1" dirty="0" smtClean="0"/>
                  <a:t>(1 </a:t>
                </a:r>
                <a:r>
                  <a:rPr lang="en-AU" sz="3600" b="1" dirty="0"/>
                  <a:t>+ </a:t>
                </a:r>
                <a:r>
                  <a:rPr lang="en-AU" sz="3600" b="1" dirty="0"/>
                  <a:t>9</a:t>
                </a:r>
                <a:r>
                  <a:rPr lang="en-AU" sz="3600" b="1" dirty="0" smtClean="0"/>
                  <a:t> </a:t>
                </a:r>
                <a:r>
                  <a:rPr lang="en-AU" sz="3600" b="1" dirty="0"/>
                  <a:t>x 3) 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3600" b="1" dirty="0"/>
              </a:p>
            </p:txBody>
          </p:sp>
        </mc:Choice>
        <mc:Fallback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512FCEDC-EA9B-4EBE-B7F4-83401A4E2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017" y="3395277"/>
                <a:ext cx="3154005" cy="662805"/>
              </a:xfrm>
              <a:prstGeom prst="rect">
                <a:avLst/>
              </a:prstGeom>
              <a:blipFill>
                <a:blip r:embed="rId4"/>
                <a:stretch>
                  <a:fillRect l="-5996" t="-20183" b="-256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55264B4-7E87-46B3-AD65-B1FA73EDF651}"/>
              </a:ext>
            </a:extLst>
          </p:cNvPr>
          <p:cNvSpPr txBox="1"/>
          <p:nvPr/>
        </p:nvSpPr>
        <p:spPr>
          <a:xfrm>
            <a:off x="287727" y="804831"/>
            <a:ext cx="904179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0070C0"/>
                </a:solidFill>
                <a:cs typeface="Arial" panose="020B0604020202020204" pitchFamily="34" charset="0"/>
              </a:rPr>
              <a:t>B</a:t>
            </a:r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MD</a:t>
            </a:r>
            <a:r>
              <a:rPr lang="en-AU" sz="3600" b="1" dirty="0">
                <a:solidFill>
                  <a:srgbClr val="00B050"/>
                </a:solidFill>
                <a:cs typeface="Arial" panose="020B0604020202020204" pitchFamily="34" charset="0"/>
              </a:rPr>
              <a:t>AS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1. </a:t>
            </a:r>
            <a:r>
              <a:rPr lang="en-AU" sz="2800" b="1" dirty="0">
                <a:solidFill>
                  <a:srgbClr val="0070C0"/>
                </a:solidFill>
                <a:cs typeface="Arial" panose="020B0604020202020204" pitchFamily="34" charset="0"/>
              </a:rPr>
              <a:t>Brackets</a:t>
            </a:r>
            <a:r>
              <a:rPr lang="en-AU" sz="2800" b="1" dirty="0">
                <a:cs typeface="Arial" panose="020B0604020202020204" pitchFamily="34" charset="0"/>
              </a:rPr>
              <a:t> first.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2.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Indices</a:t>
            </a:r>
            <a:r>
              <a:rPr lang="en-AU" sz="2800" b="1" dirty="0">
                <a:cs typeface="Arial" panose="020B0604020202020204" pitchFamily="34" charset="0"/>
              </a:rPr>
              <a:t> next.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3.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Multiplication</a:t>
            </a:r>
            <a:r>
              <a:rPr lang="en-AU" sz="2800" b="1" dirty="0">
                <a:cs typeface="Arial" panose="020B0604020202020204" pitchFamily="34" charset="0"/>
              </a:rPr>
              <a:t> and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Division</a:t>
            </a:r>
            <a:r>
              <a:rPr lang="en-AU" sz="2800" b="1" dirty="0">
                <a:cs typeface="Arial" panose="020B0604020202020204" pitchFamily="34" charset="0"/>
              </a:rPr>
              <a:t> in order from left to right.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4.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Addition</a:t>
            </a:r>
            <a:r>
              <a:rPr lang="en-AU" sz="2800" b="1" dirty="0">
                <a:cs typeface="Arial" panose="020B0604020202020204" pitchFamily="34" charset="0"/>
              </a:rPr>
              <a:t> and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Subtraction</a:t>
            </a:r>
            <a:r>
              <a:rPr lang="en-AU" sz="2800" b="1" dirty="0">
                <a:cs typeface="Arial" panose="020B0604020202020204" pitchFamily="34" charset="0"/>
              </a:rPr>
              <a:t> in order from left to right.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F4E544-24EA-41C4-8687-66F5FCBCD228}"/>
              </a:ext>
            </a:extLst>
          </p:cNvPr>
          <p:cNvCxnSpPr>
            <a:cxnSpLocks/>
          </p:cNvCxnSpPr>
          <p:nvPr/>
        </p:nvCxnSpPr>
        <p:spPr>
          <a:xfrm>
            <a:off x="1715602" y="3992022"/>
            <a:ext cx="118324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C0437A-4EFF-41F7-AEEF-064A1CAD70FC}"/>
              </a:ext>
            </a:extLst>
          </p:cNvPr>
          <p:cNvSpPr txBox="1"/>
          <p:nvPr/>
        </p:nvSpPr>
        <p:spPr>
          <a:xfrm>
            <a:off x="1970032" y="3938850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A9F9D-6A43-48AD-B021-E115E952FD89}"/>
              </a:ext>
            </a:extLst>
          </p:cNvPr>
          <p:cNvSpPr txBox="1"/>
          <p:nvPr/>
        </p:nvSpPr>
        <p:spPr>
          <a:xfrm>
            <a:off x="382335" y="3938850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9FF374-B873-4671-A984-600248344882}"/>
                  </a:ext>
                </a:extLst>
              </p:cNvPr>
              <p:cNvSpPr txBox="1"/>
              <p:nvPr/>
            </p:nvSpPr>
            <p:spPr>
              <a:xfrm>
                <a:off x="731008" y="3936666"/>
                <a:ext cx="1021745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600" b="1" dirty="0"/>
                  <a:t> +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9FF374-B873-4671-A984-600248344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08" y="3936666"/>
                <a:ext cx="1021745" cy="658898"/>
              </a:xfrm>
              <a:prstGeom prst="rect">
                <a:avLst/>
              </a:prstGeom>
              <a:blipFill>
                <a:blip r:embed="rId5"/>
                <a:stretch>
                  <a:fillRect t="-12037" r="-16071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6115DC-902B-4099-912A-76F8164E66FC}"/>
              </a:ext>
            </a:extLst>
          </p:cNvPr>
          <p:cNvCxnSpPr>
            <a:cxnSpLocks/>
          </p:cNvCxnSpPr>
          <p:nvPr/>
        </p:nvCxnSpPr>
        <p:spPr>
          <a:xfrm>
            <a:off x="735583" y="4585181"/>
            <a:ext cx="58390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509AAC0-FDFF-4B99-80EB-DA4909ACE2B9}"/>
              </a:ext>
            </a:extLst>
          </p:cNvPr>
          <p:cNvSpPr txBox="1"/>
          <p:nvPr/>
        </p:nvSpPr>
        <p:spPr>
          <a:xfrm>
            <a:off x="691929" y="4674944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22D68D-D72E-4B19-AADA-64911FAB8A82}"/>
              </a:ext>
            </a:extLst>
          </p:cNvPr>
          <p:cNvSpPr txBox="1"/>
          <p:nvPr/>
        </p:nvSpPr>
        <p:spPr>
          <a:xfrm>
            <a:off x="378782" y="4666217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658624-395D-43B1-84E8-FEB69BB85585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A19BC36-AD6F-4FAC-9C68-79D62B9621F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F132760-CD2B-45E4-9D54-FE88922287EB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does BIMDAS stand for?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195DFED-94B6-4541-8AF8-FD41361CD393}"/>
              </a:ext>
            </a:extLst>
          </p:cNvPr>
          <p:cNvSpPr txBox="1"/>
          <p:nvPr/>
        </p:nvSpPr>
        <p:spPr>
          <a:xfrm>
            <a:off x="3336462" y="5297653"/>
            <a:ext cx="4523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4.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Addition</a:t>
            </a:r>
            <a:r>
              <a:rPr lang="en-AU" sz="2800" b="1" dirty="0">
                <a:cs typeface="Arial" panose="020B0604020202020204" pitchFamily="34" charset="0"/>
              </a:rPr>
              <a:t> or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Subtraction</a:t>
            </a:r>
            <a:r>
              <a:rPr lang="en-AU" sz="2800" b="1" dirty="0">
                <a:cs typeface="Arial" panose="020B0604020202020204" pitchFamily="34" charset="0"/>
              </a:rPr>
              <a:t>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7C5DFB-FC12-4A6E-B2E9-5197DD952BEA}"/>
              </a:ext>
            </a:extLst>
          </p:cNvPr>
          <p:cNvSpPr txBox="1"/>
          <p:nvPr/>
        </p:nvSpPr>
        <p:spPr>
          <a:xfrm>
            <a:off x="3336462" y="4323572"/>
            <a:ext cx="4523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2.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Indices</a:t>
            </a:r>
            <a:r>
              <a:rPr lang="en-AU" sz="2800" b="1" dirty="0">
                <a:cs typeface="Arial" panose="020B0604020202020204" pitchFamily="34" charset="0"/>
              </a:rPr>
              <a:t>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FFF839-D1EF-42F5-8531-C1CF86767C41}"/>
              </a:ext>
            </a:extLst>
          </p:cNvPr>
          <p:cNvSpPr txBox="1"/>
          <p:nvPr/>
        </p:nvSpPr>
        <p:spPr>
          <a:xfrm>
            <a:off x="3336462" y="4827298"/>
            <a:ext cx="4523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3.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Multiplication</a:t>
            </a:r>
            <a:r>
              <a:rPr lang="en-AU" sz="2800" b="1" dirty="0">
                <a:cs typeface="Arial" panose="020B0604020202020204" pitchFamily="34" charset="0"/>
              </a:rPr>
              <a:t> or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Division</a:t>
            </a:r>
            <a:r>
              <a:rPr lang="en-AU" sz="2800" b="1" dirty="0">
                <a:cs typeface="Arial" panose="020B0604020202020204" pitchFamily="34" charset="0"/>
              </a:rPr>
              <a:t>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1FE10E-EF61-43BA-8332-D477ADCBB678}"/>
              </a:ext>
            </a:extLst>
          </p:cNvPr>
          <p:cNvSpPr txBox="1"/>
          <p:nvPr/>
        </p:nvSpPr>
        <p:spPr>
          <a:xfrm>
            <a:off x="7848428" y="4798055"/>
            <a:ext cx="686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660892-A3E2-4348-8310-22A2D15ED4B9}"/>
              </a:ext>
            </a:extLst>
          </p:cNvPr>
          <p:cNvSpPr txBox="1"/>
          <p:nvPr/>
        </p:nvSpPr>
        <p:spPr>
          <a:xfrm>
            <a:off x="5303181" y="3813198"/>
            <a:ext cx="435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Yes! Underline, do &amp; drop!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CD9F01-3B97-4C6A-94EF-3E2325D000B5}"/>
              </a:ext>
            </a:extLst>
          </p:cNvPr>
          <p:cNvSpPr txBox="1"/>
          <p:nvPr/>
        </p:nvSpPr>
        <p:spPr>
          <a:xfrm>
            <a:off x="5137499" y="4329111"/>
            <a:ext cx="435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Yes! Underline, do &amp; drop!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9DF9883-0350-4D37-B86B-C24B4B2B40BE}"/>
              </a:ext>
            </a:extLst>
          </p:cNvPr>
          <p:cNvGrpSpPr/>
          <p:nvPr/>
        </p:nvGrpSpPr>
        <p:grpSpPr>
          <a:xfrm>
            <a:off x="10156369" y="1012398"/>
            <a:ext cx="2035631" cy="1159296"/>
            <a:chOff x="660399" y="3602071"/>
            <a:chExt cx="2035631" cy="115929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4F64CDF-2A75-4B7E-84B2-B5FB909D3CE2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9E9B2ED-9E16-4682-9A97-0CF01811B346}"/>
                </a:ext>
              </a:extLst>
            </p:cNvPr>
            <p:cNvSpPr/>
            <p:nvPr/>
          </p:nvSpPr>
          <p:spPr>
            <a:xfrm>
              <a:off x="660399" y="3931961"/>
              <a:ext cx="2035629" cy="82940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order do you do addition and subtraction in?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ABE4CF3-6F46-4F8E-B27D-5CD8046C0882}"/>
              </a:ext>
            </a:extLst>
          </p:cNvPr>
          <p:cNvGrpSpPr/>
          <p:nvPr/>
        </p:nvGrpSpPr>
        <p:grpSpPr>
          <a:xfrm>
            <a:off x="10156369" y="2213740"/>
            <a:ext cx="2035631" cy="1159296"/>
            <a:chOff x="660399" y="3602071"/>
            <a:chExt cx="2035631" cy="115929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5C4EE42-8F36-45D8-94BD-713A10B64817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3CA35F4-6523-40A3-A286-3085B071DDC5}"/>
                </a:ext>
              </a:extLst>
            </p:cNvPr>
            <p:cNvSpPr/>
            <p:nvPr/>
          </p:nvSpPr>
          <p:spPr>
            <a:xfrm>
              <a:off x="660399" y="3931961"/>
              <a:ext cx="2035629" cy="82940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the strategy for setting out your work?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06D1F5C-99AF-4937-8658-5A06B8F33E54}"/>
              </a:ext>
            </a:extLst>
          </p:cNvPr>
          <p:cNvSpPr txBox="1"/>
          <p:nvPr/>
        </p:nvSpPr>
        <p:spPr>
          <a:xfrm>
            <a:off x="1319486" y="4669690"/>
            <a:ext cx="161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+    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CD4CC4-EDDA-4567-A9DD-FEDD7DE97854}"/>
              </a:ext>
            </a:extLst>
          </p:cNvPr>
          <p:cNvSpPr txBox="1"/>
          <p:nvPr/>
        </p:nvSpPr>
        <p:spPr>
          <a:xfrm>
            <a:off x="7623234" y="5297653"/>
            <a:ext cx="4355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Yes! Underline, do &amp; drop!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237DAF8-BB24-4917-94AE-0CF9A99995BD}"/>
              </a:ext>
            </a:extLst>
          </p:cNvPr>
          <p:cNvCxnSpPr>
            <a:cxnSpLocks/>
          </p:cNvCxnSpPr>
          <p:nvPr/>
        </p:nvCxnSpPr>
        <p:spPr>
          <a:xfrm>
            <a:off x="726548" y="5229559"/>
            <a:ext cx="18123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1A85F87-8B4F-44D4-935D-83B605C9FD78}"/>
              </a:ext>
            </a:extLst>
          </p:cNvPr>
          <p:cNvSpPr txBox="1"/>
          <p:nvPr/>
        </p:nvSpPr>
        <p:spPr>
          <a:xfrm>
            <a:off x="1241880" y="5350823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786C54-0823-4EB6-AAF7-0F2800B2BB32}"/>
              </a:ext>
            </a:extLst>
          </p:cNvPr>
          <p:cNvSpPr txBox="1"/>
          <p:nvPr/>
        </p:nvSpPr>
        <p:spPr>
          <a:xfrm>
            <a:off x="363682" y="5321275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28C15C-49AB-4164-8581-9B34D28AA644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9579" y="295726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35059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21" grpId="0"/>
      <p:bldP spid="22" grpId="0"/>
      <p:bldP spid="23" grpId="0"/>
      <p:bldP spid="16" grpId="0"/>
      <p:bldP spid="30" grpId="0"/>
      <p:bldP spid="31" grpId="0"/>
      <p:bldP spid="34" grpId="0"/>
      <p:bldP spid="35" grpId="0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5" grpId="0"/>
      <p:bldP spid="45" grpId="1"/>
      <p:bldP spid="46" grpId="0"/>
      <p:bldP spid="46" grpId="1"/>
      <p:bldP spid="47" grpId="0"/>
      <p:bldP spid="48" grpId="0"/>
      <p:bldP spid="48" grpId="1"/>
      <p:bldP spid="56" grpId="0"/>
      <p:bldP spid="57" grpId="0"/>
      <p:bldP spid="5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4499088" y="292387"/>
            <a:ext cx="368049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UNDERLINE, DO and DROP.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331F0C7-9A19-406A-AF34-5D77ABFDBC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548" y="3394768"/>
                <a:ext cx="2871086" cy="7887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600" b="1" dirty="0"/>
                  <a:t> + (5 x 2)</a:t>
                </a: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3331F0C7-9A19-406A-AF34-5D77ABFDB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48" y="3394768"/>
                <a:ext cx="2871086" cy="788774"/>
              </a:xfrm>
              <a:prstGeom prst="rect">
                <a:avLst/>
              </a:prstGeom>
              <a:blipFill>
                <a:blip r:embed="rId2"/>
                <a:stretch>
                  <a:fillRect t="-17054" b="-6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55264B4-7E87-46B3-AD65-B1FA73EDF651}"/>
              </a:ext>
            </a:extLst>
          </p:cNvPr>
          <p:cNvSpPr txBox="1"/>
          <p:nvPr/>
        </p:nvSpPr>
        <p:spPr>
          <a:xfrm>
            <a:off x="287727" y="804831"/>
            <a:ext cx="904179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0070C0"/>
                </a:solidFill>
                <a:cs typeface="Arial" panose="020B0604020202020204" pitchFamily="34" charset="0"/>
              </a:rPr>
              <a:t>B</a:t>
            </a:r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AU" sz="3600" b="1" dirty="0">
                <a:solidFill>
                  <a:srgbClr val="7030A0"/>
                </a:solidFill>
                <a:cs typeface="Arial" panose="020B0604020202020204" pitchFamily="34" charset="0"/>
              </a:rPr>
              <a:t>MD</a:t>
            </a:r>
            <a:r>
              <a:rPr lang="en-AU" sz="3600" b="1" dirty="0">
                <a:solidFill>
                  <a:srgbClr val="00B050"/>
                </a:solidFill>
                <a:cs typeface="Arial" panose="020B0604020202020204" pitchFamily="34" charset="0"/>
              </a:rPr>
              <a:t>AS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1. </a:t>
            </a:r>
            <a:r>
              <a:rPr lang="en-AU" sz="2800" b="1" dirty="0">
                <a:solidFill>
                  <a:srgbClr val="0070C0"/>
                </a:solidFill>
                <a:cs typeface="Arial" panose="020B0604020202020204" pitchFamily="34" charset="0"/>
              </a:rPr>
              <a:t>Brackets</a:t>
            </a:r>
            <a:r>
              <a:rPr lang="en-AU" sz="2800" b="1" dirty="0">
                <a:cs typeface="Arial" panose="020B0604020202020204" pitchFamily="34" charset="0"/>
              </a:rPr>
              <a:t> first.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2.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Indices</a:t>
            </a:r>
            <a:r>
              <a:rPr lang="en-AU" sz="2800" b="1" dirty="0">
                <a:cs typeface="Arial" panose="020B0604020202020204" pitchFamily="34" charset="0"/>
              </a:rPr>
              <a:t> next.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3.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Multiplication</a:t>
            </a:r>
            <a:r>
              <a:rPr lang="en-AU" sz="2800" b="1" dirty="0">
                <a:cs typeface="Arial" panose="020B0604020202020204" pitchFamily="34" charset="0"/>
              </a:rPr>
              <a:t> and </a:t>
            </a:r>
            <a:r>
              <a:rPr lang="en-AU" sz="2800" b="1" dirty="0">
                <a:solidFill>
                  <a:srgbClr val="7030A0"/>
                </a:solidFill>
                <a:cs typeface="Arial" panose="020B0604020202020204" pitchFamily="34" charset="0"/>
              </a:rPr>
              <a:t>Division</a:t>
            </a:r>
            <a:r>
              <a:rPr lang="en-AU" sz="2800" b="1" dirty="0">
                <a:cs typeface="Arial" panose="020B0604020202020204" pitchFamily="34" charset="0"/>
              </a:rPr>
              <a:t> in order from left to right.</a:t>
            </a:r>
          </a:p>
          <a:p>
            <a:r>
              <a:rPr lang="en-AU" sz="2800" b="1" dirty="0">
                <a:cs typeface="Arial" panose="020B0604020202020204" pitchFamily="34" charset="0"/>
              </a:rPr>
              <a:t>4.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Addition</a:t>
            </a:r>
            <a:r>
              <a:rPr lang="en-AU" sz="2800" b="1" dirty="0">
                <a:cs typeface="Arial" panose="020B0604020202020204" pitchFamily="34" charset="0"/>
              </a:rPr>
              <a:t> and </a:t>
            </a:r>
            <a:r>
              <a:rPr lang="en-AU" sz="2800" b="1" dirty="0">
                <a:solidFill>
                  <a:srgbClr val="00B050"/>
                </a:solidFill>
                <a:cs typeface="Arial" panose="020B0604020202020204" pitchFamily="34" charset="0"/>
              </a:rPr>
              <a:t>Subtraction</a:t>
            </a:r>
            <a:r>
              <a:rPr lang="en-AU" sz="2800" b="1" dirty="0">
                <a:cs typeface="Arial" panose="020B0604020202020204" pitchFamily="34" charset="0"/>
              </a:rPr>
              <a:t> in order from left to right.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F4E544-24EA-41C4-8687-66F5FCBCD228}"/>
              </a:ext>
            </a:extLst>
          </p:cNvPr>
          <p:cNvCxnSpPr>
            <a:cxnSpLocks/>
          </p:cNvCxnSpPr>
          <p:nvPr/>
        </p:nvCxnSpPr>
        <p:spPr>
          <a:xfrm>
            <a:off x="1715602" y="3992022"/>
            <a:ext cx="118324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C0437A-4EFF-41F7-AEEF-064A1CAD70FC}"/>
              </a:ext>
            </a:extLst>
          </p:cNvPr>
          <p:cNvSpPr txBox="1"/>
          <p:nvPr/>
        </p:nvSpPr>
        <p:spPr>
          <a:xfrm>
            <a:off x="1970032" y="3938850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A9F9D-6A43-48AD-B021-E115E952FD89}"/>
              </a:ext>
            </a:extLst>
          </p:cNvPr>
          <p:cNvSpPr txBox="1"/>
          <p:nvPr/>
        </p:nvSpPr>
        <p:spPr>
          <a:xfrm>
            <a:off x="382335" y="3938850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9FF374-B873-4671-A984-600248344882}"/>
                  </a:ext>
                </a:extLst>
              </p:cNvPr>
              <p:cNvSpPr txBox="1"/>
              <p:nvPr/>
            </p:nvSpPr>
            <p:spPr>
              <a:xfrm>
                <a:off x="731008" y="3936666"/>
                <a:ext cx="1021745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600" b="1" dirty="0"/>
                  <a:t> +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9FF374-B873-4671-A984-600248344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08" y="3936666"/>
                <a:ext cx="1021745" cy="658898"/>
              </a:xfrm>
              <a:prstGeom prst="rect">
                <a:avLst/>
              </a:prstGeom>
              <a:blipFill>
                <a:blip r:embed="rId3"/>
                <a:stretch>
                  <a:fillRect t="-12037" r="-16071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6115DC-902B-4099-912A-76F8164E66FC}"/>
              </a:ext>
            </a:extLst>
          </p:cNvPr>
          <p:cNvCxnSpPr>
            <a:cxnSpLocks/>
          </p:cNvCxnSpPr>
          <p:nvPr/>
        </p:nvCxnSpPr>
        <p:spPr>
          <a:xfrm>
            <a:off x="735583" y="4585181"/>
            <a:ext cx="58390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509AAC0-FDFF-4B99-80EB-DA4909ACE2B9}"/>
              </a:ext>
            </a:extLst>
          </p:cNvPr>
          <p:cNvSpPr txBox="1"/>
          <p:nvPr/>
        </p:nvSpPr>
        <p:spPr>
          <a:xfrm>
            <a:off x="691929" y="4674944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22D68D-D72E-4B19-AADA-64911FAB8A82}"/>
              </a:ext>
            </a:extLst>
          </p:cNvPr>
          <p:cNvSpPr txBox="1"/>
          <p:nvPr/>
        </p:nvSpPr>
        <p:spPr>
          <a:xfrm>
            <a:off x="378782" y="4666217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6D1F5C-99AF-4937-8658-5A06B8F33E54}"/>
              </a:ext>
            </a:extLst>
          </p:cNvPr>
          <p:cNvSpPr txBox="1"/>
          <p:nvPr/>
        </p:nvSpPr>
        <p:spPr>
          <a:xfrm>
            <a:off x="1319486" y="4669690"/>
            <a:ext cx="161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+    10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237DAF8-BB24-4917-94AE-0CF9A99995BD}"/>
              </a:ext>
            </a:extLst>
          </p:cNvPr>
          <p:cNvCxnSpPr>
            <a:cxnSpLocks/>
          </p:cNvCxnSpPr>
          <p:nvPr/>
        </p:nvCxnSpPr>
        <p:spPr>
          <a:xfrm>
            <a:off x="726548" y="5229559"/>
            <a:ext cx="181237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1A85F87-8B4F-44D4-935D-83B605C9FD78}"/>
              </a:ext>
            </a:extLst>
          </p:cNvPr>
          <p:cNvSpPr txBox="1"/>
          <p:nvPr/>
        </p:nvSpPr>
        <p:spPr>
          <a:xfrm>
            <a:off x="1241880" y="5350823"/>
            <a:ext cx="67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786C54-0823-4EB6-AAF7-0F2800B2BB32}"/>
              </a:ext>
            </a:extLst>
          </p:cNvPr>
          <p:cNvSpPr txBox="1"/>
          <p:nvPr/>
        </p:nvSpPr>
        <p:spPr>
          <a:xfrm>
            <a:off x="363682" y="5321275"/>
            <a:ext cx="42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9CDDEA66-70B4-4AB8-9A6E-3FAF46BA70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4365" y="3429000"/>
                <a:ext cx="3380383" cy="642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3600" b="1" dirty="0">
                    <a:cs typeface="Arial" panose="020B0604020202020204" pitchFamily="34" charset="0"/>
                  </a:rPr>
                  <a:t>14 ÷ (5 + 2)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AU" sz="3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3600" b="1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9CDDEA66-70B4-4AB8-9A6E-3FAF46BA7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365" y="3429000"/>
                <a:ext cx="3380383" cy="642026"/>
              </a:xfrm>
              <a:prstGeom prst="rect">
                <a:avLst/>
              </a:prstGeom>
              <a:blipFill>
                <a:blip r:embed="rId4"/>
                <a:stretch>
                  <a:fillRect l="-5596" t="-23810" b="-2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3DB717C1-7F9E-4FEF-95CC-B7F533CA7D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3294" y="3429000"/>
                <a:ext cx="3725411" cy="7438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3600" b="1" dirty="0">
                    <a:cs typeface="Arial" panose="020B0604020202020204" pitchFamily="34" charset="0"/>
                  </a:rPr>
                  <a:t>24 ÷ (10 - 2)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3600" b="1" dirty="0">
                  <a:cs typeface="Arial" panose="020B0604020202020204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4000" dirty="0"/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3DB717C1-7F9E-4FEF-95CC-B7F533CA7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294" y="3429000"/>
                <a:ext cx="3725411" cy="743894"/>
              </a:xfrm>
              <a:prstGeom prst="rect">
                <a:avLst/>
              </a:prstGeom>
              <a:blipFill>
                <a:blip r:embed="rId5"/>
                <a:stretch>
                  <a:fillRect l="-4902" t="-20492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3600350-7084-4593-A20D-CC2FF0B02C66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78F56DC-E6B0-42C7-A398-A38403A09F49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2685702-8B87-41EA-80F0-DC6ACCDB2A1C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does BIMDAS stand for?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AED17D-918F-4F91-861E-62D781F1BD98}"/>
              </a:ext>
            </a:extLst>
          </p:cNvPr>
          <p:cNvGrpSpPr/>
          <p:nvPr/>
        </p:nvGrpSpPr>
        <p:grpSpPr>
          <a:xfrm>
            <a:off x="10156369" y="1048012"/>
            <a:ext cx="2035631" cy="1159296"/>
            <a:chOff x="660399" y="3602071"/>
            <a:chExt cx="2035631" cy="11592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197501B-2475-4225-8C11-0C7E064225A7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1D43AD2-3A6C-4617-B6A8-E5FBA64D7E23}"/>
                </a:ext>
              </a:extLst>
            </p:cNvPr>
            <p:cNvSpPr/>
            <p:nvPr/>
          </p:nvSpPr>
          <p:spPr>
            <a:xfrm>
              <a:off x="660399" y="3931961"/>
              <a:ext cx="2035629" cy="82940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the strategy for setting out your work?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1928016-2359-4622-9640-65032D073CE1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4365" y="2965991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52632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4AD6CD-2DC4-4B5D-AD09-1A8D829939F5}"/>
              </a:ext>
            </a:extLst>
          </p:cNvPr>
          <p:cNvSpPr txBox="1"/>
          <p:nvPr/>
        </p:nvSpPr>
        <p:spPr>
          <a:xfrm>
            <a:off x="0" y="0"/>
            <a:ext cx="2311405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Closure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C25B51-5C6C-4C99-A581-743B79CF847B}"/>
              </a:ext>
            </a:extLst>
          </p:cNvPr>
          <p:cNvSpPr txBox="1">
            <a:spLocks/>
          </p:cNvSpPr>
          <p:nvPr/>
        </p:nvSpPr>
        <p:spPr>
          <a:xfrm>
            <a:off x="2434620" y="-88976"/>
            <a:ext cx="9602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30" y="1097282"/>
            <a:ext cx="4432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F5411-89D3-4418-A441-1E69BD0A113B}"/>
              </a:ext>
            </a:extLst>
          </p:cNvPr>
          <p:cNvSpPr txBox="1"/>
          <p:nvPr/>
        </p:nvSpPr>
        <p:spPr>
          <a:xfrm>
            <a:off x="369632" y="1749094"/>
            <a:ext cx="100097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cs typeface="Arial" panose="020B0604020202020204" pitchFamily="34" charset="0"/>
              </a:rPr>
              <a:t>I will review my work on whole numbers</a:t>
            </a:r>
            <a:endParaRPr lang="en-AU" sz="3200" b="1" dirty="0">
              <a:cs typeface="Arial" panose="020B0604020202020204" pitchFamily="34" charset="0"/>
            </a:endParaRPr>
          </a:p>
        </p:txBody>
      </p:sp>
      <p:pic>
        <p:nvPicPr>
          <p:cNvPr id="1026" name="Picture 2" descr="Image result for revising for test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197" y="3071870"/>
            <a:ext cx="6611795" cy="315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932717" y="3355464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5400" b="1" dirty="0" smtClean="0">
                <a:solidFill>
                  <a:srgbClr val="00B050"/>
                </a:solidFill>
              </a:rPr>
              <a:t>3</a:t>
            </a:r>
            <a:r>
              <a:rPr lang="en-AU" sz="5400" b="1" dirty="0">
                <a:solidFill>
                  <a:srgbClr val="0070C0"/>
                </a:solidFill>
              </a:rPr>
              <a:t>5</a:t>
            </a:r>
            <a:r>
              <a:rPr lang="en-AU" sz="5400" b="1" dirty="0" smtClean="0">
                <a:solidFill>
                  <a:srgbClr val="0070C0"/>
                </a:solidFill>
              </a:rPr>
              <a:t>00</a:t>
            </a:r>
            <a:r>
              <a:rPr lang="en-AU" sz="5400" b="1" dirty="0" smtClean="0"/>
              <a:t> </a:t>
            </a:r>
            <a:r>
              <a:rPr lang="en-AU" sz="5400" b="1" dirty="0"/>
              <a:t>÷ </a:t>
            </a:r>
            <a:r>
              <a:rPr lang="en-AU" sz="5400" b="1" dirty="0">
                <a:solidFill>
                  <a:srgbClr val="00B050"/>
                </a:solidFill>
              </a:rPr>
              <a:t>1</a:t>
            </a:r>
            <a:r>
              <a:rPr lang="en-AU" sz="5400" b="1" dirty="0" smtClean="0">
                <a:solidFill>
                  <a:srgbClr val="0070C0"/>
                </a:solidFill>
              </a:rPr>
              <a:t>00</a:t>
            </a:r>
            <a:endParaRPr lang="en-AU" sz="54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932717" y="4419805"/>
            <a:ext cx="8932826" cy="91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5400" b="1" dirty="0" smtClean="0">
                <a:solidFill>
                  <a:srgbClr val="00B050"/>
                </a:solidFill>
              </a:rPr>
              <a:t>35</a:t>
            </a:r>
            <a:r>
              <a:rPr lang="en-AU" sz="5400" b="1" dirty="0" smtClean="0"/>
              <a:t> </a:t>
            </a:r>
            <a:r>
              <a:rPr lang="en-AU" sz="5400" b="1" dirty="0"/>
              <a:t>÷ </a:t>
            </a:r>
            <a:r>
              <a:rPr lang="en-AU" sz="5400" b="1" dirty="0">
                <a:solidFill>
                  <a:srgbClr val="00B050"/>
                </a:solidFill>
              </a:rPr>
              <a:t>1</a:t>
            </a:r>
            <a:r>
              <a:rPr lang="en-AU" sz="5400" b="1" dirty="0" smtClean="0">
                <a:solidFill>
                  <a:srgbClr val="0070C0"/>
                </a:solidFill>
              </a:rPr>
              <a:t> = 35</a:t>
            </a:r>
            <a:endParaRPr lang="en-AU" sz="5400" b="1" u="sng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3821460" y="3408983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139019" y="3393042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460124" y="3408983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1777683" y="3386163"/>
            <a:ext cx="238069" cy="66009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55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39" y="770894"/>
            <a:ext cx="8359348" cy="225710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Chapter:</a:t>
            </a:r>
            <a:r>
              <a:rPr lang="en-AU" dirty="0"/>
              <a:t> Chapter Review</a:t>
            </a:r>
          </a:p>
          <a:p>
            <a:pPr marL="0" indent="0">
              <a:buNone/>
            </a:pPr>
            <a:r>
              <a:rPr lang="en-AU" b="1" dirty="0"/>
              <a:t>Pages: </a:t>
            </a:r>
            <a:r>
              <a:rPr lang="en-AU" dirty="0"/>
              <a:t>50 – 52</a:t>
            </a:r>
          </a:p>
          <a:p>
            <a:pPr marL="0" indent="0">
              <a:buNone/>
            </a:pPr>
            <a:r>
              <a:rPr lang="en-AU" b="1" dirty="0" smtClean="0"/>
              <a:t>Questions</a:t>
            </a:r>
            <a:r>
              <a:rPr lang="en-AU" i="1" dirty="0" smtClean="0"/>
              <a:t>: Fluency Onwards</a:t>
            </a:r>
          </a:p>
          <a:p>
            <a:pPr marL="0" indent="0">
              <a:buNone/>
            </a:pPr>
            <a:r>
              <a:rPr lang="en-AU" i="1" dirty="0"/>
              <a:t> </a:t>
            </a:r>
            <a:r>
              <a:rPr lang="en-AU" i="1" dirty="0" smtClean="0"/>
              <a:t>                   </a:t>
            </a:r>
            <a:r>
              <a:rPr lang="en-AU" dirty="0" smtClean="0"/>
              <a:t>1 – 21 (do every second question of </a:t>
            </a:r>
          </a:p>
          <a:p>
            <a:pPr marL="0" indent="0">
              <a:buNone/>
            </a:pPr>
            <a:r>
              <a:rPr lang="en-AU" dirty="0" smtClean="0"/>
              <a:t>                                  multi-part questions) 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02" y="2887155"/>
            <a:ext cx="2932872" cy="37210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8519</TotalTime>
  <Words>1563</Words>
  <Application>Microsoft Office PowerPoint</Application>
  <PresentationFormat>Widescreen</PresentationFormat>
  <Paragraphs>339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Arial Rounded MT Bold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338</cp:revision>
  <dcterms:created xsi:type="dcterms:W3CDTF">2017-02-09T01:19:14Z</dcterms:created>
  <dcterms:modified xsi:type="dcterms:W3CDTF">2021-12-16T05:10:04Z</dcterms:modified>
</cp:coreProperties>
</file>
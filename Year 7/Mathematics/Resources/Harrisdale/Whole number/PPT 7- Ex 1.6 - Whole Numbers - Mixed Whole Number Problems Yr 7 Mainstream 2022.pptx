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audio1.wav" ContentType="audio/wav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46" r:id="rId2"/>
    <p:sldId id="388" r:id="rId3"/>
    <p:sldId id="389" r:id="rId4"/>
    <p:sldId id="648" r:id="rId5"/>
    <p:sldId id="380" r:id="rId6"/>
    <p:sldId id="647" r:id="rId7"/>
    <p:sldId id="635" r:id="rId8"/>
    <p:sldId id="636" r:id="rId9"/>
    <p:sldId id="293" r:id="rId10"/>
    <p:sldId id="641" r:id="rId11"/>
    <p:sldId id="346" r:id="rId12"/>
    <p:sldId id="347" r:id="rId13"/>
    <p:sldId id="348" r:id="rId14"/>
    <p:sldId id="637" r:id="rId15"/>
    <p:sldId id="639" r:id="rId16"/>
    <p:sldId id="640" r:id="rId17"/>
    <p:sldId id="540" r:id="rId18"/>
    <p:sldId id="30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lla" initials="E" lastIdx="1" clrIdx="0">
    <p:extLst>
      <p:ext uri="{19B8F6BF-5375-455C-9EA6-DF929625EA0E}">
        <p15:presenceInfo xmlns:p15="http://schemas.microsoft.com/office/powerpoint/2012/main" userId="Ell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7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60"/>
  </p:normalViewPr>
  <p:slideViewPr>
    <p:cSldViewPr snapToGrid="0">
      <p:cViewPr varScale="1">
        <p:scale>
          <a:sx n="84" d="100"/>
          <a:sy n="84" d="100"/>
        </p:scale>
        <p:origin x="96" y="13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15/12/2021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6208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15/12/2021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99458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15/12/2021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10192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15/12/2021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29697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15/12/2021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19499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15/12/2021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46399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15/12/2021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850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15/12/2021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21393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15/12/2021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2587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15/12/2021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00310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15/12/2021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84475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14ADA-8B9F-4ECF-9857-DA0E09389161}" type="datetimeFigureOut">
              <a:rPr lang="en-AU" smtClean="0"/>
              <a:t>15/12/2021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30882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5" Type="http://schemas.openxmlformats.org/officeDocument/2006/relationships/image" Target="../media/image4.png"/><Relationship Id="rId4" Type="http://schemas.openxmlformats.org/officeDocument/2006/relationships/audio" Target="../media/audio1.wav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99DDC62D-BC4A-4A69-84F2-CF2A22E4E446}"/>
              </a:ext>
            </a:extLst>
          </p:cNvPr>
          <p:cNvSpPr txBox="1"/>
          <p:nvPr/>
        </p:nvSpPr>
        <p:spPr>
          <a:xfrm>
            <a:off x="723872" y="934008"/>
            <a:ext cx="10759627" cy="132343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>
                <a:cs typeface="Arial" panose="020B0604020202020204" pitchFamily="34" charset="0"/>
              </a:rPr>
              <a:t>I will use the CUBES problem-solving strategy to answer worded problems.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64" name="Title 1"/>
          <p:cNvSpPr txBox="1">
            <a:spLocks/>
          </p:cNvSpPr>
          <p:nvPr/>
        </p:nvSpPr>
        <p:spPr>
          <a:xfrm>
            <a:off x="-15373" y="1641894"/>
            <a:ext cx="12207373" cy="107098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i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Enter quietly, please be ready with the following on your desk:</a:t>
            </a:r>
          </a:p>
        </p:txBody>
      </p:sp>
      <p:sp>
        <p:nvSpPr>
          <p:cNvPr id="265" name="Content Placeholder 2"/>
          <p:cNvSpPr txBox="1">
            <a:spLocks/>
          </p:cNvSpPr>
          <p:nvPr/>
        </p:nvSpPr>
        <p:spPr>
          <a:xfrm>
            <a:off x="1980020" y="2972878"/>
            <a:ext cx="7921679" cy="3007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 marker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Exercise Book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Pencil, pen, </a:t>
            </a:r>
            <a:r>
              <a:rPr lang="en-AU" b="1" dirty="0"/>
              <a:t>ruler and red pen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Diary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Calculator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Device – charged or borrowed from Library before maths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214" y="2712882"/>
            <a:ext cx="3649887" cy="261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300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052" y="770281"/>
            <a:ext cx="9639931" cy="9187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3200" b="1" dirty="0"/>
              <a:t>Use the “work in stages” strategy to calculate the following:</a:t>
            </a: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10045150" y="-19988"/>
            <a:ext cx="2146850" cy="1249639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step 1 in “working in stages”?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10045149" y="1638591"/>
            <a:ext cx="2146851" cy="1216869"/>
            <a:chOff x="660398" y="3602071"/>
            <a:chExt cx="2035631" cy="865597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2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32475"/>
              <a:ext cx="2035629" cy="635193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step 2 in “working in stages”?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504907" y="3777303"/>
            <a:ext cx="1800394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  </a:t>
            </a:r>
            <a:r>
              <a:rPr lang="en-AU" sz="3200" b="1" dirty="0" smtClean="0"/>
              <a:t>50  </a:t>
            </a:r>
            <a:r>
              <a:rPr lang="en-AU" sz="3200" b="1" dirty="0"/>
              <a:t>x  4</a:t>
            </a:r>
            <a:endParaRPr lang="en-AU" sz="32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391962" y="4913085"/>
            <a:ext cx="6475644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= </a:t>
            </a:r>
            <a:r>
              <a:rPr lang="en-AU" sz="3200" b="1" dirty="0" smtClean="0"/>
              <a:t>100  </a:t>
            </a:r>
            <a:r>
              <a:rPr lang="en-AU" sz="3200" b="1" dirty="0"/>
              <a:t>x  2</a:t>
            </a: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391963" y="5548302"/>
            <a:ext cx="1400643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= 100 </a:t>
            </a:r>
            <a:endParaRPr lang="en-AU" sz="320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4693904-2008-40AF-A548-5EDB616687A1}"/>
              </a:ext>
            </a:extLst>
          </p:cNvPr>
          <p:cNvSpPr txBox="1">
            <a:spLocks/>
          </p:cNvSpPr>
          <p:nvPr/>
        </p:nvSpPr>
        <p:spPr>
          <a:xfrm>
            <a:off x="512751" y="2206042"/>
            <a:ext cx="7408195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dirty="0"/>
              <a:t> Step 1. Break down the smaller multiplier.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CF87F3E-FDA7-4E58-98E8-5AFE0523A4F2}"/>
              </a:ext>
            </a:extLst>
          </p:cNvPr>
          <p:cNvSpPr txBox="1">
            <a:spLocks/>
          </p:cNvSpPr>
          <p:nvPr/>
        </p:nvSpPr>
        <p:spPr>
          <a:xfrm>
            <a:off x="2504907" y="1473962"/>
            <a:ext cx="2009943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 </a:t>
            </a:r>
            <a:r>
              <a:rPr lang="en-AU" sz="3200" b="1" dirty="0" smtClean="0">
                <a:solidFill>
                  <a:srgbClr val="7030A0"/>
                </a:solidFill>
              </a:rPr>
              <a:t>50 </a:t>
            </a:r>
            <a:r>
              <a:rPr lang="en-AU" sz="3200" b="1" dirty="0">
                <a:solidFill>
                  <a:srgbClr val="7030A0"/>
                </a:solidFill>
              </a:rPr>
              <a:t>x </a:t>
            </a:r>
            <a:r>
              <a:rPr lang="en-AU" sz="3200" b="1" dirty="0" smtClean="0">
                <a:solidFill>
                  <a:srgbClr val="7030A0"/>
                </a:solidFill>
              </a:rPr>
              <a:t>4 </a:t>
            </a:r>
            <a:r>
              <a:rPr lang="en-AU" sz="3200" b="1" dirty="0">
                <a:solidFill>
                  <a:srgbClr val="7030A0"/>
                </a:solidFill>
              </a:rPr>
              <a:t>= ?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7DF2F48-26D2-41E2-9EC1-5A4FDF9F72B2}"/>
              </a:ext>
            </a:extLst>
          </p:cNvPr>
          <p:cNvSpPr txBox="1">
            <a:spLocks/>
          </p:cNvSpPr>
          <p:nvPr/>
        </p:nvSpPr>
        <p:spPr>
          <a:xfrm>
            <a:off x="512751" y="2854520"/>
            <a:ext cx="9679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dirty="0"/>
              <a:t> Step 2. Perform the multiplications one at a time.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3DE3D34-BB29-4FAE-83F9-17459A12B145}"/>
              </a:ext>
            </a:extLst>
          </p:cNvPr>
          <p:cNvSpPr txBox="1">
            <a:spLocks/>
          </p:cNvSpPr>
          <p:nvPr/>
        </p:nvSpPr>
        <p:spPr>
          <a:xfrm>
            <a:off x="2391962" y="4345194"/>
            <a:ext cx="6144470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= </a:t>
            </a:r>
            <a:r>
              <a:rPr lang="en-AU" sz="3200" b="1" dirty="0" smtClean="0"/>
              <a:t>50  </a:t>
            </a:r>
            <a:r>
              <a:rPr lang="en-AU" sz="3200" b="1" dirty="0"/>
              <a:t>x  2  x  2</a:t>
            </a:r>
            <a:endParaRPr lang="en-AU" sz="32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477F041-4C20-4C85-914D-9F7D6B32812B}"/>
              </a:ext>
            </a:extLst>
          </p:cNvPr>
          <p:cNvCxnSpPr/>
          <p:nvPr/>
        </p:nvCxnSpPr>
        <p:spPr>
          <a:xfrm>
            <a:off x="3657431" y="4259469"/>
            <a:ext cx="40005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4CA9D42-870C-45B3-A132-F0EC18D5F8B7}"/>
              </a:ext>
            </a:extLst>
          </p:cNvPr>
          <p:cNvSpPr txBox="1">
            <a:spLocks/>
          </p:cNvSpPr>
          <p:nvPr/>
        </p:nvSpPr>
        <p:spPr>
          <a:xfrm>
            <a:off x="5001133" y="3777303"/>
            <a:ext cx="3535299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>
                <a:solidFill>
                  <a:srgbClr val="7030A0"/>
                </a:solidFill>
              </a:rPr>
              <a:t>(Break down the 4)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>
              <a:solidFill>
                <a:srgbClr val="7030A0"/>
              </a:solidFill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03A8076-A1A6-4272-AEBA-4136F1857DCA}"/>
              </a:ext>
            </a:extLst>
          </p:cNvPr>
          <p:cNvSpPr txBox="1">
            <a:spLocks/>
          </p:cNvSpPr>
          <p:nvPr/>
        </p:nvSpPr>
        <p:spPr>
          <a:xfrm>
            <a:off x="5001133" y="4323335"/>
            <a:ext cx="4190321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>
                <a:solidFill>
                  <a:srgbClr val="7030A0"/>
                </a:solidFill>
              </a:rPr>
              <a:t>(Multiply by the first 2) 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4EDBBFB1-F460-4379-8373-140D851E0B14}"/>
              </a:ext>
            </a:extLst>
          </p:cNvPr>
          <p:cNvSpPr txBox="1">
            <a:spLocks/>
          </p:cNvSpPr>
          <p:nvPr/>
        </p:nvSpPr>
        <p:spPr>
          <a:xfrm>
            <a:off x="5001133" y="4889911"/>
            <a:ext cx="4649495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>
                <a:solidFill>
                  <a:srgbClr val="7030A0"/>
                </a:solidFill>
              </a:rPr>
              <a:t>(Multiply by the second 2) </a:t>
            </a:r>
            <a:endParaRPr lang="en-AU" sz="3200" dirty="0">
              <a:solidFill>
                <a:srgbClr val="7030A0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98BB7C2-D0B8-4F0F-80CA-F70BE6620A82}"/>
              </a:ext>
            </a:extLst>
          </p:cNvPr>
          <p:cNvCxnSpPr>
            <a:cxnSpLocks/>
          </p:cNvCxnSpPr>
          <p:nvPr/>
        </p:nvCxnSpPr>
        <p:spPr>
          <a:xfrm>
            <a:off x="2762081" y="4889911"/>
            <a:ext cx="1186671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39D2E1A-77E5-4AA5-8611-E9EE564AA9BC}"/>
              </a:ext>
            </a:extLst>
          </p:cNvPr>
          <p:cNvCxnSpPr>
            <a:cxnSpLocks/>
          </p:cNvCxnSpPr>
          <p:nvPr/>
        </p:nvCxnSpPr>
        <p:spPr>
          <a:xfrm>
            <a:off x="2762081" y="5461411"/>
            <a:ext cx="1186671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FE6CC23-FA0F-49A9-9AF0-6E302027ADEC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</p:spTree>
    <p:extLst>
      <p:ext uri="{BB962C8B-B14F-4D97-AF65-F5344CB8AC3E}">
        <p14:creationId xmlns:p14="http://schemas.microsoft.com/office/powerpoint/2010/main" val="1904887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8" grpId="0"/>
      <p:bldP spid="20" grpId="0"/>
      <p:bldP spid="21" grpId="0"/>
      <p:bldP spid="22" grpId="0"/>
      <p:bldP spid="23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052" y="770281"/>
            <a:ext cx="9639931" cy="9187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3200" b="1" dirty="0"/>
              <a:t>Use the “work in stages” strategy to calculate the following:</a:t>
            </a: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10045150" y="-19988"/>
            <a:ext cx="2146850" cy="1249639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step 1 in “working in stages”?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10045149" y="1638591"/>
            <a:ext cx="2146851" cy="1216869"/>
            <a:chOff x="660398" y="3602071"/>
            <a:chExt cx="2035631" cy="865597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2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32475"/>
              <a:ext cx="2035629" cy="635193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step 2 in “working in stages”?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557933" y="3777302"/>
            <a:ext cx="1966442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 </a:t>
            </a:r>
            <a:r>
              <a:rPr lang="en-AU" sz="3200" b="1" dirty="0" smtClean="0"/>
              <a:t>600  </a:t>
            </a:r>
            <a:r>
              <a:rPr lang="en-AU" sz="3200" b="1" dirty="0"/>
              <a:t>÷  15</a:t>
            </a:r>
            <a:endParaRPr lang="en-AU" sz="32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391962" y="4913085"/>
            <a:ext cx="3020301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= </a:t>
            </a:r>
            <a:r>
              <a:rPr lang="en-AU" sz="3200" b="1" dirty="0" smtClean="0"/>
              <a:t>200  </a:t>
            </a:r>
            <a:r>
              <a:rPr lang="en-AU" sz="3200" b="1" dirty="0"/>
              <a:t>÷  5</a:t>
            </a: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391963" y="5548302"/>
            <a:ext cx="1400643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= </a:t>
            </a:r>
            <a:r>
              <a:rPr lang="en-AU" sz="3200" b="1" dirty="0" smtClean="0"/>
              <a:t>40 </a:t>
            </a:r>
            <a:endParaRPr lang="en-AU" sz="320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4693904-2008-40AF-A548-5EDB616687A1}"/>
              </a:ext>
            </a:extLst>
          </p:cNvPr>
          <p:cNvSpPr txBox="1">
            <a:spLocks/>
          </p:cNvSpPr>
          <p:nvPr/>
        </p:nvSpPr>
        <p:spPr>
          <a:xfrm>
            <a:off x="512751" y="2206042"/>
            <a:ext cx="7408195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dirty="0"/>
              <a:t> Step 1. Break down the divisor.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CF87F3E-FDA7-4E58-98E8-5AFE0523A4F2}"/>
              </a:ext>
            </a:extLst>
          </p:cNvPr>
          <p:cNvSpPr txBox="1">
            <a:spLocks/>
          </p:cNvSpPr>
          <p:nvPr/>
        </p:nvSpPr>
        <p:spPr>
          <a:xfrm>
            <a:off x="2504907" y="1473962"/>
            <a:ext cx="2400468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 </a:t>
            </a:r>
            <a:r>
              <a:rPr lang="en-AU" sz="3200" b="1" dirty="0">
                <a:solidFill>
                  <a:srgbClr val="7030A0"/>
                </a:solidFill>
              </a:rPr>
              <a:t>6</a:t>
            </a:r>
            <a:r>
              <a:rPr lang="en-AU" sz="3200" b="1" dirty="0" smtClean="0">
                <a:solidFill>
                  <a:srgbClr val="7030A0"/>
                </a:solidFill>
              </a:rPr>
              <a:t>00 </a:t>
            </a:r>
            <a:r>
              <a:rPr lang="en-AU" sz="3200" b="1" dirty="0">
                <a:solidFill>
                  <a:srgbClr val="7030A0"/>
                </a:solidFill>
              </a:rPr>
              <a:t>÷ 15 = ?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7DF2F48-26D2-41E2-9EC1-5A4FDF9F72B2}"/>
              </a:ext>
            </a:extLst>
          </p:cNvPr>
          <p:cNvSpPr txBox="1">
            <a:spLocks/>
          </p:cNvSpPr>
          <p:nvPr/>
        </p:nvSpPr>
        <p:spPr>
          <a:xfrm>
            <a:off x="512751" y="2854520"/>
            <a:ext cx="9679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dirty="0"/>
              <a:t> Step 2. Perform the divisions one at a time.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3DE3D34-BB29-4FAE-83F9-17459A12B145}"/>
              </a:ext>
            </a:extLst>
          </p:cNvPr>
          <p:cNvSpPr txBox="1">
            <a:spLocks/>
          </p:cNvSpPr>
          <p:nvPr/>
        </p:nvSpPr>
        <p:spPr>
          <a:xfrm>
            <a:off x="2391962" y="4345194"/>
            <a:ext cx="2865838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= </a:t>
            </a:r>
            <a:r>
              <a:rPr lang="en-AU" sz="3200" b="1" dirty="0" smtClean="0"/>
              <a:t>600  </a:t>
            </a:r>
            <a:r>
              <a:rPr lang="en-AU" sz="3200" b="1" dirty="0"/>
              <a:t>÷  3  ÷  5</a:t>
            </a:r>
            <a:endParaRPr lang="en-AU" sz="32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477F041-4C20-4C85-914D-9F7D6B32812B}"/>
              </a:ext>
            </a:extLst>
          </p:cNvPr>
          <p:cNvCxnSpPr>
            <a:cxnSpLocks/>
          </p:cNvCxnSpPr>
          <p:nvPr/>
        </p:nvCxnSpPr>
        <p:spPr>
          <a:xfrm>
            <a:off x="3872383" y="4230894"/>
            <a:ext cx="485944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4CA9D42-870C-45B3-A132-F0EC18D5F8B7}"/>
              </a:ext>
            </a:extLst>
          </p:cNvPr>
          <p:cNvSpPr txBox="1">
            <a:spLocks/>
          </p:cNvSpPr>
          <p:nvPr/>
        </p:nvSpPr>
        <p:spPr>
          <a:xfrm>
            <a:off x="5627919" y="3779368"/>
            <a:ext cx="3841000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>
                <a:solidFill>
                  <a:srgbClr val="7030A0"/>
                </a:solidFill>
              </a:rPr>
              <a:t>(Break down the 15)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>
              <a:solidFill>
                <a:srgbClr val="7030A0"/>
              </a:solidFill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03A8076-A1A6-4272-AEBA-4136F1857DCA}"/>
              </a:ext>
            </a:extLst>
          </p:cNvPr>
          <p:cNvSpPr txBox="1">
            <a:spLocks/>
          </p:cNvSpPr>
          <p:nvPr/>
        </p:nvSpPr>
        <p:spPr>
          <a:xfrm>
            <a:off x="5627919" y="4325400"/>
            <a:ext cx="4552662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>
                <a:solidFill>
                  <a:srgbClr val="7030A0"/>
                </a:solidFill>
              </a:rPr>
              <a:t>(Divide by the 3) 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4EDBBFB1-F460-4379-8373-140D851E0B14}"/>
              </a:ext>
            </a:extLst>
          </p:cNvPr>
          <p:cNvSpPr txBox="1">
            <a:spLocks/>
          </p:cNvSpPr>
          <p:nvPr/>
        </p:nvSpPr>
        <p:spPr>
          <a:xfrm>
            <a:off x="5627919" y="4891976"/>
            <a:ext cx="5051542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>
                <a:solidFill>
                  <a:srgbClr val="7030A0"/>
                </a:solidFill>
              </a:rPr>
              <a:t>(Divide by the 5) </a:t>
            </a:r>
            <a:endParaRPr lang="en-AU" sz="3200" dirty="0">
              <a:solidFill>
                <a:srgbClr val="7030A0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98BB7C2-D0B8-4F0F-80CA-F70BE6620A82}"/>
              </a:ext>
            </a:extLst>
          </p:cNvPr>
          <p:cNvCxnSpPr>
            <a:cxnSpLocks/>
          </p:cNvCxnSpPr>
          <p:nvPr/>
        </p:nvCxnSpPr>
        <p:spPr>
          <a:xfrm>
            <a:off x="2762081" y="4813711"/>
            <a:ext cx="1457494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39D2E1A-77E5-4AA5-8611-E9EE564AA9BC}"/>
              </a:ext>
            </a:extLst>
          </p:cNvPr>
          <p:cNvCxnSpPr>
            <a:cxnSpLocks/>
          </p:cNvCxnSpPr>
          <p:nvPr/>
        </p:nvCxnSpPr>
        <p:spPr>
          <a:xfrm>
            <a:off x="2762081" y="5442361"/>
            <a:ext cx="1381294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46A0829-64BA-4B6A-ADBF-E292A10F6336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</p:spTree>
    <p:extLst>
      <p:ext uri="{BB962C8B-B14F-4D97-AF65-F5344CB8AC3E}">
        <p14:creationId xmlns:p14="http://schemas.microsoft.com/office/powerpoint/2010/main" val="3136272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21" grpId="0"/>
      <p:bldP spid="22" grpId="0"/>
      <p:bldP spid="23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AU" sz="3200" b="1" dirty="0" smtClean="0"/>
              <a:t>Calculate the following using the “work in stages”</a:t>
            </a:r>
          </a:p>
          <a:p>
            <a:pPr marL="0" indent="0">
              <a:buNone/>
            </a:pPr>
            <a:r>
              <a:rPr lang="en-AU" sz="3200" b="1" dirty="0" smtClean="0"/>
              <a:t>Strategy: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93823" y="1867872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31 </a:t>
            </a:r>
            <a:r>
              <a:rPr lang="en-AU" sz="3200" b="1" dirty="0" smtClean="0"/>
              <a:t>x </a:t>
            </a:r>
            <a:r>
              <a:rPr lang="en-AU" sz="3200" b="1" dirty="0" smtClean="0"/>
              <a:t>8</a:t>
            </a: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75E2EE-D511-47BA-96B1-2D89396BAFBE}"/>
              </a:ext>
            </a:extLst>
          </p:cNvPr>
          <p:cNvSpPr txBox="1"/>
          <p:nvPr/>
        </p:nvSpPr>
        <p:spPr>
          <a:xfrm>
            <a:off x="0" y="-6605"/>
            <a:ext cx="2945880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p:sp>
        <p:nvSpPr>
          <p:cNvPr id="22" name="TextBox 21"/>
          <p:cNvSpPr txBox="1"/>
          <p:nvPr/>
        </p:nvSpPr>
        <p:spPr>
          <a:xfrm>
            <a:off x="8822344" y="846559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93823" y="4365907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800</a:t>
            </a:r>
            <a:r>
              <a:rPr lang="en-AU" sz="3200" b="1" dirty="0" smtClean="0"/>
              <a:t> ÷ 20</a:t>
            </a: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485072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702678"/>
            <a:ext cx="8932826" cy="918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/>
              <a:t>Calculate 39 x 56 using an array: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8" y="-19986"/>
            <a:ext cx="2146850" cy="1087148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step 1 in using an array?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09175" y="1067162"/>
            <a:ext cx="2146851" cy="972123"/>
            <a:chOff x="660398" y="3602071"/>
            <a:chExt cx="2035631" cy="865597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2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32475"/>
              <a:ext cx="2035629" cy="635193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step 2 in using an array?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" y="138089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400" b="1" dirty="0"/>
              <a:t>Step 1: split the numbers into 1s and 10s </a:t>
            </a:r>
          </a:p>
          <a:p>
            <a:pPr marL="0" indent="0">
              <a:buNone/>
            </a:pPr>
            <a:r>
              <a:rPr lang="en-AU" b="1" dirty="0">
                <a:solidFill>
                  <a:srgbClr val="00B0F0"/>
                </a:solidFill>
              </a:rPr>
              <a:t>             </a:t>
            </a:r>
            <a:r>
              <a:rPr lang="en-AU" b="1" dirty="0">
                <a:solidFill>
                  <a:srgbClr val="0070C0"/>
                </a:solidFill>
              </a:rPr>
              <a:t>39</a:t>
            </a:r>
            <a:r>
              <a:rPr lang="en-AU" b="1" dirty="0"/>
              <a:t> x </a:t>
            </a:r>
            <a:r>
              <a:rPr lang="en-AU" b="1" dirty="0">
                <a:solidFill>
                  <a:srgbClr val="C00000"/>
                </a:solidFill>
              </a:rPr>
              <a:t>56</a:t>
            </a:r>
            <a:r>
              <a:rPr lang="en-AU" b="1" dirty="0"/>
              <a:t> = (</a:t>
            </a:r>
            <a:r>
              <a:rPr lang="en-AU" b="1" dirty="0">
                <a:solidFill>
                  <a:srgbClr val="0070C0"/>
                </a:solidFill>
              </a:rPr>
              <a:t>30</a:t>
            </a:r>
            <a:r>
              <a:rPr lang="en-AU" b="1" dirty="0">
                <a:solidFill>
                  <a:srgbClr val="00B0F0"/>
                </a:solidFill>
              </a:rPr>
              <a:t> </a:t>
            </a:r>
            <a:r>
              <a:rPr lang="en-AU" b="1" dirty="0"/>
              <a:t>+</a:t>
            </a:r>
            <a:r>
              <a:rPr lang="en-AU" b="1" dirty="0">
                <a:solidFill>
                  <a:srgbClr val="00B0F0"/>
                </a:solidFill>
              </a:rPr>
              <a:t> </a:t>
            </a:r>
            <a:r>
              <a:rPr lang="en-AU" b="1" dirty="0">
                <a:solidFill>
                  <a:srgbClr val="0070C0"/>
                </a:solidFill>
              </a:rPr>
              <a:t>9</a:t>
            </a:r>
            <a:r>
              <a:rPr lang="en-AU" b="1" dirty="0">
                <a:solidFill>
                  <a:srgbClr val="00B0F0"/>
                </a:solidFill>
              </a:rPr>
              <a:t> </a:t>
            </a:r>
            <a:r>
              <a:rPr lang="en-AU" b="1" dirty="0"/>
              <a:t>) x (</a:t>
            </a:r>
            <a:r>
              <a:rPr lang="en-AU" b="1" dirty="0">
                <a:solidFill>
                  <a:srgbClr val="C00000"/>
                </a:solidFill>
              </a:rPr>
              <a:t>50</a:t>
            </a:r>
            <a:r>
              <a:rPr lang="en-AU" b="1" dirty="0"/>
              <a:t> + </a:t>
            </a:r>
            <a:r>
              <a:rPr lang="en-AU" b="1" dirty="0">
                <a:solidFill>
                  <a:srgbClr val="C00000"/>
                </a:solidFill>
              </a:rPr>
              <a:t>6</a:t>
            </a:r>
            <a:r>
              <a:rPr lang="en-AU" b="1" dirty="0">
                <a:solidFill>
                  <a:srgbClr val="00B050"/>
                </a:solidFill>
              </a:rPr>
              <a:t> </a:t>
            </a:r>
            <a:r>
              <a:rPr lang="en-AU" b="1" dirty="0"/>
              <a:t>)</a:t>
            </a:r>
            <a:endParaRPr lang="en-AU" b="1" dirty="0">
              <a:solidFill>
                <a:srgbClr val="00B0F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6" y="2048297"/>
            <a:ext cx="2146851" cy="1091699"/>
            <a:chOff x="660398" y="3602071"/>
            <a:chExt cx="2035631" cy="8655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3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32475"/>
              <a:ext cx="2035629" cy="635193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step 3 in using an array?</a:t>
              </a:r>
            </a:p>
          </p:txBody>
        </p:sp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" y="2684310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400" b="1" dirty="0"/>
              <a:t>Step 2: enter the numbers on the sides of the array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400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5247" t="49167" r="55864" b="32963"/>
          <a:stretch/>
        </p:blipFill>
        <p:spPr>
          <a:xfrm>
            <a:off x="1857814" y="3372279"/>
            <a:ext cx="3191517" cy="2012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64300" y="3940208"/>
            <a:ext cx="450850" cy="377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24" name="TextBox 23"/>
          <p:cNvSpPr txBox="1"/>
          <p:nvPr/>
        </p:nvSpPr>
        <p:spPr>
          <a:xfrm>
            <a:off x="2535688" y="3139996"/>
            <a:ext cx="2055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30                    9                    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1704" y="3782962"/>
            <a:ext cx="431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b="1" dirty="0">
                <a:solidFill>
                  <a:srgbClr val="C00000"/>
                </a:solidFill>
              </a:rPr>
              <a:t>50</a:t>
            </a:r>
          </a:p>
          <a:p>
            <a:pPr algn="r"/>
            <a:endParaRPr lang="en-AU" b="1" dirty="0">
              <a:solidFill>
                <a:srgbClr val="C00000"/>
              </a:solidFill>
            </a:endParaRPr>
          </a:p>
          <a:p>
            <a:pPr algn="r"/>
            <a:endParaRPr lang="en-AU" b="1" dirty="0">
              <a:solidFill>
                <a:srgbClr val="C00000"/>
              </a:solidFill>
            </a:endParaRPr>
          </a:p>
          <a:p>
            <a:pPr algn="r"/>
            <a:r>
              <a:rPr lang="en-AU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54884" y="5401157"/>
            <a:ext cx="1042261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400" b="1" dirty="0"/>
              <a:t>Step 3: multiply each horizontal by each vertical and enter in the array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400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449193" y="3755542"/>
            <a:ext cx="69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1500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76777" y="3777811"/>
            <a:ext cx="69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450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88981" y="4592961"/>
            <a:ext cx="69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180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9827" y="4592961"/>
            <a:ext cx="69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54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54884" y="6070703"/>
            <a:ext cx="1042261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400" b="1" dirty="0"/>
              <a:t>Step 4: add up each number inside the array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400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9507825" y="4550967"/>
            <a:ext cx="21192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1500</a:t>
            </a:r>
          </a:p>
          <a:p>
            <a:r>
              <a:rPr lang="en-AU" b="1" dirty="0"/>
              <a:t>  450</a:t>
            </a:r>
          </a:p>
          <a:p>
            <a:r>
              <a:rPr lang="en-AU" b="1" dirty="0"/>
              <a:t>  180</a:t>
            </a:r>
          </a:p>
          <a:p>
            <a:r>
              <a:rPr lang="en-AU" b="1" dirty="0"/>
              <a:t>    54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9486900" y="5803900"/>
            <a:ext cx="844550" cy="63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336859" y="5329361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/>
              <a:t>+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9558281" y="5850513"/>
            <a:ext cx="1140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2184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9925876" y="3122918"/>
            <a:ext cx="2146851" cy="1091699"/>
            <a:chOff x="660398" y="3602071"/>
            <a:chExt cx="2035631" cy="86559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44033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4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32475"/>
              <a:ext cx="2035629" cy="635193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step 4 in using an array?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7A7C4A82-57ED-4329-82C3-A1B938AD8854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</p:spTree>
    <p:extLst>
      <p:ext uri="{BB962C8B-B14F-4D97-AF65-F5344CB8AC3E}">
        <p14:creationId xmlns:p14="http://schemas.microsoft.com/office/powerpoint/2010/main" val="1980244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 build="p"/>
      <p:bldP spid="18" grpId="0" build="p"/>
      <p:bldP spid="24" grpId="0"/>
      <p:bldP spid="7" grpId="0"/>
      <p:bldP spid="25" grpId="0" build="p"/>
      <p:bldP spid="8" grpId="0"/>
      <p:bldP spid="26" grpId="0"/>
      <p:bldP spid="27" grpId="0"/>
      <p:bldP spid="28" grpId="0"/>
      <p:bldP spid="29" grpId="0" build="p"/>
      <p:bldP spid="9" grpId="0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702678"/>
            <a:ext cx="8932826" cy="918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/>
              <a:t>Calculate </a:t>
            </a:r>
            <a:r>
              <a:rPr lang="en-AU" b="1" dirty="0" smtClean="0"/>
              <a:t>19</a:t>
            </a:r>
            <a:r>
              <a:rPr lang="en-AU" b="1" dirty="0" smtClean="0"/>
              <a:t> </a:t>
            </a:r>
            <a:r>
              <a:rPr lang="en-AU" b="1" dirty="0"/>
              <a:t>x </a:t>
            </a:r>
            <a:r>
              <a:rPr lang="en-AU" b="1" dirty="0" smtClean="0"/>
              <a:t>33</a:t>
            </a:r>
            <a:r>
              <a:rPr lang="en-AU" b="1" dirty="0" smtClean="0"/>
              <a:t> </a:t>
            </a:r>
            <a:r>
              <a:rPr lang="en-AU" b="1" dirty="0"/>
              <a:t>using an array: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7C4A82-57ED-4329-82C3-A1B938AD8854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146" y="578170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150276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55264B4-7E87-46B3-AD65-B1FA73EDF651}"/>
              </a:ext>
            </a:extLst>
          </p:cNvPr>
          <p:cNvSpPr txBox="1"/>
          <p:nvPr/>
        </p:nvSpPr>
        <p:spPr>
          <a:xfrm>
            <a:off x="287727" y="804831"/>
            <a:ext cx="9041791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0070C0"/>
                </a:solidFill>
                <a:cs typeface="Arial" panose="020B0604020202020204" pitchFamily="34" charset="0"/>
              </a:rPr>
              <a:t>B</a:t>
            </a:r>
            <a:r>
              <a:rPr lang="en-AU" sz="3600" b="1" dirty="0">
                <a:solidFill>
                  <a:srgbClr val="C00000"/>
                </a:solidFill>
                <a:cs typeface="Arial" panose="020B0604020202020204" pitchFamily="34" charset="0"/>
              </a:rPr>
              <a:t>I</a:t>
            </a:r>
            <a:r>
              <a:rPr lang="en-AU" sz="3600" b="1" dirty="0">
                <a:solidFill>
                  <a:srgbClr val="7030A0"/>
                </a:solidFill>
                <a:cs typeface="Arial" panose="020B0604020202020204" pitchFamily="34" charset="0"/>
              </a:rPr>
              <a:t>MD</a:t>
            </a:r>
            <a:r>
              <a:rPr lang="en-AU" sz="3600" b="1" dirty="0">
                <a:solidFill>
                  <a:srgbClr val="00B050"/>
                </a:solidFill>
                <a:cs typeface="Arial" panose="020B0604020202020204" pitchFamily="34" charset="0"/>
              </a:rPr>
              <a:t>AS</a:t>
            </a:r>
          </a:p>
          <a:p>
            <a:r>
              <a:rPr lang="en-AU" sz="2800" b="1" dirty="0">
                <a:cs typeface="Arial" panose="020B0604020202020204" pitchFamily="34" charset="0"/>
              </a:rPr>
              <a:t>1. </a:t>
            </a:r>
            <a:r>
              <a:rPr lang="en-AU" sz="2800" b="1" dirty="0">
                <a:solidFill>
                  <a:srgbClr val="0070C0"/>
                </a:solidFill>
                <a:cs typeface="Arial" panose="020B0604020202020204" pitchFamily="34" charset="0"/>
              </a:rPr>
              <a:t>Brackets</a:t>
            </a:r>
            <a:r>
              <a:rPr lang="en-AU" sz="2800" b="1" dirty="0">
                <a:cs typeface="Arial" panose="020B0604020202020204" pitchFamily="34" charset="0"/>
              </a:rPr>
              <a:t> first.</a:t>
            </a:r>
          </a:p>
          <a:p>
            <a:r>
              <a:rPr lang="en-AU" sz="2800" b="1" dirty="0">
                <a:cs typeface="Arial" panose="020B0604020202020204" pitchFamily="34" charset="0"/>
              </a:rPr>
              <a:t>2. </a:t>
            </a:r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Indices</a:t>
            </a:r>
            <a:r>
              <a:rPr lang="en-AU" sz="2800" b="1" dirty="0">
                <a:cs typeface="Arial" panose="020B0604020202020204" pitchFamily="34" charset="0"/>
              </a:rPr>
              <a:t> next.</a:t>
            </a:r>
          </a:p>
          <a:p>
            <a:r>
              <a:rPr lang="en-AU" sz="2800" b="1" dirty="0">
                <a:cs typeface="Arial" panose="020B0604020202020204" pitchFamily="34" charset="0"/>
              </a:rPr>
              <a:t>3. </a:t>
            </a:r>
            <a:r>
              <a:rPr lang="en-AU" sz="2800" b="1" dirty="0">
                <a:solidFill>
                  <a:srgbClr val="7030A0"/>
                </a:solidFill>
                <a:cs typeface="Arial" panose="020B0604020202020204" pitchFamily="34" charset="0"/>
              </a:rPr>
              <a:t>Multiplication</a:t>
            </a:r>
            <a:r>
              <a:rPr lang="en-AU" sz="2800" b="1" dirty="0">
                <a:cs typeface="Arial" panose="020B0604020202020204" pitchFamily="34" charset="0"/>
              </a:rPr>
              <a:t> and </a:t>
            </a:r>
            <a:r>
              <a:rPr lang="en-AU" sz="2800" b="1" dirty="0">
                <a:solidFill>
                  <a:srgbClr val="7030A0"/>
                </a:solidFill>
                <a:cs typeface="Arial" panose="020B0604020202020204" pitchFamily="34" charset="0"/>
              </a:rPr>
              <a:t>Division</a:t>
            </a:r>
            <a:r>
              <a:rPr lang="en-AU" sz="2800" b="1" dirty="0">
                <a:cs typeface="Arial" panose="020B0604020202020204" pitchFamily="34" charset="0"/>
              </a:rPr>
              <a:t> in order from left to right.</a:t>
            </a:r>
          </a:p>
          <a:p>
            <a:r>
              <a:rPr lang="en-AU" sz="2800" b="1" dirty="0">
                <a:cs typeface="Arial" panose="020B0604020202020204" pitchFamily="34" charset="0"/>
              </a:rPr>
              <a:t>4. </a:t>
            </a:r>
            <a:r>
              <a:rPr lang="en-AU" sz="2800" b="1" dirty="0">
                <a:solidFill>
                  <a:srgbClr val="00B050"/>
                </a:solidFill>
                <a:cs typeface="Arial" panose="020B0604020202020204" pitchFamily="34" charset="0"/>
              </a:rPr>
              <a:t>Addition</a:t>
            </a:r>
            <a:r>
              <a:rPr lang="en-AU" sz="2800" b="1" dirty="0">
                <a:cs typeface="Arial" panose="020B0604020202020204" pitchFamily="34" charset="0"/>
              </a:rPr>
              <a:t> and </a:t>
            </a:r>
            <a:r>
              <a:rPr lang="en-AU" sz="2800" b="1" dirty="0">
                <a:solidFill>
                  <a:srgbClr val="00B050"/>
                </a:solidFill>
                <a:cs typeface="Arial" panose="020B0604020202020204" pitchFamily="34" charset="0"/>
              </a:rPr>
              <a:t>Subtraction</a:t>
            </a:r>
            <a:r>
              <a:rPr lang="en-AU" sz="2800" b="1" dirty="0">
                <a:cs typeface="Arial" panose="020B0604020202020204" pitchFamily="34" charset="0"/>
              </a:rPr>
              <a:t> in order from left to right.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3CB3D59-769D-45EB-8004-E0B7E8357D42}"/>
              </a:ext>
            </a:extLst>
          </p:cNvPr>
          <p:cNvSpPr txBox="1"/>
          <p:nvPr/>
        </p:nvSpPr>
        <p:spPr>
          <a:xfrm>
            <a:off x="3336462" y="3394581"/>
            <a:ext cx="45230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Is there any:</a:t>
            </a:r>
          </a:p>
          <a:p>
            <a:r>
              <a:rPr lang="en-AU" sz="2800" b="1" dirty="0">
                <a:cs typeface="Arial" panose="020B0604020202020204" pitchFamily="34" charset="0"/>
              </a:rPr>
              <a:t>1. </a:t>
            </a:r>
            <a:r>
              <a:rPr lang="en-AU" sz="2800" b="1" dirty="0">
                <a:solidFill>
                  <a:srgbClr val="0070C0"/>
                </a:solidFill>
                <a:cs typeface="Arial" panose="020B0604020202020204" pitchFamily="34" charset="0"/>
              </a:rPr>
              <a:t>Brackets</a:t>
            </a:r>
            <a:r>
              <a:rPr lang="en-AU" sz="2800" b="1" dirty="0">
                <a:cs typeface="Arial" panose="020B0604020202020204" pitchFamily="34" charset="0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9088" y="292387"/>
            <a:ext cx="3680491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UNDERLINE, DO and DROP.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331F0C7-9A19-406A-AF34-5D77ABFDBCEB}"/>
              </a:ext>
            </a:extLst>
          </p:cNvPr>
          <p:cNvSpPr txBox="1">
            <a:spLocks/>
          </p:cNvSpPr>
          <p:nvPr/>
        </p:nvSpPr>
        <p:spPr>
          <a:xfrm>
            <a:off x="726548" y="3394768"/>
            <a:ext cx="2097227" cy="7887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600" b="1" dirty="0">
                <a:cs typeface="Arial" panose="020B0604020202020204" pitchFamily="34" charset="0"/>
              </a:rPr>
              <a:t>5 x 3 - 2	</a:t>
            </a:r>
            <a:endParaRPr lang="en-AU" sz="3600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12FCEDC-EA9B-4EBE-B7F4-83401A4E2959}"/>
              </a:ext>
            </a:extLst>
          </p:cNvPr>
          <p:cNvSpPr txBox="1">
            <a:spLocks/>
          </p:cNvSpPr>
          <p:nvPr/>
        </p:nvSpPr>
        <p:spPr>
          <a:xfrm>
            <a:off x="6339334" y="3398829"/>
            <a:ext cx="2579036" cy="6628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600" b="1" dirty="0">
                <a:cs typeface="Arial" panose="020B0604020202020204" pitchFamily="34" charset="0"/>
              </a:rPr>
              <a:t>4 + 4 x 4</a:t>
            </a:r>
            <a:endParaRPr lang="en-AU" sz="3600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4ECDA56-E52A-459F-9D38-84AC71CF2924}"/>
              </a:ext>
            </a:extLst>
          </p:cNvPr>
          <p:cNvSpPr txBox="1">
            <a:spLocks/>
          </p:cNvSpPr>
          <p:nvPr/>
        </p:nvSpPr>
        <p:spPr>
          <a:xfrm>
            <a:off x="9135649" y="3407933"/>
            <a:ext cx="2479153" cy="6537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600" b="1" dirty="0">
                <a:cs typeface="Arial" panose="020B0604020202020204" pitchFamily="34" charset="0"/>
              </a:rPr>
              <a:t>20 – 32 ÷ 8</a:t>
            </a:r>
            <a:endParaRPr lang="en-AU" sz="36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F4E544-24EA-41C4-8687-66F5FCBCD228}"/>
              </a:ext>
            </a:extLst>
          </p:cNvPr>
          <p:cNvCxnSpPr/>
          <p:nvPr/>
        </p:nvCxnSpPr>
        <p:spPr>
          <a:xfrm>
            <a:off x="726548" y="3920247"/>
            <a:ext cx="992221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6C0437A-4EFF-41F7-AEEF-064A1CAD70FC}"/>
              </a:ext>
            </a:extLst>
          </p:cNvPr>
          <p:cNvSpPr txBox="1"/>
          <p:nvPr/>
        </p:nvSpPr>
        <p:spPr>
          <a:xfrm>
            <a:off x="887053" y="3992024"/>
            <a:ext cx="671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15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0A9F9D-6A43-48AD-B021-E115E952FD89}"/>
              </a:ext>
            </a:extLst>
          </p:cNvPr>
          <p:cNvSpPr txBox="1"/>
          <p:nvPr/>
        </p:nvSpPr>
        <p:spPr>
          <a:xfrm>
            <a:off x="378783" y="3992022"/>
            <a:ext cx="428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=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29FF374-B873-4671-A984-600248344882}"/>
              </a:ext>
            </a:extLst>
          </p:cNvPr>
          <p:cNvSpPr txBox="1"/>
          <p:nvPr/>
        </p:nvSpPr>
        <p:spPr>
          <a:xfrm>
            <a:off x="1715602" y="3992023"/>
            <a:ext cx="671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- 2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C6115DC-902B-4099-912A-76F8164E66FC}"/>
              </a:ext>
            </a:extLst>
          </p:cNvPr>
          <p:cNvCxnSpPr>
            <a:cxnSpLocks/>
          </p:cNvCxnSpPr>
          <p:nvPr/>
        </p:nvCxnSpPr>
        <p:spPr>
          <a:xfrm>
            <a:off x="941836" y="4585182"/>
            <a:ext cx="1426508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509AAC0-FDFF-4B99-80EB-DA4909ACE2B9}"/>
              </a:ext>
            </a:extLst>
          </p:cNvPr>
          <p:cNvSpPr txBox="1"/>
          <p:nvPr/>
        </p:nvSpPr>
        <p:spPr>
          <a:xfrm>
            <a:off x="1319486" y="4663657"/>
            <a:ext cx="671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13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22D68D-D72E-4B19-AADA-64911FAB8A82}"/>
              </a:ext>
            </a:extLst>
          </p:cNvPr>
          <p:cNvSpPr txBox="1"/>
          <p:nvPr/>
        </p:nvSpPr>
        <p:spPr>
          <a:xfrm>
            <a:off x="378782" y="4666217"/>
            <a:ext cx="428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=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6658624-395D-43B1-84E8-FEB69BB85585}"/>
              </a:ext>
            </a:extLst>
          </p:cNvPr>
          <p:cNvGrpSpPr/>
          <p:nvPr/>
        </p:nvGrpSpPr>
        <p:grpSpPr>
          <a:xfrm>
            <a:off x="10156369" y="0"/>
            <a:ext cx="2035631" cy="971026"/>
            <a:chOff x="660399" y="3602071"/>
            <a:chExt cx="2035631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A19BC36-AD6F-4FAC-9C68-79D62B9621F6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F132760-CD2B-45E4-9D54-FE88922287EB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does BIMDAS stand for?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C195DFED-94B6-4541-8AF8-FD41361CD393}"/>
              </a:ext>
            </a:extLst>
          </p:cNvPr>
          <p:cNvSpPr txBox="1"/>
          <p:nvPr/>
        </p:nvSpPr>
        <p:spPr>
          <a:xfrm>
            <a:off x="3336462" y="5297653"/>
            <a:ext cx="45230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4. </a:t>
            </a:r>
            <a:r>
              <a:rPr lang="en-AU" sz="2800" b="1" dirty="0">
                <a:solidFill>
                  <a:srgbClr val="00B050"/>
                </a:solidFill>
                <a:cs typeface="Arial" panose="020B0604020202020204" pitchFamily="34" charset="0"/>
              </a:rPr>
              <a:t>Addition</a:t>
            </a:r>
            <a:r>
              <a:rPr lang="en-AU" sz="2800" b="1" dirty="0">
                <a:cs typeface="Arial" panose="020B0604020202020204" pitchFamily="34" charset="0"/>
              </a:rPr>
              <a:t> or </a:t>
            </a:r>
            <a:r>
              <a:rPr lang="en-AU" sz="2800" b="1" dirty="0">
                <a:solidFill>
                  <a:srgbClr val="00B050"/>
                </a:solidFill>
                <a:cs typeface="Arial" panose="020B0604020202020204" pitchFamily="34" charset="0"/>
              </a:rPr>
              <a:t>Subtraction</a:t>
            </a:r>
            <a:r>
              <a:rPr lang="en-AU" sz="2800" b="1" dirty="0">
                <a:cs typeface="Arial" panose="020B0604020202020204" pitchFamily="34" charset="0"/>
              </a:rPr>
              <a:t>?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7C5DFB-FC12-4A6E-B2E9-5197DD952BEA}"/>
              </a:ext>
            </a:extLst>
          </p:cNvPr>
          <p:cNvSpPr txBox="1"/>
          <p:nvPr/>
        </p:nvSpPr>
        <p:spPr>
          <a:xfrm>
            <a:off x="3336462" y="4323572"/>
            <a:ext cx="45230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2. </a:t>
            </a:r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Indices</a:t>
            </a:r>
            <a:r>
              <a:rPr lang="en-AU" sz="2800" b="1" dirty="0">
                <a:cs typeface="Arial" panose="020B0604020202020204" pitchFamily="34" charset="0"/>
              </a:rPr>
              <a:t>?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FFF839-D1EF-42F5-8531-C1CF86767C41}"/>
              </a:ext>
            </a:extLst>
          </p:cNvPr>
          <p:cNvSpPr txBox="1"/>
          <p:nvPr/>
        </p:nvSpPr>
        <p:spPr>
          <a:xfrm>
            <a:off x="3336462" y="4827298"/>
            <a:ext cx="45230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3. </a:t>
            </a:r>
            <a:r>
              <a:rPr lang="en-AU" sz="2800" b="1" dirty="0">
                <a:solidFill>
                  <a:srgbClr val="7030A0"/>
                </a:solidFill>
                <a:cs typeface="Arial" panose="020B0604020202020204" pitchFamily="34" charset="0"/>
              </a:rPr>
              <a:t>Multiplication</a:t>
            </a:r>
            <a:r>
              <a:rPr lang="en-AU" sz="2800" b="1" dirty="0">
                <a:cs typeface="Arial" panose="020B0604020202020204" pitchFamily="34" charset="0"/>
              </a:rPr>
              <a:t> or </a:t>
            </a:r>
            <a:r>
              <a:rPr lang="en-AU" sz="2800" b="1" dirty="0">
                <a:solidFill>
                  <a:srgbClr val="7030A0"/>
                </a:solidFill>
                <a:cs typeface="Arial" panose="020B0604020202020204" pitchFamily="34" charset="0"/>
              </a:rPr>
              <a:t>Division</a:t>
            </a:r>
            <a:r>
              <a:rPr lang="en-AU" sz="2800" b="1" dirty="0">
                <a:cs typeface="Arial" panose="020B0604020202020204" pitchFamily="34" charset="0"/>
              </a:rPr>
              <a:t>?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61FE10E-EF61-43BA-8332-D477ADCBB678}"/>
              </a:ext>
            </a:extLst>
          </p:cNvPr>
          <p:cNvSpPr txBox="1"/>
          <p:nvPr/>
        </p:nvSpPr>
        <p:spPr>
          <a:xfrm>
            <a:off x="5385148" y="3825468"/>
            <a:ext cx="6868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No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D265C5C-447B-4134-8661-C743063E28B6}"/>
              </a:ext>
            </a:extLst>
          </p:cNvPr>
          <p:cNvSpPr txBox="1"/>
          <p:nvPr/>
        </p:nvSpPr>
        <p:spPr>
          <a:xfrm>
            <a:off x="5177594" y="4324192"/>
            <a:ext cx="6868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No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D660892-A3E2-4348-8310-22A2D15ED4B9}"/>
              </a:ext>
            </a:extLst>
          </p:cNvPr>
          <p:cNvSpPr txBox="1"/>
          <p:nvPr/>
        </p:nvSpPr>
        <p:spPr>
          <a:xfrm>
            <a:off x="7836161" y="4832919"/>
            <a:ext cx="43558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Yes! Underline, do &amp; drop!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CCD9F01-3B97-4C6A-94EF-3E2325D000B5}"/>
              </a:ext>
            </a:extLst>
          </p:cNvPr>
          <p:cNvSpPr txBox="1"/>
          <p:nvPr/>
        </p:nvSpPr>
        <p:spPr>
          <a:xfrm>
            <a:off x="7564925" y="5292032"/>
            <a:ext cx="43558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Yes! Underline, do &amp; drop!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9DF9883-0350-4D37-B86B-C24B4B2B40BE}"/>
              </a:ext>
            </a:extLst>
          </p:cNvPr>
          <p:cNvGrpSpPr/>
          <p:nvPr/>
        </p:nvGrpSpPr>
        <p:grpSpPr>
          <a:xfrm>
            <a:off x="10156369" y="1012398"/>
            <a:ext cx="2035631" cy="1159296"/>
            <a:chOff x="660399" y="3602071"/>
            <a:chExt cx="2035631" cy="1159296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4F64CDF-2A75-4B7E-84B2-B5FB909D3CE2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9E9B2ED-9E16-4682-9A97-0CF01811B346}"/>
                </a:ext>
              </a:extLst>
            </p:cNvPr>
            <p:cNvSpPr/>
            <p:nvPr/>
          </p:nvSpPr>
          <p:spPr>
            <a:xfrm>
              <a:off x="660399" y="3931961"/>
              <a:ext cx="2035629" cy="82940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order do you do multiplication and division in?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ABE4CF3-6F46-4F8E-B27D-5CD8046C0882}"/>
              </a:ext>
            </a:extLst>
          </p:cNvPr>
          <p:cNvGrpSpPr/>
          <p:nvPr/>
        </p:nvGrpSpPr>
        <p:grpSpPr>
          <a:xfrm>
            <a:off x="10156369" y="2213740"/>
            <a:ext cx="2035631" cy="1159296"/>
            <a:chOff x="660399" y="3602071"/>
            <a:chExt cx="2035631" cy="1159296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5C4EE42-8F36-45D8-94BD-713A10B64817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3CA35F4-6523-40A3-A286-3085B071DDC5}"/>
                </a:ext>
              </a:extLst>
            </p:cNvPr>
            <p:cNvSpPr/>
            <p:nvPr/>
          </p:nvSpPr>
          <p:spPr>
            <a:xfrm>
              <a:off x="660399" y="3931961"/>
              <a:ext cx="2035629" cy="82940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the strategy for setting out your work?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CA153FD7-F1C3-42D1-B093-DC08F3832BED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59733" y="3104404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1118026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39" grpId="1"/>
      <p:bldP spid="17" grpId="0" animBg="1"/>
      <p:bldP spid="21" grpId="0"/>
      <p:bldP spid="23" grpId="0"/>
      <p:bldP spid="24" grpId="0"/>
      <p:bldP spid="16" grpId="0"/>
      <p:bldP spid="30" grpId="0"/>
      <p:bldP spid="31" grpId="0"/>
      <p:bldP spid="34" grpId="0"/>
      <p:bldP spid="35" grpId="0"/>
      <p:bldP spid="40" grpId="0"/>
      <p:bldP spid="40" grpId="1"/>
      <p:bldP spid="41" grpId="0"/>
      <p:bldP spid="41" grpId="1"/>
      <p:bldP spid="42" grpId="0"/>
      <p:bldP spid="42" grpId="1"/>
      <p:bldP spid="43" grpId="0"/>
      <p:bldP spid="43" grpId="1"/>
      <p:bldP spid="44" grpId="0"/>
      <p:bldP spid="44" grpId="1"/>
      <p:bldP spid="45" grpId="0"/>
      <p:bldP spid="45" grpId="1"/>
      <p:bldP spid="46" grpId="0"/>
      <p:bldP spid="46" grpId="1"/>
      <p:bldP spid="4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4499088" y="292387"/>
            <a:ext cx="3680491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UNDERLINE, DO and DROP.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3331F0C7-9A19-406A-AF34-5D77ABFDBC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6548" y="3394768"/>
                <a:ext cx="2871086" cy="78877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3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600" b="1" i="1"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  <m:sup>
                        <m:r>
                          <a:rPr lang="en-AU" sz="3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AU" sz="3600" b="1" dirty="0"/>
                  <a:t> + (5 x 2)</a:t>
                </a: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3331F0C7-9A19-406A-AF34-5D77ABFDB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548" y="3394768"/>
                <a:ext cx="2871086" cy="788774"/>
              </a:xfrm>
              <a:prstGeom prst="rect">
                <a:avLst/>
              </a:prstGeom>
              <a:blipFill>
                <a:blip r:embed="rId2"/>
                <a:stretch>
                  <a:fillRect t="-17054" b="-6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255264B4-7E87-46B3-AD65-B1FA73EDF651}"/>
              </a:ext>
            </a:extLst>
          </p:cNvPr>
          <p:cNvSpPr txBox="1"/>
          <p:nvPr/>
        </p:nvSpPr>
        <p:spPr>
          <a:xfrm>
            <a:off x="287727" y="804831"/>
            <a:ext cx="9041791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0070C0"/>
                </a:solidFill>
                <a:cs typeface="Arial" panose="020B0604020202020204" pitchFamily="34" charset="0"/>
              </a:rPr>
              <a:t>B</a:t>
            </a:r>
            <a:r>
              <a:rPr lang="en-AU" sz="3600" b="1" dirty="0">
                <a:solidFill>
                  <a:srgbClr val="C00000"/>
                </a:solidFill>
                <a:cs typeface="Arial" panose="020B0604020202020204" pitchFamily="34" charset="0"/>
              </a:rPr>
              <a:t>I</a:t>
            </a:r>
            <a:r>
              <a:rPr lang="en-AU" sz="3600" b="1" dirty="0">
                <a:solidFill>
                  <a:srgbClr val="7030A0"/>
                </a:solidFill>
                <a:cs typeface="Arial" panose="020B0604020202020204" pitchFamily="34" charset="0"/>
              </a:rPr>
              <a:t>MD</a:t>
            </a:r>
            <a:r>
              <a:rPr lang="en-AU" sz="3600" b="1" dirty="0">
                <a:solidFill>
                  <a:srgbClr val="00B050"/>
                </a:solidFill>
                <a:cs typeface="Arial" panose="020B0604020202020204" pitchFamily="34" charset="0"/>
              </a:rPr>
              <a:t>AS</a:t>
            </a:r>
          </a:p>
          <a:p>
            <a:r>
              <a:rPr lang="en-AU" sz="2800" b="1" dirty="0">
                <a:cs typeface="Arial" panose="020B0604020202020204" pitchFamily="34" charset="0"/>
              </a:rPr>
              <a:t>1. </a:t>
            </a:r>
            <a:r>
              <a:rPr lang="en-AU" sz="2800" b="1" dirty="0">
                <a:solidFill>
                  <a:srgbClr val="0070C0"/>
                </a:solidFill>
                <a:cs typeface="Arial" panose="020B0604020202020204" pitchFamily="34" charset="0"/>
              </a:rPr>
              <a:t>Brackets</a:t>
            </a:r>
            <a:r>
              <a:rPr lang="en-AU" sz="2800" b="1" dirty="0">
                <a:cs typeface="Arial" panose="020B0604020202020204" pitchFamily="34" charset="0"/>
              </a:rPr>
              <a:t> first.</a:t>
            </a:r>
          </a:p>
          <a:p>
            <a:r>
              <a:rPr lang="en-AU" sz="2800" b="1" dirty="0">
                <a:cs typeface="Arial" panose="020B0604020202020204" pitchFamily="34" charset="0"/>
              </a:rPr>
              <a:t>2. </a:t>
            </a:r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Indices</a:t>
            </a:r>
            <a:r>
              <a:rPr lang="en-AU" sz="2800" b="1" dirty="0">
                <a:cs typeface="Arial" panose="020B0604020202020204" pitchFamily="34" charset="0"/>
              </a:rPr>
              <a:t> next.</a:t>
            </a:r>
          </a:p>
          <a:p>
            <a:r>
              <a:rPr lang="en-AU" sz="2800" b="1" dirty="0">
                <a:cs typeface="Arial" panose="020B0604020202020204" pitchFamily="34" charset="0"/>
              </a:rPr>
              <a:t>3. </a:t>
            </a:r>
            <a:r>
              <a:rPr lang="en-AU" sz="2800" b="1" dirty="0">
                <a:solidFill>
                  <a:srgbClr val="7030A0"/>
                </a:solidFill>
                <a:cs typeface="Arial" panose="020B0604020202020204" pitchFamily="34" charset="0"/>
              </a:rPr>
              <a:t>Multiplication</a:t>
            </a:r>
            <a:r>
              <a:rPr lang="en-AU" sz="2800" b="1" dirty="0">
                <a:cs typeface="Arial" panose="020B0604020202020204" pitchFamily="34" charset="0"/>
              </a:rPr>
              <a:t> and </a:t>
            </a:r>
            <a:r>
              <a:rPr lang="en-AU" sz="2800" b="1" dirty="0">
                <a:solidFill>
                  <a:srgbClr val="7030A0"/>
                </a:solidFill>
                <a:cs typeface="Arial" panose="020B0604020202020204" pitchFamily="34" charset="0"/>
              </a:rPr>
              <a:t>Division</a:t>
            </a:r>
            <a:r>
              <a:rPr lang="en-AU" sz="2800" b="1" dirty="0">
                <a:cs typeface="Arial" panose="020B0604020202020204" pitchFamily="34" charset="0"/>
              </a:rPr>
              <a:t> in order from left to right.</a:t>
            </a:r>
          </a:p>
          <a:p>
            <a:r>
              <a:rPr lang="en-AU" sz="2800" b="1" dirty="0">
                <a:cs typeface="Arial" panose="020B0604020202020204" pitchFamily="34" charset="0"/>
              </a:rPr>
              <a:t>4. </a:t>
            </a:r>
            <a:r>
              <a:rPr lang="en-AU" sz="2800" b="1" dirty="0">
                <a:solidFill>
                  <a:srgbClr val="00B050"/>
                </a:solidFill>
                <a:cs typeface="Arial" panose="020B0604020202020204" pitchFamily="34" charset="0"/>
              </a:rPr>
              <a:t>Addition</a:t>
            </a:r>
            <a:r>
              <a:rPr lang="en-AU" sz="2800" b="1" dirty="0">
                <a:cs typeface="Arial" panose="020B0604020202020204" pitchFamily="34" charset="0"/>
              </a:rPr>
              <a:t> and </a:t>
            </a:r>
            <a:r>
              <a:rPr lang="en-AU" sz="2800" b="1" dirty="0">
                <a:solidFill>
                  <a:srgbClr val="00B050"/>
                </a:solidFill>
                <a:cs typeface="Arial" panose="020B0604020202020204" pitchFamily="34" charset="0"/>
              </a:rPr>
              <a:t>Subtraction</a:t>
            </a:r>
            <a:r>
              <a:rPr lang="en-AU" sz="2800" b="1" dirty="0">
                <a:cs typeface="Arial" panose="020B0604020202020204" pitchFamily="34" charset="0"/>
              </a:rPr>
              <a:t> in order from left to right.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F4E544-24EA-41C4-8687-66F5FCBCD228}"/>
              </a:ext>
            </a:extLst>
          </p:cNvPr>
          <p:cNvCxnSpPr>
            <a:cxnSpLocks/>
          </p:cNvCxnSpPr>
          <p:nvPr/>
        </p:nvCxnSpPr>
        <p:spPr>
          <a:xfrm>
            <a:off x="1715602" y="3992022"/>
            <a:ext cx="1183241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6C0437A-4EFF-41F7-AEEF-064A1CAD70FC}"/>
              </a:ext>
            </a:extLst>
          </p:cNvPr>
          <p:cNvSpPr txBox="1"/>
          <p:nvPr/>
        </p:nvSpPr>
        <p:spPr>
          <a:xfrm>
            <a:off x="1970032" y="3938850"/>
            <a:ext cx="671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0A9F9D-6A43-48AD-B021-E115E952FD89}"/>
              </a:ext>
            </a:extLst>
          </p:cNvPr>
          <p:cNvSpPr txBox="1"/>
          <p:nvPr/>
        </p:nvSpPr>
        <p:spPr>
          <a:xfrm>
            <a:off x="382335" y="3938850"/>
            <a:ext cx="428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29FF374-B873-4671-A984-600248344882}"/>
                  </a:ext>
                </a:extLst>
              </p:cNvPr>
              <p:cNvSpPr txBox="1"/>
              <p:nvPr/>
            </p:nvSpPr>
            <p:spPr>
              <a:xfrm>
                <a:off x="731008" y="3936666"/>
                <a:ext cx="1021745" cy="658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3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600" b="1" i="1"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  <m:sup>
                        <m:r>
                          <a:rPr lang="en-AU" sz="3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AU" sz="3600" b="1" dirty="0"/>
                  <a:t> +</a:t>
                </a:r>
                <a:endParaRPr lang="en-US" sz="36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29FF374-B873-4671-A984-600248344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08" y="3936666"/>
                <a:ext cx="1021745" cy="658898"/>
              </a:xfrm>
              <a:prstGeom prst="rect">
                <a:avLst/>
              </a:prstGeom>
              <a:blipFill>
                <a:blip r:embed="rId3"/>
                <a:stretch>
                  <a:fillRect t="-12037" r="-16071" b="-35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C6115DC-902B-4099-912A-76F8164E66FC}"/>
              </a:ext>
            </a:extLst>
          </p:cNvPr>
          <p:cNvCxnSpPr>
            <a:cxnSpLocks/>
          </p:cNvCxnSpPr>
          <p:nvPr/>
        </p:nvCxnSpPr>
        <p:spPr>
          <a:xfrm>
            <a:off x="735583" y="4585181"/>
            <a:ext cx="583903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509AAC0-FDFF-4B99-80EB-DA4909ACE2B9}"/>
              </a:ext>
            </a:extLst>
          </p:cNvPr>
          <p:cNvSpPr txBox="1"/>
          <p:nvPr/>
        </p:nvSpPr>
        <p:spPr>
          <a:xfrm>
            <a:off x="691929" y="4674944"/>
            <a:ext cx="671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16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22D68D-D72E-4B19-AADA-64911FAB8A82}"/>
              </a:ext>
            </a:extLst>
          </p:cNvPr>
          <p:cNvSpPr txBox="1"/>
          <p:nvPr/>
        </p:nvSpPr>
        <p:spPr>
          <a:xfrm>
            <a:off x="378782" y="4666217"/>
            <a:ext cx="428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=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06D1F5C-99AF-4937-8658-5A06B8F33E54}"/>
              </a:ext>
            </a:extLst>
          </p:cNvPr>
          <p:cNvSpPr txBox="1"/>
          <p:nvPr/>
        </p:nvSpPr>
        <p:spPr>
          <a:xfrm>
            <a:off x="1319486" y="4669690"/>
            <a:ext cx="1613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+    10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237DAF8-BB24-4917-94AE-0CF9A99995BD}"/>
              </a:ext>
            </a:extLst>
          </p:cNvPr>
          <p:cNvCxnSpPr>
            <a:cxnSpLocks/>
          </p:cNvCxnSpPr>
          <p:nvPr/>
        </p:nvCxnSpPr>
        <p:spPr>
          <a:xfrm>
            <a:off x="726548" y="5229559"/>
            <a:ext cx="1812371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51A85F87-8B4F-44D4-935D-83B605C9FD78}"/>
              </a:ext>
            </a:extLst>
          </p:cNvPr>
          <p:cNvSpPr txBox="1"/>
          <p:nvPr/>
        </p:nvSpPr>
        <p:spPr>
          <a:xfrm>
            <a:off x="1241880" y="5350823"/>
            <a:ext cx="671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26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D786C54-0823-4EB6-AAF7-0F2800B2BB32}"/>
              </a:ext>
            </a:extLst>
          </p:cNvPr>
          <p:cNvSpPr txBox="1"/>
          <p:nvPr/>
        </p:nvSpPr>
        <p:spPr>
          <a:xfrm>
            <a:off x="363682" y="5321275"/>
            <a:ext cx="428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Content Placeholder 2">
                <a:extLst>
                  <a:ext uri="{FF2B5EF4-FFF2-40B4-BE49-F238E27FC236}">
                    <a16:creationId xmlns:a16="http://schemas.microsoft.com/office/drawing/2014/main" id="{9CDDEA66-70B4-4AB8-9A6E-3FAF46BA706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94365" y="3429000"/>
                <a:ext cx="3380383" cy="64202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AU" sz="3600" b="1" dirty="0">
                    <a:cs typeface="Arial" panose="020B0604020202020204" pitchFamily="34" charset="0"/>
                  </a:rPr>
                  <a:t>18 ÷ (4 + 2)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en-AU" sz="3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AU" sz="3600" b="1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9" name="Content Placeholder 2">
                <a:extLst>
                  <a:ext uri="{FF2B5EF4-FFF2-40B4-BE49-F238E27FC236}">
                    <a16:creationId xmlns:a16="http://schemas.microsoft.com/office/drawing/2014/main" id="{9CDDEA66-70B4-4AB8-9A6E-3FAF46BA70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4365" y="3429000"/>
                <a:ext cx="3380383" cy="642026"/>
              </a:xfrm>
              <a:prstGeom prst="rect">
                <a:avLst/>
              </a:prstGeom>
              <a:blipFill>
                <a:blip r:embed="rId4"/>
                <a:stretch>
                  <a:fillRect l="-5596" t="-23810" b="-2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3DB717C1-7F9E-4FEF-95CC-B7F533CA7D6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33294" y="3429000"/>
                <a:ext cx="3725411" cy="74389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AU" sz="3600" b="1" dirty="0">
                    <a:cs typeface="Arial" panose="020B0604020202020204" pitchFamily="34" charset="0"/>
                  </a:rPr>
                  <a:t>21 ÷ (10 - 3)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  <m:sup>
                        <m:r>
                          <a:rPr lang="en-AU" sz="3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AU" sz="3600" b="1" dirty="0">
                  <a:cs typeface="Arial" panose="020B0604020202020204" pitchFamily="34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4000" dirty="0"/>
              </a:p>
            </p:txBody>
          </p:sp>
        </mc:Choice>
        <mc:Fallback xmlns=""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3DB717C1-7F9E-4FEF-95CC-B7F533CA7D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3294" y="3429000"/>
                <a:ext cx="3725411" cy="743894"/>
              </a:xfrm>
              <a:prstGeom prst="rect">
                <a:avLst/>
              </a:prstGeom>
              <a:blipFill>
                <a:blip r:embed="rId5"/>
                <a:stretch>
                  <a:fillRect l="-4902" t="-20492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D3600350-7084-4593-A20D-CC2FF0B02C66}"/>
              </a:ext>
            </a:extLst>
          </p:cNvPr>
          <p:cNvGrpSpPr/>
          <p:nvPr/>
        </p:nvGrpSpPr>
        <p:grpSpPr>
          <a:xfrm>
            <a:off x="10156369" y="0"/>
            <a:ext cx="2035631" cy="971026"/>
            <a:chOff x="660399" y="3602071"/>
            <a:chExt cx="2035631" cy="97102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78F56DC-E6B0-42C7-A398-A38403A09F49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2685702-8B87-41EA-80F0-DC6ACCDB2A1C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does BIMDAS stand for?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0AED17D-918F-4F91-861E-62D781F1BD98}"/>
              </a:ext>
            </a:extLst>
          </p:cNvPr>
          <p:cNvGrpSpPr/>
          <p:nvPr/>
        </p:nvGrpSpPr>
        <p:grpSpPr>
          <a:xfrm>
            <a:off x="10156369" y="1048012"/>
            <a:ext cx="2035631" cy="1159296"/>
            <a:chOff x="660399" y="3602071"/>
            <a:chExt cx="2035631" cy="1159296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197501B-2475-4225-8C11-0C7E064225A7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1D43AD2-3A6C-4617-B6A8-E5FBA64D7E23}"/>
                </a:ext>
              </a:extLst>
            </p:cNvPr>
            <p:cNvSpPr/>
            <p:nvPr/>
          </p:nvSpPr>
          <p:spPr>
            <a:xfrm>
              <a:off x="660399" y="3931961"/>
              <a:ext cx="2035629" cy="82940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the strategy for setting out your work?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EDD054B0-D651-4E2A-832B-33CF7E3F3FCF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42211" y="2694178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278804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C175E2EE-D511-47BA-96B1-2D89396BAFBE}"/>
              </a:ext>
            </a:extLst>
          </p:cNvPr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A1404F-2D51-4BE2-B71E-AC3D0D10D9AE}"/>
              </a:ext>
            </a:extLst>
          </p:cNvPr>
          <p:cNvSpPr txBox="1"/>
          <p:nvPr/>
        </p:nvSpPr>
        <p:spPr>
          <a:xfrm>
            <a:off x="0" y="3336331"/>
            <a:ext cx="2916437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Success Criteria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7F0A19D-2337-4957-A59A-BBE73EC03E1F}"/>
              </a:ext>
            </a:extLst>
          </p:cNvPr>
          <p:cNvGrpSpPr/>
          <p:nvPr/>
        </p:nvGrpSpPr>
        <p:grpSpPr>
          <a:xfrm>
            <a:off x="10156369" y="0"/>
            <a:ext cx="2035631" cy="971026"/>
            <a:chOff x="660399" y="3602071"/>
            <a:chExt cx="2035631" cy="97102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484506A-3C79-4667-940B-36880AE95A8C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6F11CF9-6738-4A82-BE25-AAEDB65F620F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will we learn today?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5381CDC7-58C6-4B00-AF95-88D3AE68A65D}"/>
              </a:ext>
            </a:extLst>
          </p:cNvPr>
          <p:cNvSpPr txBox="1"/>
          <p:nvPr/>
        </p:nvSpPr>
        <p:spPr>
          <a:xfrm>
            <a:off x="418270" y="1177373"/>
            <a:ext cx="93129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cs typeface="Arial" panose="020B0604020202020204" pitchFamily="34" charset="0"/>
              </a:rPr>
              <a:t>I will use the CUBES problem-solving strategy to answer worded problems.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8C0F990-FA28-4D59-B1A1-CF11ADF42B0E}"/>
              </a:ext>
            </a:extLst>
          </p:cNvPr>
          <p:cNvGrpSpPr/>
          <p:nvPr/>
        </p:nvGrpSpPr>
        <p:grpSpPr>
          <a:xfrm>
            <a:off x="10156369" y="1080311"/>
            <a:ext cx="2035631" cy="1194596"/>
            <a:chOff x="660399" y="3602071"/>
            <a:chExt cx="2035631" cy="1194596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65C0C49-9730-415E-90E7-F880952B87EB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CC9CE05-2369-4108-82FB-59DF26374DA3}"/>
                </a:ext>
              </a:extLst>
            </p:cNvPr>
            <p:cNvSpPr/>
            <p:nvPr/>
          </p:nvSpPr>
          <p:spPr>
            <a:xfrm>
              <a:off x="660399" y="3931961"/>
              <a:ext cx="2035629" cy="86470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How will you know that you are successful?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7269AF61-750A-4C41-991C-B4142C532DB6}"/>
              </a:ext>
            </a:extLst>
          </p:cNvPr>
          <p:cNvSpPr txBox="1"/>
          <p:nvPr/>
        </p:nvSpPr>
        <p:spPr>
          <a:xfrm>
            <a:off x="351158" y="4159468"/>
            <a:ext cx="781971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At the end of the lesson, I will be able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cs typeface="Arial" panose="020B0604020202020204" pitchFamily="34" charset="0"/>
              </a:rPr>
              <a:t>Recite the CUBES strategy.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cs typeface="Arial" panose="020B0604020202020204" pitchFamily="34" charset="0"/>
              </a:rPr>
              <a:t>Use the CUBES strategy to select an appropriate solving method.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cs typeface="Arial" panose="020B0604020202020204" pitchFamily="34" charset="0"/>
              </a:rPr>
              <a:t>Solve worded whole number problems.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2D880F-A674-4EBB-BB6E-CBAC367F8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3824" y="2442457"/>
            <a:ext cx="3314929" cy="428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068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75B6234-F289-4102-B8D8-9227B96C67E4}"/>
              </a:ext>
            </a:extLst>
          </p:cNvPr>
          <p:cNvSpPr txBox="1"/>
          <p:nvPr/>
        </p:nvSpPr>
        <p:spPr>
          <a:xfrm>
            <a:off x="0" y="0"/>
            <a:ext cx="449854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Activate Prior Knowledge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E412457-3A14-4DCF-81F2-EE30760AC5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417511"/>
              </p:ext>
            </p:extLst>
          </p:nvPr>
        </p:nvGraphicFramePr>
        <p:xfrm>
          <a:off x="1995175" y="1167137"/>
          <a:ext cx="8128000" cy="5218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69272553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4941809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0873647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62331494"/>
                    </a:ext>
                  </a:extLst>
                </a:gridCol>
              </a:tblGrid>
              <a:tr h="769549">
                <a:tc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4800" b="1" dirty="0"/>
                        <a:t>÷</a:t>
                      </a:r>
                      <a:endParaRPr lang="en-US" sz="4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375988"/>
                  </a:ext>
                </a:extLst>
              </a:tr>
              <a:tr h="43960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107326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A8107D3-67C0-467E-B381-8B23CDFA7BF8}"/>
              </a:ext>
            </a:extLst>
          </p:cNvPr>
          <p:cNvSpPr txBox="1"/>
          <p:nvPr/>
        </p:nvSpPr>
        <p:spPr>
          <a:xfrm>
            <a:off x="-98530" y="1515411"/>
            <a:ext cx="2052555" cy="4660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700"/>
              </a:spcAft>
            </a:pPr>
            <a:r>
              <a:rPr lang="en-AU" sz="3200" b="1" dirty="0">
                <a:cs typeface="Arial" panose="020B0604020202020204" pitchFamily="34" charset="0"/>
              </a:rPr>
              <a:t>Add</a:t>
            </a:r>
          </a:p>
          <a:p>
            <a:pPr algn="ctr">
              <a:spcAft>
                <a:spcPts val="700"/>
              </a:spcAft>
            </a:pPr>
            <a:r>
              <a:rPr lang="en-AU" sz="3200" b="1" dirty="0">
                <a:cs typeface="Arial" panose="020B0604020202020204" pitchFamily="34" charset="0"/>
              </a:rPr>
              <a:t>Difference</a:t>
            </a:r>
          </a:p>
          <a:p>
            <a:pPr algn="ctr">
              <a:spcAft>
                <a:spcPts val="700"/>
              </a:spcAft>
            </a:pPr>
            <a:r>
              <a:rPr lang="en-AU" sz="3200" b="1" dirty="0">
                <a:cs typeface="Arial" panose="020B0604020202020204" pitchFamily="34" charset="0"/>
              </a:rPr>
              <a:t>Divide</a:t>
            </a:r>
          </a:p>
          <a:p>
            <a:pPr algn="ctr">
              <a:spcAft>
                <a:spcPts val="700"/>
              </a:spcAft>
            </a:pPr>
            <a:r>
              <a:rPr lang="en-AU" sz="3200" b="1" dirty="0">
                <a:cs typeface="Arial" panose="020B0604020202020204" pitchFamily="34" charset="0"/>
              </a:rPr>
              <a:t>Lots of</a:t>
            </a:r>
          </a:p>
          <a:p>
            <a:pPr algn="ctr">
              <a:spcAft>
                <a:spcPts val="700"/>
              </a:spcAft>
            </a:pPr>
            <a:r>
              <a:rPr lang="en-AU" sz="3200" b="1" dirty="0">
                <a:cs typeface="Arial" panose="020B0604020202020204" pitchFamily="34" charset="0"/>
              </a:rPr>
              <a:t>Sum</a:t>
            </a:r>
          </a:p>
          <a:p>
            <a:pPr algn="ctr">
              <a:spcAft>
                <a:spcPts val="700"/>
              </a:spcAft>
            </a:pPr>
            <a:r>
              <a:rPr lang="en-AU" sz="3200" b="1" dirty="0">
                <a:cs typeface="Arial" panose="020B0604020202020204" pitchFamily="34" charset="0"/>
              </a:rPr>
              <a:t>Altogether</a:t>
            </a:r>
          </a:p>
          <a:p>
            <a:pPr algn="ctr">
              <a:spcAft>
                <a:spcPts val="700"/>
              </a:spcAft>
            </a:pPr>
            <a:r>
              <a:rPr lang="en-AU" sz="3200" b="1" dirty="0">
                <a:cs typeface="Arial" panose="020B0604020202020204" pitchFamily="34" charset="0"/>
              </a:rPr>
              <a:t>Minus</a:t>
            </a:r>
          </a:p>
          <a:p>
            <a:pPr algn="ctr">
              <a:spcAft>
                <a:spcPts val="700"/>
              </a:spcAft>
            </a:pPr>
            <a:r>
              <a:rPr lang="en-AU" sz="3200" b="1" dirty="0">
                <a:cs typeface="Arial" panose="020B0604020202020204" pitchFamily="34" charset="0"/>
              </a:rPr>
              <a:t>Quotient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3EC9DA-1859-451B-8971-401672A4F0F1}"/>
              </a:ext>
            </a:extLst>
          </p:cNvPr>
          <p:cNvSpPr txBox="1"/>
          <p:nvPr/>
        </p:nvSpPr>
        <p:spPr>
          <a:xfrm>
            <a:off x="10061470" y="1515411"/>
            <a:ext cx="2052555" cy="4660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700"/>
              </a:spcAft>
            </a:pPr>
            <a:r>
              <a:rPr lang="en-AU" sz="3200" b="1" dirty="0">
                <a:cs typeface="Arial" panose="020B0604020202020204" pitchFamily="34" charset="0"/>
              </a:rPr>
              <a:t>Subtract</a:t>
            </a:r>
          </a:p>
          <a:p>
            <a:pPr algn="ctr">
              <a:spcAft>
                <a:spcPts val="700"/>
              </a:spcAft>
            </a:pPr>
            <a:r>
              <a:rPr lang="en-AU" sz="3200" b="1" dirty="0">
                <a:cs typeface="Arial" panose="020B0604020202020204" pitchFamily="34" charset="0"/>
              </a:rPr>
              <a:t>Multiply</a:t>
            </a:r>
          </a:p>
          <a:p>
            <a:pPr algn="ctr">
              <a:spcAft>
                <a:spcPts val="700"/>
              </a:spcAft>
            </a:pPr>
            <a:r>
              <a:rPr lang="en-AU" sz="3200" b="1" dirty="0">
                <a:cs typeface="Arial" panose="020B0604020202020204" pitchFamily="34" charset="0"/>
              </a:rPr>
              <a:t>Share</a:t>
            </a:r>
          </a:p>
          <a:p>
            <a:pPr algn="ctr">
              <a:spcAft>
                <a:spcPts val="700"/>
              </a:spcAft>
            </a:pPr>
            <a:r>
              <a:rPr lang="en-AU" sz="3200" b="1" dirty="0">
                <a:cs typeface="Arial" panose="020B0604020202020204" pitchFamily="34" charset="0"/>
              </a:rPr>
              <a:t>Product</a:t>
            </a:r>
          </a:p>
          <a:p>
            <a:pPr algn="ctr">
              <a:spcAft>
                <a:spcPts val="700"/>
              </a:spcAft>
            </a:pPr>
            <a:r>
              <a:rPr lang="en-AU" sz="3200" b="1" dirty="0">
                <a:cs typeface="Arial" panose="020B0604020202020204" pitchFamily="34" charset="0"/>
              </a:rPr>
              <a:t>Total</a:t>
            </a:r>
          </a:p>
          <a:p>
            <a:pPr algn="ctr">
              <a:spcAft>
                <a:spcPts val="700"/>
              </a:spcAft>
            </a:pPr>
            <a:r>
              <a:rPr lang="en-AU" sz="3200" b="1" dirty="0">
                <a:cs typeface="Arial" panose="020B0604020202020204" pitchFamily="34" charset="0"/>
              </a:rPr>
              <a:t>Goes into</a:t>
            </a:r>
          </a:p>
          <a:p>
            <a:pPr algn="ctr">
              <a:spcAft>
                <a:spcPts val="700"/>
              </a:spcAft>
            </a:pPr>
            <a:r>
              <a:rPr lang="en-AU" sz="3200" b="1" dirty="0">
                <a:cs typeface="Arial" panose="020B0604020202020204" pitchFamily="34" charset="0"/>
              </a:rPr>
              <a:t>Less than</a:t>
            </a:r>
          </a:p>
          <a:p>
            <a:pPr algn="ctr">
              <a:spcAft>
                <a:spcPts val="700"/>
              </a:spcAft>
            </a:pPr>
            <a:r>
              <a:rPr lang="en-AU" sz="3200" b="1" dirty="0">
                <a:cs typeface="Arial" panose="020B0604020202020204" pitchFamily="34" charset="0"/>
              </a:rPr>
              <a:t>Times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3EAF6C-F025-4D93-BF05-E7ACEB21EAEE}"/>
              </a:ext>
            </a:extLst>
          </p:cNvPr>
          <p:cNvSpPr txBox="1"/>
          <p:nvPr/>
        </p:nvSpPr>
        <p:spPr>
          <a:xfrm>
            <a:off x="1995175" y="2225110"/>
            <a:ext cx="2052555" cy="2913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700"/>
              </a:spcAft>
            </a:pPr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Add</a:t>
            </a:r>
          </a:p>
          <a:p>
            <a:pPr algn="ctr">
              <a:spcAft>
                <a:spcPts val="700"/>
              </a:spcAft>
            </a:pPr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Sum</a:t>
            </a:r>
          </a:p>
          <a:p>
            <a:pPr algn="ctr">
              <a:spcAft>
                <a:spcPts val="700"/>
              </a:spcAft>
            </a:pPr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Total</a:t>
            </a:r>
          </a:p>
          <a:p>
            <a:pPr algn="ctr">
              <a:spcAft>
                <a:spcPts val="700"/>
              </a:spcAft>
            </a:pPr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Altogether</a:t>
            </a:r>
          </a:p>
          <a:p>
            <a:pPr algn="ctr">
              <a:spcAft>
                <a:spcPts val="700"/>
              </a:spcAft>
            </a:pPr>
            <a:endParaRPr lang="en-AU" sz="3200" b="1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2B9779-9672-4CD3-8605-DC21F24945A2}"/>
              </a:ext>
            </a:extLst>
          </p:cNvPr>
          <p:cNvSpPr txBox="1"/>
          <p:nvPr/>
        </p:nvSpPr>
        <p:spPr>
          <a:xfrm>
            <a:off x="4006620" y="2225110"/>
            <a:ext cx="2052555" cy="2913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700"/>
              </a:spcAft>
            </a:pPr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Subtract</a:t>
            </a:r>
          </a:p>
          <a:p>
            <a:pPr algn="ctr">
              <a:spcAft>
                <a:spcPts val="700"/>
              </a:spcAft>
            </a:pPr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Minus</a:t>
            </a:r>
          </a:p>
          <a:p>
            <a:pPr algn="ctr">
              <a:spcAft>
                <a:spcPts val="700"/>
              </a:spcAft>
            </a:pPr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Less than</a:t>
            </a:r>
          </a:p>
          <a:p>
            <a:pPr algn="ctr">
              <a:spcAft>
                <a:spcPts val="700"/>
              </a:spcAft>
            </a:pPr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Difference</a:t>
            </a:r>
          </a:p>
          <a:p>
            <a:pPr algn="ctr">
              <a:spcAft>
                <a:spcPts val="700"/>
              </a:spcAft>
            </a:pPr>
            <a:endParaRPr lang="en-AU" sz="3200" b="1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7398B6-A613-4D8E-BC5C-DCA9CEEABB4A}"/>
              </a:ext>
            </a:extLst>
          </p:cNvPr>
          <p:cNvSpPr txBox="1"/>
          <p:nvPr/>
        </p:nvSpPr>
        <p:spPr>
          <a:xfrm>
            <a:off x="6059175" y="2225110"/>
            <a:ext cx="2052555" cy="2913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700"/>
              </a:spcAft>
            </a:pPr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Multiply</a:t>
            </a:r>
          </a:p>
          <a:p>
            <a:pPr algn="ctr">
              <a:spcAft>
                <a:spcPts val="700"/>
              </a:spcAft>
            </a:pPr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Times</a:t>
            </a:r>
          </a:p>
          <a:p>
            <a:pPr algn="ctr">
              <a:spcAft>
                <a:spcPts val="700"/>
              </a:spcAft>
            </a:pPr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Lots of</a:t>
            </a:r>
          </a:p>
          <a:p>
            <a:pPr algn="ctr">
              <a:spcAft>
                <a:spcPts val="700"/>
              </a:spcAft>
            </a:pPr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Product</a:t>
            </a:r>
          </a:p>
          <a:p>
            <a:pPr algn="ctr">
              <a:spcAft>
                <a:spcPts val="700"/>
              </a:spcAft>
            </a:pPr>
            <a:endParaRPr lang="en-AU" sz="3200" b="1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51E465-981D-44A8-8374-FCC562EA2511}"/>
              </a:ext>
            </a:extLst>
          </p:cNvPr>
          <p:cNvSpPr txBox="1"/>
          <p:nvPr/>
        </p:nvSpPr>
        <p:spPr>
          <a:xfrm>
            <a:off x="8050065" y="2225110"/>
            <a:ext cx="2052555" cy="2913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700"/>
              </a:spcAft>
            </a:pPr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Divide</a:t>
            </a:r>
          </a:p>
          <a:p>
            <a:pPr algn="ctr">
              <a:spcAft>
                <a:spcPts val="700"/>
              </a:spcAft>
            </a:pPr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Share</a:t>
            </a:r>
          </a:p>
          <a:p>
            <a:pPr algn="ctr">
              <a:spcAft>
                <a:spcPts val="700"/>
              </a:spcAft>
            </a:pPr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Goes into</a:t>
            </a:r>
          </a:p>
          <a:p>
            <a:pPr algn="ctr">
              <a:spcAft>
                <a:spcPts val="700"/>
              </a:spcAft>
            </a:pPr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Quotient</a:t>
            </a:r>
          </a:p>
          <a:p>
            <a:pPr algn="ctr">
              <a:spcAft>
                <a:spcPts val="700"/>
              </a:spcAft>
            </a:pPr>
            <a:endParaRPr lang="en-AU" sz="3200" b="1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pic>
        <p:nvPicPr>
          <p:cNvPr id="19" name="MS910219404[1].wav">
            <a:hlinkClick r:id="" action="ppaction://media"/>
            <a:extLst>
              <a:ext uri="{FF2B5EF4-FFF2-40B4-BE49-F238E27FC236}">
                <a16:creationId xmlns:a16="http://schemas.microsoft.com/office/drawing/2014/main" id="{05F4495A-CFDF-48CE-9ACE-5A5454F6637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 cstate="print"/>
          <a:stretch>
            <a:fillRect/>
          </a:stretch>
        </p:blipFill>
        <p:spPr>
          <a:xfrm>
            <a:off x="10843273" y="378271"/>
            <a:ext cx="244475" cy="244475"/>
          </a:xfrm>
          <a:prstGeom prst="rect">
            <a:avLst/>
          </a:prstGeom>
        </p:spPr>
      </p:pic>
      <p:sp>
        <p:nvSpPr>
          <p:cNvPr id="20" name="Rectangle 3">
            <a:extLst>
              <a:ext uri="{FF2B5EF4-FFF2-40B4-BE49-F238E27FC236}">
                <a16:creationId xmlns:a16="http://schemas.microsoft.com/office/drawing/2014/main" id="{1C069AA3-861E-4171-8813-F3D842D8F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2:00</a:t>
            </a:r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7C897E79-C850-404F-9CC9-E06FEB54B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1:59</a:t>
            </a:r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B2368DBF-2210-4304-B009-0EB19DBC6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1:58</a:t>
            </a: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8C819584-FBA6-4AD1-8685-E75196200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1:57</a:t>
            </a:r>
          </a:p>
        </p:txBody>
      </p:sp>
      <p:sp>
        <p:nvSpPr>
          <p:cNvPr id="24" name="Rectangle 7">
            <a:extLst>
              <a:ext uri="{FF2B5EF4-FFF2-40B4-BE49-F238E27FC236}">
                <a16:creationId xmlns:a16="http://schemas.microsoft.com/office/drawing/2014/main" id="{03259DA5-A160-4260-AE29-0C4F34DE1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1:56</a:t>
            </a:r>
          </a:p>
        </p:txBody>
      </p:sp>
      <p:sp>
        <p:nvSpPr>
          <p:cNvPr id="25" name="Rectangle 8">
            <a:extLst>
              <a:ext uri="{FF2B5EF4-FFF2-40B4-BE49-F238E27FC236}">
                <a16:creationId xmlns:a16="http://schemas.microsoft.com/office/drawing/2014/main" id="{4AA6260D-D914-455B-AE53-C23D844C2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1:55</a:t>
            </a:r>
          </a:p>
        </p:txBody>
      </p:sp>
      <p:sp>
        <p:nvSpPr>
          <p:cNvPr id="26" name="Rectangle 9">
            <a:extLst>
              <a:ext uri="{FF2B5EF4-FFF2-40B4-BE49-F238E27FC236}">
                <a16:creationId xmlns:a16="http://schemas.microsoft.com/office/drawing/2014/main" id="{6573B904-BD91-4043-BCE4-5793C8EA9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1:54</a:t>
            </a:r>
          </a:p>
        </p:txBody>
      </p:sp>
      <p:sp>
        <p:nvSpPr>
          <p:cNvPr id="27" name="Rectangle 10">
            <a:extLst>
              <a:ext uri="{FF2B5EF4-FFF2-40B4-BE49-F238E27FC236}">
                <a16:creationId xmlns:a16="http://schemas.microsoft.com/office/drawing/2014/main" id="{04F3D222-EAF8-41DB-8DBF-27DF5C766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1:53</a:t>
            </a:r>
          </a:p>
        </p:txBody>
      </p:sp>
      <p:sp>
        <p:nvSpPr>
          <p:cNvPr id="28" name="Rectangle 11">
            <a:extLst>
              <a:ext uri="{FF2B5EF4-FFF2-40B4-BE49-F238E27FC236}">
                <a16:creationId xmlns:a16="http://schemas.microsoft.com/office/drawing/2014/main" id="{75C3581F-D208-4CBB-8E05-E62737CB7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1:52</a:t>
            </a:r>
          </a:p>
        </p:txBody>
      </p:sp>
      <p:sp>
        <p:nvSpPr>
          <p:cNvPr id="29" name="Rectangle 12">
            <a:extLst>
              <a:ext uri="{FF2B5EF4-FFF2-40B4-BE49-F238E27FC236}">
                <a16:creationId xmlns:a16="http://schemas.microsoft.com/office/drawing/2014/main" id="{DDFF1CC7-13FD-456F-B230-86FF643D1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1:51</a:t>
            </a:r>
          </a:p>
        </p:txBody>
      </p:sp>
      <p:sp>
        <p:nvSpPr>
          <p:cNvPr id="30" name="Rectangle 13">
            <a:extLst>
              <a:ext uri="{FF2B5EF4-FFF2-40B4-BE49-F238E27FC236}">
                <a16:creationId xmlns:a16="http://schemas.microsoft.com/office/drawing/2014/main" id="{777675A2-9730-43A5-B52F-1965B63D3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1:50</a:t>
            </a:r>
          </a:p>
        </p:txBody>
      </p:sp>
      <p:sp>
        <p:nvSpPr>
          <p:cNvPr id="31" name="Rectangle 14">
            <a:extLst>
              <a:ext uri="{FF2B5EF4-FFF2-40B4-BE49-F238E27FC236}">
                <a16:creationId xmlns:a16="http://schemas.microsoft.com/office/drawing/2014/main" id="{3CF2247E-F5B3-4B60-8199-7D5995F92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1:49</a:t>
            </a:r>
          </a:p>
        </p:txBody>
      </p:sp>
      <p:sp>
        <p:nvSpPr>
          <p:cNvPr id="32" name="Rectangle 15">
            <a:extLst>
              <a:ext uri="{FF2B5EF4-FFF2-40B4-BE49-F238E27FC236}">
                <a16:creationId xmlns:a16="http://schemas.microsoft.com/office/drawing/2014/main" id="{657C2582-658B-44E9-8F24-87793825C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1:48</a:t>
            </a:r>
          </a:p>
        </p:txBody>
      </p:sp>
      <p:sp>
        <p:nvSpPr>
          <p:cNvPr id="33" name="Rectangle 16">
            <a:extLst>
              <a:ext uri="{FF2B5EF4-FFF2-40B4-BE49-F238E27FC236}">
                <a16:creationId xmlns:a16="http://schemas.microsoft.com/office/drawing/2014/main" id="{85A311E6-6290-45F0-9E78-EBD45D8E8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1:47</a:t>
            </a:r>
          </a:p>
        </p:txBody>
      </p:sp>
      <p:sp>
        <p:nvSpPr>
          <p:cNvPr id="34" name="Rectangle 17">
            <a:extLst>
              <a:ext uri="{FF2B5EF4-FFF2-40B4-BE49-F238E27FC236}">
                <a16:creationId xmlns:a16="http://schemas.microsoft.com/office/drawing/2014/main" id="{E5892CAC-3D73-4DCE-B67B-74C7E8696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1:46</a:t>
            </a:r>
          </a:p>
        </p:txBody>
      </p:sp>
      <p:sp>
        <p:nvSpPr>
          <p:cNvPr id="35" name="Rectangle 18">
            <a:extLst>
              <a:ext uri="{FF2B5EF4-FFF2-40B4-BE49-F238E27FC236}">
                <a16:creationId xmlns:a16="http://schemas.microsoft.com/office/drawing/2014/main" id="{CB92CA8F-E940-49FB-8D8C-49918F3E7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1:45</a:t>
            </a:r>
          </a:p>
        </p:txBody>
      </p:sp>
      <p:sp>
        <p:nvSpPr>
          <p:cNvPr id="36" name="Rectangle 19">
            <a:extLst>
              <a:ext uri="{FF2B5EF4-FFF2-40B4-BE49-F238E27FC236}">
                <a16:creationId xmlns:a16="http://schemas.microsoft.com/office/drawing/2014/main" id="{441F1320-7097-4028-9125-6A487E22F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1:44</a:t>
            </a:r>
          </a:p>
        </p:txBody>
      </p:sp>
      <p:sp>
        <p:nvSpPr>
          <p:cNvPr id="37" name="Rectangle 20">
            <a:extLst>
              <a:ext uri="{FF2B5EF4-FFF2-40B4-BE49-F238E27FC236}">
                <a16:creationId xmlns:a16="http://schemas.microsoft.com/office/drawing/2014/main" id="{5D58516D-314A-4F9C-9578-344D9F1EF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1:43</a:t>
            </a:r>
          </a:p>
        </p:txBody>
      </p:sp>
      <p:sp>
        <p:nvSpPr>
          <p:cNvPr id="38" name="Rectangle 21">
            <a:extLst>
              <a:ext uri="{FF2B5EF4-FFF2-40B4-BE49-F238E27FC236}">
                <a16:creationId xmlns:a16="http://schemas.microsoft.com/office/drawing/2014/main" id="{18886264-526A-4C35-8FE2-5858C63C9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1:42</a:t>
            </a:r>
          </a:p>
        </p:txBody>
      </p:sp>
      <p:sp>
        <p:nvSpPr>
          <p:cNvPr id="39" name="Rectangle 22">
            <a:extLst>
              <a:ext uri="{FF2B5EF4-FFF2-40B4-BE49-F238E27FC236}">
                <a16:creationId xmlns:a16="http://schemas.microsoft.com/office/drawing/2014/main" id="{73742417-CA3F-439E-9CD4-4CE620230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1:41</a:t>
            </a:r>
          </a:p>
        </p:txBody>
      </p:sp>
      <p:sp>
        <p:nvSpPr>
          <p:cNvPr id="40" name="Rectangle 23">
            <a:extLst>
              <a:ext uri="{FF2B5EF4-FFF2-40B4-BE49-F238E27FC236}">
                <a16:creationId xmlns:a16="http://schemas.microsoft.com/office/drawing/2014/main" id="{0AEC99B3-3891-4414-B68D-440C9BEB2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1:40</a:t>
            </a:r>
          </a:p>
        </p:txBody>
      </p:sp>
      <p:sp>
        <p:nvSpPr>
          <p:cNvPr id="41" name="Rectangle 24">
            <a:extLst>
              <a:ext uri="{FF2B5EF4-FFF2-40B4-BE49-F238E27FC236}">
                <a16:creationId xmlns:a16="http://schemas.microsoft.com/office/drawing/2014/main" id="{436D818D-63EE-4516-8B59-1DFD097CE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1:39</a:t>
            </a:r>
          </a:p>
        </p:txBody>
      </p:sp>
      <p:sp>
        <p:nvSpPr>
          <p:cNvPr id="42" name="Rectangle 25">
            <a:extLst>
              <a:ext uri="{FF2B5EF4-FFF2-40B4-BE49-F238E27FC236}">
                <a16:creationId xmlns:a16="http://schemas.microsoft.com/office/drawing/2014/main" id="{D2ABE62A-02B7-49CF-AB7E-7B3DA1B11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1:38</a:t>
            </a:r>
          </a:p>
        </p:txBody>
      </p:sp>
      <p:sp>
        <p:nvSpPr>
          <p:cNvPr id="43" name="Rectangle 26">
            <a:extLst>
              <a:ext uri="{FF2B5EF4-FFF2-40B4-BE49-F238E27FC236}">
                <a16:creationId xmlns:a16="http://schemas.microsoft.com/office/drawing/2014/main" id="{261CFEBA-FBBA-4C40-842C-32EE9B88D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1:37</a:t>
            </a:r>
          </a:p>
        </p:txBody>
      </p:sp>
      <p:sp>
        <p:nvSpPr>
          <p:cNvPr id="44" name="Rectangle 27">
            <a:extLst>
              <a:ext uri="{FF2B5EF4-FFF2-40B4-BE49-F238E27FC236}">
                <a16:creationId xmlns:a16="http://schemas.microsoft.com/office/drawing/2014/main" id="{D1D48A7C-C9E8-4A5D-BC36-783B470F3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1:36</a:t>
            </a:r>
          </a:p>
        </p:txBody>
      </p:sp>
      <p:sp>
        <p:nvSpPr>
          <p:cNvPr id="45" name="Rectangle 28">
            <a:extLst>
              <a:ext uri="{FF2B5EF4-FFF2-40B4-BE49-F238E27FC236}">
                <a16:creationId xmlns:a16="http://schemas.microsoft.com/office/drawing/2014/main" id="{2E321096-9791-4323-BE57-6F48E3C6B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1:35</a:t>
            </a:r>
          </a:p>
        </p:txBody>
      </p:sp>
      <p:sp>
        <p:nvSpPr>
          <p:cNvPr id="46" name="Rectangle 29">
            <a:extLst>
              <a:ext uri="{FF2B5EF4-FFF2-40B4-BE49-F238E27FC236}">
                <a16:creationId xmlns:a16="http://schemas.microsoft.com/office/drawing/2014/main" id="{91BD44C2-A1AA-4D69-B339-9D0CDEA55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1:34</a:t>
            </a:r>
          </a:p>
        </p:txBody>
      </p:sp>
      <p:sp>
        <p:nvSpPr>
          <p:cNvPr id="47" name="Rectangle 30">
            <a:extLst>
              <a:ext uri="{FF2B5EF4-FFF2-40B4-BE49-F238E27FC236}">
                <a16:creationId xmlns:a16="http://schemas.microsoft.com/office/drawing/2014/main" id="{D95DB304-6BF7-4958-9347-3AEB72BD6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1:33</a:t>
            </a:r>
          </a:p>
        </p:txBody>
      </p:sp>
      <p:sp>
        <p:nvSpPr>
          <p:cNvPr id="48" name="Rectangle 31">
            <a:extLst>
              <a:ext uri="{FF2B5EF4-FFF2-40B4-BE49-F238E27FC236}">
                <a16:creationId xmlns:a16="http://schemas.microsoft.com/office/drawing/2014/main" id="{8C8A9222-C45E-413D-B8DB-B38D26D82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1:32</a:t>
            </a:r>
          </a:p>
        </p:txBody>
      </p:sp>
      <p:sp>
        <p:nvSpPr>
          <p:cNvPr id="49" name="Rectangle 32">
            <a:extLst>
              <a:ext uri="{FF2B5EF4-FFF2-40B4-BE49-F238E27FC236}">
                <a16:creationId xmlns:a16="http://schemas.microsoft.com/office/drawing/2014/main" id="{33FDDC02-0B82-46B0-952D-9CD4846328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1:31</a:t>
            </a:r>
          </a:p>
        </p:txBody>
      </p:sp>
      <p:sp>
        <p:nvSpPr>
          <p:cNvPr id="50" name="Rectangle 33">
            <a:extLst>
              <a:ext uri="{FF2B5EF4-FFF2-40B4-BE49-F238E27FC236}">
                <a16:creationId xmlns:a16="http://schemas.microsoft.com/office/drawing/2014/main" id="{F340659F-951D-4DDA-8729-117AD9A50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1:30</a:t>
            </a:r>
          </a:p>
        </p:txBody>
      </p:sp>
      <p:sp>
        <p:nvSpPr>
          <p:cNvPr id="51" name="Rectangle 34">
            <a:extLst>
              <a:ext uri="{FF2B5EF4-FFF2-40B4-BE49-F238E27FC236}">
                <a16:creationId xmlns:a16="http://schemas.microsoft.com/office/drawing/2014/main" id="{9F94B42E-52EE-48E5-808E-3725AC4EF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1:29</a:t>
            </a:r>
          </a:p>
        </p:txBody>
      </p:sp>
      <p:sp>
        <p:nvSpPr>
          <p:cNvPr id="52" name="Rectangle 35">
            <a:extLst>
              <a:ext uri="{FF2B5EF4-FFF2-40B4-BE49-F238E27FC236}">
                <a16:creationId xmlns:a16="http://schemas.microsoft.com/office/drawing/2014/main" id="{86589E55-C98E-4D2E-BC9B-3CDEA88B8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1:28</a:t>
            </a:r>
          </a:p>
        </p:txBody>
      </p:sp>
      <p:sp>
        <p:nvSpPr>
          <p:cNvPr id="53" name="Rectangle 36">
            <a:extLst>
              <a:ext uri="{FF2B5EF4-FFF2-40B4-BE49-F238E27FC236}">
                <a16:creationId xmlns:a16="http://schemas.microsoft.com/office/drawing/2014/main" id="{EBF0EA1B-B12C-40E8-AE13-BC1A92E44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1:27</a:t>
            </a:r>
          </a:p>
        </p:txBody>
      </p:sp>
      <p:sp>
        <p:nvSpPr>
          <p:cNvPr id="54" name="Rectangle 37">
            <a:extLst>
              <a:ext uri="{FF2B5EF4-FFF2-40B4-BE49-F238E27FC236}">
                <a16:creationId xmlns:a16="http://schemas.microsoft.com/office/drawing/2014/main" id="{9A269F05-F159-4A27-B726-0FA12D83D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1:26</a:t>
            </a:r>
          </a:p>
        </p:txBody>
      </p:sp>
      <p:sp>
        <p:nvSpPr>
          <p:cNvPr id="55" name="Rectangle 38">
            <a:extLst>
              <a:ext uri="{FF2B5EF4-FFF2-40B4-BE49-F238E27FC236}">
                <a16:creationId xmlns:a16="http://schemas.microsoft.com/office/drawing/2014/main" id="{B5F6F77C-9721-4622-B4ED-82517D522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1:25</a:t>
            </a:r>
          </a:p>
        </p:txBody>
      </p:sp>
      <p:sp>
        <p:nvSpPr>
          <p:cNvPr id="56" name="Rectangle 39">
            <a:extLst>
              <a:ext uri="{FF2B5EF4-FFF2-40B4-BE49-F238E27FC236}">
                <a16:creationId xmlns:a16="http://schemas.microsoft.com/office/drawing/2014/main" id="{39D35509-67D1-471F-A755-893A273AC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1:24</a:t>
            </a:r>
          </a:p>
        </p:txBody>
      </p:sp>
      <p:sp>
        <p:nvSpPr>
          <p:cNvPr id="57" name="Rectangle 40">
            <a:extLst>
              <a:ext uri="{FF2B5EF4-FFF2-40B4-BE49-F238E27FC236}">
                <a16:creationId xmlns:a16="http://schemas.microsoft.com/office/drawing/2014/main" id="{550E2412-AB0F-4058-804C-D9274C7C5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1:23</a:t>
            </a:r>
          </a:p>
        </p:txBody>
      </p:sp>
      <p:sp>
        <p:nvSpPr>
          <p:cNvPr id="58" name="Rectangle 41">
            <a:extLst>
              <a:ext uri="{FF2B5EF4-FFF2-40B4-BE49-F238E27FC236}">
                <a16:creationId xmlns:a16="http://schemas.microsoft.com/office/drawing/2014/main" id="{906F5DAE-0204-4E9D-8ECA-3FECBAD7F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1:22</a:t>
            </a:r>
          </a:p>
        </p:txBody>
      </p:sp>
      <p:sp>
        <p:nvSpPr>
          <p:cNvPr id="59" name="Rectangle 42">
            <a:extLst>
              <a:ext uri="{FF2B5EF4-FFF2-40B4-BE49-F238E27FC236}">
                <a16:creationId xmlns:a16="http://schemas.microsoft.com/office/drawing/2014/main" id="{D19A4AF1-4206-43AF-8553-14521088A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1:21</a:t>
            </a:r>
          </a:p>
        </p:txBody>
      </p:sp>
      <p:sp>
        <p:nvSpPr>
          <p:cNvPr id="60" name="Rectangle 43">
            <a:extLst>
              <a:ext uri="{FF2B5EF4-FFF2-40B4-BE49-F238E27FC236}">
                <a16:creationId xmlns:a16="http://schemas.microsoft.com/office/drawing/2014/main" id="{D16558D6-D048-4D14-AEBD-BD2D7949D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1:20</a:t>
            </a:r>
          </a:p>
        </p:txBody>
      </p:sp>
      <p:sp>
        <p:nvSpPr>
          <p:cNvPr id="61" name="Rectangle 44">
            <a:extLst>
              <a:ext uri="{FF2B5EF4-FFF2-40B4-BE49-F238E27FC236}">
                <a16:creationId xmlns:a16="http://schemas.microsoft.com/office/drawing/2014/main" id="{6F8DCAAE-37B6-4206-A2DD-CBE9E5827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1:19</a:t>
            </a:r>
          </a:p>
        </p:txBody>
      </p:sp>
      <p:sp>
        <p:nvSpPr>
          <p:cNvPr id="62" name="Rectangle 45">
            <a:extLst>
              <a:ext uri="{FF2B5EF4-FFF2-40B4-BE49-F238E27FC236}">
                <a16:creationId xmlns:a16="http://schemas.microsoft.com/office/drawing/2014/main" id="{06020336-EE4D-476F-A2EB-13737C5F4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1:18</a:t>
            </a:r>
          </a:p>
        </p:txBody>
      </p:sp>
      <p:sp>
        <p:nvSpPr>
          <p:cNvPr id="63" name="Rectangle 46">
            <a:extLst>
              <a:ext uri="{FF2B5EF4-FFF2-40B4-BE49-F238E27FC236}">
                <a16:creationId xmlns:a16="http://schemas.microsoft.com/office/drawing/2014/main" id="{9CA02A48-7284-49D1-BCF3-CA196E3E2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1:17</a:t>
            </a:r>
          </a:p>
        </p:txBody>
      </p:sp>
      <p:sp>
        <p:nvSpPr>
          <p:cNvPr id="64" name="Rectangle 47">
            <a:extLst>
              <a:ext uri="{FF2B5EF4-FFF2-40B4-BE49-F238E27FC236}">
                <a16:creationId xmlns:a16="http://schemas.microsoft.com/office/drawing/2014/main" id="{FBB4BCFC-18E2-4CE9-8F85-7E029A162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1:16</a:t>
            </a:r>
          </a:p>
        </p:txBody>
      </p:sp>
      <p:sp>
        <p:nvSpPr>
          <p:cNvPr id="65" name="Rectangle 48">
            <a:extLst>
              <a:ext uri="{FF2B5EF4-FFF2-40B4-BE49-F238E27FC236}">
                <a16:creationId xmlns:a16="http://schemas.microsoft.com/office/drawing/2014/main" id="{4568CF7C-B827-474E-8B87-19877D121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1:15</a:t>
            </a:r>
          </a:p>
        </p:txBody>
      </p:sp>
      <p:sp>
        <p:nvSpPr>
          <p:cNvPr id="66" name="Rectangle 49">
            <a:extLst>
              <a:ext uri="{FF2B5EF4-FFF2-40B4-BE49-F238E27FC236}">
                <a16:creationId xmlns:a16="http://schemas.microsoft.com/office/drawing/2014/main" id="{2C81EB8D-F03C-4475-BB0B-B9E29D8E4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1:14</a:t>
            </a:r>
          </a:p>
        </p:txBody>
      </p:sp>
      <p:sp>
        <p:nvSpPr>
          <p:cNvPr id="67" name="Rectangle 50">
            <a:extLst>
              <a:ext uri="{FF2B5EF4-FFF2-40B4-BE49-F238E27FC236}">
                <a16:creationId xmlns:a16="http://schemas.microsoft.com/office/drawing/2014/main" id="{AC2CC8E6-DC7E-4128-8B3B-2D9FF820F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1:13</a:t>
            </a:r>
          </a:p>
        </p:txBody>
      </p:sp>
      <p:sp>
        <p:nvSpPr>
          <p:cNvPr id="68" name="Rectangle 51">
            <a:extLst>
              <a:ext uri="{FF2B5EF4-FFF2-40B4-BE49-F238E27FC236}">
                <a16:creationId xmlns:a16="http://schemas.microsoft.com/office/drawing/2014/main" id="{03E39750-6F27-44DA-9355-F90C4E437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1:12</a:t>
            </a:r>
          </a:p>
        </p:txBody>
      </p:sp>
      <p:sp>
        <p:nvSpPr>
          <p:cNvPr id="69" name="Rectangle 52">
            <a:extLst>
              <a:ext uri="{FF2B5EF4-FFF2-40B4-BE49-F238E27FC236}">
                <a16:creationId xmlns:a16="http://schemas.microsoft.com/office/drawing/2014/main" id="{C5894D47-48C1-4FC1-BE14-A9794CCCA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1:11</a:t>
            </a:r>
          </a:p>
        </p:txBody>
      </p:sp>
      <p:sp>
        <p:nvSpPr>
          <p:cNvPr id="70" name="Rectangle 53">
            <a:extLst>
              <a:ext uri="{FF2B5EF4-FFF2-40B4-BE49-F238E27FC236}">
                <a16:creationId xmlns:a16="http://schemas.microsoft.com/office/drawing/2014/main" id="{E703F799-C2AB-4A14-A016-8EBD6BCC8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1:10</a:t>
            </a:r>
          </a:p>
        </p:txBody>
      </p:sp>
      <p:sp>
        <p:nvSpPr>
          <p:cNvPr id="71" name="Rectangle 54">
            <a:extLst>
              <a:ext uri="{FF2B5EF4-FFF2-40B4-BE49-F238E27FC236}">
                <a16:creationId xmlns:a16="http://schemas.microsoft.com/office/drawing/2014/main" id="{E959092C-27E9-45EA-8702-F0FD508F1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1:09</a:t>
            </a:r>
          </a:p>
        </p:txBody>
      </p:sp>
      <p:sp>
        <p:nvSpPr>
          <p:cNvPr id="72" name="Rectangle 55">
            <a:extLst>
              <a:ext uri="{FF2B5EF4-FFF2-40B4-BE49-F238E27FC236}">
                <a16:creationId xmlns:a16="http://schemas.microsoft.com/office/drawing/2014/main" id="{AC312F0D-708D-4B29-9A5A-E1601B196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1:08</a:t>
            </a:r>
          </a:p>
        </p:txBody>
      </p:sp>
      <p:sp>
        <p:nvSpPr>
          <p:cNvPr id="73" name="Rectangle 56">
            <a:extLst>
              <a:ext uri="{FF2B5EF4-FFF2-40B4-BE49-F238E27FC236}">
                <a16:creationId xmlns:a16="http://schemas.microsoft.com/office/drawing/2014/main" id="{6D921A44-1699-44E1-AEE9-048D9796A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1:07</a:t>
            </a:r>
          </a:p>
        </p:txBody>
      </p:sp>
      <p:sp>
        <p:nvSpPr>
          <p:cNvPr id="74" name="Rectangle 57">
            <a:extLst>
              <a:ext uri="{FF2B5EF4-FFF2-40B4-BE49-F238E27FC236}">
                <a16:creationId xmlns:a16="http://schemas.microsoft.com/office/drawing/2014/main" id="{11D606F6-F9BB-4479-974D-64ABA0AC6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1:06</a:t>
            </a:r>
          </a:p>
        </p:txBody>
      </p:sp>
      <p:sp>
        <p:nvSpPr>
          <p:cNvPr id="75" name="Rectangle 58">
            <a:extLst>
              <a:ext uri="{FF2B5EF4-FFF2-40B4-BE49-F238E27FC236}">
                <a16:creationId xmlns:a16="http://schemas.microsoft.com/office/drawing/2014/main" id="{E23BD5B0-83E9-4DEC-B47C-A7D9CBD8E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1:05</a:t>
            </a:r>
          </a:p>
        </p:txBody>
      </p:sp>
      <p:sp>
        <p:nvSpPr>
          <p:cNvPr id="76" name="Rectangle 59">
            <a:extLst>
              <a:ext uri="{FF2B5EF4-FFF2-40B4-BE49-F238E27FC236}">
                <a16:creationId xmlns:a16="http://schemas.microsoft.com/office/drawing/2014/main" id="{570741E9-31C3-4E1F-AE58-381828749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1:04</a:t>
            </a:r>
          </a:p>
        </p:txBody>
      </p:sp>
      <p:sp>
        <p:nvSpPr>
          <p:cNvPr id="77" name="Rectangle 60">
            <a:extLst>
              <a:ext uri="{FF2B5EF4-FFF2-40B4-BE49-F238E27FC236}">
                <a16:creationId xmlns:a16="http://schemas.microsoft.com/office/drawing/2014/main" id="{D835BC36-9946-4911-998B-C89817FFB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1:03</a:t>
            </a:r>
          </a:p>
        </p:txBody>
      </p:sp>
      <p:sp>
        <p:nvSpPr>
          <p:cNvPr id="78" name="Rectangle 61">
            <a:extLst>
              <a:ext uri="{FF2B5EF4-FFF2-40B4-BE49-F238E27FC236}">
                <a16:creationId xmlns:a16="http://schemas.microsoft.com/office/drawing/2014/main" id="{ACB979BF-8A1F-4364-8F21-2637283BB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1:02</a:t>
            </a:r>
          </a:p>
        </p:txBody>
      </p:sp>
      <p:sp>
        <p:nvSpPr>
          <p:cNvPr id="79" name="Rectangle 62">
            <a:extLst>
              <a:ext uri="{FF2B5EF4-FFF2-40B4-BE49-F238E27FC236}">
                <a16:creationId xmlns:a16="http://schemas.microsoft.com/office/drawing/2014/main" id="{0E5012B3-7AFF-4AD6-8438-F5A8AFCE9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1:01</a:t>
            </a:r>
          </a:p>
        </p:txBody>
      </p:sp>
      <p:sp>
        <p:nvSpPr>
          <p:cNvPr id="80" name="Rectangle 63">
            <a:extLst>
              <a:ext uri="{FF2B5EF4-FFF2-40B4-BE49-F238E27FC236}">
                <a16:creationId xmlns:a16="http://schemas.microsoft.com/office/drawing/2014/main" id="{F3EF834A-B4F5-477F-A608-C4CAB3592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7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1:00</a:t>
            </a:r>
          </a:p>
        </p:txBody>
      </p:sp>
      <p:sp>
        <p:nvSpPr>
          <p:cNvPr id="81" name="Rectangle 64">
            <a:extLst>
              <a:ext uri="{FF2B5EF4-FFF2-40B4-BE49-F238E27FC236}">
                <a16:creationId xmlns:a16="http://schemas.microsoft.com/office/drawing/2014/main" id="{8C8368D5-1F6B-442F-A2C1-BFA6F0067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0:59</a:t>
            </a:r>
          </a:p>
        </p:txBody>
      </p:sp>
      <p:sp>
        <p:nvSpPr>
          <p:cNvPr id="82" name="Rectangle 65">
            <a:extLst>
              <a:ext uri="{FF2B5EF4-FFF2-40B4-BE49-F238E27FC236}">
                <a16:creationId xmlns:a16="http://schemas.microsoft.com/office/drawing/2014/main" id="{41605B61-84BA-4A64-8408-A4C76F79D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0:58</a:t>
            </a:r>
          </a:p>
        </p:txBody>
      </p:sp>
      <p:sp>
        <p:nvSpPr>
          <p:cNvPr id="83" name="Rectangle 66">
            <a:extLst>
              <a:ext uri="{FF2B5EF4-FFF2-40B4-BE49-F238E27FC236}">
                <a16:creationId xmlns:a16="http://schemas.microsoft.com/office/drawing/2014/main" id="{0E057E9E-74C1-4668-9081-3956D8E84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0:57</a:t>
            </a:r>
          </a:p>
        </p:txBody>
      </p:sp>
      <p:sp>
        <p:nvSpPr>
          <p:cNvPr id="84" name="Rectangle 67">
            <a:extLst>
              <a:ext uri="{FF2B5EF4-FFF2-40B4-BE49-F238E27FC236}">
                <a16:creationId xmlns:a16="http://schemas.microsoft.com/office/drawing/2014/main" id="{2A8964C0-3ECC-43A1-A3A8-7772BABF5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0:56</a:t>
            </a:r>
          </a:p>
        </p:txBody>
      </p:sp>
      <p:sp>
        <p:nvSpPr>
          <p:cNvPr id="85" name="Rectangle 68">
            <a:extLst>
              <a:ext uri="{FF2B5EF4-FFF2-40B4-BE49-F238E27FC236}">
                <a16:creationId xmlns:a16="http://schemas.microsoft.com/office/drawing/2014/main" id="{7F9DDE8C-CD14-44CE-968D-78BA6DAD6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0:55</a:t>
            </a:r>
          </a:p>
        </p:txBody>
      </p:sp>
      <p:sp>
        <p:nvSpPr>
          <p:cNvPr id="86" name="Rectangle 69">
            <a:extLst>
              <a:ext uri="{FF2B5EF4-FFF2-40B4-BE49-F238E27FC236}">
                <a16:creationId xmlns:a16="http://schemas.microsoft.com/office/drawing/2014/main" id="{2A226FFC-1973-4EB0-9B21-D5D776A7C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0:54</a:t>
            </a:r>
          </a:p>
        </p:txBody>
      </p:sp>
      <p:sp>
        <p:nvSpPr>
          <p:cNvPr id="87" name="Rectangle 70">
            <a:extLst>
              <a:ext uri="{FF2B5EF4-FFF2-40B4-BE49-F238E27FC236}">
                <a16:creationId xmlns:a16="http://schemas.microsoft.com/office/drawing/2014/main" id="{21CEA72D-4DE0-41BB-BAE6-A2105602D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0:53</a:t>
            </a:r>
          </a:p>
        </p:txBody>
      </p:sp>
      <p:sp>
        <p:nvSpPr>
          <p:cNvPr id="88" name="Rectangle 71">
            <a:extLst>
              <a:ext uri="{FF2B5EF4-FFF2-40B4-BE49-F238E27FC236}">
                <a16:creationId xmlns:a16="http://schemas.microsoft.com/office/drawing/2014/main" id="{7634F1D9-BE90-473B-83AD-19B6AFF9B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0:52</a:t>
            </a:r>
          </a:p>
        </p:txBody>
      </p:sp>
      <p:sp>
        <p:nvSpPr>
          <p:cNvPr id="89" name="Rectangle 72">
            <a:extLst>
              <a:ext uri="{FF2B5EF4-FFF2-40B4-BE49-F238E27FC236}">
                <a16:creationId xmlns:a16="http://schemas.microsoft.com/office/drawing/2014/main" id="{ECB0FB68-DE4E-407F-857C-70F84B0F9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0:51</a:t>
            </a:r>
          </a:p>
        </p:txBody>
      </p:sp>
      <p:sp>
        <p:nvSpPr>
          <p:cNvPr id="90" name="Rectangle 73">
            <a:extLst>
              <a:ext uri="{FF2B5EF4-FFF2-40B4-BE49-F238E27FC236}">
                <a16:creationId xmlns:a16="http://schemas.microsoft.com/office/drawing/2014/main" id="{D90C51C6-71B5-458E-90C6-38B3B22DD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0:50</a:t>
            </a:r>
          </a:p>
        </p:txBody>
      </p:sp>
      <p:sp>
        <p:nvSpPr>
          <p:cNvPr id="91" name="Rectangle 74">
            <a:extLst>
              <a:ext uri="{FF2B5EF4-FFF2-40B4-BE49-F238E27FC236}">
                <a16:creationId xmlns:a16="http://schemas.microsoft.com/office/drawing/2014/main" id="{394C204F-9CED-4181-AA0D-14DE0D8C9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0:49</a:t>
            </a:r>
          </a:p>
        </p:txBody>
      </p:sp>
      <p:sp>
        <p:nvSpPr>
          <p:cNvPr id="92" name="Rectangle 75">
            <a:extLst>
              <a:ext uri="{FF2B5EF4-FFF2-40B4-BE49-F238E27FC236}">
                <a16:creationId xmlns:a16="http://schemas.microsoft.com/office/drawing/2014/main" id="{0B1E2B26-7D4B-4F84-9AC8-757B13399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0:48</a:t>
            </a:r>
          </a:p>
        </p:txBody>
      </p:sp>
      <p:sp>
        <p:nvSpPr>
          <p:cNvPr id="93" name="Rectangle 76">
            <a:extLst>
              <a:ext uri="{FF2B5EF4-FFF2-40B4-BE49-F238E27FC236}">
                <a16:creationId xmlns:a16="http://schemas.microsoft.com/office/drawing/2014/main" id="{36BB0635-A729-48CD-97DD-59DF99C13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0:47</a:t>
            </a:r>
          </a:p>
        </p:txBody>
      </p:sp>
      <p:sp>
        <p:nvSpPr>
          <p:cNvPr id="94" name="Rectangle 77">
            <a:extLst>
              <a:ext uri="{FF2B5EF4-FFF2-40B4-BE49-F238E27FC236}">
                <a16:creationId xmlns:a16="http://schemas.microsoft.com/office/drawing/2014/main" id="{A73810C5-74D7-4E73-9AFA-2F1CC0B2E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0:46</a:t>
            </a:r>
          </a:p>
        </p:txBody>
      </p:sp>
      <p:sp>
        <p:nvSpPr>
          <p:cNvPr id="95" name="Rectangle 78">
            <a:extLst>
              <a:ext uri="{FF2B5EF4-FFF2-40B4-BE49-F238E27FC236}">
                <a16:creationId xmlns:a16="http://schemas.microsoft.com/office/drawing/2014/main" id="{C9AD77B3-BB3E-4856-A34E-68BAED768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0:45</a:t>
            </a:r>
          </a:p>
        </p:txBody>
      </p:sp>
      <p:sp>
        <p:nvSpPr>
          <p:cNvPr id="96" name="Rectangle 79">
            <a:extLst>
              <a:ext uri="{FF2B5EF4-FFF2-40B4-BE49-F238E27FC236}">
                <a16:creationId xmlns:a16="http://schemas.microsoft.com/office/drawing/2014/main" id="{974BC205-2197-4B66-8A1C-B6F474289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0:44</a:t>
            </a:r>
          </a:p>
        </p:txBody>
      </p:sp>
      <p:sp>
        <p:nvSpPr>
          <p:cNvPr id="97" name="Rectangle 80">
            <a:extLst>
              <a:ext uri="{FF2B5EF4-FFF2-40B4-BE49-F238E27FC236}">
                <a16:creationId xmlns:a16="http://schemas.microsoft.com/office/drawing/2014/main" id="{7A9C9771-0EF6-486E-BF6F-E528D33AA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0:43</a:t>
            </a:r>
          </a:p>
        </p:txBody>
      </p:sp>
      <p:sp>
        <p:nvSpPr>
          <p:cNvPr id="98" name="Rectangle 81">
            <a:extLst>
              <a:ext uri="{FF2B5EF4-FFF2-40B4-BE49-F238E27FC236}">
                <a16:creationId xmlns:a16="http://schemas.microsoft.com/office/drawing/2014/main" id="{23A1C18C-A569-40AE-85D4-9394B6D2AB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0:42</a:t>
            </a:r>
          </a:p>
        </p:txBody>
      </p:sp>
      <p:sp>
        <p:nvSpPr>
          <p:cNvPr id="99" name="Rectangle 82">
            <a:extLst>
              <a:ext uri="{FF2B5EF4-FFF2-40B4-BE49-F238E27FC236}">
                <a16:creationId xmlns:a16="http://schemas.microsoft.com/office/drawing/2014/main" id="{CD5DB488-3F66-4DA7-AE44-337B742F7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0:41</a:t>
            </a:r>
          </a:p>
        </p:txBody>
      </p:sp>
      <p:sp>
        <p:nvSpPr>
          <p:cNvPr id="100" name="Rectangle 83">
            <a:extLst>
              <a:ext uri="{FF2B5EF4-FFF2-40B4-BE49-F238E27FC236}">
                <a16:creationId xmlns:a16="http://schemas.microsoft.com/office/drawing/2014/main" id="{7506D208-C093-4747-A3AC-DFB8D87D3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0:40</a:t>
            </a:r>
          </a:p>
        </p:txBody>
      </p:sp>
      <p:sp>
        <p:nvSpPr>
          <p:cNvPr id="101" name="Rectangle 84">
            <a:extLst>
              <a:ext uri="{FF2B5EF4-FFF2-40B4-BE49-F238E27FC236}">
                <a16:creationId xmlns:a16="http://schemas.microsoft.com/office/drawing/2014/main" id="{7F086ACD-1E9C-4816-9F3C-74103C332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0:39</a:t>
            </a:r>
          </a:p>
        </p:txBody>
      </p:sp>
      <p:sp>
        <p:nvSpPr>
          <p:cNvPr id="102" name="Rectangle 85">
            <a:extLst>
              <a:ext uri="{FF2B5EF4-FFF2-40B4-BE49-F238E27FC236}">
                <a16:creationId xmlns:a16="http://schemas.microsoft.com/office/drawing/2014/main" id="{0904B7E2-5E2F-40B3-B627-C0BE8064E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0:38</a:t>
            </a:r>
          </a:p>
        </p:txBody>
      </p:sp>
      <p:sp>
        <p:nvSpPr>
          <p:cNvPr id="103" name="Rectangle 86">
            <a:extLst>
              <a:ext uri="{FF2B5EF4-FFF2-40B4-BE49-F238E27FC236}">
                <a16:creationId xmlns:a16="http://schemas.microsoft.com/office/drawing/2014/main" id="{F602FA4A-DD77-4987-A26F-18D014DFB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0:37</a:t>
            </a:r>
          </a:p>
        </p:txBody>
      </p:sp>
      <p:sp>
        <p:nvSpPr>
          <p:cNvPr id="104" name="Rectangle 87">
            <a:extLst>
              <a:ext uri="{FF2B5EF4-FFF2-40B4-BE49-F238E27FC236}">
                <a16:creationId xmlns:a16="http://schemas.microsoft.com/office/drawing/2014/main" id="{BA605AF1-0B27-4660-8232-2E6EFBB1B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0:36</a:t>
            </a:r>
          </a:p>
        </p:txBody>
      </p:sp>
      <p:sp>
        <p:nvSpPr>
          <p:cNvPr id="105" name="Rectangle 88">
            <a:extLst>
              <a:ext uri="{FF2B5EF4-FFF2-40B4-BE49-F238E27FC236}">
                <a16:creationId xmlns:a16="http://schemas.microsoft.com/office/drawing/2014/main" id="{58E1BB69-C90B-4E17-BB82-D54935303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0:35</a:t>
            </a:r>
          </a:p>
        </p:txBody>
      </p:sp>
      <p:sp>
        <p:nvSpPr>
          <p:cNvPr id="106" name="Rectangle 89">
            <a:extLst>
              <a:ext uri="{FF2B5EF4-FFF2-40B4-BE49-F238E27FC236}">
                <a16:creationId xmlns:a16="http://schemas.microsoft.com/office/drawing/2014/main" id="{24971245-E2BB-41E6-B22C-E1233931A4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0:34</a:t>
            </a:r>
          </a:p>
        </p:txBody>
      </p:sp>
      <p:sp>
        <p:nvSpPr>
          <p:cNvPr id="107" name="Rectangle 90">
            <a:extLst>
              <a:ext uri="{FF2B5EF4-FFF2-40B4-BE49-F238E27FC236}">
                <a16:creationId xmlns:a16="http://schemas.microsoft.com/office/drawing/2014/main" id="{1A865BC5-1895-45A3-B233-E1B20413F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0:33</a:t>
            </a:r>
          </a:p>
        </p:txBody>
      </p:sp>
      <p:sp>
        <p:nvSpPr>
          <p:cNvPr id="108" name="Rectangle 91">
            <a:extLst>
              <a:ext uri="{FF2B5EF4-FFF2-40B4-BE49-F238E27FC236}">
                <a16:creationId xmlns:a16="http://schemas.microsoft.com/office/drawing/2014/main" id="{23052C32-05C0-4773-83DA-6A2F519FE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0:32</a:t>
            </a:r>
          </a:p>
        </p:txBody>
      </p:sp>
      <p:sp>
        <p:nvSpPr>
          <p:cNvPr id="109" name="Rectangle 92">
            <a:extLst>
              <a:ext uri="{FF2B5EF4-FFF2-40B4-BE49-F238E27FC236}">
                <a16:creationId xmlns:a16="http://schemas.microsoft.com/office/drawing/2014/main" id="{4FA720F2-D2A4-4468-BE88-F66F2C348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0:31</a:t>
            </a:r>
          </a:p>
        </p:txBody>
      </p:sp>
      <p:sp>
        <p:nvSpPr>
          <p:cNvPr id="110" name="Rectangle 93">
            <a:extLst>
              <a:ext uri="{FF2B5EF4-FFF2-40B4-BE49-F238E27FC236}">
                <a16:creationId xmlns:a16="http://schemas.microsoft.com/office/drawing/2014/main" id="{466E6B27-133D-4F24-A3E4-43D4068837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0:30</a:t>
            </a:r>
          </a:p>
        </p:txBody>
      </p:sp>
      <p:sp>
        <p:nvSpPr>
          <p:cNvPr id="111" name="Rectangle 94">
            <a:extLst>
              <a:ext uri="{FF2B5EF4-FFF2-40B4-BE49-F238E27FC236}">
                <a16:creationId xmlns:a16="http://schemas.microsoft.com/office/drawing/2014/main" id="{64C93CB1-D265-4391-BD3A-8B3EC1C6F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0:29</a:t>
            </a:r>
          </a:p>
        </p:txBody>
      </p:sp>
      <p:sp>
        <p:nvSpPr>
          <p:cNvPr id="112" name="Rectangle 95">
            <a:extLst>
              <a:ext uri="{FF2B5EF4-FFF2-40B4-BE49-F238E27FC236}">
                <a16:creationId xmlns:a16="http://schemas.microsoft.com/office/drawing/2014/main" id="{1DC624D7-F1A6-4E32-BA80-DB6D7D0E4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0:28</a:t>
            </a:r>
          </a:p>
        </p:txBody>
      </p:sp>
      <p:sp>
        <p:nvSpPr>
          <p:cNvPr id="113" name="Rectangle 96">
            <a:extLst>
              <a:ext uri="{FF2B5EF4-FFF2-40B4-BE49-F238E27FC236}">
                <a16:creationId xmlns:a16="http://schemas.microsoft.com/office/drawing/2014/main" id="{77E9DB72-A214-4FE2-9B42-B18A7E422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0:27</a:t>
            </a:r>
          </a:p>
        </p:txBody>
      </p:sp>
      <p:sp>
        <p:nvSpPr>
          <p:cNvPr id="114" name="Rectangle 97">
            <a:extLst>
              <a:ext uri="{FF2B5EF4-FFF2-40B4-BE49-F238E27FC236}">
                <a16:creationId xmlns:a16="http://schemas.microsoft.com/office/drawing/2014/main" id="{C1501314-E78A-4E33-B18C-CF1479F7B7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0:26</a:t>
            </a:r>
          </a:p>
        </p:txBody>
      </p:sp>
      <p:sp>
        <p:nvSpPr>
          <p:cNvPr id="115" name="Rectangle 98">
            <a:extLst>
              <a:ext uri="{FF2B5EF4-FFF2-40B4-BE49-F238E27FC236}">
                <a16:creationId xmlns:a16="http://schemas.microsoft.com/office/drawing/2014/main" id="{880A263E-2D74-43D6-9FD6-00D78627A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0:25</a:t>
            </a:r>
          </a:p>
        </p:txBody>
      </p:sp>
      <p:sp>
        <p:nvSpPr>
          <p:cNvPr id="116" name="Rectangle 99">
            <a:extLst>
              <a:ext uri="{FF2B5EF4-FFF2-40B4-BE49-F238E27FC236}">
                <a16:creationId xmlns:a16="http://schemas.microsoft.com/office/drawing/2014/main" id="{4ABEF641-79E5-4748-A00C-ED72D3ACE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0:24</a:t>
            </a:r>
          </a:p>
        </p:txBody>
      </p:sp>
      <p:sp>
        <p:nvSpPr>
          <p:cNvPr id="117" name="Rectangle 100">
            <a:extLst>
              <a:ext uri="{FF2B5EF4-FFF2-40B4-BE49-F238E27FC236}">
                <a16:creationId xmlns:a16="http://schemas.microsoft.com/office/drawing/2014/main" id="{B61F8F4E-3B30-4C24-9C4C-AA3BF471E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0:23</a:t>
            </a:r>
          </a:p>
        </p:txBody>
      </p:sp>
      <p:sp>
        <p:nvSpPr>
          <p:cNvPr id="118" name="Rectangle 101">
            <a:extLst>
              <a:ext uri="{FF2B5EF4-FFF2-40B4-BE49-F238E27FC236}">
                <a16:creationId xmlns:a16="http://schemas.microsoft.com/office/drawing/2014/main" id="{0E6F22D5-E910-4A74-9E77-FD62BAB56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0:22</a:t>
            </a:r>
          </a:p>
        </p:txBody>
      </p:sp>
      <p:sp>
        <p:nvSpPr>
          <p:cNvPr id="119" name="Rectangle 102">
            <a:extLst>
              <a:ext uri="{FF2B5EF4-FFF2-40B4-BE49-F238E27FC236}">
                <a16:creationId xmlns:a16="http://schemas.microsoft.com/office/drawing/2014/main" id="{1562D442-9B8F-46D5-B4DF-AEC20AD56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0:21</a:t>
            </a:r>
          </a:p>
        </p:txBody>
      </p:sp>
      <p:sp>
        <p:nvSpPr>
          <p:cNvPr id="120" name="Rectangle 103">
            <a:extLst>
              <a:ext uri="{FF2B5EF4-FFF2-40B4-BE49-F238E27FC236}">
                <a16:creationId xmlns:a16="http://schemas.microsoft.com/office/drawing/2014/main" id="{A722A99C-A0AC-47E5-8BD5-16F90485B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0:20</a:t>
            </a:r>
          </a:p>
        </p:txBody>
      </p:sp>
      <p:sp>
        <p:nvSpPr>
          <p:cNvPr id="121" name="Rectangle 104">
            <a:extLst>
              <a:ext uri="{FF2B5EF4-FFF2-40B4-BE49-F238E27FC236}">
                <a16:creationId xmlns:a16="http://schemas.microsoft.com/office/drawing/2014/main" id="{1DA8767B-B867-4035-8F07-B09683820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0:19</a:t>
            </a:r>
          </a:p>
        </p:txBody>
      </p:sp>
      <p:sp>
        <p:nvSpPr>
          <p:cNvPr id="122" name="Rectangle 105">
            <a:extLst>
              <a:ext uri="{FF2B5EF4-FFF2-40B4-BE49-F238E27FC236}">
                <a16:creationId xmlns:a16="http://schemas.microsoft.com/office/drawing/2014/main" id="{494346E0-A91A-4423-B261-839E3F8A6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0:18</a:t>
            </a:r>
          </a:p>
        </p:txBody>
      </p:sp>
      <p:sp>
        <p:nvSpPr>
          <p:cNvPr id="123" name="Rectangle 106">
            <a:extLst>
              <a:ext uri="{FF2B5EF4-FFF2-40B4-BE49-F238E27FC236}">
                <a16:creationId xmlns:a16="http://schemas.microsoft.com/office/drawing/2014/main" id="{4E67B238-278A-45C5-B539-6089914B8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0:17</a:t>
            </a:r>
          </a:p>
        </p:txBody>
      </p:sp>
      <p:sp>
        <p:nvSpPr>
          <p:cNvPr id="124" name="Rectangle 107">
            <a:extLst>
              <a:ext uri="{FF2B5EF4-FFF2-40B4-BE49-F238E27FC236}">
                <a16:creationId xmlns:a16="http://schemas.microsoft.com/office/drawing/2014/main" id="{36122C6C-EB5C-42FE-B57E-4D0ADDFE0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0:16</a:t>
            </a:r>
          </a:p>
        </p:txBody>
      </p:sp>
      <p:sp>
        <p:nvSpPr>
          <p:cNvPr id="125" name="Rectangle 108">
            <a:extLst>
              <a:ext uri="{FF2B5EF4-FFF2-40B4-BE49-F238E27FC236}">
                <a16:creationId xmlns:a16="http://schemas.microsoft.com/office/drawing/2014/main" id="{ED860887-D726-40C0-A990-89EBB16AF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0:15</a:t>
            </a:r>
          </a:p>
        </p:txBody>
      </p:sp>
      <p:sp>
        <p:nvSpPr>
          <p:cNvPr id="126" name="Rectangle 109">
            <a:extLst>
              <a:ext uri="{FF2B5EF4-FFF2-40B4-BE49-F238E27FC236}">
                <a16:creationId xmlns:a16="http://schemas.microsoft.com/office/drawing/2014/main" id="{FFEA182D-3A29-4E95-9276-24268F6DA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0:14</a:t>
            </a:r>
          </a:p>
        </p:txBody>
      </p:sp>
      <p:sp>
        <p:nvSpPr>
          <p:cNvPr id="127" name="Rectangle 110">
            <a:extLst>
              <a:ext uri="{FF2B5EF4-FFF2-40B4-BE49-F238E27FC236}">
                <a16:creationId xmlns:a16="http://schemas.microsoft.com/office/drawing/2014/main" id="{78BEB342-256B-4787-968F-6CA3A86F0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0:13</a:t>
            </a:r>
          </a:p>
        </p:txBody>
      </p:sp>
      <p:sp>
        <p:nvSpPr>
          <p:cNvPr id="128" name="Rectangle 111">
            <a:extLst>
              <a:ext uri="{FF2B5EF4-FFF2-40B4-BE49-F238E27FC236}">
                <a16:creationId xmlns:a16="http://schemas.microsoft.com/office/drawing/2014/main" id="{820B7CA0-B60E-4D48-9C03-0C91E9C5C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0:12</a:t>
            </a:r>
          </a:p>
        </p:txBody>
      </p:sp>
      <p:sp>
        <p:nvSpPr>
          <p:cNvPr id="129" name="Rectangle 112">
            <a:extLst>
              <a:ext uri="{FF2B5EF4-FFF2-40B4-BE49-F238E27FC236}">
                <a16:creationId xmlns:a16="http://schemas.microsoft.com/office/drawing/2014/main" id="{A8E987EC-0C9A-42BF-AC96-DCCEFBB7C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0:11</a:t>
            </a:r>
          </a:p>
        </p:txBody>
      </p:sp>
      <p:sp>
        <p:nvSpPr>
          <p:cNvPr id="130" name="Rectangle 113">
            <a:extLst>
              <a:ext uri="{FF2B5EF4-FFF2-40B4-BE49-F238E27FC236}">
                <a16:creationId xmlns:a16="http://schemas.microsoft.com/office/drawing/2014/main" id="{7E3F7F43-92A3-433C-B405-2BC903D74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0:10</a:t>
            </a:r>
          </a:p>
        </p:txBody>
      </p:sp>
      <p:sp>
        <p:nvSpPr>
          <p:cNvPr id="131" name="Rectangle 114">
            <a:extLst>
              <a:ext uri="{FF2B5EF4-FFF2-40B4-BE49-F238E27FC236}">
                <a16:creationId xmlns:a16="http://schemas.microsoft.com/office/drawing/2014/main" id="{4AA32D99-1E12-4E88-9FAD-48F2BA282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0:09</a:t>
            </a:r>
          </a:p>
        </p:txBody>
      </p:sp>
      <p:sp>
        <p:nvSpPr>
          <p:cNvPr id="132" name="Rectangle 115">
            <a:extLst>
              <a:ext uri="{FF2B5EF4-FFF2-40B4-BE49-F238E27FC236}">
                <a16:creationId xmlns:a16="http://schemas.microsoft.com/office/drawing/2014/main" id="{F1E2A8D7-4FB3-4263-A2AE-52F254BDF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0:08</a:t>
            </a:r>
          </a:p>
        </p:txBody>
      </p:sp>
      <p:sp>
        <p:nvSpPr>
          <p:cNvPr id="133" name="Rectangle 116">
            <a:extLst>
              <a:ext uri="{FF2B5EF4-FFF2-40B4-BE49-F238E27FC236}">
                <a16:creationId xmlns:a16="http://schemas.microsoft.com/office/drawing/2014/main" id="{A5DB7479-65CC-4113-83EC-881087925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0:07</a:t>
            </a:r>
          </a:p>
        </p:txBody>
      </p:sp>
      <p:sp>
        <p:nvSpPr>
          <p:cNvPr id="134" name="Rectangle 117">
            <a:extLst>
              <a:ext uri="{FF2B5EF4-FFF2-40B4-BE49-F238E27FC236}">
                <a16:creationId xmlns:a16="http://schemas.microsoft.com/office/drawing/2014/main" id="{9BD7D63A-9570-4C3F-89B5-8BB599EE2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0:06</a:t>
            </a:r>
          </a:p>
        </p:txBody>
      </p:sp>
      <p:sp>
        <p:nvSpPr>
          <p:cNvPr id="135" name="Rectangle 118">
            <a:extLst>
              <a:ext uri="{FF2B5EF4-FFF2-40B4-BE49-F238E27FC236}">
                <a16:creationId xmlns:a16="http://schemas.microsoft.com/office/drawing/2014/main" id="{D2AC680B-1F38-484B-9E93-1BB1C56B1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0:05</a:t>
            </a:r>
          </a:p>
        </p:txBody>
      </p:sp>
      <p:sp>
        <p:nvSpPr>
          <p:cNvPr id="136" name="Rectangle 119">
            <a:extLst>
              <a:ext uri="{FF2B5EF4-FFF2-40B4-BE49-F238E27FC236}">
                <a16:creationId xmlns:a16="http://schemas.microsoft.com/office/drawing/2014/main" id="{1CE3AF5B-FAAA-4508-B4A9-3D36821D9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0:04</a:t>
            </a:r>
          </a:p>
        </p:txBody>
      </p:sp>
      <p:sp>
        <p:nvSpPr>
          <p:cNvPr id="137" name="Rectangle 120">
            <a:extLst>
              <a:ext uri="{FF2B5EF4-FFF2-40B4-BE49-F238E27FC236}">
                <a16:creationId xmlns:a16="http://schemas.microsoft.com/office/drawing/2014/main" id="{104465C4-4C3F-4A0A-8FFA-3505103CE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 dirty="0"/>
              <a:t>0:03</a:t>
            </a:r>
          </a:p>
        </p:txBody>
      </p:sp>
      <p:sp>
        <p:nvSpPr>
          <p:cNvPr id="138" name="Rectangle 121">
            <a:extLst>
              <a:ext uri="{FF2B5EF4-FFF2-40B4-BE49-F238E27FC236}">
                <a16:creationId xmlns:a16="http://schemas.microsoft.com/office/drawing/2014/main" id="{5BC7D101-3418-4875-AEA5-3499018B9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/>
              <a:t>0:02</a:t>
            </a:r>
          </a:p>
        </p:txBody>
      </p:sp>
      <p:sp>
        <p:nvSpPr>
          <p:cNvPr id="139" name="Rectangle 122">
            <a:extLst>
              <a:ext uri="{FF2B5EF4-FFF2-40B4-BE49-F238E27FC236}">
                <a16:creationId xmlns:a16="http://schemas.microsoft.com/office/drawing/2014/main" id="{7B38C425-7114-490D-9BA3-C1CE009C9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 dirty="0"/>
              <a:t>0:01</a:t>
            </a:r>
          </a:p>
        </p:txBody>
      </p:sp>
      <p:sp>
        <p:nvSpPr>
          <p:cNvPr id="140" name="Rectangle 123">
            <a:extLst>
              <a:ext uri="{FF2B5EF4-FFF2-40B4-BE49-F238E27FC236}">
                <a16:creationId xmlns:a16="http://schemas.microsoft.com/office/drawing/2014/main" id="{52287AD9-0410-4EBE-B6DB-1E47DF31E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3" y="0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 dirty="0"/>
              <a:t>End</a:t>
            </a:r>
          </a:p>
        </p:txBody>
      </p:sp>
      <p:sp>
        <p:nvSpPr>
          <p:cNvPr id="141" name="Rectangle 123">
            <a:extLst>
              <a:ext uri="{FF2B5EF4-FFF2-40B4-BE49-F238E27FC236}">
                <a16:creationId xmlns:a16="http://schemas.microsoft.com/office/drawing/2014/main" id="{6B318762-716A-46E5-9F9F-1CF5A6435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242" y="6939"/>
            <a:ext cx="2376488" cy="1044575"/>
          </a:xfrm>
          <a:prstGeom prst="rect">
            <a:avLst/>
          </a:prstGeom>
          <a:solidFill>
            <a:srgbClr val="66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6600" dirty="0"/>
              <a:t>1:00</a:t>
            </a:r>
          </a:p>
        </p:txBody>
      </p:sp>
    </p:spTree>
    <p:extLst>
      <p:ext uri="{BB962C8B-B14F-4D97-AF65-F5344CB8AC3E}">
        <p14:creationId xmlns:p14="http://schemas.microsoft.com/office/powerpoint/2010/main" val="2675058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0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0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90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10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20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30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40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60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70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80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90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10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2000"/>
                            </p:stCondLst>
                            <p:childTnLst>
                              <p:par>
                                <p:cTn id="8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3000"/>
                            </p:stCondLst>
                            <p:childTnLst>
                              <p:par>
                                <p:cTn id="8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40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5000"/>
                            </p:stCondLst>
                            <p:childTnLst>
                              <p:par>
                                <p:cTn id="9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6000"/>
                            </p:stCondLst>
                            <p:childTnLst>
                              <p:par>
                                <p:cTn id="9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7000"/>
                            </p:stCondLst>
                            <p:childTnLst>
                              <p:par>
                                <p:cTn id="10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8000"/>
                            </p:stCondLst>
                            <p:childTnLst>
                              <p:par>
                                <p:cTn id="10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9000"/>
                            </p:stCondLst>
                            <p:childTnLst>
                              <p:par>
                                <p:cTn id="10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30000"/>
                            </p:stCondLst>
                            <p:childTnLst>
                              <p:par>
                                <p:cTn id="10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31000"/>
                            </p:stCondLst>
                            <p:childTnLst>
                              <p:par>
                                <p:cTn id="11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32000"/>
                            </p:stCondLst>
                            <p:childTnLst>
                              <p:par>
                                <p:cTn id="11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33000"/>
                            </p:stCondLst>
                            <p:childTnLst>
                              <p:par>
                                <p:cTn id="11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34000"/>
                            </p:stCondLst>
                            <p:childTnLst>
                              <p:par>
                                <p:cTn id="12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35000"/>
                            </p:stCondLst>
                            <p:childTnLst>
                              <p:par>
                                <p:cTn id="12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36000"/>
                            </p:stCondLst>
                            <p:childTnLst>
                              <p:par>
                                <p:cTn id="12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37000"/>
                            </p:stCondLst>
                            <p:childTnLst>
                              <p:par>
                                <p:cTn id="13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38000"/>
                            </p:stCondLst>
                            <p:childTnLst>
                              <p:par>
                                <p:cTn id="13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39000"/>
                            </p:stCondLst>
                            <p:childTnLst>
                              <p:par>
                                <p:cTn id="13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40000"/>
                            </p:stCondLst>
                            <p:childTnLst>
                              <p:par>
                                <p:cTn id="13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41000"/>
                            </p:stCondLst>
                            <p:childTnLst>
                              <p:par>
                                <p:cTn id="14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42000"/>
                            </p:stCondLst>
                            <p:childTnLst>
                              <p:par>
                                <p:cTn id="14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43000"/>
                            </p:stCondLst>
                            <p:childTnLst>
                              <p:par>
                                <p:cTn id="14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44000"/>
                            </p:stCondLst>
                            <p:childTnLst>
                              <p:par>
                                <p:cTn id="15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45000"/>
                            </p:stCondLst>
                            <p:childTnLst>
                              <p:par>
                                <p:cTn id="15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46000"/>
                            </p:stCondLst>
                            <p:childTnLst>
                              <p:par>
                                <p:cTn id="15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47000"/>
                            </p:stCondLst>
                            <p:childTnLst>
                              <p:par>
                                <p:cTn id="16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48000"/>
                            </p:stCondLst>
                            <p:childTnLst>
                              <p:par>
                                <p:cTn id="16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49000"/>
                            </p:stCondLst>
                            <p:childTnLst>
                              <p:par>
                                <p:cTn id="16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50000"/>
                            </p:stCondLst>
                            <p:childTnLst>
                              <p:par>
                                <p:cTn id="16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51000"/>
                            </p:stCondLst>
                            <p:childTnLst>
                              <p:par>
                                <p:cTn id="17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52000"/>
                            </p:stCondLst>
                            <p:childTnLst>
                              <p:par>
                                <p:cTn id="17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3000"/>
                            </p:stCondLst>
                            <p:childTnLst>
                              <p:par>
                                <p:cTn id="17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54000"/>
                            </p:stCondLst>
                            <p:childTnLst>
                              <p:par>
                                <p:cTn id="18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55000"/>
                            </p:stCondLst>
                            <p:childTnLst>
                              <p:par>
                                <p:cTn id="18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56000"/>
                            </p:stCondLst>
                            <p:childTnLst>
                              <p:par>
                                <p:cTn id="18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57000"/>
                            </p:stCondLst>
                            <p:childTnLst>
                              <p:par>
                                <p:cTn id="19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58000"/>
                            </p:stCondLst>
                            <p:childTnLst>
                              <p:par>
                                <p:cTn id="19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59000"/>
                            </p:stCondLst>
                            <p:childTnLst>
                              <p:par>
                                <p:cTn id="19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19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8" presetID="1" presetClass="mediacall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99" dur="9428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1"/>
                  </p:tgtEl>
                </p:cond>
              </p:nextCondLst>
            </p:seq>
            <p:audio>
              <p:cMediaNode showWhenStopped="0">
                <p:cTn id="200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  <p:bldLst>
      <p:bldP spid="15" grpId="0"/>
      <p:bldP spid="16" grpId="0"/>
      <p:bldP spid="17" grpId="0"/>
      <p:bldP spid="18" grpId="0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75B6234-F289-4102-B8D8-9227B96C67E4}"/>
              </a:ext>
            </a:extLst>
          </p:cNvPr>
          <p:cNvSpPr txBox="1"/>
          <p:nvPr/>
        </p:nvSpPr>
        <p:spPr>
          <a:xfrm>
            <a:off x="0" y="0"/>
            <a:ext cx="201488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Relevance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A0B83E-F11D-4EAB-B993-E17A226C5D4B}"/>
              </a:ext>
            </a:extLst>
          </p:cNvPr>
          <p:cNvSpPr txBox="1"/>
          <p:nvPr/>
        </p:nvSpPr>
        <p:spPr>
          <a:xfrm>
            <a:off x="2185976" y="278526"/>
            <a:ext cx="78200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When have you ever seen a nicely set out maths problems like this in real life?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0B0CB5-BBDF-4C6C-B073-BE98F469B58D}"/>
              </a:ext>
            </a:extLst>
          </p:cNvPr>
          <p:cNvSpPr txBox="1"/>
          <p:nvPr/>
        </p:nvSpPr>
        <p:spPr>
          <a:xfrm>
            <a:off x="1390118" y="1485138"/>
            <a:ext cx="94117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>
                <a:cs typeface="Arial" panose="020B0604020202020204" pitchFamily="34" charset="0"/>
              </a:rPr>
              <a:t>2000 – (36 + 49 + 98)</a:t>
            </a:r>
            <a:endParaRPr lang="en-AU" sz="4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21A172-A390-4045-B9BD-A000352B9C82}"/>
              </a:ext>
            </a:extLst>
          </p:cNvPr>
          <p:cNvSpPr txBox="1"/>
          <p:nvPr/>
        </p:nvSpPr>
        <p:spPr>
          <a:xfrm>
            <a:off x="1233816" y="2471968"/>
            <a:ext cx="59362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cs typeface="Arial" panose="020B0604020202020204" pitchFamily="34" charset="0"/>
              </a:rPr>
              <a:t>You are more likely to encounter a problem like this:</a:t>
            </a:r>
            <a:endParaRPr lang="en-AU" sz="3200" b="1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E4B1D7-2007-4866-A33A-1EB24BECC03A}"/>
              </a:ext>
            </a:extLst>
          </p:cNvPr>
          <p:cNvSpPr txBox="1"/>
          <p:nvPr/>
        </p:nvSpPr>
        <p:spPr>
          <a:xfrm>
            <a:off x="324284" y="3828130"/>
            <a:ext cx="775531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cs typeface="Arial" panose="020B0604020202020204" pitchFamily="34" charset="0"/>
              </a:rPr>
              <a:t>You have just been given your $2000 pay check. You need to buy $36 worth of clothes, $49 worth of textbooks and spend $98 on groceries. How much money will you have left over to put into savings?</a:t>
            </a:r>
            <a:endParaRPr lang="en-AU" sz="3200" b="1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B12098-E1D0-48EE-A8CC-33ED0FF7B8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977" y="2581433"/>
            <a:ext cx="3419475" cy="4106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81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36EF036-67C7-427F-A32F-A6AD26EDBCCA}"/>
              </a:ext>
            </a:extLst>
          </p:cNvPr>
          <p:cNvSpPr txBox="1"/>
          <p:nvPr/>
        </p:nvSpPr>
        <p:spPr>
          <a:xfrm>
            <a:off x="0" y="-20052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 Development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847882B-8F92-4A98-B531-A1A7628AD771}"/>
              </a:ext>
            </a:extLst>
          </p:cNvPr>
          <p:cNvGrpSpPr/>
          <p:nvPr/>
        </p:nvGrpSpPr>
        <p:grpSpPr>
          <a:xfrm>
            <a:off x="10156369" y="0"/>
            <a:ext cx="2035631" cy="1186774"/>
            <a:chOff x="660399" y="3602071"/>
            <a:chExt cx="2035631" cy="118677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9D53B65-BD6D-4727-B0D8-A3B3BE7DDD7A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32C8EAE-60A9-4E61-B5A6-3F76DD8473DD}"/>
                </a:ext>
              </a:extLst>
            </p:cNvPr>
            <p:cNvSpPr/>
            <p:nvPr/>
          </p:nvSpPr>
          <p:spPr>
            <a:xfrm>
              <a:off x="660399" y="3931961"/>
              <a:ext cx="2035629" cy="856884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the purpose of the CUBES strategy?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BDE7C190-A51B-4976-A99C-F3EC49C1F7D0}"/>
              </a:ext>
            </a:extLst>
          </p:cNvPr>
          <p:cNvSpPr txBox="1"/>
          <p:nvPr/>
        </p:nvSpPr>
        <p:spPr>
          <a:xfrm>
            <a:off x="266314" y="694873"/>
            <a:ext cx="95854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The </a:t>
            </a:r>
            <a:r>
              <a:rPr lang="en-AU" sz="3200" dirty="0">
                <a:solidFill>
                  <a:srgbClr val="C00000"/>
                </a:solidFill>
              </a:rPr>
              <a:t>CUBES problem-solving strategy </a:t>
            </a:r>
            <a:r>
              <a:rPr lang="en-AU" sz="3200" dirty="0"/>
              <a:t>helps to break down a complicated worded problem and choose an appropriate method to solve it.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5B0930-F61D-49CF-9511-94B942701A29}"/>
              </a:ext>
            </a:extLst>
          </p:cNvPr>
          <p:cNvSpPr txBox="1"/>
          <p:nvPr/>
        </p:nvSpPr>
        <p:spPr>
          <a:xfrm>
            <a:off x="168191" y="2009907"/>
            <a:ext cx="6975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A1F87F-DD8B-4048-9B51-595D4A076816}"/>
              </a:ext>
            </a:extLst>
          </p:cNvPr>
          <p:cNvSpPr txBox="1"/>
          <p:nvPr/>
        </p:nvSpPr>
        <p:spPr>
          <a:xfrm>
            <a:off x="161306" y="2903255"/>
            <a:ext cx="8740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0" b="1" dirty="0">
                <a:solidFill>
                  <a:srgbClr val="FF0000"/>
                </a:solidFill>
              </a:rPr>
              <a:t>U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A2CC9A-D178-4463-B4B2-E192E5B6C632}"/>
              </a:ext>
            </a:extLst>
          </p:cNvPr>
          <p:cNvSpPr txBox="1"/>
          <p:nvPr/>
        </p:nvSpPr>
        <p:spPr>
          <a:xfrm>
            <a:off x="168191" y="3832142"/>
            <a:ext cx="5516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0" b="1" dirty="0">
                <a:solidFill>
                  <a:srgbClr val="00B050"/>
                </a:solidFill>
              </a:rPr>
              <a:t>B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3AB27E-AB7B-46E3-8715-44AF2A98B356}"/>
              </a:ext>
            </a:extLst>
          </p:cNvPr>
          <p:cNvSpPr txBox="1"/>
          <p:nvPr/>
        </p:nvSpPr>
        <p:spPr>
          <a:xfrm>
            <a:off x="212061" y="4725490"/>
            <a:ext cx="5516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0" b="1" dirty="0">
                <a:solidFill>
                  <a:schemeClr val="accent2"/>
                </a:solidFill>
              </a:rPr>
              <a:t>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EAB5CB-5C40-4CDD-80E0-DADDB8CE982E}"/>
              </a:ext>
            </a:extLst>
          </p:cNvPr>
          <p:cNvSpPr txBox="1"/>
          <p:nvPr/>
        </p:nvSpPr>
        <p:spPr>
          <a:xfrm>
            <a:off x="212061" y="5654377"/>
            <a:ext cx="5516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0" b="1" dirty="0">
                <a:solidFill>
                  <a:srgbClr val="7030A0"/>
                </a:solidFill>
              </a:rPr>
              <a:t>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17DC46-BBDB-46E3-A335-518D79AB8E72}"/>
              </a:ext>
            </a:extLst>
          </p:cNvPr>
          <p:cNvSpPr txBox="1"/>
          <p:nvPr/>
        </p:nvSpPr>
        <p:spPr>
          <a:xfrm>
            <a:off x="755950" y="2457527"/>
            <a:ext cx="97721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 err="1">
                <a:solidFill>
                  <a:srgbClr val="0070C0"/>
                </a:solidFill>
              </a:rPr>
              <a:t>ircle</a:t>
            </a:r>
            <a:r>
              <a:rPr lang="en-AU" sz="4000" b="1" dirty="0">
                <a:solidFill>
                  <a:srgbClr val="0070C0"/>
                </a:solidFill>
              </a:rPr>
              <a:t> key numbers and units.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997802-03B2-4B38-89CC-60081A869D80}"/>
              </a:ext>
            </a:extLst>
          </p:cNvPr>
          <p:cNvSpPr txBox="1"/>
          <p:nvPr/>
        </p:nvSpPr>
        <p:spPr>
          <a:xfrm>
            <a:off x="777485" y="3382003"/>
            <a:ext cx="97721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 err="1">
                <a:solidFill>
                  <a:srgbClr val="FF0000"/>
                </a:solidFill>
              </a:rPr>
              <a:t>nderline</a:t>
            </a:r>
            <a:r>
              <a:rPr lang="en-AU" sz="4000" b="1" dirty="0">
                <a:solidFill>
                  <a:srgbClr val="FF0000"/>
                </a:solidFill>
              </a:rPr>
              <a:t> the question.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E37FF4-1EAF-4207-BB6C-9170DDF050FE}"/>
              </a:ext>
            </a:extLst>
          </p:cNvPr>
          <p:cNvSpPr txBox="1"/>
          <p:nvPr/>
        </p:nvSpPr>
        <p:spPr>
          <a:xfrm>
            <a:off x="719844" y="4279084"/>
            <a:ext cx="97721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>
                <a:solidFill>
                  <a:srgbClr val="00B050"/>
                </a:solidFill>
              </a:rPr>
              <a:t>ox any important words.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B5C958-6B21-4CC7-8F8E-E33C106D7F85}"/>
              </a:ext>
            </a:extLst>
          </p:cNvPr>
          <p:cNvSpPr txBox="1"/>
          <p:nvPr/>
        </p:nvSpPr>
        <p:spPr>
          <a:xfrm>
            <a:off x="719845" y="4720453"/>
            <a:ext cx="115953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 err="1">
                <a:solidFill>
                  <a:schemeClr val="accent2"/>
                </a:solidFill>
              </a:rPr>
              <a:t>liminate</a:t>
            </a:r>
            <a:r>
              <a:rPr lang="en-AU" sz="3600" b="1" dirty="0">
                <a:solidFill>
                  <a:schemeClr val="accent2"/>
                </a:solidFill>
              </a:rPr>
              <a:t> useless words and </a:t>
            </a:r>
            <a:r>
              <a:rPr lang="en-AU" sz="8000" b="1" dirty="0">
                <a:solidFill>
                  <a:schemeClr val="accent2"/>
                </a:solidFill>
              </a:rPr>
              <a:t>E</a:t>
            </a:r>
            <a:r>
              <a:rPr lang="en-AU" sz="3600" b="1" dirty="0">
                <a:solidFill>
                  <a:schemeClr val="accent2"/>
                </a:solidFill>
              </a:rPr>
              <a:t>valuate which method to use.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139A566-8CD3-41A4-9E14-A90C005063FA}"/>
              </a:ext>
            </a:extLst>
          </p:cNvPr>
          <p:cNvSpPr txBox="1"/>
          <p:nvPr/>
        </p:nvSpPr>
        <p:spPr>
          <a:xfrm>
            <a:off x="719843" y="5628556"/>
            <a:ext cx="977210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 err="1">
                <a:solidFill>
                  <a:srgbClr val="7030A0"/>
                </a:solidFill>
              </a:rPr>
              <a:t>olve</a:t>
            </a:r>
            <a:r>
              <a:rPr lang="en-AU" sz="4000" b="1" dirty="0">
                <a:solidFill>
                  <a:srgbClr val="7030A0"/>
                </a:solidFill>
              </a:rPr>
              <a:t> the problem and </a:t>
            </a:r>
            <a:r>
              <a:rPr lang="en-AU" sz="8000" b="1" dirty="0">
                <a:solidFill>
                  <a:srgbClr val="7030A0"/>
                </a:solidFill>
              </a:rPr>
              <a:t>S</a:t>
            </a:r>
            <a:r>
              <a:rPr lang="en-AU" sz="4000" b="1" dirty="0">
                <a:solidFill>
                  <a:srgbClr val="7030A0"/>
                </a:solidFill>
              </a:rPr>
              <a:t>how your working.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F3ACB69-0364-44A7-89E9-21219E74D1D7}"/>
              </a:ext>
            </a:extLst>
          </p:cNvPr>
          <p:cNvGrpSpPr/>
          <p:nvPr/>
        </p:nvGrpSpPr>
        <p:grpSpPr>
          <a:xfrm>
            <a:off x="10156367" y="1257646"/>
            <a:ext cx="2035631" cy="1006887"/>
            <a:chOff x="660399" y="3602071"/>
            <a:chExt cx="2035631" cy="100688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965FEDB-BD4E-4A1A-8E56-5C80B56576E0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FD5BF6B-8A5F-4B10-B549-18330947E0C0}"/>
                </a:ext>
              </a:extLst>
            </p:cNvPr>
            <p:cNvSpPr/>
            <p:nvPr/>
          </p:nvSpPr>
          <p:spPr>
            <a:xfrm>
              <a:off x="660399" y="3931961"/>
              <a:ext cx="2035629" cy="676997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does CUBES stand for?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8943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8EB2D910-A430-43CC-A2A0-712A82CB8DA8}"/>
              </a:ext>
            </a:extLst>
          </p:cNvPr>
          <p:cNvSpPr txBox="1"/>
          <p:nvPr/>
        </p:nvSpPr>
        <p:spPr>
          <a:xfrm>
            <a:off x="0" y="0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FCED8F-E685-4BFB-B85A-54805FC35203}"/>
              </a:ext>
            </a:extLst>
          </p:cNvPr>
          <p:cNvSpPr txBox="1"/>
          <p:nvPr/>
        </p:nvSpPr>
        <p:spPr>
          <a:xfrm>
            <a:off x="198014" y="754097"/>
            <a:ext cx="819025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cs typeface="Arial" panose="020B0604020202020204" pitchFamily="34" charset="0"/>
              </a:rPr>
              <a:t>Harvey ‘Scoop’ Roberts, a journalist with the Monthly Farm News, can type 60 words per minute. How long does it take him to type an article of 1800 words?</a:t>
            </a:r>
            <a:endParaRPr lang="en-AU" sz="3200" b="1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C3CED4-6FE8-4356-813E-1EED97E34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265" y="-1"/>
            <a:ext cx="3803737" cy="4912575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90B2CF4D-0D04-45A3-ABDE-E9A378869E19}"/>
              </a:ext>
            </a:extLst>
          </p:cNvPr>
          <p:cNvSpPr/>
          <p:nvPr/>
        </p:nvSpPr>
        <p:spPr>
          <a:xfrm>
            <a:off x="5576971" y="1269582"/>
            <a:ext cx="719847" cy="515566"/>
          </a:xfrm>
          <a:prstGeom prst="ellipse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CBDAF22-91DA-442F-BC54-6C125AB2B1AD}"/>
              </a:ext>
            </a:extLst>
          </p:cNvPr>
          <p:cNvSpPr/>
          <p:nvPr/>
        </p:nvSpPr>
        <p:spPr>
          <a:xfrm>
            <a:off x="3942942" y="2243463"/>
            <a:ext cx="1011459" cy="572737"/>
          </a:xfrm>
          <a:prstGeom prst="ellipse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1A4B4D4-E186-4380-8746-01F82E68AC54}"/>
              </a:ext>
            </a:extLst>
          </p:cNvPr>
          <p:cNvCxnSpPr/>
          <p:nvPr/>
        </p:nvCxnSpPr>
        <p:spPr>
          <a:xfrm>
            <a:off x="1987466" y="2243463"/>
            <a:ext cx="605060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3E0D661-6316-416E-8C35-7751E5C13376}"/>
              </a:ext>
            </a:extLst>
          </p:cNvPr>
          <p:cNvCxnSpPr>
            <a:cxnSpLocks/>
          </p:cNvCxnSpPr>
          <p:nvPr/>
        </p:nvCxnSpPr>
        <p:spPr>
          <a:xfrm>
            <a:off x="2454393" y="2746059"/>
            <a:ext cx="371272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2657A6FE-E46C-48B4-8175-AA24A9D4E2A6}"/>
              </a:ext>
            </a:extLst>
          </p:cNvPr>
          <p:cNvSpPr/>
          <p:nvPr/>
        </p:nvSpPr>
        <p:spPr>
          <a:xfrm>
            <a:off x="484871" y="1785148"/>
            <a:ext cx="1420455" cy="458311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E117AFB-388A-4BE5-BDED-1E8A5BAB3762}"/>
              </a:ext>
            </a:extLst>
          </p:cNvPr>
          <p:cNvSpPr/>
          <p:nvPr/>
        </p:nvSpPr>
        <p:spPr>
          <a:xfrm>
            <a:off x="7276391" y="1326837"/>
            <a:ext cx="719848" cy="458311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4C37FC3-CB0C-422F-B72E-F09CDCA14D7C}"/>
              </a:ext>
            </a:extLst>
          </p:cNvPr>
          <p:cNvCxnSpPr>
            <a:cxnSpLocks/>
          </p:cNvCxnSpPr>
          <p:nvPr/>
        </p:nvCxnSpPr>
        <p:spPr>
          <a:xfrm>
            <a:off x="690444" y="1063174"/>
            <a:ext cx="7347626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91828B1-C767-469C-B348-74665A6058AE}"/>
              </a:ext>
            </a:extLst>
          </p:cNvPr>
          <p:cNvCxnSpPr>
            <a:cxnSpLocks/>
          </p:cNvCxnSpPr>
          <p:nvPr/>
        </p:nvCxnSpPr>
        <p:spPr>
          <a:xfrm>
            <a:off x="690444" y="1556042"/>
            <a:ext cx="3349558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5284AFD5-7D9F-4948-888E-481D3741C118}"/>
              </a:ext>
            </a:extLst>
          </p:cNvPr>
          <p:cNvSpPr/>
          <p:nvPr/>
        </p:nvSpPr>
        <p:spPr>
          <a:xfrm>
            <a:off x="1956742" y="1785148"/>
            <a:ext cx="1619327" cy="458311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5963C0C-C460-42A9-9ACD-3D67B9D17DD9}"/>
              </a:ext>
            </a:extLst>
          </p:cNvPr>
          <p:cNvSpPr txBox="1"/>
          <p:nvPr/>
        </p:nvSpPr>
        <p:spPr>
          <a:xfrm>
            <a:off x="360571" y="2953398"/>
            <a:ext cx="6915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chemeClr val="accent2"/>
                </a:solidFill>
                <a:cs typeface="Arial" panose="020B0604020202020204" pitchFamily="34" charset="0"/>
              </a:rPr>
              <a:t>How many times does 60 go into 1800?</a:t>
            </a:r>
            <a:endParaRPr lang="en-AU" sz="3200" b="1" dirty="0">
              <a:solidFill>
                <a:schemeClr val="accent2"/>
              </a:solidFill>
              <a:cs typeface="Arial" panose="020B0604020202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1BB836E-39A2-4175-9F5B-7F6010FA6839}"/>
              </a:ext>
            </a:extLst>
          </p:cNvPr>
          <p:cNvSpPr txBox="1"/>
          <p:nvPr/>
        </p:nvSpPr>
        <p:spPr>
          <a:xfrm>
            <a:off x="3031213" y="4151944"/>
            <a:ext cx="24894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b="1" dirty="0">
                <a:solidFill>
                  <a:srgbClr val="7030A0"/>
                </a:solidFill>
                <a:cs typeface="Arial" panose="020B0604020202020204" pitchFamily="34" charset="0"/>
              </a:rPr>
              <a:t>60 x ? = 1800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BC4CD16-B645-4628-8C67-B631071BA15E}"/>
              </a:ext>
            </a:extLst>
          </p:cNvPr>
          <p:cNvSpPr txBox="1"/>
          <p:nvPr/>
        </p:nvSpPr>
        <p:spPr>
          <a:xfrm>
            <a:off x="2447374" y="4678453"/>
            <a:ext cx="24094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b="1" dirty="0">
                <a:solidFill>
                  <a:srgbClr val="7030A0"/>
                </a:solidFill>
                <a:cs typeface="Arial" panose="020B0604020202020204" pitchFamily="34" charset="0"/>
              </a:rPr>
              <a:t>1800</a:t>
            </a:r>
            <a:r>
              <a:rPr lang="en-AU" sz="3200" b="1" dirty="0">
                <a:solidFill>
                  <a:srgbClr val="7030A0"/>
                </a:solidFill>
              </a:rPr>
              <a:t> ÷ 60 = ?</a:t>
            </a:r>
            <a:r>
              <a:rPr lang="en-AU" sz="3200" b="1" dirty="0">
                <a:solidFill>
                  <a:srgbClr val="7030A0"/>
                </a:solidFill>
                <a:cs typeface="Arial" panose="020B0604020202020204" pitchFamily="34" charset="0"/>
              </a:rPr>
              <a:t>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F25677D-E665-480B-8B43-AAF2CCBD6878}"/>
              </a:ext>
            </a:extLst>
          </p:cNvPr>
          <p:cNvSpPr txBox="1"/>
          <p:nvPr/>
        </p:nvSpPr>
        <p:spPr>
          <a:xfrm>
            <a:off x="360572" y="3567169"/>
            <a:ext cx="76827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chemeClr val="accent2"/>
                </a:solidFill>
                <a:cs typeface="Arial" panose="020B0604020202020204" pitchFamily="34" charset="0"/>
              </a:rPr>
              <a:t>I’m going to use the ‘work in stages’ method.</a:t>
            </a:r>
            <a:endParaRPr lang="en-AU" sz="3200" b="1" dirty="0">
              <a:solidFill>
                <a:schemeClr val="accent2"/>
              </a:solidFill>
              <a:cs typeface="Arial" panose="020B0604020202020204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464A3AE-2770-45B2-AA70-27DCA909330F}"/>
              </a:ext>
            </a:extLst>
          </p:cNvPr>
          <p:cNvSpPr txBox="1"/>
          <p:nvPr/>
        </p:nvSpPr>
        <p:spPr>
          <a:xfrm>
            <a:off x="2181843" y="5263229"/>
            <a:ext cx="3093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7030A0"/>
                </a:solidFill>
                <a:cs typeface="Arial" panose="020B0604020202020204" pitchFamily="34" charset="0"/>
              </a:rPr>
              <a:t>= 1800</a:t>
            </a:r>
            <a:r>
              <a:rPr lang="en-AU" sz="3200" b="1" dirty="0">
                <a:solidFill>
                  <a:srgbClr val="7030A0"/>
                </a:solidFill>
              </a:rPr>
              <a:t> ÷ 10 ÷ 6</a:t>
            </a:r>
            <a:endParaRPr lang="en-AU" sz="3200" b="1" dirty="0">
              <a:solidFill>
                <a:srgbClr val="7030A0"/>
              </a:solidFill>
              <a:cs typeface="Arial" panose="020B060402020202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9FB0341-7686-4F0A-860F-B71CDC91413A}"/>
              </a:ext>
            </a:extLst>
          </p:cNvPr>
          <p:cNvSpPr txBox="1"/>
          <p:nvPr/>
        </p:nvSpPr>
        <p:spPr>
          <a:xfrm>
            <a:off x="2200356" y="5789737"/>
            <a:ext cx="3093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7030A0"/>
                </a:solidFill>
                <a:cs typeface="Arial" panose="020B0604020202020204" pitchFamily="34" charset="0"/>
              </a:rPr>
              <a:t>= 180</a:t>
            </a:r>
            <a:r>
              <a:rPr lang="en-AU" sz="3200" b="1" dirty="0">
                <a:solidFill>
                  <a:srgbClr val="7030A0"/>
                </a:solidFill>
              </a:rPr>
              <a:t> ÷ 6</a:t>
            </a:r>
            <a:endParaRPr lang="en-AU" sz="3200" b="1" dirty="0">
              <a:solidFill>
                <a:srgbClr val="7030A0"/>
              </a:solidFill>
              <a:cs typeface="Arial" panose="020B0604020202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2EBD642-1AD5-4A3C-B27A-D92D8AB29777}"/>
              </a:ext>
            </a:extLst>
          </p:cNvPr>
          <p:cNvSpPr txBox="1"/>
          <p:nvPr/>
        </p:nvSpPr>
        <p:spPr>
          <a:xfrm>
            <a:off x="2218869" y="6316246"/>
            <a:ext cx="3093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7030A0"/>
                </a:solidFill>
                <a:cs typeface="Arial" panose="020B0604020202020204" pitchFamily="34" charset="0"/>
              </a:rPr>
              <a:t>= 30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0FBC801-E10B-4398-B222-6CDA5D3CB426}"/>
              </a:ext>
            </a:extLst>
          </p:cNvPr>
          <p:cNvSpPr txBox="1"/>
          <p:nvPr/>
        </p:nvSpPr>
        <p:spPr>
          <a:xfrm>
            <a:off x="5713970" y="5415169"/>
            <a:ext cx="48599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b="1" dirty="0">
                <a:solidFill>
                  <a:srgbClr val="7030A0"/>
                </a:solidFill>
                <a:cs typeface="Arial" panose="020B0604020202020204" pitchFamily="34" charset="0"/>
              </a:rPr>
              <a:t>It takes Harvey 30 minutes.</a:t>
            </a:r>
          </a:p>
        </p:txBody>
      </p:sp>
    </p:spTree>
    <p:extLst>
      <p:ext uri="{BB962C8B-B14F-4D97-AF65-F5344CB8AC3E}">
        <p14:creationId xmlns:p14="http://schemas.microsoft.com/office/powerpoint/2010/main" val="2243647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7" grpId="0" animBg="1"/>
      <p:bldP spid="7" grpId="0" animBg="1"/>
      <p:bldP spid="49" grpId="0" animBg="1"/>
      <p:bldP spid="58" grpId="0" animBg="1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16FCED8F-E685-4BFB-B85A-54805FC35203}"/>
              </a:ext>
            </a:extLst>
          </p:cNvPr>
          <p:cNvSpPr txBox="1"/>
          <p:nvPr/>
        </p:nvSpPr>
        <p:spPr>
          <a:xfrm>
            <a:off x="269131" y="749369"/>
            <a:ext cx="819025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cs typeface="Arial" panose="020B0604020202020204" pitchFamily="34" charset="0"/>
              </a:rPr>
              <a:t>Mick is a baker in a supermarket. He makes hot cross buns and packs them in bags of 6. He stacks 4 shelves with 8 bags on each shelf. At the end of the day, Mike has 3 bags of buns left. How many hot cross buns did he sell?</a:t>
            </a:r>
            <a:endParaRPr lang="en-AU" sz="3200" b="1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B2D910-A430-43CC-A2A0-712A82CB8DA8}"/>
              </a:ext>
            </a:extLst>
          </p:cNvPr>
          <p:cNvSpPr txBox="1"/>
          <p:nvPr/>
        </p:nvSpPr>
        <p:spPr>
          <a:xfrm>
            <a:off x="0" y="0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C3CED4-6FE8-4356-813E-1EED97E34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265" y="-1"/>
            <a:ext cx="3803737" cy="4912575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90B2CF4D-0D04-45A3-ABDE-E9A378869E19}"/>
              </a:ext>
            </a:extLst>
          </p:cNvPr>
          <p:cNvSpPr/>
          <p:nvPr/>
        </p:nvSpPr>
        <p:spPr>
          <a:xfrm>
            <a:off x="6874162" y="1275746"/>
            <a:ext cx="548896" cy="515566"/>
          </a:xfrm>
          <a:prstGeom prst="ellipse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CBDAF22-91DA-442F-BC54-6C125AB2B1AD}"/>
              </a:ext>
            </a:extLst>
          </p:cNvPr>
          <p:cNvSpPr/>
          <p:nvPr/>
        </p:nvSpPr>
        <p:spPr>
          <a:xfrm>
            <a:off x="1584608" y="1739323"/>
            <a:ext cx="606125" cy="572737"/>
          </a:xfrm>
          <a:prstGeom prst="ellipse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1A4B4D4-E186-4380-8746-01F82E68AC54}"/>
              </a:ext>
            </a:extLst>
          </p:cNvPr>
          <p:cNvCxnSpPr>
            <a:cxnSpLocks/>
          </p:cNvCxnSpPr>
          <p:nvPr/>
        </p:nvCxnSpPr>
        <p:spPr>
          <a:xfrm>
            <a:off x="1285453" y="3245785"/>
            <a:ext cx="606865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2657A6FE-E46C-48B4-8175-AA24A9D4E2A6}"/>
              </a:ext>
            </a:extLst>
          </p:cNvPr>
          <p:cNvSpPr/>
          <p:nvPr/>
        </p:nvSpPr>
        <p:spPr>
          <a:xfrm>
            <a:off x="5722188" y="1320541"/>
            <a:ext cx="1277233" cy="458311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E117AFB-388A-4BE5-BDED-1E8A5BAB3762}"/>
              </a:ext>
            </a:extLst>
          </p:cNvPr>
          <p:cNvSpPr/>
          <p:nvPr/>
        </p:nvSpPr>
        <p:spPr>
          <a:xfrm>
            <a:off x="4485885" y="1785590"/>
            <a:ext cx="3127107" cy="458311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4C37FC3-CB0C-422F-B72E-F09CDCA14D7C}"/>
              </a:ext>
            </a:extLst>
          </p:cNvPr>
          <p:cNvCxnSpPr>
            <a:cxnSpLocks/>
          </p:cNvCxnSpPr>
          <p:nvPr/>
        </p:nvCxnSpPr>
        <p:spPr>
          <a:xfrm>
            <a:off x="690444" y="1063174"/>
            <a:ext cx="7347626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91828B1-C767-469C-B348-74665A6058AE}"/>
              </a:ext>
            </a:extLst>
          </p:cNvPr>
          <p:cNvCxnSpPr>
            <a:cxnSpLocks/>
          </p:cNvCxnSpPr>
          <p:nvPr/>
        </p:nvCxnSpPr>
        <p:spPr>
          <a:xfrm>
            <a:off x="690444" y="1556042"/>
            <a:ext cx="5023526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5284AFD5-7D9F-4948-888E-481D3741C118}"/>
              </a:ext>
            </a:extLst>
          </p:cNvPr>
          <p:cNvSpPr/>
          <p:nvPr/>
        </p:nvSpPr>
        <p:spPr>
          <a:xfrm>
            <a:off x="2026497" y="1795129"/>
            <a:ext cx="1283685" cy="458311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5963C0C-C460-42A9-9ACD-3D67B9D17DD9}"/>
              </a:ext>
            </a:extLst>
          </p:cNvPr>
          <p:cNvSpPr txBox="1"/>
          <p:nvPr/>
        </p:nvSpPr>
        <p:spPr>
          <a:xfrm>
            <a:off x="1004316" y="3881522"/>
            <a:ext cx="686687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chemeClr val="accent2"/>
                </a:solidFill>
                <a:cs typeface="Arial" panose="020B0604020202020204" pitchFamily="34" charset="0"/>
              </a:rPr>
              <a:t>There are 6 lots of 8 on each shelf.</a:t>
            </a:r>
          </a:p>
          <a:p>
            <a:r>
              <a:rPr lang="en-AU" sz="3200" dirty="0">
                <a:solidFill>
                  <a:schemeClr val="accent2"/>
                </a:solidFill>
                <a:cs typeface="Arial" panose="020B0604020202020204" pitchFamily="34" charset="0"/>
              </a:rPr>
              <a:t>There are 4 shelves in total. </a:t>
            </a:r>
          </a:p>
          <a:p>
            <a:r>
              <a:rPr lang="en-AU" sz="3200" dirty="0">
                <a:solidFill>
                  <a:schemeClr val="accent2"/>
                </a:solidFill>
                <a:cs typeface="Arial" panose="020B0604020202020204" pitchFamily="34" charset="0"/>
              </a:rPr>
              <a:t>How many are subtracted if </a:t>
            </a:r>
          </a:p>
          <a:p>
            <a:r>
              <a:rPr lang="en-AU" sz="3200" dirty="0">
                <a:solidFill>
                  <a:schemeClr val="accent2"/>
                </a:solidFill>
                <a:cs typeface="Arial" panose="020B0604020202020204" pitchFamily="34" charset="0"/>
              </a:rPr>
              <a:t>there are 3 lots of 6 left over?</a:t>
            </a:r>
            <a:endParaRPr lang="en-AU" sz="3200" b="1" dirty="0">
              <a:solidFill>
                <a:schemeClr val="accent2"/>
              </a:solidFill>
              <a:cs typeface="Arial" panose="020B0604020202020204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072CA5A-AC8A-4B68-9B26-21ECF1DDBAF7}"/>
              </a:ext>
            </a:extLst>
          </p:cNvPr>
          <p:cNvSpPr/>
          <p:nvPr/>
        </p:nvSpPr>
        <p:spPr>
          <a:xfrm>
            <a:off x="3972884" y="1705080"/>
            <a:ext cx="606125" cy="572737"/>
          </a:xfrm>
          <a:prstGeom prst="ellipse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4EC5698-B432-42AB-BB92-EBEAF4D65F53}"/>
              </a:ext>
            </a:extLst>
          </p:cNvPr>
          <p:cNvSpPr/>
          <p:nvPr/>
        </p:nvSpPr>
        <p:spPr>
          <a:xfrm>
            <a:off x="4938091" y="2249033"/>
            <a:ext cx="606125" cy="572737"/>
          </a:xfrm>
          <a:prstGeom prst="ellipse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17D257F-16EC-433D-AC36-D4CDAF384D31}"/>
              </a:ext>
            </a:extLst>
          </p:cNvPr>
          <p:cNvSpPr/>
          <p:nvPr/>
        </p:nvSpPr>
        <p:spPr>
          <a:xfrm>
            <a:off x="5520682" y="2288696"/>
            <a:ext cx="2850382" cy="458311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98B1C3A-866D-4F62-9835-14CC3212F0BE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360572" y="2525565"/>
            <a:ext cx="4577519" cy="983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08C37FD3-67BD-42CC-B6F0-15A51FF2DD33}"/>
              </a:ext>
            </a:extLst>
          </p:cNvPr>
          <p:cNvSpPr/>
          <p:nvPr/>
        </p:nvSpPr>
        <p:spPr>
          <a:xfrm>
            <a:off x="6675953" y="2771890"/>
            <a:ext cx="862983" cy="458311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841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7" grpId="0" animBg="1"/>
      <p:bldP spid="7" grpId="0" animBg="1"/>
      <p:bldP spid="49" grpId="0" animBg="1"/>
      <p:bldP spid="58" grpId="0" animBg="1"/>
      <p:bldP spid="22" grpId="0" animBg="1"/>
      <p:bldP spid="23" grpId="0" animBg="1"/>
      <p:bldP spid="25" grpId="0" animBg="1"/>
      <p:bldP spid="3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70">
            <a:extLst>
              <a:ext uri="{FF2B5EF4-FFF2-40B4-BE49-F238E27FC236}">
                <a16:creationId xmlns:a16="http://schemas.microsoft.com/office/drawing/2014/main" id="{3AD1133E-3241-40AA-BCE1-F38438112F9D}"/>
              </a:ext>
            </a:extLst>
          </p:cNvPr>
          <p:cNvSpPr txBox="1"/>
          <p:nvPr/>
        </p:nvSpPr>
        <p:spPr>
          <a:xfrm>
            <a:off x="2017686" y="5205346"/>
            <a:ext cx="3994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7030A0"/>
                </a:solidFill>
                <a:cs typeface="Arial" panose="020B0604020202020204" pitchFamily="34" charset="0"/>
              </a:rPr>
              <a:t>=     192     – 3 x 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C8B4C22-2771-444D-9F32-05BE3D5693D1}"/>
              </a:ext>
            </a:extLst>
          </p:cNvPr>
          <p:cNvSpPr txBox="1"/>
          <p:nvPr/>
        </p:nvSpPr>
        <p:spPr>
          <a:xfrm>
            <a:off x="1210674" y="3982799"/>
            <a:ext cx="47797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600" b="1" dirty="0">
                <a:solidFill>
                  <a:srgbClr val="7030A0"/>
                </a:solidFill>
                <a:cs typeface="Arial" panose="020B0604020202020204" pitchFamily="34" charset="0"/>
              </a:rPr>
              <a:t>6 x 8 x 4 – 3 x 6 = 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B2D910-A430-43CC-A2A0-712A82CB8DA8}"/>
              </a:ext>
            </a:extLst>
          </p:cNvPr>
          <p:cNvSpPr txBox="1"/>
          <p:nvPr/>
        </p:nvSpPr>
        <p:spPr>
          <a:xfrm>
            <a:off x="0" y="0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C3CED4-6FE8-4356-813E-1EED97E34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265" y="-1"/>
            <a:ext cx="3803737" cy="4912575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A635AF1C-A42F-44D5-A71A-98F6F2F753C8}"/>
              </a:ext>
            </a:extLst>
          </p:cNvPr>
          <p:cNvSpPr txBox="1"/>
          <p:nvPr/>
        </p:nvSpPr>
        <p:spPr>
          <a:xfrm>
            <a:off x="476435" y="739860"/>
            <a:ext cx="686687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chemeClr val="accent2"/>
                </a:solidFill>
                <a:cs typeface="Arial" panose="020B0604020202020204" pitchFamily="34" charset="0"/>
              </a:rPr>
              <a:t>There are 6 lots of 8 on each shelf. There are 4 shelves in total. </a:t>
            </a:r>
          </a:p>
          <a:p>
            <a:r>
              <a:rPr lang="en-AU" sz="3200" dirty="0">
                <a:solidFill>
                  <a:schemeClr val="accent2"/>
                </a:solidFill>
                <a:cs typeface="Arial" panose="020B0604020202020204" pitchFamily="34" charset="0"/>
              </a:rPr>
              <a:t>How many are subtracted if </a:t>
            </a:r>
          </a:p>
          <a:p>
            <a:r>
              <a:rPr lang="en-AU" sz="3200" dirty="0">
                <a:solidFill>
                  <a:schemeClr val="accent2"/>
                </a:solidFill>
                <a:cs typeface="Arial" panose="020B0604020202020204" pitchFamily="34" charset="0"/>
              </a:rPr>
              <a:t>there are 3 lots of 6 left over?</a:t>
            </a:r>
            <a:endParaRPr lang="en-AU" sz="3200" b="1" dirty="0">
              <a:solidFill>
                <a:schemeClr val="accent2"/>
              </a:solidFill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84DE22B-7408-4E4C-B4B9-C724022C3CEB}"/>
              </a:ext>
            </a:extLst>
          </p:cNvPr>
          <p:cNvSpPr txBox="1"/>
          <p:nvPr/>
        </p:nvSpPr>
        <p:spPr>
          <a:xfrm>
            <a:off x="786940" y="2863520"/>
            <a:ext cx="76827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solidFill>
                  <a:schemeClr val="accent2"/>
                </a:solidFill>
                <a:cs typeface="Arial" panose="020B0604020202020204" pitchFamily="34" charset="0"/>
              </a:rPr>
              <a:t>I’m going to use BIMDAS and an array.</a:t>
            </a:r>
            <a:endParaRPr lang="en-AU" sz="3200" b="1" dirty="0">
              <a:solidFill>
                <a:schemeClr val="accent2"/>
              </a:solidFill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70B684-5399-4140-B56D-C2F4281EE983}"/>
              </a:ext>
            </a:extLst>
          </p:cNvPr>
          <p:cNvSpPr txBox="1"/>
          <p:nvPr/>
        </p:nvSpPr>
        <p:spPr>
          <a:xfrm>
            <a:off x="6510520" y="739860"/>
            <a:ext cx="12132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rgbClr val="7030A0"/>
                </a:solidFill>
                <a:cs typeface="Arial" panose="020B0604020202020204" pitchFamily="34" charset="0"/>
              </a:rPr>
              <a:t>6 x 8</a:t>
            </a:r>
            <a:endParaRPr lang="en-AU" sz="3200" b="1" dirty="0">
              <a:solidFill>
                <a:srgbClr val="7030A0"/>
              </a:solidFill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269DA5-4D8A-4AC2-BC7E-930F3D271E4C}"/>
              </a:ext>
            </a:extLst>
          </p:cNvPr>
          <p:cNvSpPr txBox="1"/>
          <p:nvPr/>
        </p:nvSpPr>
        <p:spPr>
          <a:xfrm>
            <a:off x="6819089" y="1227758"/>
            <a:ext cx="904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rgbClr val="7030A0"/>
                </a:solidFill>
                <a:cs typeface="Arial" panose="020B0604020202020204" pitchFamily="34" charset="0"/>
              </a:rPr>
              <a:t>x 4</a:t>
            </a:r>
            <a:endParaRPr lang="en-AU" sz="3200" b="1" dirty="0">
              <a:solidFill>
                <a:srgbClr val="7030A0"/>
              </a:solidFill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EA80BA-E095-4D8D-BBB9-2483AB7D899C}"/>
              </a:ext>
            </a:extLst>
          </p:cNvPr>
          <p:cNvSpPr txBox="1"/>
          <p:nvPr/>
        </p:nvSpPr>
        <p:spPr>
          <a:xfrm>
            <a:off x="6819089" y="1667510"/>
            <a:ext cx="904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rgbClr val="7030A0"/>
                </a:solidFill>
                <a:cs typeface="Arial" panose="020B0604020202020204" pitchFamily="34" charset="0"/>
              </a:rPr>
              <a:t>- ?</a:t>
            </a:r>
            <a:endParaRPr lang="en-AU" sz="3200" b="1" dirty="0">
              <a:solidFill>
                <a:srgbClr val="7030A0"/>
              </a:solidFill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B72EAE-A051-4A15-BA7D-8534CA86DAF8}"/>
              </a:ext>
            </a:extLst>
          </p:cNvPr>
          <p:cNvSpPr txBox="1"/>
          <p:nvPr/>
        </p:nvSpPr>
        <p:spPr>
          <a:xfrm>
            <a:off x="6361889" y="2169774"/>
            <a:ext cx="1361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rgbClr val="7030A0"/>
                </a:solidFill>
                <a:cs typeface="Arial" panose="020B0604020202020204" pitchFamily="34" charset="0"/>
              </a:rPr>
              <a:t>= 3 x 6</a:t>
            </a:r>
            <a:endParaRPr lang="en-AU" sz="3200" b="1" dirty="0">
              <a:solidFill>
                <a:srgbClr val="7030A0"/>
              </a:solidFill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CDF69EC-A062-4E95-99E6-EDFEC714CAB8}"/>
              </a:ext>
            </a:extLst>
          </p:cNvPr>
          <p:cNvSpPr txBox="1"/>
          <p:nvPr/>
        </p:nvSpPr>
        <p:spPr>
          <a:xfrm>
            <a:off x="2186684" y="3448295"/>
            <a:ext cx="3803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600" b="1" dirty="0">
                <a:solidFill>
                  <a:srgbClr val="7030A0"/>
                </a:solidFill>
                <a:cs typeface="Arial" panose="020B0604020202020204" pitchFamily="34" charset="0"/>
              </a:rPr>
              <a:t>6 x 8 x 4 – ? = 3 x 6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47997FB-5A0E-4674-91B0-3E2BFF73C2DA}"/>
              </a:ext>
            </a:extLst>
          </p:cNvPr>
          <p:cNvCxnSpPr>
            <a:cxnSpLocks/>
          </p:cNvCxnSpPr>
          <p:nvPr/>
        </p:nvCxnSpPr>
        <p:spPr>
          <a:xfrm>
            <a:off x="2403798" y="4587283"/>
            <a:ext cx="885574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CF6C986E-B724-4E23-ADF5-9916731BFD9E}"/>
              </a:ext>
            </a:extLst>
          </p:cNvPr>
          <p:cNvSpPr txBox="1"/>
          <p:nvPr/>
        </p:nvSpPr>
        <p:spPr>
          <a:xfrm>
            <a:off x="1995593" y="4587283"/>
            <a:ext cx="3994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7030A0"/>
                </a:solidFill>
                <a:cs typeface="Arial" panose="020B0604020202020204" pitchFamily="34" charset="0"/>
              </a:rPr>
              <a:t>=   48   x 4 – 3 x 6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1F6DA4F-EC04-414D-B686-92282BB9D4A2}"/>
              </a:ext>
            </a:extLst>
          </p:cNvPr>
          <p:cNvCxnSpPr>
            <a:cxnSpLocks/>
          </p:cNvCxnSpPr>
          <p:nvPr/>
        </p:nvCxnSpPr>
        <p:spPr>
          <a:xfrm>
            <a:off x="2579253" y="5233614"/>
            <a:ext cx="1420238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A318435-F6C5-41CC-BE9E-418CEB9F874F}"/>
              </a:ext>
            </a:extLst>
          </p:cNvPr>
          <p:cNvSpPr txBox="1"/>
          <p:nvPr/>
        </p:nvSpPr>
        <p:spPr>
          <a:xfrm>
            <a:off x="7580623" y="4873779"/>
            <a:ext cx="1862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48 x 4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975156A-7BD3-4A19-AE7B-25E277622202}"/>
              </a:ext>
            </a:extLst>
          </p:cNvPr>
          <p:cNvSpPr/>
          <p:nvPr/>
        </p:nvSpPr>
        <p:spPr>
          <a:xfrm>
            <a:off x="7711942" y="6091342"/>
            <a:ext cx="2095153" cy="6809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1273EB8-9619-41B9-AABA-E280507B093A}"/>
              </a:ext>
            </a:extLst>
          </p:cNvPr>
          <p:cNvCxnSpPr>
            <a:stCxn id="50" idx="0"/>
            <a:endCxn id="50" idx="2"/>
          </p:cNvCxnSpPr>
          <p:nvPr/>
        </p:nvCxnSpPr>
        <p:spPr>
          <a:xfrm>
            <a:off x="8759519" y="6091342"/>
            <a:ext cx="0" cy="6809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CBD82B6E-2863-412A-8911-F4F2FAA0FB8C}"/>
              </a:ext>
            </a:extLst>
          </p:cNvPr>
          <p:cNvSpPr txBox="1"/>
          <p:nvPr/>
        </p:nvSpPr>
        <p:spPr>
          <a:xfrm>
            <a:off x="7941242" y="5511396"/>
            <a:ext cx="669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40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03BA617-8C4C-48D7-8A59-8CEB58343ACD}"/>
              </a:ext>
            </a:extLst>
          </p:cNvPr>
          <p:cNvSpPr txBox="1"/>
          <p:nvPr/>
        </p:nvSpPr>
        <p:spPr>
          <a:xfrm>
            <a:off x="8952273" y="5511395"/>
            <a:ext cx="669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F2D398C-27C0-4C66-A6B8-3C1DB2628223}"/>
              </a:ext>
            </a:extLst>
          </p:cNvPr>
          <p:cNvSpPr txBox="1"/>
          <p:nvPr/>
        </p:nvSpPr>
        <p:spPr>
          <a:xfrm>
            <a:off x="6967071" y="6139429"/>
            <a:ext cx="669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F4A7DF7-621C-41AA-9F23-59CD071EF4F5}"/>
              </a:ext>
            </a:extLst>
          </p:cNvPr>
          <p:cNvSpPr txBox="1"/>
          <p:nvPr/>
        </p:nvSpPr>
        <p:spPr>
          <a:xfrm>
            <a:off x="7785348" y="6139429"/>
            <a:ext cx="8990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160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0FC20B6-CD03-481F-8473-45BDD4E19FEE}"/>
              </a:ext>
            </a:extLst>
          </p:cNvPr>
          <p:cNvSpPr txBox="1"/>
          <p:nvPr/>
        </p:nvSpPr>
        <p:spPr>
          <a:xfrm>
            <a:off x="8816845" y="6139429"/>
            <a:ext cx="8990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32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51B6B7D-9D73-4E3D-8E93-F924CFB5AB55}"/>
              </a:ext>
            </a:extLst>
          </p:cNvPr>
          <p:cNvSpPr txBox="1"/>
          <p:nvPr/>
        </p:nvSpPr>
        <p:spPr>
          <a:xfrm>
            <a:off x="10357866" y="4972787"/>
            <a:ext cx="134853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160</a:t>
            </a:r>
          </a:p>
          <a:p>
            <a:pPr algn="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+  32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290908BE-C036-4892-99B5-A36AFDE4A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1272" y="5940467"/>
            <a:ext cx="1292429" cy="219075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4F69A334-F65D-4180-A159-C4EBF073DF2A}"/>
              </a:ext>
            </a:extLst>
          </p:cNvPr>
          <p:cNvSpPr txBox="1"/>
          <p:nvPr/>
        </p:nvSpPr>
        <p:spPr>
          <a:xfrm>
            <a:off x="10807377" y="6058721"/>
            <a:ext cx="8990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192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998C90EE-0918-4A63-9A45-DB907AB6DA54}"/>
              </a:ext>
            </a:extLst>
          </p:cNvPr>
          <p:cNvCxnSpPr>
            <a:cxnSpLocks/>
          </p:cNvCxnSpPr>
          <p:nvPr/>
        </p:nvCxnSpPr>
        <p:spPr>
          <a:xfrm>
            <a:off x="4365900" y="5765392"/>
            <a:ext cx="935674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B40768F6-0A1A-4312-BB63-B2188926AA97}"/>
              </a:ext>
            </a:extLst>
          </p:cNvPr>
          <p:cNvSpPr txBox="1"/>
          <p:nvPr/>
        </p:nvSpPr>
        <p:spPr>
          <a:xfrm>
            <a:off x="2012489" y="5726271"/>
            <a:ext cx="3994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7030A0"/>
                </a:solidFill>
                <a:cs typeface="Arial" panose="020B0604020202020204" pitchFamily="34" charset="0"/>
              </a:rPr>
              <a:t>=     192     –   18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8DBE311-3455-411B-AD7C-0C1D715F2E8F}"/>
              </a:ext>
            </a:extLst>
          </p:cNvPr>
          <p:cNvCxnSpPr>
            <a:cxnSpLocks/>
          </p:cNvCxnSpPr>
          <p:nvPr/>
        </p:nvCxnSpPr>
        <p:spPr>
          <a:xfrm>
            <a:off x="2828281" y="6280959"/>
            <a:ext cx="2249557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457835C9-4883-49E6-82D3-28637D9EF382}"/>
              </a:ext>
            </a:extLst>
          </p:cNvPr>
          <p:cNvSpPr txBox="1"/>
          <p:nvPr/>
        </p:nvSpPr>
        <p:spPr>
          <a:xfrm>
            <a:off x="2002078" y="6285398"/>
            <a:ext cx="3994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7030A0"/>
                </a:solidFill>
                <a:cs typeface="Arial" panose="020B0604020202020204" pitchFamily="34" charset="0"/>
              </a:rPr>
              <a:t>=            174</a:t>
            </a:r>
          </a:p>
        </p:txBody>
      </p:sp>
    </p:spTree>
    <p:extLst>
      <p:ext uri="{BB962C8B-B14F-4D97-AF65-F5344CB8AC3E}">
        <p14:creationId xmlns:p14="http://schemas.microsoft.com/office/powerpoint/2010/main" val="1473311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46" grpId="0"/>
      <p:bldP spid="37" grpId="0"/>
      <p:bldP spid="38" grpId="0"/>
      <p:bldP spid="39" grpId="0"/>
      <p:bldP spid="40" grpId="0"/>
      <p:bldP spid="41" grpId="0"/>
      <p:bldP spid="42" grpId="0"/>
      <p:bldP spid="44" grpId="0"/>
      <p:bldP spid="48" grpId="0"/>
      <p:bldP spid="50" grpId="0" animBg="1"/>
      <p:bldP spid="52" grpId="0"/>
      <p:bldP spid="53" grpId="0"/>
      <p:bldP spid="54" grpId="0"/>
      <p:bldP spid="55" grpId="0"/>
      <p:bldP spid="67" grpId="0"/>
      <p:bldP spid="68" grpId="0"/>
      <p:bldP spid="70" grpId="0"/>
      <p:bldP spid="73" grpId="0"/>
      <p:bldP spid="7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16FCED8F-E685-4BFB-B85A-54805FC35203}"/>
              </a:ext>
            </a:extLst>
          </p:cNvPr>
          <p:cNvSpPr txBox="1"/>
          <p:nvPr/>
        </p:nvSpPr>
        <p:spPr>
          <a:xfrm>
            <a:off x="198014" y="874455"/>
            <a:ext cx="819025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cs typeface="Arial" panose="020B0604020202020204" pitchFamily="34" charset="0"/>
              </a:rPr>
              <a:t>Mick is a baker in a supermarket. He makes hot cross buns and packs them in bags of 6. He stacks 4 shelves with 8 bags on each shelf. At the end of the day, Mike has 3 bags of buns left. How many hot cross buns did he sell?</a:t>
            </a:r>
            <a:endParaRPr lang="en-AU" sz="3200" b="1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B2D910-A430-43CC-A2A0-712A82CB8DA8}"/>
              </a:ext>
            </a:extLst>
          </p:cNvPr>
          <p:cNvSpPr txBox="1"/>
          <p:nvPr/>
        </p:nvSpPr>
        <p:spPr>
          <a:xfrm>
            <a:off x="0" y="0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C3CED4-6FE8-4356-813E-1EED97E34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265" y="-1"/>
            <a:ext cx="3803737" cy="49125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244741A-40BF-4810-B1DF-FACB56EB92BB}"/>
              </a:ext>
            </a:extLst>
          </p:cNvPr>
          <p:cNvSpPr txBox="1"/>
          <p:nvPr/>
        </p:nvSpPr>
        <p:spPr>
          <a:xfrm>
            <a:off x="2295727" y="3773042"/>
            <a:ext cx="3994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solidFill>
                  <a:srgbClr val="7030A0"/>
                </a:solidFill>
                <a:cs typeface="Arial" panose="020B0604020202020204" pitchFamily="34" charset="0"/>
              </a:rPr>
              <a:t>174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A60160-0BA0-48B5-BB26-067BB6ED6D8F}"/>
              </a:ext>
            </a:extLst>
          </p:cNvPr>
          <p:cNvSpPr txBox="1"/>
          <p:nvPr/>
        </p:nvSpPr>
        <p:spPr>
          <a:xfrm>
            <a:off x="1457526" y="4763416"/>
            <a:ext cx="5671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b="1" dirty="0">
                <a:solidFill>
                  <a:srgbClr val="7030A0"/>
                </a:solidFill>
                <a:cs typeface="Arial" panose="020B0604020202020204" pitchFamily="34" charset="0"/>
              </a:rPr>
              <a:t>Mike sold 174 hot crossed buns.</a:t>
            </a:r>
          </a:p>
        </p:txBody>
      </p:sp>
    </p:spTree>
    <p:extLst>
      <p:ext uri="{BB962C8B-B14F-4D97-AF65-F5344CB8AC3E}">
        <p14:creationId xmlns:p14="http://schemas.microsoft.com/office/powerpoint/2010/main" val="3911859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84AD6CD-2DC4-4B5D-AD09-1A8D829939F5}"/>
              </a:ext>
            </a:extLst>
          </p:cNvPr>
          <p:cNvSpPr txBox="1"/>
          <p:nvPr/>
        </p:nvSpPr>
        <p:spPr>
          <a:xfrm>
            <a:off x="0" y="0"/>
            <a:ext cx="2311405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Closure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EC25B51-5C6C-4C99-A581-743B79CF847B}"/>
              </a:ext>
            </a:extLst>
          </p:cNvPr>
          <p:cNvSpPr txBox="1">
            <a:spLocks/>
          </p:cNvSpPr>
          <p:nvPr/>
        </p:nvSpPr>
        <p:spPr>
          <a:xfrm>
            <a:off x="2434620" y="-88976"/>
            <a:ext cx="960250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800" dirty="0">
                <a:latin typeface="Arial Black" panose="020B0A04020102020204" pitchFamily="34" charset="0"/>
              </a:rPr>
              <a:t>What have we learnt today?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130" y="1097282"/>
            <a:ext cx="44323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latin typeface="Arial Black" panose="020B0A04020102020204" pitchFamily="34" charset="0"/>
              </a:rPr>
              <a:t>Lesson Objectives: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7CAFB7-3FC7-4B21-A85A-1342FC48EEF8}"/>
              </a:ext>
            </a:extLst>
          </p:cNvPr>
          <p:cNvSpPr txBox="1"/>
          <p:nvPr/>
        </p:nvSpPr>
        <p:spPr>
          <a:xfrm>
            <a:off x="369632" y="2973250"/>
            <a:ext cx="594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What does CUBES stand for?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330A9B-F4B8-4E51-8ED2-76C0AF92FF5A}"/>
              </a:ext>
            </a:extLst>
          </p:cNvPr>
          <p:cNvSpPr txBox="1"/>
          <p:nvPr/>
        </p:nvSpPr>
        <p:spPr>
          <a:xfrm>
            <a:off x="746872" y="3738642"/>
            <a:ext cx="571229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Circle</a:t>
            </a:r>
          </a:p>
          <a:p>
            <a:r>
              <a:rPr lang="en-AU" sz="3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Underline</a:t>
            </a:r>
          </a:p>
          <a:p>
            <a:r>
              <a:rPr lang="en-AU" sz="3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Box</a:t>
            </a:r>
          </a:p>
          <a:p>
            <a:r>
              <a:rPr lang="en-AU" sz="3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Eliminate and Evaluate</a:t>
            </a:r>
          </a:p>
          <a:p>
            <a:r>
              <a:rPr lang="en-AU" sz="3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 and Show working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DF5411-89D3-4418-A441-1E69BD0A113B}"/>
              </a:ext>
            </a:extLst>
          </p:cNvPr>
          <p:cNvSpPr txBox="1"/>
          <p:nvPr/>
        </p:nvSpPr>
        <p:spPr>
          <a:xfrm>
            <a:off x="369632" y="1749094"/>
            <a:ext cx="100097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cs typeface="Arial" panose="020B0604020202020204" pitchFamily="34" charset="0"/>
              </a:rPr>
              <a:t>I will use the CUBES problem-solving strategy to answer worded problems.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4B07DC-40F9-45FA-A86D-B7A32F73D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1932" y="2544001"/>
            <a:ext cx="4605192" cy="417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159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4A8D08E-840A-4ABF-BDB3-968EFCCE1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348" y="791955"/>
            <a:ext cx="11738113" cy="5887141"/>
          </a:xfrm>
        </p:spPr>
        <p:txBody>
          <a:bodyPr/>
          <a:lstStyle/>
          <a:p>
            <a:pPr marL="0" indent="0">
              <a:buNone/>
            </a:pPr>
            <a:r>
              <a:rPr lang="en-AU" b="1" dirty="0"/>
              <a:t>Open your textbooks to:</a:t>
            </a:r>
            <a:endParaRPr lang="en-AU" dirty="0"/>
          </a:p>
          <a:p>
            <a:pPr marL="0" indent="0">
              <a:buNone/>
            </a:pPr>
            <a:r>
              <a:rPr lang="en-AU" b="1" dirty="0"/>
              <a:t>Chapter</a:t>
            </a:r>
            <a:r>
              <a:rPr lang="en-AU" dirty="0"/>
              <a:t> 1.6 </a:t>
            </a:r>
          </a:p>
          <a:p>
            <a:pPr marL="0" indent="0">
              <a:buNone/>
            </a:pPr>
            <a:r>
              <a:rPr lang="en-AU" b="1" dirty="0"/>
              <a:t>Questions: </a:t>
            </a:r>
            <a:r>
              <a:rPr lang="en-AU" dirty="0"/>
              <a:t>1 </a:t>
            </a:r>
            <a:r>
              <a:rPr lang="en-AU" dirty="0" smtClean="0"/>
              <a:t>– 6, 8, 10</a:t>
            </a:r>
            <a:endParaRPr lang="en-AU" b="1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  <a:p>
            <a:pPr marL="0" indent="0" algn="ctr">
              <a:buNone/>
            </a:pPr>
            <a:endParaRPr lang="en-AU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0C1DE274-75E8-4178-AF08-49F3C0182597}"/>
              </a:ext>
            </a:extLst>
          </p:cNvPr>
          <p:cNvSpPr txBox="1">
            <a:spLocks/>
          </p:cNvSpPr>
          <p:nvPr/>
        </p:nvSpPr>
        <p:spPr>
          <a:xfrm>
            <a:off x="7133193" y="197964"/>
            <a:ext cx="4598366" cy="490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b="1" dirty="0"/>
              <a:t>Mathematics Page Layout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5975EB-6091-42EA-BFE3-72460378C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794" y="2302057"/>
            <a:ext cx="3554706" cy="45100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D24C62-EECE-4C3B-93F2-AB10B845F190}"/>
              </a:ext>
            </a:extLst>
          </p:cNvPr>
          <p:cNvSpPr txBox="1"/>
          <p:nvPr/>
        </p:nvSpPr>
        <p:spPr>
          <a:xfrm>
            <a:off x="0" y="0"/>
            <a:ext cx="389546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Independent Practice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2A0945-420F-49DC-8F2A-6BDF186E9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193" y="770894"/>
            <a:ext cx="4598366" cy="592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824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12281</TotalTime>
  <Words>1478</Words>
  <Application>Microsoft Office PowerPoint</Application>
  <PresentationFormat>Widescreen</PresentationFormat>
  <Paragraphs>391</Paragraphs>
  <Slides>18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Arial Black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STEDMAN Shaun [Harrisdale Senior High School]</cp:lastModifiedBy>
  <cp:revision>307</cp:revision>
  <dcterms:created xsi:type="dcterms:W3CDTF">2017-02-09T01:19:14Z</dcterms:created>
  <dcterms:modified xsi:type="dcterms:W3CDTF">2021-12-15T05:12:26Z</dcterms:modified>
</cp:coreProperties>
</file>
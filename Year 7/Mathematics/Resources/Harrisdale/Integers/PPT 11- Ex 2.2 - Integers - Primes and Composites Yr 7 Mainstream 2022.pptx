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663" r:id="rId2"/>
    <p:sldId id="649" r:id="rId3"/>
    <p:sldId id="666" r:id="rId4"/>
    <p:sldId id="667" r:id="rId5"/>
    <p:sldId id="657" r:id="rId6"/>
    <p:sldId id="665" r:id="rId7"/>
    <p:sldId id="668" r:id="rId8"/>
    <p:sldId id="293" r:id="rId9"/>
    <p:sldId id="335" r:id="rId10"/>
    <p:sldId id="660" r:id="rId11"/>
    <p:sldId id="669" r:id="rId12"/>
    <p:sldId id="661" r:id="rId13"/>
    <p:sldId id="670" r:id="rId14"/>
    <p:sldId id="336" r:id="rId15"/>
    <p:sldId id="658" r:id="rId16"/>
    <p:sldId id="351" r:id="rId17"/>
    <p:sldId id="352" r:id="rId18"/>
    <p:sldId id="353" r:id="rId19"/>
    <p:sldId id="354" r:id="rId20"/>
    <p:sldId id="355" r:id="rId21"/>
    <p:sldId id="356" r:id="rId22"/>
    <p:sldId id="540" r:id="rId23"/>
    <p:sldId id="30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7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6" autoAdjust="0"/>
    <p:restoredTop sz="94660"/>
  </p:normalViewPr>
  <p:slideViewPr>
    <p:cSldViewPr snapToGrid="0">
      <p:cViewPr>
        <p:scale>
          <a:sx n="84" d="100"/>
          <a:sy n="84" d="100"/>
        </p:scale>
        <p:origin x="96" y="1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13/01/2022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6208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13/01/2022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99458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13/01/2022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10192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13/01/2022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29697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13/01/2022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19499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13/01/2022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46399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13/01/2022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850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13/01/2022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21393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13/01/2022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2587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13/01/2022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00310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13/01/2022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84475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14ADA-8B9F-4ECF-9857-DA0E09389161}" type="datetimeFigureOut">
              <a:rPr lang="en-AU" smtClean="0"/>
              <a:t>13/01/2022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30882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youtube.com/watch?v=Lj_SzTGr-G4" TargetMode="Externa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99DDC62D-BC4A-4A69-84F2-CF2A22E4E446}"/>
              </a:ext>
            </a:extLst>
          </p:cNvPr>
          <p:cNvSpPr txBox="1"/>
          <p:nvPr/>
        </p:nvSpPr>
        <p:spPr>
          <a:xfrm>
            <a:off x="723872" y="934008"/>
            <a:ext cx="10759627" cy="132343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4000" b="1" dirty="0">
                <a:cs typeface="Arial" panose="020B0604020202020204" pitchFamily="34" charset="0"/>
              </a:rPr>
              <a:t>I will identify prime numbers and composite numbers.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0" y="-6605"/>
            <a:ext cx="342440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264" name="Title 1"/>
          <p:cNvSpPr txBox="1">
            <a:spLocks/>
          </p:cNvSpPr>
          <p:nvPr/>
        </p:nvSpPr>
        <p:spPr>
          <a:xfrm>
            <a:off x="-15373" y="1641894"/>
            <a:ext cx="12207373" cy="107098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b="1" i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Enter quietly, please be ready with the following on your desk:</a:t>
            </a:r>
          </a:p>
        </p:txBody>
      </p:sp>
      <p:sp>
        <p:nvSpPr>
          <p:cNvPr id="265" name="Content Placeholder 2"/>
          <p:cNvSpPr txBox="1">
            <a:spLocks/>
          </p:cNvSpPr>
          <p:nvPr/>
        </p:nvSpPr>
        <p:spPr>
          <a:xfrm>
            <a:off x="1980020" y="2972878"/>
            <a:ext cx="7921679" cy="3007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 marker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Exercise Book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Pencil, pen, </a:t>
            </a:r>
            <a:r>
              <a:rPr lang="en-AU" b="1" dirty="0"/>
              <a:t>ruler and red pen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Diary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Calculator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Device – charged or borrowed from Library before maths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214" y="2712882"/>
            <a:ext cx="3649887" cy="261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221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7469" y="723194"/>
            <a:ext cx="98330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AU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Lowest Common Multiple (LCM) </a:t>
            </a:r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of two numbers is the lowest number that appears in all of the numbers’ times tables.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17723" y="2514848"/>
            <a:ext cx="45765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2800" b="1" dirty="0">
                <a:cs typeface="Arial" panose="020B0604020202020204" pitchFamily="34" charset="0"/>
              </a:rPr>
              <a:t>Write out the times tables of the first number.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7723" y="3652506"/>
            <a:ext cx="46591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AU" sz="2800" b="1" dirty="0">
                <a:cs typeface="Arial" panose="020B0604020202020204" pitchFamily="34" charset="0"/>
              </a:rPr>
              <a:t>Write out the times tables of the second number.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17723" y="4790164"/>
            <a:ext cx="48773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AU" sz="2800" b="1" dirty="0">
                <a:cs typeface="Arial" panose="020B0604020202020204" pitchFamily="34" charset="0"/>
              </a:rPr>
              <a:t>Highlight the first common number between the lists.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17722" y="5927822"/>
            <a:ext cx="5347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AU" sz="2800" b="1" dirty="0">
                <a:cs typeface="Arial" panose="020B0604020202020204" pitchFamily="34" charset="0"/>
              </a:rPr>
              <a:t>Clearly write out your answer.</a:t>
            </a:r>
            <a:endParaRPr lang="en-AU" sz="2800" dirty="0">
              <a:cs typeface="Arial" panose="020B0604020202020204" pitchFamily="34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7F0A19D-2337-4957-A59A-BBE73EC03E1F}"/>
              </a:ext>
            </a:extLst>
          </p:cNvPr>
          <p:cNvGrpSpPr/>
          <p:nvPr/>
        </p:nvGrpSpPr>
        <p:grpSpPr>
          <a:xfrm>
            <a:off x="10156369" y="0"/>
            <a:ext cx="2035631" cy="1213224"/>
            <a:chOff x="660399" y="3602071"/>
            <a:chExt cx="2035631" cy="986118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484506A-3C79-4667-940B-36880AE95A8C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6F11CF9-6738-4A82-BE25-AAEDB65F620F}"/>
                </a:ext>
              </a:extLst>
            </p:cNvPr>
            <p:cNvSpPr/>
            <p:nvPr/>
          </p:nvSpPr>
          <p:spPr>
            <a:xfrm>
              <a:off x="660399" y="3931961"/>
              <a:ext cx="2035629" cy="656228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How many answers will you get for LCM?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CA153FD7-F1C3-42D1-B093-DC08F3832BED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EEB9D8C-7406-41D2-8003-4F9076B66D0C}"/>
              </a:ext>
            </a:extLst>
          </p:cNvPr>
          <p:cNvSpPr/>
          <p:nvPr/>
        </p:nvSpPr>
        <p:spPr>
          <a:xfrm>
            <a:off x="5195047" y="1946169"/>
            <a:ext cx="3356324" cy="61408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968491-9C33-4624-AB13-CF7FE324BB94}"/>
              </a:ext>
            </a:extLst>
          </p:cNvPr>
          <p:cNvSpPr txBox="1"/>
          <p:nvPr/>
        </p:nvSpPr>
        <p:spPr>
          <a:xfrm>
            <a:off x="5138457" y="1998206"/>
            <a:ext cx="3412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LCM of 3 and 5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835CD77-F1E1-4E6D-92AE-CC82145CFC54}"/>
              </a:ext>
            </a:extLst>
          </p:cNvPr>
          <p:cNvSpPr/>
          <p:nvPr/>
        </p:nvSpPr>
        <p:spPr>
          <a:xfrm>
            <a:off x="5884558" y="4488110"/>
            <a:ext cx="540104" cy="43073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6F96DA0-06A0-4EDB-9A78-B9D8E4509020}"/>
              </a:ext>
            </a:extLst>
          </p:cNvPr>
          <p:cNvSpPr/>
          <p:nvPr/>
        </p:nvSpPr>
        <p:spPr>
          <a:xfrm>
            <a:off x="7168791" y="3604151"/>
            <a:ext cx="565708" cy="4572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CBF1FC8-A947-4B44-8840-737A632CAD05}"/>
              </a:ext>
            </a:extLst>
          </p:cNvPr>
          <p:cNvSpPr txBox="1"/>
          <p:nvPr/>
        </p:nvSpPr>
        <p:spPr>
          <a:xfrm>
            <a:off x="5234665" y="5235325"/>
            <a:ext cx="32770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solidFill>
                  <a:srgbClr val="C00000"/>
                </a:solidFill>
                <a:cs typeface="Arial" panose="020B0604020202020204" pitchFamily="34" charset="0"/>
              </a:rPr>
              <a:t>The LCM of 3 and 5 is 15.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666248B-A529-4040-89B5-82A5980EDFC6}"/>
              </a:ext>
            </a:extLst>
          </p:cNvPr>
          <p:cNvSpPr/>
          <p:nvPr/>
        </p:nvSpPr>
        <p:spPr>
          <a:xfrm>
            <a:off x="8677160" y="1946169"/>
            <a:ext cx="3328208" cy="645658"/>
          </a:xfrm>
          <a:prstGeom prst="roundRect">
            <a:avLst/>
          </a:prstGeom>
          <a:solidFill>
            <a:srgbClr val="FFA7A7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7EB744A-894A-48B4-8F0E-816833638ED8}"/>
              </a:ext>
            </a:extLst>
          </p:cNvPr>
          <p:cNvSpPr txBox="1"/>
          <p:nvPr/>
        </p:nvSpPr>
        <p:spPr>
          <a:xfrm>
            <a:off x="8677160" y="2007388"/>
            <a:ext cx="3328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LCM of 4 and 6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D6B6CA67-037E-498D-8FE3-1DB42C4DA377}"/>
              </a:ext>
            </a:extLst>
          </p:cNvPr>
          <p:cNvSpPr/>
          <p:nvPr/>
        </p:nvSpPr>
        <p:spPr>
          <a:xfrm>
            <a:off x="9383071" y="3629966"/>
            <a:ext cx="490224" cy="477552"/>
          </a:xfrm>
          <a:prstGeom prst="roundRect">
            <a:avLst/>
          </a:prstGeom>
          <a:solidFill>
            <a:srgbClr val="FFA7A7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5A16CE4-D7E2-4B92-BCDF-AE5CFC5B8204}"/>
              </a:ext>
            </a:extLst>
          </p:cNvPr>
          <p:cNvSpPr txBox="1"/>
          <p:nvPr/>
        </p:nvSpPr>
        <p:spPr>
          <a:xfrm>
            <a:off x="8688662" y="2736502"/>
            <a:ext cx="186135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D9E7D6C1-7944-4899-B811-22B69FF3BB0A}"/>
              </a:ext>
            </a:extLst>
          </p:cNvPr>
          <p:cNvSpPr/>
          <p:nvPr/>
        </p:nvSpPr>
        <p:spPr>
          <a:xfrm>
            <a:off x="10662406" y="3215194"/>
            <a:ext cx="554291" cy="414772"/>
          </a:xfrm>
          <a:prstGeom prst="roundRect">
            <a:avLst/>
          </a:prstGeom>
          <a:solidFill>
            <a:srgbClr val="FFA7A7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D796A03-5E6E-405F-B59C-A8E76CEC57BA}"/>
              </a:ext>
            </a:extLst>
          </p:cNvPr>
          <p:cNvSpPr txBox="1"/>
          <p:nvPr/>
        </p:nvSpPr>
        <p:spPr>
          <a:xfrm>
            <a:off x="8728280" y="5249304"/>
            <a:ext cx="32770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solidFill>
                  <a:srgbClr val="C00000"/>
                </a:solidFill>
                <a:cs typeface="Arial" panose="020B0604020202020204" pitchFamily="34" charset="0"/>
              </a:rPr>
              <a:t>The LCM of 4 and 6 is 12.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276AAA-57CA-4E7C-93C5-54FF9282CCC2}"/>
              </a:ext>
            </a:extLst>
          </p:cNvPr>
          <p:cNvSpPr txBox="1"/>
          <p:nvPr/>
        </p:nvSpPr>
        <p:spPr>
          <a:xfrm>
            <a:off x="5195047" y="2722523"/>
            <a:ext cx="186135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47AF855-89F2-4625-87FF-2CD3192FA5ED}"/>
              </a:ext>
            </a:extLst>
          </p:cNvPr>
          <p:cNvSpPr txBox="1"/>
          <p:nvPr/>
        </p:nvSpPr>
        <p:spPr>
          <a:xfrm>
            <a:off x="6492067" y="2722523"/>
            <a:ext cx="18613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55356C-CB51-4283-92AA-B37470237453}"/>
              </a:ext>
            </a:extLst>
          </p:cNvPr>
          <p:cNvSpPr txBox="1"/>
          <p:nvPr/>
        </p:nvSpPr>
        <p:spPr>
          <a:xfrm>
            <a:off x="9985682" y="2736502"/>
            <a:ext cx="186135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770010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1" grpId="0" animBg="1"/>
      <p:bldP spid="33" grpId="0"/>
      <p:bldP spid="37" grpId="0" animBg="1"/>
      <p:bldP spid="38" grpId="0"/>
      <p:bldP spid="39" grpId="0" animBg="1"/>
      <p:bldP spid="40" grpId="0"/>
      <p:bldP spid="41" grpId="0" animBg="1"/>
      <p:bldP spid="43" grpId="0"/>
      <p:bldP spid="28" grpId="0"/>
      <p:bldP spid="32" grpId="0"/>
      <p:bldP spid="4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14"/>
          <p:cNvSpPr/>
          <p:nvPr/>
        </p:nvSpPr>
        <p:spPr>
          <a:xfrm>
            <a:off x="7636705" y="3659107"/>
            <a:ext cx="573093" cy="45275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951954" y="2761234"/>
            <a:ext cx="186135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30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36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42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48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54</a:t>
            </a:r>
          </a:p>
        </p:txBody>
      </p:sp>
      <p:sp>
        <p:nvSpPr>
          <p:cNvPr id="15" name="Rectangle: Rounded Corners 14"/>
          <p:cNvSpPr/>
          <p:nvPr/>
        </p:nvSpPr>
        <p:spPr>
          <a:xfrm>
            <a:off x="6104676" y="3215251"/>
            <a:ext cx="573093" cy="45275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454985" y="2761234"/>
            <a:ext cx="186135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27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36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45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54</a:t>
            </a:r>
          </a:p>
        </p:txBody>
      </p:sp>
      <p:sp>
        <p:nvSpPr>
          <p:cNvPr id="5" name="Rectangle: Rounded Corners 4"/>
          <p:cNvSpPr/>
          <p:nvPr/>
        </p:nvSpPr>
        <p:spPr>
          <a:xfrm>
            <a:off x="5273254" y="1991599"/>
            <a:ext cx="6399945" cy="63984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45182" y="2042674"/>
            <a:ext cx="6507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Lowest Common Multiple of 9 and 6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7469" y="723194"/>
            <a:ext cx="98330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AU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Lowest Common Multiple (LCM) </a:t>
            </a:r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of two numbers is the lowest number that appears in all of the numbers’ times tables.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17723" y="2514848"/>
            <a:ext cx="45765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2800" b="1" dirty="0">
                <a:cs typeface="Arial" panose="020B0604020202020204" pitchFamily="34" charset="0"/>
              </a:rPr>
              <a:t>Write out the times tables of the first number.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7723" y="3652506"/>
            <a:ext cx="46591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AU" sz="2800" b="1" dirty="0">
                <a:cs typeface="Arial" panose="020B0604020202020204" pitchFamily="34" charset="0"/>
              </a:rPr>
              <a:t>Write out the times tables of the second number.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17723" y="4790164"/>
            <a:ext cx="48773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AU" sz="2800" b="1" dirty="0">
                <a:cs typeface="Arial" panose="020B0604020202020204" pitchFamily="34" charset="0"/>
              </a:rPr>
              <a:t>Highlight the first common number between the lists.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17722" y="5927822"/>
            <a:ext cx="5347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AU" sz="2800" b="1" dirty="0">
                <a:cs typeface="Arial" panose="020B0604020202020204" pitchFamily="34" charset="0"/>
              </a:rPr>
              <a:t>Clearly write out your answer.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671736" y="4092187"/>
            <a:ext cx="32770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solidFill>
                  <a:srgbClr val="C00000"/>
                </a:solidFill>
                <a:cs typeface="Arial" panose="020B0604020202020204" pitchFamily="34" charset="0"/>
              </a:rPr>
              <a:t>The LCM of 9 and 6 </a:t>
            </a:r>
            <a:r>
              <a:rPr lang="en-AU" sz="2800" b="1">
                <a:solidFill>
                  <a:srgbClr val="C00000"/>
                </a:solidFill>
                <a:cs typeface="Arial" panose="020B0604020202020204" pitchFamily="34" charset="0"/>
              </a:rPr>
              <a:t>is </a:t>
            </a:r>
            <a:r>
              <a:rPr lang="en-AU" sz="2800" b="1" smtClean="0">
                <a:solidFill>
                  <a:srgbClr val="C00000"/>
                </a:solidFill>
                <a:cs typeface="Arial" panose="020B0604020202020204" pitchFamily="34" charset="0"/>
              </a:rPr>
              <a:t>18.</a:t>
            </a:r>
            <a:endParaRPr lang="en-AU" sz="2800" b="1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7F0A19D-2337-4957-A59A-BBE73EC03E1F}"/>
              </a:ext>
            </a:extLst>
          </p:cNvPr>
          <p:cNvGrpSpPr/>
          <p:nvPr/>
        </p:nvGrpSpPr>
        <p:grpSpPr>
          <a:xfrm>
            <a:off x="10156369" y="0"/>
            <a:ext cx="2035631" cy="1213224"/>
            <a:chOff x="660399" y="3602071"/>
            <a:chExt cx="2035631" cy="986118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484506A-3C79-4667-940B-36880AE95A8C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6F11CF9-6738-4A82-BE25-AAEDB65F620F}"/>
                </a:ext>
              </a:extLst>
            </p:cNvPr>
            <p:cNvSpPr/>
            <p:nvPr/>
          </p:nvSpPr>
          <p:spPr>
            <a:xfrm>
              <a:off x="660399" y="3931961"/>
              <a:ext cx="2035629" cy="656228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a LCM</a:t>
              </a:r>
              <a:r>
                <a:rPr lang="en-AU" dirty="0">
                  <a:solidFill>
                    <a:schemeClr val="tx1"/>
                  </a:solidFill>
                </a:rPr>
                <a:t>?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CA153FD7-F1C3-42D1-B093-DC08F3832BED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</p:spTree>
    <p:extLst>
      <p:ext uri="{BB962C8B-B14F-4D97-AF65-F5344CB8AC3E}">
        <p14:creationId xmlns:p14="http://schemas.microsoft.com/office/powerpoint/2010/main" val="3565945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30" grpId="0"/>
      <p:bldP spid="15" grpId="0" animBg="1"/>
      <p:bldP spid="29" grpId="0"/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7A62796-C4FE-468B-BBB4-C170BDC92E1C}"/>
              </a:ext>
            </a:extLst>
          </p:cNvPr>
          <p:cNvSpPr txBox="1">
            <a:spLocks/>
          </p:cNvSpPr>
          <p:nvPr/>
        </p:nvSpPr>
        <p:spPr>
          <a:xfrm>
            <a:off x="69954" y="686827"/>
            <a:ext cx="1205209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4800" dirty="0" smtClean="0">
                <a:latin typeface="Arial Black" panose="020B0A04020102020204" pitchFamily="34" charset="0"/>
              </a:rPr>
              <a:t>Which of the following </a:t>
            </a:r>
            <a:r>
              <a:rPr lang="en-AU" sz="4800" dirty="0" smtClean="0">
                <a:latin typeface="Arial Black" panose="020B0A04020102020204" pitchFamily="34" charset="0"/>
              </a:rPr>
              <a:t>is the LCM of 6 and 9?</a:t>
            </a:r>
            <a:endParaRPr lang="en-AU" sz="5400" dirty="0">
              <a:latin typeface="Arial Black" panose="020B0A040201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7B7973-9D7A-48EA-84E8-17A281889D6A}"/>
              </a:ext>
            </a:extLst>
          </p:cNvPr>
          <p:cNvSpPr txBox="1"/>
          <p:nvPr/>
        </p:nvSpPr>
        <p:spPr>
          <a:xfrm>
            <a:off x="0" y="0"/>
            <a:ext cx="183292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Question</a:t>
            </a:r>
            <a:endParaRPr lang="en-AU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409526" y="2574789"/>
            <a:ext cx="6557611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188A29-550F-4C05-9556-86F113149C5B}"/>
              </a:ext>
            </a:extLst>
          </p:cNvPr>
          <p:cNvSpPr/>
          <p:nvPr/>
        </p:nvSpPr>
        <p:spPr>
          <a:xfrm>
            <a:off x="409527" y="2545182"/>
            <a:ext cx="66075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A: </a:t>
            </a:r>
            <a:r>
              <a:rPr lang="en-AU" sz="3200" dirty="0"/>
              <a:t> </a:t>
            </a:r>
            <a:r>
              <a:rPr lang="en-AU" sz="3200" dirty="0" smtClean="0"/>
              <a:t>   </a:t>
            </a:r>
            <a:r>
              <a:rPr lang="en-AU" sz="3200" dirty="0"/>
              <a:t>6</a:t>
            </a:r>
            <a:r>
              <a:rPr lang="en-AU" sz="3200" dirty="0" smtClean="0"/>
              <a:t> </a:t>
            </a:r>
            <a:endParaRPr lang="en-AU" sz="3200" dirty="0"/>
          </a:p>
        </p:txBody>
      </p:sp>
      <p:sp>
        <p:nvSpPr>
          <p:cNvPr id="24" name="Rounded Rectangle 23"/>
          <p:cNvSpPr/>
          <p:nvPr/>
        </p:nvSpPr>
        <p:spPr>
          <a:xfrm>
            <a:off x="285641" y="3753036"/>
            <a:ext cx="6109260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B777DD-2580-4B29-808C-5E9A8C1ADAD3}"/>
              </a:ext>
            </a:extLst>
          </p:cNvPr>
          <p:cNvSpPr/>
          <p:nvPr/>
        </p:nvSpPr>
        <p:spPr>
          <a:xfrm>
            <a:off x="409526" y="3711344"/>
            <a:ext cx="76834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200" dirty="0" smtClean="0"/>
              <a:t>C: </a:t>
            </a:r>
            <a:r>
              <a:rPr lang="en-AU" sz="3200" dirty="0"/>
              <a:t> </a:t>
            </a:r>
            <a:r>
              <a:rPr lang="en-AU" sz="3200" dirty="0" smtClean="0"/>
              <a:t>   </a:t>
            </a:r>
            <a:r>
              <a:rPr lang="en-AU" sz="3200" dirty="0" smtClean="0"/>
              <a:t>12</a:t>
            </a:r>
            <a:endParaRPr lang="en-AU" sz="3200" dirty="0"/>
          </a:p>
        </p:txBody>
      </p:sp>
      <p:sp>
        <p:nvSpPr>
          <p:cNvPr id="25" name="Rounded Rectangle 24"/>
          <p:cNvSpPr/>
          <p:nvPr/>
        </p:nvSpPr>
        <p:spPr>
          <a:xfrm>
            <a:off x="5633885" y="3186772"/>
            <a:ext cx="6462981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B5F8D7-9A4B-457E-ADC3-2903031D3C05}"/>
              </a:ext>
            </a:extLst>
          </p:cNvPr>
          <p:cNvSpPr/>
          <p:nvPr/>
        </p:nvSpPr>
        <p:spPr>
          <a:xfrm>
            <a:off x="5633885" y="3182907"/>
            <a:ext cx="6488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200" dirty="0" smtClean="0"/>
              <a:t>B:      </a:t>
            </a:r>
            <a:r>
              <a:rPr lang="en-AU" sz="3200" dirty="0" smtClean="0"/>
              <a:t>9</a:t>
            </a:r>
            <a:endParaRPr lang="en-AU" sz="3200" dirty="0"/>
          </a:p>
        </p:txBody>
      </p:sp>
      <p:sp>
        <p:nvSpPr>
          <p:cNvPr id="27" name="Rounded Rectangle 26"/>
          <p:cNvSpPr/>
          <p:nvPr/>
        </p:nvSpPr>
        <p:spPr>
          <a:xfrm>
            <a:off x="5545394" y="4460829"/>
            <a:ext cx="6457716" cy="52540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2FBE2D-38B7-4A7F-8C06-E70436F19060}"/>
              </a:ext>
            </a:extLst>
          </p:cNvPr>
          <p:cNvSpPr/>
          <p:nvPr/>
        </p:nvSpPr>
        <p:spPr>
          <a:xfrm>
            <a:off x="5633885" y="4420520"/>
            <a:ext cx="597604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D:     </a:t>
            </a:r>
            <a:r>
              <a:rPr lang="en-AU" sz="3200" dirty="0" smtClean="0"/>
              <a:t>18</a:t>
            </a:r>
            <a:endParaRPr lang="en-AU" sz="3200" dirty="0"/>
          </a:p>
        </p:txBody>
      </p:sp>
      <p:sp>
        <p:nvSpPr>
          <p:cNvPr id="28" name="Rounded Rectangle 27"/>
          <p:cNvSpPr/>
          <p:nvPr/>
        </p:nvSpPr>
        <p:spPr>
          <a:xfrm>
            <a:off x="409526" y="5174571"/>
            <a:ext cx="7619495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700CA6-4516-4248-BEFC-F909513E0E1E}"/>
              </a:ext>
            </a:extLst>
          </p:cNvPr>
          <p:cNvSpPr/>
          <p:nvPr/>
        </p:nvSpPr>
        <p:spPr>
          <a:xfrm>
            <a:off x="409527" y="5184852"/>
            <a:ext cx="761949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E: </a:t>
            </a:r>
            <a:r>
              <a:rPr lang="en-AU" sz="3200" dirty="0"/>
              <a:t> </a:t>
            </a:r>
            <a:r>
              <a:rPr lang="en-AU" sz="3200" dirty="0" smtClean="0"/>
              <a:t>    </a:t>
            </a:r>
            <a:r>
              <a:rPr lang="en-AU" sz="3200" dirty="0" smtClean="0"/>
              <a:t>24</a:t>
            </a:r>
            <a:endParaRPr lang="en-AU" sz="3200" dirty="0"/>
          </a:p>
        </p:txBody>
      </p:sp>
      <p:sp>
        <p:nvSpPr>
          <p:cNvPr id="29" name="Rounded Rectangle 28"/>
          <p:cNvSpPr/>
          <p:nvPr/>
        </p:nvSpPr>
        <p:spPr>
          <a:xfrm>
            <a:off x="5917112" y="5990039"/>
            <a:ext cx="6132402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ECE0C6-9BE2-4008-B46B-5E65AA85369D}"/>
              </a:ext>
            </a:extLst>
          </p:cNvPr>
          <p:cNvSpPr/>
          <p:nvPr/>
        </p:nvSpPr>
        <p:spPr>
          <a:xfrm>
            <a:off x="6076478" y="5960355"/>
            <a:ext cx="611552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F:     </a:t>
            </a:r>
            <a:r>
              <a:rPr lang="en-AU" sz="3200" dirty="0" smtClean="0"/>
              <a:t>54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073336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4" grpId="0" animBg="1"/>
      <p:bldP spid="25" grpId="0" animBg="1"/>
      <p:bldP spid="27" grpId="0" animBg="1"/>
      <p:bldP spid="28" grpId="0" animBg="1"/>
      <p:bldP spid="2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7469" y="736170"/>
            <a:ext cx="98330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cs typeface="Arial" panose="020B0604020202020204" pitchFamily="34" charset="0"/>
              </a:rPr>
              <a:t>Just like common multiples, a </a:t>
            </a:r>
            <a:r>
              <a:rPr lang="en-AU" sz="2800" b="1" dirty="0">
                <a:solidFill>
                  <a:srgbClr val="C00000"/>
                </a:solidFill>
                <a:cs typeface="Arial" panose="020B0604020202020204" pitchFamily="34" charset="0"/>
              </a:rPr>
              <a:t>common factor</a:t>
            </a:r>
            <a:r>
              <a:rPr lang="en-AU" sz="2800" b="1" dirty="0">
                <a:cs typeface="Arial" panose="020B0604020202020204" pitchFamily="34" charset="0"/>
              </a:rPr>
              <a:t> divides exactly into two or more numbers.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6906" y="2145197"/>
            <a:ext cx="45765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2800" b="1" dirty="0">
                <a:cs typeface="Arial" panose="020B0604020202020204" pitchFamily="34" charset="0"/>
              </a:rPr>
              <a:t>Write out the factors of the first number.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6906" y="3282855"/>
            <a:ext cx="46591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AU" sz="2800" b="1" dirty="0">
                <a:cs typeface="Arial" panose="020B0604020202020204" pitchFamily="34" charset="0"/>
              </a:rPr>
              <a:t>Write out the factors of the second number.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6906" y="4420513"/>
            <a:ext cx="48773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AU" sz="2800" b="1" dirty="0">
                <a:cs typeface="Arial" panose="020B0604020202020204" pitchFamily="34" charset="0"/>
              </a:rPr>
              <a:t>Highlight the common numbers between the lists.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46905" y="5558171"/>
            <a:ext cx="5347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AU" sz="2800" b="1" dirty="0">
                <a:cs typeface="Arial" panose="020B0604020202020204" pitchFamily="34" charset="0"/>
              </a:rPr>
              <a:t>Clearly write out your answer.</a:t>
            </a:r>
            <a:endParaRPr lang="en-AU" sz="2800" dirty="0">
              <a:cs typeface="Arial" panose="020B0604020202020204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E81AB24-38F2-44C5-860F-1E12FD5A5DEA}"/>
              </a:ext>
            </a:extLst>
          </p:cNvPr>
          <p:cNvGrpSpPr/>
          <p:nvPr/>
        </p:nvGrpSpPr>
        <p:grpSpPr>
          <a:xfrm>
            <a:off x="10156369" y="0"/>
            <a:ext cx="2035631" cy="971026"/>
            <a:chOff x="660399" y="3602071"/>
            <a:chExt cx="2035631" cy="971026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59CB23E-2688-4DD5-B32F-844EA834142B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4A2A35F-C58F-4D15-A3E1-B769830D9124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Why is 1 always a common factor?</a:t>
              </a:r>
            </a:p>
          </p:txBody>
        </p:sp>
      </p:grp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095A67C-6532-48B0-A247-289AAF8BFCFB}"/>
              </a:ext>
            </a:extLst>
          </p:cNvPr>
          <p:cNvSpPr/>
          <p:nvPr/>
        </p:nvSpPr>
        <p:spPr>
          <a:xfrm>
            <a:off x="5195047" y="1946169"/>
            <a:ext cx="3356324" cy="61408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25C5FF-83B8-4E50-8BB4-374A4845211A}"/>
              </a:ext>
            </a:extLst>
          </p:cNvPr>
          <p:cNvSpPr txBox="1"/>
          <p:nvPr/>
        </p:nvSpPr>
        <p:spPr>
          <a:xfrm>
            <a:off x="5138457" y="1998206"/>
            <a:ext cx="3412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HCF of 25 and 40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BE37D01E-4112-450F-ABDD-FC98DC632B6B}"/>
              </a:ext>
            </a:extLst>
          </p:cNvPr>
          <p:cNvSpPr/>
          <p:nvPr/>
        </p:nvSpPr>
        <p:spPr>
          <a:xfrm>
            <a:off x="5931017" y="2967441"/>
            <a:ext cx="402722" cy="43073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A57662E3-AE2E-40F6-8BB4-C79EE44CB8C3}"/>
              </a:ext>
            </a:extLst>
          </p:cNvPr>
          <p:cNvSpPr/>
          <p:nvPr/>
        </p:nvSpPr>
        <p:spPr>
          <a:xfrm>
            <a:off x="7169177" y="3810064"/>
            <a:ext cx="507136" cy="4572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DCDF0AC-633E-48D0-A4B2-291AD2B710A5}"/>
              </a:ext>
            </a:extLst>
          </p:cNvPr>
          <p:cNvSpPr txBox="1"/>
          <p:nvPr/>
        </p:nvSpPr>
        <p:spPr>
          <a:xfrm>
            <a:off x="5261537" y="5857038"/>
            <a:ext cx="341247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solidFill>
                  <a:srgbClr val="C00000"/>
                </a:solidFill>
                <a:cs typeface="Arial" panose="020B0604020202020204" pitchFamily="34" charset="0"/>
              </a:rPr>
              <a:t>The HCF of 25 and 40 is 5.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23CBE2E7-A234-4D1F-A2EA-9D72AAAE969A}"/>
              </a:ext>
            </a:extLst>
          </p:cNvPr>
          <p:cNvSpPr/>
          <p:nvPr/>
        </p:nvSpPr>
        <p:spPr>
          <a:xfrm>
            <a:off x="8677160" y="1946169"/>
            <a:ext cx="3328208" cy="645658"/>
          </a:xfrm>
          <a:prstGeom prst="roundRect">
            <a:avLst/>
          </a:prstGeom>
          <a:solidFill>
            <a:srgbClr val="FFA7A7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6B1E3D0-AA11-417F-8086-7FC44AEC7A9B}"/>
              </a:ext>
            </a:extLst>
          </p:cNvPr>
          <p:cNvSpPr txBox="1"/>
          <p:nvPr/>
        </p:nvSpPr>
        <p:spPr>
          <a:xfrm>
            <a:off x="8677160" y="2007388"/>
            <a:ext cx="3328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HCF of 12 and 27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BCF723E1-FF11-4099-951D-7F84C701C7D7}"/>
              </a:ext>
            </a:extLst>
          </p:cNvPr>
          <p:cNvSpPr/>
          <p:nvPr/>
        </p:nvSpPr>
        <p:spPr>
          <a:xfrm>
            <a:off x="9412448" y="3624224"/>
            <a:ext cx="426970" cy="437127"/>
          </a:xfrm>
          <a:prstGeom prst="roundRect">
            <a:avLst/>
          </a:prstGeom>
          <a:solidFill>
            <a:srgbClr val="FFA7A7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BE903C87-0541-4330-A862-032E6257FC28}"/>
              </a:ext>
            </a:extLst>
          </p:cNvPr>
          <p:cNvSpPr/>
          <p:nvPr/>
        </p:nvSpPr>
        <p:spPr>
          <a:xfrm>
            <a:off x="10696282" y="3227528"/>
            <a:ext cx="440156" cy="396696"/>
          </a:xfrm>
          <a:prstGeom prst="roundRect">
            <a:avLst/>
          </a:prstGeom>
          <a:solidFill>
            <a:srgbClr val="FFA7A7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618B1BB-0ECE-43BB-8156-D84CDA169764}"/>
              </a:ext>
            </a:extLst>
          </p:cNvPr>
          <p:cNvSpPr txBox="1"/>
          <p:nvPr/>
        </p:nvSpPr>
        <p:spPr>
          <a:xfrm>
            <a:off x="8688662" y="5857038"/>
            <a:ext cx="33167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solidFill>
                  <a:srgbClr val="C00000"/>
                </a:solidFill>
                <a:cs typeface="Arial" panose="020B0604020202020204" pitchFamily="34" charset="0"/>
              </a:rPr>
              <a:t>The HCF of 12 and 27 is 3.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A8E42A6-21E5-4F94-972D-712A6F168D65}"/>
              </a:ext>
            </a:extLst>
          </p:cNvPr>
          <p:cNvSpPr txBox="1"/>
          <p:nvPr/>
        </p:nvSpPr>
        <p:spPr>
          <a:xfrm>
            <a:off x="5195047" y="2496470"/>
            <a:ext cx="18613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25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357CF1C-18E6-4E40-A512-45AA8FE551DB}"/>
              </a:ext>
            </a:extLst>
          </p:cNvPr>
          <p:cNvSpPr txBox="1"/>
          <p:nvPr/>
        </p:nvSpPr>
        <p:spPr>
          <a:xfrm>
            <a:off x="6492067" y="2496470"/>
            <a:ext cx="186135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40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77F437B-62E7-4CBA-9C39-E557155BCACE}"/>
              </a:ext>
            </a:extLst>
          </p:cNvPr>
          <p:cNvSpPr txBox="1"/>
          <p:nvPr/>
        </p:nvSpPr>
        <p:spPr>
          <a:xfrm>
            <a:off x="9985682" y="2736502"/>
            <a:ext cx="186135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F59ED44-CA13-4FAC-9741-8A7930F19AD7}"/>
              </a:ext>
            </a:extLst>
          </p:cNvPr>
          <p:cNvSpPr txBox="1"/>
          <p:nvPr/>
        </p:nvSpPr>
        <p:spPr>
          <a:xfrm>
            <a:off x="8688662" y="2736502"/>
            <a:ext cx="186135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9DA4368-441A-4FE5-A917-05D0E61448A8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</p:spTree>
    <p:extLst>
      <p:ext uri="{BB962C8B-B14F-4D97-AF65-F5344CB8AC3E}">
        <p14:creationId xmlns:p14="http://schemas.microsoft.com/office/powerpoint/2010/main" val="1949138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39" grpId="0"/>
      <p:bldP spid="40" grpId="0" animBg="1"/>
      <p:bldP spid="41" grpId="0"/>
      <p:bldP spid="42" grpId="0" animBg="1"/>
      <p:bldP spid="44" grpId="0" animBg="1"/>
      <p:bldP spid="46" grpId="0"/>
      <p:bldP spid="47" grpId="0"/>
      <p:bldP spid="48" grpId="0"/>
      <p:bldP spid="45" grpId="0"/>
      <p:bldP spid="4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6423" y="804672"/>
            <a:ext cx="1085174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cs typeface="Arial" panose="020B0604020202020204" pitchFamily="34" charset="0"/>
              </a:rPr>
              <a:t>It is often useful to find the </a:t>
            </a:r>
            <a:r>
              <a:rPr lang="en-AU" sz="2800" b="1" dirty="0">
                <a:solidFill>
                  <a:srgbClr val="C00000"/>
                </a:solidFill>
                <a:cs typeface="Arial" panose="020B0604020202020204" pitchFamily="34" charset="0"/>
              </a:rPr>
              <a:t>highest common factor (HCF) </a:t>
            </a:r>
            <a:r>
              <a:rPr lang="en-AU" sz="2800" b="1" dirty="0">
                <a:cs typeface="Arial" panose="020B0604020202020204" pitchFamily="34" charset="0"/>
              </a:rPr>
              <a:t>of a pair of numbers.</a:t>
            </a:r>
            <a:r>
              <a:rPr lang="en-AU" sz="2800" dirty="0">
                <a:cs typeface="Arial" panose="020B0604020202020204" pitchFamily="34" charset="0"/>
              </a:rPr>
              <a:t> This is also known as the </a:t>
            </a:r>
            <a:r>
              <a:rPr lang="en-AU" sz="2800" dirty="0">
                <a:solidFill>
                  <a:srgbClr val="C00000"/>
                </a:solidFill>
                <a:cs typeface="Arial" panose="020B0604020202020204" pitchFamily="34" charset="0"/>
              </a:rPr>
              <a:t>greatest common devisor (GCD)</a:t>
            </a:r>
            <a:r>
              <a:rPr lang="en-AU" sz="2800" dirty="0">
                <a:cs typeface="Arial" panose="020B0604020202020204" pitchFamily="34" charset="0"/>
              </a:rPr>
              <a:t>.</a:t>
            </a:r>
            <a:endParaRPr lang="en-AU" sz="2800" dirty="0">
              <a:solidFill>
                <a:srgbClr val="C00000"/>
              </a:solidFill>
            </a:endParaRPr>
          </a:p>
          <a:p>
            <a:endParaRPr lang="en-AU" sz="2800" b="1" dirty="0">
              <a:cs typeface="Arial" panose="020B0604020202020204" pitchFamily="34" charset="0"/>
            </a:endParaRPr>
          </a:p>
        </p:txBody>
      </p:sp>
      <p:sp>
        <p:nvSpPr>
          <p:cNvPr id="22" name="Rectangle: Rounded Corners 14">
            <a:extLst>
              <a:ext uri="{FF2B5EF4-FFF2-40B4-BE49-F238E27FC236}">
                <a16:creationId xmlns:a16="http://schemas.microsoft.com/office/drawing/2014/main" id="{BB3753FF-5114-494D-8C7F-59CF90B69A04}"/>
              </a:ext>
            </a:extLst>
          </p:cNvPr>
          <p:cNvSpPr/>
          <p:nvPr/>
        </p:nvSpPr>
        <p:spPr>
          <a:xfrm>
            <a:off x="8636071" y="4368278"/>
            <a:ext cx="573093" cy="45275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CB5DE40-6BFA-4346-BA79-A68A21FA7106}"/>
              </a:ext>
            </a:extLst>
          </p:cNvPr>
          <p:cNvSpPr/>
          <p:nvPr/>
        </p:nvSpPr>
        <p:spPr>
          <a:xfrm>
            <a:off x="7139104" y="4776047"/>
            <a:ext cx="573093" cy="45275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3CFB8AB-90F3-4A7A-9532-A3577C3E580D}"/>
              </a:ext>
            </a:extLst>
          </p:cNvPr>
          <p:cNvSpPr/>
          <p:nvPr/>
        </p:nvSpPr>
        <p:spPr>
          <a:xfrm>
            <a:off x="5042869" y="2252737"/>
            <a:ext cx="6505002" cy="63984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0624D5-5647-4E64-8C7E-167C3DAA4F22}"/>
              </a:ext>
            </a:extLst>
          </p:cNvPr>
          <p:cNvSpPr txBox="1"/>
          <p:nvPr/>
        </p:nvSpPr>
        <p:spPr>
          <a:xfrm>
            <a:off x="5042869" y="2293655"/>
            <a:ext cx="65050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Highest Common Factor of 12 and 18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93DD279-E129-41AD-B18D-E69D2BF4E4FD}"/>
              </a:ext>
            </a:extLst>
          </p:cNvPr>
          <p:cNvSpPr txBox="1"/>
          <p:nvPr/>
        </p:nvSpPr>
        <p:spPr>
          <a:xfrm>
            <a:off x="286424" y="2189667"/>
            <a:ext cx="45765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2800" b="1" dirty="0">
                <a:cs typeface="Arial" panose="020B0604020202020204" pitchFamily="34" charset="0"/>
              </a:rPr>
              <a:t>Write out the factors of the first number.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70DF904-3AAA-4D21-A550-8EA6034D157C}"/>
              </a:ext>
            </a:extLst>
          </p:cNvPr>
          <p:cNvSpPr txBox="1"/>
          <p:nvPr/>
        </p:nvSpPr>
        <p:spPr>
          <a:xfrm>
            <a:off x="286424" y="3327325"/>
            <a:ext cx="46591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AU" sz="2800" b="1" dirty="0">
                <a:cs typeface="Arial" panose="020B0604020202020204" pitchFamily="34" charset="0"/>
              </a:rPr>
              <a:t>Write out the factors of the second number.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669BB89-C0D2-4A04-8591-F6323F27C586}"/>
              </a:ext>
            </a:extLst>
          </p:cNvPr>
          <p:cNvSpPr txBox="1"/>
          <p:nvPr/>
        </p:nvSpPr>
        <p:spPr>
          <a:xfrm>
            <a:off x="286424" y="4464983"/>
            <a:ext cx="56312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AU" sz="2800" b="1" dirty="0">
                <a:cs typeface="Arial" panose="020B0604020202020204" pitchFamily="34" charset="0"/>
              </a:rPr>
              <a:t>Highlight the largest number in common between the lists.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2A741CE-DA6C-4BD6-ADAE-A652C6C7EC47}"/>
              </a:ext>
            </a:extLst>
          </p:cNvPr>
          <p:cNvSpPr txBox="1"/>
          <p:nvPr/>
        </p:nvSpPr>
        <p:spPr>
          <a:xfrm>
            <a:off x="286423" y="5602641"/>
            <a:ext cx="5347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AU" sz="2800" b="1" dirty="0">
                <a:cs typeface="Arial" panose="020B0604020202020204" pitchFamily="34" charset="0"/>
              </a:rPr>
              <a:t>Clearly write out your answer.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E1A0B1C-D79A-4839-999A-11C70469E17A}"/>
              </a:ext>
            </a:extLst>
          </p:cNvPr>
          <p:cNvSpPr txBox="1"/>
          <p:nvPr/>
        </p:nvSpPr>
        <p:spPr>
          <a:xfrm>
            <a:off x="5712296" y="5735139"/>
            <a:ext cx="62029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solidFill>
                  <a:srgbClr val="C00000"/>
                </a:solidFill>
                <a:cs typeface="Arial" panose="020B0604020202020204" pitchFamily="34" charset="0"/>
              </a:rPr>
              <a:t>The highest common factor of 12 and 18 is 6.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A399945-9F1C-4CA6-8ADD-15878FF50DF8}"/>
              </a:ext>
            </a:extLst>
          </p:cNvPr>
          <p:cNvSpPr txBox="1"/>
          <p:nvPr/>
        </p:nvSpPr>
        <p:spPr>
          <a:xfrm>
            <a:off x="6494971" y="3057483"/>
            <a:ext cx="186135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7D27DE9-1910-4142-8DCB-BF452D9E59DB}"/>
              </a:ext>
            </a:extLst>
          </p:cNvPr>
          <p:cNvSpPr txBox="1"/>
          <p:nvPr/>
        </p:nvSpPr>
        <p:spPr>
          <a:xfrm>
            <a:off x="7991940" y="3057483"/>
            <a:ext cx="186135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20E9342-5462-4626-A025-5D952A79DF82}"/>
              </a:ext>
            </a:extLst>
          </p:cNvPr>
          <p:cNvSpPr txBox="1"/>
          <p:nvPr/>
        </p:nvSpPr>
        <p:spPr>
          <a:xfrm>
            <a:off x="0" y="0"/>
            <a:ext cx="331018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Development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7F0A19D-2337-4957-A59A-BBE73EC03E1F}"/>
              </a:ext>
            </a:extLst>
          </p:cNvPr>
          <p:cNvGrpSpPr/>
          <p:nvPr/>
        </p:nvGrpSpPr>
        <p:grpSpPr>
          <a:xfrm>
            <a:off x="10156369" y="0"/>
            <a:ext cx="2035631" cy="857605"/>
            <a:chOff x="660399" y="3602071"/>
            <a:chExt cx="2035631" cy="98611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484506A-3C79-4667-940B-36880AE95A8C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6F11CF9-6738-4A82-BE25-AAEDB65F620F}"/>
                </a:ext>
              </a:extLst>
            </p:cNvPr>
            <p:cNvSpPr/>
            <p:nvPr/>
          </p:nvSpPr>
          <p:spPr>
            <a:xfrm>
              <a:off x="660399" y="3931961"/>
              <a:ext cx="2035629" cy="656228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a HCF?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7229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41" grpId="0"/>
      <p:bldP spid="52" grpId="0"/>
      <p:bldP spid="5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7A62796-C4FE-468B-BBB4-C170BDC92E1C}"/>
              </a:ext>
            </a:extLst>
          </p:cNvPr>
          <p:cNvSpPr txBox="1">
            <a:spLocks/>
          </p:cNvSpPr>
          <p:nvPr/>
        </p:nvSpPr>
        <p:spPr>
          <a:xfrm>
            <a:off x="69954" y="686827"/>
            <a:ext cx="1205209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4800" dirty="0" smtClean="0">
                <a:latin typeface="Arial Black" panose="020B0A04020102020204" pitchFamily="34" charset="0"/>
              </a:rPr>
              <a:t>Which </a:t>
            </a:r>
            <a:r>
              <a:rPr lang="en-AU" sz="4800" dirty="0" smtClean="0">
                <a:latin typeface="Arial Black" panose="020B0A04020102020204" pitchFamily="34" charset="0"/>
              </a:rPr>
              <a:t>of</a:t>
            </a:r>
            <a:r>
              <a:rPr lang="en-AU" sz="4800" dirty="0" smtClean="0">
                <a:latin typeface="Arial Black" panose="020B0A04020102020204" pitchFamily="34" charset="0"/>
              </a:rPr>
              <a:t> the following is the HCF of 20 and 24?</a:t>
            </a:r>
            <a:endParaRPr lang="en-AU" sz="5400" dirty="0">
              <a:latin typeface="Arial Black" panose="020B0A040201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7B7973-9D7A-48EA-84E8-17A281889D6A}"/>
              </a:ext>
            </a:extLst>
          </p:cNvPr>
          <p:cNvSpPr txBox="1"/>
          <p:nvPr/>
        </p:nvSpPr>
        <p:spPr>
          <a:xfrm>
            <a:off x="0" y="0"/>
            <a:ext cx="183292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Question</a:t>
            </a:r>
            <a:endParaRPr lang="en-AU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409526" y="2574789"/>
            <a:ext cx="6557611" cy="52540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188A29-550F-4C05-9556-86F113149C5B}"/>
              </a:ext>
            </a:extLst>
          </p:cNvPr>
          <p:cNvSpPr/>
          <p:nvPr/>
        </p:nvSpPr>
        <p:spPr>
          <a:xfrm>
            <a:off x="409527" y="2545182"/>
            <a:ext cx="6607590" cy="584775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en-AU" sz="3200" dirty="0" smtClean="0"/>
              <a:t>A: </a:t>
            </a:r>
            <a:r>
              <a:rPr lang="en-AU" sz="3200" dirty="0"/>
              <a:t> </a:t>
            </a:r>
            <a:r>
              <a:rPr lang="en-AU" sz="3200" dirty="0" smtClean="0"/>
              <a:t>   </a:t>
            </a:r>
            <a:r>
              <a:rPr lang="en-AU" sz="3200" dirty="0"/>
              <a:t>1</a:t>
            </a:r>
            <a:r>
              <a:rPr lang="en-AU" sz="3200" dirty="0" smtClean="0"/>
              <a:t> </a:t>
            </a:r>
            <a:endParaRPr lang="en-AU" sz="3200" dirty="0"/>
          </a:p>
        </p:txBody>
      </p:sp>
      <p:sp>
        <p:nvSpPr>
          <p:cNvPr id="24" name="Rounded Rectangle 23"/>
          <p:cNvSpPr/>
          <p:nvPr/>
        </p:nvSpPr>
        <p:spPr>
          <a:xfrm>
            <a:off x="285641" y="3753036"/>
            <a:ext cx="6109260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B777DD-2580-4B29-808C-5E9A8C1ADAD3}"/>
              </a:ext>
            </a:extLst>
          </p:cNvPr>
          <p:cNvSpPr/>
          <p:nvPr/>
        </p:nvSpPr>
        <p:spPr>
          <a:xfrm>
            <a:off x="409526" y="3711344"/>
            <a:ext cx="76834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200" dirty="0" smtClean="0"/>
              <a:t>C: </a:t>
            </a:r>
            <a:r>
              <a:rPr lang="en-AU" sz="3200" dirty="0"/>
              <a:t> </a:t>
            </a:r>
            <a:r>
              <a:rPr lang="en-AU" sz="3200" dirty="0" smtClean="0"/>
              <a:t>   </a:t>
            </a:r>
            <a:r>
              <a:rPr lang="en-AU" sz="3200" dirty="0"/>
              <a:t>3</a:t>
            </a:r>
            <a:endParaRPr lang="en-AU" sz="3200" dirty="0"/>
          </a:p>
        </p:txBody>
      </p:sp>
      <p:sp>
        <p:nvSpPr>
          <p:cNvPr id="25" name="Rounded Rectangle 24"/>
          <p:cNvSpPr/>
          <p:nvPr/>
        </p:nvSpPr>
        <p:spPr>
          <a:xfrm>
            <a:off x="5633885" y="3186772"/>
            <a:ext cx="6462981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B5F8D7-9A4B-457E-ADC3-2903031D3C05}"/>
              </a:ext>
            </a:extLst>
          </p:cNvPr>
          <p:cNvSpPr/>
          <p:nvPr/>
        </p:nvSpPr>
        <p:spPr>
          <a:xfrm>
            <a:off x="5633885" y="3182907"/>
            <a:ext cx="6488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200" dirty="0" smtClean="0"/>
              <a:t>B:      </a:t>
            </a:r>
            <a:r>
              <a:rPr lang="en-AU" sz="3200" dirty="0" smtClean="0"/>
              <a:t>2</a:t>
            </a:r>
            <a:endParaRPr lang="en-AU" sz="3200" dirty="0"/>
          </a:p>
        </p:txBody>
      </p:sp>
      <p:sp>
        <p:nvSpPr>
          <p:cNvPr id="27" name="Rounded Rectangle 26"/>
          <p:cNvSpPr/>
          <p:nvPr/>
        </p:nvSpPr>
        <p:spPr>
          <a:xfrm>
            <a:off x="5545394" y="4460829"/>
            <a:ext cx="6457716" cy="52540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2FBE2D-38B7-4A7F-8C06-E70436F19060}"/>
              </a:ext>
            </a:extLst>
          </p:cNvPr>
          <p:cNvSpPr/>
          <p:nvPr/>
        </p:nvSpPr>
        <p:spPr>
          <a:xfrm>
            <a:off x="5633885" y="4420520"/>
            <a:ext cx="597604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D:     </a:t>
            </a:r>
            <a:r>
              <a:rPr lang="en-AU" sz="3200" dirty="0"/>
              <a:t>4</a:t>
            </a:r>
            <a:endParaRPr lang="en-AU" sz="3200" dirty="0"/>
          </a:p>
        </p:txBody>
      </p:sp>
      <p:sp>
        <p:nvSpPr>
          <p:cNvPr id="28" name="Rounded Rectangle 27"/>
          <p:cNvSpPr/>
          <p:nvPr/>
        </p:nvSpPr>
        <p:spPr>
          <a:xfrm>
            <a:off x="409526" y="5174571"/>
            <a:ext cx="7619495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700CA6-4516-4248-BEFC-F909513E0E1E}"/>
              </a:ext>
            </a:extLst>
          </p:cNvPr>
          <p:cNvSpPr/>
          <p:nvPr/>
        </p:nvSpPr>
        <p:spPr>
          <a:xfrm>
            <a:off x="409527" y="5184852"/>
            <a:ext cx="761949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E: </a:t>
            </a:r>
            <a:r>
              <a:rPr lang="en-AU" sz="3200" dirty="0"/>
              <a:t> </a:t>
            </a:r>
            <a:r>
              <a:rPr lang="en-AU" sz="3200" dirty="0" smtClean="0"/>
              <a:t>    </a:t>
            </a:r>
            <a:r>
              <a:rPr lang="en-AU" sz="3200" dirty="0"/>
              <a:t>6</a:t>
            </a:r>
            <a:endParaRPr lang="en-AU" sz="3200" dirty="0"/>
          </a:p>
        </p:txBody>
      </p:sp>
      <p:sp>
        <p:nvSpPr>
          <p:cNvPr id="29" name="Rounded Rectangle 28"/>
          <p:cNvSpPr/>
          <p:nvPr/>
        </p:nvSpPr>
        <p:spPr>
          <a:xfrm>
            <a:off x="5917112" y="5990039"/>
            <a:ext cx="6132402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ECE0C6-9BE2-4008-B46B-5E65AA85369D}"/>
              </a:ext>
            </a:extLst>
          </p:cNvPr>
          <p:cNvSpPr/>
          <p:nvPr/>
        </p:nvSpPr>
        <p:spPr>
          <a:xfrm>
            <a:off x="6076478" y="5960355"/>
            <a:ext cx="611552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F:     </a:t>
            </a:r>
            <a:r>
              <a:rPr lang="en-AU" sz="3200" dirty="0" smtClean="0"/>
              <a:t>18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6224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4" grpId="0" animBg="1"/>
      <p:bldP spid="25" grpId="0" animBg="1"/>
      <p:bldP spid="27" grpId="0" animBg="1"/>
      <p:bldP spid="28" grpId="0" animBg="1"/>
      <p:bldP spid="2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C175E2EE-D511-47BA-96B1-2D89396BAFBE}"/>
              </a:ext>
            </a:extLst>
          </p:cNvPr>
          <p:cNvSpPr txBox="1"/>
          <p:nvPr/>
        </p:nvSpPr>
        <p:spPr>
          <a:xfrm>
            <a:off x="0" y="-6605"/>
            <a:ext cx="342440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A1404F-2D51-4BE2-B71E-AC3D0D10D9AE}"/>
              </a:ext>
            </a:extLst>
          </p:cNvPr>
          <p:cNvSpPr txBox="1"/>
          <p:nvPr/>
        </p:nvSpPr>
        <p:spPr>
          <a:xfrm>
            <a:off x="0" y="3336331"/>
            <a:ext cx="2916437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Success Criteria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7F0A19D-2337-4957-A59A-BBE73EC03E1F}"/>
              </a:ext>
            </a:extLst>
          </p:cNvPr>
          <p:cNvGrpSpPr/>
          <p:nvPr/>
        </p:nvGrpSpPr>
        <p:grpSpPr>
          <a:xfrm>
            <a:off x="10156369" y="0"/>
            <a:ext cx="2035631" cy="971026"/>
            <a:chOff x="660399" y="3602071"/>
            <a:chExt cx="2035631" cy="97102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484506A-3C79-4667-940B-36880AE95A8C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6F11CF9-6738-4A82-BE25-AAEDB65F620F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will we learn today?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5381CDC7-58C6-4B00-AF95-88D3AE68A65D}"/>
              </a:ext>
            </a:extLst>
          </p:cNvPr>
          <p:cNvSpPr txBox="1"/>
          <p:nvPr/>
        </p:nvSpPr>
        <p:spPr>
          <a:xfrm>
            <a:off x="346993" y="1324659"/>
            <a:ext cx="111780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cs typeface="Arial" panose="020B0604020202020204" pitchFamily="34" charset="0"/>
              </a:rPr>
              <a:t>I will identify prime numbers and composite numbers.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8C0F990-FA28-4D59-B1A1-CF11ADF42B0E}"/>
              </a:ext>
            </a:extLst>
          </p:cNvPr>
          <p:cNvGrpSpPr/>
          <p:nvPr/>
        </p:nvGrpSpPr>
        <p:grpSpPr>
          <a:xfrm>
            <a:off x="10156369" y="1080311"/>
            <a:ext cx="2035631" cy="1194596"/>
            <a:chOff x="660399" y="3602071"/>
            <a:chExt cx="2035631" cy="1194596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65C0C49-9730-415E-90E7-F880952B87EB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CC9CE05-2369-4108-82FB-59DF26374DA3}"/>
                </a:ext>
              </a:extLst>
            </p:cNvPr>
            <p:cNvSpPr/>
            <p:nvPr/>
          </p:nvSpPr>
          <p:spPr>
            <a:xfrm>
              <a:off x="660399" y="3931961"/>
              <a:ext cx="2035629" cy="864706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How will you know that you are successful?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7269AF61-750A-4C41-991C-B4142C532DB6}"/>
              </a:ext>
            </a:extLst>
          </p:cNvPr>
          <p:cNvSpPr txBox="1"/>
          <p:nvPr/>
        </p:nvSpPr>
        <p:spPr>
          <a:xfrm>
            <a:off x="346993" y="4197215"/>
            <a:ext cx="764914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cs typeface="Arial" panose="020B0604020202020204" pitchFamily="34" charset="0"/>
              </a:rPr>
              <a:t>At the end of the lesson, I will be able to: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cs typeface="Arial" panose="020B0604020202020204" pitchFamily="34" charset="0"/>
              </a:rPr>
              <a:t>Apply the </a:t>
            </a:r>
            <a:r>
              <a:rPr lang="en-AU" sz="2800" b="1" dirty="0"/>
              <a:t>Sieve of Eratosthenes to identify  prime numbers.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cs typeface="Arial" panose="020B0604020202020204" pitchFamily="34" charset="0"/>
              </a:rPr>
              <a:t>Identify the prime and composite numbers under 100</a:t>
            </a:r>
            <a:endParaRPr lang="en-AU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AU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AU" sz="28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444" y="4661445"/>
            <a:ext cx="3797850" cy="2058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068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3536" y="796653"/>
            <a:ext cx="96638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C00000"/>
                </a:solidFill>
                <a:cs typeface="Arial" panose="020B0604020202020204" pitchFamily="34" charset="0"/>
              </a:rPr>
              <a:t>Composite number </a:t>
            </a:r>
            <a:r>
              <a:rPr lang="en-AU" sz="2800" b="1" dirty="0">
                <a:cs typeface="Arial" panose="020B0604020202020204" pitchFamily="34" charset="0"/>
              </a:rPr>
              <a:t>- A number that has more than two factors. 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1AF3E1-E961-49F6-807A-5A7F682493CA}"/>
              </a:ext>
            </a:extLst>
          </p:cNvPr>
          <p:cNvSpPr txBox="1"/>
          <p:nvPr/>
        </p:nvSpPr>
        <p:spPr>
          <a:xfrm>
            <a:off x="0" y="-20052"/>
            <a:ext cx="4023093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Concept Development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0B3752D-D1B9-4A7F-8C3D-3DA4595E2E28}"/>
              </a:ext>
            </a:extLst>
          </p:cNvPr>
          <p:cNvGrpSpPr/>
          <p:nvPr/>
        </p:nvGrpSpPr>
        <p:grpSpPr>
          <a:xfrm>
            <a:off x="10016455" y="0"/>
            <a:ext cx="2175545" cy="971026"/>
            <a:chOff x="660399" y="3602071"/>
            <a:chExt cx="2035631" cy="971026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13F2328-1E97-4B29-8D52-751F81E652B0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90A88BA-8C3D-45D1-8A59-E7D0CAE06CF2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is a composite number?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0EACF2A7-6980-4ED7-85D6-088D5E7E6E81}"/>
              </a:ext>
            </a:extLst>
          </p:cNvPr>
          <p:cNvSpPr txBox="1"/>
          <p:nvPr/>
        </p:nvSpPr>
        <p:spPr>
          <a:xfrm>
            <a:off x="243536" y="1464837"/>
            <a:ext cx="80930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C00000"/>
                </a:solidFill>
                <a:cs typeface="Arial" panose="020B0604020202020204" pitchFamily="34" charset="0"/>
              </a:rPr>
              <a:t>Prime number </a:t>
            </a:r>
            <a:r>
              <a:rPr lang="en-AU" sz="2800" b="1" dirty="0">
                <a:cs typeface="Arial" panose="020B0604020202020204" pitchFamily="34" charset="0"/>
              </a:rPr>
              <a:t>- A number that only has two factors (one and itself). </a:t>
            </a:r>
            <a:endParaRPr lang="en-AU" sz="2800" dirty="0">
              <a:cs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A41E338-30EC-42C9-9DED-E1BE43179B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2129723"/>
              </p:ext>
            </p:extLst>
          </p:nvPr>
        </p:nvGraphicFramePr>
        <p:xfrm>
          <a:off x="374961" y="2633190"/>
          <a:ext cx="11294124" cy="3272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4708">
                  <a:extLst>
                    <a:ext uri="{9D8B030D-6E8A-4147-A177-3AD203B41FA5}">
                      <a16:colId xmlns:a16="http://schemas.microsoft.com/office/drawing/2014/main" val="2594514179"/>
                    </a:ext>
                  </a:extLst>
                </a:gridCol>
                <a:gridCol w="3764708">
                  <a:extLst>
                    <a:ext uri="{9D8B030D-6E8A-4147-A177-3AD203B41FA5}">
                      <a16:colId xmlns:a16="http://schemas.microsoft.com/office/drawing/2014/main" val="2280059572"/>
                    </a:ext>
                  </a:extLst>
                </a:gridCol>
                <a:gridCol w="3764708">
                  <a:extLst>
                    <a:ext uri="{9D8B030D-6E8A-4147-A177-3AD203B41FA5}">
                      <a16:colId xmlns:a16="http://schemas.microsoft.com/office/drawing/2014/main" val="3266985710"/>
                    </a:ext>
                  </a:extLst>
                </a:gridCol>
              </a:tblGrid>
              <a:tr h="59002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Example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Number of Factors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Composite or Prime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6575107"/>
                  </a:ext>
                </a:extLst>
              </a:tr>
              <a:tr h="132903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2:</a:t>
                      </a:r>
                    </a:p>
                    <a:p>
                      <a:pPr algn="ctr"/>
                      <a:r>
                        <a:rPr lang="en-US" sz="3600" dirty="0"/>
                        <a:t>1, 29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Prime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5842438"/>
                  </a:ext>
                </a:extLst>
              </a:tr>
              <a:tr h="1353593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8:</a:t>
                      </a:r>
                    </a:p>
                    <a:p>
                      <a:pPr algn="ctr"/>
                      <a:r>
                        <a:rPr lang="en-US" sz="2800" dirty="0"/>
                        <a:t>1, 2, 3, 5, 6, 10, 15, 30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Composite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071700"/>
                  </a:ext>
                </a:extLst>
              </a:tr>
            </a:tbl>
          </a:graphicData>
        </a:graphic>
      </p:graphicFrame>
      <p:grpSp>
        <p:nvGrpSpPr>
          <p:cNvPr id="42" name="Group 41">
            <a:extLst>
              <a:ext uri="{FF2B5EF4-FFF2-40B4-BE49-F238E27FC236}">
                <a16:creationId xmlns:a16="http://schemas.microsoft.com/office/drawing/2014/main" id="{D2F4C20D-91B7-4D51-8F94-9C79B4A25D9F}"/>
              </a:ext>
            </a:extLst>
          </p:cNvPr>
          <p:cNvGrpSpPr/>
          <p:nvPr/>
        </p:nvGrpSpPr>
        <p:grpSpPr>
          <a:xfrm>
            <a:off x="10016455" y="1058263"/>
            <a:ext cx="2175545" cy="971026"/>
            <a:chOff x="660399" y="3602071"/>
            <a:chExt cx="2035631" cy="971026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2ACF774-FC46-44F7-91DC-A6F8C3728A10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1ACA4AD-E617-43DE-83DE-CA945CF37F6F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is a prime number?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36187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4688" y="848162"/>
            <a:ext cx="86570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cs typeface="Arial" panose="020B0604020202020204" pitchFamily="34" charset="0"/>
              </a:rPr>
              <a:t>To find if a number is composite or prime: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52985" y="1571787"/>
            <a:ext cx="685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solidFill>
                  <a:srgbClr val="C00000"/>
                </a:solidFill>
                <a:cs typeface="Arial" panose="020B0604020202020204" pitchFamily="34" charset="0"/>
              </a:rPr>
              <a:t>6</a:t>
            </a:r>
            <a:endParaRPr lang="en-AU" sz="3600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94267" y="2135968"/>
            <a:ext cx="1656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cs typeface="Arial" panose="020B0604020202020204" pitchFamily="34" charset="0"/>
              </a:rPr>
              <a:t>1, 2, 3, 6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6510" y="3090075"/>
            <a:ext cx="38782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therefore 6 is a composite number.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1AF3E1-E961-49F6-807A-5A7F682493CA}"/>
              </a:ext>
            </a:extLst>
          </p:cNvPr>
          <p:cNvSpPr txBox="1"/>
          <p:nvPr/>
        </p:nvSpPr>
        <p:spPr>
          <a:xfrm>
            <a:off x="0" y="-20052"/>
            <a:ext cx="331018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Development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0B3752D-D1B9-4A7F-8C3D-3DA4595E2E28}"/>
              </a:ext>
            </a:extLst>
          </p:cNvPr>
          <p:cNvGrpSpPr/>
          <p:nvPr/>
        </p:nvGrpSpPr>
        <p:grpSpPr>
          <a:xfrm>
            <a:off x="10016455" y="0"/>
            <a:ext cx="2175545" cy="1282000"/>
            <a:chOff x="660399" y="3602071"/>
            <a:chExt cx="2035631" cy="1282000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13F2328-1E97-4B29-8D52-751F81E652B0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90A88BA-8C3D-45D1-8A59-E7D0CAE06CF2}"/>
                </a:ext>
              </a:extLst>
            </p:cNvPr>
            <p:cNvSpPr/>
            <p:nvPr/>
          </p:nvSpPr>
          <p:spPr>
            <a:xfrm>
              <a:off x="660399" y="3931960"/>
              <a:ext cx="2035629" cy="952111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How do you decide if a number is composite or prime?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AFB4C246-F8C0-4CE4-AA0C-3786A92D5468}"/>
              </a:ext>
            </a:extLst>
          </p:cNvPr>
          <p:cNvSpPr txBox="1"/>
          <p:nvPr/>
        </p:nvSpPr>
        <p:spPr>
          <a:xfrm>
            <a:off x="211807" y="2201931"/>
            <a:ext cx="45765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2800" b="1" dirty="0">
                <a:cs typeface="Arial" panose="020B0604020202020204" pitchFamily="34" charset="0"/>
              </a:rPr>
              <a:t>Write out the factors of the number.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8D2FD3-CB8E-4277-894B-D5F2B4183D8D}"/>
              </a:ext>
            </a:extLst>
          </p:cNvPr>
          <p:cNvSpPr txBox="1"/>
          <p:nvPr/>
        </p:nvSpPr>
        <p:spPr>
          <a:xfrm>
            <a:off x="211728" y="3239476"/>
            <a:ext cx="46591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AU" sz="2800" b="1" dirty="0">
                <a:cs typeface="Arial" panose="020B0604020202020204" pitchFamily="34" charset="0"/>
              </a:rPr>
              <a:t>Count how many factors there are.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8BF19A-6A0D-40D0-9C8B-B960995A85EB}"/>
              </a:ext>
            </a:extLst>
          </p:cNvPr>
          <p:cNvSpPr txBox="1"/>
          <p:nvPr/>
        </p:nvSpPr>
        <p:spPr>
          <a:xfrm>
            <a:off x="211728" y="4244587"/>
            <a:ext cx="48773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AU" sz="2800" b="1" dirty="0">
                <a:cs typeface="Arial" panose="020B0604020202020204" pitchFamily="34" charset="0"/>
              </a:rPr>
              <a:t>2 Factors = Prime</a:t>
            </a:r>
            <a:br>
              <a:rPr lang="en-AU" sz="2800" b="1" dirty="0">
                <a:cs typeface="Arial" panose="020B0604020202020204" pitchFamily="34" charset="0"/>
              </a:rPr>
            </a:br>
            <a:r>
              <a:rPr lang="en-AU" sz="2800" b="1" dirty="0">
                <a:cs typeface="Arial" panose="020B0604020202020204" pitchFamily="34" charset="0"/>
              </a:rPr>
              <a:t>&gt;2 Factors = Composite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8E683C8-6483-402F-965F-6C7B8740224C}"/>
              </a:ext>
            </a:extLst>
          </p:cNvPr>
          <p:cNvSpPr txBox="1"/>
          <p:nvPr/>
        </p:nvSpPr>
        <p:spPr>
          <a:xfrm>
            <a:off x="4616510" y="2606827"/>
            <a:ext cx="387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There are 4 factors,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96E772C-FA81-4BD9-9D50-EEF2EC83A292}"/>
              </a:ext>
            </a:extLst>
          </p:cNvPr>
          <p:cNvSpPr txBox="1"/>
          <p:nvPr/>
        </p:nvSpPr>
        <p:spPr>
          <a:xfrm>
            <a:off x="9850241" y="1571787"/>
            <a:ext cx="685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solidFill>
                  <a:srgbClr val="C00000"/>
                </a:solidFill>
                <a:cs typeface="Arial" panose="020B0604020202020204" pitchFamily="34" charset="0"/>
              </a:rPr>
              <a:t>20</a:t>
            </a:r>
            <a:endParaRPr lang="en-AU" sz="3600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B8F2118-6D0F-4BD5-AE66-873E597B4E7D}"/>
              </a:ext>
            </a:extLst>
          </p:cNvPr>
          <p:cNvSpPr txBox="1"/>
          <p:nvPr/>
        </p:nvSpPr>
        <p:spPr>
          <a:xfrm>
            <a:off x="9007610" y="2116055"/>
            <a:ext cx="2490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1, 2, 4, 5, 10, 20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4361A33-C213-406B-B97F-97F62AB1BA48}"/>
              </a:ext>
            </a:extLst>
          </p:cNvPr>
          <p:cNvSpPr txBox="1"/>
          <p:nvPr/>
        </p:nvSpPr>
        <p:spPr>
          <a:xfrm>
            <a:off x="8313766" y="3090075"/>
            <a:ext cx="38782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therefore 20 is a composite number.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94A69C5-2A53-419C-BCE8-332087E6EC24}"/>
              </a:ext>
            </a:extLst>
          </p:cNvPr>
          <p:cNvSpPr txBox="1"/>
          <p:nvPr/>
        </p:nvSpPr>
        <p:spPr>
          <a:xfrm>
            <a:off x="8313766" y="2606827"/>
            <a:ext cx="387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There are 6 factors,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E9304C6-7B8D-448B-99F1-E5F311AB68CE}"/>
              </a:ext>
            </a:extLst>
          </p:cNvPr>
          <p:cNvSpPr txBox="1"/>
          <p:nvPr/>
        </p:nvSpPr>
        <p:spPr>
          <a:xfrm>
            <a:off x="6152987" y="4163654"/>
            <a:ext cx="685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solidFill>
                  <a:srgbClr val="C00000"/>
                </a:solidFill>
                <a:cs typeface="Arial" panose="020B0604020202020204" pitchFamily="34" charset="0"/>
              </a:rPr>
              <a:t>23</a:t>
            </a:r>
            <a:endParaRPr lang="en-AU" sz="3600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4E31E7E-68FB-49F9-BDE7-EDA726775ADB}"/>
              </a:ext>
            </a:extLst>
          </p:cNvPr>
          <p:cNvSpPr txBox="1"/>
          <p:nvPr/>
        </p:nvSpPr>
        <p:spPr>
          <a:xfrm>
            <a:off x="5660527" y="4721640"/>
            <a:ext cx="1656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1, 23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76ECE85-0D12-4B5C-898B-8F58EC707B2B}"/>
              </a:ext>
            </a:extLst>
          </p:cNvPr>
          <p:cNvSpPr txBox="1"/>
          <p:nvPr/>
        </p:nvSpPr>
        <p:spPr>
          <a:xfrm>
            <a:off x="4616512" y="5681942"/>
            <a:ext cx="38782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therefore 23 is a prime number.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70EB43A-5BDE-4BBD-B676-9AD5EC54F4E4}"/>
              </a:ext>
            </a:extLst>
          </p:cNvPr>
          <p:cNvSpPr txBox="1"/>
          <p:nvPr/>
        </p:nvSpPr>
        <p:spPr>
          <a:xfrm>
            <a:off x="4616512" y="5198694"/>
            <a:ext cx="387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There are 2 factors,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275D622-456F-4F5C-8285-D8DDBEA1C4BA}"/>
              </a:ext>
            </a:extLst>
          </p:cNvPr>
          <p:cNvSpPr txBox="1"/>
          <p:nvPr/>
        </p:nvSpPr>
        <p:spPr>
          <a:xfrm>
            <a:off x="9850243" y="4163654"/>
            <a:ext cx="685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solidFill>
                  <a:srgbClr val="C00000"/>
                </a:solidFill>
                <a:cs typeface="Arial" panose="020B0604020202020204" pitchFamily="34" charset="0"/>
              </a:rPr>
              <a:t>21</a:t>
            </a:r>
            <a:endParaRPr lang="en-AU" sz="3600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226C597-6067-4A9D-B86D-A853DEB9A0DD}"/>
              </a:ext>
            </a:extLst>
          </p:cNvPr>
          <p:cNvSpPr txBox="1"/>
          <p:nvPr/>
        </p:nvSpPr>
        <p:spPr>
          <a:xfrm>
            <a:off x="9364831" y="4743832"/>
            <a:ext cx="1656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1, 3, 7, 21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50B89FA-3B25-409C-A439-E54F9E055064}"/>
              </a:ext>
            </a:extLst>
          </p:cNvPr>
          <p:cNvSpPr txBox="1"/>
          <p:nvPr/>
        </p:nvSpPr>
        <p:spPr>
          <a:xfrm>
            <a:off x="8313768" y="5681942"/>
            <a:ext cx="38782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therefore 21 is a composite number.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1672F3C-188C-4D23-A862-0C5D5BA364A6}"/>
              </a:ext>
            </a:extLst>
          </p:cNvPr>
          <p:cNvSpPr txBox="1"/>
          <p:nvPr/>
        </p:nvSpPr>
        <p:spPr>
          <a:xfrm>
            <a:off x="8313768" y="5198694"/>
            <a:ext cx="387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There are 4 factors,</a:t>
            </a:r>
          </a:p>
        </p:txBody>
      </p:sp>
    </p:spTree>
    <p:extLst>
      <p:ext uri="{BB962C8B-B14F-4D97-AF65-F5344CB8AC3E}">
        <p14:creationId xmlns:p14="http://schemas.microsoft.com/office/powerpoint/2010/main" val="666993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8" grpId="0"/>
      <p:bldP spid="35" grpId="0"/>
      <p:bldP spid="36" grpId="0"/>
      <p:bldP spid="37" grpId="0"/>
      <p:bldP spid="31" grpId="0"/>
      <p:bldP spid="32" grpId="0"/>
      <p:bldP spid="33" grpId="0"/>
      <p:bldP spid="34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7A62796-C4FE-468B-BBB4-C170BDC92E1C}"/>
              </a:ext>
            </a:extLst>
          </p:cNvPr>
          <p:cNvSpPr txBox="1">
            <a:spLocks/>
          </p:cNvSpPr>
          <p:nvPr/>
        </p:nvSpPr>
        <p:spPr>
          <a:xfrm>
            <a:off x="69954" y="686827"/>
            <a:ext cx="1205209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4800" dirty="0" smtClean="0">
                <a:latin typeface="Arial Black" panose="020B0A04020102020204" pitchFamily="34" charset="0"/>
              </a:rPr>
              <a:t>Which </a:t>
            </a:r>
            <a:r>
              <a:rPr lang="en-AU" sz="4800" dirty="0" smtClean="0">
                <a:latin typeface="Arial Black" panose="020B0A04020102020204" pitchFamily="34" charset="0"/>
              </a:rPr>
              <a:t>of</a:t>
            </a:r>
            <a:r>
              <a:rPr lang="en-AU" sz="4800" dirty="0" smtClean="0">
                <a:latin typeface="Arial Black" panose="020B0A04020102020204" pitchFamily="34" charset="0"/>
              </a:rPr>
              <a:t> the following are prime numbers?</a:t>
            </a:r>
            <a:endParaRPr lang="en-AU" sz="5400" dirty="0">
              <a:latin typeface="Arial Black" panose="020B0A040201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7B7973-9D7A-48EA-84E8-17A281889D6A}"/>
              </a:ext>
            </a:extLst>
          </p:cNvPr>
          <p:cNvSpPr txBox="1"/>
          <p:nvPr/>
        </p:nvSpPr>
        <p:spPr>
          <a:xfrm>
            <a:off x="0" y="0"/>
            <a:ext cx="183292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Question</a:t>
            </a:r>
            <a:endParaRPr lang="en-AU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409526" y="2574789"/>
            <a:ext cx="6557611" cy="52540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188A29-550F-4C05-9556-86F113149C5B}"/>
              </a:ext>
            </a:extLst>
          </p:cNvPr>
          <p:cNvSpPr/>
          <p:nvPr/>
        </p:nvSpPr>
        <p:spPr>
          <a:xfrm>
            <a:off x="409527" y="2545182"/>
            <a:ext cx="6607590" cy="584775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en-AU" sz="3200" dirty="0" smtClean="0"/>
              <a:t>A: </a:t>
            </a:r>
            <a:r>
              <a:rPr lang="en-AU" sz="3200" dirty="0"/>
              <a:t> </a:t>
            </a:r>
            <a:r>
              <a:rPr lang="en-AU" sz="3200" dirty="0" smtClean="0"/>
              <a:t>   </a:t>
            </a:r>
            <a:r>
              <a:rPr lang="en-AU" sz="3200" dirty="0"/>
              <a:t>1</a:t>
            </a:r>
            <a:r>
              <a:rPr lang="en-AU" sz="3200" dirty="0" smtClean="0"/>
              <a:t> </a:t>
            </a:r>
            <a:endParaRPr lang="en-AU" sz="3200" dirty="0"/>
          </a:p>
        </p:txBody>
      </p:sp>
      <p:sp>
        <p:nvSpPr>
          <p:cNvPr id="24" name="Rounded Rectangle 23"/>
          <p:cNvSpPr/>
          <p:nvPr/>
        </p:nvSpPr>
        <p:spPr>
          <a:xfrm>
            <a:off x="285641" y="3753036"/>
            <a:ext cx="6109260" cy="52540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B777DD-2580-4B29-808C-5E9A8C1ADAD3}"/>
              </a:ext>
            </a:extLst>
          </p:cNvPr>
          <p:cNvSpPr/>
          <p:nvPr/>
        </p:nvSpPr>
        <p:spPr>
          <a:xfrm>
            <a:off x="409526" y="3711344"/>
            <a:ext cx="76834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200" dirty="0" smtClean="0"/>
              <a:t>C: </a:t>
            </a:r>
            <a:r>
              <a:rPr lang="en-AU" sz="3200" dirty="0"/>
              <a:t> </a:t>
            </a:r>
            <a:r>
              <a:rPr lang="en-AU" sz="3200" dirty="0" smtClean="0"/>
              <a:t>   </a:t>
            </a:r>
            <a:r>
              <a:rPr lang="en-AU" sz="3200" dirty="0"/>
              <a:t>3</a:t>
            </a:r>
            <a:endParaRPr lang="en-AU" sz="3200" dirty="0"/>
          </a:p>
        </p:txBody>
      </p:sp>
      <p:sp>
        <p:nvSpPr>
          <p:cNvPr id="25" name="Rounded Rectangle 24"/>
          <p:cNvSpPr/>
          <p:nvPr/>
        </p:nvSpPr>
        <p:spPr>
          <a:xfrm>
            <a:off x="5633885" y="3186772"/>
            <a:ext cx="6462981" cy="52540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B5F8D7-9A4B-457E-ADC3-2903031D3C05}"/>
              </a:ext>
            </a:extLst>
          </p:cNvPr>
          <p:cNvSpPr/>
          <p:nvPr/>
        </p:nvSpPr>
        <p:spPr>
          <a:xfrm>
            <a:off x="5633885" y="3182907"/>
            <a:ext cx="6488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200" dirty="0" smtClean="0"/>
              <a:t>B:      </a:t>
            </a:r>
            <a:r>
              <a:rPr lang="en-AU" sz="3200" dirty="0" smtClean="0"/>
              <a:t>2</a:t>
            </a:r>
            <a:endParaRPr lang="en-AU" sz="3200" dirty="0"/>
          </a:p>
        </p:txBody>
      </p:sp>
      <p:sp>
        <p:nvSpPr>
          <p:cNvPr id="27" name="Rounded Rectangle 26"/>
          <p:cNvSpPr/>
          <p:nvPr/>
        </p:nvSpPr>
        <p:spPr>
          <a:xfrm>
            <a:off x="5545394" y="4460829"/>
            <a:ext cx="6457716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2FBE2D-38B7-4A7F-8C06-E70436F19060}"/>
              </a:ext>
            </a:extLst>
          </p:cNvPr>
          <p:cNvSpPr/>
          <p:nvPr/>
        </p:nvSpPr>
        <p:spPr>
          <a:xfrm>
            <a:off x="5633885" y="4420520"/>
            <a:ext cx="597604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D:     </a:t>
            </a:r>
            <a:r>
              <a:rPr lang="en-AU" sz="3200" dirty="0"/>
              <a:t>4</a:t>
            </a:r>
            <a:endParaRPr lang="en-AU" sz="3200" dirty="0"/>
          </a:p>
        </p:txBody>
      </p:sp>
      <p:sp>
        <p:nvSpPr>
          <p:cNvPr id="28" name="Rounded Rectangle 27"/>
          <p:cNvSpPr/>
          <p:nvPr/>
        </p:nvSpPr>
        <p:spPr>
          <a:xfrm>
            <a:off x="409526" y="5174571"/>
            <a:ext cx="7619495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700CA6-4516-4248-BEFC-F909513E0E1E}"/>
              </a:ext>
            </a:extLst>
          </p:cNvPr>
          <p:cNvSpPr/>
          <p:nvPr/>
        </p:nvSpPr>
        <p:spPr>
          <a:xfrm>
            <a:off x="409527" y="5184852"/>
            <a:ext cx="761949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E: </a:t>
            </a:r>
            <a:r>
              <a:rPr lang="en-AU" sz="3200" dirty="0"/>
              <a:t> </a:t>
            </a:r>
            <a:r>
              <a:rPr lang="en-AU" sz="3200" dirty="0" smtClean="0"/>
              <a:t>    </a:t>
            </a:r>
            <a:r>
              <a:rPr lang="en-AU" sz="3200" dirty="0"/>
              <a:t>6</a:t>
            </a:r>
            <a:endParaRPr lang="en-AU" sz="3200" dirty="0"/>
          </a:p>
        </p:txBody>
      </p:sp>
      <p:sp>
        <p:nvSpPr>
          <p:cNvPr id="29" name="Rounded Rectangle 28"/>
          <p:cNvSpPr/>
          <p:nvPr/>
        </p:nvSpPr>
        <p:spPr>
          <a:xfrm>
            <a:off x="5917112" y="5990039"/>
            <a:ext cx="6132402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ECE0C6-9BE2-4008-B46B-5E65AA85369D}"/>
              </a:ext>
            </a:extLst>
          </p:cNvPr>
          <p:cNvSpPr/>
          <p:nvPr/>
        </p:nvSpPr>
        <p:spPr>
          <a:xfrm>
            <a:off x="6076478" y="5960355"/>
            <a:ext cx="611552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F:     </a:t>
            </a:r>
            <a:r>
              <a:rPr lang="en-AU" sz="3200" dirty="0" smtClean="0"/>
              <a:t>10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062138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4" grpId="0" animBg="1"/>
      <p:bldP spid="25" grpId="0" animBg="1"/>
      <p:bldP spid="27" grpId="0" animBg="1"/>
      <p:bldP spid="28" grpId="0" animBg="1"/>
      <p:bldP spid="2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4688" y="848162"/>
            <a:ext cx="86570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cs typeface="Arial" panose="020B0604020202020204" pitchFamily="34" charset="0"/>
              </a:rPr>
              <a:t>To find if a number is composite or prime: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52985" y="1571787"/>
            <a:ext cx="685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solidFill>
                  <a:srgbClr val="C00000"/>
                </a:solidFill>
                <a:cs typeface="Arial" panose="020B0604020202020204" pitchFamily="34" charset="0"/>
              </a:rPr>
              <a:t>10</a:t>
            </a:r>
            <a:endParaRPr lang="en-AU" sz="3600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94267" y="2135968"/>
            <a:ext cx="1656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cs typeface="Arial" panose="020B0604020202020204" pitchFamily="34" charset="0"/>
              </a:rPr>
              <a:t>1, 2, 5, 10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6510" y="3090075"/>
            <a:ext cx="38782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therefore 10 is a composite number.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1AF3E1-E961-49F6-807A-5A7F682493CA}"/>
              </a:ext>
            </a:extLst>
          </p:cNvPr>
          <p:cNvSpPr txBox="1"/>
          <p:nvPr/>
        </p:nvSpPr>
        <p:spPr>
          <a:xfrm>
            <a:off x="0" y="-20052"/>
            <a:ext cx="331018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Development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0B3752D-D1B9-4A7F-8C3D-3DA4595E2E28}"/>
              </a:ext>
            </a:extLst>
          </p:cNvPr>
          <p:cNvGrpSpPr/>
          <p:nvPr/>
        </p:nvGrpSpPr>
        <p:grpSpPr>
          <a:xfrm>
            <a:off x="10016455" y="0"/>
            <a:ext cx="2175545" cy="1282000"/>
            <a:chOff x="660399" y="3602071"/>
            <a:chExt cx="2035631" cy="1282000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13F2328-1E97-4B29-8D52-751F81E652B0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90A88BA-8C3D-45D1-8A59-E7D0CAE06CF2}"/>
                </a:ext>
              </a:extLst>
            </p:cNvPr>
            <p:cNvSpPr/>
            <p:nvPr/>
          </p:nvSpPr>
          <p:spPr>
            <a:xfrm>
              <a:off x="660399" y="3931960"/>
              <a:ext cx="2035629" cy="952111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How do you decide if a number is composite or prime?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AFB4C246-F8C0-4CE4-AA0C-3786A92D5468}"/>
              </a:ext>
            </a:extLst>
          </p:cNvPr>
          <p:cNvSpPr txBox="1"/>
          <p:nvPr/>
        </p:nvSpPr>
        <p:spPr>
          <a:xfrm>
            <a:off x="211807" y="2201931"/>
            <a:ext cx="45765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2800" b="1" dirty="0">
                <a:cs typeface="Arial" panose="020B0604020202020204" pitchFamily="34" charset="0"/>
              </a:rPr>
              <a:t>Write out the factors of the number.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8D2FD3-CB8E-4277-894B-D5F2B4183D8D}"/>
              </a:ext>
            </a:extLst>
          </p:cNvPr>
          <p:cNvSpPr txBox="1"/>
          <p:nvPr/>
        </p:nvSpPr>
        <p:spPr>
          <a:xfrm>
            <a:off x="211728" y="3239476"/>
            <a:ext cx="46591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AU" sz="2800" b="1" dirty="0">
                <a:cs typeface="Arial" panose="020B0604020202020204" pitchFamily="34" charset="0"/>
              </a:rPr>
              <a:t>Count how many factors there are.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8BF19A-6A0D-40D0-9C8B-B960995A85EB}"/>
              </a:ext>
            </a:extLst>
          </p:cNvPr>
          <p:cNvSpPr txBox="1"/>
          <p:nvPr/>
        </p:nvSpPr>
        <p:spPr>
          <a:xfrm>
            <a:off x="211728" y="4244587"/>
            <a:ext cx="48773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AU" sz="2800" b="1" dirty="0">
                <a:cs typeface="Arial" panose="020B0604020202020204" pitchFamily="34" charset="0"/>
              </a:rPr>
              <a:t>2 Factors = Prime</a:t>
            </a:r>
            <a:br>
              <a:rPr lang="en-AU" sz="2800" b="1" dirty="0">
                <a:cs typeface="Arial" panose="020B0604020202020204" pitchFamily="34" charset="0"/>
              </a:rPr>
            </a:br>
            <a:r>
              <a:rPr lang="en-AU" sz="2800" b="1" dirty="0">
                <a:cs typeface="Arial" panose="020B0604020202020204" pitchFamily="34" charset="0"/>
              </a:rPr>
              <a:t>&gt;2 Factors = Composite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8E683C8-6483-402F-965F-6C7B8740224C}"/>
              </a:ext>
            </a:extLst>
          </p:cNvPr>
          <p:cNvSpPr txBox="1"/>
          <p:nvPr/>
        </p:nvSpPr>
        <p:spPr>
          <a:xfrm>
            <a:off x="4616510" y="2606827"/>
            <a:ext cx="387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There are 4 factors,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96E772C-FA81-4BD9-9D50-EEF2EC83A292}"/>
              </a:ext>
            </a:extLst>
          </p:cNvPr>
          <p:cNvSpPr txBox="1"/>
          <p:nvPr/>
        </p:nvSpPr>
        <p:spPr>
          <a:xfrm>
            <a:off x="9850241" y="1571787"/>
            <a:ext cx="685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solidFill>
                  <a:srgbClr val="C00000"/>
                </a:solidFill>
                <a:cs typeface="Arial" panose="020B0604020202020204" pitchFamily="34" charset="0"/>
              </a:rPr>
              <a:t>11</a:t>
            </a:r>
            <a:endParaRPr lang="en-AU" sz="3600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B8F2118-6D0F-4BD5-AE66-873E597B4E7D}"/>
              </a:ext>
            </a:extLst>
          </p:cNvPr>
          <p:cNvSpPr txBox="1"/>
          <p:nvPr/>
        </p:nvSpPr>
        <p:spPr>
          <a:xfrm>
            <a:off x="9007610" y="2116055"/>
            <a:ext cx="2490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1, 11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4361A33-C213-406B-B97F-97F62AB1BA48}"/>
              </a:ext>
            </a:extLst>
          </p:cNvPr>
          <p:cNvSpPr txBox="1"/>
          <p:nvPr/>
        </p:nvSpPr>
        <p:spPr>
          <a:xfrm>
            <a:off x="8313766" y="3090075"/>
            <a:ext cx="38782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therefore 11 is a prime number.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94A69C5-2A53-419C-BCE8-332087E6EC24}"/>
              </a:ext>
            </a:extLst>
          </p:cNvPr>
          <p:cNvSpPr txBox="1"/>
          <p:nvPr/>
        </p:nvSpPr>
        <p:spPr>
          <a:xfrm>
            <a:off x="8313766" y="2606827"/>
            <a:ext cx="387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There are 2 factors,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E9304C6-7B8D-448B-99F1-E5F311AB68CE}"/>
              </a:ext>
            </a:extLst>
          </p:cNvPr>
          <p:cNvSpPr txBox="1"/>
          <p:nvPr/>
        </p:nvSpPr>
        <p:spPr>
          <a:xfrm>
            <a:off x="6152987" y="4163654"/>
            <a:ext cx="685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solidFill>
                  <a:srgbClr val="C00000"/>
                </a:solidFill>
                <a:cs typeface="Arial" panose="020B0604020202020204" pitchFamily="34" charset="0"/>
              </a:rPr>
              <a:t>12</a:t>
            </a:r>
            <a:endParaRPr lang="en-AU" sz="3600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4E31E7E-68FB-49F9-BDE7-EDA726775ADB}"/>
              </a:ext>
            </a:extLst>
          </p:cNvPr>
          <p:cNvSpPr txBox="1"/>
          <p:nvPr/>
        </p:nvSpPr>
        <p:spPr>
          <a:xfrm>
            <a:off x="5316258" y="4721640"/>
            <a:ext cx="2359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1, 2, 3, 4, 6, 12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76ECE85-0D12-4B5C-898B-8F58EC707B2B}"/>
              </a:ext>
            </a:extLst>
          </p:cNvPr>
          <p:cNvSpPr txBox="1"/>
          <p:nvPr/>
        </p:nvSpPr>
        <p:spPr>
          <a:xfrm>
            <a:off x="4616512" y="5681942"/>
            <a:ext cx="38782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therefore 12 is a composite number.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70EB43A-5BDE-4BBD-B676-9AD5EC54F4E4}"/>
              </a:ext>
            </a:extLst>
          </p:cNvPr>
          <p:cNvSpPr txBox="1"/>
          <p:nvPr/>
        </p:nvSpPr>
        <p:spPr>
          <a:xfrm>
            <a:off x="4616512" y="5198694"/>
            <a:ext cx="387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There are 6 factors,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275D622-456F-4F5C-8285-D8DDBEA1C4BA}"/>
              </a:ext>
            </a:extLst>
          </p:cNvPr>
          <p:cNvSpPr txBox="1"/>
          <p:nvPr/>
        </p:nvSpPr>
        <p:spPr>
          <a:xfrm>
            <a:off x="9850243" y="4163654"/>
            <a:ext cx="685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solidFill>
                  <a:srgbClr val="C00000"/>
                </a:solidFill>
                <a:cs typeface="Arial" panose="020B0604020202020204" pitchFamily="34" charset="0"/>
              </a:rPr>
              <a:t>13</a:t>
            </a:r>
            <a:endParaRPr lang="en-AU" sz="3600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226C597-6067-4A9D-B86D-A853DEB9A0DD}"/>
              </a:ext>
            </a:extLst>
          </p:cNvPr>
          <p:cNvSpPr txBox="1"/>
          <p:nvPr/>
        </p:nvSpPr>
        <p:spPr>
          <a:xfrm>
            <a:off x="9364831" y="4743832"/>
            <a:ext cx="1656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1, 13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50B89FA-3B25-409C-A439-E54F9E055064}"/>
              </a:ext>
            </a:extLst>
          </p:cNvPr>
          <p:cNvSpPr txBox="1"/>
          <p:nvPr/>
        </p:nvSpPr>
        <p:spPr>
          <a:xfrm>
            <a:off x="8313768" y="5681942"/>
            <a:ext cx="38782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therefore 13 is a composite number.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1672F3C-188C-4D23-A862-0C5D5BA364A6}"/>
              </a:ext>
            </a:extLst>
          </p:cNvPr>
          <p:cNvSpPr txBox="1"/>
          <p:nvPr/>
        </p:nvSpPr>
        <p:spPr>
          <a:xfrm>
            <a:off x="8313768" y="5198694"/>
            <a:ext cx="387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There are 2 factors,</a:t>
            </a:r>
          </a:p>
        </p:txBody>
      </p:sp>
    </p:spTree>
    <p:extLst>
      <p:ext uri="{BB962C8B-B14F-4D97-AF65-F5344CB8AC3E}">
        <p14:creationId xmlns:p14="http://schemas.microsoft.com/office/powerpoint/2010/main" val="3724425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8" grpId="0"/>
      <p:bldP spid="31" grpId="0"/>
      <p:bldP spid="32" grpId="0"/>
      <p:bldP spid="33" grpId="0"/>
      <p:bldP spid="34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7A62796-C4FE-468B-BBB4-C170BDC92E1C}"/>
              </a:ext>
            </a:extLst>
          </p:cNvPr>
          <p:cNvSpPr txBox="1">
            <a:spLocks/>
          </p:cNvSpPr>
          <p:nvPr/>
        </p:nvSpPr>
        <p:spPr>
          <a:xfrm>
            <a:off x="69954" y="686827"/>
            <a:ext cx="1205209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4800" dirty="0" smtClean="0">
                <a:latin typeface="Arial Black" panose="020B0A04020102020204" pitchFamily="34" charset="0"/>
              </a:rPr>
              <a:t>Which </a:t>
            </a:r>
            <a:r>
              <a:rPr lang="en-AU" sz="4800" dirty="0" smtClean="0">
                <a:latin typeface="Arial Black" panose="020B0A04020102020204" pitchFamily="34" charset="0"/>
              </a:rPr>
              <a:t>of</a:t>
            </a:r>
            <a:r>
              <a:rPr lang="en-AU" sz="4800" dirty="0" smtClean="0">
                <a:latin typeface="Arial Black" panose="020B0A04020102020204" pitchFamily="34" charset="0"/>
              </a:rPr>
              <a:t> the following are prime numbers?</a:t>
            </a:r>
            <a:endParaRPr lang="en-AU" sz="5400" dirty="0">
              <a:latin typeface="Arial Black" panose="020B0A040201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7B7973-9D7A-48EA-84E8-17A281889D6A}"/>
              </a:ext>
            </a:extLst>
          </p:cNvPr>
          <p:cNvSpPr txBox="1"/>
          <p:nvPr/>
        </p:nvSpPr>
        <p:spPr>
          <a:xfrm>
            <a:off x="0" y="0"/>
            <a:ext cx="183292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Question</a:t>
            </a:r>
            <a:endParaRPr lang="en-AU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409526" y="2574789"/>
            <a:ext cx="6557611" cy="52540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188A29-550F-4C05-9556-86F113149C5B}"/>
              </a:ext>
            </a:extLst>
          </p:cNvPr>
          <p:cNvSpPr/>
          <p:nvPr/>
        </p:nvSpPr>
        <p:spPr>
          <a:xfrm>
            <a:off x="409527" y="2545182"/>
            <a:ext cx="6607590" cy="584775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en-AU" sz="3200" dirty="0" smtClean="0"/>
              <a:t>A: </a:t>
            </a:r>
            <a:r>
              <a:rPr lang="en-AU" sz="3200" dirty="0"/>
              <a:t> </a:t>
            </a:r>
            <a:r>
              <a:rPr lang="en-AU" sz="3200" dirty="0" smtClean="0"/>
              <a:t>   </a:t>
            </a:r>
            <a:r>
              <a:rPr lang="en-AU" sz="3200" dirty="0" smtClean="0"/>
              <a:t>12</a:t>
            </a:r>
            <a:r>
              <a:rPr lang="en-AU" sz="3200" dirty="0" smtClean="0"/>
              <a:t> </a:t>
            </a:r>
            <a:endParaRPr lang="en-AU" sz="3200" dirty="0"/>
          </a:p>
        </p:txBody>
      </p:sp>
      <p:sp>
        <p:nvSpPr>
          <p:cNvPr id="24" name="Rounded Rectangle 23"/>
          <p:cNvSpPr/>
          <p:nvPr/>
        </p:nvSpPr>
        <p:spPr>
          <a:xfrm>
            <a:off x="285641" y="3753036"/>
            <a:ext cx="6109260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B777DD-2580-4B29-808C-5E9A8C1ADAD3}"/>
              </a:ext>
            </a:extLst>
          </p:cNvPr>
          <p:cNvSpPr/>
          <p:nvPr/>
        </p:nvSpPr>
        <p:spPr>
          <a:xfrm>
            <a:off x="409526" y="3711344"/>
            <a:ext cx="76834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200" dirty="0" smtClean="0"/>
              <a:t>C: </a:t>
            </a:r>
            <a:r>
              <a:rPr lang="en-AU" sz="3200" dirty="0"/>
              <a:t> </a:t>
            </a:r>
            <a:r>
              <a:rPr lang="en-AU" sz="3200" dirty="0" smtClean="0"/>
              <a:t>   </a:t>
            </a:r>
            <a:r>
              <a:rPr lang="en-AU" sz="3200" dirty="0" smtClean="0"/>
              <a:t>30</a:t>
            </a:r>
            <a:endParaRPr lang="en-AU" sz="3200" dirty="0"/>
          </a:p>
        </p:txBody>
      </p:sp>
      <p:sp>
        <p:nvSpPr>
          <p:cNvPr id="25" name="Rounded Rectangle 24"/>
          <p:cNvSpPr/>
          <p:nvPr/>
        </p:nvSpPr>
        <p:spPr>
          <a:xfrm>
            <a:off x="5633885" y="3186772"/>
            <a:ext cx="6462981" cy="52540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B5F8D7-9A4B-457E-ADC3-2903031D3C05}"/>
              </a:ext>
            </a:extLst>
          </p:cNvPr>
          <p:cNvSpPr/>
          <p:nvPr/>
        </p:nvSpPr>
        <p:spPr>
          <a:xfrm>
            <a:off x="5633885" y="3182907"/>
            <a:ext cx="6488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200" dirty="0" smtClean="0"/>
              <a:t>B:      </a:t>
            </a:r>
            <a:r>
              <a:rPr lang="en-AU" sz="3200" dirty="0" smtClean="0"/>
              <a:t>23</a:t>
            </a:r>
            <a:endParaRPr lang="en-AU" sz="3200" dirty="0"/>
          </a:p>
        </p:txBody>
      </p:sp>
      <p:sp>
        <p:nvSpPr>
          <p:cNvPr id="27" name="Rounded Rectangle 26"/>
          <p:cNvSpPr/>
          <p:nvPr/>
        </p:nvSpPr>
        <p:spPr>
          <a:xfrm>
            <a:off x="5545394" y="4460829"/>
            <a:ext cx="6457716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2FBE2D-38B7-4A7F-8C06-E70436F19060}"/>
              </a:ext>
            </a:extLst>
          </p:cNvPr>
          <p:cNvSpPr/>
          <p:nvPr/>
        </p:nvSpPr>
        <p:spPr>
          <a:xfrm>
            <a:off x="5633885" y="4420520"/>
            <a:ext cx="597604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D:     </a:t>
            </a:r>
            <a:r>
              <a:rPr lang="en-AU" sz="3200" dirty="0" smtClean="0"/>
              <a:t>33</a:t>
            </a:r>
            <a:endParaRPr lang="en-AU" sz="3200" dirty="0"/>
          </a:p>
        </p:txBody>
      </p:sp>
      <p:sp>
        <p:nvSpPr>
          <p:cNvPr id="28" name="Rounded Rectangle 27"/>
          <p:cNvSpPr/>
          <p:nvPr/>
        </p:nvSpPr>
        <p:spPr>
          <a:xfrm>
            <a:off x="409526" y="5174571"/>
            <a:ext cx="7619495" cy="52540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700CA6-4516-4248-BEFC-F909513E0E1E}"/>
              </a:ext>
            </a:extLst>
          </p:cNvPr>
          <p:cNvSpPr/>
          <p:nvPr/>
        </p:nvSpPr>
        <p:spPr>
          <a:xfrm>
            <a:off x="409527" y="5184852"/>
            <a:ext cx="761949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E: </a:t>
            </a:r>
            <a:r>
              <a:rPr lang="en-AU" sz="3200" dirty="0"/>
              <a:t> </a:t>
            </a:r>
            <a:r>
              <a:rPr lang="en-AU" sz="3200" dirty="0" smtClean="0"/>
              <a:t>    </a:t>
            </a:r>
            <a:r>
              <a:rPr lang="en-AU" sz="3200" dirty="0" smtClean="0"/>
              <a:t>61</a:t>
            </a:r>
            <a:endParaRPr lang="en-AU" sz="3200" dirty="0"/>
          </a:p>
        </p:txBody>
      </p:sp>
      <p:sp>
        <p:nvSpPr>
          <p:cNvPr id="29" name="Rounded Rectangle 28"/>
          <p:cNvSpPr/>
          <p:nvPr/>
        </p:nvSpPr>
        <p:spPr>
          <a:xfrm>
            <a:off x="5917112" y="5990039"/>
            <a:ext cx="6132402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ECE0C6-9BE2-4008-B46B-5E65AA85369D}"/>
              </a:ext>
            </a:extLst>
          </p:cNvPr>
          <p:cNvSpPr/>
          <p:nvPr/>
        </p:nvSpPr>
        <p:spPr>
          <a:xfrm>
            <a:off x="6076478" y="5960355"/>
            <a:ext cx="611552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F:     </a:t>
            </a:r>
            <a:r>
              <a:rPr lang="en-AU" sz="3200" dirty="0" smtClean="0"/>
              <a:t>95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354410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4" grpId="0" animBg="1"/>
      <p:bldP spid="25" grpId="0" animBg="1"/>
      <p:bldP spid="27" grpId="0" animBg="1"/>
      <p:bldP spid="28" grpId="0" animBg="1"/>
      <p:bldP spid="2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40243" y="272688"/>
            <a:ext cx="1187598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6000" dirty="0">
                <a:latin typeface="Arial Black" panose="020B0A04020102020204" pitchFamily="34" charset="0"/>
              </a:rPr>
              <a:t>The Sieve of Eratosthenes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841" y="1180408"/>
            <a:ext cx="8972784" cy="5457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849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40243" y="272688"/>
            <a:ext cx="1187598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6000" dirty="0">
                <a:latin typeface="Arial Black" panose="020B0A04020102020204" pitchFamily="34" charset="0"/>
              </a:rPr>
              <a:t>The Sieve of Eratosthenes</a:t>
            </a:r>
          </a:p>
        </p:txBody>
      </p:sp>
      <p:pic>
        <p:nvPicPr>
          <p:cNvPr id="5" name="Picture 4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036" y="1326317"/>
            <a:ext cx="9726930" cy="5052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567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40243" y="272688"/>
            <a:ext cx="1187598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6000" dirty="0">
                <a:latin typeface="Arial Black" panose="020B0A04020102020204" pitchFamily="34" charset="0"/>
              </a:rPr>
              <a:t>The Sieve of Eratosthenes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222" y="5780116"/>
            <a:ext cx="112554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Step 1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	Cross out the number 1.</a:t>
            </a:r>
          </a:p>
          <a:p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005" y="1224742"/>
            <a:ext cx="7006455" cy="4261658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>
            <a:off x="2658007" y="1317645"/>
            <a:ext cx="613387" cy="38620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3880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40243" y="272688"/>
            <a:ext cx="1187598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6000" dirty="0">
                <a:latin typeface="Arial Black" panose="020B0A04020102020204" pitchFamily="34" charset="0"/>
              </a:rPr>
              <a:t>The Sieve of Eratosthenes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9847" y="5580610"/>
            <a:ext cx="112554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Step 2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	Go to the next number, which is 2, and </a:t>
            </a:r>
            <a:r>
              <a:rPr lang="en-A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highlight 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it. Then, 			cross out all of the other multiples of 2.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005" y="1224742"/>
            <a:ext cx="7006455" cy="4261658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>
            <a:off x="2635289" y="1306255"/>
            <a:ext cx="613387" cy="38620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3464497" y="1317645"/>
            <a:ext cx="431642" cy="386206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>
            <a:off x="4684643" y="1306255"/>
            <a:ext cx="613387" cy="38620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6076042" y="1306255"/>
            <a:ext cx="613387" cy="38620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7426098" y="1317645"/>
            <a:ext cx="613387" cy="38620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8779643" y="1317645"/>
            <a:ext cx="613387" cy="38620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5557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40243" y="272688"/>
            <a:ext cx="1187598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6000" dirty="0">
                <a:latin typeface="Arial Black" panose="020B0A04020102020204" pitchFamily="34" charset="0"/>
              </a:rPr>
              <a:t>The Sieve of Eratosthenes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9847" y="5569527"/>
            <a:ext cx="114327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Step 3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	Go to the next number that isn’t crossed out. This should 			be 3. Circle it. Then cross out all of the other multiples of 3.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005" y="1224742"/>
            <a:ext cx="7006455" cy="4261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349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40243" y="272688"/>
            <a:ext cx="1187598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6000" dirty="0">
                <a:latin typeface="Arial Black" panose="020B0A04020102020204" pitchFamily="34" charset="0"/>
              </a:rPr>
              <a:t>The Sieve of Eratosthenes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9847" y="5569527"/>
            <a:ext cx="1162119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Step 4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	Go to the next number that isn’t crossed </a:t>
            </a:r>
            <a:r>
              <a:rPr lang="en-A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out, which should   		be 5. 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Circle it. </a:t>
            </a:r>
            <a:r>
              <a:rPr lang="en-A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Then 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cross out all of the other </a:t>
            </a:r>
            <a:r>
              <a:rPr lang="en-A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multiples of 5.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005" y="1224742"/>
            <a:ext cx="7006455" cy="4261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185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40243" y="272688"/>
            <a:ext cx="1187598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6000" dirty="0">
                <a:latin typeface="Arial Black" panose="020B0A04020102020204" pitchFamily="34" charset="0"/>
              </a:rPr>
              <a:t>The Sieve of Eratosthenes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9848" y="5569527"/>
            <a:ext cx="1173202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Step 5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	Go to the next number that isn’t crossed out, which should   		be </a:t>
            </a:r>
            <a:r>
              <a:rPr lang="en-A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7. 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Circle it. Then cross out all of the other </a:t>
            </a:r>
            <a:r>
              <a:rPr lang="en-A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multiples of 7.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005" y="1224742"/>
            <a:ext cx="7006455" cy="4261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630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40243" y="272688"/>
            <a:ext cx="1187598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6000" dirty="0">
                <a:latin typeface="Arial Black" panose="020B0A04020102020204" pitchFamily="34" charset="0"/>
              </a:rPr>
              <a:t>The Sieve of Eratosthenes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9847" y="5569527"/>
            <a:ext cx="112554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Step 6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A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Circle any remaining numbers that haven’t been crossed 			out. All the circled numbers are prime numbers. 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005" y="1224742"/>
            <a:ext cx="7006455" cy="4261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376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84AD6CD-2DC4-4B5D-AD09-1A8D829939F5}"/>
              </a:ext>
            </a:extLst>
          </p:cNvPr>
          <p:cNvSpPr txBox="1"/>
          <p:nvPr/>
        </p:nvSpPr>
        <p:spPr>
          <a:xfrm>
            <a:off x="0" y="0"/>
            <a:ext cx="2311405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Closure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EC25B51-5C6C-4C99-A581-743B79CF847B}"/>
              </a:ext>
            </a:extLst>
          </p:cNvPr>
          <p:cNvSpPr txBox="1">
            <a:spLocks/>
          </p:cNvSpPr>
          <p:nvPr/>
        </p:nvSpPr>
        <p:spPr>
          <a:xfrm>
            <a:off x="2434620" y="-88976"/>
            <a:ext cx="960250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4800" dirty="0">
                <a:latin typeface="Arial Black" panose="020B0A04020102020204" pitchFamily="34" charset="0"/>
              </a:rPr>
              <a:t>What have we learnt today?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130" y="1097282"/>
            <a:ext cx="44323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latin typeface="Arial Black" panose="020B0A04020102020204" pitchFamily="34" charset="0"/>
              </a:rPr>
              <a:t>Lesson Objectives: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57221E0-6DD2-4036-A37F-476BFFF6F12F}"/>
              </a:ext>
            </a:extLst>
          </p:cNvPr>
          <p:cNvSpPr/>
          <p:nvPr/>
        </p:nvSpPr>
        <p:spPr>
          <a:xfrm>
            <a:off x="582273" y="2905780"/>
            <a:ext cx="58574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/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What is a prime number?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721" y="3847830"/>
            <a:ext cx="54889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solidFill>
                  <a:srgbClr val="C00000"/>
                </a:solidFill>
                <a:cs typeface="Arial" panose="020B0604020202020204" pitchFamily="34" charset="0"/>
              </a:rPr>
              <a:t>A number that only has two factors.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10B897-4AA9-4C46-8333-A5E914176C13}"/>
              </a:ext>
            </a:extLst>
          </p:cNvPr>
          <p:cNvSpPr txBox="1"/>
          <p:nvPr/>
        </p:nvSpPr>
        <p:spPr>
          <a:xfrm>
            <a:off x="264130" y="1808498"/>
            <a:ext cx="111780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cs typeface="Arial" panose="020B0604020202020204" pitchFamily="34" charset="0"/>
              </a:rPr>
              <a:t>I will identify prime numbers and composite numbers.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D68F875-1C5E-4C90-9C17-A8228DB2A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3452" y="2335950"/>
            <a:ext cx="4522050" cy="452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159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5" grpId="0"/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4A8D08E-840A-4ABF-BDB3-968EFCCE1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348" y="791955"/>
            <a:ext cx="11738113" cy="5887141"/>
          </a:xfrm>
        </p:spPr>
        <p:txBody>
          <a:bodyPr/>
          <a:lstStyle/>
          <a:p>
            <a:pPr marL="0" indent="0">
              <a:buNone/>
            </a:pPr>
            <a:r>
              <a:rPr lang="en-AU" b="1" dirty="0"/>
              <a:t>Open your textbooks to:</a:t>
            </a:r>
            <a:endParaRPr lang="en-AU" dirty="0"/>
          </a:p>
          <a:p>
            <a:pPr marL="0" indent="0">
              <a:buNone/>
            </a:pPr>
            <a:r>
              <a:rPr lang="en-AU" b="1" dirty="0"/>
              <a:t>Chapter</a:t>
            </a:r>
            <a:r>
              <a:rPr lang="en-AU" dirty="0"/>
              <a:t> 2.2 </a:t>
            </a:r>
          </a:p>
          <a:p>
            <a:pPr marL="0" indent="0">
              <a:buNone/>
            </a:pPr>
            <a:r>
              <a:rPr lang="en-AU" b="1" dirty="0"/>
              <a:t>Questions: </a:t>
            </a:r>
            <a:r>
              <a:rPr lang="en-AU" dirty="0" smtClean="0"/>
              <a:t>1-12</a:t>
            </a:r>
            <a:endParaRPr lang="en-AU" b="1" dirty="0"/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  <a:p>
            <a:pPr marL="0" indent="0" algn="ctr">
              <a:buNone/>
            </a:pPr>
            <a:endParaRPr lang="en-AU" dirty="0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0C1DE274-75E8-4178-AF08-49F3C0182597}"/>
              </a:ext>
            </a:extLst>
          </p:cNvPr>
          <p:cNvSpPr txBox="1">
            <a:spLocks/>
          </p:cNvSpPr>
          <p:nvPr/>
        </p:nvSpPr>
        <p:spPr>
          <a:xfrm>
            <a:off x="7133193" y="197964"/>
            <a:ext cx="4598366" cy="490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b="1" dirty="0"/>
              <a:t>Mathematics Page Layout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5975EB-6091-42EA-BFE3-72460378C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794" y="2302057"/>
            <a:ext cx="3554706" cy="45100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D24C62-EECE-4C3B-93F2-AB10B845F190}"/>
              </a:ext>
            </a:extLst>
          </p:cNvPr>
          <p:cNvSpPr txBox="1"/>
          <p:nvPr/>
        </p:nvSpPr>
        <p:spPr>
          <a:xfrm>
            <a:off x="0" y="0"/>
            <a:ext cx="389546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Independent Practice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2A0945-420F-49DC-8F2A-6BDF186E9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3193" y="770894"/>
            <a:ext cx="4598366" cy="592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824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10264</TotalTime>
  <Words>1235</Words>
  <Application>Microsoft Office PowerPoint</Application>
  <PresentationFormat>Widescreen</PresentationFormat>
  <Paragraphs>253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teacher</dc:creator>
  <cp:lastModifiedBy>STEDMAN Shaun [Harrisdale Senior High School]</cp:lastModifiedBy>
  <cp:revision>312</cp:revision>
  <dcterms:created xsi:type="dcterms:W3CDTF">2017-02-09T01:19:14Z</dcterms:created>
  <dcterms:modified xsi:type="dcterms:W3CDTF">2022-01-13T02:53:40Z</dcterms:modified>
</cp:coreProperties>
</file>
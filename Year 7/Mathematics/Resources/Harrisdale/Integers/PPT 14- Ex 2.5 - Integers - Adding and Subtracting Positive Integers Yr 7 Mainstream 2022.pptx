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59" r:id="rId2"/>
    <p:sldId id="643" r:id="rId3"/>
    <p:sldId id="644" r:id="rId4"/>
    <p:sldId id="645" r:id="rId5"/>
    <p:sldId id="658" r:id="rId6"/>
    <p:sldId id="660" r:id="rId7"/>
    <p:sldId id="639" r:id="rId8"/>
    <p:sldId id="632" r:id="rId9"/>
    <p:sldId id="646" r:id="rId10"/>
    <p:sldId id="647" r:id="rId11"/>
    <p:sldId id="649" r:id="rId12"/>
    <p:sldId id="648" r:id="rId13"/>
    <p:sldId id="650" r:id="rId14"/>
    <p:sldId id="651" r:id="rId15"/>
    <p:sldId id="661" r:id="rId16"/>
    <p:sldId id="652" r:id="rId17"/>
    <p:sldId id="653" r:id="rId18"/>
    <p:sldId id="654" r:id="rId19"/>
    <p:sldId id="655" r:id="rId20"/>
    <p:sldId id="656" r:id="rId21"/>
    <p:sldId id="657" r:id="rId22"/>
    <p:sldId id="55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C1"/>
    <a:srgbClr val="EC8888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132" y="11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59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478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20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40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0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6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53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40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67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25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5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8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add and subtract positive integers.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1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/>
          <p:cNvSpPr/>
          <p:nvPr/>
        </p:nvSpPr>
        <p:spPr>
          <a:xfrm>
            <a:off x="576007" y="3408861"/>
            <a:ext cx="3021363" cy="686194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01502" y="3409631"/>
            <a:ext cx="3321386" cy="6854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000" dirty="0">
                <a:latin typeface="+mn-lt"/>
                <a:cs typeface="Arial" panose="020B0604020202020204" pitchFamily="34" charset="0"/>
              </a:rPr>
              <a:t>We assume that a number with no +/- sign is positive.</a:t>
            </a:r>
          </a:p>
          <a:p>
            <a:endParaRPr lang="en-AU" sz="28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3899454" y="3470799"/>
            <a:ext cx="5092117" cy="48171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825453" y="3504064"/>
            <a:ext cx="5240121" cy="4151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800" b="1" dirty="0">
                <a:latin typeface="+mn-lt"/>
                <a:cs typeface="Arial" panose="020B0604020202020204" pitchFamily="34" charset="0"/>
              </a:rPr>
              <a:t>Which of these are integers?</a:t>
            </a:r>
          </a:p>
          <a:p>
            <a:endParaRPr lang="en-AU" sz="28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381286" y="998119"/>
            <a:ext cx="9426857" cy="229597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b="1" dirty="0">
                <a:latin typeface="+mn-lt"/>
                <a:cs typeface="Arial" panose="020B0604020202020204" pitchFamily="34" charset="0"/>
              </a:rPr>
              <a:t>An </a:t>
            </a:r>
            <a:r>
              <a:rPr lang="en-AU" sz="2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integer</a:t>
            </a:r>
            <a:r>
              <a:rPr lang="en-AU" sz="2800" b="1" dirty="0">
                <a:latin typeface="+mn-lt"/>
                <a:cs typeface="Arial" panose="020B0604020202020204" pitchFamily="34" charset="0"/>
              </a:rPr>
              <a:t> is a whole number. </a:t>
            </a:r>
          </a:p>
          <a:p>
            <a:endParaRPr lang="en-AU" sz="2800" b="1" dirty="0">
              <a:latin typeface="+mn-lt"/>
              <a:cs typeface="Arial" panose="020B0604020202020204" pitchFamily="34" charset="0"/>
            </a:endParaRPr>
          </a:p>
          <a:p>
            <a:r>
              <a:rPr lang="en-AU" sz="2800" dirty="0">
                <a:latin typeface="+mn-lt"/>
                <a:cs typeface="Arial" panose="020B0604020202020204" pitchFamily="34" charset="0"/>
              </a:rPr>
              <a:t>This includes all of the positive whole numbers, all of the negative whole numbers and zero (which is neither positive nor negative).</a:t>
            </a:r>
          </a:p>
          <a:p>
            <a:endParaRPr lang="en-AU" sz="2800" b="1" dirty="0">
              <a:latin typeface="+mn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1281990" y="4209823"/>
                <a:ext cx="10108287" cy="22959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sz="2800" b="1" dirty="0">
                    <a:latin typeface="+mn-lt"/>
                    <a:cs typeface="Arial" panose="020B0604020202020204" pitchFamily="34" charset="0"/>
                  </a:rPr>
                  <a:t>	42			+681			76.2			-480</a:t>
                </a:r>
              </a:p>
              <a:p>
                <a:endParaRPr lang="en-AU" sz="2800" b="1" dirty="0">
                  <a:latin typeface="+mn-lt"/>
                  <a:cs typeface="Arial" panose="020B0604020202020204" pitchFamily="34" charset="0"/>
                </a:endParaRPr>
              </a:p>
              <a:p>
                <a:r>
                  <a:rPr lang="en-AU" sz="2800" b="1" dirty="0">
                    <a:latin typeface="+mn-lt"/>
                    <a:cs typeface="Arial" panose="020B0604020202020204" pitchFamily="34" charset="0"/>
                  </a:rPr>
                  <a:t>	0		two thousand		forty-nine point one	</a:t>
                </a:r>
              </a:p>
              <a:p>
                <a:r>
                  <a:rPr lang="en-AU" sz="2800" b="1" dirty="0">
                    <a:latin typeface="+mn-lt"/>
                    <a:cs typeface="Arial" panose="020B0604020202020204" pitchFamily="34" charset="0"/>
                  </a:rPr>
                  <a:t>Negative ninety-two		-3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𝟕</m:t>
                        </m:r>
                      </m:num>
                      <m:den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sz="2800" b="1" dirty="0">
                    <a:latin typeface="+mn-lt"/>
                    <a:cs typeface="Arial" panose="020B0604020202020204" pitchFamily="34" charset="0"/>
                  </a:rPr>
                  <a:t>			Zero	</a:t>
                </a: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990" y="4209823"/>
                <a:ext cx="10108287" cy="2295974"/>
              </a:xfrm>
              <a:prstGeom prst="rect">
                <a:avLst/>
              </a:prstGeom>
              <a:blipFill>
                <a:blip r:embed="rId2"/>
                <a:stretch>
                  <a:fillRect l="-1206" t="-4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2002135" y="4095055"/>
            <a:ext cx="260060" cy="2204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7FB4CC-E591-44D6-8343-F6874424BAFA}"/>
              </a:ext>
            </a:extLst>
          </p:cNvPr>
          <p:cNvGrpSpPr/>
          <p:nvPr/>
        </p:nvGrpSpPr>
        <p:grpSpPr>
          <a:xfrm>
            <a:off x="10156370" y="0"/>
            <a:ext cx="2035630" cy="971026"/>
            <a:chOff x="2813050" y="3602071"/>
            <a:chExt cx="2035630" cy="97102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C292E6-9176-470D-BE27-9195DBC0443E}"/>
                </a:ext>
              </a:extLst>
            </p:cNvPr>
            <p:cNvSpPr/>
            <p:nvPr/>
          </p:nvSpPr>
          <p:spPr>
            <a:xfrm>
              <a:off x="2813051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b="1" dirty="0">
                  <a:solidFill>
                    <a:schemeClr val="tx1"/>
                  </a:solidFill>
                </a:rPr>
                <a:t>Integer</a:t>
              </a:r>
              <a:r>
                <a:rPr lang="en-AU" dirty="0">
                  <a:solidFill>
                    <a:schemeClr val="tx1"/>
                  </a:solidFill>
                </a:rPr>
                <a:t> – A whole 	number.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61BEFE-9C03-47B3-B8B4-69E16733D0F2}"/>
                </a:ext>
              </a:extLst>
            </p:cNvPr>
            <p:cNvSpPr txBox="1"/>
            <p:nvPr/>
          </p:nvSpPr>
          <p:spPr>
            <a:xfrm>
              <a:off x="2813050" y="3602071"/>
              <a:ext cx="2035629" cy="30777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573777-3837-4986-9DD5-A38EBE7EA320}"/>
              </a:ext>
            </a:extLst>
          </p:cNvPr>
          <p:cNvGrpSpPr/>
          <p:nvPr/>
        </p:nvGrpSpPr>
        <p:grpSpPr>
          <a:xfrm>
            <a:off x="10156370" y="1085794"/>
            <a:ext cx="2035630" cy="667389"/>
            <a:chOff x="660399" y="3602071"/>
            <a:chExt cx="2035630" cy="66738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3235B6-AC64-4D4F-920D-97DAB5467F2F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E00E68-E5EB-4922-A52F-76B9D3843369}"/>
                </a:ext>
              </a:extLst>
            </p:cNvPr>
            <p:cNvSpPr/>
            <p:nvPr/>
          </p:nvSpPr>
          <p:spPr>
            <a:xfrm>
              <a:off x="660399" y="3931961"/>
              <a:ext cx="2035629" cy="3374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an integer?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9CDCEA-310F-466E-B688-7F2330F2085D}"/>
              </a:ext>
            </a:extLst>
          </p:cNvPr>
          <p:cNvGrpSpPr/>
          <p:nvPr/>
        </p:nvGrpSpPr>
        <p:grpSpPr>
          <a:xfrm>
            <a:off x="10156370" y="1868675"/>
            <a:ext cx="2035630" cy="667389"/>
            <a:chOff x="660399" y="3602071"/>
            <a:chExt cx="2035630" cy="66738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CEE312-CBD0-4753-A2DF-73D9EFC4BD4A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ABD77BF-750C-49C7-B5DE-249769C2416F}"/>
                </a:ext>
              </a:extLst>
            </p:cNvPr>
            <p:cNvSpPr/>
            <p:nvPr/>
          </p:nvSpPr>
          <p:spPr>
            <a:xfrm>
              <a:off x="660399" y="3931961"/>
              <a:ext cx="2035629" cy="3374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Is zero an integer?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24" y="4233353"/>
            <a:ext cx="328517" cy="3045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47" y="4243468"/>
            <a:ext cx="328517" cy="3045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2D37688-882D-4D65-B31C-60592898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556" y="4243086"/>
            <a:ext cx="381469" cy="3646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018" y="4264887"/>
            <a:ext cx="328517" cy="3045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265" y="5053262"/>
            <a:ext cx="328517" cy="3045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796" y="5083294"/>
            <a:ext cx="328517" cy="3045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D37688-882D-4D65-B31C-60592898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203" y="5053262"/>
            <a:ext cx="381469" cy="3646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408" y="5952622"/>
            <a:ext cx="328517" cy="30454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D37688-882D-4D65-B31C-60592898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313" y="5908927"/>
            <a:ext cx="381469" cy="36461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47DB76F-7B7D-4056-9C03-8ABEF47E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667" y="5919848"/>
            <a:ext cx="328517" cy="30454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8183D8A-A5DA-4EBB-9B17-CC0B2F0A9606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05255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  <p:bldP spid="7" grpId="0" animBg="1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Image result for crocodile  jaws carto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520" y="2814698"/>
            <a:ext cx="1105181" cy="152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mage result for crocodile  jaws carto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50083" y="2744127"/>
            <a:ext cx="1139423" cy="152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8009" y="535238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800" b="1" dirty="0">
                <a:latin typeface="+mn-lt"/>
              </a:rPr>
              <a:t>Greater Than, Less Than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0138" y="1489135"/>
            <a:ext cx="87851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>
                <a:latin typeface="Arial Black" panose="020B0A04020102020204" pitchFamily="34" charset="0"/>
              </a:rPr>
              <a:t>			</a:t>
            </a:r>
            <a:r>
              <a:rPr lang="en-AU" sz="9600" dirty="0">
                <a:latin typeface="Arial Black" panose="020B0A04020102020204" pitchFamily="34" charset="0"/>
              </a:rPr>
              <a:t>&gt;				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459" y="4020548"/>
            <a:ext cx="5929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Greater than	 	   Less 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768" y="5157121"/>
            <a:ext cx="9769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Remember the greedy crocodile always eats the bigger number!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243C2-8789-452E-8471-E8B4B2934F5E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7879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337" y="1393073"/>
            <a:ext cx="5389331" cy="74987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405144" y="2844225"/>
            <a:ext cx="3686476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Which is bigger?			</a:t>
            </a:r>
          </a:p>
          <a:p>
            <a:pPr algn="ctr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0735" y="1294780"/>
            <a:ext cx="2101749" cy="17671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EB633B-907C-459F-B05B-D32AA0010F9E}"/>
              </a:ext>
            </a:extLst>
          </p:cNvPr>
          <p:cNvGrpSpPr/>
          <p:nvPr/>
        </p:nvGrpSpPr>
        <p:grpSpPr>
          <a:xfrm>
            <a:off x="10156370" y="0"/>
            <a:ext cx="2035630" cy="1442098"/>
            <a:chOff x="7094763" y="3602071"/>
            <a:chExt cx="2035630" cy="144209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6BEA81-36E6-48CC-A4ED-63E3D0250096}"/>
                </a:ext>
              </a:extLst>
            </p:cNvPr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353848-EDC1-41B3-A525-F6146593CCC3}"/>
                </a:ext>
              </a:extLst>
            </p:cNvPr>
            <p:cNvSpPr/>
            <p:nvPr/>
          </p:nvSpPr>
          <p:spPr>
            <a:xfrm>
              <a:off x="7094763" y="3931960"/>
              <a:ext cx="2035629" cy="111220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The greedy crocodile always eats the bigger number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7D9ADE42-A47E-4915-A5E0-AD1F82C0B848}"/>
              </a:ext>
            </a:extLst>
          </p:cNvPr>
          <p:cNvSpPr txBox="1">
            <a:spLocks/>
          </p:cNvSpPr>
          <p:nvPr/>
        </p:nvSpPr>
        <p:spPr>
          <a:xfrm>
            <a:off x="698942" y="3600695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0 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AB4FE5-1B15-44E5-AA97-FB955EAA7CD7}"/>
              </a:ext>
            </a:extLst>
          </p:cNvPr>
          <p:cNvSpPr txBox="1">
            <a:spLocks/>
          </p:cNvSpPr>
          <p:nvPr/>
        </p:nvSpPr>
        <p:spPr>
          <a:xfrm>
            <a:off x="3740071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 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-7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E866FAD-50BB-4136-8572-C883EFC43071}"/>
              </a:ext>
            </a:extLst>
          </p:cNvPr>
          <p:cNvSpPr txBox="1">
            <a:spLocks/>
          </p:cNvSpPr>
          <p:nvPr/>
        </p:nvSpPr>
        <p:spPr>
          <a:xfrm>
            <a:off x="6781200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-4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7C18F8B-56C3-45E8-A04E-AAE8969EED3B}"/>
              </a:ext>
            </a:extLst>
          </p:cNvPr>
          <p:cNvSpPr txBox="1">
            <a:spLocks/>
          </p:cNvSpPr>
          <p:nvPr/>
        </p:nvSpPr>
        <p:spPr>
          <a:xfrm>
            <a:off x="9822329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-1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-4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2E9BD71-0D0F-4941-B209-A28A5528B4C5}"/>
              </a:ext>
            </a:extLst>
          </p:cNvPr>
          <p:cNvSpPr txBox="1">
            <a:spLocks/>
          </p:cNvSpPr>
          <p:nvPr/>
        </p:nvSpPr>
        <p:spPr>
          <a:xfrm>
            <a:off x="698942" y="5261346"/>
            <a:ext cx="210174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29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92A4EEF-F684-4FA9-9593-6EFAE8884F46}"/>
              </a:ext>
            </a:extLst>
          </p:cNvPr>
          <p:cNvSpPr txBox="1">
            <a:spLocks/>
          </p:cNvSpPr>
          <p:nvPr/>
        </p:nvSpPr>
        <p:spPr>
          <a:xfrm>
            <a:off x="8944668" y="5261348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47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389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B8CBF4C-A15D-465E-B2CE-3FEF115A7C1D}"/>
              </a:ext>
            </a:extLst>
          </p:cNvPr>
          <p:cNvSpPr txBox="1">
            <a:spLocks/>
          </p:cNvSpPr>
          <p:nvPr/>
        </p:nvSpPr>
        <p:spPr>
          <a:xfrm>
            <a:off x="3064622" y="5261347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222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-333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7AF7DDB-27D5-49B2-857C-0F4E5D35AC80}"/>
              </a:ext>
            </a:extLst>
          </p:cNvPr>
          <p:cNvSpPr txBox="1">
            <a:spLocks/>
          </p:cNvSpPr>
          <p:nvPr/>
        </p:nvSpPr>
        <p:spPr>
          <a:xfrm>
            <a:off x="6004645" y="5261348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961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-901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02FFF9-63ED-4373-8324-C68844F2481F}"/>
              </a:ext>
            </a:extLst>
          </p:cNvPr>
          <p:cNvGrpSpPr/>
          <p:nvPr/>
        </p:nvGrpSpPr>
        <p:grpSpPr>
          <a:xfrm>
            <a:off x="10156369" y="1546499"/>
            <a:ext cx="2035630" cy="971026"/>
            <a:chOff x="7094763" y="3602071"/>
            <a:chExt cx="2035630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4D14E0-424E-432A-B1BE-7546DD33CA0A}"/>
                </a:ext>
              </a:extLst>
            </p:cNvPr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Sentence Structure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F257AC-8C82-402F-ACA1-69386A3BA19A}"/>
                </a:ext>
              </a:extLst>
            </p:cNvPr>
            <p:cNvSpPr/>
            <p:nvPr/>
          </p:nvSpPr>
          <p:spPr>
            <a:xfrm>
              <a:off x="7094763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____ is greater than ___.</a:t>
              </a:r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7D9ADE42-A47E-4915-A5E0-AD1F82C0B848}"/>
              </a:ext>
            </a:extLst>
          </p:cNvPr>
          <p:cNvSpPr txBox="1">
            <a:spLocks/>
          </p:cNvSpPr>
          <p:nvPr/>
        </p:nvSpPr>
        <p:spPr>
          <a:xfrm>
            <a:off x="698942" y="4349875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&lt;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3AB4FE5-1B15-44E5-AA97-FB955EAA7CD7}"/>
              </a:ext>
            </a:extLst>
          </p:cNvPr>
          <p:cNvSpPr txBox="1">
            <a:spLocks/>
          </p:cNvSpPr>
          <p:nvPr/>
        </p:nvSpPr>
        <p:spPr>
          <a:xfrm>
            <a:off x="3740071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&gt;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E866FAD-50BB-4136-8572-C883EFC43071}"/>
              </a:ext>
            </a:extLst>
          </p:cNvPr>
          <p:cNvSpPr txBox="1">
            <a:spLocks/>
          </p:cNvSpPr>
          <p:nvPr/>
        </p:nvSpPr>
        <p:spPr>
          <a:xfrm>
            <a:off x="6781200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7C18F8B-56C3-45E8-A04E-AAE8969EED3B}"/>
              </a:ext>
            </a:extLst>
          </p:cNvPr>
          <p:cNvSpPr txBox="1">
            <a:spLocks/>
          </p:cNvSpPr>
          <p:nvPr/>
        </p:nvSpPr>
        <p:spPr>
          <a:xfrm>
            <a:off x="9822329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439D84-08E9-4BEB-BECA-C24BC2325E08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7824" y="4771533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89918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1" grpId="0"/>
      <p:bldP spid="23" grpId="0"/>
      <p:bldP spid="34" grpId="0"/>
      <p:bldP spid="35" grpId="0"/>
      <p:bldP spid="36" grpId="0"/>
      <p:bldP spid="37" grpId="0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840C41-0D46-4AAE-A891-30B27B820A4A}"/>
              </a:ext>
            </a:extLst>
          </p:cNvPr>
          <p:cNvSpPr/>
          <p:nvPr/>
        </p:nvSpPr>
        <p:spPr>
          <a:xfrm>
            <a:off x="8337131" y="1779768"/>
            <a:ext cx="938280" cy="602052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1" y="1767959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432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 smtClean="0">
                <a:cs typeface="Arial" panose="020B0604020202020204" pitchFamily="34" charset="0"/>
              </a:rPr>
              <a:t>50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93218" y="2602146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 smtClean="0">
                <a:cs typeface="Arial" panose="020B0604020202020204" pitchFamily="34" charset="0"/>
              </a:rPr>
              <a:t>30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06449-9F57-41BA-8CC8-E54CF6247A96}"/>
              </a:ext>
            </a:extLst>
          </p:cNvPr>
          <p:cNvSpPr txBox="1"/>
          <p:nvPr/>
        </p:nvSpPr>
        <p:spPr>
          <a:xfrm>
            <a:off x="5819258" y="3862895"/>
            <a:ext cx="3082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HCF of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and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30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3C961-C82A-418B-A28D-B38656A5B9DB}"/>
              </a:ext>
            </a:extLst>
          </p:cNvPr>
          <p:cNvSpPr txBox="1"/>
          <p:nvPr/>
        </p:nvSpPr>
        <p:spPr>
          <a:xfrm>
            <a:off x="8901337" y="3862895"/>
            <a:ext cx="2149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80366-D251-4B0E-AA34-9F8BA8A567AE}"/>
              </a:ext>
            </a:extLst>
          </p:cNvPr>
          <p:cNvSpPr txBox="1"/>
          <p:nvPr/>
        </p:nvSpPr>
        <p:spPr>
          <a:xfrm>
            <a:off x="8901336" y="4357782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10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349EE-48EB-44C2-AED8-465EEB79461A}"/>
              </a:ext>
            </a:extLst>
          </p:cNvPr>
          <p:cNvSpPr txBox="1"/>
          <p:nvPr/>
        </p:nvSpPr>
        <p:spPr>
          <a:xfrm>
            <a:off x="5749046" y="5040696"/>
            <a:ext cx="3152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LCM of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and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30  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1334-C9F3-4939-89C5-8A2A11A9A11F}"/>
              </a:ext>
            </a:extLst>
          </p:cNvPr>
          <p:cNvSpPr txBox="1"/>
          <p:nvPr/>
        </p:nvSpPr>
        <p:spPr>
          <a:xfrm>
            <a:off x="8901337" y="5040696"/>
            <a:ext cx="2295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x 5</a:t>
            </a:r>
            <a:endParaRPr lang="en-AU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0359D-080C-405E-B510-2EEA3368B7A5}"/>
              </a:ext>
            </a:extLst>
          </p:cNvPr>
          <p:cNvSpPr txBox="1"/>
          <p:nvPr/>
        </p:nvSpPr>
        <p:spPr>
          <a:xfrm>
            <a:off x="8901336" y="5535583"/>
            <a:ext cx="177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150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842578" y="43629"/>
            <a:ext cx="2349422" cy="1267122"/>
            <a:chOff x="1378358" y="3602071"/>
            <a:chExt cx="1317672" cy="1267122"/>
          </a:xfrm>
        </p:grpSpPr>
        <p:sp>
          <p:nvSpPr>
            <p:cNvPr id="34" name="TextBox 24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93156" y="71430"/>
            <a:ext cx="2349422" cy="1267122"/>
            <a:chOff x="1378358" y="3602071"/>
            <a:chExt cx="1317672" cy="1267122"/>
          </a:xfrm>
        </p:grpSpPr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140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6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840C41-0D46-4AAE-A891-30B27B820A4A}"/>
              </a:ext>
            </a:extLst>
          </p:cNvPr>
          <p:cNvSpPr/>
          <p:nvPr/>
        </p:nvSpPr>
        <p:spPr>
          <a:xfrm>
            <a:off x="8901336" y="1783511"/>
            <a:ext cx="361614" cy="59430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B8830E-3515-4549-85F5-8E606AA7E395}"/>
              </a:ext>
            </a:extLst>
          </p:cNvPr>
          <p:cNvSpPr txBox="1"/>
          <p:nvPr/>
        </p:nvSpPr>
        <p:spPr>
          <a:xfrm>
            <a:off x="7496671" y="1767959"/>
            <a:ext cx="2945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 x 5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6F5A6-FE25-4763-AFDE-28DDB58E6FDA}"/>
              </a:ext>
            </a:extLst>
          </p:cNvPr>
          <p:cNvSpPr txBox="1"/>
          <p:nvPr/>
        </p:nvSpPr>
        <p:spPr>
          <a:xfrm>
            <a:off x="7496671" y="2683564"/>
            <a:ext cx="432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30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= 2 x 2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x </a:t>
            </a:r>
            <a:r>
              <a:rPr lang="en-AU" sz="32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endParaRPr lang="en-A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433679" y="938534"/>
            <a:ext cx="10108287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To find the HCF and LCM using factor trees: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BBB50-13B6-434D-A3C1-B36F981D7807}"/>
              </a:ext>
            </a:extLst>
          </p:cNvPr>
          <p:cNvSpPr txBox="1"/>
          <p:nvPr/>
        </p:nvSpPr>
        <p:spPr>
          <a:xfrm>
            <a:off x="5310190" y="1677012"/>
            <a:ext cx="157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7</a:t>
            </a:r>
            <a:r>
              <a:rPr lang="en-AU" sz="4400" b="1" dirty="0" smtClean="0">
                <a:cs typeface="Arial" panose="020B0604020202020204" pitchFamily="34" charset="0"/>
              </a:rPr>
              <a:t>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A715-ADDF-4BFE-9C08-52BB4A71A513}"/>
              </a:ext>
            </a:extLst>
          </p:cNvPr>
          <p:cNvSpPr txBox="1"/>
          <p:nvPr/>
        </p:nvSpPr>
        <p:spPr>
          <a:xfrm>
            <a:off x="5593218" y="2602146"/>
            <a:ext cx="1005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cs typeface="Arial" panose="020B0604020202020204" pitchFamily="34" charset="0"/>
              </a:rPr>
              <a:t>2</a:t>
            </a:r>
            <a:r>
              <a:rPr lang="en-AU" sz="4400" b="1" dirty="0" smtClean="0">
                <a:cs typeface="Arial" panose="020B0604020202020204" pitchFamily="34" charset="0"/>
              </a:rPr>
              <a:t>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13917-2122-4596-A5C3-00BF78FA74DB}"/>
              </a:ext>
            </a:extLst>
          </p:cNvPr>
          <p:cNvSpPr txBox="1"/>
          <p:nvPr/>
        </p:nvSpPr>
        <p:spPr>
          <a:xfrm>
            <a:off x="118797" y="1677012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Draw a factor tree of both numbers.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9EA567-540C-4579-B7A6-00287C9FB7B5}"/>
              </a:ext>
            </a:extLst>
          </p:cNvPr>
          <p:cNvSpPr txBox="1"/>
          <p:nvPr/>
        </p:nvSpPr>
        <p:spPr>
          <a:xfrm>
            <a:off x="118796" y="2572767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the numbers in expanded form.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F5A5F-31A0-4E64-A916-203141E4D4A1}"/>
              </a:ext>
            </a:extLst>
          </p:cNvPr>
          <p:cNvSpPr txBox="1"/>
          <p:nvPr/>
        </p:nvSpPr>
        <p:spPr>
          <a:xfrm>
            <a:off x="118795" y="3533626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common numbers in the first list.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7D11-AF2A-4E32-8ED2-DF359AF5C3E2}"/>
              </a:ext>
            </a:extLst>
          </p:cNvPr>
          <p:cNvSpPr txBox="1"/>
          <p:nvPr/>
        </p:nvSpPr>
        <p:spPr>
          <a:xfrm>
            <a:off x="115010" y="4498324"/>
            <a:ext cx="5347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Multiply the highlighted numbers to find the HCF.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693C6-C1CB-4C1F-91FA-957463D43187}"/>
              </a:ext>
            </a:extLst>
          </p:cNvPr>
          <p:cNvSpPr txBox="1"/>
          <p:nvPr/>
        </p:nvSpPr>
        <p:spPr>
          <a:xfrm>
            <a:off x="115009" y="5400831"/>
            <a:ext cx="5347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AU" sz="2800" b="1" dirty="0">
                <a:cs typeface="Arial" panose="020B0604020202020204" pitchFamily="34" charset="0"/>
              </a:rPr>
              <a:t>Multiply the second number with the leftover numbers from the first to find the LCM.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9770429" y="43629"/>
            <a:ext cx="2349422" cy="1267122"/>
            <a:chOff x="1378358" y="3602071"/>
            <a:chExt cx="1317672" cy="1267122"/>
          </a:xfrm>
        </p:grpSpPr>
        <p:sp>
          <p:nvSpPr>
            <p:cNvPr id="33" name="TextBox 24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HCF using this method? (Step 3)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7B4AD2-A4E2-4700-B552-613CCE2C0966}"/>
              </a:ext>
            </a:extLst>
          </p:cNvPr>
          <p:cNvGrpSpPr/>
          <p:nvPr/>
        </p:nvGrpSpPr>
        <p:grpSpPr>
          <a:xfrm>
            <a:off x="7421007" y="71430"/>
            <a:ext cx="2349422" cy="1267122"/>
            <a:chOff x="1378358" y="3602071"/>
            <a:chExt cx="1317672" cy="1267122"/>
          </a:xfrm>
        </p:grpSpPr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89BAC90B-1C49-443B-8C8B-55AB70767C0E}"/>
                </a:ext>
              </a:extLst>
            </p:cNvPr>
            <p:cNvSpPr txBox="1"/>
            <p:nvPr/>
          </p:nvSpPr>
          <p:spPr>
            <a:xfrm>
              <a:off x="1378358" y="3602071"/>
              <a:ext cx="1317672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EEC62C2-B842-4458-8589-0BDD867DAD5B}"/>
                </a:ext>
              </a:extLst>
            </p:cNvPr>
            <p:cNvSpPr/>
            <p:nvPr/>
          </p:nvSpPr>
          <p:spPr>
            <a:xfrm>
              <a:off x="1378358" y="3931961"/>
              <a:ext cx="1317670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LCM using this method? (Step 4)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203704" y="326388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59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6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46993" y="1324659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add and subtract positive integers.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414104" y="4440062"/>
            <a:ext cx="9140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Decide whether an answer will be positive or negative.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Add positive integers.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Subtract positive integers.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62E80-D033-4498-861C-98BA3DE7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29" y="2708146"/>
            <a:ext cx="3675267" cy="20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5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36"/>
          <p:cNvSpPr txBox="1"/>
          <p:nvPr/>
        </p:nvSpPr>
        <p:spPr>
          <a:xfrm>
            <a:off x="0" y="-6605"/>
            <a:ext cx="450349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3563D34-A15A-4395-88CC-EA6B4F674CC5}"/>
              </a:ext>
            </a:extLst>
          </p:cNvPr>
          <p:cNvSpPr txBox="1">
            <a:spLocks/>
          </p:cNvSpPr>
          <p:nvPr/>
        </p:nvSpPr>
        <p:spPr>
          <a:xfrm>
            <a:off x="523406" y="972952"/>
            <a:ext cx="11145187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+mn-lt"/>
                <a:cs typeface="Arial" panose="020B0604020202020204" pitchFamily="34" charset="0"/>
              </a:rPr>
              <a:t>When we </a:t>
            </a:r>
            <a:r>
              <a:rPr lang="en-AU" sz="32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ADD</a:t>
            </a:r>
            <a:r>
              <a:rPr lang="en-AU" sz="3200" b="1" dirty="0">
                <a:latin typeface="+mn-lt"/>
                <a:cs typeface="Arial" panose="020B0604020202020204" pitchFamily="34" charset="0"/>
              </a:rPr>
              <a:t> a number, does the answer get bigger or smaller?</a:t>
            </a:r>
            <a:endParaRPr lang="en-AU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C05EF6-4C7B-4333-9841-CB61194CF6C6}"/>
              </a:ext>
            </a:extLst>
          </p:cNvPr>
          <p:cNvSpPr txBox="1">
            <a:spLocks/>
          </p:cNvSpPr>
          <p:nvPr/>
        </p:nvSpPr>
        <p:spPr>
          <a:xfrm>
            <a:off x="829603" y="1712582"/>
            <a:ext cx="10532791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b="1" dirty="0">
                <a:latin typeface="+mn-lt"/>
                <a:cs typeface="Arial" panose="020B0604020202020204" pitchFamily="34" charset="0"/>
              </a:rPr>
              <a:t>BIGGER</a:t>
            </a:r>
            <a:endParaRPr lang="en-AU" sz="6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11B39-6640-4C81-82D3-E3A6BF1B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3625709"/>
            <a:ext cx="12191997" cy="6366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E697074-C102-4D96-A2AA-3DEB411AC3F3}"/>
              </a:ext>
            </a:extLst>
          </p:cNvPr>
          <p:cNvSpPr txBox="1">
            <a:spLocks/>
          </p:cNvSpPr>
          <p:nvPr/>
        </p:nvSpPr>
        <p:spPr>
          <a:xfrm>
            <a:off x="633861" y="2828317"/>
            <a:ext cx="11145187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+mn-lt"/>
                <a:cs typeface="Arial" panose="020B0604020202020204" pitchFamily="34" charset="0"/>
              </a:rPr>
              <a:t>Which direction do we move to get BIGGER on the number line?</a:t>
            </a:r>
            <a:endParaRPr lang="en-AU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C6B3301-A205-46DC-827E-140D3537876B}"/>
              </a:ext>
            </a:extLst>
          </p:cNvPr>
          <p:cNvSpPr/>
          <p:nvPr/>
        </p:nvSpPr>
        <p:spPr>
          <a:xfrm>
            <a:off x="3874315" y="4444437"/>
            <a:ext cx="4664278" cy="2073274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Addition = move to the RIGHT</a:t>
            </a:r>
          </a:p>
        </p:txBody>
      </p:sp>
    </p:spTree>
    <p:extLst>
      <p:ext uri="{BB962C8B-B14F-4D97-AF65-F5344CB8AC3E}">
        <p14:creationId xmlns:p14="http://schemas.microsoft.com/office/powerpoint/2010/main" val="28095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36"/>
          <p:cNvSpPr txBox="1"/>
          <p:nvPr/>
        </p:nvSpPr>
        <p:spPr>
          <a:xfrm>
            <a:off x="0" y="-6605"/>
            <a:ext cx="450349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3563D34-A15A-4395-88CC-EA6B4F674CC5}"/>
              </a:ext>
            </a:extLst>
          </p:cNvPr>
          <p:cNvSpPr txBox="1">
            <a:spLocks/>
          </p:cNvSpPr>
          <p:nvPr/>
        </p:nvSpPr>
        <p:spPr>
          <a:xfrm>
            <a:off x="0" y="972952"/>
            <a:ext cx="12191997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+mn-lt"/>
                <a:cs typeface="Arial" panose="020B0604020202020204" pitchFamily="34" charset="0"/>
              </a:rPr>
              <a:t>When we </a:t>
            </a:r>
            <a:r>
              <a:rPr lang="en-AU" sz="32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SUBTRACT</a:t>
            </a:r>
            <a:r>
              <a:rPr lang="en-AU" sz="3200" b="1" dirty="0">
                <a:latin typeface="+mn-lt"/>
                <a:cs typeface="Arial" panose="020B0604020202020204" pitchFamily="34" charset="0"/>
              </a:rPr>
              <a:t> a number, does the answer get bigger or smaller?</a:t>
            </a:r>
            <a:endParaRPr lang="en-AU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C05EF6-4C7B-4333-9841-CB61194CF6C6}"/>
              </a:ext>
            </a:extLst>
          </p:cNvPr>
          <p:cNvSpPr txBox="1">
            <a:spLocks/>
          </p:cNvSpPr>
          <p:nvPr/>
        </p:nvSpPr>
        <p:spPr>
          <a:xfrm>
            <a:off x="829601" y="1871511"/>
            <a:ext cx="10532791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000" b="1" dirty="0">
                <a:latin typeface="+mn-lt"/>
                <a:cs typeface="Arial" panose="020B0604020202020204" pitchFamily="34" charset="0"/>
              </a:rPr>
              <a:t>SMALLER</a:t>
            </a:r>
            <a:endParaRPr lang="en-AU" sz="2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11B39-6640-4C81-82D3-E3A6BF1B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3625709"/>
            <a:ext cx="12191997" cy="6366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E697074-C102-4D96-A2AA-3DEB411AC3F3}"/>
              </a:ext>
            </a:extLst>
          </p:cNvPr>
          <p:cNvSpPr txBox="1">
            <a:spLocks/>
          </p:cNvSpPr>
          <p:nvPr/>
        </p:nvSpPr>
        <p:spPr>
          <a:xfrm>
            <a:off x="1" y="2828317"/>
            <a:ext cx="12191996" cy="5118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+mn-lt"/>
                <a:cs typeface="Arial" panose="020B0604020202020204" pitchFamily="34" charset="0"/>
              </a:rPr>
              <a:t>Which direction do we move to get SMALLER on the number line?</a:t>
            </a:r>
            <a:endParaRPr lang="en-AU" sz="3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FAF7CF4F-12D7-430A-8266-8E89925B1179}"/>
              </a:ext>
            </a:extLst>
          </p:cNvPr>
          <p:cNvSpPr/>
          <p:nvPr/>
        </p:nvSpPr>
        <p:spPr>
          <a:xfrm>
            <a:off x="3768052" y="4547887"/>
            <a:ext cx="4655890" cy="2080470"/>
          </a:xfrm>
          <a:prstGeom prst="lef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Subtraction = Move to the LEFT</a:t>
            </a:r>
          </a:p>
        </p:txBody>
      </p:sp>
    </p:spTree>
    <p:extLst>
      <p:ext uri="{BB962C8B-B14F-4D97-AF65-F5344CB8AC3E}">
        <p14:creationId xmlns:p14="http://schemas.microsoft.com/office/powerpoint/2010/main" val="278398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1468" y="2951092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4 + 8</a:t>
            </a:r>
          </a:p>
        </p:txBody>
      </p:sp>
      <p:sp>
        <p:nvSpPr>
          <p:cNvPr id="7" name="Left Arrow 6"/>
          <p:cNvSpPr/>
          <p:nvPr/>
        </p:nvSpPr>
        <p:spPr>
          <a:xfrm rot="16200000">
            <a:off x="6872371" y="1484294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D77E01-66C1-4102-B482-EA78DC72B3B5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>
                <a:cs typeface="Arial" panose="020B0604020202020204" pitchFamily="34" charset="0"/>
              </a:rPr>
              <a:t>Adding </a:t>
            </a:r>
            <a:r>
              <a:rPr lang="en-AU" sz="3200" b="1" dirty="0">
                <a:cs typeface="Arial" panose="020B0604020202020204" pitchFamily="34" charset="0"/>
              </a:rPr>
              <a:t>positive integers.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9EE56CD-9191-40E2-87B9-B94CA27565A0}"/>
              </a:ext>
            </a:extLst>
          </p:cNvPr>
          <p:cNvSpPr txBox="1"/>
          <p:nvPr/>
        </p:nvSpPr>
        <p:spPr>
          <a:xfrm>
            <a:off x="312684" y="4627600"/>
            <a:ext cx="6217665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Start on the first number.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Which direction are we moving in?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How many places are we moving?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What is the final answer?</a:t>
            </a: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9E47ABA0-395A-452F-A9BF-D031A40EECB3}"/>
              </a:ext>
            </a:extLst>
          </p:cNvPr>
          <p:cNvSpPr/>
          <p:nvPr/>
        </p:nvSpPr>
        <p:spPr>
          <a:xfrm>
            <a:off x="9200162" y="20915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FD72E469-8455-4873-8AAE-CB8846C7571F}"/>
              </a:ext>
            </a:extLst>
          </p:cNvPr>
          <p:cNvSpPr/>
          <p:nvPr/>
        </p:nvSpPr>
        <p:spPr>
          <a:xfrm>
            <a:off x="8914624" y="20976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urved Down 44">
            <a:extLst>
              <a:ext uri="{FF2B5EF4-FFF2-40B4-BE49-F238E27FC236}">
                <a16:creationId xmlns:a16="http://schemas.microsoft.com/office/drawing/2014/main" id="{26BF092A-F1BF-45BD-9156-CD7B31FF3455}"/>
              </a:ext>
            </a:extLst>
          </p:cNvPr>
          <p:cNvSpPr/>
          <p:nvPr/>
        </p:nvSpPr>
        <p:spPr>
          <a:xfrm>
            <a:off x="8624261" y="2103753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Arrow: Curved Down 45">
            <a:extLst>
              <a:ext uri="{FF2B5EF4-FFF2-40B4-BE49-F238E27FC236}">
                <a16:creationId xmlns:a16="http://schemas.microsoft.com/office/drawing/2014/main" id="{C451EF25-D592-438F-9ECD-FD4FCF0727FF}"/>
              </a:ext>
            </a:extLst>
          </p:cNvPr>
          <p:cNvSpPr/>
          <p:nvPr/>
        </p:nvSpPr>
        <p:spPr>
          <a:xfrm>
            <a:off x="8360393" y="2103753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21E41A49-F3C6-4AD8-A643-AE5BAE7FF255}"/>
              </a:ext>
            </a:extLst>
          </p:cNvPr>
          <p:cNvSpPr/>
          <p:nvPr/>
        </p:nvSpPr>
        <p:spPr>
          <a:xfrm>
            <a:off x="8082009" y="2092698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Arrow: Curved Down 47">
            <a:extLst>
              <a:ext uri="{FF2B5EF4-FFF2-40B4-BE49-F238E27FC236}">
                <a16:creationId xmlns:a16="http://schemas.microsoft.com/office/drawing/2014/main" id="{FDA863E0-FE6E-4986-843A-1437001102ED}"/>
              </a:ext>
            </a:extLst>
          </p:cNvPr>
          <p:cNvSpPr/>
          <p:nvPr/>
        </p:nvSpPr>
        <p:spPr>
          <a:xfrm>
            <a:off x="7793328" y="20915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urved Down 48">
            <a:extLst>
              <a:ext uri="{FF2B5EF4-FFF2-40B4-BE49-F238E27FC236}">
                <a16:creationId xmlns:a16="http://schemas.microsoft.com/office/drawing/2014/main" id="{2C5D25F2-FBCB-4885-A26A-DEE11416B1A4}"/>
              </a:ext>
            </a:extLst>
          </p:cNvPr>
          <p:cNvSpPr/>
          <p:nvPr/>
        </p:nvSpPr>
        <p:spPr>
          <a:xfrm>
            <a:off x="7503768" y="2090480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row: Curved Down 49">
            <a:extLst>
              <a:ext uri="{FF2B5EF4-FFF2-40B4-BE49-F238E27FC236}">
                <a16:creationId xmlns:a16="http://schemas.microsoft.com/office/drawing/2014/main" id="{99E1C4E0-073B-42E3-BA18-9F738CA3B060}"/>
              </a:ext>
            </a:extLst>
          </p:cNvPr>
          <p:cNvSpPr/>
          <p:nvPr/>
        </p:nvSpPr>
        <p:spPr>
          <a:xfrm>
            <a:off x="7223101" y="20893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13F25D-218A-4A69-BB73-15A0CDF1BF80}"/>
              </a:ext>
            </a:extLst>
          </p:cNvPr>
          <p:cNvSpPr txBox="1"/>
          <p:nvPr/>
        </p:nvSpPr>
        <p:spPr>
          <a:xfrm>
            <a:off x="596272" y="3498991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+12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3928052" y="29500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-3 + 5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53E903-EAA8-4914-97A5-7B4F5262DBE1}"/>
              </a:ext>
            </a:extLst>
          </p:cNvPr>
          <p:cNvSpPr txBox="1"/>
          <p:nvPr/>
        </p:nvSpPr>
        <p:spPr>
          <a:xfrm>
            <a:off x="593456" y="4079701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12</a:t>
            </a:r>
          </a:p>
        </p:txBody>
      </p:sp>
      <p:sp>
        <p:nvSpPr>
          <p:cNvPr id="24" name="Left Arrow 6">
            <a:extLst>
              <a:ext uri="{FF2B5EF4-FFF2-40B4-BE49-F238E27FC236}">
                <a16:creationId xmlns:a16="http://schemas.microsoft.com/office/drawing/2014/main" id="{93319B1E-6761-4669-BA46-C619EB6C06BC}"/>
              </a:ext>
            </a:extLst>
          </p:cNvPr>
          <p:cNvSpPr/>
          <p:nvPr/>
        </p:nvSpPr>
        <p:spPr>
          <a:xfrm rot="16200000">
            <a:off x="4887869" y="1519535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37C431BA-AFA4-4495-9272-33175C59456E}"/>
              </a:ext>
            </a:extLst>
          </p:cNvPr>
          <p:cNvSpPr/>
          <p:nvPr/>
        </p:nvSpPr>
        <p:spPr>
          <a:xfrm>
            <a:off x="6375891" y="2138994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2B1B19A1-3B63-4C0E-94E1-0B483BD0A769}"/>
              </a:ext>
            </a:extLst>
          </p:cNvPr>
          <p:cNvSpPr/>
          <p:nvPr/>
        </p:nvSpPr>
        <p:spPr>
          <a:xfrm>
            <a:off x="6097507" y="212793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80BA3A69-E96A-4508-88AD-5184DE0011D8}"/>
              </a:ext>
            </a:extLst>
          </p:cNvPr>
          <p:cNvSpPr/>
          <p:nvPr/>
        </p:nvSpPr>
        <p:spPr>
          <a:xfrm>
            <a:off x="5808826" y="2126830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69894986-45A4-434A-8202-665B824C9831}"/>
              </a:ext>
            </a:extLst>
          </p:cNvPr>
          <p:cNvSpPr/>
          <p:nvPr/>
        </p:nvSpPr>
        <p:spPr>
          <a:xfrm>
            <a:off x="5519266" y="212572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E4F9E467-7B2D-4F05-9A17-8107CD988DDE}"/>
              </a:ext>
            </a:extLst>
          </p:cNvPr>
          <p:cNvSpPr/>
          <p:nvPr/>
        </p:nvSpPr>
        <p:spPr>
          <a:xfrm>
            <a:off x="5238599" y="2124612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3559388" y="34979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3556572" y="407865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366D8F-5A06-4FF8-AF32-0F430AA297D8}"/>
              </a:ext>
            </a:extLst>
          </p:cNvPr>
          <p:cNvSpPr txBox="1"/>
          <p:nvPr/>
        </p:nvSpPr>
        <p:spPr>
          <a:xfrm>
            <a:off x="6893984" y="29500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-12 + 7</a:t>
            </a:r>
          </a:p>
        </p:txBody>
      </p:sp>
      <p:sp>
        <p:nvSpPr>
          <p:cNvPr id="33" name="Left Arrow 6">
            <a:extLst>
              <a:ext uri="{FF2B5EF4-FFF2-40B4-BE49-F238E27FC236}">
                <a16:creationId xmlns:a16="http://schemas.microsoft.com/office/drawing/2014/main" id="{C2F49CB7-D543-4DE2-9322-3BCEBED5A60B}"/>
              </a:ext>
            </a:extLst>
          </p:cNvPr>
          <p:cNvSpPr/>
          <p:nvPr/>
        </p:nvSpPr>
        <p:spPr>
          <a:xfrm rot="16200000">
            <a:off x="2354917" y="1522240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AB755783-B499-4890-A9FA-01601BA4F392}"/>
              </a:ext>
            </a:extLst>
          </p:cNvPr>
          <p:cNvSpPr/>
          <p:nvPr/>
        </p:nvSpPr>
        <p:spPr>
          <a:xfrm>
            <a:off x="4397170" y="213561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urved Down 52">
            <a:extLst>
              <a:ext uri="{FF2B5EF4-FFF2-40B4-BE49-F238E27FC236}">
                <a16:creationId xmlns:a16="http://schemas.microsoft.com/office/drawing/2014/main" id="{F2CC1DC0-C638-47EA-9F55-D81ECDF4A574}"/>
              </a:ext>
            </a:extLst>
          </p:cNvPr>
          <p:cNvSpPr/>
          <p:nvPr/>
        </p:nvSpPr>
        <p:spPr>
          <a:xfrm>
            <a:off x="4106807" y="214169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Arrow: Curved Down 53">
            <a:extLst>
              <a:ext uri="{FF2B5EF4-FFF2-40B4-BE49-F238E27FC236}">
                <a16:creationId xmlns:a16="http://schemas.microsoft.com/office/drawing/2014/main" id="{DBF55BEF-F05E-4FAC-A432-6C5C57447620}"/>
              </a:ext>
            </a:extLst>
          </p:cNvPr>
          <p:cNvSpPr/>
          <p:nvPr/>
        </p:nvSpPr>
        <p:spPr>
          <a:xfrm>
            <a:off x="3842939" y="214169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Arrow: Curved Down 54">
            <a:extLst>
              <a:ext uri="{FF2B5EF4-FFF2-40B4-BE49-F238E27FC236}">
                <a16:creationId xmlns:a16="http://schemas.microsoft.com/office/drawing/2014/main" id="{E3256354-8BE7-4FCD-A051-8A230261E41E}"/>
              </a:ext>
            </a:extLst>
          </p:cNvPr>
          <p:cNvSpPr/>
          <p:nvPr/>
        </p:nvSpPr>
        <p:spPr>
          <a:xfrm>
            <a:off x="3564555" y="2130644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Arrow: Curved Down 55">
            <a:extLst>
              <a:ext uri="{FF2B5EF4-FFF2-40B4-BE49-F238E27FC236}">
                <a16:creationId xmlns:a16="http://schemas.microsoft.com/office/drawing/2014/main" id="{C95906A7-660A-43D6-94D0-9D5BEDBA9EE4}"/>
              </a:ext>
            </a:extLst>
          </p:cNvPr>
          <p:cNvSpPr/>
          <p:nvPr/>
        </p:nvSpPr>
        <p:spPr>
          <a:xfrm>
            <a:off x="3275874" y="2129535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Arrow: Curved Down 56">
            <a:extLst>
              <a:ext uri="{FF2B5EF4-FFF2-40B4-BE49-F238E27FC236}">
                <a16:creationId xmlns:a16="http://schemas.microsoft.com/office/drawing/2014/main" id="{FB5E7FAB-C13C-4161-AA00-93A5DCD34AB3}"/>
              </a:ext>
            </a:extLst>
          </p:cNvPr>
          <p:cNvSpPr/>
          <p:nvPr/>
        </p:nvSpPr>
        <p:spPr>
          <a:xfrm>
            <a:off x="2986314" y="2128426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Curved Down 57">
            <a:extLst>
              <a:ext uri="{FF2B5EF4-FFF2-40B4-BE49-F238E27FC236}">
                <a16:creationId xmlns:a16="http://schemas.microsoft.com/office/drawing/2014/main" id="{485155E1-99DE-4190-B022-8B4B8DF9A6B8}"/>
              </a:ext>
            </a:extLst>
          </p:cNvPr>
          <p:cNvSpPr/>
          <p:nvPr/>
        </p:nvSpPr>
        <p:spPr>
          <a:xfrm>
            <a:off x="2705647" y="212731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0F35B4-C795-45D5-B0E0-2761E25854C5}"/>
              </a:ext>
            </a:extLst>
          </p:cNvPr>
          <p:cNvSpPr txBox="1"/>
          <p:nvPr/>
        </p:nvSpPr>
        <p:spPr>
          <a:xfrm>
            <a:off x="9859916" y="2950045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-17 + 25</a:t>
            </a:r>
          </a:p>
        </p:txBody>
      </p:sp>
      <p:sp>
        <p:nvSpPr>
          <p:cNvPr id="70" name="Left Arrow 6">
            <a:extLst>
              <a:ext uri="{FF2B5EF4-FFF2-40B4-BE49-F238E27FC236}">
                <a16:creationId xmlns:a16="http://schemas.microsoft.com/office/drawing/2014/main" id="{C12378AE-A803-464A-A892-0DC1B9EDA63A}"/>
              </a:ext>
            </a:extLst>
          </p:cNvPr>
          <p:cNvSpPr/>
          <p:nvPr/>
        </p:nvSpPr>
        <p:spPr>
          <a:xfrm rot="16200000">
            <a:off x="946744" y="1484294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Arrow: Curved Down 70">
            <a:extLst>
              <a:ext uri="{FF2B5EF4-FFF2-40B4-BE49-F238E27FC236}">
                <a16:creationId xmlns:a16="http://schemas.microsoft.com/office/drawing/2014/main" id="{4884C12A-23C4-461B-987A-817F88106A60}"/>
              </a:ext>
            </a:extLst>
          </p:cNvPr>
          <p:cNvSpPr/>
          <p:nvPr/>
        </p:nvSpPr>
        <p:spPr>
          <a:xfrm>
            <a:off x="3274535" y="20915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Arrow: Curved Down 71">
            <a:extLst>
              <a:ext uri="{FF2B5EF4-FFF2-40B4-BE49-F238E27FC236}">
                <a16:creationId xmlns:a16="http://schemas.microsoft.com/office/drawing/2014/main" id="{ADC3FC2F-E927-4CC8-9A5D-B3EA23B00A91}"/>
              </a:ext>
            </a:extLst>
          </p:cNvPr>
          <p:cNvSpPr/>
          <p:nvPr/>
        </p:nvSpPr>
        <p:spPr>
          <a:xfrm>
            <a:off x="2988997" y="20976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Arrow: Curved Down 72">
            <a:extLst>
              <a:ext uri="{FF2B5EF4-FFF2-40B4-BE49-F238E27FC236}">
                <a16:creationId xmlns:a16="http://schemas.microsoft.com/office/drawing/2014/main" id="{0765A2CD-74A8-49B7-8F56-74339CBDD52D}"/>
              </a:ext>
            </a:extLst>
          </p:cNvPr>
          <p:cNvSpPr/>
          <p:nvPr/>
        </p:nvSpPr>
        <p:spPr>
          <a:xfrm>
            <a:off x="2698634" y="2103753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Arrow: Curved Down 73">
            <a:extLst>
              <a:ext uri="{FF2B5EF4-FFF2-40B4-BE49-F238E27FC236}">
                <a16:creationId xmlns:a16="http://schemas.microsoft.com/office/drawing/2014/main" id="{71B5DA85-601C-4041-9472-D94F5EAEF377}"/>
              </a:ext>
            </a:extLst>
          </p:cNvPr>
          <p:cNvSpPr/>
          <p:nvPr/>
        </p:nvSpPr>
        <p:spPr>
          <a:xfrm>
            <a:off x="2434766" y="2103753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Arrow: Curved Down 74">
            <a:extLst>
              <a:ext uri="{FF2B5EF4-FFF2-40B4-BE49-F238E27FC236}">
                <a16:creationId xmlns:a16="http://schemas.microsoft.com/office/drawing/2014/main" id="{48BB2D26-3619-4823-A2BD-3AD58A45CC2D}"/>
              </a:ext>
            </a:extLst>
          </p:cNvPr>
          <p:cNvSpPr/>
          <p:nvPr/>
        </p:nvSpPr>
        <p:spPr>
          <a:xfrm>
            <a:off x="2156382" y="2092698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Arrow: Curved Down 75">
            <a:extLst>
              <a:ext uri="{FF2B5EF4-FFF2-40B4-BE49-F238E27FC236}">
                <a16:creationId xmlns:a16="http://schemas.microsoft.com/office/drawing/2014/main" id="{6C93BF17-2456-4415-B80F-654D6BC764DE}"/>
              </a:ext>
            </a:extLst>
          </p:cNvPr>
          <p:cNvSpPr/>
          <p:nvPr/>
        </p:nvSpPr>
        <p:spPr>
          <a:xfrm>
            <a:off x="1867701" y="20915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Arrow: Curved Down 76">
            <a:extLst>
              <a:ext uri="{FF2B5EF4-FFF2-40B4-BE49-F238E27FC236}">
                <a16:creationId xmlns:a16="http://schemas.microsoft.com/office/drawing/2014/main" id="{DF22B76D-2FDA-4A58-8F96-189279A78856}"/>
              </a:ext>
            </a:extLst>
          </p:cNvPr>
          <p:cNvSpPr/>
          <p:nvPr/>
        </p:nvSpPr>
        <p:spPr>
          <a:xfrm>
            <a:off x="1578141" y="2090480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Arrow: Curved Down 77">
            <a:extLst>
              <a:ext uri="{FF2B5EF4-FFF2-40B4-BE49-F238E27FC236}">
                <a16:creationId xmlns:a16="http://schemas.microsoft.com/office/drawing/2014/main" id="{3B22351A-202C-4905-B0A7-262F5DAC07B9}"/>
              </a:ext>
            </a:extLst>
          </p:cNvPr>
          <p:cNvSpPr/>
          <p:nvPr/>
        </p:nvSpPr>
        <p:spPr>
          <a:xfrm>
            <a:off x="1297474" y="20893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Arrow: Curved Down 78">
            <a:extLst>
              <a:ext uri="{FF2B5EF4-FFF2-40B4-BE49-F238E27FC236}">
                <a16:creationId xmlns:a16="http://schemas.microsoft.com/office/drawing/2014/main" id="{7E8F1D20-2856-4A6C-8097-B9608134E346}"/>
              </a:ext>
            </a:extLst>
          </p:cNvPr>
          <p:cNvSpPr/>
          <p:nvPr/>
        </p:nvSpPr>
        <p:spPr>
          <a:xfrm>
            <a:off x="5521852" y="2089165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Arrow: Curved Down 79">
            <a:extLst>
              <a:ext uri="{FF2B5EF4-FFF2-40B4-BE49-F238E27FC236}">
                <a16:creationId xmlns:a16="http://schemas.microsoft.com/office/drawing/2014/main" id="{53F8F654-2F6E-4248-AE60-609F1ACAABD9}"/>
              </a:ext>
            </a:extLst>
          </p:cNvPr>
          <p:cNvSpPr/>
          <p:nvPr/>
        </p:nvSpPr>
        <p:spPr>
          <a:xfrm>
            <a:off x="5236314" y="209524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Arrow: Curved Down 80">
            <a:extLst>
              <a:ext uri="{FF2B5EF4-FFF2-40B4-BE49-F238E27FC236}">
                <a16:creationId xmlns:a16="http://schemas.microsoft.com/office/drawing/2014/main" id="{17E841C3-B33E-41A1-BF7B-6ADF8DC6C8E2}"/>
              </a:ext>
            </a:extLst>
          </p:cNvPr>
          <p:cNvSpPr/>
          <p:nvPr/>
        </p:nvSpPr>
        <p:spPr>
          <a:xfrm>
            <a:off x="4945951" y="210132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Arrow: Curved Down 81">
            <a:extLst>
              <a:ext uri="{FF2B5EF4-FFF2-40B4-BE49-F238E27FC236}">
                <a16:creationId xmlns:a16="http://schemas.microsoft.com/office/drawing/2014/main" id="{EF9F7836-2931-4AD7-921A-9CA92F1C0DCC}"/>
              </a:ext>
            </a:extLst>
          </p:cNvPr>
          <p:cNvSpPr/>
          <p:nvPr/>
        </p:nvSpPr>
        <p:spPr>
          <a:xfrm>
            <a:off x="4682083" y="210132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Arrow: Curved Down 82">
            <a:extLst>
              <a:ext uri="{FF2B5EF4-FFF2-40B4-BE49-F238E27FC236}">
                <a16:creationId xmlns:a16="http://schemas.microsoft.com/office/drawing/2014/main" id="{08021617-14D8-4AB8-944D-0D3EA43F593D}"/>
              </a:ext>
            </a:extLst>
          </p:cNvPr>
          <p:cNvSpPr/>
          <p:nvPr/>
        </p:nvSpPr>
        <p:spPr>
          <a:xfrm>
            <a:off x="4403699" y="2090274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Arrow: Curved Down 83">
            <a:extLst>
              <a:ext uri="{FF2B5EF4-FFF2-40B4-BE49-F238E27FC236}">
                <a16:creationId xmlns:a16="http://schemas.microsoft.com/office/drawing/2014/main" id="{CE00B881-5289-4411-9782-48A62EC0739D}"/>
              </a:ext>
            </a:extLst>
          </p:cNvPr>
          <p:cNvSpPr/>
          <p:nvPr/>
        </p:nvSpPr>
        <p:spPr>
          <a:xfrm>
            <a:off x="4115018" y="2089165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Arrow: Curved Down 84">
            <a:extLst>
              <a:ext uri="{FF2B5EF4-FFF2-40B4-BE49-F238E27FC236}">
                <a16:creationId xmlns:a16="http://schemas.microsoft.com/office/drawing/2014/main" id="{DA4948B1-7B4B-4E15-B2DB-E7A8CF222AF8}"/>
              </a:ext>
            </a:extLst>
          </p:cNvPr>
          <p:cNvSpPr/>
          <p:nvPr/>
        </p:nvSpPr>
        <p:spPr>
          <a:xfrm>
            <a:off x="3825458" y="2088056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Arrow: Curved Down 85">
            <a:extLst>
              <a:ext uri="{FF2B5EF4-FFF2-40B4-BE49-F238E27FC236}">
                <a16:creationId xmlns:a16="http://schemas.microsoft.com/office/drawing/2014/main" id="{DFCC6AD2-3EE9-4BF4-B2D7-5F43707DCCA5}"/>
              </a:ext>
            </a:extLst>
          </p:cNvPr>
          <p:cNvSpPr/>
          <p:nvPr/>
        </p:nvSpPr>
        <p:spPr>
          <a:xfrm>
            <a:off x="3544791" y="208694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Arrow: Curved Down 86">
            <a:extLst>
              <a:ext uri="{FF2B5EF4-FFF2-40B4-BE49-F238E27FC236}">
                <a16:creationId xmlns:a16="http://schemas.microsoft.com/office/drawing/2014/main" id="{6AAB2645-D080-4CDE-BBA4-1D6FA2068231}"/>
              </a:ext>
            </a:extLst>
          </p:cNvPr>
          <p:cNvSpPr/>
          <p:nvPr/>
        </p:nvSpPr>
        <p:spPr>
          <a:xfrm>
            <a:off x="7781547" y="207970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Arrow: Curved Down 87">
            <a:extLst>
              <a:ext uri="{FF2B5EF4-FFF2-40B4-BE49-F238E27FC236}">
                <a16:creationId xmlns:a16="http://schemas.microsoft.com/office/drawing/2014/main" id="{5FD7CCAD-CB56-4BC1-8717-D7A92348A179}"/>
              </a:ext>
            </a:extLst>
          </p:cNvPr>
          <p:cNvSpPr/>
          <p:nvPr/>
        </p:nvSpPr>
        <p:spPr>
          <a:xfrm>
            <a:off x="7496009" y="20857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Arrow: Curved Down 88">
            <a:extLst>
              <a:ext uri="{FF2B5EF4-FFF2-40B4-BE49-F238E27FC236}">
                <a16:creationId xmlns:a16="http://schemas.microsoft.com/office/drawing/2014/main" id="{0B7117B4-1180-4B9F-BE7B-866F609D2739}"/>
              </a:ext>
            </a:extLst>
          </p:cNvPr>
          <p:cNvSpPr/>
          <p:nvPr/>
        </p:nvSpPr>
        <p:spPr>
          <a:xfrm>
            <a:off x="7205646" y="20918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Arrow: Curved Down 89">
            <a:extLst>
              <a:ext uri="{FF2B5EF4-FFF2-40B4-BE49-F238E27FC236}">
                <a16:creationId xmlns:a16="http://schemas.microsoft.com/office/drawing/2014/main" id="{0DAC0389-1D0F-4604-8D9D-C62F00E809D6}"/>
              </a:ext>
            </a:extLst>
          </p:cNvPr>
          <p:cNvSpPr/>
          <p:nvPr/>
        </p:nvSpPr>
        <p:spPr>
          <a:xfrm>
            <a:off x="6941778" y="209187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Arrow: Curved Down 90">
            <a:extLst>
              <a:ext uri="{FF2B5EF4-FFF2-40B4-BE49-F238E27FC236}">
                <a16:creationId xmlns:a16="http://schemas.microsoft.com/office/drawing/2014/main" id="{4D1B2C34-1047-4177-997F-90D746633D4E}"/>
              </a:ext>
            </a:extLst>
          </p:cNvPr>
          <p:cNvSpPr/>
          <p:nvPr/>
        </p:nvSpPr>
        <p:spPr>
          <a:xfrm>
            <a:off x="6663394" y="2080816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Arrow: Curved Down 91">
            <a:extLst>
              <a:ext uri="{FF2B5EF4-FFF2-40B4-BE49-F238E27FC236}">
                <a16:creationId xmlns:a16="http://schemas.microsoft.com/office/drawing/2014/main" id="{CC2D2974-3474-4E82-BFF9-12B870578D3F}"/>
              </a:ext>
            </a:extLst>
          </p:cNvPr>
          <p:cNvSpPr/>
          <p:nvPr/>
        </p:nvSpPr>
        <p:spPr>
          <a:xfrm>
            <a:off x="6374713" y="2079707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Arrow: Curved Down 92">
            <a:extLst>
              <a:ext uri="{FF2B5EF4-FFF2-40B4-BE49-F238E27FC236}">
                <a16:creationId xmlns:a16="http://schemas.microsoft.com/office/drawing/2014/main" id="{815E3346-26F8-495F-B713-0A1654D65F1B}"/>
              </a:ext>
            </a:extLst>
          </p:cNvPr>
          <p:cNvSpPr/>
          <p:nvPr/>
        </p:nvSpPr>
        <p:spPr>
          <a:xfrm>
            <a:off x="6085153" y="2078598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Arrow: Curved Down 93">
            <a:extLst>
              <a:ext uri="{FF2B5EF4-FFF2-40B4-BE49-F238E27FC236}">
                <a16:creationId xmlns:a16="http://schemas.microsoft.com/office/drawing/2014/main" id="{F5DFE3AA-887B-4C15-9E37-FE434B2599A5}"/>
              </a:ext>
            </a:extLst>
          </p:cNvPr>
          <p:cNvSpPr/>
          <p:nvPr/>
        </p:nvSpPr>
        <p:spPr>
          <a:xfrm>
            <a:off x="5804486" y="2077489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Arrow: Curved Down 94">
            <a:extLst>
              <a:ext uri="{FF2B5EF4-FFF2-40B4-BE49-F238E27FC236}">
                <a16:creationId xmlns:a16="http://schemas.microsoft.com/office/drawing/2014/main" id="{4C69F4A2-6792-41CF-B4A3-A2A0C18D032C}"/>
              </a:ext>
            </a:extLst>
          </p:cNvPr>
          <p:cNvSpPr/>
          <p:nvPr/>
        </p:nvSpPr>
        <p:spPr>
          <a:xfrm>
            <a:off x="8070031" y="2087661"/>
            <a:ext cx="343273" cy="161090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864344" y="3864217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7857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2" grpId="0"/>
      <p:bldP spid="24" grpId="0" animBg="1"/>
      <p:bldP spid="24" grpId="1" animBg="1"/>
      <p:bldP spid="24" grpId="2" animBg="1"/>
      <p:bldP spid="25" grpId="1" animBg="1"/>
      <p:bldP spid="25" grpId="2" animBg="1"/>
      <p:bldP spid="26" grpId="1" animBg="1"/>
      <p:bldP spid="26" grpId="2" animBg="1"/>
      <p:bldP spid="27" grpId="1" animBg="1"/>
      <p:bldP spid="27" grpId="2" animBg="1"/>
      <p:bldP spid="28" grpId="1" animBg="1"/>
      <p:bldP spid="28" grpId="2" animBg="1"/>
      <p:bldP spid="29" grpId="1" animBg="1"/>
      <p:bldP spid="29" grpId="2" animBg="1"/>
      <p:bldP spid="32" grpId="0"/>
      <p:bldP spid="33" grpId="0" animBg="1"/>
      <p:bldP spid="33" grpId="1" animBg="1"/>
      <p:bldP spid="33" grpId="2" animBg="1"/>
      <p:bldP spid="34" grpId="1" animBg="1"/>
      <p:bldP spid="34" grpId="2" animBg="1"/>
      <p:bldP spid="53" grpId="1" animBg="1"/>
      <p:bldP spid="53" grpId="2" animBg="1"/>
      <p:bldP spid="54" grpId="1" animBg="1"/>
      <p:bldP spid="54" grpId="2" animBg="1"/>
      <p:bldP spid="55" grpId="1" animBg="1"/>
      <p:bldP spid="55" grpId="2" animBg="1"/>
      <p:bldP spid="56" grpId="1" animBg="1"/>
      <p:bldP spid="56" grpId="2" animBg="1"/>
      <p:bldP spid="57" grpId="1" animBg="1"/>
      <p:bldP spid="57" grpId="2" animBg="1"/>
      <p:bldP spid="58" grpId="1" animBg="1"/>
      <p:bldP spid="58" grpId="2" animBg="1"/>
      <p:bldP spid="60" grpId="0"/>
      <p:bldP spid="70" grpId="0" animBg="1"/>
      <p:bldP spid="70" grpId="1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6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-3 + 5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5081469" y="400111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195B0B-5F18-4040-8677-3662A3DD4CF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396198" y="1466260"/>
            <a:ext cx="936292" cy="81857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E962158-D9A1-4A21-BC7F-9278CA827B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3603532" y="1463717"/>
            <a:ext cx="936292" cy="81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BD672-056B-433B-989D-A6692C32392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962708" y="1438918"/>
            <a:ext cx="936292" cy="85921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6E5ED79-D956-48B7-A4B8-220F5589A7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795797" y="1445935"/>
            <a:ext cx="936292" cy="85921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14A92A02-4335-4623-9B23-CF61C6F7EE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8635821" y="1447524"/>
            <a:ext cx="936292" cy="85921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80C10A66-B892-46E7-B3B0-C494B7DED1D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68910" y="1454541"/>
            <a:ext cx="936292" cy="859219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99513" y="3308467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3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65276" y="3306776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5 people on the positive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Positive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5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06C863-A469-4D70-952F-74EB6FFFAF7A}"/>
              </a:ext>
            </a:extLst>
          </p:cNvPr>
          <p:cNvSpPr txBox="1"/>
          <p:nvPr/>
        </p:nvSpPr>
        <p:spPr>
          <a:xfrm>
            <a:off x="3403897" y="4596547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Which side wins?</a:t>
            </a:r>
          </a:p>
        </p:txBody>
      </p:sp>
    </p:spTree>
    <p:extLst>
      <p:ext uri="{BB962C8B-B14F-4D97-AF65-F5344CB8AC3E}">
        <p14:creationId xmlns:p14="http://schemas.microsoft.com/office/powerpoint/2010/main" val="394527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31" grpId="0"/>
      <p:bldP spid="102" grpId="0"/>
      <p:bldP spid="28" grpId="0"/>
      <p:bldP spid="34" grpId="0" animBg="1"/>
      <p:bldP spid="40" grpId="0"/>
      <p:bldP spid="42" grpId="0"/>
      <p:bldP spid="43" grpId="0"/>
      <p:bldP spid="44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348978" y="2852180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-12 + 7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99513" y="3308467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65276" y="3306776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7 people on the positive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12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391206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299499" y="326843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15043" y="339667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348978" y="2852180"/>
            <a:ext cx="1709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-17 + 25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15043" y="3353687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17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965500" y="3286684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671696" y="3396678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638892" y="3375182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25 people on the positive side.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368" y="157896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7079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069184" y="3308611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584728" y="3436859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103957" y="2852180"/>
            <a:ext cx="2297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-982 + 135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</a:t>
            </a:r>
            <a:r>
              <a:rPr lang="en-AU" sz="3600" b="1" dirty="0" smtClean="0">
                <a:solidFill>
                  <a:srgbClr val="C00000"/>
                </a:solidFill>
              </a:rPr>
              <a:t>-847</a:t>
            </a:r>
            <a:endParaRPr lang="en-AU" sz="3600" b="1" dirty="0">
              <a:solidFill>
                <a:srgbClr val="C0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584728" y="3393868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982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7216068" y="3305370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922264" y="3415364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889460" y="3393868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135 people on the positive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12565" y="5188409"/>
            <a:ext cx="10718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982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135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0" y="6128329"/>
            <a:ext cx="1048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847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363657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069184" y="3308611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584728" y="3436859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103957" y="2852180"/>
            <a:ext cx="2297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-633 </a:t>
            </a:r>
            <a:r>
              <a:rPr lang="en-AU" sz="3600" b="1" dirty="0"/>
              <a:t>+ </a:t>
            </a:r>
            <a:r>
              <a:rPr lang="en-AU" sz="3600" b="1" dirty="0" smtClean="0"/>
              <a:t>117</a:t>
            </a:r>
            <a:endParaRPr lang="en-AU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584728" y="3393868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982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7216068" y="3305370"/>
            <a:ext cx="815821" cy="31789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922264" y="3415364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889460" y="3393868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135 people on the positive side.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9760" y="163393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9745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2" y="2214726"/>
            <a:ext cx="12191997" cy="6366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1468" y="2951092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12 - 9</a:t>
            </a:r>
          </a:p>
        </p:txBody>
      </p:sp>
      <p:sp>
        <p:nvSpPr>
          <p:cNvPr id="7" name="Left Arrow 6"/>
          <p:cNvSpPr/>
          <p:nvPr/>
        </p:nvSpPr>
        <p:spPr>
          <a:xfrm rot="16200000">
            <a:off x="9135110" y="1454163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D77E01-66C1-4102-B482-EA78DC72B3B5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Subtracting positive integers.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9EE56CD-9191-40E2-87B9-B94CA27565A0}"/>
              </a:ext>
            </a:extLst>
          </p:cNvPr>
          <p:cNvSpPr txBox="1"/>
          <p:nvPr/>
        </p:nvSpPr>
        <p:spPr>
          <a:xfrm>
            <a:off x="312684" y="4627600"/>
            <a:ext cx="6217665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Start on the first number.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Which direction are we moving in?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How many places are we moving?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What is the final answer?</a:t>
            </a: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9E47ABA0-395A-452F-A9BF-D031A40EECB3}"/>
              </a:ext>
            </a:extLst>
          </p:cNvPr>
          <p:cNvSpPr/>
          <p:nvPr/>
        </p:nvSpPr>
        <p:spPr>
          <a:xfrm flipH="1">
            <a:off x="9217061" y="2114108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FD72E469-8455-4873-8AAE-CB8846C7571F}"/>
              </a:ext>
            </a:extLst>
          </p:cNvPr>
          <p:cNvSpPr/>
          <p:nvPr/>
        </p:nvSpPr>
        <p:spPr>
          <a:xfrm flipH="1">
            <a:off x="8931523" y="2120190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urved Down 44">
            <a:extLst>
              <a:ext uri="{FF2B5EF4-FFF2-40B4-BE49-F238E27FC236}">
                <a16:creationId xmlns:a16="http://schemas.microsoft.com/office/drawing/2014/main" id="{26BF092A-F1BF-45BD-9156-CD7B31FF3455}"/>
              </a:ext>
            </a:extLst>
          </p:cNvPr>
          <p:cNvSpPr/>
          <p:nvPr/>
        </p:nvSpPr>
        <p:spPr>
          <a:xfrm flipH="1">
            <a:off x="8641160" y="2126272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13F25D-218A-4A69-BB73-15A0CDF1BF80}"/>
              </a:ext>
            </a:extLst>
          </p:cNvPr>
          <p:cNvSpPr txBox="1"/>
          <p:nvPr/>
        </p:nvSpPr>
        <p:spPr>
          <a:xfrm>
            <a:off x="596272" y="3498991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3928052" y="29500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7 - 13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53E903-EAA8-4914-97A5-7B4F5262DBE1}"/>
              </a:ext>
            </a:extLst>
          </p:cNvPr>
          <p:cNvSpPr txBox="1"/>
          <p:nvPr/>
        </p:nvSpPr>
        <p:spPr>
          <a:xfrm>
            <a:off x="593456" y="4079701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3559388" y="34979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366D8F-5A06-4FF8-AF32-0F430AA297D8}"/>
              </a:ext>
            </a:extLst>
          </p:cNvPr>
          <p:cNvSpPr txBox="1"/>
          <p:nvPr/>
        </p:nvSpPr>
        <p:spPr>
          <a:xfrm>
            <a:off x="6893984" y="2950046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-2 - 6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0F35B4-C795-45D5-B0E0-2761E25854C5}"/>
              </a:ext>
            </a:extLst>
          </p:cNvPr>
          <p:cNvSpPr txBox="1"/>
          <p:nvPr/>
        </p:nvSpPr>
        <p:spPr>
          <a:xfrm>
            <a:off x="9859916" y="2950045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-8 - 8</a:t>
            </a:r>
          </a:p>
        </p:txBody>
      </p:sp>
      <p:sp>
        <p:nvSpPr>
          <p:cNvPr id="69" name="Arrow: Curved Down 68">
            <a:extLst>
              <a:ext uri="{FF2B5EF4-FFF2-40B4-BE49-F238E27FC236}">
                <a16:creationId xmlns:a16="http://schemas.microsoft.com/office/drawing/2014/main" id="{F8B31029-0049-407E-919C-15D00B92320A}"/>
              </a:ext>
            </a:extLst>
          </p:cNvPr>
          <p:cNvSpPr/>
          <p:nvPr/>
        </p:nvSpPr>
        <p:spPr>
          <a:xfrm flipH="1">
            <a:off x="8358884" y="2126272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Arrow: Curved Down 97">
            <a:extLst>
              <a:ext uri="{FF2B5EF4-FFF2-40B4-BE49-F238E27FC236}">
                <a16:creationId xmlns:a16="http://schemas.microsoft.com/office/drawing/2014/main" id="{15CF734C-DDAC-45F3-93F8-BD74CC30611F}"/>
              </a:ext>
            </a:extLst>
          </p:cNvPr>
          <p:cNvSpPr/>
          <p:nvPr/>
        </p:nvSpPr>
        <p:spPr>
          <a:xfrm flipH="1">
            <a:off x="8073346" y="2132354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Arrow: Curved Down 98">
            <a:extLst>
              <a:ext uri="{FF2B5EF4-FFF2-40B4-BE49-F238E27FC236}">
                <a16:creationId xmlns:a16="http://schemas.microsoft.com/office/drawing/2014/main" id="{475F008F-B417-4BC7-9E07-869C19E190C3}"/>
              </a:ext>
            </a:extLst>
          </p:cNvPr>
          <p:cNvSpPr/>
          <p:nvPr/>
        </p:nvSpPr>
        <p:spPr>
          <a:xfrm flipH="1">
            <a:off x="7782983" y="2138436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Arrow: Curved Down 99">
            <a:extLst>
              <a:ext uri="{FF2B5EF4-FFF2-40B4-BE49-F238E27FC236}">
                <a16:creationId xmlns:a16="http://schemas.microsoft.com/office/drawing/2014/main" id="{D3D5C367-3114-4D6D-804C-7D84C6447F96}"/>
              </a:ext>
            </a:extLst>
          </p:cNvPr>
          <p:cNvSpPr/>
          <p:nvPr/>
        </p:nvSpPr>
        <p:spPr>
          <a:xfrm flipH="1">
            <a:off x="7500913" y="2126272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Arrow: Curved Down 100">
            <a:extLst>
              <a:ext uri="{FF2B5EF4-FFF2-40B4-BE49-F238E27FC236}">
                <a16:creationId xmlns:a16="http://schemas.microsoft.com/office/drawing/2014/main" id="{CA49043F-57A1-4D10-83E6-CAC3159C0730}"/>
              </a:ext>
            </a:extLst>
          </p:cNvPr>
          <p:cNvSpPr/>
          <p:nvPr/>
        </p:nvSpPr>
        <p:spPr>
          <a:xfrm flipH="1">
            <a:off x="7215375" y="2132354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Arrow: Curved Down 101">
            <a:extLst>
              <a:ext uri="{FF2B5EF4-FFF2-40B4-BE49-F238E27FC236}">
                <a16:creationId xmlns:a16="http://schemas.microsoft.com/office/drawing/2014/main" id="{0919438C-32BE-4831-BC78-50108588843B}"/>
              </a:ext>
            </a:extLst>
          </p:cNvPr>
          <p:cNvSpPr/>
          <p:nvPr/>
        </p:nvSpPr>
        <p:spPr>
          <a:xfrm flipH="1">
            <a:off x="6969050" y="2138436"/>
            <a:ext cx="282276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Left Arrow 6">
            <a:extLst>
              <a:ext uri="{FF2B5EF4-FFF2-40B4-BE49-F238E27FC236}">
                <a16:creationId xmlns:a16="http://schemas.microsoft.com/office/drawing/2014/main" id="{5E58FD49-D35A-4649-9391-E8FAC621917D}"/>
              </a:ext>
            </a:extLst>
          </p:cNvPr>
          <p:cNvSpPr/>
          <p:nvPr/>
        </p:nvSpPr>
        <p:spPr>
          <a:xfrm rot="16200000">
            <a:off x="7706325" y="1491147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4" name="Arrow: Curved Down 103">
            <a:extLst>
              <a:ext uri="{FF2B5EF4-FFF2-40B4-BE49-F238E27FC236}">
                <a16:creationId xmlns:a16="http://schemas.microsoft.com/office/drawing/2014/main" id="{A9267436-9591-4B29-ACE2-510E54239199}"/>
              </a:ext>
            </a:extLst>
          </p:cNvPr>
          <p:cNvSpPr/>
          <p:nvPr/>
        </p:nvSpPr>
        <p:spPr>
          <a:xfrm flipH="1">
            <a:off x="7788276" y="2151092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5" name="Arrow: Curved Down 104">
            <a:extLst>
              <a:ext uri="{FF2B5EF4-FFF2-40B4-BE49-F238E27FC236}">
                <a16:creationId xmlns:a16="http://schemas.microsoft.com/office/drawing/2014/main" id="{C6A48554-B80D-47A8-BAA3-5E0212FED563}"/>
              </a:ext>
            </a:extLst>
          </p:cNvPr>
          <p:cNvSpPr/>
          <p:nvPr/>
        </p:nvSpPr>
        <p:spPr>
          <a:xfrm flipH="1">
            <a:off x="7502738" y="2157174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6" name="Arrow: Curved Down 105">
            <a:extLst>
              <a:ext uri="{FF2B5EF4-FFF2-40B4-BE49-F238E27FC236}">
                <a16:creationId xmlns:a16="http://schemas.microsoft.com/office/drawing/2014/main" id="{6B031539-3489-46FB-9A47-DA74AC02C319}"/>
              </a:ext>
            </a:extLst>
          </p:cNvPr>
          <p:cNvSpPr/>
          <p:nvPr/>
        </p:nvSpPr>
        <p:spPr>
          <a:xfrm flipH="1">
            <a:off x="7212375" y="2163256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Arrow: Curved Down 106">
            <a:extLst>
              <a:ext uri="{FF2B5EF4-FFF2-40B4-BE49-F238E27FC236}">
                <a16:creationId xmlns:a16="http://schemas.microsoft.com/office/drawing/2014/main" id="{6708C19B-1E98-4F97-B3FA-E5B951920BF6}"/>
              </a:ext>
            </a:extLst>
          </p:cNvPr>
          <p:cNvSpPr/>
          <p:nvPr/>
        </p:nvSpPr>
        <p:spPr>
          <a:xfrm flipH="1">
            <a:off x="6930099" y="2163256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Arrow: Curved Down 107">
            <a:extLst>
              <a:ext uri="{FF2B5EF4-FFF2-40B4-BE49-F238E27FC236}">
                <a16:creationId xmlns:a16="http://schemas.microsoft.com/office/drawing/2014/main" id="{3B316D1D-1214-4E9A-96D6-D9E0BE851230}"/>
              </a:ext>
            </a:extLst>
          </p:cNvPr>
          <p:cNvSpPr/>
          <p:nvPr/>
        </p:nvSpPr>
        <p:spPr>
          <a:xfrm flipH="1">
            <a:off x="6644561" y="2169338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Arrow: Curved Down 108">
            <a:extLst>
              <a:ext uri="{FF2B5EF4-FFF2-40B4-BE49-F238E27FC236}">
                <a16:creationId xmlns:a16="http://schemas.microsoft.com/office/drawing/2014/main" id="{18EF2A19-6ED5-4143-8D87-68895795B4BC}"/>
              </a:ext>
            </a:extLst>
          </p:cNvPr>
          <p:cNvSpPr/>
          <p:nvPr/>
        </p:nvSpPr>
        <p:spPr>
          <a:xfrm flipH="1">
            <a:off x="6354198" y="2175420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Arrow: Curved Down 109">
            <a:extLst>
              <a:ext uri="{FF2B5EF4-FFF2-40B4-BE49-F238E27FC236}">
                <a16:creationId xmlns:a16="http://schemas.microsoft.com/office/drawing/2014/main" id="{1760B30B-9916-4F54-90B2-71B1C7780C73}"/>
              </a:ext>
            </a:extLst>
          </p:cNvPr>
          <p:cNvSpPr/>
          <p:nvPr/>
        </p:nvSpPr>
        <p:spPr>
          <a:xfrm flipH="1">
            <a:off x="6072128" y="2163256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Arrow: Curved Down 110">
            <a:extLst>
              <a:ext uri="{FF2B5EF4-FFF2-40B4-BE49-F238E27FC236}">
                <a16:creationId xmlns:a16="http://schemas.microsoft.com/office/drawing/2014/main" id="{FAB14885-D466-4E10-A337-82116803AC4C}"/>
              </a:ext>
            </a:extLst>
          </p:cNvPr>
          <p:cNvSpPr/>
          <p:nvPr/>
        </p:nvSpPr>
        <p:spPr>
          <a:xfrm flipH="1">
            <a:off x="5786590" y="2169338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Arrow: Curved Down 111">
            <a:extLst>
              <a:ext uri="{FF2B5EF4-FFF2-40B4-BE49-F238E27FC236}">
                <a16:creationId xmlns:a16="http://schemas.microsoft.com/office/drawing/2014/main" id="{CC4E62ED-D4C9-4D9E-AFB7-AD8283901A08}"/>
              </a:ext>
            </a:extLst>
          </p:cNvPr>
          <p:cNvSpPr/>
          <p:nvPr/>
        </p:nvSpPr>
        <p:spPr>
          <a:xfrm flipH="1">
            <a:off x="5531973" y="2175420"/>
            <a:ext cx="290568" cy="107434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Arrow: Curved Down 112">
            <a:extLst>
              <a:ext uri="{FF2B5EF4-FFF2-40B4-BE49-F238E27FC236}">
                <a16:creationId xmlns:a16="http://schemas.microsoft.com/office/drawing/2014/main" id="{C7036C3E-ADDB-4D88-91CE-F14246D20C78}"/>
              </a:ext>
            </a:extLst>
          </p:cNvPr>
          <p:cNvSpPr/>
          <p:nvPr/>
        </p:nvSpPr>
        <p:spPr>
          <a:xfrm flipH="1">
            <a:off x="5253278" y="2163256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4" name="Arrow: Curved Down 113">
            <a:extLst>
              <a:ext uri="{FF2B5EF4-FFF2-40B4-BE49-F238E27FC236}">
                <a16:creationId xmlns:a16="http://schemas.microsoft.com/office/drawing/2014/main" id="{1CB5C2F5-B27B-422C-8AD8-414C4C709645}"/>
              </a:ext>
            </a:extLst>
          </p:cNvPr>
          <p:cNvSpPr/>
          <p:nvPr/>
        </p:nvSpPr>
        <p:spPr>
          <a:xfrm flipH="1">
            <a:off x="4971208" y="2151092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Arrow: Curved Down 114">
            <a:extLst>
              <a:ext uri="{FF2B5EF4-FFF2-40B4-BE49-F238E27FC236}">
                <a16:creationId xmlns:a16="http://schemas.microsoft.com/office/drawing/2014/main" id="{4488283A-992F-4E68-B16D-73EA6EBAA446}"/>
              </a:ext>
            </a:extLst>
          </p:cNvPr>
          <p:cNvSpPr/>
          <p:nvPr/>
        </p:nvSpPr>
        <p:spPr>
          <a:xfrm flipH="1">
            <a:off x="4685670" y="2157174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Arrow: Curved Down 115">
            <a:extLst>
              <a:ext uri="{FF2B5EF4-FFF2-40B4-BE49-F238E27FC236}">
                <a16:creationId xmlns:a16="http://schemas.microsoft.com/office/drawing/2014/main" id="{242AF885-5EA2-4B17-9C73-4F691EA068FC}"/>
              </a:ext>
            </a:extLst>
          </p:cNvPr>
          <p:cNvSpPr/>
          <p:nvPr/>
        </p:nvSpPr>
        <p:spPr>
          <a:xfrm flipH="1">
            <a:off x="4431053" y="2163256"/>
            <a:ext cx="290568" cy="107434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Left Arrow 6">
            <a:extLst>
              <a:ext uri="{FF2B5EF4-FFF2-40B4-BE49-F238E27FC236}">
                <a16:creationId xmlns:a16="http://schemas.microsoft.com/office/drawing/2014/main" id="{A8257246-9D5F-4451-97B6-8AB39CD4A2D3}"/>
              </a:ext>
            </a:extLst>
          </p:cNvPr>
          <p:cNvSpPr/>
          <p:nvPr/>
        </p:nvSpPr>
        <p:spPr>
          <a:xfrm rot="16200000">
            <a:off x="5191266" y="1481452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8" name="Arrow: Curved Down 117">
            <a:extLst>
              <a:ext uri="{FF2B5EF4-FFF2-40B4-BE49-F238E27FC236}">
                <a16:creationId xmlns:a16="http://schemas.microsoft.com/office/drawing/2014/main" id="{31B63A09-DB0E-494D-ABE0-8DC4295B9230}"/>
              </a:ext>
            </a:extLst>
          </p:cNvPr>
          <p:cNvSpPr/>
          <p:nvPr/>
        </p:nvSpPr>
        <p:spPr>
          <a:xfrm flipH="1">
            <a:off x="5273217" y="2141397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9" name="Arrow: Curved Down 118">
            <a:extLst>
              <a:ext uri="{FF2B5EF4-FFF2-40B4-BE49-F238E27FC236}">
                <a16:creationId xmlns:a16="http://schemas.microsoft.com/office/drawing/2014/main" id="{C579E91A-FE6F-49C5-9D9C-5E750F3BDBCA}"/>
              </a:ext>
            </a:extLst>
          </p:cNvPr>
          <p:cNvSpPr/>
          <p:nvPr/>
        </p:nvSpPr>
        <p:spPr>
          <a:xfrm flipH="1">
            <a:off x="4987679" y="2147479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Arrow: Curved Down 119">
            <a:extLst>
              <a:ext uri="{FF2B5EF4-FFF2-40B4-BE49-F238E27FC236}">
                <a16:creationId xmlns:a16="http://schemas.microsoft.com/office/drawing/2014/main" id="{EB90235E-0C77-4F10-A924-75C37FD4A1ED}"/>
              </a:ext>
            </a:extLst>
          </p:cNvPr>
          <p:cNvSpPr/>
          <p:nvPr/>
        </p:nvSpPr>
        <p:spPr>
          <a:xfrm flipH="1">
            <a:off x="4697316" y="2153561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1" name="Arrow: Curved Down 120">
            <a:extLst>
              <a:ext uri="{FF2B5EF4-FFF2-40B4-BE49-F238E27FC236}">
                <a16:creationId xmlns:a16="http://schemas.microsoft.com/office/drawing/2014/main" id="{697F3478-C67E-4CA6-A8B1-4939DC196FA3}"/>
              </a:ext>
            </a:extLst>
          </p:cNvPr>
          <p:cNvSpPr/>
          <p:nvPr/>
        </p:nvSpPr>
        <p:spPr>
          <a:xfrm flipH="1">
            <a:off x="4415040" y="2153561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Arrow: Curved Down 121">
            <a:extLst>
              <a:ext uri="{FF2B5EF4-FFF2-40B4-BE49-F238E27FC236}">
                <a16:creationId xmlns:a16="http://schemas.microsoft.com/office/drawing/2014/main" id="{7A3614C1-5ED1-4F99-88DC-D673F10BCD3D}"/>
              </a:ext>
            </a:extLst>
          </p:cNvPr>
          <p:cNvSpPr/>
          <p:nvPr/>
        </p:nvSpPr>
        <p:spPr>
          <a:xfrm flipH="1">
            <a:off x="4129502" y="2159643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3" name="Arrow: Curved Down 122">
            <a:extLst>
              <a:ext uri="{FF2B5EF4-FFF2-40B4-BE49-F238E27FC236}">
                <a16:creationId xmlns:a16="http://schemas.microsoft.com/office/drawing/2014/main" id="{0BDBA84E-053F-47F5-9E3F-A402904FE089}"/>
              </a:ext>
            </a:extLst>
          </p:cNvPr>
          <p:cNvSpPr/>
          <p:nvPr/>
        </p:nvSpPr>
        <p:spPr>
          <a:xfrm flipH="1">
            <a:off x="3839139" y="2165725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4" name="Left Arrow 6">
            <a:extLst>
              <a:ext uri="{FF2B5EF4-FFF2-40B4-BE49-F238E27FC236}">
                <a16:creationId xmlns:a16="http://schemas.microsoft.com/office/drawing/2014/main" id="{BBDF5371-EA5D-4F12-B9B4-1BC74F6FCDD4}"/>
              </a:ext>
            </a:extLst>
          </p:cNvPr>
          <p:cNvSpPr/>
          <p:nvPr/>
        </p:nvSpPr>
        <p:spPr>
          <a:xfrm rot="16200000">
            <a:off x="3535359" y="1473604"/>
            <a:ext cx="749267" cy="619278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5" name="Arrow: Curved Down 124">
            <a:extLst>
              <a:ext uri="{FF2B5EF4-FFF2-40B4-BE49-F238E27FC236}">
                <a16:creationId xmlns:a16="http://schemas.microsoft.com/office/drawing/2014/main" id="{49203513-DA54-4281-A247-91B16205BC73}"/>
              </a:ext>
            </a:extLst>
          </p:cNvPr>
          <p:cNvSpPr/>
          <p:nvPr/>
        </p:nvSpPr>
        <p:spPr>
          <a:xfrm flipH="1">
            <a:off x="3576344" y="2139631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6" name="Arrow: Curved Down 125">
            <a:extLst>
              <a:ext uri="{FF2B5EF4-FFF2-40B4-BE49-F238E27FC236}">
                <a16:creationId xmlns:a16="http://schemas.microsoft.com/office/drawing/2014/main" id="{2A498617-3F87-405F-BF85-1E94DF890A01}"/>
              </a:ext>
            </a:extLst>
          </p:cNvPr>
          <p:cNvSpPr/>
          <p:nvPr/>
        </p:nvSpPr>
        <p:spPr>
          <a:xfrm flipH="1">
            <a:off x="3290806" y="2145713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7" name="Arrow: Curved Down 126">
            <a:extLst>
              <a:ext uri="{FF2B5EF4-FFF2-40B4-BE49-F238E27FC236}">
                <a16:creationId xmlns:a16="http://schemas.microsoft.com/office/drawing/2014/main" id="{3AEE0275-EEDB-4766-99AF-374D63DEE8C3}"/>
              </a:ext>
            </a:extLst>
          </p:cNvPr>
          <p:cNvSpPr/>
          <p:nvPr/>
        </p:nvSpPr>
        <p:spPr>
          <a:xfrm flipH="1">
            <a:off x="3000443" y="2151795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8" name="Arrow: Curved Down 127">
            <a:extLst>
              <a:ext uri="{FF2B5EF4-FFF2-40B4-BE49-F238E27FC236}">
                <a16:creationId xmlns:a16="http://schemas.microsoft.com/office/drawing/2014/main" id="{9CB56A2C-738B-4DEB-887E-D35C46D710DE}"/>
              </a:ext>
            </a:extLst>
          </p:cNvPr>
          <p:cNvSpPr/>
          <p:nvPr/>
        </p:nvSpPr>
        <p:spPr>
          <a:xfrm flipH="1">
            <a:off x="2718167" y="2151795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9" name="Arrow: Curved Down 128">
            <a:extLst>
              <a:ext uri="{FF2B5EF4-FFF2-40B4-BE49-F238E27FC236}">
                <a16:creationId xmlns:a16="http://schemas.microsoft.com/office/drawing/2014/main" id="{5296D931-20A6-4B71-B4B2-E23C891F9D3B}"/>
              </a:ext>
            </a:extLst>
          </p:cNvPr>
          <p:cNvSpPr/>
          <p:nvPr/>
        </p:nvSpPr>
        <p:spPr>
          <a:xfrm flipH="1">
            <a:off x="2432629" y="2157877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0" name="Arrow: Curved Down 129">
            <a:extLst>
              <a:ext uri="{FF2B5EF4-FFF2-40B4-BE49-F238E27FC236}">
                <a16:creationId xmlns:a16="http://schemas.microsoft.com/office/drawing/2014/main" id="{FF1AF85D-A8C8-432B-82CB-BF7431FB79EF}"/>
              </a:ext>
            </a:extLst>
          </p:cNvPr>
          <p:cNvSpPr/>
          <p:nvPr/>
        </p:nvSpPr>
        <p:spPr>
          <a:xfrm flipH="1">
            <a:off x="2142266" y="2163959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1" name="Arrow: Curved Down 130">
            <a:extLst>
              <a:ext uri="{FF2B5EF4-FFF2-40B4-BE49-F238E27FC236}">
                <a16:creationId xmlns:a16="http://schemas.microsoft.com/office/drawing/2014/main" id="{4ADF8B03-2C33-44AC-A894-3335878DA1AA}"/>
              </a:ext>
            </a:extLst>
          </p:cNvPr>
          <p:cNvSpPr/>
          <p:nvPr/>
        </p:nvSpPr>
        <p:spPr>
          <a:xfrm flipH="1">
            <a:off x="1860196" y="2151795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2" name="Arrow: Curved Down 131">
            <a:extLst>
              <a:ext uri="{FF2B5EF4-FFF2-40B4-BE49-F238E27FC236}">
                <a16:creationId xmlns:a16="http://schemas.microsoft.com/office/drawing/2014/main" id="{C06DC41F-4AA4-4DB6-AC9D-8549F316EBC6}"/>
              </a:ext>
            </a:extLst>
          </p:cNvPr>
          <p:cNvSpPr/>
          <p:nvPr/>
        </p:nvSpPr>
        <p:spPr>
          <a:xfrm flipH="1">
            <a:off x="1574658" y="2157877"/>
            <a:ext cx="326315" cy="119598"/>
          </a:xfrm>
          <a:prstGeom prst="curved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07091" y="371108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12970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6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0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52" grpId="0"/>
      <p:bldP spid="32" grpId="0"/>
      <p:bldP spid="60" grpId="0"/>
      <p:bldP spid="69" grpId="0" animBg="1"/>
      <p:bldP spid="69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3" grpId="3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7" grpId="2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12 - 9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+3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94339-EBE3-4A8A-B10B-B6663205CD0D}"/>
              </a:ext>
            </a:extLst>
          </p:cNvPr>
          <p:cNvSpPr txBox="1"/>
          <p:nvPr/>
        </p:nvSpPr>
        <p:spPr>
          <a:xfrm>
            <a:off x="5081469" y="400111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78040" y="3328070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12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9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Positive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12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9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278965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31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rgbClr val="F5C1C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7 - 13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</a:t>
            </a:r>
            <a:r>
              <a:rPr lang="en-AU" sz="3600" b="1" dirty="0" smtClean="0">
                <a:solidFill>
                  <a:srgbClr val="C00000"/>
                </a:solidFill>
              </a:rPr>
              <a:t>-6</a:t>
            </a:r>
            <a:endParaRPr lang="en-AU" sz="3600" b="1" dirty="0">
              <a:solidFill>
                <a:srgbClr val="C00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78040" y="3328070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7 people on the positive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80" y="3328272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13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13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-  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 smtClean="0">
                <a:solidFill>
                  <a:srgbClr val="C00000"/>
                </a:solidFill>
              </a:rPr>
              <a:t>6</a:t>
            </a:r>
            <a:endParaRPr lang="en-AU" sz="2800" b="1" dirty="0">
              <a:solidFill>
                <a:srgbClr val="C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122594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-2 - 6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61638" y="3324645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79" y="3328272"/>
            <a:ext cx="327816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334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6 more people on the negative side.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8741" y="155321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80513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-8 - 8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61638" y="3324645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8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79" y="3328272"/>
            <a:ext cx="327816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334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8 more people on the negative side.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617" y="149502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6259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/>
      <p:bldP spid="34" grpId="0" animBg="1"/>
      <p:bldP spid="40" grpId="0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517860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77002" y="5340140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22" y="752970"/>
            <a:ext cx="1925957" cy="864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F7D89C-3283-4890-A57B-BCE61871CB57}"/>
              </a:ext>
            </a:extLst>
          </p:cNvPr>
          <p:cNvSpPr txBox="1"/>
          <p:nvPr/>
        </p:nvSpPr>
        <p:spPr>
          <a:xfrm>
            <a:off x="882592" y="2274150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4 + 9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03E625-1025-42CE-80C9-7F22CD295BCA}"/>
              </a:ext>
            </a:extLst>
          </p:cNvPr>
          <p:cNvSpPr txBox="1"/>
          <p:nvPr/>
        </p:nvSpPr>
        <p:spPr>
          <a:xfrm>
            <a:off x="567396" y="2822049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1E9A8-5313-4C63-AB57-D3EAC9A14288}"/>
              </a:ext>
            </a:extLst>
          </p:cNvPr>
          <p:cNvSpPr txBox="1"/>
          <p:nvPr/>
        </p:nvSpPr>
        <p:spPr>
          <a:xfrm>
            <a:off x="3899176" y="22731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17 - 8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73B519-98C1-4785-9B18-4827181793A5}"/>
              </a:ext>
            </a:extLst>
          </p:cNvPr>
          <p:cNvSpPr txBox="1"/>
          <p:nvPr/>
        </p:nvSpPr>
        <p:spPr>
          <a:xfrm>
            <a:off x="3530512" y="28210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349098-8EAC-4D16-950D-39DB5804C30C}"/>
              </a:ext>
            </a:extLst>
          </p:cNvPr>
          <p:cNvSpPr txBox="1"/>
          <p:nvPr/>
        </p:nvSpPr>
        <p:spPr>
          <a:xfrm>
            <a:off x="6865108" y="22731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+ 9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51971-C765-431E-92CE-004D4C0B6240}"/>
              </a:ext>
            </a:extLst>
          </p:cNvPr>
          <p:cNvSpPr txBox="1"/>
          <p:nvPr/>
        </p:nvSpPr>
        <p:spPr>
          <a:xfrm>
            <a:off x="6605950" y="28210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9016B-CC3E-42BA-9444-A003285F009B}"/>
              </a:ext>
            </a:extLst>
          </p:cNvPr>
          <p:cNvSpPr txBox="1"/>
          <p:nvPr/>
        </p:nvSpPr>
        <p:spPr>
          <a:xfrm>
            <a:off x="9831040" y="2273103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8 - 12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D2C07-4008-4AEB-ACE4-F19187ACCB7F}"/>
              </a:ext>
            </a:extLst>
          </p:cNvPr>
          <p:cNvSpPr txBox="1"/>
          <p:nvPr/>
        </p:nvSpPr>
        <p:spPr>
          <a:xfrm>
            <a:off x="9593584" y="28210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DC24D5-8541-44A2-A65D-6F023842DF94}"/>
              </a:ext>
            </a:extLst>
          </p:cNvPr>
          <p:cNvSpPr txBox="1"/>
          <p:nvPr/>
        </p:nvSpPr>
        <p:spPr>
          <a:xfrm>
            <a:off x="882592" y="3875256"/>
            <a:ext cx="168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-41 + 14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B2ADF9-9294-41EB-BE68-B5ABFAC82A08}"/>
              </a:ext>
            </a:extLst>
          </p:cNvPr>
          <p:cNvSpPr txBox="1"/>
          <p:nvPr/>
        </p:nvSpPr>
        <p:spPr>
          <a:xfrm>
            <a:off x="568574" y="446362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BBA3A-245A-42BE-8782-9833B5A6F583}"/>
              </a:ext>
            </a:extLst>
          </p:cNvPr>
          <p:cNvSpPr txBox="1"/>
          <p:nvPr/>
        </p:nvSpPr>
        <p:spPr>
          <a:xfrm>
            <a:off x="3899176" y="3874210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16 - 21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0D7695-5FB0-401C-B5F9-607CE3CA6704}"/>
              </a:ext>
            </a:extLst>
          </p:cNvPr>
          <p:cNvSpPr txBox="1"/>
          <p:nvPr/>
        </p:nvSpPr>
        <p:spPr>
          <a:xfrm>
            <a:off x="3531690" y="4462579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5351C-F4D5-4CA7-A10B-60829CF41227}"/>
              </a:ext>
            </a:extLst>
          </p:cNvPr>
          <p:cNvSpPr txBox="1"/>
          <p:nvPr/>
        </p:nvSpPr>
        <p:spPr>
          <a:xfrm>
            <a:off x="6865108" y="3874210"/>
            <a:ext cx="163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-50 - 12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6B9DEB-999B-4219-A063-A2179B7D06B6}"/>
              </a:ext>
            </a:extLst>
          </p:cNvPr>
          <p:cNvSpPr txBox="1"/>
          <p:nvPr/>
        </p:nvSpPr>
        <p:spPr>
          <a:xfrm>
            <a:off x="6607128" y="4462579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-62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3D390-15E2-4749-BB02-5C77232607AE}"/>
              </a:ext>
            </a:extLst>
          </p:cNvPr>
          <p:cNvSpPr txBox="1"/>
          <p:nvPr/>
        </p:nvSpPr>
        <p:spPr>
          <a:xfrm>
            <a:off x="9831040" y="3874209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-64 - 81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3584B9-B6C8-49FD-87A6-E30C3F9F1C54}"/>
              </a:ext>
            </a:extLst>
          </p:cNvPr>
          <p:cNvSpPr txBox="1"/>
          <p:nvPr/>
        </p:nvSpPr>
        <p:spPr>
          <a:xfrm>
            <a:off x="9594762" y="4462579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-145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2382" y="961477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760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51" grpId="0"/>
      <p:bldP spid="54" grpId="0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7778" y="1250855"/>
            <a:ext cx="6762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Lesson Objectives: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 dirty="0">
                <a:latin typeface="+mn-lt"/>
              </a:rPr>
              <a:t>What have we learnt today?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598B37-5A86-49F6-9CD0-BBE5EE7809A5}"/>
              </a:ext>
            </a:extLst>
          </p:cNvPr>
          <p:cNvSpPr txBox="1">
            <a:spLocks/>
          </p:cNvSpPr>
          <p:nvPr/>
        </p:nvSpPr>
        <p:spPr>
          <a:xfrm>
            <a:off x="800972" y="3190720"/>
            <a:ext cx="5151804" cy="21262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8 - 9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AU" sz="7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-1</a:t>
            </a:r>
            <a:endParaRPr lang="en-AU" sz="7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875B8-730A-4182-A181-5A8DBC604CE3}"/>
              </a:ext>
            </a:extLst>
          </p:cNvPr>
          <p:cNvSpPr txBox="1"/>
          <p:nvPr/>
        </p:nvSpPr>
        <p:spPr>
          <a:xfrm>
            <a:off x="363771" y="2019357"/>
            <a:ext cx="11178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add and subtract positive integers.</a:t>
            </a:r>
          </a:p>
        </p:txBody>
      </p:sp>
      <p:pic>
        <p:nvPicPr>
          <p:cNvPr id="1026" name="Picture 2" descr="Image result for add and subtract joke">
            <a:extLst>
              <a:ext uri="{FF2B5EF4-FFF2-40B4-BE49-F238E27FC236}">
                <a16:creationId xmlns:a16="http://schemas.microsoft.com/office/drawing/2014/main" id="{B26D134D-C559-4860-94F0-20C751856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619" y="2138342"/>
            <a:ext cx="451485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0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2.5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 smtClean="0"/>
              <a:t>1 – 2, 5 (</a:t>
            </a:r>
            <a:r>
              <a:rPr lang="en-AU" dirty="0"/>
              <a:t>every second column</a:t>
            </a:r>
            <a:r>
              <a:rPr lang="en-AU" dirty="0" smtClean="0"/>
              <a:t>)</a:t>
            </a:r>
            <a:r>
              <a:rPr lang="en-AU" b="1" dirty="0" smtClean="0"/>
              <a:t>, </a:t>
            </a:r>
            <a:r>
              <a:rPr lang="en-AU" dirty="0" smtClean="0"/>
              <a:t>3, 10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561" y="770894"/>
            <a:ext cx="4273997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4440</TotalTime>
  <Words>1537</Words>
  <Application>Microsoft Office PowerPoint</Application>
  <PresentationFormat>Widescreen</PresentationFormat>
  <Paragraphs>317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Greater Than, Less Than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178</cp:revision>
  <dcterms:created xsi:type="dcterms:W3CDTF">2017-02-05T09:54:53Z</dcterms:created>
  <dcterms:modified xsi:type="dcterms:W3CDTF">2022-01-13T03:29:03Z</dcterms:modified>
</cp:coreProperties>
</file>
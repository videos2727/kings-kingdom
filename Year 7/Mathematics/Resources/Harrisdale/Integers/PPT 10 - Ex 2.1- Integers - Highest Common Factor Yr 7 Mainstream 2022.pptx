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58" r:id="rId2"/>
    <p:sldId id="647" r:id="rId3"/>
    <p:sldId id="659" r:id="rId4"/>
    <p:sldId id="648" r:id="rId5"/>
    <p:sldId id="649" r:id="rId6"/>
    <p:sldId id="660" r:id="rId7"/>
    <p:sldId id="293" r:id="rId8"/>
    <p:sldId id="344" r:id="rId9"/>
    <p:sldId id="651" r:id="rId10"/>
    <p:sldId id="650" r:id="rId11"/>
    <p:sldId id="652" r:id="rId12"/>
    <p:sldId id="661" r:id="rId13"/>
    <p:sldId id="662" r:id="rId14"/>
    <p:sldId id="642" r:id="rId15"/>
    <p:sldId id="643" r:id="rId16"/>
    <p:sldId id="654" r:id="rId17"/>
    <p:sldId id="653" r:id="rId18"/>
    <p:sldId id="656" r:id="rId19"/>
    <p:sldId id="657" r:id="rId20"/>
    <p:sldId id="663" r:id="rId21"/>
    <p:sldId id="655" r:id="rId22"/>
    <p:sldId id="664" r:id="rId23"/>
    <p:sldId id="582" r:id="rId24"/>
    <p:sldId id="540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" initials="E" lastIdx="1" clrIdx="0">
    <p:extLst>
      <p:ext uri="{19B8F6BF-5375-455C-9EA6-DF929625EA0E}">
        <p15:presenceInfo xmlns:p15="http://schemas.microsoft.com/office/powerpoint/2012/main" userId="El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3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812016" y="1145535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find common factors of two numbers.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3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977" y="683400"/>
            <a:ext cx="92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Common multiples </a:t>
            </a:r>
            <a:r>
              <a:rPr lang="en-AU" sz="2800" b="1" dirty="0">
                <a:cs typeface="Arial" panose="020B0604020202020204" pitchFamily="34" charset="0"/>
              </a:rPr>
              <a:t>of two numbers are any number that appears in the times table of both of your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86118"/>
            <a:chOff x="660399" y="3602071"/>
            <a:chExt cx="2035631" cy="9861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the first step?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any common numbers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9003" y="3962157"/>
            <a:ext cx="35618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first 3 common multiples of 2 and 6 are 6, 12 and 18.</a:t>
            </a:r>
          </a:p>
        </p:txBody>
      </p:sp>
      <p:sp>
        <p:nvSpPr>
          <p:cNvPr id="37" name="Rectangle: Rounded Corners 16"/>
          <p:cNvSpPr/>
          <p:nvPr/>
        </p:nvSpPr>
        <p:spPr>
          <a:xfrm>
            <a:off x="6071934" y="3298426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: Rounded Corners 5"/>
          <p:cNvSpPr/>
          <p:nvPr/>
        </p:nvSpPr>
        <p:spPr>
          <a:xfrm>
            <a:off x="4582165" y="1659918"/>
            <a:ext cx="5368660" cy="618266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TextBox 38"/>
          <p:cNvSpPr txBox="1"/>
          <p:nvPr/>
        </p:nvSpPr>
        <p:spPr>
          <a:xfrm>
            <a:off x="4582166" y="1703647"/>
            <a:ext cx="5368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Common Multiples of 2 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: Rounded Corners 16"/>
          <p:cNvSpPr/>
          <p:nvPr/>
        </p:nvSpPr>
        <p:spPr>
          <a:xfrm>
            <a:off x="7896143" y="2448032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Rectangle: Rounded Corners 16"/>
          <p:cNvSpPr/>
          <p:nvPr/>
        </p:nvSpPr>
        <p:spPr>
          <a:xfrm>
            <a:off x="6084956" y="4566099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Rectangle: Rounded Corners 16"/>
          <p:cNvSpPr/>
          <p:nvPr/>
        </p:nvSpPr>
        <p:spPr>
          <a:xfrm>
            <a:off x="7908998" y="2881382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Rectangle: Rounded Corners 16"/>
          <p:cNvSpPr/>
          <p:nvPr/>
        </p:nvSpPr>
        <p:spPr>
          <a:xfrm>
            <a:off x="6084956" y="5852438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ectangle: Rounded Corners 16"/>
          <p:cNvSpPr/>
          <p:nvPr/>
        </p:nvSpPr>
        <p:spPr>
          <a:xfrm>
            <a:off x="7908998" y="3316022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/>
          <p:cNvSpPr txBox="1"/>
          <p:nvPr/>
        </p:nvSpPr>
        <p:spPr>
          <a:xfrm>
            <a:off x="5414337" y="2388520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27854" y="2392186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1056949"/>
            <a:ext cx="2035631" cy="986118"/>
            <a:chOff x="660399" y="3602071"/>
            <a:chExt cx="2035631" cy="98611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the second step?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2123494"/>
            <a:ext cx="2035631" cy="1192528"/>
            <a:chOff x="660399" y="3602071"/>
            <a:chExt cx="2035631" cy="1192528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86263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do you find the common multiples?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35304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3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47" grpId="0"/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</a:t>
            </a:r>
            <a:r>
              <a:rPr lang="en-AU" sz="4800" dirty="0" smtClean="0">
                <a:latin typeface="Arial Black" panose="020B0A04020102020204" pitchFamily="34" charset="0"/>
              </a:rPr>
              <a:t>common multiples of 3 and 4?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2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8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4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 smtClean="0"/>
              <a:t>12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20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24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6495011" y="72044"/>
            <a:ext cx="517605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There may be more than one!!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1803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5386959" y="2175087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58887" y="2226162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3 and 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7315207" y="5054202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23194"/>
            <a:ext cx="109386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Rectangle: Rounded Corners 14"/>
          <p:cNvSpPr/>
          <p:nvPr/>
        </p:nvSpPr>
        <p:spPr>
          <a:xfrm>
            <a:off x="9081677" y="4201092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54582" y="3308083"/>
            <a:ext cx="18613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7546" y="3308083"/>
            <a:ext cx="18613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7546" y="5307316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LCM of 3 and 5 is 15.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39883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 animBg="1"/>
      <p:bldP spid="8" grpId="0"/>
      <p:bldP spid="11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14"/>
          <p:cNvSpPr/>
          <p:nvPr/>
        </p:nvSpPr>
        <p:spPr>
          <a:xfrm>
            <a:off x="7636705" y="3659107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51954" y="2761234"/>
            <a:ext cx="18613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</a:p>
        </p:txBody>
      </p:sp>
      <p:sp>
        <p:nvSpPr>
          <p:cNvPr id="15" name="Rectangle: Rounded Corners 14"/>
          <p:cNvSpPr/>
          <p:nvPr/>
        </p:nvSpPr>
        <p:spPr>
          <a:xfrm>
            <a:off x="6104676" y="3215251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54985" y="2761234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5273254" y="1991599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5182" y="2042674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9 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23194"/>
            <a:ext cx="98330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71736" y="4092187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LCM of 9 and 6 </a:t>
            </a:r>
            <a:r>
              <a:rPr lang="en-AU" sz="2800" b="1">
                <a:solidFill>
                  <a:srgbClr val="C00000"/>
                </a:solidFill>
                <a:cs typeface="Arial" panose="020B0604020202020204" pitchFamily="34" charset="0"/>
              </a:rPr>
              <a:t>is </a:t>
            </a:r>
            <a:r>
              <a:rPr lang="en-AU" sz="2800" b="1" smtClean="0">
                <a:solidFill>
                  <a:srgbClr val="C00000"/>
                </a:solidFill>
                <a:cs typeface="Arial" panose="020B0604020202020204" pitchFamily="34" charset="0"/>
              </a:rPr>
              <a:t>18.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213224"/>
            <a:chOff x="660399" y="3602071"/>
            <a:chExt cx="2035631" cy="98611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many answers will you get for LCM?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77001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0" grpId="0"/>
      <p:bldP spid="15" grpId="0" animBg="1"/>
      <p:bldP spid="29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</a:t>
            </a:r>
            <a:r>
              <a:rPr lang="en-AU" sz="4800" dirty="0" smtClean="0">
                <a:latin typeface="Arial Black" panose="020B0A04020102020204" pitchFamily="34" charset="0"/>
              </a:rPr>
              <a:t>is the LCM of 5 and 10?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10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/>
              <a:t>2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/>
              <a:t>5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15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25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9135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513247" y="1303945"/>
            <a:ext cx="794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cs typeface="Arial" panose="020B0604020202020204" pitchFamily="34" charset="0"/>
              </a:rPr>
              <a:t>I will find common factors of two numbers.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346993" y="4197215"/>
            <a:ext cx="85254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Determine the divisibility of a number.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Find all of the factors of a number.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Find the highest common factor of 2 numbers.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444" y="4661445"/>
            <a:ext cx="3797850" cy="205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6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75B6234-F289-4102-B8D8-9227B96C67E4}"/>
              </a:ext>
            </a:extLst>
          </p:cNvPr>
          <p:cNvSpPr txBox="1"/>
          <p:nvPr/>
        </p:nvSpPr>
        <p:spPr>
          <a:xfrm>
            <a:off x="0" y="0"/>
            <a:ext cx="450349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97438-0B7C-4B20-9EAD-F7AE0805BEC5}"/>
              </a:ext>
            </a:extLst>
          </p:cNvPr>
          <p:cNvSpPr txBox="1"/>
          <p:nvPr/>
        </p:nvSpPr>
        <p:spPr>
          <a:xfrm>
            <a:off x="286423" y="853210"/>
            <a:ext cx="92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 quick way to determine if a number is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divisible by 2 </a:t>
            </a:r>
            <a:r>
              <a:rPr lang="en-AU" sz="2800" b="1" dirty="0">
                <a:cs typeface="Arial" panose="020B0604020202020204" pitchFamily="34" charset="0"/>
              </a:rPr>
              <a:t>is to check if it is an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even number</a:t>
            </a:r>
            <a:r>
              <a:rPr lang="en-AU" sz="2800" b="1" dirty="0">
                <a:cs typeface="Arial" panose="020B0604020202020204" pitchFamily="34" charset="0"/>
              </a:rPr>
              <a:t>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DB3DFE-0412-44ED-8345-1A9B7FBE4A7C}"/>
              </a:ext>
            </a:extLst>
          </p:cNvPr>
          <p:cNvGrpSpPr/>
          <p:nvPr/>
        </p:nvGrpSpPr>
        <p:grpSpPr>
          <a:xfrm>
            <a:off x="9873575" y="0"/>
            <a:ext cx="2318426" cy="1994172"/>
            <a:chOff x="660399" y="3602071"/>
            <a:chExt cx="2035631" cy="21903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0BD0FA-A34E-43C3-8867-3700B4A7F501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AF2AD6-BE3F-4ADA-B8AC-3CBD6E812EA5}"/>
                </a:ext>
              </a:extLst>
            </p:cNvPr>
            <p:cNvSpPr/>
            <p:nvPr/>
          </p:nvSpPr>
          <p:spPr>
            <a:xfrm>
              <a:off x="660399" y="3931963"/>
              <a:ext cx="2035629" cy="18604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Divisible – Able to be divided by a number so that the answer is a whole number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6 is divisible by 2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(6 ÷ 2 = 3).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9552B7B-BA84-47F8-B3C2-94234176E58A}"/>
              </a:ext>
            </a:extLst>
          </p:cNvPr>
          <p:cNvSpPr txBox="1"/>
          <p:nvPr/>
        </p:nvSpPr>
        <p:spPr>
          <a:xfrm>
            <a:off x="286423" y="2075752"/>
            <a:ext cx="9231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Determine if the following numbers are divisible by 2: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7C8BE-2126-4C88-968A-22868AF89C49}"/>
              </a:ext>
            </a:extLst>
          </p:cNvPr>
          <p:cNvSpPr txBox="1"/>
          <p:nvPr/>
        </p:nvSpPr>
        <p:spPr>
          <a:xfrm>
            <a:off x="983319" y="3228340"/>
            <a:ext cx="102253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b="1" dirty="0">
                <a:cs typeface="Arial" panose="020B0604020202020204" pitchFamily="34" charset="0"/>
              </a:rPr>
              <a:t>56		98		65		37		24		39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00A991-FFDA-4B3A-AEAF-6FA2C6AEEF8F}"/>
              </a:ext>
            </a:extLst>
          </p:cNvPr>
          <p:cNvSpPr txBox="1"/>
          <p:nvPr/>
        </p:nvSpPr>
        <p:spPr>
          <a:xfrm>
            <a:off x="1091150" y="4755442"/>
            <a:ext cx="10117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b="1" dirty="0">
                <a:cs typeface="Arial" panose="020B0604020202020204" pitchFamily="34" charset="0"/>
              </a:rPr>
              <a:t>28		40		68		334	2847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921" y="2891144"/>
            <a:ext cx="580187" cy="5378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D37688-882D-4D65-B31C-60592898E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166" y="2818241"/>
            <a:ext cx="673704" cy="6439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1DCC9B-EC17-4D2B-B56B-AD781C60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206" y="2884694"/>
            <a:ext cx="580187" cy="5378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CC715B-444B-4A3E-B753-605AEA7F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643" y="2811791"/>
            <a:ext cx="673704" cy="6439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C64CBC6-D9BE-4DDC-BF7E-0954F56AB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777" y="2861589"/>
            <a:ext cx="580187" cy="5378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5B6313-6452-438E-ADF7-CF9F46AB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655" y="2838104"/>
            <a:ext cx="673704" cy="6439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DC25EE2-5E20-4EC7-89E8-8E3AE911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676" y="4384579"/>
            <a:ext cx="580187" cy="5378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F22172-91EA-406A-8AF1-0951C13C7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660" y="4378129"/>
            <a:ext cx="580187" cy="5378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340F3BF-DCB0-464C-B2D5-73CBD8F59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305" y="4375961"/>
            <a:ext cx="580187" cy="5378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867CB8-A49F-4BD3-939F-C55D70EB0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80" y="4365974"/>
            <a:ext cx="580187" cy="5378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0A7606E-D955-4E3B-A4E3-A491D18F2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910" y="4322921"/>
            <a:ext cx="673704" cy="64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7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75B6234-F289-4102-B8D8-9227B96C67E4}"/>
              </a:ext>
            </a:extLst>
          </p:cNvPr>
          <p:cNvSpPr txBox="1"/>
          <p:nvPr/>
        </p:nvSpPr>
        <p:spPr>
          <a:xfrm>
            <a:off x="0" y="0"/>
            <a:ext cx="450349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97438-0B7C-4B20-9EAD-F7AE0805BEC5}"/>
              </a:ext>
            </a:extLst>
          </p:cNvPr>
          <p:cNvSpPr txBox="1"/>
          <p:nvPr/>
        </p:nvSpPr>
        <p:spPr>
          <a:xfrm>
            <a:off x="286423" y="853210"/>
            <a:ext cx="92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 quick way to determine if a number is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divisible by 5 </a:t>
            </a:r>
            <a:r>
              <a:rPr lang="en-AU" sz="2800" b="1" dirty="0">
                <a:cs typeface="Arial" panose="020B0604020202020204" pitchFamily="34" charset="0"/>
              </a:rPr>
              <a:t>is to check if the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last digit is a 0 or 5</a:t>
            </a:r>
            <a:r>
              <a:rPr lang="en-AU" sz="2800" b="1" dirty="0">
                <a:cs typeface="Arial" panose="020B0604020202020204" pitchFamily="34" charset="0"/>
              </a:rPr>
              <a:t>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DB3DFE-0412-44ED-8345-1A9B7FBE4A7C}"/>
              </a:ext>
            </a:extLst>
          </p:cNvPr>
          <p:cNvGrpSpPr/>
          <p:nvPr/>
        </p:nvGrpSpPr>
        <p:grpSpPr>
          <a:xfrm>
            <a:off x="9873575" y="0"/>
            <a:ext cx="2318426" cy="1994172"/>
            <a:chOff x="660399" y="3602071"/>
            <a:chExt cx="2035631" cy="21903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0BD0FA-A34E-43C3-8867-3700B4A7F501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AF2AD6-BE3F-4ADA-B8AC-3CBD6E812EA5}"/>
                </a:ext>
              </a:extLst>
            </p:cNvPr>
            <p:cNvSpPr/>
            <p:nvPr/>
          </p:nvSpPr>
          <p:spPr>
            <a:xfrm>
              <a:off x="660399" y="3931963"/>
              <a:ext cx="2035629" cy="18604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Divisible – Able to be divided by a number so that the answer is a whole number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6 is divisible by 2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(6 ÷ 2 = 3).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9552B7B-BA84-47F8-B3C2-94234176E58A}"/>
              </a:ext>
            </a:extLst>
          </p:cNvPr>
          <p:cNvSpPr txBox="1"/>
          <p:nvPr/>
        </p:nvSpPr>
        <p:spPr>
          <a:xfrm>
            <a:off x="286423" y="2075752"/>
            <a:ext cx="9231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Determine if the following numbers are divisible by 5: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7C8BE-2126-4C88-968A-22868AF89C49}"/>
              </a:ext>
            </a:extLst>
          </p:cNvPr>
          <p:cNvSpPr txBox="1"/>
          <p:nvPr/>
        </p:nvSpPr>
        <p:spPr>
          <a:xfrm>
            <a:off x="983319" y="3228340"/>
            <a:ext cx="102253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b="1" dirty="0">
                <a:cs typeface="Arial" panose="020B0604020202020204" pitchFamily="34" charset="0"/>
              </a:rPr>
              <a:t>50		98		65		37		24		39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00A991-FFDA-4B3A-AEAF-6FA2C6AEEF8F}"/>
              </a:ext>
            </a:extLst>
          </p:cNvPr>
          <p:cNvSpPr txBox="1"/>
          <p:nvPr/>
        </p:nvSpPr>
        <p:spPr>
          <a:xfrm>
            <a:off x="1091150" y="4755442"/>
            <a:ext cx="10117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b="1" dirty="0">
                <a:cs typeface="Arial" panose="020B0604020202020204" pitchFamily="34" charset="0"/>
              </a:rPr>
              <a:t>28		40		68		335	2847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921" y="2891144"/>
            <a:ext cx="580187" cy="5378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CC715B-444B-4A3E-B753-605AEA7F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643" y="2811791"/>
            <a:ext cx="673704" cy="6439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5B6313-6452-438E-ADF7-CF9F46AB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655" y="2838104"/>
            <a:ext cx="673704" cy="64393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F22172-91EA-406A-8AF1-0951C13C7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660" y="4378129"/>
            <a:ext cx="580187" cy="5378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867CB8-A49F-4BD3-939F-C55D70EB0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80" y="4365974"/>
            <a:ext cx="580187" cy="5378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0A7606E-D955-4E3B-A4E3-A491D18F2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910" y="4322921"/>
            <a:ext cx="673704" cy="6439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7CCE6DE-D697-437A-AC2D-B28568DFE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81" y="2794898"/>
            <a:ext cx="673704" cy="64393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CC382C-8682-42AA-ACDB-FA0E73C4D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15" y="2828240"/>
            <a:ext cx="580187" cy="53785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229BE06-5026-4589-8D4E-5CFB2A2B7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510" y="2838103"/>
            <a:ext cx="673704" cy="64393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4F4C5BB-E27E-49B9-B9C4-FDB983B8B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392" y="4307863"/>
            <a:ext cx="673704" cy="64393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A98F208-1E08-4662-B308-D8DE2AEE0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933" y="4317531"/>
            <a:ext cx="673704" cy="64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6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75B6234-F289-4102-B8D8-9227B96C67E4}"/>
              </a:ext>
            </a:extLst>
          </p:cNvPr>
          <p:cNvSpPr txBox="1"/>
          <p:nvPr/>
        </p:nvSpPr>
        <p:spPr>
          <a:xfrm>
            <a:off x="0" y="0"/>
            <a:ext cx="450349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97438-0B7C-4B20-9EAD-F7AE0805BEC5}"/>
              </a:ext>
            </a:extLst>
          </p:cNvPr>
          <p:cNvSpPr txBox="1"/>
          <p:nvPr/>
        </p:nvSpPr>
        <p:spPr>
          <a:xfrm>
            <a:off x="286423" y="853210"/>
            <a:ext cx="92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 quick way to determine if a number is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divisible by 3 </a:t>
            </a:r>
            <a:r>
              <a:rPr lang="en-AU" sz="2800" b="1" dirty="0">
                <a:cs typeface="Arial" panose="020B0604020202020204" pitchFamily="34" charset="0"/>
              </a:rPr>
              <a:t>is to check if the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digits add up to a number in the 3 times table</a:t>
            </a:r>
            <a:r>
              <a:rPr lang="en-AU" sz="2800" b="1" dirty="0">
                <a:cs typeface="Arial" panose="020B0604020202020204" pitchFamily="34" charset="0"/>
              </a:rPr>
              <a:t>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DB3DFE-0412-44ED-8345-1A9B7FBE4A7C}"/>
              </a:ext>
            </a:extLst>
          </p:cNvPr>
          <p:cNvGrpSpPr/>
          <p:nvPr/>
        </p:nvGrpSpPr>
        <p:grpSpPr>
          <a:xfrm>
            <a:off x="9873575" y="0"/>
            <a:ext cx="2318426" cy="1994172"/>
            <a:chOff x="660399" y="3602071"/>
            <a:chExt cx="2035631" cy="21903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0BD0FA-A34E-43C3-8867-3700B4A7F501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AF2AD6-BE3F-4ADA-B8AC-3CBD6E812EA5}"/>
                </a:ext>
              </a:extLst>
            </p:cNvPr>
            <p:cNvSpPr/>
            <p:nvPr/>
          </p:nvSpPr>
          <p:spPr>
            <a:xfrm>
              <a:off x="660399" y="3931963"/>
              <a:ext cx="2035629" cy="18604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Divisible – Able to be divided by a number so that the answer is a whole number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6 is divisible by 2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(6 ÷ 2 = 3).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9552B7B-BA84-47F8-B3C2-94234176E58A}"/>
              </a:ext>
            </a:extLst>
          </p:cNvPr>
          <p:cNvSpPr txBox="1"/>
          <p:nvPr/>
        </p:nvSpPr>
        <p:spPr>
          <a:xfrm>
            <a:off x="286423" y="2075752"/>
            <a:ext cx="9231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Determine if the following numbers are divisible by 3: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7C8BE-2126-4C88-968A-22868AF89C49}"/>
              </a:ext>
            </a:extLst>
          </p:cNvPr>
          <p:cNvSpPr txBox="1"/>
          <p:nvPr/>
        </p:nvSpPr>
        <p:spPr>
          <a:xfrm>
            <a:off x="340678" y="2838104"/>
            <a:ext cx="1026196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0"/>
              </a:spcAft>
            </a:pPr>
            <a:r>
              <a:rPr lang="en-AU" sz="6000" b="1" dirty="0">
                <a:cs typeface="Arial" panose="020B0604020202020204" pitchFamily="34" charset="0"/>
              </a:rPr>
              <a:t>56</a:t>
            </a:r>
          </a:p>
          <a:p>
            <a:pPr>
              <a:spcAft>
                <a:spcPts val="2000"/>
              </a:spcAft>
            </a:pPr>
            <a:r>
              <a:rPr lang="en-AU" sz="6000" b="1" dirty="0">
                <a:cs typeface="Arial" panose="020B0604020202020204" pitchFamily="34" charset="0"/>
              </a:rPr>
              <a:t>98</a:t>
            </a:r>
          </a:p>
          <a:p>
            <a:pPr>
              <a:spcAft>
                <a:spcPts val="2000"/>
              </a:spcAft>
            </a:pPr>
            <a:r>
              <a:rPr lang="en-AU" sz="6000" b="1" dirty="0">
                <a:cs typeface="Arial" panose="020B0604020202020204" pitchFamily="34" charset="0"/>
              </a:rPr>
              <a:t>63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C64CBC6-D9BE-4DDC-BF7E-0954F56AB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632" y="5410856"/>
            <a:ext cx="580187" cy="5378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5B6313-6452-438E-ADF7-CF9F46AB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74" y="2996698"/>
            <a:ext cx="673704" cy="64393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467B414-AF42-4C9B-9DBB-8049044ECDF0}"/>
              </a:ext>
            </a:extLst>
          </p:cNvPr>
          <p:cNvSpPr txBox="1"/>
          <p:nvPr/>
        </p:nvSpPr>
        <p:spPr>
          <a:xfrm>
            <a:off x="6184373" y="2861589"/>
            <a:ext cx="1500477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0"/>
              </a:spcAft>
            </a:pPr>
            <a:r>
              <a:rPr lang="en-AU" sz="6000" b="1" dirty="0">
                <a:cs typeface="Arial" panose="020B0604020202020204" pitchFamily="34" charset="0"/>
              </a:rPr>
              <a:t>558</a:t>
            </a:r>
          </a:p>
          <a:p>
            <a:pPr>
              <a:spcAft>
                <a:spcPts val="2000"/>
              </a:spcAft>
            </a:pPr>
            <a:r>
              <a:rPr lang="en-AU" sz="6000" b="1" dirty="0">
                <a:cs typeface="Arial" panose="020B0604020202020204" pitchFamily="34" charset="0"/>
              </a:rPr>
              <a:t>329</a:t>
            </a:r>
          </a:p>
          <a:p>
            <a:pPr>
              <a:spcAft>
                <a:spcPts val="2000"/>
              </a:spcAft>
            </a:pPr>
            <a:r>
              <a:rPr lang="en-AU" sz="6000" b="1" dirty="0">
                <a:cs typeface="Arial" panose="020B0604020202020204" pitchFamily="34" charset="0"/>
              </a:rPr>
              <a:t>720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72724F-A8BA-4EA5-BABC-1A8531BF0F6A}"/>
              </a:ext>
            </a:extLst>
          </p:cNvPr>
          <p:cNvSpPr txBox="1"/>
          <p:nvPr/>
        </p:nvSpPr>
        <p:spPr>
          <a:xfrm>
            <a:off x="2183169" y="2876225"/>
            <a:ext cx="1607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5 + 6 = 11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9381D5-BA27-43C8-BB7C-814EE4BDF0B6}"/>
              </a:ext>
            </a:extLst>
          </p:cNvPr>
          <p:cNvSpPr txBox="1"/>
          <p:nvPr/>
        </p:nvSpPr>
        <p:spPr>
          <a:xfrm>
            <a:off x="2188754" y="3318666"/>
            <a:ext cx="390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11 is NOT in the 3x table.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AED56-58ED-4C7D-B1AB-848D9992D273}"/>
              </a:ext>
            </a:extLst>
          </p:cNvPr>
          <p:cNvSpPr txBox="1"/>
          <p:nvPr/>
        </p:nvSpPr>
        <p:spPr>
          <a:xfrm>
            <a:off x="2183169" y="4050029"/>
            <a:ext cx="1607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9 + 8 = 17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B40203-D7D9-4C95-87F2-920F77DFF48A}"/>
              </a:ext>
            </a:extLst>
          </p:cNvPr>
          <p:cNvSpPr txBox="1"/>
          <p:nvPr/>
        </p:nvSpPr>
        <p:spPr>
          <a:xfrm>
            <a:off x="2188754" y="4492470"/>
            <a:ext cx="390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17 is NOT in the 3x table.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5087283-8F8F-4834-A6CF-F650BAF87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74" y="4203777"/>
            <a:ext cx="673704" cy="64393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FF46FED-B4DE-4ECA-B7C6-8BC0BF0F40FE}"/>
              </a:ext>
            </a:extLst>
          </p:cNvPr>
          <p:cNvSpPr txBox="1"/>
          <p:nvPr/>
        </p:nvSpPr>
        <p:spPr>
          <a:xfrm>
            <a:off x="2183169" y="5223833"/>
            <a:ext cx="1607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6 + 3 = 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A98248-E746-4F45-A47F-7F392B41096D}"/>
              </a:ext>
            </a:extLst>
          </p:cNvPr>
          <p:cNvSpPr txBox="1"/>
          <p:nvPr/>
        </p:nvSpPr>
        <p:spPr>
          <a:xfrm>
            <a:off x="2188754" y="5666274"/>
            <a:ext cx="390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9 IS in the 3x table.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D285EAB-1500-451D-9145-D61080D7E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850" y="3069601"/>
            <a:ext cx="580187" cy="53785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BACC4D8-CCD7-48B1-9B54-8E327E532553}"/>
              </a:ext>
            </a:extLst>
          </p:cNvPr>
          <p:cNvSpPr txBox="1"/>
          <p:nvPr/>
        </p:nvSpPr>
        <p:spPr>
          <a:xfrm>
            <a:off x="8454387" y="2882578"/>
            <a:ext cx="255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5 + 5 + 8 = 18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F3B351-E95D-49E6-AD22-C52EE7D98ED4}"/>
              </a:ext>
            </a:extLst>
          </p:cNvPr>
          <p:cNvSpPr txBox="1"/>
          <p:nvPr/>
        </p:nvSpPr>
        <p:spPr>
          <a:xfrm>
            <a:off x="8459972" y="3325019"/>
            <a:ext cx="390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18 IS in the 3x table.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F8AB93B-63A2-41DC-AF7A-9EAB92C6D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150" y="4212735"/>
            <a:ext cx="673704" cy="64393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B5068ED-81DD-4B4F-AAFE-908C8A98ED9F}"/>
              </a:ext>
            </a:extLst>
          </p:cNvPr>
          <p:cNvSpPr txBox="1"/>
          <p:nvPr/>
        </p:nvSpPr>
        <p:spPr>
          <a:xfrm>
            <a:off x="8376445" y="4092262"/>
            <a:ext cx="2537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3 + 2 + 9 = 14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9138E3-A45E-4A56-B95E-A3A239CAE935}"/>
              </a:ext>
            </a:extLst>
          </p:cNvPr>
          <p:cNvSpPr txBox="1"/>
          <p:nvPr/>
        </p:nvSpPr>
        <p:spPr>
          <a:xfrm>
            <a:off x="8382030" y="4534703"/>
            <a:ext cx="390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14 is NOT in the 3x table.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02D19AF-CEF8-4A35-9581-33C02C12B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307" y="5458234"/>
            <a:ext cx="580187" cy="53785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1391454-BA29-45E9-8D46-79D9B90355EC}"/>
              </a:ext>
            </a:extLst>
          </p:cNvPr>
          <p:cNvSpPr txBox="1"/>
          <p:nvPr/>
        </p:nvSpPr>
        <p:spPr>
          <a:xfrm>
            <a:off x="8394844" y="5271211"/>
            <a:ext cx="255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7 + 2 + 0 = 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3B4FD0-D291-47AB-9A89-32A9CD3EBE27}"/>
              </a:ext>
            </a:extLst>
          </p:cNvPr>
          <p:cNvSpPr txBox="1"/>
          <p:nvPr/>
        </p:nvSpPr>
        <p:spPr>
          <a:xfrm>
            <a:off x="8400429" y="5713652"/>
            <a:ext cx="390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9 IS in the 3x table.</a:t>
            </a:r>
          </a:p>
        </p:txBody>
      </p:sp>
    </p:spTree>
    <p:extLst>
      <p:ext uri="{BB962C8B-B14F-4D97-AF65-F5344CB8AC3E}">
        <p14:creationId xmlns:p14="http://schemas.microsoft.com/office/powerpoint/2010/main" val="140610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7" grpId="0"/>
      <p:bldP spid="38" grpId="0"/>
      <p:bldP spid="40" grpId="0"/>
      <p:bldP spid="41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F36EF036-67C7-427F-A32F-A6AD26EDBCCA}"/>
              </a:ext>
            </a:extLst>
          </p:cNvPr>
          <p:cNvSpPr txBox="1"/>
          <p:nvPr/>
        </p:nvSpPr>
        <p:spPr>
          <a:xfrm>
            <a:off x="0" y="-20052"/>
            <a:ext cx="201488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Relevance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7BED26-ACC2-4F26-A5FB-1687DA3AB8D2}"/>
              </a:ext>
            </a:extLst>
          </p:cNvPr>
          <p:cNvSpPr txBox="1"/>
          <p:nvPr/>
        </p:nvSpPr>
        <p:spPr>
          <a:xfrm>
            <a:off x="310203" y="623383"/>
            <a:ext cx="11571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What you have just demonstrated are the most common rules of the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divisibility tests</a:t>
            </a:r>
            <a:r>
              <a:rPr lang="en-AU" sz="2800" b="1" dirty="0">
                <a:cs typeface="Arial" panose="020B0604020202020204" pitchFamily="34" charset="0"/>
              </a:rPr>
              <a:t>. </a:t>
            </a:r>
            <a:r>
              <a:rPr lang="en-AU" sz="2800" dirty="0">
                <a:cs typeface="Arial" panose="020B0604020202020204" pitchFamily="34" charset="0"/>
              </a:rPr>
              <a:t>The other rules are shown below: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1F391D-9EE0-4AD0-94CC-36936D18B5BD}"/>
              </a:ext>
            </a:extLst>
          </p:cNvPr>
          <p:cNvSpPr txBox="1"/>
          <p:nvPr/>
        </p:nvSpPr>
        <p:spPr>
          <a:xfrm>
            <a:off x="194012" y="5698902"/>
            <a:ext cx="1180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These tests will help you to quickly determine if a number is divisible by another. </a:t>
            </a:r>
          </a:p>
          <a:p>
            <a:r>
              <a:rPr lang="en-AU" sz="2800" dirty="0">
                <a:cs typeface="Arial" panose="020B0604020202020204" pitchFamily="34" charset="0"/>
              </a:rPr>
              <a:t>This will also help you identify the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factors</a:t>
            </a:r>
            <a:r>
              <a:rPr lang="en-AU" sz="2800" dirty="0">
                <a:cs typeface="Arial" panose="020B0604020202020204" pitchFamily="34" charset="0"/>
              </a:rPr>
              <a:t> of a number.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F75331-A82E-4695-AC6B-00F4B5FED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565" y="1636151"/>
            <a:ext cx="9312512" cy="396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7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</a:t>
            </a:r>
            <a:r>
              <a:rPr lang="en-AU" sz="4800" dirty="0" smtClean="0">
                <a:latin typeface="Arial Black" panose="020B0A04020102020204" pitchFamily="34" charset="0"/>
              </a:rPr>
              <a:t>following have 5 as a factor?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22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15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20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 smtClean="0"/>
              <a:t>567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1505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2 543 375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95282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</a:t>
            </a:r>
            <a:r>
              <a:rPr lang="en-AU" sz="4800" dirty="0" smtClean="0">
                <a:latin typeface="Arial Black" panose="020B0A04020102020204" pitchFamily="34" charset="0"/>
              </a:rPr>
              <a:t>following have 2 as a factor?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22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15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20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 smtClean="0"/>
              <a:t>567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1505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2 543 375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9801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6423" y="804672"/>
            <a:ext cx="92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factor</a:t>
            </a:r>
            <a:r>
              <a:rPr lang="en-AU" sz="2800" b="1" dirty="0">
                <a:cs typeface="Arial" panose="020B0604020202020204" pitchFamily="34" charset="0"/>
              </a:rPr>
              <a:t> is a number that divides exactly into another number (leaves no remainder or decimal). 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6EF036-67C7-427F-A32F-A6AD26EDBCC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86118"/>
            <a:chOff x="660399" y="3602071"/>
            <a:chExt cx="2035631" cy="9861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a factor?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7" y="1100775"/>
            <a:ext cx="2035631" cy="986118"/>
            <a:chOff x="660399" y="3602071"/>
            <a:chExt cx="2035631" cy="9861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don’t factors go on forever?</a:t>
              </a:r>
            </a:p>
          </p:txBody>
        </p:sp>
      </p:grpSp>
      <p:sp>
        <p:nvSpPr>
          <p:cNvPr id="30" name="Rectangle: Rounded Corners 15"/>
          <p:cNvSpPr/>
          <p:nvPr/>
        </p:nvSpPr>
        <p:spPr>
          <a:xfrm>
            <a:off x="926897" y="5096455"/>
            <a:ext cx="1794617" cy="707886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/>
          <p:cNvSpPr txBox="1"/>
          <p:nvPr/>
        </p:nvSpPr>
        <p:spPr>
          <a:xfrm>
            <a:off x="807257" y="5096455"/>
            <a:ext cx="2016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cs typeface="Arial" panose="020B0604020202020204" pitchFamily="34" charset="0"/>
              </a:rPr>
              <a:t>The first factor is always 1</a:t>
            </a:r>
          </a:p>
        </p:txBody>
      </p:sp>
      <p:sp>
        <p:nvSpPr>
          <p:cNvPr id="35" name="Rectangle: Rounded Corners 16"/>
          <p:cNvSpPr/>
          <p:nvPr/>
        </p:nvSpPr>
        <p:spPr>
          <a:xfrm>
            <a:off x="3856683" y="5096452"/>
            <a:ext cx="2016342" cy="10156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TextBox 35"/>
          <p:cNvSpPr txBox="1"/>
          <p:nvPr/>
        </p:nvSpPr>
        <p:spPr>
          <a:xfrm>
            <a:off x="3856683" y="5096452"/>
            <a:ext cx="20163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cs typeface="Arial" panose="020B0604020202020204" pitchFamily="34" charset="0"/>
              </a:rPr>
              <a:t>The last factor is always the original number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6423" y="2175131"/>
            <a:ext cx="113754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Unlike multiples, there are a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limited number of factors</a:t>
            </a:r>
            <a:r>
              <a:rPr lang="en-AU" sz="2800" dirty="0">
                <a:cs typeface="Arial" panose="020B0604020202020204" pitchFamily="34" charset="0"/>
              </a:rPr>
              <a:t>. This is because you can only divide up a number a certain number of times before it becomes too small (less than 1).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4276" y="3878529"/>
            <a:ext cx="4734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What are the factors of 4?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23599" y="4415769"/>
            <a:ext cx="1231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1, 2, 4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8416" y="3878529"/>
            <a:ext cx="4725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What are the factors of 6?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23098" y="4401749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1, 2, 3, 6</a:t>
            </a:r>
          </a:p>
        </p:txBody>
      </p:sp>
      <p:cxnSp>
        <p:nvCxnSpPr>
          <p:cNvPr id="49" name="Straight Arrow Connector 48"/>
          <p:cNvCxnSpPr>
            <a:cxnSpLocks/>
          </p:cNvCxnSpPr>
          <p:nvPr/>
        </p:nvCxnSpPr>
        <p:spPr>
          <a:xfrm flipV="1">
            <a:off x="2448453" y="4821926"/>
            <a:ext cx="495253" cy="2745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 flipV="1">
            <a:off x="3958768" y="4832636"/>
            <a:ext cx="297428" cy="2638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4993797" y="4348573"/>
            <a:ext cx="0" cy="7478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59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5" grpId="0" animBg="1"/>
      <p:bldP spid="36" grpId="0"/>
      <p:bldP spid="37" grpId="0"/>
      <p:bldP spid="38" grpId="0"/>
      <p:bldP spid="39" grpId="0"/>
      <p:bldP spid="47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977" y="683400"/>
            <a:ext cx="92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To ensure you find all of the factors of a number, it is easier to think of them in pairs.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380636"/>
            <a:chOff x="660399" y="3602071"/>
            <a:chExt cx="2035631" cy="138063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Think, Pair, Share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0"/>
              <a:ext cx="2035629" cy="1050747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is it easier to think of factors in pairs?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72AC71A-8B56-4830-97DF-AD43AEFC0E9A}"/>
              </a:ext>
            </a:extLst>
          </p:cNvPr>
          <p:cNvSpPr txBox="1">
            <a:spLocks/>
          </p:cNvSpPr>
          <p:nvPr/>
        </p:nvSpPr>
        <p:spPr>
          <a:xfrm>
            <a:off x="4024026" y="2443788"/>
            <a:ext cx="3341508" cy="1050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/>
              <a:t>__ x __ = 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93BB5D6-83C3-45BD-8300-AD20E3E8FC7F}"/>
              </a:ext>
            </a:extLst>
          </p:cNvPr>
          <p:cNvSpPr txBox="1">
            <a:spLocks/>
          </p:cNvSpPr>
          <p:nvPr/>
        </p:nvSpPr>
        <p:spPr>
          <a:xfrm>
            <a:off x="4176426" y="2369035"/>
            <a:ext cx="521409" cy="901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>
                <a:solidFill>
                  <a:srgbClr val="C00000"/>
                </a:solidFill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8F8FC13-75F6-43F7-9F72-2ADF56843CB9}"/>
              </a:ext>
            </a:extLst>
          </p:cNvPr>
          <p:cNvSpPr txBox="1">
            <a:spLocks/>
          </p:cNvSpPr>
          <p:nvPr/>
        </p:nvSpPr>
        <p:spPr>
          <a:xfrm>
            <a:off x="5510275" y="2369035"/>
            <a:ext cx="521409" cy="901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>
                <a:solidFill>
                  <a:srgbClr val="C00000"/>
                </a:solidFill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CB74F95-4E3F-4A7E-B071-DE9CE318CD34}"/>
              </a:ext>
            </a:extLst>
          </p:cNvPr>
          <p:cNvSpPr txBox="1">
            <a:spLocks/>
          </p:cNvSpPr>
          <p:nvPr/>
        </p:nvSpPr>
        <p:spPr>
          <a:xfrm>
            <a:off x="1309808" y="4135951"/>
            <a:ext cx="10017746" cy="1050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/>
              <a:t>The factors of 4 are ________.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6967762-30F4-4801-B609-53F73F6E7C18}"/>
              </a:ext>
            </a:extLst>
          </p:cNvPr>
          <p:cNvSpPr txBox="1">
            <a:spLocks/>
          </p:cNvSpPr>
          <p:nvPr/>
        </p:nvSpPr>
        <p:spPr>
          <a:xfrm>
            <a:off x="7024243" y="4001881"/>
            <a:ext cx="521409" cy="901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>
                <a:solidFill>
                  <a:srgbClr val="C00000"/>
                </a:solidFill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0ED7F09-7FA0-4B1A-8BAF-46AB2207FC9C}"/>
              </a:ext>
            </a:extLst>
          </p:cNvPr>
          <p:cNvSpPr txBox="1">
            <a:spLocks/>
          </p:cNvSpPr>
          <p:nvPr/>
        </p:nvSpPr>
        <p:spPr>
          <a:xfrm>
            <a:off x="8825742" y="4001881"/>
            <a:ext cx="1100911" cy="1396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>
                <a:solidFill>
                  <a:srgbClr val="C00000"/>
                </a:solidFill>
              </a:rPr>
              <a:t>  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B182E56C-1E79-4976-8835-C4F3BEEF8207}"/>
              </a:ext>
            </a:extLst>
          </p:cNvPr>
          <p:cNvSpPr txBox="1">
            <a:spLocks/>
          </p:cNvSpPr>
          <p:nvPr/>
        </p:nvSpPr>
        <p:spPr>
          <a:xfrm>
            <a:off x="7937770" y="4001881"/>
            <a:ext cx="858126" cy="1147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>
                <a:solidFill>
                  <a:srgbClr val="C00000"/>
                </a:solidFill>
              </a:rPr>
              <a:t>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1620DA9-2396-4483-85C8-74226EBAF96A}"/>
              </a:ext>
            </a:extLst>
          </p:cNvPr>
          <p:cNvSpPr txBox="1">
            <a:spLocks/>
          </p:cNvSpPr>
          <p:nvPr/>
        </p:nvSpPr>
        <p:spPr>
          <a:xfrm>
            <a:off x="4176426" y="2369035"/>
            <a:ext cx="521409" cy="901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>
                <a:solidFill>
                  <a:srgbClr val="C00000"/>
                </a:solidFill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EB13B3D4-7597-4711-816D-3BEA7888782E}"/>
              </a:ext>
            </a:extLst>
          </p:cNvPr>
          <p:cNvSpPr txBox="1">
            <a:spLocks/>
          </p:cNvSpPr>
          <p:nvPr/>
        </p:nvSpPr>
        <p:spPr>
          <a:xfrm>
            <a:off x="5510274" y="2369035"/>
            <a:ext cx="521409" cy="901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>
                <a:solidFill>
                  <a:srgbClr val="C00000"/>
                </a:solidFill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A2DD9F61-60E1-475F-85DC-B8329E59E1E8}"/>
              </a:ext>
            </a:extLst>
          </p:cNvPr>
          <p:cNvSpPr txBox="1">
            <a:spLocks/>
          </p:cNvSpPr>
          <p:nvPr/>
        </p:nvSpPr>
        <p:spPr>
          <a:xfrm>
            <a:off x="7661895" y="4001881"/>
            <a:ext cx="1452921" cy="11471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>
                <a:solidFill>
                  <a:srgbClr val="C00000"/>
                </a:solidFill>
              </a:rPr>
              <a:t>,      ,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2185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33" grpId="0"/>
      <p:bldP spid="33" grpId="1"/>
      <p:bldP spid="35" grpId="0"/>
      <p:bldP spid="36" grpId="0"/>
      <p:bldP spid="44" grpId="0"/>
      <p:bldP spid="45" grpId="0"/>
      <p:bldP spid="46" grpId="0"/>
      <p:bldP spid="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977" y="683400"/>
            <a:ext cx="9231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Find the factors of the numbers below: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021404"/>
            <a:chOff x="660399" y="3602071"/>
            <a:chExt cx="2035631" cy="102140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0"/>
              <a:ext cx="2035629" cy="691515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Think of factors in pairs.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194B3-BEA3-464C-B877-CD0C7A2B2653}"/>
              </a:ext>
            </a:extLst>
          </p:cNvPr>
          <p:cNvSpPr txBox="1"/>
          <p:nvPr/>
        </p:nvSpPr>
        <p:spPr>
          <a:xfrm>
            <a:off x="1903884" y="1828022"/>
            <a:ext cx="281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Factors of 12</a:t>
            </a:r>
            <a:endParaRPr lang="en-AU" sz="3600" dirty="0"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34AC5B-304B-4033-8368-B028B2D12119}"/>
              </a:ext>
            </a:extLst>
          </p:cNvPr>
          <p:cNvSpPr txBox="1"/>
          <p:nvPr/>
        </p:nvSpPr>
        <p:spPr>
          <a:xfrm>
            <a:off x="1903884" y="4251178"/>
            <a:ext cx="281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Factors of 24</a:t>
            </a:r>
            <a:endParaRPr lang="en-AU" sz="3600" dirty="0"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B5D66D-11CF-480E-841E-420DAF113E83}"/>
              </a:ext>
            </a:extLst>
          </p:cNvPr>
          <p:cNvSpPr txBox="1"/>
          <p:nvPr/>
        </p:nvSpPr>
        <p:spPr>
          <a:xfrm>
            <a:off x="7221671" y="1828022"/>
            <a:ext cx="281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Factors of 20</a:t>
            </a:r>
            <a:endParaRPr lang="en-AU" sz="36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802125-20E3-47C9-9270-63B611F17FE9}"/>
              </a:ext>
            </a:extLst>
          </p:cNvPr>
          <p:cNvSpPr txBox="1"/>
          <p:nvPr/>
        </p:nvSpPr>
        <p:spPr>
          <a:xfrm>
            <a:off x="7221671" y="4251178"/>
            <a:ext cx="281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Factors of 32</a:t>
            </a:r>
            <a:endParaRPr lang="en-AU" sz="36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F76AAE-8773-4303-98AF-9FA6E9CFF981}"/>
              </a:ext>
            </a:extLst>
          </p:cNvPr>
          <p:cNvSpPr txBox="1"/>
          <p:nvPr/>
        </p:nvSpPr>
        <p:spPr>
          <a:xfrm>
            <a:off x="1243659" y="3458823"/>
            <a:ext cx="3758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1, 2, 3, 4, 6, 12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1D49E3-547B-46A7-AF82-DF5CD3391CD2}"/>
              </a:ext>
            </a:extLst>
          </p:cNvPr>
          <p:cNvSpPr txBox="1"/>
          <p:nvPr/>
        </p:nvSpPr>
        <p:spPr>
          <a:xfrm>
            <a:off x="6665327" y="3456422"/>
            <a:ext cx="3758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1, 2, 4, 5, 10, 20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E3872-B507-47E4-AE37-5A6E878C6762}"/>
              </a:ext>
            </a:extLst>
          </p:cNvPr>
          <p:cNvSpPr txBox="1"/>
          <p:nvPr/>
        </p:nvSpPr>
        <p:spPr>
          <a:xfrm>
            <a:off x="1431048" y="5975146"/>
            <a:ext cx="3758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1, 2, 3, 4, 6, 8, 12, 24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165BAA-1D92-486C-92CE-2E15651AD9DA}"/>
              </a:ext>
            </a:extLst>
          </p:cNvPr>
          <p:cNvSpPr txBox="1"/>
          <p:nvPr/>
        </p:nvSpPr>
        <p:spPr>
          <a:xfrm>
            <a:off x="7147426" y="5975146"/>
            <a:ext cx="2877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1, 2, 4, 8, 16, 32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B7176F-FCB2-484C-82AA-BF40675284A5}"/>
              </a:ext>
            </a:extLst>
          </p:cNvPr>
          <p:cNvSpPr txBox="1"/>
          <p:nvPr/>
        </p:nvSpPr>
        <p:spPr>
          <a:xfrm>
            <a:off x="1956806" y="2446138"/>
            <a:ext cx="564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D3D8CB-4F04-4E7D-88C4-DCFA44B2E1B2}"/>
              </a:ext>
            </a:extLst>
          </p:cNvPr>
          <p:cNvSpPr txBox="1"/>
          <p:nvPr/>
        </p:nvSpPr>
        <p:spPr>
          <a:xfrm>
            <a:off x="1903884" y="2899862"/>
            <a:ext cx="670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10D7C9-4A21-4A36-8D58-25368A53E98A}"/>
              </a:ext>
            </a:extLst>
          </p:cNvPr>
          <p:cNvSpPr txBox="1"/>
          <p:nvPr/>
        </p:nvSpPr>
        <p:spPr>
          <a:xfrm>
            <a:off x="2574641" y="2446138"/>
            <a:ext cx="564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8B4645-9BDB-450A-A318-67A31D41846E}"/>
              </a:ext>
            </a:extLst>
          </p:cNvPr>
          <p:cNvSpPr txBox="1"/>
          <p:nvPr/>
        </p:nvSpPr>
        <p:spPr>
          <a:xfrm>
            <a:off x="2521719" y="2899862"/>
            <a:ext cx="670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557110-D34E-488B-8954-08D1F3462700}"/>
              </a:ext>
            </a:extLst>
          </p:cNvPr>
          <p:cNvSpPr txBox="1"/>
          <p:nvPr/>
        </p:nvSpPr>
        <p:spPr>
          <a:xfrm>
            <a:off x="3156480" y="2446138"/>
            <a:ext cx="564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EA74F9-997E-410A-953B-E625E97A1EE3}"/>
              </a:ext>
            </a:extLst>
          </p:cNvPr>
          <p:cNvSpPr txBox="1"/>
          <p:nvPr/>
        </p:nvSpPr>
        <p:spPr>
          <a:xfrm>
            <a:off x="3103558" y="2899862"/>
            <a:ext cx="670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8A1428-08FA-4DF6-8E85-9FA3C12FB575}"/>
              </a:ext>
            </a:extLst>
          </p:cNvPr>
          <p:cNvSpPr txBox="1"/>
          <p:nvPr/>
        </p:nvSpPr>
        <p:spPr>
          <a:xfrm>
            <a:off x="3681239" y="2434967"/>
            <a:ext cx="564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05C05E-796C-47A0-80FA-2DE4BF032C35}"/>
              </a:ext>
            </a:extLst>
          </p:cNvPr>
          <p:cNvSpPr txBox="1"/>
          <p:nvPr/>
        </p:nvSpPr>
        <p:spPr>
          <a:xfrm>
            <a:off x="3628317" y="2888691"/>
            <a:ext cx="670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2069" y="411267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22699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37" grpId="0"/>
      <p:bldP spid="38" grpId="0"/>
      <p:bldP spid="39" grpId="0"/>
      <p:bldP spid="40" grpId="0"/>
      <p:bldP spid="41" grpId="0"/>
      <p:bldP spid="42" grpId="0"/>
      <p:bldP spid="42" grpId="1"/>
      <p:bldP spid="43" grpId="0"/>
      <p:bldP spid="43" grpId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977" y="683400"/>
            <a:ext cx="10069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For larger and more difficult numbers, work your way up from 1, asking “is it divisible?”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4CB686-D50C-4231-948C-3158841D47E1}"/>
              </a:ext>
            </a:extLst>
          </p:cNvPr>
          <p:cNvSpPr txBox="1"/>
          <p:nvPr/>
        </p:nvSpPr>
        <p:spPr>
          <a:xfrm>
            <a:off x="202977" y="2308796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1?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8303C0-DC2E-4EB1-9BD7-43AA67741680}"/>
              </a:ext>
            </a:extLst>
          </p:cNvPr>
          <p:cNvSpPr txBox="1"/>
          <p:nvPr/>
        </p:nvSpPr>
        <p:spPr>
          <a:xfrm>
            <a:off x="3280160" y="2308796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Yes,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1</a:t>
            </a:r>
            <a:r>
              <a:rPr lang="en-AU" sz="2800" dirty="0">
                <a:cs typeface="Arial" panose="020B0604020202020204" pitchFamily="34" charset="0"/>
              </a:rPr>
              <a:t> x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75</a:t>
            </a:r>
            <a:r>
              <a:rPr lang="en-AU" sz="2800" dirty="0">
                <a:cs typeface="Arial" panose="020B0604020202020204" pitchFamily="34" charset="0"/>
              </a:rPr>
              <a:t> = 75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CEAE965-D4A2-4DF6-AF17-C660DDC9E253}"/>
              </a:ext>
            </a:extLst>
          </p:cNvPr>
          <p:cNvSpPr txBox="1">
            <a:spLocks/>
          </p:cNvSpPr>
          <p:nvPr/>
        </p:nvSpPr>
        <p:spPr>
          <a:xfrm>
            <a:off x="202977" y="1689573"/>
            <a:ext cx="8950751" cy="606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600" b="1" dirty="0">
                <a:solidFill>
                  <a:srgbClr val="C00000"/>
                </a:solidFill>
              </a:rPr>
              <a:t>The factors of 75 are ________________.</a:t>
            </a:r>
            <a:endParaRPr lang="en-AU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C2FAB4-6F3D-40A8-9152-C83242576555}"/>
              </a:ext>
            </a:extLst>
          </p:cNvPr>
          <p:cNvSpPr txBox="1"/>
          <p:nvPr/>
        </p:nvSpPr>
        <p:spPr>
          <a:xfrm>
            <a:off x="202977" y="2797374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2?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35B279-B8AC-4D9A-B0C4-0046D9D13388}"/>
              </a:ext>
            </a:extLst>
          </p:cNvPr>
          <p:cNvSpPr txBox="1"/>
          <p:nvPr/>
        </p:nvSpPr>
        <p:spPr>
          <a:xfrm>
            <a:off x="3280160" y="2797374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1505B9-CE61-4A77-8867-5612A572960E}"/>
              </a:ext>
            </a:extLst>
          </p:cNvPr>
          <p:cNvSpPr txBox="1"/>
          <p:nvPr/>
        </p:nvSpPr>
        <p:spPr>
          <a:xfrm>
            <a:off x="202977" y="3295566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3?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84F866-B8A6-4C76-8531-CE5E3BC2E2D7}"/>
              </a:ext>
            </a:extLst>
          </p:cNvPr>
          <p:cNvSpPr txBox="1"/>
          <p:nvPr/>
        </p:nvSpPr>
        <p:spPr>
          <a:xfrm>
            <a:off x="3280160" y="3295566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Yes,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3</a:t>
            </a:r>
            <a:r>
              <a:rPr lang="en-AU" sz="2800" dirty="0">
                <a:cs typeface="Arial" panose="020B0604020202020204" pitchFamily="34" charset="0"/>
              </a:rPr>
              <a:t> x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25</a:t>
            </a:r>
            <a:r>
              <a:rPr lang="en-AU" sz="2800" dirty="0">
                <a:cs typeface="Arial" panose="020B0604020202020204" pitchFamily="34" charset="0"/>
              </a:rPr>
              <a:t> = 75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61374AC-0A27-4F68-AE0F-166D7D920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051" y="2425141"/>
            <a:ext cx="6435947" cy="274328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0E672A4-A2DF-4754-8D67-9A090F1851C1}"/>
              </a:ext>
            </a:extLst>
          </p:cNvPr>
          <p:cNvSpPr txBox="1"/>
          <p:nvPr/>
        </p:nvSpPr>
        <p:spPr>
          <a:xfrm>
            <a:off x="202977" y="3812944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4?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7CFECE-FCC7-4507-BAD8-DACCF79ADBBF}"/>
              </a:ext>
            </a:extLst>
          </p:cNvPr>
          <p:cNvSpPr txBox="1"/>
          <p:nvPr/>
        </p:nvSpPr>
        <p:spPr>
          <a:xfrm>
            <a:off x="3280160" y="3812944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018BC1-4FD4-4D8C-9EF2-5F788B70EAEC}"/>
              </a:ext>
            </a:extLst>
          </p:cNvPr>
          <p:cNvSpPr txBox="1"/>
          <p:nvPr/>
        </p:nvSpPr>
        <p:spPr>
          <a:xfrm>
            <a:off x="202977" y="4316482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5?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BDCC26-1B38-4DEC-B6AB-E4E385BE65A8}"/>
              </a:ext>
            </a:extLst>
          </p:cNvPr>
          <p:cNvSpPr txBox="1"/>
          <p:nvPr/>
        </p:nvSpPr>
        <p:spPr>
          <a:xfrm>
            <a:off x="3280160" y="4316482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Yes,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5</a:t>
            </a:r>
            <a:r>
              <a:rPr lang="en-AU" sz="2800" dirty="0">
                <a:cs typeface="Arial" panose="020B0604020202020204" pitchFamily="34" charset="0"/>
              </a:rPr>
              <a:t> x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15</a:t>
            </a:r>
            <a:r>
              <a:rPr lang="en-AU" sz="2800" dirty="0">
                <a:cs typeface="Arial" panose="020B0604020202020204" pitchFamily="34" charset="0"/>
              </a:rPr>
              <a:t> = 75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DFEC5B-47E0-42EC-BA0B-93EF529C4150}"/>
              </a:ext>
            </a:extLst>
          </p:cNvPr>
          <p:cNvSpPr txBox="1"/>
          <p:nvPr/>
        </p:nvSpPr>
        <p:spPr>
          <a:xfrm>
            <a:off x="202977" y="4821023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6?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E314D3-580F-4F1A-8308-72C1652FAB56}"/>
              </a:ext>
            </a:extLst>
          </p:cNvPr>
          <p:cNvSpPr txBox="1"/>
          <p:nvPr/>
        </p:nvSpPr>
        <p:spPr>
          <a:xfrm>
            <a:off x="3280160" y="4821023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963170-6FA8-4979-8746-324DA7777306}"/>
              </a:ext>
            </a:extLst>
          </p:cNvPr>
          <p:cNvSpPr txBox="1"/>
          <p:nvPr/>
        </p:nvSpPr>
        <p:spPr>
          <a:xfrm>
            <a:off x="202977" y="5316192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7?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2A98B4-6188-492B-811C-1AE4BD896F04}"/>
              </a:ext>
            </a:extLst>
          </p:cNvPr>
          <p:cNvSpPr txBox="1"/>
          <p:nvPr/>
        </p:nvSpPr>
        <p:spPr>
          <a:xfrm>
            <a:off x="3280160" y="5316192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D360A3-164A-46D9-8DAF-1F3476CD2460}"/>
              </a:ext>
            </a:extLst>
          </p:cNvPr>
          <p:cNvSpPr txBox="1"/>
          <p:nvPr/>
        </p:nvSpPr>
        <p:spPr>
          <a:xfrm>
            <a:off x="202977" y="5825304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8?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469DF6-88C0-4647-BA40-A324810BF6A3}"/>
              </a:ext>
            </a:extLst>
          </p:cNvPr>
          <p:cNvSpPr txBox="1"/>
          <p:nvPr/>
        </p:nvSpPr>
        <p:spPr>
          <a:xfrm>
            <a:off x="3280160" y="5825304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F8BF27-AA2B-4227-B4F1-005FFEC489F4}"/>
              </a:ext>
            </a:extLst>
          </p:cNvPr>
          <p:cNvSpPr txBox="1"/>
          <p:nvPr/>
        </p:nvSpPr>
        <p:spPr>
          <a:xfrm>
            <a:off x="202977" y="6315902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Is it divisible by 9?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7E3439-30BA-440A-9AD2-7BD033948451}"/>
              </a:ext>
            </a:extLst>
          </p:cNvPr>
          <p:cNvSpPr txBox="1"/>
          <p:nvPr/>
        </p:nvSpPr>
        <p:spPr>
          <a:xfrm>
            <a:off x="3280160" y="6315902"/>
            <a:ext cx="2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300BE0F7-C91D-4E88-8C2A-96EB1DC76A47}"/>
              </a:ext>
            </a:extLst>
          </p:cNvPr>
          <p:cNvSpPr txBox="1">
            <a:spLocks/>
          </p:cNvSpPr>
          <p:nvPr/>
        </p:nvSpPr>
        <p:spPr>
          <a:xfrm>
            <a:off x="4371658" y="1637507"/>
            <a:ext cx="3428682" cy="5596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600" b="1" dirty="0">
                <a:solidFill>
                  <a:srgbClr val="002060"/>
                </a:solidFill>
              </a:rPr>
              <a:t>1, 3, 5, 15, 25, 75</a:t>
            </a:r>
            <a:endParaRPr lang="en-A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27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2" grpId="0"/>
      <p:bldP spid="25" grpId="0"/>
      <p:bldP spid="29" grpId="0"/>
      <p:bldP spid="38" grpId="0"/>
      <p:bldP spid="39" grpId="0"/>
      <p:bldP spid="40" grpId="0"/>
      <p:bldP spid="41" grpId="0"/>
      <p:bldP spid="42" grpId="0"/>
      <p:bldP spid="43" grpId="0"/>
      <p:bldP spid="47" grpId="0"/>
      <p:bldP spid="48" grpId="0"/>
      <p:bldP spid="49" grpId="0"/>
      <p:bldP spid="50" grpId="0"/>
      <p:bldP spid="51" grpId="0"/>
      <p:bldP spid="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14"/>
          <p:cNvSpPr/>
          <p:nvPr/>
        </p:nvSpPr>
        <p:spPr>
          <a:xfrm>
            <a:off x="8745191" y="3322203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7248222" y="3322202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5902875" y="2216628"/>
            <a:ext cx="5014117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74803" y="2267703"/>
            <a:ext cx="5097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Common Factors of 9 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36170"/>
            <a:ext cx="9833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Just like common multiples, a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common factor</a:t>
            </a:r>
            <a:r>
              <a:rPr lang="en-AU" sz="2800" b="1" dirty="0">
                <a:cs typeface="Arial" panose="020B0604020202020204" pitchFamily="34" charset="0"/>
              </a:rPr>
              <a:t> divides exactly into two or more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6906" y="2145197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6906" y="3282855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factors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6906" y="4420513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6905" y="5558171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20431" y="5167002"/>
            <a:ext cx="4877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common factors of 9 and 6 are 1 and 3.</a:t>
            </a:r>
          </a:p>
        </p:txBody>
      </p:sp>
      <p:sp>
        <p:nvSpPr>
          <p:cNvPr id="25" name="Rectangle: Rounded Corners 14">
            <a:extLst>
              <a:ext uri="{FF2B5EF4-FFF2-40B4-BE49-F238E27FC236}">
                <a16:creationId xmlns:a16="http://schemas.microsoft.com/office/drawing/2014/main" id="{E7207783-BBAE-41E5-BA58-F1D69E6EB42A}"/>
              </a:ext>
            </a:extLst>
          </p:cNvPr>
          <p:cNvSpPr/>
          <p:nvPr/>
        </p:nvSpPr>
        <p:spPr>
          <a:xfrm>
            <a:off x="8745190" y="4171885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EF1798E-0775-45DC-A1FE-D97A09ABDA96}"/>
              </a:ext>
            </a:extLst>
          </p:cNvPr>
          <p:cNvSpPr/>
          <p:nvPr/>
        </p:nvSpPr>
        <p:spPr>
          <a:xfrm>
            <a:off x="7248222" y="3748589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04091" y="3282855"/>
            <a:ext cx="18613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060" y="3282855"/>
            <a:ext cx="18613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81AB24-38F2-44C5-860F-1E12FD5A5DEA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9CB23E-2688-4DD5-B32F-844EA834142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4A2A35F-C58F-4D15-A3E1-B769830D9124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is 1 always a common factor?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2FB7597-0BEE-4A04-BFEF-670A756E2892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415495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5" grpId="0" animBg="1"/>
      <p:bldP spid="5" grpId="0" animBg="1"/>
      <p:bldP spid="13" grpId="0"/>
      <p:bldP spid="19" grpId="0"/>
      <p:bldP spid="20" grpId="0"/>
      <p:bldP spid="21" grpId="0"/>
      <p:bldP spid="22" grpId="0"/>
      <p:bldP spid="24" grpId="0"/>
      <p:bldP spid="25" grpId="0" animBg="1"/>
      <p:bldP spid="26" grpId="0" animBg="1"/>
      <p:bldP spid="29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14"/>
          <p:cNvSpPr/>
          <p:nvPr/>
        </p:nvSpPr>
        <p:spPr>
          <a:xfrm>
            <a:off x="8823245" y="3090514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7326276" y="3090513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5902875" y="2216628"/>
            <a:ext cx="5014117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74803" y="2267703"/>
            <a:ext cx="5097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Common Factors of 4 and 20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36170"/>
            <a:ext cx="9833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Just like common multiples, a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common factor</a:t>
            </a:r>
            <a:r>
              <a:rPr lang="en-AU" sz="2800" b="1" dirty="0">
                <a:cs typeface="Arial" panose="020B0604020202020204" pitchFamily="34" charset="0"/>
              </a:rPr>
              <a:t> divides exactly into two or more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6906" y="2145197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6906" y="3282855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factors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6906" y="4420513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6905" y="5558171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04840" y="5728822"/>
            <a:ext cx="5014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common factors of 4 and 20 are 1, 2 and 4.</a:t>
            </a:r>
          </a:p>
        </p:txBody>
      </p:sp>
      <p:sp>
        <p:nvSpPr>
          <p:cNvPr id="25" name="Rectangle: Rounded Corners 14">
            <a:extLst>
              <a:ext uri="{FF2B5EF4-FFF2-40B4-BE49-F238E27FC236}">
                <a16:creationId xmlns:a16="http://schemas.microsoft.com/office/drawing/2014/main" id="{E7207783-BBAE-41E5-BA58-F1D69E6EB42A}"/>
              </a:ext>
            </a:extLst>
          </p:cNvPr>
          <p:cNvSpPr/>
          <p:nvPr/>
        </p:nvSpPr>
        <p:spPr>
          <a:xfrm>
            <a:off x="8823244" y="3522046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EF1798E-0775-45DC-A1FE-D97A09ABDA96}"/>
              </a:ext>
            </a:extLst>
          </p:cNvPr>
          <p:cNvSpPr/>
          <p:nvPr/>
        </p:nvSpPr>
        <p:spPr>
          <a:xfrm>
            <a:off x="7326276" y="3543270"/>
            <a:ext cx="573093" cy="4263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81AB24-38F2-44C5-860F-1E12FD5A5DEA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9CB23E-2688-4DD5-B32F-844EA834142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4A2A35F-C58F-4D15-A3E1-B769830D9124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is 1 always a common factor?</a:t>
              </a:r>
            </a:p>
          </p:txBody>
        </p:sp>
      </p:grpSp>
      <p:sp>
        <p:nvSpPr>
          <p:cNvPr id="32" name="Rectangle: Rounded Corners 14">
            <a:extLst>
              <a:ext uri="{FF2B5EF4-FFF2-40B4-BE49-F238E27FC236}">
                <a16:creationId xmlns:a16="http://schemas.microsoft.com/office/drawing/2014/main" id="{B8F8E70E-532C-4D46-80BF-623E538246BF}"/>
              </a:ext>
            </a:extLst>
          </p:cNvPr>
          <p:cNvSpPr/>
          <p:nvPr/>
        </p:nvSpPr>
        <p:spPr>
          <a:xfrm>
            <a:off x="8823243" y="3929198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FD40E67-4D2E-4474-BF11-EC043EEF3E67}"/>
              </a:ext>
            </a:extLst>
          </p:cNvPr>
          <p:cNvSpPr/>
          <p:nvPr/>
        </p:nvSpPr>
        <p:spPr>
          <a:xfrm>
            <a:off x="7326275" y="3950422"/>
            <a:ext cx="573093" cy="4263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82145" y="3051166"/>
            <a:ext cx="18613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9114" y="3051166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EAD3F1-263D-48BC-AC40-3EE137F0DEE2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94913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5" grpId="0" animBg="1"/>
      <p:bldP spid="24" grpId="0"/>
      <p:bldP spid="25" grpId="0" animBg="1"/>
      <p:bldP spid="26" grpId="0" animBg="1"/>
      <p:bldP spid="32" grpId="0" animBg="1"/>
      <p:bldP spid="33" grpId="0" animBg="1"/>
      <p:bldP spid="2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</a:t>
            </a:r>
            <a:r>
              <a:rPr lang="en-AU" sz="4800" dirty="0" smtClean="0">
                <a:latin typeface="Arial Black" panose="020B0A04020102020204" pitchFamily="34" charset="0"/>
              </a:rPr>
              <a:t>of</a:t>
            </a:r>
            <a:r>
              <a:rPr lang="en-AU" sz="4800" dirty="0" smtClean="0">
                <a:latin typeface="Arial Black" panose="020B0A04020102020204" pitchFamily="34" charset="0"/>
              </a:rPr>
              <a:t> the following are common factors of 12 and 20?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1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3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2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/>
              <a:t>4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10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12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23733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6423" y="804672"/>
            <a:ext cx="108517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It is often useful to find the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highest common factor (HCF) </a:t>
            </a:r>
            <a:r>
              <a:rPr lang="en-AU" sz="2800" b="1" dirty="0">
                <a:cs typeface="Arial" panose="020B0604020202020204" pitchFamily="34" charset="0"/>
              </a:rPr>
              <a:t>of a pair of numbers.</a:t>
            </a:r>
            <a:r>
              <a:rPr lang="en-AU" sz="2800" dirty="0">
                <a:cs typeface="Arial" panose="020B0604020202020204" pitchFamily="34" charset="0"/>
              </a:rPr>
              <a:t> This is also known as the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greatest common devisor (GCD)</a:t>
            </a:r>
            <a:r>
              <a:rPr lang="en-AU" sz="2800" dirty="0">
                <a:cs typeface="Arial" panose="020B0604020202020204" pitchFamily="34" charset="0"/>
              </a:rPr>
              <a:t>.</a:t>
            </a:r>
            <a:endParaRPr lang="en-AU" sz="2800" dirty="0">
              <a:solidFill>
                <a:srgbClr val="C00000"/>
              </a:solidFill>
            </a:endParaRPr>
          </a:p>
          <a:p>
            <a:endParaRPr lang="en-AU" sz="2800" b="1" dirty="0">
              <a:cs typeface="Arial" panose="020B0604020202020204" pitchFamily="34" charset="0"/>
            </a:endParaRPr>
          </a:p>
        </p:txBody>
      </p:sp>
      <p:sp>
        <p:nvSpPr>
          <p:cNvPr id="22" name="Rectangle: Rounded Corners 14">
            <a:extLst>
              <a:ext uri="{FF2B5EF4-FFF2-40B4-BE49-F238E27FC236}">
                <a16:creationId xmlns:a16="http://schemas.microsoft.com/office/drawing/2014/main" id="{BB3753FF-5114-494D-8C7F-59CF90B69A04}"/>
              </a:ext>
            </a:extLst>
          </p:cNvPr>
          <p:cNvSpPr/>
          <p:nvPr/>
        </p:nvSpPr>
        <p:spPr>
          <a:xfrm>
            <a:off x="8636071" y="4368278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B5DE40-6BFA-4346-BA79-A68A21FA7106}"/>
              </a:ext>
            </a:extLst>
          </p:cNvPr>
          <p:cNvSpPr/>
          <p:nvPr/>
        </p:nvSpPr>
        <p:spPr>
          <a:xfrm>
            <a:off x="7139104" y="4776047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CFB8AB-90F3-4A7A-9532-A3577C3E580D}"/>
              </a:ext>
            </a:extLst>
          </p:cNvPr>
          <p:cNvSpPr/>
          <p:nvPr/>
        </p:nvSpPr>
        <p:spPr>
          <a:xfrm>
            <a:off x="5042869" y="2252737"/>
            <a:ext cx="6505002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624D5-5647-4E64-8C7E-167C3DAA4F22}"/>
              </a:ext>
            </a:extLst>
          </p:cNvPr>
          <p:cNvSpPr txBox="1"/>
          <p:nvPr/>
        </p:nvSpPr>
        <p:spPr>
          <a:xfrm>
            <a:off x="5042869" y="2293655"/>
            <a:ext cx="650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Highest Common Factor of 12 and 18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3DD279-E129-41AD-B18D-E69D2BF4E4FD}"/>
              </a:ext>
            </a:extLst>
          </p:cNvPr>
          <p:cNvSpPr txBox="1"/>
          <p:nvPr/>
        </p:nvSpPr>
        <p:spPr>
          <a:xfrm>
            <a:off x="286424" y="2189667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0DF904-3AAA-4D21-A550-8EA6034D157C}"/>
              </a:ext>
            </a:extLst>
          </p:cNvPr>
          <p:cNvSpPr txBox="1"/>
          <p:nvPr/>
        </p:nvSpPr>
        <p:spPr>
          <a:xfrm>
            <a:off x="286424" y="3327325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factors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69BB89-C0D2-4A04-8591-F6323F27C586}"/>
              </a:ext>
            </a:extLst>
          </p:cNvPr>
          <p:cNvSpPr txBox="1"/>
          <p:nvPr/>
        </p:nvSpPr>
        <p:spPr>
          <a:xfrm>
            <a:off x="286424" y="4464983"/>
            <a:ext cx="56312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largest number in common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A741CE-DA6C-4BD6-ADAE-A652C6C7EC47}"/>
              </a:ext>
            </a:extLst>
          </p:cNvPr>
          <p:cNvSpPr txBox="1"/>
          <p:nvPr/>
        </p:nvSpPr>
        <p:spPr>
          <a:xfrm>
            <a:off x="286423" y="5602641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1A0B1C-D79A-4839-999A-11C70469E17A}"/>
              </a:ext>
            </a:extLst>
          </p:cNvPr>
          <p:cNvSpPr txBox="1"/>
          <p:nvPr/>
        </p:nvSpPr>
        <p:spPr>
          <a:xfrm>
            <a:off x="5712296" y="5735139"/>
            <a:ext cx="62029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highest common factor of 12 and 18 is 6.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399945-9F1C-4CA6-8ADD-15878FF50DF8}"/>
              </a:ext>
            </a:extLst>
          </p:cNvPr>
          <p:cNvSpPr txBox="1"/>
          <p:nvPr/>
        </p:nvSpPr>
        <p:spPr>
          <a:xfrm>
            <a:off x="6494971" y="3057483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D27DE9-1910-4142-8DCB-BF452D9E59DB}"/>
              </a:ext>
            </a:extLst>
          </p:cNvPr>
          <p:cNvSpPr txBox="1"/>
          <p:nvPr/>
        </p:nvSpPr>
        <p:spPr>
          <a:xfrm>
            <a:off x="7991940" y="3057483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0E9342-5462-4626-A025-5D952A79DF82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81AB24-38F2-44C5-860F-1E12FD5A5DEA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9CB23E-2688-4DD5-B32F-844EA834142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4A2A35F-C58F-4D15-A3E1-B769830D9124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a Highest Common Factor?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0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41" grpId="0"/>
      <p:bldP spid="52" grpId="0"/>
      <p:bldP spid="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</a:t>
            </a:r>
            <a:r>
              <a:rPr lang="en-AU" sz="4800" dirty="0" smtClean="0">
                <a:latin typeface="Arial Black" panose="020B0A04020102020204" pitchFamily="34" charset="0"/>
              </a:rPr>
              <a:t>of</a:t>
            </a:r>
            <a:r>
              <a:rPr lang="en-AU" sz="4800" dirty="0" smtClean="0">
                <a:latin typeface="Arial Black" panose="020B0A04020102020204" pitchFamily="34" charset="0"/>
              </a:rPr>
              <a:t> the following is the HCF of 6 and 18?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1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/>
              <a:t>3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 smtClean="0"/>
              <a:t>2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/>
              <a:t>4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/>
              <a:t>6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18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9110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7C8BCE-DD7C-4646-8DF7-C42CCAC63A6F}"/>
              </a:ext>
            </a:extLst>
          </p:cNvPr>
          <p:cNvSpPr/>
          <p:nvPr/>
        </p:nvSpPr>
        <p:spPr>
          <a:xfrm>
            <a:off x="838899" y="931178"/>
            <a:ext cx="5292056" cy="53102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CC13010-879F-4BD7-9D1F-31B57807E1DD}"/>
              </a:ext>
            </a:extLst>
          </p:cNvPr>
          <p:cNvSpPr/>
          <p:nvPr/>
        </p:nvSpPr>
        <p:spPr>
          <a:xfrm>
            <a:off x="6337882" y="931178"/>
            <a:ext cx="5292056" cy="5310231"/>
          </a:xfrm>
          <a:prstGeom prst="round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A149CAD-61DE-497E-AAD8-3A367826254C}"/>
              </a:ext>
            </a:extLst>
          </p:cNvPr>
          <p:cNvSpPr txBox="1">
            <a:spLocks/>
          </p:cNvSpPr>
          <p:nvPr/>
        </p:nvSpPr>
        <p:spPr>
          <a:xfrm>
            <a:off x="1045826" y="1205646"/>
            <a:ext cx="4857227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Find the factors of: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2A3AA85-A5BD-4B40-ADEC-1EF111A273D9}"/>
              </a:ext>
            </a:extLst>
          </p:cNvPr>
          <p:cNvSpPr txBox="1">
            <a:spLocks/>
          </p:cNvSpPr>
          <p:nvPr/>
        </p:nvSpPr>
        <p:spPr>
          <a:xfrm>
            <a:off x="6758245" y="1205645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Find the HCF of: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715602-80F3-44D7-94F1-CCA3C22F49CF}"/>
              </a:ext>
            </a:extLst>
          </p:cNvPr>
          <p:cNvSpPr txBox="1">
            <a:spLocks/>
          </p:cNvSpPr>
          <p:nvPr/>
        </p:nvSpPr>
        <p:spPr>
          <a:xfrm>
            <a:off x="1124124" y="2155801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16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18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28	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FA40E1-B292-4E77-9436-59D514D4702A}"/>
              </a:ext>
            </a:extLst>
          </p:cNvPr>
          <p:cNvSpPr txBox="1">
            <a:spLocks/>
          </p:cNvSpPr>
          <p:nvPr/>
        </p:nvSpPr>
        <p:spPr>
          <a:xfrm>
            <a:off x="7024760" y="2155800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15 and 12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18 and 24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32 and 24	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557F38A-2105-4489-B64D-B480141A0F84}"/>
              </a:ext>
            </a:extLst>
          </p:cNvPr>
          <p:cNvSpPr txBox="1">
            <a:spLocks/>
          </p:cNvSpPr>
          <p:nvPr/>
        </p:nvSpPr>
        <p:spPr>
          <a:xfrm>
            <a:off x="2116036" y="2718912"/>
            <a:ext cx="2641563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1, 2, 4, 8, 16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0363CBB-BE57-4B1C-BC94-53350750FB87}"/>
              </a:ext>
            </a:extLst>
          </p:cNvPr>
          <p:cNvSpPr txBox="1">
            <a:spLocks/>
          </p:cNvSpPr>
          <p:nvPr/>
        </p:nvSpPr>
        <p:spPr>
          <a:xfrm>
            <a:off x="2116036" y="4101392"/>
            <a:ext cx="3184761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1, 2, 3, 6, 9, 18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38B8A-53E6-4EE9-8D90-8355B14521ED}"/>
              </a:ext>
            </a:extLst>
          </p:cNvPr>
          <p:cNvSpPr txBox="1">
            <a:spLocks/>
          </p:cNvSpPr>
          <p:nvPr/>
        </p:nvSpPr>
        <p:spPr>
          <a:xfrm>
            <a:off x="2116036" y="5352074"/>
            <a:ext cx="3184761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1, 2, 4, 7, 14, 28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C760549-7A5C-4849-BA6F-F2B910AEF148}"/>
              </a:ext>
            </a:extLst>
          </p:cNvPr>
          <p:cNvSpPr txBox="1">
            <a:spLocks/>
          </p:cNvSpPr>
          <p:nvPr/>
        </p:nvSpPr>
        <p:spPr>
          <a:xfrm>
            <a:off x="8194384" y="2818581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DFFC676-1034-4A4F-A08A-F6F9F6FB83A1}"/>
              </a:ext>
            </a:extLst>
          </p:cNvPr>
          <p:cNvSpPr txBox="1">
            <a:spLocks/>
          </p:cNvSpPr>
          <p:nvPr/>
        </p:nvSpPr>
        <p:spPr>
          <a:xfrm>
            <a:off x="8194384" y="4101392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910A2F6-E847-410B-A4A7-29E2451FB827}"/>
              </a:ext>
            </a:extLst>
          </p:cNvPr>
          <p:cNvSpPr txBox="1">
            <a:spLocks/>
          </p:cNvSpPr>
          <p:nvPr/>
        </p:nvSpPr>
        <p:spPr>
          <a:xfrm>
            <a:off x="8194384" y="5423304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1D0E8-8179-4493-9D56-74A6051DC73B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4191" y="412972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24267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30" y="1097282"/>
            <a:ext cx="443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416902" y="1902176"/>
            <a:ext cx="11331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find common factors of two numbers.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7221E0-6DD2-4036-A37F-476BFFF6F12F}"/>
              </a:ext>
            </a:extLst>
          </p:cNvPr>
          <p:cNvSpPr/>
          <p:nvPr/>
        </p:nvSpPr>
        <p:spPr>
          <a:xfrm>
            <a:off x="582273" y="2905780"/>
            <a:ext cx="5857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What is a factor?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21" y="3847830"/>
            <a:ext cx="54889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A number that divides exactly into another number.</a:t>
            </a:r>
          </a:p>
        </p:txBody>
      </p:sp>
      <p:pic>
        <p:nvPicPr>
          <p:cNvPr id="19" name="Picture 2" descr="Image result for division cartoon">
            <a:extLst>
              <a:ext uri="{FF2B5EF4-FFF2-40B4-BE49-F238E27FC236}">
                <a16:creationId xmlns:a16="http://schemas.microsoft.com/office/drawing/2014/main" id="{47512D44-D09B-48A3-A2C3-90C0483C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134" y="2558965"/>
            <a:ext cx="5488990" cy="411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15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2.1 </a:t>
            </a:r>
          </a:p>
          <a:p>
            <a:pPr marL="0" indent="0">
              <a:buNone/>
            </a:pPr>
            <a:r>
              <a:rPr lang="en-AU" b="1" dirty="0"/>
              <a:t>Questions: </a:t>
            </a:r>
            <a:r>
              <a:rPr lang="en-AU" dirty="0"/>
              <a:t>1, 2, 5, 14 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9163</TotalTime>
  <Words>1803</Words>
  <Application>Microsoft Office PowerPoint</Application>
  <PresentationFormat>Widescreen</PresentationFormat>
  <Paragraphs>358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378</cp:revision>
  <dcterms:created xsi:type="dcterms:W3CDTF">2017-02-09T01:19:14Z</dcterms:created>
  <dcterms:modified xsi:type="dcterms:W3CDTF">2022-01-13T02:42:22Z</dcterms:modified>
</cp:coreProperties>
</file>
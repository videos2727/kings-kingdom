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667" r:id="rId2"/>
    <p:sldId id="670" r:id="rId3"/>
    <p:sldId id="674" r:id="rId4"/>
    <p:sldId id="671" r:id="rId5"/>
    <p:sldId id="672" r:id="rId6"/>
    <p:sldId id="673" r:id="rId7"/>
    <p:sldId id="675" r:id="rId8"/>
    <p:sldId id="676" r:id="rId9"/>
    <p:sldId id="677" r:id="rId10"/>
    <p:sldId id="678" r:id="rId11"/>
    <p:sldId id="679" r:id="rId12"/>
    <p:sldId id="680" r:id="rId13"/>
    <p:sldId id="692" r:id="rId14"/>
    <p:sldId id="681" r:id="rId15"/>
    <p:sldId id="682" r:id="rId16"/>
    <p:sldId id="683" r:id="rId17"/>
    <p:sldId id="686" r:id="rId18"/>
    <p:sldId id="684" r:id="rId19"/>
    <p:sldId id="685" r:id="rId20"/>
    <p:sldId id="355" r:id="rId21"/>
    <p:sldId id="690" r:id="rId22"/>
    <p:sldId id="687" r:id="rId23"/>
    <p:sldId id="688" r:id="rId24"/>
    <p:sldId id="689" r:id="rId25"/>
    <p:sldId id="691" r:id="rId26"/>
    <p:sldId id="372" r:id="rId27"/>
    <p:sldId id="373" r:id="rId28"/>
    <p:sldId id="374" r:id="rId29"/>
    <p:sldId id="657" r:id="rId30"/>
    <p:sldId id="304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C1C1"/>
    <a:srgbClr val="EC8888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85" d="100"/>
          <a:sy n="85" d="100"/>
        </p:scale>
        <p:origin x="99" y="111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C72D0-01DB-4AC3-AAFE-0BD484F5E308}" type="datetimeFigureOut">
              <a:rPr lang="en-AU" smtClean="0"/>
              <a:t>13/01/2022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D490D-C368-4910-9B9C-EDD8EDAE0B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2599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C72D0-01DB-4AC3-AAFE-0BD484F5E308}" type="datetimeFigureOut">
              <a:rPr lang="en-AU" smtClean="0"/>
              <a:t>13/01/2022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D490D-C368-4910-9B9C-EDD8EDAE0B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64782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C72D0-01DB-4AC3-AAFE-0BD484F5E308}" type="datetimeFigureOut">
              <a:rPr lang="en-AU" smtClean="0"/>
              <a:t>13/01/2022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D490D-C368-4910-9B9C-EDD8EDAE0B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5201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C72D0-01DB-4AC3-AAFE-0BD484F5E308}" type="datetimeFigureOut">
              <a:rPr lang="en-AU" smtClean="0"/>
              <a:t>13/01/2022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D490D-C368-4910-9B9C-EDD8EDAE0B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67401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C72D0-01DB-4AC3-AAFE-0BD484F5E308}" type="datetimeFigureOut">
              <a:rPr lang="en-AU" smtClean="0"/>
              <a:t>13/01/2022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D490D-C368-4910-9B9C-EDD8EDAE0B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4901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C72D0-01DB-4AC3-AAFE-0BD484F5E308}" type="datetimeFigureOut">
              <a:rPr lang="en-AU" smtClean="0"/>
              <a:t>13/01/2022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D490D-C368-4910-9B9C-EDD8EDAE0B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0862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C72D0-01DB-4AC3-AAFE-0BD484F5E308}" type="datetimeFigureOut">
              <a:rPr lang="en-AU" smtClean="0"/>
              <a:t>13/01/2022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D490D-C368-4910-9B9C-EDD8EDAE0B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55534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C72D0-01DB-4AC3-AAFE-0BD484F5E308}" type="datetimeFigureOut">
              <a:rPr lang="en-AU" smtClean="0"/>
              <a:t>13/01/2022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D490D-C368-4910-9B9C-EDD8EDAE0B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46404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C72D0-01DB-4AC3-AAFE-0BD484F5E308}" type="datetimeFigureOut">
              <a:rPr lang="en-AU" smtClean="0"/>
              <a:t>13/01/2022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D490D-C368-4910-9B9C-EDD8EDAE0B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15679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C72D0-01DB-4AC3-AAFE-0BD484F5E308}" type="datetimeFigureOut">
              <a:rPr lang="en-AU" smtClean="0"/>
              <a:t>13/01/2022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D490D-C368-4910-9B9C-EDD8EDAE0B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02252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C72D0-01DB-4AC3-AAFE-0BD484F5E308}" type="datetimeFigureOut">
              <a:rPr lang="en-AU" smtClean="0"/>
              <a:t>13/01/2022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D490D-C368-4910-9B9C-EDD8EDAE0B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72586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BC72D0-01DB-4AC3-AAFE-0BD484F5E308}" type="datetimeFigureOut">
              <a:rPr lang="en-AU" smtClean="0"/>
              <a:t>13/01/2022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1D490D-C368-4910-9B9C-EDD8EDAE0B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2844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34">
            <a:extLst>
              <a:ext uri="{FF2B5EF4-FFF2-40B4-BE49-F238E27FC236}">
                <a16:creationId xmlns:a16="http://schemas.microsoft.com/office/drawing/2014/main" id="{99DDC62D-BC4A-4A69-84F2-CF2A22E4E446}"/>
              </a:ext>
            </a:extLst>
          </p:cNvPr>
          <p:cNvSpPr txBox="1"/>
          <p:nvPr/>
        </p:nvSpPr>
        <p:spPr>
          <a:xfrm>
            <a:off x="723872" y="934008"/>
            <a:ext cx="10759627" cy="70788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4000" b="1" dirty="0">
                <a:cs typeface="Arial" panose="020B0604020202020204" pitchFamily="34" charset="0"/>
              </a:rPr>
              <a:t>I will </a:t>
            </a:r>
            <a:r>
              <a:rPr lang="en-AU" sz="4000" b="1" dirty="0" smtClean="0">
                <a:cs typeface="Arial" panose="020B0604020202020204" pitchFamily="34" charset="0"/>
              </a:rPr>
              <a:t>review Integers.</a:t>
            </a:r>
            <a:endParaRPr lang="en-AU" sz="4000" b="1" dirty="0">
              <a:cs typeface="Arial" panose="020B0604020202020204" pitchFamily="34" charset="0"/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0" y="-6605"/>
            <a:ext cx="3424403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Learning Objective</a:t>
            </a:r>
          </a:p>
        </p:txBody>
      </p:sp>
      <p:sp>
        <p:nvSpPr>
          <p:cNvPr id="264" name="Title 1"/>
          <p:cNvSpPr txBox="1">
            <a:spLocks/>
          </p:cNvSpPr>
          <p:nvPr/>
        </p:nvSpPr>
        <p:spPr>
          <a:xfrm>
            <a:off x="-15373" y="1641894"/>
            <a:ext cx="12207373" cy="1070988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200" b="1" i="1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Enter quietly, please be ready with the following on your desk:</a:t>
            </a:r>
          </a:p>
        </p:txBody>
      </p:sp>
      <p:sp>
        <p:nvSpPr>
          <p:cNvPr id="265" name="Content Placeholder 2"/>
          <p:cNvSpPr txBox="1">
            <a:spLocks/>
          </p:cNvSpPr>
          <p:nvPr/>
        </p:nvSpPr>
        <p:spPr>
          <a:xfrm>
            <a:off x="1980020" y="2972878"/>
            <a:ext cx="7921679" cy="30071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Whiteboard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Whiteboard marker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Exercise Book</a:t>
            </a:r>
            <a:endParaRPr lang="en-AU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Pencil, pen, </a:t>
            </a:r>
            <a:r>
              <a:rPr lang="en-AU" b="1" dirty="0"/>
              <a:t>ruler and red pen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Diary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Calculator</a:t>
            </a:r>
            <a:endParaRPr lang="en-AU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Device – charged or borrowed from Library before maths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9214" y="2712882"/>
            <a:ext cx="3649887" cy="261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392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Relevant Topics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Lowest Common Multiple - PPT 11</a:t>
            </a:r>
          </a:p>
          <a:p>
            <a:r>
              <a:rPr lang="en-AU" dirty="0" smtClean="0"/>
              <a:t>Highest Common Factor - PPT 12</a:t>
            </a:r>
          </a:p>
          <a:p>
            <a:r>
              <a:rPr lang="en-AU" dirty="0" smtClean="0"/>
              <a:t>Primes and Composites - PPT 13</a:t>
            </a:r>
          </a:p>
          <a:p>
            <a:r>
              <a:rPr lang="en-AU" dirty="0" smtClean="0"/>
              <a:t>Factor Trees - PPT 14</a:t>
            </a:r>
          </a:p>
          <a:p>
            <a:r>
              <a:rPr lang="en-AU" dirty="0" smtClean="0"/>
              <a:t>Comparing and Ordering Integers - PP15</a:t>
            </a:r>
          </a:p>
          <a:p>
            <a:r>
              <a:rPr lang="en-AU" dirty="0" smtClean="0"/>
              <a:t>Adding and Subtracting Positive Integers - PPT 16</a:t>
            </a:r>
          </a:p>
          <a:p>
            <a:r>
              <a:rPr lang="en-AU" dirty="0" smtClean="0"/>
              <a:t>Adding and Subtracting Negative Integers - PPT 17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874180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5348" y="255530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AU" sz="6600" b="1" dirty="0" smtClean="0"/>
              <a:t>LOWEST COMMON MULTIPLE </a:t>
            </a:r>
            <a:endParaRPr lang="en-AU" sz="6600" b="1" dirty="0"/>
          </a:p>
        </p:txBody>
      </p:sp>
    </p:spTree>
    <p:extLst>
      <p:ext uri="{BB962C8B-B14F-4D97-AF65-F5344CB8AC3E}">
        <p14:creationId xmlns:p14="http://schemas.microsoft.com/office/powerpoint/2010/main" val="2336479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/>
          <p:cNvSpPr/>
          <p:nvPr/>
        </p:nvSpPr>
        <p:spPr>
          <a:xfrm>
            <a:off x="4746173" y="1728779"/>
            <a:ext cx="6399945" cy="63984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ysClr val="windowText" lastClr="00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718101" y="1779854"/>
            <a:ext cx="65070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Lowest Common Multiple of 3 and 5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: Rounded Corners 14"/>
          <p:cNvSpPr/>
          <p:nvPr/>
        </p:nvSpPr>
        <p:spPr>
          <a:xfrm>
            <a:off x="6300139" y="4217291"/>
            <a:ext cx="573093" cy="45275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ysClr val="windowText" lastClr="0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7469" y="723194"/>
            <a:ext cx="109386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AU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Lowest Common Multiple (LCM) </a:t>
            </a:r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of two numbers is the lowest number that appears in all of the numbers’ times tables.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36EF036-67C7-427F-A32F-A6AD26EDBCCA}"/>
              </a:ext>
            </a:extLst>
          </p:cNvPr>
          <p:cNvSpPr txBox="1"/>
          <p:nvPr/>
        </p:nvSpPr>
        <p:spPr>
          <a:xfrm>
            <a:off x="0" y="-20052"/>
            <a:ext cx="4023093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Concept Development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7723" y="2514848"/>
            <a:ext cx="45765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AU" sz="2800" b="1" dirty="0" smtClean="0">
                <a:cs typeface="Arial" panose="020B0604020202020204" pitchFamily="34" charset="0"/>
              </a:rPr>
              <a:t>Write out the times tables of the first number.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17723" y="3652506"/>
            <a:ext cx="46591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AU" sz="2800" b="1" dirty="0" smtClean="0">
                <a:cs typeface="Arial" panose="020B0604020202020204" pitchFamily="34" charset="0"/>
              </a:rPr>
              <a:t>Write out the times tables of the second number.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17723" y="4790164"/>
            <a:ext cx="48773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AU" sz="2800" b="1" dirty="0" smtClean="0">
                <a:cs typeface="Arial" panose="020B0604020202020204" pitchFamily="34" charset="0"/>
              </a:rPr>
              <a:t>Highlight the first common number between the lists.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17722" y="5927822"/>
            <a:ext cx="53479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en-AU" sz="2800" b="1" dirty="0" smtClean="0">
                <a:cs typeface="Arial" panose="020B0604020202020204" pitchFamily="34" charset="0"/>
              </a:rPr>
              <a:t>Clearly write out your answer.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3" name="Rectangle: Rounded Corners 14"/>
          <p:cNvSpPr/>
          <p:nvPr/>
        </p:nvSpPr>
        <p:spPr>
          <a:xfrm>
            <a:off x="8066609" y="3364181"/>
            <a:ext cx="573093" cy="45275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ysClr val="windowText" lastClr="00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39514" y="2471172"/>
            <a:ext cx="186135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</a:p>
          <a:p>
            <a:pPr algn="ctr"/>
            <a:r>
              <a:rPr lang="en-A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15</a:t>
            </a:r>
          </a:p>
          <a:p>
            <a:pPr algn="ctr"/>
            <a:r>
              <a:rPr lang="en-A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18</a:t>
            </a:r>
          </a:p>
          <a:p>
            <a:pPr algn="ctr"/>
            <a:r>
              <a:rPr lang="en-A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21</a:t>
            </a:r>
          </a:p>
          <a:p>
            <a:pPr algn="ctr"/>
            <a:r>
              <a:rPr lang="en-A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24</a:t>
            </a:r>
          </a:p>
          <a:p>
            <a:pPr algn="ctr"/>
            <a:r>
              <a:rPr lang="en-A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27</a:t>
            </a:r>
          </a:p>
          <a:p>
            <a:pPr algn="ctr"/>
            <a:r>
              <a:rPr lang="en-A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30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422478" y="2471172"/>
            <a:ext cx="186135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15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</a:p>
          <a:p>
            <a:pPr algn="ctr"/>
            <a:r>
              <a:rPr lang="en-A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25</a:t>
            </a:r>
          </a:p>
          <a:p>
            <a:pPr algn="ctr"/>
            <a:r>
              <a:rPr lang="en-A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30</a:t>
            </a:r>
          </a:p>
          <a:p>
            <a:pPr algn="ctr"/>
            <a:r>
              <a:rPr lang="en-A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35</a:t>
            </a:r>
          </a:p>
          <a:p>
            <a:pPr algn="ctr"/>
            <a:r>
              <a:rPr lang="en-A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40</a:t>
            </a:r>
          </a:p>
          <a:p>
            <a:pPr algn="ctr"/>
            <a:r>
              <a:rPr lang="en-A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45</a:t>
            </a:r>
          </a:p>
          <a:p>
            <a:pPr algn="ctr"/>
            <a:r>
              <a:rPr lang="en-A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50</a:t>
            </a:r>
            <a:endParaRPr lang="en-AU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795382" y="3671167"/>
            <a:ext cx="32770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 smtClean="0">
                <a:solidFill>
                  <a:srgbClr val="C00000"/>
                </a:solidFill>
                <a:cs typeface="Arial" panose="020B0604020202020204" pitchFamily="34" charset="0"/>
              </a:rPr>
              <a:t>The LCM of 3 and 5 is 15.</a:t>
            </a:r>
            <a:endParaRPr lang="en-AU" sz="2800" b="1" dirty="0">
              <a:solidFill>
                <a:srgbClr val="C0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8796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3" grpId="0" animBg="1"/>
      <p:bldP spid="8" grpId="0"/>
      <p:bldP spid="11" grpId="0"/>
      <p:bldP spid="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/>
          <p:cNvSpPr/>
          <p:nvPr/>
        </p:nvSpPr>
        <p:spPr>
          <a:xfrm>
            <a:off x="5290032" y="2514433"/>
            <a:ext cx="6399945" cy="63984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ysClr val="windowText" lastClr="00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261960" y="2565508"/>
            <a:ext cx="65070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Lowest Common Multiple of </a:t>
            </a:r>
            <a:r>
              <a:rPr lang="en-A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A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: Rounded Corners 14"/>
          <p:cNvSpPr/>
          <p:nvPr/>
        </p:nvSpPr>
        <p:spPr>
          <a:xfrm>
            <a:off x="6634821" y="4055517"/>
            <a:ext cx="573093" cy="45275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ysClr val="windowText" lastClr="0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7469" y="723194"/>
            <a:ext cx="983300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AU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Lowest Common Multiple (LCM) </a:t>
            </a:r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of two numbers is the lowest number that appears in all of the numbers’ times tables.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17723" y="2514848"/>
            <a:ext cx="45765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AU" sz="2800" b="1" dirty="0" smtClean="0">
                <a:cs typeface="Arial" panose="020B0604020202020204" pitchFamily="34" charset="0"/>
              </a:rPr>
              <a:t>Write out the times tables of the first number.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17723" y="3652506"/>
            <a:ext cx="46591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AU" sz="2800" b="1" dirty="0" smtClean="0">
                <a:cs typeface="Arial" panose="020B0604020202020204" pitchFamily="34" charset="0"/>
              </a:rPr>
              <a:t>Write out the times tables of the second number.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17723" y="4790164"/>
            <a:ext cx="48773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AU" sz="2800" b="1" dirty="0" smtClean="0">
                <a:cs typeface="Arial" panose="020B0604020202020204" pitchFamily="34" charset="0"/>
              </a:rPr>
              <a:t>Highlight the first common number between the lists.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17722" y="5927822"/>
            <a:ext cx="53479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en-AU" sz="2800" b="1" dirty="0" smtClean="0">
                <a:cs typeface="Arial" panose="020B0604020202020204" pitchFamily="34" charset="0"/>
              </a:rPr>
              <a:t>Clearly write out your answer.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3" name="Rectangle: Rounded Corners 14"/>
          <p:cNvSpPr/>
          <p:nvPr/>
        </p:nvSpPr>
        <p:spPr>
          <a:xfrm>
            <a:off x="8132348" y="3632939"/>
            <a:ext cx="573093" cy="45275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ysClr val="windowText" lastClr="00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813311" y="4096766"/>
            <a:ext cx="32770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 smtClean="0">
                <a:solidFill>
                  <a:srgbClr val="C00000"/>
                </a:solidFill>
                <a:cs typeface="Arial" panose="020B0604020202020204" pitchFamily="34" charset="0"/>
              </a:rPr>
              <a:t>The LCM of 2 and 4 is 4.</a:t>
            </a:r>
            <a:endParaRPr lang="en-AU" sz="2800" b="1" dirty="0">
              <a:solidFill>
                <a:srgbClr val="C00000"/>
              </a:solidFill>
              <a:cs typeface="Arial" panose="020B060402020202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488217" y="3580660"/>
            <a:ext cx="186135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16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91248" y="3580660"/>
            <a:ext cx="186135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7F0A19D-2337-4957-A59A-BBE73EC03E1F}"/>
              </a:ext>
            </a:extLst>
          </p:cNvPr>
          <p:cNvGrpSpPr/>
          <p:nvPr/>
        </p:nvGrpSpPr>
        <p:grpSpPr>
          <a:xfrm>
            <a:off x="10156369" y="0"/>
            <a:ext cx="2035631" cy="1213224"/>
            <a:chOff x="660399" y="3602071"/>
            <a:chExt cx="2035631" cy="986118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484506A-3C79-4667-940B-36880AE95A8C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6F11CF9-6738-4A82-BE25-AAEDB65F620F}"/>
                </a:ext>
              </a:extLst>
            </p:cNvPr>
            <p:cNvSpPr/>
            <p:nvPr/>
          </p:nvSpPr>
          <p:spPr>
            <a:xfrm>
              <a:off x="660399" y="3931961"/>
              <a:ext cx="2035629" cy="656228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How many answers will you get for LCM?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8EB2D910-A430-43CC-A2A0-712A82CB8DA8}"/>
              </a:ext>
            </a:extLst>
          </p:cNvPr>
          <p:cNvSpPr txBox="1"/>
          <p:nvPr/>
        </p:nvSpPr>
        <p:spPr>
          <a:xfrm>
            <a:off x="0" y="0"/>
            <a:ext cx="331018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Skill Development</a:t>
            </a:r>
          </a:p>
        </p:txBody>
      </p:sp>
    </p:spTree>
    <p:extLst>
      <p:ext uri="{BB962C8B-B14F-4D97-AF65-F5344CB8AC3E}">
        <p14:creationId xmlns:p14="http://schemas.microsoft.com/office/powerpoint/2010/main" val="2262605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3" grpId="0" animBg="1"/>
      <p:bldP spid="24" grpId="0"/>
      <p:bldP spid="30" grpId="0"/>
      <p:bldP spid="2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/>
          <p:cNvSpPr/>
          <p:nvPr/>
        </p:nvSpPr>
        <p:spPr>
          <a:xfrm>
            <a:off x="5290032" y="2514433"/>
            <a:ext cx="6399945" cy="63984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ysClr val="windowText" lastClr="00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261960" y="2565508"/>
            <a:ext cx="65070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Lowest Common Multiple of 4</a:t>
            </a:r>
            <a:r>
              <a:rPr lang="en-A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and 6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: Rounded Corners 14"/>
          <p:cNvSpPr/>
          <p:nvPr/>
        </p:nvSpPr>
        <p:spPr>
          <a:xfrm>
            <a:off x="6803685" y="4455482"/>
            <a:ext cx="573093" cy="45275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ysClr val="windowText" lastClr="0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7469" y="723194"/>
            <a:ext cx="983300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AU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Lowest Common Multiple (LCM) </a:t>
            </a:r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of two numbers is the lowest number that appears in all of the numbers’ times tables.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17723" y="2514848"/>
            <a:ext cx="45765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AU" sz="2800" b="1" dirty="0" smtClean="0">
                <a:cs typeface="Arial" panose="020B0604020202020204" pitchFamily="34" charset="0"/>
              </a:rPr>
              <a:t>Write out the times tables of the first number.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17723" y="3652506"/>
            <a:ext cx="46591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AU" sz="2800" b="1" dirty="0" smtClean="0">
                <a:cs typeface="Arial" panose="020B0604020202020204" pitchFamily="34" charset="0"/>
              </a:rPr>
              <a:t>Write out the times tables of the second number.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17723" y="4790164"/>
            <a:ext cx="48773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AU" sz="2800" b="1" dirty="0" smtClean="0">
                <a:cs typeface="Arial" panose="020B0604020202020204" pitchFamily="34" charset="0"/>
              </a:rPr>
              <a:t>Highlight the first common number between the lists.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17722" y="5927822"/>
            <a:ext cx="53479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en-AU" sz="2800" b="1" dirty="0" smtClean="0">
                <a:cs typeface="Arial" panose="020B0604020202020204" pitchFamily="34" charset="0"/>
              </a:rPr>
              <a:t>Clearly write out your answer.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23" name="Rectangle: Rounded Corners 14"/>
          <p:cNvSpPr/>
          <p:nvPr/>
        </p:nvSpPr>
        <p:spPr>
          <a:xfrm>
            <a:off x="8195497" y="4053800"/>
            <a:ext cx="573093" cy="45275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ysClr val="windowText" lastClr="00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813311" y="4096766"/>
            <a:ext cx="32770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 smtClean="0">
                <a:solidFill>
                  <a:srgbClr val="C00000"/>
                </a:solidFill>
                <a:cs typeface="Arial" panose="020B0604020202020204" pitchFamily="34" charset="0"/>
              </a:rPr>
              <a:t>The LCM of 4 and 6 is 12.</a:t>
            </a:r>
            <a:endParaRPr lang="en-AU" sz="2800" b="1" dirty="0">
              <a:solidFill>
                <a:srgbClr val="C00000"/>
              </a:solidFill>
              <a:cs typeface="Arial" panose="020B060402020202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559325" y="3579480"/>
            <a:ext cx="186135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  <a:p>
            <a:pPr algn="ctr"/>
            <a:r>
              <a:rPr lang="en-A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endParaRPr lang="en-AU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A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18</a:t>
            </a:r>
            <a:endParaRPr lang="en-AU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A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24</a:t>
            </a:r>
            <a:endParaRPr lang="en-AU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A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30</a:t>
            </a:r>
            <a:endParaRPr lang="en-AU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A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36</a:t>
            </a:r>
            <a:endParaRPr lang="en-AU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133235" y="3579480"/>
            <a:ext cx="186135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  <a:p>
            <a:pPr algn="ctr"/>
            <a:r>
              <a:rPr lang="en-A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endParaRPr lang="en-AU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A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16</a:t>
            </a:r>
            <a:endParaRPr lang="en-AU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A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en-AU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A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24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7F0A19D-2337-4957-A59A-BBE73EC03E1F}"/>
              </a:ext>
            </a:extLst>
          </p:cNvPr>
          <p:cNvGrpSpPr/>
          <p:nvPr/>
        </p:nvGrpSpPr>
        <p:grpSpPr>
          <a:xfrm>
            <a:off x="10156369" y="0"/>
            <a:ext cx="2035631" cy="1213224"/>
            <a:chOff x="660399" y="3602071"/>
            <a:chExt cx="2035631" cy="986118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484506A-3C79-4667-940B-36880AE95A8C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6F11CF9-6738-4A82-BE25-AAEDB65F620F}"/>
                </a:ext>
              </a:extLst>
            </p:cNvPr>
            <p:cNvSpPr/>
            <p:nvPr/>
          </p:nvSpPr>
          <p:spPr>
            <a:xfrm>
              <a:off x="660399" y="3931961"/>
              <a:ext cx="2035629" cy="656228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 smtClean="0">
                  <a:solidFill>
                    <a:schemeClr val="tx1"/>
                  </a:solidFill>
                </a:rPr>
                <a:t>How many answers will you get for LCM?</a:t>
              </a:r>
              <a:endParaRPr lang="en-AU" dirty="0">
                <a:solidFill>
                  <a:schemeClr val="tx1"/>
                </a:solidFill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8EB2D910-A430-43CC-A2A0-712A82CB8DA8}"/>
              </a:ext>
            </a:extLst>
          </p:cNvPr>
          <p:cNvSpPr txBox="1"/>
          <p:nvPr/>
        </p:nvSpPr>
        <p:spPr>
          <a:xfrm>
            <a:off x="0" y="0"/>
            <a:ext cx="331018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Skill Development</a:t>
            </a:r>
          </a:p>
        </p:txBody>
      </p:sp>
    </p:spTree>
    <p:extLst>
      <p:ext uri="{BB962C8B-B14F-4D97-AF65-F5344CB8AC3E}">
        <p14:creationId xmlns:p14="http://schemas.microsoft.com/office/powerpoint/2010/main" val="379224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3" grpId="0" animBg="1"/>
      <p:bldP spid="24" grpId="0"/>
      <p:bldP spid="30" grpId="0"/>
      <p:bldP spid="2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5348" y="268124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AU" sz="6600" b="1" dirty="0" smtClean="0"/>
              <a:t>HIGHEST COMMON FACTOR</a:t>
            </a:r>
            <a:endParaRPr lang="en-AU" sz="6600" b="1" dirty="0"/>
          </a:p>
        </p:txBody>
      </p:sp>
    </p:spTree>
    <p:extLst>
      <p:ext uri="{BB962C8B-B14F-4D97-AF65-F5344CB8AC3E}">
        <p14:creationId xmlns:p14="http://schemas.microsoft.com/office/powerpoint/2010/main" val="3134964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6423" y="804672"/>
            <a:ext cx="1085174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cs typeface="Arial" panose="020B0604020202020204" pitchFamily="34" charset="0"/>
              </a:rPr>
              <a:t>It is often useful to find the </a:t>
            </a:r>
            <a:r>
              <a:rPr lang="en-AU" sz="2800" b="1" dirty="0">
                <a:solidFill>
                  <a:srgbClr val="C00000"/>
                </a:solidFill>
                <a:cs typeface="Arial" panose="020B0604020202020204" pitchFamily="34" charset="0"/>
              </a:rPr>
              <a:t>highest common factor (HCF) </a:t>
            </a:r>
            <a:r>
              <a:rPr lang="en-AU" sz="2800" b="1" dirty="0">
                <a:cs typeface="Arial" panose="020B0604020202020204" pitchFamily="34" charset="0"/>
              </a:rPr>
              <a:t>of a pair of numbers.</a:t>
            </a:r>
            <a:r>
              <a:rPr lang="en-AU" sz="2800" dirty="0">
                <a:cs typeface="Arial" panose="020B0604020202020204" pitchFamily="34" charset="0"/>
              </a:rPr>
              <a:t> This is also known as the </a:t>
            </a:r>
            <a:r>
              <a:rPr lang="en-AU" sz="2800" dirty="0">
                <a:solidFill>
                  <a:srgbClr val="C00000"/>
                </a:solidFill>
                <a:cs typeface="Arial" panose="020B0604020202020204" pitchFamily="34" charset="0"/>
              </a:rPr>
              <a:t>greatest common devisor (GCD)</a:t>
            </a:r>
            <a:r>
              <a:rPr lang="en-AU" sz="2800" dirty="0">
                <a:cs typeface="Arial" panose="020B0604020202020204" pitchFamily="34" charset="0"/>
              </a:rPr>
              <a:t>.</a:t>
            </a:r>
            <a:endParaRPr lang="en-AU" sz="2800" dirty="0">
              <a:solidFill>
                <a:srgbClr val="C00000"/>
              </a:solidFill>
            </a:endParaRPr>
          </a:p>
          <a:p>
            <a:endParaRPr lang="en-AU" sz="2800" b="1" dirty="0">
              <a:cs typeface="Arial" panose="020B0604020202020204" pitchFamily="34" charset="0"/>
            </a:endParaRPr>
          </a:p>
        </p:txBody>
      </p:sp>
      <p:sp>
        <p:nvSpPr>
          <p:cNvPr id="22" name="Rectangle: Rounded Corners 14">
            <a:extLst>
              <a:ext uri="{FF2B5EF4-FFF2-40B4-BE49-F238E27FC236}">
                <a16:creationId xmlns:a16="http://schemas.microsoft.com/office/drawing/2014/main" id="{BB3753FF-5114-494D-8C7F-59CF90B69A04}"/>
              </a:ext>
            </a:extLst>
          </p:cNvPr>
          <p:cNvSpPr/>
          <p:nvPr/>
        </p:nvSpPr>
        <p:spPr>
          <a:xfrm>
            <a:off x="8636071" y="4368278"/>
            <a:ext cx="573093" cy="45275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ysClr val="windowText" lastClr="000000"/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CB5DE40-6BFA-4346-BA79-A68A21FA7106}"/>
              </a:ext>
            </a:extLst>
          </p:cNvPr>
          <p:cNvSpPr/>
          <p:nvPr/>
        </p:nvSpPr>
        <p:spPr>
          <a:xfrm>
            <a:off x="7139104" y="4776047"/>
            <a:ext cx="573093" cy="45275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ysClr val="windowText" lastClr="000000"/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3CFB8AB-90F3-4A7A-9532-A3577C3E580D}"/>
              </a:ext>
            </a:extLst>
          </p:cNvPr>
          <p:cNvSpPr/>
          <p:nvPr/>
        </p:nvSpPr>
        <p:spPr>
          <a:xfrm>
            <a:off x="5042869" y="2252737"/>
            <a:ext cx="6505002" cy="63984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ysClr val="windowText" lastClr="00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10624D5-5647-4E64-8C7E-167C3DAA4F22}"/>
              </a:ext>
            </a:extLst>
          </p:cNvPr>
          <p:cNvSpPr txBox="1"/>
          <p:nvPr/>
        </p:nvSpPr>
        <p:spPr>
          <a:xfrm>
            <a:off x="5042869" y="2293655"/>
            <a:ext cx="65050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Highest Common Factor of 12 and 18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93DD279-E129-41AD-B18D-E69D2BF4E4FD}"/>
              </a:ext>
            </a:extLst>
          </p:cNvPr>
          <p:cNvSpPr txBox="1"/>
          <p:nvPr/>
        </p:nvSpPr>
        <p:spPr>
          <a:xfrm>
            <a:off x="286424" y="2189667"/>
            <a:ext cx="45765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AU" sz="2800" b="1" dirty="0">
                <a:cs typeface="Arial" panose="020B0604020202020204" pitchFamily="34" charset="0"/>
              </a:rPr>
              <a:t>Write out the factors of the first number.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70DF904-3AAA-4D21-A550-8EA6034D157C}"/>
              </a:ext>
            </a:extLst>
          </p:cNvPr>
          <p:cNvSpPr txBox="1"/>
          <p:nvPr/>
        </p:nvSpPr>
        <p:spPr>
          <a:xfrm>
            <a:off x="286424" y="3327325"/>
            <a:ext cx="46591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AU" sz="2800" b="1" dirty="0">
                <a:cs typeface="Arial" panose="020B0604020202020204" pitchFamily="34" charset="0"/>
              </a:rPr>
              <a:t>Write out the factors of the second number.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669BB89-C0D2-4A04-8591-F6323F27C586}"/>
              </a:ext>
            </a:extLst>
          </p:cNvPr>
          <p:cNvSpPr txBox="1"/>
          <p:nvPr/>
        </p:nvSpPr>
        <p:spPr>
          <a:xfrm>
            <a:off x="286424" y="4464983"/>
            <a:ext cx="563124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AU" sz="2800" b="1" dirty="0">
                <a:cs typeface="Arial" panose="020B0604020202020204" pitchFamily="34" charset="0"/>
              </a:rPr>
              <a:t>Highlight the largest number in common between the lists.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2A741CE-DA6C-4BD6-ADAE-A652C6C7EC47}"/>
              </a:ext>
            </a:extLst>
          </p:cNvPr>
          <p:cNvSpPr txBox="1"/>
          <p:nvPr/>
        </p:nvSpPr>
        <p:spPr>
          <a:xfrm>
            <a:off x="286423" y="5602641"/>
            <a:ext cx="53479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en-AU" sz="2800" b="1" dirty="0">
                <a:cs typeface="Arial" panose="020B0604020202020204" pitchFamily="34" charset="0"/>
              </a:rPr>
              <a:t>Clearly write out your answer.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E1A0B1C-D79A-4839-999A-11C70469E17A}"/>
              </a:ext>
            </a:extLst>
          </p:cNvPr>
          <p:cNvSpPr txBox="1"/>
          <p:nvPr/>
        </p:nvSpPr>
        <p:spPr>
          <a:xfrm>
            <a:off x="5712296" y="5735139"/>
            <a:ext cx="62029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solidFill>
                  <a:srgbClr val="C00000"/>
                </a:solidFill>
                <a:cs typeface="Arial" panose="020B0604020202020204" pitchFamily="34" charset="0"/>
              </a:rPr>
              <a:t>The highest common factor of 12 and 18 is 6.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A399945-9F1C-4CA6-8ADD-15878FF50DF8}"/>
              </a:ext>
            </a:extLst>
          </p:cNvPr>
          <p:cNvSpPr txBox="1"/>
          <p:nvPr/>
        </p:nvSpPr>
        <p:spPr>
          <a:xfrm>
            <a:off x="6494971" y="3057483"/>
            <a:ext cx="186135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7D27DE9-1910-4142-8DCB-BF452D9E59DB}"/>
              </a:ext>
            </a:extLst>
          </p:cNvPr>
          <p:cNvSpPr txBox="1"/>
          <p:nvPr/>
        </p:nvSpPr>
        <p:spPr>
          <a:xfrm>
            <a:off x="7991940" y="3057483"/>
            <a:ext cx="186135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</a:p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20E9342-5462-4626-A025-5D952A79DF82}"/>
              </a:ext>
            </a:extLst>
          </p:cNvPr>
          <p:cNvSpPr txBox="1"/>
          <p:nvPr/>
        </p:nvSpPr>
        <p:spPr>
          <a:xfrm>
            <a:off x="0" y="0"/>
            <a:ext cx="331018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Skill Development</a:t>
            </a:r>
          </a:p>
        </p:txBody>
      </p:sp>
    </p:spTree>
    <p:extLst>
      <p:ext uri="{BB962C8B-B14F-4D97-AF65-F5344CB8AC3E}">
        <p14:creationId xmlns:p14="http://schemas.microsoft.com/office/powerpoint/2010/main" val="2906414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41" grpId="0"/>
      <p:bldP spid="52" grpId="0"/>
      <p:bldP spid="5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07C8BCE-DD7C-4646-8DF7-C42CCAC63A6F}"/>
              </a:ext>
            </a:extLst>
          </p:cNvPr>
          <p:cNvSpPr/>
          <p:nvPr/>
        </p:nvSpPr>
        <p:spPr>
          <a:xfrm>
            <a:off x="838899" y="931178"/>
            <a:ext cx="5292056" cy="531023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CC13010-879F-4BD7-9D1F-31B57807E1DD}"/>
              </a:ext>
            </a:extLst>
          </p:cNvPr>
          <p:cNvSpPr/>
          <p:nvPr/>
        </p:nvSpPr>
        <p:spPr>
          <a:xfrm>
            <a:off x="6337882" y="931178"/>
            <a:ext cx="5292056" cy="5310231"/>
          </a:xfrm>
          <a:prstGeom prst="roundRect">
            <a:avLst/>
          </a:prstGeom>
          <a:solidFill>
            <a:srgbClr val="FFA7A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A149CAD-61DE-497E-AAD8-3A367826254C}"/>
              </a:ext>
            </a:extLst>
          </p:cNvPr>
          <p:cNvSpPr txBox="1">
            <a:spLocks/>
          </p:cNvSpPr>
          <p:nvPr/>
        </p:nvSpPr>
        <p:spPr>
          <a:xfrm>
            <a:off x="1045826" y="1205646"/>
            <a:ext cx="4857227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3200" b="1" dirty="0">
                <a:latin typeface="Arial" panose="020B0604020202020204" pitchFamily="34" charset="0"/>
                <a:cs typeface="Arial" panose="020B0604020202020204" pitchFamily="34" charset="0"/>
              </a:rPr>
              <a:t>Find the factors of: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2A3AA85-A5BD-4B40-ADEC-1EF111A273D9}"/>
              </a:ext>
            </a:extLst>
          </p:cNvPr>
          <p:cNvSpPr txBox="1">
            <a:spLocks/>
          </p:cNvSpPr>
          <p:nvPr/>
        </p:nvSpPr>
        <p:spPr>
          <a:xfrm>
            <a:off x="6758245" y="1205645"/>
            <a:ext cx="4465313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3200" b="1" dirty="0">
                <a:latin typeface="Arial" panose="020B0604020202020204" pitchFamily="34" charset="0"/>
                <a:cs typeface="Arial" panose="020B0604020202020204" pitchFamily="34" charset="0"/>
              </a:rPr>
              <a:t>Find the HCF of: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0715602-80F3-44D7-94F1-CCA3C22F49CF}"/>
              </a:ext>
            </a:extLst>
          </p:cNvPr>
          <p:cNvSpPr txBox="1">
            <a:spLocks/>
          </p:cNvSpPr>
          <p:nvPr/>
        </p:nvSpPr>
        <p:spPr>
          <a:xfrm>
            <a:off x="1124124" y="2155801"/>
            <a:ext cx="4465313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>
              <a:buAutoNum type="arabicParenR"/>
            </a:pPr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    16</a:t>
            </a:r>
          </a:p>
          <a:p>
            <a:pPr marL="514350" indent="-514350">
              <a:buAutoNum type="arabicParenR"/>
            </a:pPr>
            <a:endParaRPr lang="en-AU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AutoNum type="arabicParenR"/>
            </a:pPr>
            <a:endParaRPr lang="en-AU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AutoNum type="arabicParenR"/>
            </a:pPr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    18</a:t>
            </a:r>
          </a:p>
          <a:p>
            <a:pPr marL="514350" indent="-514350">
              <a:buAutoNum type="arabicParenR"/>
            </a:pPr>
            <a:endParaRPr lang="en-AU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AutoNum type="arabicParenR"/>
            </a:pPr>
            <a:endParaRPr lang="en-AU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AutoNum type="arabicParenR"/>
            </a:pPr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    28	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88FA40E1-B292-4E77-9436-59D514D4702A}"/>
              </a:ext>
            </a:extLst>
          </p:cNvPr>
          <p:cNvSpPr txBox="1">
            <a:spLocks/>
          </p:cNvSpPr>
          <p:nvPr/>
        </p:nvSpPr>
        <p:spPr>
          <a:xfrm>
            <a:off x="7024760" y="2155800"/>
            <a:ext cx="4465313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>
              <a:buAutoNum type="arabicParenR"/>
            </a:pPr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    15 and 12</a:t>
            </a:r>
          </a:p>
          <a:p>
            <a:pPr marL="514350" indent="-514350">
              <a:buAutoNum type="arabicParenR"/>
            </a:pPr>
            <a:endParaRPr lang="en-AU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AutoNum type="arabicParenR"/>
            </a:pPr>
            <a:endParaRPr lang="en-AU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AutoNum type="arabicParenR"/>
            </a:pPr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    18 and 24</a:t>
            </a:r>
          </a:p>
          <a:p>
            <a:pPr marL="514350" indent="-514350">
              <a:buAutoNum type="arabicParenR"/>
            </a:pPr>
            <a:endParaRPr lang="en-AU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AutoNum type="arabicParenR"/>
            </a:pPr>
            <a:endParaRPr lang="en-AU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AutoNum type="arabicParenR"/>
            </a:pPr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    32 and 24	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8557F38A-2105-4489-B64D-B480141A0F84}"/>
              </a:ext>
            </a:extLst>
          </p:cNvPr>
          <p:cNvSpPr txBox="1">
            <a:spLocks/>
          </p:cNvSpPr>
          <p:nvPr/>
        </p:nvSpPr>
        <p:spPr>
          <a:xfrm>
            <a:off x="2116036" y="2718912"/>
            <a:ext cx="2641563" cy="57474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1, 2, 4, 8, 16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60363CBB-BE57-4B1C-BC94-53350750FB87}"/>
              </a:ext>
            </a:extLst>
          </p:cNvPr>
          <p:cNvSpPr txBox="1">
            <a:spLocks/>
          </p:cNvSpPr>
          <p:nvPr/>
        </p:nvSpPr>
        <p:spPr>
          <a:xfrm>
            <a:off x="2116036" y="4101392"/>
            <a:ext cx="3184761" cy="57474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1, 2, 3, 6, 9, 18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AD738B8A-53E6-4EE9-8D90-8355B14521ED}"/>
              </a:ext>
            </a:extLst>
          </p:cNvPr>
          <p:cNvSpPr txBox="1">
            <a:spLocks/>
          </p:cNvSpPr>
          <p:nvPr/>
        </p:nvSpPr>
        <p:spPr>
          <a:xfrm>
            <a:off x="2116036" y="5352074"/>
            <a:ext cx="3184761" cy="57474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1, 2, 4, 7, 14, 28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C760549-7A5C-4849-BA6F-F2B910AEF148}"/>
              </a:ext>
            </a:extLst>
          </p:cNvPr>
          <p:cNvSpPr txBox="1">
            <a:spLocks/>
          </p:cNvSpPr>
          <p:nvPr/>
        </p:nvSpPr>
        <p:spPr>
          <a:xfrm>
            <a:off x="8194384" y="2818581"/>
            <a:ext cx="1063032" cy="57474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DDFFC676-1034-4A4F-A08A-F6F9F6FB83A1}"/>
              </a:ext>
            </a:extLst>
          </p:cNvPr>
          <p:cNvSpPr txBox="1">
            <a:spLocks/>
          </p:cNvSpPr>
          <p:nvPr/>
        </p:nvSpPr>
        <p:spPr>
          <a:xfrm>
            <a:off x="8194384" y="4101392"/>
            <a:ext cx="1063032" cy="57474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F910A2F6-E847-410B-A4A7-29E2451FB827}"/>
              </a:ext>
            </a:extLst>
          </p:cNvPr>
          <p:cNvSpPr txBox="1">
            <a:spLocks/>
          </p:cNvSpPr>
          <p:nvPr/>
        </p:nvSpPr>
        <p:spPr>
          <a:xfrm>
            <a:off x="8194384" y="5423304"/>
            <a:ext cx="1063032" cy="57474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91D0E8-8179-4493-9D56-74A6051DC73B}"/>
              </a:ext>
            </a:extLst>
          </p:cNvPr>
          <p:cNvSpPr txBox="1"/>
          <p:nvPr/>
        </p:nvSpPr>
        <p:spPr>
          <a:xfrm>
            <a:off x="0" y="0"/>
            <a:ext cx="2945880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Guided Practice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50159" y="311150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1090731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  <p:bldP spid="19" grpId="0"/>
      <p:bldP spid="20" grpId="0"/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5348" y="268124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AU" sz="6600" b="1" dirty="0" smtClean="0"/>
              <a:t>PRIMES AND COMPOSITES</a:t>
            </a:r>
            <a:endParaRPr lang="en-AU" sz="6600" b="1" dirty="0"/>
          </a:p>
        </p:txBody>
      </p:sp>
    </p:spTree>
    <p:extLst>
      <p:ext uri="{BB962C8B-B14F-4D97-AF65-F5344CB8AC3E}">
        <p14:creationId xmlns:p14="http://schemas.microsoft.com/office/powerpoint/2010/main" val="35663943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44688" y="848162"/>
            <a:ext cx="86570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cs typeface="Arial" panose="020B0604020202020204" pitchFamily="34" charset="0"/>
              </a:rPr>
              <a:t>To find if a number is composite or prime: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152985" y="1571787"/>
            <a:ext cx="685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solidFill>
                  <a:srgbClr val="C00000"/>
                </a:solidFill>
                <a:cs typeface="Arial" panose="020B0604020202020204" pitchFamily="34" charset="0"/>
              </a:rPr>
              <a:t>6</a:t>
            </a:r>
            <a:endParaRPr lang="en-AU" sz="3600" dirty="0">
              <a:solidFill>
                <a:srgbClr val="C00000"/>
              </a:solidFill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794267" y="2135968"/>
            <a:ext cx="16564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cs typeface="Arial" panose="020B0604020202020204" pitchFamily="34" charset="0"/>
              </a:rPr>
              <a:t>1, 2, 3, 6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6510" y="3090075"/>
            <a:ext cx="38782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cs typeface="Arial" panose="020B0604020202020204" pitchFamily="34" charset="0"/>
              </a:rPr>
              <a:t>therefore 6 is a composite number.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91AF3E1-E961-49F6-807A-5A7F682493CA}"/>
              </a:ext>
            </a:extLst>
          </p:cNvPr>
          <p:cNvSpPr txBox="1"/>
          <p:nvPr/>
        </p:nvSpPr>
        <p:spPr>
          <a:xfrm>
            <a:off x="0" y="-20052"/>
            <a:ext cx="331018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Skill Development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0B3752D-D1B9-4A7F-8C3D-3DA4595E2E28}"/>
              </a:ext>
            </a:extLst>
          </p:cNvPr>
          <p:cNvGrpSpPr/>
          <p:nvPr/>
        </p:nvGrpSpPr>
        <p:grpSpPr>
          <a:xfrm>
            <a:off x="10016455" y="0"/>
            <a:ext cx="2175545" cy="1282000"/>
            <a:chOff x="660399" y="3602071"/>
            <a:chExt cx="2035631" cy="1282000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13F2328-1E97-4B29-8D52-751F81E652B0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490A88BA-8C3D-45D1-8A59-E7D0CAE06CF2}"/>
                </a:ext>
              </a:extLst>
            </p:cNvPr>
            <p:cNvSpPr/>
            <p:nvPr/>
          </p:nvSpPr>
          <p:spPr>
            <a:xfrm>
              <a:off x="660399" y="3931960"/>
              <a:ext cx="2035629" cy="952111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How do you decide if a number is composite or prime?</a:t>
              </a: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AFB4C246-F8C0-4CE4-AA0C-3786A92D5468}"/>
              </a:ext>
            </a:extLst>
          </p:cNvPr>
          <p:cNvSpPr txBox="1"/>
          <p:nvPr/>
        </p:nvSpPr>
        <p:spPr>
          <a:xfrm>
            <a:off x="211807" y="2201931"/>
            <a:ext cx="45765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AU" sz="2800" b="1" dirty="0">
                <a:cs typeface="Arial" panose="020B0604020202020204" pitchFamily="34" charset="0"/>
              </a:rPr>
              <a:t>Write out the factors of the number.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58D2FD3-CB8E-4277-894B-D5F2B4183D8D}"/>
              </a:ext>
            </a:extLst>
          </p:cNvPr>
          <p:cNvSpPr txBox="1"/>
          <p:nvPr/>
        </p:nvSpPr>
        <p:spPr>
          <a:xfrm>
            <a:off x="211728" y="3239476"/>
            <a:ext cx="46591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AU" sz="2800" b="1" dirty="0">
                <a:cs typeface="Arial" panose="020B0604020202020204" pitchFamily="34" charset="0"/>
              </a:rPr>
              <a:t>Count how many factors there are.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68BF19A-6A0D-40D0-9C8B-B960995A85EB}"/>
              </a:ext>
            </a:extLst>
          </p:cNvPr>
          <p:cNvSpPr txBox="1"/>
          <p:nvPr/>
        </p:nvSpPr>
        <p:spPr>
          <a:xfrm>
            <a:off x="211728" y="4244587"/>
            <a:ext cx="48773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AU" sz="2800" b="1" dirty="0">
                <a:cs typeface="Arial" panose="020B0604020202020204" pitchFamily="34" charset="0"/>
              </a:rPr>
              <a:t>2 Factors = Prime</a:t>
            </a:r>
            <a:br>
              <a:rPr lang="en-AU" sz="2800" b="1" dirty="0">
                <a:cs typeface="Arial" panose="020B0604020202020204" pitchFamily="34" charset="0"/>
              </a:rPr>
            </a:br>
            <a:r>
              <a:rPr lang="en-AU" sz="2800" b="1" dirty="0">
                <a:cs typeface="Arial" panose="020B0604020202020204" pitchFamily="34" charset="0"/>
              </a:rPr>
              <a:t>&gt;2 Factors = Composite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8E683C8-6483-402F-965F-6C7B8740224C}"/>
              </a:ext>
            </a:extLst>
          </p:cNvPr>
          <p:cNvSpPr txBox="1"/>
          <p:nvPr/>
        </p:nvSpPr>
        <p:spPr>
          <a:xfrm>
            <a:off x="4616510" y="2606827"/>
            <a:ext cx="3878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cs typeface="Arial" panose="020B0604020202020204" pitchFamily="34" charset="0"/>
              </a:rPr>
              <a:t>There are 4 factors,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96E772C-FA81-4BD9-9D50-EEF2EC83A292}"/>
              </a:ext>
            </a:extLst>
          </p:cNvPr>
          <p:cNvSpPr txBox="1"/>
          <p:nvPr/>
        </p:nvSpPr>
        <p:spPr>
          <a:xfrm>
            <a:off x="9850241" y="1571787"/>
            <a:ext cx="685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solidFill>
                  <a:srgbClr val="C00000"/>
                </a:solidFill>
                <a:cs typeface="Arial" panose="020B0604020202020204" pitchFamily="34" charset="0"/>
              </a:rPr>
              <a:t>20</a:t>
            </a:r>
            <a:endParaRPr lang="en-AU" sz="3600" dirty="0">
              <a:solidFill>
                <a:srgbClr val="C00000"/>
              </a:solidFill>
              <a:cs typeface="Arial" panose="020B06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B8F2118-6D0F-4BD5-AE66-873E597B4E7D}"/>
              </a:ext>
            </a:extLst>
          </p:cNvPr>
          <p:cNvSpPr txBox="1"/>
          <p:nvPr/>
        </p:nvSpPr>
        <p:spPr>
          <a:xfrm>
            <a:off x="9007610" y="2116055"/>
            <a:ext cx="24905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cs typeface="Arial" panose="020B0604020202020204" pitchFamily="34" charset="0"/>
              </a:rPr>
              <a:t>1, 2, 4, 5, 10, 20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4361A33-C213-406B-B97F-97F62AB1BA48}"/>
              </a:ext>
            </a:extLst>
          </p:cNvPr>
          <p:cNvSpPr txBox="1"/>
          <p:nvPr/>
        </p:nvSpPr>
        <p:spPr>
          <a:xfrm>
            <a:off x="8313766" y="3090075"/>
            <a:ext cx="38782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cs typeface="Arial" panose="020B0604020202020204" pitchFamily="34" charset="0"/>
              </a:rPr>
              <a:t>therefore 20 is a composite number.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94A69C5-2A53-419C-BCE8-332087E6EC24}"/>
              </a:ext>
            </a:extLst>
          </p:cNvPr>
          <p:cNvSpPr txBox="1"/>
          <p:nvPr/>
        </p:nvSpPr>
        <p:spPr>
          <a:xfrm>
            <a:off x="8313766" y="2606827"/>
            <a:ext cx="3878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cs typeface="Arial" panose="020B0604020202020204" pitchFamily="34" charset="0"/>
              </a:rPr>
              <a:t>There are 6 factors,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E9304C6-7B8D-448B-99F1-E5F311AB68CE}"/>
              </a:ext>
            </a:extLst>
          </p:cNvPr>
          <p:cNvSpPr txBox="1"/>
          <p:nvPr/>
        </p:nvSpPr>
        <p:spPr>
          <a:xfrm>
            <a:off x="6152987" y="4163654"/>
            <a:ext cx="685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solidFill>
                  <a:srgbClr val="C00000"/>
                </a:solidFill>
                <a:cs typeface="Arial" panose="020B0604020202020204" pitchFamily="34" charset="0"/>
              </a:rPr>
              <a:t>23</a:t>
            </a:r>
            <a:endParaRPr lang="en-AU" sz="3600" dirty="0">
              <a:solidFill>
                <a:srgbClr val="C00000"/>
              </a:solidFill>
              <a:cs typeface="Arial" panose="020B0604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4E31E7E-68FB-49F9-BDE7-EDA726775ADB}"/>
              </a:ext>
            </a:extLst>
          </p:cNvPr>
          <p:cNvSpPr txBox="1"/>
          <p:nvPr/>
        </p:nvSpPr>
        <p:spPr>
          <a:xfrm>
            <a:off x="5660527" y="4721640"/>
            <a:ext cx="16564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cs typeface="Arial" panose="020B0604020202020204" pitchFamily="34" charset="0"/>
              </a:rPr>
              <a:t>1, 23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76ECE85-0D12-4B5C-898B-8F58EC707B2B}"/>
              </a:ext>
            </a:extLst>
          </p:cNvPr>
          <p:cNvSpPr txBox="1"/>
          <p:nvPr/>
        </p:nvSpPr>
        <p:spPr>
          <a:xfrm>
            <a:off x="4616512" y="5681942"/>
            <a:ext cx="38782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cs typeface="Arial" panose="020B0604020202020204" pitchFamily="34" charset="0"/>
              </a:rPr>
              <a:t>therefore 23 is a prime number.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70EB43A-5BDE-4BBD-B676-9AD5EC54F4E4}"/>
              </a:ext>
            </a:extLst>
          </p:cNvPr>
          <p:cNvSpPr txBox="1"/>
          <p:nvPr/>
        </p:nvSpPr>
        <p:spPr>
          <a:xfrm>
            <a:off x="4616512" y="5198694"/>
            <a:ext cx="3878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cs typeface="Arial" panose="020B0604020202020204" pitchFamily="34" charset="0"/>
              </a:rPr>
              <a:t>There are 2 factors,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275D622-456F-4F5C-8285-D8DDBEA1C4BA}"/>
              </a:ext>
            </a:extLst>
          </p:cNvPr>
          <p:cNvSpPr txBox="1"/>
          <p:nvPr/>
        </p:nvSpPr>
        <p:spPr>
          <a:xfrm>
            <a:off x="9850243" y="4163654"/>
            <a:ext cx="685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solidFill>
                  <a:srgbClr val="C00000"/>
                </a:solidFill>
                <a:cs typeface="Arial" panose="020B0604020202020204" pitchFamily="34" charset="0"/>
              </a:rPr>
              <a:t>21</a:t>
            </a:r>
            <a:endParaRPr lang="en-AU" sz="3600" dirty="0">
              <a:solidFill>
                <a:srgbClr val="C00000"/>
              </a:solidFill>
              <a:cs typeface="Arial" panose="020B06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226C597-6067-4A9D-B86D-A853DEB9A0DD}"/>
              </a:ext>
            </a:extLst>
          </p:cNvPr>
          <p:cNvSpPr txBox="1"/>
          <p:nvPr/>
        </p:nvSpPr>
        <p:spPr>
          <a:xfrm>
            <a:off x="9364831" y="4743832"/>
            <a:ext cx="16564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cs typeface="Arial" panose="020B0604020202020204" pitchFamily="34" charset="0"/>
              </a:rPr>
              <a:t>1, 3, 7, 21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50B89FA-3B25-409C-A439-E54F9E055064}"/>
              </a:ext>
            </a:extLst>
          </p:cNvPr>
          <p:cNvSpPr txBox="1"/>
          <p:nvPr/>
        </p:nvSpPr>
        <p:spPr>
          <a:xfrm>
            <a:off x="8313768" y="5681942"/>
            <a:ext cx="38782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cs typeface="Arial" panose="020B0604020202020204" pitchFamily="34" charset="0"/>
              </a:rPr>
              <a:t>therefore 21 is a composite number.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1672F3C-188C-4D23-A862-0C5D5BA364A6}"/>
              </a:ext>
            </a:extLst>
          </p:cNvPr>
          <p:cNvSpPr txBox="1"/>
          <p:nvPr/>
        </p:nvSpPr>
        <p:spPr>
          <a:xfrm>
            <a:off x="8313768" y="5198694"/>
            <a:ext cx="3878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cs typeface="Arial" panose="020B0604020202020204" pitchFamily="34" charset="0"/>
              </a:rPr>
              <a:t>There are 4 factors,</a:t>
            </a:r>
          </a:p>
        </p:txBody>
      </p:sp>
    </p:spTree>
    <p:extLst>
      <p:ext uri="{BB962C8B-B14F-4D97-AF65-F5344CB8AC3E}">
        <p14:creationId xmlns:p14="http://schemas.microsoft.com/office/powerpoint/2010/main" val="3014293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8" grpId="0"/>
      <p:bldP spid="35" grpId="0"/>
      <p:bldP spid="36" grpId="0"/>
      <p:bldP spid="37" grpId="0"/>
      <p:bldP spid="31" grpId="0"/>
      <p:bldP spid="32" grpId="0"/>
      <p:bldP spid="33" grpId="0"/>
      <p:bldP spid="34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44688" y="848162"/>
            <a:ext cx="86570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cs typeface="Arial" panose="020B0604020202020204" pitchFamily="34" charset="0"/>
              </a:rPr>
              <a:t>To find if a number is composite or prime: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152985" y="1571787"/>
            <a:ext cx="685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solidFill>
                  <a:srgbClr val="C00000"/>
                </a:solidFill>
                <a:cs typeface="Arial" panose="020B0604020202020204" pitchFamily="34" charset="0"/>
              </a:rPr>
              <a:t>10</a:t>
            </a:r>
            <a:endParaRPr lang="en-AU" sz="3600" dirty="0">
              <a:solidFill>
                <a:srgbClr val="C00000"/>
              </a:solidFill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794267" y="2135968"/>
            <a:ext cx="16564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cs typeface="Arial" panose="020B0604020202020204" pitchFamily="34" charset="0"/>
              </a:rPr>
              <a:t>1, 2, 5, 10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6510" y="3090075"/>
            <a:ext cx="38782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cs typeface="Arial" panose="020B0604020202020204" pitchFamily="34" charset="0"/>
              </a:rPr>
              <a:t>therefore 10 is a composite number.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91AF3E1-E961-49F6-807A-5A7F682493CA}"/>
              </a:ext>
            </a:extLst>
          </p:cNvPr>
          <p:cNvSpPr txBox="1"/>
          <p:nvPr/>
        </p:nvSpPr>
        <p:spPr>
          <a:xfrm>
            <a:off x="0" y="-20052"/>
            <a:ext cx="331018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Skill Development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0B3752D-D1B9-4A7F-8C3D-3DA4595E2E28}"/>
              </a:ext>
            </a:extLst>
          </p:cNvPr>
          <p:cNvGrpSpPr/>
          <p:nvPr/>
        </p:nvGrpSpPr>
        <p:grpSpPr>
          <a:xfrm>
            <a:off x="10016455" y="0"/>
            <a:ext cx="2175545" cy="1282000"/>
            <a:chOff x="660399" y="3602071"/>
            <a:chExt cx="2035631" cy="1282000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13F2328-1E97-4B29-8D52-751F81E652B0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490A88BA-8C3D-45D1-8A59-E7D0CAE06CF2}"/>
                </a:ext>
              </a:extLst>
            </p:cNvPr>
            <p:cNvSpPr/>
            <p:nvPr/>
          </p:nvSpPr>
          <p:spPr>
            <a:xfrm>
              <a:off x="660399" y="3931960"/>
              <a:ext cx="2035629" cy="952111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How do you decide if a number is composite or prime?</a:t>
              </a: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AFB4C246-F8C0-4CE4-AA0C-3786A92D5468}"/>
              </a:ext>
            </a:extLst>
          </p:cNvPr>
          <p:cNvSpPr txBox="1"/>
          <p:nvPr/>
        </p:nvSpPr>
        <p:spPr>
          <a:xfrm>
            <a:off x="211807" y="2201931"/>
            <a:ext cx="45765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AU" sz="2800" b="1" dirty="0">
                <a:cs typeface="Arial" panose="020B0604020202020204" pitchFamily="34" charset="0"/>
              </a:rPr>
              <a:t>Write out the factors of the number.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58D2FD3-CB8E-4277-894B-D5F2B4183D8D}"/>
              </a:ext>
            </a:extLst>
          </p:cNvPr>
          <p:cNvSpPr txBox="1"/>
          <p:nvPr/>
        </p:nvSpPr>
        <p:spPr>
          <a:xfrm>
            <a:off x="211728" y="3239476"/>
            <a:ext cx="46591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AU" sz="2800" b="1" dirty="0">
                <a:cs typeface="Arial" panose="020B0604020202020204" pitchFamily="34" charset="0"/>
              </a:rPr>
              <a:t>Count how many factors there are.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68BF19A-6A0D-40D0-9C8B-B960995A85EB}"/>
              </a:ext>
            </a:extLst>
          </p:cNvPr>
          <p:cNvSpPr txBox="1"/>
          <p:nvPr/>
        </p:nvSpPr>
        <p:spPr>
          <a:xfrm>
            <a:off x="211728" y="4244587"/>
            <a:ext cx="48773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AU" sz="2800" b="1" dirty="0">
                <a:cs typeface="Arial" panose="020B0604020202020204" pitchFamily="34" charset="0"/>
              </a:rPr>
              <a:t>2 Factors = Prime</a:t>
            </a:r>
            <a:br>
              <a:rPr lang="en-AU" sz="2800" b="1" dirty="0">
                <a:cs typeface="Arial" panose="020B0604020202020204" pitchFamily="34" charset="0"/>
              </a:rPr>
            </a:br>
            <a:r>
              <a:rPr lang="en-AU" sz="2800" b="1" dirty="0">
                <a:cs typeface="Arial" panose="020B0604020202020204" pitchFamily="34" charset="0"/>
              </a:rPr>
              <a:t>&gt;2 Factors = Composite</a:t>
            </a:r>
            <a:endParaRPr lang="en-AU" sz="2800" dirty="0"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8E683C8-6483-402F-965F-6C7B8740224C}"/>
              </a:ext>
            </a:extLst>
          </p:cNvPr>
          <p:cNvSpPr txBox="1"/>
          <p:nvPr/>
        </p:nvSpPr>
        <p:spPr>
          <a:xfrm>
            <a:off x="4616510" y="2606827"/>
            <a:ext cx="3878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cs typeface="Arial" panose="020B0604020202020204" pitchFamily="34" charset="0"/>
              </a:rPr>
              <a:t>There are 4 factors,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96E772C-FA81-4BD9-9D50-EEF2EC83A292}"/>
              </a:ext>
            </a:extLst>
          </p:cNvPr>
          <p:cNvSpPr txBox="1"/>
          <p:nvPr/>
        </p:nvSpPr>
        <p:spPr>
          <a:xfrm>
            <a:off x="9850241" y="1571787"/>
            <a:ext cx="685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solidFill>
                  <a:srgbClr val="C00000"/>
                </a:solidFill>
                <a:cs typeface="Arial" panose="020B0604020202020204" pitchFamily="34" charset="0"/>
              </a:rPr>
              <a:t>11</a:t>
            </a:r>
            <a:endParaRPr lang="en-AU" sz="3600" dirty="0">
              <a:solidFill>
                <a:srgbClr val="C00000"/>
              </a:solidFill>
              <a:cs typeface="Arial" panose="020B06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B8F2118-6D0F-4BD5-AE66-873E597B4E7D}"/>
              </a:ext>
            </a:extLst>
          </p:cNvPr>
          <p:cNvSpPr txBox="1"/>
          <p:nvPr/>
        </p:nvSpPr>
        <p:spPr>
          <a:xfrm>
            <a:off x="9007610" y="2116055"/>
            <a:ext cx="24905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cs typeface="Arial" panose="020B0604020202020204" pitchFamily="34" charset="0"/>
              </a:rPr>
              <a:t>1, 11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4361A33-C213-406B-B97F-97F62AB1BA48}"/>
              </a:ext>
            </a:extLst>
          </p:cNvPr>
          <p:cNvSpPr txBox="1"/>
          <p:nvPr/>
        </p:nvSpPr>
        <p:spPr>
          <a:xfrm>
            <a:off x="8313766" y="3090075"/>
            <a:ext cx="38782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cs typeface="Arial" panose="020B0604020202020204" pitchFamily="34" charset="0"/>
              </a:rPr>
              <a:t>therefore 11 is a prime number.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94A69C5-2A53-419C-BCE8-332087E6EC24}"/>
              </a:ext>
            </a:extLst>
          </p:cNvPr>
          <p:cNvSpPr txBox="1"/>
          <p:nvPr/>
        </p:nvSpPr>
        <p:spPr>
          <a:xfrm>
            <a:off x="8313766" y="2606827"/>
            <a:ext cx="3878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cs typeface="Arial" panose="020B0604020202020204" pitchFamily="34" charset="0"/>
              </a:rPr>
              <a:t>There are 2 factors,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E9304C6-7B8D-448B-99F1-E5F311AB68CE}"/>
              </a:ext>
            </a:extLst>
          </p:cNvPr>
          <p:cNvSpPr txBox="1"/>
          <p:nvPr/>
        </p:nvSpPr>
        <p:spPr>
          <a:xfrm>
            <a:off x="6152987" y="4163654"/>
            <a:ext cx="685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solidFill>
                  <a:srgbClr val="C00000"/>
                </a:solidFill>
                <a:cs typeface="Arial" panose="020B0604020202020204" pitchFamily="34" charset="0"/>
              </a:rPr>
              <a:t>12</a:t>
            </a:r>
            <a:endParaRPr lang="en-AU" sz="3600" dirty="0">
              <a:solidFill>
                <a:srgbClr val="C00000"/>
              </a:solidFill>
              <a:cs typeface="Arial" panose="020B0604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4E31E7E-68FB-49F9-BDE7-EDA726775ADB}"/>
              </a:ext>
            </a:extLst>
          </p:cNvPr>
          <p:cNvSpPr txBox="1"/>
          <p:nvPr/>
        </p:nvSpPr>
        <p:spPr>
          <a:xfrm>
            <a:off x="5316258" y="4721640"/>
            <a:ext cx="2359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cs typeface="Arial" panose="020B0604020202020204" pitchFamily="34" charset="0"/>
              </a:rPr>
              <a:t>1, 2, 3, 4, 6, 12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76ECE85-0D12-4B5C-898B-8F58EC707B2B}"/>
              </a:ext>
            </a:extLst>
          </p:cNvPr>
          <p:cNvSpPr txBox="1"/>
          <p:nvPr/>
        </p:nvSpPr>
        <p:spPr>
          <a:xfrm>
            <a:off x="4616512" y="5681942"/>
            <a:ext cx="38782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cs typeface="Arial" panose="020B0604020202020204" pitchFamily="34" charset="0"/>
              </a:rPr>
              <a:t>therefore 12 is a composite number.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70EB43A-5BDE-4BBD-B676-9AD5EC54F4E4}"/>
              </a:ext>
            </a:extLst>
          </p:cNvPr>
          <p:cNvSpPr txBox="1"/>
          <p:nvPr/>
        </p:nvSpPr>
        <p:spPr>
          <a:xfrm>
            <a:off x="4616512" y="5198694"/>
            <a:ext cx="3878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cs typeface="Arial" panose="020B0604020202020204" pitchFamily="34" charset="0"/>
              </a:rPr>
              <a:t>There are 6 factors,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275D622-456F-4F5C-8285-D8DDBEA1C4BA}"/>
              </a:ext>
            </a:extLst>
          </p:cNvPr>
          <p:cNvSpPr txBox="1"/>
          <p:nvPr/>
        </p:nvSpPr>
        <p:spPr>
          <a:xfrm>
            <a:off x="9850243" y="4163654"/>
            <a:ext cx="685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solidFill>
                  <a:srgbClr val="C00000"/>
                </a:solidFill>
                <a:cs typeface="Arial" panose="020B0604020202020204" pitchFamily="34" charset="0"/>
              </a:rPr>
              <a:t>13</a:t>
            </a:r>
            <a:endParaRPr lang="en-AU" sz="3600" dirty="0">
              <a:solidFill>
                <a:srgbClr val="C00000"/>
              </a:solidFill>
              <a:cs typeface="Arial" panose="020B06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226C597-6067-4A9D-B86D-A853DEB9A0DD}"/>
              </a:ext>
            </a:extLst>
          </p:cNvPr>
          <p:cNvSpPr txBox="1"/>
          <p:nvPr/>
        </p:nvSpPr>
        <p:spPr>
          <a:xfrm>
            <a:off x="9364831" y="4743832"/>
            <a:ext cx="16564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cs typeface="Arial" panose="020B0604020202020204" pitchFamily="34" charset="0"/>
              </a:rPr>
              <a:t>1, 13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50B89FA-3B25-409C-A439-E54F9E055064}"/>
              </a:ext>
            </a:extLst>
          </p:cNvPr>
          <p:cNvSpPr txBox="1"/>
          <p:nvPr/>
        </p:nvSpPr>
        <p:spPr>
          <a:xfrm>
            <a:off x="8313768" y="5681942"/>
            <a:ext cx="38782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cs typeface="Arial" panose="020B0604020202020204" pitchFamily="34" charset="0"/>
              </a:rPr>
              <a:t>therefore 13 is a composite number.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1672F3C-188C-4D23-A862-0C5D5BA364A6}"/>
              </a:ext>
            </a:extLst>
          </p:cNvPr>
          <p:cNvSpPr txBox="1"/>
          <p:nvPr/>
        </p:nvSpPr>
        <p:spPr>
          <a:xfrm>
            <a:off x="8313768" y="5198694"/>
            <a:ext cx="3878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cs typeface="Arial" panose="020B0604020202020204" pitchFamily="34" charset="0"/>
              </a:rPr>
              <a:t>There are 2 factors,</a:t>
            </a:r>
          </a:p>
        </p:txBody>
      </p:sp>
    </p:spTree>
    <p:extLst>
      <p:ext uri="{BB962C8B-B14F-4D97-AF65-F5344CB8AC3E}">
        <p14:creationId xmlns:p14="http://schemas.microsoft.com/office/powerpoint/2010/main" val="1806019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8" grpId="0"/>
      <p:bldP spid="31" grpId="0"/>
      <p:bldP spid="32" grpId="0"/>
      <p:bldP spid="33" grpId="0"/>
      <p:bldP spid="34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7A62796-C4FE-468B-BBB4-C170BDC92E1C}"/>
              </a:ext>
            </a:extLst>
          </p:cNvPr>
          <p:cNvSpPr txBox="1">
            <a:spLocks/>
          </p:cNvSpPr>
          <p:nvPr/>
        </p:nvSpPr>
        <p:spPr>
          <a:xfrm>
            <a:off x="69954" y="686827"/>
            <a:ext cx="12052091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4800" dirty="0" smtClean="0">
                <a:latin typeface="Arial Black" panose="020B0A04020102020204" pitchFamily="34" charset="0"/>
              </a:rPr>
              <a:t>Which of the following are prime numbers?</a:t>
            </a:r>
            <a:endParaRPr lang="en-AU" sz="5400" dirty="0">
              <a:latin typeface="Arial Black" panose="020B0A040201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7B7973-9D7A-48EA-84E8-17A281889D6A}"/>
              </a:ext>
            </a:extLst>
          </p:cNvPr>
          <p:cNvSpPr txBox="1"/>
          <p:nvPr/>
        </p:nvSpPr>
        <p:spPr>
          <a:xfrm>
            <a:off x="0" y="0"/>
            <a:ext cx="183292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Question</a:t>
            </a:r>
            <a:endParaRPr lang="en-AU" sz="3200" dirty="0"/>
          </a:p>
        </p:txBody>
      </p:sp>
      <p:sp>
        <p:nvSpPr>
          <p:cNvPr id="4" name="Rounded Rectangle 3"/>
          <p:cNvSpPr/>
          <p:nvPr/>
        </p:nvSpPr>
        <p:spPr>
          <a:xfrm>
            <a:off x="409526" y="2574789"/>
            <a:ext cx="6557611" cy="525409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188A29-550F-4C05-9556-86F113149C5B}"/>
              </a:ext>
            </a:extLst>
          </p:cNvPr>
          <p:cNvSpPr/>
          <p:nvPr/>
        </p:nvSpPr>
        <p:spPr>
          <a:xfrm>
            <a:off x="409527" y="2545182"/>
            <a:ext cx="6607590" cy="584775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r>
              <a:rPr lang="en-AU" sz="3200" dirty="0" smtClean="0"/>
              <a:t>A: </a:t>
            </a:r>
            <a:r>
              <a:rPr lang="en-AU" sz="3200" dirty="0"/>
              <a:t> </a:t>
            </a:r>
            <a:r>
              <a:rPr lang="en-AU" sz="3200" dirty="0" smtClean="0"/>
              <a:t>   12 </a:t>
            </a:r>
            <a:endParaRPr lang="en-AU" sz="3200" dirty="0"/>
          </a:p>
        </p:txBody>
      </p:sp>
      <p:sp>
        <p:nvSpPr>
          <p:cNvPr id="24" name="Rounded Rectangle 23"/>
          <p:cNvSpPr/>
          <p:nvPr/>
        </p:nvSpPr>
        <p:spPr>
          <a:xfrm>
            <a:off x="285641" y="3753036"/>
            <a:ext cx="6109260" cy="52540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B777DD-2580-4B29-808C-5E9A8C1ADAD3}"/>
              </a:ext>
            </a:extLst>
          </p:cNvPr>
          <p:cNvSpPr/>
          <p:nvPr/>
        </p:nvSpPr>
        <p:spPr>
          <a:xfrm>
            <a:off x="409526" y="3711344"/>
            <a:ext cx="76834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3200" dirty="0" smtClean="0"/>
              <a:t>C: </a:t>
            </a:r>
            <a:r>
              <a:rPr lang="en-AU" sz="3200" dirty="0"/>
              <a:t> </a:t>
            </a:r>
            <a:r>
              <a:rPr lang="en-AU" sz="3200" dirty="0" smtClean="0"/>
              <a:t>   30</a:t>
            </a:r>
            <a:endParaRPr lang="en-AU" sz="3200" dirty="0"/>
          </a:p>
        </p:txBody>
      </p:sp>
      <p:sp>
        <p:nvSpPr>
          <p:cNvPr id="25" name="Rounded Rectangle 24"/>
          <p:cNvSpPr/>
          <p:nvPr/>
        </p:nvSpPr>
        <p:spPr>
          <a:xfrm>
            <a:off x="5633885" y="3186772"/>
            <a:ext cx="6462981" cy="525409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B5F8D7-9A4B-457E-ADC3-2903031D3C05}"/>
              </a:ext>
            </a:extLst>
          </p:cNvPr>
          <p:cNvSpPr/>
          <p:nvPr/>
        </p:nvSpPr>
        <p:spPr>
          <a:xfrm>
            <a:off x="5633885" y="3182907"/>
            <a:ext cx="6488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3200" dirty="0" smtClean="0"/>
              <a:t>B:      23</a:t>
            </a:r>
            <a:endParaRPr lang="en-AU" sz="3200" dirty="0"/>
          </a:p>
        </p:txBody>
      </p:sp>
      <p:sp>
        <p:nvSpPr>
          <p:cNvPr id="27" name="Rounded Rectangle 26"/>
          <p:cNvSpPr/>
          <p:nvPr/>
        </p:nvSpPr>
        <p:spPr>
          <a:xfrm>
            <a:off x="5545394" y="4460829"/>
            <a:ext cx="6457716" cy="52540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2FBE2D-38B7-4A7F-8C06-E70436F19060}"/>
              </a:ext>
            </a:extLst>
          </p:cNvPr>
          <p:cNvSpPr/>
          <p:nvPr/>
        </p:nvSpPr>
        <p:spPr>
          <a:xfrm>
            <a:off x="5633885" y="4420520"/>
            <a:ext cx="597604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 smtClean="0"/>
              <a:t>D:     33</a:t>
            </a:r>
            <a:endParaRPr lang="en-AU" sz="3200" dirty="0"/>
          </a:p>
        </p:txBody>
      </p:sp>
      <p:sp>
        <p:nvSpPr>
          <p:cNvPr id="28" name="Rounded Rectangle 27"/>
          <p:cNvSpPr/>
          <p:nvPr/>
        </p:nvSpPr>
        <p:spPr>
          <a:xfrm>
            <a:off x="409526" y="5174571"/>
            <a:ext cx="7619495" cy="525409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700CA6-4516-4248-BEFC-F909513E0E1E}"/>
              </a:ext>
            </a:extLst>
          </p:cNvPr>
          <p:cNvSpPr/>
          <p:nvPr/>
        </p:nvSpPr>
        <p:spPr>
          <a:xfrm>
            <a:off x="409527" y="5184852"/>
            <a:ext cx="761949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 smtClean="0"/>
              <a:t>E: </a:t>
            </a:r>
            <a:r>
              <a:rPr lang="en-AU" sz="3200" dirty="0"/>
              <a:t> </a:t>
            </a:r>
            <a:r>
              <a:rPr lang="en-AU" sz="3200" dirty="0" smtClean="0"/>
              <a:t>    61</a:t>
            </a:r>
            <a:endParaRPr lang="en-AU" sz="3200" dirty="0"/>
          </a:p>
        </p:txBody>
      </p:sp>
      <p:sp>
        <p:nvSpPr>
          <p:cNvPr id="29" name="Rounded Rectangle 28"/>
          <p:cNvSpPr/>
          <p:nvPr/>
        </p:nvSpPr>
        <p:spPr>
          <a:xfrm>
            <a:off x="5917112" y="5990039"/>
            <a:ext cx="6132402" cy="52540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ECE0C6-9BE2-4008-B46B-5E65AA85369D}"/>
              </a:ext>
            </a:extLst>
          </p:cNvPr>
          <p:cNvSpPr/>
          <p:nvPr/>
        </p:nvSpPr>
        <p:spPr>
          <a:xfrm>
            <a:off x="6076478" y="5960355"/>
            <a:ext cx="611552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 smtClean="0"/>
              <a:t>F:     95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2033929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4" grpId="0" animBg="1"/>
      <p:bldP spid="25" grpId="0" animBg="1"/>
      <p:bldP spid="27" grpId="0" animBg="1"/>
      <p:bldP spid="28" grpId="0" animBg="1"/>
      <p:bldP spid="2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5348" y="268124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AU" sz="6600" b="1" dirty="0" smtClean="0"/>
              <a:t>FACTOR TREES</a:t>
            </a:r>
            <a:endParaRPr lang="en-AU" sz="6600" b="1" dirty="0"/>
          </a:p>
        </p:txBody>
      </p:sp>
    </p:spTree>
    <p:extLst>
      <p:ext uri="{BB962C8B-B14F-4D97-AF65-F5344CB8AC3E}">
        <p14:creationId xmlns:p14="http://schemas.microsoft.com/office/powerpoint/2010/main" val="33427793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Picture 92">
            <a:extLst>
              <a:ext uri="{FF2B5EF4-FFF2-40B4-BE49-F238E27FC236}">
                <a16:creationId xmlns:a16="http://schemas.microsoft.com/office/drawing/2014/main" id="{243BF190-052B-4043-8AFC-96BAAB4E9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7911" y="3834538"/>
            <a:ext cx="2420449" cy="1284452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CDD56527-A18A-4A19-93D1-487D49174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4626" y="2047082"/>
            <a:ext cx="2420449" cy="1284452"/>
          </a:xfrm>
          <a:prstGeom prst="rect">
            <a:avLst/>
          </a:prstGeom>
        </p:spPr>
      </p:pic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02E37BC3-51BC-41B1-9B51-28F42BB0214D}"/>
              </a:ext>
            </a:extLst>
          </p:cNvPr>
          <p:cNvCxnSpPr/>
          <p:nvPr/>
        </p:nvCxnSpPr>
        <p:spPr>
          <a:xfrm flipH="1">
            <a:off x="5785608" y="1837685"/>
            <a:ext cx="1510018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68E44A97-5689-4440-919E-573E4E9F154A}"/>
              </a:ext>
            </a:extLst>
          </p:cNvPr>
          <p:cNvCxnSpPr>
            <a:cxnSpLocks/>
          </p:cNvCxnSpPr>
          <p:nvPr/>
        </p:nvCxnSpPr>
        <p:spPr>
          <a:xfrm>
            <a:off x="3218576" y="2517193"/>
            <a:ext cx="1417740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8006AD00-42E5-4B6A-BEE8-2C3529B41C86}"/>
              </a:ext>
            </a:extLst>
          </p:cNvPr>
          <p:cNvCxnSpPr/>
          <p:nvPr/>
        </p:nvCxnSpPr>
        <p:spPr>
          <a:xfrm flipH="1">
            <a:off x="6751740" y="3562410"/>
            <a:ext cx="1510018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E0AC2A44-8794-45B2-B8D9-67FF542B042E}"/>
              </a:ext>
            </a:extLst>
          </p:cNvPr>
          <p:cNvCxnSpPr>
            <a:cxnSpLocks/>
          </p:cNvCxnSpPr>
          <p:nvPr/>
        </p:nvCxnSpPr>
        <p:spPr>
          <a:xfrm flipV="1">
            <a:off x="2868232" y="3613447"/>
            <a:ext cx="805759" cy="1501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0E46CF8B-40C6-45B1-8FA0-255E51E9C831}"/>
              </a:ext>
            </a:extLst>
          </p:cNvPr>
          <p:cNvCxnSpPr/>
          <p:nvPr/>
        </p:nvCxnSpPr>
        <p:spPr>
          <a:xfrm flipH="1">
            <a:off x="7557054" y="4638263"/>
            <a:ext cx="1510018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46F9E30D-5936-4971-BBED-649301E219F0}"/>
              </a:ext>
            </a:extLst>
          </p:cNvPr>
          <p:cNvCxnSpPr>
            <a:cxnSpLocks/>
          </p:cNvCxnSpPr>
          <p:nvPr/>
        </p:nvCxnSpPr>
        <p:spPr>
          <a:xfrm>
            <a:off x="3759664" y="5431291"/>
            <a:ext cx="1216394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CFCEBCC6-3903-42E4-9A89-2867F2739FD1}"/>
              </a:ext>
            </a:extLst>
          </p:cNvPr>
          <p:cNvCxnSpPr>
            <a:cxnSpLocks/>
          </p:cNvCxnSpPr>
          <p:nvPr/>
        </p:nvCxnSpPr>
        <p:spPr>
          <a:xfrm flipH="1" flipV="1">
            <a:off x="8101135" y="5429044"/>
            <a:ext cx="1350461" cy="412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93A56365-EF81-4F18-93BA-14ECA2391175}"/>
              </a:ext>
            </a:extLst>
          </p:cNvPr>
          <p:cNvSpPr/>
          <p:nvPr/>
        </p:nvSpPr>
        <p:spPr>
          <a:xfrm>
            <a:off x="232095" y="3290282"/>
            <a:ext cx="2636137" cy="830997"/>
          </a:xfrm>
          <a:prstGeom prst="roundRect">
            <a:avLst/>
          </a:prstGeom>
          <a:solidFill>
            <a:srgbClr val="FFA7A7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776DBE64-4A41-4E87-A141-29F2F750AECA}"/>
              </a:ext>
            </a:extLst>
          </p:cNvPr>
          <p:cNvSpPr/>
          <p:nvPr/>
        </p:nvSpPr>
        <p:spPr>
          <a:xfrm>
            <a:off x="7295626" y="1577625"/>
            <a:ext cx="4140191" cy="830997"/>
          </a:xfrm>
          <a:prstGeom prst="roundRect">
            <a:avLst/>
          </a:prstGeom>
          <a:solidFill>
            <a:srgbClr val="FFA7A7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A8FA6288-E431-43A2-B501-2DCE7504B6DE}"/>
              </a:ext>
            </a:extLst>
          </p:cNvPr>
          <p:cNvSpPr/>
          <p:nvPr/>
        </p:nvSpPr>
        <p:spPr>
          <a:xfrm>
            <a:off x="232095" y="2047082"/>
            <a:ext cx="2986481" cy="956672"/>
          </a:xfrm>
          <a:prstGeom prst="roundRect">
            <a:avLst/>
          </a:prstGeom>
          <a:solidFill>
            <a:srgbClr val="FFA7A7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36B8B2BE-84CC-4B7D-B722-FC018B9CCFB2}"/>
              </a:ext>
            </a:extLst>
          </p:cNvPr>
          <p:cNvSpPr/>
          <p:nvPr/>
        </p:nvSpPr>
        <p:spPr>
          <a:xfrm>
            <a:off x="7941578" y="3137123"/>
            <a:ext cx="3494240" cy="830998"/>
          </a:xfrm>
          <a:prstGeom prst="roundRect">
            <a:avLst/>
          </a:prstGeom>
          <a:solidFill>
            <a:srgbClr val="FFA7A7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00638E98-554C-49F8-992E-C08CDCEF8621}"/>
              </a:ext>
            </a:extLst>
          </p:cNvPr>
          <p:cNvSpPr/>
          <p:nvPr/>
        </p:nvSpPr>
        <p:spPr>
          <a:xfrm>
            <a:off x="8577156" y="4233967"/>
            <a:ext cx="3472584" cy="864362"/>
          </a:xfrm>
          <a:prstGeom prst="roundRect">
            <a:avLst/>
          </a:prstGeom>
          <a:solidFill>
            <a:srgbClr val="FFA7A7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6F96895F-304C-45EB-AC9B-DF8544040B1A}"/>
              </a:ext>
            </a:extLst>
          </p:cNvPr>
          <p:cNvSpPr/>
          <p:nvPr/>
        </p:nvSpPr>
        <p:spPr>
          <a:xfrm>
            <a:off x="1320090" y="4971678"/>
            <a:ext cx="2482642" cy="830998"/>
          </a:xfrm>
          <a:prstGeom prst="roundRect">
            <a:avLst/>
          </a:prstGeom>
          <a:solidFill>
            <a:srgbClr val="FFA7A7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84CE2CA1-994A-4B35-87C5-862C0F7D5475}"/>
              </a:ext>
            </a:extLst>
          </p:cNvPr>
          <p:cNvSpPr/>
          <p:nvPr/>
        </p:nvSpPr>
        <p:spPr>
          <a:xfrm>
            <a:off x="9075030" y="5259941"/>
            <a:ext cx="2476837" cy="859153"/>
          </a:xfrm>
          <a:prstGeom prst="roundRect">
            <a:avLst/>
          </a:prstGeom>
          <a:solidFill>
            <a:srgbClr val="FFA7A7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D671855-5E17-488E-8AC6-C47EA259A06C}"/>
              </a:ext>
            </a:extLst>
          </p:cNvPr>
          <p:cNvSpPr txBox="1"/>
          <p:nvPr/>
        </p:nvSpPr>
        <p:spPr>
          <a:xfrm>
            <a:off x="-115658" y="3290281"/>
            <a:ext cx="33342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Circle any prime numbers.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71744B1-1358-4A4F-A05E-405E3D51F00B}"/>
              </a:ext>
            </a:extLst>
          </p:cNvPr>
          <p:cNvSpPr txBox="1"/>
          <p:nvPr/>
        </p:nvSpPr>
        <p:spPr>
          <a:xfrm>
            <a:off x="7153011" y="1577626"/>
            <a:ext cx="44713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Start with the original number at the top of the page.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E8CB26F-77AE-482A-9DBD-F2591CBC2104}"/>
              </a:ext>
            </a:extLst>
          </p:cNvPr>
          <p:cNvSpPr txBox="1"/>
          <p:nvPr/>
        </p:nvSpPr>
        <p:spPr>
          <a:xfrm>
            <a:off x="73582" y="2101694"/>
            <a:ext cx="32823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Draw two ‘branches’ down the page.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CCE4D1D-D746-4076-BA55-F7082DF60012}"/>
              </a:ext>
            </a:extLst>
          </p:cNvPr>
          <p:cNvSpPr txBox="1"/>
          <p:nvPr/>
        </p:nvSpPr>
        <p:spPr>
          <a:xfrm>
            <a:off x="7849299" y="3137123"/>
            <a:ext cx="37025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Write any factor pair at the end of the branches.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EF522366-82A9-41B4-A338-CAC8B0184565}"/>
              </a:ext>
            </a:extLst>
          </p:cNvPr>
          <p:cNvSpPr txBox="1"/>
          <p:nvPr/>
        </p:nvSpPr>
        <p:spPr>
          <a:xfrm>
            <a:off x="8499490" y="4251649"/>
            <a:ext cx="36295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Draw more branches for composite numbers.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2ECA8F59-5FBC-4515-B34C-158CA05213DB}"/>
              </a:ext>
            </a:extLst>
          </p:cNvPr>
          <p:cNvSpPr txBox="1"/>
          <p:nvPr/>
        </p:nvSpPr>
        <p:spPr>
          <a:xfrm>
            <a:off x="929499" y="4971679"/>
            <a:ext cx="32823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Write down your factors.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945F6699-216A-48FF-84F0-A29F1F68D5E2}"/>
              </a:ext>
            </a:extLst>
          </p:cNvPr>
          <p:cNvSpPr txBox="1"/>
          <p:nvPr/>
        </p:nvSpPr>
        <p:spPr>
          <a:xfrm>
            <a:off x="8647150" y="5288097"/>
            <a:ext cx="33342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Circle any prime numbers.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91AF3E1-E961-49F6-807A-5A7F682493CA}"/>
              </a:ext>
            </a:extLst>
          </p:cNvPr>
          <p:cNvSpPr txBox="1"/>
          <p:nvPr/>
        </p:nvSpPr>
        <p:spPr>
          <a:xfrm>
            <a:off x="0" y="-20052"/>
            <a:ext cx="331018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Skill Development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0B3752D-D1B9-4A7F-8C3D-3DA4595E2E28}"/>
              </a:ext>
            </a:extLst>
          </p:cNvPr>
          <p:cNvGrpSpPr/>
          <p:nvPr/>
        </p:nvGrpSpPr>
        <p:grpSpPr>
          <a:xfrm>
            <a:off x="8562451" y="0"/>
            <a:ext cx="3629550" cy="1267122"/>
            <a:chOff x="660399" y="3602071"/>
            <a:chExt cx="2035631" cy="1267122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13F2328-1E97-4B29-8D52-751F81E652B0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HINT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490A88BA-8C3D-45D1-8A59-E7D0CAE06CF2}"/>
                </a:ext>
              </a:extLst>
            </p:cNvPr>
            <p:cNvSpPr/>
            <p:nvPr/>
          </p:nvSpPr>
          <p:spPr>
            <a:xfrm>
              <a:off x="660399" y="3931961"/>
              <a:ext cx="2035629" cy="937232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Use the divisibility laws and count your way up. </a:t>
              </a:r>
            </a:p>
            <a:p>
              <a:pPr algn="ctr"/>
              <a:r>
                <a:rPr lang="en-AU" dirty="0">
                  <a:solidFill>
                    <a:schemeClr val="tx1"/>
                  </a:solidFill>
                </a:rPr>
                <a:t>e.g. Is it divisible by 2? By 3? By 4?…</a:t>
              </a:r>
            </a:p>
          </p:txBody>
        </p:sp>
      </p:grpSp>
      <p:sp>
        <p:nvSpPr>
          <p:cNvPr id="73" name="Oval 72">
            <a:extLst>
              <a:ext uri="{FF2B5EF4-FFF2-40B4-BE49-F238E27FC236}">
                <a16:creationId xmlns:a16="http://schemas.microsoft.com/office/drawing/2014/main" id="{0388DD03-0CFE-46DA-A3FC-3562A60078EB}"/>
              </a:ext>
            </a:extLst>
          </p:cNvPr>
          <p:cNvSpPr/>
          <p:nvPr/>
        </p:nvSpPr>
        <p:spPr>
          <a:xfrm>
            <a:off x="3759664" y="3356338"/>
            <a:ext cx="520115" cy="5442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E54F057-172D-461C-A17A-994C79482C51}"/>
              </a:ext>
            </a:extLst>
          </p:cNvPr>
          <p:cNvSpPr txBox="1"/>
          <p:nvPr/>
        </p:nvSpPr>
        <p:spPr>
          <a:xfrm>
            <a:off x="3218574" y="3290282"/>
            <a:ext cx="16022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C942246E-83D7-4955-83F6-B00C0E6FC879}"/>
              </a:ext>
            </a:extLst>
          </p:cNvPr>
          <p:cNvSpPr/>
          <p:nvPr/>
        </p:nvSpPr>
        <p:spPr>
          <a:xfrm>
            <a:off x="7455833" y="5156917"/>
            <a:ext cx="520115" cy="5442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525CEC7-7FE6-49CF-A770-B2F338958DAF}"/>
              </a:ext>
            </a:extLst>
          </p:cNvPr>
          <p:cNvSpPr txBox="1"/>
          <p:nvPr/>
        </p:nvSpPr>
        <p:spPr>
          <a:xfrm>
            <a:off x="6902052" y="5108126"/>
            <a:ext cx="16022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AD824A02-090A-4B00-AC9F-D05C5D2625BD}"/>
              </a:ext>
            </a:extLst>
          </p:cNvPr>
          <p:cNvSpPr/>
          <p:nvPr/>
        </p:nvSpPr>
        <p:spPr>
          <a:xfrm>
            <a:off x="5034791" y="5169801"/>
            <a:ext cx="520115" cy="5442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C19314E-9300-4BF8-86E7-533B2A64DCD5}"/>
              </a:ext>
            </a:extLst>
          </p:cNvPr>
          <p:cNvSpPr txBox="1"/>
          <p:nvPr/>
        </p:nvSpPr>
        <p:spPr>
          <a:xfrm>
            <a:off x="4493703" y="1518903"/>
            <a:ext cx="16022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latin typeface="Arial" panose="020B0604020202020204" pitchFamily="34" charset="0"/>
                <a:cs typeface="Arial" panose="020B0604020202020204" pitchFamily="34" charset="0"/>
              </a:rPr>
              <a:t>18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70BCAC1-047B-4A6A-932F-069B508E145B}"/>
              </a:ext>
            </a:extLst>
          </p:cNvPr>
          <p:cNvSpPr txBox="1"/>
          <p:nvPr/>
        </p:nvSpPr>
        <p:spPr>
          <a:xfrm>
            <a:off x="5698222" y="3290283"/>
            <a:ext cx="16022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C5AD164-F68C-4C44-8410-F53A718C22A7}"/>
              </a:ext>
            </a:extLst>
          </p:cNvPr>
          <p:cNvSpPr txBox="1"/>
          <p:nvPr/>
        </p:nvSpPr>
        <p:spPr>
          <a:xfrm>
            <a:off x="4493701" y="5110329"/>
            <a:ext cx="16022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DCC8B1C-C991-4AC0-9158-43B55754C618}"/>
              </a:ext>
            </a:extLst>
          </p:cNvPr>
          <p:cNvSpPr txBox="1"/>
          <p:nvPr/>
        </p:nvSpPr>
        <p:spPr>
          <a:xfrm>
            <a:off x="277092" y="816504"/>
            <a:ext cx="96638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cs typeface="Arial" panose="020B0604020202020204" pitchFamily="34" charset="0"/>
              </a:rPr>
              <a:t>To create a factor tree:</a:t>
            </a:r>
            <a:endParaRPr lang="en-AU" sz="3200" dirty="0">
              <a:cs typeface="Arial" panose="020B0604020202020204" pitchFamily="34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5EFECE9C-7250-4BE0-A0D5-4F0B83328AAC}"/>
              </a:ext>
            </a:extLst>
          </p:cNvPr>
          <p:cNvSpPr txBox="1"/>
          <p:nvPr/>
        </p:nvSpPr>
        <p:spPr>
          <a:xfrm>
            <a:off x="4279778" y="6054258"/>
            <a:ext cx="3696169" cy="58477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3200" b="1" dirty="0">
                <a:cs typeface="Arial" panose="020B0604020202020204" pitchFamily="34" charset="0"/>
              </a:rPr>
              <a:t>18 = 3 x 3 x 2 = 3</a:t>
            </a:r>
            <a:r>
              <a:rPr lang="en-AU" sz="3200" b="1" baseline="30000" dirty="0">
                <a:cs typeface="Arial" panose="020B0604020202020204" pitchFamily="34" charset="0"/>
              </a:rPr>
              <a:t>3</a:t>
            </a:r>
            <a:r>
              <a:rPr lang="en-AU" sz="3200" b="1" dirty="0">
                <a:cs typeface="Arial" panose="020B0604020202020204" pitchFamily="34" charset="0"/>
              </a:rPr>
              <a:t> x 2</a:t>
            </a:r>
            <a:endParaRPr lang="en-AU" sz="32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7015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animBg="1"/>
      <p:bldP spid="80" grpId="0" animBg="1"/>
      <p:bldP spid="86" grpId="0" animBg="1"/>
      <p:bldP spid="90" grpId="0" animBg="1"/>
      <p:bldP spid="95" grpId="0" animBg="1"/>
      <p:bldP spid="99" grpId="0" animBg="1"/>
      <p:bldP spid="102" grpId="0" animBg="1"/>
      <p:bldP spid="79" grpId="0"/>
      <p:bldP spid="81" grpId="0"/>
      <p:bldP spid="87" grpId="0"/>
      <p:bldP spid="91" grpId="0"/>
      <p:bldP spid="96" grpId="0"/>
      <p:bldP spid="100" grpId="0"/>
      <p:bldP spid="103" grpId="0"/>
      <p:bldP spid="73" grpId="0" animBg="1"/>
      <p:bldP spid="75" grpId="0" animBg="1"/>
      <p:bldP spid="77" grpId="0" animBg="1"/>
      <p:bldP spid="10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4F0F0DF5-9959-4F73-AE32-E0E4D1B17C3F}"/>
              </a:ext>
            </a:extLst>
          </p:cNvPr>
          <p:cNvSpPr/>
          <p:nvPr/>
        </p:nvSpPr>
        <p:spPr>
          <a:xfrm>
            <a:off x="4499535" y="5659646"/>
            <a:ext cx="3081349" cy="748763"/>
          </a:xfrm>
          <a:prstGeom prst="round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9BCEC0A-CDFB-4BC9-905B-7AEC1DA651C3}"/>
              </a:ext>
            </a:extLst>
          </p:cNvPr>
          <p:cNvSpPr txBox="1"/>
          <p:nvPr/>
        </p:nvSpPr>
        <p:spPr>
          <a:xfrm>
            <a:off x="4355593" y="5638968"/>
            <a:ext cx="337029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400" b="1" dirty="0">
                <a:latin typeface="Arial" panose="020B0604020202020204" pitchFamily="34" charset="0"/>
                <a:cs typeface="Arial" panose="020B0604020202020204" pitchFamily="34" charset="0"/>
              </a:rPr>
              <a:t>24 = 2</a:t>
            </a:r>
            <a:r>
              <a:rPr lang="en-AU" sz="44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AU" sz="4400" b="1" dirty="0">
                <a:latin typeface="Arial" panose="020B0604020202020204" pitchFamily="34" charset="0"/>
                <a:cs typeface="Arial" panose="020B0604020202020204" pitchFamily="34" charset="0"/>
              </a:rPr>
              <a:t> x 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91AF3E1-E961-49F6-807A-5A7F682493CA}"/>
              </a:ext>
            </a:extLst>
          </p:cNvPr>
          <p:cNvSpPr txBox="1"/>
          <p:nvPr/>
        </p:nvSpPr>
        <p:spPr>
          <a:xfrm>
            <a:off x="0" y="-20052"/>
            <a:ext cx="331018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Skill Development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1713CE8-144A-4BA9-B8E2-EC0AC9D850F1}"/>
              </a:ext>
            </a:extLst>
          </p:cNvPr>
          <p:cNvGrpSpPr/>
          <p:nvPr/>
        </p:nvGrpSpPr>
        <p:grpSpPr>
          <a:xfrm>
            <a:off x="8562451" y="0"/>
            <a:ext cx="3629550" cy="1267122"/>
            <a:chOff x="660399" y="3602071"/>
            <a:chExt cx="2035631" cy="1267122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0022761-3A56-483A-882D-4F39D80F2664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HINT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2EB92D7-8DD0-4612-989A-5C2D7BCEE78F}"/>
                </a:ext>
              </a:extLst>
            </p:cNvPr>
            <p:cNvSpPr/>
            <p:nvPr/>
          </p:nvSpPr>
          <p:spPr>
            <a:xfrm>
              <a:off x="660399" y="3931961"/>
              <a:ext cx="2035629" cy="937232"/>
            </a:xfrm>
            <a:prstGeom prst="rect">
              <a:avLst/>
            </a:prstGeom>
            <a:solidFill>
              <a:schemeClr val="accent1">
                <a:lumMod val="75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Use the divisibility laws and count your way up. </a:t>
              </a:r>
            </a:p>
            <a:p>
              <a:pPr algn="ctr"/>
              <a:r>
                <a:rPr lang="en-AU" dirty="0">
                  <a:solidFill>
                    <a:schemeClr val="tx1"/>
                  </a:solidFill>
                </a:rPr>
                <a:t>e.g. Is it divisible by 2? By 3? By 4?…</a:t>
              </a: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91D44E24-5AB3-411C-B061-69FFBB0DB32E}"/>
              </a:ext>
            </a:extLst>
          </p:cNvPr>
          <p:cNvSpPr txBox="1"/>
          <p:nvPr/>
        </p:nvSpPr>
        <p:spPr>
          <a:xfrm>
            <a:off x="256131" y="920867"/>
            <a:ext cx="798979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cs typeface="Arial" panose="020B0604020202020204" pitchFamily="34" charset="0"/>
              </a:rPr>
              <a:t>There are often many different ways to draw a factor tree of the same number.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E8C928BB-CF33-483F-B093-EA0E4806F26C}"/>
              </a:ext>
            </a:extLst>
          </p:cNvPr>
          <p:cNvSpPr/>
          <p:nvPr/>
        </p:nvSpPr>
        <p:spPr>
          <a:xfrm>
            <a:off x="10900047" y="6101256"/>
            <a:ext cx="408735" cy="4283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32E0CE93-F743-4FD4-8030-9A8CA6E0DE44}"/>
              </a:ext>
            </a:extLst>
          </p:cNvPr>
          <p:cNvSpPr/>
          <p:nvPr/>
        </p:nvSpPr>
        <p:spPr>
          <a:xfrm>
            <a:off x="9468829" y="6093224"/>
            <a:ext cx="408735" cy="4283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ECFC225C-DEC3-43CC-9D2C-45CEB2DBA915}"/>
              </a:ext>
            </a:extLst>
          </p:cNvPr>
          <p:cNvSpPr/>
          <p:nvPr/>
        </p:nvSpPr>
        <p:spPr>
          <a:xfrm>
            <a:off x="8863424" y="4776961"/>
            <a:ext cx="408735" cy="4283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DE9078AC-41E8-405A-9442-63157E520A8A}"/>
              </a:ext>
            </a:extLst>
          </p:cNvPr>
          <p:cNvSpPr/>
          <p:nvPr/>
        </p:nvSpPr>
        <p:spPr>
          <a:xfrm>
            <a:off x="8177664" y="3450318"/>
            <a:ext cx="408735" cy="4283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DF3E5944-2D63-4E77-B7A1-4E2EB3E73848}"/>
              </a:ext>
            </a:extLst>
          </p:cNvPr>
          <p:cNvSpPr/>
          <p:nvPr/>
        </p:nvSpPr>
        <p:spPr>
          <a:xfrm>
            <a:off x="7007878" y="4770099"/>
            <a:ext cx="408735" cy="4283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976D799F-1A0B-42D1-94D3-95C0E37A7497}"/>
              </a:ext>
            </a:extLst>
          </p:cNvPr>
          <p:cNvSpPr/>
          <p:nvPr/>
        </p:nvSpPr>
        <p:spPr>
          <a:xfrm>
            <a:off x="5967573" y="4745505"/>
            <a:ext cx="408735" cy="4283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A2F60DC0-A00C-4C7D-9556-5D4592C91EF0}"/>
              </a:ext>
            </a:extLst>
          </p:cNvPr>
          <p:cNvSpPr/>
          <p:nvPr/>
        </p:nvSpPr>
        <p:spPr>
          <a:xfrm>
            <a:off x="5641804" y="4753328"/>
            <a:ext cx="408735" cy="4283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8EA15668-E8C5-43B6-BD81-2169D25B602E}"/>
              </a:ext>
            </a:extLst>
          </p:cNvPr>
          <p:cNvSpPr/>
          <p:nvPr/>
        </p:nvSpPr>
        <p:spPr>
          <a:xfrm>
            <a:off x="4585517" y="4763342"/>
            <a:ext cx="408735" cy="4283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6D49B9E8-0CC3-41A9-B3FB-AFA87F890EB4}"/>
              </a:ext>
            </a:extLst>
          </p:cNvPr>
          <p:cNvSpPr/>
          <p:nvPr/>
        </p:nvSpPr>
        <p:spPr>
          <a:xfrm>
            <a:off x="2030793" y="6104092"/>
            <a:ext cx="408735" cy="4283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F507A048-702E-416B-987A-60D54C622DD3}"/>
              </a:ext>
            </a:extLst>
          </p:cNvPr>
          <p:cNvSpPr/>
          <p:nvPr/>
        </p:nvSpPr>
        <p:spPr>
          <a:xfrm>
            <a:off x="639968" y="6104092"/>
            <a:ext cx="408735" cy="4283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1946C62A-C232-46C8-8681-67446DF01BE2}"/>
              </a:ext>
            </a:extLst>
          </p:cNvPr>
          <p:cNvSpPr/>
          <p:nvPr/>
        </p:nvSpPr>
        <p:spPr>
          <a:xfrm>
            <a:off x="2701497" y="4763342"/>
            <a:ext cx="408735" cy="4283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B6EFED64-1F70-4831-A1C9-CA51630B528E}"/>
              </a:ext>
            </a:extLst>
          </p:cNvPr>
          <p:cNvSpPr/>
          <p:nvPr/>
        </p:nvSpPr>
        <p:spPr>
          <a:xfrm>
            <a:off x="3409918" y="3453024"/>
            <a:ext cx="408735" cy="4283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3FB2C0B-5211-4336-857E-72CC72B19F2C}"/>
              </a:ext>
            </a:extLst>
          </p:cNvPr>
          <p:cNvSpPr txBox="1"/>
          <p:nvPr/>
        </p:nvSpPr>
        <p:spPr>
          <a:xfrm>
            <a:off x="2216356" y="2162459"/>
            <a:ext cx="1602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24</a:t>
            </a: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3F47C10C-F506-4C96-850F-07B54492A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8248" y="2657635"/>
            <a:ext cx="1372019" cy="728085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1EF85282-7D3C-43A9-9C64-F73B578E81F3}"/>
              </a:ext>
            </a:extLst>
          </p:cNvPr>
          <p:cNvSpPr txBox="1"/>
          <p:nvPr/>
        </p:nvSpPr>
        <p:spPr>
          <a:xfrm>
            <a:off x="1434015" y="3410784"/>
            <a:ext cx="1602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10113AE-AF46-4492-B0DD-613F54E490FB}"/>
              </a:ext>
            </a:extLst>
          </p:cNvPr>
          <p:cNvSpPr txBox="1"/>
          <p:nvPr/>
        </p:nvSpPr>
        <p:spPr>
          <a:xfrm>
            <a:off x="737275" y="4714617"/>
            <a:ext cx="1602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09970460-B2E5-4AF3-8E8E-453C3F424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153" y="3986533"/>
            <a:ext cx="1372019" cy="728085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63567FB3-5706-4844-BC3B-317F16B95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337" y="5295604"/>
            <a:ext cx="1372019" cy="728085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5AA70347-90F5-466F-AA11-6FFA71C41C9A}"/>
              </a:ext>
            </a:extLst>
          </p:cNvPr>
          <p:cNvSpPr txBox="1"/>
          <p:nvPr/>
        </p:nvSpPr>
        <p:spPr>
          <a:xfrm>
            <a:off x="5239592" y="2162302"/>
            <a:ext cx="1602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24</a:t>
            </a:r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38F10E4B-3844-4A51-8B53-7801A3AC9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8295" y="2657635"/>
            <a:ext cx="1372019" cy="728085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3FCDF151-3B76-4619-A4AB-DCB96A76E04C}"/>
              </a:ext>
            </a:extLst>
          </p:cNvPr>
          <p:cNvSpPr txBox="1"/>
          <p:nvPr/>
        </p:nvSpPr>
        <p:spPr>
          <a:xfrm>
            <a:off x="4499535" y="3406272"/>
            <a:ext cx="1602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C0578DB-6757-4C52-B87E-AFF19FFCEE91}"/>
              </a:ext>
            </a:extLst>
          </p:cNvPr>
          <p:cNvSpPr txBox="1"/>
          <p:nvPr/>
        </p:nvSpPr>
        <p:spPr>
          <a:xfrm>
            <a:off x="5887382" y="3414241"/>
            <a:ext cx="1602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12EB03E1-21D9-483E-B48E-84966A1F11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2886" y="3986533"/>
            <a:ext cx="1031510" cy="728085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48C9B2D6-489E-4CDF-A37A-8D7D72DD1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8924" y="3986532"/>
            <a:ext cx="1031510" cy="728085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D3EBF738-D3DA-4095-9E74-9892DC902188}"/>
              </a:ext>
            </a:extLst>
          </p:cNvPr>
          <p:cNvSpPr txBox="1"/>
          <p:nvPr/>
        </p:nvSpPr>
        <p:spPr>
          <a:xfrm>
            <a:off x="8264878" y="2162302"/>
            <a:ext cx="1602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24</a:t>
            </a:r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594631EC-FC01-43B3-8699-8BC346FC76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32" y="2660209"/>
            <a:ext cx="1372019" cy="728085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1227FB5A-1E1E-40B8-8788-95E0BA6BDA08}"/>
              </a:ext>
            </a:extLst>
          </p:cNvPr>
          <p:cNvSpPr txBox="1"/>
          <p:nvPr/>
        </p:nvSpPr>
        <p:spPr>
          <a:xfrm>
            <a:off x="8917953" y="3414241"/>
            <a:ext cx="1602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DA1331F4-2BA6-4F89-8D4E-ABCD960044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6021" y="3986532"/>
            <a:ext cx="1372019" cy="728085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E6A369C3-5188-44DE-B66B-9E724F984B23}"/>
              </a:ext>
            </a:extLst>
          </p:cNvPr>
          <p:cNvSpPr txBox="1"/>
          <p:nvPr/>
        </p:nvSpPr>
        <p:spPr>
          <a:xfrm>
            <a:off x="9558060" y="4714758"/>
            <a:ext cx="1602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61595279-ADBF-4C9D-8E61-934DE58BB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3198" y="5299454"/>
            <a:ext cx="1372019" cy="728085"/>
          </a:xfrm>
          <a:prstGeom prst="rect">
            <a:avLst/>
          </a:prstGeom>
        </p:spPr>
      </p:pic>
      <p:sp>
        <p:nvSpPr>
          <p:cNvPr id="79" name="TextBox 78">
            <a:extLst>
              <a:ext uri="{FF2B5EF4-FFF2-40B4-BE49-F238E27FC236}">
                <a16:creationId xmlns:a16="http://schemas.microsoft.com/office/drawing/2014/main" id="{32349C14-A0CA-407A-AFC8-0033B65E6B83}"/>
              </a:ext>
            </a:extLst>
          </p:cNvPr>
          <p:cNvSpPr txBox="1"/>
          <p:nvPr/>
        </p:nvSpPr>
        <p:spPr>
          <a:xfrm>
            <a:off x="43188" y="6045774"/>
            <a:ext cx="1602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FF0BD84-3416-4F3C-9834-BFCD7D502E27}"/>
              </a:ext>
            </a:extLst>
          </p:cNvPr>
          <p:cNvSpPr txBox="1"/>
          <p:nvPr/>
        </p:nvSpPr>
        <p:spPr>
          <a:xfrm>
            <a:off x="1434013" y="6045774"/>
            <a:ext cx="1602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C8E0818-20FD-4C03-8F34-8DA07054932D}"/>
              </a:ext>
            </a:extLst>
          </p:cNvPr>
          <p:cNvSpPr txBox="1"/>
          <p:nvPr/>
        </p:nvSpPr>
        <p:spPr>
          <a:xfrm>
            <a:off x="2100900" y="4708732"/>
            <a:ext cx="1602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42E5299-B604-422A-9665-26C374238DF9}"/>
              </a:ext>
            </a:extLst>
          </p:cNvPr>
          <p:cNvSpPr txBox="1"/>
          <p:nvPr/>
        </p:nvSpPr>
        <p:spPr>
          <a:xfrm>
            <a:off x="2814321" y="3406272"/>
            <a:ext cx="1602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7D324A2-9347-4110-A03E-875C499CD4BB}"/>
              </a:ext>
            </a:extLst>
          </p:cNvPr>
          <p:cNvSpPr txBox="1"/>
          <p:nvPr/>
        </p:nvSpPr>
        <p:spPr>
          <a:xfrm>
            <a:off x="3994679" y="4708732"/>
            <a:ext cx="1602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13D67AE-C442-417A-ACAA-8B9D62988626}"/>
              </a:ext>
            </a:extLst>
          </p:cNvPr>
          <p:cNvSpPr txBox="1"/>
          <p:nvPr/>
        </p:nvSpPr>
        <p:spPr>
          <a:xfrm>
            <a:off x="5042168" y="4707471"/>
            <a:ext cx="1602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A8407A6-337B-408E-B3BA-BA63F5D093C2}"/>
              </a:ext>
            </a:extLst>
          </p:cNvPr>
          <p:cNvSpPr txBox="1"/>
          <p:nvPr/>
        </p:nvSpPr>
        <p:spPr>
          <a:xfrm>
            <a:off x="5372768" y="4705878"/>
            <a:ext cx="1602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9B80BEE-B62B-4F26-9B0D-967CEA34B719}"/>
              </a:ext>
            </a:extLst>
          </p:cNvPr>
          <p:cNvSpPr txBox="1"/>
          <p:nvPr/>
        </p:nvSpPr>
        <p:spPr>
          <a:xfrm>
            <a:off x="6415265" y="4705878"/>
            <a:ext cx="1602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632D1C3-8047-437B-9E20-3B118B92BDC6}"/>
              </a:ext>
            </a:extLst>
          </p:cNvPr>
          <p:cNvSpPr txBox="1"/>
          <p:nvPr/>
        </p:nvSpPr>
        <p:spPr>
          <a:xfrm>
            <a:off x="8264878" y="4720890"/>
            <a:ext cx="1602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BCAA699-5132-4616-B7EC-80AD5149A61E}"/>
              </a:ext>
            </a:extLst>
          </p:cNvPr>
          <p:cNvSpPr txBox="1"/>
          <p:nvPr/>
        </p:nvSpPr>
        <p:spPr>
          <a:xfrm>
            <a:off x="8872049" y="6045774"/>
            <a:ext cx="1602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BF88509-EE91-4617-B3CF-A4FAEA30D736}"/>
              </a:ext>
            </a:extLst>
          </p:cNvPr>
          <p:cNvSpPr txBox="1"/>
          <p:nvPr/>
        </p:nvSpPr>
        <p:spPr>
          <a:xfrm>
            <a:off x="10303267" y="6045774"/>
            <a:ext cx="1602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E1E56E6-DEF5-4FB5-8DEA-E4038A0E792B}"/>
              </a:ext>
            </a:extLst>
          </p:cNvPr>
          <p:cNvSpPr txBox="1"/>
          <p:nvPr/>
        </p:nvSpPr>
        <p:spPr>
          <a:xfrm>
            <a:off x="7580884" y="3414241"/>
            <a:ext cx="1602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685347" y="300415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2329078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92" grpId="0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3" grpId="0"/>
      <p:bldP spid="64" grpId="0"/>
      <p:bldP spid="69" grpId="0"/>
      <p:bldP spid="70" grpId="0"/>
      <p:bldP spid="75" grpId="0"/>
      <p:bldP spid="77" grpId="0"/>
      <p:bldP spid="79" grpId="0"/>
      <p:bldP spid="80" grpId="0"/>
      <p:bldP spid="81" grpId="0"/>
      <p:bldP spid="82" grpId="0"/>
      <p:bldP spid="83" grpId="0"/>
      <p:bldP spid="84" grpId="0"/>
      <p:bldP spid="85" grpId="0"/>
      <p:bldP spid="86" grpId="0"/>
      <p:bldP spid="87" grpId="0"/>
      <p:bldP spid="88" grpId="0"/>
      <p:bldP spid="89" grpId="0"/>
      <p:bldP spid="90" grpId="0"/>
      <p:bldP spid="9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5348" y="2681240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AU" sz="6600" b="1" dirty="0" smtClean="0"/>
              <a:t>COMPARING AND ORDERING INTEGERS</a:t>
            </a:r>
            <a:endParaRPr lang="en-AU" sz="6600" b="1" dirty="0"/>
          </a:p>
        </p:txBody>
      </p:sp>
    </p:spTree>
    <p:extLst>
      <p:ext uri="{BB962C8B-B14F-4D97-AF65-F5344CB8AC3E}">
        <p14:creationId xmlns:p14="http://schemas.microsoft.com/office/powerpoint/2010/main" val="3885236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5337" y="1393073"/>
            <a:ext cx="5389331" cy="749873"/>
          </a:xfrm>
          <a:prstGeom prst="rect">
            <a:avLst/>
          </a:prstGeom>
        </p:spPr>
      </p:pic>
      <p:sp>
        <p:nvSpPr>
          <p:cNvPr id="10" name="Title 1"/>
          <p:cNvSpPr txBox="1">
            <a:spLocks/>
          </p:cNvSpPr>
          <p:nvPr/>
        </p:nvSpPr>
        <p:spPr>
          <a:xfrm>
            <a:off x="4405144" y="2844225"/>
            <a:ext cx="3686476" cy="584775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Which is bigger?				</a:t>
            </a:r>
          </a:p>
          <a:p>
            <a:pPr algn="ctr"/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ctr">
              <a:buFont typeface="Arial" panose="020B0604020202020204" pitchFamily="34" charset="0"/>
              <a:buChar char="•"/>
            </a:pP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AU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770735" y="1294780"/>
            <a:ext cx="2101749" cy="17671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540992-49C5-4E30-9E9A-3C7762D7237A}"/>
              </a:ext>
            </a:extLst>
          </p:cNvPr>
          <p:cNvSpPr txBox="1"/>
          <p:nvPr/>
        </p:nvSpPr>
        <p:spPr>
          <a:xfrm>
            <a:off x="0" y="-6605"/>
            <a:ext cx="3009740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Guided Practice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0EB633B-907C-459F-B05B-D32AA0010F9E}"/>
              </a:ext>
            </a:extLst>
          </p:cNvPr>
          <p:cNvGrpSpPr/>
          <p:nvPr/>
        </p:nvGrpSpPr>
        <p:grpSpPr>
          <a:xfrm>
            <a:off x="10156370" y="0"/>
            <a:ext cx="2035630" cy="1442098"/>
            <a:chOff x="7094763" y="3602071"/>
            <a:chExt cx="2035630" cy="1442098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16BEA81-36E6-48CC-A4ED-63E3D0250096}"/>
                </a:ext>
              </a:extLst>
            </p:cNvPr>
            <p:cNvSpPr txBox="1"/>
            <p:nvPr/>
          </p:nvSpPr>
          <p:spPr>
            <a:xfrm>
              <a:off x="7094764" y="3602071"/>
              <a:ext cx="2035629" cy="307777"/>
            </a:xfrm>
            <a:prstGeom prst="rect">
              <a:avLst/>
            </a:prstGeom>
            <a:solidFill>
              <a:srgbClr val="002060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HINT 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2353848-EDC1-41B3-A525-F6146593CCC3}"/>
                </a:ext>
              </a:extLst>
            </p:cNvPr>
            <p:cNvSpPr/>
            <p:nvPr/>
          </p:nvSpPr>
          <p:spPr>
            <a:xfrm>
              <a:off x="7094763" y="3931960"/>
              <a:ext cx="2035629" cy="1112209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The greedy crocodile always eats the bigger number</a:t>
              </a:r>
            </a:p>
          </p:txBody>
        </p:sp>
      </p:grpSp>
      <p:sp>
        <p:nvSpPr>
          <p:cNvPr id="14" name="Title 1">
            <a:extLst>
              <a:ext uri="{FF2B5EF4-FFF2-40B4-BE49-F238E27FC236}">
                <a16:creationId xmlns:a16="http://schemas.microsoft.com/office/drawing/2014/main" id="{7D9ADE42-A47E-4915-A5E0-AD1F82C0B848}"/>
              </a:ext>
            </a:extLst>
          </p:cNvPr>
          <p:cNvSpPr txBox="1">
            <a:spLocks/>
          </p:cNvSpPr>
          <p:nvPr/>
        </p:nvSpPr>
        <p:spPr>
          <a:xfrm>
            <a:off x="698942" y="3600695"/>
            <a:ext cx="1510032" cy="65249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0 or 5</a:t>
            </a:r>
            <a:endParaRPr lang="en-AU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3AB4FE5-1B15-44E5-AA97-FB955EAA7CD7}"/>
              </a:ext>
            </a:extLst>
          </p:cNvPr>
          <p:cNvSpPr txBox="1">
            <a:spLocks/>
          </p:cNvSpPr>
          <p:nvPr/>
        </p:nvSpPr>
        <p:spPr>
          <a:xfrm>
            <a:off x="3740071" y="3600693"/>
            <a:ext cx="1510032" cy="65249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2 or -3</a:t>
            </a:r>
            <a:endParaRPr lang="en-AU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4E866FAD-50BB-4136-8572-C883EFC43071}"/>
              </a:ext>
            </a:extLst>
          </p:cNvPr>
          <p:cNvSpPr txBox="1">
            <a:spLocks/>
          </p:cNvSpPr>
          <p:nvPr/>
        </p:nvSpPr>
        <p:spPr>
          <a:xfrm>
            <a:off x="6781200" y="3600693"/>
            <a:ext cx="1510032" cy="65249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-1 or 1</a:t>
            </a:r>
            <a:endParaRPr lang="en-AU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47C18F8B-56C3-45E8-A04E-AAE8969EED3B}"/>
              </a:ext>
            </a:extLst>
          </p:cNvPr>
          <p:cNvSpPr txBox="1">
            <a:spLocks/>
          </p:cNvSpPr>
          <p:nvPr/>
        </p:nvSpPr>
        <p:spPr>
          <a:xfrm>
            <a:off x="9822329" y="3600693"/>
            <a:ext cx="1510032" cy="65249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-5 or -4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2E9BD71-0D0F-4941-B209-A28A5528B4C5}"/>
              </a:ext>
            </a:extLst>
          </p:cNvPr>
          <p:cNvSpPr txBox="1">
            <a:spLocks/>
          </p:cNvSpPr>
          <p:nvPr/>
        </p:nvSpPr>
        <p:spPr>
          <a:xfrm>
            <a:off x="698942" y="5261346"/>
            <a:ext cx="2101748" cy="65249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28 or 26</a:t>
            </a:r>
            <a:endParaRPr lang="en-AU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D92A4EEF-F684-4FA9-9593-6EFAE8884F46}"/>
              </a:ext>
            </a:extLst>
          </p:cNvPr>
          <p:cNvSpPr txBox="1">
            <a:spLocks/>
          </p:cNvSpPr>
          <p:nvPr/>
        </p:nvSpPr>
        <p:spPr>
          <a:xfrm>
            <a:off x="8944668" y="5261348"/>
            <a:ext cx="2676091" cy="65249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-472 or 389</a:t>
            </a:r>
            <a:endParaRPr lang="en-AU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AB8CBF4C-A15D-465E-B2CE-3FEF115A7C1D}"/>
              </a:ext>
            </a:extLst>
          </p:cNvPr>
          <p:cNvSpPr txBox="1">
            <a:spLocks/>
          </p:cNvSpPr>
          <p:nvPr/>
        </p:nvSpPr>
        <p:spPr>
          <a:xfrm>
            <a:off x="3064622" y="5261347"/>
            <a:ext cx="2676091" cy="65249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111 or -222</a:t>
            </a:r>
            <a:endParaRPr lang="en-AU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47AF7DDB-27D5-49B2-857C-0F4E5D35AC80}"/>
              </a:ext>
            </a:extLst>
          </p:cNvPr>
          <p:cNvSpPr txBox="1">
            <a:spLocks/>
          </p:cNvSpPr>
          <p:nvPr/>
        </p:nvSpPr>
        <p:spPr>
          <a:xfrm>
            <a:off x="6004645" y="5261348"/>
            <a:ext cx="2676091" cy="65249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3200" dirty="0">
                <a:latin typeface="Arial" panose="020B0604020202020204" pitchFamily="34" charset="0"/>
                <a:cs typeface="Arial" panose="020B0604020202020204" pitchFamily="34" charset="0"/>
              </a:rPr>
              <a:t>-962 or -847</a:t>
            </a:r>
            <a:endParaRPr lang="en-AU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902FFF9-63ED-4373-8324-C68844F2481F}"/>
              </a:ext>
            </a:extLst>
          </p:cNvPr>
          <p:cNvGrpSpPr/>
          <p:nvPr/>
        </p:nvGrpSpPr>
        <p:grpSpPr>
          <a:xfrm>
            <a:off x="10156369" y="1546499"/>
            <a:ext cx="2035630" cy="971026"/>
            <a:chOff x="7094763" y="3602071"/>
            <a:chExt cx="2035630" cy="971026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B4D14E0-424E-432A-B1BE-7546DD33CA0A}"/>
                </a:ext>
              </a:extLst>
            </p:cNvPr>
            <p:cNvSpPr txBox="1"/>
            <p:nvPr/>
          </p:nvSpPr>
          <p:spPr>
            <a:xfrm>
              <a:off x="7094764" y="3602071"/>
              <a:ext cx="2035629" cy="307777"/>
            </a:xfrm>
            <a:prstGeom prst="rect">
              <a:avLst/>
            </a:prstGeom>
            <a:solidFill>
              <a:srgbClr val="002060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Sentence Structure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7F257AC-8C82-402F-ACA1-69386A3BA19A}"/>
                </a:ext>
              </a:extLst>
            </p:cNvPr>
            <p:cNvSpPr/>
            <p:nvPr/>
          </p:nvSpPr>
          <p:spPr>
            <a:xfrm>
              <a:off x="7094763" y="3931961"/>
              <a:ext cx="2035629" cy="64113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____ is greater than ___.</a:t>
              </a:r>
            </a:p>
          </p:txBody>
        </p:sp>
      </p:grpSp>
      <p:sp>
        <p:nvSpPr>
          <p:cNvPr id="34" name="Title 1">
            <a:extLst>
              <a:ext uri="{FF2B5EF4-FFF2-40B4-BE49-F238E27FC236}">
                <a16:creationId xmlns:a16="http://schemas.microsoft.com/office/drawing/2014/main" id="{7D9ADE42-A47E-4915-A5E0-AD1F82C0B848}"/>
              </a:ext>
            </a:extLst>
          </p:cNvPr>
          <p:cNvSpPr txBox="1">
            <a:spLocks/>
          </p:cNvSpPr>
          <p:nvPr/>
        </p:nvSpPr>
        <p:spPr>
          <a:xfrm>
            <a:off x="698942" y="4349875"/>
            <a:ext cx="1510032" cy="65249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</a:t>
            </a:r>
            <a:r>
              <a:rPr lang="en-AU" sz="32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 </a:t>
            </a:r>
            <a:r>
              <a:rPr lang="en-AU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en-AU" sz="28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13AB4FE5-1B15-44E5-AA97-FB955EAA7CD7}"/>
              </a:ext>
            </a:extLst>
          </p:cNvPr>
          <p:cNvSpPr txBox="1">
            <a:spLocks/>
          </p:cNvSpPr>
          <p:nvPr/>
        </p:nvSpPr>
        <p:spPr>
          <a:xfrm>
            <a:off x="3740071" y="4349873"/>
            <a:ext cx="1510032" cy="65249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AU" sz="32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en-AU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-3</a:t>
            </a:r>
            <a:endParaRPr lang="en-AU" sz="28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itle 1">
            <a:extLst>
              <a:ext uri="{FF2B5EF4-FFF2-40B4-BE49-F238E27FC236}">
                <a16:creationId xmlns:a16="http://schemas.microsoft.com/office/drawing/2014/main" id="{4E866FAD-50BB-4136-8572-C883EFC43071}"/>
              </a:ext>
            </a:extLst>
          </p:cNvPr>
          <p:cNvSpPr txBox="1">
            <a:spLocks/>
          </p:cNvSpPr>
          <p:nvPr/>
        </p:nvSpPr>
        <p:spPr>
          <a:xfrm>
            <a:off x="6781200" y="4349873"/>
            <a:ext cx="1510032" cy="65249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-1 </a:t>
            </a:r>
            <a:r>
              <a:rPr lang="en-AU" sz="32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 </a:t>
            </a:r>
            <a:r>
              <a:rPr lang="en-AU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AU" sz="28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47C18F8B-56C3-45E8-A04E-AAE8969EED3B}"/>
              </a:ext>
            </a:extLst>
          </p:cNvPr>
          <p:cNvSpPr txBox="1">
            <a:spLocks/>
          </p:cNvSpPr>
          <p:nvPr/>
        </p:nvSpPr>
        <p:spPr>
          <a:xfrm>
            <a:off x="9822329" y="4349873"/>
            <a:ext cx="1510032" cy="65249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-5 </a:t>
            </a:r>
            <a:r>
              <a:rPr lang="en-AU" sz="32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 </a:t>
            </a:r>
            <a:r>
              <a:rPr lang="en-AU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93016" y="4868220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1280789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18" grpId="0"/>
      <p:bldP spid="21" grpId="0"/>
      <p:bldP spid="22" grpId="0"/>
      <p:bldP spid="23" grpId="0"/>
      <p:bldP spid="34" grpId="0"/>
      <p:bldP spid="35" grpId="0"/>
      <p:bldP spid="36" grpId="0"/>
      <p:bldP spid="37" grpId="0"/>
      <p:bldP spid="3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826A4EB-9FDD-45A2-A9D8-D1F219631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1385" y="52444"/>
            <a:ext cx="1519290" cy="151929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0A0E5950-01A9-440D-A25A-3672CC29D06B}"/>
              </a:ext>
            </a:extLst>
          </p:cNvPr>
          <p:cNvSpPr txBox="1">
            <a:spLocks/>
          </p:cNvSpPr>
          <p:nvPr/>
        </p:nvSpPr>
        <p:spPr>
          <a:xfrm>
            <a:off x="157110" y="765823"/>
            <a:ext cx="11140670" cy="100406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200" b="1" dirty="0">
                <a:latin typeface="+mn-lt"/>
                <a:cs typeface="Arial" panose="020B0604020202020204" pitchFamily="34" charset="0"/>
              </a:rPr>
              <a:t>Put these integers in ascending order.</a:t>
            </a:r>
          </a:p>
          <a:p>
            <a:endParaRPr lang="en-AU" sz="3200" b="1" dirty="0">
              <a:latin typeface="+mn-lt"/>
              <a:cs typeface="Arial" panose="020B0604020202020204" pitchFamily="34" charset="0"/>
            </a:endParaRPr>
          </a:p>
          <a:p>
            <a:r>
              <a:rPr lang="en-AU" sz="3200" b="1" dirty="0">
                <a:latin typeface="+mn-lt"/>
                <a:cs typeface="Arial" panose="020B0604020202020204" pitchFamily="34" charset="0"/>
              </a:rPr>
              <a:t>	3, -2, 5, 8, -3				-1, 4, 6, -6, -9, 7</a:t>
            </a:r>
          </a:p>
          <a:p>
            <a:endParaRPr lang="en-AU" sz="3200" b="1" dirty="0">
              <a:latin typeface="+mn-lt"/>
              <a:cs typeface="Arial" panose="020B0604020202020204" pitchFamily="34" charset="0"/>
            </a:endParaRPr>
          </a:p>
          <a:p>
            <a:endParaRPr lang="en-AU" sz="3200" b="1" dirty="0">
              <a:latin typeface="+mn-lt"/>
              <a:cs typeface="Arial" panose="020B0604020202020204" pitchFamily="34" charset="0"/>
            </a:endParaRPr>
          </a:p>
          <a:p>
            <a:endParaRPr lang="en-AU" sz="3200" b="1" dirty="0">
              <a:latin typeface="+mn-lt"/>
              <a:cs typeface="Arial" panose="020B0604020202020204" pitchFamily="34" charset="0"/>
            </a:endParaRPr>
          </a:p>
          <a:p>
            <a:r>
              <a:rPr lang="en-AU" sz="3200" b="1" dirty="0">
                <a:latin typeface="+mn-lt"/>
                <a:cs typeface="Arial" panose="020B0604020202020204" pitchFamily="34" charset="0"/>
              </a:rPr>
              <a:t>Put these integers in descending order.</a:t>
            </a:r>
          </a:p>
          <a:p>
            <a:endParaRPr lang="en-AU" sz="3200" b="1" dirty="0">
              <a:latin typeface="+mn-lt"/>
              <a:cs typeface="Arial" panose="020B0604020202020204" pitchFamily="34" charset="0"/>
            </a:endParaRPr>
          </a:p>
          <a:p>
            <a:r>
              <a:rPr lang="en-AU" sz="3200" b="1" dirty="0">
                <a:latin typeface="+mn-lt"/>
                <a:cs typeface="Arial" panose="020B0604020202020204" pitchFamily="34" charset="0"/>
              </a:rPr>
              <a:t>	7, -5, 8, -2, -1, 3, 5			2, -6, -5, -7, 1, 0, 5, -1</a:t>
            </a:r>
          </a:p>
          <a:p>
            <a:endParaRPr lang="en-AU" sz="3200" dirty="0">
              <a:latin typeface="+mn-lt"/>
              <a:cs typeface="Arial" panose="020B0604020202020204" pitchFamily="34" charset="0"/>
            </a:endParaRPr>
          </a:p>
          <a:p>
            <a:r>
              <a:rPr lang="en-AU" sz="3200" dirty="0">
                <a:latin typeface="+mn-lt"/>
                <a:cs typeface="Arial" panose="020B0604020202020204" pitchFamily="34" charset="0"/>
              </a:rPr>
              <a:t>	</a:t>
            </a:r>
          </a:p>
          <a:p>
            <a:endParaRPr lang="en-AU" sz="3200" dirty="0">
              <a:latin typeface="+mn-lt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AU" sz="3200" dirty="0">
              <a:latin typeface="+mn-lt"/>
              <a:cs typeface="Arial" panose="020B0604020202020204" pitchFamily="34" charset="0"/>
            </a:endParaRPr>
          </a:p>
          <a:p>
            <a:endParaRPr lang="en-AU" sz="3200" b="1" dirty="0"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FB2A77C-D8CF-4321-922C-3BAF243091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7671" y="5877127"/>
            <a:ext cx="5389331" cy="74987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97C1FB3-B02F-4836-9E30-61A72250A8D3}"/>
              </a:ext>
            </a:extLst>
          </p:cNvPr>
          <p:cNvSpPr txBox="1"/>
          <p:nvPr/>
        </p:nvSpPr>
        <p:spPr>
          <a:xfrm>
            <a:off x="1038406" y="2430820"/>
            <a:ext cx="227177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b="1" dirty="0">
                <a:solidFill>
                  <a:srgbClr val="C00000"/>
                </a:solidFill>
              </a:rPr>
              <a:t>-3, -2, 3, 5, 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934FC5-7700-4CEC-9383-A53E0767FF2E}"/>
              </a:ext>
            </a:extLst>
          </p:cNvPr>
          <p:cNvSpPr txBox="1"/>
          <p:nvPr/>
        </p:nvSpPr>
        <p:spPr>
          <a:xfrm>
            <a:off x="1038406" y="5064178"/>
            <a:ext cx="32111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b="1" dirty="0" smtClean="0">
                <a:solidFill>
                  <a:srgbClr val="C00000"/>
                </a:solidFill>
              </a:rPr>
              <a:t>8, 7, 5, 3, -1, -2, -5</a:t>
            </a:r>
            <a:endParaRPr lang="en-AU" sz="3200" b="1" dirty="0">
              <a:solidFill>
                <a:srgbClr val="C00000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54EDC19-00EC-4C2A-91E6-C867CAE8EFA2}"/>
              </a:ext>
            </a:extLst>
          </p:cNvPr>
          <p:cNvGrpSpPr/>
          <p:nvPr/>
        </p:nvGrpSpPr>
        <p:grpSpPr>
          <a:xfrm>
            <a:off x="9412298" y="11232"/>
            <a:ext cx="2779702" cy="1642354"/>
            <a:chOff x="660400" y="3602071"/>
            <a:chExt cx="2035629" cy="114411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11F5380-8504-447F-9F29-D6832A6EB402}"/>
                </a:ext>
              </a:extLst>
            </p:cNvPr>
            <p:cNvSpPr txBox="1"/>
            <p:nvPr/>
          </p:nvSpPr>
          <p:spPr>
            <a:xfrm>
              <a:off x="660400" y="3602071"/>
              <a:ext cx="2035629" cy="225652"/>
            </a:xfrm>
            <a:prstGeom prst="rect">
              <a:avLst/>
            </a:prstGeom>
            <a:solidFill>
              <a:srgbClr val="01244E"/>
            </a:solidFill>
            <a:ln>
              <a:solidFill>
                <a:srgbClr val="005C4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 smtClean="0">
                  <a:solidFill>
                    <a:schemeClr val="bg1"/>
                  </a:solidFill>
                </a:rPr>
                <a:t>VOCABULARY</a:t>
              </a:r>
              <a:endParaRPr lang="en-A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CB38442-9044-4234-80C8-660114140300}"/>
                </a:ext>
              </a:extLst>
            </p:cNvPr>
            <p:cNvSpPr/>
            <p:nvPr/>
          </p:nvSpPr>
          <p:spPr>
            <a:xfrm>
              <a:off x="660400" y="3827723"/>
              <a:ext cx="2035629" cy="918459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>
              <a:solidFill>
                <a:srgbClr val="005C4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b="1" dirty="0">
                  <a:solidFill>
                    <a:schemeClr val="tx1"/>
                  </a:solidFill>
                </a:rPr>
                <a:t>Ascending </a:t>
              </a:r>
              <a:r>
                <a:rPr lang="en-AU" dirty="0">
                  <a:solidFill>
                    <a:schemeClr val="tx1"/>
                  </a:solidFill>
                </a:rPr>
                <a:t>means to order from </a:t>
              </a:r>
              <a:r>
                <a:rPr lang="en-AU" b="1" dirty="0">
                  <a:solidFill>
                    <a:schemeClr val="tx1"/>
                  </a:solidFill>
                </a:rPr>
                <a:t>smallest to largest. </a:t>
              </a:r>
              <a:endParaRPr lang="en-AU" b="1" dirty="0" smtClean="0">
                <a:solidFill>
                  <a:schemeClr val="tx1"/>
                </a:solidFill>
              </a:endParaRPr>
            </a:p>
            <a:p>
              <a:pPr algn="ctr"/>
              <a:endParaRPr lang="en-AU" sz="800" b="1" dirty="0">
                <a:solidFill>
                  <a:schemeClr val="tx1"/>
                </a:solidFill>
              </a:endParaRPr>
            </a:p>
            <a:p>
              <a:pPr algn="ctr"/>
              <a:r>
                <a:rPr lang="en-AU" b="1" dirty="0" smtClean="0">
                  <a:solidFill>
                    <a:schemeClr val="tx1"/>
                  </a:solidFill>
                </a:rPr>
                <a:t>Descending</a:t>
              </a:r>
              <a:r>
                <a:rPr lang="en-AU" dirty="0" smtClean="0">
                  <a:solidFill>
                    <a:schemeClr val="tx1"/>
                  </a:solidFill>
                </a:rPr>
                <a:t> </a:t>
              </a:r>
              <a:r>
                <a:rPr lang="en-AU" dirty="0">
                  <a:solidFill>
                    <a:schemeClr val="tx1"/>
                  </a:solidFill>
                </a:rPr>
                <a:t>means to order from </a:t>
              </a:r>
              <a:r>
                <a:rPr lang="en-AU" b="1" dirty="0">
                  <a:solidFill>
                    <a:schemeClr val="tx1"/>
                  </a:solidFill>
                </a:rPr>
                <a:t>largest to smallest. 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10C420EF-45B9-4308-AA44-EC5605802EBD}"/>
              </a:ext>
            </a:extLst>
          </p:cNvPr>
          <p:cNvSpPr txBox="1"/>
          <p:nvPr/>
        </p:nvSpPr>
        <p:spPr>
          <a:xfrm>
            <a:off x="0" y="-6605"/>
            <a:ext cx="3310182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Skill Development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78" y="1638690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4524523" y="4311884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967568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2" grpId="0"/>
      <p:bldP spid="14" grpId="0" animBg="1"/>
      <p:bldP spid="1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649" y="1119146"/>
            <a:ext cx="5901651" cy="554253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D7AF829-53E4-4D55-BE22-CE679D7C38D7}"/>
              </a:ext>
            </a:extLst>
          </p:cNvPr>
          <p:cNvSpPr txBox="1"/>
          <p:nvPr/>
        </p:nvSpPr>
        <p:spPr>
          <a:xfrm>
            <a:off x="0" y="-6605"/>
            <a:ext cx="2429041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Daily Review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2C79527-EE51-4EC9-BB83-22F43630B879}"/>
              </a:ext>
            </a:extLst>
          </p:cNvPr>
          <p:cNvGrpSpPr/>
          <p:nvPr/>
        </p:nvGrpSpPr>
        <p:grpSpPr>
          <a:xfrm>
            <a:off x="9762961" y="0"/>
            <a:ext cx="2429040" cy="1283996"/>
            <a:chOff x="660399" y="3602071"/>
            <a:chExt cx="2035631" cy="1283996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7AA01B0-D493-43A1-92AA-9BD3532A168C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435F37A-D7CA-4C03-B342-A6BDC5128C4C}"/>
                </a:ext>
              </a:extLst>
            </p:cNvPr>
            <p:cNvSpPr/>
            <p:nvPr/>
          </p:nvSpPr>
          <p:spPr>
            <a:xfrm>
              <a:off x="660399" y="3931961"/>
              <a:ext cx="2035629" cy="954106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  <a:cs typeface="Arial" panose="020B0604020202020204" pitchFamily="34" charset="0"/>
                </a:rPr>
                <a:t>How would you represent the fish’s position as an integer?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97268BE-323B-4733-B991-C5BD8005EA64}"/>
              </a:ext>
            </a:extLst>
          </p:cNvPr>
          <p:cNvGrpSpPr/>
          <p:nvPr/>
        </p:nvGrpSpPr>
        <p:grpSpPr>
          <a:xfrm>
            <a:off x="9762961" y="1341543"/>
            <a:ext cx="2429040" cy="1283996"/>
            <a:chOff x="660399" y="3602071"/>
            <a:chExt cx="2035631" cy="1283996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D51967C-F45B-4C85-AB12-0802CB223966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34CE08A-006D-4904-83A7-9A20ACF61EFC}"/>
                </a:ext>
              </a:extLst>
            </p:cNvPr>
            <p:cNvSpPr/>
            <p:nvPr/>
          </p:nvSpPr>
          <p:spPr>
            <a:xfrm>
              <a:off x="660399" y="3931961"/>
              <a:ext cx="2035629" cy="954106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  <a:cs typeface="Arial" panose="020B0604020202020204" pitchFamily="34" charset="0"/>
                </a:rPr>
                <a:t>How far is the bird from the fish?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C9DC19E-24E9-4E79-9208-4490E343A3BB}"/>
              </a:ext>
            </a:extLst>
          </p:cNvPr>
          <p:cNvGrpSpPr/>
          <p:nvPr/>
        </p:nvGrpSpPr>
        <p:grpSpPr>
          <a:xfrm>
            <a:off x="9762961" y="2683086"/>
            <a:ext cx="2429040" cy="1283996"/>
            <a:chOff x="660399" y="3602071"/>
            <a:chExt cx="2035631" cy="1283996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CF9A6E8-9817-416C-B689-13878B8156F9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1F2EAC6-5B5F-4131-8518-291AA1FF347D}"/>
                </a:ext>
              </a:extLst>
            </p:cNvPr>
            <p:cNvSpPr/>
            <p:nvPr/>
          </p:nvSpPr>
          <p:spPr>
            <a:xfrm>
              <a:off x="660399" y="3931961"/>
              <a:ext cx="2035629" cy="954106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  <a:cs typeface="Arial" panose="020B0604020202020204" pitchFamily="34" charset="0"/>
                </a:rPr>
                <a:t>What is the distance between the plane and the bird?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0EF5C18-C86F-4137-9DB0-2260343D114B}"/>
              </a:ext>
            </a:extLst>
          </p:cNvPr>
          <p:cNvGrpSpPr/>
          <p:nvPr/>
        </p:nvGrpSpPr>
        <p:grpSpPr>
          <a:xfrm>
            <a:off x="9762961" y="4024629"/>
            <a:ext cx="2429040" cy="1283996"/>
            <a:chOff x="660399" y="3602071"/>
            <a:chExt cx="2035631" cy="1283996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B4F4A59-C7EC-41DE-B6D6-0958B3A02CB9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1C8DF7C4-272A-478D-8F26-3A94A0B2EB06}"/>
                </a:ext>
              </a:extLst>
            </p:cNvPr>
            <p:cNvSpPr/>
            <p:nvPr/>
          </p:nvSpPr>
          <p:spPr>
            <a:xfrm>
              <a:off x="660399" y="3931961"/>
              <a:ext cx="2035629" cy="954106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  <a:cs typeface="Arial" panose="020B0604020202020204" pitchFamily="34" charset="0"/>
                </a:rPr>
                <a:t>How far apart are the plane and the fish?</a:t>
              </a:r>
            </a:p>
          </p:txBody>
        </p:sp>
      </p:grpSp>
      <p:sp>
        <p:nvSpPr>
          <p:cNvPr id="35" name="Title 1">
            <a:extLst>
              <a:ext uri="{FF2B5EF4-FFF2-40B4-BE49-F238E27FC236}">
                <a16:creationId xmlns:a16="http://schemas.microsoft.com/office/drawing/2014/main" id="{4F77699A-2C72-4219-8525-5BC8FC6156E7}"/>
              </a:ext>
            </a:extLst>
          </p:cNvPr>
          <p:cNvSpPr txBox="1">
            <a:spLocks/>
          </p:cNvSpPr>
          <p:nvPr/>
        </p:nvSpPr>
        <p:spPr>
          <a:xfrm>
            <a:off x="7716943" y="480696"/>
            <a:ext cx="1510032" cy="65249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3200" dirty="0">
                <a:solidFill>
                  <a:srgbClr val="C00000"/>
                </a:solidFill>
                <a:latin typeface="+mn-lt"/>
                <a:cs typeface="Arial" panose="020B0604020202020204" pitchFamily="34" charset="0"/>
              </a:rPr>
              <a:t>-5</a:t>
            </a:r>
            <a:endParaRPr lang="en-AU" sz="2800" b="1" dirty="0">
              <a:solidFill>
                <a:srgbClr val="C0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6" name="Title 1">
            <a:extLst>
              <a:ext uri="{FF2B5EF4-FFF2-40B4-BE49-F238E27FC236}">
                <a16:creationId xmlns:a16="http://schemas.microsoft.com/office/drawing/2014/main" id="{EFB5BCDD-3AC2-4D0B-8EA5-64BCDCA3F034}"/>
              </a:ext>
            </a:extLst>
          </p:cNvPr>
          <p:cNvSpPr txBox="1">
            <a:spLocks/>
          </p:cNvSpPr>
          <p:nvPr/>
        </p:nvSpPr>
        <p:spPr>
          <a:xfrm>
            <a:off x="7287316" y="1822239"/>
            <a:ext cx="2429038" cy="65249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3200" dirty="0">
                <a:solidFill>
                  <a:srgbClr val="C00000"/>
                </a:solidFill>
                <a:latin typeface="+mn-lt"/>
                <a:cs typeface="Arial" panose="020B0604020202020204" pitchFamily="34" charset="0"/>
              </a:rPr>
              <a:t>20 + 5 = 25 m</a:t>
            </a:r>
            <a:endParaRPr lang="en-AU" sz="2800" b="1" dirty="0">
              <a:solidFill>
                <a:srgbClr val="C0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99D4C2F8-E895-4EFF-878B-F8EFA038BF83}"/>
              </a:ext>
            </a:extLst>
          </p:cNvPr>
          <p:cNvSpPr txBox="1">
            <a:spLocks/>
          </p:cNvSpPr>
          <p:nvPr/>
        </p:nvSpPr>
        <p:spPr>
          <a:xfrm>
            <a:off x="6096000" y="3163782"/>
            <a:ext cx="3621268" cy="65249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3200" dirty="0">
                <a:solidFill>
                  <a:srgbClr val="C00000"/>
                </a:solidFill>
                <a:latin typeface="+mn-lt"/>
                <a:cs typeface="Arial" panose="020B0604020202020204" pitchFamily="34" charset="0"/>
              </a:rPr>
              <a:t>8 000 - 20 = 7 980 m</a:t>
            </a:r>
            <a:endParaRPr lang="en-AU" sz="2800" b="1" dirty="0">
              <a:solidFill>
                <a:srgbClr val="C0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AF5C5982-38C2-407D-B7B0-C8055E294C7F}"/>
              </a:ext>
            </a:extLst>
          </p:cNvPr>
          <p:cNvSpPr txBox="1">
            <a:spLocks/>
          </p:cNvSpPr>
          <p:nvPr/>
        </p:nvSpPr>
        <p:spPr>
          <a:xfrm>
            <a:off x="6249798" y="4505325"/>
            <a:ext cx="3467470" cy="65249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3200" dirty="0">
                <a:solidFill>
                  <a:srgbClr val="C00000"/>
                </a:solidFill>
                <a:latin typeface="+mn-lt"/>
                <a:cs typeface="Arial" panose="020B0604020202020204" pitchFamily="34" charset="0"/>
              </a:rPr>
              <a:t>8 000 + 5 = 8 005 m</a:t>
            </a:r>
            <a:endParaRPr lang="en-AU" sz="2800" b="1" dirty="0">
              <a:solidFill>
                <a:srgbClr val="C00000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3655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/>
      <p:bldP spid="3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5348" y="2681240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AU" sz="6600" b="1" dirty="0" smtClean="0"/>
              <a:t>ADDING AND SUBTRACTING POSITIVE INTEGERS</a:t>
            </a:r>
            <a:endParaRPr lang="en-AU" sz="6600" b="1" dirty="0"/>
          </a:p>
        </p:txBody>
      </p:sp>
    </p:spTree>
    <p:extLst>
      <p:ext uri="{BB962C8B-B14F-4D97-AF65-F5344CB8AC3E}">
        <p14:creationId xmlns:p14="http://schemas.microsoft.com/office/powerpoint/2010/main" val="597761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4F6BF67-7A46-463D-8345-72C3EECBBC61}"/>
              </a:ext>
            </a:extLst>
          </p:cNvPr>
          <p:cNvCxnSpPr>
            <a:cxnSpLocks/>
          </p:cNvCxnSpPr>
          <p:nvPr/>
        </p:nvCxnSpPr>
        <p:spPr>
          <a:xfrm flipV="1">
            <a:off x="4383969" y="3223210"/>
            <a:ext cx="1040473" cy="291414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65B0E6F-E8AE-4B60-B3DB-68BA552A837C}"/>
              </a:ext>
            </a:extLst>
          </p:cNvPr>
          <p:cNvSpPr/>
          <p:nvPr/>
        </p:nvSpPr>
        <p:spPr>
          <a:xfrm>
            <a:off x="1899513" y="3351458"/>
            <a:ext cx="2813292" cy="78800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8086B4AF-E880-481F-ACFB-4B7D40080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03808"/>
            <a:ext cx="12191997" cy="636685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3134D6EB-822E-4DCC-9FC7-EF07594BA285}"/>
              </a:ext>
            </a:extLst>
          </p:cNvPr>
          <p:cNvSpPr txBox="1"/>
          <p:nvPr/>
        </p:nvSpPr>
        <p:spPr>
          <a:xfrm>
            <a:off x="0" y="-6605"/>
            <a:ext cx="4864344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Concept/Skill Development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80B5C3B-81CE-469C-A70A-20AB8F786FE7}"/>
              </a:ext>
            </a:extLst>
          </p:cNvPr>
          <p:cNvGrpSpPr/>
          <p:nvPr/>
        </p:nvGrpSpPr>
        <p:grpSpPr>
          <a:xfrm>
            <a:off x="8800051" y="-6515"/>
            <a:ext cx="3391948" cy="1306810"/>
            <a:chOff x="660399" y="3602071"/>
            <a:chExt cx="2035631" cy="1306810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79C78CB-1051-411C-A99A-FCC92CA2328D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HINT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101F82D-3AE8-49AF-A1F8-62D2FDE0CF37}"/>
                </a:ext>
              </a:extLst>
            </p:cNvPr>
            <p:cNvSpPr/>
            <p:nvPr/>
          </p:nvSpPr>
          <p:spPr>
            <a:xfrm>
              <a:off x="660399" y="3931961"/>
              <a:ext cx="2035630" cy="97692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b="1" dirty="0">
                  <a:solidFill>
                    <a:srgbClr val="002060"/>
                  </a:solidFill>
                </a:rPr>
                <a:t>Subtracting</a:t>
              </a:r>
              <a:r>
                <a:rPr lang="en-AU" dirty="0">
                  <a:solidFill>
                    <a:schemeClr val="tx1"/>
                  </a:solidFill>
                </a:rPr>
                <a:t> means moving left. </a:t>
              </a:r>
              <a:r>
                <a:rPr lang="en-AU" dirty="0">
                  <a:solidFill>
                    <a:srgbClr val="002060"/>
                  </a:solidFill>
                  <a:sym typeface="Wingdings" panose="05000000000000000000" pitchFamily="2" charset="2"/>
                </a:rPr>
                <a:t></a:t>
              </a:r>
            </a:p>
            <a:p>
              <a:pPr algn="ctr"/>
              <a:endParaRPr lang="en-AU" sz="800" dirty="0">
                <a:solidFill>
                  <a:srgbClr val="002060"/>
                </a:solidFill>
              </a:endParaRPr>
            </a:p>
            <a:p>
              <a:pPr algn="ctr"/>
              <a:r>
                <a:rPr lang="en-AU" b="1" dirty="0">
                  <a:solidFill>
                    <a:srgbClr val="C00000"/>
                  </a:solidFill>
                </a:rPr>
                <a:t>Adding</a:t>
              </a:r>
              <a:r>
                <a:rPr lang="en-AU" dirty="0">
                  <a:solidFill>
                    <a:schemeClr val="tx1"/>
                  </a:solidFill>
                </a:rPr>
                <a:t> means moving right. </a:t>
              </a:r>
              <a:r>
                <a:rPr lang="en-AU" dirty="0">
                  <a:solidFill>
                    <a:srgbClr val="C00000"/>
                  </a:solidFill>
                  <a:sym typeface="Wingdings" panose="05000000000000000000" pitchFamily="2" charset="2"/>
                </a:rPr>
                <a:t></a:t>
              </a:r>
              <a:endParaRPr lang="en-AU" dirty="0">
                <a:solidFill>
                  <a:srgbClr val="C00000"/>
                </a:solidFill>
              </a:endParaRP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38D6D185-646F-4ECB-BFF8-FE61AC70D1B1}"/>
              </a:ext>
            </a:extLst>
          </p:cNvPr>
          <p:cNvSpPr txBox="1"/>
          <p:nvPr/>
        </p:nvSpPr>
        <p:spPr>
          <a:xfrm>
            <a:off x="5452949" y="2872504"/>
            <a:ext cx="1501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/>
              <a:t>-2 - 6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44264AD-F201-4E66-9D61-42BB25B87027}"/>
              </a:ext>
            </a:extLst>
          </p:cNvPr>
          <p:cNvSpPr txBox="1"/>
          <p:nvPr/>
        </p:nvSpPr>
        <p:spPr>
          <a:xfrm>
            <a:off x="5084285" y="3420404"/>
            <a:ext cx="1501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>
                <a:solidFill>
                  <a:srgbClr val="C00000"/>
                </a:solidFill>
              </a:rPr>
              <a:t>= -8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1CDC0AB-D844-49DA-A18B-7AE1E7EA726C}"/>
              </a:ext>
            </a:extLst>
          </p:cNvPr>
          <p:cNvSpPr txBox="1"/>
          <p:nvPr/>
        </p:nvSpPr>
        <p:spPr>
          <a:xfrm>
            <a:off x="0" y="5075546"/>
            <a:ext cx="6850753" cy="1461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AU" sz="2800" b="1" dirty="0"/>
              <a:t>Will the answer be positive or negative?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AU" sz="2800" b="1" dirty="0"/>
              <a:t>Using the column stacking method, </a:t>
            </a:r>
            <a:br>
              <a:rPr lang="en-AU" sz="2800" b="1" dirty="0"/>
            </a:br>
            <a:r>
              <a:rPr lang="en-AU" sz="2800" b="1" dirty="0"/>
              <a:t>put the large number on top.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D4B411-5027-4F4D-A6BD-0197D6389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3019" y="1438918"/>
            <a:ext cx="1925957" cy="864715"/>
          </a:xfrm>
          <a:prstGeom prst="rect">
            <a:avLst/>
          </a:prstGeom>
        </p:spPr>
      </p:pic>
      <p:sp>
        <p:nvSpPr>
          <p:cNvPr id="102" name="TextBox 101">
            <a:extLst>
              <a:ext uri="{FF2B5EF4-FFF2-40B4-BE49-F238E27FC236}">
                <a16:creationId xmlns:a16="http://schemas.microsoft.com/office/drawing/2014/main" id="{078D1F4B-85F6-4660-A054-1D865A44139C}"/>
              </a:ext>
            </a:extLst>
          </p:cNvPr>
          <p:cNvSpPr txBox="1"/>
          <p:nvPr/>
        </p:nvSpPr>
        <p:spPr>
          <a:xfrm>
            <a:off x="3215357" y="781128"/>
            <a:ext cx="54204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AU" sz="2400" dirty="0"/>
              <a:t>Think of it like tug of war around zero.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EB7BF62-8A5E-4194-A527-ED74599CAC9B}"/>
              </a:ext>
            </a:extLst>
          </p:cNvPr>
          <p:cNvSpPr txBox="1"/>
          <p:nvPr/>
        </p:nvSpPr>
        <p:spPr>
          <a:xfrm>
            <a:off x="1861638" y="3324645"/>
            <a:ext cx="28695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AU" sz="2400" dirty="0"/>
              <a:t>There are 2 people on the negative side.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56EBCAF-5F32-4694-9003-EA684C26C5F7}"/>
              </a:ext>
            </a:extLst>
          </p:cNvPr>
          <p:cNvCxnSpPr>
            <a:cxnSpLocks/>
          </p:cNvCxnSpPr>
          <p:nvPr/>
        </p:nvCxnSpPr>
        <p:spPr>
          <a:xfrm flipH="1" flipV="1">
            <a:off x="6691884" y="3218278"/>
            <a:ext cx="815821" cy="317891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FAA835B-EC86-407A-B523-0A87CE8DF67F}"/>
              </a:ext>
            </a:extLst>
          </p:cNvPr>
          <p:cNvSpPr/>
          <p:nvPr/>
        </p:nvSpPr>
        <p:spPr>
          <a:xfrm>
            <a:off x="7398079" y="3328272"/>
            <a:ext cx="3278161" cy="78800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EA356E-2BC0-45EE-82CC-19D4607E846F}"/>
              </a:ext>
            </a:extLst>
          </p:cNvPr>
          <p:cNvSpPr txBox="1"/>
          <p:nvPr/>
        </p:nvSpPr>
        <p:spPr>
          <a:xfrm>
            <a:off x="7398080" y="3295699"/>
            <a:ext cx="33437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AU" sz="2400" dirty="0"/>
              <a:t>There are 6 more people on the negative side.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BAD4C86-5C84-40D5-9932-12AFEE4A0502}"/>
              </a:ext>
            </a:extLst>
          </p:cNvPr>
          <p:cNvSpPr txBox="1"/>
          <p:nvPr/>
        </p:nvSpPr>
        <p:spPr>
          <a:xfrm>
            <a:off x="6850753" y="5063859"/>
            <a:ext cx="26094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rgbClr val="C00000"/>
                </a:solidFill>
              </a:rPr>
              <a:t>Negative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5C90201-421C-4189-A36D-EAA6886E398F}"/>
              </a:ext>
            </a:extLst>
          </p:cNvPr>
          <p:cNvSpPr txBox="1"/>
          <p:nvPr/>
        </p:nvSpPr>
        <p:spPr>
          <a:xfrm>
            <a:off x="8635821" y="5174222"/>
            <a:ext cx="8484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2800" b="1" dirty="0">
                <a:solidFill>
                  <a:srgbClr val="C00000"/>
                </a:solidFill>
              </a:rPr>
              <a:t>6</a:t>
            </a:r>
          </a:p>
          <a:p>
            <a:pPr algn="r"/>
            <a:r>
              <a:rPr lang="en-AU" sz="2800" b="1" dirty="0">
                <a:solidFill>
                  <a:srgbClr val="C00000"/>
                </a:solidFill>
              </a:rPr>
              <a:t>+  2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BBC2DE5-085F-4DE7-8BF0-09FF11BFD24F}"/>
              </a:ext>
            </a:extLst>
          </p:cNvPr>
          <p:cNvCxnSpPr/>
          <p:nvPr/>
        </p:nvCxnSpPr>
        <p:spPr>
          <a:xfrm>
            <a:off x="8700370" y="6128329"/>
            <a:ext cx="99985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122E4FD3-23F7-4E04-A440-4023948F53A4}"/>
              </a:ext>
            </a:extLst>
          </p:cNvPr>
          <p:cNvSpPr txBox="1"/>
          <p:nvPr/>
        </p:nvSpPr>
        <p:spPr>
          <a:xfrm>
            <a:off x="8635821" y="6128329"/>
            <a:ext cx="848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2800" b="1" dirty="0">
                <a:solidFill>
                  <a:srgbClr val="C00000"/>
                </a:solidFill>
              </a:rPr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0C04FB1-5F8B-4F42-9345-F43FCA21879B}"/>
              </a:ext>
            </a:extLst>
          </p:cNvPr>
          <p:cNvSpPr txBox="1"/>
          <p:nvPr/>
        </p:nvSpPr>
        <p:spPr>
          <a:xfrm>
            <a:off x="312684" y="774834"/>
            <a:ext cx="52667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cs typeface="Arial" panose="020B0604020202020204" pitchFamily="34" charset="0"/>
              </a:rPr>
              <a:t>Another way:</a:t>
            </a:r>
          </a:p>
        </p:txBody>
      </p:sp>
    </p:spTree>
    <p:extLst>
      <p:ext uri="{BB962C8B-B14F-4D97-AF65-F5344CB8AC3E}">
        <p14:creationId xmlns:p14="http://schemas.microsoft.com/office/powerpoint/2010/main" val="3791254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0" grpId="0"/>
      <p:bldP spid="28" grpId="0"/>
      <p:bldP spid="34" grpId="0" animBg="1"/>
      <p:bldP spid="40" grpId="0"/>
      <p:bldP spid="42" grpId="0"/>
      <p:bldP spid="43" grpId="0"/>
      <p:bldP spid="4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4F6BF67-7A46-463D-8345-72C3EECBBC61}"/>
              </a:ext>
            </a:extLst>
          </p:cNvPr>
          <p:cNvCxnSpPr>
            <a:cxnSpLocks/>
          </p:cNvCxnSpPr>
          <p:nvPr/>
        </p:nvCxnSpPr>
        <p:spPr>
          <a:xfrm flipV="1">
            <a:off x="4383969" y="3223210"/>
            <a:ext cx="1040473" cy="291414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65B0E6F-E8AE-4B60-B3DB-68BA552A837C}"/>
              </a:ext>
            </a:extLst>
          </p:cNvPr>
          <p:cNvSpPr/>
          <p:nvPr/>
        </p:nvSpPr>
        <p:spPr>
          <a:xfrm>
            <a:off x="1899513" y="3351458"/>
            <a:ext cx="2813292" cy="78800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8086B4AF-E880-481F-ACFB-4B7D40080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03808"/>
            <a:ext cx="12191997" cy="636685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3134D6EB-822E-4DCC-9FC7-EF07594BA285}"/>
              </a:ext>
            </a:extLst>
          </p:cNvPr>
          <p:cNvSpPr txBox="1"/>
          <p:nvPr/>
        </p:nvSpPr>
        <p:spPr>
          <a:xfrm>
            <a:off x="0" y="-6605"/>
            <a:ext cx="4864344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Concept/Skill Development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80B5C3B-81CE-469C-A70A-20AB8F786FE7}"/>
              </a:ext>
            </a:extLst>
          </p:cNvPr>
          <p:cNvGrpSpPr/>
          <p:nvPr/>
        </p:nvGrpSpPr>
        <p:grpSpPr>
          <a:xfrm>
            <a:off x="8800051" y="-6515"/>
            <a:ext cx="3391948" cy="1306810"/>
            <a:chOff x="660399" y="3602071"/>
            <a:chExt cx="2035631" cy="1306810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79C78CB-1051-411C-A99A-FCC92CA2328D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HINT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101F82D-3AE8-49AF-A1F8-62D2FDE0CF37}"/>
                </a:ext>
              </a:extLst>
            </p:cNvPr>
            <p:cNvSpPr/>
            <p:nvPr/>
          </p:nvSpPr>
          <p:spPr>
            <a:xfrm>
              <a:off x="660399" y="3931961"/>
              <a:ext cx="2035630" cy="97692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b="1" dirty="0">
                  <a:solidFill>
                    <a:srgbClr val="002060"/>
                  </a:solidFill>
                </a:rPr>
                <a:t>Subtracting</a:t>
              </a:r>
              <a:r>
                <a:rPr lang="en-AU" dirty="0">
                  <a:solidFill>
                    <a:schemeClr val="tx1"/>
                  </a:solidFill>
                </a:rPr>
                <a:t> means moving left. </a:t>
              </a:r>
              <a:r>
                <a:rPr lang="en-AU" dirty="0">
                  <a:solidFill>
                    <a:srgbClr val="002060"/>
                  </a:solidFill>
                  <a:sym typeface="Wingdings" panose="05000000000000000000" pitchFamily="2" charset="2"/>
                </a:rPr>
                <a:t></a:t>
              </a:r>
            </a:p>
            <a:p>
              <a:pPr algn="ctr"/>
              <a:endParaRPr lang="en-AU" sz="800" dirty="0">
                <a:solidFill>
                  <a:srgbClr val="002060"/>
                </a:solidFill>
              </a:endParaRPr>
            </a:p>
            <a:p>
              <a:pPr algn="ctr"/>
              <a:r>
                <a:rPr lang="en-AU" b="1" dirty="0">
                  <a:solidFill>
                    <a:srgbClr val="C00000"/>
                  </a:solidFill>
                </a:rPr>
                <a:t>Adding</a:t>
              </a:r>
              <a:r>
                <a:rPr lang="en-AU" dirty="0">
                  <a:solidFill>
                    <a:schemeClr val="tx1"/>
                  </a:solidFill>
                </a:rPr>
                <a:t> means moving right. </a:t>
              </a:r>
              <a:r>
                <a:rPr lang="en-AU" dirty="0">
                  <a:solidFill>
                    <a:srgbClr val="C00000"/>
                  </a:solidFill>
                  <a:sym typeface="Wingdings" panose="05000000000000000000" pitchFamily="2" charset="2"/>
                </a:rPr>
                <a:t></a:t>
              </a:r>
              <a:endParaRPr lang="en-AU" dirty="0">
                <a:solidFill>
                  <a:srgbClr val="C00000"/>
                </a:solidFill>
              </a:endParaRP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38D6D185-646F-4ECB-BFF8-FE61AC70D1B1}"/>
              </a:ext>
            </a:extLst>
          </p:cNvPr>
          <p:cNvSpPr txBox="1"/>
          <p:nvPr/>
        </p:nvSpPr>
        <p:spPr>
          <a:xfrm>
            <a:off x="5452949" y="2872504"/>
            <a:ext cx="1501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/>
              <a:t>-8 - 8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44264AD-F201-4E66-9D61-42BB25B87027}"/>
              </a:ext>
            </a:extLst>
          </p:cNvPr>
          <p:cNvSpPr txBox="1"/>
          <p:nvPr/>
        </p:nvSpPr>
        <p:spPr>
          <a:xfrm>
            <a:off x="5084285" y="3420404"/>
            <a:ext cx="1501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>
                <a:solidFill>
                  <a:srgbClr val="C00000"/>
                </a:solidFill>
              </a:rPr>
              <a:t>= -16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1CDC0AB-D844-49DA-A18B-7AE1E7EA726C}"/>
              </a:ext>
            </a:extLst>
          </p:cNvPr>
          <p:cNvSpPr txBox="1"/>
          <p:nvPr/>
        </p:nvSpPr>
        <p:spPr>
          <a:xfrm>
            <a:off x="0" y="5075546"/>
            <a:ext cx="6850753" cy="1461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AU" sz="2800" b="1" dirty="0"/>
              <a:t>Will the answer be positive or negative?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AU" sz="2800" b="1" dirty="0"/>
              <a:t>Using the column stacking method, </a:t>
            </a:r>
            <a:br>
              <a:rPr lang="en-AU" sz="2800" b="1" dirty="0"/>
            </a:br>
            <a:r>
              <a:rPr lang="en-AU" sz="2800" b="1" dirty="0"/>
              <a:t>put the large number on top.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D4B411-5027-4F4D-A6BD-0197D6389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3019" y="1438918"/>
            <a:ext cx="1925957" cy="864715"/>
          </a:xfrm>
          <a:prstGeom prst="rect">
            <a:avLst/>
          </a:prstGeom>
        </p:spPr>
      </p:pic>
      <p:sp>
        <p:nvSpPr>
          <p:cNvPr id="102" name="TextBox 101">
            <a:extLst>
              <a:ext uri="{FF2B5EF4-FFF2-40B4-BE49-F238E27FC236}">
                <a16:creationId xmlns:a16="http://schemas.microsoft.com/office/drawing/2014/main" id="{078D1F4B-85F6-4660-A054-1D865A44139C}"/>
              </a:ext>
            </a:extLst>
          </p:cNvPr>
          <p:cNvSpPr txBox="1"/>
          <p:nvPr/>
        </p:nvSpPr>
        <p:spPr>
          <a:xfrm>
            <a:off x="3215357" y="781128"/>
            <a:ext cx="54204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AU" sz="2400" dirty="0"/>
              <a:t>Think of it like tug of war around zero.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EB7BF62-8A5E-4194-A527-ED74599CAC9B}"/>
              </a:ext>
            </a:extLst>
          </p:cNvPr>
          <p:cNvSpPr txBox="1"/>
          <p:nvPr/>
        </p:nvSpPr>
        <p:spPr>
          <a:xfrm>
            <a:off x="1861638" y="3324645"/>
            <a:ext cx="28695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AU" sz="2400" dirty="0"/>
              <a:t>There are 8 people on the negative side.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56EBCAF-5F32-4694-9003-EA684C26C5F7}"/>
              </a:ext>
            </a:extLst>
          </p:cNvPr>
          <p:cNvCxnSpPr>
            <a:cxnSpLocks/>
          </p:cNvCxnSpPr>
          <p:nvPr/>
        </p:nvCxnSpPr>
        <p:spPr>
          <a:xfrm flipH="1" flipV="1">
            <a:off x="6691884" y="3218278"/>
            <a:ext cx="815821" cy="317891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FAA835B-EC86-407A-B523-0A87CE8DF67F}"/>
              </a:ext>
            </a:extLst>
          </p:cNvPr>
          <p:cNvSpPr/>
          <p:nvPr/>
        </p:nvSpPr>
        <p:spPr>
          <a:xfrm>
            <a:off x="7398079" y="3328272"/>
            <a:ext cx="3278161" cy="78800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EA356E-2BC0-45EE-82CC-19D4607E846F}"/>
              </a:ext>
            </a:extLst>
          </p:cNvPr>
          <p:cNvSpPr txBox="1"/>
          <p:nvPr/>
        </p:nvSpPr>
        <p:spPr>
          <a:xfrm>
            <a:off x="7398080" y="3295699"/>
            <a:ext cx="33437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AU" sz="2400" dirty="0"/>
              <a:t>There are 8 more people on the negative side.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BAD4C86-5C84-40D5-9932-12AFEE4A0502}"/>
              </a:ext>
            </a:extLst>
          </p:cNvPr>
          <p:cNvSpPr txBox="1"/>
          <p:nvPr/>
        </p:nvSpPr>
        <p:spPr>
          <a:xfrm>
            <a:off x="6850753" y="5063859"/>
            <a:ext cx="26094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rgbClr val="C00000"/>
                </a:solidFill>
              </a:rPr>
              <a:t>Negative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5C90201-421C-4189-A36D-EAA6886E398F}"/>
              </a:ext>
            </a:extLst>
          </p:cNvPr>
          <p:cNvSpPr txBox="1"/>
          <p:nvPr/>
        </p:nvSpPr>
        <p:spPr>
          <a:xfrm>
            <a:off x="8635821" y="5174222"/>
            <a:ext cx="8484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2800" b="1" dirty="0">
                <a:solidFill>
                  <a:srgbClr val="C00000"/>
                </a:solidFill>
              </a:rPr>
              <a:t>8</a:t>
            </a:r>
          </a:p>
          <a:p>
            <a:pPr algn="r"/>
            <a:r>
              <a:rPr lang="en-AU" sz="2800" b="1" dirty="0">
                <a:solidFill>
                  <a:srgbClr val="C00000"/>
                </a:solidFill>
              </a:rPr>
              <a:t>+  8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BBC2DE5-085F-4DE7-8BF0-09FF11BFD24F}"/>
              </a:ext>
            </a:extLst>
          </p:cNvPr>
          <p:cNvCxnSpPr/>
          <p:nvPr/>
        </p:nvCxnSpPr>
        <p:spPr>
          <a:xfrm>
            <a:off x="8700370" y="6128329"/>
            <a:ext cx="99985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122E4FD3-23F7-4E04-A440-4023948F53A4}"/>
              </a:ext>
            </a:extLst>
          </p:cNvPr>
          <p:cNvSpPr txBox="1"/>
          <p:nvPr/>
        </p:nvSpPr>
        <p:spPr>
          <a:xfrm>
            <a:off x="8635821" y="6128329"/>
            <a:ext cx="848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2800" b="1" dirty="0">
                <a:solidFill>
                  <a:srgbClr val="C00000"/>
                </a:solidFill>
              </a:rPr>
              <a:t>16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0C04FB1-5F8B-4F42-9345-F43FCA21879B}"/>
              </a:ext>
            </a:extLst>
          </p:cNvPr>
          <p:cNvSpPr txBox="1"/>
          <p:nvPr/>
        </p:nvSpPr>
        <p:spPr>
          <a:xfrm>
            <a:off x="312684" y="774834"/>
            <a:ext cx="52667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cs typeface="Arial" panose="020B0604020202020204" pitchFamily="34" charset="0"/>
              </a:rPr>
              <a:t>Another way:</a:t>
            </a:r>
          </a:p>
        </p:txBody>
      </p:sp>
    </p:spTree>
    <p:extLst>
      <p:ext uri="{BB962C8B-B14F-4D97-AF65-F5344CB8AC3E}">
        <p14:creationId xmlns:p14="http://schemas.microsoft.com/office/powerpoint/2010/main" val="884549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0" grpId="0"/>
      <p:bldP spid="28" grpId="0"/>
      <p:bldP spid="34" grpId="0" animBg="1"/>
      <p:bldP spid="40" grpId="0"/>
      <p:bldP spid="42" grpId="0"/>
      <p:bldP spid="43" grpId="0"/>
      <p:bldP spid="4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>
            <a:extLst>
              <a:ext uri="{FF2B5EF4-FFF2-40B4-BE49-F238E27FC236}">
                <a16:creationId xmlns:a16="http://schemas.microsoft.com/office/drawing/2014/main" id="{8086B4AF-E880-481F-ACFB-4B7D40080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1517860"/>
            <a:ext cx="12191997" cy="636685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3134D6EB-822E-4DCC-9FC7-EF07594BA285}"/>
              </a:ext>
            </a:extLst>
          </p:cNvPr>
          <p:cNvSpPr txBox="1"/>
          <p:nvPr/>
        </p:nvSpPr>
        <p:spPr>
          <a:xfrm>
            <a:off x="0" y="-6605"/>
            <a:ext cx="2945880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Guided Practice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80B5C3B-81CE-469C-A70A-20AB8F786FE7}"/>
              </a:ext>
            </a:extLst>
          </p:cNvPr>
          <p:cNvGrpSpPr/>
          <p:nvPr/>
        </p:nvGrpSpPr>
        <p:grpSpPr>
          <a:xfrm>
            <a:off x="8800051" y="-6515"/>
            <a:ext cx="3391948" cy="1306810"/>
            <a:chOff x="660399" y="3602071"/>
            <a:chExt cx="2035631" cy="1306810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79C78CB-1051-411C-A99A-FCC92CA2328D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HINT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101F82D-3AE8-49AF-A1F8-62D2FDE0CF37}"/>
                </a:ext>
              </a:extLst>
            </p:cNvPr>
            <p:cNvSpPr/>
            <p:nvPr/>
          </p:nvSpPr>
          <p:spPr>
            <a:xfrm>
              <a:off x="660399" y="3931961"/>
              <a:ext cx="2035630" cy="97692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b="1" dirty="0">
                  <a:solidFill>
                    <a:srgbClr val="002060"/>
                  </a:solidFill>
                </a:rPr>
                <a:t>Subtracting</a:t>
              </a:r>
              <a:r>
                <a:rPr lang="en-AU" dirty="0">
                  <a:solidFill>
                    <a:schemeClr val="tx1"/>
                  </a:solidFill>
                </a:rPr>
                <a:t> means moving left. </a:t>
              </a:r>
              <a:r>
                <a:rPr lang="en-AU" dirty="0">
                  <a:solidFill>
                    <a:srgbClr val="002060"/>
                  </a:solidFill>
                  <a:sym typeface="Wingdings" panose="05000000000000000000" pitchFamily="2" charset="2"/>
                </a:rPr>
                <a:t></a:t>
              </a:r>
            </a:p>
            <a:p>
              <a:pPr algn="ctr"/>
              <a:endParaRPr lang="en-AU" sz="800" dirty="0">
                <a:solidFill>
                  <a:srgbClr val="002060"/>
                </a:solidFill>
              </a:endParaRPr>
            </a:p>
            <a:p>
              <a:pPr algn="ctr"/>
              <a:r>
                <a:rPr lang="en-AU" b="1" dirty="0">
                  <a:solidFill>
                    <a:srgbClr val="C00000"/>
                  </a:solidFill>
                </a:rPr>
                <a:t>Adding</a:t>
              </a:r>
              <a:r>
                <a:rPr lang="en-AU" dirty="0">
                  <a:solidFill>
                    <a:schemeClr val="tx1"/>
                  </a:solidFill>
                </a:rPr>
                <a:t> means moving right. </a:t>
              </a:r>
              <a:r>
                <a:rPr lang="en-AU" dirty="0">
                  <a:solidFill>
                    <a:srgbClr val="C00000"/>
                  </a:solidFill>
                  <a:sym typeface="Wingdings" panose="05000000000000000000" pitchFamily="2" charset="2"/>
                </a:rPr>
                <a:t></a:t>
              </a:r>
              <a:endParaRPr lang="en-AU" dirty="0">
                <a:solidFill>
                  <a:srgbClr val="C00000"/>
                </a:solidFill>
              </a:endParaRPr>
            </a:p>
          </p:txBody>
        </p: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61CDC0AB-D844-49DA-A18B-7AE1E7EA726C}"/>
              </a:ext>
            </a:extLst>
          </p:cNvPr>
          <p:cNvSpPr txBox="1"/>
          <p:nvPr/>
        </p:nvSpPr>
        <p:spPr>
          <a:xfrm>
            <a:off x="77002" y="5340140"/>
            <a:ext cx="6850753" cy="1461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AU" sz="2800" b="1" dirty="0"/>
              <a:t>Will the answer be positive or negative?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AU" sz="2800" b="1" dirty="0"/>
              <a:t>Using the column stacking method, </a:t>
            </a:r>
            <a:br>
              <a:rPr lang="en-AU" sz="2800" b="1" dirty="0"/>
            </a:br>
            <a:r>
              <a:rPr lang="en-AU" sz="2800" b="1" dirty="0"/>
              <a:t>put the large number on top.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D4B411-5027-4F4D-A6BD-0197D6389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3022" y="752970"/>
            <a:ext cx="1925957" cy="86471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AF7D89C-3283-4890-A57B-BCE61871CB57}"/>
              </a:ext>
            </a:extLst>
          </p:cNvPr>
          <p:cNvSpPr txBox="1"/>
          <p:nvPr/>
        </p:nvSpPr>
        <p:spPr>
          <a:xfrm>
            <a:off x="882592" y="2274150"/>
            <a:ext cx="1501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/>
              <a:t>4 + 9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9C1E9A8-5313-4C63-AB57-D3EAC9A14288}"/>
              </a:ext>
            </a:extLst>
          </p:cNvPr>
          <p:cNvSpPr txBox="1"/>
          <p:nvPr/>
        </p:nvSpPr>
        <p:spPr>
          <a:xfrm>
            <a:off x="3899176" y="2273104"/>
            <a:ext cx="1501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/>
              <a:t>17 - 8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E349098-8EAC-4D16-950D-39DB5804C30C}"/>
              </a:ext>
            </a:extLst>
          </p:cNvPr>
          <p:cNvSpPr txBox="1"/>
          <p:nvPr/>
        </p:nvSpPr>
        <p:spPr>
          <a:xfrm>
            <a:off x="6865108" y="2273104"/>
            <a:ext cx="1501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/>
              <a:t>-2 + 9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989016B-CC3E-42BA-9444-A003285F009B}"/>
              </a:ext>
            </a:extLst>
          </p:cNvPr>
          <p:cNvSpPr txBox="1"/>
          <p:nvPr/>
        </p:nvSpPr>
        <p:spPr>
          <a:xfrm>
            <a:off x="9831040" y="2273103"/>
            <a:ext cx="17358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/>
              <a:t>8 - 12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EDC24D5-8541-44A2-A65D-6F023842DF94}"/>
              </a:ext>
            </a:extLst>
          </p:cNvPr>
          <p:cNvSpPr txBox="1"/>
          <p:nvPr/>
        </p:nvSpPr>
        <p:spPr>
          <a:xfrm>
            <a:off x="882592" y="3875256"/>
            <a:ext cx="16846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/>
              <a:t>-41 + 14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77BBA3A-245A-42BE-8782-9833B5A6F583}"/>
              </a:ext>
            </a:extLst>
          </p:cNvPr>
          <p:cNvSpPr txBox="1"/>
          <p:nvPr/>
        </p:nvSpPr>
        <p:spPr>
          <a:xfrm>
            <a:off x="3899176" y="3874210"/>
            <a:ext cx="1501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/>
              <a:t>16 - 21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F55351C-F4D5-4CA7-A10B-60829CF41227}"/>
              </a:ext>
            </a:extLst>
          </p:cNvPr>
          <p:cNvSpPr txBox="1"/>
          <p:nvPr/>
        </p:nvSpPr>
        <p:spPr>
          <a:xfrm>
            <a:off x="6865108" y="3874210"/>
            <a:ext cx="1633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/>
              <a:t>-50 - 12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F73D390-15E2-4749-BB02-5C77232607AE}"/>
              </a:ext>
            </a:extLst>
          </p:cNvPr>
          <p:cNvSpPr txBox="1"/>
          <p:nvPr/>
        </p:nvSpPr>
        <p:spPr>
          <a:xfrm>
            <a:off x="9831040" y="3874209"/>
            <a:ext cx="17358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/>
              <a:t>-64 - 81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79911" y="809640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2449285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5348" y="2681240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AU" sz="6600" b="1" dirty="0" smtClean="0"/>
              <a:t>ADDING AND SUBTRACTING NEGATIVE INTEGERS</a:t>
            </a:r>
            <a:endParaRPr lang="en-AU" sz="6600" b="1" dirty="0"/>
          </a:p>
        </p:txBody>
      </p:sp>
    </p:spTree>
    <p:extLst>
      <p:ext uri="{BB962C8B-B14F-4D97-AF65-F5344CB8AC3E}">
        <p14:creationId xmlns:p14="http://schemas.microsoft.com/office/powerpoint/2010/main" val="42246208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: Rounded Corners 30"/>
          <p:cNvSpPr/>
          <p:nvPr/>
        </p:nvSpPr>
        <p:spPr>
          <a:xfrm>
            <a:off x="7405730" y="4903071"/>
            <a:ext cx="2743200" cy="181588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0" name="TextBox 29"/>
          <p:cNvSpPr txBox="1"/>
          <p:nvPr/>
        </p:nvSpPr>
        <p:spPr>
          <a:xfrm>
            <a:off x="7130642" y="4932727"/>
            <a:ext cx="314587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‘+’ means move FORWARDS, </a:t>
            </a:r>
          </a:p>
          <a:p>
            <a:pPr algn="ctr"/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‘-’ means move BACKWARDS</a:t>
            </a:r>
          </a:p>
        </p:txBody>
      </p:sp>
      <p:sp>
        <p:nvSpPr>
          <p:cNvPr id="25" name="Rectangle: Rounded Corners 24"/>
          <p:cNvSpPr/>
          <p:nvPr/>
        </p:nvSpPr>
        <p:spPr>
          <a:xfrm>
            <a:off x="5025006" y="4932727"/>
            <a:ext cx="1851170" cy="954107"/>
          </a:xfrm>
          <a:prstGeom prst="roundRect">
            <a:avLst/>
          </a:prstGeom>
          <a:solidFill>
            <a:srgbClr val="FFA7A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Rectangle: Rounded Corners 20"/>
          <p:cNvSpPr/>
          <p:nvPr/>
        </p:nvSpPr>
        <p:spPr>
          <a:xfrm>
            <a:off x="5637402" y="3495107"/>
            <a:ext cx="687897" cy="735939"/>
          </a:xfrm>
          <a:prstGeom prst="roundRect">
            <a:avLst/>
          </a:prstGeom>
          <a:solidFill>
            <a:srgbClr val="FFA7A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Rectangle: Rounded Corners 19"/>
          <p:cNvSpPr/>
          <p:nvPr/>
        </p:nvSpPr>
        <p:spPr>
          <a:xfrm>
            <a:off x="1326859" y="4932727"/>
            <a:ext cx="1953237" cy="52322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Rectangle: Rounded Corners 3"/>
          <p:cNvSpPr/>
          <p:nvPr/>
        </p:nvSpPr>
        <p:spPr>
          <a:xfrm>
            <a:off x="3699545" y="3363985"/>
            <a:ext cx="1879134" cy="116607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09" y="1824349"/>
            <a:ext cx="11909186" cy="579486"/>
          </a:xfrm>
          <a:prstGeom prst="rect">
            <a:avLst/>
          </a:prstGeom>
        </p:spPr>
      </p:pic>
      <p:cxnSp>
        <p:nvCxnSpPr>
          <p:cNvPr id="11" name="Straight Arrow Connector 10"/>
          <p:cNvCxnSpPr>
            <a:cxnSpLocks/>
          </p:cNvCxnSpPr>
          <p:nvPr/>
        </p:nvCxnSpPr>
        <p:spPr>
          <a:xfrm flipV="1">
            <a:off x="2508308" y="4455257"/>
            <a:ext cx="1233182" cy="47747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326858" y="4932727"/>
            <a:ext cx="19532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Start here</a:t>
            </a:r>
          </a:p>
        </p:txBody>
      </p:sp>
      <p:cxnSp>
        <p:nvCxnSpPr>
          <p:cNvPr id="23" name="Straight Arrow Connector 22"/>
          <p:cNvCxnSpPr>
            <a:cxnSpLocks/>
          </p:cNvCxnSpPr>
          <p:nvPr/>
        </p:nvCxnSpPr>
        <p:spPr>
          <a:xfrm flipV="1">
            <a:off x="5981350" y="4231047"/>
            <a:ext cx="0" cy="70168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973972" y="4932727"/>
            <a:ext cx="19532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Face this direction</a:t>
            </a:r>
          </a:p>
        </p:txBody>
      </p:sp>
      <p:sp>
        <p:nvSpPr>
          <p:cNvPr id="27" name="Rectangle: Rounded Corners 26"/>
          <p:cNvSpPr/>
          <p:nvPr/>
        </p:nvSpPr>
        <p:spPr>
          <a:xfrm>
            <a:off x="6384022" y="3363985"/>
            <a:ext cx="1526796" cy="10912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9" name="Straight Arrow Connector 28"/>
          <p:cNvCxnSpPr>
            <a:cxnSpLocks/>
          </p:cNvCxnSpPr>
          <p:nvPr/>
        </p:nvCxnSpPr>
        <p:spPr>
          <a:xfrm flipH="1" flipV="1">
            <a:off x="7405730" y="4443138"/>
            <a:ext cx="211475" cy="51382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2508308" y="3267846"/>
            <a:ext cx="66692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7200" dirty="0">
                <a:latin typeface="Arial" panose="020B0604020202020204" pitchFamily="34" charset="0"/>
                <a:cs typeface="Arial" panose="020B0604020202020204" pitchFamily="34" charset="0"/>
              </a:rPr>
              <a:t>(+2) - (-3)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154CA205-132E-4AC0-A5FA-9BAFD9733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611" y="439489"/>
            <a:ext cx="11875981" cy="1325563"/>
          </a:xfrm>
        </p:spPr>
        <p:txBody>
          <a:bodyPr>
            <a:noAutofit/>
          </a:bodyPr>
          <a:lstStyle/>
          <a:p>
            <a:pPr algn="ctr"/>
            <a:r>
              <a:rPr lang="en-AU" sz="4000" b="1" dirty="0">
                <a:latin typeface="Arial" panose="020B0604020202020204" pitchFamily="34" charset="0"/>
                <a:cs typeface="Arial" panose="020B0604020202020204" pitchFamily="34" charset="0"/>
              </a:rPr>
              <a:t>Adding and Subtracting Negative Integers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A866814-1C68-4ED0-A5C6-5F6F9D8ECF03}"/>
              </a:ext>
            </a:extLst>
          </p:cNvPr>
          <p:cNvSpPr txBox="1"/>
          <p:nvPr/>
        </p:nvSpPr>
        <p:spPr>
          <a:xfrm>
            <a:off x="0" y="-6605"/>
            <a:ext cx="4864344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Concept/Skill Development</a:t>
            </a:r>
          </a:p>
        </p:txBody>
      </p:sp>
    </p:spTree>
    <p:extLst>
      <p:ext uri="{BB962C8B-B14F-4D97-AF65-F5344CB8AC3E}">
        <p14:creationId xmlns:p14="http://schemas.microsoft.com/office/powerpoint/2010/main" val="3087867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0" grpId="0"/>
      <p:bldP spid="25" grpId="0" animBg="1"/>
      <p:bldP spid="21" grpId="0" animBg="1"/>
      <p:bldP spid="20" grpId="0" animBg="1"/>
      <p:bldP spid="4" grpId="0" animBg="1"/>
      <p:bldP spid="19" grpId="0"/>
      <p:bldP spid="24" grpId="0"/>
      <p:bldP spid="2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: Rounded Corners 30"/>
          <p:cNvSpPr/>
          <p:nvPr/>
        </p:nvSpPr>
        <p:spPr>
          <a:xfrm>
            <a:off x="7405730" y="4903071"/>
            <a:ext cx="2743200" cy="181588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0" name="TextBox 29"/>
          <p:cNvSpPr txBox="1"/>
          <p:nvPr/>
        </p:nvSpPr>
        <p:spPr>
          <a:xfrm>
            <a:off x="7130642" y="4932727"/>
            <a:ext cx="314587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‘+’ means move FORWARDS, </a:t>
            </a:r>
          </a:p>
          <a:p>
            <a:pPr algn="ctr"/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‘-’ means move BACKWARDS</a:t>
            </a:r>
          </a:p>
        </p:txBody>
      </p:sp>
      <p:sp>
        <p:nvSpPr>
          <p:cNvPr id="25" name="Rectangle: Rounded Corners 24"/>
          <p:cNvSpPr/>
          <p:nvPr/>
        </p:nvSpPr>
        <p:spPr>
          <a:xfrm>
            <a:off x="5025006" y="4932727"/>
            <a:ext cx="1851170" cy="954107"/>
          </a:xfrm>
          <a:prstGeom prst="roundRect">
            <a:avLst/>
          </a:prstGeom>
          <a:solidFill>
            <a:srgbClr val="FFA7A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Rectangle: Rounded Corners 20"/>
          <p:cNvSpPr/>
          <p:nvPr/>
        </p:nvSpPr>
        <p:spPr>
          <a:xfrm>
            <a:off x="5637402" y="3495107"/>
            <a:ext cx="687897" cy="735939"/>
          </a:xfrm>
          <a:prstGeom prst="roundRect">
            <a:avLst/>
          </a:prstGeom>
          <a:solidFill>
            <a:srgbClr val="FFA7A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Rectangle: Rounded Corners 19"/>
          <p:cNvSpPr/>
          <p:nvPr/>
        </p:nvSpPr>
        <p:spPr>
          <a:xfrm>
            <a:off x="1326859" y="4932727"/>
            <a:ext cx="1953237" cy="52322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Rectangle: Rounded Corners 3"/>
          <p:cNvSpPr/>
          <p:nvPr/>
        </p:nvSpPr>
        <p:spPr>
          <a:xfrm>
            <a:off x="3699545" y="3363985"/>
            <a:ext cx="1879134" cy="116607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09" y="1824349"/>
            <a:ext cx="11909186" cy="579486"/>
          </a:xfrm>
          <a:prstGeom prst="rect">
            <a:avLst/>
          </a:prstGeom>
        </p:spPr>
      </p:pic>
      <p:cxnSp>
        <p:nvCxnSpPr>
          <p:cNvPr id="11" name="Straight Arrow Connector 10"/>
          <p:cNvCxnSpPr>
            <a:cxnSpLocks/>
          </p:cNvCxnSpPr>
          <p:nvPr/>
        </p:nvCxnSpPr>
        <p:spPr>
          <a:xfrm flipV="1">
            <a:off x="2508308" y="4455257"/>
            <a:ext cx="1233182" cy="47747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326858" y="4932727"/>
            <a:ext cx="19532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Start here</a:t>
            </a:r>
          </a:p>
        </p:txBody>
      </p:sp>
      <p:cxnSp>
        <p:nvCxnSpPr>
          <p:cNvPr id="23" name="Straight Arrow Connector 22"/>
          <p:cNvCxnSpPr>
            <a:cxnSpLocks/>
          </p:cNvCxnSpPr>
          <p:nvPr/>
        </p:nvCxnSpPr>
        <p:spPr>
          <a:xfrm flipV="1">
            <a:off x="5981350" y="4231047"/>
            <a:ext cx="0" cy="70168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973972" y="4932727"/>
            <a:ext cx="19532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Face this direction</a:t>
            </a:r>
          </a:p>
        </p:txBody>
      </p:sp>
      <p:sp>
        <p:nvSpPr>
          <p:cNvPr id="27" name="Rectangle: Rounded Corners 26"/>
          <p:cNvSpPr/>
          <p:nvPr/>
        </p:nvSpPr>
        <p:spPr>
          <a:xfrm>
            <a:off x="6384022" y="3363985"/>
            <a:ext cx="1526796" cy="10912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9" name="Straight Arrow Connector 28"/>
          <p:cNvCxnSpPr>
            <a:cxnSpLocks/>
          </p:cNvCxnSpPr>
          <p:nvPr/>
        </p:nvCxnSpPr>
        <p:spPr>
          <a:xfrm flipH="1" flipV="1">
            <a:off x="7405730" y="4443138"/>
            <a:ext cx="211475" cy="51382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2508308" y="3267846"/>
            <a:ext cx="66692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7200" dirty="0">
                <a:latin typeface="Arial" panose="020B0604020202020204" pitchFamily="34" charset="0"/>
                <a:cs typeface="Arial" panose="020B0604020202020204" pitchFamily="34" charset="0"/>
              </a:rPr>
              <a:t>(-1)  + (-4)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6FDCEAD9-D33E-40A2-B2AF-AE1AD69DD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611" y="439489"/>
            <a:ext cx="11875981" cy="1325563"/>
          </a:xfrm>
        </p:spPr>
        <p:txBody>
          <a:bodyPr>
            <a:noAutofit/>
          </a:bodyPr>
          <a:lstStyle/>
          <a:p>
            <a:pPr algn="ctr"/>
            <a:r>
              <a:rPr lang="en-AU" sz="4000" b="1" dirty="0">
                <a:latin typeface="Arial" panose="020B0604020202020204" pitchFamily="34" charset="0"/>
                <a:cs typeface="Arial" panose="020B0604020202020204" pitchFamily="34" charset="0"/>
              </a:rPr>
              <a:t>Adding and Subtracting Negative Integers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C1E911-730A-4120-8127-8286F79ED952}"/>
              </a:ext>
            </a:extLst>
          </p:cNvPr>
          <p:cNvSpPr txBox="1"/>
          <p:nvPr/>
        </p:nvSpPr>
        <p:spPr>
          <a:xfrm>
            <a:off x="0" y="-6605"/>
            <a:ext cx="4864344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Concept/Skill Development</a:t>
            </a:r>
          </a:p>
        </p:txBody>
      </p:sp>
    </p:spTree>
    <p:extLst>
      <p:ext uri="{BB962C8B-B14F-4D97-AF65-F5344CB8AC3E}">
        <p14:creationId xmlns:p14="http://schemas.microsoft.com/office/powerpoint/2010/main" val="133109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0" grpId="0"/>
      <p:bldP spid="25" grpId="0" animBg="1"/>
      <p:bldP spid="21" grpId="0" animBg="1"/>
      <p:bldP spid="20" grpId="0" animBg="1"/>
      <p:bldP spid="4" grpId="0" animBg="1"/>
      <p:bldP spid="19" grpId="0"/>
      <p:bldP spid="24" grpId="0"/>
      <p:bldP spid="2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: Rounded Corners 30"/>
          <p:cNvSpPr/>
          <p:nvPr/>
        </p:nvSpPr>
        <p:spPr>
          <a:xfrm>
            <a:off x="7405730" y="4903071"/>
            <a:ext cx="2743200" cy="181588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0" name="TextBox 29"/>
          <p:cNvSpPr txBox="1"/>
          <p:nvPr/>
        </p:nvSpPr>
        <p:spPr>
          <a:xfrm>
            <a:off x="7130642" y="4932727"/>
            <a:ext cx="314587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‘+’ means move FORWARDS, </a:t>
            </a:r>
          </a:p>
          <a:p>
            <a:pPr algn="ctr"/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‘-’ means move BACKWARDS</a:t>
            </a:r>
          </a:p>
        </p:txBody>
      </p:sp>
      <p:sp>
        <p:nvSpPr>
          <p:cNvPr id="25" name="Rectangle: Rounded Corners 24"/>
          <p:cNvSpPr/>
          <p:nvPr/>
        </p:nvSpPr>
        <p:spPr>
          <a:xfrm>
            <a:off x="5025006" y="4932727"/>
            <a:ext cx="1851170" cy="954107"/>
          </a:xfrm>
          <a:prstGeom prst="roundRect">
            <a:avLst/>
          </a:prstGeom>
          <a:solidFill>
            <a:srgbClr val="FFA7A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Rectangle: Rounded Corners 20"/>
          <p:cNvSpPr/>
          <p:nvPr/>
        </p:nvSpPr>
        <p:spPr>
          <a:xfrm>
            <a:off x="5654180" y="3615655"/>
            <a:ext cx="604007" cy="615392"/>
          </a:xfrm>
          <a:prstGeom prst="roundRect">
            <a:avLst/>
          </a:prstGeom>
          <a:solidFill>
            <a:srgbClr val="FFA7A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Rectangle: Rounded Corners 19"/>
          <p:cNvSpPr/>
          <p:nvPr/>
        </p:nvSpPr>
        <p:spPr>
          <a:xfrm>
            <a:off x="1326859" y="4932727"/>
            <a:ext cx="1953237" cy="52322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Rectangle: Rounded Corners 3"/>
          <p:cNvSpPr/>
          <p:nvPr/>
        </p:nvSpPr>
        <p:spPr>
          <a:xfrm>
            <a:off x="4220011" y="3363985"/>
            <a:ext cx="1358668" cy="109127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09" y="1824349"/>
            <a:ext cx="11909186" cy="579486"/>
          </a:xfrm>
          <a:prstGeom prst="rect">
            <a:avLst/>
          </a:prstGeom>
        </p:spPr>
      </p:pic>
      <p:cxnSp>
        <p:nvCxnSpPr>
          <p:cNvPr id="11" name="Straight Arrow Connector 10"/>
          <p:cNvCxnSpPr>
            <a:cxnSpLocks/>
          </p:cNvCxnSpPr>
          <p:nvPr/>
        </p:nvCxnSpPr>
        <p:spPr>
          <a:xfrm flipV="1">
            <a:off x="2508308" y="4231047"/>
            <a:ext cx="1711702" cy="7016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326858" y="4932727"/>
            <a:ext cx="19532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Start here</a:t>
            </a:r>
          </a:p>
        </p:txBody>
      </p:sp>
      <p:cxnSp>
        <p:nvCxnSpPr>
          <p:cNvPr id="23" name="Straight Arrow Connector 22"/>
          <p:cNvCxnSpPr>
            <a:cxnSpLocks/>
          </p:cNvCxnSpPr>
          <p:nvPr/>
        </p:nvCxnSpPr>
        <p:spPr>
          <a:xfrm flipV="1">
            <a:off x="5981350" y="4231047"/>
            <a:ext cx="0" cy="70168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973972" y="4932727"/>
            <a:ext cx="19532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Face this direction</a:t>
            </a:r>
          </a:p>
        </p:txBody>
      </p:sp>
      <p:sp>
        <p:nvSpPr>
          <p:cNvPr id="27" name="Rectangle: Rounded Corners 26"/>
          <p:cNvSpPr/>
          <p:nvPr/>
        </p:nvSpPr>
        <p:spPr>
          <a:xfrm>
            <a:off x="6325299" y="3363985"/>
            <a:ext cx="1694575" cy="10912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9" name="Straight Arrow Connector 28"/>
          <p:cNvCxnSpPr>
            <a:cxnSpLocks/>
          </p:cNvCxnSpPr>
          <p:nvPr/>
        </p:nvCxnSpPr>
        <p:spPr>
          <a:xfrm flipH="1" flipV="1">
            <a:off x="7405730" y="4443138"/>
            <a:ext cx="211475" cy="51382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2856451" y="3206615"/>
            <a:ext cx="66692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7200" dirty="0">
                <a:latin typeface="Arial" panose="020B0604020202020204" pitchFamily="34" charset="0"/>
                <a:cs typeface="Arial" panose="020B0604020202020204" pitchFamily="34" charset="0"/>
              </a:rPr>
              <a:t>(0) - (+3)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F148F4E0-24F0-4503-9857-330C4724C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611" y="439489"/>
            <a:ext cx="11875981" cy="1325563"/>
          </a:xfrm>
        </p:spPr>
        <p:txBody>
          <a:bodyPr>
            <a:noAutofit/>
          </a:bodyPr>
          <a:lstStyle/>
          <a:p>
            <a:pPr algn="ctr"/>
            <a:r>
              <a:rPr lang="en-AU" sz="4000" b="1" dirty="0">
                <a:latin typeface="Arial" panose="020B0604020202020204" pitchFamily="34" charset="0"/>
                <a:cs typeface="Arial" panose="020B0604020202020204" pitchFamily="34" charset="0"/>
              </a:rPr>
              <a:t>Adding and Subtracting Negative Integers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069486-19D2-4F9C-8587-756E634AC9F2}"/>
              </a:ext>
            </a:extLst>
          </p:cNvPr>
          <p:cNvSpPr txBox="1"/>
          <p:nvPr/>
        </p:nvSpPr>
        <p:spPr>
          <a:xfrm>
            <a:off x="0" y="-6605"/>
            <a:ext cx="4864344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Concept/Skill Development</a:t>
            </a:r>
          </a:p>
        </p:txBody>
      </p:sp>
    </p:spTree>
    <p:extLst>
      <p:ext uri="{BB962C8B-B14F-4D97-AF65-F5344CB8AC3E}">
        <p14:creationId xmlns:p14="http://schemas.microsoft.com/office/powerpoint/2010/main" val="2714236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0" grpId="0"/>
      <p:bldP spid="25" grpId="0" animBg="1"/>
      <p:bldP spid="21" grpId="0" animBg="1"/>
      <p:bldP spid="20" grpId="0" animBg="1"/>
      <p:bldP spid="4" grpId="0" animBg="1"/>
      <p:bldP spid="19" grpId="0"/>
      <p:bldP spid="24" grpId="0"/>
      <p:bldP spid="2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>
            <a:extLst>
              <a:ext uri="{FF2B5EF4-FFF2-40B4-BE49-F238E27FC236}">
                <a16:creationId xmlns:a16="http://schemas.microsoft.com/office/drawing/2014/main" id="{8086B4AF-E880-481F-ACFB-4B7D40080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1517860"/>
            <a:ext cx="12191997" cy="636685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3134D6EB-822E-4DCC-9FC7-EF07594BA285}"/>
              </a:ext>
            </a:extLst>
          </p:cNvPr>
          <p:cNvSpPr txBox="1"/>
          <p:nvPr/>
        </p:nvSpPr>
        <p:spPr>
          <a:xfrm>
            <a:off x="0" y="-6605"/>
            <a:ext cx="2945880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Guided Practice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80B5C3B-81CE-469C-A70A-20AB8F786FE7}"/>
              </a:ext>
            </a:extLst>
          </p:cNvPr>
          <p:cNvGrpSpPr/>
          <p:nvPr/>
        </p:nvGrpSpPr>
        <p:grpSpPr>
          <a:xfrm>
            <a:off x="8800051" y="-6515"/>
            <a:ext cx="3391948" cy="1306810"/>
            <a:chOff x="660399" y="3602071"/>
            <a:chExt cx="2035631" cy="1306810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79C78CB-1051-411C-A99A-FCC92CA2328D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HINT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101F82D-3AE8-49AF-A1F8-62D2FDE0CF37}"/>
                </a:ext>
              </a:extLst>
            </p:cNvPr>
            <p:cNvSpPr/>
            <p:nvPr/>
          </p:nvSpPr>
          <p:spPr>
            <a:xfrm>
              <a:off x="660399" y="3931961"/>
              <a:ext cx="2035630" cy="97692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b="1" dirty="0">
                  <a:solidFill>
                    <a:srgbClr val="002060"/>
                  </a:solidFill>
                </a:rPr>
                <a:t>Subtracting</a:t>
              </a:r>
              <a:r>
                <a:rPr lang="en-AU" dirty="0">
                  <a:solidFill>
                    <a:schemeClr val="tx1"/>
                  </a:solidFill>
                </a:rPr>
                <a:t> means moving left. </a:t>
              </a:r>
              <a:r>
                <a:rPr lang="en-AU" dirty="0">
                  <a:solidFill>
                    <a:srgbClr val="002060"/>
                  </a:solidFill>
                  <a:sym typeface="Wingdings" panose="05000000000000000000" pitchFamily="2" charset="2"/>
                </a:rPr>
                <a:t></a:t>
              </a:r>
            </a:p>
            <a:p>
              <a:pPr algn="ctr"/>
              <a:endParaRPr lang="en-AU" sz="800" dirty="0">
                <a:solidFill>
                  <a:srgbClr val="002060"/>
                </a:solidFill>
              </a:endParaRPr>
            </a:p>
            <a:p>
              <a:pPr algn="ctr"/>
              <a:r>
                <a:rPr lang="en-AU" b="1" dirty="0">
                  <a:solidFill>
                    <a:srgbClr val="C00000"/>
                  </a:solidFill>
                </a:rPr>
                <a:t>Adding</a:t>
              </a:r>
              <a:r>
                <a:rPr lang="en-AU" dirty="0">
                  <a:solidFill>
                    <a:schemeClr val="tx1"/>
                  </a:solidFill>
                </a:rPr>
                <a:t> means moving right. </a:t>
              </a:r>
              <a:r>
                <a:rPr lang="en-AU" dirty="0">
                  <a:solidFill>
                    <a:srgbClr val="C00000"/>
                  </a:solidFill>
                  <a:sym typeface="Wingdings" panose="05000000000000000000" pitchFamily="2" charset="2"/>
                </a:rPr>
                <a:t></a:t>
              </a:r>
              <a:endParaRPr lang="en-AU" dirty="0">
                <a:solidFill>
                  <a:srgbClr val="C00000"/>
                </a:solidFill>
              </a:endParaRPr>
            </a:p>
          </p:txBody>
        </p: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61CDC0AB-D844-49DA-A18B-7AE1E7EA726C}"/>
              </a:ext>
            </a:extLst>
          </p:cNvPr>
          <p:cNvSpPr txBox="1"/>
          <p:nvPr/>
        </p:nvSpPr>
        <p:spPr>
          <a:xfrm>
            <a:off x="77002" y="5340140"/>
            <a:ext cx="6850753" cy="1461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AU" sz="2800" b="1" dirty="0"/>
              <a:t>Will the answer be positive or negative?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AU" sz="2800" b="1" dirty="0"/>
              <a:t>Using the column stacking method, </a:t>
            </a:r>
            <a:br>
              <a:rPr lang="en-AU" sz="2800" b="1" dirty="0"/>
            </a:br>
            <a:r>
              <a:rPr lang="en-AU" sz="2800" b="1" dirty="0"/>
              <a:t>put the large number on top.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D4B411-5027-4F4D-A6BD-0197D6389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3022" y="752970"/>
            <a:ext cx="1925957" cy="86471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AF7D89C-3283-4890-A57B-BCE61871CB57}"/>
              </a:ext>
            </a:extLst>
          </p:cNvPr>
          <p:cNvSpPr txBox="1"/>
          <p:nvPr/>
        </p:nvSpPr>
        <p:spPr>
          <a:xfrm>
            <a:off x="882592" y="2274150"/>
            <a:ext cx="19761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/>
              <a:t>4 – (-9)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9C1E9A8-5313-4C63-AB57-D3EAC9A14288}"/>
              </a:ext>
            </a:extLst>
          </p:cNvPr>
          <p:cNvSpPr txBox="1"/>
          <p:nvPr/>
        </p:nvSpPr>
        <p:spPr>
          <a:xfrm>
            <a:off x="3899176" y="2273104"/>
            <a:ext cx="2239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/>
              <a:t>(-17) – (-8)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E349098-8EAC-4D16-950D-39DB5804C30C}"/>
              </a:ext>
            </a:extLst>
          </p:cNvPr>
          <p:cNvSpPr txBox="1"/>
          <p:nvPr/>
        </p:nvSpPr>
        <p:spPr>
          <a:xfrm>
            <a:off x="6865108" y="2273104"/>
            <a:ext cx="20018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/>
              <a:t>(-2) + (-9)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989016B-CC3E-42BA-9444-A003285F009B}"/>
              </a:ext>
            </a:extLst>
          </p:cNvPr>
          <p:cNvSpPr txBox="1"/>
          <p:nvPr/>
        </p:nvSpPr>
        <p:spPr>
          <a:xfrm>
            <a:off x="9831040" y="2273103"/>
            <a:ext cx="23138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/>
              <a:t>8 – (-12)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EDC24D5-8541-44A2-A65D-6F023842DF94}"/>
              </a:ext>
            </a:extLst>
          </p:cNvPr>
          <p:cNvSpPr txBox="1"/>
          <p:nvPr/>
        </p:nvSpPr>
        <p:spPr>
          <a:xfrm>
            <a:off x="882592" y="3875256"/>
            <a:ext cx="24650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/>
              <a:t>(-41) + (-14)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77BBA3A-245A-42BE-8782-9833B5A6F583}"/>
              </a:ext>
            </a:extLst>
          </p:cNvPr>
          <p:cNvSpPr txBox="1"/>
          <p:nvPr/>
        </p:nvSpPr>
        <p:spPr>
          <a:xfrm>
            <a:off x="3899176" y="3874210"/>
            <a:ext cx="20018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/>
              <a:t>16 – (-21)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F55351C-F4D5-4CA7-A10B-60829CF41227}"/>
              </a:ext>
            </a:extLst>
          </p:cNvPr>
          <p:cNvSpPr txBox="1"/>
          <p:nvPr/>
        </p:nvSpPr>
        <p:spPr>
          <a:xfrm>
            <a:off x="6865108" y="3874210"/>
            <a:ext cx="24136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/>
              <a:t>(-50) – (-12)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F73D390-15E2-4749-BB02-5C77232607AE}"/>
              </a:ext>
            </a:extLst>
          </p:cNvPr>
          <p:cNvSpPr txBox="1"/>
          <p:nvPr/>
        </p:nvSpPr>
        <p:spPr>
          <a:xfrm>
            <a:off x="9831040" y="3874209"/>
            <a:ext cx="24650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/>
              <a:t>(-64) – (-81)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5518" y="838630"/>
            <a:ext cx="1823258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Whiteboards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3676019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4A8D08E-840A-4ABF-BDB3-968EFCCE1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348" y="791955"/>
            <a:ext cx="11738113" cy="5887141"/>
          </a:xfrm>
        </p:spPr>
        <p:txBody>
          <a:bodyPr/>
          <a:lstStyle/>
          <a:p>
            <a:pPr marL="0" indent="0">
              <a:buNone/>
            </a:pPr>
            <a:r>
              <a:rPr lang="en-AU" b="1" dirty="0"/>
              <a:t>Open your textbooks to:</a:t>
            </a:r>
            <a:endParaRPr lang="en-AU" dirty="0"/>
          </a:p>
          <a:p>
            <a:pPr marL="0" indent="0">
              <a:buNone/>
            </a:pPr>
            <a:r>
              <a:rPr lang="en-AU" b="1" dirty="0" smtClean="0"/>
              <a:t>Chapter 2 Review </a:t>
            </a:r>
            <a:endParaRPr lang="en-AU" dirty="0"/>
          </a:p>
          <a:p>
            <a:pPr marL="0" indent="0">
              <a:buNone/>
            </a:pPr>
            <a:r>
              <a:rPr lang="en-AU" b="1" dirty="0"/>
              <a:t>Questions</a:t>
            </a:r>
            <a:r>
              <a:rPr lang="en-AU" b="1"/>
              <a:t>: </a:t>
            </a:r>
            <a:r>
              <a:rPr lang="en-AU" smtClean="0"/>
              <a:t>1 – 3, 5, 7, 10 – 14 </a:t>
            </a:r>
            <a:endParaRPr lang="en-AU" b="1" dirty="0"/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  <a:p>
            <a:pPr marL="0" indent="0" algn="ctr">
              <a:buNone/>
            </a:pPr>
            <a:endParaRPr lang="en-AU" dirty="0"/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0C1DE274-75E8-4178-AF08-49F3C0182597}"/>
              </a:ext>
            </a:extLst>
          </p:cNvPr>
          <p:cNvSpPr txBox="1">
            <a:spLocks/>
          </p:cNvSpPr>
          <p:nvPr/>
        </p:nvSpPr>
        <p:spPr>
          <a:xfrm>
            <a:off x="7133193" y="197964"/>
            <a:ext cx="4598366" cy="490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b="1" dirty="0"/>
              <a:t>Mathematics Page Layout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5975EB-6091-42EA-BFE3-72460378C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794" y="2302057"/>
            <a:ext cx="3554706" cy="45100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D24C62-EECE-4C3B-93F2-AB10B845F190}"/>
              </a:ext>
            </a:extLst>
          </p:cNvPr>
          <p:cNvSpPr txBox="1"/>
          <p:nvPr/>
        </p:nvSpPr>
        <p:spPr>
          <a:xfrm>
            <a:off x="0" y="0"/>
            <a:ext cx="389546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Independent Practice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C2A0945-420F-49DC-8F2A-6BDF186E92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3193" y="770894"/>
            <a:ext cx="4598366" cy="5929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824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5980</TotalTime>
  <Words>1740</Words>
  <Application>Microsoft Office PowerPoint</Application>
  <PresentationFormat>Widescreen</PresentationFormat>
  <Paragraphs>390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Arial Black</vt:lpstr>
      <vt:lpstr>Calibri</vt:lpstr>
      <vt:lpstr>Calibri Light</vt:lpstr>
      <vt:lpstr>Wingdings</vt:lpstr>
      <vt:lpstr>Office Theme</vt:lpstr>
      <vt:lpstr>PowerPoint Presentation</vt:lpstr>
      <vt:lpstr>Relevant Topics</vt:lpstr>
      <vt:lpstr>LOWEST COMMON MULTIPLE </vt:lpstr>
      <vt:lpstr>PowerPoint Presentation</vt:lpstr>
      <vt:lpstr>PowerPoint Presentation</vt:lpstr>
      <vt:lpstr>PowerPoint Presentation</vt:lpstr>
      <vt:lpstr>HIGHEST COMMON FACTOR</vt:lpstr>
      <vt:lpstr>PowerPoint Presentation</vt:lpstr>
      <vt:lpstr>PowerPoint Presentation</vt:lpstr>
      <vt:lpstr>PRIMES AND COMPOSITES</vt:lpstr>
      <vt:lpstr>PowerPoint Presentation</vt:lpstr>
      <vt:lpstr>PowerPoint Presentation</vt:lpstr>
      <vt:lpstr>PowerPoint Presentation</vt:lpstr>
      <vt:lpstr>FACTOR TREES</vt:lpstr>
      <vt:lpstr>PowerPoint Presentation</vt:lpstr>
      <vt:lpstr>PowerPoint Presentation</vt:lpstr>
      <vt:lpstr>COMPARING AND ORDERING INTEGERS</vt:lpstr>
      <vt:lpstr>PowerPoint Presentation</vt:lpstr>
      <vt:lpstr>PowerPoint Presentation</vt:lpstr>
      <vt:lpstr>PowerPoint Presentation</vt:lpstr>
      <vt:lpstr>ADDING AND SUBTRACTING POSITIVE INTEGERS</vt:lpstr>
      <vt:lpstr>PowerPoint Presentation</vt:lpstr>
      <vt:lpstr>PowerPoint Presentation</vt:lpstr>
      <vt:lpstr>PowerPoint Presentation</vt:lpstr>
      <vt:lpstr>ADDING AND SUBTRACTING NEGATIVE INTEGERS</vt:lpstr>
      <vt:lpstr>Adding and Subtracting Negative Integers</vt:lpstr>
      <vt:lpstr>Adding and Subtracting Negative Integers</vt:lpstr>
      <vt:lpstr>Adding and Subtracting Negative Integers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teacher</dc:creator>
  <cp:lastModifiedBy>STEDMAN Shaun [Harrisdale Senior High School]</cp:lastModifiedBy>
  <cp:revision>209</cp:revision>
  <dcterms:created xsi:type="dcterms:W3CDTF">2017-02-05T09:54:53Z</dcterms:created>
  <dcterms:modified xsi:type="dcterms:W3CDTF">2022-01-13T03:43:00Z</dcterms:modified>
</cp:coreProperties>
</file>
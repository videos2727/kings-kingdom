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67" r:id="rId2"/>
    <p:sldId id="356" r:id="rId3"/>
    <p:sldId id="355" r:id="rId4"/>
    <p:sldId id="658" r:id="rId5"/>
    <p:sldId id="660" r:id="rId6"/>
    <p:sldId id="661" r:id="rId7"/>
    <p:sldId id="662" r:id="rId8"/>
    <p:sldId id="668" r:id="rId9"/>
    <p:sldId id="639" r:id="rId10"/>
    <p:sldId id="369" r:id="rId11"/>
    <p:sldId id="371" r:id="rId12"/>
    <p:sldId id="372" r:id="rId13"/>
    <p:sldId id="373" r:id="rId14"/>
    <p:sldId id="374" r:id="rId15"/>
    <p:sldId id="664" r:id="rId16"/>
    <p:sldId id="649" r:id="rId17"/>
    <p:sldId id="663" r:id="rId18"/>
    <p:sldId id="665" r:id="rId19"/>
    <p:sldId id="666" r:id="rId20"/>
    <p:sldId id="657" r:id="rId21"/>
    <p:sldId id="55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C1"/>
    <a:srgbClr val="EC8888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99" y="11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59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478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20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40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0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6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53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40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67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25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5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8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add and subtract negative integers.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/>
          <p:cNvSpPr/>
          <p:nvPr/>
        </p:nvSpPr>
        <p:spPr>
          <a:xfrm>
            <a:off x="2083324" y="1725216"/>
            <a:ext cx="8012783" cy="46180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026145" y="1725216"/>
            <a:ext cx="1010828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Are the following words positive or negative?</a:t>
            </a:r>
          </a:p>
          <a:p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1833" y="2825542"/>
            <a:ext cx="8616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Profit		After		Down		Up	   Withdraw	  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	Owe		Loss		Deposit				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399653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57" y="4151105"/>
            <a:ext cx="2480323" cy="248032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98" y="4157353"/>
            <a:ext cx="2486884" cy="2486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43C974-B200-4D83-87A9-31B7BC2AEF6E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41831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49" y="1119146"/>
            <a:ext cx="5901651" cy="55425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7AF829-53E4-4D55-BE22-CE679D7C38D7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C79527-EE51-4EC9-BB83-22F43630B879}"/>
              </a:ext>
            </a:extLst>
          </p:cNvPr>
          <p:cNvGrpSpPr/>
          <p:nvPr/>
        </p:nvGrpSpPr>
        <p:grpSpPr>
          <a:xfrm>
            <a:off x="9762961" y="0"/>
            <a:ext cx="2429040" cy="1283996"/>
            <a:chOff x="660399" y="3602071"/>
            <a:chExt cx="2035631" cy="12839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AA01B0-D493-43A1-92AA-9BD3532A16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35F37A-D7CA-4C03-B342-A6BDC5128C4C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would you represent the fish’s position as an integer?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7268BE-323B-4733-B991-C5BD8005EA64}"/>
              </a:ext>
            </a:extLst>
          </p:cNvPr>
          <p:cNvGrpSpPr/>
          <p:nvPr/>
        </p:nvGrpSpPr>
        <p:grpSpPr>
          <a:xfrm>
            <a:off x="9762961" y="1341543"/>
            <a:ext cx="2429040" cy="1283996"/>
            <a:chOff x="660399" y="3602071"/>
            <a:chExt cx="2035631" cy="12839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51967C-F45B-4C85-AB12-0802CB22396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34CE08A-006D-4904-83A7-9A20ACF61EFC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far is the bird from the fish?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9DC19E-24E9-4E79-9208-4490E343A3BB}"/>
              </a:ext>
            </a:extLst>
          </p:cNvPr>
          <p:cNvGrpSpPr/>
          <p:nvPr/>
        </p:nvGrpSpPr>
        <p:grpSpPr>
          <a:xfrm>
            <a:off x="9762961" y="2683086"/>
            <a:ext cx="2429040" cy="1283996"/>
            <a:chOff x="660399" y="3602071"/>
            <a:chExt cx="2035631" cy="12839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F9A6E8-9817-416C-B689-13878B8156F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F2EAC6-5B5F-4131-8518-291AA1FF347D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What is the distance between the plane and the bird?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EF5C18-C86F-4137-9DB0-2260343D114B}"/>
              </a:ext>
            </a:extLst>
          </p:cNvPr>
          <p:cNvGrpSpPr/>
          <p:nvPr/>
        </p:nvGrpSpPr>
        <p:grpSpPr>
          <a:xfrm>
            <a:off x="9762961" y="4024629"/>
            <a:ext cx="2429040" cy="1283996"/>
            <a:chOff x="660399" y="3602071"/>
            <a:chExt cx="2035631" cy="128399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4F4A59-C7EC-41DE-B6D6-0958B3A02CB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8DF7C4-272A-478D-8F26-3A94A0B2EB06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far apart are the plane and the fish?</a:t>
              </a:r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4F77699A-2C72-4219-8525-5BC8FC6156E7}"/>
              </a:ext>
            </a:extLst>
          </p:cNvPr>
          <p:cNvSpPr txBox="1">
            <a:spLocks/>
          </p:cNvSpPr>
          <p:nvPr/>
        </p:nvSpPr>
        <p:spPr>
          <a:xfrm>
            <a:off x="7716943" y="480696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-5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EFB5BCDD-3AC2-4D0B-8EA5-64BCDCA3F034}"/>
              </a:ext>
            </a:extLst>
          </p:cNvPr>
          <p:cNvSpPr txBox="1">
            <a:spLocks/>
          </p:cNvSpPr>
          <p:nvPr/>
        </p:nvSpPr>
        <p:spPr>
          <a:xfrm>
            <a:off x="7287316" y="1822239"/>
            <a:ext cx="242903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20 + 5 = 25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99D4C2F8-E895-4EFF-878B-F8EFA038BF83}"/>
              </a:ext>
            </a:extLst>
          </p:cNvPr>
          <p:cNvSpPr txBox="1">
            <a:spLocks/>
          </p:cNvSpPr>
          <p:nvPr/>
        </p:nvSpPr>
        <p:spPr>
          <a:xfrm>
            <a:off x="6096000" y="3163782"/>
            <a:ext cx="362126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8 000 - 20 = 7 980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F5C5982-38C2-407D-B7B0-C8055E294C7F}"/>
              </a:ext>
            </a:extLst>
          </p:cNvPr>
          <p:cNvSpPr txBox="1">
            <a:spLocks/>
          </p:cNvSpPr>
          <p:nvPr/>
        </p:nvSpPr>
        <p:spPr>
          <a:xfrm>
            <a:off x="6249798" y="4505325"/>
            <a:ext cx="3467470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8 000 + 5 = 8 005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65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-3 + 5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5081469" y="400111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195B0B-5F18-4040-8677-3662A3DD4CF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396198" y="1466260"/>
            <a:ext cx="936292" cy="81857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E962158-D9A1-4A21-BC7F-9278CA827B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603532" y="1463717"/>
            <a:ext cx="936292" cy="81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BD672-056B-433B-989D-A6692C32392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962708" y="1438918"/>
            <a:ext cx="936292" cy="85921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6E5ED79-D956-48B7-A4B8-220F5589A7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795797" y="1445935"/>
            <a:ext cx="936292" cy="85921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14A92A02-4335-4623-9B23-CF61C6F7EE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8635821" y="1447524"/>
            <a:ext cx="936292" cy="85921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80C10A66-B892-46E7-B3B0-C494B7DED1D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68910" y="1454541"/>
            <a:ext cx="936292" cy="859219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99513" y="3308467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3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65276" y="3306776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5 people on the positive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Positive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5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06C863-A469-4D70-952F-74EB6FFFAF7A}"/>
              </a:ext>
            </a:extLst>
          </p:cNvPr>
          <p:cNvSpPr txBox="1"/>
          <p:nvPr/>
        </p:nvSpPr>
        <p:spPr>
          <a:xfrm>
            <a:off x="3403897" y="4596547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Which side wins?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49EB5F-2F3A-414B-9308-67268D3FE41A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446CE6-5CF6-40E6-8E01-3A809EB2241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DD2D51-C204-4BF3-9CE7-3B3803CE10C0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8BCE684-5C24-4D95-A7ED-1F24067431B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13571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31" grpId="0"/>
      <p:bldP spid="102" grpId="0"/>
      <p:bldP spid="28" grpId="0"/>
      <p:bldP spid="34" grpId="0" animBg="1"/>
      <p:bldP spid="40" grpId="0"/>
      <p:bldP spid="42" grpId="0"/>
      <p:bldP spid="43" grpId="0"/>
      <p:bldP spid="44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7 - 13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</a:t>
            </a:r>
            <a:r>
              <a:rPr lang="en-AU" sz="3600" b="1" dirty="0" smtClean="0">
                <a:solidFill>
                  <a:srgbClr val="C00000"/>
                </a:solidFill>
              </a:rPr>
              <a:t>-6</a:t>
            </a:r>
            <a:endParaRPr lang="en-AU" sz="3600" b="1" dirty="0">
              <a:solidFill>
                <a:srgbClr val="C0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78040" y="3328070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7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13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13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smtClean="0">
                <a:solidFill>
                  <a:srgbClr val="C00000"/>
                </a:solidFill>
              </a:rPr>
              <a:t>6</a:t>
            </a:r>
            <a:endParaRPr lang="en-AU" sz="2800" b="1" dirty="0">
              <a:solidFill>
                <a:srgbClr val="C0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BD3003-C96B-40E4-9DAA-3721FD6ED245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61CB30-83F9-4037-88BA-976F7D01B1E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A0D349-2EE8-47C9-9708-DE840C4DF8C4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5ADB35A-DA74-4CFA-9A31-CAAB5800C578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11050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-2 - 6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61638" y="3324645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79" y="3328272"/>
            <a:ext cx="327816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334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6 more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6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+ 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8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EFB092-595D-4EBB-9D1A-2B236651471E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17C2AE-3A5E-43C1-8058-0A7ED8B1896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64F21AE-A4B9-4268-BB5D-E27F4EB02299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D1B2DA6-F6EE-478E-ABBA-F40CA9D9354F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49030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517860"/>
            <a:ext cx="12191997" cy="6366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77002" y="5340140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22" y="752970"/>
            <a:ext cx="1925957" cy="86471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EDC24D5-8541-44A2-A65D-6F023842DF94}"/>
              </a:ext>
            </a:extLst>
          </p:cNvPr>
          <p:cNvSpPr txBox="1"/>
          <p:nvPr/>
        </p:nvSpPr>
        <p:spPr>
          <a:xfrm>
            <a:off x="849036" y="2383622"/>
            <a:ext cx="168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-9 + 14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BBA3A-245A-42BE-8782-9833B5A6F583}"/>
              </a:ext>
            </a:extLst>
          </p:cNvPr>
          <p:cNvSpPr txBox="1"/>
          <p:nvPr/>
        </p:nvSpPr>
        <p:spPr>
          <a:xfrm>
            <a:off x="3865620" y="238257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13 - 19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5351C-F4D5-4CA7-A10B-60829CF41227}"/>
              </a:ext>
            </a:extLst>
          </p:cNvPr>
          <p:cNvSpPr txBox="1"/>
          <p:nvPr/>
        </p:nvSpPr>
        <p:spPr>
          <a:xfrm>
            <a:off x="6831552" y="2382576"/>
            <a:ext cx="163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-48 - 62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3D390-15E2-4749-BB02-5C77232607AE}"/>
              </a:ext>
            </a:extLst>
          </p:cNvPr>
          <p:cNvSpPr txBox="1"/>
          <p:nvPr/>
        </p:nvSpPr>
        <p:spPr>
          <a:xfrm>
            <a:off x="9797484" y="2382575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-36 - 21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12208F-72F2-499C-A815-76FAFECE1B81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CBA880-4C79-47DC-945D-344EE04B021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B6261FB-F86D-469D-B0EE-A3E687C1D6D9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179F4B9-D9FD-4319-B9C5-601764699422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3687" y="83863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14031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0388DD03-0CFE-46DA-A3FC-3562A60078EB}"/>
              </a:ext>
            </a:extLst>
          </p:cNvPr>
          <p:cNvSpPr/>
          <p:nvPr/>
        </p:nvSpPr>
        <p:spPr>
          <a:xfrm>
            <a:off x="3053515" y="3682584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88DD03-0CFE-46DA-A3FC-3562A60078EB}"/>
              </a:ext>
            </a:extLst>
          </p:cNvPr>
          <p:cNvSpPr/>
          <p:nvPr/>
        </p:nvSpPr>
        <p:spPr>
          <a:xfrm>
            <a:off x="565505" y="3712996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Draw factor trees of the following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9318" y="1628691"/>
            <a:ext cx="120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 smtClean="0">
                <a:cs typeface="Arial" panose="020B0604020202020204" pitchFamily="34" charset="0"/>
              </a:rPr>
              <a:t>22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28691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 smtClean="0">
                <a:cs typeface="Arial" panose="020B0604020202020204" pitchFamily="34" charset="0"/>
              </a:rPr>
              <a:t>18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9702473" y="1628691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4</a:t>
            </a:r>
            <a:r>
              <a:rPr lang="en-AU" sz="4400" b="1" dirty="0" smtClean="0">
                <a:cs typeface="Arial" panose="020B0604020202020204" pitchFamily="34" charset="0"/>
              </a:rPr>
              <a:t>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2AB8A9B-B94F-4C4B-8FB3-9A9623036BF0}"/>
              </a:ext>
            </a:extLst>
          </p:cNvPr>
          <p:cNvSpPr txBox="1"/>
          <p:nvPr/>
        </p:nvSpPr>
        <p:spPr>
          <a:xfrm>
            <a:off x="890467" y="5577635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22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2 x 11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D56527-A18A-4A19-93D1-487D4917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67" y="2398132"/>
            <a:ext cx="2420449" cy="12844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54F057-172D-461C-A17A-994C79482C51}"/>
              </a:ext>
            </a:extLst>
          </p:cNvPr>
          <p:cNvSpPr txBox="1"/>
          <p:nvPr/>
        </p:nvSpPr>
        <p:spPr>
          <a:xfrm>
            <a:off x="24415" y="3641332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BCAC1-047B-4A6A-932F-069B508E145B}"/>
              </a:ext>
            </a:extLst>
          </p:cNvPr>
          <p:cNvSpPr txBox="1"/>
          <p:nvPr/>
        </p:nvSpPr>
        <p:spPr>
          <a:xfrm>
            <a:off x="2504063" y="364133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29673" y="216729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0891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12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46993" y="1324659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add and subtract negative integers.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414104" y="4440062"/>
            <a:ext cx="9140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Decide whether an answer will be positive or negative.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Add negative integers.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Subtract negative integers.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62E80-D033-4498-861C-98BA3DE7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29" y="2708146"/>
            <a:ext cx="3675267" cy="20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5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6078872" y="4830143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5803784" y="4859799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3698148" y="4859799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4310544" y="3422179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1" y="4859799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2372687" y="3291057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1181450" y="4382329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0" y="4859799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4654492" y="4158119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47114" y="4859799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5057164" y="3291057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6078872" y="4370210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81450" y="3182000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(+3) + (-5)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7C12C0-815B-498E-9911-273917F91E9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2683" y="3152344"/>
            <a:ext cx="51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3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- 5</a:t>
            </a:r>
            <a:endParaRPr lang="en-AU" sz="7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3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6345474" y="4787569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6070386" y="4817225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3964750" y="4817225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4577146" y="3379605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266603" y="4817225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2639289" y="3248483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1448052" y="4339755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602" y="4817225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4921094" y="4115545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13716" y="4817225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5323766" y="3248483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6345474" y="4327636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48052" y="3152344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(-3)  - (-5)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1925B15-64CD-4930-A150-66A89A5B5A4F}"/>
              </a:ext>
            </a:extLst>
          </p:cNvPr>
          <p:cNvSpPr txBox="1">
            <a:spLocks/>
          </p:cNvSpPr>
          <p:nvPr/>
        </p:nvSpPr>
        <p:spPr>
          <a:xfrm>
            <a:off x="174611" y="439489"/>
            <a:ext cx="118759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000" b="1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  <a:endParaRPr lang="en-A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75622-9972-4B37-9096-8B80723CB368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683" y="3152344"/>
            <a:ext cx="51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-3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lang="en-AU" sz="7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2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6676454" y="4787569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6401366" y="4817225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4295730" y="4817225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4908126" y="3379605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597583" y="4817225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2970269" y="3248483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1779032" y="4339755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7582" y="4817225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252074" y="4115545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44696" y="4817225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5654746" y="3248483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6676454" y="4327636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9032" y="3152344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(+2) - (-3)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54CA205-132E-4AC0-A5FA-9BAFD973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683" y="3152344"/>
            <a:ext cx="51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AU" sz="7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6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6693284" y="4787569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6418196" y="4817225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4312560" y="4817225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4924956" y="3379605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614413" y="4817225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2987099" y="3248483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1795862" y="4339755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4412" y="4817225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268904" y="4115545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61526" y="4817225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5671576" y="3248483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6693284" y="4327636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95862" y="3152344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(-1)  + (-4)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6FDCEAD9-D33E-40A2-B2AF-AE1AD69D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1E911-730A-4120-8127-8286F79ED952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683" y="3152344"/>
            <a:ext cx="51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-1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- 4</a:t>
            </a:r>
            <a:endParaRPr lang="en-AU" sz="7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0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6603527" y="4802094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6328439" y="4831750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4222803" y="4831750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4851977" y="3514678"/>
            <a:ext cx="604007" cy="615392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524656" y="4831750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3417808" y="3263008"/>
            <a:ext cx="1358668" cy="10912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1706105" y="4130070"/>
            <a:ext cx="1711702" cy="701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4655" y="4831750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179147" y="4130070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71769" y="4831750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5523096" y="3263008"/>
            <a:ext cx="1694575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6603527" y="4342161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054248" y="3105638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(0) - (+3)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148F4E0-24F0-4503-9857-330C4724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69486-19D2-4F9C-8587-756E634AC9F2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683" y="3152344"/>
            <a:ext cx="51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- 3</a:t>
            </a:r>
            <a:endParaRPr lang="en-AU" sz="7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23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67618" y="3950174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83162" y="407842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83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2 + (-4)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870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2 - 4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5081469" y="400111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4890006"/>
            <a:ext cx="685075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Simplify the middle.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83162" y="4035431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2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474714" y="3947544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180909" y="4057538"/>
            <a:ext cx="319324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148106" y="4036042"/>
            <a:ext cx="32570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4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765899" y="5372277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404511" y="5423661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4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469060" y="6377768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404511" y="6377768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B233002-279B-4A11-89F3-DDB83611CF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396198" y="1466260"/>
            <a:ext cx="936292" cy="8185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A9D7C2A-2FFD-4B1B-80E1-61A6DC53B16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962708" y="1438918"/>
            <a:ext cx="936292" cy="8592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468C1D5-CF5A-455B-92FC-069A1EFA009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609031" y="1466260"/>
            <a:ext cx="936292" cy="81857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FE508E5-75A8-4B8A-B869-F6A4C591A1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821662" y="1458078"/>
            <a:ext cx="936292" cy="81857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4FD45A9-09A9-43B2-8975-ADB2763AFFD5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F8C14FD-F429-4B12-B1A5-23172579D652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49BE4A1-6FD8-48BA-B48E-60B762182674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4B84D68-EA48-4BA9-B91C-D2475E309512}"/>
              </a:ext>
            </a:extLst>
          </p:cNvPr>
          <p:cNvGrpSpPr/>
          <p:nvPr/>
        </p:nvGrpSpPr>
        <p:grpSpPr>
          <a:xfrm>
            <a:off x="8800052" y="2853012"/>
            <a:ext cx="3391948" cy="1151976"/>
            <a:chOff x="660399" y="3602071"/>
            <a:chExt cx="2035631" cy="115197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188C48A-1981-4AA5-80A6-0615EB2B3C6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C162AD2-AA1C-46F0-A701-2CF77E9B781F}"/>
                </a:ext>
              </a:extLst>
            </p:cNvPr>
            <p:cNvSpPr/>
            <p:nvPr/>
          </p:nvSpPr>
          <p:spPr>
            <a:xfrm>
              <a:off x="660399" y="3931961"/>
              <a:ext cx="2035630" cy="82208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Like symbols = +</a:t>
              </a:r>
              <a:endParaRPr lang="en-AU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endParaRPr lang="en-AU" sz="800" dirty="0">
                <a:solidFill>
                  <a:srgbClr val="C00000"/>
                </a:solidFill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Unlike symbols = -</a:t>
              </a:r>
              <a:endParaRPr lang="en-AU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23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31" grpId="0"/>
      <p:bldP spid="102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67618" y="3950174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83162" y="4078422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2066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(-3) + (-5)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870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-3 - 5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5081469" y="400111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4890006"/>
            <a:ext cx="685075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Simplify the middle.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83162" y="4035431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3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474714" y="3947544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180909" y="4057538"/>
            <a:ext cx="319324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148106" y="4036042"/>
            <a:ext cx="32570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5 more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765899" y="5372277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404511" y="5423661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5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+  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469060" y="6377768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404511" y="6377768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8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08FB38-41E0-4B18-BFC3-5841690BB48D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3075650-7AB9-4319-8E85-F6CA90A1B29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D5C0695-4872-4298-A12E-8B60027B244B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FE10E15-CC04-4C5D-A720-42728F9BF657}"/>
              </a:ext>
            </a:extLst>
          </p:cNvPr>
          <p:cNvGrpSpPr/>
          <p:nvPr/>
        </p:nvGrpSpPr>
        <p:grpSpPr>
          <a:xfrm>
            <a:off x="8800052" y="2853012"/>
            <a:ext cx="3391948" cy="1151976"/>
            <a:chOff x="660399" y="3602071"/>
            <a:chExt cx="2035631" cy="115197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915C1D6-614B-426B-BB76-56C78F5A5DC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9A20CA3-6211-4B15-8DC1-43BE17B877FC}"/>
                </a:ext>
              </a:extLst>
            </p:cNvPr>
            <p:cNvSpPr/>
            <p:nvPr/>
          </p:nvSpPr>
          <p:spPr>
            <a:xfrm>
              <a:off x="660399" y="3931961"/>
              <a:ext cx="2035630" cy="82208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Like symbols = +</a:t>
              </a:r>
              <a:endParaRPr lang="en-AU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endParaRPr lang="en-AU" sz="800" dirty="0">
                <a:solidFill>
                  <a:srgbClr val="C00000"/>
                </a:solidFill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Unlike symbols = -</a:t>
              </a:r>
              <a:endParaRPr lang="en-AU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527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31" grpId="0"/>
      <p:bldP spid="28" grpId="0"/>
      <p:bldP spid="34" grpId="0" animBg="1"/>
      <p:bldP spid="40" grpId="0" animBg="1"/>
      <p:bldP spid="42" grpId="0"/>
      <p:bldP spid="43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67618" y="3950174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83162" y="407842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606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8 + (-9)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4890006"/>
            <a:ext cx="685075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Simplify the middle.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83162" y="4035431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8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474714" y="3947544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180909" y="4057538"/>
            <a:ext cx="319324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148106" y="4036042"/>
            <a:ext cx="32570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9 people on the negative side.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9F94B9-D37E-484A-AF96-7F4B000CBB0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C4A01F4-5AFC-4EA8-96E2-3A16E42C49E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E223CFE-A20B-4CE3-A73E-C4BF51FAAAB1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CE1CFB-1983-418F-8D38-9D4E747D2A35}"/>
              </a:ext>
            </a:extLst>
          </p:cNvPr>
          <p:cNvGrpSpPr/>
          <p:nvPr/>
        </p:nvGrpSpPr>
        <p:grpSpPr>
          <a:xfrm>
            <a:off x="8800052" y="2853012"/>
            <a:ext cx="3391948" cy="1151976"/>
            <a:chOff x="660399" y="3602071"/>
            <a:chExt cx="2035631" cy="115197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C33FF1-B6FE-4DE9-9D4D-2063EB5C825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F1A037D-3BA1-4688-9165-471073BE1CC2}"/>
                </a:ext>
              </a:extLst>
            </p:cNvPr>
            <p:cNvSpPr/>
            <p:nvPr/>
          </p:nvSpPr>
          <p:spPr>
            <a:xfrm>
              <a:off x="660399" y="3931961"/>
              <a:ext cx="2035630" cy="82208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Like symbols = +</a:t>
              </a:r>
              <a:endParaRPr lang="en-AU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endParaRPr lang="en-AU" sz="800" dirty="0">
                <a:solidFill>
                  <a:srgbClr val="C00000"/>
                </a:solidFill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Unlike symbols = -</a:t>
              </a:r>
              <a:endParaRPr lang="en-AU" dirty="0">
                <a:solidFill>
                  <a:srgbClr val="002060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666738" y="147295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51135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67618" y="3950174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83162" y="407842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664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7 – (-6)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83162" y="4035431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7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474714" y="3947544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180909" y="4057538"/>
            <a:ext cx="3193241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148106" y="4036042"/>
            <a:ext cx="32570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6 more people on the positive side.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5CC3939-416E-46D6-88DC-6338437590CE}"/>
              </a:ext>
            </a:extLst>
          </p:cNvPr>
          <p:cNvGrpSpPr/>
          <p:nvPr/>
        </p:nvGrpSpPr>
        <p:grpSpPr>
          <a:xfrm>
            <a:off x="8800052" y="2853012"/>
            <a:ext cx="3391948" cy="1151976"/>
            <a:chOff x="660399" y="3602071"/>
            <a:chExt cx="2035631" cy="115197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6F433FB-5E20-4C46-BE3F-49B0326DC72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1C1BAA0-1002-4B9D-8173-5AB99A08DF1D}"/>
                </a:ext>
              </a:extLst>
            </p:cNvPr>
            <p:cNvSpPr/>
            <p:nvPr/>
          </p:nvSpPr>
          <p:spPr>
            <a:xfrm>
              <a:off x="660399" y="3931961"/>
              <a:ext cx="2035630" cy="82208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Like symbols = +</a:t>
              </a:r>
              <a:endParaRPr lang="en-AU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endParaRPr lang="en-AU" sz="800" dirty="0">
                <a:solidFill>
                  <a:srgbClr val="C00000"/>
                </a:solidFill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Unlike symbols = -</a:t>
              </a:r>
              <a:endParaRPr lang="en-AU" dirty="0">
                <a:solidFill>
                  <a:srgbClr val="002060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121133" y="161773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6328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67618" y="3950174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83162" y="4078422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2468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(-18) – (-12)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83162" y="4035431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18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7056444" y="3946933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762639" y="4056927"/>
            <a:ext cx="3193241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729836" y="4035431"/>
            <a:ext cx="32570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12 people on the positive side.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DD8092-252E-4D61-963C-C34259CAB2A9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648EFF-32B0-4064-A987-BB73D492007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B30F73-7899-429C-AC83-79258DAB6873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</a:p>
            <a:p>
              <a:pPr algn="ctr"/>
              <a:endParaRPr lang="en-AU" sz="800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471B7D-33E1-4192-9A6D-8061052296DC}"/>
              </a:ext>
            </a:extLst>
          </p:cNvPr>
          <p:cNvGrpSpPr/>
          <p:nvPr/>
        </p:nvGrpSpPr>
        <p:grpSpPr>
          <a:xfrm>
            <a:off x="8800052" y="2853012"/>
            <a:ext cx="3391948" cy="1151976"/>
            <a:chOff x="660399" y="3602071"/>
            <a:chExt cx="2035631" cy="115197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E4B49F6-8910-43DD-BEED-35186943E00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8A2E12-6C9C-4CF7-A539-D027619630F5}"/>
                </a:ext>
              </a:extLst>
            </p:cNvPr>
            <p:cNvSpPr/>
            <p:nvPr/>
          </p:nvSpPr>
          <p:spPr>
            <a:xfrm>
              <a:off x="660399" y="3931961"/>
              <a:ext cx="2035630" cy="82208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Like symbols = +</a:t>
              </a:r>
              <a:endParaRPr lang="en-AU" dirty="0">
                <a:solidFill>
                  <a:srgbClr val="C00000"/>
                </a:solidFill>
                <a:sym typeface="Wingdings" panose="05000000000000000000" pitchFamily="2" charset="2"/>
              </a:endParaRPr>
            </a:p>
            <a:p>
              <a:pPr algn="ctr"/>
              <a:endParaRPr lang="en-AU" sz="800" dirty="0">
                <a:solidFill>
                  <a:srgbClr val="C00000"/>
                </a:solidFill>
              </a:endParaRPr>
            </a:p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Unlike symbols = -</a:t>
              </a:r>
              <a:endParaRPr lang="en-AU" dirty="0">
                <a:solidFill>
                  <a:srgbClr val="002060"/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929453" y="161773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28834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517860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77002" y="5340140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22" y="752970"/>
            <a:ext cx="1925957" cy="864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F7D89C-3283-4890-A57B-BCE61871CB57}"/>
              </a:ext>
            </a:extLst>
          </p:cNvPr>
          <p:cNvSpPr txBox="1"/>
          <p:nvPr/>
        </p:nvSpPr>
        <p:spPr>
          <a:xfrm>
            <a:off x="882592" y="2274150"/>
            <a:ext cx="1976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4 – (-9)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1E9A8-5313-4C63-AB57-D3EAC9A14288}"/>
              </a:ext>
            </a:extLst>
          </p:cNvPr>
          <p:cNvSpPr txBox="1"/>
          <p:nvPr/>
        </p:nvSpPr>
        <p:spPr>
          <a:xfrm>
            <a:off x="3899176" y="2273104"/>
            <a:ext cx="223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(-17) – (-8)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349098-8EAC-4D16-950D-39DB5804C30C}"/>
              </a:ext>
            </a:extLst>
          </p:cNvPr>
          <p:cNvSpPr txBox="1"/>
          <p:nvPr/>
        </p:nvSpPr>
        <p:spPr>
          <a:xfrm>
            <a:off x="6865108" y="2273104"/>
            <a:ext cx="200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(-2) + (-9)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9016B-CC3E-42BA-9444-A003285F009B}"/>
              </a:ext>
            </a:extLst>
          </p:cNvPr>
          <p:cNvSpPr txBox="1"/>
          <p:nvPr/>
        </p:nvSpPr>
        <p:spPr>
          <a:xfrm>
            <a:off x="9831040" y="2273103"/>
            <a:ext cx="2313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8 – (-12)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DC24D5-8541-44A2-A65D-6F023842DF94}"/>
              </a:ext>
            </a:extLst>
          </p:cNvPr>
          <p:cNvSpPr txBox="1"/>
          <p:nvPr/>
        </p:nvSpPr>
        <p:spPr>
          <a:xfrm>
            <a:off x="882592" y="3875256"/>
            <a:ext cx="2465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(-41) + (-14)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BBA3A-245A-42BE-8782-9833B5A6F583}"/>
              </a:ext>
            </a:extLst>
          </p:cNvPr>
          <p:cNvSpPr txBox="1"/>
          <p:nvPr/>
        </p:nvSpPr>
        <p:spPr>
          <a:xfrm>
            <a:off x="3899176" y="3874210"/>
            <a:ext cx="200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16 – (-21)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5351C-F4D5-4CA7-A10B-60829CF41227}"/>
              </a:ext>
            </a:extLst>
          </p:cNvPr>
          <p:cNvSpPr txBox="1"/>
          <p:nvPr/>
        </p:nvSpPr>
        <p:spPr>
          <a:xfrm>
            <a:off x="6865108" y="3874210"/>
            <a:ext cx="2413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(-50) – (-12)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3D390-15E2-4749-BB02-5C77232607AE}"/>
              </a:ext>
            </a:extLst>
          </p:cNvPr>
          <p:cNvSpPr txBox="1"/>
          <p:nvPr/>
        </p:nvSpPr>
        <p:spPr>
          <a:xfrm>
            <a:off x="9831040" y="3874209"/>
            <a:ext cx="2465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(-64) – (-81)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7953" y="83191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760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7778" y="1250855"/>
            <a:ext cx="6762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Lesson Objectives: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 dirty="0">
                <a:latin typeface="+mn-lt"/>
              </a:rPr>
              <a:t>What have we learnt today?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598B37-5A86-49F6-9CD0-BBE5EE7809A5}"/>
              </a:ext>
            </a:extLst>
          </p:cNvPr>
          <p:cNvSpPr txBox="1">
            <a:spLocks/>
          </p:cNvSpPr>
          <p:nvPr/>
        </p:nvSpPr>
        <p:spPr>
          <a:xfrm>
            <a:off x="800972" y="3190720"/>
            <a:ext cx="5151804" cy="21262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8 – (-9)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AU" sz="7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</a:t>
            </a:r>
            <a:endParaRPr lang="en-AU" sz="7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875B8-730A-4182-A181-5A8DBC604CE3}"/>
              </a:ext>
            </a:extLst>
          </p:cNvPr>
          <p:cNvSpPr txBox="1"/>
          <p:nvPr/>
        </p:nvSpPr>
        <p:spPr>
          <a:xfrm>
            <a:off x="363771" y="2019357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add and subtract negative integers.</a:t>
            </a:r>
          </a:p>
        </p:txBody>
      </p:sp>
      <p:pic>
        <p:nvPicPr>
          <p:cNvPr id="8" name="Picture 2" descr="Image result for negative numbers cartoon">
            <a:extLst>
              <a:ext uri="{FF2B5EF4-FFF2-40B4-BE49-F238E27FC236}">
                <a16:creationId xmlns:a16="http://schemas.microsoft.com/office/drawing/2014/main" id="{7A429D25-5969-49DC-A99A-CA757A39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994" y="2618400"/>
            <a:ext cx="5365281" cy="402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2.6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/>
              <a:t>1, 2</a:t>
            </a:r>
            <a:r>
              <a:rPr lang="en-AU" dirty="0" smtClean="0"/>
              <a:t>, 4, </a:t>
            </a:r>
            <a:r>
              <a:rPr lang="en-AU" dirty="0"/>
              <a:t>8, 10 (every second column)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5960</TotalTime>
  <Words>1257</Words>
  <Application>Microsoft Office PowerPoint</Application>
  <PresentationFormat>Widescreen</PresentationFormat>
  <Paragraphs>273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Adding and Subtracting Negative Integers</vt:lpstr>
      <vt:lpstr>PowerPoint Presentation</vt:lpstr>
      <vt:lpstr>Adding and Subtracting Negative Integers</vt:lpstr>
      <vt:lpstr>Adding and Subtracting Negative Integers</vt:lpstr>
      <vt:lpstr>Adding and Subtracting Negative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199</cp:revision>
  <dcterms:created xsi:type="dcterms:W3CDTF">2017-02-05T09:54:53Z</dcterms:created>
  <dcterms:modified xsi:type="dcterms:W3CDTF">2022-01-13T03:39:07Z</dcterms:modified>
</cp:coreProperties>
</file>
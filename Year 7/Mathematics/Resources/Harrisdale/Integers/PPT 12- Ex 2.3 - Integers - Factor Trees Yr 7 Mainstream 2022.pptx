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68" r:id="rId2"/>
    <p:sldId id="649" r:id="rId3"/>
    <p:sldId id="657" r:id="rId4"/>
    <p:sldId id="662" r:id="rId5"/>
    <p:sldId id="669" r:id="rId6"/>
    <p:sldId id="293" r:id="rId7"/>
    <p:sldId id="347" r:id="rId8"/>
    <p:sldId id="335" r:id="rId9"/>
    <p:sldId id="660" r:id="rId10"/>
    <p:sldId id="670" r:id="rId11"/>
    <p:sldId id="661" r:id="rId12"/>
    <p:sldId id="355" r:id="rId13"/>
    <p:sldId id="663" r:id="rId14"/>
    <p:sldId id="664" r:id="rId15"/>
    <p:sldId id="666" r:id="rId16"/>
    <p:sldId id="665" r:id="rId17"/>
    <p:sldId id="667" r:id="rId18"/>
    <p:sldId id="671" r:id="rId19"/>
    <p:sldId id="540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54" y="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use factor trees to find prime factors.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0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469" y="723194"/>
            <a:ext cx="98330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213224"/>
            <a:chOff x="660399" y="3602071"/>
            <a:chExt cx="2035631" cy="98611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many answers will you get for LCM?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A153FD7-F1C3-42D1-B093-DC08F3832BE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EB9D8C-7406-41D2-8003-4F9076B66D0C}"/>
              </a:ext>
            </a:extLst>
          </p:cNvPr>
          <p:cNvSpPr/>
          <p:nvPr/>
        </p:nvSpPr>
        <p:spPr>
          <a:xfrm>
            <a:off x="5195047" y="1946169"/>
            <a:ext cx="3356324" cy="61408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968491-9C33-4624-AB13-CF7FE324BB94}"/>
              </a:ext>
            </a:extLst>
          </p:cNvPr>
          <p:cNvSpPr txBox="1"/>
          <p:nvPr/>
        </p:nvSpPr>
        <p:spPr>
          <a:xfrm>
            <a:off x="5138457" y="1998206"/>
            <a:ext cx="341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LCM of 2 and 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835CD77-F1E1-4E6D-92AE-CC82145CFC54}"/>
              </a:ext>
            </a:extLst>
          </p:cNvPr>
          <p:cNvSpPr/>
          <p:nvPr/>
        </p:nvSpPr>
        <p:spPr>
          <a:xfrm>
            <a:off x="5884558" y="4488110"/>
            <a:ext cx="540104" cy="4307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6F96DA0-06A0-4EDB-9A78-B9D8E4509020}"/>
              </a:ext>
            </a:extLst>
          </p:cNvPr>
          <p:cNvSpPr/>
          <p:nvPr/>
        </p:nvSpPr>
        <p:spPr>
          <a:xfrm>
            <a:off x="7139206" y="3172766"/>
            <a:ext cx="565708" cy="457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BF1FC8-A947-4B44-8840-737A632CAD05}"/>
              </a:ext>
            </a:extLst>
          </p:cNvPr>
          <p:cNvSpPr txBox="1"/>
          <p:nvPr/>
        </p:nvSpPr>
        <p:spPr>
          <a:xfrm>
            <a:off x="5234665" y="5235325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LCM of 2 and 5 is 10.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66248B-A529-4040-89B5-82A5980EDFC6}"/>
              </a:ext>
            </a:extLst>
          </p:cNvPr>
          <p:cNvSpPr/>
          <p:nvPr/>
        </p:nvSpPr>
        <p:spPr>
          <a:xfrm>
            <a:off x="8677160" y="1946169"/>
            <a:ext cx="3328208" cy="64565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EB744A-894A-48B4-8F0E-816833638ED8}"/>
              </a:ext>
            </a:extLst>
          </p:cNvPr>
          <p:cNvSpPr txBox="1"/>
          <p:nvPr/>
        </p:nvSpPr>
        <p:spPr>
          <a:xfrm>
            <a:off x="8677160" y="2007388"/>
            <a:ext cx="3328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LCM of 3 and 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6B6CA67-037E-498D-8FE3-1DB42C4DA377}"/>
              </a:ext>
            </a:extLst>
          </p:cNvPr>
          <p:cNvSpPr/>
          <p:nvPr/>
        </p:nvSpPr>
        <p:spPr>
          <a:xfrm>
            <a:off x="9363990" y="3172766"/>
            <a:ext cx="490224" cy="47755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ysClr val="windowText" lastClr="0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A16CE4-D7E2-4B92-BCDF-AE5CFC5B8204}"/>
              </a:ext>
            </a:extLst>
          </p:cNvPr>
          <p:cNvSpPr txBox="1"/>
          <p:nvPr/>
        </p:nvSpPr>
        <p:spPr>
          <a:xfrm>
            <a:off x="8688662" y="2736502"/>
            <a:ext cx="18613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9E7D6C1-7944-4899-B811-22B69FF3BB0A}"/>
              </a:ext>
            </a:extLst>
          </p:cNvPr>
          <p:cNvSpPr/>
          <p:nvPr/>
        </p:nvSpPr>
        <p:spPr>
          <a:xfrm>
            <a:off x="10640029" y="2792102"/>
            <a:ext cx="554291" cy="41477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796A03-5E6E-405F-B59C-A8E76CEC57BA}"/>
              </a:ext>
            </a:extLst>
          </p:cNvPr>
          <p:cNvSpPr txBox="1"/>
          <p:nvPr/>
        </p:nvSpPr>
        <p:spPr>
          <a:xfrm>
            <a:off x="8728280" y="5249304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LCM of 3 and 6 is 6.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276AAA-57CA-4E7C-93C5-54FF9282CCC2}"/>
              </a:ext>
            </a:extLst>
          </p:cNvPr>
          <p:cNvSpPr txBox="1"/>
          <p:nvPr/>
        </p:nvSpPr>
        <p:spPr>
          <a:xfrm>
            <a:off x="5195047" y="2722523"/>
            <a:ext cx="18613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7AF855-89F2-4625-87FF-2CD3192FA5ED}"/>
              </a:ext>
            </a:extLst>
          </p:cNvPr>
          <p:cNvSpPr txBox="1"/>
          <p:nvPr/>
        </p:nvSpPr>
        <p:spPr>
          <a:xfrm>
            <a:off x="6492067" y="2722523"/>
            <a:ext cx="18613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55356C-CB51-4283-92AA-B37470237453}"/>
              </a:ext>
            </a:extLst>
          </p:cNvPr>
          <p:cNvSpPr txBox="1"/>
          <p:nvPr/>
        </p:nvSpPr>
        <p:spPr>
          <a:xfrm>
            <a:off x="9985682" y="2736502"/>
            <a:ext cx="1861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001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33" grpId="0"/>
      <p:bldP spid="37" grpId="0" animBg="1"/>
      <p:bldP spid="38" grpId="0"/>
      <p:bldP spid="39" grpId="0" animBg="1"/>
      <p:bldP spid="40" grpId="0"/>
      <p:bldP spid="41" grpId="0" animBg="1"/>
      <p:bldP spid="43" grpId="0"/>
      <p:bldP spid="28" grpId="0"/>
      <p:bldP spid="32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469" y="736170"/>
            <a:ext cx="9833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Just like common multiples, a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common factor</a:t>
            </a:r>
            <a:r>
              <a:rPr lang="en-AU" sz="2800" b="1" dirty="0">
                <a:cs typeface="Arial" panose="020B0604020202020204" pitchFamily="34" charset="0"/>
              </a:rPr>
              <a:t> divides exactly into two or more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6906" y="2145197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6906" y="3282855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factors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6906" y="4420513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6905" y="5558171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81AB24-38F2-44C5-860F-1E12FD5A5DEA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9CB23E-2688-4DD5-B32F-844EA834142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4A2A35F-C58F-4D15-A3E1-B769830D9124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is 1 always a common factor?</a:t>
              </a:r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95A67C-6532-48B0-A247-289AAF8BFCFB}"/>
              </a:ext>
            </a:extLst>
          </p:cNvPr>
          <p:cNvSpPr/>
          <p:nvPr/>
        </p:nvSpPr>
        <p:spPr>
          <a:xfrm>
            <a:off x="5195047" y="1946169"/>
            <a:ext cx="3356324" cy="61408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25C5FF-83B8-4E50-8BB4-374A4845211A}"/>
              </a:ext>
            </a:extLst>
          </p:cNvPr>
          <p:cNvSpPr txBox="1"/>
          <p:nvPr/>
        </p:nvSpPr>
        <p:spPr>
          <a:xfrm>
            <a:off x="5138457" y="1998206"/>
            <a:ext cx="341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HCF of 30 and 40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E37D01E-4112-450F-ABDD-FC98DC632B6B}"/>
              </a:ext>
            </a:extLst>
          </p:cNvPr>
          <p:cNvSpPr/>
          <p:nvPr/>
        </p:nvSpPr>
        <p:spPr>
          <a:xfrm>
            <a:off x="5921257" y="3806153"/>
            <a:ext cx="402722" cy="4307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57662E3-AE2E-40F6-8BB4-C79EE44CB8C3}"/>
              </a:ext>
            </a:extLst>
          </p:cNvPr>
          <p:cNvSpPr/>
          <p:nvPr/>
        </p:nvSpPr>
        <p:spPr>
          <a:xfrm>
            <a:off x="7174236" y="3830613"/>
            <a:ext cx="507136" cy="457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CDF0AC-633E-48D0-A4B2-291AD2B710A5}"/>
              </a:ext>
            </a:extLst>
          </p:cNvPr>
          <p:cNvSpPr txBox="1"/>
          <p:nvPr/>
        </p:nvSpPr>
        <p:spPr>
          <a:xfrm>
            <a:off x="5752145" y="5988535"/>
            <a:ext cx="2185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rgbClr val="C00000"/>
                </a:solidFill>
                <a:cs typeface="Arial" panose="020B0604020202020204" pitchFamily="34" charset="0"/>
              </a:rPr>
              <a:t>The HCF of 25 and 40 is 5.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3CBE2E7-A234-4D1F-A2EA-9D72AAAE969A}"/>
              </a:ext>
            </a:extLst>
          </p:cNvPr>
          <p:cNvSpPr/>
          <p:nvPr/>
        </p:nvSpPr>
        <p:spPr>
          <a:xfrm>
            <a:off x="8677160" y="1946169"/>
            <a:ext cx="3328208" cy="64565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B1E3D0-AA11-417F-8086-7FC44AEC7A9B}"/>
              </a:ext>
            </a:extLst>
          </p:cNvPr>
          <p:cNvSpPr txBox="1"/>
          <p:nvPr/>
        </p:nvSpPr>
        <p:spPr>
          <a:xfrm>
            <a:off x="8677160" y="2007388"/>
            <a:ext cx="3328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HCF of 12 and 10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F723E1-FF11-4099-951D-7F84C701C7D7}"/>
              </a:ext>
            </a:extLst>
          </p:cNvPr>
          <p:cNvSpPr/>
          <p:nvPr/>
        </p:nvSpPr>
        <p:spPr>
          <a:xfrm>
            <a:off x="9393623" y="3198329"/>
            <a:ext cx="426970" cy="43712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E903C87-0541-4330-A862-032E6257FC28}"/>
              </a:ext>
            </a:extLst>
          </p:cNvPr>
          <p:cNvSpPr/>
          <p:nvPr/>
        </p:nvSpPr>
        <p:spPr>
          <a:xfrm>
            <a:off x="10696282" y="3227528"/>
            <a:ext cx="440156" cy="396696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8B1BB-0ECE-43BB-8156-D84CDA169764}"/>
              </a:ext>
            </a:extLst>
          </p:cNvPr>
          <p:cNvSpPr txBox="1"/>
          <p:nvPr/>
        </p:nvSpPr>
        <p:spPr>
          <a:xfrm>
            <a:off x="8688662" y="5387206"/>
            <a:ext cx="33167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HCF of 12 and 10 is 2.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7F437B-62E7-4CBA-9C39-E557155BCACE}"/>
              </a:ext>
            </a:extLst>
          </p:cNvPr>
          <p:cNvSpPr txBox="1"/>
          <p:nvPr/>
        </p:nvSpPr>
        <p:spPr>
          <a:xfrm>
            <a:off x="9985682" y="2736502"/>
            <a:ext cx="18613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59ED44-CA13-4FAC-9741-8A7930F19AD7}"/>
              </a:ext>
            </a:extLst>
          </p:cNvPr>
          <p:cNvSpPr txBox="1"/>
          <p:nvPr/>
        </p:nvSpPr>
        <p:spPr>
          <a:xfrm>
            <a:off x="8688662" y="2736502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DA4368-441A-4FE5-A917-05D0E61448A8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8E42A6-21E5-4F94-972D-712A6F168D65}"/>
              </a:ext>
            </a:extLst>
          </p:cNvPr>
          <p:cNvSpPr txBox="1"/>
          <p:nvPr/>
        </p:nvSpPr>
        <p:spPr>
          <a:xfrm>
            <a:off x="5200106" y="2507079"/>
            <a:ext cx="18613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57CF1C-18E6-4E40-A512-45AA8FE551DB}"/>
              </a:ext>
            </a:extLst>
          </p:cNvPr>
          <p:cNvSpPr txBox="1"/>
          <p:nvPr/>
        </p:nvSpPr>
        <p:spPr>
          <a:xfrm>
            <a:off x="6497126" y="2507079"/>
            <a:ext cx="18613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4913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/>
      <p:bldP spid="40" grpId="0" animBg="1"/>
      <p:bldP spid="41" grpId="0"/>
      <p:bldP spid="42" grpId="0" animBg="1"/>
      <p:bldP spid="44" grpId="0" animBg="1"/>
      <p:bldP spid="46" grpId="0"/>
      <p:bldP spid="45" grpId="0"/>
      <p:bldP spid="43" grpId="0"/>
      <p:bldP spid="47" grpId="0"/>
      <p:bldP spid="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688" y="848162"/>
            <a:ext cx="8657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To find if a number is composite or prime: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52985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40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88339" y="2135968"/>
            <a:ext cx="352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1, 2, 4, 5, 8, 10, 20, 40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6510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40 is a composite number.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10016455" y="0"/>
            <a:ext cx="2175545" cy="1282000"/>
            <a:chOff x="660399" y="3602071"/>
            <a:chExt cx="2035631" cy="128200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0"/>
              <a:ext cx="2035629" cy="95211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do you decide if a number is </a:t>
              </a:r>
              <a:r>
                <a:rPr lang="en-AU" dirty="0" smtClean="0">
                  <a:solidFill>
                    <a:schemeClr val="tx1"/>
                  </a:solidFill>
                </a:rPr>
                <a:t>composite?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FB4C246-F8C0-4CE4-AA0C-3786A92D5468}"/>
              </a:ext>
            </a:extLst>
          </p:cNvPr>
          <p:cNvSpPr txBox="1"/>
          <p:nvPr/>
        </p:nvSpPr>
        <p:spPr>
          <a:xfrm>
            <a:off x="211807" y="2201931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8D2FD3-CB8E-4277-894B-D5F2B4183D8D}"/>
              </a:ext>
            </a:extLst>
          </p:cNvPr>
          <p:cNvSpPr txBox="1"/>
          <p:nvPr/>
        </p:nvSpPr>
        <p:spPr>
          <a:xfrm>
            <a:off x="211728" y="323947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Count how many factors there are.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8BF19A-6A0D-40D0-9C8B-B960995A85EB}"/>
              </a:ext>
            </a:extLst>
          </p:cNvPr>
          <p:cNvSpPr txBox="1"/>
          <p:nvPr/>
        </p:nvSpPr>
        <p:spPr>
          <a:xfrm>
            <a:off x="211728" y="4244587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2 Factors = Prime</a:t>
            </a:r>
            <a:br>
              <a:rPr lang="en-AU" sz="2800" b="1" dirty="0">
                <a:cs typeface="Arial" panose="020B0604020202020204" pitchFamily="34" charset="0"/>
              </a:rPr>
            </a:br>
            <a:r>
              <a:rPr lang="en-AU" sz="2800" b="1" dirty="0">
                <a:cs typeface="Arial" panose="020B0604020202020204" pitchFamily="34" charset="0"/>
              </a:rPr>
              <a:t>&gt;2 Factors = Composite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E683C8-6483-402F-965F-6C7B8740224C}"/>
              </a:ext>
            </a:extLst>
          </p:cNvPr>
          <p:cNvSpPr txBox="1"/>
          <p:nvPr/>
        </p:nvSpPr>
        <p:spPr>
          <a:xfrm>
            <a:off x="4616510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8 factors,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6E772C-FA81-4BD9-9D50-EEF2EC83A292}"/>
              </a:ext>
            </a:extLst>
          </p:cNvPr>
          <p:cNvSpPr txBox="1"/>
          <p:nvPr/>
        </p:nvSpPr>
        <p:spPr>
          <a:xfrm>
            <a:off x="9850241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41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8F2118-6D0F-4BD5-AE66-873E597B4E7D}"/>
              </a:ext>
            </a:extLst>
          </p:cNvPr>
          <p:cNvSpPr txBox="1"/>
          <p:nvPr/>
        </p:nvSpPr>
        <p:spPr>
          <a:xfrm>
            <a:off x="9007610" y="2116055"/>
            <a:ext cx="249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1, 41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361A33-C213-406B-B97F-97F62AB1BA48}"/>
              </a:ext>
            </a:extLst>
          </p:cNvPr>
          <p:cNvSpPr txBox="1"/>
          <p:nvPr/>
        </p:nvSpPr>
        <p:spPr>
          <a:xfrm>
            <a:off x="8313766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41 is a prime number.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4A69C5-2A53-419C-BCE8-332087E6EC24}"/>
              </a:ext>
            </a:extLst>
          </p:cNvPr>
          <p:cNvSpPr txBox="1"/>
          <p:nvPr/>
        </p:nvSpPr>
        <p:spPr>
          <a:xfrm>
            <a:off x="8313766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2 factors,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9304C6-7B8D-448B-99F1-E5F311AB68CE}"/>
              </a:ext>
            </a:extLst>
          </p:cNvPr>
          <p:cNvSpPr txBox="1"/>
          <p:nvPr/>
        </p:nvSpPr>
        <p:spPr>
          <a:xfrm>
            <a:off x="6152987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42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E31E7E-68FB-49F9-BDE7-EDA726775ADB}"/>
              </a:ext>
            </a:extLst>
          </p:cNvPr>
          <p:cNvSpPr txBox="1"/>
          <p:nvPr/>
        </p:nvSpPr>
        <p:spPr>
          <a:xfrm>
            <a:off x="4616510" y="4721640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1, 2, 3, 6, 7, 14, 21, 42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6ECE85-0D12-4B5C-898B-8F58EC707B2B}"/>
              </a:ext>
            </a:extLst>
          </p:cNvPr>
          <p:cNvSpPr txBox="1"/>
          <p:nvPr/>
        </p:nvSpPr>
        <p:spPr>
          <a:xfrm>
            <a:off x="4616512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42 is a composite number.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0EB43A-5BDE-4BBD-B676-9AD5EC54F4E4}"/>
              </a:ext>
            </a:extLst>
          </p:cNvPr>
          <p:cNvSpPr txBox="1"/>
          <p:nvPr/>
        </p:nvSpPr>
        <p:spPr>
          <a:xfrm>
            <a:off x="4616512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8 factors,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75D622-456F-4F5C-8285-D8DDBEA1C4BA}"/>
              </a:ext>
            </a:extLst>
          </p:cNvPr>
          <p:cNvSpPr txBox="1"/>
          <p:nvPr/>
        </p:nvSpPr>
        <p:spPr>
          <a:xfrm>
            <a:off x="9850243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43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26C597-6067-4A9D-B86D-A853DEB9A0DD}"/>
              </a:ext>
            </a:extLst>
          </p:cNvPr>
          <p:cNvSpPr txBox="1"/>
          <p:nvPr/>
        </p:nvSpPr>
        <p:spPr>
          <a:xfrm>
            <a:off x="9364831" y="4743832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0B89FA-3B25-409C-A439-E54F9E055064}"/>
              </a:ext>
            </a:extLst>
          </p:cNvPr>
          <p:cNvSpPr txBox="1"/>
          <p:nvPr/>
        </p:nvSpPr>
        <p:spPr>
          <a:xfrm>
            <a:off x="8313768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43 is a prime number.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672F3C-188C-4D23-A862-0C5D5BA364A6}"/>
              </a:ext>
            </a:extLst>
          </p:cNvPr>
          <p:cNvSpPr txBox="1"/>
          <p:nvPr/>
        </p:nvSpPr>
        <p:spPr>
          <a:xfrm>
            <a:off x="8313768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2 factors,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7732348" y="18614"/>
            <a:ext cx="2175545" cy="1282000"/>
            <a:chOff x="660399" y="3602071"/>
            <a:chExt cx="2035631" cy="128200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0"/>
              <a:ext cx="2035629" cy="95211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do you decide if a number is </a:t>
              </a:r>
              <a:r>
                <a:rPr lang="en-AU" dirty="0" smtClean="0">
                  <a:solidFill>
                    <a:schemeClr val="tx1"/>
                  </a:solidFill>
                </a:rPr>
                <a:t>prime</a:t>
              </a:r>
              <a:r>
                <a:rPr lang="en-AU" dirty="0">
                  <a:solidFill>
                    <a:schemeClr val="tx1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500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35" grpId="0"/>
      <p:bldP spid="36" grpId="0"/>
      <p:bldP spid="37" grpId="0"/>
      <p:bldP spid="31" grpId="0"/>
      <p:bldP spid="32" grpId="0"/>
      <p:bldP spid="33" grpId="0"/>
      <p:bldP spid="34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are prime numbers?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15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31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27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42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63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85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67767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346993" y="1324659"/>
            <a:ext cx="11178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use factor trees to find prime factors.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346993" y="4197215"/>
            <a:ext cx="76491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Use a factor tree to identify prime factors of a number.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Use a factor tree to determine the HCF and LCM of a pair of numbers.</a:t>
            </a:r>
            <a:endParaRPr lang="en-AU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A4BF53-6953-475B-BBBE-586A1DD7D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14" y="2786728"/>
            <a:ext cx="3243943" cy="394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6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318AD0-8C23-41D4-B5A8-A9FFFDC5F64F}"/>
              </a:ext>
            </a:extLst>
          </p:cNvPr>
          <p:cNvCxnSpPr>
            <a:cxnSpLocks/>
          </p:cNvCxnSpPr>
          <p:nvPr/>
        </p:nvCxnSpPr>
        <p:spPr>
          <a:xfrm flipV="1">
            <a:off x="2082895" y="5265753"/>
            <a:ext cx="1" cy="550935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26">
            <a:extLst>
              <a:ext uri="{FF2B5EF4-FFF2-40B4-BE49-F238E27FC236}">
                <a16:creationId xmlns:a16="http://schemas.microsoft.com/office/drawing/2014/main" id="{1C43182D-DC47-4145-AE27-8982A28B9A8B}"/>
              </a:ext>
            </a:extLst>
          </p:cNvPr>
          <p:cNvSpPr/>
          <p:nvPr/>
        </p:nvSpPr>
        <p:spPr>
          <a:xfrm>
            <a:off x="1144862" y="5809489"/>
            <a:ext cx="2052615" cy="6705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EF036-67C7-427F-A32F-A6AD26EDBCCA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47882B-8F92-4A98-B531-A1A7628AD771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D53B65-BD6D-4727-B0D8-A3B3BE7DDD7A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2C8EAE-60A9-4E61-B5A6-3F76DD8473DD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do we use index notation?</a:t>
              </a:r>
            </a:p>
          </p:txBody>
        </p:sp>
      </p:grpSp>
      <p:sp>
        <p:nvSpPr>
          <p:cNvPr id="23" name="Rectangle: Rounded Corners 8"/>
          <p:cNvSpPr/>
          <p:nvPr/>
        </p:nvSpPr>
        <p:spPr>
          <a:xfrm>
            <a:off x="6781200" y="2431580"/>
            <a:ext cx="4441244" cy="69897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: Rounded Corners 7"/>
          <p:cNvSpPr/>
          <p:nvPr/>
        </p:nvSpPr>
        <p:spPr>
          <a:xfrm>
            <a:off x="1941711" y="2862467"/>
            <a:ext cx="1700613" cy="70788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/>
          <p:cNvSpPr txBox="1"/>
          <p:nvPr/>
        </p:nvSpPr>
        <p:spPr>
          <a:xfrm>
            <a:off x="4770370" y="2431580"/>
            <a:ext cx="25124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600" b="1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2811" y="2422672"/>
            <a:ext cx="1948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9035" y="2862467"/>
            <a:ext cx="1705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Arial Rounded MT Bold" panose="020F0704030504030204" pitchFamily="34" charset="0"/>
              </a:rPr>
              <a:t>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200" y="2422672"/>
            <a:ext cx="49340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Rounded MT Bold" panose="020F0704030504030204" pitchFamily="34" charset="0"/>
              </a:rPr>
              <a:t>INDEX or POWER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3642324" y="3216410"/>
            <a:ext cx="11280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6026602" y="2776615"/>
            <a:ext cx="7545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25290" y="4405101"/>
            <a:ext cx="9061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dirty="0">
                <a:solidFill>
                  <a:schemeClr val="accent6">
                    <a:lumMod val="75000"/>
                  </a:schemeClr>
                </a:solidFill>
                <a:latin typeface="Arial Rounded MT Bold" panose="020F0704030504030204" pitchFamily="34" charset="0"/>
              </a:rPr>
              <a:t>4</a:t>
            </a:r>
            <a:r>
              <a:rPr lang="en-AU" sz="5400" baseline="30000" dirty="0">
                <a:solidFill>
                  <a:schemeClr val="accent6">
                    <a:lumMod val="75000"/>
                  </a:schemeClr>
                </a:solidFill>
                <a:latin typeface="Arial Rounded MT Bold" panose="020F0704030504030204" pitchFamily="34" charset="0"/>
              </a:rPr>
              <a:t>5</a:t>
            </a:r>
            <a:r>
              <a:rPr lang="en-AU" sz="5400" dirty="0">
                <a:latin typeface="Arial Rounded MT Bold" panose="020F0704030504030204" pitchFamily="34" charset="0"/>
              </a:rPr>
              <a:t> = </a:t>
            </a:r>
            <a:r>
              <a:rPr lang="en-AU" sz="5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</a:rPr>
              <a:t>4 x 4 x 4 x 4 x 4 </a:t>
            </a:r>
            <a:r>
              <a:rPr lang="en-AU" sz="5400" dirty="0">
                <a:latin typeface="Arial Rounded MT Bold" panose="020F0704030504030204" pitchFamily="34" charset="0"/>
              </a:rPr>
              <a:t>= </a:t>
            </a:r>
            <a:r>
              <a:rPr lang="en-AU" sz="5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1,024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369160" y="853012"/>
            <a:ext cx="944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Index notation </a:t>
            </a:r>
            <a:r>
              <a:rPr lang="en-AU" sz="3200" b="1" dirty="0">
                <a:cs typeface="Arial" panose="020B0604020202020204" pitchFamily="34" charset="0"/>
              </a:rPr>
              <a:t>– to save space when repeating a number multiplied by itself, mathematicians write in index form.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042856" y="5880563"/>
            <a:ext cx="2226664" cy="783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3200" b="1" dirty="0"/>
              <a:t>Index Form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" name="Right Brace 1"/>
          <p:cNvSpPr/>
          <p:nvPr/>
        </p:nvSpPr>
        <p:spPr>
          <a:xfrm rot="5400000">
            <a:off x="5395057" y="2966641"/>
            <a:ext cx="531068" cy="5026876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: Rounded Corners 6">
            <a:extLst>
              <a:ext uri="{FF2B5EF4-FFF2-40B4-BE49-F238E27FC236}">
                <a16:creationId xmlns:a16="http://schemas.microsoft.com/office/drawing/2014/main" id="{BB5ACA74-D543-49FF-81B3-CE901BFEC473}"/>
              </a:ext>
            </a:extLst>
          </p:cNvPr>
          <p:cNvSpPr/>
          <p:nvPr/>
        </p:nvSpPr>
        <p:spPr>
          <a:xfrm>
            <a:off x="4178011" y="5809489"/>
            <a:ext cx="2943073" cy="6705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246507" y="5880563"/>
            <a:ext cx="2828168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3200" b="1" dirty="0"/>
              <a:t>Expanded Form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318AD0-8C23-41D4-B5A8-A9FFFDC5F64F}"/>
              </a:ext>
            </a:extLst>
          </p:cNvPr>
          <p:cNvCxnSpPr>
            <a:cxnSpLocks/>
          </p:cNvCxnSpPr>
          <p:nvPr/>
        </p:nvCxnSpPr>
        <p:spPr>
          <a:xfrm flipV="1">
            <a:off x="9745446" y="5265753"/>
            <a:ext cx="1" cy="5509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26">
            <a:extLst>
              <a:ext uri="{FF2B5EF4-FFF2-40B4-BE49-F238E27FC236}">
                <a16:creationId xmlns:a16="http://schemas.microsoft.com/office/drawing/2014/main" id="{1C43182D-DC47-4145-AE27-8982A28B9A8B}"/>
              </a:ext>
            </a:extLst>
          </p:cNvPr>
          <p:cNvSpPr/>
          <p:nvPr/>
        </p:nvSpPr>
        <p:spPr>
          <a:xfrm>
            <a:off x="8807413" y="5809489"/>
            <a:ext cx="2052615" cy="670560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705407" y="5880563"/>
            <a:ext cx="2226664" cy="783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3200" b="1" dirty="0"/>
              <a:t>Answer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28894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31" grpId="0"/>
      <p:bldP spid="38" grpId="0"/>
      <p:bldP spid="2" grpId="0" animBg="1"/>
      <p:bldP spid="39" grpId="0" animBg="1"/>
      <p:bldP spid="40" grpId="0"/>
      <p:bldP spid="42" grpId="0" animBg="1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3536" y="951891"/>
            <a:ext cx="96638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Factor Trees </a:t>
            </a:r>
            <a:r>
              <a:rPr lang="en-AU" sz="3200" b="1" dirty="0">
                <a:cs typeface="Arial" panose="020B0604020202020204" pitchFamily="34" charset="0"/>
              </a:rPr>
              <a:t>are a useful way of finding the prime factors of a number. </a:t>
            </a:r>
            <a:endParaRPr lang="en-AU" sz="32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10016455" y="0"/>
            <a:ext cx="2175545" cy="971026"/>
            <a:chOff x="660399" y="3602071"/>
            <a:chExt cx="2035631" cy="97102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are factor trees used for?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EACF2A7-6980-4ED7-85D6-088D5E7E6E81}"/>
              </a:ext>
            </a:extLst>
          </p:cNvPr>
          <p:cNvSpPr txBox="1"/>
          <p:nvPr/>
        </p:nvSpPr>
        <p:spPr>
          <a:xfrm>
            <a:off x="243536" y="2861103"/>
            <a:ext cx="71043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cs typeface="Arial" panose="020B0604020202020204" pitchFamily="34" charset="0"/>
              </a:rPr>
              <a:t>They are called ‘trees’ because they ‘branch out’ from the original number.</a:t>
            </a:r>
          </a:p>
          <a:p>
            <a:endParaRPr lang="en-AU" sz="3200" dirty="0">
              <a:cs typeface="Arial" panose="020B0604020202020204" pitchFamily="34" charset="0"/>
            </a:endParaRPr>
          </a:p>
          <a:p>
            <a:r>
              <a:rPr lang="en-AU" sz="3200" dirty="0">
                <a:cs typeface="Arial" panose="020B0604020202020204" pitchFamily="34" charset="0"/>
              </a:rPr>
              <a:t>However, they are more like upside-down trees, because they branch down, not up.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2F4C20D-91B7-4D51-8F94-9C79B4A25D9F}"/>
              </a:ext>
            </a:extLst>
          </p:cNvPr>
          <p:cNvGrpSpPr/>
          <p:nvPr/>
        </p:nvGrpSpPr>
        <p:grpSpPr>
          <a:xfrm>
            <a:off x="10016455" y="1058263"/>
            <a:ext cx="2175545" cy="971026"/>
            <a:chOff x="660399" y="3602071"/>
            <a:chExt cx="2035631" cy="97102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2ACF774-FC46-44F7-91DC-A6F8C3728A1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1ACA4AD-E617-43DE-83DE-CA945CF37F6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are factor trees called ‘trees’?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2D6997F-BC0D-4F2B-AFF9-E0C32658B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14" y="2435412"/>
            <a:ext cx="42767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18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243BF190-052B-4043-8AFC-96BAAB4E9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911" y="3834538"/>
            <a:ext cx="2420449" cy="1284452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CDD56527-A18A-4A19-93D1-487D4917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626" y="2047082"/>
            <a:ext cx="2420449" cy="1284452"/>
          </a:xfrm>
          <a:prstGeom prst="rect">
            <a:avLst/>
          </a:prstGeom>
        </p:spPr>
      </p:pic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2E37BC3-51BC-41B1-9B51-28F42BB0214D}"/>
              </a:ext>
            </a:extLst>
          </p:cNvPr>
          <p:cNvCxnSpPr/>
          <p:nvPr/>
        </p:nvCxnSpPr>
        <p:spPr>
          <a:xfrm flipH="1">
            <a:off x="5785608" y="1837685"/>
            <a:ext cx="15100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8E44A97-5689-4440-919E-573E4E9F154A}"/>
              </a:ext>
            </a:extLst>
          </p:cNvPr>
          <p:cNvCxnSpPr>
            <a:cxnSpLocks/>
          </p:cNvCxnSpPr>
          <p:nvPr/>
        </p:nvCxnSpPr>
        <p:spPr>
          <a:xfrm>
            <a:off x="3218576" y="2517193"/>
            <a:ext cx="141774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006AD00-42E5-4B6A-BEE8-2C3529B41C86}"/>
              </a:ext>
            </a:extLst>
          </p:cNvPr>
          <p:cNvCxnSpPr/>
          <p:nvPr/>
        </p:nvCxnSpPr>
        <p:spPr>
          <a:xfrm flipH="1">
            <a:off x="6751740" y="3562410"/>
            <a:ext cx="15100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0AC2A44-8794-45B2-B8D9-67FF542B042E}"/>
              </a:ext>
            </a:extLst>
          </p:cNvPr>
          <p:cNvCxnSpPr>
            <a:cxnSpLocks/>
          </p:cNvCxnSpPr>
          <p:nvPr/>
        </p:nvCxnSpPr>
        <p:spPr>
          <a:xfrm flipV="1">
            <a:off x="2868232" y="3613447"/>
            <a:ext cx="805759" cy="150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E46CF8B-40C6-45B1-8FA0-255E51E9C831}"/>
              </a:ext>
            </a:extLst>
          </p:cNvPr>
          <p:cNvCxnSpPr/>
          <p:nvPr/>
        </p:nvCxnSpPr>
        <p:spPr>
          <a:xfrm flipH="1">
            <a:off x="7557054" y="4638263"/>
            <a:ext cx="15100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6F9E30D-5936-4971-BBED-649301E219F0}"/>
              </a:ext>
            </a:extLst>
          </p:cNvPr>
          <p:cNvCxnSpPr>
            <a:cxnSpLocks/>
          </p:cNvCxnSpPr>
          <p:nvPr/>
        </p:nvCxnSpPr>
        <p:spPr>
          <a:xfrm>
            <a:off x="3759664" y="5431291"/>
            <a:ext cx="121639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FCEBCC6-3903-42E4-9A89-2867F2739FD1}"/>
              </a:ext>
            </a:extLst>
          </p:cNvPr>
          <p:cNvCxnSpPr>
            <a:cxnSpLocks/>
          </p:cNvCxnSpPr>
          <p:nvPr/>
        </p:nvCxnSpPr>
        <p:spPr>
          <a:xfrm flipH="1" flipV="1">
            <a:off x="8101135" y="5429044"/>
            <a:ext cx="1350461" cy="41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3A56365-EF81-4F18-93BA-14ECA2391175}"/>
              </a:ext>
            </a:extLst>
          </p:cNvPr>
          <p:cNvSpPr/>
          <p:nvPr/>
        </p:nvSpPr>
        <p:spPr>
          <a:xfrm>
            <a:off x="232095" y="3290282"/>
            <a:ext cx="2636137" cy="83099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76DBE64-4A41-4E87-A141-29F2F750AECA}"/>
              </a:ext>
            </a:extLst>
          </p:cNvPr>
          <p:cNvSpPr/>
          <p:nvPr/>
        </p:nvSpPr>
        <p:spPr>
          <a:xfrm>
            <a:off x="7295626" y="1577625"/>
            <a:ext cx="4140191" cy="83099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8FA6288-E431-43A2-B501-2DCE7504B6DE}"/>
              </a:ext>
            </a:extLst>
          </p:cNvPr>
          <p:cNvSpPr/>
          <p:nvPr/>
        </p:nvSpPr>
        <p:spPr>
          <a:xfrm>
            <a:off x="232095" y="2047082"/>
            <a:ext cx="2986481" cy="95667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6B8B2BE-84CC-4B7D-B722-FC018B9CCFB2}"/>
              </a:ext>
            </a:extLst>
          </p:cNvPr>
          <p:cNvSpPr/>
          <p:nvPr/>
        </p:nvSpPr>
        <p:spPr>
          <a:xfrm>
            <a:off x="7941578" y="3137123"/>
            <a:ext cx="3494240" cy="83099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0638E98-554C-49F8-992E-C08CDCEF8621}"/>
              </a:ext>
            </a:extLst>
          </p:cNvPr>
          <p:cNvSpPr/>
          <p:nvPr/>
        </p:nvSpPr>
        <p:spPr>
          <a:xfrm>
            <a:off x="8577156" y="4233967"/>
            <a:ext cx="3472584" cy="86436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6F96895F-304C-45EB-AC9B-DF8544040B1A}"/>
              </a:ext>
            </a:extLst>
          </p:cNvPr>
          <p:cNvSpPr/>
          <p:nvPr/>
        </p:nvSpPr>
        <p:spPr>
          <a:xfrm>
            <a:off x="1320090" y="4971678"/>
            <a:ext cx="2482642" cy="83099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4CE2CA1-994A-4B35-87C5-862C0F7D5475}"/>
              </a:ext>
            </a:extLst>
          </p:cNvPr>
          <p:cNvSpPr/>
          <p:nvPr/>
        </p:nvSpPr>
        <p:spPr>
          <a:xfrm>
            <a:off x="9075030" y="5259941"/>
            <a:ext cx="2476837" cy="859153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D671855-5E17-488E-8AC6-C47EA259A06C}"/>
              </a:ext>
            </a:extLst>
          </p:cNvPr>
          <p:cNvSpPr txBox="1"/>
          <p:nvPr/>
        </p:nvSpPr>
        <p:spPr>
          <a:xfrm>
            <a:off x="-115658" y="3290281"/>
            <a:ext cx="3334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Circle any prime numbers.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71744B1-1358-4A4F-A05E-405E3D51F00B}"/>
              </a:ext>
            </a:extLst>
          </p:cNvPr>
          <p:cNvSpPr txBox="1"/>
          <p:nvPr/>
        </p:nvSpPr>
        <p:spPr>
          <a:xfrm>
            <a:off x="7153011" y="1577626"/>
            <a:ext cx="4471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Start with the original number at the top of the page.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8CB26F-77AE-482A-9DBD-F2591CBC2104}"/>
              </a:ext>
            </a:extLst>
          </p:cNvPr>
          <p:cNvSpPr txBox="1"/>
          <p:nvPr/>
        </p:nvSpPr>
        <p:spPr>
          <a:xfrm>
            <a:off x="73582" y="2101694"/>
            <a:ext cx="3282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Draw two ‘branches’ down the page.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CCE4D1D-D746-4076-BA55-F7082DF60012}"/>
              </a:ext>
            </a:extLst>
          </p:cNvPr>
          <p:cNvSpPr txBox="1"/>
          <p:nvPr/>
        </p:nvSpPr>
        <p:spPr>
          <a:xfrm>
            <a:off x="7849299" y="3137123"/>
            <a:ext cx="3702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Write any factor pair at the end of the branches.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F522366-82A9-41B4-A338-CAC8B0184565}"/>
              </a:ext>
            </a:extLst>
          </p:cNvPr>
          <p:cNvSpPr txBox="1"/>
          <p:nvPr/>
        </p:nvSpPr>
        <p:spPr>
          <a:xfrm>
            <a:off x="8499490" y="4251649"/>
            <a:ext cx="3629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Draw more branches for composite numbers.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ECA8F59-5FBC-4515-B34C-158CA05213DB}"/>
              </a:ext>
            </a:extLst>
          </p:cNvPr>
          <p:cNvSpPr txBox="1"/>
          <p:nvPr/>
        </p:nvSpPr>
        <p:spPr>
          <a:xfrm>
            <a:off x="929499" y="4971679"/>
            <a:ext cx="3282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Write down your factors.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45F6699-216A-48FF-84F0-A29F1F68D5E2}"/>
              </a:ext>
            </a:extLst>
          </p:cNvPr>
          <p:cNvSpPr txBox="1"/>
          <p:nvPr/>
        </p:nvSpPr>
        <p:spPr>
          <a:xfrm>
            <a:off x="8647150" y="5288097"/>
            <a:ext cx="3334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Circle any prime numbers.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8562451" y="0"/>
            <a:ext cx="3629550" cy="1267122"/>
            <a:chOff x="660399" y="3602071"/>
            <a:chExt cx="2035631" cy="126712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1"/>
              <a:ext cx="2035629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Use the divisibility laws and count your way up.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Is it divisible by 2? By 3? By 4?…</a:t>
              </a:r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0388DD03-0CFE-46DA-A3FC-3562A60078EB}"/>
              </a:ext>
            </a:extLst>
          </p:cNvPr>
          <p:cNvSpPr/>
          <p:nvPr/>
        </p:nvSpPr>
        <p:spPr>
          <a:xfrm>
            <a:off x="3759664" y="3356338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54F057-172D-461C-A17A-994C79482C51}"/>
              </a:ext>
            </a:extLst>
          </p:cNvPr>
          <p:cNvSpPr txBox="1"/>
          <p:nvPr/>
        </p:nvSpPr>
        <p:spPr>
          <a:xfrm>
            <a:off x="3218574" y="3290282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942246E-83D7-4955-83F6-B00C0E6FC879}"/>
              </a:ext>
            </a:extLst>
          </p:cNvPr>
          <p:cNvSpPr/>
          <p:nvPr/>
        </p:nvSpPr>
        <p:spPr>
          <a:xfrm>
            <a:off x="7455833" y="5156917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525CEC7-7FE6-49CF-A770-B2F338958DAF}"/>
              </a:ext>
            </a:extLst>
          </p:cNvPr>
          <p:cNvSpPr txBox="1"/>
          <p:nvPr/>
        </p:nvSpPr>
        <p:spPr>
          <a:xfrm>
            <a:off x="6902052" y="5108126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D824A02-090A-4B00-AC9F-D05C5D2625BD}"/>
              </a:ext>
            </a:extLst>
          </p:cNvPr>
          <p:cNvSpPr/>
          <p:nvPr/>
        </p:nvSpPr>
        <p:spPr>
          <a:xfrm>
            <a:off x="5034791" y="5169801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19314E-9300-4BF8-86E7-533B2A64DCD5}"/>
              </a:ext>
            </a:extLst>
          </p:cNvPr>
          <p:cNvSpPr txBox="1"/>
          <p:nvPr/>
        </p:nvSpPr>
        <p:spPr>
          <a:xfrm>
            <a:off x="4493703" y="1518903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70BCAC1-047B-4A6A-932F-069B508E145B}"/>
              </a:ext>
            </a:extLst>
          </p:cNvPr>
          <p:cNvSpPr txBox="1"/>
          <p:nvPr/>
        </p:nvSpPr>
        <p:spPr>
          <a:xfrm>
            <a:off x="5698222" y="3290283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C5AD164-F68C-4C44-8410-F53A718C22A7}"/>
              </a:ext>
            </a:extLst>
          </p:cNvPr>
          <p:cNvSpPr txBox="1"/>
          <p:nvPr/>
        </p:nvSpPr>
        <p:spPr>
          <a:xfrm>
            <a:off x="4493701" y="5110329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DCC8B1C-C991-4AC0-9158-43B55754C618}"/>
              </a:ext>
            </a:extLst>
          </p:cNvPr>
          <p:cNvSpPr txBox="1"/>
          <p:nvPr/>
        </p:nvSpPr>
        <p:spPr>
          <a:xfrm>
            <a:off x="277092" y="816504"/>
            <a:ext cx="9663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To create a factor tree:</a:t>
            </a:r>
            <a:endParaRPr lang="en-AU" sz="3200" dirty="0"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FECE9C-7250-4BE0-A0D5-4F0B83328AAC}"/>
              </a:ext>
            </a:extLst>
          </p:cNvPr>
          <p:cNvSpPr txBox="1"/>
          <p:nvPr/>
        </p:nvSpPr>
        <p:spPr>
          <a:xfrm>
            <a:off x="4279778" y="6054258"/>
            <a:ext cx="3696169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cs typeface="Arial" panose="020B0604020202020204" pitchFamily="34" charset="0"/>
              </a:rPr>
              <a:t>18 = 3 x 3 x 2 = </a:t>
            </a:r>
            <a:r>
              <a:rPr lang="en-AU" sz="3200" b="1" dirty="0" smtClean="0">
                <a:cs typeface="Arial" panose="020B0604020202020204" pitchFamily="34" charset="0"/>
              </a:rPr>
              <a:t>3</a:t>
            </a:r>
            <a:r>
              <a:rPr lang="en-AU" sz="3200" b="1" baseline="30000" dirty="0">
                <a:cs typeface="Arial" panose="020B0604020202020204" pitchFamily="34" charset="0"/>
              </a:rPr>
              <a:t>²</a:t>
            </a:r>
            <a:r>
              <a:rPr lang="en-AU" sz="3200" b="1" dirty="0" smtClean="0">
                <a:cs typeface="Arial" panose="020B0604020202020204" pitchFamily="34" charset="0"/>
              </a:rPr>
              <a:t> </a:t>
            </a:r>
            <a:r>
              <a:rPr lang="en-AU" sz="3200" b="1" dirty="0">
                <a:cs typeface="Arial" panose="020B0604020202020204" pitchFamily="34" charset="0"/>
              </a:rPr>
              <a:t>x 2</a:t>
            </a:r>
            <a:endParaRPr lang="en-AU" sz="32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99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0" grpId="0" animBg="1"/>
      <p:bldP spid="86" grpId="0" animBg="1"/>
      <p:bldP spid="90" grpId="0" animBg="1"/>
      <p:bldP spid="95" grpId="0" animBg="1"/>
      <p:bldP spid="99" grpId="0" animBg="1"/>
      <p:bldP spid="102" grpId="0" animBg="1"/>
      <p:bldP spid="79" grpId="0"/>
      <p:bldP spid="81" grpId="0"/>
      <p:bldP spid="87" grpId="0"/>
      <p:bldP spid="91" grpId="0"/>
      <p:bldP spid="96" grpId="0"/>
      <p:bldP spid="100" grpId="0"/>
      <p:bldP spid="103" grpId="0"/>
      <p:bldP spid="73" grpId="0" animBg="1"/>
      <p:bldP spid="75" grpId="0" animBg="1"/>
      <p:bldP spid="77" grpId="0" animBg="1"/>
      <p:bldP spid="1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243BF190-052B-4043-8AFC-96BAAB4E9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911" y="3834538"/>
            <a:ext cx="2420449" cy="1284452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CDD56527-A18A-4A19-93D1-487D4917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626" y="2047082"/>
            <a:ext cx="2420449" cy="1284452"/>
          </a:xfrm>
          <a:prstGeom prst="rect">
            <a:avLst/>
          </a:prstGeom>
        </p:spPr>
      </p:pic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2E37BC3-51BC-41B1-9B51-28F42BB0214D}"/>
              </a:ext>
            </a:extLst>
          </p:cNvPr>
          <p:cNvCxnSpPr/>
          <p:nvPr/>
        </p:nvCxnSpPr>
        <p:spPr>
          <a:xfrm flipH="1">
            <a:off x="5785608" y="1837685"/>
            <a:ext cx="15100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8E44A97-5689-4440-919E-573E4E9F154A}"/>
              </a:ext>
            </a:extLst>
          </p:cNvPr>
          <p:cNvCxnSpPr>
            <a:cxnSpLocks/>
          </p:cNvCxnSpPr>
          <p:nvPr/>
        </p:nvCxnSpPr>
        <p:spPr>
          <a:xfrm>
            <a:off x="3218576" y="2517193"/>
            <a:ext cx="141774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006AD00-42E5-4B6A-BEE8-2C3529B41C86}"/>
              </a:ext>
            </a:extLst>
          </p:cNvPr>
          <p:cNvCxnSpPr/>
          <p:nvPr/>
        </p:nvCxnSpPr>
        <p:spPr>
          <a:xfrm flipH="1">
            <a:off x="6751740" y="3562410"/>
            <a:ext cx="15100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0AC2A44-8794-45B2-B8D9-67FF542B042E}"/>
              </a:ext>
            </a:extLst>
          </p:cNvPr>
          <p:cNvCxnSpPr>
            <a:cxnSpLocks/>
          </p:cNvCxnSpPr>
          <p:nvPr/>
        </p:nvCxnSpPr>
        <p:spPr>
          <a:xfrm flipV="1">
            <a:off x="2868232" y="3613447"/>
            <a:ext cx="805759" cy="150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E46CF8B-40C6-45B1-8FA0-255E51E9C831}"/>
              </a:ext>
            </a:extLst>
          </p:cNvPr>
          <p:cNvCxnSpPr/>
          <p:nvPr/>
        </p:nvCxnSpPr>
        <p:spPr>
          <a:xfrm flipH="1">
            <a:off x="7557054" y="4638263"/>
            <a:ext cx="15100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6F9E30D-5936-4971-BBED-649301E219F0}"/>
              </a:ext>
            </a:extLst>
          </p:cNvPr>
          <p:cNvCxnSpPr>
            <a:cxnSpLocks/>
          </p:cNvCxnSpPr>
          <p:nvPr/>
        </p:nvCxnSpPr>
        <p:spPr>
          <a:xfrm>
            <a:off x="3759664" y="5431291"/>
            <a:ext cx="121639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FCEBCC6-3903-42E4-9A89-2867F2739FD1}"/>
              </a:ext>
            </a:extLst>
          </p:cNvPr>
          <p:cNvCxnSpPr>
            <a:cxnSpLocks/>
          </p:cNvCxnSpPr>
          <p:nvPr/>
        </p:nvCxnSpPr>
        <p:spPr>
          <a:xfrm flipH="1" flipV="1">
            <a:off x="8101135" y="5429044"/>
            <a:ext cx="1350461" cy="41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3A56365-EF81-4F18-93BA-14ECA2391175}"/>
              </a:ext>
            </a:extLst>
          </p:cNvPr>
          <p:cNvSpPr/>
          <p:nvPr/>
        </p:nvSpPr>
        <p:spPr>
          <a:xfrm>
            <a:off x="232095" y="3290282"/>
            <a:ext cx="2636137" cy="83099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76DBE64-4A41-4E87-A141-29F2F750AECA}"/>
              </a:ext>
            </a:extLst>
          </p:cNvPr>
          <p:cNvSpPr/>
          <p:nvPr/>
        </p:nvSpPr>
        <p:spPr>
          <a:xfrm>
            <a:off x="7295626" y="1577625"/>
            <a:ext cx="4140191" cy="83099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8FA6288-E431-43A2-B501-2DCE7504B6DE}"/>
              </a:ext>
            </a:extLst>
          </p:cNvPr>
          <p:cNvSpPr/>
          <p:nvPr/>
        </p:nvSpPr>
        <p:spPr>
          <a:xfrm>
            <a:off x="232095" y="2047082"/>
            <a:ext cx="2986481" cy="95667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6B8B2BE-84CC-4B7D-B722-FC018B9CCFB2}"/>
              </a:ext>
            </a:extLst>
          </p:cNvPr>
          <p:cNvSpPr/>
          <p:nvPr/>
        </p:nvSpPr>
        <p:spPr>
          <a:xfrm>
            <a:off x="7941578" y="3137123"/>
            <a:ext cx="3494240" cy="83099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0638E98-554C-49F8-992E-C08CDCEF8621}"/>
              </a:ext>
            </a:extLst>
          </p:cNvPr>
          <p:cNvSpPr/>
          <p:nvPr/>
        </p:nvSpPr>
        <p:spPr>
          <a:xfrm>
            <a:off x="8577156" y="4233967"/>
            <a:ext cx="3472584" cy="86436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6F96895F-304C-45EB-AC9B-DF8544040B1A}"/>
              </a:ext>
            </a:extLst>
          </p:cNvPr>
          <p:cNvSpPr/>
          <p:nvPr/>
        </p:nvSpPr>
        <p:spPr>
          <a:xfrm>
            <a:off x="1320090" y="4971678"/>
            <a:ext cx="2482642" cy="83099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4CE2CA1-994A-4B35-87C5-862C0F7D5475}"/>
              </a:ext>
            </a:extLst>
          </p:cNvPr>
          <p:cNvSpPr/>
          <p:nvPr/>
        </p:nvSpPr>
        <p:spPr>
          <a:xfrm>
            <a:off x="9075030" y="5259941"/>
            <a:ext cx="2476837" cy="859153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D671855-5E17-488E-8AC6-C47EA259A06C}"/>
              </a:ext>
            </a:extLst>
          </p:cNvPr>
          <p:cNvSpPr txBox="1"/>
          <p:nvPr/>
        </p:nvSpPr>
        <p:spPr>
          <a:xfrm>
            <a:off x="-115658" y="3290281"/>
            <a:ext cx="3334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Circle any prime numbers.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71744B1-1358-4A4F-A05E-405E3D51F00B}"/>
              </a:ext>
            </a:extLst>
          </p:cNvPr>
          <p:cNvSpPr txBox="1"/>
          <p:nvPr/>
        </p:nvSpPr>
        <p:spPr>
          <a:xfrm>
            <a:off x="7153011" y="1577626"/>
            <a:ext cx="4471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Start with the original number at the top of the page.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8CB26F-77AE-482A-9DBD-F2591CBC2104}"/>
              </a:ext>
            </a:extLst>
          </p:cNvPr>
          <p:cNvSpPr txBox="1"/>
          <p:nvPr/>
        </p:nvSpPr>
        <p:spPr>
          <a:xfrm>
            <a:off x="73582" y="2101694"/>
            <a:ext cx="3282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Draw two ‘branches’ down the page.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CCE4D1D-D746-4076-BA55-F7082DF60012}"/>
              </a:ext>
            </a:extLst>
          </p:cNvPr>
          <p:cNvSpPr txBox="1"/>
          <p:nvPr/>
        </p:nvSpPr>
        <p:spPr>
          <a:xfrm>
            <a:off x="7849299" y="3137123"/>
            <a:ext cx="3702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Write any factor pair at the end of the branches.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F522366-82A9-41B4-A338-CAC8B0184565}"/>
              </a:ext>
            </a:extLst>
          </p:cNvPr>
          <p:cNvSpPr txBox="1"/>
          <p:nvPr/>
        </p:nvSpPr>
        <p:spPr>
          <a:xfrm>
            <a:off x="8499490" y="4251649"/>
            <a:ext cx="3629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Draw more branches for composite numbers.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ECA8F59-5FBC-4515-B34C-158CA05213DB}"/>
              </a:ext>
            </a:extLst>
          </p:cNvPr>
          <p:cNvSpPr txBox="1"/>
          <p:nvPr/>
        </p:nvSpPr>
        <p:spPr>
          <a:xfrm>
            <a:off x="929499" y="4971679"/>
            <a:ext cx="3282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Write down your factors.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45F6699-216A-48FF-84F0-A29F1F68D5E2}"/>
              </a:ext>
            </a:extLst>
          </p:cNvPr>
          <p:cNvSpPr txBox="1"/>
          <p:nvPr/>
        </p:nvSpPr>
        <p:spPr>
          <a:xfrm>
            <a:off x="8647150" y="5288097"/>
            <a:ext cx="3334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Circle any prime numbers.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8562451" y="0"/>
            <a:ext cx="3629550" cy="1267122"/>
            <a:chOff x="660399" y="3602071"/>
            <a:chExt cx="2035631" cy="126712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1"/>
              <a:ext cx="2035629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Use the divisibility laws and count your way up.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Is it divisible by 2? By 3? By 4?…</a:t>
              </a:r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0388DD03-0CFE-46DA-A3FC-3562A60078EB}"/>
              </a:ext>
            </a:extLst>
          </p:cNvPr>
          <p:cNvSpPr/>
          <p:nvPr/>
        </p:nvSpPr>
        <p:spPr>
          <a:xfrm>
            <a:off x="3759664" y="3356338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54F057-172D-461C-A17A-994C79482C51}"/>
              </a:ext>
            </a:extLst>
          </p:cNvPr>
          <p:cNvSpPr txBox="1"/>
          <p:nvPr/>
        </p:nvSpPr>
        <p:spPr>
          <a:xfrm>
            <a:off x="3218574" y="3290282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942246E-83D7-4955-83F6-B00C0E6FC879}"/>
              </a:ext>
            </a:extLst>
          </p:cNvPr>
          <p:cNvSpPr/>
          <p:nvPr/>
        </p:nvSpPr>
        <p:spPr>
          <a:xfrm>
            <a:off x="7455833" y="5156917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525CEC7-7FE6-49CF-A770-B2F338958DAF}"/>
              </a:ext>
            </a:extLst>
          </p:cNvPr>
          <p:cNvSpPr txBox="1"/>
          <p:nvPr/>
        </p:nvSpPr>
        <p:spPr>
          <a:xfrm>
            <a:off x="6902052" y="5108126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D824A02-090A-4B00-AC9F-D05C5D2625BD}"/>
              </a:ext>
            </a:extLst>
          </p:cNvPr>
          <p:cNvSpPr/>
          <p:nvPr/>
        </p:nvSpPr>
        <p:spPr>
          <a:xfrm>
            <a:off x="5034791" y="5169801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19314E-9300-4BF8-86E7-533B2A64DCD5}"/>
              </a:ext>
            </a:extLst>
          </p:cNvPr>
          <p:cNvSpPr txBox="1"/>
          <p:nvPr/>
        </p:nvSpPr>
        <p:spPr>
          <a:xfrm>
            <a:off x="4493703" y="1518903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en-A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70BCAC1-047B-4A6A-932F-069B508E145B}"/>
              </a:ext>
            </a:extLst>
          </p:cNvPr>
          <p:cNvSpPr txBox="1"/>
          <p:nvPr/>
        </p:nvSpPr>
        <p:spPr>
          <a:xfrm>
            <a:off x="5698222" y="3290283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C5AD164-F68C-4C44-8410-F53A718C22A7}"/>
              </a:ext>
            </a:extLst>
          </p:cNvPr>
          <p:cNvSpPr txBox="1"/>
          <p:nvPr/>
        </p:nvSpPr>
        <p:spPr>
          <a:xfrm>
            <a:off x="4493701" y="5110329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DCC8B1C-C991-4AC0-9158-43B55754C618}"/>
              </a:ext>
            </a:extLst>
          </p:cNvPr>
          <p:cNvSpPr txBox="1"/>
          <p:nvPr/>
        </p:nvSpPr>
        <p:spPr>
          <a:xfrm>
            <a:off x="277092" y="816504"/>
            <a:ext cx="9663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To create a factor tree:</a:t>
            </a:r>
            <a:endParaRPr lang="en-AU" sz="3200" dirty="0"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FECE9C-7250-4BE0-A0D5-4F0B83328AAC}"/>
              </a:ext>
            </a:extLst>
          </p:cNvPr>
          <p:cNvSpPr txBox="1"/>
          <p:nvPr/>
        </p:nvSpPr>
        <p:spPr>
          <a:xfrm>
            <a:off x="4272729" y="6013194"/>
            <a:ext cx="3284325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cs typeface="Arial" panose="020B0604020202020204" pitchFamily="34" charset="0"/>
              </a:rPr>
              <a:t>20 </a:t>
            </a:r>
            <a:r>
              <a:rPr lang="en-AU" sz="3200" b="1" dirty="0">
                <a:cs typeface="Arial" panose="020B0604020202020204" pitchFamily="34" charset="0"/>
              </a:rPr>
              <a:t>= </a:t>
            </a:r>
            <a:r>
              <a:rPr lang="en-AU" sz="3200" b="1" dirty="0">
                <a:cs typeface="Arial" panose="020B0604020202020204" pitchFamily="34" charset="0"/>
              </a:rPr>
              <a:t> </a:t>
            </a:r>
            <a:r>
              <a:rPr lang="en-AU" sz="3200" b="1" dirty="0" smtClean="0">
                <a:cs typeface="Arial" panose="020B0604020202020204" pitchFamily="34" charset="0"/>
              </a:rPr>
              <a:t>                       </a:t>
            </a:r>
            <a:endParaRPr lang="en-AU" sz="3200" dirty="0"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34791" y="857581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5007958" y="6043971"/>
            <a:ext cx="25490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800" b="1" dirty="0">
                <a:cs typeface="Arial" panose="020B0604020202020204" pitchFamily="34" charset="0"/>
              </a:rPr>
              <a:t>5 x 2 x 2 = 5 x 2²</a:t>
            </a:r>
            <a:endParaRPr lang="en-AU" sz="2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4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0" grpId="0" animBg="1"/>
      <p:bldP spid="86" grpId="0" animBg="1"/>
      <p:bldP spid="90" grpId="0" animBg="1"/>
      <p:bldP spid="95" grpId="0" animBg="1"/>
      <p:bldP spid="99" grpId="0" animBg="1"/>
      <p:bldP spid="102" grpId="0" animBg="1"/>
      <p:bldP spid="79" grpId="0"/>
      <p:bldP spid="81" grpId="0"/>
      <p:bldP spid="87" grpId="0"/>
      <p:bldP spid="91" grpId="0"/>
      <p:bldP spid="96" grpId="0"/>
      <p:bldP spid="100" grpId="0"/>
      <p:bldP spid="103" grpId="0"/>
      <p:bldP spid="73" grpId="0" animBg="1"/>
      <p:bldP spid="75" grpId="0" animBg="1"/>
      <p:bldP spid="77" grpId="0" animBg="1"/>
      <p:bldP spid="105" grpId="0" animBg="1"/>
      <p:bldP spid="39" grpId="0" animBg="1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F0F0DF5-9959-4F73-AE32-E0E4D1B17C3F}"/>
              </a:ext>
            </a:extLst>
          </p:cNvPr>
          <p:cNvSpPr/>
          <p:nvPr/>
        </p:nvSpPr>
        <p:spPr>
          <a:xfrm>
            <a:off x="4499535" y="5659646"/>
            <a:ext cx="3081349" cy="748763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9BCEC0A-CDFB-4BC9-905B-7AEC1DA651C3}"/>
              </a:ext>
            </a:extLst>
          </p:cNvPr>
          <p:cNvSpPr txBox="1"/>
          <p:nvPr/>
        </p:nvSpPr>
        <p:spPr>
          <a:xfrm>
            <a:off x="4355593" y="5638968"/>
            <a:ext cx="3370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24 = 2</a:t>
            </a:r>
            <a:r>
              <a:rPr lang="en-AU" sz="4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 x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713CE8-144A-4BA9-B8E2-EC0AC9D850F1}"/>
              </a:ext>
            </a:extLst>
          </p:cNvPr>
          <p:cNvGrpSpPr/>
          <p:nvPr/>
        </p:nvGrpSpPr>
        <p:grpSpPr>
          <a:xfrm>
            <a:off x="8562451" y="0"/>
            <a:ext cx="3629550" cy="1267122"/>
            <a:chOff x="660399" y="3602071"/>
            <a:chExt cx="2035631" cy="126712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022761-3A56-483A-882D-4F39D80F2664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2EB92D7-8DD0-4612-989A-5C2D7BCEE78F}"/>
                </a:ext>
              </a:extLst>
            </p:cNvPr>
            <p:cNvSpPr/>
            <p:nvPr/>
          </p:nvSpPr>
          <p:spPr>
            <a:xfrm>
              <a:off x="660399" y="3931961"/>
              <a:ext cx="2035629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Use the divisibility laws and count your way up.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Is it divisible by 2? By 3? By 4?…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1D44E24-5AB3-411C-B061-69FFBB0DB32E}"/>
              </a:ext>
            </a:extLst>
          </p:cNvPr>
          <p:cNvSpPr txBox="1"/>
          <p:nvPr/>
        </p:nvSpPr>
        <p:spPr>
          <a:xfrm>
            <a:off x="256131" y="920867"/>
            <a:ext cx="79897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There are often many different ways to draw a factor tree of the same number.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8C928BB-CF33-483F-B093-EA0E4806F26C}"/>
              </a:ext>
            </a:extLst>
          </p:cNvPr>
          <p:cNvSpPr/>
          <p:nvPr/>
        </p:nvSpPr>
        <p:spPr>
          <a:xfrm>
            <a:off x="10900047" y="6101256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2E0CE93-F743-4FD4-8030-9A8CA6E0DE44}"/>
              </a:ext>
            </a:extLst>
          </p:cNvPr>
          <p:cNvSpPr/>
          <p:nvPr/>
        </p:nvSpPr>
        <p:spPr>
          <a:xfrm>
            <a:off x="9468829" y="6093224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CFC225C-DEC3-43CC-9D2C-45CEB2DBA915}"/>
              </a:ext>
            </a:extLst>
          </p:cNvPr>
          <p:cNvSpPr/>
          <p:nvPr/>
        </p:nvSpPr>
        <p:spPr>
          <a:xfrm>
            <a:off x="8863424" y="4776961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E9078AC-41E8-405A-9442-63157E520A8A}"/>
              </a:ext>
            </a:extLst>
          </p:cNvPr>
          <p:cNvSpPr/>
          <p:nvPr/>
        </p:nvSpPr>
        <p:spPr>
          <a:xfrm>
            <a:off x="8177664" y="3450318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3E5944-2D63-4E77-B7A1-4E2EB3E73848}"/>
              </a:ext>
            </a:extLst>
          </p:cNvPr>
          <p:cNvSpPr/>
          <p:nvPr/>
        </p:nvSpPr>
        <p:spPr>
          <a:xfrm>
            <a:off x="7007878" y="4770099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76D799F-1A0B-42D1-94D3-95C0E37A7497}"/>
              </a:ext>
            </a:extLst>
          </p:cNvPr>
          <p:cNvSpPr/>
          <p:nvPr/>
        </p:nvSpPr>
        <p:spPr>
          <a:xfrm>
            <a:off x="5967573" y="4745505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2F60DC0-A00C-4C7D-9556-5D4592C91EF0}"/>
              </a:ext>
            </a:extLst>
          </p:cNvPr>
          <p:cNvSpPr/>
          <p:nvPr/>
        </p:nvSpPr>
        <p:spPr>
          <a:xfrm>
            <a:off x="5641804" y="4753328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EA15668-E8C5-43B6-BD81-2169D25B602E}"/>
              </a:ext>
            </a:extLst>
          </p:cNvPr>
          <p:cNvSpPr/>
          <p:nvPr/>
        </p:nvSpPr>
        <p:spPr>
          <a:xfrm>
            <a:off x="4585517" y="4763342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D49B9E8-0CC3-41A9-B3FB-AFA87F890EB4}"/>
              </a:ext>
            </a:extLst>
          </p:cNvPr>
          <p:cNvSpPr/>
          <p:nvPr/>
        </p:nvSpPr>
        <p:spPr>
          <a:xfrm>
            <a:off x="2030793" y="6104092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507A048-702E-416B-987A-60D54C622DD3}"/>
              </a:ext>
            </a:extLst>
          </p:cNvPr>
          <p:cNvSpPr/>
          <p:nvPr/>
        </p:nvSpPr>
        <p:spPr>
          <a:xfrm>
            <a:off x="639968" y="6104092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946C62A-C232-46C8-8681-67446DF01BE2}"/>
              </a:ext>
            </a:extLst>
          </p:cNvPr>
          <p:cNvSpPr/>
          <p:nvPr/>
        </p:nvSpPr>
        <p:spPr>
          <a:xfrm>
            <a:off x="2701497" y="4763342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6EFED64-1F70-4831-A1C9-CA51630B528E}"/>
              </a:ext>
            </a:extLst>
          </p:cNvPr>
          <p:cNvSpPr/>
          <p:nvPr/>
        </p:nvSpPr>
        <p:spPr>
          <a:xfrm>
            <a:off x="3409918" y="3453024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FB2C0B-5211-4336-857E-72CC72B19F2C}"/>
              </a:ext>
            </a:extLst>
          </p:cNvPr>
          <p:cNvSpPr txBox="1"/>
          <p:nvPr/>
        </p:nvSpPr>
        <p:spPr>
          <a:xfrm>
            <a:off x="2216356" y="2162459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F47C10C-F506-4C96-850F-07B54492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248" y="2657635"/>
            <a:ext cx="1372019" cy="72808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EF85282-7D3C-43A9-9C64-F73B578E81F3}"/>
              </a:ext>
            </a:extLst>
          </p:cNvPr>
          <p:cNvSpPr txBox="1"/>
          <p:nvPr/>
        </p:nvSpPr>
        <p:spPr>
          <a:xfrm>
            <a:off x="1434015" y="341078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0113AE-AF46-4492-B0DD-613F54E490FB}"/>
              </a:ext>
            </a:extLst>
          </p:cNvPr>
          <p:cNvSpPr txBox="1"/>
          <p:nvPr/>
        </p:nvSpPr>
        <p:spPr>
          <a:xfrm>
            <a:off x="737275" y="4714617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09970460-B2E5-4AF3-8E8E-453C3F424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53" y="3986533"/>
            <a:ext cx="1372019" cy="72808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3567FB3-5706-4844-BC3B-317F16B95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337" y="5295604"/>
            <a:ext cx="1372019" cy="728085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5AA70347-90F5-466F-AA11-6FFA71C41C9A}"/>
              </a:ext>
            </a:extLst>
          </p:cNvPr>
          <p:cNvSpPr txBox="1"/>
          <p:nvPr/>
        </p:nvSpPr>
        <p:spPr>
          <a:xfrm>
            <a:off x="5239592" y="216230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8F10E4B-3844-4A51-8B53-7801A3AC9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295" y="2657635"/>
            <a:ext cx="1372019" cy="72808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FCDF151-3B76-4619-A4AB-DCB96A76E04C}"/>
              </a:ext>
            </a:extLst>
          </p:cNvPr>
          <p:cNvSpPr txBox="1"/>
          <p:nvPr/>
        </p:nvSpPr>
        <p:spPr>
          <a:xfrm>
            <a:off x="4499535" y="340627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0578DB-6757-4C52-B87E-AFF19FFCEE91}"/>
              </a:ext>
            </a:extLst>
          </p:cNvPr>
          <p:cNvSpPr txBox="1"/>
          <p:nvPr/>
        </p:nvSpPr>
        <p:spPr>
          <a:xfrm>
            <a:off x="5887382" y="3414241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12EB03E1-21D9-483E-B48E-84966A1F1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886" y="3986533"/>
            <a:ext cx="1031510" cy="72808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48C9B2D6-489E-4CDF-A37A-8D7D72DD1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924" y="3986532"/>
            <a:ext cx="1031510" cy="72808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3EBF738-D3DA-4095-9E74-9892DC902188}"/>
              </a:ext>
            </a:extLst>
          </p:cNvPr>
          <p:cNvSpPr txBox="1"/>
          <p:nvPr/>
        </p:nvSpPr>
        <p:spPr>
          <a:xfrm>
            <a:off x="8264878" y="216230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594631EC-FC01-43B3-8699-8BC346FC7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32" y="2660209"/>
            <a:ext cx="1372019" cy="72808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1227FB5A-1E1E-40B8-8788-95E0BA6BDA08}"/>
              </a:ext>
            </a:extLst>
          </p:cNvPr>
          <p:cNvSpPr txBox="1"/>
          <p:nvPr/>
        </p:nvSpPr>
        <p:spPr>
          <a:xfrm>
            <a:off x="8917953" y="3414241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DA1331F4-2BA6-4F89-8D4E-ABCD96004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021" y="3986532"/>
            <a:ext cx="1372019" cy="72808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E6A369C3-5188-44DE-B66B-9E724F984B23}"/>
              </a:ext>
            </a:extLst>
          </p:cNvPr>
          <p:cNvSpPr txBox="1"/>
          <p:nvPr/>
        </p:nvSpPr>
        <p:spPr>
          <a:xfrm>
            <a:off x="9558060" y="4714758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61595279-ADBF-4C9D-8E61-934DE58B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198" y="5299454"/>
            <a:ext cx="1372019" cy="728085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32349C14-A0CA-407A-AFC8-0033B65E6B83}"/>
              </a:ext>
            </a:extLst>
          </p:cNvPr>
          <p:cNvSpPr txBox="1"/>
          <p:nvPr/>
        </p:nvSpPr>
        <p:spPr>
          <a:xfrm>
            <a:off x="43188" y="604577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FF0BD84-3416-4F3C-9834-BFCD7D502E27}"/>
              </a:ext>
            </a:extLst>
          </p:cNvPr>
          <p:cNvSpPr txBox="1"/>
          <p:nvPr/>
        </p:nvSpPr>
        <p:spPr>
          <a:xfrm>
            <a:off x="1434013" y="604577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8E0818-20FD-4C03-8F34-8DA07054932D}"/>
              </a:ext>
            </a:extLst>
          </p:cNvPr>
          <p:cNvSpPr txBox="1"/>
          <p:nvPr/>
        </p:nvSpPr>
        <p:spPr>
          <a:xfrm>
            <a:off x="2100900" y="470873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2E5299-B604-422A-9665-26C374238DF9}"/>
              </a:ext>
            </a:extLst>
          </p:cNvPr>
          <p:cNvSpPr txBox="1"/>
          <p:nvPr/>
        </p:nvSpPr>
        <p:spPr>
          <a:xfrm>
            <a:off x="2814321" y="340627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7D324A2-9347-4110-A03E-875C499CD4BB}"/>
              </a:ext>
            </a:extLst>
          </p:cNvPr>
          <p:cNvSpPr txBox="1"/>
          <p:nvPr/>
        </p:nvSpPr>
        <p:spPr>
          <a:xfrm>
            <a:off x="3994679" y="470873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3D67AE-C442-417A-ACAA-8B9D62988626}"/>
              </a:ext>
            </a:extLst>
          </p:cNvPr>
          <p:cNvSpPr txBox="1"/>
          <p:nvPr/>
        </p:nvSpPr>
        <p:spPr>
          <a:xfrm>
            <a:off x="5042168" y="4707471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A8407A6-337B-408E-B3BA-BA63F5D093C2}"/>
              </a:ext>
            </a:extLst>
          </p:cNvPr>
          <p:cNvSpPr txBox="1"/>
          <p:nvPr/>
        </p:nvSpPr>
        <p:spPr>
          <a:xfrm>
            <a:off x="5372768" y="4705878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B80BEE-B62B-4F26-9B0D-967CEA34B719}"/>
              </a:ext>
            </a:extLst>
          </p:cNvPr>
          <p:cNvSpPr txBox="1"/>
          <p:nvPr/>
        </p:nvSpPr>
        <p:spPr>
          <a:xfrm>
            <a:off x="6415265" y="4705878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32D1C3-8047-437B-9E20-3B118B92BDC6}"/>
              </a:ext>
            </a:extLst>
          </p:cNvPr>
          <p:cNvSpPr txBox="1"/>
          <p:nvPr/>
        </p:nvSpPr>
        <p:spPr>
          <a:xfrm>
            <a:off x="8264878" y="4720890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BCAA699-5132-4616-B7EC-80AD5149A61E}"/>
              </a:ext>
            </a:extLst>
          </p:cNvPr>
          <p:cNvSpPr txBox="1"/>
          <p:nvPr/>
        </p:nvSpPr>
        <p:spPr>
          <a:xfrm>
            <a:off x="8872049" y="604577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BF88509-EE91-4617-B3CF-A4FAEA30D736}"/>
              </a:ext>
            </a:extLst>
          </p:cNvPr>
          <p:cNvSpPr txBox="1"/>
          <p:nvPr/>
        </p:nvSpPr>
        <p:spPr>
          <a:xfrm>
            <a:off x="10303267" y="604577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1E56E6-DEF5-4FB5-8DEA-E4038A0E792B}"/>
              </a:ext>
            </a:extLst>
          </p:cNvPr>
          <p:cNvSpPr txBox="1"/>
          <p:nvPr/>
        </p:nvSpPr>
        <p:spPr>
          <a:xfrm>
            <a:off x="7580884" y="3414241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2442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92" grpId="0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3" grpId="0"/>
      <p:bldP spid="64" grpId="0"/>
      <p:bldP spid="69" grpId="0"/>
      <p:bldP spid="70" grpId="0"/>
      <p:bldP spid="75" grpId="0"/>
      <p:bldP spid="77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Draw factor trees of the following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9318" y="1628691"/>
            <a:ext cx="1201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16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0140-0162-416B-9034-9FD0C4BDB751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BB50-13B6-434D-A3C1-B36F981D7807}"/>
              </a:ext>
            </a:extLst>
          </p:cNvPr>
          <p:cNvSpPr txBox="1"/>
          <p:nvPr/>
        </p:nvSpPr>
        <p:spPr>
          <a:xfrm>
            <a:off x="5310190" y="1628691"/>
            <a:ext cx="1571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20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CA715-ADDF-4BFE-9C08-52BB4A71A513}"/>
              </a:ext>
            </a:extLst>
          </p:cNvPr>
          <p:cNvSpPr txBox="1"/>
          <p:nvPr/>
        </p:nvSpPr>
        <p:spPr>
          <a:xfrm>
            <a:off x="9702473" y="1628691"/>
            <a:ext cx="1005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32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8562451" y="0"/>
            <a:ext cx="3629550" cy="1267122"/>
            <a:chOff x="660399" y="3602071"/>
            <a:chExt cx="2035631" cy="126712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660399" y="3931961"/>
              <a:ext cx="2035629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Use the divisibility laws and count your way up.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Is it divisible by 2? By 3? By 4?…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730594" y="47686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46365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FB6F5A6-FE25-4763-AFDE-28DDB58E6FDA}"/>
              </a:ext>
            </a:extLst>
          </p:cNvPr>
          <p:cNvSpPr txBox="1"/>
          <p:nvPr/>
        </p:nvSpPr>
        <p:spPr>
          <a:xfrm>
            <a:off x="7496671" y="2683564"/>
            <a:ext cx="3606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32 = 2 x 2 x 2 x 2 x 2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840C41-0D46-4AAE-A891-30B27B820A4A}"/>
              </a:ext>
            </a:extLst>
          </p:cNvPr>
          <p:cNvSpPr/>
          <p:nvPr/>
        </p:nvSpPr>
        <p:spPr>
          <a:xfrm>
            <a:off x="8331065" y="1767958"/>
            <a:ext cx="924127" cy="58477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To find the HCF and LCM using factor trees: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0140-0162-416B-9034-9FD0C4BDB751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BB50-13B6-434D-A3C1-B36F981D7807}"/>
              </a:ext>
            </a:extLst>
          </p:cNvPr>
          <p:cNvSpPr txBox="1"/>
          <p:nvPr/>
        </p:nvSpPr>
        <p:spPr>
          <a:xfrm>
            <a:off x="5310190" y="1677012"/>
            <a:ext cx="1571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20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CA715-ADDF-4BFE-9C08-52BB4A71A513}"/>
              </a:ext>
            </a:extLst>
          </p:cNvPr>
          <p:cNvSpPr txBox="1"/>
          <p:nvPr/>
        </p:nvSpPr>
        <p:spPr>
          <a:xfrm>
            <a:off x="5593218" y="2602146"/>
            <a:ext cx="1005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32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8562451" y="0"/>
            <a:ext cx="3629550" cy="1267122"/>
            <a:chOff x="660399" y="3602071"/>
            <a:chExt cx="2035631" cy="126712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660399" y="3931961"/>
              <a:ext cx="2035629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Use the divisibility laws and count your way up.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Is it divisible by 2? By 3? By 4?…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8B8830E-3515-4549-85F5-8E606AA7E395}"/>
              </a:ext>
            </a:extLst>
          </p:cNvPr>
          <p:cNvSpPr txBox="1"/>
          <p:nvPr/>
        </p:nvSpPr>
        <p:spPr>
          <a:xfrm>
            <a:off x="7496671" y="1767959"/>
            <a:ext cx="294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20 = 2 x 2 x 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13917-2122-4596-A5C3-00BF78FA74DB}"/>
              </a:ext>
            </a:extLst>
          </p:cNvPr>
          <p:cNvSpPr txBox="1"/>
          <p:nvPr/>
        </p:nvSpPr>
        <p:spPr>
          <a:xfrm>
            <a:off x="118797" y="1677012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Draw a factor tree of both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EA567-540C-4579-B7A6-00287C9FB7B5}"/>
              </a:ext>
            </a:extLst>
          </p:cNvPr>
          <p:cNvSpPr txBox="1"/>
          <p:nvPr/>
        </p:nvSpPr>
        <p:spPr>
          <a:xfrm>
            <a:off x="118796" y="2572767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the numbers in expanded form.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F5A5F-31A0-4E64-A916-203141E4D4A1}"/>
              </a:ext>
            </a:extLst>
          </p:cNvPr>
          <p:cNvSpPr txBox="1"/>
          <p:nvPr/>
        </p:nvSpPr>
        <p:spPr>
          <a:xfrm>
            <a:off x="118795" y="3533626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in the first list.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7D11-AF2A-4E32-8ED2-DF359AF5C3E2}"/>
              </a:ext>
            </a:extLst>
          </p:cNvPr>
          <p:cNvSpPr txBox="1"/>
          <p:nvPr/>
        </p:nvSpPr>
        <p:spPr>
          <a:xfrm>
            <a:off x="115010" y="4498324"/>
            <a:ext cx="5347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Multiply the highlighted numbers to find the HCF.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693C6-C1CB-4C1F-91FA-957463D43187}"/>
              </a:ext>
            </a:extLst>
          </p:cNvPr>
          <p:cNvSpPr txBox="1"/>
          <p:nvPr/>
        </p:nvSpPr>
        <p:spPr>
          <a:xfrm>
            <a:off x="115009" y="5400831"/>
            <a:ext cx="5347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AU" sz="2800" b="1" dirty="0">
                <a:cs typeface="Arial" panose="020B0604020202020204" pitchFamily="34" charset="0"/>
              </a:rPr>
              <a:t>Multiply the second number with the leftover numbers from the first to find the LCM.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906449-9F57-41BA-8CC8-E54CF6247A96}"/>
              </a:ext>
            </a:extLst>
          </p:cNvPr>
          <p:cNvSpPr txBox="1"/>
          <p:nvPr/>
        </p:nvSpPr>
        <p:spPr>
          <a:xfrm>
            <a:off x="5819258" y="3862895"/>
            <a:ext cx="3082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HCF of 20 and 32  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D3C961-C82A-418B-A28D-B38656A5B9DB}"/>
              </a:ext>
            </a:extLst>
          </p:cNvPr>
          <p:cNvSpPr txBox="1"/>
          <p:nvPr/>
        </p:nvSpPr>
        <p:spPr>
          <a:xfrm>
            <a:off x="8901337" y="3862895"/>
            <a:ext cx="1770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2 x 2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480366-D251-4B0E-AA34-9F8BA8A567AE}"/>
              </a:ext>
            </a:extLst>
          </p:cNvPr>
          <p:cNvSpPr txBox="1"/>
          <p:nvPr/>
        </p:nvSpPr>
        <p:spPr>
          <a:xfrm>
            <a:off x="8901336" y="4357782"/>
            <a:ext cx="1770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4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A349EE-48EB-44C2-AED8-465EEB79461A}"/>
              </a:ext>
            </a:extLst>
          </p:cNvPr>
          <p:cNvSpPr txBox="1"/>
          <p:nvPr/>
        </p:nvSpPr>
        <p:spPr>
          <a:xfrm>
            <a:off x="5749046" y="5040696"/>
            <a:ext cx="3152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LCM of 20 and 32  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1334-C9F3-4939-89C5-8A2A11A9A11F}"/>
              </a:ext>
            </a:extLst>
          </p:cNvPr>
          <p:cNvSpPr txBox="1"/>
          <p:nvPr/>
        </p:nvSpPr>
        <p:spPr>
          <a:xfrm>
            <a:off x="8901338" y="5040696"/>
            <a:ext cx="1541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5 x 32</a:t>
            </a:r>
            <a:endParaRPr lang="en-AU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00359D-080C-405E-B510-2EEA3368B7A5}"/>
              </a:ext>
            </a:extLst>
          </p:cNvPr>
          <p:cNvSpPr txBox="1"/>
          <p:nvPr/>
        </p:nvSpPr>
        <p:spPr>
          <a:xfrm>
            <a:off x="8901336" y="5535583"/>
            <a:ext cx="1770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160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75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14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840C41-0D46-4AAE-A891-30B27B820A4A}"/>
              </a:ext>
            </a:extLst>
          </p:cNvPr>
          <p:cNvSpPr/>
          <p:nvPr/>
        </p:nvSpPr>
        <p:spPr>
          <a:xfrm>
            <a:off x="8901336" y="1767958"/>
            <a:ext cx="924127" cy="58477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B8830E-3515-4549-85F5-8E606AA7E395}"/>
              </a:ext>
            </a:extLst>
          </p:cNvPr>
          <p:cNvSpPr txBox="1"/>
          <p:nvPr/>
        </p:nvSpPr>
        <p:spPr>
          <a:xfrm>
            <a:off x="7496671" y="1767959"/>
            <a:ext cx="294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50 = 2 x 5 x 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6F5A6-FE25-4763-AFDE-28DDB58E6FDA}"/>
              </a:ext>
            </a:extLst>
          </p:cNvPr>
          <p:cNvSpPr txBox="1"/>
          <p:nvPr/>
        </p:nvSpPr>
        <p:spPr>
          <a:xfrm>
            <a:off x="7496671" y="2683564"/>
            <a:ext cx="3606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75 = 3 x 5 x 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To find the HCF and LCM using factor trees: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0140-0162-416B-9034-9FD0C4BDB751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BB50-13B6-434D-A3C1-B36F981D7807}"/>
              </a:ext>
            </a:extLst>
          </p:cNvPr>
          <p:cNvSpPr txBox="1"/>
          <p:nvPr/>
        </p:nvSpPr>
        <p:spPr>
          <a:xfrm>
            <a:off x="5310190" y="1677012"/>
            <a:ext cx="1571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50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CA715-ADDF-4BFE-9C08-52BB4A71A513}"/>
              </a:ext>
            </a:extLst>
          </p:cNvPr>
          <p:cNvSpPr txBox="1"/>
          <p:nvPr/>
        </p:nvSpPr>
        <p:spPr>
          <a:xfrm>
            <a:off x="5593218" y="2602146"/>
            <a:ext cx="1005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75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8562451" y="0"/>
            <a:ext cx="3629550" cy="1267122"/>
            <a:chOff x="660399" y="3602071"/>
            <a:chExt cx="2035631" cy="126712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660399" y="3931961"/>
              <a:ext cx="2035629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Use the divisibility laws and count your way up.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Is it divisible by 2? By 3? By 4?…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5613917-2122-4596-A5C3-00BF78FA74DB}"/>
              </a:ext>
            </a:extLst>
          </p:cNvPr>
          <p:cNvSpPr txBox="1"/>
          <p:nvPr/>
        </p:nvSpPr>
        <p:spPr>
          <a:xfrm>
            <a:off x="118797" y="1677012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Draw a factor tree of both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EA567-540C-4579-B7A6-00287C9FB7B5}"/>
              </a:ext>
            </a:extLst>
          </p:cNvPr>
          <p:cNvSpPr txBox="1"/>
          <p:nvPr/>
        </p:nvSpPr>
        <p:spPr>
          <a:xfrm>
            <a:off x="118796" y="2572767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the numbers in expanded form.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F5A5F-31A0-4E64-A916-203141E4D4A1}"/>
              </a:ext>
            </a:extLst>
          </p:cNvPr>
          <p:cNvSpPr txBox="1"/>
          <p:nvPr/>
        </p:nvSpPr>
        <p:spPr>
          <a:xfrm>
            <a:off x="118795" y="3533626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in the first list.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7D11-AF2A-4E32-8ED2-DF359AF5C3E2}"/>
              </a:ext>
            </a:extLst>
          </p:cNvPr>
          <p:cNvSpPr txBox="1"/>
          <p:nvPr/>
        </p:nvSpPr>
        <p:spPr>
          <a:xfrm>
            <a:off x="115010" y="4498324"/>
            <a:ext cx="5347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Multiply the highlighted numbers to find the HCF.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693C6-C1CB-4C1F-91FA-957463D43187}"/>
              </a:ext>
            </a:extLst>
          </p:cNvPr>
          <p:cNvSpPr txBox="1"/>
          <p:nvPr/>
        </p:nvSpPr>
        <p:spPr>
          <a:xfrm>
            <a:off x="115009" y="5400831"/>
            <a:ext cx="5347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AU" sz="2800" b="1" dirty="0">
                <a:cs typeface="Arial" panose="020B0604020202020204" pitchFamily="34" charset="0"/>
              </a:rPr>
              <a:t>Multiply the second number with the leftover numbers from the first to find the LCM.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906449-9F57-41BA-8CC8-E54CF6247A96}"/>
              </a:ext>
            </a:extLst>
          </p:cNvPr>
          <p:cNvSpPr txBox="1"/>
          <p:nvPr/>
        </p:nvSpPr>
        <p:spPr>
          <a:xfrm>
            <a:off x="5819258" y="3862895"/>
            <a:ext cx="3082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HCF of 50 and 75  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D3C961-C82A-418B-A28D-B38656A5B9DB}"/>
              </a:ext>
            </a:extLst>
          </p:cNvPr>
          <p:cNvSpPr txBox="1"/>
          <p:nvPr/>
        </p:nvSpPr>
        <p:spPr>
          <a:xfrm>
            <a:off x="8901337" y="3862895"/>
            <a:ext cx="1770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5 x 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480366-D251-4B0E-AA34-9F8BA8A567AE}"/>
              </a:ext>
            </a:extLst>
          </p:cNvPr>
          <p:cNvSpPr txBox="1"/>
          <p:nvPr/>
        </p:nvSpPr>
        <p:spPr>
          <a:xfrm>
            <a:off x="8901336" y="4357782"/>
            <a:ext cx="1770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25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A349EE-48EB-44C2-AED8-465EEB79461A}"/>
              </a:ext>
            </a:extLst>
          </p:cNvPr>
          <p:cNvSpPr txBox="1"/>
          <p:nvPr/>
        </p:nvSpPr>
        <p:spPr>
          <a:xfrm>
            <a:off x="5749046" y="5040696"/>
            <a:ext cx="3152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LCM of 50 and 75  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1334-C9F3-4939-89C5-8A2A11A9A11F}"/>
              </a:ext>
            </a:extLst>
          </p:cNvPr>
          <p:cNvSpPr txBox="1"/>
          <p:nvPr/>
        </p:nvSpPr>
        <p:spPr>
          <a:xfrm>
            <a:off x="8901338" y="5040696"/>
            <a:ext cx="1541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2 x 75</a:t>
            </a:r>
            <a:endParaRPr lang="en-AU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00359D-080C-405E-B510-2EEA3368B7A5}"/>
              </a:ext>
            </a:extLst>
          </p:cNvPr>
          <p:cNvSpPr txBox="1"/>
          <p:nvPr/>
        </p:nvSpPr>
        <p:spPr>
          <a:xfrm>
            <a:off x="8901336" y="5535583"/>
            <a:ext cx="1770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150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2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6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840C41-0D46-4AAE-A891-30B27B820A4A}"/>
              </a:ext>
            </a:extLst>
          </p:cNvPr>
          <p:cNvSpPr/>
          <p:nvPr/>
        </p:nvSpPr>
        <p:spPr>
          <a:xfrm>
            <a:off x="9100122" y="1755650"/>
            <a:ext cx="1571619" cy="58477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B8830E-3515-4549-85F5-8E606AA7E395}"/>
              </a:ext>
            </a:extLst>
          </p:cNvPr>
          <p:cNvSpPr txBox="1"/>
          <p:nvPr/>
        </p:nvSpPr>
        <p:spPr>
          <a:xfrm>
            <a:off x="7496670" y="1767959"/>
            <a:ext cx="3417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100 = 2 x 2 x 5 x 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6F5A6-FE25-4763-AFDE-28DDB58E6FDA}"/>
              </a:ext>
            </a:extLst>
          </p:cNvPr>
          <p:cNvSpPr txBox="1"/>
          <p:nvPr/>
        </p:nvSpPr>
        <p:spPr>
          <a:xfrm>
            <a:off x="7496671" y="2683564"/>
            <a:ext cx="4322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150 = 2 x 3 x 5 x 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To find the HCF and LCM using factor trees: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0140-0162-416B-9034-9FD0C4BDB751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BB50-13B6-434D-A3C1-B36F981D7807}"/>
              </a:ext>
            </a:extLst>
          </p:cNvPr>
          <p:cNvSpPr txBox="1"/>
          <p:nvPr/>
        </p:nvSpPr>
        <p:spPr>
          <a:xfrm>
            <a:off x="5310190" y="1677012"/>
            <a:ext cx="1571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100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CA715-ADDF-4BFE-9C08-52BB4A71A513}"/>
              </a:ext>
            </a:extLst>
          </p:cNvPr>
          <p:cNvSpPr txBox="1"/>
          <p:nvPr/>
        </p:nvSpPr>
        <p:spPr>
          <a:xfrm>
            <a:off x="5518468" y="2602146"/>
            <a:ext cx="10803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150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9842579" y="0"/>
            <a:ext cx="2349422" cy="1267122"/>
            <a:chOff x="1378358" y="3602071"/>
            <a:chExt cx="1317672" cy="126712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HCF using this method? (Step 3)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5613917-2122-4596-A5C3-00BF78FA74DB}"/>
              </a:ext>
            </a:extLst>
          </p:cNvPr>
          <p:cNvSpPr txBox="1"/>
          <p:nvPr/>
        </p:nvSpPr>
        <p:spPr>
          <a:xfrm>
            <a:off x="118797" y="1677012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Draw a factor tree of both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EA567-540C-4579-B7A6-00287C9FB7B5}"/>
              </a:ext>
            </a:extLst>
          </p:cNvPr>
          <p:cNvSpPr txBox="1"/>
          <p:nvPr/>
        </p:nvSpPr>
        <p:spPr>
          <a:xfrm>
            <a:off x="118796" y="2572767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the numbers in expanded form.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F5A5F-31A0-4E64-A916-203141E4D4A1}"/>
              </a:ext>
            </a:extLst>
          </p:cNvPr>
          <p:cNvSpPr txBox="1"/>
          <p:nvPr/>
        </p:nvSpPr>
        <p:spPr>
          <a:xfrm>
            <a:off x="118795" y="3533626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in the first list.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7D11-AF2A-4E32-8ED2-DF359AF5C3E2}"/>
              </a:ext>
            </a:extLst>
          </p:cNvPr>
          <p:cNvSpPr txBox="1"/>
          <p:nvPr/>
        </p:nvSpPr>
        <p:spPr>
          <a:xfrm>
            <a:off x="115010" y="4498324"/>
            <a:ext cx="5347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Multiply the highlighted numbers to find the HCF.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693C6-C1CB-4C1F-91FA-957463D43187}"/>
              </a:ext>
            </a:extLst>
          </p:cNvPr>
          <p:cNvSpPr txBox="1"/>
          <p:nvPr/>
        </p:nvSpPr>
        <p:spPr>
          <a:xfrm>
            <a:off x="115009" y="5400831"/>
            <a:ext cx="5347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AU" sz="2800" b="1" dirty="0">
                <a:cs typeface="Arial" panose="020B0604020202020204" pitchFamily="34" charset="0"/>
              </a:rPr>
              <a:t>Multiply the second number with the leftover numbers from the first to find the LCM.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7493157" y="27801"/>
            <a:ext cx="2349422" cy="1267122"/>
            <a:chOff x="1378358" y="3602071"/>
            <a:chExt cx="1317672" cy="126712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LCM using this method? (Step 4)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5310190" y="338217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54152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6" grpId="0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8B8830E-3515-4549-85F5-8E606AA7E395}"/>
              </a:ext>
            </a:extLst>
          </p:cNvPr>
          <p:cNvSpPr txBox="1"/>
          <p:nvPr/>
        </p:nvSpPr>
        <p:spPr>
          <a:xfrm>
            <a:off x="7496671" y="1835267"/>
            <a:ext cx="294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84 = 2 x 2 x 3 x 7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6F5A6-FE25-4763-AFDE-28DDB58E6FDA}"/>
              </a:ext>
            </a:extLst>
          </p:cNvPr>
          <p:cNvSpPr txBox="1"/>
          <p:nvPr/>
        </p:nvSpPr>
        <p:spPr>
          <a:xfrm>
            <a:off x="7496671" y="2683564"/>
            <a:ext cx="4322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96 = 2 x 2 x 2 x 2 x 2 x 3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To find the HCF and LCM using factor trees: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0140-0162-416B-9034-9FD0C4BDB751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BB50-13B6-434D-A3C1-B36F981D7807}"/>
              </a:ext>
            </a:extLst>
          </p:cNvPr>
          <p:cNvSpPr txBox="1"/>
          <p:nvPr/>
        </p:nvSpPr>
        <p:spPr>
          <a:xfrm>
            <a:off x="5310190" y="1677012"/>
            <a:ext cx="1571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84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CA715-ADDF-4BFE-9C08-52BB4A71A513}"/>
              </a:ext>
            </a:extLst>
          </p:cNvPr>
          <p:cNvSpPr txBox="1"/>
          <p:nvPr/>
        </p:nvSpPr>
        <p:spPr>
          <a:xfrm>
            <a:off x="5593218" y="2602146"/>
            <a:ext cx="1005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96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13917-2122-4596-A5C3-00BF78FA74DB}"/>
              </a:ext>
            </a:extLst>
          </p:cNvPr>
          <p:cNvSpPr txBox="1"/>
          <p:nvPr/>
        </p:nvSpPr>
        <p:spPr>
          <a:xfrm>
            <a:off x="118797" y="1677012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Draw a factor tree of both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EA567-540C-4579-B7A6-00287C9FB7B5}"/>
              </a:ext>
            </a:extLst>
          </p:cNvPr>
          <p:cNvSpPr txBox="1"/>
          <p:nvPr/>
        </p:nvSpPr>
        <p:spPr>
          <a:xfrm>
            <a:off x="118796" y="2572767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the numbers in expanded form.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F5A5F-31A0-4E64-A916-203141E4D4A1}"/>
              </a:ext>
            </a:extLst>
          </p:cNvPr>
          <p:cNvSpPr txBox="1"/>
          <p:nvPr/>
        </p:nvSpPr>
        <p:spPr>
          <a:xfrm>
            <a:off x="118795" y="3533626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in the first list.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7D11-AF2A-4E32-8ED2-DF359AF5C3E2}"/>
              </a:ext>
            </a:extLst>
          </p:cNvPr>
          <p:cNvSpPr txBox="1"/>
          <p:nvPr/>
        </p:nvSpPr>
        <p:spPr>
          <a:xfrm>
            <a:off x="115010" y="4498324"/>
            <a:ext cx="5347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Multiply the highlighted numbers to find the HCF.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693C6-C1CB-4C1F-91FA-957463D43187}"/>
              </a:ext>
            </a:extLst>
          </p:cNvPr>
          <p:cNvSpPr txBox="1"/>
          <p:nvPr/>
        </p:nvSpPr>
        <p:spPr>
          <a:xfrm>
            <a:off x="115009" y="5400831"/>
            <a:ext cx="5347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AU" sz="2800" b="1" dirty="0">
                <a:cs typeface="Arial" panose="020B0604020202020204" pitchFamily="34" charset="0"/>
              </a:rPr>
              <a:t>Multiply the second number with the leftover numbers from the first to find the LCM.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9842579" y="0"/>
            <a:ext cx="2349422" cy="1267122"/>
            <a:chOff x="1378358" y="3602071"/>
            <a:chExt cx="1317672" cy="126712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HCF using this method? (Step 3)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7465787" y="14458"/>
            <a:ext cx="2349422" cy="1267122"/>
            <a:chOff x="1378358" y="3602071"/>
            <a:chExt cx="1317672" cy="126712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LCM using this method? (Step 4)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5534587" y="354901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74330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To find the HCF and LCM using factor trees: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0140-0162-416B-9034-9FD0C4BDB751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BB50-13B6-434D-A3C1-B36F981D7807}"/>
              </a:ext>
            </a:extLst>
          </p:cNvPr>
          <p:cNvSpPr txBox="1"/>
          <p:nvPr/>
        </p:nvSpPr>
        <p:spPr>
          <a:xfrm>
            <a:off x="5304444" y="1797453"/>
            <a:ext cx="26081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25 and 75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13917-2122-4596-A5C3-00BF78FA74DB}"/>
              </a:ext>
            </a:extLst>
          </p:cNvPr>
          <p:cNvSpPr txBox="1"/>
          <p:nvPr/>
        </p:nvSpPr>
        <p:spPr>
          <a:xfrm>
            <a:off x="118797" y="1677012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Draw a factor tree of both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EA567-540C-4579-B7A6-00287C9FB7B5}"/>
              </a:ext>
            </a:extLst>
          </p:cNvPr>
          <p:cNvSpPr txBox="1"/>
          <p:nvPr/>
        </p:nvSpPr>
        <p:spPr>
          <a:xfrm>
            <a:off x="118796" y="2572767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the numbers in expanded form.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F5A5F-31A0-4E64-A916-203141E4D4A1}"/>
              </a:ext>
            </a:extLst>
          </p:cNvPr>
          <p:cNvSpPr txBox="1"/>
          <p:nvPr/>
        </p:nvSpPr>
        <p:spPr>
          <a:xfrm>
            <a:off x="118795" y="3533626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in the first list.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7D11-AF2A-4E32-8ED2-DF359AF5C3E2}"/>
              </a:ext>
            </a:extLst>
          </p:cNvPr>
          <p:cNvSpPr txBox="1"/>
          <p:nvPr/>
        </p:nvSpPr>
        <p:spPr>
          <a:xfrm>
            <a:off x="57592" y="4576332"/>
            <a:ext cx="5347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Multiply the highlighted numbers to find the HCF.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693C6-C1CB-4C1F-91FA-957463D43187}"/>
              </a:ext>
            </a:extLst>
          </p:cNvPr>
          <p:cNvSpPr txBox="1"/>
          <p:nvPr/>
        </p:nvSpPr>
        <p:spPr>
          <a:xfrm>
            <a:off x="115009" y="5400831"/>
            <a:ext cx="5347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AU" sz="2800" b="1" dirty="0">
                <a:cs typeface="Arial" panose="020B0604020202020204" pitchFamily="34" charset="0"/>
              </a:rPr>
              <a:t>Multiply the second number with the leftover numbers from the first to find the LCM.</a:t>
            </a:r>
            <a:endParaRPr lang="en-AU" sz="2800" dirty="0"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9842579" y="0"/>
            <a:ext cx="2349422" cy="1267122"/>
            <a:chOff x="1378358" y="3602071"/>
            <a:chExt cx="1317672" cy="126712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HCF using this method? (Step 3)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7493157" y="27801"/>
            <a:ext cx="2349422" cy="1267122"/>
            <a:chOff x="1378358" y="3602071"/>
            <a:chExt cx="1317672" cy="126712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LCM using this method? (Step 4)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8667866" y="1317036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B8830E-3515-4549-85F5-8E606AA7E395}"/>
                  </a:ext>
                </a:extLst>
              </p:cNvPr>
              <p:cNvSpPr txBox="1"/>
              <p:nvPr/>
            </p:nvSpPr>
            <p:spPr>
              <a:xfrm>
                <a:off x="5462980" y="2502420"/>
                <a:ext cx="29458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25</a:t>
                </a:r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</m:oMath>
                </a14:m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 </a:t>
                </a:r>
                <a:endParaRPr lang="en-AU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B8830E-3515-4549-85F5-8E606AA7E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980" y="2502420"/>
                <a:ext cx="2945880" cy="584775"/>
              </a:xfrm>
              <a:prstGeom prst="rect">
                <a:avLst/>
              </a:prstGeom>
              <a:blipFill>
                <a:blip r:embed="rId2"/>
                <a:stretch>
                  <a:fillRect l="-5176" t="-12632" b="-357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B8830E-3515-4549-85F5-8E606AA7E395}"/>
                  </a:ext>
                </a:extLst>
              </p:cNvPr>
              <p:cNvSpPr txBox="1"/>
              <p:nvPr/>
            </p:nvSpPr>
            <p:spPr>
              <a:xfrm>
                <a:off x="5462980" y="3018205"/>
                <a:ext cx="29458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75 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</m:oMath>
                </a14:m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 </a:t>
                </a:r>
                <a:endParaRPr lang="en-AU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B8830E-3515-4549-85F5-8E606AA7E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980" y="3018205"/>
                <a:ext cx="2945880" cy="584775"/>
              </a:xfrm>
              <a:prstGeom prst="rect">
                <a:avLst/>
              </a:prstGeom>
              <a:blipFill>
                <a:blip r:embed="rId3"/>
                <a:stretch>
                  <a:fillRect l="-5176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407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To find the HCF and LCM using factor trees: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0140-0162-416B-9034-9FD0C4BDB751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13917-2122-4596-A5C3-00BF78FA74DB}"/>
              </a:ext>
            </a:extLst>
          </p:cNvPr>
          <p:cNvSpPr txBox="1"/>
          <p:nvPr/>
        </p:nvSpPr>
        <p:spPr>
          <a:xfrm>
            <a:off x="118797" y="1677012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Draw a factor tree of both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EA567-540C-4579-B7A6-00287C9FB7B5}"/>
              </a:ext>
            </a:extLst>
          </p:cNvPr>
          <p:cNvSpPr txBox="1"/>
          <p:nvPr/>
        </p:nvSpPr>
        <p:spPr>
          <a:xfrm>
            <a:off x="118796" y="2572767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the numbers in expanded form.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F5A5F-31A0-4E64-A916-203141E4D4A1}"/>
              </a:ext>
            </a:extLst>
          </p:cNvPr>
          <p:cNvSpPr txBox="1"/>
          <p:nvPr/>
        </p:nvSpPr>
        <p:spPr>
          <a:xfrm>
            <a:off x="118795" y="3533626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in the first list.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7D11-AF2A-4E32-8ED2-DF359AF5C3E2}"/>
              </a:ext>
            </a:extLst>
          </p:cNvPr>
          <p:cNvSpPr txBox="1"/>
          <p:nvPr/>
        </p:nvSpPr>
        <p:spPr>
          <a:xfrm>
            <a:off x="115010" y="4498324"/>
            <a:ext cx="5347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Multiply the highlighted numbers to find the HCF.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693C6-C1CB-4C1F-91FA-957463D43187}"/>
              </a:ext>
            </a:extLst>
          </p:cNvPr>
          <p:cNvSpPr txBox="1"/>
          <p:nvPr/>
        </p:nvSpPr>
        <p:spPr>
          <a:xfrm>
            <a:off x="115009" y="5400831"/>
            <a:ext cx="5347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AU" sz="2800" b="1" dirty="0">
                <a:cs typeface="Arial" panose="020B0604020202020204" pitchFamily="34" charset="0"/>
              </a:rPr>
              <a:t>Multiply the second number with the leftover numbers from the first to find the LCM.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2EB7EB-AB22-4B58-8E00-47F0AB461555}"/>
              </a:ext>
            </a:extLst>
          </p:cNvPr>
          <p:cNvSpPr txBox="1"/>
          <p:nvPr/>
        </p:nvSpPr>
        <p:spPr>
          <a:xfrm>
            <a:off x="5373747" y="1875766"/>
            <a:ext cx="26081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35 and 90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9842579" y="0"/>
            <a:ext cx="2349422" cy="1267122"/>
            <a:chOff x="1378358" y="3602071"/>
            <a:chExt cx="1317672" cy="126712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HCF using this method? (Step 3)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7493157" y="27801"/>
            <a:ext cx="2349422" cy="1267122"/>
            <a:chOff x="1378358" y="3602071"/>
            <a:chExt cx="1317672" cy="126712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LCM using this method? (Step 4)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8667866" y="1317036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B8830E-3515-4549-85F5-8E606AA7E395}"/>
                  </a:ext>
                </a:extLst>
              </p:cNvPr>
              <p:cNvSpPr txBox="1"/>
              <p:nvPr/>
            </p:nvSpPr>
            <p:spPr>
              <a:xfrm>
                <a:off x="5448780" y="2757432"/>
                <a:ext cx="29458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3</a:t>
                </a:r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𝟕</m:t>
                    </m:r>
                  </m:oMath>
                </a14:m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 </a:t>
                </a:r>
                <a:endParaRPr lang="en-AU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B8830E-3515-4549-85F5-8E606AA7E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780" y="2757432"/>
                <a:ext cx="2945880" cy="584775"/>
              </a:xfrm>
              <a:prstGeom prst="rect">
                <a:avLst/>
              </a:prstGeom>
              <a:blipFill>
                <a:blip r:embed="rId2"/>
                <a:stretch>
                  <a:fillRect l="-5383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B8830E-3515-4549-85F5-8E606AA7E395}"/>
                  </a:ext>
                </a:extLst>
              </p:cNvPr>
              <p:cNvSpPr txBox="1"/>
              <p:nvPr/>
            </p:nvSpPr>
            <p:spPr>
              <a:xfrm>
                <a:off x="5462980" y="3376426"/>
                <a:ext cx="463683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3</a:t>
                </a:r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</m:oMath>
                </a14:m>
                <a:r>
                  <a:rPr lang="en-AU" sz="3200" b="1" dirty="0" smtClean="0">
                    <a:solidFill>
                      <a:srgbClr val="C00000"/>
                    </a:solidFill>
                    <a:cs typeface="Arial" panose="020B0604020202020204" pitchFamily="34" charset="0"/>
                  </a:rPr>
                  <a:t> </a:t>
                </a:r>
                <a:endParaRPr lang="en-AU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B8830E-3515-4549-85F5-8E606AA7E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980" y="3376426"/>
                <a:ext cx="4636839" cy="584775"/>
              </a:xfrm>
              <a:prstGeom prst="rect">
                <a:avLst/>
              </a:prstGeom>
              <a:blipFill>
                <a:blip r:embed="rId3"/>
                <a:stretch>
                  <a:fillRect l="-3285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7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7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30" y="1097282"/>
            <a:ext cx="443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7221E0-6DD2-4036-A37F-476BFFF6F12F}"/>
              </a:ext>
            </a:extLst>
          </p:cNvPr>
          <p:cNvSpPr/>
          <p:nvPr/>
        </p:nvSpPr>
        <p:spPr>
          <a:xfrm>
            <a:off x="514179" y="2757302"/>
            <a:ext cx="58574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AU" sz="2800" dirty="0">
                <a:cs typeface="Arial" panose="020B0604020202020204" pitchFamily="34" charset="0"/>
              </a:rPr>
              <a:t>How many branches would a factor tree of 4 have?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520" y="5896816"/>
            <a:ext cx="548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2 branches.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10B897-4AA9-4C46-8333-A5E914176C13}"/>
              </a:ext>
            </a:extLst>
          </p:cNvPr>
          <p:cNvSpPr txBox="1"/>
          <p:nvPr/>
        </p:nvSpPr>
        <p:spPr>
          <a:xfrm>
            <a:off x="264130" y="1808498"/>
            <a:ext cx="11178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use factor trees to find prime factors.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C4A207-D384-47A7-9EBA-9963363CC8F0}"/>
              </a:ext>
            </a:extLst>
          </p:cNvPr>
          <p:cNvSpPr/>
          <p:nvPr/>
        </p:nvSpPr>
        <p:spPr>
          <a:xfrm>
            <a:off x="4230145" y="5144502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8DB7351-A5B8-45AB-A988-00D756ABD4AF}"/>
              </a:ext>
            </a:extLst>
          </p:cNvPr>
          <p:cNvSpPr/>
          <p:nvPr/>
        </p:nvSpPr>
        <p:spPr>
          <a:xfrm>
            <a:off x="2798927" y="5136470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19B45E-1C43-4623-BAFF-5973A67CE77B}"/>
              </a:ext>
            </a:extLst>
          </p:cNvPr>
          <p:cNvSpPr txBox="1"/>
          <p:nvPr/>
        </p:nvSpPr>
        <p:spPr>
          <a:xfrm>
            <a:off x="2888158" y="375800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009F0A-47B9-418F-92DF-29701107A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296" y="4342700"/>
            <a:ext cx="1372019" cy="7280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18FF7C2-894B-451B-9EE4-546843FEDB09}"/>
              </a:ext>
            </a:extLst>
          </p:cNvPr>
          <p:cNvSpPr txBox="1"/>
          <p:nvPr/>
        </p:nvSpPr>
        <p:spPr>
          <a:xfrm>
            <a:off x="2202147" y="5089020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9BC39-6194-4B67-975D-B8E31E70F801}"/>
              </a:ext>
            </a:extLst>
          </p:cNvPr>
          <p:cNvSpPr txBox="1"/>
          <p:nvPr/>
        </p:nvSpPr>
        <p:spPr>
          <a:xfrm>
            <a:off x="3633365" y="5089020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22" name="Picture 4" descr="Image result for factors cartoon">
            <a:extLst>
              <a:ext uri="{FF2B5EF4-FFF2-40B4-BE49-F238E27FC236}">
                <a16:creationId xmlns:a16="http://schemas.microsoft.com/office/drawing/2014/main" id="{2A332003-A8CD-4F72-95BB-65363845C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1539" y="1176951"/>
            <a:ext cx="3699232" cy="559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15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5" grpId="0"/>
      <p:bldP spid="11" grpId="0"/>
      <p:bldP spid="13" grpId="0" animBg="1"/>
      <p:bldP spid="16" grpId="0" animBg="1"/>
      <p:bldP spid="17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2.3 </a:t>
            </a:r>
          </a:p>
          <a:p>
            <a:pPr marL="0" indent="0">
              <a:buNone/>
            </a:pPr>
            <a:r>
              <a:rPr lang="en-AU" b="1" dirty="0"/>
              <a:t>Questions: </a:t>
            </a:r>
            <a:r>
              <a:rPr lang="en-AU" dirty="0" smtClean="0"/>
              <a:t>1 (2 columns), 3, 4, </a:t>
            </a:r>
            <a:r>
              <a:rPr lang="en-AU" dirty="0"/>
              <a:t>11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10345</TotalTime>
  <Words>1724</Words>
  <Application>Microsoft Office PowerPoint</Application>
  <PresentationFormat>Widescreen</PresentationFormat>
  <Paragraphs>326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Arial Rounded MT Bold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AHMAD Ammar [Harrisdale Senior High School]</cp:lastModifiedBy>
  <cp:revision>337</cp:revision>
  <dcterms:created xsi:type="dcterms:W3CDTF">2017-02-09T01:19:14Z</dcterms:created>
  <dcterms:modified xsi:type="dcterms:W3CDTF">2022-02-01T11:55:33Z</dcterms:modified>
</cp:coreProperties>
</file>
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60" r:id="rId2"/>
    <p:sldId id="259" r:id="rId3"/>
    <p:sldId id="258" r:id="rId4"/>
    <p:sldId id="350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01" r:id="rId16"/>
    <p:sldId id="292" r:id="rId17"/>
    <p:sldId id="291" r:id="rId18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2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38478-3EA3-4E89-90B7-147AF470922F}" type="datetimeFigureOut">
              <a:rPr lang="en-AU" smtClean="0"/>
              <a:t>17/10/2016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C02BB-FD40-403B-A067-2DB5E25000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6325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Percentage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31527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807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percentage and how do we use it?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371600" y="2286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1. Changing percentages to fractions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057400" y="12192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581400" y="9144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648200" y="1219200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=</a:t>
            </a: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940300" y="91440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914400"/>
                        <a:ext cx="108743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6096000" y="914400"/>
          <a:ext cx="5016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7" imgW="152280" imgH="393480" progId="Equation.3">
                  <p:embed/>
                </p:oleObj>
              </mc:Choice>
              <mc:Fallback>
                <p:oleObj name="Equation" r:id="rId7" imgW="152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14400"/>
                        <a:ext cx="50165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2057400" y="2362200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Or you can do it on the calculator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2057400" y="29257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 flipV="1">
            <a:off x="5029200" y="1981200"/>
            <a:ext cx="9906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676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Try these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1752600" y="40386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80% =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1752600" y="46482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10% =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1752600" y="53340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1752600" y="60198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5257800" y="5867400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150% =</a:t>
            </a:r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2967038" y="397986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9" imgW="228600" imgH="304560" progId="Equation.3">
                  <p:embed/>
                </p:oleObj>
              </mc:Choice>
              <mc:Fallback>
                <p:oleObj name="Equation" r:id="rId9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97986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2905125" y="4608513"/>
          <a:ext cx="6207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4608513"/>
                        <a:ext cx="620713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2971800" y="52181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13" imgW="228600" imgH="304560" progId="Equation.3">
                  <p:embed/>
                </p:oleObj>
              </mc:Choice>
              <mc:Fallback>
                <p:oleObj name="Equation" r:id="rId13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181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967038" y="5903913"/>
          <a:ext cx="6477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15" imgW="304560" imgH="304560" progId="Equation.3">
                  <p:embed/>
                </p:oleObj>
              </mc:Choice>
              <mc:Fallback>
                <p:oleObj name="Equation" r:id="rId15" imgW="304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5903913"/>
                        <a:ext cx="647700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5257800" y="37639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75% =</a:t>
            </a: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5257800" y="44497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25% =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5257800" y="51355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50% =</a:t>
            </a:r>
          </a:p>
        </p:txBody>
      </p:sp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6524625" y="3733800"/>
          <a:ext cx="4857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17" imgW="228600" imgH="304560" progId="Equation.3">
                  <p:embed/>
                </p:oleObj>
              </mc:Choice>
              <mc:Fallback>
                <p:oleObj name="Equation" r:id="rId17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733800"/>
                        <a:ext cx="485775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6553200" y="43799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19" imgW="228600" imgH="304560" progId="Equation.3">
                  <p:embed/>
                </p:oleObj>
              </mc:Choice>
              <mc:Fallback>
                <p:oleObj name="Equation" r:id="rId19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799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6553200" y="50657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21" imgW="228600" imgH="304560" progId="Equation.3">
                  <p:embed/>
                </p:oleObj>
              </mc:Choice>
              <mc:Fallback>
                <p:oleObj name="Equation" r:id="rId21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0657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6770688" y="5867400"/>
          <a:ext cx="6207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23" imgW="291960" imgH="304560" progId="Equation.3">
                  <p:embed/>
                </p:oleObj>
              </mc:Choice>
              <mc:Fallback>
                <p:oleObj name="Equation" r:id="rId23" imgW="2919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867400"/>
                        <a:ext cx="620712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181600" y="3581400"/>
            <a:ext cx="3505200" cy="2209800"/>
            <a:chOff x="3264" y="2256"/>
            <a:chExt cx="2208" cy="1392"/>
          </a:xfrm>
        </p:grpSpPr>
        <p:sp>
          <p:nvSpPr>
            <p:cNvPr id="7204" name="Rectangle 30"/>
            <p:cNvSpPr>
              <a:spLocks noChangeArrowheads="1"/>
            </p:cNvSpPr>
            <p:nvPr/>
          </p:nvSpPr>
          <p:spPr bwMode="auto">
            <a:xfrm>
              <a:off x="3264" y="2256"/>
              <a:ext cx="1248" cy="1392"/>
            </a:xfrm>
            <a:prstGeom prst="rect">
              <a:avLst/>
            </a:prstGeom>
            <a:noFill/>
            <a:ln w="57150">
              <a:solidFill>
                <a:srgbClr val="9933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Text Box 31"/>
            <p:cNvSpPr txBox="1">
              <a:spLocks noChangeArrowheads="1"/>
            </p:cNvSpPr>
            <p:nvPr/>
          </p:nvSpPr>
          <p:spPr bwMode="auto">
            <a:xfrm>
              <a:off x="4560" y="2592"/>
              <a:ext cx="91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>
                  <a:solidFill>
                    <a:srgbClr val="993366"/>
                  </a:solidFill>
                  <a:latin typeface="Arial Unicode MS" pitchFamily="34" charset="-128"/>
                </a:rPr>
                <a:t>Learn these by heart!!</a:t>
              </a: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4191000" y="5867400"/>
            <a:ext cx="4648200" cy="931863"/>
            <a:chOff x="2688" y="3791"/>
            <a:chExt cx="2928" cy="587"/>
          </a:xfrm>
        </p:grpSpPr>
        <p:sp>
          <p:nvSpPr>
            <p:cNvPr id="7201" name="Text Box 29"/>
            <p:cNvSpPr txBox="1">
              <a:spLocks noChangeArrowheads="1"/>
            </p:cNvSpPr>
            <p:nvPr/>
          </p:nvSpPr>
          <p:spPr bwMode="auto">
            <a:xfrm>
              <a:off x="4704" y="3792"/>
              <a:ext cx="91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1 WHOLE</a:t>
              </a:r>
            </a:p>
          </p:txBody>
        </p:sp>
        <p:sp>
          <p:nvSpPr>
            <p:cNvPr id="7202" name="Text Box 32"/>
            <p:cNvSpPr txBox="1">
              <a:spLocks noChangeArrowheads="1"/>
            </p:cNvSpPr>
            <p:nvPr/>
          </p:nvSpPr>
          <p:spPr bwMode="auto">
            <a:xfrm>
              <a:off x="2688" y="3791"/>
              <a:ext cx="91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 100%</a:t>
              </a:r>
            </a:p>
          </p:txBody>
        </p:sp>
        <p:sp>
          <p:nvSpPr>
            <p:cNvPr id="7203" name="Text Box 35"/>
            <p:cNvSpPr txBox="1">
              <a:spLocks noChangeArrowheads="1"/>
            </p:cNvSpPr>
            <p:nvPr/>
          </p:nvSpPr>
          <p:spPr bwMode="auto">
            <a:xfrm>
              <a:off x="3648" y="4128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2000" b="1">
                  <a:solidFill>
                    <a:srgbClr val="FF0000"/>
                  </a:solidFill>
                  <a:latin typeface="Arial Unicode MS" pitchFamily="34" charset="-128"/>
                </a:rPr>
                <a:t>MEANS</a:t>
              </a: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3276600" y="2819400"/>
            <a:ext cx="2057400" cy="762000"/>
            <a:chOff x="2064" y="1776"/>
            <a:chExt cx="1296" cy="480"/>
          </a:xfrm>
        </p:grpSpPr>
        <p:sp>
          <p:nvSpPr>
            <p:cNvPr id="7200" name="Text Box 10"/>
            <p:cNvSpPr txBox="1">
              <a:spLocks noChangeArrowheads="1"/>
            </p:cNvSpPr>
            <p:nvPr/>
          </p:nvSpPr>
          <p:spPr bwMode="auto">
            <a:xfrm>
              <a:off x="2064" y="1843"/>
              <a:ext cx="12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3200">
                  <a:latin typeface="Times New Roman" pitchFamily="18" charset="0"/>
                </a:rPr>
                <a:t>40     </a:t>
              </a:r>
              <a:r>
                <a:rPr lang="en-AU" sz="3200">
                  <a:latin typeface="Times New Roman" pitchFamily="18" charset="0"/>
                  <a:sym typeface="Symbol" pitchFamily="18" charset="2"/>
                </a:rPr>
                <a:t>100</a:t>
              </a:r>
              <a:endParaRPr lang="en-AU" sz="3200">
                <a:latin typeface="Times New Roman" pitchFamily="18" charset="0"/>
              </a:endParaRPr>
            </a:p>
          </p:txBody>
        </p:sp>
        <p:graphicFrame>
          <p:nvGraphicFramePr>
            <p:cNvPr id="7181" name="Object 37"/>
            <p:cNvGraphicFramePr>
              <a:graphicFrameLocks noChangeAspect="1"/>
            </p:cNvGraphicFramePr>
            <p:nvPr/>
          </p:nvGraphicFramePr>
          <p:xfrm>
            <a:off x="2400" y="1776"/>
            <a:ext cx="29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3" name="Equation" r:id="rId25" imgW="241200" imgH="393480" progId="Equation.3">
                    <p:embed/>
                  </p:oleObj>
                </mc:Choice>
                <mc:Fallback>
                  <p:oleObj name="Equation" r:id="rId25" imgW="2412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76"/>
                          <a:ext cx="29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333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2: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decimal, Divide it by 100.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447800" y="15240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2. Changing percentages to decimals 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662238" y="1066800"/>
          <a:ext cx="9191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066800"/>
                        <a:ext cx="919162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86200" y="1311275"/>
            <a:ext cx="2819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Do on calculator as 20 </a:t>
            </a:r>
            <a:r>
              <a:rPr lang="en-AU">
                <a:solidFill>
                  <a:srgbClr val="993366"/>
                </a:solidFill>
                <a:sym typeface="Symbol" pitchFamily="18" charset="2"/>
              </a:rPr>
              <a:t> 100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6400800" y="1339850"/>
            <a:ext cx="144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600">
                <a:latin typeface="Times New Roman" pitchFamily="18" charset="0"/>
              </a:rPr>
              <a:t>= 0.2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371600" y="24384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0" y="3810000"/>
            <a:ext cx="175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4495800" y="3048000"/>
            <a:ext cx="182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87.5%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4953000" y="24384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1524000" y="3154363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524000" y="38100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2895600" y="316865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2895600" y="3763963"/>
            <a:ext cx="1447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0.70 or 0.7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019800" y="24384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0.06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6019800" y="30480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0.875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6019800" y="3840163"/>
            <a:ext cx="144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1.75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2971800" y="24384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0.0035</a:t>
            </a:r>
          </a:p>
        </p:txBody>
      </p:sp>
    </p:spTree>
    <p:extLst>
      <p:ext uri="{BB962C8B-B14F-4D97-AF65-F5344CB8AC3E}">
        <p14:creationId xmlns:p14="http://schemas.microsoft.com/office/powerpoint/2010/main" val="409473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 Box 3"/>
          <p:cNvSpPr txBox="1">
            <a:spLocks noChangeArrowheads="1"/>
          </p:cNvSpPr>
          <p:nvPr/>
        </p:nvSpPr>
        <p:spPr bwMode="auto">
          <a:xfrm>
            <a:off x="3124200" y="990600"/>
            <a:ext cx="464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4400"/>
              <a:t>Summary......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3276600"/>
            <a:ext cx="6934200" cy="2365375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Whenever changing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always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it by 100 (put it over 100).</a:t>
            </a:r>
          </a:p>
        </p:txBody>
      </p:sp>
    </p:spTree>
    <p:extLst>
      <p:ext uri="{BB962C8B-B14F-4D97-AF65-F5344CB8AC3E}">
        <p14:creationId xmlns:p14="http://schemas.microsoft.com/office/powerpoint/2010/main" val="177251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3. Changing fractions to percentages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This is easy – all you have to do is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graphicFrame>
        <p:nvGraphicFramePr>
          <p:cNvPr id="50176" name="Object 0"/>
          <p:cNvGraphicFramePr>
            <a:graphicFrameLocks noChangeAspect="1"/>
          </p:cNvGraphicFramePr>
          <p:nvPr/>
        </p:nvGraphicFramePr>
        <p:xfrm>
          <a:off x="1371600" y="175260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266400" imgH="393480" progId="Equation.3">
                  <p:embed/>
                </p:oleObj>
              </mc:Choice>
              <mc:Fallback>
                <p:oleObj name="Equation" r:id="rId3" imgW="266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7" name="Object 1"/>
          <p:cNvGraphicFramePr>
            <a:graphicFrameLocks noChangeAspect="1"/>
          </p:cNvGraphicFramePr>
          <p:nvPr/>
        </p:nvGraphicFramePr>
        <p:xfrm>
          <a:off x="2243138" y="1752600"/>
          <a:ext cx="15668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5" imgW="596880" imgH="393480" progId="Equation.3">
                  <p:embed/>
                </p:oleObj>
              </mc:Choice>
              <mc:Fallback>
                <p:oleObj name="Equation" r:id="rId5" imgW="59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1752600"/>
                        <a:ext cx="15668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86200" y="19351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60%</a:t>
            </a:r>
          </a:p>
        </p:txBody>
      </p:sp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1289050" y="2851150"/>
          <a:ext cx="86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2851150"/>
                        <a:ext cx="8667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2203450" y="2851150"/>
          <a:ext cx="17335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Equation" r:id="rId9" imgW="660240" imgH="393480" progId="Equation.3">
                  <p:embed/>
                </p:oleObj>
              </mc:Choice>
              <mc:Fallback>
                <p:oleObj name="Equation" r:id="rId9" imgW="660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851150"/>
                        <a:ext cx="17335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962400" y="30781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1371600" y="391795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11" imgW="266400" imgH="393480" progId="Equation.3">
                  <p:embed/>
                </p:oleObj>
              </mc:Choice>
              <mc:Fallback>
                <p:oleObj name="Equation" r:id="rId11" imgW="266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1795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2133600" y="3917950"/>
          <a:ext cx="15668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13" imgW="596880" imgH="393480" progId="Equation.3">
                  <p:embed/>
                </p:oleObj>
              </mc:Choice>
              <mc:Fallback>
                <p:oleObj name="Equation" r:id="rId13" imgW="59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17950"/>
                        <a:ext cx="156686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733800" y="4144963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87½ %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1246188" y="4984750"/>
          <a:ext cx="9667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15" imgW="368280" imgH="393480" progId="Equation.3">
                  <p:embed/>
                </p:oleObj>
              </mc:Choice>
              <mc:Fallback>
                <p:oleObj name="Equation" r:id="rId15" imgW="368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4984750"/>
                        <a:ext cx="966787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2160588" y="4984750"/>
          <a:ext cx="1833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17" imgW="698400" imgH="393480" progId="Equation.3">
                  <p:embed/>
                </p:oleObj>
              </mc:Choice>
              <mc:Fallback>
                <p:oleObj name="Equation" r:id="rId17" imgW="698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984750"/>
                        <a:ext cx="18335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4114800" y="5211763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225%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638800" y="2590800"/>
            <a:ext cx="3200400" cy="1857375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3: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fraction to a percentage, multiply it by 100.</a:t>
            </a:r>
          </a:p>
        </p:txBody>
      </p:sp>
    </p:spTree>
    <p:extLst>
      <p:ext uri="{BB962C8B-B14F-4D97-AF65-F5344CB8AC3E}">
        <p14:creationId xmlns:p14="http://schemas.microsoft.com/office/powerpoint/2010/main" val="225606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4. Changing decimals to percentages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Another easy one – again we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590800" y="19050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4419600" y="18288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600200" y="2468563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=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590800" y="24685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419600" y="23923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8%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1600200" y="3078163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=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2590800" y="30781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419600" y="30019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175%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600200" y="19050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600200" y="3763963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2590800" y="37639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419600" y="36877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600200" y="4373563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=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2590800" y="43735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4572000" y="4297363"/>
            <a:ext cx="1219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0.3%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1676400" y="5334000"/>
            <a:ext cx="68580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4: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decimal to a percentage, multiply it by 100.</a:t>
            </a:r>
          </a:p>
        </p:txBody>
      </p:sp>
    </p:spTree>
    <p:extLst>
      <p:ext uri="{BB962C8B-B14F-4D97-AF65-F5344CB8AC3E}">
        <p14:creationId xmlns:p14="http://schemas.microsoft.com/office/powerpoint/2010/main" val="150383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3124200" y="990600"/>
            <a:ext cx="464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4400"/>
              <a:t>Summary......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447800" y="2667000"/>
            <a:ext cx="6934200" cy="1816100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To change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by 100.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447800" y="4660900"/>
            <a:ext cx="6934200" cy="18161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600">
                <a:solidFill>
                  <a:srgbClr val="0000FF"/>
                </a:solidFill>
              </a:rPr>
              <a:t>To change </a:t>
            </a:r>
            <a:r>
              <a:rPr lang="en-AU" sz="3600" b="1">
                <a:solidFill>
                  <a:srgbClr val="0000FF"/>
                </a:solidFill>
              </a:rPr>
              <a:t>INTO </a:t>
            </a:r>
            <a:r>
              <a:rPr lang="en-AU" sz="3600">
                <a:solidFill>
                  <a:srgbClr val="0000FF"/>
                </a:solidFill>
              </a:rPr>
              <a:t>a percentage</a:t>
            </a:r>
            <a:r>
              <a:rPr lang="en-AU" sz="3600"/>
              <a:t> </a:t>
            </a:r>
            <a:r>
              <a:rPr lang="en-AU" sz="3600">
                <a:solidFill>
                  <a:srgbClr val="0033CC"/>
                </a:solidFill>
              </a:rPr>
              <a:t>from a </a:t>
            </a:r>
            <a:r>
              <a:rPr lang="en-AU" sz="3600">
                <a:solidFill>
                  <a:srgbClr val="0000FF"/>
                </a:solidFill>
              </a:rPr>
              <a:t>fraction or a decimal, you </a:t>
            </a:r>
            <a:r>
              <a:rPr lang="en-AU" sz="3600" b="1">
                <a:solidFill>
                  <a:srgbClr val="0000FF"/>
                </a:solidFill>
              </a:rPr>
              <a:t>MULTIPLY </a:t>
            </a:r>
            <a:r>
              <a:rPr lang="en-AU" sz="3600">
                <a:solidFill>
                  <a:srgbClr val="0000FF"/>
                </a:solidFill>
              </a:rPr>
              <a:t>by 100.</a:t>
            </a:r>
          </a:p>
        </p:txBody>
      </p:sp>
    </p:spTree>
    <p:extLst>
      <p:ext uri="{BB962C8B-B14F-4D97-AF65-F5344CB8AC3E}">
        <p14:creationId xmlns:p14="http://schemas.microsoft.com/office/powerpoint/2010/main" val="47824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524000" y="609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Exercise – copy and complete the table</a:t>
            </a:r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1524000" y="1143000"/>
            <a:ext cx="6096000" cy="5692775"/>
            <a:chOff x="960" y="720"/>
            <a:chExt cx="3840" cy="3586"/>
          </a:xfrm>
        </p:grpSpPr>
        <p:sp>
          <p:nvSpPr>
            <p:cNvPr id="12313" name="Rectangle 36"/>
            <p:cNvSpPr>
              <a:spLocks noChangeArrowheads="1"/>
            </p:cNvSpPr>
            <p:nvPr/>
          </p:nvSpPr>
          <p:spPr bwMode="auto">
            <a:xfrm>
              <a:off x="3520" y="398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290%</a:t>
              </a:r>
            </a:p>
          </p:txBody>
        </p:sp>
        <p:sp>
          <p:nvSpPr>
            <p:cNvPr id="12314" name="Rectangle 35"/>
            <p:cNvSpPr>
              <a:spLocks noChangeArrowheads="1"/>
            </p:cNvSpPr>
            <p:nvPr/>
          </p:nvSpPr>
          <p:spPr bwMode="auto">
            <a:xfrm>
              <a:off x="2240" y="398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15" name="Rectangle 34"/>
            <p:cNvSpPr>
              <a:spLocks noChangeArrowheads="1"/>
            </p:cNvSpPr>
            <p:nvPr/>
          </p:nvSpPr>
          <p:spPr bwMode="auto">
            <a:xfrm>
              <a:off x="960" y="398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16" name="Rectangle 33"/>
            <p:cNvSpPr>
              <a:spLocks noChangeArrowheads="1"/>
            </p:cNvSpPr>
            <p:nvPr/>
          </p:nvSpPr>
          <p:spPr bwMode="auto">
            <a:xfrm>
              <a:off x="3520" y="365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17" name="Rectangle 32"/>
            <p:cNvSpPr>
              <a:spLocks noChangeArrowheads="1"/>
            </p:cNvSpPr>
            <p:nvPr/>
          </p:nvSpPr>
          <p:spPr bwMode="auto">
            <a:xfrm>
              <a:off x="2240" y="365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18" name="Rectangle 31"/>
            <p:cNvSpPr>
              <a:spLocks noChangeArrowheads="1"/>
            </p:cNvSpPr>
            <p:nvPr/>
          </p:nvSpPr>
          <p:spPr bwMode="auto">
            <a:xfrm>
              <a:off x="960" y="365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9/13</a:t>
              </a:r>
            </a:p>
          </p:txBody>
        </p:sp>
        <p:sp>
          <p:nvSpPr>
            <p:cNvPr id="12319" name="Rectangle 30"/>
            <p:cNvSpPr>
              <a:spLocks noChangeArrowheads="1"/>
            </p:cNvSpPr>
            <p:nvPr/>
          </p:nvSpPr>
          <p:spPr bwMode="auto">
            <a:xfrm>
              <a:off x="3520" y="332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%</a:t>
              </a:r>
            </a:p>
          </p:txBody>
        </p:sp>
        <p:sp>
          <p:nvSpPr>
            <p:cNvPr id="12320" name="Rectangle 29"/>
            <p:cNvSpPr>
              <a:spLocks noChangeArrowheads="1"/>
            </p:cNvSpPr>
            <p:nvPr/>
          </p:nvSpPr>
          <p:spPr bwMode="auto">
            <a:xfrm>
              <a:off x="2240" y="332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1" name="Rectangle 28"/>
            <p:cNvSpPr>
              <a:spLocks noChangeArrowheads="1"/>
            </p:cNvSpPr>
            <p:nvPr/>
          </p:nvSpPr>
          <p:spPr bwMode="auto">
            <a:xfrm>
              <a:off x="960" y="332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2" name="Rectangle 27"/>
            <p:cNvSpPr>
              <a:spLocks noChangeArrowheads="1"/>
            </p:cNvSpPr>
            <p:nvPr/>
          </p:nvSpPr>
          <p:spPr bwMode="auto">
            <a:xfrm>
              <a:off x="3520" y="300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3" name="Rectangle 26"/>
            <p:cNvSpPr>
              <a:spLocks noChangeArrowheads="1"/>
            </p:cNvSpPr>
            <p:nvPr/>
          </p:nvSpPr>
          <p:spPr bwMode="auto">
            <a:xfrm>
              <a:off x="2240" y="300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0.008</a:t>
              </a:r>
            </a:p>
          </p:txBody>
        </p:sp>
        <p:sp>
          <p:nvSpPr>
            <p:cNvPr id="12324" name="Rectangle 25"/>
            <p:cNvSpPr>
              <a:spLocks noChangeArrowheads="1"/>
            </p:cNvSpPr>
            <p:nvPr/>
          </p:nvSpPr>
          <p:spPr bwMode="auto">
            <a:xfrm>
              <a:off x="960" y="300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5" name="Rectangle 24"/>
            <p:cNvSpPr>
              <a:spLocks noChangeArrowheads="1"/>
            </p:cNvSpPr>
            <p:nvPr/>
          </p:nvSpPr>
          <p:spPr bwMode="auto">
            <a:xfrm>
              <a:off x="3520" y="267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6" name="Rectangle 23"/>
            <p:cNvSpPr>
              <a:spLocks noChangeArrowheads="1"/>
            </p:cNvSpPr>
            <p:nvPr/>
          </p:nvSpPr>
          <p:spPr bwMode="auto">
            <a:xfrm>
              <a:off x="2240" y="267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27" name="Rectangle 22"/>
            <p:cNvSpPr>
              <a:spLocks noChangeArrowheads="1"/>
            </p:cNvSpPr>
            <p:nvPr/>
          </p:nvSpPr>
          <p:spPr bwMode="auto">
            <a:xfrm>
              <a:off x="960" y="267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5 ½  </a:t>
              </a:r>
            </a:p>
          </p:txBody>
        </p:sp>
        <p:sp>
          <p:nvSpPr>
            <p:cNvPr id="12328" name="Rectangle 21"/>
            <p:cNvSpPr>
              <a:spLocks noChangeArrowheads="1"/>
            </p:cNvSpPr>
            <p:nvPr/>
          </p:nvSpPr>
          <p:spPr bwMode="auto">
            <a:xfrm>
              <a:off x="3520" y="235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70%</a:t>
              </a:r>
            </a:p>
          </p:txBody>
        </p:sp>
        <p:sp>
          <p:nvSpPr>
            <p:cNvPr id="12329" name="Rectangle 20"/>
            <p:cNvSpPr>
              <a:spLocks noChangeArrowheads="1"/>
            </p:cNvSpPr>
            <p:nvPr/>
          </p:nvSpPr>
          <p:spPr bwMode="auto">
            <a:xfrm>
              <a:off x="2240" y="235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0" name="Rectangle 19"/>
            <p:cNvSpPr>
              <a:spLocks noChangeArrowheads="1"/>
            </p:cNvSpPr>
            <p:nvPr/>
          </p:nvSpPr>
          <p:spPr bwMode="auto">
            <a:xfrm>
              <a:off x="960" y="235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1" name="Rectangle 18"/>
            <p:cNvSpPr>
              <a:spLocks noChangeArrowheads="1"/>
            </p:cNvSpPr>
            <p:nvPr/>
          </p:nvSpPr>
          <p:spPr bwMode="auto">
            <a:xfrm>
              <a:off x="3520" y="202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2" name="Rectangle 17"/>
            <p:cNvSpPr>
              <a:spLocks noChangeArrowheads="1"/>
            </p:cNvSpPr>
            <p:nvPr/>
          </p:nvSpPr>
          <p:spPr bwMode="auto">
            <a:xfrm>
              <a:off x="2240" y="202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1.6</a:t>
              </a:r>
            </a:p>
          </p:txBody>
        </p:sp>
        <p:sp>
          <p:nvSpPr>
            <p:cNvPr id="12333" name="Rectangle 16"/>
            <p:cNvSpPr>
              <a:spLocks noChangeArrowheads="1"/>
            </p:cNvSpPr>
            <p:nvPr/>
          </p:nvSpPr>
          <p:spPr bwMode="auto">
            <a:xfrm>
              <a:off x="960" y="2024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4" name="Rectangle 15"/>
            <p:cNvSpPr>
              <a:spLocks noChangeArrowheads="1"/>
            </p:cNvSpPr>
            <p:nvPr/>
          </p:nvSpPr>
          <p:spPr bwMode="auto">
            <a:xfrm>
              <a:off x="3520" y="169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5" name="Rectangle 14"/>
            <p:cNvSpPr>
              <a:spLocks noChangeArrowheads="1"/>
            </p:cNvSpPr>
            <p:nvPr/>
          </p:nvSpPr>
          <p:spPr bwMode="auto">
            <a:xfrm>
              <a:off x="2240" y="169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6" name="Rectangle 13"/>
            <p:cNvSpPr>
              <a:spLocks noChangeArrowheads="1"/>
            </p:cNvSpPr>
            <p:nvPr/>
          </p:nvSpPr>
          <p:spPr bwMode="auto">
            <a:xfrm>
              <a:off x="960" y="1698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2/5 </a:t>
              </a:r>
            </a:p>
          </p:txBody>
        </p:sp>
        <p:sp>
          <p:nvSpPr>
            <p:cNvPr id="12337" name="Rectangle 12"/>
            <p:cNvSpPr>
              <a:spLocks noChangeArrowheads="1"/>
            </p:cNvSpPr>
            <p:nvPr/>
          </p:nvSpPr>
          <p:spPr bwMode="auto">
            <a:xfrm>
              <a:off x="3520" y="137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38" name="Rectangle 11"/>
            <p:cNvSpPr>
              <a:spLocks noChangeArrowheads="1"/>
            </p:cNvSpPr>
            <p:nvPr/>
          </p:nvSpPr>
          <p:spPr bwMode="auto">
            <a:xfrm>
              <a:off x="2240" y="137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0.72</a:t>
              </a:r>
            </a:p>
          </p:txBody>
        </p:sp>
        <p:sp>
          <p:nvSpPr>
            <p:cNvPr id="12339" name="Rectangle 10"/>
            <p:cNvSpPr>
              <a:spLocks noChangeArrowheads="1"/>
            </p:cNvSpPr>
            <p:nvPr/>
          </p:nvSpPr>
          <p:spPr bwMode="auto">
            <a:xfrm>
              <a:off x="960" y="1372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40" name="Rectangle 9"/>
            <p:cNvSpPr>
              <a:spLocks noChangeArrowheads="1"/>
            </p:cNvSpPr>
            <p:nvPr/>
          </p:nvSpPr>
          <p:spPr bwMode="auto">
            <a:xfrm>
              <a:off x="3520" y="104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41" name="Rectangle 8"/>
            <p:cNvSpPr>
              <a:spLocks noChangeArrowheads="1"/>
            </p:cNvSpPr>
            <p:nvPr/>
          </p:nvSpPr>
          <p:spPr bwMode="auto">
            <a:xfrm>
              <a:off x="2240" y="104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pitchFamily="34" charset="0"/>
              </a:endParaRPr>
            </a:p>
          </p:txBody>
        </p:sp>
        <p:sp>
          <p:nvSpPr>
            <p:cNvPr id="12342" name="Rectangle 7"/>
            <p:cNvSpPr>
              <a:spLocks noChangeArrowheads="1"/>
            </p:cNvSpPr>
            <p:nvPr/>
          </p:nvSpPr>
          <p:spPr bwMode="auto">
            <a:xfrm>
              <a:off x="960" y="1046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¾ </a:t>
              </a:r>
            </a:p>
          </p:txBody>
        </p:sp>
        <p:sp>
          <p:nvSpPr>
            <p:cNvPr id="12343" name="Rectangle 6"/>
            <p:cNvSpPr>
              <a:spLocks noChangeArrowheads="1"/>
            </p:cNvSpPr>
            <p:nvPr/>
          </p:nvSpPr>
          <p:spPr bwMode="auto">
            <a:xfrm>
              <a:off x="3520" y="72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PERCENT</a:t>
              </a:r>
            </a:p>
          </p:txBody>
        </p:sp>
        <p:sp>
          <p:nvSpPr>
            <p:cNvPr id="12344" name="Rectangle 5"/>
            <p:cNvSpPr>
              <a:spLocks noChangeArrowheads="1"/>
            </p:cNvSpPr>
            <p:nvPr/>
          </p:nvSpPr>
          <p:spPr bwMode="auto">
            <a:xfrm>
              <a:off x="2240" y="72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DECIMAL</a:t>
              </a:r>
            </a:p>
          </p:txBody>
        </p:sp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960" y="720"/>
              <a:ext cx="128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pitchFamily="34" charset="0"/>
                </a:rPr>
                <a:t>FRACTION</a:t>
              </a:r>
            </a:p>
          </p:txBody>
        </p:sp>
        <p:sp>
          <p:nvSpPr>
            <p:cNvPr id="4" name="Line 37"/>
            <p:cNvSpPr>
              <a:spLocks noChangeShapeType="1"/>
            </p:cNvSpPr>
            <p:nvPr/>
          </p:nvSpPr>
          <p:spPr bwMode="auto">
            <a:xfrm>
              <a:off x="960" y="720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7" name="Line 38"/>
            <p:cNvSpPr>
              <a:spLocks noChangeShapeType="1"/>
            </p:cNvSpPr>
            <p:nvPr/>
          </p:nvSpPr>
          <p:spPr bwMode="auto">
            <a:xfrm>
              <a:off x="960" y="104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8" name="Line 39"/>
            <p:cNvSpPr>
              <a:spLocks noChangeShapeType="1"/>
            </p:cNvSpPr>
            <p:nvPr/>
          </p:nvSpPr>
          <p:spPr bwMode="auto">
            <a:xfrm>
              <a:off x="960" y="137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9" name="Line 40"/>
            <p:cNvSpPr>
              <a:spLocks noChangeShapeType="1"/>
            </p:cNvSpPr>
            <p:nvPr/>
          </p:nvSpPr>
          <p:spPr bwMode="auto">
            <a:xfrm>
              <a:off x="960" y="169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0" name="Line 41"/>
            <p:cNvSpPr>
              <a:spLocks noChangeShapeType="1"/>
            </p:cNvSpPr>
            <p:nvPr/>
          </p:nvSpPr>
          <p:spPr bwMode="auto">
            <a:xfrm>
              <a:off x="960" y="202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1" name="Line 42"/>
            <p:cNvSpPr>
              <a:spLocks noChangeShapeType="1"/>
            </p:cNvSpPr>
            <p:nvPr/>
          </p:nvSpPr>
          <p:spPr bwMode="auto">
            <a:xfrm>
              <a:off x="960" y="235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2" name="Line 43"/>
            <p:cNvSpPr>
              <a:spLocks noChangeShapeType="1"/>
            </p:cNvSpPr>
            <p:nvPr/>
          </p:nvSpPr>
          <p:spPr bwMode="auto">
            <a:xfrm>
              <a:off x="960" y="267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3" name="Line 44"/>
            <p:cNvSpPr>
              <a:spLocks noChangeShapeType="1"/>
            </p:cNvSpPr>
            <p:nvPr/>
          </p:nvSpPr>
          <p:spPr bwMode="auto">
            <a:xfrm>
              <a:off x="960" y="300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4" name="Line 45"/>
            <p:cNvSpPr>
              <a:spLocks noChangeShapeType="1"/>
            </p:cNvSpPr>
            <p:nvPr/>
          </p:nvSpPr>
          <p:spPr bwMode="auto">
            <a:xfrm>
              <a:off x="960" y="332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5" name="Line 46"/>
            <p:cNvSpPr>
              <a:spLocks noChangeShapeType="1"/>
            </p:cNvSpPr>
            <p:nvPr/>
          </p:nvSpPr>
          <p:spPr bwMode="auto">
            <a:xfrm>
              <a:off x="960" y="365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6" name="Line 47"/>
            <p:cNvSpPr>
              <a:spLocks noChangeShapeType="1"/>
            </p:cNvSpPr>
            <p:nvPr/>
          </p:nvSpPr>
          <p:spPr bwMode="auto">
            <a:xfrm>
              <a:off x="960" y="398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7" name="Line 48"/>
            <p:cNvSpPr>
              <a:spLocks noChangeShapeType="1"/>
            </p:cNvSpPr>
            <p:nvPr/>
          </p:nvSpPr>
          <p:spPr bwMode="auto">
            <a:xfrm>
              <a:off x="960" y="4306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8" name="Line 49"/>
            <p:cNvSpPr>
              <a:spLocks noChangeShapeType="1"/>
            </p:cNvSpPr>
            <p:nvPr/>
          </p:nvSpPr>
          <p:spPr bwMode="auto">
            <a:xfrm>
              <a:off x="96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59" name="Line 50"/>
            <p:cNvSpPr>
              <a:spLocks noChangeShapeType="1"/>
            </p:cNvSpPr>
            <p:nvPr/>
          </p:nvSpPr>
          <p:spPr bwMode="auto">
            <a:xfrm>
              <a:off x="224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60" name="Line 51"/>
            <p:cNvSpPr>
              <a:spLocks noChangeShapeType="1"/>
            </p:cNvSpPr>
            <p:nvPr/>
          </p:nvSpPr>
          <p:spPr bwMode="auto">
            <a:xfrm>
              <a:off x="352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61" name="Line 52"/>
            <p:cNvSpPr>
              <a:spLocks noChangeShapeType="1"/>
            </p:cNvSpPr>
            <p:nvPr/>
          </p:nvSpPr>
          <p:spPr bwMode="auto">
            <a:xfrm>
              <a:off x="480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graphicFrame>
          <p:nvGraphicFramePr>
            <p:cNvPr id="5" name="Object 55"/>
            <p:cNvGraphicFramePr>
              <a:graphicFrameLocks noChangeAspect="1"/>
            </p:cNvGraphicFramePr>
            <p:nvPr/>
          </p:nvGraphicFramePr>
          <p:xfrm>
            <a:off x="3600" y="3324"/>
            <a:ext cx="49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Equation" r:id="rId3" imgW="406080" imgH="304560" progId="Equation.3">
                    <p:embed/>
                  </p:oleObj>
                </mc:Choice>
                <mc:Fallback>
                  <p:oleObj name="Equation" r:id="rId3" imgW="4060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324"/>
                          <a:ext cx="496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3851275" y="162877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0.75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6011863" y="162877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75%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1979613" y="2133600"/>
            <a:ext cx="1368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 baseline="30000">
                <a:solidFill>
                  <a:srgbClr val="FF0000"/>
                </a:solidFill>
              </a:rPr>
              <a:t>18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25</a:t>
            </a:r>
            <a:endParaRPr lang="en-AU" baseline="-2500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011863" y="217487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72%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924300" y="270827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0.4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6011863" y="270827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40%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1692275" y="3255963"/>
            <a:ext cx="13668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 baseline="300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5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5419725" y="3213100"/>
            <a:ext cx="2032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800">
                <a:solidFill>
                  <a:srgbClr val="FF0000"/>
                </a:solidFill>
                <a:latin typeface="Arial" pitchFamily="34" charset="0"/>
              </a:rPr>
              <a:t>160%</a:t>
            </a:r>
            <a:endParaRPr lang="en-AU" sz="2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908175" y="3789363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 baseline="30000">
                <a:solidFill>
                  <a:srgbClr val="FF0000"/>
                </a:solidFill>
              </a:rPr>
              <a:t>7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10</a:t>
            </a:r>
            <a:endParaRPr lang="en-AU" baseline="-2500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3995738" y="3716338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0.7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3995738" y="4292600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5.5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5867400" y="4292600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550%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2051050" y="4797425"/>
            <a:ext cx="1368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 baseline="30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125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5867400" y="4767263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0.8%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1979613" y="5300663"/>
            <a:ext cx="1368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3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1763713" y="6396038"/>
            <a:ext cx="1584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 baseline="-250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 2</a:t>
            </a:r>
            <a:r>
              <a:rPr lang="en-US" baseline="-25000">
                <a:solidFill>
                  <a:srgbClr val="FF0000"/>
                </a:solidFill>
              </a:rPr>
              <a:t> </a:t>
            </a:r>
            <a:r>
              <a:rPr lang="en-US" baseline="30000">
                <a:solidFill>
                  <a:srgbClr val="FF0000"/>
                </a:solidFill>
              </a:rPr>
              <a:t>9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 baseline="-25000">
                <a:solidFill>
                  <a:srgbClr val="FF0000"/>
                </a:solidFill>
              </a:rPr>
              <a:t>10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71" name="Rectangle 36"/>
          <p:cNvSpPr>
            <a:spLocks noChangeArrowheads="1"/>
          </p:cNvSpPr>
          <p:nvPr/>
        </p:nvSpPr>
        <p:spPr bwMode="auto">
          <a:xfrm>
            <a:off x="3492500" y="6308725"/>
            <a:ext cx="2032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AU" sz="2800">
                <a:solidFill>
                  <a:srgbClr val="FF0000"/>
                </a:solidFill>
                <a:latin typeface="Arial" pitchFamily="34" charset="0"/>
              </a:rPr>
              <a:t>2.9</a:t>
            </a:r>
          </a:p>
        </p:txBody>
      </p:sp>
      <p:graphicFrame>
        <p:nvGraphicFramePr>
          <p:cNvPr id="74" name="Object 56"/>
          <p:cNvGraphicFramePr>
            <a:graphicFrameLocks noChangeAspect="1"/>
          </p:cNvGraphicFramePr>
          <p:nvPr/>
        </p:nvGraphicFramePr>
        <p:xfrm>
          <a:off x="4284663" y="5157788"/>
          <a:ext cx="5746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5" imgW="241200" imgH="279360" progId="Equation.3">
                  <p:embed/>
                </p:oleObj>
              </mc:Choice>
              <mc:Fallback>
                <p:oleObj name="Equation" r:id="rId5" imgW="2412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574675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5" name="Object 57"/>
          <p:cNvGraphicFramePr>
            <a:graphicFrameLocks noChangeAspect="1"/>
          </p:cNvGraphicFramePr>
          <p:nvPr/>
        </p:nvGraphicFramePr>
        <p:xfrm>
          <a:off x="5580063" y="5732463"/>
          <a:ext cx="208756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7" imgW="876240" imgH="279360" progId="Equation.3">
                  <p:embed/>
                </p:oleObj>
              </mc:Choice>
              <mc:Fallback>
                <p:oleObj name="Equation" r:id="rId7" imgW="87624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732463"/>
                        <a:ext cx="2087562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6" name="Object 58"/>
          <p:cNvGraphicFramePr>
            <a:graphicFrameLocks noChangeAspect="1"/>
          </p:cNvGraphicFramePr>
          <p:nvPr/>
        </p:nvGraphicFramePr>
        <p:xfrm>
          <a:off x="3779838" y="5705475"/>
          <a:ext cx="157321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9" imgW="660240" imgH="279360" progId="Equation.3">
                  <p:embed/>
                </p:oleObj>
              </mc:Choice>
              <mc:Fallback>
                <p:oleObj name="Equation" r:id="rId9" imgW="66024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705475"/>
                        <a:ext cx="1573212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50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295400" y="53340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>
                <a:solidFill>
                  <a:srgbClr val="993366"/>
                </a:solidFill>
                <a:latin typeface="Times New Roman" pitchFamily="18" charset="0"/>
              </a:rPr>
              <a:t>Finding percentages of quantities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295400" y="13716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Example 1: Find 85% of $300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276600" y="2590800"/>
          <a:ext cx="6524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590800"/>
                        <a:ext cx="652463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4211638" y="1828800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3581400" y="1828800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787900" y="1828800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3916363" y="2286000"/>
            <a:ext cx="579437" cy="1143000"/>
          </a:xfrm>
        </p:spPr>
        <p:txBody>
          <a:bodyPr/>
          <a:lstStyle/>
          <a:p>
            <a:pPr eaLnBrk="1" hangingPunct="1"/>
            <a:r>
              <a:rPr lang="en-AU" smtClean="0">
                <a:sym typeface="Symbol" pitchFamily="18" charset="2"/>
              </a:rPr>
              <a:t></a:t>
            </a:r>
            <a:endParaRPr lang="en-AU" smtClean="0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4419600" y="2667000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300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514600" y="3810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=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2971800" y="3687763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$255</a:t>
            </a:r>
          </a:p>
        </p:txBody>
      </p:sp>
    </p:spTree>
    <p:extLst>
      <p:ext uri="{BB962C8B-B14F-4D97-AF65-F5344CB8AC3E}">
        <p14:creationId xmlns:p14="http://schemas.microsoft.com/office/powerpoint/2010/main" val="379664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295400" y="53340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>
                <a:solidFill>
                  <a:srgbClr val="993366"/>
                </a:solidFill>
                <a:latin typeface="Times New Roman" pitchFamily="18" charset="0"/>
              </a:rPr>
              <a:t>Finding percentages of quantities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295400" y="13716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Example 3: Find 5 % of 3 metres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3278188" y="2590800"/>
          <a:ext cx="650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2590800"/>
                        <a:ext cx="650875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114800" y="1828800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3581400" y="1828800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4648200" y="1828800"/>
            <a:ext cx="15240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4419600" y="2667000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300 cm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514600" y="3810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=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971800" y="3687763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15 cm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962400" y="2743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  <a:sym typeface="Symbol" pitchFamily="18" charset="2"/>
              </a:rPr>
              <a:t>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1752600" y="4800600"/>
            <a:ext cx="6705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b="1" dirty="0">
                <a:solidFill>
                  <a:srgbClr val="993366"/>
                </a:solidFill>
                <a:latin typeface="Arial Unicode MS" pitchFamily="34" charset="-128"/>
              </a:rPr>
              <a:t>If we didn’t change to cm, then our answer would be </a:t>
            </a:r>
            <a:r>
              <a:rPr lang="en-AU" b="1" dirty="0" smtClean="0">
                <a:solidFill>
                  <a:srgbClr val="993366"/>
                </a:solidFill>
                <a:latin typeface="Arial Unicode MS" pitchFamily="34" charset="-128"/>
              </a:rPr>
              <a:t>0.15 </a:t>
            </a:r>
            <a:r>
              <a:rPr lang="en-AU" b="1" dirty="0">
                <a:solidFill>
                  <a:srgbClr val="993366"/>
                </a:solidFill>
                <a:latin typeface="Arial Unicode MS" pitchFamily="34" charset="-128"/>
              </a:rPr>
              <a:t>metres, which is also correct.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5867400" y="2514600"/>
            <a:ext cx="2743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800" b="1">
                <a:solidFill>
                  <a:srgbClr val="0033CC"/>
                </a:solidFill>
                <a:latin typeface="Arial Unicode MS" pitchFamily="34" charset="-128"/>
              </a:rPr>
              <a:t>Good idea to change to cm, as our answer will be only a small amount!</a:t>
            </a:r>
          </a:p>
        </p:txBody>
      </p:sp>
    </p:spTree>
    <p:extLst>
      <p:ext uri="{BB962C8B-B14F-4D97-AF65-F5344CB8AC3E}">
        <p14:creationId xmlns:p14="http://schemas.microsoft.com/office/powerpoint/2010/main" val="216869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295400" y="533400"/>
            <a:ext cx="7391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sz="3200">
                <a:solidFill>
                  <a:srgbClr val="993366"/>
                </a:solidFill>
                <a:latin typeface="Times New Roman" pitchFamily="18" charset="0"/>
              </a:rPr>
              <a:t>Expressing one quantity as a percentage of another quantity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295400" y="16002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Example 1: Express $80 as a percentage of $400.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362200" y="2286000"/>
            <a:ext cx="556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solidFill>
                  <a:srgbClr val="0033CC"/>
                </a:solidFill>
                <a:latin typeface="Times New Roman" pitchFamily="18" charset="0"/>
              </a:rPr>
              <a:t>Write as a fraction then multiply by 100 to change it into a percentage.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2819400" y="3270250"/>
          <a:ext cx="711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3" imgW="304560" imgH="393480" progId="Equation.3">
                  <p:embed/>
                </p:oleObj>
              </mc:Choice>
              <mc:Fallback>
                <p:oleObj name="Equation" r:id="rId3" imgW="304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270250"/>
                        <a:ext cx="71120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6576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>
                <a:latin typeface="Times New Roman" pitchFamily="18" charset="0"/>
                <a:sym typeface="Symbol" pitchFamily="18" charset="2"/>
              </a:rPr>
              <a:t>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038600" y="3382963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100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2819400" y="44196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=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3429000" y="43434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422297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00808"/>
            <a:ext cx="8229600" cy="244827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16.6 &amp; 16.7</a:t>
            </a:r>
            <a:br>
              <a:rPr lang="en-AU" dirty="0" smtClean="0"/>
            </a:br>
            <a:r>
              <a:rPr lang="en-AU" dirty="0" smtClean="0"/>
              <a:t>Page 219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549</Words>
  <Application>Microsoft Office PowerPoint</Application>
  <PresentationFormat>On-screen Show (4:3)</PresentationFormat>
  <Paragraphs>154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Equation</vt:lpstr>
      <vt:lpstr>My Percentage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</vt:lpstr>
      <vt:lpstr>PowerPoint Presentation</vt:lpstr>
      <vt:lpstr>PowerPoint Presentation</vt:lpstr>
      <vt:lpstr>Questions  Exercise 16.6 &amp; 16.7 Page 219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67</cp:revision>
  <cp:lastPrinted>2016-10-17T01:23:13Z</cp:lastPrinted>
  <dcterms:created xsi:type="dcterms:W3CDTF">2014-05-14T02:58:57Z</dcterms:created>
  <dcterms:modified xsi:type="dcterms:W3CDTF">2016-10-17T03:47:08Z</dcterms:modified>
</cp:coreProperties>
</file>
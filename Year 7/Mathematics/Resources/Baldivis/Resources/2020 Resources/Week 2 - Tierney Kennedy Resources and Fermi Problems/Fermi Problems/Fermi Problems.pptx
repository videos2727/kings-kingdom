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Architects Daughter"/>
      <p:regular r:id="rId37"/>
    </p:embeddedFont>
    <p:embeddedFont>
      <p:font typeface="Pacifico"/>
      <p:regular r:id="rId38"/>
    </p:embeddedFont>
    <p:embeddedFont>
      <p:font typeface="Spectral"/>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ectral-bold.fntdata"/><Relationship Id="rId20" Type="http://schemas.openxmlformats.org/officeDocument/2006/relationships/slide" Target="slides/slide15.xml"/><Relationship Id="rId42" Type="http://schemas.openxmlformats.org/officeDocument/2006/relationships/font" Target="fonts/Spectral-boldItalic.fntdata"/><Relationship Id="rId41" Type="http://schemas.openxmlformats.org/officeDocument/2006/relationships/font" Target="fonts/Spectral-italic.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rchitectsDaughter-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Spectral-regular.fntdata"/><Relationship Id="rId16" Type="http://schemas.openxmlformats.org/officeDocument/2006/relationships/slide" Target="slides/slide11.xml"/><Relationship Id="rId38" Type="http://schemas.openxmlformats.org/officeDocument/2006/relationships/font" Target="fonts/Pacific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7bcddbe4b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bcddbe4b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Google Shape;66;g7c0c78b1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7c0c78b1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7c0c78b19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7c0c78b19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7bcf53800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bcf53800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g7c0c78b19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7c0c78b19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7bcf53800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bcf53800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7c0709c8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7c0709c8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g7c0709c8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7c0709c8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7c0709c8e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7c0709c8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g7c0709c8e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7c0709c8e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g7c0709c8e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c0709c8e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7c0ba20c7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7c0ba20c7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g7c0709c8e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7c0709c8e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g7bf2af416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7bf2af416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g7bcf53800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bcf53800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g7bcf53800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7bcf53800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2" name="Shape 192"/>
        <p:cNvGrpSpPr/>
        <p:nvPr/>
      </p:nvGrpSpPr>
      <p:grpSpPr>
        <a:xfrm>
          <a:off x="0" y="0"/>
          <a:ext cx="0" cy="0"/>
          <a:chOff x="0" y="0"/>
          <a:chExt cx="0" cy="0"/>
        </a:xfrm>
      </p:grpSpPr>
      <p:sp>
        <p:nvSpPr>
          <p:cNvPr id="193" name="Google Shape;193;g7c0709c8e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7c0709c8e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7c0709c8e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c0709c8e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g7cb4dd26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7cb4dd26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g7c0ba20c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7c0ba20c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6d28bd68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6d28bd68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g6d28bd68d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6d28bd68d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Google Shape;250;g6d28bd68d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d28bd68d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7" name="Shape 257"/>
        <p:cNvGrpSpPr/>
        <p:nvPr/>
      </p:nvGrpSpPr>
      <p:grpSpPr>
        <a:xfrm>
          <a:off x="0" y="0"/>
          <a:ext cx="0" cy="0"/>
          <a:chOff x="0" y="0"/>
          <a:chExt cx="0" cy="0"/>
        </a:xfrm>
      </p:grpSpPr>
      <p:sp>
        <p:nvSpPr>
          <p:cNvPr id="258" name="Google Shape;258;g6d28bd68d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6d28bd68d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Google Shape;270;g7cb4dd26f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7cb4dd26f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7" name="Shape 277"/>
        <p:cNvGrpSpPr/>
        <p:nvPr/>
      </p:nvGrpSpPr>
      <p:grpSpPr>
        <a:xfrm>
          <a:off x="0" y="0"/>
          <a:ext cx="0" cy="0"/>
          <a:chOff x="0" y="0"/>
          <a:chExt cx="0" cy="0"/>
        </a:xfrm>
      </p:grpSpPr>
      <p:sp>
        <p:nvSpPr>
          <p:cNvPr id="278" name="Google Shape;278;g7c0ba20c7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7c0ba20c7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g7c0709c8e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7c0709c8e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Google Shape;294;g6d28bd68d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6d28bd68d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0" name="Shape 300"/>
        <p:cNvGrpSpPr/>
        <p:nvPr/>
      </p:nvGrpSpPr>
      <p:grpSpPr>
        <a:xfrm>
          <a:off x="0" y="0"/>
          <a:ext cx="0" cy="0"/>
          <a:chOff x="0" y="0"/>
          <a:chExt cx="0" cy="0"/>
        </a:xfrm>
      </p:grpSpPr>
      <p:sp>
        <p:nvSpPr>
          <p:cNvPr id="301" name="Google Shape;301;g6d28bd68d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6d28bd68d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7" name="Shape 307"/>
        <p:cNvGrpSpPr/>
        <p:nvPr/>
      </p:nvGrpSpPr>
      <p:grpSpPr>
        <a:xfrm>
          <a:off x="0" y="0"/>
          <a:ext cx="0" cy="0"/>
          <a:chOff x="0" y="0"/>
          <a:chExt cx="0" cy="0"/>
        </a:xfrm>
      </p:grpSpPr>
      <p:sp>
        <p:nvSpPr>
          <p:cNvPr id="308" name="Google Shape;308;g7c0709c8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7c0709c8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youtu.be/i_PqyokFgNI" TargetMode="Externa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thebalancecareers.com/critical-thinking-definition-with-examples-2063745"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p:nvPr/>
        </p:nvSpPr>
        <p:spPr>
          <a:xfrm>
            <a:off x="213300" y="222600"/>
            <a:ext cx="8717400" cy="4698300"/>
          </a:xfrm>
          <a:prstGeom prst="rect">
            <a:avLst/>
          </a:prstGeom>
          <a:solidFill>
            <a:srgbClr val="E6913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485575" y="467575"/>
            <a:ext cx="8263800" cy="109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600">
                <a:solidFill>
                  <a:srgbClr val="FFFFFF"/>
                </a:solidFill>
                <a:latin typeface="Architects Daughter"/>
                <a:ea typeface="Architects Daughter"/>
                <a:cs typeface="Architects Daughter"/>
                <a:sym typeface="Architects Daughter"/>
              </a:rPr>
              <a:t>FERMI</a:t>
            </a:r>
            <a:r>
              <a:rPr b="1" lang="en" sz="9600">
                <a:solidFill>
                  <a:srgbClr val="FFFFFF"/>
                </a:solidFill>
                <a:latin typeface="Architects Daughter"/>
                <a:ea typeface="Architects Daughter"/>
                <a:cs typeface="Architects Daughter"/>
                <a:sym typeface="Architects Daughter"/>
              </a:rPr>
              <a:t> </a:t>
            </a:r>
            <a:endParaRPr b="1" sz="9600">
              <a:solidFill>
                <a:srgbClr val="FFFFFF"/>
              </a:solidFill>
              <a:latin typeface="Architects Daughter"/>
              <a:ea typeface="Architects Daughter"/>
              <a:cs typeface="Architects Daughter"/>
              <a:sym typeface="Architects Daughter"/>
            </a:endParaRPr>
          </a:p>
          <a:p>
            <a:pPr indent="0" lvl="0" marL="0" rtl="0" algn="ctr">
              <a:spcBef>
                <a:spcPts val="0"/>
              </a:spcBef>
              <a:spcAft>
                <a:spcPts val="0"/>
              </a:spcAft>
              <a:buNone/>
            </a:pPr>
            <a:r>
              <a:rPr b="1" lang="en" sz="9600">
                <a:solidFill>
                  <a:srgbClr val="FFFFFF"/>
                </a:solidFill>
                <a:latin typeface="Architects Daughter"/>
                <a:ea typeface="Architects Daughter"/>
                <a:cs typeface="Architects Daughter"/>
                <a:sym typeface="Architects Daughter"/>
              </a:rPr>
              <a:t>PROBLEMS</a:t>
            </a:r>
            <a:endParaRPr b="1" sz="9600">
              <a:solidFill>
                <a:srgbClr val="FFFFFF"/>
              </a:solidFill>
              <a:latin typeface="Architects Daughter"/>
              <a:ea typeface="Architects Daughter"/>
              <a:cs typeface="Architects Daughter"/>
              <a:sym typeface="Architects Daughter"/>
            </a:endParaRPr>
          </a:p>
        </p:txBody>
      </p:sp>
      <p:sp>
        <p:nvSpPr>
          <p:cNvPr id="56" name="Google Shape;56;p13"/>
          <p:cNvSpPr txBox="1"/>
          <p:nvPr/>
        </p:nvSpPr>
        <p:spPr>
          <a:xfrm>
            <a:off x="1515175" y="3408025"/>
            <a:ext cx="6204600" cy="92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Open Sans"/>
                <a:ea typeface="Open Sans"/>
                <a:cs typeface="Open Sans"/>
                <a:sym typeface="Open Sans"/>
              </a:rPr>
              <a:t>Solving the impossible… </a:t>
            </a:r>
            <a:endParaRPr sz="2400">
              <a:solidFill>
                <a:srgbClr val="FFFFFF"/>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434343"/>
                </a:solidFill>
                <a:latin typeface="Architects Daughter"/>
                <a:ea typeface="Architects Daughter"/>
                <a:cs typeface="Architects Daughter"/>
                <a:sym typeface="Architects Daughter"/>
              </a:rPr>
              <a:t>Meet Enrico Fermi (1901-1954)</a:t>
            </a:r>
            <a:endParaRPr b="1" sz="3000">
              <a:solidFill>
                <a:srgbClr val="434343"/>
              </a:solidFill>
              <a:latin typeface="Architects Daughter"/>
              <a:ea typeface="Architects Daughter"/>
              <a:cs typeface="Architects Daughter"/>
              <a:sym typeface="Architects Daughter"/>
            </a:endParaRPr>
          </a:p>
        </p:txBody>
      </p:sp>
      <p:sp>
        <p:nvSpPr>
          <p:cNvPr id="62" name="Google Shape;62;p14"/>
          <p:cNvSpPr txBox="1"/>
          <p:nvPr>
            <p:ph idx="1" type="body"/>
          </p:nvPr>
        </p:nvSpPr>
        <p:spPr>
          <a:xfrm>
            <a:off x="311700" y="923875"/>
            <a:ext cx="5101500" cy="34164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solidFill>
                  <a:srgbClr val="434343"/>
                </a:solidFill>
                <a:latin typeface="Open Sans"/>
                <a:ea typeface="Open Sans"/>
                <a:cs typeface="Open Sans"/>
                <a:sym typeface="Open Sans"/>
              </a:rPr>
              <a:t>Enrico Fermi was an Italian-American </a:t>
            </a:r>
            <a:r>
              <a:rPr lang="en">
                <a:solidFill>
                  <a:srgbClr val="434343"/>
                </a:solidFill>
                <a:latin typeface="Open Sans"/>
                <a:ea typeface="Open Sans"/>
                <a:cs typeface="Open Sans"/>
                <a:sym typeface="Open Sans"/>
              </a:rPr>
              <a:t>physicist</a:t>
            </a:r>
            <a:r>
              <a:rPr lang="en">
                <a:solidFill>
                  <a:srgbClr val="434343"/>
                </a:solidFill>
                <a:latin typeface="Open Sans"/>
                <a:ea typeface="Open Sans"/>
                <a:cs typeface="Open Sans"/>
                <a:sym typeface="Open Sans"/>
              </a:rPr>
              <a:t> and creator of the </a:t>
            </a:r>
            <a:r>
              <a:rPr lang="en">
                <a:solidFill>
                  <a:srgbClr val="434343"/>
                </a:solidFill>
                <a:latin typeface="Open Sans"/>
                <a:ea typeface="Open Sans"/>
                <a:cs typeface="Open Sans"/>
                <a:sym typeface="Open Sans"/>
              </a:rPr>
              <a:t>world's</a:t>
            </a:r>
            <a:r>
              <a:rPr lang="en">
                <a:solidFill>
                  <a:srgbClr val="434343"/>
                </a:solidFill>
                <a:latin typeface="Open Sans"/>
                <a:ea typeface="Open Sans"/>
                <a:cs typeface="Open Sans"/>
                <a:sym typeface="Open Sans"/>
              </a:rPr>
              <a:t> first nuclear reactor. In 1938 </a:t>
            </a:r>
            <a:r>
              <a:rPr lang="en">
                <a:solidFill>
                  <a:srgbClr val="434343"/>
                </a:solidFill>
                <a:highlight>
                  <a:srgbClr val="FFFFFF"/>
                </a:highlight>
                <a:latin typeface="Open Sans"/>
                <a:ea typeface="Open Sans"/>
                <a:cs typeface="Open Sans"/>
                <a:sym typeface="Open Sans"/>
              </a:rPr>
              <a:t>he received the Nobel Prize in physics for his discovery of nuclear reactions caused by slow neutrons.</a:t>
            </a:r>
            <a:endParaRPr>
              <a:solidFill>
                <a:srgbClr val="434343"/>
              </a:solidFill>
              <a:highlight>
                <a:srgbClr val="FFFFFF"/>
              </a:highlight>
              <a:latin typeface="Open Sans"/>
              <a:ea typeface="Open Sans"/>
              <a:cs typeface="Open Sans"/>
              <a:sym typeface="Open Sans"/>
            </a:endParaRPr>
          </a:p>
          <a:p>
            <a:pPr indent="0" lvl="0" marL="0" rtl="0" algn="l">
              <a:spcBef>
                <a:spcPts val="1000"/>
              </a:spcBef>
              <a:spcAft>
                <a:spcPts val="0"/>
              </a:spcAft>
              <a:buClr>
                <a:schemeClr val="dk1"/>
              </a:buClr>
              <a:buSzPts val="1100"/>
              <a:buFont typeface="Arial"/>
              <a:buNone/>
            </a:pPr>
            <a:r>
              <a:rPr lang="en">
                <a:solidFill>
                  <a:srgbClr val="434343"/>
                </a:solidFill>
                <a:highlight>
                  <a:srgbClr val="FFFFFF"/>
                </a:highlight>
                <a:latin typeface="Open Sans"/>
                <a:ea typeface="Open Sans"/>
                <a:cs typeface="Open Sans"/>
                <a:sym typeface="Open Sans"/>
              </a:rPr>
              <a:t>Fermi</a:t>
            </a:r>
            <a:r>
              <a:rPr lang="en">
                <a:solidFill>
                  <a:srgbClr val="434343"/>
                </a:solidFill>
                <a:latin typeface="Open Sans"/>
                <a:ea typeface="Open Sans"/>
                <a:cs typeface="Open Sans"/>
                <a:sym typeface="Open Sans"/>
              </a:rPr>
              <a:t> was known for his ability to make good approximate calculations with little or no actual data.</a:t>
            </a:r>
            <a:endParaRPr>
              <a:solidFill>
                <a:srgbClr val="434343"/>
              </a:solidFill>
              <a:latin typeface="Open Sans"/>
              <a:ea typeface="Open Sans"/>
              <a:cs typeface="Open Sans"/>
              <a:sym typeface="Open Sans"/>
            </a:endParaRPr>
          </a:p>
          <a:p>
            <a:pPr indent="0" lvl="0" marL="0" rtl="0" algn="l">
              <a:spcBef>
                <a:spcPts val="1000"/>
              </a:spcBef>
              <a:spcAft>
                <a:spcPts val="0"/>
              </a:spcAft>
              <a:buClr>
                <a:schemeClr val="dk1"/>
              </a:buClr>
              <a:buSzPts val="1100"/>
              <a:buFont typeface="Arial"/>
              <a:buNone/>
            </a:pPr>
            <a:r>
              <a:t/>
            </a:r>
            <a:endParaRPr>
              <a:solidFill>
                <a:srgbClr val="434343"/>
              </a:solidFill>
              <a:latin typeface="Open Sans"/>
              <a:ea typeface="Open Sans"/>
              <a:cs typeface="Open Sans"/>
              <a:sym typeface="Open Sans"/>
            </a:endParaRPr>
          </a:p>
          <a:p>
            <a:pPr indent="0" lvl="0" marL="0" rtl="0" algn="l">
              <a:spcBef>
                <a:spcPts val="1000"/>
              </a:spcBef>
              <a:spcAft>
                <a:spcPts val="1000"/>
              </a:spcAft>
              <a:buClr>
                <a:schemeClr val="dk1"/>
              </a:buClr>
              <a:buSzPts val="1100"/>
              <a:buFont typeface="Arial"/>
              <a:buNone/>
            </a:pPr>
            <a:r>
              <a:rPr i="1" lang="en" u="sng">
                <a:solidFill>
                  <a:schemeClr val="hlink"/>
                </a:solidFill>
                <a:latin typeface="Open Sans"/>
                <a:ea typeface="Open Sans"/>
                <a:cs typeface="Open Sans"/>
                <a:sym typeface="Open Sans"/>
                <a:hlinkClick r:id="rId3"/>
              </a:rPr>
              <a:t>Enrico Fermi Short Documentary</a:t>
            </a:r>
            <a:endParaRPr i="1">
              <a:solidFill>
                <a:srgbClr val="434343"/>
              </a:solidFill>
              <a:latin typeface="Open Sans"/>
              <a:ea typeface="Open Sans"/>
              <a:cs typeface="Open Sans"/>
              <a:sym typeface="Open Sans"/>
            </a:endParaRPr>
          </a:p>
        </p:txBody>
      </p:sp>
      <p:pic>
        <p:nvPicPr>
          <p:cNvPr id="63" name="Google Shape;63;p14"/>
          <p:cNvPicPr preferRelativeResize="0"/>
          <p:nvPr/>
        </p:nvPicPr>
        <p:blipFill>
          <a:blip r:embed="rId4">
            <a:alphaModFix/>
          </a:blip>
          <a:stretch>
            <a:fillRect/>
          </a:stretch>
        </p:blipFill>
        <p:spPr>
          <a:xfrm>
            <a:off x="5745475" y="1152475"/>
            <a:ext cx="2877998" cy="3566374"/>
          </a:xfrm>
          <a:prstGeom prst="rect">
            <a:avLst/>
          </a:prstGeom>
          <a:noFill/>
          <a:ln>
            <a:noFill/>
          </a:ln>
        </p:spPr>
      </p:pic>
      <p:sp>
        <p:nvSpPr>
          <p:cNvPr id="64" name="Google Shape;64;p14"/>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434343"/>
                </a:solidFill>
                <a:latin typeface="Architects Daughter"/>
                <a:ea typeface="Architects Daughter"/>
                <a:cs typeface="Architects Daughter"/>
                <a:sym typeface="Architects Daughter"/>
              </a:rPr>
              <a:t>Fermi Questions</a:t>
            </a:r>
            <a:endParaRPr b="1" sz="3000">
              <a:solidFill>
                <a:srgbClr val="434343"/>
              </a:solidFill>
              <a:latin typeface="Architects Daughter"/>
              <a:ea typeface="Architects Daughter"/>
              <a:cs typeface="Architects Daughter"/>
              <a:sym typeface="Architects Daughter"/>
            </a:endParaRPr>
          </a:p>
        </p:txBody>
      </p:sp>
      <p:sp>
        <p:nvSpPr>
          <p:cNvPr id="70" name="Google Shape;70;p15"/>
          <p:cNvSpPr txBox="1"/>
          <p:nvPr>
            <p:ph idx="1" type="body"/>
          </p:nvPr>
        </p:nvSpPr>
        <p:spPr>
          <a:xfrm>
            <a:off x="3479950" y="847675"/>
            <a:ext cx="53523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434343"/>
                </a:solidFill>
                <a:latin typeface="Open Sans"/>
                <a:ea typeface="Open Sans"/>
                <a:cs typeface="Open Sans"/>
                <a:sym typeface="Open Sans"/>
              </a:rPr>
              <a:t>A “Fermi Question”  is </a:t>
            </a:r>
            <a:r>
              <a:rPr i="1" lang="en" u="sng">
                <a:solidFill>
                  <a:srgbClr val="434343"/>
                </a:solidFill>
                <a:latin typeface="Open Sans"/>
                <a:ea typeface="Open Sans"/>
                <a:cs typeface="Open Sans"/>
                <a:sym typeface="Open Sans"/>
              </a:rPr>
              <a:t>a question that asks for a quick estimate of a quantity that seems difficult or impossible to determine precisely</a:t>
            </a:r>
            <a:r>
              <a:rPr lang="en">
                <a:solidFill>
                  <a:srgbClr val="434343"/>
                </a:solidFill>
                <a:latin typeface="Open Sans"/>
                <a:ea typeface="Open Sans"/>
                <a:cs typeface="Open Sans"/>
                <a:sym typeface="Open Sans"/>
              </a:rPr>
              <a:t>. </a:t>
            </a:r>
            <a:endParaRPr>
              <a:solidFill>
                <a:srgbClr val="434343"/>
              </a:solidFill>
              <a:latin typeface="Open Sans"/>
              <a:ea typeface="Open Sans"/>
              <a:cs typeface="Open Sans"/>
              <a:sym typeface="Open Sans"/>
            </a:endParaRPr>
          </a:p>
          <a:p>
            <a:pPr indent="0" lvl="0" marL="0" rtl="0" algn="l">
              <a:spcBef>
                <a:spcPts val="1200"/>
              </a:spcBef>
              <a:spcAft>
                <a:spcPts val="1000"/>
              </a:spcAft>
              <a:buNone/>
            </a:pPr>
            <a:r>
              <a:rPr lang="en">
                <a:solidFill>
                  <a:srgbClr val="434343"/>
                </a:solidFill>
                <a:latin typeface="Open Sans"/>
                <a:ea typeface="Open Sans"/>
                <a:cs typeface="Open Sans"/>
                <a:sym typeface="Open Sans"/>
              </a:rPr>
              <a:t>For example, the question </a:t>
            </a:r>
            <a:r>
              <a:rPr b="1" i="1" lang="en" u="sng">
                <a:solidFill>
                  <a:srgbClr val="434343"/>
                </a:solidFill>
                <a:latin typeface="Open Sans"/>
                <a:ea typeface="Open Sans"/>
                <a:cs typeface="Open Sans"/>
                <a:sym typeface="Open Sans"/>
              </a:rPr>
              <a:t>"How many drops of water are there in Lake Erie?"</a:t>
            </a:r>
            <a:r>
              <a:rPr lang="en">
                <a:solidFill>
                  <a:srgbClr val="434343"/>
                </a:solidFill>
                <a:latin typeface="Open Sans"/>
                <a:ea typeface="Open Sans"/>
                <a:cs typeface="Open Sans"/>
                <a:sym typeface="Open Sans"/>
              </a:rPr>
              <a:t> requires an estimate of the volume of a drop, the volume of Lake Erie from its approximate dimensions and conversion of units to yield an answer.</a:t>
            </a:r>
            <a:endParaRPr>
              <a:solidFill>
                <a:srgbClr val="434343"/>
              </a:solidFill>
              <a:latin typeface="Open Sans"/>
              <a:ea typeface="Open Sans"/>
              <a:cs typeface="Open Sans"/>
              <a:sym typeface="Open Sans"/>
            </a:endParaRPr>
          </a:p>
        </p:txBody>
      </p:sp>
      <p:pic>
        <p:nvPicPr>
          <p:cNvPr id="71" name="Google Shape;71;p15"/>
          <p:cNvPicPr preferRelativeResize="0"/>
          <p:nvPr/>
        </p:nvPicPr>
        <p:blipFill>
          <a:blip r:embed="rId3">
            <a:alphaModFix/>
          </a:blip>
          <a:stretch>
            <a:fillRect/>
          </a:stretch>
        </p:blipFill>
        <p:spPr>
          <a:xfrm>
            <a:off x="476100" y="1152475"/>
            <a:ext cx="2877999" cy="2206480"/>
          </a:xfrm>
          <a:prstGeom prst="rect">
            <a:avLst/>
          </a:prstGeom>
          <a:noFill/>
          <a:ln>
            <a:noFill/>
          </a:ln>
        </p:spPr>
      </p:pic>
      <p:sp>
        <p:nvSpPr>
          <p:cNvPr id="72" name="Google Shape;72;p15"/>
          <p:cNvSpPr txBox="1"/>
          <p:nvPr/>
        </p:nvSpPr>
        <p:spPr>
          <a:xfrm>
            <a:off x="476100" y="3417500"/>
            <a:ext cx="8191800" cy="51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1000"/>
              </a:spcAft>
              <a:buClr>
                <a:schemeClr val="dk1"/>
              </a:buClr>
              <a:buSzPts val="1100"/>
              <a:buFont typeface="Arial"/>
              <a:buNone/>
            </a:pPr>
            <a:r>
              <a:t/>
            </a:r>
            <a:endParaRPr sz="1800">
              <a:solidFill>
                <a:srgbClr val="434343"/>
              </a:solidFill>
            </a:endParaRPr>
          </a:p>
        </p:txBody>
      </p:sp>
      <p:sp>
        <p:nvSpPr>
          <p:cNvPr id="73" name="Google Shape;73;p15"/>
          <p:cNvSpPr txBox="1"/>
          <p:nvPr/>
        </p:nvSpPr>
        <p:spPr>
          <a:xfrm>
            <a:off x="311700" y="3671475"/>
            <a:ext cx="8356200" cy="93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rgbClr val="434343"/>
                </a:solidFill>
                <a:latin typeface="Open Sans"/>
                <a:ea typeface="Open Sans"/>
                <a:cs typeface="Open Sans"/>
                <a:sym typeface="Open Sans"/>
              </a:rPr>
              <a:t>Fermi’s approach to such questions was to use common sense and rough estimates of quantities to piece together a ball-park value.</a:t>
            </a:r>
            <a:endParaRPr sz="1800">
              <a:solidFill>
                <a:srgbClr val="434343"/>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434343"/>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434343"/>
              </a:solidFill>
              <a:latin typeface="Open Sans"/>
              <a:ea typeface="Open Sans"/>
              <a:cs typeface="Open Sans"/>
              <a:sym typeface="Open Sans"/>
            </a:endParaRPr>
          </a:p>
          <a:p>
            <a:pPr indent="0" lvl="0" marL="0" rtl="0" algn="l">
              <a:spcBef>
                <a:spcPts val="1600"/>
              </a:spcBef>
              <a:spcAft>
                <a:spcPts val="0"/>
              </a:spcAft>
              <a:buNone/>
            </a:pPr>
            <a:r>
              <a:t/>
            </a:r>
            <a:endParaRPr/>
          </a:p>
        </p:txBody>
      </p:sp>
      <p:sp>
        <p:nvSpPr>
          <p:cNvPr id="74" name="Google Shape;74;p15"/>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pic>
        <p:nvPicPr>
          <p:cNvPr id="79" name="Google Shape;79;p16"/>
          <p:cNvPicPr preferRelativeResize="0"/>
          <p:nvPr/>
        </p:nvPicPr>
        <p:blipFill rotWithShape="1">
          <a:blip r:embed="rId3">
            <a:alphaModFix/>
          </a:blip>
          <a:srcRect b="4915" l="15063" r="15899" t="0"/>
          <a:stretch/>
        </p:blipFill>
        <p:spPr>
          <a:xfrm>
            <a:off x="212425" y="92776"/>
            <a:ext cx="2880650" cy="2896600"/>
          </a:xfrm>
          <a:prstGeom prst="rect">
            <a:avLst/>
          </a:prstGeom>
          <a:noFill/>
          <a:ln>
            <a:noFill/>
          </a:ln>
        </p:spPr>
      </p:pic>
      <p:pic>
        <p:nvPicPr>
          <p:cNvPr id="80" name="Google Shape;80;p16"/>
          <p:cNvPicPr preferRelativeResize="0"/>
          <p:nvPr/>
        </p:nvPicPr>
        <p:blipFill rotWithShape="1">
          <a:blip r:embed="rId3">
            <a:alphaModFix/>
          </a:blip>
          <a:srcRect b="4915" l="15063" r="15899" t="0"/>
          <a:stretch/>
        </p:blipFill>
        <p:spPr>
          <a:xfrm flipH="1">
            <a:off x="1956175" y="2411725"/>
            <a:ext cx="2555400" cy="2569550"/>
          </a:xfrm>
          <a:prstGeom prst="rect">
            <a:avLst/>
          </a:prstGeom>
          <a:noFill/>
          <a:ln>
            <a:noFill/>
          </a:ln>
        </p:spPr>
      </p:pic>
      <p:pic>
        <p:nvPicPr>
          <p:cNvPr id="81" name="Google Shape;81;p16"/>
          <p:cNvPicPr preferRelativeResize="0"/>
          <p:nvPr/>
        </p:nvPicPr>
        <p:blipFill rotWithShape="1">
          <a:blip r:embed="rId3">
            <a:alphaModFix/>
          </a:blip>
          <a:srcRect b="4915" l="15063" r="15899" t="0"/>
          <a:stretch/>
        </p:blipFill>
        <p:spPr>
          <a:xfrm>
            <a:off x="6225825" y="1843651"/>
            <a:ext cx="2880650" cy="2896600"/>
          </a:xfrm>
          <a:prstGeom prst="rect">
            <a:avLst/>
          </a:prstGeom>
          <a:noFill/>
          <a:ln>
            <a:noFill/>
          </a:ln>
        </p:spPr>
      </p:pic>
      <p:pic>
        <p:nvPicPr>
          <p:cNvPr id="82" name="Google Shape;82;p16"/>
          <p:cNvPicPr preferRelativeResize="0"/>
          <p:nvPr/>
        </p:nvPicPr>
        <p:blipFill rotWithShape="1">
          <a:blip r:embed="rId3">
            <a:alphaModFix/>
          </a:blip>
          <a:srcRect b="4915" l="15063" r="15899" t="0"/>
          <a:stretch/>
        </p:blipFill>
        <p:spPr>
          <a:xfrm flipH="1">
            <a:off x="3822825" y="321375"/>
            <a:ext cx="2555400" cy="2569550"/>
          </a:xfrm>
          <a:prstGeom prst="rect">
            <a:avLst/>
          </a:prstGeom>
          <a:noFill/>
          <a:ln>
            <a:noFill/>
          </a:ln>
        </p:spPr>
      </p:pic>
      <p:sp>
        <p:nvSpPr>
          <p:cNvPr id="83" name="Google Shape;83;p16"/>
          <p:cNvSpPr txBox="1"/>
          <p:nvPr/>
        </p:nvSpPr>
        <p:spPr>
          <a:xfrm>
            <a:off x="880100" y="923725"/>
            <a:ext cx="1545300" cy="7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Open Sans"/>
                <a:ea typeface="Open Sans"/>
                <a:cs typeface="Open Sans"/>
                <a:sym typeface="Open Sans"/>
              </a:rPr>
              <a:t>How far could you walk in one year?</a:t>
            </a:r>
            <a:endParaRPr sz="1600">
              <a:latin typeface="Open Sans"/>
              <a:ea typeface="Open Sans"/>
              <a:cs typeface="Open Sans"/>
              <a:sym typeface="Open Sans"/>
            </a:endParaRPr>
          </a:p>
        </p:txBody>
      </p:sp>
      <p:sp>
        <p:nvSpPr>
          <p:cNvPr id="84" name="Google Shape;84;p16"/>
          <p:cNvSpPr txBox="1"/>
          <p:nvPr/>
        </p:nvSpPr>
        <p:spPr>
          <a:xfrm>
            <a:off x="2478600" y="2913175"/>
            <a:ext cx="1545300" cy="7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Open Sans"/>
                <a:ea typeface="Open Sans"/>
                <a:cs typeface="Open Sans"/>
                <a:sym typeface="Open Sans"/>
              </a:rPr>
              <a:t>How long would it take to count to 1,000,000?</a:t>
            </a:r>
            <a:endParaRPr sz="1600">
              <a:latin typeface="Open Sans"/>
              <a:ea typeface="Open Sans"/>
              <a:cs typeface="Open Sans"/>
              <a:sym typeface="Open Sans"/>
            </a:endParaRPr>
          </a:p>
        </p:txBody>
      </p:sp>
      <p:sp>
        <p:nvSpPr>
          <p:cNvPr id="85" name="Google Shape;85;p16"/>
          <p:cNvSpPr txBox="1"/>
          <p:nvPr/>
        </p:nvSpPr>
        <p:spPr>
          <a:xfrm>
            <a:off x="6893500" y="2232325"/>
            <a:ext cx="1545300" cy="7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Open Sans"/>
                <a:ea typeface="Open Sans"/>
                <a:cs typeface="Open Sans"/>
                <a:sym typeface="Open Sans"/>
              </a:rPr>
              <a:t>How many pounds of cheese were eaten in France last year?</a:t>
            </a:r>
            <a:endParaRPr sz="1600">
              <a:latin typeface="Open Sans"/>
              <a:ea typeface="Open Sans"/>
              <a:cs typeface="Open Sans"/>
              <a:sym typeface="Open Sans"/>
            </a:endParaRPr>
          </a:p>
        </p:txBody>
      </p:sp>
      <p:sp>
        <p:nvSpPr>
          <p:cNvPr id="86" name="Google Shape;86;p16"/>
          <p:cNvSpPr txBox="1"/>
          <p:nvPr/>
        </p:nvSpPr>
        <p:spPr>
          <a:xfrm>
            <a:off x="4327875" y="839800"/>
            <a:ext cx="1545300" cy="7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Open Sans"/>
                <a:ea typeface="Open Sans"/>
                <a:cs typeface="Open Sans"/>
                <a:sym typeface="Open Sans"/>
              </a:rPr>
              <a:t>How many piano tuners are there in Canada?</a:t>
            </a:r>
            <a:endParaRPr sz="1600">
              <a:latin typeface="Open Sans"/>
              <a:ea typeface="Open Sans"/>
              <a:cs typeface="Open Sans"/>
              <a:sym typeface="Open Sans"/>
            </a:endParaRPr>
          </a:p>
        </p:txBody>
      </p:sp>
      <p:sp>
        <p:nvSpPr>
          <p:cNvPr id="87" name="Google Shape;87;p16"/>
          <p:cNvSpPr txBox="1"/>
          <p:nvPr/>
        </p:nvSpPr>
        <p:spPr>
          <a:xfrm>
            <a:off x="5422625" y="194525"/>
            <a:ext cx="3390300" cy="795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4000">
                <a:latin typeface="Architects Daughter"/>
                <a:ea typeface="Architects Daughter"/>
                <a:cs typeface="Architects Daughter"/>
                <a:sym typeface="Architects Daughter"/>
              </a:rPr>
              <a:t>Fermi Problems</a:t>
            </a:r>
            <a:endParaRPr sz="4000">
              <a:latin typeface="Architects Daughter"/>
              <a:ea typeface="Architects Daughter"/>
              <a:cs typeface="Architects Daughter"/>
              <a:sym typeface="Architects Daughter"/>
            </a:endParaRPr>
          </a:p>
        </p:txBody>
      </p:sp>
      <p:sp>
        <p:nvSpPr>
          <p:cNvPr id="88" name="Google Shape;88;p16"/>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34343"/>
                </a:solidFill>
                <a:latin typeface="Architects Daughter"/>
                <a:ea typeface="Architects Daughter"/>
                <a:cs typeface="Architects Daughter"/>
                <a:sym typeface="Architects Daughter"/>
              </a:rPr>
              <a:t>Skills Needed to Solve Fermi Questions</a:t>
            </a:r>
            <a:endParaRPr>
              <a:solidFill>
                <a:srgbClr val="434343"/>
              </a:solidFill>
              <a:latin typeface="Architects Daughter"/>
              <a:ea typeface="Architects Daughter"/>
              <a:cs typeface="Architects Daughter"/>
              <a:sym typeface="Architects Daughter"/>
            </a:endParaRPr>
          </a:p>
        </p:txBody>
      </p:sp>
      <p:sp>
        <p:nvSpPr>
          <p:cNvPr id="94" name="Google Shape;9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Many of the skills that you have learned in your math classes will help you solve Fermi Questions:</a:t>
            </a:r>
            <a:endParaRPr>
              <a:latin typeface="Open Sans"/>
              <a:ea typeface="Open Sans"/>
              <a:cs typeface="Open Sans"/>
              <a:sym typeface="Open Sans"/>
            </a:endParaRPr>
          </a:p>
          <a:p>
            <a:pPr indent="-342900" lvl="0" marL="457200" rtl="0" algn="l">
              <a:spcBef>
                <a:spcPts val="1600"/>
              </a:spcBef>
              <a:spcAft>
                <a:spcPts val="0"/>
              </a:spcAft>
              <a:buSzPts val="1800"/>
              <a:buFont typeface="Open Sans"/>
              <a:buChar char="●"/>
            </a:pPr>
            <a:r>
              <a:rPr lang="en">
                <a:latin typeface="Open Sans"/>
                <a:ea typeface="Open Sans"/>
                <a:cs typeface="Open Sans"/>
                <a:sym typeface="Open Sans"/>
              </a:rPr>
              <a:t>Modeling</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Estimation</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Measurement</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Algebraic</a:t>
            </a:r>
            <a:r>
              <a:rPr lang="en">
                <a:latin typeface="Open Sans"/>
                <a:ea typeface="Open Sans"/>
                <a:cs typeface="Open Sans"/>
                <a:sym typeface="Open Sans"/>
              </a:rPr>
              <a:t> Expressions </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Formulas</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Problem Solving</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b="1" i="1" lang="en">
                <a:latin typeface="Open Sans"/>
                <a:ea typeface="Open Sans"/>
                <a:cs typeface="Open Sans"/>
                <a:sym typeface="Open Sans"/>
              </a:rPr>
              <a:t>Critical Thinking!</a:t>
            </a:r>
            <a:endParaRPr b="1" i="1">
              <a:latin typeface="Open Sans"/>
              <a:ea typeface="Open Sans"/>
              <a:cs typeface="Open Sans"/>
              <a:sym typeface="Open Sans"/>
            </a:endParaRPr>
          </a:p>
        </p:txBody>
      </p:sp>
      <p:pic>
        <p:nvPicPr>
          <p:cNvPr id="95" name="Google Shape;95;p17"/>
          <p:cNvPicPr preferRelativeResize="0"/>
          <p:nvPr/>
        </p:nvPicPr>
        <p:blipFill>
          <a:blip r:embed="rId3">
            <a:alphaModFix/>
          </a:blip>
          <a:stretch>
            <a:fillRect/>
          </a:stretch>
        </p:blipFill>
        <p:spPr>
          <a:xfrm>
            <a:off x="5029200" y="1712075"/>
            <a:ext cx="3265725" cy="3137400"/>
          </a:xfrm>
          <a:prstGeom prst="rect">
            <a:avLst/>
          </a:prstGeom>
          <a:noFill/>
          <a:ln>
            <a:noFill/>
          </a:ln>
        </p:spPr>
      </p:pic>
      <p:sp>
        <p:nvSpPr>
          <p:cNvPr id="96" name="Google Shape;96;p17"/>
          <p:cNvSpPr txBox="1"/>
          <p:nvPr/>
        </p:nvSpPr>
        <p:spPr>
          <a:xfrm>
            <a:off x="6403800" y="48927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chitects Daughter"/>
                <a:ea typeface="Architects Daughter"/>
                <a:cs typeface="Architects Daughter"/>
                <a:sym typeface="Architects Daughter"/>
              </a:rPr>
              <a:t>What is Critical Thinking?</a:t>
            </a:r>
            <a:endParaRPr>
              <a:latin typeface="Architects Daughter"/>
              <a:ea typeface="Architects Daughter"/>
              <a:cs typeface="Architects Daughter"/>
              <a:sym typeface="Architects Daughter"/>
            </a:endParaRPr>
          </a:p>
        </p:txBody>
      </p:sp>
      <p:sp>
        <p:nvSpPr>
          <p:cNvPr id="102" name="Google Shape;102;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latin typeface="Open Sans"/>
                <a:ea typeface="Open Sans"/>
                <a:cs typeface="Open Sans"/>
                <a:sym typeface="Open Sans"/>
              </a:rPr>
              <a:t>Critical thinking is the ability to analyze information objectively and make a reasoned judgement. It involves the evaluation of sources, such as data, facts, observable phenomena and research findings. (</a:t>
            </a:r>
            <a:r>
              <a:rPr lang="en" u="sng">
                <a:solidFill>
                  <a:schemeClr val="hlink"/>
                </a:solidFill>
                <a:latin typeface="Open Sans"/>
                <a:ea typeface="Open Sans"/>
                <a:cs typeface="Open Sans"/>
                <a:sym typeface="Open Sans"/>
                <a:hlinkClick r:id="rId3"/>
              </a:rPr>
              <a:t>source</a:t>
            </a:r>
            <a:r>
              <a:rPr lang="en">
                <a:latin typeface="Open Sans"/>
                <a:ea typeface="Open Sans"/>
                <a:cs typeface="Open Sans"/>
                <a:sym typeface="Open Sans"/>
              </a:rPr>
              <a:t>)</a:t>
            </a:r>
            <a:endParaRPr>
              <a:latin typeface="Open Sans"/>
              <a:ea typeface="Open Sans"/>
              <a:cs typeface="Open Sans"/>
              <a:sym typeface="Open Sans"/>
            </a:endParaRPr>
          </a:p>
        </p:txBody>
      </p:sp>
      <p:pic>
        <p:nvPicPr>
          <p:cNvPr id="103" name="Google Shape;103;p18"/>
          <p:cNvPicPr preferRelativeResize="0"/>
          <p:nvPr/>
        </p:nvPicPr>
        <p:blipFill>
          <a:blip r:embed="rId4">
            <a:alphaModFix/>
          </a:blip>
          <a:stretch>
            <a:fillRect/>
          </a:stretch>
        </p:blipFill>
        <p:spPr>
          <a:xfrm>
            <a:off x="505951" y="2308326"/>
            <a:ext cx="2312560" cy="2641125"/>
          </a:xfrm>
          <a:prstGeom prst="rect">
            <a:avLst/>
          </a:prstGeom>
          <a:noFill/>
          <a:ln>
            <a:noFill/>
          </a:ln>
        </p:spPr>
      </p:pic>
      <p:sp>
        <p:nvSpPr>
          <p:cNvPr id="104" name="Google Shape;104;p18"/>
          <p:cNvSpPr txBox="1"/>
          <p:nvPr/>
        </p:nvSpPr>
        <p:spPr>
          <a:xfrm>
            <a:off x="2894975" y="2491650"/>
            <a:ext cx="5937300" cy="13839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1800">
                <a:solidFill>
                  <a:srgbClr val="666666"/>
                </a:solidFill>
                <a:latin typeface="Open Sans"/>
                <a:ea typeface="Open Sans"/>
                <a:cs typeface="Open Sans"/>
                <a:sym typeface="Open Sans"/>
              </a:rPr>
              <a:t>Fermi Problems are BIG questions that can seem impossible to answer. You must think critically and creatively to come up with estimates. The goal is not always to get an </a:t>
            </a:r>
            <a:r>
              <a:rPr i="1" lang="en" sz="1800">
                <a:solidFill>
                  <a:srgbClr val="666666"/>
                </a:solidFill>
                <a:latin typeface="Open Sans"/>
                <a:ea typeface="Open Sans"/>
                <a:cs typeface="Open Sans"/>
                <a:sym typeface="Open Sans"/>
              </a:rPr>
              <a:t>exact</a:t>
            </a:r>
            <a:r>
              <a:rPr lang="en" sz="1800">
                <a:solidFill>
                  <a:srgbClr val="666666"/>
                </a:solidFill>
                <a:latin typeface="Open Sans"/>
                <a:ea typeface="Open Sans"/>
                <a:cs typeface="Open Sans"/>
                <a:sym typeface="Open Sans"/>
              </a:rPr>
              <a:t> answer!  </a:t>
            </a:r>
            <a:endParaRPr sz="1800">
              <a:solidFill>
                <a:srgbClr val="666666"/>
              </a:solidFill>
              <a:latin typeface="Open Sans"/>
              <a:ea typeface="Open Sans"/>
              <a:cs typeface="Open Sans"/>
              <a:sym typeface="Open Sans"/>
            </a:endParaRPr>
          </a:p>
        </p:txBody>
      </p:sp>
      <p:sp>
        <p:nvSpPr>
          <p:cNvPr id="105" name="Google Shape;105;p18"/>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chitects Daughter"/>
                <a:ea typeface="Architects Daughter"/>
                <a:cs typeface="Architects Daughter"/>
                <a:sym typeface="Architects Daughter"/>
              </a:rPr>
              <a:t>Goals for Fermi Questions</a:t>
            </a:r>
            <a:endParaRPr>
              <a:latin typeface="Architects Daughter"/>
              <a:ea typeface="Architects Daughter"/>
              <a:cs typeface="Architects Daughter"/>
              <a:sym typeface="Architects Daughter"/>
            </a:endParaRPr>
          </a:p>
        </p:txBody>
      </p:sp>
      <p:sp>
        <p:nvSpPr>
          <p:cNvPr id="111" name="Google Shape;11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When solving Fermi Questions, our focus will be on process - not the final outcome. We hope to: </a:t>
            </a:r>
            <a:endParaRPr>
              <a:latin typeface="Open Sans"/>
              <a:ea typeface="Open Sans"/>
              <a:cs typeface="Open Sans"/>
              <a:sym typeface="Open Sans"/>
            </a:endParaRPr>
          </a:p>
          <a:p>
            <a:pPr indent="-342900" lvl="0" marL="457200" rtl="0" algn="l">
              <a:spcBef>
                <a:spcPts val="1600"/>
              </a:spcBef>
              <a:spcAft>
                <a:spcPts val="0"/>
              </a:spcAft>
              <a:buSzPts val="1800"/>
              <a:buFont typeface="Open Sans"/>
              <a:buChar char="●"/>
            </a:pPr>
            <a:r>
              <a:rPr lang="en">
                <a:latin typeface="Open Sans"/>
                <a:ea typeface="Open Sans"/>
                <a:cs typeface="Open Sans"/>
                <a:sym typeface="Open Sans"/>
              </a:rPr>
              <a:t>Generate many potential solutions to a given problem</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Analyze problems for different points of view</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Make decisions as a part of a group</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Communicate mathematical ideas verbally and in writing</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Create and utilize formulas to tackle a problem </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Use internet search tools to find information</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Hone estimation skills and confidence</a:t>
            </a:r>
            <a:endParaRPr>
              <a:latin typeface="Open Sans"/>
              <a:ea typeface="Open Sans"/>
              <a:cs typeface="Open Sans"/>
              <a:sym typeface="Open Sans"/>
            </a:endParaRPr>
          </a:p>
        </p:txBody>
      </p:sp>
      <p:sp>
        <p:nvSpPr>
          <p:cNvPr id="112" name="Google Shape;112;p19"/>
          <p:cNvSpPr txBox="1"/>
          <p:nvPr/>
        </p:nvSpPr>
        <p:spPr>
          <a:xfrm>
            <a:off x="218400" y="4347775"/>
            <a:ext cx="8707200" cy="1414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800">
                <a:solidFill>
                  <a:srgbClr val="666666"/>
                </a:solidFill>
                <a:latin typeface="Open Sans"/>
                <a:ea typeface="Open Sans"/>
                <a:cs typeface="Open Sans"/>
                <a:sym typeface="Open Sans"/>
              </a:rPr>
              <a:t>Remember:</a:t>
            </a:r>
            <a:r>
              <a:rPr lang="en" sz="1800">
                <a:solidFill>
                  <a:srgbClr val="666666"/>
                </a:solidFill>
                <a:latin typeface="Open Sans"/>
                <a:ea typeface="Open Sans"/>
                <a:cs typeface="Open Sans"/>
                <a:sym typeface="Open Sans"/>
              </a:rPr>
              <a:t> The goal is not always to get an </a:t>
            </a:r>
            <a:r>
              <a:rPr i="1" lang="en" sz="1800">
                <a:solidFill>
                  <a:srgbClr val="666666"/>
                </a:solidFill>
                <a:latin typeface="Open Sans"/>
                <a:ea typeface="Open Sans"/>
                <a:cs typeface="Open Sans"/>
                <a:sym typeface="Open Sans"/>
              </a:rPr>
              <a:t>exact</a:t>
            </a:r>
            <a:r>
              <a:rPr lang="en" sz="1800">
                <a:solidFill>
                  <a:srgbClr val="666666"/>
                </a:solidFill>
                <a:latin typeface="Open Sans"/>
                <a:ea typeface="Open Sans"/>
                <a:cs typeface="Open Sans"/>
                <a:sym typeface="Open Sans"/>
              </a:rPr>
              <a:t> answer!  </a:t>
            </a:r>
            <a:endParaRPr sz="1800">
              <a:solidFill>
                <a:srgbClr val="666666"/>
              </a:solidFill>
              <a:latin typeface="Open Sans"/>
              <a:ea typeface="Open Sans"/>
              <a:cs typeface="Open Sans"/>
              <a:sym typeface="Open Sans"/>
            </a:endParaRPr>
          </a:p>
        </p:txBody>
      </p:sp>
      <p:sp>
        <p:nvSpPr>
          <p:cNvPr id="113" name="Google Shape;113;p19"/>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434343"/>
                </a:solidFill>
                <a:latin typeface="Spectral"/>
                <a:ea typeface="Spectral"/>
                <a:cs typeface="Spectral"/>
                <a:sym typeface="Spectral"/>
              </a:rPr>
              <a:t>5 Steps for Answering Fermi Questions</a:t>
            </a:r>
            <a:endParaRPr b="1" sz="3000">
              <a:solidFill>
                <a:srgbClr val="434343"/>
              </a:solidFill>
              <a:latin typeface="Spectral"/>
              <a:ea typeface="Spectral"/>
              <a:cs typeface="Spectral"/>
              <a:sym typeface="Spectral"/>
            </a:endParaRPr>
          </a:p>
        </p:txBody>
      </p:sp>
      <p:sp>
        <p:nvSpPr>
          <p:cNvPr id="119" name="Google Shape;119;p20"/>
          <p:cNvSpPr txBox="1"/>
          <p:nvPr>
            <p:ph idx="1" type="body"/>
          </p:nvPr>
        </p:nvSpPr>
        <p:spPr>
          <a:xfrm>
            <a:off x="845100" y="1152475"/>
            <a:ext cx="4220400" cy="34164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Font typeface="Open Sans"/>
              <a:buAutoNum type="arabicPeriod"/>
            </a:pPr>
            <a:r>
              <a:rPr lang="en" sz="2800">
                <a:latin typeface="Open Sans"/>
                <a:ea typeface="Open Sans"/>
                <a:cs typeface="Open Sans"/>
                <a:sym typeface="Open Sans"/>
              </a:rPr>
              <a:t>Question</a:t>
            </a:r>
            <a:endParaRPr sz="2800">
              <a:latin typeface="Open Sans"/>
              <a:ea typeface="Open Sans"/>
              <a:cs typeface="Open Sans"/>
              <a:sym typeface="Open Sans"/>
            </a:endParaRPr>
          </a:p>
          <a:p>
            <a:pPr indent="-406400" lvl="0" marL="457200" rtl="0" algn="l">
              <a:spcBef>
                <a:spcPts val="0"/>
              </a:spcBef>
              <a:spcAft>
                <a:spcPts val="0"/>
              </a:spcAft>
              <a:buSzPts val="2800"/>
              <a:buFont typeface="Open Sans"/>
              <a:buAutoNum type="arabicPeriod"/>
            </a:pPr>
            <a:r>
              <a:rPr lang="en" sz="2800">
                <a:latin typeface="Open Sans"/>
                <a:ea typeface="Open Sans"/>
                <a:cs typeface="Open Sans"/>
                <a:sym typeface="Open Sans"/>
              </a:rPr>
              <a:t>Wild Guess</a:t>
            </a:r>
            <a:endParaRPr sz="2800">
              <a:latin typeface="Open Sans"/>
              <a:ea typeface="Open Sans"/>
              <a:cs typeface="Open Sans"/>
              <a:sym typeface="Open Sans"/>
            </a:endParaRPr>
          </a:p>
          <a:p>
            <a:pPr indent="-406400" lvl="0" marL="457200" rtl="0" algn="l">
              <a:spcBef>
                <a:spcPts val="0"/>
              </a:spcBef>
              <a:spcAft>
                <a:spcPts val="0"/>
              </a:spcAft>
              <a:buSzPts val="2800"/>
              <a:buFont typeface="Open Sans"/>
              <a:buAutoNum type="arabicPeriod"/>
            </a:pPr>
            <a:r>
              <a:rPr lang="en" sz="2800">
                <a:latin typeface="Open Sans"/>
                <a:ea typeface="Open Sans"/>
                <a:cs typeface="Open Sans"/>
                <a:sym typeface="Open Sans"/>
              </a:rPr>
              <a:t>Educated Guess</a:t>
            </a:r>
            <a:endParaRPr sz="2800">
              <a:latin typeface="Open Sans"/>
              <a:ea typeface="Open Sans"/>
              <a:cs typeface="Open Sans"/>
              <a:sym typeface="Open Sans"/>
            </a:endParaRPr>
          </a:p>
          <a:p>
            <a:pPr indent="-406400" lvl="0" marL="457200" rtl="0" algn="l">
              <a:spcBef>
                <a:spcPts val="0"/>
              </a:spcBef>
              <a:spcAft>
                <a:spcPts val="0"/>
              </a:spcAft>
              <a:buSzPts val="2800"/>
              <a:buFont typeface="Open Sans"/>
              <a:buAutoNum type="arabicPeriod"/>
            </a:pPr>
            <a:r>
              <a:rPr lang="en" sz="2800">
                <a:latin typeface="Open Sans"/>
                <a:ea typeface="Open Sans"/>
                <a:cs typeface="Open Sans"/>
                <a:sym typeface="Open Sans"/>
              </a:rPr>
              <a:t>Gathering Data</a:t>
            </a:r>
            <a:endParaRPr sz="2800">
              <a:latin typeface="Open Sans"/>
              <a:ea typeface="Open Sans"/>
              <a:cs typeface="Open Sans"/>
              <a:sym typeface="Open Sans"/>
            </a:endParaRPr>
          </a:p>
          <a:p>
            <a:pPr indent="-406400" lvl="0" marL="457200" rtl="0" algn="l">
              <a:spcBef>
                <a:spcPts val="0"/>
              </a:spcBef>
              <a:spcAft>
                <a:spcPts val="0"/>
              </a:spcAft>
              <a:buSzPts val="2800"/>
              <a:buFont typeface="Open Sans"/>
              <a:buAutoNum type="arabicPeriod"/>
            </a:pPr>
            <a:r>
              <a:rPr lang="en" sz="2800">
                <a:latin typeface="Open Sans"/>
                <a:ea typeface="Open Sans"/>
                <a:cs typeface="Open Sans"/>
                <a:sym typeface="Open Sans"/>
              </a:rPr>
              <a:t>Conclusion </a:t>
            </a:r>
            <a:endParaRPr sz="2800">
              <a:latin typeface="Open Sans"/>
              <a:ea typeface="Open Sans"/>
              <a:cs typeface="Open Sans"/>
              <a:sym typeface="Open Sans"/>
            </a:endParaRPr>
          </a:p>
        </p:txBody>
      </p:sp>
      <p:pic>
        <p:nvPicPr>
          <p:cNvPr id="120" name="Google Shape;120;p20"/>
          <p:cNvPicPr preferRelativeResize="0"/>
          <p:nvPr/>
        </p:nvPicPr>
        <p:blipFill rotWithShape="1">
          <a:blip r:embed="rId3">
            <a:alphaModFix/>
          </a:blip>
          <a:srcRect b="11070" l="15096" r="16779" t="9057"/>
          <a:stretch/>
        </p:blipFill>
        <p:spPr>
          <a:xfrm>
            <a:off x="5476225" y="1063050"/>
            <a:ext cx="3066325" cy="3595251"/>
          </a:xfrm>
          <a:prstGeom prst="rect">
            <a:avLst/>
          </a:prstGeom>
          <a:noFill/>
          <a:ln>
            <a:noFill/>
          </a:ln>
        </p:spPr>
      </p:pic>
      <p:sp>
        <p:nvSpPr>
          <p:cNvPr id="121" name="Google Shape;121;p20"/>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434343"/>
                </a:solidFill>
                <a:latin typeface="Spectral"/>
                <a:ea typeface="Spectral"/>
                <a:cs typeface="Spectral"/>
                <a:sym typeface="Spectral"/>
              </a:rPr>
              <a:t>Step 1: Question</a:t>
            </a:r>
            <a:endParaRPr b="1" sz="3000">
              <a:solidFill>
                <a:srgbClr val="434343"/>
              </a:solidFill>
              <a:latin typeface="Spectral"/>
              <a:ea typeface="Spectral"/>
              <a:cs typeface="Spectral"/>
              <a:sym typeface="Spectral"/>
            </a:endParaRPr>
          </a:p>
        </p:txBody>
      </p:sp>
      <p:sp>
        <p:nvSpPr>
          <p:cNvPr id="127" name="Google Shape;127;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800">
                <a:latin typeface="Open Sans"/>
                <a:ea typeface="Open Sans"/>
                <a:cs typeface="Open Sans"/>
                <a:sym typeface="Open Sans"/>
              </a:rPr>
              <a:t>State the question and clarify the interpretation. </a:t>
            </a:r>
            <a:endParaRPr sz="2800"/>
          </a:p>
        </p:txBody>
      </p:sp>
      <p:pic>
        <p:nvPicPr>
          <p:cNvPr id="128" name="Google Shape;128;p21"/>
          <p:cNvPicPr preferRelativeResize="0"/>
          <p:nvPr/>
        </p:nvPicPr>
        <p:blipFill>
          <a:blip r:embed="rId3">
            <a:alphaModFix/>
          </a:blip>
          <a:stretch>
            <a:fillRect/>
          </a:stretch>
        </p:blipFill>
        <p:spPr>
          <a:xfrm>
            <a:off x="3059536" y="1737100"/>
            <a:ext cx="3024925" cy="3370400"/>
          </a:xfrm>
          <a:prstGeom prst="rect">
            <a:avLst/>
          </a:prstGeom>
          <a:noFill/>
          <a:ln>
            <a:noFill/>
          </a:ln>
        </p:spPr>
      </p:pic>
      <p:sp>
        <p:nvSpPr>
          <p:cNvPr id="129" name="Google Shape;129;p21"/>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434343"/>
                </a:solidFill>
                <a:latin typeface="Spectral"/>
                <a:ea typeface="Spectral"/>
                <a:cs typeface="Spectral"/>
                <a:sym typeface="Spectral"/>
              </a:rPr>
              <a:t>Step 2: Wild Guess</a:t>
            </a:r>
            <a:endParaRPr b="1" sz="3000">
              <a:solidFill>
                <a:srgbClr val="434343"/>
              </a:solidFill>
              <a:latin typeface="Spectral"/>
              <a:ea typeface="Spectral"/>
              <a:cs typeface="Spectral"/>
              <a:sym typeface="Spectral"/>
            </a:endParaRPr>
          </a:p>
        </p:txBody>
      </p:sp>
      <p:sp>
        <p:nvSpPr>
          <p:cNvPr id="135" name="Google Shape;135;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800">
                <a:latin typeface="Open Sans"/>
                <a:ea typeface="Open Sans"/>
                <a:cs typeface="Open Sans"/>
                <a:sym typeface="Open Sans"/>
              </a:rPr>
              <a:t>Make a wild guess involving no calculations.</a:t>
            </a:r>
            <a:endParaRPr sz="2800"/>
          </a:p>
        </p:txBody>
      </p:sp>
      <p:pic>
        <p:nvPicPr>
          <p:cNvPr id="136" name="Google Shape;136;p22"/>
          <p:cNvPicPr preferRelativeResize="0"/>
          <p:nvPr/>
        </p:nvPicPr>
        <p:blipFill>
          <a:blip r:embed="rId3">
            <a:alphaModFix/>
          </a:blip>
          <a:stretch>
            <a:fillRect/>
          </a:stretch>
        </p:blipFill>
        <p:spPr>
          <a:xfrm>
            <a:off x="3026125" y="2125700"/>
            <a:ext cx="3091750" cy="2076200"/>
          </a:xfrm>
          <a:prstGeom prst="rect">
            <a:avLst/>
          </a:prstGeom>
          <a:noFill/>
          <a:ln>
            <a:noFill/>
          </a:ln>
        </p:spPr>
      </p:pic>
      <p:sp>
        <p:nvSpPr>
          <p:cNvPr id="137" name="Google Shape;137;p22"/>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434343"/>
                </a:solidFill>
                <a:latin typeface="Spectral"/>
                <a:ea typeface="Spectral"/>
                <a:cs typeface="Spectral"/>
                <a:sym typeface="Spectral"/>
              </a:rPr>
              <a:t>Step 3: Educated Guess</a:t>
            </a:r>
            <a:endParaRPr b="1" sz="3000">
              <a:solidFill>
                <a:srgbClr val="434343"/>
              </a:solidFill>
              <a:latin typeface="Spectral"/>
              <a:ea typeface="Spectral"/>
              <a:cs typeface="Spectral"/>
              <a:sym typeface="Spectral"/>
            </a:endParaRPr>
          </a:p>
        </p:txBody>
      </p:sp>
      <p:sp>
        <p:nvSpPr>
          <p:cNvPr id="143" name="Google Shape;143;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400">
                <a:latin typeface="Open Sans"/>
                <a:ea typeface="Open Sans"/>
                <a:cs typeface="Open Sans"/>
                <a:sym typeface="Open Sans"/>
              </a:rPr>
              <a:t>Make an educated guess involving a chain of reasoning and calculations based on everyday experiences and estimates. </a:t>
            </a:r>
            <a:endParaRPr sz="2400"/>
          </a:p>
        </p:txBody>
      </p:sp>
      <p:pic>
        <p:nvPicPr>
          <p:cNvPr id="144" name="Google Shape;144;p23"/>
          <p:cNvPicPr preferRelativeResize="0"/>
          <p:nvPr/>
        </p:nvPicPr>
        <p:blipFill>
          <a:blip r:embed="rId3">
            <a:alphaModFix/>
          </a:blip>
          <a:stretch>
            <a:fillRect/>
          </a:stretch>
        </p:blipFill>
        <p:spPr>
          <a:xfrm>
            <a:off x="3516813" y="2422475"/>
            <a:ext cx="2110375" cy="2638625"/>
          </a:xfrm>
          <a:prstGeom prst="rect">
            <a:avLst/>
          </a:prstGeom>
          <a:noFill/>
          <a:ln>
            <a:noFill/>
          </a:ln>
        </p:spPr>
      </p:pic>
      <p:sp>
        <p:nvSpPr>
          <p:cNvPr id="145" name="Google Shape;145;p23"/>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434343"/>
                </a:solidFill>
                <a:latin typeface="Spectral"/>
                <a:ea typeface="Spectral"/>
                <a:cs typeface="Spectral"/>
                <a:sym typeface="Spectral"/>
              </a:rPr>
              <a:t>Step 4: Gathering Data</a:t>
            </a:r>
            <a:endParaRPr b="1">
              <a:solidFill>
                <a:srgbClr val="434343"/>
              </a:solidFill>
              <a:latin typeface="Spectral"/>
              <a:ea typeface="Spectral"/>
              <a:cs typeface="Spectral"/>
              <a:sym typeface="Spectral"/>
            </a:endParaRPr>
          </a:p>
        </p:txBody>
      </p:sp>
      <p:sp>
        <p:nvSpPr>
          <p:cNvPr id="151" name="Google Shape;15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800">
                <a:latin typeface="Open Sans"/>
                <a:ea typeface="Open Sans"/>
                <a:cs typeface="Open Sans"/>
                <a:sym typeface="Open Sans"/>
              </a:rPr>
              <a:t>Perform experiments, conduct surveys, make measurements or search for information that would help you obtain a more precise estimate. If appropriate, define variables and create a formula to solve the Fermi question. </a:t>
            </a:r>
            <a:endParaRPr sz="2800"/>
          </a:p>
        </p:txBody>
      </p:sp>
      <p:pic>
        <p:nvPicPr>
          <p:cNvPr id="152" name="Google Shape;152;p24"/>
          <p:cNvPicPr preferRelativeResize="0"/>
          <p:nvPr/>
        </p:nvPicPr>
        <p:blipFill>
          <a:blip r:embed="rId3">
            <a:alphaModFix/>
          </a:blip>
          <a:stretch>
            <a:fillRect/>
          </a:stretch>
        </p:blipFill>
        <p:spPr>
          <a:xfrm>
            <a:off x="3039287" y="3730750"/>
            <a:ext cx="3065426" cy="1213875"/>
          </a:xfrm>
          <a:prstGeom prst="rect">
            <a:avLst/>
          </a:prstGeom>
          <a:noFill/>
          <a:ln>
            <a:noFill/>
          </a:ln>
        </p:spPr>
      </p:pic>
      <p:sp>
        <p:nvSpPr>
          <p:cNvPr id="153" name="Google Shape;153;p24"/>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rgbClr val="434343"/>
                </a:solidFill>
                <a:latin typeface="Spectral"/>
                <a:ea typeface="Spectral"/>
                <a:cs typeface="Spectral"/>
                <a:sym typeface="Spectral"/>
              </a:rPr>
              <a:t>Step 5: Conclusions</a:t>
            </a:r>
            <a:endParaRPr b="1" sz="3000">
              <a:solidFill>
                <a:srgbClr val="434343"/>
              </a:solidFill>
              <a:latin typeface="Spectral"/>
              <a:ea typeface="Spectral"/>
              <a:cs typeface="Spectral"/>
              <a:sym typeface="Spectral"/>
            </a:endParaRPr>
          </a:p>
        </p:txBody>
      </p:sp>
      <p:sp>
        <p:nvSpPr>
          <p:cNvPr id="159" name="Google Shape;159;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800">
                <a:latin typeface="Open Sans"/>
                <a:ea typeface="Open Sans"/>
                <a:cs typeface="Open Sans"/>
                <a:sym typeface="Open Sans"/>
              </a:rPr>
              <a:t>State your final answer to the question. Explain some possible sources of error in your procedure. List any interesting facts you learned while seeking the answer to the Fermi question. Finally, discuss further direction that you could pursue if you wanted to extend your investigation into this topic. </a:t>
            </a:r>
            <a:endParaRPr sz="2800">
              <a:latin typeface="Open Sans"/>
              <a:ea typeface="Open Sans"/>
              <a:cs typeface="Open Sans"/>
              <a:sym typeface="Open Sans"/>
            </a:endParaRPr>
          </a:p>
        </p:txBody>
      </p:sp>
      <p:sp>
        <p:nvSpPr>
          <p:cNvPr id="160" name="Google Shape;160;p25"/>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26"/>
          <p:cNvSpPr/>
          <p:nvPr/>
        </p:nvSpPr>
        <p:spPr>
          <a:xfrm>
            <a:off x="213300" y="222600"/>
            <a:ext cx="8717400" cy="4698300"/>
          </a:xfrm>
          <a:prstGeom prst="rect">
            <a:avLst/>
          </a:prstGeom>
          <a:solidFill>
            <a:srgbClr val="1155C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6000">
                <a:solidFill>
                  <a:schemeClr val="lt1"/>
                </a:solidFill>
                <a:latin typeface="Spectral"/>
                <a:ea typeface="Spectral"/>
                <a:cs typeface="Spectral"/>
                <a:sym typeface="Spectral"/>
              </a:rPr>
              <a:t>How many times could you say the alphabet in 24 hours?</a:t>
            </a:r>
            <a:endParaRPr b="1" sz="6000">
              <a:latin typeface="Spectral"/>
              <a:ea typeface="Spectral"/>
              <a:cs typeface="Spectral"/>
              <a:sym typeface="Spectral"/>
            </a:endParaRPr>
          </a:p>
        </p:txBody>
      </p:sp>
      <p:sp>
        <p:nvSpPr>
          <p:cNvPr id="166" name="Google Shape;166;p26"/>
          <p:cNvSpPr txBox="1"/>
          <p:nvPr/>
        </p:nvSpPr>
        <p:spPr>
          <a:xfrm>
            <a:off x="213300" y="568975"/>
            <a:ext cx="8717400" cy="7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3600">
                <a:solidFill>
                  <a:schemeClr val="lt1"/>
                </a:solidFill>
                <a:latin typeface="Spectral"/>
                <a:ea typeface="Spectral"/>
                <a:cs typeface="Spectral"/>
                <a:sym typeface="Spectral"/>
              </a:rPr>
              <a:t>GUIDED EXAMPLE 1:</a:t>
            </a:r>
            <a:endParaRPr b="1" i="1" sz="3600">
              <a:latin typeface="Spectral"/>
              <a:ea typeface="Spectral"/>
              <a:cs typeface="Spectral"/>
              <a:sym typeface="Spectral"/>
            </a:endParaRPr>
          </a:p>
        </p:txBody>
      </p:sp>
      <p:sp>
        <p:nvSpPr>
          <p:cNvPr id="167" name="Google Shape;167;p26"/>
          <p:cNvSpPr txBox="1"/>
          <p:nvPr/>
        </p:nvSpPr>
        <p:spPr>
          <a:xfrm>
            <a:off x="6403800" y="48927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1: Question</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latin typeface="Spectral"/>
                <a:ea typeface="Spectral"/>
                <a:cs typeface="Spectral"/>
                <a:sym typeface="Spectral"/>
              </a:rPr>
              <a:t>State the questions and clarify the interpretation. </a:t>
            </a:r>
            <a:endParaRPr i="1" sz="1800">
              <a:latin typeface="Spectral"/>
              <a:ea typeface="Spectral"/>
              <a:cs typeface="Spectral"/>
              <a:sym typeface="Spectral"/>
            </a:endParaRPr>
          </a:p>
        </p:txBody>
      </p:sp>
      <p:sp>
        <p:nvSpPr>
          <p:cNvPr id="173" name="Google Shape;173;p27"/>
          <p:cNvSpPr txBox="1"/>
          <p:nvPr>
            <p:ph idx="1" type="body"/>
          </p:nvPr>
        </p:nvSpPr>
        <p:spPr>
          <a:xfrm>
            <a:off x="311700" y="1381075"/>
            <a:ext cx="8520600" cy="176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latin typeface="Open Sans"/>
                <a:ea typeface="Open Sans"/>
                <a:cs typeface="Open Sans"/>
                <a:sym typeface="Open Sans"/>
              </a:rPr>
              <a:t>We are being asked to find how many times a person could say the alphabet in 24 hours. We are interpreting this to mean; how many times could a person say the alphabet in 24 hours without stopping for any reason (for example to take a nap or go to the bathroom). We are only counting the time it takes for the person to recite the alphabet and not any other parts of the song (“now I know my ABC’s, next time won’t you sing with me”). </a:t>
            </a:r>
            <a:endParaRPr>
              <a:latin typeface="Open Sans"/>
              <a:ea typeface="Open Sans"/>
              <a:cs typeface="Open Sans"/>
              <a:sym typeface="Open Sans"/>
            </a:endParaRPr>
          </a:p>
        </p:txBody>
      </p:sp>
      <p:sp>
        <p:nvSpPr>
          <p:cNvPr id="174" name="Google Shape;174;p27"/>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
        <p:nvSpPr>
          <p:cNvPr id="175" name="Google Shape;175;p27"/>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28"/>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181" name="Google Shape;181;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2: Wild Guess</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Make a wild guess involving no calculations.</a:t>
            </a:r>
            <a:endParaRPr i="1" sz="1800">
              <a:solidFill>
                <a:srgbClr val="434343"/>
              </a:solidFill>
              <a:latin typeface="Spectral"/>
              <a:ea typeface="Spectral"/>
              <a:cs typeface="Spectral"/>
              <a:sym typeface="Spectral"/>
            </a:endParaRPr>
          </a:p>
        </p:txBody>
      </p:sp>
      <p:sp>
        <p:nvSpPr>
          <p:cNvPr id="182" name="Google Shape;182;p28"/>
          <p:cNvSpPr txBox="1"/>
          <p:nvPr>
            <p:ph idx="1" type="body"/>
          </p:nvPr>
        </p:nvSpPr>
        <p:spPr>
          <a:xfrm>
            <a:off x="311700" y="13048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latin typeface="Open Sans"/>
                <a:ea typeface="Open Sans"/>
                <a:cs typeface="Open Sans"/>
                <a:sym typeface="Open Sans"/>
              </a:rPr>
              <a:t>Guess some numbers that are probably less than the real number and some that are probably more. Guess some that are close to the right answer.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rPr lang="en">
                <a:latin typeface="Open Sans"/>
                <a:ea typeface="Open Sans"/>
                <a:cs typeface="Open Sans"/>
                <a:sym typeface="Open Sans"/>
              </a:rPr>
              <a:t>How many times do </a:t>
            </a:r>
            <a:r>
              <a:rPr b="1" i="1" lang="en">
                <a:latin typeface="Open Sans"/>
                <a:ea typeface="Open Sans"/>
                <a:cs typeface="Open Sans"/>
                <a:sym typeface="Open Sans"/>
              </a:rPr>
              <a:t>you</a:t>
            </a:r>
            <a:r>
              <a:rPr lang="en">
                <a:latin typeface="Open Sans"/>
                <a:ea typeface="Open Sans"/>
                <a:cs typeface="Open Sans"/>
                <a:sym typeface="Open Sans"/>
              </a:rPr>
              <a:t> think you could recite the alphabet in 24 hours? 300 times? 3,000 times? 3,000,000 times?</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rPr lang="en">
                <a:latin typeface="Open Sans"/>
                <a:ea typeface="Open Sans"/>
                <a:cs typeface="Open Sans"/>
                <a:sym typeface="Open Sans"/>
              </a:rPr>
              <a:t>Record your guesses on your worksheet.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ctr">
              <a:spcBef>
                <a:spcPts val="1600"/>
              </a:spcBef>
              <a:spcAft>
                <a:spcPts val="0"/>
              </a:spcAft>
              <a:buNone/>
            </a:pPr>
            <a:r>
              <a:t/>
            </a:r>
            <a:endParaRPr>
              <a:latin typeface="Open Sans"/>
              <a:ea typeface="Open Sans"/>
              <a:cs typeface="Open Sans"/>
              <a:sym typeface="Open Sans"/>
            </a:endParaRPr>
          </a:p>
          <a:p>
            <a:pPr indent="0" lvl="0" marL="0" rtl="0" algn="ctr">
              <a:spcBef>
                <a:spcPts val="1600"/>
              </a:spcBef>
              <a:spcAft>
                <a:spcPts val="0"/>
              </a:spcAft>
              <a:buNone/>
            </a:pPr>
            <a:r>
              <a:t/>
            </a:r>
            <a:endParaRPr>
              <a:latin typeface="Open Sans"/>
              <a:ea typeface="Open Sans"/>
              <a:cs typeface="Open Sans"/>
              <a:sym typeface="Open Sans"/>
            </a:endParaRPr>
          </a:p>
          <a:p>
            <a:pPr indent="0" lvl="0" marL="0" rtl="0" algn="ctr">
              <a:spcBef>
                <a:spcPts val="1600"/>
              </a:spcBef>
              <a:spcAft>
                <a:spcPts val="1600"/>
              </a:spcAft>
              <a:buNone/>
            </a:pPr>
            <a:r>
              <a:t/>
            </a:r>
            <a:endParaRPr>
              <a:latin typeface="Open Sans"/>
              <a:ea typeface="Open Sans"/>
              <a:cs typeface="Open Sans"/>
              <a:sym typeface="Open Sans"/>
            </a:endParaRPr>
          </a:p>
        </p:txBody>
      </p:sp>
      <p:sp>
        <p:nvSpPr>
          <p:cNvPr id="183" name="Google Shape;183;p28"/>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Google Shape;188;p29"/>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189" name="Google Shape;18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3: Educated Guess </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666666"/>
                </a:solidFill>
                <a:latin typeface="Spectral"/>
                <a:ea typeface="Spectral"/>
                <a:cs typeface="Spectral"/>
                <a:sym typeface="Spectral"/>
              </a:rPr>
              <a:t>Make an educated guess using a chain of logic to come up with an estimate. List some questions you would need to answer to figure out the Fermi Problem. </a:t>
            </a:r>
            <a:endParaRPr i="1" sz="1800">
              <a:solidFill>
                <a:srgbClr val="666666"/>
              </a:solidFill>
              <a:latin typeface="Spectral"/>
              <a:ea typeface="Spectral"/>
              <a:cs typeface="Spectral"/>
              <a:sym typeface="Spectral"/>
            </a:endParaRPr>
          </a:p>
        </p:txBody>
      </p:sp>
      <p:sp>
        <p:nvSpPr>
          <p:cNvPr id="190" name="Google Shape;190;p29"/>
          <p:cNvSpPr txBox="1"/>
          <p:nvPr>
            <p:ph idx="1" type="body"/>
          </p:nvPr>
        </p:nvSpPr>
        <p:spPr>
          <a:xfrm>
            <a:off x="311700" y="16096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questions we may need to answer: </a:t>
            </a:r>
            <a:endParaRPr/>
          </a:p>
          <a:p>
            <a:pPr indent="-342900" lvl="0" marL="457200" rtl="0" algn="l">
              <a:spcBef>
                <a:spcPts val="1600"/>
              </a:spcBef>
              <a:spcAft>
                <a:spcPts val="0"/>
              </a:spcAft>
              <a:buSzPts val="1800"/>
              <a:buChar char="●"/>
            </a:pPr>
            <a:r>
              <a:rPr lang="en"/>
              <a:t>How many seconds are in 24 hours? </a:t>
            </a:r>
            <a:endParaRPr/>
          </a:p>
          <a:p>
            <a:pPr indent="-342900" lvl="0" marL="457200" rtl="0" algn="l">
              <a:spcBef>
                <a:spcPts val="0"/>
              </a:spcBef>
              <a:spcAft>
                <a:spcPts val="0"/>
              </a:spcAft>
              <a:buSzPts val="1800"/>
              <a:buChar char="●"/>
            </a:pPr>
            <a:r>
              <a:rPr lang="en"/>
              <a:t>How long does it take to recite the alphabet?  </a:t>
            </a:r>
            <a:endParaRPr/>
          </a:p>
          <a:p>
            <a:pPr indent="0" lvl="0" marL="0" rtl="0" algn="l">
              <a:spcBef>
                <a:spcPts val="1600"/>
              </a:spcBef>
              <a:spcAft>
                <a:spcPts val="0"/>
              </a:spcAft>
              <a:buNone/>
            </a:pPr>
            <a:r>
              <a:rPr lang="en"/>
              <a:t>Estimate using logic:</a:t>
            </a:r>
            <a:endParaRPr/>
          </a:p>
          <a:p>
            <a:pPr indent="-342900" lvl="0" marL="457200" rtl="0" algn="l">
              <a:spcBef>
                <a:spcPts val="1600"/>
              </a:spcBef>
              <a:spcAft>
                <a:spcPts val="0"/>
              </a:spcAft>
              <a:buSzPts val="1800"/>
              <a:buChar char="●"/>
            </a:pPr>
            <a:r>
              <a:rPr lang="en"/>
              <a:t>There are 26 letters in the alphabet. Assuming it takes me a second to say each letter, it would take me 26 seconds to say the alphabet. </a:t>
            </a:r>
            <a:endParaRPr/>
          </a:p>
          <a:p>
            <a:pPr indent="-342900" lvl="0" marL="457200" rtl="0" algn="l">
              <a:spcBef>
                <a:spcPts val="0"/>
              </a:spcBef>
              <a:spcAft>
                <a:spcPts val="0"/>
              </a:spcAft>
              <a:buSzPts val="1800"/>
              <a:buChar char="●"/>
            </a:pPr>
            <a:r>
              <a:rPr lang="en"/>
              <a:t>At this rate I could roughly say the alphabet about 138 times in an hour. 138 x 24 = 3,312. </a:t>
            </a:r>
            <a:endParaRPr/>
          </a:p>
        </p:txBody>
      </p:sp>
      <p:sp>
        <p:nvSpPr>
          <p:cNvPr id="191" name="Google Shape;191;p29"/>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5" name="Shape 195"/>
        <p:cNvGrpSpPr/>
        <p:nvPr/>
      </p:nvGrpSpPr>
      <p:grpSpPr>
        <a:xfrm>
          <a:off x="0" y="0"/>
          <a:ext cx="0" cy="0"/>
          <a:chOff x="0" y="0"/>
          <a:chExt cx="0" cy="0"/>
        </a:xfrm>
      </p:grpSpPr>
      <p:sp>
        <p:nvSpPr>
          <p:cNvPr id="196" name="Google Shape;196;p30"/>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197" name="Google Shape;19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4: Gathering Data</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Perform experiments, conduct surveys and make measurements. If appropriate, create and use formulas.</a:t>
            </a:r>
            <a:endParaRPr i="1" sz="1800">
              <a:solidFill>
                <a:srgbClr val="434343"/>
              </a:solidFill>
              <a:latin typeface="Spectral"/>
              <a:ea typeface="Spectral"/>
              <a:cs typeface="Spectral"/>
              <a:sym typeface="Spectral"/>
            </a:endParaRPr>
          </a:p>
        </p:txBody>
      </p:sp>
      <p:sp>
        <p:nvSpPr>
          <p:cNvPr id="198" name="Google Shape;198;p30"/>
          <p:cNvSpPr txBox="1"/>
          <p:nvPr>
            <p:ph idx="1" type="body"/>
          </p:nvPr>
        </p:nvSpPr>
        <p:spPr>
          <a:xfrm>
            <a:off x="311700" y="1609675"/>
            <a:ext cx="8520600" cy="1766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There are 26 letters in the alphabet</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It takes 13.6 seconds to recite the alphabet (you may want to perform your own experiment, or some research on Google)</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There are 60 seconds in 1 minute, 60 minutes in 1 hour</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There are 24 hours in one day</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There are 3,600 seconds in 1 hour, 86, 400 seconds in 1 day</a:t>
            </a:r>
            <a:endParaRPr>
              <a:latin typeface="Open Sans"/>
              <a:ea typeface="Open Sans"/>
              <a:cs typeface="Open Sans"/>
              <a:sym typeface="Open Sans"/>
            </a:endParaRPr>
          </a:p>
        </p:txBody>
      </p:sp>
      <p:sp>
        <p:nvSpPr>
          <p:cNvPr id="199" name="Google Shape;199;p30"/>
          <p:cNvSpPr txBox="1"/>
          <p:nvPr/>
        </p:nvSpPr>
        <p:spPr>
          <a:xfrm>
            <a:off x="1871250" y="3605200"/>
            <a:ext cx="3355800" cy="69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Architects Daughter"/>
                <a:ea typeface="Architects Daughter"/>
                <a:cs typeface="Architects Daughter"/>
                <a:sym typeface="Architects Daughter"/>
              </a:rPr>
              <a:t>86,400                 </a:t>
            </a:r>
            <a:endParaRPr sz="3000">
              <a:latin typeface="Architects Daughter"/>
              <a:ea typeface="Architects Daughter"/>
              <a:cs typeface="Architects Daughter"/>
              <a:sym typeface="Architects Daughter"/>
            </a:endParaRPr>
          </a:p>
        </p:txBody>
      </p:sp>
      <p:cxnSp>
        <p:nvCxnSpPr>
          <p:cNvPr id="200" name="Google Shape;200;p30"/>
          <p:cNvCxnSpPr/>
          <p:nvPr/>
        </p:nvCxnSpPr>
        <p:spPr>
          <a:xfrm>
            <a:off x="2881675" y="4204000"/>
            <a:ext cx="1397100" cy="0"/>
          </a:xfrm>
          <a:prstGeom prst="straightConnector1">
            <a:avLst/>
          </a:prstGeom>
          <a:noFill/>
          <a:ln cap="flat" cmpd="sng" w="9525">
            <a:solidFill>
              <a:schemeClr val="dk2"/>
            </a:solidFill>
            <a:prstDash val="solid"/>
            <a:round/>
            <a:headEnd len="med" w="med" type="none"/>
            <a:tailEnd len="med" w="med" type="none"/>
          </a:ln>
        </p:spPr>
      </p:cxnSp>
      <p:sp>
        <p:nvSpPr>
          <p:cNvPr id="201" name="Google Shape;201;p30"/>
          <p:cNvSpPr txBox="1"/>
          <p:nvPr/>
        </p:nvSpPr>
        <p:spPr>
          <a:xfrm>
            <a:off x="2080225" y="4127800"/>
            <a:ext cx="3000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13.6</a:t>
            </a:r>
            <a:endParaRPr/>
          </a:p>
        </p:txBody>
      </p:sp>
      <p:sp>
        <p:nvSpPr>
          <p:cNvPr id="202" name="Google Shape;202;p30"/>
          <p:cNvSpPr txBox="1"/>
          <p:nvPr/>
        </p:nvSpPr>
        <p:spPr>
          <a:xfrm>
            <a:off x="3807525" y="3823000"/>
            <a:ext cx="3000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 6,352.94</a:t>
            </a:r>
            <a:endParaRPr/>
          </a:p>
        </p:txBody>
      </p:sp>
      <p:sp>
        <p:nvSpPr>
          <p:cNvPr id="203" name="Google Shape;203;p30"/>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31"/>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09" name="Google Shape;20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4: Gathering Data, continued </a:t>
            </a:r>
            <a:r>
              <a:rPr b="1" i="1" lang="en">
                <a:solidFill>
                  <a:srgbClr val="434343"/>
                </a:solidFill>
                <a:latin typeface="Spectral"/>
                <a:ea typeface="Spectral"/>
                <a:cs typeface="Spectral"/>
                <a:sym typeface="Spectral"/>
              </a:rPr>
              <a:t>(optional)</a:t>
            </a:r>
            <a:r>
              <a:rPr b="1" lang="en">
                <a:solidFill>
                  <a:srgbClr val="434343"/>
                </a:solidFill>
                <a:latin typeface="Spectral"/>
                <a:ea typeface="Spectral"/>
                <a:cs typeface="Spectral"/>
                <a:sym typeface="Spectral"/>
              </a:rPr>
              <a:t> </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Perform experiments, conduct surveys and make measurements. If appropriate, create and use formulas.</a:t>
            </a:r>
            <a:endParaRPr i="1" sz="1800">
              <a:solidFill>
                <a:srgbClr val="434343"/>
              </a:solidFill>
              <a:latin typeface="Spectral"/>
              <a:ea typeface="Spectral"/>
              <a:cs typeface="Spectral"/>
              <a:sym typeface="Spectral"/>
            </a:endParaRPr>
          </a:p>
        </p:txBody>
      </p:sp>
      <p:sp>
        <p:nvSpPr>
          <p:cNvPr id="210" name="Google Shape;210;p31"/>
          <p:cNvSpPr txBox="1"/>
          <p:nvPr>
            <p:ph idx="1" type="body"/>
          </p:nvPr>
        </p:nvSpPr>
        <p:spPr>
          <a:xfrm>
            <a:off x="311700" y="1609675"/>
            <a:ext cx="8520600" cy="176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You may want to define variables and create a formula to help you solve this </a:t>
            </a:r>
            <a:r>
              <a:rPr lang="en">
                <a:solidFill>
                  <a:srgbClr val="434343"/>
                </a:solidFill>
                <a:latin typeface="Open Sans"/>
                <a:ea typeface="Open Sans"/>
                <a:cs typeface="Open Sans"/>
                <a:sym typeface="Open Sans"/>
              </a:rPr>
              <a:t>Fermi problem. </a:t>
            </a:r>
            <a:endParaRPr>
              <a:solidFill>
                <a:srgbClr val="434343"/>
              </a:solidFill>
              <a:latin typeface="Open Sans"/>
              <a:ea typeface="Open Sans"/>
              <a:cs typeface="Open Sans"/>
              <a:sym typeface="Open Sans"/>
            </a:endParaRPr>
          </a:p>
          <a:p>
            <a:pPr indent="0" lvl="0" marL="0" rtl="0" algn="l">
              <a:spcBef>
                <a:spcPts val="1600"/>
              </a:spcBef>
              <a:spcAft>
                <a:spcPts val="1600"/>
              </a:spcAft>
              <a:buClr>
                <a:schemeClr val="dk1"/>
              </a:buClr>
              <a:buSzPts val="1100"/>
              <a:buFont typeface="Arial"/>
              <a:buNone/>
            </a:pPr>
            <a:r>
              <a:rPr lang="en">
                <a:solidFill>
                  <a:srgbClr val="666666"/>
                </a:solidFill>
                <a:latin typeface="Open Sans"/>
                <a:ea typeface="Open Sans"/>
                <a:cs typeface="Open Sans"/>
                <a:sym typeface="Open Sans"/>
              </a:rPr>
              <a:t>Let </a:t>
            </a:r>
            <a:r>
              <a:rPr i="1" lang="en">
                <a:solidFill>
                  <a:srgbClr val="666666"/>
                </a:solidFill>
                <a:latin typeface="Times New Roman"/>
                <a:ea typeface="Times New Roman"/>
                <a:cs typeface="Times New Roman"/>
                <a:sym typeface="Times New Roman"/>
              </a:rPr>
              <a:t>T</a:t>
            </a:r>
            <a:r>
              <a:rPr lang="en">
                <a:solidFill>
                  <a:srgbClr val="666666"/>
                </a:solidFill>
                <a:latin typeface="Open Sans"/>
                <a:ea typeface="Open Sans"/>
                <a:cs typeface="Open Sans"/>
                <a:sym typeface="Open Sans"/>
              </a:rPr>
              <a:t> represent the total time it takes (in seconds) to recite the alphabet and let </a:t>
            </a:r>
            <a:r>
              <a:rPr i="1" lang="en">
                <a:solidFill>
                  <a:srgbClr val="666666"/>
                </a:solidFill>
                <a:latin typeface="Times New Roman"/>
                <a:ea typeface="Times New Roman"/>
                <a:cs typeface="Times New Roman"/>
                <a:sym typeface="Times New Roman"/>
              </a:rPr>
              <a:t>x</a:t>
            </a:r>
            <a:r>
              <a:rPr lang="en">
                <a:solidFill>
                  <a:srgbClr val="666666"/>
                </a:solidFill>
                <a:latin typeface="Open Sans"/>
                <a:ea typeface="Open Sans"/>
                <a:cs typeface="Open Sans"/>
                <a:sym typeface="Open Sans"/>
              </a:rPr>
              <a:t> represent the numbers of repetitions. Th formula: </a:t>
            </a:r>
            <a:r>
              <a:rPr i="1" lang="en">
                <a:solidFill>
                  <a:srgbClr val="666666"/>
                </a:solidFill>
                <a:latin typeface="Times New Roman"/>
                <a:ea typeface="Times New Roman"/>
                <a:cs typeface="Times New Roman"/>
                <a:sym typeface="Times New Roman"/>
              </a:rPr>
              <a:t>T</a:t>
            </a:r>
            <a:r>
              <a:rPr lang="en">
                <a:solidFill>
                  <a:srgbClr val="666666"/>
                </a:solidFill>
                <a:latin typeface="Open Sans"/>
                <a:ea typeface="Open Sans"/>
                <a:cs typeface="Open Sans"/>
                <a:sym typeface="Open Sans"/>
              </a:rPr>
              <a:t> = 13.6</a:t>
            </a:r>
            <a:r>
              <a:rPr i="1" lang="en">
                <a:solidFill>
                  <a:srgbClr val="666666"/>
                </a:solidFill>
                <a:latin typeface="Times New Roman"/>
                <a:ea typeface="Times New Roman"/>
                <a:cs typeface="Times New Roman"/>
                <a:sym typeface="Times New Roman"/>
              </a:rPr>
              <a:t>x </a:t>
            </a:r>
            <a:r>
              <a:rPr lang="en">
                <a:solidFill>
                  <a:srgbClr val="666666"/>
                </a:solidFill>
                <a:latin typeface="Open Sans"/>
                <a:ea typeface="Open Sans"/>
                <a:cs typeface="Open Sans"/>
                <a:sym typeface="Open Sans"/>
              </a:rPr>
              <a:t>can help us calculate the time it will take (in seconds) to recite the alphabet a certain number of times. </a:t>
            </a:r>
            <a:endParaRPr>
              <a:solidFill>
                <a:srgbClr val="666666"/>
              </a:solidFill>
              <a:latin typeface="Open Sans"/>
              <a:ea typeface="Open Sans"/>
              <a:cs typeface="Open Sans"/>
              <a:sym typeface="Open Sans"/>
            </a:endParaRPr>
          </a:p>
        </p:txBody>
      </p:sp>
      <p:sp>
        <p:nvSpPr>
          <p:cNvPr id="211" name="Google Shape;211;p31"/>
          <p:cNvSpPr txBox="1"/>
          <p:nvPr/>
        </p:nvSpPr>
        <p:spPr>
          <a:xfrm>
            <a:off x="3072000" y="3492925"/>
            <a:ext cx="3000000" cy="69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86,400 = 13.6x</a:t>
            </a:r>
            <a:endParaRPr sz="3000">
              <a:solidFill>
                <a:schemeClr val="dk1"/>
              </a:solidFill>
              <a:latin typeface="Architects Daughter"/>
              <a:ea typeface="Architects Daughter"/>
              <a:cs typeface="Architects Daughter"/>
              <a:sym typeface="Architects Daughter"/>
            </a:endParaRPr>
          </a:p>
          <a:p>
            <a:pPr indent="0" lvl="0" marL="0" rtl="0" algn="ctr">
              <a:spcBef>
                <a:spcPts val="0"/>
              </a:spcBef>
              <a:spcAft>
                <a:spcPts val="0"/>
              </a:spcAft>
              <a:buNone/>
            </a:pPr>
            <a:r>
              <a:t/>
            </a:r>
            <a:endParaRPr sz="3000">
              <a:solidFill>
                <a:schemeClr val="dk1"/>
              </a:solidFill>
              <a:latin typeface="Architects Daughter"/>
              <a:ea typeface="Architects Daughter"/>
              <a:cs typeface="Architects Daughter"/>
              <a:sym typeface="Architects Daughter"/>
            </a:endParaRPr>
          </a:p>
        </p:txBody>
      </p:sp>
      <p:cxnSp>
        <p:nvCxnSpPr>
          <p:cNvPr id="212" name="Google Shape;212;p31"/>
          <p:cNvCxnSpPr/>
          <p:nvPr/>
        </p:nvCxnSpPr>
        <p:spPr>
          <a:xfrm flipH="1" rot="10800000">
            <a:off x="3458200" y="4054175"/>
            <a:ext cx="1047900" cy="12600"/>
          </a:xfrm>
          <a:prstGeom prst="straightConnector1">
            <a:avLst/>
          </a:prstGeom>
          <a:noFill/>
          <a:ln cap="flat" cmpd="sng" w="9525">
            <a:solidFill>
              <a:srgbClr val="666666"/>
            </a:solidFill>
            <a:prstDash val="solid"/>
            <a:round/>
            <a:headEnd len="med" w="med" type="none"/>
            <a:tailEnd len="med" w="med" type="none"/>
          </a:ln>
        </p:spPr>
      </p:cxnSp>
      <p:cxnSp>
        <p:nvCxnSpPr>
          <p:cNvPr id="213" name="Google Shape;213;p31"/>
          <p:cNvCxnSpPr/>
          <p:nvPr/>
        </p:nvCxnSpPr>
        <p:spPr>
          <a:xfrm flipH="1" rot="10800000">
            <a:off x="5100300" y="4054175"/>
            <a:ext cx="726900" cy="12600"/>
          </a:xfrm>
          <a:prstGeom prst="straightConnector1">
            <a:avLst/>
          </a:prstGeom>
          <a:noFill/>
          <a:ln cap="flat" cmpd="sng" w="9525">
            <a:solidFill>
              <a:srgbClr val="666666"/>
            </a:solidFill>
            <a:prstDash val="solid"/>
            <a:round/>
            <a:headEnd len="med" w="med" type="none"/>
            <a:tailEnd len="med" w="med" type="none"/>
          </a:ln>
        </p:spPr>
      </p:cxnSp>
      <p:sp>
        <p:nvSpPr>
          <p:cNvPr id="214" name="Google Shape;214;p31"/>
          <p:cNvSpPr txBox="1"/>
          <p:nvPr/>
        </p:nvSpPr>
        <p:spPr>
          <a:xfrm>
            <a:off x="3067100" y="3914375"/>
            <a:ext cx="1824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13.6</a:t>
            </a:r>
            <a:endParaRPr/>
          </a:p>
        </p:txBody>
      </p:sp>
      <p:sp>
        <p:nvSpPr>
          <p:cNvPr id="215" name="Google Shape;215;p31"/>
          <p:cNvSpPr txBox="1"/>
          <p:nvPr/>
        </p:nvSpPr>
        <p:spPr>
          <a:xfrm>
            <a:off x="4591100" y="3914375"/>
            <a:ext cx="1824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13.6</a:t>
            </a:r>
            <a:endParaRPr/>
          </a:p>
        </p:txBody>
      </p:sp>
      <p:sp>
        <p:nvSpPr>
          <p:cNvPr id="216" name="Google Shape;216;p31"/>
          <p:cNvSpPr txBox="1"/>
          <p:nvPr/>
        </p:nvSpPr>
        <p:spPr>
          <a:xfrm>
            <a:off x="3072000" y="4348200"/>
            <a:ext cx="3000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x=6,352.94</a:t>
            </a:r>
            <a:endParaRPr sz="3000">
              <a:solidFill>
                <a:schemeClr val="dk1"/>
              </a:solidFill>
              <a:latin typeface="Architects Daughter"/>
              <a:ea typeface="Architects Daughter"/>
              <a:cs typeface="Architects Daughter"/>
              <a:sym typeface="Architects Daughter"/>
            </a:endParaRPr>
          </a:p>
        </p:txBody>
      </p:sp>
      <p:sp>
        <p:nvSpPr>
          <p:cNvPr id="217" name="Google Shape;217;p31"/>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1" name="Shape 221"/>
        <p:cNvGrpSpPr/>
        <p:nvPr/>
      </p:nvGrpSpPr>
      <p:grpSpPr>
        <a:xfrm>
          <a:off x="0" y="0"/>
          <a:ext cx="0" cy="0"/>
          <a:chOff x="0" y="0"/>
          <a:chExt cx="0" cy="0"/>
        </a:xfrm>
      </p:grpSpPr>
      <p:sp>
        <p:nvSpPr>
          <p:cNvPr id="222" name="Google Shape;222;p32"/>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23" name="Google Shape;22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6: Conclusion</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State your final answer. Discuss possible sources of error, interesting facts learned and possible extensions.  </a:t>
            </a:r>
            <a:endParaRPr i="1" sz="1800">
              <a:solidFill>
                <a:srgbClr val="434343"/>
              </a:solidFill>
              <a:latin typeface="Spectral"/>
              <a:ea typeface="Spectral"/>
              <a:cs typeface="Spectral"/>
              <a:sym typeface="Spectral"/>
            </a:endParaRPr>
          </a:p>
        </p:txBody>
      </p:sp>
      <p:sp>
        <p:nvSpPr>
          <p:cNvPr id="224" name="Google Shape;224;p32"/>
          <p:cNvSpPr txBox="1"/>
          <p:nvPr>
            <p:ph idx="1" type="body"/>
          </p:nvPr>
        </p:nvSpPr>
        <p:spPr>
          <a:xfrm>
            <a:off x="311700" y="16096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434343"/>
                </a:solidFill>
                <a:latin typeface="Open Sans"/>
                <a:ea typeface="Open Sans"/>
                <a:cs typeface="Open Sans"/>
                <a:sym typeface="Open Sans"/>
              </a:rPr>
              <a:t>Based on this analysis, we conclude that we can say the alphabet 6,352 times  in 24 hours.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None/>
            </a:pPr>
            <a:r>
              <a:rPr lang="en" sz="1400">
                <a:solidFill>
                  <a:srgbClr val="434343"/>
                </a:solidFill>
                <a:latin typeface="Open Sans"/>
                <a:ea typeface="Open Sans"/>
                <a:cs typeface="Open Sans"/>
                <a:sym typeface="Open Sans"/>
              </a:rPr>
              <a:t>It takes 13.6 seconds to say the alphabet. Given that there are 86,400 seconds in 24 hour, one could recite the alphabet </a:t>
            </a:r>
            <a:r>
              <a:rPr lang="en" sz="1400">
                <a:solidFill>
                  <a:srgbClr val="434343"/>
                </a:solidFill>
                <a:latin typeface="Open Sans"/>
                <a:ea typeface="Open Sans"/>
                <a:cs typeface="Open Sans"/>
                <a:sym typeface="Open Sans"/>
              </a:rPr>
              <a:t>6,352</a:t>
            </a:r>
            <a:r>
              <a:rPr lang="en" sz="1400">
                <a:solidFill>
                  <a:srgbClr val="434343"/>
                </a:solidFill>
                <a:latin typeface="Open Sans"/>
                <a:ea typeface="Open Sans"/>
                <a:cs typeface="Open Sans"/>
                <a:sym typeface="Open Sans"/>
              </a:rPr>
              <a:t> times in that time frame.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None/>
            </a:pPr>
            <a:r>
              <a:rPr lang="en" sz="1400">
                <a:solidFill>
                  <a:srgbClr val="434343"/>
                </a:solidFill>
                <a:latin typeface="Open Sans"/>
                <a:ea typeface="Open Sans"/>
                <a:cs typeface="Open Sans"/>
                <a:sym typeface="Open Sans"/>
              </a:rPr>
              <a:t>One possible source of error is that we did not account for any breaks or mistakes. This might be unrealistic if attempted in real life.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434343"/>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434343"/>
                </a:solidFill>
                <a:latin typeface="Open Sans"/>
                <a:ea typeface="Open Sans"/>
                <a:cs typeface="Open Sans"/>
                <a:sym typeface="Open Sans"/>
              </a:rPr>
              <a:t>One interesting fact I learned is that there are about 100 languages that use an alphabet similar to English. While some languages have a few more and others a few less, they all share the core 23 letters originally found in the Roman alphabet. It would be interesting to compare the number of times one could recite the alphabet in different languages given the same time frame. </a:t>
            </a:r>
            <a:endParaRPr sz="1400">
              <a:solidFill>
                <a:srgbClr val="434343"/>
              </a:solidFill>
              <a:latin typeface="Open Sans"/>
              <a:ea typeface="Open Sans"/>
              <a:cs typeface="Open Sans"/>
              <a:sym typeface="Open Sans"/>
            </a:endParaRPr>
          </a:p>
        </p:txBody>
      </p:sp>
      <p:sp>
        <p:nvSpPr>
          <p:cNvPr id="225" name="Google Shape;225;p32"/>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Google Shape;230;p33"/>
          <p:cNvSpPr/>
          <p:nvPr/>
        </p:nvSpPr>
        <p:spPr>
          <a:xfrm>
            <a:off x="213300" y="222600"/>
            <a:ext cx="8717400" cy="4698300"/>
          </a:xfrm>
          <a:prstGeom prst="rect">
            <a:avLst/>
          </a:prstGeom>
          <a:solidFill>
            <a:srgbClr val="1155C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5000">
                <a:solidFill>
                  <a:schemeClr val="lt1"/>
                </a:solidFill>
                <a:latin typeface="Spectral"/>
                <a:ea typeface="Spectral"/>
                <a:cs typeface="Spectral"/>
                <a:sym typeface="Spectral"/>
              </a:rPr>
              <a:t>Estimate the number of cars in the USA that will have an oil change next Tuesday. </a:t>
            </a:r>
            <a:endParaRPr b="1" sz="5000">
              <a:latin typeface="Spectral"/>
              <a:ea typeface="Spectral"/>
              <a:cs typeface="Spectral"/>
              <a:sym typeface="Spectral"/>
            </a:endParaRPr>
          </a:p>
        </p:txBody>
      </p:sp>
      <p:sp>
        <p:nvSpPr>
          <p:cNvPr id="231" name="Google Shape;231;p33"/>
          <p:cNvSpPr txBox="1"/>
          <p:nvPr/>
        </p:nvSpPr>
        <p:spPr>
          <a:xfrm>
            <a:off x="213300" y="568975"/>
            <a:ext cx="8717400" cy="7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3600">
                <a:solidFill>
                  <a:schemeClr val="lt1"/>
                </a:solidFill>
                <a:latin typeface="Spectral"/>
                <a:ea typeface="Spectral"/>
                <a:cs typeface="Spectral"/>
                <a:sym typeface="Spectral"/>
              </a:rPr>
              <a:t>GUIDED EXAMPLE 2:</a:t>
            </a:r>
            <a:endParaRPr b="1" i="1" sz="3600">
              <a:latin typeface="Spectral"/>
              <a:ea typeface="Spectral"/>
              <a:cs typeface="Spectral"/>
              <a:sym typeface="Spectral"/>
            </a:endParaRPr>
          </a:p>
        </p:txBody>
      </p:sp>
      <p:sp>
        <p:nvSpPr>
          <p:cNvPr id="232" name="Google Shape;232;p33"/>
          <p:cNvSpPr txBox="1"/>
          <p:nvPr/>
        </p:nvSpPr>
        <p:spPr>
          <a:xfrm>
            <a:off x="6175200" y="48927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34"/>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38" name="Google Shape;238;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1: Question</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latin typeface="Spectral"/>
                <a:ea typeface="Spectral"/>
                <a:cs typeface="Spectral"/>
                <a:sym typeface="Spectral"/>
              </a:rPr>
              <a:t>State the questions and clarify the interpretation. </a:t>
            </a:r>
            <a:endParaRPr i="1" sz="1800">
              <a:latin typeface="Spectral"/>
              <a:ea typeface="Spectral"/>
              <a:cs typeface="Spectral"/>
              <a:sym typeface="Spectral"/>
            </a:endParaRPr>
          </a:p>
        </p:txBody>
      </p:sp>
      <p:sp>
        <p:nvSpPr>
          <p:cNvPr id="239" name="Google Shape;239;p34"/>
          <p:cNvSpPr txBox="1"/>
          <p:nvPr>
            <p:ph idx="1" type="body"/>
          </p:nvPr>
        </p:nvSpPr>
        <p:spPr>
          <a:xfrm>
            <a:off x="311700" y="1381075"/>
            <a:ext cx="8520600" cy="176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latin typeface="Open Sans"/>
                <a:ea typeface="Open Sans"/>
                <a:cs typeface="Open Sans"/>
                <a:sym typeface="Open Sans"/>
              </a:rPr>
              <a:t>We are being asked to estimate the number of cars in the USA that will have an oil change performed on their car next Tuesday. We are interpreting car in this scenario to only refer to those driven by the general public (cars, sport utility </a:t>
            </a:r>
            <a:r>
              <a:rPr lang="en">
                <a:latin typeface="Open Sans"/>
                <a:ea typeface="Open Sans"/>
                <a:cs typeface="Open Sans"/>
                <a:sym typeface="Open Sans"/>
              </a:rPr>
              <a:t>vehicles</a:t>
            </a:r>
            <a:r>
              <a:rPr lang="en">
                <a:latin typeface="Open Sans"/>
                <a:ea typeface="Open Sans"/>
                <a:cs typeface="Open Sans"/>
                <a:sym typeface="Open Sans"/>
              </a:rPr>
              <a:t>, vans, etc.) and not semi-trucks used to transport mass quantities of goods. We are interpreting the USA as all 50 states including Hawaii and Alaska. </a:t>
            </a:r>
            <a:endParaRPr>
              <a:latin typeface="Open Sans"/>
              <a:ea typeface="Open Sans"/>
              <a:cs typeface="Open Sans"/>
              <a:sym typeface="Open Sans"/>
            </a:endParaRPr>
          </a:p>
        </p:txBody>
      </p:sp>
      <p:sp>
        <p:nvSpPr>
          <p:cNvPr id="240" name="Google Shape;240;p34"/>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35"/>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46" name="Google Shape;246;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2: Wild Guess</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Make a wild guess involving no calculations.</a:t>
            </a:r>
            <a:endParaRPr i="1" sz="1800">
              <a:solidFill>
                <a:srgbClr val="434343"/>
              </a:solidFill>
              <a:latin typeface="Spectral"/>
              <a:ea typeface="Spectral"/>
              <a:cs typeface="Spectral"/>
              <a:sym typeface="Spectral"/>
            </a:endParaRPr>
          </a:p>
        </p:txBody>
      </p:sp>
      <p:sp>
        <p:nvSpPr>
          <p:cNvPr id="247" name="Google Shape;247;p35"/>
          <p:cNvSpPr txBox="1"/>
          <p:nvPr>
            <p:ph idx="1" type="body"/>
          </p:nvPr>
        </p:nvSpPr>
        <p:spPr>
          <a:xfrm>
            <a:off x="311700" y="13048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latin typeface="Open Sans"/>
                <a:ea typeface="Open Sans"/>
                <a:cs typeface="Open Sans"/>
                <a:sym typeface="Open Sans"/>
              </a:rPr>
              <a:t>Guess some numbers that are probably less than the real number and some that are probably more. Guess some that are close to the right answer.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rPr lang="en">
                <a:latin typeface="Open Sans"/>
                <a:ea typeface="Open Sans"/>
                <a:cs typeface="Open Sans"/>
                <a:sym typeface="Open Sans"/>
              </a:rPr>
              <a:t>How oil changes do </a:t>
            </a:r>
            <a:r>
              <a:rPr b="1" i="1" lang="en">
                <a:latin typeface="Open Sans"/>
                <a:ea typeface="Open Sans"/>
                <a:cs typeface="Open Sans"/>
                <a:sym typeface="Open Sans"/>
              </a:rPr>
              <a:t>you</a:t>
            </a:r>
            <a:r>
              <a:rPr lang="en">
                <a:latin typeface="Open Sans"/>
                <a:ea typeface="Open Sans"/>
                <a:cs typeface="Open Sans"/>
                <a:sym typeface="Open Sans"/>
              </a:rPr>
              <a:t> think you think will take place next Tuesday? 500? 5,000? 50,000,000?</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rPr lang="en">
                <a:latin typeface="Open Sans"/>
                <a:ea typeface="Open Sans"/>
                <a:cs typeface="Open Sans"/>
                <a:sym typeface="Open Sans"/>
              </a:rPr>
              <a:t>Record your guesses on your worksheet.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ctr">
              <a:spcBef>
                <a:spcPts val="160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ctr">
              <a:spcBef>
                <a:spcPts val="1600"/>
              </a:spcBef>
              <a:spcAft>
                <a:spcPts val="0"/>
              </a:spcAft>
              <a:buNone/>
            </a:pPr>
            <a:r>
              <a:t/>
            </a:r>
            <a:endParaRPr>
              <a:latin typeface="Open Sans"/>
              <a:ea typeface="Open Sans"/>
              <a:cs typeface="Open Sans"/>
              <a:sym typeface="Open Sans"/>
            </a:endParaRPr>
          </a:p>
          <a:p>
            <a:pPr indent="0" lvl="0" marL="0" rtl="0" algn="ctr">
              <a:spcBef>
                <a:spcPts val="1600"/>
              </a:spcBef>
              <a:spcAft>
                <a:spcPts val="0"/>
              </a:spcAft>
              <a:buNone/>
            </a:pPr>
            <a:r>
              <a:t/>
            </a:r>
            <a:endParaRPr>
              <a:latin typeface="Open Sans"/>
              <a:ea typeface="Open Sans"/>
              <a:cs typeface="Open Sans"/>
              <a:sym typeface="Open Sans"/>
            </a:endParaRPr>
          </a:p>
          <a:p>
            <a:pPr indent="0" lvl="0" marL="0" rtl="0" algn="ctr">
              <a:spcBef>
                <a:spcPts val="1600"/>
              </a:spcBef>
              <a:spcAft>
                <a:spcPts val="1600"/>
              </a:spcAft>
              <a:buNone/>
            </a:pPr>
            <a:r>
              <a:t/>
            </a:r>
            <a:endParaRPr>
              <a:latin typeface="Open Sans"/>
              <a:ea typeface="Open Sans"/>
              <a:cs typeface="Open Sans"/>
              <a:sym typeface="Open Sans"/>
            </a:endParaRPr>
          </a:p>
        </p:txBody>
      </p:sp>
      <p:sp>
        <p:nvSpPr>
          <p:cNvPr id="248" name="Google Shape;248;p35"/>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Google Shape;253;p36"/>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54" name="Google Shape;254;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3: Educated Guess </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666666"/>
                </a:solidFill>
                <a:latin typeface="Spectral"/>
                <a:ea typeface="Spectral"/>
                <a:cs typeface="Spectral"/>
                <a:sym typeface="Spectral"/>
              </a:rPr>
              <a:t>Make an educated guess using a chain of logic to come up with an estimate. List some questions you would need to answer to figure out the Fermi Problem. </a:t>
            </a:r>
            <a:endParaRPr i="1" sz="1800">
              <a:solidFill>
                <a:srgbClr val="666666"/>
              </a:solidFill>
              <a:latin typeface="Spectral"/>
              <a:ea typeface="Spectral"/>
              <a:cs typeface="Spectral"/>
              <a:sym typeface="Spectral"/>
            </a:endParaRPr>
          </a:p>
        </p:txBody>
      </p:sp>
      <p:sp>
        <p:nvSpPr>
          <p:cNvPr id="255" name="Google Shape;255;p36"/>
          <p:cNvSpPr txBox="1"/>
          <p:nvPr>
            <p:ph idx="1" type="body"/>
          </p:nvPr>
        </p:nvSpPr>
        <p:spPr>
          <a:xfrm>
            <a:off x="311700" y="16096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Some questions we may need to answer: </a:t>
            </a:r>
            <a:endParaRPr sz="1400"/>
          </a:p>
          <a:p>
            <a:pPr indent="-317500" lvl="0" marL="457200" rtl="0" algn="l">
              <a:spcBef>
                <a:spcPts val="1600"/>
              </a:spcBef>
              <a:spcAft>
                <a:spcPts val="0"/>
              </a:spcAft>
              <a:buSzPts val="1400"/>
              <a:buChar char="●"/>
            </a:pPr>
            <a:r>
              <a:rPr lang="en" sz="1400"/>
              <a:t>How many cars are there in the USA? </a:t>
            </a:r>
            <a:endParaRPr sz="1400"/>
          </a:p>
          <a:p>
            <a:pPr indent="-317500" lvl="0" marL="457200" rtl="0" algn="l">
              <a:spcBef>
                <a:spcPts val="0"/>
              </a:spcBef>
              <a:spcAft>
                <a:spcPts val="0"/>
              </a:spcAft>
              <a:buSzPts val="1400"/>
              <a:buChar char="●"/>
            </a:pPr>
            <a:r>
              <a:rPr lang="en" sz="1400"/>
              <a:t>How often do cars need oil changes? </a:t>
            </a:r>
            <a:endParaRPr sz="1400"/>
          </a:p>
          <a:p>
            <a:pPr indent="-317500" lvl="0" marL="457200" rtl="0" algn="l">
              <a:spcBef>
                <a:spcPts val="0"/>
              </a:spcBef>
              <a:spcAft>
                <a:spcPts val="0"/>
              </a:spcAft>
              <a:buSzPts val="1400"/>
              <a:buChar char="●"/>
            </a:pPr>
            <a:r>
              <a:rPr lang="en" sz="1400"/>
              <a:t>How many miles do cars drive per year on average?</a:t>
            </a:r>
            <a:endParaRPr sz="1400"/>
          </a:p>
          <a:p>
            <a:pPr indent="0" lvl="0" marL="0" rtl="0" algn="l">
              <a:spcBef>
                <a:spcPts val="1600"/>
              </a:spcBef>
              <a:spcAft>
                <a:spcPts val="0"/>
              </a:spcAft>
              <a:buNone/>
            </a:pPr>
            <a:r>
              <a:rPr lang="en" sz="1400"/>
              <a:t>Estimate using logic:</a:t>
            </a:r>
            <a:endParaRPr sz="1400"/>
          </a:p>
          <a:p>
            <a:pPr indent="-317500" lvl="0" marL="457200" rtl="0" algn="l">
              <a:spcBef>
                <a:spcPts val="1600"/>
              </a:spcBef>
              <a:spcAft>
                <a:spcPts val="0"/>
              </a:spcAft>
              <a:buSzPts val="1400"/>
              <a:buChar char="●"/>
            </a:pPr>
            <a:r>
              <a:rPr lang="en" sz="1400"/>
              <a:t>There are about 300 million people in the USA. Estimating that about half of them have cars, we can guess that there are about 150 million cars in the USA. </a:t>
            </a:r>
            <a:endParaRPr sz="1400"/>
          </a:p>
          <a:p>
            <a:pPr indent="-317500" lvl="0" marL="457200" rtl="0" algn="l">
              <a:spcBef>
                <a:spcPts val="0"/>
              </a:spcBef>
              <a:spcAft>
                <a:spcPts val="0"/>
              </a:spcAft>
              <a:buSzPts val="1400"/>
              <a:buChar char="●"/>
            </a:pPr>
            <a:r>
              <a:rPr lang="en" sz="1400"/>
              <a:t>If each of those cars gets at least 2 oil changes per year, thats 300 million oil changes. Tuesday is 1 out of 7 possible days in a week. 300 million divided by 7 is about 42 million. </a:t>
            </a:r>
            <a:endParaRPr sz="1400"/>
          </a:p>
        </p:txBody>
      </p:sp>
      <p:sp>
        <p:nvSpPr>
          <p:cNvPr id="256" name="Google Shape;256;p36"/>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0" name="Shape 260"/>
        <p:cNvGrpSpPr/>
        <p:nvPr/>
      </p:nvGrpSpPr>
      <p:grpSpPr>
        <a:xfrm>
          <a:off x="0" y="0"/>
          <a:ext cx="0" cy="0"/>
          <a:chOff x="0" y="0"/>
          <a:chExt cx="0" cy="0"/>
        </a:xfrm>
      </p:grpSpPr>
      <p:sp>
        <p:nvSpPr>
          <p:cNvPr id="261" name="Google Shape;261;p37"/>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62" name="Google Shape;26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4: Gathering Data</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Perform experiments, conduct surveys and make measurements. If appropriate, create and use formulas.</a:t>
            </a:r>
            <a:endParaRPr i="1" sz="1800">
              <a:solidFill>
                <a:srgbClr val="434343"/>
              </a:solidFill>
              <a:latin typeface="Spectral"/>
              <a:ea typeface="Spectral"/>
              <a:cs typeface="Spectral"/>
              <a:sym typeface="Spectral"/>
            </a:endParaRPr>
          </a:p>
        </p:txBody>
      </p:sp>
      <p:sp>
        <p:nvSpPr>
          <p:cNvPr id="263" name="Google Shape;263;p37"/>
          <p:cNvSpPr txBox="1"/>
          <p:nvPr>
            <p:ph idx="1" type="body"/>
          </p:nvPr>
        </p:nvSpPr>
        <p:spPr>
          <a:xfrm>
            <a:off x="311700" y="1609675"/>
            <a:ext cx="8520600" cy="1766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Open Sans"/>
              <a:buChar char="●"/>
            </a:pPr>
            <a:r>
              <a:rPr lang="en" sz="1400">
                <a:latin typeface="Open Sans"/>
                <a:ea typeface="Open Sans"/>
                <a:cs typeface="Open Sans"/>
                <a:sym typeface="Open Sans"/>
              </a:rPr>
              <a:t>There are 263.6 million cars in the USA (Google) </a:t>
            </a:r>
            <a:endParaRPr sz="1400">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sz="1400">
                <a:latin typeface="Open Sans"/>
                <a:ea typeface="Open Sans"/>
                <a:cs typeface="Open Sans"/>
                <a:sym typeface="Open Sans"/>
              </a:rPr>
              <a:t>On average, cars in the USA drive 13, 476 mi (21687.51 km) per year </a:t>
            </a:r>
            <a:endParaRPr sz="1400">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sz="1400">
                <a:latin typeface="Open Sans"/>
                <a:ea typeface="Open Sans"/>
                <a:cs typeface="Open Sans"/>
                <a:sym typeface="Open Sans"/>
              </a:rPr>
              <a:t>On average, cars need an oil change every 3,000 miles (4828 km). Thus, cars need about 4 oil changes per year.</a:t>
            </a:r>
            <a:endParaRPr sz="1400">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sz="1400">
                <a:latin typeface="Open Sans"/>
                <a:ea typeface="Open Sans"/>
                <a:cs typeface="Open Sans"/>
                <a:sym typeface="Open Sans"/>
              </a:rPr>
              <a:t>236.6 million cars receiving 4 oil changes per year works out to roughly 946.4 million oil changes per year. </a:t>
            </a:r>
            <a:endParaRPr sz="1400">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sz="1400">
                <a:latin typeface="Open Sans"/>
                <a:ea typeface="Open Sans"/>
                <a:cs typeface="Open Sans"/>
                <a:sym typeface="Open Sans"/>
              </a:rPr>
              <a:t>There are 365 days in a year</a:t>
            </a:r>
            <a:endParaRPr sz="1400">
              <a:latin typeface="Open Sans"/>
              <a:ea typeface="Open Sans"/>
              <a:cs typeface="Open Sans"/>
              <a:sym typeface="Open Sans"/>
            </a:endParaRPr>
          </a:p>
        </p:txBody>
      </p:sp>
      <p:sp>
        <p:nvSpPr>
          <p:cNvPr id="264" name="Google Shape;264;p37"/>
          <p:cNvSpPr txBox="1"/>
          <p:nvPr/>
        </p:nvSpPr>
        <p:spPr>
          <a:xfrm>
            <a:off x="729825" y="3654825"/>
            <a:ext cx="3000000" cy="69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946,400,000 </a:t>
            </a:r>
            <a:endParaRPr sz="3000">
              <a:solidFill>
                <a:schemeClr val="dk1"/>
              </a:solidFill>
              <a:latin typeface="Architects Daughter"/>
              <a:ea typeface="Architects Daughter"/>
              <a:cs typeface="Architects Daughter"/>
              <a:sym typeface="Architects Daughter"/>
            </a:endParaRPr>
          </a:p>
          <a:p>
            <a:pPr indent="0" lvl="0" marL="0" rtl="0" algn="ctr">
              <a:spcBef>
                <a:spcPts val="0"/>
              </a:spcBef>
              <a:spcAft>
                <a:spcPts val="0"/>
              </a:spcAft>
              <a:buNone/>
            </a:pPr>
            <a:r>
              <a:t/>
            </a:r>
            <a:endParaRPr sz="3000">
              <a:solidFill>
                <a:schemeClr val="dk1"/>
              </a:solidFill>
              <a:latin typeface="Architects Daughter"/>
              <a:ea typeface="Architects Daughter"/>
              <a:cs typeface="Architects Daughter"/>
              <a:sym typeface="Architects Daughter"/>
            </a:endParaRPr>
          </a:p>
        </p:txBody>
      </p:sp>
      <p:cxnSp>
        <p:nvCxnSpPr>
          <p:cNvPr id="265" name="Google Shape;265;p37"/>
          <p:cNvCxnSpPr/>
          <p:nvPr/>
        </p:nvCxnSpPr>
        <p:spPr>
          <a:xfrm>
            <a:off x="1499775" y="4285650"/>
            <a:ext cx="1307700" cy="12600"/>
          </a:xfrm>
          <a:prstGeom prst="straightConnector1">
            <a:avLst/>
          </a:prstGeom>
          <a:noFill/>
          <a:ln cap="flat" cmpd="sng" w="9525">
            <a:solidFill>
              <a:schemeClr val="dk2"/>
            </a:solidFill>
            <a:prstDash val="solid"/>
            <a:round/>
            <a:headEnd len="med" w="med" type="none"/>
            <a:tailEnd len="med" w="med" type="none"/>
          </a:ln>
        </p:spPr>
      </p:cxnSp>
      <p:sp>
        <p:nvSpPr>
          <p:cNvPr id="266" name="Google Shape;266;p37"/>
          <p:cNvSpPr txBox="1"/>
          <p:nvPr/>
        </p:nvSpPr>
        <p:spPr>
          <a:xfrm>
            <a:off x="1499775" y="4285650"/>
            <a:ext cx="1307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365</a:t>
            </a:r>
            <a:endParaRPr/>
          </a:p>
        </p:txBody>
      </p:sp>
      <p:sp>
        <p:nvSpPr>
          <p:cNvPr id="267" name="Google Shape;267;p37"/>
          <p:cNvSpPr txBox="1"/>
          <p:nvPr/>
        </p:nvSpPr>
        <p:spPr>
          <a:xfrm>
            <a:off x="2959875" y="3911200"/>
            <a:ext cx="5533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Architects Daughter"/>
                <a:ea typeface="Architects Daughter"/>
                <a:cs typeface="Architects Daughter"/>
                <a:sym typeface="Architects Daughter"/>
              </a:rPr>
              <a:t>= 2,592,876.7 </a:t>
            </a:r>
            <a:r>
              <a:rPr lang="en" sz="1800">
                <a:solidFill>
                  <a:schemeClr val="dk1"/>
                </a:solidFill>
                <a:latin typeface="Architects Daughter"/>
                <a:ea typeface="Architects Daughter"/>
                <a:cs typeface="Architects Daughter"/>
                <a:sym typeface="Architects Daughter"/>
              </a:rPr>
              <a:t>oil changes per day</a:t>
            </a:r>
            <a:endParaRPr sz="1800"/>
          </a:p>
        </p:txBody>
      </p:sp>
      <p:sp>
        <p:nvSpPr>
          <p:cNvPr id="268" name="Google Shape;268;p37"/>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Google Shape;273;p38"/>
          <p:cNvSpPr/>
          <p:nvPr/>
        </p:nvSpPr>
        <p:spPr>
          <a:xfrm>
            <a:off x="213300" y="222600"/>
            <a:ext cx="8717400" cy="46983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4800">
              <a:latin typeface="Architects Daughter"/>
              <a:ea typeface="Architects Daughter"/>
              <a:cs typeface="Architects Daughter"/>
              <a:sym typeface="Architects Daughter"/>
            </a:endParaRPr>
          </a:p>
        </p:txBody>
      </p:sp>
      <p:sp>
        <p:nvSpPr>
          <p:cNvPr id="274" name="Google Shape;274;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Step 6: Conclusion</a:t>
            </a:r>
            <a:endParaRPr b="1">
              <a:solidFill>
                <a:srgbClr val="434343"/>
              </a:solidFill>
              <a:latin typeface="Spectral"/>
              <a:ea typeface="Spectral"/>
              <a:cs typeface="Spectral"/>
              <a:sym typeface="Spectral"/>
            </a:endParaRPr>
          </a:p>
          <a:p>
            <a:pPr indent="0" lvl="0" marL="0" rtl="0" algn="l">
              <a:spcBef>
                <a:spcPts val="0"/>
              </a:spcBef>
              <a:spcAft>
                <a:spcPts val="0"/>
              </a:spcAft>
              <a:buNone/>
            </a:pPr>
            <a:r>
              <a:rPr i="1" lang="en" sz="1800">
                <a:solidFill>
                  <a:srgbClr val="434343"/>
                </a:solidFill>
                <a:latin typeface="Spectral"/>
                <a:ea typeface="Spectral"/>
                <a:cs typeface="Spectral"/>
                <a:sym typeface="Spectral"/>
              </a:rPr>
              <a:t>State your final answer. Discuss possible sources of error, interesting facts learned and possible extensions.  </a:t>
            </a:r>
            <a:endParaRPr i="1" sz="1800">
              <a:solidFill>
                <a:srgbClr val="434343"/>
              </a:solidFill>
              <a:latin typeface="Spectral"/>
              <a:ea typeface="Spectral"/>
              <a:cs typeface="Spectral"/>
              <a:sym typeface="Spectral"/>
            </a:endParaRPr>
          </a:p>
        </p:txBody>
      </p:sp>
      <p:sp>
        <p:nvSpPr>
          <p:cNvPr id="275" name="Google Shape;275;p38"/>
          <p:cNvSpPr txBox="1"/>
          <p:nvPr>
            <p:ph idx="1" type="body"/>
          </p:nvPr>
        </p:nvSpPr>
        <p:spPr>
          <a:xfrm>
            <a:off x="311700" y="16096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solidFill>
                  <a:srgbClr val="666666"/>
                </a:solidFill>
                <a:latin typeface="Open Sans"/>
                <a:ea typeface="Open Sans"/>
                <a:cs typeface="Open Sans"/>
                <a:sym typeface="Open Sans"/>
              </a:rPr>
              <a:t>Based on this analysis, we conclude that there will be about 2.5 million oil changes performed in the USA next Tuesday. I calculated that there are about 9.4 million oil changes performed in the USA every year. Dividing that number by the number of days in a year gave me the number of oil changes performed every day, which includes Tuesdays.</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None/>
            </a:pPr>
            <a:r>
              <a:rPr lang="en" sz="1300">
                <a:solidFill>
                  <a:srgbClr val="666666"/>
                </a:solidFill>
                <a:latin typeface="Open Sans"/>
                <a:ea typeface="Open Sans"/>
                <a:cs typeface="Open Sans"/>
                <a:sym typeface="Open Sans"/>
              </a:rPr>
              <a:t>An interesting fact I learned is that teenagers in the USA are eligible to get their permit at 14 years and 9 months of age. That seems really young to me! I also learned that newer cars can go longer between oil changes (~5-7,000 miles instead of 3,000). </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None/>
            </a:pPr>
            <a:r>
              <a:rPr lang="en" sz="1300">
                <a:solidFill>
                  <a:srgbClr val="666666"/>
                </a:solidFill>
                <a:latin typeface="Open Sans"/>
                <a:ea typeface="Open Sans"/>
                <a:cs typeface="Open Sans"/>
                <a:sym typeface="Open Sans"/>
              </a:rPr>
              <a:t>On possible source of error is that we did not account for holidays or other days on which oil changes may not be performed (for example Christmas or mechanic shops closed on Sundays). We all made a general assumption that all cars get 4 oil changes per year. Some people may drive less and require fewer oil changes. </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sz="1300">
              <a:solidFill>
                <a:srgbClr val="666666"/>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sz="1300">
                <a:solidFill>
                  <a:srgbClr val="666666"/>
                </a:solidFill>
                <a:latin typeface="Open Sans"/>
                <a:ea typeface="Open Sans"/>
                <a:cs typeface="Open Sans"/>
                <a:sym typeface="Open Sans"/>
              </a:rPr>
              <a:t>It would be interesting to calculate the total revenue generated by the number of oil changes that will take place next Tuesday. </a:t>
            </a:r>
            <a:endParaRPr sz="1300">
              <a:solidFill>
                <a:srgbClr val="666666"/>
              </a:solidFill>
              <a:latin typeface="Open Sans"/>
              <a:ea typeface="Open Sans"/>
              <a:cs typeface="Open Sans"/>
              <a:sym typeface="Open Sans"/>
            </a:endParaRPr>
          </a:p>
        </p:txBody>
      </p:sp>
      <p:sp>
        <p:nvSpPr>
          <p:cNvPr id="276" name="Google Shape;276;p38"/>
          <p:cNvSpPr txBox="1"/>
          <p:nvPr/>
        </p:nvSpPr>
        <p:spPr>
          <a:xfrm>
            <a:off x="6175200" y="46641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0" name="Shape 280"/>
        <p:cNvGrpSpPr/>
        <p:nvPr/>
      </p:nvGrpSpPr>
      <p:grpSpPr>
        <a:xfrm>
          <a:off x="0" y="0"/>
          <a:ext cx="0" cy="0"/>
          <a:chOff x="0" y="0"/>
          <a:chExt cx="0" cy="0"/>
        </a:xfrm>
      </p:grpSpPr>
      <p:sp>
        <p:nvSpPr>
          <p:cNvPr id="281" name="Google Shape;281;p39"/>
          <p:cNvSpPr/>
          <p:nvPr/>
        </p:nvSpPr>
        <p:spPr>
          <a:xfrm>
            <a:off x="213300" y="222600"/>
            <a:ext cx="8717400" cy="4698300"/>
          </a:xfrm>
          <a:prstGeom prst="rect">
            <a:avLst/>
          </a:prstGeom>
          <a:solidFill>
            <a:srgbClr val="1155C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6000">
              <a:latin typeface="Spectral"/>
              <a:ea typeface="Spectral"/>
              <a:cs typeface="Spectral"/>
              <a:sym typeface="Spectral"/>
            </a:endParaRPr>
          </a:p>
        </p:txBody>
      </p:sp>
      <p:sp>
        <p:nvSpPr>
          <p:cNvPr id="282" name="Google Shape;282;p39"/>
          <p:cNvSpPr txBox="1"/>
          <p:nvPr/>
        </p:nvSpPr>
        <p:spPr>
          <a:xfrm>
            <a:off x="213300" y="873775"/>
            <a:ext cx="8717400" cy="7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solidFill>
                  <a:schemeClr val="lt1"/>
                </a:solidFill>
                <a:latin typeface="Pacifico"/>
                <a:ea typeface="Pacifico"/>
                <a:cs typeface="Pacifico"/>
                <a:sym typeface="Pacifico"/>
              </a:rPr>
              <a:t>Your Turn!</a:t>
            </a:r>
            <a:endParaRPr b="1" sz="7200">
              <a:latin typeface="Pacifico"/>
              <a:ea typeface="Pacifico"/>
              <a:cs typeface="Pacifico"/>
              <a:sym typeface="Pacifico"/>
            </a:endParaRPr>
          </a:p>
        </p:txBody>
      </p:sp>
      <p:sp>
        <p:nvSpPr>
          <p:cNvPr id="283" name="Google Shape;283;p39"/>
          <p:cNvSpPr txBox="1"/>
          <p:nvPr/>
        </p:nvSpPr>
        <p:spPr>
          <a:xfrm>
            <a:off x="602475" y="1771450"/>
            <a:ext cx="7571400" cy="30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600">
                <a:solidFill>
                  <a:schemeClr val="lt1"/>
                </a:solidFill>
                <a:latin typeface="Architects Daughter"/>
                <a:ea typeface="Architects Daughter"/>
                <a:cs typeface="Architects Daughter"/>
                <a:sym typeface="Architects Daughter"/>
              </a:rPr>
              <a:t>FERMILAB</a:t>
            </a:r>
            <a:endParaRPr b="1" sz="9600">
              <a:solidFill>
                <a:schemeClr val="dk1"/>
              </a:solidFill>
              <a:latin typeface="Architects Daughter"/>
              <a:ea typeface="Architects Daughter"/>
              <a:cs typeface="Architects Daughter"/>
              <a:sym typeface="Architects Daughter"/>
            </a:endParaRPr>
          </a:p>
        </p:txBody>
      </p:sp>
      <p:sp>
        <p:nvSpPr>
          <p:cNvPr id="284" name="Google Shape;284;p39"/>
          <p:cNvSpPr txBox="1"/>
          <p:nvPr/>
        </p:nvSpPr>
        <p:spPr>
          <a:xfrm>
            <a:off x="6175200" y="48927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34343"/>
                </a:solidFill>
                <a:latin typeface="Spectral"/>
                <a:ea typeface="Spectral"/>
                <a:cs typeface="Spectral"/>
                <a:sym typeface="Spectral"/>
              </a:rPr>
              <a:t>FERMILAB OVERVIEW </a:t>
            </a:r>
            <a:endParaRPr b="1">
              <a:solidFill>
                <a:srgbClr val="434343"/>
              </a:solidFill>
              <a:latin typeface="Spectral"/>
              <a:ea typeface="Spectral"/>
              <a:cs typeface="Spectral"/>
              <a:sym typeface="Spectral"/>
            </a:endParaRPr>
          </a:p>
        </p:txBody>
      </p:sp>
      <p:sp>
        <p:nvSpPr>
          <p:cNvPr id="290" name="Google Shape;290;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Individually or with a partner, you will create your own Fermi Problem and find the solution. You will be graded on the following elements: </a:t>
            </a:r>
            <a:endParaRPr/>
          </a:p>
          <a:p>
            <a:pPr indent="-342900" lvl="0" marL="457200" rtl="0" algn="l">
              <a:spcBef>
                <a:spcPts val="1600"/>
              </a:spcBef>
              <a:spcAft>
                <a:spcPts val="0"/>
              </a:spcAft>
              <a:buSzPts val="1800"/>
              <a:buChar char="●"/>
            </a:pPr>
            <a:r>
              <a:rPr lang="en"/>
              <a:t>Creativity</a:t>
            </a:r>
            <a:endParaRPr/>
          </a:p>
          <a:p>
            <a:pPr indent="-342900" lvl="0" marL="457200" rtl="0" algn="l">
              <a:spcBef>
                <a:spcPts val="0"/>
              </a:spcBef>
              <a:spcAft>
                <a:spcPts val="0"/>
              </a:spcAft>
              <a:buSzPts val="1800"/>
              <a:buChar char="●"/>
            </a:pPr>
            <a:r>
              <a:rPr lang="en"/>
              <a:t>Process </a:t>
            </a:r>
            <a:endParaRPr/>
          </a:p>
          <a:p>
            <a:pPr indent="-342900" lvl="0" marL="457200" rtl="0" algn="l">
              <a:spcBef>
                <a:spcPts val="0"/>
              </a:spcBef>
              <a:spcAft>
                <a:spcPts val="0"/>
              </a:spcAft>
              <a:buSzPts val="1800"/>
              <a:buChar char="●"/>
            </a:pPr>
            <a:r>
              <a:rPr lang="en"/>
              <a:t>Conclusion</a:t>
            </a:r>
            <a:endParaRPr/>
          </a:p>
        </p:txBody>
      </p:sp>
      <p:sp>
        <p:nvSpPr>
          <p:cNvPr id="291" name="Google Shape;291;p40"/>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pic>
        <p:nvPicPr>
          <p:cNvPr id="292" name="Google Shape;292;p40"/>
          <p:cNvPicPr preferRelativeResize="0"/>
          <p:nvPr/>
        </p:nvPicPr>
        <p:blipFill>
          <a:blip r:embed="rId3">
            <a:alphaModFix/>
          </a:blip>
          <a:stretch>
            <a:fillRect/>
          </a:stretch>
        </p:blipFill>
        <p:spPr>
          <a:xfrm>
            <a:off x="3235788" y="1936200"/>
            <a:ext cx="2672433" cy="2961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434343"/>
                </a:solidFill>
                <a:latin typeface="Spectral"/>
                <a:ea typeface="Spectral"/>
                <a:cs typeface="Spectral"/>
                <a:sym typeface="Spectral"/>
              </a:rPr>
              <a:t>Characteristics of a Good Fermi Problem</a:t>
            </a:r>
            <a:endParaRPr b="1">
              <a:solidFill>
                <a:srgbClr val="434343"/>
              </a:solidFill>
              <a:latin typeface="Spectral"/>
              <a:ea typeface="Spectral"/>
              <a:cs typeface="Spectral"/>
              <a:sym typeface="Spectral"/>
            </a:endParaRPr>
          </a:p>
          <a:p>
            <a:pPr indent="0" lvl="0" marL="0" rtl="0" algn="l">
              <a:spcBef>
                <a:spcPts val="0"/>
              </a:spcBef>
              <a:spcAft>
                <a:spcPts val="0"/>
              </a:spcAft>
              <a:buNone/>
            </a:pPr>
            <a:r>
              <a:t/>
            </a:r>
            <a:endParaRPr/>
          </a:p>
        </p:txBody>
      </p:sp>
      <p:sp>
        <p:nvSpPr>
          <p:cNvPr id="298" name="Google Shape;298;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 good Fermi Problem is/has...</a:t>
            </a:r>
            <a:endParaRPr>
              <a:latin typeface="Open Sans"/>
              <a:ea typeface="Open Sans"/>
              <a:cs typeface="Open Sans"/>
              <a:sym typeface="Open Sans"/>
            </a:endParaRPr>
          </a:p>
          <a:p>
            <a:pPr indent="-342900" lvl="0" marL="457200" rtl="0" algn="l">
              <a:spcBef>
                <a:spcPts val="1600"/>
              </a:spcBef>
              <a:spcAft>
                <a:spcPts val="0"/>
              </a:spcAft>
              <a:buSzPts val="1800"/>
              <a:buFont typeface="Open Sans"/>
              <a:buChar char="●"/>
            </a:pPr>
            <a:r>
              <a:rPr lang="en">
                <a:latin typeface="Open Sans"/>
                <a:ea typeface="Open Sans"/>
                <a:cs typeface="Open Sans"/>
                <a:sym typeface="Open Sans"/>
              </a:rPr>
              <a:t>Open ended and can’t be answered with a simple yes or no. </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Creative and requires critical thinking</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No exact answer or definite solution</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Multiple ways to solve/arrive at a solution</a:t>
            </a:r>
            <a:endParaRPr>
              <a:latin typeface="Open Sans"/>
              <a:ea typeface="Open Sans"/>
              <a:cs typeface="Open Sans"/>
              <a:sym typeface="Open Sans"/>
            </a:endParaRPr>
          </a:p>
          <a:p>
            <a:pPr indent="0" lvl="0" marL="0" rtl="0" algn="l">
              <a:spcBef>
                <a:spcPts val="1600"/>
              </a:spcBef>
              <a:spcAft>
                <a:spcPts val="0"/>
              </a:spcAft>
              <a:buNone/>
            </a:pPr>
            <a:r>
              <a:rPr lang="en">
                <a:latin typeface="Open Sans"/>
                <a:ea typeface="Open Sans"/>
                <a:cs typeface="Open Sans"/>
                <a:sym typeface="Open Sans"/>
              </a:rPr>
              <a:t>Most importantly, your Fermi Problems should be something that you actually are interested in learning about!  </a:t>
            </a:r>
            <a:endParaRPr>
              <a:latin typeface="Open Sans"/>
              <a:ea typeface="Open Sans"/>
              <a:cs typeface="Open Sans"/>
              <a:sym typeface="Open Sans"/>
            </a:endParaRPr>
          </a:p>
          <a:p>
            <a:pPr indent="0" lvl="0" marL="0" rtl="0" algn="ctr">
              <a:spcBef>
                <a:spcPts val="1600"/>
              </a:spcBef>
              <a:spcAft>
                <a:spcPts val="0"/>
              </a:spcAft>
              <a:buNone/>
            </a:pPr>
            <a:r>
              <a:rPr b="1" i="1" lang="en">
                <a:latin typeface="Open Sans"/>
                <a:ea typeface="Open Sans"/>
                <a:cs typeface="Open Sans"/>
                <a:sym typeface="Open Sans"/>
              </a:rPr>
              <a:t>Be creative! Think outside the box… </a:t>
            </a:r>
            <a:endParaRPr b="1" i="1">
              <a:latin typeface="Open Sans"/>
              <a:ea typeface="Open Sans"/>
              <a:cs typeface="Open Sans"/>
              <a:sym typeface="Open Sans"/>
            </a:endParaRPr>
          </a:p>
          <a:p>
            <a:pPr indent="0" lvl="0" marL="0" rtl="0" algn="l">
              <a:spcBef>
                <a:spcPts val="1600"/>
              </a:spcBef>
              <a:spcAft>
                <a:spcPts val="1600"/>
              </a:spcAft>
              <a:buNone/>
            </a:pPr>
            <a:r>
              <a:t/>
            </a:r>
            <a:endParaRPr>
              <a:latin typeface="Open Sans"/>
              <a:ea typeface="Open Sans"/>
              <a:cs typeface="Open Sans"/>
              <a:sym typeface="Open Sans"/>
            </a:endParaRPr>
          </a:p>
        </p:txBody>
      </p:sp>
      <p:sp>
        <p:nvSpPr>
          <p:cNvPr id="299" name="Google Shape;299;p41"/>
          <p:cNvSpPr txBox="1"/>
          <p:nvPr/>
        </p:nvSpPr>
        <p:spPr>
          <a:xfrm>
            <a:off x="6403800" y="4806315"/>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Spectral"/>
                <a:ea typeface="Spectral"/>
                <a:cs typeface="Spectral"/>
                <a:sym typeface="Spectral"/>
              </a:rPr>
              <a:t>Sample Fermi Problems</a:t>
            </a:r>
            <a:endParaRPr b="1">
              <a:latin typeface="Spectral"/>
              <a:ea typeface="Spectral"/>
              <a:cs typeface="Spectral"/>
              <a:sym typeface="Spectral"/>
            </a:endParaRPr>
          </a:p>
        </p:txBody>
      </p:sp>
      <p:sp>
        <p:nvSpPr>
          <p:cNvPr id="305" name="Google Shape;305;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What is the total number of shots taken in one NBA season?</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How many steps does a dancer take during a song? </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How many hours will you spend on Facebook in a lifetime?</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How many pizzas were eaten last year in Chicago? </a:t>
            </a:r>
            <a:endParaRPr>
              <a:latin typeface="Open Sans"/>
              <a:ea typeface="Open Sans"/>
              <a:cs typeface="Open Sans"/>
              <a:sym typeface="Open Sans"/>
            </a:endParaRPr>
          </a:p>
          <a:p>
            <a:pPr indent="-342900" lvl="0" marL="457200" rtl="0" algn="l">
              <a:spcBef>
                <a:spcPts val="0"/>
              </a:spcBef>
              <a:spcAft>
                <a:spcPts val="0"/>
              </a:spcAft>
              <a:buSzPts val="1800"/>
              <a:buFont typeface="Open Sans"/>
              <a:buChar char="●"/>
            </a:pPr>
            <a:r>
              <a:rPr lang="en">
                <a:latin typeface="Open Sans"/>
                <a:ea typeface="Open Sans"/>
                <a:cs typeface="Open Sans"/>
                <a:sym typeface="Open Sans"/>
              </a:rPr>
              <a:t>How many drops of water are there in the Atlantic Ocean?</a:t>
            </a:r>
            <a:endParaRPr>
              <a:latin typeface="Open Sans"/>
              <a:ea typeface="Open Sans"/>
              <a:cs typeface="Open Sans"/>
              <a:sym typeface="Open Sans"/>
            </a:endParaRPr>
          </a:p>
        </p:txBody>
      </p:sp>
      <p:sp>
        <p:nvSpPr>
          <p:cNvPr id="306" name="Google Shape;306;p42"/>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chitects Daughter"/>
                <a:ea typeface="Architects Daughter"/>
                <a:cs typeface="Architects Daughter"/>
                <a:sym typeface="Architects Daughter"/>
              </a:rPr>
              <a:t>5 Steps for Answering Fermi Questions</a:t>
            </a:r>
            <a:endParaRPr>
              <a:latin typeface="Architects Daughter"/>
              <a:ea typeface="Architects Daughter"/>
              <a:cs typeface="Architects Daughter"/>
              <a:sym typeface="Architects Daughter"/>
            </a:endParaRPr>
          </a:p>
        </p:txBody>
      </p:sp>
      <p:sp>
        <p:nvSpPr>
          <p:cNvPr id="312" name="Google Shape;312;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Open Sans"/>
              <a:buAutoNum type="arabicPeriod"/>
            </a:pPr>
            <a:r>
              <a:rPr b="1" lang="en" sz="1600">
                <a:latin typeface="Open Sans"/>
                <a:ea typeface="Open Sans"/>
                <a:cs typeface="Open Sans"/>
                <a:sym typeface="Open Sans"/>
              </a:rPr>
              <a:t>Question:</a:t>
            </a:r>
            <a:r>
              <a:rPr lang="en" sz="1600">
                <a:latin typeface="Open Sans"/>
                <a:ea typeface="Open Sans"/>
                <a:cs typeface="Open Sans"/>
                <a:sym typeface="Open Sans"/>
              </a:rPr>
              <a:t> State the question and clarify the interpretation. </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AutoNum type="arabicPeriod"/>
            </a:pPr>
            <a:r>
              <a:rPr b="1" lang="en" sz="1600">
                <a:latin typeface="Open Sans"/>
                <a:ea typeface="Open Sans"/>
                <a:cs typeface="Open Sans"/>
                <a:sym typeface="Open Sans"/>
              </a:rPr>
              <a:t>Wild Guess: </a:t>
            </a:r>
            <a:r>
              <a:rPr lang="en" sz="1600">
                <a:latin typeface="Open Sans"/>
                <a:ea typeface="Open Sans"/>
                <a:cs typeface="Open Sans"/>
                <a:sym typeface="Open Sans"/>
              </a:rPr>
              <a:t>Make a wild guess involving no calculations. </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AutoNum type="arabicPeriod"/>
            </a:pPr>
            <a:r>
              <a:rPr b="1" lang="en" sz="1600">
                <a:latin typeface="Open Sans"/>
                <a:ea typeface="Open Sans"/>
                <a:cs typeface="Open Sans"/>
                <a:sym typeface="Open Sans"/>
              </a:rPr>
              <a:t>Educated Guess: </a:t>
            </a:r>
            <a:r>
              <a:rPr lang="en" sz="1600">
                <a:latin typeface="Open Sans"/>
                <a:ea typeface="Open Sans"/>
                <a:cs typeface="Open Sans"/>
                <a:sym typeface="Open Sans"/>
              </a:rPr>
              <a:t>Make an educated guess involving a chain of reasoning and calculations based on everyday experiences and estimates. </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AutoNum type="arabicPeriod"/>
            </a:pPr>
            <a:r>
              <a:rPr b="1" lang="en" sz="1600">
                <a:latin typeface="Open Sans"/>
                <a:ea typeface="Open Sans"/>
                <a:cs typeface="Open Sans"/>
                <a:sym typeface="Open Sans"/>
              </a:rPr>
              <a:t>Gathering Data</a:t>
            </a:r>
            <a:r>
              <a:rPr b="1" lang="en" sz="1600">
                <a:latin typeface="Open Sans"/>
                <a:ea typeface="Open Sans"/>
                <a:cs typeface="Open Sans"/>
                <a:sym typeface="Open Sans"/>
              </a:rPr>
              <a:t>: </a:t>
            </a:r>
            <a:r>
              <a:rPr lang="en" sz="1600">
                <a:latin typeface="Open Sans"/>
                <a:ea typeface="Open Sans"/>
                <a:cs typeface="Open Sans"/>
                <a:sym typeface="Open Sans"/>
              </a:rPr>
              <a:t>Perform experiments, conduct surveys, make measurements or search for information that would help you obtain a more precise estimate. If appropriate, d</a:t>
            </a:r>
            <a:r>
              <a:rPr lang="en" sz="1600">
                <a:latin typeface="Open Sans"/>
                <a:ea typeface="Open Sans"/>
                <a:cs typeface="Open Sans"/>
                <a:sym typeface="Open Sans"/>
              </a:rPr>
              <a:t>efine variables and create a formula to solve the Fermi question. </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AutoNum type="arabicPeriod"/>
            </a:pPr>
            <a:r>
              <a:rPr b="1" lang="en" sz="1600">
                <a:latin typeface="Open Sans"/>
                <a:ea typeface="Open Sans"/>
                <a:cs typeface="Open Sans"/>
                <a:sym typeface="Open Sans"/>
              </a:rPr>
              <a:t>Conclusions:</a:t>
            </a:r>
            <a:r>
              <a:rPr lang="en" sz="1600">
                <a:latin typeface="Open Sans"/>
                <a:ea typeface="Open Sans"/>
                <a:cs typeface="Open Sans"/>
                <a:sym typeface="Open Sans"/>
              </a:rPr>
              <a:t> State your final answer to the question. Explain some possible sources of error in your procedure. List any interesting facts you learned while seeking the answer to the Fermi question. Finally, discuss further direction that you could pursue if you wanted to extend your investigation into this topic. </a:t>
            </a:r>
            <a:endParaRPr sz="1600">
              <a:latin typeface="Open Sans"/>
              <a:ea typeface="Open Sans"/>
              <a:cs typeface="Open Sans"/>
              <a:sym typeface="Open Sans"/>
            </a:endParaRPr>
          </a:p>
        </p:txBody>
      </p:sp>
      <p:sp>
        <p:nvSpPr>
          <p:cNvPr id="313" name="Google Shape;313;p43"/>
          <p:cNvSpPr txBox="1"/>
          <p:nvPr/>
        </p:nvSpPr>
        <p:spPr>
          <a:xfrm>
            <a:off x="6403800" y="4816500"/>
            <a:ext cx="2740200" cy="32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i="1" lang="en" sz="800">
                <a:solidFill>
                  <a:schemeClr val="dk1"/>
                </a:solidFill>
              </a:rPr>
              <a:t> © innovativeteachingideas.com</a:t>
            </a:r>
            <a:endParaRPr i="1" sz="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
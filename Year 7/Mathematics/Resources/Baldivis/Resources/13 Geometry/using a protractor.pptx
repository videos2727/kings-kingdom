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0" r:id="rId3"/>
    <p:sldId id="263" r:id="rId4"/>
    <p:sldId id="264" r:id="rId5"/>
    <p:sldId id="257" r:id="rId6"/>
    <p:sldId id="256" r:id="rId7"/>
    <p:sldId id="258" r:id="rId8"/>
    <p:sldId id="259" r:id="rId9"/>
    <p:sldId id="260" r:id="rId10"/>
    <p:sldId id="261" r:id="rId11"/>
    <p:sldId id="262" r:id="rId12"/>
    <p:sldId id="266" r:id="rId13"/>
    <p:sldId id="265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00"/>
    <a:srgbClr val="FFFFFF"/>
    <a:srgbClr val="FF66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4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3F9F3-54D6-48E6-A253-17DD4335E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3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E9144-10A6-4557-8AA0-ECF3B8D9E3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5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0C905-3A71-47EB-995C-5BB4383E02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1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1E9D5-D15A-40E0-86EC-50F844B609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2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F2464-FA39-43FB-9D5C-04B6DD2D0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0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FE8CC-1161-4408-B321-5FB4355D5E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8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4247D9-4962-4DFF-80D4-ACF85B8F49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43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9495C7-C79C-43A7-A0B2-9E09B88F70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4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EDAAF-66F9-404D-8D9E-E92457B9D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1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8C335-8D01-428A-801D-E8CE11CA87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2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94010-2407-4D7B-BF1F-8A0F32A34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33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6411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1361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993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5478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6138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84966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734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4013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36116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15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258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AD998EFF-73A5-4794-8DAA-690D2907C2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/>
              <a:pPr>
                <a:defRPr/>
              </a:pPr>
              <a:t>27/10/2016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508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XU7ZY1i9Sk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r>
              <a:rPr lang="en-AU" dirty="0" smtClean="0"/>
              <a:t>My Angles</a:t>
            </a:r>
            <a:br>
              <a:rPr lang="en-AU" dirty="0" smtClean="0"/>
            </a:br>
            <a:r>
              <a:rPr lang="en-AU" dirty="0" smtClean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Name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Class: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smtClean="0"/>
              <a:t>Teacher:</a:t>
            </a:r>
            <a:endParaRPr lang="en-AU" dirty="0" smtClean="0"/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Term 4 Semester 2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4796" y="548680"/>
            <a:ext cx="1368152" cy="144655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728" y="1884135"/>
            <a:ext cx="1368152" cy="14465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3572848"/>
            <a:ext cx="1368152" cy="1446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0232" y="2708920"/>
            <a:ext cx="1368152" cy="14465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1902233"/>
            <a:ext cx="1368152" cy="1446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6296" y="437585"/>
            <a:ext cx="1368152" cy="1993816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3068960"/>
            <a:ext cx="1368152" cy="1993816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44308" y="3909817"/>
            <a:ext cx="1368152" cy="110799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2120" y="4797152"/>
            <a:ext cx="1368152" cy="1227644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481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820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imes New Roman" pitchFamily="18" charset="0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</a:rPr>
              <a:t>EQ – How </a:t>
            </a:r>
            <a:r>
              <a:rPr lang="en-AU" sz="2200" smtClean="0">
                <a:solidFill>
                  <a:prstClr val="black"/>
                </a:solidFill>
                <a:latin typeface="Times New Roman" pitchFamily="18" charset="0"/>
              </a:rPr>
              <a:t>do you </a:t>
            </a:r>
            <a:r>
              <a:rPr lang="en-AU" sz="2200" dirty="0" smtClean="0">
                <a:solidFill>
                  <a:prstClr val="black"/>
                </a:solidFill>
                <a:latin typeface="Times New Roman" pitchFamily="18" charset="0"/>
              </a:rPr>
              <a:t>draw angles using a protractor? </a:t>
            </a:r>
            <a:endParaRPr lang="en-AU" sz="2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5598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Times New Roman" pitchFamily="18" charset="0"/>
              </a:rPr>
              <a:t>Topic: </a:t>
            </a:r>
            <a:r>
              <a:rPr lang="en-AU" sz="2800" dirty="0" smtClean="0">
                <a:solidFill>
                  <a:prstClr val="black"/>
                </a:solidFill>
                <a:latin typeface="Times New Roman" pitchFamily="18" charset="0"/>
              </a:rPr>
              <a:t>Measuring and drawing angles</a:t>
            </a:r>
            <a:endParaRPr lang="en-AU" sz="2800" dirty="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8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 descr="M071900W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" t="22694" r="1723" b="23138"/>
          <a:stretch>
            <a:fillRect/>
          </a:stretch>
        </p:blipFill>
        <p:spPr bwMode="auto">
          <a:xfrm>
            <a:off x="1187450" y="1916113"/>
            <a:ext cx="6553200" cy="370681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WordArt 4"/>
          <p:cNvSpPr>
            <a:spLocks noChangeArrowheads="1" noChangeShapeType="1" noTextEdit="1"/>
          </p:cNvSpPr>
          <p:nvPr/>
        </p:nvSpPr>
        <p:spPr bwMode="auto">
          <a:xfrm>
            <a:off x="827088" y="1844675"/>
            <a:ext cx="7561262" cy="33845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How to</a:t>
            </a:r>
          </a:p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 measure angles </a:t>
            </a:r>
          </a:p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using a protractor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 rot="-977643">
            <a:off x="684213" y="1412875"/>
            <a:ext cx="1657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600" b="1"/>
              <a:t>acute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 rot="935484">
            <a:off x="6659563" y="1484313"/>
            <a:ext cx="1947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600" b="1"/>
              <a:t>obtuse</a:t>
            </a: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 rot="-977643">
            <a:off x="755650" y="5805488"/>
            <a:ext cx="1657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600" b="1"/>
              <a:t>reflex</a:t>
            </a:r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3708400" y="476250"/>
            <a:ext cx="16573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3600" b="1"/>
              <a:t>right angle</a:t>
            </a: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 rot="1166485">
            <a:off x="6156325" y="5734050"/>
            <a:ext cx="2081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600" b="1"/>
              <a:t>degrees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nimBg="1"/>
      <p:bldP spid="3078" grpId="0"/>
      <p:bldP spid="3079" grpId="0"/>
      <p:bldP spid="3080" grpId="0"/>
      <p:bldP spid="3081" grpId="0"/>
      <p:bldP spid="30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 descr="M071900W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" t="22694" r="1723" b="23138"/>
          <a:stretch>
            <a:fillRect/>
          </a:stretch>
        </p:blipFill>
        <p:spPr bwMode="auto">
          <a:xfrm>
            <a:off x="755650" y="1268413"/>
            <a:ext cx="7345363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5" name="Group 13"/>
          <p:cNvGrpSpPr>
            <a:grpSpLocks/>
          </p:cNvGrpSpPr>
          <p:nvPr/>
        </p:nvGrpSpPr>
        <p:grpSpPr bwMode="auto">
          <a:xfrm>
            <a:off x="2195513" y="333375"/>
            <a:ext cx="4640262" cy="792163"/>
            <a:chOff x="476" y="164"/>
            <a:chExt cx="2923" cy="499"/>
          </a:xfrm>
        </p:grpSpPr>
        <p:sp>
          <p:nvSpPr>
            <p:cNvPr id="3090" name="WordArt 10"/>
            <p:cNvSpPr>
              <a:spLocks noChangeArrowheads="1" noChangeShapeType="1" noTextEdit="1"/>
            </p:cNvSpPr>
            <p:nvPr/>
          </p:nvSpPr>
          <p:spPr bwMode="auto">
            <a:xfrm>
              <a:off x="476" y="255"/>
              <a:ext cx="894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AU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6600"/>
                  </a:solidFill>
                  <a:latin typeface="Arial Black"/>
                </a:rPr>
                <a:t>A 180</a:t>
              </a:r>
            </a:p>
          </p:txBody>
        </p:sp>
        <p:sp>
          <p:nvSpPr>
            <p:cNvPr id="3091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1429" y="164"/>
              <a:ext cx="136" cy="2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AU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6600"/>
                  </a:solidFill>
                  <a:latin typeface="Arial Black"/>
                </a:rPr>
                <a:t>o</a:t>
              </a:r>
            </a:p>
          </p:txBody>
        </p:sp>
        <p:sp>
          <p:nvSpPr>
            <p:cNvPr id="3092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1791" y="255"/>
              <a:ext cx="1608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AU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6600"/>
                  </a:solidFill>
                  <a:latin typeface="Arial Black"/>
                </a:rPr>
                <a:t>Protractor</a:t>
              </a:r>
            </a:p>
          </p:txBody>
        </p:sp>
      </p:grp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971550" y="4868863"/>
            <a:ext cx="6840538" cy="730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 flipV="1">
            <a:off x="2771775" y="4868863"/>
            <a:ext cx="792163" cy="9366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1835150" y="5734050"/>
            <a:ext cx="187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 b="1"/>
              <a:t>Base line</a:t>
            </a:r>
          </a:p>
        </p:txBody>
      </p:sp>
      <p:sp>
        <p:nvSpPr>
          <p:cNvPr id="2069" name="Text Box 21"/>
          <p:cNvSpPr txBox="1">
            <a:spLocks noChangeArrowheads="1"/>
          </p:cNvSpPr>
          <p:nvPr/>
        </p:nvSpPr>
        <p:spPr bwMode="auto">
          <a:xfrm>
            <a:off x="4427538" y="5734050"/>
            <a:ext cx="1657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b="1"/>
              <a:t>Cross hairs</a:t>
            </a:r>
          </a:p>
        </p:txBody>
      </p:sp>
      <p:sp>
        <p:nvSpPr>
          <p:cNvPr id="2070" name="Oval 22"/>
          <p:cNvSpPr>
            <a:spLocks noChangeArrowheads="1"/>
          </p:cNvSpPr>
          <p:nvPr/>
        </p:nvSpPr>
        <p:spPr bwMode="auto">
          <a:xfrm>
            <a:off x="4356100" y="4797425"/>
            <a:ext cx="215900" cy="2159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071" name="Text Box 23"/>
          <p:cNvSpPr txBox="1">
            <a:spLocks noChangeArrowheads="1"/>
          </p:cNvSpPr>
          <p:nvPr/>
        </p:nvSpPr>
        <p:spPr bwMode="auto">
          <a:xfrm>
            <a:off x="2555875" y="6165850"/>
            <a:ext cx="3529013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 b="1"/>
              <a:t>Two sets of numbers</a:t>
            </a:r>
          </a:p>
        </p:txBody>
      </p:sp>
      <p:grpSp>
        <p:nvGrpSpPr>
          <p:cNvPr id="2074" name="Group 26"/>
          <p:cNvGrpSpPr>
            <a:grpSpLocks/>
          </p:cNvGrpSpPr>
          <p:nvPr/>
        </p:nvGrpSpPr>
        <p:grpSpPr bwMode="auto">
          <a:xfrm>
            <a:off x="539750" y="5084763"/>
            <a:ext cx="1655763" cy="1073150"/>
            <a:chOff x="340" y="3203"/>
            <a:chExt cx="1043" cy="676"/>
          </a:xfrm>
        </p:grpSpPr>
        <p:sp>
          <p:nvSpPr>
            <p:cNvPr id="3088" name="Text Box 24"/>
            <p:cNvSpPr txBox="1">
              <a:spLocks noChangeArrowheads="1"/>
            </p:cNvSpPr>
            <p:nvPr/>
          </p:nvSpPr>
          <p:spPr bwMode="auto">
            <a:xfrm>
              <a:off x="340" y="3475"/>
              <a:ext cx="104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b="1">
                  <a:solidFill>
                    <a:srgbClr val="FF0000"/>
                  </a:solidFill>
                </a:rPr>
                <a:t>Outside numbers</a:t>
              </a:r>
            </a:p>
          </p:txBody>
        </p:sp>
        <p:sp>
          <p:nvSpPr>
            <p:cNvPr id="3089" name="AutoShape 25"/>
            <p:cNvSpPr>
              <a:spLocks noChangeArrowheads="1"/>
            </p:cNvSpPr>
            <p:nvPr/>
          </p:nvSpPr>
          <p:spPr bwMode="auto">
            <a:xfrm>
              <a:off x="793" y="3203"/>
              <a:ext cx="182" cy="227"/>
            </a:xfrm>
            <a:prstGeom prst="upArrow">
              <a:avLst>
                <a:gd name="adj1" fmla="val 50000"/>
                <a:gd name="adj2" fmla="val 31181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grpSp>
        <p:nvGrpSpPr>
          <p:cNvPr id="2077" name="Group 29"/>
          <p:cNvGrpSpPr>
            <a:grpSpLocks/>
          </p:cNvGrpSpPr>
          <p:nvPr/>
        </p:nvGrpSpPr>
        <p:grpSpPr bwMode="auto">
          <a:xfrm>
            <a:off x="6516688" y="5084763"/>
            <a:ext cx="1223962" cy="1001712"/>
            <a:chOff x="4105" y="3203"/>
            <a:chExt cx="771" cy="631"/>
          </a:xfrm>
        </p:grpSpPr>
        <p:sp>
          <p:nvSpPr>
            <p:cNvPr id="3086" name="Text Box 27"/>
            <p:cNvSpPr txBox="1">
              <a:spLocks noChangeArrowheads="1"/>
            </p:cNvSpPr>
            <p:nvPr/>
          </p:nvSpPr>
          <p:spPr bwMode="auto">
            <a:xfrm>
              <a:off x="4105" y="3430"/>
              <a:ext cx="77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b="1">
                  <a:solidFill>
                    <a:srgbClr val="FF0000"/>
                  </a:solidFill>
                </a:rPr>
                <a:t>Inside numbers</a:t>
              </a:r>
            </a:p>
          </p:txBody>
        </p:sp>
        <p:sp>
          <p:nvSpPr>
            <p:cNvPr id="3087" name="AutoShape 28"/>
            <p:cNvSpPr>
              <a:spLocks noChangeArrowheads="1"/>
            </p:cNvSpPr>
            <p:nvPr/>
          </p:nvSpPr>
          <p:spPr bwMode="auto">
            <a:xfrm>
              <a:off x="4332" y="3203"/>
              <a:ext cx="181" cy="227"/>
            </a:xfrm>
            <a:prstGeom prst="upArrow">
              <a:avLst>
                <a:gd name="adj1" fmla="val 50000"/>
                <a:gd name="adj2" fmla="val 3135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2068" name="Line 20"/>
          <p:cNvSpPr>
            <a:spLocks noChangeShapeType="1"/>
          </p:cNvSpPr>
          <p:nvPr/>
        </p:nvSpPr>
        <p:spPr bwMode="auto">
          <a:xfrm flipH="1" flipV="1">
            <a:off x="4500563" y="5013325"/>
            <a:ext cx="647700" cy="7207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>
            <a:off x="4067175" y="6021388"/>
            <a:ext cx="3024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/>
              <a:t>(where the 2 lines cross)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2" grpId="0" animBg="1"/>
      <p:bldP spid="2062" grpId="1" animBg="1"/>
      <p:bldP spid="2063" grpId="0" animBg="1"/>
      <p:bldP spid="2063" grpId="1" animBg="1"/>
      <p:bldP spid="2064" grpId="0"/>
      <p:bldP spid="2064" grpId="1"/>
      <p:bldP spid="2069" grpId="0"/>
      <p:bldP spid="2069" grpId="1"/>
      <p:bldP spid="2070" grpId="0" animBg="1"/>
      <p:bldP spid="2070" grpId="1" animBg="1"/>
      <p:bldP spid="2071" grpId="0" animBg="1"/>
      <p:bldP spid="2068" grpId="0" animBg="1"/>
      <p:bldP spid="2068" grpId="1" animBg="1"/>
      <p:bldP spid="2078" grpId="0"/>
      <p:bldP spid="207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4"/>
          <p:cNvSpPr>
            <a:spLocks noChangeArrowheads="1" noChangeShapeType="1" noTextEdit="1"/>
          </p:cNvSpPr>
          <p:nvPr/>
        </p:nvSpPr>
        <p:spPr bwMode="auto">
          <a:xfrm>
            <a:off x="1187450" y="1628775"/>
            <a:ext cx="6913563" cy="36718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When measuring</a:t>
            </a:r>
          </a:p>
          <a:p>
            <a:pPr algn="ctr"/>
            <a:r>
              <a:rPr lang="en-AU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angles, it is important to</a:t>
            </a:r>
          </a:p>
          <a:p>
            <a:pPr algn="ctr"/>
            <a:r>
              <a:rPr lang="en-AU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know which</a:t>
            </a:r>
          </a:p>
          <a:p>
            <a:pPr algn="ctr"/>
            <a:r>
              <a:rPr lang="en-AU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numbers to 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539750" y="260350"/>
            <a:ext cx="7345363" cy="72707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b="1"/>
              <a:t>PUT THE ‘CROSS HAIRS’ OF THE PROTRACTOR ONTO THE ANGLE AS ACCURATELY AS POSSIBLE.</a:t>
            </a:r>
          </a:p>
        </p:txBody>
      </p:sp>
      <p:pic>
        <p:nvPicPr>
          <p:cNvPr id="5126" name="Picture 6" descr="protra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1660" r="223" b="5199"/>
          <a:stretch>
            <a:fillRect/>
          </a:stretch>
        </p:blipFill>
        <p:spPr bwMode="auto">
          <a:xfrm>
            <a:off x="468313" y="3284538"/>
            <a:ext cx="633571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39750" y="260350"/>
            <a:ext cx="7345363" cy="727075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4000"/>
              <a:t>FIRST FIND THE BASE LINE</a:t>
            </a:r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3419475" y="4868863"/>
            <a:ext cx="504031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284663" y="5013325"/>
            <a:ext cx="2303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b="1"/>
              <a:t>BASE LINE</a:t>
            </a:r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 flipV="1">
            <a:off x="3419475" y="2205038"/>
            <a:ext cx="3240088" cy="26638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130" name="AutoShape 10"/>
          <p:cNvSpPr>
            <a:spLocks noChangeArrowheads="1"/>
          </p:cNvSpPr>
          <p:nvPr/>
        </p:nvSpPr>
        <p:spPr bwMode="auto">
          <a:xfrm rot="-3368178">
            <a:off x="2302669" y="5337969"/>
            <a:ext cx="1368425" cy="287337"/>
          </a:xfrm>
          <a:prstGeom prst="rightArrow">
            <a:avLst>
              <a:gd name="adj1" fmla="val 50000"/>
              <a:gd name="adj2" fmla="val 11906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4932363" y="5157788"/>
            <a:ext cx="35274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/>
              <a:t>THE BASE LINE IS RESTING ON THE ‘0’ OF THE </a:t>
            </a:r>
            <a:r>
              <a:rPr lang="en-GB" b="1">
                <a:solidFill>
                  <a:srgbClr val="FF0000"/>
                </a:solidFill>
              </a:rPr>
              <a:t>INSIDE NUMBERS</a:t>
            </a:r>
            <a:r>
              <a:rPr lang="en-GB"/>
              <a:t>, SO USE THEM.</a:t>
            </a:r>
          </a:p>
        </p:txBody>
      </p:sp>
      <p:sp>
        <p:nvSpPr>
          <p:cNvPr id="5132" name="AutoShape 12"/>
          <p:cNvSpPr>
            <a:spLocks noChangeArrowheads="1"/>
          </p:cNvSpPr>
          <p:nvPr/>
        </p:nvSpPr>
        <p:spPr bwMode="auto">
          <a:xfrm>
            <a:off x="5580063" y="4941888"/>
            <a:ext cx="287337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133" name="Oval 13"/>
          <p:cNvSpPr>
            <a:spLocks noChangeArrowheads="1"/>
          </p:cNvSpPr>
          <p:nvPr/>
        </p:nvSpPr>
        <p:spPr bwMode="auto">
          <a:xfrm>
            <a:off x="5148263" y="3284538"/>
            <a:ext cx="215900" cy="2159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7019925" y="2492375"/>
            <a:ext cx="1655763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/>
              <a:t>THE OTHER LINE IS RESTING ON THE 40...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1692275" y="5661025"/>
            <a:ext cx="56165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4400" b="1">
                <a:solidFill>
                  <a:srgbClr val="FF0000"/>
                </a:solidFill>
              </a:rPr>
              <a:t>So the angle is 40</a:t>
            </a:r>
            <a:r>
              <a:rPr lang="en-US" sz="4400" b="1">
                <a:solidFill>
                  <a:srgbClr val="FF0000"/>
                </a:solidFill>
                <a:cs typeface="Arial" charset="0"/>
              </a:rPr>
              <a:t>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-0.00393 L -0.02048 -0.22433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1" y="-110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9" grpId="0" animBg="1"/>
      <p:bldP spid="5124" grpId="0" animBg="1"/>
      <p:bldP spid="5125" grpId="0" animBg="1"/>
      <p:bldP spid="5127" grpId="0" build="allAtOnce"/>
      <p:bldP spid="5128" grpId="0" animBg="1"/>
      <p:bldP spid="5130" grpId="0" animBg="1"/>
      <p:bldP spid="5130" grpId="1" animBg="1"/>
      <p:bldP spid="5131" grpId="0"/>
      <p:bldP spid="5131" grpId="1"/>
      <p:bldP spid="5132" grpId="0" animBg="1"/>
      <p:bldP spid="5133" grpId="0" animBg="1"/>
      <p:bldP spid="5134" grpId="0"/>
      <p:bldP spid="51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protra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1660" r="223" b="5199"/>
          <a:stretch>
            <a:fillRect/>
          </a:stretch>
        </p:blipFill>
        <p:spPr bwMode="auto">
          <a:xfrm>
            <a:off x="323850" y="3141663"/>
            <a:ext cx="633571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1403350" y="260350"/>
            <a:ext cx="6335713" cy="650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3600" b="1"/>
              <a:t>LET’S TRY ANOTHER ONE</a:t>
            </a: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3851275" y="4868863"/>
            <a:ext cx="43211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4716463" y="5013325"/>
            <a:ext cx="1944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b="1"/>
              <a:t>Base line</a:t>
            </a:r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 flipV="1">
            <a:off x="3851275" y="1484313"/>
            <a:ext cx="1225550" cy="338455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2771775" y="5084763"/>
            <a:ext cx="47529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b="1"/>
              <a:t>USE THE INSIDE NUMBERS AGAIN.</a:t>
            </a:r>
          </a:p>
        </p:txBody>
      </p:sp>
      <p:sp>
        <p:nvSpPr>
          <p:cNvPr id="6154" name="Oval 10"/>
          <p:cNvSpPr>
            <a:spLocks noChangeArrowheads="1"/>
          </p:cNvSpPr>
          <p:nvPr/>
        </p:nvSpPr>
        <p:spPr bwMode="auto">
          <a:xfrm>
            <a:off x="4572000" y="2565400"/>
            <a:ext cx="215900" cy="2159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155" name="Text Box 11"/>
          <p:cNvSpPr txBox="1">
            <a:spLocks noChangeArrowheads="1"/>
          </p:cNvSpPr>
          <p:nvPr/>
        </p:nvSpPr>
        <p:spPr bwMode="auto">
          <a:xfrm>
            <a:off x="1547813" y="5373688"/>
            <a:ext cx="5761037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4800">
                <a:solidFill>
                  <a:srgbClr val="FF0000"/>
                </a:solidFill>
              </a:rPr>
              <a:t>The angle is 70</a:t>
            </a:r>
            <a:r>
              <a:rPr lang="en-US" sz="4800">
                <a:solidFill>
                  <a:srgbClr val="FF0000"/>
                </a:solidFill>
                <a:cs typeface="Arial" charset="0"/>
              </a:rPr>
              <a:t>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63645E-6 L 0.03924 -0.20976 " pathEditMode="relative" ptsTypes="AA">
                                      <p:cBhvr>
                                        <p:cTn id="26" dur="2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nimBg="1"/>
      <p:bldP spid="6151" grpId="0"/>
      <p:bldP spid="6151" grpId="1"/>
      <p:bldP spid="6152" grpId="0" animBg="1"/>
      <p:bldP spid="61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protra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1660" r="223" b="5199"/>
          <a:stretch>
            <a:fillRect/>
          </a:stretch>
        </p:blipFill>
        <p:spPr bwMode="auto">
          <a:xfrm>
            <a:off x="0" y="3473450"/>
            <a:ext cx="633571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3851275" y="4868863"/>
            <a:ext cx="43211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H="1" flipV="1">
            <a:off x="2051050" y="1628775"/>
            <a:ext cx="1800225" cy="32400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1692275" y="5084763"/>
            <a:ext cx="6048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/>
              <a:t>INSIDE NUMBERS AGAIN</a:t>
            </a:r>
          </a:p>
        </p:txBody>
      </p:sp>
      <p:sp>
        <p:nvSpPr>
          <p:cNvPr id="7177" name="Oval 9"/>
          <p:cNvSpPr>
            <a:spLocks noChangeArrowheads="1"/>
          </p:cNvSpPr>
          <p:nvPr/>
        </p:nvSpPr>
        <p:spPr bwMode="auto">
          <a:xfrm>
            <a:off x="2555875" y="2708275"/>
            <a:ext cx="215900" cy="217488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1331913" y="5445125"/>
            <a:ext cx="64801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4400" b="1">
                <a:solidFill>
                  <a:srgbClr val="FF0000"/>
                </a:solidFill>
              </a:rPr>
              <a:t>The angle is 120</a:t>
            </a:r>
            <a:r>
              <a:rPr lang="en-US" sz="4400" b="1">
                <a:solidFill>
                  <a:srgbClr val="FF0000"/>
                </a:solidFill>
                <a:cs typeface="Arial" charset="0"/>
              </a:rPr>
              <a:t>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6.85476E-6 L 0.07865 -0.25184 " pathEditMode="relative" ptsTypes="AA">
                                      <p:cBhvr>
                                        <p:cTn id="19" dur="2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  <p:bldP spid="7175" grpId="0" animBg="1"/>
      <p:bldP spid="7176" grpId="0"/>
      <p:bldP spid="7177" grpId="0" animBg="1"/>
      <p:bldP spid="71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/>
          <p:cNvSpPr txBox="1">
            <a:spLocks noChangeArrowheads="1"/>
          </p:cNvSpPr>
          <p:nvPr/>
        </p:nvSpPr>
        <p:spPr bwMode="auto">
          <a:xfrm>
            <a:off x="684213" y="404813"/>
            <a:ext cx="7345362" cy="4826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/>
              <a:t>THE ANGLE IS FACING TO THE LEFT THIS TIME</a:t>
            </a:r>
          </a:p>
        </p:txBody>
      </p:sp>
      <p:pic>
        <p:nvPicPr>
          <p:cNvPr id="8197" name="Picture 5" descr="protra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1660" r="223" b="5199"/>
          <a:stretch>
            <a:fillRect/>
          </a:stretch>
        </p:blipFill>
        <p:spPr bwMode="auto">
          <a:xfrm>
            <a:off x="2808288" y="3473450"/>
            <a:ext cx="633571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2124075" y="4868863"/>
            <a:ext cx="3887788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 flipH="1" flipV="1">
            <a:off x="3995738" y="1341438"/>
            <a:ext cx="2016125" cy="35274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5148263" y="1628775"/>
            <a:ext cx="34559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b="1"/>
              <a:t>Line up the ‘cross hairs’ with the angle.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1547813" y="5445125"/>
            <a:ext cx="38163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b="1"/>
              <a:t>Make sure the base line of the protractor is over the base line of the angle.</a:t>
            </a:r>
          </a:p>
        </p:txBody>
      </p:sp>
      <p:sp>
        <p:nvSpPr>
          <p:cNvPr id="8202" name="AutoShape 10"/>
          <p:cNvSpPr>
            <a:spLocks noChangeArrowheads="1"/>
          </p:cNvSpPr>
          <p:nvPr/>
        </p:nvSpPr>
        <p:spPr bwMode="auto">
          <a:xfrm>
            <a:off x="3635375" y="5013325"/>
            <a:ext cx="287338" cy="431800"/>
          </a:xfrm>
          <a:prstGeom prst="upArrow">
            <a:avLst>
              <a:gd name="adj1" fmla="val 50000"/>
              <a:gd name="adj2" fmla="val 375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1042988" y="5445125"/>
            <a:ext cx="7416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b="1"/>
              <a:t>The base line is on the ‘0’ of the </a:t>
            </a:r>
            <a:r>
              <a:rPr lang="en-GB" sz="2000" b="1">
                <a:solidFill>
                  <a:srgbClr val="FF0000"/>
                </a:solidFill>
              </a:rPr>
              <a:t>outside numbers</a:t>
            </a:r>
            <a:r>
              <a:rPr lang="en-GB" sz="2000" b="1"/>
              <a:t> this time, so use those ones.</a:t>
            </a:r>
          </a:p>
        </p:txBody>
      </p:sp>
      <p:sp>
        <p:nvSpPr>
          <p:cNvPr id="8204" name="AutoShape 12"/>
          <p:cNvSpPr>
            <a:spLocks noChangeArrowheads="1"/>
          </p:cNvSpPr>
          <p:nvPr/>
        </p:nvSpPr>
        <p:spPr bwMode="auto">
          <a:xfrm>
            <a:off x="3132138" y="4941888"/>
            <a:ext cx="358775" cy="576262"/>
          </a:xfrm>
          <a:prstGeom prst="upArrow">
            <a:avLst>
              <a:gd name="adj1" fmla="val 50000"/>
              <a:gd name="adj2" fmla="val 4015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1116013" y="5516563"/>
            <a:ext cx="6480175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4800" b="1">
                <a:solidFill>
                  <a:srgbClr val="FF0000"/>
                </a:solidFill>
              </a:rPr>
              <a:t>The angle is 60</a:t>
            </a:r>
            <a:r>
              <a:rPr lang="en-US" sz="4800" b="1">
                <a:solidFill>
                  <a:srgbClr val="FF0000"/>
                </a:solidFill>
                <a:cs typeface="Arial" charset="0"/>
              </a:rPr>
              <a:t>°</a:t>
            </a:r>
          </a:p>
        </p:txBody>
      </p:sp>
      <p:sp>
        <p:nvSpPr>
          <p:cNvPr id="8206" name="Oval 14"/>
          <p:cNvSpPr>
            <a:spLocks noChangeArrowheads="1"/>
          </p:cNvSpPr>
          <p:nvPr/>
        </p:nvSpPr>
        <p:spPr bwMode="auto">
          <a:xfrm>
            <a:off x="4500563" y="2349500"/>
            <a:ext cx="287337" cy="287338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6.85476E-6 L 0.00782 -0.25184 " pathEditMode="relative" ptsTypes="AA">
                                      <p:cBhvr>
                                        <p:cTn id="28" dur="2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8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 animBg="1"/>
      <p:bldP spid="8199" grpId="0" animBg="1"/>
      <p:bldP spid="8202" grpId="0" animBg="1"/>
      <p:bldP spid="8202" grpId="1" animBg="1"/>
      <p:bldP spid="8203" grpId="0" build="allAtOnce"/>
      <p:bldP spid="8204" grpId="0" animBg="1"/>
      <p:bldP spid="8204" grpId="1" animBg="1"/>
      <p:bldP spid="820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 descr="M071900W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" t="22694" r="1723" b="23138"/>
          <a:stretch>
            <a:fillRect/>
          </a:stretch>
        </p:blipFill>
        <p:spPr bwMode="auto">
          <a:xfrm>
            <a:off x="1187450" y="1916113"/>
            <a:ext cx="6553200" cy="370681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WordArt 4"/>
          <p:cNvSpPr>
            <a:spLocks noChangeArrowheads="1" noChangeShapeType="1" noTextEdit="1"/>
          </p:cNvSpPr>
          <p:nvPr/>
        </p:nvSpPr>
        <p:spPr bwMode="auto">
          <a:xfrm>
            <a:off x="827088" y="1844675"/>
            <a:ext cx="7561262" cy="33845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How to</a:t>
            </a:r>
          </a:p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 </a:t>
            </a:r>
            <a:r>
              <a:rPr lang="en-AU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draw </a:t>
            </a:r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angles </a:t>
            </a:r>
          </a:p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using a protractor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 rot="-977643">
            <a:off x="684213" y="1412875"/>
            <a:ext cx="1657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600" b="1"/>
              <a:t>acute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 rot="935484">
            <a:off x="6659563" y="1484313"/>
            <a:ext cx="1947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600" b="1"/>
              <a:t>obtuse</a:t>
            </a: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 rot="-977643">
            <a:off x="755650" y="5805488"/>
            <a:ext cx="1657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600" b="1"/>
              <a:t>reflex</a:t>
            </a:r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3708400" y="476250"/>
            <a:ext cx="16573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3600" b="1"/>
              <a:t>right angle</a:t>
            </a: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 rot="1166485">
            <a:off x="6156325" y="5734050"/>
            <a:ext cx="2081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600" b="1"/>
              <a:t>degrees</a:t>
            </a:r>
          </a:p>
        </p:txBody>
      </p:sp>
    </p:spTree>
    <p:extLst>
      <p:ext uri="{BB962C8B-B14F-4D97-AF65-F5344CB8AC3E}">
        <p14:creationId xmlns:p14="http://schemas.microsoft.com/office/powerpoint/2010/main" val="297597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nimBg="1"/>
      <p:bldP spid="3078" grpId="0"/>
      <p:bldP spid="3079" grpId="0"/>
      <p:bldP spid="3080" grpId="0"/>
      <p:bldP spid="3081" grpId="0"/>
      <p:bldP spid="30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protra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1660" r="223" b="5199"/>
          <a:stretch>
            <a:fillRect/>
          </a:stretch>
        </p:blipFill>
        <p:spPr bwMode="auto">
          <a:xfrm>
            <a:off x="654049" y="1124744"/>
            <a:ext cx="633571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3821906" y="4293394"/>
            <a:ext cx="43211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H="1" flipV="1">
            <a:off x="2021681" y="1053306"/>
            <a:ext cx="1800225" cy="32400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7" name="Oval 9"/>
          <p:cNvSpPr>
            <a:spLocks noChangeArrowheads="1"/>
          </p:cNvSpPr>
          <p:nvPr/>
        </p:nvSpPr>
        <p:spPr bwMode="auto">
          <a:xfrm>
            <a:off x="2220342" y="1463080"/>
            <a:ext cx="107950" cy="10874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AU">
              <a:ln>
                <a:solidFill>
                  <a:srgbClr val="0000CC"/>
                </a:solidFill>
              </a:ln>
              <a:solidFill>
                <a:srgbClr val="0000CC"/>
              </a:solidFill>
            </a:endParaRP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611187" y="188640"/>
            <a:ext cx="64801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4400" b="1" dirty="0" smtClean="0">
                <a:solidFill>
                  <a:srgbClr val="FF0000"/>
                </a:solidFill>
              </a:rPr>
              <a:t>Draw an angle of 120</a:t>
            </a:r>
            <a:r>
              <a:rPr lang="en-US" sz="4400" b="1" dirty="0">
                <a:solidFill>
                  <a:srgbClr val="FF0000"/>
                </a:solidFill>
                <a:cs typeface="Arial" charset="0"/>
              </a:rPr>
              <a:t>°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94754" y="4854779"/>
            <a:ext cx="27363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dirty="0" smtClean="0"/>
              <a:t>1) Draw a baseline</a:t>
            </a:r>
            <a:endParaRPr lang="en-GB" b="1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10183" y="5363698"/>
            <a:ext cx="56877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dirty="0"/>
              <a:t>2</a:t>
            </a:r>
            <a:r>
              <a:rPr lang="en-GB" b="1" dirty="0" smtClean="0"/>
              <a:t>) Line up baseline with cross hairs on protractor</a:t>
            </a:r>
            <a:endParaRPr lang="en-GB" b="1" dirty="0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78372" y="5814228"/>
            <a:ext cx="63978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dirty="0" smtClean="0"/>
              <a:t>3) Measure 120˚ on inside numbers and mark with a dot</a:t>
            </a:r>
            <a:endParaRPr lang="en-GB" b="1" dirty="0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10183" y="6299695"/>
            <a:ext cx="58218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dirty="0"/>
              <a:t>4</a:t>
            </a:r>
            <a:r>
              <a:rPr lang="en-GB" b="1" dirty="0" smtClean="0"/>
              <a:t>) Draw a line from the dot at 120˚ to the base line.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5973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  <p:bldP spid="7175" grpId="0" animBg="1"/>
      <p:bldP spid="7177" grpId="0" animBg="1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protra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1660" r="223" b="5199"/>
          <a:stretch>
            <a:fillRect/>
          </a:stretch>
        </p:blipFill>
        <p:spPr bwMode="auto">
          <a:xfrm>
            <a:off x="654049" y="1124744"/>
            <a:ext cx="633571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3821906" y="4293394"/>
            <a:ext cx="43211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V="1">
            <a:off x="3821905" y="1052736"/>
            <a:ext cx="2262263" cy="324065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7" name="Oval 9"/>
          <p:cNvSpPr>
            <a:spLocks noChangeArrowheads="1"/>
          </p:cNvSpPr>
          <p:nvPr/>
        </p:nvSpPr>
        <p:spPr bwMode="auto">
          <a:xfrm>
            <a:off x="5561558" y="1675656"/>
            <a:ext cx="107950" cy="10874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AU">
              <a:ln>
                <a:solidFill>
                  <a:srgbClr val="0000CC"/>
                </a:solidFill>
              </a:ln>
              <a:solidFill>
                <a:srgbClr val="0000CC"/>
              </a:solidFill>
            </a:endParaRP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611187" y="188640"/>
            <a:ext cx="64801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4400" b="1" dirty="0" smtClean="0">
                <a:solidFill>
                  <a:srgbClr val="FF0000"/>
                </a:solidFill>
              </a:rPr>
              <a:t>Draw an angle of 55</a:t>
            </a:r>
            <a:r>
              <a:rPr lang="en-US" sz="4400" b="1" dirty="0" smtClean="0">
                <a:solidFill>
                  <a:srgbClr val="FF0000"/>
                </a:solidFill>
                <a:cs typeface="Arial" charset="0"/>
              </a:rPr>
              <a:t>°</a:t>
            </a:r>
            <a:endParaRPr lang="en-US" sz="4400" b="1" dirty="0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94754" y="4854779"/>
            <a:ext cx="27363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dirty="0" smtClean="0"/>
              <a:t>1) Draw a baseline</a:t>
            </a:r>
            <a:endParaRPr lang="en-GB" b="1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10183" y="5363698"/>
            <a:ext cx="56877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dirty="0"/>
              <a:t>2</a:t>
            </a:r>
            <a:r>
              <a:rPr lang="en-GB" b="1" dirty="0" smtClean="0"/>
              <a:t>) Line up baseline with cross hairs on protractor</a:t>
            </a:r>
            <a:endParaRPr lang="en-GB" b="1" dirty="0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78372" y="5814228"/>
            <a:ext cx="62538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dirty="0" smtClean="0"/>
              <a:t>3) Measure 55˚ on inside numbers and mark with a dot</a:t>
            </a:r>
            <a:endParaRPr lang="en-GB" b="1" dirty="0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10184" y="6299695"/>
            <a:ext cx="55739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b="1" dirty="0"/>
              <a:t>4</a:t>
            </a:r>
            <a:r>
              <a:rPr lang="en-GB" b="1" dirty="0" smtClean="0"/>
              <a:t>) Draw a line from the dot at 55˚ to the base line.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24527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  <p:bldP spid="7175" grpId="0" animBg="1"/>
      <p:bldP spid="7177" grpId="0" animBg="1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916833"/>
            <a:ext cx="8928992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100" dirty="0" smtClean="0"/>
              <a:t>Drawing angles:</a:t>
            </a:r>
          </a:p>
          <a:p>
            <a:r>
              <a:rPr lang="en-AU" sz="3100" dirty="0" smtClean="0">
                <a:hlinkClick r:id="rId2"/>
              </a:rPr>
              <a:t>https://www.youtube.com/watch?v=qXU7ZY1i9Sk</a:t>
            </a:r>
            <a:r>
              <a:rPr lang="en-AU" sz="3100" dirty="0" smtClean="0"/>
              <a:t>  </a:t>
            </a:r>
            <a:endParaRPr lang="en-AU" sz="3100" dirty="0"/>
          </a:p>
        </p:txBody>
      </p:sp>
    </p:spTree>
    <p:extLst>
      <p:ext uri="{BB962C8B-B14F-4D97-AF65-F5344CB8AC3E}">
        <p14:creationId xmlns:p14="http://schemas.microsoft.com/office/powerpoint/2010/main" val="196151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359</Words>
  <Application>Microsoft Office PowerPoint</Application>
  <PresentationFormat>On-screen Show (4:3)</PresentationFormat>
  <Paragraphs>87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Default Design</vt:lpstr>
      <vt:lpstr>Office Theme</vt:lpstr>
      <vt:lpstr>My Angles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mr.smith</dc:creator>
  <cp:lastModifiedBy>MCALLISTER Robert</cp:lastModifiedBy>
  <cp:revision>9</cp:revision>
  <dcterms:created xsi:type="dcterms:W3CDTF">2011-05-25T14:29:35Z</dcterms:created>
  <dcterms:modified xsi:type="dcterms:W3CDTF">2016-10-27T01:25:54Z</dcterms:modified>
</cp:coreProperties>
</file>
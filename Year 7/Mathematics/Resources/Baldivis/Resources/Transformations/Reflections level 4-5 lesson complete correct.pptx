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540" r:id="rId2"/>
    <p:sldId id="565" r:id="rId3"/>
    <p:sldId id="564" r:id="rId4"/>
    <p:sldId id="558" r:id="rId5"/>
    <p:sldId id="560" r:id="rId6"/>
    <p:sldId id="562" r:id="rId7"/>
    <p:sldId id="577" r:id="rId8"/>
    <p:sldId id="568" r:id="rId9"/>
    <p:sldId id="569" r:id="rId10"/>
    <p:sldId id="555" r:id="rId11"/>
    <p:sldId id="571" r:id="rId12"/>
    <p:sldId id="572" r:id="rId13"/>
    <p:sldId id="573" r:id="rId14"/>
    <p:sldId id="578" r:id="rId15"/>
    <p:sldId id="574" r:id="rId16"/>
    <p:sldId id="576" r:id="rId17"/>
    <p:sldId id="531" r:id="rId18"/>
    <p:sldId id="273" r:id="rId19"/>
    <p:sldId id="453" r:id="rId20"/>
    <p:sldId id="270" r:id="rId21"/>
    <p:sldId id="269" r:id="rId22"/>
    <p:sldId id="267" r:id="rId23"/>
    <p:sldId id="566" r:id="rId24"/>
    <p:sldId id="567" r:id="rId25"/>
    <p:sldId id="559" r:id="rId26"/>
    <p:sldId id="561" r:id="rId27"/>
    <p:sldId id="563" r:id="rId28"/>
    <p:sldId id="582" r:id="rId29"/>
    <p:sldId id="579" r:id="rId30"/>
    <p:sldId id="580" r:id="rId31"/>
    <p:sldId id="581" r:id="rId32"/>
  </p:sldIdLst>
  <p:sldSz cx="9144000" cy="6858000" type="screen4x3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FF0000"/>
    <a:srgbClr val="0000FF"/>
    <a:srgbClr val="CA06A0"/>
    <a:srgbClr val="16AA1D"/>
    <a:srgbClr val="336699"/>
    <a:srgbClr val="003366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250" autoAdjust="0"/>
    <p:restoredTop sz="94139" autoAdjust="0"/>
  </p:normalViewPr>
  <p:slideViewPr>
    <p:cSldViewPr>
      <p:cViewPr>
        <p:scale>
          <a:sx n="70" d="100"/>
          <a:sy n="70" d="100"/>
        </p:scale>
        <p:origin x="-1651" y="-3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712" cy="496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3" tIns="45706" rIns="91413" bIns="4570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375" y="0"/>
            <a:ext cx="2945712" cy="496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3" tIns="45706" rIns="91413" bIns="4570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323"/>
            <a:ext cx="2945712" cy="49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3" tIns="45706" rIns="91413" bIns="4570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3" tIns="45706" rIns="91413" bIns="4570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C5C7B239-9BFE-45C2-A039-F00199B8DB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7344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712" cy="496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3" tIns="45706" rIns="91413" bIns="4570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375" y="0"/>
            <a:ext cx="2945712" cy="496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3" tIns="45706" rIns="91413" bIns="4570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292" y="4714955"/>
            <a:ext cx="5439092" cy="4467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3" tIns="45706" rIns="91413" bIns="457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323"/>
            <a:ext cx="2945712" cy="49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3" tIns="45706" rIns="91413" bIns="4570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13" tIns="45706" rIns="91413" bIns="4570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328E6614-4CB3-4B95-9FDB-4900F6FD94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727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03ECAF3E-D711-49C5-B4C4-B62CBB0E4BF4}" type="slidenum">
              <a:rPr lang="en-US" sz="1200">
                <a:solidFill>
                  <a:srgbClr val="000000"/>
                </a:solidFill>
              </a:rPr>
              <a:pPr algn="r" eaLnBrk="1" hangingPunct="1"/>
              <a:t>1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95421986-8805-49B7-8CBF-6245FB7828A9}" type="slidenum">
              <a:rPr lang="en-US" sz="1200">
                <a:solidFill>
                  <a:srgbClr val="000000"/>
                </a:solidFill>
              </a:rPr>
              <a:pPr algn="r" eaLnBrk="1" hangingPunct="1"/>
              <a:t>2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8AC219CD-F7A8-4413-8EEC-DA959148668D}" type="slidenum">
              <a:rPr lang="en-US" sz="1200">
                <a:solidFill>
                  <a:srgbClr val="000000"/>
                </a:solidFill>
              </a:rPr>
              <a:pPr algn="r" eaLnBrk="1" hangingPunct="1"/>
              <a:t>3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8D0C5E37-940F-4523-B4D3-FFD4F22E5EDC}" type="slidenum">
              <a:rPr lang="en-US" sz="1200">
                <a:solidFill>
                  <a:srgbClr val="000000"/>
                </a:solidFill>
              </a:rPr>
              <a:pPr algn="r" eaLnBrk="1" hangingPunct="1"/>
              <a:t>4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5C709317-BCCD-4B74-AFC0-AEBE6CC0DA8F}" type="slidenum">
              <a:rPr lang="en-US" sz="1200">
                <a:solidFill>
                  <a:srgbClr val="000000"/>
                </a:solidFill>
              </a:rPr>
              <a:pPr algn="r" eaLnBrk="1" hangingPunct="1"/>
              <a:t>5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69A7C924-EA32-4967-A2CC-CB9E8D74D9BA}" type="slidenum">
              <a:rPr lang="en-US" sz="1200">
                <a:solidFill>
                  <a:srgbClr val="000000"/>
                </a:solidFill>
              </a:rPr>
              <a:pPr algn="r" eaLnBrk="1" hangingPunct="1"/>
              <a:t>6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2BBB5259-9D15-4ADD-BF29-06544BDAE997}" type="slidenum">
              <a:rPr lang="en-US" sz="1200">
                <a:solidFill>
                  <a:srgbClr val="000000"/>
                </a:solidFill>
              </a:rPr>
              <a:pPr algn="r" eaLnBrk="1" hangingPunct="1"/>
              <a:t>7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153632F7-8980-4823-92FE-A0FAA1FDAFBC}" type="slidenum">
              <a:rPr lang="en-US" sz="1200">
                <a:solidFill>
                  <a:srgbClr val="000000"/>
                </a:solidFill>
              </a:rPr>
              <a:pPr algn="r" eaLnBrk="1" hangingPunct="1"/>
              <a:t>8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4A192ADA-87CE-45B7-BA18-E94CAD54CA48}" type="slidenum">
              <a:rPr lang="en-US" sz="1200">
                <a:solidFill>
                  <a:srgbClr val="000000"/>
                </a:solidFill>
              </a:rPr>
              <a:pPr algn="r" eaLnBrk="1" hangingPunct="1"/>
              <a:t>9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53ED62E5-D5BD-479D-9454-A355896C04D7}" type="slidenum">
              <a:rPr lang="en-US" sz="1200">
                <a:solidFill>
                  <a:srgbClr val="000000"/>
                </a:solidFill>
              </a:rPr>
              <a:pPr algn="r" eaLnBrk="1" hangingPunct="1"/>
              <a:t>10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C40C2314-603F-42E9-9619-A40314900D28}" type="slidenum">
              <a:rPr lang="en-US" sz="1200">
                <a:solidFill>
                  <a:srgbClr val="000000"/>
                </a:solidFill>
              </a:rPr>
              <a:pPr algn="r" eaLnBrk="1" hangingPunct="1"/>
              <a:t>11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50F544C2-0E0D-485B-B101-CF00FB1211BB}" type="slidenum">
              <a:rPr lang="en-US" sz="1200">
                <a:solidFill>
                  <a:srgbClr val="000000"/>
                </a:solidFill>
              </a:rPr>
              <a:pPr algn="r" eaLnBrk="1" hangingPunct="1"/>
              <a:t>12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111FECBA-7A5A-4B66-AE21-1E85FFA17D1C}" type="slidenum">
              <a:rPr lang="en-US" sz="1200">
                <a:solidFill>
                  <a:srgbClr val="000000"/>
                </a:solidFill>
              </a:rPr>
              <a:pPr algn="r" eaLnBrk="1" hangingPunct="1"/>
              <a:t>13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99A774BC-C889-4E74-9811-7D0CF677FB70}" type="slidenum">
              <a:rPr lang="en-US" sz="1200">
                <a:solidFill>
                  <a:srgbClr val="000000"/>
                </a:solidFill>
              </a:rPr>
              <a:pPr algn="r" eaLnBrk="1" hangingPunct="1"/>
              <a:t>14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F82AC07D-3465-4432-98AE-E04208443FE1}" type="slidenum">
              <a:rPr lang="en-US" sz="1200">
                <a:solidFill>
                  <a:srgbClr val="000000"/>
                </a:solidFill>
              </a:rPr>
              <a:pPr algn="r" eaLnBrk="1" hangingPunct="1"/>
              <a:t>15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B7AA8D9C-A209-4592-9B11-D51CE552DFBC}" type="slidenum">
              <a:rPr lang="en-US" sz="1200">
                <a:solidFill>
                  <a:srgbClr val="000000"/>
                </a:solidFill>
              </a:rPr>
              <a:pPr algn="r" eaLnBrk="1" hangingPunct="1"/>
              <a:t>16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FAE66023-52F0-4149-89B2-09CB67671AD6}" type="slidenum">
              <a:rPr lang="en-US" sz="1200">
                <a:solidFill>
                  <a:srgbClr val="000000"/>
                </a:solidFill>
              </a:rPr>
              <a:pPr algn="r" eaLnBrk="1" hangingPunct="1"/>
              <a:t>17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F9508538-7990-4505-A192-85EBF0CC398F}" type="slidenum">
              <a:rPr lang="en-US" sz="1200"/>
              <a:pPr algn="r" eaLnBrk="1" hangingPunct="1"/>
              <a:t>18</a:t>
            </a:fld>
            <a:endParaRPr 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E6CD4E2C-94AE-4A72-9C1D-0DFD4300660F}" type="slidenum">
              <a:rPr lang="en-US" sz="1200">
                <a:solidFill>
                  <a:srgbClr val="000000"/>
                </a:solidFill>
              </a:rPr>
              <a:pPr algn="r" eaLnBrk="1" hangingPunct="1"/>
              <a:t>19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727" indent="-285664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2657" indent="-22853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9720" indent="-22853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6783" indent="-22853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3846" indent="-22853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0908" indent="-22853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7971" indent="-22853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5034" indent="-22853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9F4559C-E126-405A-B531-B0D5C4A0D3CB}" type="slidenum">
              <a:rPr lang="en-US" smtClean="0"/>
              <a:pPr eaLnBrk="1" hangingPunct="1"/>
              <a:t>20</a:t>
            </a:fld>
            <a:endParaRPr lang="en-US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727" indent="-285664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2657" indent="-22853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9720" indent="-22853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6783" indent="-22853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3846" indent="-22853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0908" indent="-22853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7971" indent="-22853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5034" indent="-22853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8D5F595-4503-4109-AB3E-1C94E6927E02}" type="slidenum">
              <a:rPr lang="en-US" smtClean="0"/>
              <a:pPr eaLnBrk="1" hangingPunct="1"/>
              <a:t>21</a:t>
            </a:fld>
            <a:endParaRPr lang="en-US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727" indent="-285664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2657" indent="-22853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99720" indent="-22853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6783" indent="-22853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3846" indent="-22853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0908" indent="-22853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7971" indent="-22853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5034" indent="-22853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32C0068-4DBE-4E47-A220-1B870F22624D}" type="slidenum">
              <a:rPr lang="en-US" smtClean="0"/>
              <a:pPr eaLnBrk="1" hangingPunct="1"/>
              <a:t>22</a:t>
            </a:fld>
            <a:endParaRPr lang="en-US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EBA70A38-2326-474C-AC4D-86B387B2841C}" type="slidenum">
              <a:rPr lang="en-US" sz="1200">
                <a:solidFill>
                  <a:srgbClr val="000000"/>
                </a:solidFill>
              </a:rPr>
              <a:pPr algn="r" eaLnBrk="1" hangingPunct="1"/>
              <a:t>23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BA322C6E-6F16-4A40-9368-71892DF25048}" type="slidenum">
              <a:rPr lang="en-US" sz="1200">
                <a:solidFill>
                  <a:srgbClr val="000000"/>
                </a:solidFill>
              </a:rPr>
              <a:pPr algn="r" eaLnBrk="1" hangingPunct="1"/>
              <a:t>24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8D70AAA4-771E-407F-B671-BFDD53032132}" type="slidenum">
              <a:rPr lang="en-US" sz="1200">
                <a:solidFill>
                  <a:srgbClr val="000000"/>
                </a:solidFill>
              </a:rPr>
              <a:pPr algn="r" eaLnBrk="1" hangingPunct="1"/>
              <a:t>25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3277829E-D65E-4599-AC4A-0A6574229843}" type="slidenum">
              <a:rPr lang="en-US" sz="1200">
                <a:solidFill>
                  <a:srgbClr val="000000"/>
                </a:solidFill>
              </a:rPr>
              <a:pPr algn="r" eaLnBrk="1" hangingPunct="1"/>
              <a:t>26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D35C7612-38D0-48A2-942A-17104D7E2BE4}" type="slidenum">
              <a:rPr lang="en-US" sz="1200">
                <a:solidFill>
                  <a:srgbClr val="000000"/>
                </a:solidFill>
              </a:rPr>
              <a:pPr algn="r" eaLnBrk="1" hangingPunct="1"/>
              <a:t>27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AFE55EF3-ACF8-4919-8640-22E42AABF27F}" type="slidenum">
              <a:rPr lang="en-US" sz="1200">
                <a:solidFill>
                  <a:srgbClr val="000000"/>
                </a:solidFill>
              </a:rPr>
              <a:pPr algn="r" eaLnBrk="1" hangingPunct="1"/>
              <a:t>28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D6204324-CA96-4031-A7EC-7DB79321869A}" type="slidenum">
              <a:rPr lang="en-US" sz="1200">
                <a:solidFill>
                  <a:srgbClr val="000000"/>
                </a:solidFill>
              </a:rPr>
              <a:pPr algn="r" eaLnBrk="1" hangingPunct="1"/>
              <a:t>29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ED2616A1-9D14-4BD2-A071-FA58786BACE2}" type="slidenum">
              <a:rPr lang="en-US" sz="1200">
                <a:solidFill>
                  <a:srgbClr val="000000"/>
                </a:solidFill>
              </a:rPr>
              <a:pPr algn="r" eaLnBrk="1" hangingPunct="1"/>
              <a:t>30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850375" y="9428323"/>
            <a:ext cx="2945712" cy="496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3" tIns="45706" rIns="91413" bIns="45706"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684DE049-C7D0-4915-9BB0-9184FEE92C7F}" type="slidenum">
              <a:rPr lang="en-US" sz="1200">
                <a:solidFill>
                  <a:srgbClr val="000000"/>
                </a:solidFill>
              </a:rPr>
              <a:pPr algn="r" eaLnBrk="1" hangingPunct="1"/>
              <a:t>31</a:t>
            </a:fld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57F65D-04D1-48E6-8DFA-076621173A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13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B7FFB-E724-491A-A67E-402B17837A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4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D3F2A-4882-4077-8DB3-A92689536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82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7C46B8-5776-448D-B967-B4E44C9C85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28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E5EF2-A308-48CE-86A7-2F830B435E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29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90D81-EC20-4E3C-99D9-925C4624D5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75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8679E-70C8-48E7-9BF2-7862C3ACEF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08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4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3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4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C8184-78E9-47DE-834F-EC8CACFA93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49ECA3-DFE7-4F5F-AB7A-EFF8CFB2FE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86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E2506C-4EDC-40D2-BF0B-9104678E0F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1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C1597A-A4D1-4E6D-B3C8-B3680201D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29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E21B851D-FB69-443E-93CE-213A8DA758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48.jpeg"/><Relationship Id="rId7" Type="http://schemas.openxmlformats.org/officeDocument/2006/relationships/image" Target="../media/image5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eg"/><Relationship Id="rId5" Type="http://schemas.openxmlformats.org/officeDocument/2006/relationships/image" Target="../media/image49.jpeg"/><Relationship Id="rId4" Type="http://schemas.openxmlformats.org/officeDocument/2006/relationships/hyperlink" Target="http://images.google.co.uk/imgres?imgurl=http://site.xara.com/news/october06/img/pencil37.png&amp;imgrefurl=http://www.xara.com/news/october06/tutorial2.asp&amp;usg=__-G05iql_j18qjCrEGZRGr6alLwA=&amp;h=360&amp;w=394&amp;sz=21&amp;hl=en&amp;start=1&amp;um=1&amp;tbnid=6KjcfK0VMbGpcM:&amp;tbnh=113&amp;tbnw=124&amp;prev=/images?q=pencil&amp;hl=en&amp;um=1" TargetMode="External"/><Relationship Id="rId9" Type="http://schemas.openxmlformats.org/officeDocument/2006/relationships/image" Target="../media/image5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jpeg"/><Relationship Id="rId5" Type="http://schemas.openxmlformats.org/officeDocument/2006/relationships/hyperlink" Target="http://www.google.co.uk/imgres?imgurl=http://www.clipartpal.com/_thumbs/pd/education/post_up_note.png&amp;imgrefurl=http://www.clipartpal.com/clipart_pd/education/tack_12061.html&amp;usg=__Eqo3u0Y9MMtbowMlJUhVpDPORKI=&amp;h=313&amp;w=253&amp;sz=11&amp;hl=en&amp;start=2&amp;zoom=1&amp;um=1&amp;itbs=1&amp;tbnid=iv7uPk4WKp0BSM:&amp;tbnh=117&amp;tbnw=95&amp;prev=/images?q=post+it+note+clip+art&amp;um=1&amp;hl=en&amp;safe=vss&amp;sa=N&amp;sout=1&amp;ndsp=20&amp;biw=1003&amp;bih=562&amp;tbs=isch:1" TargetMode="External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6165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6166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6169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latin typeface="Comic Sans MS" pitchFamily="66" charset="0"/>
              </a:rPr>
              <a:t>REFLECTIONS</a:t>
            </a:r>
          </a:p>
          <a:p>
            <a:endParaRPr lang="en-US" sz="3000" b="1" u="sng"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6170" name="Text Box 40"/>
          <p:cNvSpPr txBox="1">
            <a:spLocks noChangeArrowheads="1"/>
          </p:cNvSpPr>
          <p:nvPr/>
        </p:nvSpPr>
        <p:spPr bwMode="auto">
          <a:xfrm>
            <a:off x="9525" y="965200"/>
            <a:ext cx="2362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800" b="1" u="sng">
                <a:solidFill>
                  <a:srgbClr val="FF0000"/>
                </a:solidFill>
              </a:rPr>
              <a:t>EXAMPLES</a:t>
            </a:r>
          </a:p>
        </p:txBody>
      </p:sp>
      <p:pic>
        <p:nvPicPr>
          <p:cNvPr id="6171" name="Picture 8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633538"/>
            <a:ext cx="3902075" cy="319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 Box 37"/>
          <p:cNvSpPr txBox="1">
            <a:spLocks noChangeArrowheads="1"/>
          </p:cNvSpPr>
          <p:nvPr/>
        </p:nvSpPr>
        <p:spPr bwMode="auto">
          <a:xfrm>
            <a:off x="34925" y="5084763"/>
            <a:ext cx="445928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GB" dirty="0" smtClean="0">
                <a:latin typeface="+mj-lt"/>
              </a:rPr>
              <a:t>Reflect the shape in the mirror line.</a:t>
            </a:r>
          </a:p>
        </p:txBody>
      </p:sp>
      <p:sp>
        <p:nvSpPr>
          <p:cNvPr id="6173" name="Rectangle 1"/>
          <p:cNvSpPr>
            <a:spLocks noChangeArrowheads="1"/>
          </p:cNvSpPr>
          <p:nvPr/>
        </p:nvSpPr>
        <p:spPr bwMode="auto">
          <a:xfrm>
            <a:off x="-80963" y="1536700"/>
            <a:ext cx="54292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1) </a:t>
            </a:r>
            <a:endParaRPr lang="en-GB"/>
          </a:p>
        </p:txBody>
      </p:sp>
      <p:sp>
        <p:nvSpPr>
          <p:cNvPr id="6174" name="Freeform 26"/>
          <p:cNvSpPr>
            <a:spLocks/>
          </p:cNvSpPr>
          <p:nvPr/>
        </p:nvSpPr>
        <p:spPr bwMode="auto">
          <a:xfrm flipH="1">
            <a:off x="433388" y="2538413"/>
            <a:ext cx="1212850" cy="1385887"/>
          </a:xfrm>
          <a:custGeom>
            <a:avLst/>
            <a:gdLst>
              <a:gd name="T0" fmla="*/ 0 w 907"/>
              <a:gd name="T1" fmla="*/ 2147483647 h 907"/>
              <a:gd name="T2" fmla="*/ 0 w 907"/>
              <a:gd name="T3" fmla="*/ 0 h 907"/>
              <a:gd name="T4" fmla="*/ 2147483647 w 907"/>
              <a:gd name="T5" fmla="*/ 2147483647 h 907"/>
              <a:gd name="T6" fmla="*/ 0 w 907"/>
              <a:gd name="T7" fmla="*/ 2147483647 h 90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07" h="907">
                <a:moveTo>
                  <a:pt x="0" y="907"/>
                </a:moveTo>
                <a:lnTo>
                  <a:pt x="0" y="0"/>
                </a:lnTo>
                <a:lnTo>
                  <a:pt x="907" y="454"/>
                </a:lnTo>
                <a:lnTo>
                  <a:pt x="0" y="454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AU"/>
          </a:p>
        </p:txBody>
      </p:sp>
      <p:pic>
        <p:nvPicPr>
          <p:cNvPr id="6175" name="Picture 9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0" y="1628775"/>
            <a:ext cx="3902075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76" name="Rectangle 157"/>
          <p:cNvSpPr>
            <a:spLocks noChangeArrowheads="1"/>
          </p:cNvSpPr>
          <p:nvPr/>
        </p:nvSpPr>
        <p:spPr bwMode="auto">
          <a:xfrm>
            <a:off x="4506913" y="1524000"/>
            <a:ext cx="5445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2) </a:t>
            </a:r>
            <a:endParaRPr lang="en-GB"/>
          </a:p>
        </p:txBody>
      </p:sp>
      <p:sp>
        <p:nvSpPr>
          <p:cNvPr id="32" name="Trapezoid 31"/>
          <p:cNvSpPr/>
          <p:nvPr/>
        </p:nvSpPr>
        <p:spPr>
          <a:xfrm>
            <a:off x="5781675" y="2228850"/>
            <a:ext cx="1225550" cy="650875"/>
          </a:xfrm>
          <a:prstGeom prst="trapezoid">
            <a:avLst>
              <a:gd name="adj" fmla="val 45243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3" name="Straight Connector 2"/>
          <p:cNvCxnSpPr/>
          <p:nvPr/>
        </p:nvCxnSpPr>
        <p:spPr>
          <a:xfrm>
            <a:off x="2265363" y="1836738"/>
            <a:ext cx="0" cy="2924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95338" y="2870200"/>
            <a:ext cx="1074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B050"/>
                </a:solidFill>
              </a:rPr>
              <a:t>Object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493838" y="2352675"/>
            <a:ext cx="320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1673225" y="2551113"/>
            <a:ext cx="598488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2298700" y="2551113"/>
            <a:ext cx="598488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2738438" y="2362200"/>
            <a:ext cx="320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1489075" y="3024188"/>
            <a:ext cx="320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1668463" y="3222625"/>
            <a:ext cx="598487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2293938" y="3224213"/>
            <a:ext cx="598487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2733675" y="3035300"/>
            <a:ext cx="320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269875" y="3038475"/>
            <a:ext cx="320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49263" y="3236913"/>
            <a:ext cx="1825625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268538" y="3222625"/>
            <a:ext cx="1854200" cy="14288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3962400" y="3035300"/>
            <a:ext cx="322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1489075" y="3687763"/>
            <a:ext cx="320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53" name="Straight Connector 52"/>
          <p:cNvCxnSpPr/>
          <p:nvPr/>
        </p:nvCxnSpPr>
        <p:spPr>
          <a:xfrm>
            <a:off x="1668463" y="3900488"/>
            <a:ext cx="598487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2293938" y="3900488"/>
            <a:ext cx="598487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2733675" y="3697288"/>
            <a:ext cx="320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grpSp>
        <p:nvGrpSpPr>
          <p:cNvPr id="58" name="Group 57"/>
          <p:cNvGrpSpPr>
            <a:grpSpLocks/>
          </p:cNvGrpSpPr>
          <p:nvPr/>
        </p:nvGrpSpPr>
        <p:grpSpPr bwMode="auto">
          <a:xfrm rot="16200000" flipV="1">
            <a:off x="2807494" y="2607469"/>
            <a:ext cx="1385888" cy="1244600"/>
            <a:chOff x="4963104" y="5085184"/>
            <a:chExt cx="1237743" cy="1021761"/>
          </a:xfrm>
        </p:grpSpPr>
        <p:cxnSp>
          <p:nvCxnSpPr>
            <p:cNvPr id="59" name="Straight Connector 58"/>
            <p:cNvCxnSpPr/>
            <p:nvPr/>
          </p:nvCxnSpPr>
          <p:spPr>
            <a:xfrm>
              <a:off x="4963104" y="6106945"/>
              <a:ext cx="123774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flipV="1">
              <a:off x="5578430" y="5085184"/>
              <a:ext cx="4254" cy="102176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flipH="1" flipV="1">
              <a:off x="5557165" y="5099520"/>
              <a:ext cx="635176" cy="100742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8" name="Straight Connector 67"/>
          <p:cNvCxnSpPr/>
          <p:nvPr/>
        </p:nvCxnSpPr>
        <p:spPr>
          <a:xfrm flipH="1">
            <a:off x="5722938" y="1851025"/>
            <a:ext cx="2520950" cy="27495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 Box 37"/>
          <p:cNvSpPr txBox="1">
            <a:spLocks noChangeArrowheads="1"/>
          </p:cNvSpPr>
          <p:nvPr/>
        </p:nvSpPr>
        <p:spPr bwMode="auto">
          <a:xfrm>
            <a:off x="4773613" y="5086350"/>
            <a:ext cx="445928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GB" dirty="0" smtClean="0">
                <a:latin typeface="+mj-lt"/>
              </a:rPr>
              <a:t>Reflect the shape in the mirror line.</a:t>
            </a: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2878138" y="2855913"/>
            <a:ext cx="1074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B050"/>
                </a:solidFill>
              </a:rPr>
              <a:t>Image</a:t>
            </a: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5927725" y="2386013"/>
            <a:ext cx="1074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B050"/>
                </a:solidFill>
              </a:rPr>
              <a:t>Object</a:t>
            </a:r>
          </a:p>
        </p:txBody>
      </p:sp>
      <p:sp>
        <p:nvSpPr>
          <p:cNvPr id="74" name="TextBox 73"/>
          <p:cNvSpPr txBox="1">
            <a:spLocks noChangeArrowheads="1"/>
          </p:cNvSpPr>
          <p:nvPr/>
        </p:nvSpPr>
        <p:spPr bwMode="auto">
          <a:xfrm>
            <a:off x="6850063" y="2682875"/>
            <a:ext cx="320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75" name="Straight Connector 74"/>
          <p:cNvCxnSpPr/>
          <p:nvPr/>
        </p:nvCxnSpPr>
        <p:spPr>
          <a:xfrm>
            <a:off x="7007225" y="2897188"/>
            <a:ext cx="158750" cy="174625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7183438" y="3076575"/>
            <a:ext cx="120650" cy="138113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>
            <a:spLocks noChangeArrowheads="1"/>
          </p:cNvSpPr>
          <p:nvPr/>
        </p:nvSpPr>
        <p:spPr bwMode="auto">
          <a:xfrm>
            <a:off x="7156450" y="3022600"/>
            <a:ext cx="320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89" name="TextBox 88"/>
          <p:cNvSpPr txBox="1">
            <a:spLocks noChangeArrowheads="1"/>
          </p:cNvSpPr>
          <p:nvPr/>
        </p:nvSpPr>
        <p:spPr bwMode="auto">
          <a:xfrm>
            <a:off x="5627688" y="2681288"/>
            <a:ext cx="320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90" name="Straight Connector 89"/>
          <p:cNvCxnSpPr/>
          <p:nvPr/>
        </p:nvCxnSpPr>
        <p:spPr>
          <a:xfrm>
            <a:off x="5797550" y="2901950"/>
            <a:ext cx="681038" cy="817563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6511925" y="3743325"/>
            <a:ext cx="804863" cy="85725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>
            <a:spLocks noChangeArrowheads="1"/>
          </p:cNvSpPr>
          <p:nvPr/>
        </p:nvSpPr>
        <p:spPr bwMode="auto">
          <a:xfrm>
            <a:off x="7156450" y="4376738"/>
            <a:ext cx="320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96" name="TextBox 95"/>
          <p:cNvSpPr txBox="1">
            <a:spLocks noChangeArrowheads="1"/>
          </p:cNvSpPr>
          <p:nvPr/>
        </p:nvSpPr>
        <p:spPr bwMode="auto">
          <a:xfrm>
            <a:off x="6546850" y="2044700"/>
            <a:ext cx="320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97" name="Straight Connector 96"/>
          <p:cNvCxnSpPr/>
          <p:nvPr/>
        </p:nvCxnSpPr>
        <p:spPr>
          <a:xfrm>
            <a:off x="6704013" y="2236788"/>
            <a:ext cx="612775" cy="665162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7307263" y="2890838"/>
            <a:ext cx="588962" cy="64135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>
            <a:spLocks noChangeArrowheads="1"/>
          </p:cNvSpPr>
          <p:nvPr/>
        </p:nvSpPr>
        <p:spPr bwMode="auto">
          <a:xfrm>
            <a:off x="7764463" y="3365500"/>
            <a:ext cx="320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108" name="TextBox 107"/>
          <p:cNvSpPr txBox="1">
            <a:spLocks noChangeArrowheads="1"/>
          </p:cNvSpPr>
          <p:nvPr/>
        </p:nvSpPr>
        <p:spPr bwMode="auto">
          <a:xfrm>
            <a:off x="5926138" y="2033588"/>
            <a:ext cx="320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109" name="Straight Connector 108"/>
          <p:cNvCxnSpPr/>
          <p:nvPr/>
        </p:nvCxnSpPr>
        <p:spPr>
          <a:xfrm>
            <a:off x="6078538" y="2249488"/>
            <a:ext cx="931862" cy="957262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7010400" y="3222625"/>
            <a:ext cx="911225" cy="1050925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>
            <a:spLocks noChangeArrowheads="1"/>
          </p:cNvSpPr>
          <p:nvPr/>
        </p:nvSpPr>
        <p:spPr bwMode="auto">
          <a:xfrm>
            <a:off x="7764463" y="4032250"/>
            <a:ext cx="320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113" name="Trapezoid 112"/>
          <p:cNvSpPr/>
          <p:nvPr/>
        </p:nvSpPr>
        <p:spPr>
          <a:xfrm rot="5400000">
            <a:off x="6953250" y="3592513"/>
            <a:ext cx="1322388" cy="614362"/>
          </a:xfrm>
          <a:prstGeom prst="trapezoid">
            <a:avLst>
              <a:gd name="adj" fmla="val 54111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4" name="TextBox 113"/>
          <p:cNvSpPr txBox="1">
            <a:spLocks noChangeArrowheads="1"/>
          </p:cNvSpPr>
          <p:nvPr/>
        </p:nvSpPr>
        <p:spPr bwMode="auto">
          <a:xfrm rot="5400000">
            <a:off x="7064375" y="3871913"/>
            <a:ext cx="1074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B050"/>
                </a:solidFill>
              </a:rPr>
              <a:t>Image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3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 nodeType="clickPar">
                      <p:stCondLst>
                        <p:cond delay="indefinite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3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 nodeType="clickPar">
                      <p:stCondLst>
                        <p:cond delay="indefinite"/>
                      </p:stCondLst>
                      <p:childTnLst>
                        <p:par>
                          <p:cTn id="2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7" grpId="0"/>
      <p:bldP spid="41" grpId="0"/>
      <p:bldP spid="42" grpId="0"/>
      <p:bldP spid="45" grpId="0"/>
      <p:bldP spid="46" grpId="0"/>
      <p:bldP spid="49" grpId="0"/>
      <p:bldP spid="52" grpId="0"/>
      <p:bldP spid="55" grpId="0"/>
      <p:bldP spid="72" grpId="0"/>
      <p:bldP spid="72" grpId="1"/>
      <p:bldP spid="73" grpId="0"/>
      <p:bldP spid="73" grpId="1"/>
      <p:bldP spid="74" grpId="0"/>
      <p:bldP spid="78" grpId="0"/>
      <p:bldP spid="89" grpId="0"/>
      <p:bldP spid="92" grpId="0"/>
      <p:bldP spid="96" grpId="0"/>
      <p:bldP spid="99" grpId="0"/>
      <p:bldP spid="108" grpId="0"/>
      <p:bldP spid="111" grpId="0"/>
      <p:bldP spid="114" grpId="0"/>
      <p:bldP spid="11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7189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7190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193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latin typeface="Comic Sans MS" pitchFamily="66" charset="0"/>
              </a:rPr>
              <a:t>REFLECTIONS</a:t>
            </a:r>
          </a:p>
          <a:p>
            <a:endParaRPr lang="en-US" sz="3000" b="1" u="sng"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7194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TASK 1 (LEVEL 4)</a:t>
            </a:r>
          </a:p>
        </p:txBody>
      </p:sp>
      <p:sp>
        <p:nvSpPr>
          <p:cNvPr id="7195" name="Text Box 37"/>
          <p:cNvSpPr txBox="1">
            <a:spLocks noChangeArrowheads="1"/>
          </p:cNvSpPr>
          <p:nvPr/>
        </p:nvSpPr>
        <p:spPr bwMode="auto">
          <a:xfrm>
            <a:off x="-468313" y="1327150"/>
            <a:ext cx="6638926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Reflect the shapes in the mirror lines given below:</a:t>
            </a:r>
          </a:p>
        </p:txBody>
      </p:sp>
      <p:pic>
        <p:nvPicPr>
          <p:cNvPr id="7196" name="Picture 15" descr="Screen Clippi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727200"/>
            <a:ext cx="8642350" cy="501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reeform 1"/>
          <p:cNvSpPr/>
          <p:nvPr/>
        </p:nvSpPr>
        <p:spPr>
          <a:xfrm>
            <a:off x="1570038" y="2060575"/>
            <a:ext cx="900112" cy="833438"/>
          </a:xfrm>
          <a:custGeom>
            <a:avLst/>
            <a:gdLst>
              <a:gd name="connsiteX0" fmla="*/ 0 w 900752"/>
              <a:gd name="connsiteY0" fmla="*/ 832513 h 832513"/>
              <a:gd name="connsiteX1" fmla="*/ 464023 w 900752"/>
              <a:gd name="connsiteY1" fmla="*/ 818866 h 832513"/>
              <a:gd name="connsiteX2" fmla="*/ 450376 w 900752"/>
              <a:gd name="connsiteY2" fmla="*/ 409433 h 832513"/>
              <a:gd name="connsiteX3" fmla="*/ 900752 w 900752"/>
              <a:gd name="connsiteY3" fmla="*/ 409433 h 832513"/>
              <a:gd name="connsiteX4" fmla="*/ 900752 w 900752"/>
              <a:gd name="connsiteY4" fmla="*/ 0 h 832513"/>
              <a:gd name="connsiteX5" fmla="*/ 13647 w 900752"/>
              <a:gd name="connsiteY5" fmla="*/ 0 h 832513"/>
              <a:gd name="connsiteX6" fmla="*/ 13647 w 900752"/>
              <a:gd name="connsiteY6" fmla="*/ 0 h 832513"/>
              <a:gd name="connsiteX7" fmla="*/ 0 w 900752"/>
              <a:gd name="connsiteY7" fmla="*/ 832513 h 832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752" h="832513">
                <a:moveTo>
                  <a:pt x="0" y="832513"/>
                </a:moveTo>
                <a:lnTo>
                  <a:pt x="464023" y="818866"/>
                </a:lnTo>
                <a:lnTo>
                  <a:pt x="450376" y="409433"/>
                </a:lnTo>
                <a:lnTo>
                  <a:pt x="900752" y="409433"/>
                </a:lnTo>
                <a:lnTo>
                  <a:pt x="900752" y="0"/>
                </a:lnTo>
                <a:lnTo>
                  <a:pt x="13647" y="0"/>
                </a:lnTo>
                <a:lnTo>
                  <a:pt x="13647" y="0"/>
                </a:lnTo>
                <a:lnTo>
                  <a:pt x="0" y="832513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" name="Freeform 2"/>
          <p:cNvSpPr/>
          <p:nvPr/>
        </p:nvSpPr>
        <p:spPr>
          <a:xfrm>
            <a:off x="4927600" y="2470150"/>
            <a:ext cx="681038" cy="614363"/>
          </a:xfrm>
          <a:custGeom>
            <a:avLst/>
            <a:gdLst>
              <a:gd name="connsiteX0" fmla="*/ 0 w 682388"/>
              <a:gd name="connsiteY0" fmla="*/ 0 h 614149"/>
              <a:gd name="connsiteX1" fmla="*/ 13648 w 682388"/>
              <a:gd name="connsiteY1" fmla="*/ 614149 h 614149"/>
              <a:gd name="connsiteX2" fmla="*/ 682388 w 682388"/>
              <a:gd name="connsiteY2" fmla="*/ 614149 h 614149"/>
              <a:gd name="connsiteX3" fmla="*/ 668740 w 682388"/>
              <a:gd name="connsiteY3" fmla="*/ 0 h 614149"/>
              <a:gd name="connsiteX4" fmla="*/ 0 w 682388"/>
              <a:gd name="connsiteY4" fmla="*/ 0 h 614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88" h="614149">
                <a:moveTo>
                  <a:pt x="0" y="0"/>
                </a:moveTo>
                <a:lnTo>
                  <a:pt x="13648" y="614149"/>
                </a:lnTo>
                <a:lnTo>
                  <a:pt x="682388" y="614149"/>
                </a:lnTo>
                <a:lnTo>
                  <a:pt x="6687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" name="Freeform 3"/>
          <p:cNvSpPr/>
          <p:nvPr/>
        </p:nvSpPr>
        <p:spPr>
          <a:xfrm>
            <a:off x="7834313" y="2470150"/>
            <a:ext cx="668337" cy="409575"/>
          </a:xfrm>
          <a:custGeom>
            <a:avLst/>
            <a:gdLst>
              <a:gd name="connsiteX0" fmla="*/ 0 w 668740"/>
              <a:gd name="connsiteY0" fmla="*/ 191068 h 409433"/>
              <a:gd name="connsiteX1" fmla="*/ 0 w 668740"/>
              <a:gd name="connsiteY1" fmla="*/ 409433 h 409433"/>
              <a:gd name="connsiteX2" fmla="*/ 668740 w 668740"/>
              <a:gd name="connsiteY2" fmla="*/ 409433 h 409433"/>
              <a:gd name="connsiteX3" fmla="*/ 668740 w 668740"/>
              <a:gd name="connsiteY3" fmla="*/ 204716 h 409433"/>
              <a:gd name="connsiteX4" fmla="*/ 450376 w 668740"/>
              <a:gd name="connsiteY4" fmla="*/ 204716 h 409433"/>
              <a:gd name="connsiteX5" fmla="*/ 450376 w 668740"/>
              <a:gd name="connsiteY5" fmla="*/ 0 h 409433"/>
              <a:gd name="connsiteX6" fmla="*/ 232012 w 668740"/>
              <a:gd name="connsiteY6" fmla="*/ 0 h 409433"/>
              <a:gd name="connsiteX7" fmla="*/ 232012 w 668740"/>
              <a:gd name="connsiteY7" fmla="*/ 204716 h 409433"/>
              <a:gd name="connsiteX8" fmla="*/ 0 w 668740"/>
              <a:gd name="connsiteY8" fmla="*/ 191068 h 409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8740" h="409433">
                <a:moveTo>
                  <a:pt x="0" y="191068"/>
                </a:moveTo>
                <a:lnTo>
                  <a:pt x="0" y="409433"/>
                </a:lnTo>
                <a:lnTo>
                  <a:pt x="668740" y="409433"/>
                </a:lnTo>
                <a:lnTo>
                  <a:pt x="668740" y="204716"/>
                </a:lnTo>
                <a:lnTo>
                  <a:pt x="450376" y="204716"/>
                </a:lnTo>
                <a:lnTo>
                  <a:pt x="450376" y="0"/>
                </a:lnTo>
                <a:lnTo>
                  <a:pt x="232012" y="0"/>
                </a:lnTo>
                <a:lnTo>
                  <a:pt x="232012" y="204716"/>
                </a:lnTo>
                <a:lnTo>
                  <a:pt x="0" y="191068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" name="Freeform 4"/>
          <p:cNvSpPr/>
          <p:nvPr/>
        </p:nvSpPr>
        <p:spPr>
          <a:xfrm>
            <a:off x="1787525" y="4708525"/>
            <a:ext cx="682625" cy="600075"/>
          </a:xfrm>
          <a:custGeom>
            <a:avLst/>
            <a:gdLst>
              <a:gd name="connsiteX0" fmla="*/ 0 w 682388"/>
              <a:gd name="connsiteY0" fmla="*/ 177421 h 600501"/>
              <a:gd name="connsiteX1" fmla="*/ 450376 w 682388"/>
              <a:gd name="connsiteY1" fmla="*/ 600501 h 600501"/>
              <a:gd name="connsiteX2" fmla="*/ 682388 w 682388"/>
              <a:gd name="connsiteY2" fmla="*/ 409432 h 600501"/>
              <a:gd name="connsiteX3" fmla="*/ 232012 w 682388"/>
              <a:gd name="connsiteY3" fmla="*/ 0 h 600501"/>
              <a:gd name="connsiteX4" fmla="*/ 0 w 682388"/>
              <a:gd name="connsiteY4" fmla="*/ 177421 h 600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88" h="600501">
                <a:moveTo>
                  <a:pt x="0" y="177421"/>
                </a:moveTo>
                <a:lnTo>
                  <a:pt x="450376" y="600501"/>
                </a:lnTo>
                <a:lnTo>
                  <a:pt x="682388" y="409432"/>
                </a:lnTo>
                <a:lnTo>
                  <a:pt x="232012" y="0"/>
                </a:lnTo>
                <a:lnTo>
                  <a:pt x="0" y="177421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4708525" y="4694238"/>
            <a:ext cx="450850" cy="628650"/>
          </a:xfrm>
          <a:custGeom>
            <a:avLst/>
            <a:gdLst>
              <a:gd name="connsiteX0" fmla="*/ 0 w 450376"/>
              <a:gd name="connsiteY0" fmla="*/ 0 h 627797"/>
              <a:gd name="connsiteX1" fmla="*/ 232012 w 450376"/>
              <a:gd name="connsiteY1" fmla="*/ 13648 h 627797"/>
              <a:gd name="connsiteX2" fmla="*/ 450376 w 450376"/>
              <a:gd name="connsiteY2" fmla="*/ 204716 h 627797"/>
              <a:gd name="connsiteX3" fmla="*/ 450376 w 450376"/>
              <a:gd name="connsiteY3" fmla="*/ 627797 h 627797"/>
              <a:gd name="connsiteX4" fmla="*/ 0 w 450376"/>
              <a:gd name="connsiteY4" fmla="*/ 627797 h 627797"/>
              <a:gd name="connsiteX5" fmla="*/ 0 w 450376"/>
              <a:gd name="connsiteY5" fmla="*/ 0 h 627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0376" h="627797">
                <a:moveTo>
                  <a:pt x="0" y="0"/>
                </a:moveTo>
                <a:lnTo>
                  <a:pt x="232012" y="13648"/>
                </a:lnTo>
                <a:lnTo>
                  <a:pt x="450376" y="204716"/>
                </a:lnTo>
                <a:lnTo>
                  <a:pt x="450376" y="627797"/>
                </a:lnTo>
                <a:lnTo>
                  <a:pt x="0" y="62779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7" name="Freeform 6"/>
          <p:cNvSpPr/>
          <p:nvPr/>
        </p:nvSpPr>
        <p:spPr>
          <a:xfrm>
            <a:off x="7834313" y="4913313"/>
            <a:ext cx="668337" cy="395287"/>
          </a:xfrm>
          <a:custGeom>
            <a:avLst/>
            <a:gdLst>
              <a:gd name="connsiteX0" fmla="*/ 0 w 668740"/>
              <a:gd name="connsiteY0" fmla="*/ 395785 h 395785"/>
              <a:gd name="connsiteX1" fmla="*/ 450376 w 668740"/>
              <a:gd name="connsiteY1" fmla="*/ 0 h 395785"/>
              <a:gd name="connsiteX2" fmla="*/ 668740 w 668740"/>
              <a:gd name="connsiteY2" fmla="*/ 395785 h 395785"/>
              <a:gd name="connsiteX3" fmla="*/ 0 w 668740"/>
              <a:gd name="connsiteY3" fmla="*/ 395785 h 395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8740" h="395785">
                <a:moveTo>
                  <a:pt x="0" y="395785"/>
                </a:moveTo>
                <a:lnTo>
                  <a:pt x="450376" y="0"/>
                </a:lnTo>
                <a:lnTo>
                  <a:pt x="668740" y="395785"/>
                </a:lnTo>
                <a:lnTo>
                  <a:pt x="0" y="395785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8213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8214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8217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latin typeface="Comic Sans MS" pitchFamily="66" charset="0"/>
              </a:rPr>
              <a:t>REFLECTIONS</a:t>
            </a:r>
          </a:p>
          <a:p>
            <a:endParaRPr lang="en-US" sz="3000" b="1" u="sng"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8218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TASK 2 (LEVEL 4)</a:t>
            </a:r>
          </a:p>
        </p:txBody>
      </p:sp>
      <p:sp>
        <p:nvSpPr>
          <p:cNvPr id="8219" name="Text Box 37"/>
          <p:cNvSpPr txBox="1">
            <a:spLocks noChangeArrowheads="1"/>
          </p:cNvSpPr>
          <p:nvPr/>
        </p:nvSpPr>
        <p:spPr bwMode="auto">
          <a:xfrm>
            <a:off x="-468313" y="1327150"/>
            <a:ext cx="6638926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Reflect the shapes in the mirror lines given below:</a:t>
            </a:r>
          </a:p>
        </p:txBody>
      </p:sp>
      <p:pic>
        <p:nvPicPr>
          <p:cNvPr id="8220" name="Picture 23" descr="Screen Clippi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733550"/>
            <a:ext cx="8569325" cy="500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reeform 2"/>
          <p:cNvSpPr/>
          <p:nvPr/>
        </p:nvSpPr>
        <p:spPr>
          <a:xfrm>
            <a:off x="1528763" y="2865438"/>
            <a:ext cx="682625" cy="628650"/>
          </a:xfrm>
          <a:custGeom>
            <a:avLst/>
            <a:gdLst>
              <a:gd name="connsiteX0" fmla="*/ 0 w 682388"/>
              <a:gd name="connsiteY0" fmla="*/ 13648 h 627797"/>
              <a:gd name="connsiteX1" fmla="*/ 13648 w 682388"/>
              <a:gd name="connsiteY1" fmla="*/ 627797 h 627797"/>
              <a:gd name="connsiteX2" fmla="*/ 682388 w 682388"/>
              <a:gd name="connsiteY2" fmla="*/ 627797 h 627797"/>
              <a:gd name="connsiteX3" fmla="*/ 682388 w 682388"/>
              <a:gd name="connsiteY3" fmla="*/ 0 h 627797"/>
              <a:gd name="connsiteX4" fmla="*/ 0 w 682388"/>
              <a:gd name="connsiteY4" fmla="*/ 13648 h 627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388" h="627797">
                <a:moveTo>
                  <a:pt x="0" y="13648"/>
                </a:moveTo>
                <a:lnTo>
                  <a:pt x="13648" y="627797"/>
                </a:lnTo>
                <a:lnTo>
                  <a:pt x="682388" y="627797"/>
                </a:lnTo>
                <a:lnTo>
                  <a:pt x="682388" y="0"/>
                </a:lnTo>
                <a:lnTo>
                  <a:pt x="0" y="13648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9" name="Freeform 8"/>
          <p:cNvSpPr/>
          <p:nvPr/>
        </p:nvSpPr>
        <p:spPr>
          <a:xfrm>
            <a:off x="4654550" y="2879725"/>
            <a:ext cx="914400" cy="819150"/>
          </a:xfrm>
          <a:custGeom>
            <a:avLst/>
            <a:gdLst>
              <a:gd name="connsiteX0" fmla="*/ 0 w 914400"/>
              <a:gd name="connsiteY0" fmla="*/ 0 h 818865"/>
              <a:gd name="connsiteX1" fmla="*/ 900752 w 914400"/>
              <a:gd name="connsiteY1" fmla="*/ 0 h 818865"/>
              <a:gd name="connsiteX2" fmla="*/ 914400 w 914400"/>
              <a:gd name="connsiteY2" fmla="*/ 818865 h 818865"/>
              <a:gd name="connsiteX3" fmla="*/ 450376 w 914400"/>
              <a:gd name="connsiteY3" fmla="*/ 818865 h 818865"/>
              <a:gd name="connsiteX4" fmla="*/ 464023 w 914400"/>
              <a:gd name="connsiteY4" fmla="*/ 409432 h 818865"/>
              <a:gd name="connsiteX5" fmla="*/ 0 w 914400"/>
              <a:gd name="connsiteY5" fmla="*/ 395785 h 818865"/>
              <a:gd name="connsiteX6" fmla="*/ 0 w 914400"/>
              <a:gd name="connsiteY6" fmla="*/ 0 h 818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0" h="818865">
                <a:moveTo>
                  <a:pt x="0" y="0"/>
                </a:moveTo>
                <a:lnTo>
                  <a:pt x="900752" y="0"/>
                </a:lnTo>
                <a:lnTo>
                  <a:pt x="914400" y="818865"/>
                </a:lnTo>
                <a:lnTo>
                  <a:pt x="450376" y="818865"/>
                </a:lnTo>
                <a:lnTo>
                  <a:pt x="464023" y="409432"/>
                </a:lnTo>
                <a:lnTo>
                  <a:pt x="0" y="395785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" name="Freeform 10"/>
          <p:cNvSpPr/>
          <p:nvPr/>
        </p:nvSpPr>
        <p:spPr>
          <a:xfrm>
            <a:off x="7561263" y="3070225"/>
            <a:ext cx="449262" cy="628650"/>
          </a:xfrm>
          <a:custGeom>
            <a:avLst/>
            <a:gdLst>
              <a:gd name="connsiteX0" fmla="*/ 0 w 450376"/>
              <a:gd name="connsiteY0" fmla="*/ 0 h 627797"/>
              <a:gd name="connsiteX1" fmla="*/ 13647 w 450376"/>
              <a:gd name="connsiteY1" fmla="*/ 627797 h 627797"/>
              <a:gd name="connsiteX2" fmla="*/ 232012 w 450376"/>
              <a:gd name="connsiteY2" fmla="*/ 627797 h 627797"/>
              <a:gd name="connsiteX3" fmla="*/ 232012 w 450376"/>
              <a:gd name="connsiteY3" fmla="*/ 409433 h 627797"/>
              <a:gd name="connsiteX4" fmla="*/ 450376 w 450376"/>
              <a:gd name="connsiteY4" fmla="*/ 409433 h 627797"/>
              <a:gd name="connsiteX5" fmla="*/ 450376 w 450376"/>
              <a:gd name="connsiteY5" fmla="*/ 218364 h 627797"/>
              <a:gd name="connsiteX6" fmla="*/ 232012 w 450376"/>
              <a:gd name="connsiteY6" fmla="*/ 218364 h 627797"/>
              <a:gd name="connsiteX7" fmla="*/ 232012 w 450376"/>
              <a:gd name="connsiteY7" fmla="*/ 13648 h 627797"/>
              <a:gd name="connsiteX8" fmla="*/ 0 w 450376"/>
              <a:gd name="connsiteY8" fmla="*/ 0 h 627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376" h="627797">
                <a:moveTo>
                  <a:pt x="0" y="0"/>
                </a:moveTo>
                <a:lnTo>
                  <a:pt x="13647" y="627797"/>
                </a:lnTo>
                <a:lnTo>
                  <a:pt x="232012" y="627797"/>
                </a:lnTo>
                <a:lnTo>
                  <a:pt x="232012" y="409433"/>
                </a:lnTo>
                <a:lnTo>
                  <a:pt x="450376" y="409433"/>
                </a:lnTo>
                <a:lnTo>
                  <a:pt x="450376" y="218364"/>
                </a:lnTo>
                <a:lnTo>
                  <a:pt x="232012" y="218364"/>
                </a:lnTo>
                <a:lnTo>
                  <a:pt x="232012" y="13648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" name="Freeform 11"/>
          <p:cNvSpPr/>
          <p:nvPr/>
        </p:nvSpPr>
        <p:spPr>
          <a:xfrm>
            <a:off x="1528763" y="5718175"/>
            <a:ext cx="682625" cy="423863"/>
          </a:xfrm>
          <a:custGeom>
            <a:avLst/>
            <a:gdLst>
              <a:gd name="connsiteX0" fmla="*/ 0 w 682388"/>
              <a:gd name="connsiteY0" fmla="*/ 0 h 423081"/>
              <a:gd name="connsiteX1" fmla="*/ 682388 w 682388"/>
              <a:gd name="connsiteY1" fmla="*/ 13648 h 423081"/>
              <a:gd name="connsiteX2" fmla="*/ 682388 w 682388"/>
              <a:gd name="connsiteY2" fmla="*/ 218364 h 423081"/>
              <a:gd name="connsiteX3" fmla="*/ 464024 w 682388"/>
              <a:gd name="connsiteY3" fmla="*/ 423081 h 423081"/>
              <a:gd name="connsiteX4" fmla="*/ 0 w 682388"/>
              <a:gd name="connsiteY4" fmla="*/ 423081 h 423081"/>
              <a:gd name="connsiteX5" fmla="*/ 0 w 682388"/>
              <a:gd name="connsiteY5" fmla="*/ 0 h 423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2388" h="423081">
                <a:moveTo>
                  <a:pt x="0" y="0"/>
                </a:moveTo>
                <a:lnTo>
                  <a:pt x="682388" y="13648"/>
                </a:lnTo>
                <a:lnTo>
                  <a:pt x="682388" y="218364"/>
                </a:lnTo>
                <a:lnTo>
                  <a:pt x="464024" y="423081"/>
                </a:lnTo>
                <a:lnTo>
                  <a:pt x="0" y="423081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Freeform 12"/>
          <p:cNvSpPr/>
          <p:nvPr/>
        </p:nvSpPr>
        <p:spPr>
          <a:xfrm>
            <a:off x="4872038" y="5527675"/>
            <a:ext cx="477837" cy="614363"/>
          </a:xfrm>
          <a:custGeom>
            <a:avLst/>
            <a:gdLst>
              <a:gd name="connsiteX0" fmla="*/ 13648 w 477671"/>
              <a:gd name="connsiteY0" fmla="*/ 0 h 614149"/>
              <a:gd name="connsiteX1" fmla="*/ 477671 w 477671"/>
              <a:gd name="connsiteY1" fmla="*/ 423080 h 614149"/>
              <a:gd name="connsiteX2" fmla="*/ 0 w 477671"/>
              <a:gd name="connsiteY2" fmla="*/ 614149 h 614149"/>
              <a:gd name="connsiteX3" fmla="*/ 13648 w 477671"/>
              <a:gd name="connsiteY3" fmla="*/ 0 h 614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671" h="614149">
                <a:moveTo>
                  <a:pt x="13648" y="0"/>
                </a:moveTo>
                <a:lnTo>
                  <a:pt x="477671" y="423080"/>
                </a:lnTo>
                <a:lnTo>
                  <a:pt x="0" y="614149"/>
                </a:lnTo>
                <a:lnTo>
                  <a:pt x="13648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" name="Freeform 13"/>
          <p:cNvSpPr/>
          <p:nvPr/>
        </p:nvSpPr>
        <p:spPr>
          <a:xfrm>
            <a:off x="7778750" y="5513388"/>
            <a:ext cx="682625" cy="833437"/>
          </a:xfrm>
          <a:custGeom>
            <a:avLst/>
            <a:gdLst>
              <a:gd name="connsiteX0" fmla="*/ 0 w 682388"/>
              <a:gd name="connsiteY0" fmla="*/ 0 h 832513"/>
              <a:gd name="connsiteX1" fmla="*/ 13648 w 682388"/>
              <a:gd name="connsiteY1" fmla="*/ 832513 h 832513"/>
              <a:gd name="connsiteX2" fmla="*/ 682388 w 682388"/>
              <a:gd name="connsiteY2" fmla="*/ 832513 h 832513"/>
              <a:gd name="connsiteX3" fmla="*/ 682388 w 682388"/>
              <a:gd name="connsiteY3" fmla="*/ 232011 h 832513"/>
              <a:gd name="connsiteX4" fmla="*/ 464024 w 682388"/>
              <a:gd name="connsiteY4" fmla="*/ 27295 h 832513"/>
              <a:gd name="connsiteX5" fmla="*/ 0 w 682388"/>
              <a:gd name="connsiteY5" fmla="*/ 0 h 832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2388" h="832513">
                <a:moveTo>
                  <a:pt x="0" y="0"/>
                </a:moveTo>
                <a:lnTo>
                  <a:pt x="13648" y="832513"/>
                </a:lnTo>
                <a:lnTo>
                  <a:pt x="682388" y="832513"/>
                </a:lnTo>
                <a:lnTo>
                  <a:pt x="682388" y="232011"/>
                </a:lnTo>
                <a:lnTo>
                  <a:pt x="464024" y="27295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9237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9238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9241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latin typeface="Comic Sans MS" pitchFamily="66" charset="0"/>
              </a:rPr>
              <a:t>REFLECTIONS</a:t>
            </a:r>
          </a:p>
          <a:p>
            <a:endParaRPr lang="en-US" sz="3000" b="1" u="sng"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9242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TASK 3 (LEVEL 4)</a:t>
            </a:r>
          </a:p>
        </p:txBody>
      </p:sp>
      <p:sp>
        <p:nvSpPr>
          <p:cNvPr id="9243" name="Text Box 37"/>
          <p:cNvSpPr txBox="1">
            <a:spLocks noChangeArrowheads="1"/>
          </p:cNvSpPr>
          <p:nvPr/>
        </p:nvSpPr>
        <p:spPr bwMode="auto">
          <a:xfrm>
            <a:off x="-468313" y="1327150"/>
            <a:ext cx="6638926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Reflect the shapes in the mirror lines given below:</a:t>
            </a:r>
          </a:p>
        </p:txBody>
      </p:sp>
      <p:pic>
        <p:nvPicPr>
          <p:cNvPr id="9244" name="Picture 2" descr="Screen Clippi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1727200"/>
            <a:ext cx="8097837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reeform 2"/>
          <p:cNvSpPr/>
          <p:nvPr/>
        </p:nvSpPr>
        <p:spPr>
          <a:xfrm>
            <a:off x="941388" y="2170113"/>
            <a:ext cx="1611312" cy="1514475"/>
          </a:xfrm>
          <a:custGeom>
            <a:avLst/>
            <a:gdLst>
              <a:gd name="connsiteX0" fmla="*/ 382137 w 1610435"/>
              <a:gd name="connsiteY0" fmla="*/ 1514902 h 1514902"/>
              <a:gd name="connsiteX1" fmla="*/ 0 w 1610435"/>
              <a:gd name="connsiteY1" fmla="*/ 1132764 h 1514902"/>
              <a:gd name="connsiteX2" fmla="*/ 1610435 w 1610435"/>
              <a:gd name="connsiteY2" fmla="*/ 0 h 1514902"/>
              <a:gd name="connsiteX3" fmla="*/ 382137 w 1610435"/>
              <a:gd name="connsiteY3" fmla="*/ 1514902 h 1514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0435" h="1514902">
                <a:moveTo>
                  <a:pt x="382137" y="1514902"/>
                </a:moveTo>
                <a:lnTo>
                  <a:pt x="0" y="1132764"/>
                </a:lnTo>
                <a:lnTo>
                  <a:pt x="1610435" y="0"/>
                </a:lnTo>
                <a:lnTo>
                  <a:pt x="382137" y="1514902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9" name="Freeform 8"/>
          <p:cNvSpPr/>
          <p:nvPr/>
        </p:nvSpPr>
        <p:spPr>
          <a:xfrm>
            <a:off x="4162425" y="2155825"/>
            <a:ext cx="1611313" cy="1160463"/>
          </a:xfrm>
          <a:custGeom>
            <a:avLst/>
            <a:gdLst>
              <a:gd name="connsiteX0" fmla="*/ 0 w 1610436"/>
              <a:gd name="connsiteY0" fmla="*/ 368490 h 1160060"/>
              <a:gd name="connsiteX1" fmla="*/ 1214651 w 1610436"/>
              <a:gd name="connsiteY1" fmla="*/ 0 h 1160060"/>
              <a:gd name="connsiteX2" fmla="*/ 1610436 w 1610436"/>
              <a:gd name="connsiteY2" fmla="*/ 1146412 h 1160060"/>
              <a:gd name="connsiteX3" fmla="*/ 818866 w 1610436"/>
              <a:gd name="connsiteY3" fmla="*/ 1160060 h 1160060"/>
              <a:gd name="connsiteX4" fmla="*/ 0 w 1610436"/>
              <a:gd name="connsiteY4" fmla="*/ 368490 h 1160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0436" h="1160060">
                <a:moveTo>
                  <a:pt x="0" y="368490"/>
                </a:moveTo>
                <a:lnTo>
                  <a:pt x="1214651" y="0"/>
                </a:lnTo>
                <a:lnTo>
                  <a:pt x="1610436" y="1146412"/>
                </a:lnTo>
                <a:lnTo>
                  <a:pt x="818866" y="1160060"/>
                </a:lnTo>
                <a:lnTo>
                  <a:pt x="0" y="36849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0" name="Freeform 9"/>
          <p:cNvSpPr/>
          <p:nvPr/>
        </p:nvSpPr>
        <p:spPr>
          <a:xfrm>
            <a:off x="6169025" y="1760538"/>
            <a:ext cx="2428875" cy="1541462"/>
          </a:xfrm>
          <a:custGeom>
            <a:avLst/>
            <a:gdLst>
              <a:gd name="connsiteX0" fmla="*/ 0 w 2429302"/>
              <a:gd name="connsiteY0" fmla="*/ 0 h 1542197"/>
              <a:gd name="connsiteX1" fmla="*/ 2429302 w 2429302"/>
              <a:gd name="connsiteY1" fmla="*/ 764275 h 1542197"/>
              <a:gd name="connsiteX2" fmla="*/ 818866 w 2429302"/>
              <a:gd name="connsiteY2" fmla="*/ 1160060 h 1542197"/>
              <a:gd name="connsiteX3" fmla="*/ 818866 w 2429302"/>
              <a:gd name="connsiteY3" fmla="*/ 1542197 h 1542197"/>
              <a:gd name="connsiteX4" fmla="*/ 0 w 2429302"/>
              <a:gd name="connsiteY4" fmla="*/ 0 h 1542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9302" h="1542197">
                <a:moveTo>
                  <a:pt x="0" y="0"/>
                </a:moveTo>
                <a:lnTo>
                  <a:pt x="2429302" y="764275"/>
                </a:lnTo>
                <a:lnTo>
                  <a:pt x="818866" y="1160060"/>
                </a:lnTo>
                <a:lnTo>
                  <a:pt x="818866" y="154219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" name="Freeform 10"/>
          <p:cNvSpPr/>
          <p:nvPr/>
        </p:nvSpPr>
        <p:spPr>
          <a:xfrm>
            <a:off x="531813" y="6005513"/>
            <a:ext cx="1624012" cy="790575"/>
          </a:xfrm>
          <a:custGeom>
            <a:avLst/>
            <a:gdLst>
              <a:gd name="connsiteX0" fmla="*/ 0 w 1624083"/>
              <a:gd name="connsiteY0" fmla="*/ 0 h 791570"/>
              <a:gd name="connsiteX1" fmla="*/ 1624083 w 1624083"/>
              <a:gd name="connsiteY1" fmla="*/ 0 h 791570"/>
              <a:gd name="connsiteX2" fmla="*/ 1610436 w 1624083"/>
              <a:gd name="connsiteY2" fmla="*/ 791570 h 791570"/>
              <a:gd name="connsiteX3" fmla="*/ 0 w 1624083"/>
              <a:gd name="connsiteY3" fmla="*/ 777922 h 791570"/>
              <a:gd name="connsiteX4" fmla="*/ 0 w 1624083"/>
              <a:gd name="connsiteY4" fmla="*/ 0 h 791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4083" h="791570">
                <a:moveTo>
                  <a:pt x="0" y="0"/>
                </a:moveTo>
                <a:lnTo>
                  <a:pt x="1624083" y="0"/>
                </a:lnTo>
                <a:lnTo>
                  <a:pt x="1610436" y="791570"/>
                </a:lnTo>
                <a:lnTo>
                  <a:pt x="0" y="777922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" name="Freeform 11"/>
          <p:cNvSpPr/>
          <p:nvPr/>
        </p:nvSpPr>
        <p:spPr>
          <a:xfrm>
            <a:off x="3752850" y="6018213"/>
            <a:ext cx="1624013" cy="777875"/>
          </a:xfrm>
          <a:custGeom>
            <a:avLst/>
            <a:gdLst>
              <a:gd name="connsiteX0" fmla="*/ 0 w 1624084"/>
              <a:gd name="connsiteY0" fmla="*/ 0 h 777922"/>
              <a:gd name="connsiteX1" fmla="*/ 0 w 1624084"/>
              <a:gd name="connsiteY1" fmla="*/ 368489 h 777922"/>
              <a:gd name="connsiteX2" fmla="*/ 1228299 w 1624084"/>
              <a:gd name="connsiteY2" fmla="*/ 382137 h 777922"/>
              <a:gd name="connsiteX3" fmla="*/ 1228299 w 1624084"/>
              <a:gd name="connsiteY3" fmla="*/ 777922 h 777922"/>
              <a:gd name="connsiteX4" fmla="*/ 1624084 w 1624084"/>
              <a:gd name="connsiteY4" fmla="*/ 777922 h 777922"/>
              <a:gd name="connsiteX5" fmla="*/ 1624084 w 1624084"/>
              <a:gd name="connsiteY5" fmla="*/ 0 h 777922"/>
              <a:gd name="connsiteX6" fmla="*/ 0 w 1624084"/>
              <a:gd name="connsiteY6" fmla="*/ 0 h 77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4084" h="777922">
                <a:moveTo>
                  <a:pt x="0" y="0"/>
                </a:moveTo>
                <a:lnTo>
                  <a:pt x="0" y="368489"/>
                </a:lnTo>
                <a:lnTo>
                  <a:pt x="1228299" y="382137"/>
                </a:lnTo>
                <a:lnTo>
                  <a:pt x="1228299" y="777922"/>
                </a:lnTo>
                <a:lnTo>
                  <a:pt x="1624084" y="777922"/>
                </a:lnTo>
                <a:lnTo>
                  <a:pt x="162408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Freeform 12"/>
          <p:cNvSpPr/>
          <p:nvPr/>
        </p:nvSpPr>
        <p:spPr>
          <a:xfrm>
            <a:off x="6181725" y="5637213"/>
            <a:ext cx="2416175" cy="1146175"/>
          </a:xfrm>
          <a:custGeom>
            <a:avLst/>
            <a:gdLst>
              <a:gd name="connsiteX0" fmla="*/ 1201003 w 2415654"/>
              <a:gd name="connsiteY0" fmla="*/ 0 h 1146412"/>
              <a:gd name="connsiteX1" fmla="*/ 0 w 2415654"/>
              <a:gd name="connsiteY1" fmla="*/ 1146412 h 1146412"/>
              <a:gd name="connsiteX2" fmla="*/ 2415654 w 2415654"/>
              <a:gd name="connsiteY2" fmla="*/ 1146412 h 1146412"/>
              <a:gd name="connsiteX3" fmla="*/ 1201003 w 2415654"/>
              <a:gd name="connsiteY3" fmla="*/ 0 h 114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5654" h="1146412">
                <a:moveTo>
                  <a:pt x="1201003" y="0"/>
                </a:moveTo>
                <a:lnTo>
                  <a:pt x="0" y="1146412"/>
                </a:lnTo>
                <a:lnTo>
                  <a:pt x="2415654" y="1146412"/>
                </a:lnTo>
                <a:lnTo>
                  <a:pt x="1201003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10261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10262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0265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latin typeface="Comic Sans MS" pitchFamily="66" charset="0"/>
              </a:rPr>
              <a:t>REFLECTIONS</a:t>
            </a:r>
          </a:p>
          <a:p>
            <a:endParaRPr lang="en-US" sz="3000" b="1" u="sng"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10266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TASK 4 (LEVEL 4)</a:t>
            </a:r>
          </a:p>
        </p:txBody>
      </p:sp>
      <p:sp>
        <p:nvSpPr>
          <p:cNvPr id="10267" name="Text Box 37"/>
          <p:cNvSpPr txBox="1">
            <a:spLocks noChangeArrowheads="1"/>
          </p:cNvSpPr>
          <p:nvPr/>
        </p:nvSpPr>
        <p:spPr bwMode="auto">
          <a:xfrm>
            <a:off x="-468313" y="1327150"/>
            <a:ext cx="6638926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Reflect the shapes in the mirror lines given below:</a:t>
            </a:r>
          </a:p>
        </p:txBody>
      </p:sp>
      <p:pic>
        <p:nvPicPr>
          <p:cNvPr id="10268" name="Picture 1" descr="Screen Clippi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1844675"/>
            <a:ext cx="8097837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reeform 1"/>
          <p:cNvSpPr/>
          <p:nvPr/>
        </p:nvSpPr>
        <p:spPr>
          <a:xfrm>
            <a:off x="519113" y="3370263"/>
            <a:ext cx="1624012" cy="765175"/>
          </a:xfrm>
          <a:custGeom>
            <a:avLst/>
            <a:gdLst>
              <a:gd name="connsiteX0" fmla="*/ 0 w 1624084"/>
              <a:gd name="connsiteY0" fmla="*/ 0 h 764275"/>
              <a:gd name="connsiteX1" fmla="*/ 1624084 w 1624084"/>
              <a:gd name="connsiteY1" fmla="*/ 0 h 764275"/>
              <a:gd name="connsiteX2" fmla="*/ 1624084 w 1624084"/>
              <a:gd name="connsiteY2" fmla="*/ 395785 h 764275"/>
              <a:gd name="connsiteX3" fmla="*/ 805218 w 1624084"/>
              <a:gd name="connsiteY3" fmla="*/ 395785 h 764275"/>
              <a:gd name="connsiteX4" fmla="*/ 805218 w 1624084"/>
              <a:gd name="connsiteY4" fmla="*/ 764275 h 764275"/>
              <a:gd name="connsiteX5" fmla="*/ 0 w 1624084"/>
              <a:gd name="connsiteY5" fmla="*/ 0 h 76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4084" h="764275">
                <a:moveTo>
                  <a:pt x="0" y="0"/>
                </a:moveTo>
                <a:lnTo>
                  <a:pt x="1624084" y="0"/>
                </a:lnTo>
                <a:lnTo>
                  <a:pt x="1624084" y="395785"/>
                </a:lnTo>
                <a:lnTo>
                  <a:pt x="805218" y="395785"/>
                </a:lnTo>
                <a:lnTo>
                  <a:pt x="805218" y="764275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" name="Freeform 3"/>
          <p:cNvSpPr/>
          <p:nvPr/>
        </p:nvSpPr>
        <p:spPr>
          <a:xfrm>
            <a:off x="3343275" y="3370263"/>
            <a:ext cx="2416175" cy="765175"/>
          </a:xfrm>
          <a:custGeom>
            <a:avLst/>
            <a:gdLst>
              <a:gd name="connsiteX0" fmla="*/ 0 w 2415654"/>
              <a:gd name="connsiteY0" fmla="*/ 0 h 764275"/>
              <a:gd name="connsiteX1" fmla="*/ 2415654 w 2415654"/>
              <a:gd name="connsiteY1" fmla="*/ 0 h 764275"/>
              <a:gd name="connsiteX2" fmla="*/ 2415654 w 2415654"/>
              <a:gd name="connsiteY2" fmla="*/ 764275 h 764275"/>
              <a:gd name="connsiteX3" fmla="*/ 1610436 w 2415654"/>
              <a:gd name="connsiteY3" fmla="*/ 13648 h 764275"/>
              <a:gd name="connsiteX4" fmla="*/ 805218 w 2415654"/>
              <a:gd name="connsiteY4" fmla="*/ 764275 h 764275"/>
              <a:gd name="connsiteX5" fmla="*/ 409433 w 2415654"/>
              <a:gd name="connsiteY5" fmla="*/ 764275 h 764275"/>
              <a:gd name="connsiteX6" fmla="*/ 0 w 2415654"/>
              <a:gd name="connsiteY6" fmla="*/ 382137 h 764275"/>
              <a:gd name="connsiteX7" fmla="*/ 0 w 2415654"/>
              <a:gd name="connsiteY7" fmla="*/ 0 h 76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15654" h="764275">
                <a:moveTo>
                  <a:pt x="0" y="0"/>
                </a:moveTo>
                <a:lnTo>
                  <a:pt x="2415654" y="0"/>
                </a:lnTo>
                <a:lnTo>
                  <a:pt x="2415654" y="764275"/>
                </a:lnTo>
                <a:lnTo>
                  <a:pt x="1610436" y="13648"/>
                </a:lnTo>
                <a:lnTo>
                  <a:pt x="805218" y="764275"/>
                </a:lnTo>
                <a:lnTo>
                  <a:pt x="409433" y="764275"/>
                </a:lnTo>
                <a:lnTo>
                  <a:pt x="0" y="382137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" name="Freeform 4"/>
          <p:cNvSpPr/>
          <p:nvPr/>
        </p:nvSpPr>
        <p:spPr>
          <a:xfrm>
            <a:off x="6551613" y="2620963"/>
            <a:ext cx="1624012" cy="1146175"/>
          </a:xfrm>
          <a:custGeom>
            <a:avLst/>
            <a:gdLst>
              <a:gd name="connsiteX0" fmla="*/ 805218 w 1624084"/>
              <a:gd name="connsiteY0" fmla="*/ 0 h 1146412"/>
              <a:gd name="connsiteX1" fmla="*/ 0 w 1624084"/>
              <a:gd name="connsiteY1" fmla="*/ 764275 h 1146412"/>
              <a:gd name="connsiteX2" fmla="*/ 818866 w 1624084"/>
              <a:gd name="connsiteY2" fmla="*/ 1146412 h 1146412"/>
              <a:gd name="connsiteX3" fmla="*/ 1624084 w 1624084"/>
              <a:gd name="connsiteY3" fmla="*/ 750627 h 1146412"/>
              <a:gd name="connsiteX4" fmla="*/ 805218 w 1624084"/>
              <a:gd name="connsiteY4" fmla="*/ 0 h 114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4084" h="1146412">
                <a:moveTo>
                  <a:pt x="805218" y="0"/>
                </a:moveTo>
                <a:lnTo>
                  <a:pt x="0" y="764275"/>
                </a:lnTo>
                <a:lnTo>
                  <a:pt x="818866" y="1146412"/>
                </a:lnTo>
                <a:lnTo>
                  <a:pt x="1624084" y="750627"/>
                </a:lnTo>
                <a:lnTo>
                  <a:pt x="805218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" name="Freeform 5"/>
          <p:cNvSpPr/>
          <p:nvPr/>
        </p:nvSpPr>
        <p:spPr>
          <a:xfrm>
            <a:off x="914400" y="4913313"/>
            <a:ext cx="1624013" cy="1501775"/>
          </a:xfrm>
          <a:custGeom>
            <a:avLst/>
            <a:gdLst>
              <a:gd name="connsiteX0" fmla="*/ 0 w 1624084"/>
              <a:gd name="connsiteY0" fmla="*/ 1487606 h 1501254"/>
              <a:gd name="connsiteX1" fmla="*/ 1214651 w 1624084"/>
              <a:gd name="connsiteY1" fmla="*/ 0 h 1501254"/>
              <a:gd name="connsiteX2" fmla="*/ 1624084 w 1624084"/>
              <a:gd name="connsiteY2" fmla="*/ 1501254 h 1501254"/>
              <a:gd name="connsiteX3" fmla="*/ 818866 w 1624084"/>
              <a:gd name="connsiteY3" fmla="*/ 1119116 h 1501254"/>
              <a:gd name="connsiteX4" fmla="*/ 0 w 1624084"/>
              <a:gd name="connsiteY4" fmla="*/ 1487606 h 150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4084" h="1501254">
                <a:moveTo>
                  <a:pt x="0" y="1487606"/>
                </a:moveTo>
                <a:lnTo>
                  <a:pt x="1214651" y="0"/>
                </a:lnTo>
                <a:lnTo>
                  <a:pt x="1624084" y="1501254"/>
                </a:lnTo>
                <a:lnTo>
                  <a:pt x="818866" y="1119116"/>
                </a:lnTo>
                <a:lnTo>
                  <a:pt x="0" y="1487606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7" name="Freeform 6"/>
          <p:cNvSpPr/>
          <p:nvPr/>
        </p:nvSpPr>
        <p:spPr>
          <a:xfrm>
            <a:off x="3740150" y="4913313"/>
            <a:ext cx="2019300" cy="1487487"/>
          </a:xfrm>
          <a:custGeom>
            <a:avLst/>
            <a:gdLst>
              <a:gd name="connsiteX0" fmla="*/ 0 w 2019868"/>
              <a:gd name="connsiteY0" fmla="*/ 1487606 h 1487606"/>
              <a:gd name="connsiteX1" fmla="*/ 409432 w 2019868"/>
              <a:gd name="connsiteY1" fmla="*/ 0 h 1487606"/>
              <a:gd name="connsiteX2" fmla="*/ 1214650 w 2019868"/>
              <a:gd name="connsiteY2" fmla="*/ 1132764 h 1487606"/>
              <a:gd name="connsiteX3" fmla="*/ 1624083 w 2019868"/>
              <a:gd name="connsiteY3" fmla="*/ 368490 h 1487606"/>
              <a:gd name="connsiteX4" fmla="*/ 2019868 w 2019868"/>
              <a:gd name="connsiteY4" fmla="*/ 1119116 h 1487606"/>
              <a:gd name="connsiteX5" fmla="*/ 2019868 w 2019868"/>
              <a:gd name="connsiteY5" fmla="*/ 1119116 h 1487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9868" h="1487606">
                <a:moveTo>
                  <a:pt x="0" y="1487606"/>
                </a:moveTo>
                <a:lnTo>
                  <a:pt x="409432" y="0"/>
                </a:lnTo>
                <a:lnTo>
                  <a:pt x="1214650" y="1132764"/>
                </a:lnTo>
                <a:lnTo>
                  <a:pt x="1624083" y="368490"/>
                </a:lnTo>
                <a:lnTo>
                  <a:pt x="2019868" y="1119116"/>
                </a:lnTo>
                <a:lnTo>
                  <a:pt x="2019868" y="1119116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8" name="Freeform 7"/>
          <p:cNvSpPr/>
          <p:nvPr/>
        </p:nvSpPr>
        <p:spPr>
          <a:xfrm>
            <a:off x="6578600" y="4886325"/>
            <a:ext cx="1187450" cy="1528763"/>
          </a:xfrm>
          <a:custGeom>
            <a:avLst/>
            <a:gdLst>
              <a:gd name="connsiteX0" fmla="*/ 1187355 w 1187355"/>
              <a:gd name="connsiteY0" fmla="*/ 1528549 h 1528549"/>
              <a:gd name="connsiteX1" fmla="*/ 791570 w 1187355"/>
              <a:gd name="connsiteY1" fmla="*/ 1528549 h 1528549"/>
              <a:gd name="connsiteX2" fmla="*/ 0 w 1187355"/>
              <a:gd name="connsiteY2" fmla="*/ 0 h 1528549"/>
              <a:gd name="connsiteX3" fmla="*/ 395785 w 1187355"/>
              <a:gd name="connsiteY3" fmla="*/ 13647 h 1528549"/>
              <a:gd name="connsiteX4" fmla="*/ 1187355 w 1187355"/>
              <a:gd name="connsiteY4" fmla="*/ 1528549 h 152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87355" h="1528549">
                <a:moveTo>
                  <a:pt x="1187355" y="1528549"/>
                </a:moveTo>
                <a:lnTo>
                  <a:pt x="791570" y="1528549"/>
                </a:lnTo>
                <a:lnTo>
                  <a:pt x="0" y="0"/>
                </a:lnTo>
                <a:lnTo>
                  <a:pt x="395785" y="13647"/>
                </a:lnTo>
                <a:lnTo>
                  <a:pt x="1187355" y="1528549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11285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11286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1289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latin typeface="Comic Sans MS" pitchFamily="66" charset="0"/>
              </a:rPr>
              <a:t>REFLECTIONS</a:t>
            </a:r>
          </a:p>
          <a:p>
            <a:endParaRPr lang="en-US" sz="3000" b="1" u="sng"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11290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TASK 5 (LEVEL 4)</a:t>
            </a:r>
          </a:p>
        </p:txBody>
      </p:sp>
      <p:sp>
        <p:nvSpPr>
          <p:cNvPr id="11291" name="Text Box 37"/>
          <p:cNvSpPr txBox="1">
            <a:spLocks noChangeArrowheads="1"/>
          </p:cNvSpPr>
          <p:nvPr/>
        </p:nvSpPr>
        <p:spPr bwMode="auto">
          <a:xfrm>
            <a:off x="-468313" y="1327150"/>
            <a:ext cx="6638926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Reflect the shapes in the mirror lines given below:</a:t>
            </a:r>
          </a:p>
        </p:txBody>
      </p:sp>
      <p:pic>
        <p:nvPicPr>
          <p:cNvPr id="11292" name="Picture 2" descr="Screen Clippi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1720850"/>
            <a:ext cx="8040688" cy="506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reeform 2"/>
          <p:cNvSpPr/>
          <p:nvPr/>
        </p:nvSpPr>
        <p:spPr>
          <a:xfrm>
            <a:off x="1323975" y="3289300"/>
            <a:ext cx="1624013" cy="792163"/>
          </a:xfrm>
          <a:custGeom>
            <a:avLst/>
            <a:gdLst>
              <a:gd name="connsiteX0" fmla="*/ 0 w 1624083"/>
              <a:gd name="connsiteY0" fmla="*/ 0 h 791571"/>
              <a:gd name="connsiteX1" fmla="*/ 1624083 w 1624083"/>
              <a:gd name="connsiteY1" fmla="*/ 13648 h 791571"/>
              <a:gd name="connsiteX2" fmla="*/ 1610436 w 1624083"/>
              <a:gd name="connsiteY2" fmla="*/ 791571 h 791571"/>
              <a:gd name="connsiteX3" fmla="*/ 13648 w 1624083"/>
              <a:gd name="connsiteY3" fmla="*/ 791571 h 791571"/>
              <a:gd name="connsiteX4" fmla="*/ 0 w 1624083"/>
              <a:gd name="connsiteY4" fmla="*/ 0 h 79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4083" h="791571">
                <a:moveTo>
                  <a:pt x="0" y="0"/>
                </a:moveTo>
                <a:lnTo>
                  <a:pt x="1624083" y="13648"/>
                </a:lnTo>
                <a:lnTo>
                  <a:pt x="1610436" y="791571"/>
                </a:lnTo>
                <a:lnTo>
                  <a:pt x="13648" y="791571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9" name="Freeform 8"/>
          <p:cNvSpPr/>
          <p:nvPr/>
        </p:nvSpPr>
        <p:spPr>
          <a:xfrm>
            <a:off x="4545013" y="2906713"/>
            <a:ext cx="819150" cy="777875"/>
          </a:xfrm>
          <a:custGeom>
            <a:avLst/>
            <a:gdLst>
              <a:gd name="connsiteX0" fmla="*/ 0 w 818866"/>
              <a:gd name="connsiteY0" fmla="*/ 777923 h 777923"/>
              <a:gd name="connsiteX1" fmla="*/ 818866 w 818866"/>
              <a:gd name="connsiteY1" fmla="*/ 0 h 777923"/>
              <a:gd name="connsiteX2" fmla="*/ 818866 w 818866"/>
              <a:gd name="connsiteY2" fmla="*/ 777923 h 777923"/>
              <a:gd name="connsiteX3" fmla="*/ 0 w 818866"/>
              <a:gd name="connsiteY3" fmla="*/ 777923 h 777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8866" h="777923">
                <a:moveTo>
                  <a:pt x="0" y="777923"/>
                </a:moveTo>
                <a:lnTo>
                  <a:pt x="818866" y="0"/>
                </a:lnTo>
                <a:lnTo>
                  <a:pt x="818866" y="777923"/>
                </a:lnTo>
                <a:lnTo>
                  <a:pt x="0" y="777923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" name="Freeform 10"/>
          <p:cNvSpPr/>
          <p:nvPr/>
        </p:nvSpPr>
        <p:spPr>
          <a:xfrm>
            <a:off x="6551613" y="1746250"/>
            <a:ext cx="817562" cy="1160463"/>
          </a:xfrm>
          <a:custGeom>
            <a:avLst/>
            <a:gdLst>
              <a:gd name="connsiteX0" fmla="*/ 409433 w 818866"/>
              <a:gd name="connsiteY0" fmla="*/ 1146412 h 1160060"/>
              <a:gd name="connsiteX1" fmla="*/ 27296 w 818866"/>
              <a:gd name="connsiteY1" fmla="*/ 1160060 h 1160060"/>
              <a:gd name="connsiteX2" fmla="*/ 0 w 818866"/>
              <a:gd name="connsiteY2" fmla="*/ 0 h 1160060"/>
              <a:gd name="connsiteX3" fmla="*/ 805218 w 818866"/>
              <a:gd name="connsiteY3" fmla="*/ 0 h 1160060"/>
              <a:gd name="connsiteX4" fmla="*/ 818866 w 818866"/>
              <a:gd name="connsiteY4" fmla="*/ 395786 h 1160060"/>
              <a:gd name="connsiteX5" fmla="*/ 423081 w 818866"/>
              <a:gd name="connsiteY5" fmla="*/ 382138 h 1160060"/>
              <a:gd name="connsiteX6" fmla="*/ 409433 w 818866"/>
              <a:gd name="connsiteY6" fmla="*/ 1146412 h 1160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8866" h="1160060">
                <a:moveTo>
                  <a:pt x="409433" y="1146412"/>
                </a:moveTo>
                <a:lnTo>
                  <a:pt x="27296" y="1160060"/>
                </a:lnTo>
                <a:lnTo>
                  <a:pt x="0" y="0"/>
                </a:lnTo>
                <a:lnTo>
                  <a:pt x="805218" y="0"/>
                </a:lnTo>
                <a:lnTo>
                  <a:pt x="818866" y="395786"/>
                </a:lnTo>
                <a:lnTo>
                  <a:pt x="423081" y="382138"/>
                </a:lnTo>
                <a:lnTo>
                  <a:pt x="409433" y="1146412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" name="Freeform 11"/>
          <p:cNvSpPr/>
          <p:nvPr/>
        </p:nvSpPr>
        <p:spPr>
          <a:xfrm>
            <a:off x="546100" y="5608638"/>
            <a:ext cx="1597025" cy="777875"/>
          </a:xfrm>
          <a:custGeom>
            <a:avLst/>
            <a:gdLst>
              <a:gd name="connsiteX0" fmla="*/ 777923 w 1596789"/>
              <a:gd name="connsiteY0" fmla="*/ 0 h 777922"/>
              <a:gd name="connsiteX1" fmla="*/ 1596789 w 1596789"/>
              <a:gd name="connsiteY1" fmla="*/ 777922 h 777922"/>
              <a:gd name="connsiteX2" fmla="*/ 0 w 1596789"/>
              <a:gd name="connsiteY2" fmla="*/ 777922 h 777922"/>
              <a:gd name="connsiteX3" fmla="*/ 777923 w 1596789"/>
              <a:gd name="connsiteY3" fmla="*/ 0 h 77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6789" h="777922">
                <a:moveTo>
                  <a:pt x="777923" y="0"/>
                </a:moveTo>
                <a:lnTo>
                  <a:pt x="1596789" y="777922"/>
                </a:lnTo>
                <a:lnTo>
                  <a:pt x="0" y="777922"/>
                </a:lnTo>
                <a:lnTo>
                  <a:pt x="777923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Freeform 12"/>
          <p:cNvSpPr/>
          <p:nvPr/>
        </p:nvSpPr>
        <p:spPr>
          <a:xfrm>
            <a:off x="3357563" y="5608638"/>
            <a:ext cx="1214437" cy="1160462"/>
          </a:xfrm>
          <a:custGeom>
            <a:avLst/>
            <a:gdLst>
              <a:gd name="connsiteX0" fmla="*/ 791570 w 1214651"/>
              <a:gd name="connsiteY0" fmla="*/ 0 h 1160060"/>
              <a:gd name="connsiteX1" fmla="*/ 409433 w 1214651"/>
              <a:gd name="connsiteY1" fmla="*/ 13648 h 1160060"/>
              <a:gd name="connsiteX2" fmla="*/ 382138 w 1214651"/>
              <a:gd name="connsiteY2" fmla="*/ 777922 h 1160060"/>
              <a:gd name="connsiteX3" fmla="*/ 0 w 1214651"/>
              <a:gd name="connsiteY3" fmla="*/ 764274 h 1160060"/>
              <a:gd name="connsiteX4" fmla="*/ 0 w 1214651"/>
              <a:gd name="connsiteY4" fmla="*/ 1160060 h 1160060"/>
              <a:gd name="connsiteX5" fmla="*/ 1214651 w 1214651"/>
              <a:gd name="connsiteY5" fmla="*/ 1160060 h 1160060"/>
              <a:gd name="connsiteX6" fmla="*/ 1214651 w 1214651"/>
              <a:gd name="connsiteY6" fmla="*/ 764274 h 1160060"/>
              <a:gd name="connsiteX7" fmla="*/ 791570 w 1214651"/>
              <a:gd name="connsiteY7" fmla="*/ 777922 h 1160060"/>
              <a:gd name="connsiteX8" fmla="*/ 791570 w 1214651"/>
              <a:gd name="connsiteY8" fmla="*/ 0 h 1160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4651" h="1160060">
                <a:moveTo>
                  <a:pt x="791570" y="0"/>
                </a:moveTo>
                <a:lnTo>
                  <a:pt x="409433" y="13648"/>
                </a:lnTo>
                <a:lnTo>
                  <a:pt x="382138" y="777922"/>
                </a:lnTo>
                <a:lnTo>
                  <a:pt x="0" y="764274"/>
                </a:lnTo>
                <a:lnTo>
                  <a:pt x="0" y="1160060"/>
                </a:lnTo>
                <a:lnTo>
                  <a:pt x="1214651" y="1160060"/>
                </a:lnTo>
                <a:lnTo>
                  <a:pt x="1214651" y="764274"/>
                </a:lnTo>
                <a:lnTo>
                  <a:pt x="791570" y="777922"/>
                </a:lnTo>
                <a:lnTo>
                  <a:pt x="79157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4" name="Freeform 13"/>
          <p:cNvSpPr/>
          <p:nvPr/>
        </p:nvSpPr>
        <p:spPr>
          <a:xfrm>
            <a:off x="6959600" y="4818063"/>
            <a:ext cx="423863" cy="1555750"/>
          </a:xfrm>
          <a:custGeom>
            <a:avLst/>
            <a:gdLst>
              <a:gd name="connsiteX0" fmla="*/ 0 w 423081"/>
              <a:gd name="connsiteY0" fmla="*/ 0 h 1555844"/>
              <a:gd name="connsiteX1" fmla="*/ 423081 w 423081"/>
              <a:gd name="connsiteY1" fmla="*/ 13647 h 1555844"/>
              <a:gd name="connsiteX2" fmla="*/ 409433 w 423081"/>
              <a:gd name="connsiteY2" fmla="*/ 1555844 h 1555844"/>
              <a:gd name="connsiteX3" fmla="*/ 13648 w 423081"/>
              <a:gd name="connsiteY3" fmla="*/ 1555844 h 1555844"/>
              <a:gd name="connsiteX4" fmla="*/ 0 w 423081"/>
              <a:gd name="connsiteY4" fmla="*/ 0 h 1555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3081" h="1555844">
                <a:moveTo>
                  <a:pt x="0" y="0"/>
                </a:moveTo>
                <a:lnTo>
                  <a:pt x="423081" y="13647"/>
                </a:lnTo>
                <a:lnTo>
                  <a:pt x="409433" y="1555844"/>
                </a:lnTo>
                <a:lnTo>
                  <a:pt x="13648" y="1555844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1"/>
          <p:cNvGrpSpPr>
            <a:grpSpLocks/>
          </p:cNvGrpSpPr>
          <p:nvPr/>
        </p:nvGrpSpPr>
        <p:grpSpPr bwMode="auto">
          <a:xfrm>
            <a:off x="1619250" y="1446213"/>
            <a:ext cx="5457825" cy="5362575"/>
            <a:chOff x="1619250" y="1446213"/>
            <a:chExt cx="5457825" cy="5362575"/>
          </a:xfrm>
        </p:grpSpPr>
        <p:pic>
          <p:nvPicPr>
            <p:cNvPr id="12344" name="Picture 2" descr="Screen Clippi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9250" y="1446213"/>
              <a:ext cx="5457825" cy="5362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Rectangle 26"/>
            <p:cNvSpPr/>
            <p:nvPr/>
          </p:nvSpPr>
          <p:spPr>
            <a:xfrm>
              <a:off x="1619250" y="1446213"/>
              <a:ext cx="431800" cy="136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2291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12310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12311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2314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solidFill>
                  <a:srgbClr val="000000"/>
                </a:solidFill>
                <a:latin typeface="Comic Sans MS" pitchFamily="66" charset="0"/>
              </a:rPr>
              <a:t>REFLECTIONS</a:t>
            </a:r>
          </a:p>
          <a:p>
            <a:endParaRPr lang="en-US" sz="3000" b="1" u="sng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12315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TASK 6 (LEVEL 4)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371975" y="2852738"/>
            <a:ext cx="58737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4298950" y="1582738"/>
            <a:ext cx="2606675" cy="1828800"/>
          </a:xfrm>
          <a:custGeom>
            <a:avLst/>
            <a:gdLst>
              <a:gd name="connsiteX0" fmla="*/ 0 w 2606722"/>
              <a:gd name="connsiteY0" fmla="*/ 150126 h 1828800"/>
              <a:gd name="connsiteX1" fmla="*/ 286603 w 2606722"/>
              <a:gd name="connsiteY1" fmla="*/ 27296 h 1828800"/>
              <a:gd name="connsiteX2" fmla="*/ 859809 w 2606722"/>
              <a:gd name="connsiteY2" fmla="*/ 232012 h 1828800"/>
              <a:gd name="connsiteX3" fmla="*/ 1119116 w 2606722"/>
              <a:gd name="connsiteY3" fmla="*/ 0 h 1828800"/>
              <a:gd name="connsiteX4" fmla="*/ 1705970 w 2606722"/>
              <a:gd name="connsiteY4" fmla="*/ 0 h 1828800"/>
              <a:gd name="connsiteX5" fmla="*/ 2292824 w 2606722"/>
              <a:gd name="connsiteY5" fmla="*/ 382138 h 1828800"/>
              <a:gd name="connsiteX6" fmla="*/ 2579427 w 2606722"/>
              <a:gd name="connsiteY6" fmla="*/ 805218 h 1828800"/>
              <a:gd name="connsiteX7" fmla="*/ 2606722 w 2606722"/>
              <a:gd name="connsiteY7" fmla="*/ 1201003 h 1828800"/>
              <a:gd name="connsiteX8" fmla="*/ 2101755 w 2606722"/>
              <a:gd name="connsiteY8" fmla="*/ 1815153 h 1828800"/>
              <a:gd name="connsiteX9" fmla="*/ 1514901 w 2606722"/>
              <a:gd name="connsiteY9" fmla="*/ 1828800 h 1828800"/>
              <a:gd name="connsiteX10" fmla="*/ 955343 w 2606722"/>
              <a:gd name="connsiteY10" fmla="*/ 1637732 h 1828800"/>
              <a:gd name="connsiteX11" fmla="*/ 1501254 w 2606722"/>
              <a:gd name="connsiteY11" fmla="*/ 1419367 h 1828800"/>
              <a:gd name="connsiteX12" fmla="*/ 1473958 w 2606722"/>
              <a:gd name="connsiteY12" fmla="*/ 1009935 h 1828800"/>
              <a:gd name="connsiteX13" fmla="*/ 873456 w 2606722"/>
              <a:gd name="connsiteY13" fmla="*/ 641445 h 1828800"/>
              <a:gd name="connsiteX14" fmla="*/ 873456 w 2606722"/>
              <a:gd name="connsiteY14" fmla="*/ 423081 h 1828800"/>
              <a:gd name="connsiteX15" fmla="*/ 1146412 w 2606722"/>
              <a:gd name="connsiteY15" fmla="*/ 218364 h 1828800"/>
              <a:gd name="connsiteX16" fmla="*/ 1705970 w 2606722"/>
              <a:gd name="connsiteY16" fmla="*/ 204717 h 1828800"/>
              <a:gd name="connsiteX17" fmla="*/ 2292824 w 2606722"/>
              <a:gd name="connsiteY17" fmla="*/ 586854 h 1828800"/>
              <a:gd name="connsiteX18" fmla="*/ 2320119 w 2606722"/>
              <a:gd name="connsiteY18" fmla="*/ 1201003 h 1828800"/>
              <a:gd name="connsiteX19" fmla="*/ 2115403 w 2606722"/>
              <a:gd name="connsiteY19" fmla="*/ 1815153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606722" h="1828800">
                <a:moveTo>
                  <a:pt x="0" y="150126"/>
                </a:moveTo>
                <a:lnTo>
                  <a:pt x="286603" y="27296"/>
                </a:lnTo>
                <a:lnTo>
                  <a:pt x="859809" y="232012"/>
                </a:lnTo>
                <a:lnTo>
                  <a:pt x="1119116" y="0"/>
                </a:lnTo>
                <a:lnTo>
                  <a:pt x="1705970" y="0"/>
                </a:lnTo>
                <a:lnTo>
                  <a:pt x="2292824" y="382138"/>
                </a:lnTo>
                <a:lnTo>
                  <a:pt x="2579427" y="805218"/>
                </a:lnTo>
                <a:lnTo>
                  <a:pt x="2606722" y="1201003"/>
                </a:lnTo>
                <a:lnTo>
                  <a:pt x="2101755" y="1815153"/>
                </a:lnTo>
                <a:lnTo>
                  <a:pt x="1514901" y="1828800"/>
                </a:lnTo>
                <a:lnTo>
                  <a:pt x="955343" y="1637732"/>
                </a:lnTo>
                <a:lnTo>
                  <a:pt x="1501254" y="1419367"/>
                </a:lnTo>
                <a:lnTo>
                  <a:pt x="1473958" y="1009935"/>
                </a:lnTo>
                <a:lnTo>
                  <a:pt x="873456" y="641445"/>
                </a:lnTo>
                <a:lnTo>
                  <a:pt x="873456" y="423081"/>
                </a:lnTo>
                <a:lnTo>
                  <a:pt x="1146412" y="218364"/>
                </a:lnTo>
                <a:lnTo>
                  <a:pt x="1705970" y="204717"/>
                </a:lnTo>
                <a:lnTo>
                  <a:pt x="2292824" y="586854"/>
                </a:lnTo>
                <a:lnTo>
                  <a:pt x="2320119" y="1201003"/>
                </a:lnTo>
                <a:lnTo>
                  <a:pt x="2115403" y="1815153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4352925" y="2647950"/>
            <a:ext cx="601663" cy="2224088"/>
          </a:xfrm>
          <a:custGeom>
            <a:avLst/>
            <a:gdLst>
              <a:gd name="connsiteX0" fmla="*/ 0 w 600501"/>
              <a:gd name="connsiteY0" fmla="*/ 0 h 2224585"/>
              <a:gd name="connsiteX1" fmla="*/ 286603 w 600501"/>
              <a:gd name="connsiteY1" fmla="*/ 0 h 2224585"/>
              <a:gd name="connsiteX2" fmla="*/ 586854 w 600501"/>
              <a:gd name="connsiteY2" fmla="*/ 177421 h 2224585"/>
              <a:gd name="connsiteX3" fmla="*/ 600501 w 600501"/>
              <a:gd name="connsiteY3" fmla="*/ 423080 h 2224585"/>
              <a:gd name="connsiteX4" fmla="*/ 341194 w 600501"/>
              <a:gd name="connsiteY4" fmla="*/ 818865 h 2224585"/>
              <a:gd name="connsiteX5" fmla="*/ 382137 w 600501"/>
              <a:gd name="connsiteY5" fmla="*/ 1419367 h 2224585"/>
              <a:gd name="connsiteX6" fmla="*/ 313898 w 600501"/>
              <a:gd name="connsiteY6" fmla="*/ 2210937 h 2224585"/>
              <a:gd name="connsiteX7" fmla="*/ 163773 w 600501"/>
              <a:gd name="connsiteY7" fmla="*/ 2224585 h 2224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0501" h="2224585">
                <a:moveTo>
                  <a:pt x="0" y="0"/>
                </a:moveTo>
                <a:lnTo>
                  <a:pt x="286603" y="0"/>
                </a:lnTo>
                <a:lnTo>
                  <a:pt x="586854" y="177421"/>
                </a:lnTo>
                <a:lnTo>
                  <a:pt x="600501" y="423080"/>
                </a:lnTo>
                <a:lnTo>
                  <a:pt x="341194" y="818865"/>
                </a:lnTo>
                <a:lnTo>
                  <a:pt x="382137" y="1419367"/>
                </a:lnTo>
                <a:lnTo>
                  <a:pt x="313898" y="2210937"/>
                </a:lnTo>
                <a:lnTo>
                  <a:pt x="163773" y="2224585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4370388" y="3041650"/>
            <a:ext cx="58578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4405313" y="3257550"/>
            <a:ext cx="44132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427538" y="3470275"/>
            <a:ext cx="27463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4427538" y="3659188"/>
            <a:ext cx="30162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457700" y="3857625"/>
            <a:ext cx="27463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4459288" y="4064000"/>
            <a:ext cx="30162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4486275" y="4275138"/>
            <a:ext cx="24923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00563" y="4478338"/>
            <a:ext cx="20478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510088" y="4667250"/>
            <a:ext cx="20637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4694238" y="3043238"/>
            <a:ext cx="1487487" cy="1377950"/>
          </a:xfrm>
          <a:custGeom>
            <a:avLst/>
            <a:gdLst>
              <a:gd name="connsiteX0" fmla="*/ 245660 w 1487606"/>
              <a:gd name="connsiteY0" fmla="*/ 0 h 1378424"/>
              <a:gd name="connsiteX1" fmla="*/ 873457 w 1487606"/>
              <a:gd name="connsiteY1" fmla="*/ 777922 h 1378424"/>
              <a:gd name="connsiteX2" fmla="*/ 1487606 w 1487606"/>
              <a:gd name="connsiteY2" fmla="*/ 1378424 h 1378424"/>
              <a:gd name="connsiteX3" fmla="*/ 0 w 1487606"/>
              <a:gd name="connsiteY3" fmla="*/ 436728 h 137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87606" h="1378424">
                <a:moveTo>
                  <a:pt x="245660" y="0"/>
                </a:moveTo>
                <a:lnTo>
                  <a:pt x="873457" y="777922"/>
                </a:lnTo>
                <a:lnTo>
                  <a:pt x="1487606" y="1378424"/>
                </a:lnTo>
                <a:lnTo>
                  <a:pt x="0" y="436728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4518025" y="3221038"/>
            <a:ext cx="1951038" cy="2046287"/>
          </a:xfrm>
          <a:custGeom>
            <a:avLst/>
            <a:gdLst>
              <a:gd name="connsiteX0" fmla="*/ 627797 w 1951630"/>
              <a:gd name="connsiteY0" fmla="*/ 68238 h 2047164"/>
              <a:gd name="connsiteX1" fmla="*/ 750627 w 1951630"/>
              <a:gd name="connsiteY1" fmla="*/ 13647 h 2047164"/>
              <a:gd name="connsiteX2" fmla="*/ 996287 w 1951630"/>
              <a:gd name="connsiteY2" fmla="*/ 0 h 2047164"/>
              <a:gd name="connsiteX3" fmla="*/ 1610436 w 1951630"/>
              <a:gd name="connsiteY3" fmla="*/ 382137 h 2047164"/>
              <a:gd name="connsiteX4" fmla="*/ 1924334 w 1951630"/>
              <a:gd name="connsiteY4" fmla="*/ 791570 h 2047164"/>
              <a:gd name="connsiteX5" fmla="*/ 1951630 w 1951630"/>
              <a:gd name="connsiteY5" fmla="*/ 1392071 h 2047164"/>
              <a:gd name="connsiteX6" fmla="*/ 1419367 w 1951630"/>
              <a:gd name="connsiteY6" fmla="*/ 1801504 h 2047164"/>
              <a:gd name="connsiteX7" fmla="*/ 1132764 w 1951630"/>
              <a:gd name="connsiteY7" fmla="*/ 1828800 h 2047164"/>
              <a:gd name="connsiteX8" fmla="*/ 873457 w 1951630"/>
              <a:gd name="connsiteY8" fmla="*/ 2033516 h 2047164"/>
              <a:gd name="connsiteX9" fmla="*/ 300251 w 1951630"/>
              <a:gd name="connsiteY9" fmla="*/ 2047164 h 2047164"/>
              <a:gd name="connsiteX10" fmla="*/ 0 w 1951630"/>
              <a:gd name="connsiteY10" fmla="*/ 1897038 h 204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51630" h="2047164">
                <a:moveTo>
                  <a:pt x="627797" y="68238"/>
                </a:moveTo>
                <a:lnTo>
                  <a:pt x="750627" y="13647"/>
                </a:lnTo>
                <a:lnTo>
                  <a:pt x="996287" y="0"/>
                </a:lnTo>
                <a:lnTo>
                  <a:pt x="1610436" y="382137"/>
                </a:lnTo>
                <a:lnTo>
                  <a:pt x="1924334" y="791570"/>
                </a:lnTo>
                <a:lnTo>
                  <a:pt x="1951630" y="1392071"/>
                </a:lnTo>
                <a:lnTo>
                  <a:pt x="1419367" y="1801504"/>
                </a:lnTo>
                <a:lnTo>
                  <a:pt x="1132764" y="1828800"/>
                </a:lnTo>
                <a:lnTo>
                  <a:pt x="873457" y="2033516"/>
                </a:lnTo>
                <a:lnTo>
                  <a:pt x="300251" y="2047164"/>
                </a:lnTo>
                <a:lnTo>
                  <a:pt x="0" y="1897038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4518025" y="5103813"/>
            <a:ext cx="1241425" cy="1597025"/>
          </a:xfrm>
          <a:custGeom>
            <a:avLst/>
            <a:gdLst>
              <a:gd name="connsiteX0" fmla="*/ 0 w 1241946"/>
              <a:gd name="connsiteY0" fmla="*/ 0 h 1596788"/>
              <a:gd name="connsiteX1" fmla="*/ 341194 w 1241946"/>
              <a:gd name="connsiteY1" fmla="*/ 573206 h 1596788"/>
              <a:gd name="connsiteX2" fmla="*/ 395785 w 1241946"/>
              <a:gd name="connsiteY2" fmla="*/ 1596788 h 1596788"/>
              <a:gd name="connsiteX3" fmla="*/ 1241946 w 1241946"/>
              <a:gd name="connsiteY3" fmla="*/ 1542197 h 1596788"/>
              <a:gd name="connsiteX4" fmla="*/ 1228298 w 1241946"/>
              <a:gd name="connsiteY4" fmla="*/ 1337480 h 1596788"/>
              <a:gd name="connsiteX5" fmla="*/ 928048 w 1241946"/>
              <a:gd name="connsiteY5" fmla="*/ 1160059 h 1596788"/>
              <a:gd name="connsiteX6" fmla="*/ 914400 w 1241946"/>
              <a:gd name="connsiteY6" fmla="*/ 736979 h 1596788"/>
              <a:gd name="connsiteX7" fmla="*/ 641445 w 1241946"/>
              <a:gd name="connsiteY7" fmla="*/ 750627 h 1596788"/>
              <a:gd name="connsiteX8" fmla="*/ 368490 w 1241946"/>
              <a:gd name="connsiteY8" fmla="*/ 968991 h 1596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1946" h="1596788">
                <a:moveTo>
                  <a:pt x="0" y="0"/>
                </a:moveTo>
                <a:lnTo>
                  <a:pt x="341194" y="573206"/>
                </a:lnTo>
                <a:lnTo>
                  <a:pt x="395785" y="1596788"/>
                </a:lnTo>
                <a:lnTo>
                  <a:pt x="1241946" y="1542197"/>
                </a:lnTo>
                <a:lnTo>
                  <a:pt x="1228298" y="1337480"/>
                </a:lnTo>
                <a:lnTo>
                  <a:pt x="928048" y="1160059"/>
                </a:lnTo>
                <a:lnTo>
                  <a:pt x="914400" y="736979"/>
                </a:lnTo>
                <a:lnTo>
                  <a:pt x="641445" y="750627"/>
                </a:lnTo>
                <a:lnTo>
                  <a:pt x="368490" y="968991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41" name="Straight Connector 40"/>
          <p:cNvCxnSpPr>
            <a:endCxn id="17" idx="4"/>
          </p:cNvCxnSpPr>
          <p:nvPr/>
        </p:nvCxnSpPr>
        <p:spPr>
          <a:xfrm flipV="1">
            <a:off x="4918075" y="6442075"/>
            <a:ext cx="827088" cy="381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192713" y="6467475"/>
            <a:ext cx="0" cy="21113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467350" y="6438900"/>
            <a:ext cx="0" cy="21272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4886325" y="6072188"/>
            <a:ext cx="55245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5040313" y="5962650"/>
            <a:ext cx="41433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endCxn id="15" idx="6"/>
          </p:cNvCxnSpPr>
          <p:nvPr/>
        </p:nvCxnSpPr>
        <p:spPr>
          <a:xfrm flipV="1">
            <a:off x="5419725" y="5022850"/>
            <a:ext cx="517525" cy="8524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 25"/>
          <p:cNvSpPr/>
          <p:nvPr/>
        </p:nvSpPr>
        <p:spPr>
          <a:xfrm>
            <a:off x="5445125" y="4613275"/>
            <a:ext cx="1023938" cy="1636713"/>
          </a:xfrm>
          <a:custGeom>
            <a:avLst/>
            <a:gdLst>
              <a:gd name="connsiteX0" fmla="*/ 1023582 w 1023582"/>
              <a:gd name="connsiteY0" fmla="*/ 0 h 1637732"/>
              <a:gd name="connsiteX1" fmla="*/ 504967 w 1023582"/>
              <a:gd name="connsiteY1" fmla="*/ 832514 h 1637732"/>
              <a:gd name="connsiteX2" fmla="*/ 545910 w 1023582"/>
              <a:gd name="connsiteY2" fmla="*/ 1255594 h 1637732"/>
              <a:gd name="connsiteX3" fmla="*/ 846161 w 1023582"/>
              <a:gd name="connsiteY3" fmla="*/ 1405720 h 1637732"/>
              <a:gd name="connsiteX4" fmla="*/ 846161 w 1023582"/>
              <a:gd name="connsiteY4" fmla="*/ 1624084 h 1637732"/>
              <a:gd name="connsiteX5" fmla="*/ 0 w 1023582"/>
              <a:gd name="connsiteY5" fmla="*/ 1637732 h 1637732"/>
              <a:gd name="connsiteX6" fmla="*/ 0 w 1023582"/>
              <a:gd name="connsiteY6" fmla="*/ 1637732 h 1637732"/>
              <a:gd name="connsiteX7" fmla="*/ 0 w 1023582"/>
              <a:gd name="connsiteY7" fmla="*/ 1637732 h 163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3582" h="1637732">
                <a:moveTo>
                  <a:pt x="1023582" y="0"/>
                </a:moveTo>
                <a:lnTo>
                  <a:pt x="504967" y="832514"/>
                </a:lnTo>
                <a:lnTo>
                  <a:pt x="545910" y="1255594"/>
                </a:lnTo>
                <a:lnTo>
                  <a:pt x="846161" y="1405720"/>
                </a:lnTo>
                <a:lnTo>
                  <a:pt x="846161" y="1624084"/>
                </a:lnTo>
                <a:lnTo>
                  <a:pt x="0" y="1637732"/>
                </a:lnTo>
                <a:lnTo>
                  <a:pt x="0" y="1637732"/>
                </a:lnTo>
                <a:lnTo>
                  <a:pt x="0" y="1637732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5445125" y="6035675"/>
            <a:ext cx="827088" cy="142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710238" y="6024563"/>
            <a:ext cx="0" cy="21272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5999163" y="6024563"/>
            <a:ext cx="0" cy="21272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5683250" y="5445125"/>
            <a:ext cx="28416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5641975" y="5548313"/>
            <a:ext cx="31115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5572125" y="5648325"/>
            <a:ext cx="41592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13333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13334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3337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latin typeface="Comic Sans MS" pitchFamily="66" charset="0"/>
              </a:rPr>
              <a:t>REFLECTIONS</a:t>
            </a:r>
          </a:p>
          <a:p>
            <a:endParaRPr lang="en-US" sz="3000" b="1" u="sng"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13338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7030A0"/>
                </a:solidFill>
              </a:rPr>
              <a:t>EXTENSION 1 (LEVEL 5)</a:t>
            </a:r>
          </a:p>
        </p:txBody>
      </p:sp>
      <p:sp>
        <p:nvSpPr>
          <p:cNvPr id="13339" name="Text Box 37"/>
          <p:cNvSpPr txBox="1">
            <a:spLocks noChangeArrowheads="1"/>
          </p:cNvSpPr>
          <p:nvPr/>
        </p:nvSpPr>
        <p:spPr bwMode="auto">
          <a:xfrm>
            <a:off x="-468313" y="1327150"/>
            <a:ext cx="6638926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Reflect the shapes in the mirror lines given below:</a:t>
            </a:r>
          </a:p>
        </p:txBody>
      </p:sp>
      <p:pic>
        <p:nvPicPr>
          <p:cNvPr id="13340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17"/>
          <a:stretch>
            <a:fillRect/>
          </a:stretch>
        </p:blipFill>
        <p:spPr bwMode="auto">
          <a:xfrm>
            <a:off x="-14288" y="1844675"/>
            <a:ext cx="9144001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reeform 2"/>
          <p:cNvSpPr/>
          <p:nvPr/>
        </p:nvSpPr>
        <p:spPr>
          <a:xfrm>
            <a:off x="122238" y="2838450"/>
            <a:ext cx="355600" cy="463550"/>
          </a:xfrm>
          <a:custGeom>
            <a:avLst/>
            <a:gdLst>
              <a:gd name="connsiteX0" fmla="*/ 0 w 354842"/>
              <a:gd name="connsiteY0" fmla="*/ 0 h 464024"/>
              <a:gd name="connsiteX1" fmla="*/ 0 w 354842"/>
              <a:gd name="connsiteY1" fmla="*/ 232012 h 464024"/>
              <a:gd name="connsiteX2" fmla="*/ 191069 w 354842"/>
              <a:gd name="connsiteY2" fmla="*/ 232012 h 464024"/>
              <a:gd name="connsiteX3" fmla="*/ 191069 w 354842"/>
              <a:gd name="connsiteY3" fmla="*/ 464024 h 464024"/>
              <a:gd name="connsiteX4" fmla="*/ 354842 w 354842"/>
              <a:gd name="connsiteY4" fmla="*/ 464024 h 464024"/>
              <a:gd name="connsiteX5" fmla="*/ 354842 w 354842"/>
              <a:gd name="connsiteY5" fmla="*/ 232012 h 464024"/>
              <a:gd name="connsiteX6" fmla="*/ 191069 w 354842"/>
              <a:gd name="connsiteY6" fmla="*/ 232012 h 464024"/>
              <a:gd name="connsiteX7" fmla="*/ 177421 w 354842"/>
              <a:gd name="connsiteY7" fmla="*/ 0 h 464024"/>
              <a:gd name="connsiteX8" fmla="*/ 0 w 354842"/>
              <a:gd name="connsiteY8" fmla="*/ 0 h 464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842" h="464024">
                <a:moveTo>
                  <a:pt x="0" y="0"/>
                </a:moveTo>
                <a:lnTo>
                  <a:pt x="0" y="232012"/>
                </a:lnTo>
                <a:lnTo>
                  <a:pt x="191069" y="232012"/>
                </a:lnTo>
                <a:lnTo>
                  <a:pt x="191069" y="464024"/>
                </a:lnTo>
                <a:lnTo>
                  <a:pt x="354842" y="464024"/>
                </a:lnTo>
                <a:lnTo>
                  <a:pt x="354842" y="232012"/>
                </a:lnTo>
                <a:lnTo>
                  <a:pt x="191069" y="232012"/>
                </a:lnTo>
                <a:lnTo>
                  <a:pt x="177421" y="0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Freeform 18"/>
          <p:cNvSpPr/>
          <p:nvPr/>
        </p:nvSpPr>
        <p:spPr>
          <a:xfrm flipH="1">
            <a:off x="1187450" y="2847975"/>
            <a:ext cx="369888" cy="463550"/>
          </a:xfrm>
          <a:custGeom>
            <a:avLst/>
            <a:gdLst>
              <a:gd name="connsiteX0" fmla="*/ 0 w 354842"/>
              <a:gd name="connsiteY0" fmla="*/ 0 h 464024"/>
              <a:gd name="connsiteX1" fmla="*/ 0 w 354842"/>
              <a:gd name="connsiteY1" fmla="*/ 232012 h 464024"/>
              <a:gd name="connsiteX2" fmla="*/ 191069 w 354842"/>
              <a:gd name="connsiteY2" fmla="*/ 232012 h 464024"/>
              <a:gd name="connsiteX3" fmla="*/ 191069 w 354842"/>
              <a:gd name="connsiteY3" fmla="*/ 464024 h 464024"/>
              <a:gd name="connsiteX4" fmla="*/ 354842 w 354842"/>
              <a:gd name="connsiteY4" fmla="*/ 464024 h 464024"/>
              <a:gd name="connsiteX5" fmla="*/ 354842 w 354842"/>
              <a:gd name="connsiteY5" fmla="*/ 232012 h 464024"/>
              <a:gd name="connsiteX6" fmla="*/ 191069 w 354842"/>
              <a:gd name="connsiteY6" fmla="*/ 232012 h 464024"/>
              <a:gd name="connsiteX7" fmla="*/ 177421 w 354842"/>
              <a:gd name="connsiteY7" fmla="*/ 0 h 464024"/>
              <a:gd name="connsiteX8" fmla="*/ 0 w 354842"/>
              <a:gd name="connsiteY8" fmla="*/ 0 h 464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842" h="464024">
                <a:moveTo>
                  <a:pt x="0" y="0"/>
                </a:moveTo>
                <a:lnTo>
                  <a:pt x="0" y="232012"/>
                </a:lnTo>
                <a:lnTo>
                  <a:pt x="191069" y="232012"/>
                </a:lnTo>
                <a:lnTo>
                  <a:pt x="191069" y="464024"/>
                </a:lnTo>
                <a:lnTo>
                  <a:pt x="354842" y="464024"/>
                </a:lnTo>
                <a:lnTo>
                  <a:pt x="354842" y="232012"/>
                </a:lnTo>
                <a:lnTo>
                  <a:pt x="191069" y="232012"/>
                </a:lnTo>
                <a:lnTo>
                  <a:pt x="177421" y="0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Freeform 19"/>
          <p:cNvSpPr/>
          <p:nvPr/>
        </p:nvSpPr>
        <p:spPr>
          <a:xfrm>
            <a:off x="1187450" y="2389188"/>
            <a:ext cx="371475" cy="465137"/>
          </a:xfrm>
          <a:custGeom>
            <a:avLst/>
            <a:gdLst>
              <a:gd name="connsiteX0" fmla="*/ 0 w 354842"/>
              <a:gd name="connsiteY0" fmla="*/ 0 h 464024"/>
              <a:gd name="connsiteX1" fmla="*/ 0 w 354842"/>
              <a:gd name="connsiteY1" fmla="*/ 232012 h 464024"/>
              <a:gd name="connsiteX2" fmla="*/ 191069 w 354842"/>
              <a:gd name="connsiteY2" fmla="*/ 232012 h 464024"/>
              <a:gd name="connsiteX3" fmla="*/ 191069 w 354842"/>
              <a:gd name="connsiteY3" fmla="*/ 464024 h 464024"/>
              <a:gd name="connsiteX4" fmla="*/ 354842 w 354842"/>
              <a:gd name="connsiteY4" fmla="*/ 464024 h 464024"/>
              <a:gd name="connsiteX5" fmla="*/ 354842 w 354842"/>
              <a:gd name="connsiteY5" fmla="*/ 232012 h 464024"/>
              <a:gd name="connsiteX6" fmla="*/ 191069 w 354842"/>
              <a:gd name="connsiteY6" fmla="*/ 232012 h 464024"/>
              <a:gd name="connsiteX7" fmla="*/ 177421 w 354842"/>
              <a:gd name="connsiteY7" fmla="*/ 0 h 464024"/>
              <a:gd name="connsiteX8" fmla="*/ 0 w 354842"/>
              <a:gd name="connsiteY8" fmla="*/ 0 h 464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842" h="464024">
                <a:moveTo>
                  <a:pt x="0" y="0"/>
                </a:moveTo>
                <a:lnTo>
                  <a:pt x="0" y="232012"/>
                </a:lnTo>
                <a:lnTo>
                  <a:pt x="191069" y="232012"/>
                </a:lnTo>
                <a:lnTo>
                  <a:pt x="191069" y="464024"/>
                </a:lnTo>
                <a:lnTo>
                  <a:pt x="354842" y="464024"/>
                </a:lnTo>
                <a:lnTo>
                  <a:pt x="354842" y="232012"/>
                </a:lnTo>
                <a:lnTo>
                  <a:pt x="191069" y="232012"/>
                </a:lnTo>
                <a:lnTo>
                  <a:pt x="177421" y="0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2000250" y="2405063"/>
            <a:ext cx="360363" cy="450850"/>
            <a:chOff x="1999682" y="2404900"/>
            <a:chExt cx="361381" cy="450376"/>
          </a:xfrm>
        </p:grpSpPr>
        <p:sp>
          <p:nvSpPr>
            <p:cNvPr id="5" name="Freeform 4"/>
            <p:cNvSpPr/>
            <p:nvPr/>
          </p:nvSpPr>
          <p:spPr>
            <a:xfrm>
              <a:off x="2170025" y="2406485"/>
              <a:ext cx="191038" cy="212501"/>
            </a:xfrm>
            <a:custGeom>
              <a:avLst/>
              <a:gdLst>
                <a:gd name="connsiteX0" fmla="*/ 0 w 191069"/>
                <a:gd name="connsiteY0" fmla="*/ 0 h 232012"/>
                <a:gd name="connsiteX1" fmla="*/ 0 w 191069"/>
                <a:gd name="connsiteY1" fmla="*/ 232012 h 232012"/>
                <a:gd name="connsiteX2" fmla="*/ 191069 w 191069"/>
                <a:gd name="connsiteY2" fmla="*/ 232012 h 232012"/>
                <a:gd name="connsiteX3" fmla="*/ 191069 w 191069"/>
                <a:gd name="connsiteY3" fmla="*/ 0 h 232012"/>
                <a:gd name="connsiteX4" fmla="*/ 0 w 191069"/>
                <a:gd name="connsiteY4" fmla="*/ 0 h 232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69" h="232012">
                  <a:moveTo>
                    <a:pt x="0" y="0"/>
                  </a:moveTo>
                  <a:lnTo>
                    <a:pt x="0" y="232012"/>
                  </a:lnTo>
                  <a:lnTo>
                    <a:pt x="191069" y="232012"/>
                  </a:lnTo>
                  <a:lnTo>
                    <a:pt x="1910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2007642" y="2404900"/>
              <a:ext cx="175118" cy="231531"/>
            </a:xfrm>
            <a:custGeom>
              <a:avLst/>
              <a:gdLst>
                <a:gd name="connsiteX0" fmla="*/ 0 w 191069"/>
                <a:gd name="connsiteY0" fmla="*/ 0 h 232012"/>
                <a:gd name="connsiteX1" fmla="*/ 0 w 191069"/>
                <a:gd name="connsiteY1" fmla="*/ 232012 h 232012"/>
                <a:gd name="connsiteX2" fmla="*/ 191069 w 191069"/>
                <a:gd name="connsiteY2" fmla="*/ 232012 h 232012"/>
                <a:gd name="connsiteX3" fmla="*/ 191069 w 191069"/>
                <a:gd name="connsiteY3" fmla="*/ 0 h 232012"/>
                <a:gd name="connsiteX4" fmla="*/ 0 w 191069"/>
                <a:gd name="connsiteY4" fmla="*/ 0 h 232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69" h="232012">
                  <a:moveTo>
                    <a:pt x="0" y="0"/>
                  </a:moveTo>
                  <a:lnTo>
                    <a:pt x="0" y="232012"/>
                  </a:lnTo>
                  <a:lnTo>
                    <a:pt x="191069" y="232012"/>
                  </a:lnTo>
                  <a:lnTo>
                    <a:pt x="1910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999682" y="2623745"/>
              <a:ext cx="168750" cy="231531"/>
            </a:xfrm>
            <a:custGeom>
              <a:avLst/>
              <a:gdLst>
                <a:gd name="connsiteX0" fmla="*/ 0 w 191069"/>
                <a:gd name="connsiteY0" fmla="*/ 0 h 232012"/>
                <a:gd name="connsiteX1" fmla="*/ 0 w 191069"/>
                <a:gd name="connsiteY1" fmla="*/ 232012 h 232012"/>
                <a:gd name="connsiteX2" fmla="*/ 191069 w 191069"/>
                <a:gd name="connsiteY2" fmla="*/ 232012 h 232012"/>
                <a:gd name="connsiteX3" fmla="*/ 191069 w 191069"/>
                <a:gd name="connsiteY3" fmla="*/ 0 h 232012"/>
                <a:gd name="connsiteX4" fmla="*/ 0 w 191069"/>
                <a:gd name="connsiteY4" fmla="*/ 0 h 232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69" h="232012">
                  <a:moveTo>
                    <a:pt x="0" y="0"/>
                  </a:moveTo>
                  <a:lnTo>
                    <a:pt x="0" y="232012"/>
                  </a:lnTo>
                  <a:lnTo>
                    <a:pt x="191069" y="232012"/>
                  </a:lnTo>
                  <a:lnTo>
                    <a:pt x="1910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6" name="Freeform 25"/>
          <p:cNvSpPr/>
          <p:nvPr/>
        </p:nvSpPr>
        <p:spPr>
          <a:xfrm>
            <a:off x="2889250" y="3314700"/>
            <a:ext cx="190500" cy="234950"/>
          </a:xfrm>
          <a:custGeom>
            <a:avLst/>
            <a:gdLst>
              <a:gd name="connsiteX0" fmla="*/ 0 w 191069"/>
              <a:gd name="connsiteY0" fmla="*/ 0 h 232012"/>
              <a:gd name="connsiteX1" fmla="*/ 0 w 191069"/>
              <a:gd name="connsiteY1" fmla="*/ 232012 h 232012"/>
              <a:gd name="connsiteX2" fmla="*/ 191069 w 191069"/>
              <a:gd name="connsiteY2" fmla="*/ 232012 h 232012"/>
              <a:gd name="connsiteX3" fmla="*/ 191069 w 191069"/>
              <a:gd name="connsiteY3" fmla="*/ 0 h 232012"/>
              <a:gd name="connsiteX4" fmla="*/ 0 w 191069"/>
              <a:gd name="connsiteY4" fmla="*/ 0 h 23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69" h="232012">
                <a:moveTo>
                  <a:pt x="0" y="0"/>
                </a:moveTo>
                <a:lnTo>
                  <a:pt x="0" y="232012"/>
                </a:lnTo>
                <a:lnTo>
                  <a:pt x="191069" y="232012"/>
                </a:lnTo>
                <a:lnTo>
                  <a:pt x="191069" y="0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Freeform 26"/>
          <p:cNvSpPr/>
          <p:nvPr/>
        </p:nvSpPr>
        <p:spPr>
          <a:xfrm>
            <a:off x="2898775" y="3541713"/>
            <a:ext cx="192088" cy="234950"/>
          </a:xfrm>
          <a:custGeom>
            <a:avLst/>
            <a:gdLst>
              <a:gd name="connsiteX0" fmla="*/ 0 w 191069"/>
              <a:gd name="connsiteY0" fmla="*/ 0 h 232012"/>
              <a:gd name="connsiteX1" fmla="*/ 0 w 191069"/>
              <a:gd name="connsiteY1" fmla="*/ 232012 h 232012"/>
              <a:gd name="connsiteX2" fmla="*/ 191069 w 191069"/>
              <a:gd name="connsiteY2" fmla="*/ 232012 h 232012"/>
              <a:gd name="connsiteX3" fmla="*/ 191069 w 191069"/>
              <a:gd name="connsiteY3" fmla="*/ 0 h 232012"/>
              <a:gd name="connsiteX4" fmla="*/ 0 w 191069"/>
              <a:gd name="connsiteY4" fmla="*/ 0 h 23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69" h="232012">
                <a:moveTo>
                  <a:pt x="0" y="0"/>
                </a:moveTo>
                <a:lnTo>
                  <a:pt x="0" y="232012"/>
                </a:lnTo>
                <a:lnTo>
                  <a:pt x="191069" y="232012"/>
                </a:lnTo>
                <a:lnTo>
                  <a:pt x="191069" y="0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Freeform 27"/>
          <p:cNvSpPr/>
          <p:nvPr/>
        </p:nvSpPr>
        <p:spPr>
          <a:xfrm>
            <a:off x="2700338" y="3541713"/>
            <a:ext cx="190500" cy="234950"/>
          </a:xfrm>
          <a:custGeom>
            <a:avLst/>
            <a:gdLst>
              <a:gd name="connsiteX0" fmla="*/ 0 w 191069"/>
              <a:gd name="connsiteY0" fmla="*/ 0 h 232012"/>
              <a:gd name="connsiteX1" fmla="*/ 0 w 191069"/>
              <a:gd name="connsiteY1" fmla="*/ 232012 h 232012"/>
              <a:gd name="connsiteX2" fmla="*/ 191069 w 191069"/>
              <a:gd name="connsiteY2" fmla="*/ 232012 h 232012"/>
              <a:gd name="connsiteX3" fmla="*/ 191069 w 191069"/>
              <a:gd name="connsiteY3" fmla="*/ 0 h 232012"/>
              <a:gd name="connsiteX4" fmla="*/ 0 w 191069"/>
              <a:gd name="connsiteY4" fmla="*/ 0 h 23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69" h="232012">
                <a:moveTo>
                  <a:pt x="0" y="0"/>
                </a:moveTo>
                <a:lnTo>
                  <a:pt x="0" y="232012"/>
                </a:lnTo>
                <a:lnTo>
                  <a:pt x="191069" y="232012"/>
                </a:lnTo>
                <a:lnTo>
                  <a:pt x="191069" y="0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Freeform 28"/>
          <p:cNvSpPr/>
          <p:nvPr/>
        </p:nvSpPr>
        <p:spPr>
          <a:xfrm>
            <a:off x="3071813" y="3082925"/>
            <a:ext cx="190500" cy="233363"/>
          </a:xfrm>
          <a:custGeom>
            <a:avLst/>
            <a:gdLst>
              <a:gd name="connsiteX0" fmla="*/ 0 w 191069"/>
              <a:gd name="connsiteY0" fmla="*/ 0 h 232012"/>
              <a:gd name="connsiteX1" fmla="*/ 0 w 191069"/>
              <a:gd name="connsiteY1" fmla="*/ 232012 h 232012"/>
              <a:gd name="connsiteX2" fmla="*/ 191069 w 191069"/>
              <a:gd name="connsiteY2" fmla="*/ 232012 h 232012"/>
              <a:gd name="connsiteX3" fmla="*/ 191069 w 191069"/>
              <a:gd name="connsiteY3" fmla="*/ 0 h 232012"/>
              <a:gd name="connsiteX4" fmla="*/ 0 w 191069"/>
              <a:gd name="connsiteY4" fmla="*/ 0 h 23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69" h="232012">
                <a:moveTo>
                  <a:pt x="0" y="0"/>
                </a:moveTo>
                <a:lnTo>
                  <a:pt x="0" y="232012"/>
                </a:lnTo>
                <a:lnTo>
                  <a:pt x="191069" y="232012"/>
                </a:lnTo>
                <a:lnTo>
                  <a:pt x="191069" y="0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Freeform 29"/>
          <p:cNvSpPr/>
          <p:nvPr/>
        </p:nvSpPr>
        <p:spPr>
          <a:xfrm>
            <a:off x="3263900" y="3082925"/>
            <a:ext cx="173038" cy="233363"/>
          </a:xfrm>
          <a:custGeom>
            <a:avLst/>
            <a:gdLst>
              <a:gd name="connsiteX0" fmla="*/ 0 w 191069"/>
              <a:gd name="connsiteY0" fmla="*/ 0 h 232012"/>
              <a:gd name="connsiteX1" fmla="*/ 0 w 191069"/>
              <a:gd name="connsiteY1" fmla="*/ 232012 h 232012"/>
              <a:gd name="connsiteX2" fmla="*/ 191069 w 191069"/>
              <a:gd name="connsiteY2" fmla="*/ 232012 h 232012"/>
              <a:gd name="connsiteX3" fmla="*/ 191069 w 191069"/>
              <a:gd name="connsiteY3" fmla="*/ 0 h 232012"/>
              <a:gd name="connsiteX4" fmla="*/ 0 w 191069"/>
              <a:gd name="connsiteY4" fmla="*/ 0 h 23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69" h="232012">
                <a:moveTo>
                  <a:pt x="0" y="0"/>
                </a:moveTo>
                <a:lnTo>
                  <a:pt x="0" y="232012"/>
                </a:lnTo>
                <a:lnTo>
                  <a:pt x="191069" y="232012"/>
                </a:lnTo>
                <a:lnTo>
                  <a:pt x="191069" y="0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Freeform 30"/>
          <p:cNvSpPr/>
          <p:nvPr/>
        </p:nvSpPr>
        <p:spPr>
          <a:xfrm>
            <a:off x="3262313" y="2847975"/>
            <a:ext cx="173037" cy="234950"/>
          </a:xfrm>
          <a:custGeom>
            <a:avLst/>
            <a:gdLst>
              <a:gd name="connsiteX0" fmla="*/ 0 w 191069"/>
              <a:gd name="connsiteY0" fmla="*/ 0 h 232012"/>
              <a:gd name="connsiteX1" fmla="*/ 0 w 191069"/>
              <a:gd name="connsiteY1" fmla="*/ 232012 h 232012"/>
              <a:gd name="connsiteX2" fmla="*/ 191069 w 191069"/>
              <a:gd name="connsiteY2" fmla="*/ 232012 h 232012"/>
              <a:gd name="connsiteX3" fmla="*/ 191069 w 191069"/>
              <a:gd name="connsiteY3" fmla="*/ 0 h 232012"/>
              <a:gd name="connsiteX4" fmla="*/ 0 w 191069"/>
              <a:gd name="connsiteY4" fmla="*/ 0 h 23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69" h="232012">
                <a:moveTo>
                  <a:pt x="0" y="0"/>
                </a:moveTo>
                <a:lnTo>
                  <a:pt x="0" y="232012"/>
                </a:lnTo>
                <a:lnTo>
                  <a:pt x="191069" y="232012"/>
                </a:lnTo>
                <a:lnTo>
                  <a:pt x="191069" y="0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" name="Freeform 31"/>
          <p:cNvSpPr/>
          <p:nvPr/>
        </p:nvSpPr>
        <p:spPr>
          <a:xfrm>
            <a:off x="3086100" y="3311525"/>
            <a:ext cx="176213" cy="234950"/>
          </a:xfrm>
          <a:custGeom>
            <a:avLst/>
            <a:gdLst>
              <a:gd name="connsiteX0" fmla="*/ 0 w 191069"/>
              <a:gd name="connsiteY0" fmla="*/ 0 h 232012"/>
              <a:gd name="connsiteX1" fmla="*/ 0 w 191069"/>
              <a:gd name="connsiteY1" fmla="*/ 232012 h 232012"/>
              <a:gd name="connsiteX2" fmla="*/ 191069 w 191069"/>
              <a:gd name="connsiteY2" fmla="*/ 232012 h 232012"/>
              <a:gd name="connsiteX3" fmla="*/ 191069 w 191069"/>
              <a:gd name="connsiteY3" fmla="*/ 0 h 232012"/>
              <a:gd name="connsiteX4" fmla="*/ 0 w 191069"/>
              <a:gd name="connsiteY4" fmla="*/ 0 h 232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69" h="232012">
                <a:moveTo>
                  <a:pt x="0" y="0"/>
                </a:moveTo>
                <a:lnTo>
                  <a:pt x="0" y="232012"/>
                </a:lnTo>
                <a:lnTo>
                  <a:pt x="191069" y="232012"/>
                </a:lnTo>
                <a:lnTo>
                  <a:pt x="191069" y="0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4586288" y="3319463"/>
            <a:ext cx="368300" cy="460375"/>
            <a:chOff x="4585648" y="3319136"/>
            <a:chExt cx="368489" cy="461294"/>
          </a:xfrm>
        </p:grpSpPr>
        <p:sp>
          <p:nvSpPr>
            <p:cNvPr id="7" name="Freeform 6"/>
            <p:cNvSpPr/>
            <p:nvPr/>
          </p:nvSpPr>
          <p:spPr>
            <a:xfrm>
              <a:off x="4599942" y="3330270"/>
              <a:ext cx="354195" cy="450160"/>
            </a:xfrm>
            <a:custGeom>
              <a:avLst/>
              <a:gdLst>
                <a:gd name="connsiteX0" fmla="*/ 0 w 354841"/>
                <a:gd name="connsiteY0" fmla="*/ 450376 h 450376"/>
                <a:gd name="connsiteX1" fmla="*/ 177420 w 354841"/>
                <a:gd name="connsiteY1" fmla="*/ 450376 h 450376"/>
                <a:gd name="connsiteX2" fmla="*/ 177420 w 354841"/>
                <a:gd name="connsiteY2" fmla="*/ 232012 h 450376"/>
                <a:gd name="connsiteX3" fmla="*/ 354841 w 354841"/>
                <a:gd name="connsiteY3" fmla="*/ 232012 h 450376"/>
                <a:gd name="connsiteX4" fmla="*/ 354841 w 354841"/>
                <a:gd name="connsiteY4" fmla="*/ 0 h 450376"/>
                <a:gd name="connsiteX5" fmla="*/ 0 w 354841"/>
                <a:gd name="connsiteY5" fmla="*/ 0 h 450376"/>
                <a:gd name="connsiteX6" fmla="*/ 0 w 354841"/>
                <a:gd name="connsiteY6" fmla="*/ 450376 h 45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841" h="450376">
                  <a:moveTo>
                    <a:pt x="0" y="450376"/>
                  </a:moveTo>
                  <a:lnTo>
                    <a:pt x="177420" y="450376"/>
                  </a:lnTo>
                  <a:lnTo>
                    <a:pt x="177420" y="232012"/>
                  </a:lnTo>
                  <a:lnTo>
                    <a:pt x="354841" y="232012"/>
                  </a:lnTo>
                  <a:lnTo>
                    <a:pt x="354841" y="0"/>
                  </a:lnTo>
                  <a:lnTo>
                    <a:pt x="0" y="0"/>
                  </a:lnTo>
                  <a:lnTo>
                    <a:pt x="0" y="450376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4585648" y="3319136"/>
              <a:ext cx="204892" cy="240191"/>
            </a:xfrm>
            <a:custGeom>
              <a:avLst/>
              <a:gdLst>
                <a:gd name="connsiteX0" fmla="*/ 0 w 204716"/>
                <a:gd name="connsiteY0" fmla="*/ 218364 h 218364"/>
                <a:gd name="connsiteX1" fmla="*/ 204716 w 204716"/>
                <a:gd name="connsiteY1" fmla="*/ 218364 h 218364"/>
                <a:gd name="connsiteX2" fmla="*/ 191068 w 204716"/>
                <a:gd name="connsiteY2" fmla="*/ 0 h 218364"/>
                <a:gd name="connsiteX3" fmla="*/ 191068 w 204716"/>
                <a:gd name="connsiteY3" fmla="*/ 0 h 21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716" h="218364">
                  <a:moveTo>
                    <a:pt x="0" y="218364"/>
                  </a:moveTo>
                  <a:lnTo>
                    <a:pt x="204716" y="218364"/>
                  </a:lnTo>
                  <a:lnTo>
                    <a:pt x="191068" y="0"/>
                  </a:lnTo>
                  <a:lnTo>
                    <a:pt x="19106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8" name="Group 37"/>
          <p:cNvGrpSpPr>
            <a:grpSpLocks/>
          </p:cNvGrpSpPr>
          <p:nvPr/>
        </p:nvGrpSpPr>
        <p:grpSpPr bwMode="auto">
          <a:xfrm rot="10800000">
            <a:off x="4248150" y="1946275"/>
            <a:ext cx="368300" cy="460375"/>
            <a:chOff x="4585648" y="3319136"/>
            <a:chExt cx="368489" cy="461294"/>
          </a:xfrm>
        </p:grpSpPr>
        <p:sp>
          <p:nvSpPr>
            <p:cNvPr id="39" name="Freeform 38"/>
            <p:cNvSpPr/>
            <p:nvPr/>
          </p:nvSpPr>
          <p:spPr>
            <a:xfrm>
              <a:off x="4604708" y="3335043"/>
              <a:ext cx="354194" cy="450159"/>
            </a:xfrm>
            <a:custGeom>
              <a:avLst/>
              <a:gdLst>
                <a:gd name="connsiteX0" fmla="*/ 0 w 354841"/>
                <a:gd name="connsiteY0" fmla="*/ 450376 h 450376"/>
                <a:gd name="connsiteX1" fmla="*/ 177420 w 354841"/>
                <a:gd name="connsiteY1" fmla="*/ 450376 h 450376"/>
                <a:gd name="connsiteX2" fmla="*/ 177420 w 354841"/>
                <a:gd name="connsiteY2" fmla="*/ 232012 h 450376"/>
                <a:gd name="connsiteX3" fmla="*/ 354841 w 354841"/>
                <a:gd name="connsiteY3" fmla="*/ 232012 h 450376"/>
                <a:gd name="connsiteX4" fmla="*/ 354841 w 354841"/>
                <a:gd name="connsiteY4" fmla="*/ 0 h 450376"/>
                <a:gd name="connsiteX5" fmla="*/ 0 w 354841"/>
                <a:gd name="connsiteY5" fmla="*/ 0 h 450376"/>
                <a:gd name="connsiteX6" fmla="*/ 0 w 354841"/>
                <a:gd name="connsiteY6" fmla="*/ 450376 h 45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841" h="450376">
                  <a:moveTo>
                    <a:pt x="0" y="450376"/>
                  </a:moveTo>
                  <a:lnTo>
                    <a:pt x="177420" y="450376"/>
                  </a:lnTo>
                  <a:lnTo>
                    <a:pt x="177420" y="232012"/>
                  </a:lnTo>
                  <a:lnTo>
                    <a:pt x="354841" y="232012"/>
                  </a:lnTo>
                  <a:lnTo>
                    <a:pt x="354841" y="0"/>
                  </a:lnTo>
                  <a:lnTo>
                    <a:pt x="0" y="0"/>
                  </a:lnTo>
                  <a:lnTo>
                    <a:pt x="0" y="450376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4590412" y="3328680"/>
              <a:ext cx="204893" cy="240191"/>
            </a:xfrm>
            <a:custGeom>
              <a:avLst/>
              <a:gdLst>
                <a:gd name="connsiteX0" fmla="*/ 0 w 204716"/>
                <a:gd name="connsiteY0" fmla="*/ 218364 h 218364"/>
                <a:gd name="connsiteX1" fmla="*/ 204716 w 204716"/>
                <a:gd name="connsiteY1" fmla="*/ 218364 h 218364"/>
                <a:gd name="connsiteX2" fmla="*/ 191068 w 204716"/>
                <a:gd name="connsiteY2" fmla="*/ 0 h 218364"/>
                <a:gd name="connsiteX3" fmla="*/ 191068 w 204716"/>
                <a:gd name="connsiteY3" fmla="*/ 0 h 21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716" h="218364">
                  <a:moveTo>
                    <a:pt x="0" y="218364"/>
                  </a:moveTo>
                  <a:lnTo>
                    <a:pt x="204716" y="218364"/>
                  </a:lnTo>
                  <a:lnTo>
                    <a:pt x="191068" y="0"/>
                  </a:lnTo>
                  <a:lnTo>
                    <a:pt x="19106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41" name="Group 40"/>
          <p:cNvGrpSpPr>
            <a:grpSpLocks/>
          </p:cNvGrpSpPr>
          <p:nvPr/>
        </p:nvGrpSpPr>
        <p:grpSpPr bwMode="auto">
          <a:xfrm rot="10800000" flipH="1">
            <a:off x="4606925" y="1946275"/>
            <a:ext cx="347663" cy="460375"/>
            <a:chOff x="4585648" y="3319136"/>
            <a:chExt cx="368489" cy="461294"/>
          </a:xfrm>
        </p:grpSpPr>
        <p:sp>
          <p:nvSpPr>
            <p:cNvPr id="42" name="Freeform 41"/>
            <p:cNvSpPr/>
            <p:nvPr/>
          </p:nvSpPr>
          <p:spPr>
            <a:xfrm>
              <a:off x="4599109" y="3335043"/>
              <a:ext cx="355028" cy="450159"/>
            </a:xfrm>
            <a:custGeom>
              <a:avLst/>
              <a:gdLst>
                <a:gd name="connsiteX0" fmla="*/ 0 w 354841"/>
                <a:gd name="connsiteY0" fmla="*/ 450376 h 450376"/>
                <a:gd name="connsiteX1" fmla="*/ 177420 w 354841"/>
                <a:gd name="connsiteY1" fmla="*/ 450376 h 450376"/>
                <a:gd name="connsiteX2" fmla="*/ 177420 w 354841"/>
                <a:gd name="connsiteY2" fmla="*/ 232012 h 450376"/>
                <a:gd name="connsiteX3" fmla="*/ 354841 w 354841"/>
                <a:gd name="connsiteY3" fmla="*/ 232012 h 450376"/>
                <a:gd name="connsiteX4" fmla="*/ 354841 w 354841"/>
                <a:gd name="connsiteY4" fmla="*/ 0 h 450376"/>
                <a:gd name="connsiteX5" fmla="*/ 0 w 354841"/>
                <a:gd name="connsiteY5" fmla="*/ 0 h 450376"/>
                <a:gd name="connsiteX6" fmla="*/ 0 w 354841"/>
                <a:gd name="connsiteY6" fmla="*/ 450376 h 45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4841" h="450376">
                  <a:moveTo>
                    <a:pt x="0" y="450376"/>
                  </a:moveTo>
                  <a:lnTo>
                    <a:pt x="177420" y="450376"/>
                  </a:lnTo>
                  <a:lnTo>
                    <a:pt x="177420" y="232012"/>
                  </a:lnTo>
                  <a:lnTo>
                    <a:pt x="354841" y="232012"/>
                  </a:lnTo>
                  <a:lnTo>
                    <a:pt x="354841" y="0"/>
                  </a:lnTo>
                  <a:lnTo>
                    <a:pt x="0" y="0"/>
                  </a:lnTo>
                  <a:lnTo>
                    <a:pt x="0" y="450376"/>
                  </a:lnTo>
                  <a:close/>
                </a:path>
              </a:pathLst>
            </a:cu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4590696" y="3323908"/>
              <a:ext cx="205277" cy="240192"/>
            </a:xfrm>
            <a:custGeom>
              <a:avLst/>
              <a:gdLst>
                <a:gd name="connsiteX0" fmla="*/ 0 w 204716"/>
                <a:gd name="connsiteY0" fmla="*/ 218364 h 218364"/>
                <a:gd name="connsiteX1" fmla="*/ 204716 w 204716"/>
                <a:gd name="connsiteY1" fmla="*/ 218364 h 218364"/>
                <a:gd name="connsiteX2" fmla="*/ 191068 w 204716"/>
                <a:gd name="connsiteY2" fmla="*/ 0 h 218364"/>
                <a:gd name="connsiteX3" fmla="*/ 191068 w 204716"/>
                <a:gd name="connsiteY3" fmla="*/ 0 h 21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716" h="218364">
                  <a:moveTo>
                    <a:pt x="0" y="218364"/>
                  </a:moveTo>
                  <a:lnTo>
                    <a:pt x="204716" y="218364"/>
                  </a:lnTo>
                  <a:lnTo>
                    <a:pt x="191068" y="0"/>
                  </a:lnTo>
                  <a:lnTo>
                    <a:pt x="19106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>
            <a:off x="6113463" y="1951038"/>
            <a:ext cx="369887" cy="436562"/>
          </a:xfrm>
          <a:custGeom>
            <a:avLst/>
            <a:gdLst>
              <a:gd name="connsiteX0" fmla="*/ 0 w 368490"/>
              <a:gd name="connsiteY0" fmla="*/ 436728 h 436728"/>
              <a:gd name="connsiteX1" fmla="*/ 0 w 368490"/>
              <a:gd name="connsiteY1" fmla="*/ 0 h 436728"/>
              <a:gd name="connsiteX2" fmla="*/ 368490 w 368490"/>
              <a:gd name="connsiteY2" fmla="*/ 0 h 436728"/>
              <a:gd name="connsiteX3" fmla="*/ 0 w 368490"/>
              <a:gd name="connsiteY3" fmla="*/ 436728 h 436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8490" h="436728">
                <a:moveTo>
                  <a:pt x="0" y="436728"/>
                </a:moveTo>
                <a:lnTo>
                  <a:pt x="0" y="0"/>
                </a:lnTo>
                <a:lnTo>
                  <a:pt x="368490" y="0"/>
                </a:lnTo>
                <a:lnTo>
                  <a:pt x="0" y="436728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5" name="Freeform 44"/>
          <p:cNvSpPr/>
          <p:nvPr/>
        </p:nvSpPr>
        <p:spPr>
          <a:xfrm rot="10800000">
            <a:off x="6823075" y="2898775"/>
            <a:ext cx="368300" cy="436563"/>
          </a:xfrm>
          <a:custGeom>
            <a:avLst/>
            <a:gdLst>
              <a:gd name="connsiteX0" fmla="*/ 0 w 368490"/>
              <a:gd name="connsiteY0" fmla="*/ 436728 h 436728"/>
              <a:gd name="connsiteX1" fmla="*/ 0 w 368490"/>
              <a:gd name="connsiteY1" fmla="*/ 0 h 436728"/>
              <a:gd name="connsiteX2" fmla="*/ 368490 w 368490"/>
              <a:gd name="connsiteY2" fmla="*/ 0 h 436728"/>
              <a:gd name="connsiteX3" fmla="*/ 0 w 368490"/>
              <a:gd name="connsiteY3" fmla="*/ 436728 h 436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8490" h="436728">
                <a:moveTo>
                  <a:pt x="0" y="436728"/>
                </a:moveTo>
                <a:lnTo>
                  <a:pt x="0" y="0"/>
                </a:lnTo>
                <a:lnTo>
                  <a:pt x="368490" y="0"/>
                </a:lnTo>
                <a:lnTo>
                  <a:pt x="0" y="436728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6" name="Freeform 45"/>
          <p:cNvSpPr/>
          <p:nvPr/>
        </p:nvSpPr>
        <p:spPr>
          <a:xfrm rot="10800000">
            <a:off x="6462713" y="3357563"/>
            <a:ext cx="368300" cy="436562"/>
          </a:xfrm>
          <a:custGeom>
            <a:avLst/>
            <a:gdLst>
              <a:gd name="connsiteX0" fmla="*/ 0 w 368490"/>
              <a:gd name="connsiteY0" fmla="*/ 436728 h 436728"/>
              <a:gd name="connsiteX1" fmla="*/ 0 w 368490"/>
              <a:gd name="connsiteY1" fmla="*/ 0 h 436728"/>
              <a:gd name="connsiteX2" fmla="*/ 368490 w 368490"/>
              <a:gd name="connsiteY2" fmla="*/ 0 h 436728"/>
              <a:gd name="connsiteX3" fmla="*/ 0 w 368490"/>
              <a:gd name="connsiteY3" fmla="*/ 436728 h 436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8490" h="436728">
                <a:moveTo>
                  <a:pt x="0" y="436728"/>
                </a:moveTo>
                <a:lnTo>
                  <a:pt x="0" y="0"/>
                </a:lnTo>
                <a:lnTo>
                  <a:pt x="368490" y="0"/>
                </a:lnTo>
                <a:lnTo>
                  <a:pt x="0" y="436728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7805738" y="1951038"/>
            <a:ext cx="519112" cy="682625"/>
          </a:xfrm>
          <a:custGeom>
            <a:avLst/>
            <a:gdLst>
              <a:gd name="connsiteX0" fmla="*/ 518615 w 518615"/>
              <a:gd name="connsiteY0" fmla="*/ 682388 h 682388"/>
              <a:gd name="connsiteX1" fmla="*/ 518615 w 518615"/>
              <a:gd name="connsiteY1" fmla="*/ 0 h 682388"/>
              <a:gd name="connsiteX2" fmla="*/ 177421 w 518615"/>
              <a:gd name="connsiteY2" fmla="*/ 0 h 682388"/>
              <a:gd name="connsiteX3" fmla="*/ 0 w 518615"/>
              <a:gd name="connsiteY3" fmla="*/ 232012 h 682388"/>
              <a:gd name="connsiteX4" fmla="*/ 354842 w 518615"/>
              <a:gd name="connsiteY4" fmla="*/ 245660 h 682388"/>
              <a:gd name="connsiteX5" fmla="*/ 518615 w 518615"/>
              <a:gd name="connsiteY5" fmla="*/ 682388 h 68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615" h="682388">
                <a:moveTo>
                  <a:pt x="518615" y="682388"/>
                </a:moveTo>
                <a:lnTo>
                  <a:pt x="518615" y="0"/>
                </a:lnTo>
                <a:lnTo>
                  <a:pt x="177421" y="0"/>
                </a:lnTo>
                <a:lnTo>
                  <a:pt x="0" y="232012"/>
                </a:lnTo>
                <a:lnTo>
                  <a:pt x="354842" y="245660"/>
                </a:lnTo>
                <a:lnTo>
                  <a:pt x="518615" y="682388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Freeform 47"/>
          <p:cNvSpPr/>
          <p:nvPr/>
        </p:nvSpPr>
        <p:spPr>
          <a:xfrm flipV="1">
            <a:off x="7805738" y="3116263"/>
            <a:ext cx="506412" cy="677862"/>
          </a:xfrm>
          <a:custGeom>
            <a:avLst/>
            <a:gdLst>
              <a:gd name="connsiteX0" fmla="*/ 518615 w 518615"/>
              <a:gd name="connsiteY0" fmla="*/ 682388 h 682388"/>
              <a:gd name="connsiteX1" fmla="*/ 518615 w 518615"/>
              <a:gd name="connsiteY1" fmla="*/ 0 h 682388"/>
              <a:gd name="connsiteX2" fmla="*/ 177421 w 518615"/>
              <a:gd name="connsiteY2" fmla="*/ 0 h 682388"/>
              <a:gd name="connsiteX3" fmla="*/ 0 w 518615"/>
              <a:gd name="connsiteY3" fmla="*/ 232012 h 682388"/>
              <a:gd name="connsiteX4" fmla="*/ 354842 w 518615"/>
              <a:gd name="connsiteY4" fmla="*/ 245660 h 682388"/>
              <a:gd name="connsiteX5" fmla="*/ 518615 w 518615"/>
              <a:gd name="connsiteY5" fmla="*/ 682388 h 68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615" h="682388">
                <a:moveTo>
                  <a:pt x="518615" y="682388"/>
                </a:moveTo>
                <a:lnTo>
                  <a:pt x="518615" y="0"/>
                </a:lnTo>
                <a:lnTo>
                  <a:pt x="177421" y="0"/>
                </a:lnTo>
                <a:lnTo>
                  <a:pt x="0" y="232012"/>
                </a:lnTo>
                <a:lnTo>
                  <a:pt x="354842" y="245660"/>
                </a:lnTo>
                <a:lnTo>
                  <a:pt x="518615" y="682388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\</a:t>
            </a:r>
          </a:p>
        </p:txBody>
      </p:sp>
      <p:sp>
        <p:nvSpPr>
          <p:cNvPr id="49" name="Freeform 48"/>
          <p:cNvSpPr/>
          <p:nvPr/>
        </p:nvSpPr>
        <p:spPr>
          <a:xfrm flipH="1" flipV="1">
            <a:off x="8324850" y="3116263"/>
            <a:ext cx="552450" cy="677862"/>
          </a:xfrm>
          <a:custGeom>
            <a:avLst/>
            <a:gdLst>
              <a:gd name="connsiteX0" fmla="*/ 518615 w 518615"/>
              <a:gd name="connsiteY0" fmla="*/ 682388 h 682388"/>
              <a:gd name="connsiteX1" fmla="*/ 518615 w 518615"/>
              <a:gd name="connsiteY1" fmla="*/ 0 h 682388"/>
              <a:gd name="connsiteX2" fmla="*/ 177421 w 518615"/>
              <a:gd name="connsiteY2" fmla="*/ 0 h 682388"/>
              <a:gd name="connsiteX3" fmla="*/ 0 w 518615"/>
              <a:gd name="connsiteY3" fmla="*/ 232012 h 682388"/>
              <a:gd name="connsiteX4" fmla="*/ 354842 w 518615"/>
              <a:gd name="connsiteY4" fmla="*/ 245660 h 682388"/>
              <a:gd name="connsiteX5" fmla="*/ 518615 w 518615"/>
              <a:gd name="connsiteY5" fmla="*/ 682388 h 68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615" h="682388">
                <a:moveTo>
                  <a:pt x="518615" y="682388"/>
                </a:moveTo>
                <a:lnTo>
                  <a:pt x="518615" y="0"/>
                </a:lnTo>
                <a:lnTo>
                  <a:pt x="177421" y="0"/>
                </a:lnTo>
                <a:lnTo>
                  <a:pt x="0" y="232012"/>
                </a:lnTo>
                <a:lnTo>
                  <a:pt x="354842" y="245660"/>
                </a:lnTo>
                <a:lnTo>
                  <a:pt x="518615" y="682388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\</a:t>
            </a:r>
          </a:p>
        </p:txBody>
      </p:sp>
      <p:sp>
        <p:nvSpPr>
          <p:cNvPr id="12" name="Freeform 11"/>
          <p:cNvSpPr/>
          <p:nvPr/>
        </p:nvSpPr>
        <p:spPr>
          <a:xfrm>
            <a:off x="8502650" y="2197100"/>
            <a:ext cx="519113" cy="668338"/>
          </a:xfrm>
          <a:custGeom>
            <a:avLst/>
            <a:gdLst>
              <a:gd name="connsiteX0" fmla="*/ 0 w 518615"/>
              <a:gd name="connsiteY0" fmla="*/ 655092 h 668740"/>
              <a:gd name="connsiteX1" fmla="*/ 354842 w 518615"/>
              <a:gd name="connsiteY1" fmla="*/ 450376 h 668740"/>
              <a:gd name="connsiteX2" fmla="*/ 354842 w 518615"/>
              <a:gd name="connsiteY2" fmla="*/ 0 h 668740"/>
              <a:gd name="connsiteX3" fmla="*/ 518615 w 518615"/>
              <a:gd name="connsiteY3" fmla="*/ 218364 h 668740"/>
              <a:gd name="connsiteX4" fmla="*/ 518615 w 518615"/>
              <a:gd name="connsiteY4" fmla="*/ 668740 h 668740"/>
              <a:gd name="connsiteX5" fmla="*/ 0 w 518615"/>
              <a:gd name="connsiteY5" fmla="*/ 655092 h 66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615" h="668740">
                <a:moveTo>
                  <a:pt x="0" y="655092"/>
                </a:moveTo>
                <a:lnTo>
                  <a:pt x="354842" y="450376"/>
                </a:lnTo>
                <a:lnTo>
                  <a:pt x="354842" y="0"/>
                </a:lnTo>
                <a:lnTo>
                  <a:pt x="518615" y="218364"/>
                </a:lnTo>
                <a:lnTo>
                  <a:pt x="518615" y="668740"/>
                </a:lnTo>
                <a:lnTo>
                  <a:pt x="0" y="655092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2" name="Freeform 51"/>
          <p:cNvSpPr/>
          <p:nvPr/>
        </p:nvSpPr>
        <p:spPr>
          <a:xfrm flipH="1">
            <a:off x="7632700" y="2193925"/>
            <a:ext cx="520700" cy="668338"/>
          </a:xfrm>
          <a:custGeom>
            <a:avLst/>
            <a:gdLst>
              <a:gd name="connsiteX0" fmla="*/ 0 w 518615"/>
              <a:gd name="connsiteY0" fmla="*/ 655092 h 668740"/>
              <a:gd name="connsiteX1" fmla="*/ 354842 w 518615"/>
              <a:gd name="connsiteY1" fmla="*/ 450376 h 668740"/>
              <a:gd name="connsiteX2" fmla="*/ 354842 w 518615"/>
              <a:gd name="connsiteY2" fmla="*/ 0 h 668740"/>
              <a:gd name="connsiteX3" fmla="*/ 518615 w 518615"/>
              <a:gd name="connsiteY3" fmla="*/ 218364 h 668740"/>
              <a:gd name="connsiteX4" fmla="*/ 518615 w 518615"/>
              <a:gd name="connsiteY4" fmla="*/ 668740 h 668740"/>
              <a:gd name="connsiteX5" fmla="*/ 0 w 518615"/>
              <a:gd name="connsiteY5" fmla="*/ 655092 h 66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615" h="668740">
                <a:moveTo>
                  <a:pt x="0" y="655092"/>
                </a:moveTo>
                <a:lnTo>
                  <a:pt x="354842" y="450376"/>
                </a:lnTo>
                <a:lnTo>
                  <a:pt x="354842" y="0"/>
                </a:lnTo>
                <a:lnTo>
                  <a:pt x="518615" y="218364"/>
                </a:lnTo>
                <a:lnTo>
                  <a:pt x="518615" y="668740"/>
                </a:lnTo>
                <a:lnTo>
                  <a:pt x="0" y="655092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3" name="Freeform 52"/>
          <p:cNvSpPr/>
          <p:nvPr/>
        </p:nvSpPr>
        <p:spPr>
          <a:xfrm flipH="1" flipV="1">
            <a:off x="7632700" y="2867025"/>
            <a:ext cx="520700" cy="682625"/>
          </a:xfrm>
          <a:custGeom>
            <a:avLst/>
            <a:gdLst>
              <a:gd name="connsiteX0" fmla="*/ 0 w 518615"/>
              <a:gd name="connsiteY0" fmla="*/ 655092 h 668740"/>
              <a:gd name="connsiteX1" fmla="*/ 354842 w 518615"/>
              <a:gd name="connsiteY1" fmla="*/ 450376 h 668740"/>
              <a:gd name="connsiteX2" fmla="*/ 354842 w 518615"/>
              <a:gd name="connsiteY2" fmla="*/ 0 h 668740"/>
              <a:gd name="connsiteX3" fmla="*/ 518615 w 518615"/>
              <a:gd name="connsiteY3" fmla="*/ 218364 h 668740"/>
              <a:gd name="connsiteX4" fmla="*/ 518615 w 518615"/>
              <a:gd name="connsiteY4" fmla="*/ 668740 h 668740"/>
              <a:gd name="connsiteX5" fmla="*/ 0 w 518615"/>
              <a:gd name="connsiteY5" fmla="*/ 655092 h 66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615" h="668740">
                <a:moveTo>
                  <a:pt x="0" y="655092"/>
                </a:moveTo>
                <a:lnTo>
                  <a:pt x="354842" y="450376"/>
                </a:lnTo>
                <a:lnTo>
                  <a:pt x="354842" y="0"/>
                </a:lnTo>
                <a:lnTo>
                  <a:pt x="518615" y="218364"/>
                </a:lnTo>
                <a:lnTo>
                  <a:pt x="518615" y="668740"/>
                </a:lnTo>
                <a:lnTo>
                  <a:pt x="0" y="655092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4" name="Freeform 53"/>
          <p:cNvSpPr/>
          <p:nvPr/>
        </p:nvSpPr>
        <p:spPr>
          <a:xfrm flipV="1">
            <a:off x="8502650" y="2849563"/>
            <a:ext cx="519113" cy="712787"/>
          </a:xfrm>
          <a:custGeom>
            <a:avLst/>
            <a:gdLst>
              <a:gd name="connsiteX0" fmla="*/ 0 w 518615"/>
              <a:gd name="connsiteY0" fmla="*/ 655092 h 668740"/>
              <a:gd name="connsiteX1" fmla="*/ 354842 w 518615"/>
              <a:gd name="connsiteY1" fmla="*/ 450376 h 668740"/>
              <a:gd name="connsiteX2" fmla="*/ 354842 w 518615"/>
              <a:gd name="connsiteY2" fmla="*/ 0 h 668740"/>
              <a:gd name="connsiteX3" fmla="*/ 518615 w 518615"/>
              <a:gd name="connsiteY3" fmla="*/ 218364 h 668740"/>
              <a:gd name="connsiteX4" fmla="*/ 518615 w 518615"/>
              <a:gd name="connsiteY4" fmla="*/ 668740 h 668740"/>
              <a:gd name="connsiteX5" fmla="*/ 0 w 518615"/>
              <a:gd name="connsiteY5" fmla="*/ 655092 h 66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615" h="668740">
                <a:moveTo>
                  <a:pt x="0" y="655092"/>
                </a:moveTo>
                <a:lnTo>
                  <a:pt x="354842" y="450376"/>
                </a:lnTo>
                <a:lnTo>
                  <a:pt x="354842" y="0"/>
                </a:lnTo>
                <a:lnTo>
                  <a:pt x="518615" y="218364"/>
                </a:lnTo>
                <a:lnTo>
                  <a:pt x="518615" y="668740"/>
                </a:lnTo>
                <a:lnTo>
                  <a:pt x="0" y="655092"/>
                </a:lnTo>
                <a:close/>
              </a:path>
            </a:pathLst>
          </a:cu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pic>
        <p:nvPicPr>
          <p:cNvPr id="14339" name="Picture 3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652588"/>
            <a:ext cx="4027488" cy="358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14359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4362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solidFill>
                  <a:srgbClr val="000000"/>
                </a:solidFill>
                <a:latin typeface="Comic Sans MS" pitchFamily="66" charset="0"/>
              </a:rPr>
              <a:t>REFLECTIONS</a:t>
            </a:r>
          </a:p>
          <a:p>
            <a:endParaRPr lang="en-US" sz="3000" b="1" u="sng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14363" name="Text Box 40"/>
          <p:cNvSpPr txBox="1">
            <a:spLocks noChangeArrowheads="1"/>
          </p:cNvSpPr>
          <p:nvPr/>
        </p:nvSpPr>
        <p:spPr bwMode="auto">
          <a:xfrm>
            <a:off x="9525" y="965200"/>
            <a:ext cx="2362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800" b="1" u="sng">
                <a:solidFill>
                  <a:srgbClr val="FF0000"/>
                </a:solidFill>
              </a:rPr>
              <a:t>EXAMPLES</a:t>
            </a:r>
          </a:p>
        </p:txBody>
      </p:sp>
      <p:sp>
        <p:nvSpPr>
          <p:cNvPr id="14364" name="Text Box 37"/>
          <p:cNvSpPr txBox="1">
            <a:spLocks noChangeArrowheads="1"/>
          </p:cNvSpPr>
          <p:nvPr/>
        </p:nvSpPr>
        <p:spPr bwMode="auto">
          <a:xfrm>
            <a:off x="14288" y="5445125"/>
            <a:ext cx="43148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Reflect the shape in the line x = -1</a:t>
            </a:r>
          </a:p>
        </p:txBody>
      </p:sp>
      <p:pic>
        <p:nvPicPr>
          <p:cNvPr id="14365" name="Picture 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775" y="1658938"/>
            <a:ext cx="4024313" cy="358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66" name="Rectangle 1"/>
          <p:cNvSpPr>
            <a:spLocks noChangeArrowheads="1"/>
          </p:cNvSpPr>
          <p:nvPr/>
        </p:nvSpPr>
        <p:spPr bwMode="auto">
          <a:xfrm>
            <a:off x="-66675" y="1522413"/>
            <a:ext cx="5429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3)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4367" name="Rectangle 157"/>
          <p:cNvSpPr>
            <a:spLocks noChangeArrowheads="1"/>
          </p:cNvSpPr>
          <p:nvPr/>
        </p:nvSpPr>
        <p:spPr bwMode="auto">
          <a:xfrm>
            <a:off x="4452938" y="1509713"/>
            <a:ext cx="5429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4)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39" name="L-Shape 38"/>
          <p:cNvSpPr/>
          <p:nvPr/>
        </p:nvSpPr>
        <p:spPr>
          <a:xfrm>
            <a:off x="927100" y="2105025"/>
            <a:ext cx="442913" cy="903288"/>
          </a:xfrm>
          <a:prstGeom prst="corner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41" name="L-Shape 40"/>
          <p:cNvSpPr/>
          <p:nvPr/>
        </p:nvSpPr>
        <p:spPr>
          <a:xfrm flipH="1">
            <a:off x="2724150" y="2087563"/>
            <a:ext cx="419100" cy="903287"/>
          </a:xfrm>
          <a:prstGeom prst="corner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44" name="Cross 43"/>
          <p:cNvSpPr/>
          <p:nvPr/>
        </p:nvSpPr>
        <p:spPr>
          <a:xfrm>
            <a:off x="5457825" y="1658938"/>
            <a:ext cx="863600" cy="903287"/>
          </a:xfrm>
          <a:prstGeom prst="plu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46" name="Cross 45"/>
          <p:cNvSpPr/>
          <p:nvPr/>
        </p:nvSpPr>
        <p:spPr bwMode="auto">
          <a:xfrm>
            <a:off x="5445125" y="3902075"/>
            <a:ext cx="865188" cy="903288"/>
          </a:xfrm>
          <a:prstGeom prst="plu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4372" name="Text Box 37"/>
          <p:cNvSpPr txBox="1">
            <a:spLocks noChangeArrowheads="1"/>
          </p:cNvSpPr>
          <p:nvPr/>
        </p:nvSpPr>
        <p:spPr bwMode="auto">
          <a:xfrm>
            <a:off x="4725988" y="5445125"/>
            <a:ext cx="43148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Reflect the shape in the line y = 2</a:t>
            </a:r>
          </a:p>
        </p:txBody>
      </p:sp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2003425" y="1289050"/>
            <a:ext cx="998538" cy="4108450"/>
            <a:chOff x="1990252" y="1289174"/>
            <a:chExt cx="997572" cy="4107570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2020386" y="1506615"/>
              <a:ext cx="0" cy="3890129"/>
            </a:xfrm>
            <a:prstGeom prst="line">
              <a:avLst/>
            </a:prstGeom>
            <a:ln w="3810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54" name="TextBox 1"/>
            <p:cNvSpPr txBox="1">
              <a:spLocks noChangeArrowheads="1"/>
            </p:cNvSpPr>
            <p:nvPr/>
          </p:nvSpPr>
          <p:spPr bwMode="auto">
            <a:xfrm>
              <a:off x="1990252" y="1289174"/>
              <a:ext cx="9975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660066"/>
                  </a:solidFill>
                </a:rPr>
                <a:t>x = -1</a:t>
              </a:r>
            </a:p>
          </p:txBody>
        </p:sp>
      </p:grp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1219200" y="2586038"/>
            <a:ext cx="320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1398588" y="2784475"/>
            <a:ext cx="596900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2066925" y="2781300"/>
            <a:ext cx="657225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2570163" y="2578100"/>
            <a:ext cx="320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1219200" y="2801938"/>
            <a:ext cx="320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48" name="Straight Connector 47"/>
          <p:cNvCxnSpPr/>
          <p:nvPr/>
        </p:nvCxnSpPr>
        <p:spPr>
          <a:xfrm>
            <a:off x="1398588" y="3000375"/>
            <a:ext cx="596900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2066925" y="2997200"/>
            <a:ext cx="657225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2570163" y="2794000"/>
            <a:ext cx="320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769938" y="2787650"/>
            <a:ext cx="320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933450" y="3000375"/>
            <a:ext cx="1101725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2044700" y="2997200"/>
            <a:ext cx="1114425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2987675" y="2794000"/>
            <a:ext cx="320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985838" y="2568575"/>
            <a:ext cx="320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56" name="Straight Connector 55"/>
          <p:cNvCxnSpPr/>
          <p:nvPr/>
        </p:nvCxnSpPr>
        <p:spPr>
          <a:xfrm>
            <a:off x="1162050" y="2781300"/>
            <a:ext cx="876300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2046288" y="2778125"/>
            <a:ext cx="874712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2774950" y="2566988"/>
            <a:ext cx="320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982663" y="1924050"/>
            <a:ext cx="322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1163638" y="2095500"/>
            <a:ext cx="874712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2052638" y="2105025"/>
            <a:ext cx="876300" cy="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2770188" y="1903413"/>
            <a:ext cx="320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769938" y="1908175"/>
            <a:ext cx="320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72" name="Straight Connector 71"/>
          <p:cNvCxnSpPr/>
          <p:nvPr/>
        </p:nvCxnSpPr>
        <p:spPr>
          <a:xfrm flipV="1">
            <a:off x="892175" y="2105025"/>
            <a:ext cx="1174750" cy="3175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 flipV="1">
            <a:off x="2066925" y="2105025"/>
            <a:ext cx="1081088" cy="1588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>
            <a:spLocks noChangeArrowheads="1"/>
          </p:cNvSpPr>
          <p:nvPr/>
        </p:nvSpPr>
        <p:spPr bwMode="auto">
          <a:xfrm>
            <a:off x="2987675" y="1903413"/>
            <a:ext cx="320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grpSp>
        <p:nvGrpSpPr>
          <p:cNvPr id="75" name="Group 74"/>
          <p:cNvGrpSpPr>
            <a:grpSpLocks/>
          </p:cNvGrpSpPr>
          <p:nvPr/>
        </p:nvGrpSpPr>
        <p:grpSpPr bwMode="auto">
          <a:xfrm rot="5400000">
            <a:off x="6989762" y="1058863"/>
            <a:ext cx="341313" cy="4306888"/>
            <a:chOff x="1781854" y="657728"/>
            <a:chExt cx="446890" cy="4739016"/>
          </a:xfrm>
        </p:grpSpPr>
        <p:cxnSp>
          <p:nvCxnSpPr>
            <p:cNvPr id="76" name="Straight Connector 75"/>
            <p:cNvCxnSpPr/>
            <p:nvPr/>
          </p:nvCxnSpPr>
          <p:spPr>
            <a:xfrm>
              <a:off x="2020887" y="1506662"/>
              <a:ext cx="0" cy="3890081"/>
            </a:xfrm>
            <a:prstGeom prst="line">
              <a:avLst/>
            </a:prstGeom>
            <a:ln w="3810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52" name="TextBox 76"/>
            <p:cNvSpPr txBox="1">
              <a:spLocks noChangeArrowheads="1"/>
            </p:cNvSpPr>
            <p:nvPr/>
          </p:nvSpPr>
          <p:spPr bwMode="auto">
            <a:xfrm rot="-5400000">
              <a:off x="1551857" y="887725"/>
              <a:ext cx="906884" cy="446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660066"/>
                  </a:solidFill>
                </a:rPr>
                <a:t>y = 2</a:t>
              </a:r>
            </a:p>
          </p:txBody>
        </p:sp>
      </p:grpSp>
      <p:sp>
        <p:nvSpPr>
          <p:cNvPr id="78" name="TextBox 77"/>
          <p:cNvSpPr txBox="1">
            <a:spLocks noChangeArrowheads="1"/>
          </p:cNvSpPr>
          <p:nvPr/>
        </p:nvSpPr>
        <p:spPr bwMode="auto">
          <a:xfrm>
            <a:off x="5521325" y="2351088"/>
            <a:ext cx="320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79" name="Straight Connector 78"/>
          <p:cNvCxnSpPr/>
          <p:nvPr/>
        </p:nvCxnSpPr>
        <p:spPr>
          <a:xfrm>
            <a:off x="5680075" y="2574925"/>
            <a:ext cx="0" cy="625475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5680075" y="3213100"/>
            <a:ext cx="0" cy="706438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>
            <a:spLocks noChangeArrowheads="1"/>
          </p:cNvSpPr>
          <p:nvPr/>
        </p:nvSpPr>
        <p:spPr bwMode="auto">
          <a:xfrm>
            <a:off x="5518150" y="3694113"/>
            <a:ext cx="322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82" name="TextBox 81"/>
          <p:cNvSpPr txBox="1">
            <a:spLocks noChangeArrowheads="1"/>
          </p:cNvSpPr>
          <p:nvPr/>
        </p:nvSpPr>
        <p:spPr bwMode="auto">
          <a:xfrm>
            <a:off x="5951538" y="2362200"/>
            <a:ext cx="320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83" name="Straight Connector 82"/>
          <p:cNvCxnSpPr/>
          <p:nvPr/>
        </p:nvCxnSpPr>
        <p:spPr>
          <a:xfrm>
            <a:off x="6122988" y="2600325"/>
            <a:ext cx="0" cy="625475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6122988" y="3238500"/>
            <a:ext cx="0" cy="708025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>
            <a:spLocks noChangeArrowheads="1"/>
          </p:cNvSpPr>
          <p:nvPr/>
        </p:nvSpPr>
        <p:spPr bwMode="auto">
          <a:xfrm>
            <a:off x="5962650" y="3692525"/>
            <a:ext cx="320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86" name="TextBox 85"/>
          <p:cNvSpPr txBox="1">
            <a:spLocks noChangeArrowheads="1"/>
          </p:cNvSpPr>
          <p:nvPr/>
        </p:nvSpPr>
        <p:spPr bwMode="auto">
          <a:xfrm>
            <a:off x="5521325" y="2151063"/>
            <a:ext cx="322263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87" name="Straight Connector 86"/>
          <p:cNvCxnSpPr/>
          <p:nvPr/>
        </p:nvCxnSpPr>
        <p:spPr>
          <a:xfrm>
            <a:off x="5681663" y="2347913"/>
            <a:ext cx="0" cy="854075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5680075" y="3208338"/>
            <a:ext cx="0" cy="90805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>
            <a:spLocks noChangeArrowheads="1"/>
          </p:cNvSpPr>
          <p:nvPr/>
        </p:nvSpPr>
        <p:spPr bwMode="auto">
          <a:xfrm>
            <a:off x="5521325" y="3919538"/>
            <a:ext cx="320675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90" name="TextBox 89"/>
          <p:cNvSpPr txBox="1">
            <a:spLocks noChangeArrowheads="1"/>
          </p:cNvSpPr>
          <p:nvPr/>
        </p:nvSpPr>
        <p:spPr bwMode="auto">
          <a:xfrm>
            <a:off x="5965825" y="2133600"/>
            <a:ext cx="320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91" name="Straight Connector 90"/>
          <p:cNvCxnSpPr/>
          <p:nvPr/>
        </p:nvCxnSpPr>
        <p:spPr>
          <a:xfrm>
            <a:off x="6122988" y="2346325"/>
            <a:ext cx="0" cy="865188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6126163" y="3208338"/>
            <a:ext cx="0" cy="890587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>
            <a:spLocks noChangeArrowheads="1"/>
          </p:cNvSpPr>
          <p:nvPr/>
        </p:nvSpPr>
        <p:spPr bwMode="auto">
          <a:xfrm>
            <a:off x="5965825" y="3919538"/>
            <a:ext cx="320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94" name="TextBox 93"/>
          <p:cNvSpPr txBox="1">
            <a:spLocks noChangeArrowheads="1"/>
          </p:cNvSpPr>
          <p:nvPr/>
        </p:nvSpPr>
        <p:spPr bwMode="auto">
          <a:xfrm>
            <a:off x="5303838" y="2151063"/>
            <a:ext cx="320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95" name="Straight Connector 94"/>
          <p:cNvCxnSpPr/>
          <p:nvPr/>
        </p:nvCxnSpPr>
        <p:spPr>
          <a:xfrm>
            <a:off x="5448300" y="2371725"/>
            <a:ext cx="0" cy="849313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5449888" y="3222625"/>
            <a:ext cx="0" cy="890588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>
            <a:spLocks noChangeArrowheads="1"/>
          </p:cNvSpPr>
          <p:nvPr/>
        </p:nvSpPr>
        <p:spPr bwMode="auto">
          <a:xfrm>
            <a:off x="5305425" y="3919538"/>
            <a:ext cx="320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102" name="TextBox 101"/>
          <p:cNvSpPr txBox="1">
            <a:spLocks noChangeArrowheads="1"/>
          </p:cNvSpPr>
          <p:nvPr/>
        </p:nvSpPr>
        <p:spPr bwMode="auto">
          <a:xfrm>
            <a:off x="6180138" y="2133600"/>
            <a:ext cx="320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103" name="Straight Connector 102"/>
          <p:cNvCxnSpPr/>
          <p:nvPr/>
        </p:nvCxnSpPr>
        <p:spPr>
          <a:xfrm>
            <a:off x="6337300" y="2354263"/>
            <a:ext cx="0" cy="849312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6338888" y="3219450"/>
            <a:ext cx="0" cy="890588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>
            <a:spLocks noChangeArrowheads="1"/>
          </p:cNvSpPr>
          <p:nvPr/>
        </p:nvSpPr>
        <p:spPr bwMode="auto">
          <a:xfrm>
            <a:off x="6181725" y="3929063"/>
            <a:ext cx="3206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106" name="TextBox 105"/>
          <p:cNvSpPr txBox="1">
            <a:spLocks noChangeArrowheads="1"/>
          </p:cNvSpPr>
          <p:nvPr/>
        </p:nvSpPr>
        <p:spPr bwMode="auto">
          <a:xfrm>
            <a:off x="5299075" y="1692275"/>
            <a:ext cx="287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107" name="Straight Connector 106"/>
          <p:cNvCxnSpPr/>
          <p:nvPr/>
        </p:nvCxnSpPr>
        <p:spPr>
          <a:xfrm>
            <a:off x="5441950" y="1901825"/>
            <a:ext cx="0" cy="131445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5449888" y="3213100"/>
            <a:ext cx="0" cy="1343025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>
            <a:spLocks noChangeArrowheads="1"/>
          </p:cNvSpPr>
          <p:nvPr/>
        </p:nvSpPr>
        <p:spPr bwMode="auto">
          <a:xfrm>
            <a:off x="5302250" y="4357688"/>
            <a:ext cx="292100" cy="871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110" name="TextBox 109"/>
          <p:cNvSpPr txBox="1">
            <a:spLocks noChangeArrowheads="1"/>
          </p:cNvSpPr>
          <p:nvPr/>
        </p:nvSpPr>
        <p:spPr bwMode="auto">
          <a:xfrm>
            <a:off x="5514975" y="1687513"/>
            <a:ext cx="287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111" name="Straight Connector 110"/>
          <p:cNvCxnSpPr/>
          <p:nvPr/>
        </p:nvCxnSpPr>
        <p:spPr>
          <a:xfrm>
            <a:off x="5659438" y="1898650"/>
            <a:ext cx="0" cy="131445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>
            <a:off x="5665788" y="3208338"/>
            <a:ext cx="0" cy="1344612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>
            <a:spLocks noChangeArrowheads="1"/>
          </p:cNvSpPr>
          <p:nvPr/>
        </p:nvSpPr>
        <p:spPr bwMode="auto">
          <a:xfrm>
            <a:off x="5518150" y="4354513"/>
            <a:ext cx="29210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114" name="TextBox 113"/>
          <p:cNvSpPr txBox="1">
            <a:spLocks noChangeArrowheads="1"/>
          </p:cNvSpPr>
          <p:nvPr/>
        </p:nvSpPr>
        <p:spPr bwMode="auto">
          <a:xfrm>
            <a:off x="5978525" y="1687513"/>
            <a:ext cx="285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115" name="Straight Connector 114"/>
          <p:cNvCxnSpPr/>
          <p:nvPr/>
        </p:nvCxnSpPr>
        <p:spPr>
          <a:xfrm>
            <a:off x="6121400" y="1898650"/>
            <a:ext cx="0" cy="131445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>
            <a:off x="6129338" y="3208338"/>
            <a:ext cx="0" cy="1344612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>
            <a:spLocks noChangeArrowheads="1"/>
          </p:cNvSpPr>
          <p:nvPr/>
        </p:nvSpPr>
        <p:spPr bwMode="auto">
          <a:xfrm>
            <a:off x="5981700" y="4354513"/>
            <a:ext cx="290513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118" name="TextBox 117"/>
          <p:cNvSpPr txBox="1">
            <a:spLocks noChangeArrowheads="1"/>
          </p:cNvSpPr>
          <p:nvPr/>
        </p:nvSpPr>
        <p:spPr bwMode="auto">
          <a:xfrm>
            <a:off x="6176963" y="1687513"/>
            <a:ext cx="2873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119" name="Straight Connector 118"/>
          <p:cNvCxnSpPr/>
          <p:nvPr/>
        </p:nvCxnSpPr>
        <p:spPr>
          <a:xfrm>
            <a:off x="6319838" y="1898650"/>
            <a:ext cx="0" cy="131445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>
            <a:off x="6327775" y="3208338"/>
            <a:ext cx="0" cy="1344612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>
            <a:spLocks noChangeArrowheads="1"/>
          </p:cNvSpPr>
          <p:nvPr/>
        </p:nvSpPr>
        <p:spPr bwMode="auto">
          <a:xfrm>
            <a:off x="6180138" y="4354513"/>
            <a:ext cx="29210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122" name="TextBox 121"/>
          <p:cNvSpPr txBox="1">
            <a:spLocks noChangeArrowheads="1"/>
          </p:cNvSpPr>
          <p:nvPr/>
        </p:nvSpPr>
        <p:spPr bwMode="auto">
          <a:xfrm>
            <a:off x="5522913" y="1470025"/>
            <a:ext cx="2873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123" name="Straight Connector 122"/>
          <p:cNvCxnSpPr/>
          <p:nvPr/>
        </p:nvCxnSpPr>
        <p:spPr>
          <a:xfrm>
            <a:off x="5665788" y="1670050"/>
            <a:ext cx="0" cy="154940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>
            <a:off x="5665788" y="3205163"/>
            <a:ext cx="0" cy="1577975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>
            <a:spLocks noChangeArrowheads="1"/>
          </p:cNvSpPr>
          <p:nvPr/>
        </p:nvSpPr>
        <p:spPr bwMode="auto">
          <a:xfrm>
            <a:off x="5518150" y="4581525"/>
            <a:ext cx="2921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126" name="TextBox 125"/>
          <p:cNvSpPr txBox="1">
            <a:spLocks noChangeArrowheads="1"/>
          </p:cNvSpPr>
          <p:nvPr/>
        </p:nvSpPr>
        <p:spPr bwMode="auto">
          <a:xfrm>
            <a:off x="5959475" y="1471613"/>
            <a:ext cx="285750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cxnSp>
        <p:nvCxnSpPr>
          <p:cNvPr id="127" name="Straight Connector 126"/>
          <p:cNvCxnSpPr/>
          <p:nvPr/>
        </p:nvCxnSpPr>
        <p:spPr>
          <a:xfrm>
            <a:off x="6115050" y="1671638"/>
            <a:ext cx="0" cy="1549400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/>
          <p:cNvCxnSpPr/>
          <p:nvPr/>
        </p:nvCxnSpPr>
        <p:spPr>
          <a:xfrm>
            <a:off x="6115050" y="3206750"/>
            <a:ext cx="0" cy="1577975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>
            <a:spLocks noChangeArrowheads="1"/>
          </p:cNvSpPr>
          <p:nvPr/>
        </p:nvSpPr>
        <p:spPr bwMode="auto">
          <a:xfrm>
            <a:off x="5967413" y="4581525"/>
            <a:ext cx="2921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660066"/>
                </a:solidFill>
              </a:rPr>
              <a:t>x</a:t>
            </a:r>
          </a:p>
        </p:txBody>
      </p:sp>
      <p:sp>
        <p:nvSpPr>
          <p:cNvPr id="14447" name="TextBox 7"/>
          <p:cNvSpPr txBox="1">
            <a:spLocks noChangeArrowheads="1"/>
          </p:cNvSpPr>
          <p:nvPr/>
        </p:nvSpPr>
        <p:spPr bwMode="auto">
          <a:xfrm>
            <a:off x="4013200" y="3508375"/>
            <a:ext cx="215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4448" name="TextBox 129"/>
          <p:cNvSpPr txBox="1">
            <a:spLocks noChangeArrowheads="1"/>
          </p:cNvSpPr>
          <p:nvPr/>
        </p:nvSpPr>
        <p:spPr bwMode="auto">
          <a:xfrm>
            <a:off x="2209800" y="1504950"/>
            <a:ext cx="215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14449" name="TextBox 130"/>
          <p:cNvSpPr txBox="1">
            <a:spLocks noChangeArrowheads="1"/>
          </p:cNvSpPr>
          <p:nvPr/>
        </p:nvSpPr>
        <p:spPr bwMode="auto">
          <a:xfrm>
            <a:off x="8545513" y="3514725"/>
            <a:ext cx="215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4450" name="TextBox 131"/>
          <p:cNvSpPr txBox="1">
            <a:spLocks noChangeArrowheads="1"/>
          </p:cNvSpPr>
          <p:nvPr/>
        </p:nvSpPr>
        <p:spPr bwMode="auto">
          <a:xfrm>
            <a:off x="6742113" y="1557338"/>
            <a:ext cx="215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3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3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 nodeType="clickPar">
                      <p:stCondLst>
                        <p:cond delay="indefinite"/>
                      </p:stCondLst>
                      <p:childTnLst>
                        <p:par>
                          <p:cTn id="2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 nodeType="clickPar">
                      <p:stCondLst>
                        <p:cond delay="indefinite"/>
                      </p:stCondLst>
                      <p:childTnLst>
                        <p:par>
                          <p:cTn id="2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 nodeType="clickPar">
                      <p:stCondLst>
                        <p:cond delay="indefinite"/>
                      </p:stCondLst>
                      <p:childTnLst>
                        <p:par>
                          <p:cTn id="2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 nodeType="clickPar">
                      <p:stCondLst>
                        <p:cond delay="indefinite"/>
                      </p:stCondLst>
                      <p:childTnLst>
                        <p:par>
                          <p:cTn id="2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 nodeType="clickPar">
                      <p:stCondLst>
                        <p:cond delay="indefinite"/>
                      </p:stCondLst>
                      <p:childTnLst>
                        <p:par>
                          <p:cTn id="2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 nodeType="clickPar">
                      <p:stCondLst>
                        <p:cond delay="indefinite"/>
                      </p:stCondLst>
                      <p:childTnLst>
                        <p:par>
                          <p:cTn id="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 nodeType="clickPar">
                      <p:stCondLst>
                        <p:cond delay="indefinite"/>
                      </p:stCondLst>
                      <p:childTnLst>
                        <p:par>
                          <p:cTn id="2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 nodeType="clickPar">
                      <p:stCondLst>
                        <p:cond delay="indefinite"/>
                      </p:stCondLst>
                      <p:childTnLst>
                        <p:par>
                          <p:cTn id="2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 nodeType="clickPar">
                      <p:stCondLst>
                        <p:cond delay="indefinite"/>
                      </p:stCondLst>
                      <p:childTnLst>
                        <p:par>
                          <p:cTn id="2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 nodeType="clickPar">
                      <p:stCondLst>
                        <p:cond delay="indefinite"/>
                      </p:stCondLst>
                      <p:childTnLst>
                        <p:par>
                          <p:cTn id="2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 nodeType="clickPar">
                      <p:stCondLst>
                        <p:cond delay="indefinite"/>
                      </p:stCondLst>
                      <p:childTnLst>
                        <p:par>
                          <p:cTn id="2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 nodeType="clickPar">
                      <p:stCondLst>
                        <p:cond delay="indefinite"/>
                      </p:stCondLst>
                      <p:childTnLst>
                        <p:par>
                          <p:cTn id="2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 nodeType="clickPar">
                      <p:stCondLst>
                        <p:cond delay="indefinite"/>
                      </p:stCondLst>
                      <p:childTnLst>
                        <p:par>
                          <p:cTn id="3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 nodeType="clickPar">
                      <p:stCondLst>
                        <p:cond delay="indefinite"/>
                      </p:stCondLst>
                      <p:childTnLst>
                        <p:par>
                          <p:cTn id="3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 nodeType="clickPar">
                      <p:stCondLst>
                        <p:cond delay="indefinite"/>
                      </p:stCondLst>
                      <p:childTnLst>
                        <p:par>
                          <p:cTn id="3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 nodeType="clickPar">
                      <p:stCondLst>
                        <p:cond delay="indefinite"/>
                      </p:stCondLst>
                      <p:childTnLst>
                        <p:par>
                          <p:cTn id="3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 nodeType="clickPar">
                      <p:stCondLst>
                        <p:cond delay="indefinite"/>
                      </p:stCondLst>
                      <p:childTnLst>
                        <p:par>
                          <p:cTn id="3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 nodeType="clickPar">
                      <p:stCondLst>
                        <p:cond delay="indefinite"/>
                      </p:stCondLst>
                      <p:childTnLst>
                        <p:par>
                          <p:cTn id="3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 nodeType="clickPar">
                      <p:stCondLst>
                        <p:cond delay="indefinite"/>
                      </p:stCondLst>
                      <p:childTnLst>
                        <p:par>
                          <p:cTn id="3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 nodeType="clickPar">
                      <p:stCondLst>
                        <p:cond delay="indefinite"/>
                      </p:stCondLst>
                      <p:childTnLst>
                        <p:par>
                          <p:cTn id="3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 nodeType="clickPar">
                      <p:stCondLst>
                        <p:cond delay="indefinite"/>
                      </p:stCondLst>
                      <p:childTnLst>
                        <p:par>
                          <p:cTn id="3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 nodeType="clickPar">
                      <p:stCondLst>
                        <p:cond delay="indefinite"/>
                      </p:stCondLst>
                      <p:childTnLst>
                        <p:par>
                          <p:cTn id="3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 nodeType="clickPar">
                      <p:stCondLst>
                        <p:cond delay="indefinite"/>
                      </p:stCondLst>
                      <p:childTnLst>
                        <p:par>
                          <p:cTn id="3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 nodeType="clickPar">
                      <p:stCondLst>
                        <p:cond delay="indefinite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 nodeType="clickPar">
                      <p:stCondLst>
                        <p:cond delay="indefinite"/>
                      </p:stCondLst>
                      <p:childTnLst>
                        <p:par>
                          <p:cTn id="3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 nodeType="clickPar">
                      <p:stCondLst>
                        <p:cond delay="indefinite"/>
                      </p:stCondLst>
                      <p:childTnLst>
                        <p:par>
                          <p:cTn id="3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 nodeType="clickPar">
                      <p:stCondLst>
                        <p:cond delay="indefinite"/>
                      </p:stCondLst>
                      <p:childTnLst>
                        <p:par>
                          <p:cTn id="3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 nodeType="clickPar">
                      <p:stCondLst>
                        <p:cond delay="indefinite"/>
                      </p:stCondLst>
                      <p:childTnLst>
                        <p:par>
                          <p:cTn id="3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6" fill="hold" nodeType="clickPar">
                      <p:stCondLst>
                        <p:cond delay="indefinite"/>
                      </p:stCondLst>
                      <p:childTnLst>
                        <p:par>
                          <p:cTn id="3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 nodeType="clickPar">
                      <p:stCondLst>
                        <p:cond delay="indefinite"/>
                      </p:stCondLst>
                      <p:childTnLst>
                        <p:par>
                          <p:cTn id="3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 nodeType="clickPar">
                      <p:stCondLst>
                        <p:cond delay="indefinite"/>
                      </p:stCondLst>
                      <p:childTnLst>
                        <p:par>
                          <p:cTn id="3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 nodeType="clickPar">
                      <p:stCondLst>
                        <p:cond delay="indefinite"/>
                      </p:stCondLst>
                      <p:childTnLst>
                        <p:par>
                          <p:cTn id="4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 nodeType="clickPar">
                      <p:stCondLst>
                        <p:cond delay="indefinite"/>
                      </p:stCondLst>
                      <p:childTnLst>
                        <p:par>
                          <p:cTn id="4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 nodeType="clickPar">
                      <p:stCondLst>
                        <p:cond delay="indefinite"/>
                      </p:stCondLst>
                      <p:childTnLst>
                        <p:par>
                          <p:cTn id="4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 nodeType="clickPar">
                      <p:stCondLst>
                        <p:cond delay="indefinite"/>
                      </p:stCondLst>
                      <p:childTnLst>
                        <p:par>
                          <p:cTn id="4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fill="hold" nodeType="clickPar">
                      <p:stCondLst>
                        <p:cond delay="indefinite"/>
                      </p:stCondLst>
                      <p:childTnLst>
                        <p:par>
                          <p:cTn id="4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 nodeType="clickPar">
                      <p:stCondLst>
                        <p:cond delay="indefinite"/>
                      </p:stCondLst>
                      <p:childTnLst>
                        <p:par>
                          <p:cTn id="4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4" fill="hold" nodeType="clickPar">
                      <p:stCondLst>
                        <p:cond delay="indefinite"/>
                      </p:stCondLst>
                      <p:childTnLst>
                        <p:par>
                          <p:cTn id="4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 nodeType="clickPar">
                      <p:stCondLst>
                        <p:cond delay="indefinite"/>
                      </p:stCondLst>
                      <p:childTnLst>
                        <p:par>
                          <p:cTn id="4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 nodeType="clickPar">
                      <p:stCondLst>
                        <p:cond delay="indefinite"/>
                      </p:stCondLst>
                      <p:childTnLst>
                        <p:par>
                          <p:cTn id="4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 nodeType="clickPar">
                      <p:stCondLst>
                        <p:cond delay="indefinite"/>
                      </p:stCondLst>
                      <p:childTnLst>
                        <p:par>
                          <p:cTn id="4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fill="hold" nodeType="clickPar">
                      <p:stCondLst>
                        <p:cond delay="indefinite"/>
                      </p:stCondLst>
                      <p:childTnLst>
                        <p:par>
                          <p:cTn id="4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 nodeType="clickPar">
                      <p:stCondLst>
                        <p:cond delay="indefinite"/>
                      </p:stCondLst>
                      <p:childTnLst>
                        <p:par>
                          <p:cTn id="4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fill="hold" nodeType="clickPar">
                      <p:stCondLst>
                        <p:cond delay="indefinite"/>
                      </p:stCondLst>
                      <p:childTnLst>
                        <p:par>
                          <p:cTn id="4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 nodeType="clickPar">
                      <p:stCondLst>
                        <p:cond delay="indefinite"/>
                      </p:stCondLst>
                      <p:childTnLst>
                        <p:par>
                          <p:cTn id="4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4" fill="hold" nodeType="clickPar">
                      <p:stCondLst>
                        <p:cond delay="indefinite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8" fill="hold" nodeType="clickPar">
                      <p:stCondLst>
                        <p:cond delay="indefinite"/>
                      </p:stCondLst>
                      <p:childTnLst>
                        <p:par>
                          <p:cTn id="4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6" fill="hold" nodeType="clickPar">
                      <p:stCondLst>
                        <p:cond delay="indefinite"/>
                      </p:stCondLst>
                      <p:childTnLst>
                        <p:par>
                          <p:cTn id="4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0" dur="2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34" grpId="0"/>
      <p:bldP spid="37" grpId="0"/>
      <p:bldP spid="47" grpId="0"/>
      <p:bldP spid="50" grpId="0"/>
      <p:bldP spid="51" grpId="0"/>
      <p:bldP spid="54" grpId="0"/>
      <p:bldP spid="55" grpId="0"/>
      <p:bldP spid="58" grpId="0"/>
      <p:bldP spid="59" grpId="0"/>
      <p:bldP spid="68" grpId="0"/>
      <p:bldP spid="71" grpId="0"/>
      <p:bldP spid="74" grpId="0"/>
      <p:bldP spid="78" grpId="0"/>
      <p:bldP spid="81" grpId="0"/>
      <p:bldP spid="82" grpId="0"/>
      <p:bldP spid="85" grpId="0"/>
      <p:bldP spid="86" grpId="0"/>
      <p:bldP spid="89" grpId="0"/>
      <p:bldP spid="90" grpId="0"/>
      <p:bldP spid="93" grpId="0"/>
      <p:bldP spid="94" grpId="0"/>
      <p:bldP spid="97" grpId="0"/>
      <p:bldP spid="102" grpId="0"/>
      <p:bldP spid="105" grpId="0"/>
      <p:bldP spid="106" grpId="0"/>
      <p:bldP spid="109" grpId="0"/>
      <p:bldP spid="110" grpId="0"/>
      <p:bldP spid="113" grpId="0"/>
      <p:bldP spid="114" grpId="0"/>
      <p:bldP spid="117" grpId="0"/>
      <p:bldP spid="118" grpId="0"/>
      <p:bldP spid="121" grpId="0"/>
      <p:bldP spid="122" grpId="0"/>
      <p:bldP spid="125" grpId="0"/>
      <p:bldP spid="126" grpId="0"/>
      <p:bldP spid="1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15381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15382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5385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latin typeface="Comic Sans MS" pitchFamily="66" charset="0"/>
              </a:rPr>
              <a:t>REFLECTIONS</a:t>
            </a:r>
          </a:p>
          <a:p>
            <a:endParaRPr lang="en-US" sz="3000" b="1" u="sng"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15386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TASK 7 (LEVEL 5)</a:t>
            </a:r>
          </a:p>
        </p:txBody>
      </p:sp>
      <p:pic>
        <p:nvPicPr>
          <p:cNvPr id="15387" name="Picture 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446213"/>
            <a:ext cx="3233738" cy="255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15388" name="Picture 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838" y="1412875"/>
            <a:ext cx="3209925" cy="2560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15389" name="Picture 3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3" y="4119563"/>
            <a:ext cx="3206750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15390" name="Picture 3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181475"/>
            <a:ext cx="3227388" cy="2551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15391" name="Rectangle 1"/>
          <p:cNvSpPr>
            <a:spLocks noChangeArrowheads="1"/>
          </p:cNvSpPr>
          <p:nvPr/>
        </p:nvSpPr>
        <p:spPr bwMode="auto">
          <a:xfrm>
            <a:off x="-74613" y="1309688"/>
            <a:ext cx="542926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1)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5392" name="Rectangle 1"/>
          <p:cNvSpPr>
            <a:spLocks noChangeArrowheads="1"/>
          </p:cNvSpPr>
          <p:nvPr/>
        </p:nvSpPr>
        <p:spPr bwMode="auto">
          <a:xfrm>
            <a:off x="4435475" y="1311275"/>
            <a:ext cx="544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2)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5393" name="Rectangle 1"/>
          <p:cNvSpPr>
            <a:spLocks noChangeArrowheads="1"/>
          </p:cNvSpPr>
          <p:nvPr/>
        </p:nvSpPr>
        <p:spPr bwMode="auto">
          <a:xfrm>
            <a:off x="-36513" y="4048125"/>
            <a:ext cx="5445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3)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5394" name="Rectangle 1"/>
          <p:cNvSpPr>
            <a:spLocks noChangeArrowheads="1"/>
          </p:cNvSpPr>
          <p:nvPr/>
        </p:nvSpPr>
        <p:spPr bwMode="auto">
          <a:xfrm>
            <a:off x="4467225" y="4048125"/>
            <a:ext cx="5445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4)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5395" name="TextBox 1"/>
          <p:cNvSpPr txBox="1">
            <a:spLocks noChangeArrowheads="1"/>
          </p:cNvSpPr>
          <p:nvPr/>
        </p:nvSpPr>
        <p:spPr bwMode="auto">
          <a:xfrm>
            <a:off x="3176588" y="3416300"/>
            <a:ext cx="15843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/>
              <a:t>Reflect in the line x = -1 </a:t>
            </a:r>
          </a:p>
        </p:txBody>
      </p:sp>
      <p:sp>
        <p:nvSpPr>
          <p:cNvPr id="15396" name="TextBox 29"/>
          <p:cNvSpPr txBox="1">
            <a:spLocks noChangeArrowheads="1"/>
          </p:cNvSpPr>
          <p:nvPr/>
        </p:nvSpPr>
        <p:spPr bwMode="auto">
          <a:xfrm>
            <a:off x="7627938" y="3430588"/>
            <a:ext cx="1584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/>
              <a:t>Reflect in the line y = 1 </a:t>
            </a:r>
          </a:p>
        </p:txBody>
      </p:sp>
      <p:sp>
        <p:nvSpPr>
          <p:cNvPr id="15397" name="TextBox 30"/>
          <p:cNvSpPr txBox="1">
            <a:spLocks noChangeArrowheads="1"/>
          </p:cNvSpPr>
          <p:nvPr/>
        </p:nvSpPr>
        <p:spPr bwMode="auto">
          <a:xfrm>
            <a:off x="3176588" y="6211888"/>
            <a:ext cx="1584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/>
              <a:t>Reflect in the line x = 2 </a:t>
            </a:r>
          </a:p>
        </p:txBody>
      </p:sp>
      <p:sp>
        <p:nvSpPr>
          <p:cNvPr id="15398" name="TextBox 31"/>
          <p:cNvSpPr txBox="1">
            <a:spLocks noChangeArrowheads="1"/>
          </p:cNvSpPr>
          <p:nvPr/>
        </p:nvSpPr>
        <p:spPr bwMode="auto">
          <a:xfrm>
            <a:off x="7650163" y="6238875"/>
            <a:ext cx="1584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/>
              <a:t>Reflect in the line y = -1 </a:t>
            </a:r>
          </a:p>
        </p:txBody>
      </p:sp>
      <p:grpSp>
        <p:nvGrpSpPr>
          <p:cNvPr id="33" name="Group 32"/>
          <p:cNvGrpSpPr>
            <a:grpSpLocks/>
          </p:cNvGrpSpPr>
          <p:nvPr/>
        </p:nvGrpSpPr>
        <p:grpSpPr bwMode="auto">
          <a:xfrm>
            <a:off x="1616075" y="1258888"/>
            <a:ext cx="998538" cy="2806700"/>
            <a:chOff x="1990252" y="1289174"/>
            <a:chExt cx="997572" cy="4107570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2020386" y="1507563"/>
              <a:ext cx="0" cy="3889181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22" name="TextBox 1"/>
            <p:cNvSpPr txBox="1">
              <a:spLocks noChangeArrowheads="1"/>
            </p:cNvSpPr>
            <p:nvPr/>
          </p:nvSpPr>
          <p:spPr bwMode="auto">
            <a:xfrm>
              <a:off x="1990252" y="1289174"/>
              <a:ext cx="9975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x = -1</a:t>
              </a:r>
            </a:p>
          </p:txBody>
        </p:sp>
      </p:grpSp>
      <p:sp>
        <p:nvSpPr>
          <p:cNvPr id="3" name="Freeform 2"/>
          <p:cNvSpPr/>
          <p:nvPr/>
        </p:nvSpPr>
        <p:spPr>
          <a:xfrm>
            <a:off x="558800" y="1774825"/>
            <a:ext cx="533400" cy="790575"/>
          </a:xfrm>
          <a:custGeom>
            <a:avLst/>
            <a:gdLst>
              <a:gd name="connsiteX0" fmla="*/ 532263 w 532263"/>
              <a:gd name="connsiteY0" fmla="*/ 313898 h 791570"/>
              <a:gd name="connsiteX1" fmla="*/ 191069 w 532263"/>
              <a:gd name="connsiteY1" fmla="*/ 0 h 791570"/>
              <a:gd name="connsiteX2" fmla="*/ 0 w 532263"/>
              <a:gd name="connsiteY2" fmla="*/ 791570 h 791570"/>
              <a:gd name="connsiteX3" fmla="*/ 532263 w 532263"/>
              <a:gd name="connsiteY3" fmla="*/ 313898 h 791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263" h="791570">
                <a:moveTo>
                  <a:pt x="532263" y="313898"/>
                </a:moveTo>
                <a:lnTo>
                  <a:pt x="191069" y="0"/>
                </a:lnTo>
                <a:lnTo>
                  <a:pt x="0" y="791570"/>
                </a:lnTo>
                <a:lnTo>
                  <a:pt x="532263" y="313898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40" name="Group 39"/>
          <p:cNvGrpSpPr>
            <a:grpSpLocks/>
          </p:cNvGrpSpPr>
          <p:nvPr/>
        </p:nvGrpSpPr>
        <p:grpSpPr bwMode="auto">
          <a:xfrm rot="5400000">
            <a:off x="6615907" y="721518"/>
            <a:ext cx="368300" cy="3960813"/>
            <a:chOff x="1857362" y="125317"/>
            <a:chExt cx="335431" cy="5271427"/>
          </a:xfrm>
        </p:grpSpPr>
        <p:cxnSp>
          <p:nvCxnSpPr>
            <p:cNvPr id="41" name="Straight Connector 40"/>
            <p:cNvCxnSpPr/>
            <p:nvPr/>
          </p:nvCxnSpPr>
          <p:spPr>
            <a:xfrm>
              <a:off x="2020741" y="1507086"/>
              <a:ext cx="0" cy="3889658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20" name="TextBox 1"/>
            <p:cNvSpPr txBox="1">
              <a:spLocks noChangeArrowheads="1"/>
            </p:cNvSpPr>
            <p:nvPr/>
          </p:nvSpPr>
          <p:spPr bwMode="auto">
            <a:xfrm rot="-5400000">
              <a:off x="1294255" y="688424"/>
              <a:ext cx="1461645" cy="33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y = 1</a:t>
              </a:r>
            </a:p>
          </p:txBody>
        </p:sp>
      </p:grpSp>
      <p:sp>
        <p:nvSpPr>
          <p:cNvPr id="4" name="Freeform 3"/>
          <p:cNvSpPr/>
          <p:nvPr/>
        </p:nvSpPr>
        <p:spPr>
          <a:xfrm>
            <a:off x="5199063" y="2852738"/>
            <a:ext cx="546100" cy="641350"/>
          </a:xfrm>
          <a:custGeom>
            <a:avLst/>
            <a:gdLst>
              <a:gd name="connsiteX0" fmla="*/ 0 w 545910"/>
              <a:gd name="connsiteY0" fmla="*/ 0 h 641445"/>
              <a:gd name="connsiteX1" fmla="*/ 0 w 545910"/>
              <a:gd name="connsiteY1" fmla="*/ 641445 h 641445"/>
              <a:gd name="connsiteX2" fmla="*/ 545910 w 545910"/>
              <a:gd name="connsiteY2" fmla="*/ 641445 h 641445"/>
              <a:gd name="connsiteX3" fmla="*/ 0 w 545910"/>
              <a:gd name="connsiteY3" fmla="*/ 0 h 64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910" h="641445">
                <a:moveTo>
                  <a:pt x="0" y="0"/>
                </a:moveTo>
                <a:lnTo>
                  <a:pt x="0" y="641445"/>
                </a:lnTo>
                <a:lnTo>
                  <a:pt x="545910" y="641445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44" name="Group 43"/>
          <p:cNvGrpSpPr>
            <a:grpSpLocks/>
          </p:cNvGrpSpPr>
          <p:nvPr/>
        </p:nvGrpSpPr>
        <p:grpSpPr bwMode="auto">
          <a:xfrm>
            <a:off x="2151063" y="3956050"/>
            <a:ext cx="998537" cy="2806700"/>
            <a:chOff x="1990252" y="1289174"/>
            <a:chExt cx="997572" cy="4107570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2020385" y="1507563"/>
              <a:ext cx="0" cy="3889181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18" name="TextBox 1"/>
            <p:cNvSpPr txBox="1">
              <a:spLocks noChangeArrowheads="1"/>
            </p:cNvSpPr>
            <p:nvPr/>
          </p:nvSpPr>
          <p:spPr bwMode="auto">
            <a:xfrm>
              <a:off x="1990252" y="1289174"/>
              <a:ext cx="997572" cy="540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x = 2</a:t>
              </a:r>
            </a:p>
          </p:txBody>
        </p:sp>
      </p:grpSp>
      <p:sp>
        <p:nvSpPr>
          <p:cNvPr id="5" name="Freeform 4"/>
          <p:cNvSpPr/>
          <p:nvPr/>
        </p:nvSpPr>
        <p:spPr>
          <a:xfrm>
            <a:off x="1446213" y="5295900"/>
            <a:ext cx="368300" cy="954088"/>
          </a:xfrm>
          <a:custGeom>
            <a:avLst/>
            <a:gdLst>
              <a:gd name="connsiteX0" fmla="*/ 354841 w 368489"/>
              <a:gd name="connsiteY0" fmla="*/ 163773 h 955344"/>
              <a:gd name="connsiteX1" fmla="*/ 0 w 368489"/>
              <a:gd name="connsiteY1" fmla="*/ 0 h 955344"/>
              <a:gd name="connsiteX2" fmla="*/ 191068 w 368489"/>
              <a:gd name="connsiteY2" fmla="*/ 955344 h 955344"/>
              <a:gd name="connsiteX3" fmla="*/ 368489 w 368489"/>
              <a:gd name="connsiteY3" fmla="*/ 805218 h 955344"/>
              <a:gd name="connsiteX4" fmla="*/ 354841 w 368489"/>
              <a:gd name="connsiteY4" fmla="*/ 163773 h 95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8489" h="955344">
                <a:moveTo>
                  <a:pt x="354841" y="163773"/>
                </a:moveTo>
                <a:lnTo>
                  <a:pt x="0" y="0"/>
                </a:lnTo>
                <a:lnTo>
                  <a:pt x="191068" y="955344"/>
                </a:lnTo>
                <a:lnTo>
                  <a:pt x="368489" y="805218"/>
                </a:lnTo>
                <a:lnTo>
                  <a:pt x="354841" y="163773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48" name="Group 47"/>
          <p:cNvGrpSpPr>
            <a:grpSpLocks/>
          </p:cNvGrpSpPr>
          <p:nvPr/>
        </p:nvGrpSpPr>
        <p:grpSpPr bwMode="auto">
          <a:xfrm rot="5400000">
            <a:off x="6655594" y="3786982"/>
            <a:ext cx="369887" cy="3962400"/>
            <a:chOff x="1857362" y="125317"/>
            <a:chExt cx="335431" cy="5271427"/>
          </a:xfrm>
        </p:grpSpPr>
        <p:cxnSp>
          <p:nvCxnSpPr>
            <p:cNvPr id="49" name="Straight Connector 48"/>
            <p:cNvCxnSpPr/>
            <p:nvPr/>
          </p:nvCxnSpPr>
          <p:spPr>
            <a:xfrm>
              <a:off x="2020038" y="1506531"/>
              <a:ext cx="0" cy="3890212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16" name="TextBox 1"/>
            <p:cNvSpPr txBox="1">
              <a:spLocks noChangeArrowheads="1"/>
            </p:cNvSpPr>
            <p:nvPr/>
          </p:nvSpPr>
          <p:spPr bwMode="auto">
            <a:xfrm rot="-5400000">
              <a:off x="1294255" y="688424"/>
              <a:ext cx="1461645" cy="33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y = -1</a:t>
              </a:r>
            </a:p>
          </p:txBody>
        </p:sp>
      </p:grpSp>
      <p:sp>
        <p:nvSpPr>
          <p:cNvPr id="6" name="Freeform 5"/>
          <p:cNvSpPr/>
          <p:nvPr/>
        </p:nvSpPr>
        <p:spPr>
          <a:xfrm>
            <a:off x="5391150" y="5118100"/>
            <a:ext cx="873125" cy="627063"/>
          </a:xfrm>
          <a:custGeom>
            <a:avLst/>
            <a:gdLst>
              <a:gd name="connsiteX0" fmla="*/ 354841 w 873456"/>
              <a:gd name="connsiteY0" fmla="*/ 627797 h 627797"/>
              <a:gd name="connsiteX1" fmla="*/ 0 w 873456"/>
              <a:gd name="connsiteY1" fmla="*/ 0 h 627797"/>
              <a:gd name="connsiteX2" fmla="*/ 873456 w 873456"/>
              <a:gd name="connsiteY2" fmla="*/ 313899 h 627797"/>
              <a:gd name="connsiteX3" fmla="*/ 354841 w 873456"/>
              <a:gd name="connsiteY3" fmla="*/ 627797 h 627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3456" h="627797">
                <a:moveTo>
                  <a:pt x="354841" y="627797"/>
                </a:moveTo>
                <a:lnTo>
                  <a:pt x="0" y="0"/>
                </a:lnTo>
                <a:lnTo>
                  <a:pt x="873456" y="313899"/>
                </a:lnTo>
                <a:lnTo>
                  <a:pt x="354841" y="627797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407" name="TextBox 7"/>
          <p:cNvSpPr txBox="1">
            <a:spLocks noChangeArrowheads="1"/>
          </p:cNvSpPr>
          <p:nvPr/>
        </p:nvSpPr>
        <p:spPr bwMode="auto">
          <a:xfrm>
            <a:off x="3219450" y="273526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5408" name="TextBox 129"/>
          <p:cNvSpPr txBox="1">
            <a:spLocks noChangeArrowheads="1"/>
          </p:cNvSpPr>
          <p:nvPr/>
        </p:nvSpPr>
        <p:spPr bwMode="auto">
          <a:xfrm>
            <a:off x="1749425" y="135731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15409" name="TextBox 7"/>
          <p:cNvSpPr txBox="1">
            <a:spLocks noChangeArrowheads="1"/>
          </p:cNvSpPr>
          <p:nvPr/>
        </p:nvSpPr>
        <p:spPr bwMode="auto">
          <a:xfrm>
            <a:off x="7696200" y="271938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5410" name="TextBox 129"/>
          <p:cNvSpPr txBox="1">
            <a:spLocks noChangeArrowheads="1"/>
          </p:cNvSpPr>
          <p:nvPr/>
        </p:nvSpPr>
        <p:spPr bwMode="auto">
          <a:xfrm>
            <a:off x="6227763" y="134143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15411" name="TextBox 7"/>
          <p:cNvSpPr txBox="1">
            <a:spLocks noChangeArrowheads="1"/>
          </p:cNvSpPr>
          <p:nvPr/>
        </p:nvSpPr>
        <p:spPr bwMode="auto">
          <a:xfrm>
            <a:off x="3232150" y="547211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5412" name="TextBox 129"/>
          <p:cNvSpPr txBox="1">
            <a:spLocks noChangeArrowheads="1"/>
          </p:cNvSpPr>
          <p:nvPr/>
        </p:nvSpPr>
        <p:spPr bwMode="auto">
          <a:xfrm>
            <a:off x="1763713" y="409416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15413" name="TextBox 7"/>
          <p:cNvSpPr txBox="1">
            <a:spLocks noChangeArrowheads="1"/>
          </p:cNvSpPr>
          <p:nvPr/>
        </p:nvSpPr>
        <p:spPr bwMode="auto">
          <a:xfrm>
            <a:off x="7681913" y="5441950"/>
            <a:ext cx="215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5414" name="TextBox 129"/>
          <p:cNvSpPr txBox="1">
            <a:spLocks noChangeArrowheads="1"/>
          </p:cNvSpPr>
          <p:nvPr/>
        </p:nvSpPr>
        <p:spPr bwMode="auto">
          <a:xfrm>
            <a:off x="6240463" y="4076700"/>
            <a:ext cx="215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3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3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3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888" y="4121150"/>
            <a:ext cx="3190875" cy="261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1638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4181475"/>
            <a:ext cx="3195637" cy="2551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16388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538" y="1412875"/>
            <a:ext cx="3197225" cy="25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1638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1458913"/>
            <a:ext cx="3214688" cy="254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16390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16409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16410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6413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latin typeface="Comic Sans MS" pitchFamily="66" charset="0"/>
              </a:rPr>
              <a:t>REFLECTIONS</a:t>
            </a:r>
          </a:p>
          <a:p>
            <a:endParaRPr lang="en-US" sz="3000" b="1" u="sng"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16414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TASK 8 (LEVEL 5)</a:t>
            </a:r>
          </a:p>
        </p:txBody>
      </p:sp>
      <p:sp>
        <p:nvSpPr>
          <p:cNvPr id="16415" name="Rectangle 1"/>
          <p:cNvSpPr>
            <a:spLocks noChangeArrowheads="1"/>
          </p:cNvSpPr>
          <p:nvPr/>
        </p:nvSpPr>
        <p:spPr bwMode="auto">
          <a:xfrm>
            <a:off x="-74613" y="1309688"/>
            <a:ext cx="542926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1)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6416" name="Rectangle 1"/>
          <p:cNvSpPr>
            <a:spLocks noChangeArrowheads="1"/>
          </p:cNvSpPr>
          <p:nvPr/>
        </p:nvSpPr>
        <p:spPr bwMode="auto">
          <a:xfrm>
            <a:off x="4435475" y="1311275"/>
            <a:ext cx="544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2)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6417" name="Rectangle 1"/>
          <p:cNvSpPr>
            <a:spLocks noChangeArrowheads="1"/>
          </p:cNvSpPr>
          <p:nvPr/>
        </p:nvSpPr>
        <p:spPr bwMode="auto">
          <a:xfrm>
            <a:off x="-36513" y="4048125"/>
            <a:ext cx="5445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3)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6418" name="Rectangle 1"/>
          <p:cNvSpPr>
            <a:spLocks noChangeArrowheads="1"/>
          </p:cNvSpPr>
          <p:nvPr/>
        </p:nvSpPr>
        <p:spPr bwMode="auto">
          <a:xfrm>
            <a:off x="4467225" y="4048125"/>
            <a:ext cx="5445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4)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6419" name="TextBox 1"/>
          <p:cNvSpPr txBox="1">
            <a:spLocks noChangeArrowheads="1"/>
          </p:cNvSpPr>
          <p:nvPr/>
        </p:nvSpPr>
        <p:spPr bwMode="auto">
          <a:xfrm>
            <a:off x="3176588" y="3416300"/>
            <a:ext cx="15843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/>
              <a:t>Reflect in the line y = 0 </a:t>
            </a:r>
          </a:p>
        </p:txBody>
      </p:sp>
      <p:sp>
        <p:nvSpPr>
          <p:cNvPr id="16420" name="TextBox 29"/>
          <p:cNvSpPr txBox="1">
            <a:spLocks noChangeArrowheads="1"/>
          </p:cNvSpPr>
          <p:nvPr/>
        </p:nvSpPr>
        <p:spPr bwMode="auto">
          <a:xfrm>
            <a:off x="7627938" y="3430588"/>
            <a:ext cx="1584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/>
              <a:t>Reflect in the line x = 0 </a:t>
            </a:r>
          </a:p>
        </p:txBody>
      </p:sp>
      <p:sp>
        <p:nvSpPr>
          <p:cNvPr id="16421" name="TextBox 30"/>
          <p:cNvSpPr txBox="1">
            <a:spLocks noChangeArrowheads="1"/>
          </p:cNvSpPr>
          <p:nvPr/>
        </p:nvSpPr>
        <p:spPr bwMode="auto">
          <a:xfrm>
            <a:off x="3176588" y="6211888"/>
            <a:ext cx="1584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/>
              <a:t>Reflect in the line y = x </a:t>
            </a:r>
          </a:p>
        </p:txBody>
      </p:sp>
      <p:sp>
        <p:nvSpPr>
          <p:cNvPr id="16422" name="TextBox 31"/>
          <p:cNvSpPr txBox="1">
            <a:spLocks noChangeArrowheads="1"/>
          </p:cNvSpPr>
          <p:nvPr/>
        </p:nvSpPr>
        <p:spPr bwMode="auto">
          <a:xfrm>
            <a:off x="7650163" y="6238875"/>
            <a:ext cx="1584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/>
              <a:t>Reflect in the line y = -x </a:t>
            </a:r>
          </a:p>
        </p:txBody>
      </p:sp>
      <p:grpSp>
        <p:nvGrpSpPr>
          <p:cNvPr id="33" name="Group 32"/>
          <p:cNvGrpSpPr>
            <a:grpSpLocks/>
          </p:cNvGrpSpPr>
          <p:nvPr/>
        </p:nvGrpSpPr>
        <p:grpSpPr bwMode="auto">
          <a:xfrm rot="5400000">
            <a:off x="2204244" y="912019"/>
            <a:ext cx="369888" cy="3962400"/>
            <a:chOff x="1857362" y="125317"/>
            <a:chExt cx="335431" cy="5271427"/>
          </a:xfrm>
        </p:grpSpPr>
        <p:cxnSp>
          <p:nvCxnSpPr>
            <p:cNvPr id="34" name="Straight Connector 33"/>
            <p:cNvCxnSpPr/>
            <p:nvPr/>
          </p:nvCxnSpPr>
          <p:spPr>
            <a:xfrm>
              <a:off x="2020039" y="1506532"/>
              <a:ext cx="0" cy="3890212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46" name="TextBox 1"/>
            <p:cNvSpPr txBox="1">
              <a:spLocks noChangeArrowheads="1"/>
            </p:cNvSpPr>
            <p:nvPr/>
          </p:nvSpPr>
          <p:spPr bwMode="auto">
            <a:xfrm rot="-5400000">
              <a:off x="1294255" y="688424"/>
              <a:ext cx="1461645" cy="335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y = 0</a:t>
              </a:r>
            </a:p>
          </p:txBody>
        </p:sp>
      </p:grpSp>
      <p:sp>
        <p:nvSpPr>
          <p:cNvPr id="3" name="Freeform 2"/>
          <p:cNvSpPr/>
          <p:nvPr/>
        </p:nvSpPr>
        <p:spPr>
          <a:xfrm>
            <a:off x="750888" y="1938338"/>
            <a:ext cx="709612" cy="314325"/>
          </a:xfrm>
          <a:custGeom>
            <a:avLst/>
            <a:gdLst>
              <a:gd name="connsiteX0" fmla="*/ 163773 w 709683"/>
              <a:gd name="connsiteY0" fmla="*/ 313899 h 313899"/>
              <a:gd name="connsiteX1" fmla="*/ 545910 w 709683"/>
              <a:gd name="connsiteY1" fmla="*/ 313899 h 313899"/>
              <a:gd name="connsiteX2" fmla="*/ 709683 w 709683"/>
              <a:gd name="connsiteY2" fmla="*/ 13648 h 313899"/>
              <a:gd name="connsiteX3" fmla="*/ 0 w 709683"/>
              <a:gd name="connsiteY3" fmla="*/ 0 h 313899"/>
              <a:gd name="connsiteX4" fmla="*/ 163773 w 709683"/>
              <a:gd name="connsiteY4" fmla="*/ 313899 h 313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9683" h="313899">
                <a:moveTo>
                  <a:pt x="163773" y="313899"/>
                </a:moveTo>
                <a:lnTo>
                  <a:pt x="545910" y="313899"/>
                </a:lnTo>
                <a:lnTo>
                  <a:pt x="709683" y="13648"/>
                </a:lnTo>
                <a:lnTo>
                  <a:pt x="0" y="0"/>
                </a:lnTo>
                <a:lnTo>
                  <a:pt x="163773" y="313899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36" name="Group 35"/>
          <p:cNvGrpSpPr>
            <a:grpSpLocks/>
          </p:cNvGrpSpPr>
          <p:nvPr/>
        </p:nvGrpSpPr>
        <p:grpSpPr bwMode="auto">
          <a:xfrm>
            <a:off x="6246813" y="1268413"/>
            <a:ext cx="908050" cy="2806700"/>
            <a:chOff x="1990252" y="1289174"/>
            <a:chExt cx="997572" cy="4107570"/>
          </a:xfrm>
        </p:grpSpPr>
        <p:cxnSp>
          <p:nvCxnSpPr>
            <p:cNvPr id="37" name="Straight Connector 36"/>
            <p:cNvCxnSpPr/>
            <p:nvPr/>
          </p:nvCxnSpPr>
          <p:spPr>
            <a:xfrm>
              <a:off x="2019900" y="1507563"/>
              <a:ext cx="0" cy="3889181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44" name="TextBox 1"/>
            <p:cNvSpPr txBox="1">
              <a:spLocks noChangeArrowheads="1"/>
            </p:cNvSpPr>
            <p:nvPr/>
          </p:nvSpPr>
          <p:spPr bwMode="auto">
            <a:xfrm>
              <a:off x="1990252" y="1289174"/>
              <a:ext cx="997572" cy="540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x = 0</a:t>
              </a:r>
            </a:p>
          </p:txBody>
        </p:sp>
      </p:grpSp>
      <p:sp>
        <p:nvSpPr>
          <p:cNvPr id="4" name="Freeform 3"/>
          <p:cNvSpPr/>
          <p:nvPr/>
        </p:nvSpPr>
        <p:spPr>
          <a:xfrm>
            <a:off x="7164388" y="1911350"/>
            <a:ext cx="369887" cy="804863"/>
          </a:xfrm>
          <a:custGeom>
            <a:avLst/>
            <a:gdLst>
              <a:gd name="connsiteX0" fmla="*/ 0 w 368489"/>
              <a:gd name="connsiteY0" fmla="*/ 313898 h 805217"/>
              <a:gd name="connsiteX1" fmla="*/ 0 w 368489"/>
              <a:gd name="connsiteY1" fmla="*/ 641444 h 805217"/>
              <a:gd name="connsiteX2" fmla="*/ 191068 w 368489"/>
              <a:gd name="connsiteY2" fmla="*/ 805217 h 805217"/>
              <a:gd name="connsiteX3" fmla="*/ 368489 w 368489"/>
              <a:gd name="connsiteY3" fmla="*/ 491319 h 805217"/>
              <a:gd name="connsiteX4" fmla="*/ 177421 w 368489"/>
              <a:gd name="connsiteY4" fmla="*/ 0 h 805217"/>
              <a:gd name="connsiteX5" fmla="*/ 0 w 368489"/>
              <a:gd name="connsiteY5" fmla="*/ 313898 h 80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489" h="805217">
                <a:moveTo>
                  <a:pt x="0" y="313898"/>
                </a:moveTo>
                <a:lnTo>
                  <a:pt x="0" y="641444"/>
                </a:lnTo>
                <a:lnTo>
                  <a:pt x="191068" y="805217"/>
                </a:lnTo>
                <a:lnTo>
                  <a:pt x="368489" y="491319"/>
                </a:lnTo>
                <a:lnTo>
                  <a:pt x="177421" y="0"/>
                </a:lnTo>
                <a:lnTo>
                  <a:pt x="0" y="313898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39" name="Group 38"/>
          <p:cNvGrpSpPr>
            <a:grpSpLocks/>
          </p:cNvGrpSpPr>
          <p:nvPr/>
        </p:nvGrpSpPr>
        <p:grpSpPr bwMode="auto">
          <a:xfrm rot="2909060">
            <a:off x="2126456" y="3405982"/>
            <a:ext cx="504825" cy="4090988"/>
            <a:chOff x="2020386" y="447326"/>
            <a:chExt cx="504581" cy="4949418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2018337" y="1507742"/>
              <a:ext cx="0" cy="3889239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42" name="TextBox 1"/>
            <p:cNvSpPr txBox="1">
              <a:spLocks noChangeArrowheads="1"/>
            </p:cNvSpPr>
            <p:nvPr/>
          </p:nvSpPr>
          <p:spPr bwMode="auto">
            <a:xfrm rot="-2909060">
              <a:off x="1736494" y="866824"/>
              <a:ext cx="1207972" cy="368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y = x</a:t>
              </a:r>
            </a:p>
          </p:txBody>
        </p:sp>
      </p:grpSp>
      <p:sp>
        <p:nvSpPr>
          <p:cNvPr id="5" name="Freeform 4"/>
          <p:cNvSpPr/>
          <p:nvPr/>
        </p:nvSpPr>
        <p:spPr>
          <a:xfrm>
            <a:off x="1987550" y="5932488"/>
            <a:ext cx="542925" cy="160337"/>
          </a:xfrm>
          <a:custGeom>
            <a:avLst/>
            <a:gdLst>
              <a:gd name="connsiteX0" fmla="*/ 0 w 542261"/>
              <a:gd name="connsiteY0" fmla="*/ 0 h 159489"/>
              <a:gd name="connsiteX1" fmla="*/ 10633 w 542261"/>
              <a:gd name="connsiteY1" fmla="*/ 159489 h 159489"/>
              <a:gd name="connsiteX2" fmla="*/ 542261 w 542261"/>
              <a:gd name="connsiteY2" fmla="*/ 159489 h 159489"/>
              <a:gd name="connsiteX3" fmla="*/ 542261 w 542261"/>
              <a:gd name="connsiteY3" fmla="*/ 0 h 159489"/>
              <a:gd name="connsiteX4" fmla="*/ 0 w 542261"/>
              <a:gd name="connsiteY4" fmla="*/ 0 h 159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2261" h="159489">
                <a:moveTo>
                  <a:pt x="0" y="0"/>
                </a:moveTo>
                <a:lnTo>
                  <a:pt x="10633" y="159489"/>
                </a:lnTo>
                <a:lnTo>
                  <a:pt x="542261" y="159489"/>
                </a:lnTo>
                <a:lnTo>
                  <a:pt x="54226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43" name="Group 42"/>
          <p:cNvGrpSpPr>
            <a:grpSpLocks/>
          </p:cNvGrpSpPr>
          <p:nvPr/>
        </p:nvGrpSpPr>
        <p:grpSpPr bwMode="auto">
          <a:xfrm rot="-2856616">
            <a:off x="6070600" y="3479801"/>
            <a:ext cx="422275" cy="3683000"/>
            <a:chOff x="2020386" y="941764"/>
            <a:chExt cx="422339" cy="4454980"/>
          </a:xfrm>
        </p:grpSpPr>
        <p:cxnSp>
          <p:nvCxnSpPr>
            <p:cNvPr id="44" name="Straight Connector 43"/>
            <p:cNvCxnSpPr/>
            <p:nvPr/>
          </p:nvCxnSpPr>
          <p:spPr>
            <a:xfrm>
              <a:off x="2021084" y="1500593"/>
              <a:ext cx="0" cy="3890427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40" name="TextBox 1"/>
            <p:cNvSpPr txBox="1">
              <a:spLocks noChangeArrowheads="1"/>
            </p:cNvSpPr>
            <p:nvPr/>
          </p:nvSpPr>
          <p:spPr bwMode="auto">
            <a:xfrm rot="2856616">
              <a:off x="1654252" y="1361262"/>
              <a:ext cx="1207971" cy="368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y = -x</a:t>
              </a:r>
            </a:p>
          </p:txBody>
        </p:sp>
      </p:grpSp>
      <p:sp>
        <p:nvSpPr>
          <p:cNvPr id="6" name="Freeform 5"/>
          <p:cNvSpPr/>
          <p:nvPr/>
        </p:nvSpPr>
        <p:spPr>
          <a:xfrm>
            <a:off x="5581650" y="5751513"/>
            <a:ext cx="350838" cy="660400"/>
          </a:xfrm>
          <a:custGeom>
            <a:avLst/>
            <a:gdLst>
              <a:gd name="connsiteX0" fmla="*/ 340242 w 350874"/>
              <a:gd name="connsiteY0" fmla="*/ 0 h 659219"/>
              <a:gd name="connsiteX1" fmla="*/ 0 w 350874"/>
              <a:gd name="connsiteY1" fmla="*/ 170121 h 659219"/>
              <a:gd name="connsiteX2" fmla="*/ 0 w 350874"/>
              <a:gd name="connsiteY2" fmla="*/ 659219 h 659219"/>
              <a:gd name="connsiteX3" fmla="*/ 350874 w 350874"/>
              <a:gd name="connsiteY3" fmla="*/ 489098 h 659219"/>
              <a:gd name="connsiteX4" fmla="*/ 340242 w 350874"/>
              <a:gd name="connsiteY4" fmla="*/ 0 h 659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874" h="659219">
                <a:moveTo>
                  <a:pt x="340242" y="0"/>
                </a:moveTo>
                <a:lnTo>
                  <a:pt x="0" y="170121"/>
                </a:lnTo>
                <a:lnTo>
                  <a:pt x="0" y="659219"/>
                </a:lnTo>
                <a:lnTo>
                  <a:pt x="350874" y="489098"/>
                </a:lnTo>
                <a:lnTo>
                  <a:pt x="340242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431" name="TextBox 7"/>
          <p:cNvSpPr txBox="1">
            <a:spLocks noChangeArrowheads="1"/>
          </p:cNvSpPr>
          <p:nvPr/>
        </p:nvSpPr>
        <p:spPr bwMode="auto">
          <a:xfrm>
            <a:off x="3087688" y="2873375"/>
            <a:ext cx="215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6432" name="TextBox 129"/>
          <p:cNvSpPr txBox="1">
            <a:spLocks noChangeArrowheads="1"/>
          </p:cNvSpPr>
          <p:nvPr/>
        </p:nvSpPr>
        <p:spPr bwMode="auto">
          <a:xfrm>
            <a:off x="1749425" y="135731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16433" name="TextBox 7"/>
          <p:cNvSpPr txBox="1">
            <a:spLocks noChangeArrowheads="1"/>
          </p:cNvSpPr>
          <p:nvPr/>
        </p:nvSpPr>
        <p:spPr bwMode="auto">
          <a:xfrm>
            <a:off x="7696200" y="271938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6434" name="TextBox 129"/>
          <p:cNvSpPr txBox="1">
            <a:spLocks noChangeArrowheads="1"/>
          </p:cNvSpPr>
          <p:nvPr/>
        </p:nvSpPr>
        <p:spPr bwMode="auto">
          <a:xfrm>
            <a:off x="6011863" y="125888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16435" name="TextBox 7"/>
          <p:cNvSpPr txBox="1">
            <a:spLocks noChangeArrowheads="1"/>
          </p:cNvSpPr>
          <p:nvPr/>
        </p:nvSpPr>
        <p:spPr bwMode="auto">
          <a:xfrm>
            <a:off x="3236913" y="544036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6436" name="TextBox 129"/>
          <p:cNvSpPr txBox="1">
            <a:spLocks noChangeArrowheads="1"/>
          </p:cNvSpPr>
          <p:nvPr/>
        </p:nvSpPr>
        <p:spPr bwMode="auto">
          <a:xfrm>
            <a:off x="1766888" y="406241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16437" name="TextBox 7"/>
          <p:cNvSpPr txBox="1">
            <a:spLocks noChangeArrowheads="1"/>
          </p:cNvSpPr>
          <p:nvPr/>
        </p:nvSpPr>
        <p:spPr bwMode="auto">
          <a:xfrm>
            <a:off x="7713663" y="542448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6438" name="TextBox 129"/>
          <p:cNvSpPr txBox="1">
            <a:spLocks noChangeArrowheads="1"/>
          </p:cNvSpPr>
          <p:nvPr/>
        </p:nvSpPr>
        <p:spPr bwMode="auto">
          <a:xfrm>
            <a:off x="6243638" y="404653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3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3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3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17429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17430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7433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solidFill>
                  <a:srgbClr val="000000"/>
                </a:solidFill>
                <a:latin typeface="Comic Sans MS" pitchFamily="66" charset="0"/>
              </a:rPr>
              <a:t>REFLECTIONS</a:t>
            </a:r>
          </a:p>
          <a:p>
            <a:endParaRPr lang="en-US" sz="3000" b="1" u="sng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17434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7030A0"/>
                </a:solidFill>
              </a:rPr>
              <a:t>EXTENSION 2 (LEVEL 5)</a:t>
            </a:r>
          </a:p>
        </p:txBody>
      </p:sp>
      <p:sp>
        <p:nvSpPr>
          <p:cNvPr id="17435" name="Rectangle 1"/>
          <p:cNvSpPr>
            <a:spLocks noChangeArrowheads="1"/>
          </p:cNvSpPr>
          <p:nvPr/>
        </p:nvSpPr>
        <p:spPr bwMode="auto">
          <a:xfrm>
            <a:off x="-74613" y="1309688"/>
            <a:ext cx="542926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7030A0"/>
                </a:solidFill>
              </a:rPr>
              <a:t>1) </a:t>
            </a:r>
            <a:endParaRPr lang="en-GB">
              <a:solidFill>
                <a:srgbClr val="7030A0"/>
              </a:solidFill>
            </a:endParaRPr>
          </a:p>
        </p:txBody>
      </p:sp>
      <p:pic>
        <p:nvPicPr>
          <p:cNvPr id="1743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8" y="2332038"/>
            <a:ext cx="4302125" cy="383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17437" name="Rectangle 1"/>
          <p:cNvSpPr>
            <a:spLocks noChangeArrowheads="1"/>
          </p:cNvSpPr>
          <p:nvPr/>
        </p:nvSpPr>
        <p:spPr bwMode="auto">
          <a:xfrm>
            <a:off x="4532313" y="1309688"/>
            <a:ext cx="5445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7030A0"/>
                </a:solidFill>
              </a:rPr>
              <a:t>2) </a:t>
            </a:r>
            <a:endParaRPr lang="en-GB">
              <a:solidFill>
                <a:srgbClr val="7030A0"/>
              </a:solidFill>
            </a:endParaRPr>
          </a:p>
        </p:txBody>
      </p:sp>
      <p:pic>
        <p:nvPicPr>
          <p:cNvPr id="1743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263" y="2330450"/>
            <a:ext cx="4303712" cy="383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17439" name="TextBox 1"/>
          <p:cNvSpPr txBox="1">
            <a:spLocks noChangeArrowheads="1"/>
          </p:cNvSpPr>
          <p:nvPr/>
        </p:nvSpPr>
        <p:spPr bwMode="auto">
          <a:xfrm>
            <a:off x="255588" y="1376363"/>
            <a:ext cx="4276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Reflect the shape made by the co-ordinates (1,-1), (4,0), (4,-4) in the </a:t>
            </a:r>
          </a:p>
          <a:p>
            <a:pPr eaLnBrk="1" hangingPunct="1"/>
            <a:r>
              <a:rPr lang="en-US"/>
              <a:t>x-axis.</a:t>
            </a:r>
          </a:p>
        </p:txBody>
      </p:sp>
      <p:sp>
        <p:nvSpPr>
          <p:cNvPr id="17440" name="TextBox 56"/>
          <p:cNvSpPr txBox="1">
            <a:spLocks noChangeArrowheads="1"/>
          </p:cNvSpPr>
          <p:nvPr/>
        </p:nvSpPr>
        <p:spPr bwMode="auto">
          <a:xfrm>
            <a:off x="4830763" y="1368425"/>
            <a:ext cx="4278312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Reflect the shape made by the co-ordinates (-3,-5), (-4,0), (-2,-1), (0,-4) in y = -1.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332038" y="4522788"/>
            <a:ext cx="471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/>
              <a:t>x</a:t>
            </a:r>
          </a:p>
        </p:txBody>
      </p:sp>
      <p:sp>
        <p:nvSpPr>
          <p:cNvPr id="59" name="TextBox 58"/>
          <p:cNvSpPr txBox="1">
            <a:spLocks noChangeArrowheads="1"/>
          </p:cNvSpPr>
          <p:nvPr/>
        </p:nvSpPr>
        <p:spPr bwMode="auto">
          <a:xfrm>
            <a:off x="3046413" y="4292600"/>
            <a:ext cx="471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/>
              <a:t>x</a:t>
            </a: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3051175" y="5251450"/>
            <a:ext cx="4714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/>
              <a:t>x</a:t>
            </a:r>
          </a:p>
        </p:txBody>
      </p:sp>
      <p:sp>
        <p:nvSpPr>
          <p:cNvPr id="13" name="Freeform 12"/>
          <p:cNvSpPr/>
          <p:nvPr/>
        </p:nvSpPr>
        <p:spPr>
          <a:xfrm>
            <a:off x="2484438" y="4489450"/>
            <a:ext cx="722312" cy="955675"/>
          </a:xfrm>
          <a:custGeom>
            <a:avLst/>
            <a:gdLst>
              <a:gd name="connsiteX0" fmla="*/ 0 w 723331"/>
              <a:gd name="connsiteY0" fmla="*/ 232012 h 955344"/>
              <a:gd name="connsiteX1" fmla="*/ 723331 w 723331"/>
              <a:gd name="connsiteY1" fmla="*/ 0 h 955344"/>
              <a:gd name="connsiteX2" fmla="*/ 723331 w 723331"/>
              <a:gd name="connsiteY2" fmla="*/ 955344 h 955344"/>
              <a:gd name="connsiteX3" fmla="*/ 0 w 723331"/>
              <a:gd name="connsiteY3" fmla="*/ 232012 h 955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331" h="955344">
                <a:moveTo>
                  <a:pt x="0" y="232012"/>
                </a:moveTo>
                <a:lnTo>
                  <a:pt x="723331" y="0"/>
                </a:lnTo>
                <a:lnTo>
                  <a:pt x="723331" y="955344"/>
                </a:lnTo>
                <a:lnTo>
                  <a:pt x="0" y="23201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45" name="TextBox 7"/>
          <p:cNvSpPr txBox="1">
            <a:spLocks noChangeArrowheads="1"/>
          </p:cNvSpPr>
          <p:nvPr/>
        </p:nvSpPr>
        <p:spPr bwMode="auto">
          <a:xfrm>
            <a:off x="4140200" y="4311650"/>
            <a:ext cx="215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7446" name="TextBox 129"/>
          <p:cNvSpPr txBox="1">
            <a:spLocks noChangeArrowheads="1"/>
          </p:cNvSpPr>
          <p:nvPr/>
        </p:nvSpPr>
        <p:spPr bwMode="auto">
          <a:xfrm>
            <a:off x="2097088" y="199548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17447" name="TextBox 7"/>
          <p:cNvSpPr txBox="1">
            <a:spLocks noChangeArrowheads="1"/>
          </p:cNvSpPr>
          <p:nvPr/>
        </p:nvSpPr>
        <p:spPr bwMode="auto">
          <a:xfrm>
            <a:off x="8874125" y="431958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7448" name="TextBox 129"/>
          <p:cNvSpPr txBox="1">
            <a:spLocks noChangeArrowheads="1"/>
          </p:cNvSpPr>
          <p:nvPr/>
        </p:nvSpPr>
        <p:spPr bwMode="auto">
          <a:xfrm>
            <a:off x="6859588" y="197961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grpSp>
        <p:nvGrpSpPr>
          <p:cNvPr id="73" name="Group 72"/>
          <p:cNvGrpSpPr>
            <a:grpSpLocks/>
          </p:cNvGrpSpPr>
          <p:nvPr/>
        </p:nvGrpSpPr>
        <p:grpSpPr bwMode="auto">
          <a:xfrm rot="5400000">
            <a:off x="2789238" y="1514475"/>
            <a:ext cx="369888" cy="5799137"/>
            <a:chOff x="1857363" y="125316"/>
            <a:chExt cx="229104" cy="5271428"/>
          </a:xfrm>
        </p:grpSpPr>
        <p:cxnSp>
          <p:nvCxnSpPr>
            <p:cNvPr id="74" name="Straight Connector 73"/>
            <p:cNvCxnSpPr/>
            <p:nvPr/>
          </p:nvCxnSpPr>
          <p:spPr>
            <a:xfrm>
              <a:off x="2020587" y="1501977"/>
              <a:ext cx="0" cy="3890438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61" name="TextBox 1"/>
            <p:cNvSpPr txBox="1">
              <a:spLocks noChangeArrowheads="1"/>
            </p:cNvSpPr>
            <p:nvPr/>
          </p:nvSpPr>
          <p:spPr bwMode="auto">
            <a:xfrm rot="-5400000">
              <a:off x="1241092" y="741587"/>
              <a:ext cx="1461645" cy="229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x-axis</a:t>
              </a:r>
            </a:p>
          </p:txBody>
        </p:sp>
      </p:grpSp>
      <p:sp>
        <p:nvSpPr>
          <p:cNvPr id="14" name="Freeform 13"/>
          <p:cNvSpPr/>
          <p:nvPr/>
        </p:nvSpPr>
        <p:spPr>
          <a:xfrm>
            <a:off x="2484438" y="3535363"/>
            <a:ext cx="722312" cy="941387"/>
          </a:xfrm>
          <a:custGeom>
            <a:avLst/>
            <a:gdLst>
              <a:gd name="connsiteX0" fmla="*/ 709683 w 723331"/>
              <a:gd name="connsiteY0" fmla="*/ 941696 h 941696"/>
              <a:gd name="connsiteX1" fmla="*/ 0 w 723331"/>
              <a:gd name="connsiteY1" fmla="*/ 723331 h 941696"/>
              <a:gd name="connsiteX2" fmla="*/ 723331 w 723331"/>
              <a:gd name="connsiteY2" fmla="*/ 0 h 941696"/>
              <a:gd name="connsiteX3" fmla="*/ 709683 w 723331"/>
              <a:gd name="connsiteY3" fmla="*/ 941696 h 941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331" h="941696">
                <a:moveTo>
                  <a:pt x="709683" y="941696"/>
                </a:moveTo>
                <a:lnTo>
                  <a:pt x="0" y="723331"/>
                </a:lnTo>
                <a:lnTo>
                  <a:pt x="723331" y="0"/>
                </a:lnTo>
                <a:lnTo>
                  <a:pt x="709683" y="941696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6129338" y="5480050"/>
            <a:ext cx="471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/>
              <a:t>x</a:t>
            </a:r>
          </a:p>
        </p:txBody>
      </p:sp>
      <p:sp>
        <p:nvSpPr>
          <p:cNvPr id="77" name="TextBox 76"/>
          <p:cNvSpPr txBox="1">
            <a:spLocks noChangeArrowheads="1"/>
          </p:cNvSpPr>
          <p:nvPr/>
        </p:nvSpPr>
        <p:spPr bwMode="auto">
          <a:xfrm>
            <a:off x="5895975" y="4292600"/>
            <a:ext cx="471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/>
              <a:t>x</a:t>
            </a:r>
          </a:p>
        </p:txBody>
      </p:sp>
      <p:sp>
        <p:nvSpPr>
          <p:cNvPr id="78" name="TextBox 77"/>
          <p:cNvSpPr txBox="1">
            <a:spLocks noChangeArrowheads="1"/>
          </p:cNvSpPr>
          <p:nvPr/>
        </p:nvSpPr>
        <p:spPr bwMode="auto">
          <a:xfrm>
            <a:off x="6376988" y="4522788"/>
            <a:ext cx="471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/>
              <a:t>x</a:t>
            </a:r>
          </a:p>
        </p:txBody>
      </p:sp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6850063" y="5251450"/>
            <a:ext cx="4714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/>
              <a:t>x</a:t>
            </a:r>
          </a:p>
        </p:txBody>
      </p:sp>
      <p:sp>
        <p:nvSpPr>
          <p:cNvPr id="15" name="Freeform 14"/>
          <p:cNvSpPr/>
          <p:nvPr/>
        </p:nvSpPr>
        <p:spPr>
          <a:xfrm>
            <a:off x="6059488" y="4489450"/>
            <a:ext cx="968375" cy="1201738"/>
          </a:xfrm>
          <a:custGeom>
            <a:avLst/>
            <a:gdLst>
              <a:gd name="connsiteX0" fmla="*/ 218364 w 968991"/>
              <a:gd name="connsiteY0" fmla="*/ 1201003 h 1201003"/>
              <a:gd name="connsiteX1" fmla="*/ 0 w 968991"/>
              <a:gd name="connsiteY1" fmla="*/ 0 h 1201003"/>
              <a:gd name="connsiteX2" fmla="*/ 477672 w 968991"/>
              <a:gd name="connsiteY2" fmla="*/ 245660 h 1201003"/>
              <a:gd name="connsiteX3" fmla="*/ 968991 w 968991"/>
              <a:gd name="connsiteY3" fmla="*/ 968991 h 1201003"/>
              <a:gd name="connsiteX4" fmla="*/ 218364 w 968991"/>
              <a:gd name="connsiteY4" fmla="*/ 1201003 h 120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8991" h="1201003">
                <a:moveTo>
                  <a:pt x="218364" y="1201003"/>
                </a:moveTo>
                <a:lnTo>
                  <a:pt x="0" y="0"/>
                </a:lnTo>
                <a:lnTo>
                  <a:pt x="477672" y="245660"/>
                </a:lnTo>
                <a:lnTo>
                  <a:pt x="968991" y="968991"/>
                </a:lnTo>
                <a:lnTo>
                  <a:pt x="218364" y="120100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80" name="Group 79"/>
          <p:cNvGrpSpPr>
            <a:grpSpLocks/>
          </p:cNvGrpSpPr>
          <p:nvPr/>
        </p:nvGrpSpPr>
        <p:grpSpPr bwMode="auto">
          <a:xfrm rot="5400000">
            <a:off x="7183438" y="2473325"/>
            <a:ext cx="369887" cy="4748213"/>
            <a:chOff x="1976233" y="649896"/>
            <a:chExt cx="304937" cy="4746848"/>
          </a:xfrm>
        </p:grpSpPr>
        <p:cxnSp>
          <p:nvCxnSpPr>
            <p:cNvPr id="81" name="Straight Connector 80"/>
            <p:cNvCxnSpPr/>
            <p:nvPr/>
          </p:nvCxnSpPr>
          <p:spPr>
            <a:xfrm>
              <a:off x="2020730" y="1506899"/>
              <a:ext cx="0" cy="3889844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59" name="TextBox 1"/>
            <p:cNvSpPr txBox="1">
              <a:spLocks noChangeArrowheads="1"/>
            </p:cNvSpPr>
            <p:nvPr/>
          </p:nvSpPr>
          <p:spPr bwMode="auto">
            <a:xfrm rot="-5400000">
              <a:off x="1397879" y="1228250"/>
              <a:ext cx="1461645" cy="304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y = -1</a:t>
              </a:r>
            </a:p>
          </p:txBody>
        </p:sp>
      </p:grpSp>
      <p:sp>
        <p:nvSpPr>
          <p:cNvPr id="16" name="Freeform 15"/>
          <p:cNvSpPr/>
          <p:nvPr/>
        </p:nvSpPr>
        <p:spPr>
          <a:xfrm>
            <a:off x="6045200" y="3767138"/>
            <a:ext cx="969963" cy="1200150"/>
          </a:xfrm>
          <a:custGeom>
            <a:avLst/>
            <a:gdLst>
              <a:gd name="connsiteX0" fmla="*/ 0 w 968991"/>
              <a:gd name="connsiteY0" fmla="*/ 1201003 h 1201003"/>
              <a:gd name="connsiteX1" fmla="*/ 491320 w 968991"/>
              <a:gd name="connsiteY1" fmla="*/ 941696 h 1201003"/>
              <a:gd name="connsiteX2" fmla="*/ 968991 w 968991"/>
              <a:gd name="connsiteY2" fmla="*/ 245660 h 1201003"/>
              <a:gd name="connsiteX3" fmla="*/ 245660 w 968991"/>
              <a:gd name="connsiteY3" fmla="*/ 0 h 1201003"/>
              <a:gd name="connsiteX4" fmla="*/ 0 w 968991"/>
              <a:gd name="connsiteY4" fmla="*/ 1201003 h 120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8991" h="1201003">
                <a:moveTo>
                  <a:pt x="0" y="1201003"/>
                </a:moveTo>
                <a:lnTo>
                  <a:pt x="491320" y="941696"/>
                </a:lnTo>
                <a:lnTo>
                  <a:pt x="968991" y="245660"/>
                </a:lnTo>
                <a:lnTo>
                  <a:pt x="245660" y="0"/>
                </a:lnTo>
                <a:lnTo>
                  <a:pt x="0" y="1201003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3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3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9" grpId="0"/>
      <p:bldP spid="63" grpId="0"/>
      <p:bldP spid="76" grpId="0"/>
      <p:bldP spid="77" grpId="0"/>
      <p:bldP spid="78" grpId="0"/>
      <p:bldP spid="7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18453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18454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8457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solidFill>
                  <a:srgbClr val="000000"/>
                </a:solidFill>
                <a:latin typeface="Comic Sans MS" pitchFamily="66" charset="0"/>
              </a:rPr>
              <a:t>REFLECTIONS</a:t>
            </a:r>
          </a:p>
          <a:p>
            <a:endParaRPr lang="en-US" sz="3000" b="1" u="sng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18458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7030A0"/>
                </a:solidFill>
              </a:rPr>
              <a:t>EXTENSION 2 (LEVEL 5)</a:t>
            </a:r>
          </a:p>
        </p:txBody>
      </p:sp>
      <p:sp>
        <p:nvSpPr>
          <p:cNvPr id="18459" name="Rectangle 1"/>
          <p:cNvSpPr>
            <a:spLocks noChangeArrowheads="1"/>
          </p:cNvSpPr>
          <p:nvPr/>
        </p:nvSpPr>
        <p:spPr bwMode="auto">
          <a:xfrm>
            <a:off x="-74613" y="1309688"/>
            <a:ext cx="542926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7030A0"/>
                </a:solidFill>
              </a:rPr>
              <a:t>3) </a:t>
            </a:r>
            <a:endParaRPr lang="en-GB">
              <a:solidFill>
                <a:srgbClr val="7030A0"/>
              </a:solidFill>
            </a:endParaRPr>
          </a:p>
        </p:txBody>
      </p:sp>
      <p:pic>
        <p:nvPicPr>
          <p:cNvPr id="184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8" y="2332038"/>
            <a:ext cx="4302125" cy="383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18461" name="Rectangle 1"/>
          <p:cNvSpPr>
            <a:spLocks noChangeArrowheads="1"/>
          </p:cNvSpPr>
          <p:nvPr/>
        </p:nvSpPr>
        <p:spPr bwMode="auto">
          <a:xfrm>
            <a:off x="4532313" y="1309688"/>
            <a:ext cx="5445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7030A0"/>
                </a:solidFill>
              </a:rPr>
              <a:t>4) </a:t>
            </a:r>
            <a:endParaRPr lang="en-GB">
              <a:solidFill>
                <a:srgbClr val="7030A0"/>
              </a:solidFill>
            </a:endParaRPr>
          </a:p>
        </p:txBody>
      </p:sp>
      <p:pic>
        <p:nvPicPr>
          <p:cNvPr id="1846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263" y="2330450"/>
            <a:ext cx="4303712" cy="383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18463" name="TextBox 1"/>
          <p:cNvSpPr txBox="1">
            <a:spLocks noChangeArrowheads="1"/>
          </p:cNvSpPr>
          <p:nvPr/>
        </p:nvSpPr>
        <p:spPr bwMode="auto">
          <a:xfrm>
            <a:off x="255588" y="1376363"/>
            <a:ext cx="42767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Reflect the shape made by the co-ordinates (2,2), (2,5), (3,2) in the </a:t>
            </a:r>
          </a:p>
          <a:p>
            <a:pPr eaLnBrk="1" hangingPunct="1"/>
            <a:r>
              <a:rPr lang="en-US"/>
              <a:t>line x = 3.</a:t>
            </a:r>
          </a:p>
        </p:txBody>
      </p:sp>
      <p:sp>
        <p:nvSpPr>
          <p:cNvPr id="18464" name="TextBox 56"/>
          <p:cNvSpPr txBox="1">
            <a:spLocks noChangeArrowheads="1"/>
          </p:cNvSpPr>
          <p:nvPr/>
        </p:nvSpPr>
        <p:spPr bwMode="auto">
          <a:xfrm>
            <a:off x="4830763" y="1368425"/>
            <a:ext cx="4278312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Reflect the shape made by the co-ordinates (-3,-1), (-3,2), (-1,3), (1,1) in the line x = -1.</a:t>
            </a:r>
          </a:p>
        </p:txBody>
      </p:sp>
      <p:sp>
        <p:nvSpPr>
          <p:cNvPr id="18465" name="TextBox 7"/>
          <p:cNvSpPr txBox="1">
            <a:spLocks noChangeArrowheads="1"/>
          </p:cNvSpPr>
          <p:nvPr/>
        </p:nvSpPr>
        <p:spPr bwMode="auto">
          <a:xfrm>
            <a:off x="4140200" y="4311650"/>
            <a:ext cx="215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8466" name="TextBox 129"/>
          <p:cNvSpPr txBox="1">
            <a:spLocks noChangeArrowheads="1"/>
          </p:cNvSpPr>
          <p:nvPr/>
        </p:nvSpPr>
        <p:spPr bwMode="auto">
          <a:xfrm>
            <a:off x="2097088" y="199548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18467" name="TextBox 7"/>
          <p:cNvSpPr txBox="1">
            <a:spLocks noChangeArrowheads="1"/>
          </p:cNvSpPr>
          <p:nvPr/>
        </p:nvSpPr>
        <p:spPr bwMode="auto">
          <a:xfrm>
            <a:off x="8874125" y="431958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8468" name="TextBox 129"/>
          <p:cNvSpPr txBox="1">
            <a:spLocks noChangeArrowheads="1"/>
          </p:cNvSpPr>
          <p:nvPr/>
        </p:nvSpPr>
        <p:spPr bwMode="auto">
          <a:xfrm>
            <a:off x="6859588" y="197961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573338" y="3816350"/>
            <a:ext cx="471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/>
              <a:t>x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2570163" y="3095625"/>
            <a:ext cx="469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/>
              <a:t>x</a:t>
            </a: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2798763" y="3816350"/>
            <a:ext cx="471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/>
              <a:t>x</a:t>
            </a:r>
          </a:p>
        </p:txBody>
      </p:sp>
      <p:sp>
        <p:nvSpPr>
          <p:cNvPr id="3" name="Freeform 2"/>
          <p:cNvSpPr/>
          <p:nvPr/>
        </p:nvSpPr>
        <p:spPr>
          <a:xfrm>
            <a:off x="2716213" y="3289300"/>
            <a:ext cx="246062" cy="736600"/>
          </a:xfrm>
          <a:custGeom>
            <a:avLst/>
            <a:gdLst>
              <a:gd name="connsiteX0" fmla="*/ 0 w 245660"/>
              <a:gd name="connsiteY0" fmla="*/ 0 h 736980"/>
              <a:gd name="connsiteX1" fmla="*/ 13648 w 245660"/>
              <a:gd name="connsiteY1" fmla="*/ 736980 h 736980"/>
              <a:gd name="connsiteX2" fmla="*/ 245660 w 245660"/>
              <a:gd name="connsiteY2" fmla="*/ 736980 h 736980"/>
              <a:gd name="connsiteX3" fmla="*/ 0 w 245660"/>
              <a:gd name="connsiteY3" fmla="*/ 0 h 736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5660" h="736980">
                <a:moveTo>
                  <a:pt x="0" y="0"/>
                </a:moveTo>
                <a:lnTo>
                  <a:pt x="13648" y="736980"/>
                </a:lnTo>
                <a:lnTo>
                  <a:pt x="245660" y="73698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30" name="Group 29"/>
          <p:cNvGrpSpPr>
            <a:grpSpLocks/>
          </p:cNvGrpSpPr>
          <p:nvPr/>
        </p:nvGrpSpPr>
        <p:grpSpPr bwMode="auto">
          <a:xfrm>
            <a:off x="2928938" y="2060575"/>
            <a:ext cx="998537" cy="4108450"/>
            <a:chOff x="1990252" y="1289174"/>
            <a:chExt cx="997572" cy="4107570"/>
          </a:xfrm>
        </p:grpSpPr>
        <p:cxnSp>
          <p:nvCxnSpPr>
            <p:cNvPr id="31" name="Straight Connector 30"/>
            <p:cNvCxnSpPr/>
            <p:nvPr/>
          </p:nvCxnSpPr>
          <p:spPr>
            <a:xfrm>
              <a:off x="2020385" y="1506615"/>
              <a:ext cx="0" cy="3890129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85" name="TextBox 1"/>
            <p:cNvSpPr txBox="1">
              <a:spLocks noChangeArrowheads="1"/>
            </p:cNvSpPr>
            <p:nvPr/>
          </p:nvSpPr>
          <p:spPr bwMode="auto">
            <a:xfrm>
              <a:off x="1990252" y="1289174"/>
              <a:ext cx="997572" cy="369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x = 3</a:t>
              </a:r>
            </a:p>
          </p:txBody>
        </p:sp>
      </p:grpSp>
      <p:sp>
        <p:nvSpPr>
          <p:cNvPr id="4" name="Freeform 3"/>
          <p:cNvSpPr/>
          <p:nvPr/>
        </p:nvSpPr>
        <p:spPr>
          <a:xfrm>
            <a:off x="2962275" y="3289300"/>
            <a:ext cx="231775" cy="736600"/>
          </a:xfrm>
          <a:custGeom>
            <a:avLst/>
            <a:gdLst>
              <a:gd name="connsiteX0" fmla="*/ 0 w 232012"/>
              <a:gd name="connsiteY0" fmla="*/ 736980 h 736980"/>
              <a:gd name="connsiteX1" fmla="*/ 232012 w 232012"/>
              <a:gd name="connsiteY1" fmla="*/ 0 h 736980"/>
              <a:gd name="connsiteX2" fmla="*/ 232012 w 232012"/>
              <a:gd name="connsiteY2" fmla="*/ 736980 h 736980"/>
              <a:gd name="connsiteX3" fmla="*/ 0 w 232012"/>
              <a:gd name="connsiteY3" fmla="*/ 736980 h 736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12" h="736980">
                <a:moveTo>
                  <a:pt x="0" y="736980"/>
                </a:moveTo>
                <a:lnTo>
                  <a:pt x="232012" y="0"/>
                </a:lnTo>
                <a:lnTo>
                  <a:pt x="232012" y="736980"/>
                </a:lnTo>
                <a:lnTo>
                  <a:pt x="0" y="73698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6129338" y="4522788"/>
            <a:ext cx="471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/>
              <a:t>x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6129338" y="3821113"/>
            <a:ext cx="4714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/>
              <a:t>x</a:t>
            </a: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607175" y="3573463"/>
            <a:ext cx="4714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/>
              <a:t>x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7092950" y="4064000"/>
            <a:ext cx="469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/>
              <a:t>x</a:t>
            </a:r>
          </a:p>
        </p:txBody>
      </p:sp>
      <p:sp>
        <p:nvSpPr>
          <p:cNvPr id="5" name="Freeform 4"/>
          <p:cNvSpPr/>
          <p:nvPr/>
        </p:nvSpPr>
        <p:spPr>
          <a:xfrm>
            <a:off x="6278563" y="3779838"/>
            <a:ext cx="968375" cy="942975"/>
          </a:xfrm>
          <a:custGeom>
            <a:avLst/>
            <a:gdLst>
              <a:gd name="connsiteX0" fmla="*/ 0 w 968991"/>
              <a:gd name="connsiteY0" fmla="*/ 941695 h 941695"/>
              <a:gd name="connsiteX1" fmla="*/ 0 w 968991"/>
              <a:gd name="connsiteY1" fmla="*/ 245660 h 941695"/>
              <a:gd name="connsiteX2" fmla="*/ 491320 w 968991"/>
              <a:gd name="connsiteY2" fmla="*/ 0 h 941695"/>
              <a:gd name="connsiteX3" fmla="*/ 968991 w 968991"/>
              <a:gd name="connsiteY3" fmla="*/ 477671 h 941695"/>
              <a:gd name="connsiteX4" fmla="*/ 0 w 968991"/>
              <a:gd name="connsiteY4" fmla="*/ 941695 h 94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8991" h="941695">
                <a:moveTo>
                  <a:pt x="0" y="941695"/>
                </a:moveTo>
                <a:lnTo>
                  <a:pt x="0" y="245660"/>
                </a:lnTo>
                <a:lnTo>
                  <a:pt x="491320" y="0"/>
                </a:lnTo>
                <a:lnTo>
                  <a:pt x="968991" y="477671"/>
                </a:lnTo>
                <a:lnTo>
                  <a:pt x="0" y="94169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39" name="Group 38"/>
          <p:cNvGrpSpPr>
            <a:grpSpLocks/>
          </p:cNvGrpSpPr>
          <p:nvPr/>
        </p:nvGrpSpPr>
        <p:grpSpPr bwMode="auto">
          <a:xfrm>
            <a:off x="6742113" y="2060575"/>
            <a:ext cx="998537" cy="4108450"/>
            <a:chOff x="1990252" y="1289174"/>
            <a:chExt cx="997572" cy="4107570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2020385" y="1506615"/>
              <a:ext cx="0" cy="3890129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83" name="TextBox 1"/>
            <p:cNvSpPr txBox="1">
              <a:spLocks noChangeArrowheads="1"/>
            </p:cNvSpPr>
            <p:nvPr/>
          </p:nvSpPr>
          <p:spPr bwMode="auto">
            <a:xfrm>
              <a:off x="1990252" y="1289174"/>
              <a:ext cx="997572" cy="369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x = -1</a:t>
              </a:r>
            </a:p>
          </p:txBody>
        </p:sp>
      </p:grpSp>
      <p:sp>
        <p:nvSpPr>
          <p:cNvPr id="7" name="Freeform 6"/>
          <p:cNvSpPr/>
          <p:nvPr/>
        </p:nvSpPr>
        <p:spPr>
          <a:xfrm>
            <a:off x="6278563" y="3752850"/>
            <a:ext cx="968375" cy="982663"/>
          </a:xfrm>
          <a:custGeom>
            <a:avLst/>
            <a:gdLst>
              <a:gd name="connsiteX0" fmla="*/ 477672 w 968991"/>
              <a:gd name="connsiteY0" fmla="*/ 0 h 982639"/>
              <a:gd name="connsiteX1" fmla="*/ 968991 w 968991"/>
              <a:gd name="connsiteY1" fmla="*/ 259308 h 982639"/>
              <a:gd name="connsiteX2" fmla="*/ 968991 w 968991"/>
              <a:gd name="connsiteY2" fmla="*/ 982639 h 982639"/>
              <a:gd name="connsiteX3" fmla="*/ 0 w 968991"/>
              <a:gd name="connsiteY3" fmla="*/ 504967 h 982639"/>
              <a:gd name="connsiteX4" fmla="*/ 477672 w 968991"/>
              <a:gd name="connsiteY4" fmla="*/ 0 h 982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8991" h="982639">
                <a:moveTo>
                  <a:pt x="477672" y="0"/>
                </a:moveTo>
                <a:lnTo>
                  <a:pt x="968991" y="259308"/>
                </a:lnTo>
                <a:lnTo>
                  <a:pt x="968991" y="982639"/>
                </a:lnTo>
                <a:lnTo>
                  <a:pt x="0" y="504967"/>
                </a:lnTo>
                <a:lnTo>
                  <a:pt x="477672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3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3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34" grpId="0"/>
      <p:bldP spid="35" grpId="0"/>
      <p:bldP spid="36" grpId="0"/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652588"/>
            <a:ext cx="4027488" cy="358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59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19478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19479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9482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solidFill>
                  <a:srgbClr val="000000"/>
                </a:solidFill>
                <a:latin typeface="Comic Sans MS" pitchFamily="66" charset="0"/>
              </a:rPr>
              <a:t>REFLECTIONS</a:t>
            </a:r>
          </a:p>
          <a:p>
            <a:endParaRPr lang="en-US" sz="3000" b="1" u="sng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19483" name="Text Box 40"/>
          <p:cNvSpPr txBox="1">
            <a:spLocks noChangeArrowheads="1"/>
          </p:cNvSpPr>
          <p:nvPr/>
        </p:nvSpPr>
        <p:spPr bwMode="auto">
          <a:xfrm>
            <a:off x="9525" y="965200"/>
            <a:ext cx="2362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800" b="1" u="sng">
                <a:solidFill>
                  <a:srgbClr val="FF0000"/>
                </a:solidFill>
              </a:rPr>
              <a:t>EXAMPLES</a:t>
            </a:r>
          </a:p>
        </p:txBody>
      </p:sp>
      <p:sp>
        <p:nvSpPr>
          <p:cNvPr id="19484" name="Text Box 37"/>
          <p:cNvSpPr txBox="1">
            <a:spLocks noChangeArrowheads="1"/>
          </p:cNvSpPr>
          <p:nvPr/>
        </p:nvSpPr>
        <p:spPr bwMode="auto">
          <a:xfrm>
            <a:off x="28575" y="5445125"/>
            <a:ext cx="431482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Describe the transformation that maps A to B</a:t>
            </a:r>
          </a:p>
        </p:txBody>
      </p:sp>
      <p:pic>
        <p:nvPicPr>
          <p:cNvPr id="19485" name="Picture 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9038" y="1658938"/>
            <a:ext cx="4024312" cy="358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86" name="Rectangle 1"/>
          <p:cNvSpPr>
            <a:spLocks noChangeArrowheads="1"/>
          </p:cNvSpPr>
          <p:nvPr/>
        </p:nvSpPr>
        <p:spPr bwMode="auto">
          <a:xfrm>
            <a:off x="-66675" y="1522413"/>
            <a:ext cx="5445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5)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9487" name="Rectangle 157"/>
          <p:cNvSpPr>
            <a:spLocks noChangeArrowheads="1"/>
          </p:cNvSpPr>
          <p:nvPr/>
        </p:nvSpPr>
        <p:spPr bwMode="auto">
          <a:xfrm>
            <a:off x="4521200" y="1509713"/>
            <a:ext cx="5445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6)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39" name="L-Shape 38"/>
          <p:cNvSpPr/>
          <p:nvPr/>
        </p:nvSpPr>
        <p:spPr>
          <a:xfrm>
            <a:off x="2927350" y="1874838"/>
            <a:ext cx="442913" cy="903287"/>
          </a:xfrm>
          <a:prstGeom prst="corner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40" name="L-Shape 39"/>
          <p:cNvSpPr/>
          <p:nvPr/>
        </p:nvSpPr>
        <p:spPr>
          <a:xfrm rot="10800000" flipH="1">
            <a:off x="2935288" y="3208338"/>
            <a:ext cx="434975" cy="903287"/>
          </a:xfrm>
          <a:prstGeom prst="corner">
            <a:avLst>
              <a:gd name="adj1" fmla="val 53183"/>
              <a:gd name="adj2" fmla="val 50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44" name="Cross 43"/>
          <p:cNvSpPr/>
          <p:nvPr/>
        </p:nvSpPr>
        <p:spPr>
          <a:xfrm>
            <a:off x="5751513" y="2552700"/>
            <a:ext cx="863600" cy="903288"/>
          </a:xfrm>
          <a:prstGeom prst="plu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45" name="Cross 44"/>
          <p:cNvSpPr/>
          <p:nvPr/>
        </p:nvSpPr>
        <p:spPr bwMode="auto">
          <a:xfrm>
            <a:off x="7078663" y="3905250"/>
            <a:ext cx="865187" cy="903288"/>
          </a:xfrm>
          <a:prstGeom prst="plus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19492" name="TextBox 29"/>
          <p:cNvSpPr txBox="1">
            <a:spLocks noChangeArrowheads="1"/>
          </p:cNvSpPr>
          <p:nvPr/>
        </p:nvSpPr>
        <p:spPr bwMode="auto">
          <a:xfrm>
            <a:off x="4013200" y="3508375"/>
            <a:ext cx="215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9493" name="TextBox 30"/>
          <p:cNvSpPr txBox="1">
            <a:spLocks noChangeArrowheads="1"/>
          </p:cNvSpPr>
          <p:nvPr/>
        </p:nvSpPr>
        <p:spPr bwMode="auto">
          <a:xfrm>
            <a:off x="2209800" y="1504950"/>
            <a:ext cx="215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19494" name="TextBox 31"/>
          <p:cNvSpPr txBox="1">
            <a:spLocks noChangeArrowheads="1"/>
          </p:cNvSpPr>
          <p:nvPr/>
        </p:nvSpPr>
        <p:spPr bwMode="auto">
          <a:xfrm>
            <a:off x="8621713" y="3532188"/>
            <a:ext cx="217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19495" name="TextBox 32"/>
          <p:cNvSpPr txBox="1">
            <a:spLocks noChangeArrowheads="1"/>
          </p:cNvSpPr>
          <p:nvPr/>
        </p:nvSpPr>
        <p:spPr bwMode="auto">
          <a:xfrm>
            <a:off x="6818313" y="152876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19496" name="Text Box 37"/>
          <p:cNvSpPr txBox="1">
            <a:spLocks noChangeArrowheads="1"/>
          </p:cNvSpPr>
          <p:nvPr/>
        </p:nvSpPr>
        <p:spPr bwMode="auto">
          <a:xfrm>
            <a:off x="4716463" y="5459413"/>
            <a:ext cx="4314825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Describe the transformation that maps A to B</a:t>
            </a:r>
          </a:p>
        </p:txBody>
      </p:sp>
      <p:grpSp>
        <p:nvGrpSpPr>
          <p:cNvPr id="35" name="Group 34"/>
          <p:cNvGrpSpPr>
            <a:grpSpLocks/>
          </p:cNvGrpSpPr>
          <p:nvPr/>
        </p:nvGrpSpPr>
        <p:grpSpPr bwMode="auto">
          <a:xfrm rot="5400000">
            <a:off x="2491582" y="843756"/>
            <a:ext cx="369888" cy="4308475"/>
            <a:chOff x="1781853" y="657729"/>
            <a:chExt cx="483919" cy="4739015"/>
          </a:xfrm>
        </p:grpSpPr>
        <p:cxnSp>
          <p:nvCxnSpPr>
            <p:cNvPr id="36" name="Straight Connector 35"/>
            <p:cNvCxnSpPr/>
            <p:nvPr/>
          </p:nvCxnSpPr>
          <p:spPr>
            <a:xfrm>
              <a:off x="2020698" y="1506352"/>
              <a:ext cx="0" cy="3890393"/>
            </a:xfrm>
            <a:prstGeom prst="line">
              <a:avLst/>
            </a:prstGeom>
            <a:ln w="3810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08" name="TextBox 36"/>
            <p:cNvSpPr txBox="1">
              <a:spLocks noChangeArrowheads="1"/>
            </p:cNvSpPr>
            <p:nvPr/>
          </p:nvSpPr>
          <p:spPr bwMode="auto">
            <a:xfrm rot="-5400000">
              <a:off x="1570371" y="869211"/>
              <a:ext cx="906884" cy="483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660066"/>
                  </a:solidFill>
                </a:rPr>
                <a:t>y = 3</a:t>
              </a:r>
            </a:p>
          </p:txBody>
        </p:sp>
      </p:grp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06388" y="6137275"/>
            <a:ext cx="41306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000000"/>
                </a:solidFill>
              </a:rPr>
              <a:t>A </a:t>
            </a:r>
            <a:r>
              <a:rPr lang="en-US" sz="2400" b="1">
                <a:solidFill>
                  <a:srgbClr val="FF0000"/>
                </a:solidFill>
              </a:rPr>
              <a:t>reflection</a:t>
            </a:r>
            <a:r>
              <a:rPr lang="en-US" sz="2400">
                <a:solidFill>
                  <a:srgbClr val="000000"/>
                </a:solidFill>
              </a:rPr>
              <a:t> in the line </a:t>
            </a:r>
            <a:r>
              <a:rPr lang="en-US" sz="2400" b="1">
                <a:solidFill>
                  <a:srgbClr val="FF0000"/>
                </a:solidFill>
              </a:rPr>
              <a:t>y = 3</a:t>
            </a: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5219700" y="1597025"/>
            <a:ext cx="4024313" cy="3673475"/>
            <a:chOff x="5220072" y="1597066"/>
            <a:chExt cx="4023624" cy="3673411"/>
          </a:xfrm>
        </p:grpSpPr>
        <p:cxnSp>
          <p:nvCxnSpPr>
            <p:cNvPr id="48" name="Straight Connector 47"/>
            <p:cNvCxnSpPr/>
            <p:nvPr/>
          </p:nvCxnSpPr>
          <p:spPr>
            <a:xfrm flipH="1">
              <a:off x="5220072" y="1898686"/>
              <a:ext cx="3401431" cy="3371791"/>
            </a:xfrm>
            <a:prstGeom prst="line">
              <a:avLst/>
            </a:prstGeom>
            <a:ln w="38100">
              <a:solidFill>
                <a:srgbClr val="7030A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06" name="TextBox 49"/>
            <p:cNvSpPr txBox="1">
              <a:spLocks noChangeArrowheads="1"/>
            </p:cNvSpPr>
            <p:nvPr/>
          </p:nvSpPr>
          <p:spPr bwMode="auto">
            <a:xfrm>
              <a:off x="8343219" y="1597066"/>
              <a:ext cx="9004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660066"/>
                  </a:solidFill>
                </a:rPr>
                <a:t>y = x</a:t>
              </a:r>
            </a:p>
          </p:txBody>
        </p:sp>
      </p:grp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4919663" y="6137275"/>
            <a:ext cx="41306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000000"/>
                </a:solidFill>
              </a:rPr>
              <a:t>A </a:t>
            </a:r>
            <a:r>
              <a:rPr lang="en-US" sz="2400" b="1">
                <a:solidFill>
                  <a:srgbClr val="FF0000"/>
                </a:solidFill>
              </a:rPr>
              <a:t>reflection</a:t>
            </a:r>
            <a:r>
              <a:rPr lang="en-US" sz="2400">
                <a:solidFill>
                  <a:srgbClr val="000000"/>
                </a:solidFill>
              </a:rPr>
              <a:t> in the line </a:t>
            </a:r>
            <a:r>
              <a:rPr lang="en-US" sz="2400" b="1">
                <a:solidFill>
                  <a:srgbClr val="FF0000"/>
                </a:solidFill>
              </a:rPr>
              <a:t>y = x</a:t>
            </a:r>
          </a:p>
        </p:txBody>
      </p:sp>
      <p:sp>
        <p:nvSpPr>
          <p:cNvPr id="19501" name="TextBox 2"/>
          <p:cNvSpPr txBox="1">
            <a:spLocks noChangeArrowheads="1"/>
          </p:cNvSpPr>
          <p:nvPr/>
        </p:nvSpPr>
        <p:spPr bwMode="auto">
          <a:xfrm>
            <a:off x="2889250" y="2170113"/>
            <a:ext cx="287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b="1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9502" name="TextBox 41"/>
          <p:cNvSpPr txBox="1">
            <a:spLocks noChangeArrowheads="1"/>
          </p:cNvSpPr>
          <p:nvPr/>
        </p:nvSpPr>
        <p:spPr bwMode="auto">
          <a:xfrm>
            <a:off x="2874963" y="3343275"/>
            <a:ext cx="287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b="1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9503" name="TextBox 42"/>
          <p:cNvSpPr txBox="1">
            <a:spLocks noChangeArrowheads="1"/>
          </p:cNvSpPr>
          <p:nvPr/>
        </p:nvSpPr>
        <p:spPr bwMode="auto">
          <a:xfrm>
            <a:off x="6026150" y="2830513"/>
            <a:ext cx="2873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b="1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9504" name="TextBox 45"/>
          <p:cNvSpPr txBox="1">
            <a:spLocks noChangeArrowheads="1"/>
          </p:cNvSpPr>
          <p:nvPr/>
        </p:nvSpPr>
        <p:spPr bwMode="auto">
          <a:xfrm>
            <a:off x="7353300" y="4152900"/>
            <a:ext cx="288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GB" b="1">
                <a:solidFill>
                  <a:srgbClr val="000000"/>
                </a:solidFill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4103688"/>
            <a:ext cx="3190875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2048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8" y="4184650"/>
            <a:ext cx="3186112" cy="2547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20484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963" y="1412875"/>
            <a:ext cx="3186112" cy="25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20485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20504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20505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20508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solidFill>
                  <a:srgbClr val="000000"/>
                </a:solidFill>
                <a:latin typeface="Comic Sans MS" pitchFamily="66" charset="0"/>
              </a:rPr>
              <a:t>REFLECTIONS</a:t>
            </a:r>
          </a:p>
          <a:p>
            <a:endParaRPr lang="en-US" sz="3000" b="1" u="sng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20509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TASK 9 (LEVEL 6)</a:t>
            </a:r>
          </a:p>
        </p:txBody>
      </p:sp>
      <p:sp>
        <p:nvSpPr>
          <p:cNvPr id="20510" name="Rectangle 1"/>
          <p:cNvSpPr>
            <a:spLocks noChangeArrowheads="1"/>
          </p:cNvSpPr>
          <p:nvPr/>
        </p:nvSpPr>
        <p:spPr bwMode="auto">
          <a:xfrm>
            <a:off x="-74613" y="1309688"/>
            <a:ext cx="542926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1)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20511" name="Rectangle 1"/>
          <p:cNvSpPr>
            <a:spLocks noChangeArrowheads="1"/>
          </p:cNvSpPr>
          <p:nvPr/>
        </p:nvSpPr>
        <p:spPr bwMode="auto">
          <a:xfrm>
            <a:off x="4394200" y="1311275"/>
            <a:ext cx="544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2)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20512" name="Rectangle 1"/>
          <p:cNvSpPr>
            <a:spLocks noChangeArrowheads="1"/>
          </p:cNvSpPr>
          <p:nvPr/>
        </p:nvSpPr>
        <p:spPr bwMode="auto">
          <a:xfrm>
            <a:off x="-36513" y="4048125"/>
            <a:ext cx="5445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3)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20513" name="Rectangle 1"/>
          <p:cNvSpPr>
            <a:spLocks noChangeArrowheads="1"/>
          </p:cNvSpPr>
          <p:nvPr/>
        </p:nvSpPr>
        <p:spPr bwMode="auto">
          <a:xfrm>
            <a:off x="4440238" y="4048125"/>
            <a:ext cx="5445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4)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20514" name="TextBox 1"/>
          <p:cNvSpPr txBox="1">
            <a:spLocks noChangeArrowheads="1"/>
          </p:cNvSpPr>
          <p:nvPr/>
        </p:nvSpPr>
        <p:spPr bwMode="auto">
          <a:xfrm>
            <a:off x="3128963" y="1628775"/>
            <a:ext cx="1803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000000"/>
                </a:solidFill>
              </a:rPr>
              <a:t>Describe the transformation</a:t>
            </a:r>
          </a:p>
        </p:txBody>
      </p:sp>
      <p:sp>
        <p:nvSpPr>
          <p:cNvPr id="20515" name="TextBox 7"/>
          <p:cNvSpPr txBox="1">
            <a:spLocks noChangeArrowheads="1"/>
          </p:cNvSpPr>
          <p:nvPr/>
        </p:nvSpPr>
        <p:spPr bwMode="auto">
          <a:xfrm>
            <a:off x="3087688" y="2873375"/>
            <a:ext cx="215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20516" name="TextBox 129"/>
          <p:cNvSpPr txBox="1">
            <a:spLocks noChangeArrowheads="1"/>
          </p:cNvSpPr>
          <p:nvPr/>
        </p:nvSpPr>
        <p:spPr bwMode="auto">
          <a:xfrm>
            <a:off x="1749425" y="135731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20517" name="TextBox 7"/>
          <p:cNvSpPr txBox="1">
            <a:spLocks noChangeArrowheads="1"/>
          </p:cNvSpPr>
          <p:nvPr/>
        </p:nvSpPr>
        <p:spPr bwMode="auto">
          <a:xfrm>
            <a:off x="7696200" y="271938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20518" name="TextBox 129"/>
          <p:cNvSpPr txBox="1">
            <a:spLocks noChangeArrowheads="1"/>
          </p:cNvSpPr>
          <p:nvPr/>
        </p:nvSpPr>
        <p:spPr bwMode="auto">
          <a:xfrm>
            <a:off x="6011863" y="125888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20519" name="TextBox 7"/>
          <p:cNvSpPr txBox="1">
            <a:spLocks noChangeArrowheads="1"/>
          </p:cNvSpPr>
          <p:nvPr/>
        </p:nvSpPr>
        <p:spPr bwMode="auto">
          <a:xfrm>
            <a:off x="3236913" y="544036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20520" name="TextBox 129"/>
          <p:cNvSpPr txBox="1">
            <a:spLocks noChangeArrowheads="1"/>
          </p:cNvSpPr>
          <p:nvPr/>
        </p:nvSpPr>
        <p:spPr bwMode="auto">
          <a:xfrm>
            <a:off x="1766888" y="406241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20521" name="TextBox 7"/>
          <p:cNvSpPr txBox="1">
            <a:spLocks noChangeArrowheads="1"/>
          </p:cNvSpPr>
          <p:nvPr/>
        </p:nvSpPr>
        <p:spPr bwMode="auto">
          <a:xfrm>
            <a:off x="7713663" y="542448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20522" name="TextBox 129"/>
          <p:cNvSpPr txBox="1">
            <a:spLocks noChangeArrowheads="1"/>
          </p:cNvSpPr>
          <p:nvPr/>
        </p:nvSpPr>
        <p:spPr bwMode="auto">
          <a:xfrm>
            <a:off x="6243638" y="404653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pic>
        <p:nvPicPr>
          <p:cNvPr id="20523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8" y="1449388"/>
            <a:ext cx="3186112" cy="256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20524" name="TextBox 54"/>
          <p:cNvSpPr txBox="1">
            <a:spLocks noChangeArrowheads="1"/>
          </p:cNvSpPr>
          <p:nvPr/>
        </p:nvSpPr>
        <p:spPr bwMode="auto">
          <a:xfrm>
            <a:off x="7524750" y="1630363"/>
            <a:ext cx="18018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000000"/>
                </a:solidFill>
              </a:rPr>
              <a:t>Describe the transformation</a:t>
            </a:r>
          </a:p>
        </p:txBody>
      </p:sp>
      <p:sp>
        <p:nvSpPr>
          <p:cNvPr id="20525" name="TextBox 55"/>
          <p:cNvSpPr txBox="1">
            <a:spLocks noChangeArrowheads="1"/>
          </p:cNvSpPr>
          <p:nvPr/>
        </p:nvSpPr>
        <p:spPr bwMode="auto">
          <a:xfrm>
            <a:off x="3132138" y="4324350"/>
            <a:ext cx="180181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000000"/>
                </a:solidFill>
              </a:rPr>
              <a:t>Describe the transformation</a:t>
            </a:r>
          </a:p>
        </p:txBody>
      </p:sp>
      <p:sp>
        <p:nvSpPr>
          <p:cNvPr id="20526" name="TextBox 56"/>
          <p:cNvSpPr txBox="1">
            <a:spLocks noChangeArrowheads="1"/>
          </p:cNvSpPr>
          <p:nvPr/>
        </p:nvSpPr>
        <p:spPr bwMode="auto">
          <a:xfrm>
            <a:off x="7513638" y="4325938"/>
            <a:ext cx="18018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000000"/>
                </a:solidFill>
              </a:rPr>
              <a:t>Describe the transformation</a:t>
            </a:r>
          </a:p>
        </p:txBody>
      </p:sp>
      <p:grpSp>
        <p:nvGrpSpPr>
          <p:cNvPr id="58" name="Group 57"/>
          <p:cNvGrpSpPr>
            <a:grpSpLocks/>
          </p:cNvGrpSpPr>
          <p:nvPr/>
        </p:nvGrpSpPr>
        <p:grpSpPr bwMode="auto">
          <a:xfrm>
            <a:off x="1965325" y="1316038"/>
            <a:ext cx="998538" cy="2806700"/>
            <a:chOff x="1990252" y="1289174"/>
            <a:chExt cx="997572" cy="4107570"/>
          </a:xfrm>
        </p:grpSpPr>
        <p:cxnSp>
          <p:nvCxnSpPr>
            <p:cNvPr id="59" name="Straight Connector 58"/>
            <p:cNvCxnSpPr/>
            <p:nvPr/>
          </p:nvCxnSpPr>
          <p:spPr>
            <a:xfrm>
              <a:off x="2020386" y="1507563"/>
              <a:ext cx="0" cy="3889181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42" name="TextBox 1"/>
            <p:cNvSpPr txBox="1">
              <a:spLocks noChangeArrowheads="1"/>
            </p:cNvSpPr>
            <p:nvPr/>
          </p:nvSpPr>
          <p:spPr bwMode="auto">
            <a:xfrm>
              <a:off x="1990252" y="1289174"/>
              <a:ext cx="997572" cy="540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x = 1</a:t>
              </a:r>
            </a:p>
          </p:txBody>
        </p:sp>
      </p:grp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360738" y="3063875"/>
            <a:ext cx="12969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1">
                <a:solidFill>
                  <a:srgbClr val="FF0000"/>
                </a:solidFill>
              </a:rPr>
              <a:t>Reflection in the line x = 1</a:t>
            </a:r>
          </a:p>
        </p:txBody>
      </p:sp>
      <p:grpSp>
        <p:nvGrpSpPr>
          <p:cNvPr id="67" name="Group 66"/>
          <p:cNvGrpSpPr>
            <a:grpSpLocks/>
          </p:cNvGrpSpPr>
          <p:nvPr/>
        </p:nvGrpSpPr>
        <p:grpSpPr bwMode="auto">
          <a:xfrm rot="5400000">
            <a:off x="6350794" y="950119"/>
            <a:ext cx="369888" cy="3454400"/>
            <a:chOff x="1976234" y="801161"/>
            <a:chExt cx="368974" cy="4595583"/>
          </a:xfrm>
        </p:grpSpPr>
        <p:cxnSp>
          <p:nvCxnSpPr>
            <p:cNvPr id="68" name="Straight Connector 67"/>
            <p:cNvCxnSpPr/>
            <p:nvPr/>
          </p:nvCxnSpPr>
          <p:spPr>
            <a:xfrm>
              <a:off x="2020574" y="1506549"/>
              <a:ext cx="0" cy="3890195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40" name="TextBox 1"/>
            <p:cNvSpPr txBox="1">
              <a:spLocks noChangeArrowheads="1"/>
            </p:cNvSpPr>
            <p:nvPr/>
          </p:nvSpPr>
          <p:spPr bwMode="auto">
            <a:xfrm rot="-5400000">
              <a:off x="1429898" y="1347497"/>
              <a:ext cx="1461646" cy="368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y = 2</a:t>
              </a:r>
            </a:p>
          </p:txBody>
        </p:sp>
      </p:grp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7812088" y="3068638"/>
            <a:ext cx="1296987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1">
                <a:solidFill>
                  <a:srgbClr val="FF0000"/>
                </a:solidFill>
              </a:rPr>
              <a:t>Reflection in the line y = 2</a:t>
            </a:r>
          </a:p>
        </p:txBody>
      </p:sp>
      <p:grpSp>
        <p:nvGrpSpPr>
          <p:cNvPr id="73" name="Group 72"/>
          <p:cNvGrpSpPr>
            <a:grpSpLocks/>
          </p:cNvGrpSpPr>
          <p:nvPr/>
        </p:nvGrpSpPr>
        <p:grpSpPr bwMode="auto">
          <a:xfrm rot="2909060">
            <a:off x="1905794" y="3288506"/>
            <a:ext cx="369888" cy="4302125"/>
            <a:chOff x="1882930" y="665987"/>
            <a:chExt cx="368975" cy="4730757"/>
          </a:xfrm>
        </p:grpSpPr>
        <p:cxnSp>
          <p:nvCxnSpPr>
            <p:cNvPr id="74" name="Straight Connector 73"/>
            <p:cNvCxnSpPr/>
            <p:nvPr/>
          </p:nvCxnSpPr>
          <p:spPr>
            <a:xfrm>
              <a:off x="2018431" y="1509827"/>
              <a:ext cx="0" cy="3889346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38" name="TextBox 1"/>
            <p:cNvSpPr txBox="1">
              <a:spLocks noChangeArrowheads="1"/>
            </p:cNvSpPr>
            <p:nvPr/>
          </p:nvSpPr>
          <p:spPr bwMode="auto">
            <a:xfrm rot="-2909060">
              <a:off x="1463432" y="1085485"/>
              <a:ext cx="1207972" cy="368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y = x</a:t>
              </a:r>
            </a:p>
          </p:txBody>
        </p:sp>
      </p:grp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3360738" y="5948363"/>
            <a:ext cx="12969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1">
                <a:solidFill>
                  <a:srgbClr val="FF0000"/>
                </a:solidFill>
              </a:rPr>
              <a:t>Reflection in the line y = x</a:t>
            </a:r>
          </a:p>
        </p:txBody>
      </p:sp>
      <p:grpSp>
        <p:nvGrpSpPr>
          <p:cNvPr id="77" name="Group 76"/>
          <p:cNvGrpSpPr>
            <a:grpSpLocks/>
          </p:cNvGrpSpPr>
          <p:nvPr/>
        </p:nvGrpSpPr>
        <p:grpSpPr bwMode="auto">
          <a:xfrm rot="-2856616">
            <a:off x="6099175" y="3516313"/>
            <a:ext cx="422275" cy="3683000"/>
            <a:chOff x="2020386" y="941764"/>
            <a:chExt cx="422339" cy="4454980"/>
          </a:xfrm>
        </p:grpSpPr>
        <p:cxnSp>
          <p:nvCxnSpPr>
            <p:cNvPr id="78" name="Straight Connector 77"/>
            <p:cNvCxnSpPr/>
            <p:nvPr/>
          </p:nvCxnSpPr>
          <p:spPr>
            <a:xfrm>
              <a:off x="2021084" y="1500593"/>
              <a:ext cx="0" cy="3890427"/>
            </a:xfrm>
            <a:prstGeom prst="line">
              <a:avLst/>
            </a:prstGeom>
            <a:ln w="381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36" name="TextBox 1"/>
            <p:cNvSpPr txBox="1">
              <a:spLocks noChangeArrowheads="1"/>
            </p:cNvSpPr>
            <p:nvPr/>
          </p:nvSpPr>
          <p:spPr bwMode="auto">
            <a:xfrm rot="2856616">
              <a:off x="1654252" y="1361262"/>
              <a:ext cx="1207971" cy="368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b="1">
                  <a:solidFill>
                    <a:srgbClr val="00B050"/>
                  </a:solidFill>
                </a:rPr>
                <a:t>y = -x</a:t>
              </a:r>
            </a:p>
          </p:txBody>
        </p:sp>
      </p:grp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7826375" y="5949950"/>
            <a:ext cx="12954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b="1">
                <a:solidFill>
                  <a:srgbClr val="FF0000"/>
                </a:solidFill>
              </a:rPr>
              <a:t>Reflection in the line y = -x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3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3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3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2" grpId="0"/>
      <p:bldP spid="76" grpId="0"/>
      <p:bldP spid="8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21525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21526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21529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solidFill>
                  <a:srgbClr val="000000"/>
                </a:solidFill>
                <a:latin typeface="Comic Sans MS" pitchFamily="66" charset="0"/>
              </a:rPr>
              <a:t>REFLECTIONS</a:t>
            </a:r>
          </a:p>
          <a:p>
            <a:endParaRPr lang="en-US" sz="3000" b="1" u="sng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21530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7030A0"/>
                </a:solidFill>
              </a:rPr>
              <a:t>EXTENSION 3 (LEVEL 5)</a:t>
            </a:r>
          </a:p>
        </p:txBody>
      </p:sp>
      <p:sp>
        <p:nvSpPr>
          <p:cNvPr id="21531" name="Rectangle 1"/>
          <p:cNvSpPr>
            <a:spLocks noChangeArrowheads="1"/>
          </p:cNvSpPr>
          <p:nvPr/>
        </p:nvSpPr>
        <p:spPr bwMode="auto">
          <a:xfrm>
            <a:off x="-74613" y="1323975"/>
            <a:ext cx="542926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7030A0"/>
                </a:solidFill>
              </a:rPr>
              <a:t>1) </a:t>
            </a:r>
            <a:endParaRPr lang="en-GB">
              <a:solidFill>
                <a:srgbClr val="7030A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93675" y="1370013"/>
            <a:ext cx="8842375" cy="56324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GB" sz="2000" dirty="0">
                <a:latin typeface="+mj-lt"/>
                <a:ea typeface="Times New Roman"/>
              </a:rPr>
              <a:t>Draw a grid running from -6 to +6 in the y direction, and -10 to 10 in the x direction.  Plot the following shapes on your grid, joining up the points in order to spell a word.</a:t>
            </a:r>
          </a:p>
          <a:p>
            <a:pPr>
              <a:spcAft>
                <a:spcPts val="0"/>
              </a:spcAft>
              <a:defRPr/>
            </a:pPr>
            <a:r>
              <a:rPr lang="en-GB" sz="2000" dirty="0">
                <a:latin typeface="+mj-lt"/>
                <a:ea typeface="Times New Roman"/>
              </a:rPr>
              <a:t> </a:t>
            </a:r>
          </a:p>
          <a:p>
            <a:pPr>
              <a:spcAft>
                <a:spcPts val="0"/>
              </a:spcAft>
              <a:defRPr/>
            </a:pPr>
            <a:r>
              <a:rPr lang="en-GB" sz="2000" dirty="0">
                <a:latin typeface="+mj-lt"/>
                <a:ea typeface="Times New Roman"/>
              </a:rPr>
              <a:t>Shape A: (0,1), (0,3), (0,2), (1,2), (1,3), (1,1)</a:t>
            </a:r>
          </a:p>
          <a:p>
            <a:pPr>
              <a:spcAft>
                <a:spcPts val="0"/>
              </a:spcAft>
              <a:defRPr/>
            </a:pPr>
            <a:r>
              <a:rPr lang="en-GB" sz="2000" dirty="0">
                <a:latin typeface="+mj-lt"/>
                <a:ea typeface="Times New Roman"/>
              </a:rPr>
              <a:t>Shape B: (3,1), (2,1), (2,2), (3,2), (2,2), (2,3), (3,3)</a:t>
            </a:r>
          </a:p>
          <a:p>
            <a:pPr>
              <a:spcAft>
                <a:spcPts val="0"/>
              </a:spcAft>
              <a:defRPr/>
            </a:pPr>
            <a:r>
              <a:rPr lang="en-GB" sz="2000" dirty="0">
                <a:latin typeface="+mj-lt"/>
                <a:ea typeface="Times New Roman"/>
              </a:rPr>
              <a:t>Shape C: (4,3), (4,1), (5,1)</a:t>
            </a:r>
          </a:p>
          <a:p>
            <a:pPr>
              <a:spcAft>
                <a:spcPts val="0"/>
              </a:spcAft>
              <a:defRPr/>
            </a:pPr>
            <a:r>
              <a:rPr lang="en-GB" sz="2000" dirty="0">
                <a:latin typeface="+mj-lt"/>
                <a:ea typeface="Times New Roman"/>
              </a:rPr>
              <a:t>Shape D: (6,3), (6,1), (7,1)</a:t>
            </a:r>
          </a:p>
          <a:p>
            <a:pPr>
              <a:spcAft>
                <a:spcPts val="0"/>
              </a:spcAft>
              <a:defRPr/>
            </a:pPr>
            <a:r>
              <a:rPr lang="en-GB" sz="2000" dirty="0">
                <a:latin typeface="+mj-lt"/>
                <a:ea typeface="Times New Roman"/>
              </a:rPr>
              <a:t>Shape E: (8,1), (8,3), (9,3), (9,1), (8,1)</a:t>
            </a:r>
          </a:p>
          <a:p>
            <a:pPr>
              <a:spcAft>
                <a:spcPts val="0"/>
              </a:spcAft>
              <a:defRPr/>
            </a:pPr>
            <a:r>
              <a:rPr lang="en-GB" sz="2000" dirty="0">
                <a:latin typeface="+mj-lt"/>
                <a:ea typeface="Times New Roman"/>
              </a:rPr>
              <a:t> </a:t>
            </a:r>
          </a:p>
          <a:p>
            <a:pPr marL="342900" indent="-342900">
              <a:spcAft>
                <a:spcPts val="0"/>
              </a:spcAft>
              <a:buFont typeface="+mj-lt"/>
              <a:buAutoNum type="alphaLcParenR"/>
              <a:tabLst>
                <a:tab pos="457200" algn="l"/>
              </a:tabLst>
              <a:defRPr/>
            </a:pPr>
            <a:r>
              <a:rPr lang="en-GB" sz="2000" dirty="0">
                <a:latin typeface="+mj-lt"/>
                <a:ea typeface="Times New Roman"/>
              </a:rPr>
              <a:t>Draw a line from (0, -1) to (10, -1).  Use this as a mirror line and reflect all of the message.  What do you notice about the letters?</a:t>
            </a:r>
          </a:p>
          <a:p>
            <a:pPr marL="342900" indent="-342900">
              <a:spcAft>
                <a:spcPts val="0"/>
              </a:spcAft>
              <a:buFont typeface="+mj-lt"/>
              <a:buAutoNum type="alphaLcParenR"/>
              <a:tabLst>
                <a:tab pos="457200" algn="l"/>
              </a:tabLst>
              <a:defRPr/>
            </a:pPr>
            <a:r>
              <a:rPr lang="en-GB" sz="2000" dirty="0">
                <a:latin typeface="+mj-lt"/>
                <a:ea typeface="Times New Roman"/>
              </a:rPr>
              <a:t>Draw a line from (0,-6) to (0,6).  Use this as a mirror line to reflect both the messages again.  What do you notice about the letters?</a:t>
            </a:r>
          </a:p>
          <a:p>
            <a:pPr marL="342900" indent="-342900">
              <a:spcAft>
                <a:spcPts val="0"/>
              </a:spcAft>
              <a:buFont typeface="+mj-lt"/>
              <a:buAutoNum type="alphaLcParenR"/>
              <a:tabLst>
                <a:tab pos="457200" algn="l"/>
              </a:tabLst>
              <a:defRPr/>
            </a:pPr>
            <a:r>
              <a:rPr lang="en-GB" sz="2000" dirty="0">
                <a:latin typeface="+mj-lt"/>
                <a:ea typeface="Times New Roman"/>
              </a:rPr>
              <a:t>Plot your name on a set of axis and reflect it using the same lines as above.</a:t>
            </a:r>
          </a:p>
          <a:p>
            <a:pPr marL="342900" indent="-342900">
              <a:spcAft>
                <a:spcPts val="0"/>
              </a:spcAft>
              <a:buFont typeface="+mj-lt"/>
              <a:buAutoNum type="alphaLcParenR"/>
              <a:tabLst>
                <a:tab pos="457200" algn="l"/>
              </a:tabLst>
              <a:defRPr/>
            </a:pPr>
            <a:r>
              <a:rPr lang="en-GB" sz="2000" dirty="0">
                <a:latin typeface="+mj-lt"/>
                <a:ea typeface="Times New Roman"/>
              </a:rPr>
              <a:t>What happens if you reflect your name in the same line twice?</a:t>
            </a:r>
          </a:p>
          <a:p>
            <a:pPr>
              <a:spcAft>
                <a:spcPts val="0"/>
              </a:spcAft>
              <a:defRPr/>
            </a:pPr>
            <a:r>
              <a:rPr lang="en-GB" sz="2000" dirty="0">
                <a:latin typeface="+mj-lt"/>
                <a:ea typeface="Times New Roman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22549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22550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22553" name="Line 4"/>
          <p:cNvSpPr>
            <a:spLocks noChangeShapeType="1"/>
          </p:cNvSpPr>
          <p:nvPr/>
        </p:nvSpPr>
        <p:spPr bwMode="auto">
          <a:xfrm>
            <a:off x="0" y="98107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2554" name="Text Box 6"/>
          <p:cNvSpPr txBox="1">
            <a:spLocks noChangeArrowheads="1"/>
          </p:cNvSpPr>
          <p:nvPr/>
        </p:nvSpPr>
        <p:spPr bwMode="auto">
          <a:xfrm>
            <a:off x="-179388" y="996950"/>
            <a:ext cx="91440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MINI-PLENARY – ASSESSING UNDERSTANDING</a:t>
            </a:r>
            <a:endParaRPr lang="en-US" sz="2400" b="1" u="sng">
              <a:solidFill>
                <a:srgbClr val="FF0000"/>
              </a:solidFill>
            </a:endParaRPr>
          </a:p>
        </p:txBody>
      </p:sp>
      <p:sp>
        <p:nvSpPr>
          <p:cNvPr id="22555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latin typeface="Comic Sans MS" pitchFamily="66" charset="0"/>
              </a:rPr>
              <a:t>REFLECTIONS</a:t>
            </a:r>
          </a:p>
          <a:p>
            <a:endParaRPr lang="en-US" sz="3000" b="1" u="sng"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pic>
        <p:nvPicPr>
          <p:cNvPr id="22556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60" r="47548"/>
          <a:stretch>
            <a:fillRect/>
          </a:stretch>
        </p:blipFill>
        <p:spPr bwMode="auto">
          <a:xfrm>
            <a:off x="1289050" y="2103438"/>
            <a:ext cx="6091238" cy="480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57" name="TextBox 1"/>
          <p:cNvSpPr txBox="1">
            <a:spLocks noChangeArrowheads="1"/>
          </p:cNvSpPr>
          <p:nvPr/>
        </p:nvSpPr>
        <p:spPr bwMode="auto">
          <a:xfrm>
            <a:off x="303213" y="1497013"/>
            <a:ext cx="81978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000"/>
              <a:t>A student has reflected the patterns as shown below. Are the reflections correct and what advice would you give them to help them?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9"/>
          <p:cNvSpPr>
            <a:spLocks noChangeArrowheads="1"/>
          </p:cNvSpPr>
          <p:nvPr/>
        </p:nvSpPr>
        <p:spPr bwMode="auto">
          <a:xfrm>
            <a:off x="2705100" y="3968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en-US" sz="4800" dirty="0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pPr>
              <a:defRPr/>
            </a:pPr>
            <a:r>
              <a:rPr lang="en-US" sz="4800" dirty="0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pPr>
              <a:defRPr/>
            </a:pPr>
            <a:r>
              <a:rPr lang="en-US" sz="2800" b="1" u="sng" dirty="0">
                <a:latin typeface="+mj-lt"/>
              </a:rPr>
              <a:t>DISCOVERY</a:t>
            </a:r>
            <a:endParaRPr lang="en-US" sz="3200" b="1" u="sng" dirty="0">
              <a:latin typeface="+mj-lt"/>
            </a:endParaRPr>
          </a:p>
          <a:p>
            <a:pPr>
              <a:defRPr/>
            </a:pPr>
            <a:r>
              <a:rPr lang="en-US" sz="4800" dirty="0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250825" y="1844675"/>
            <a:ext cx="6840538" cy="2503488"/>
            <a:chOff x="249" y="1389"/>
            <a:chExt cx="4309" cy="1577"/>
          </a:xfrm>
        </p:grpSpPr>
        <p:sp>
          <p:nvSpPr>
            <p:cNvPr id="13343" name="Rectangle 37"/>
            <p:cNvSpPr>
              <a:spLocks noChangeArrowheads="1"/>
            </p:cNvSpPr>
            <p:nvPr/>
          </p:nvSpPr>
          <p:spPr bwMode="auto">
            <a:xfrm>
              <a:off x="340" y="1434"/>
              <a:ext cx="4071" cy="15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800" b="1" u="sng" dirty="0"/>
                <a:t>LINK BACK TO OBJECTIVES</a:t>
              </a:r>
            </a:p>
            <a:p>
              <a:pPr>
                <a:defRPr/>
              </a:pPr>
              <a:endParaRPr lang="en-US" sz="2800" b="1" u="sng" dirty="0"/>
            </a:p>
            <a:p>
              <a:pPr>
                <a:buFontTx/>
                <a:buChar char="-"/>
                <a:defRPr/>
              </a:pPr>
              <a:r>
                <a:rPr lang="en-US" sz="2400" b="1" dirty="0">
                  <a:solidFill>
                    <a:srgbClr val="660066"/>
                  </a:solidFill>
                  <a:latin typeface="Comic Sans MS" pitchFamily="66" charset="0"/>
                  <a:ea typeface="Kozuka Gothic Pro M" pitchFamily="34" charset="-128"/>
                </a:rPr>
                <a:t> </a:t>
              </a:r>
              <a:r>
                <a:rPr lang="en-US" sz="2400" b="1" kern="0" dirty="0">
                  <a:solidFill>
                    <a:srgbClr val="660066"/>
                  </a:solidFill>
                  <a:latin typeface="Comic Sans MS" pitchFamily="66" charset="0"/>
                  <a:ea typeface="Kozuka Gothic Pro M" pitchFamily="34" charset="-128"/>
                  <a:cs typeface="+mn-cs"/>
                </a:rPr>
                <a:t>Accurately reflect objects in different mirror lines. </a:t>
              </a:r>
            </a:p>
            <a:p>
              <a:pPr>
                <a:defRPr/>
              </a:pPr>
              <a:endParaRPr lang="en-US" sz="2400" b="1" kern="0" dirty="0">
                <a:solidFill>
                  <a:srgbClr val="660066"/>
                </a:solidFill>
                <a:latin typeface="Comic Sans MS" pitchFamily="66" charset="0"/>
                <a:ea typeface="Kozuka Gothic Pro M" pitchFamily="34" charset="-128"/>
                <a:cs typeface="+mn-cs"/>
              </a:endParaRPr>
            </a:p>
            <a:p>
              <a:pPr>
                <a:defRPr/>
              </a:pPr>
              <a:endParaRPr lang="en-US" sz="2400" b="1" dirty="0">
                <a:latin typeface="Comic Sans MS" pitchFamily="66" charset="0"/>
                <a:ea typeface="Kozuka Gothic Pro M" pitchFamily="34" charset="-128"/>
              </a:endParaRPr>
            </a:p>
          </p:txBody>
        </p:sp>
        <p:sp>
          <p:nvSpPr>
            <p:cNvPr id="23584" name="Rectangle 38"/>
            <p:cNvSpPr>
              <a:spLocks noChangeArrowheads="1"/>
            </p:cNvSpPr>
            <p:nvPr/>
          </p:nvSpPr>
          <p:spPr bwMode="auto">
            <a:xfrm>
              <a:off x="249" y="1389"/>
              <a:ext cx="4309" cy="154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7486650" y="2492375"/>
            <a:ext cx="1657350" cy="2376488"/>
            <a:chOff x="4558" y="618"/>
            <a:chExt cx="1044" cy="1497"/>
          </a:xfrm>
        </p:grpSpPr>
        <p:pic>
          <p:nvPicPr>
            <p:cNvPr id="23580" name="Picture 34" descr="grad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8" y="663"/>
              <a:ext cx="1044" cy="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81" name="Text Box 35"/>
            <p:cNvSpPr txBox="1">
              <a:spLocks noChangeArrowheads="1"/>
            </p:cNvSpPr>
            <p:nvPr/>
          </p:nvSpPr>
          <p:spPr bwMode="auto">
            <a:xfrm>
              <a:off x="4558" y="1525"/>
              <a:ext cx="1044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b="1">
                  <a:solidFill>
                    <a:srgbClr val="660066"/>
                  </a:solidFill>
                </a:rPr>
                <a:t>What level are we working at?</a:t>
              </a:r>
            </a:p>
          </p:txBody>
        </p:sp>
        <p:sp>
          <p:nvSpPr>
            <p:cNvPr id="23582" name="Rectangle 36"/>
            <p:cNvSpPr>
              <a:spLocks noChangeArrowheads="1"/>
            </p:cNvSpPr>
            <p:nvPr/>
          </p:nvSpPr>
          <p:spPr bwMode="auto">
            <a:xfrm>
              <a:off x="4558" y="618"/>
              <a:ext cx="1044" cy="149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3557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3" name="Rounded Rectangle 22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chemeClr val="bg1"/>
                </a:solidFill>
              </a:rPr>
              <a:t>Creative Entrepreneur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chemeClr val="bg1"/>
                </a:solidFill>
              </a:rPr>
              <a:t>Responsible Citizen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Independent Learner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Positive Thinker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Team Worker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Reflective Learner</a:t>
            </a:r>
          </a:p>
        </p:txBody>
      </p:sp>
      <p:sp>
        <p:nvSpPr>
          <p:cNvPr id="23576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23577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2" name="Rounded Rectangle 31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24597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24598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24601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4602" name="Text Box 6"/>
          <p:cNvSpPr txBox="1">
            <a:spLocks noChangeArrowheads="1"/>
          </p:cNvSpPr>
          <p:nvPr/>
        </p:nvSpPr>
        <p:spPr bwMode="auto">
          <a:xfrm>
            <a:off x="-323850" y="982663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PLENARY ACTIVITY </a:t>
            </a:r>
            <a:endParaRPr lang="en-US" sz="2400" b="1" u="sng">
              <a:solidFill>
                <a:srgbClr val="FF0000"/>
              </a:solidFill>
            </a:endParaRPr>
          </a:p>
        </p:txBody>
      </p:sp>
      <p:sp>
        <p:nvSpPr>
          <p:cNvPr id="24603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latin typeface="Comic Sans MS" pitchFamily="66" charset="0"/>
              </a:rPr>
              <a:t>REFLECTIONS</a:t>
            </a:r>
          </a:p>
          <a:p>
            <a:endParaRPr lang="en-US" sz="3000" b="1" u="sng"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24604" name="TextBox 62"/>
          <p:cNvSpPr txBox="1">
            <a:spLocks noChangeArrowheads="1"/>
          </p:cNvSpPr>
          <p:nvPr/>
        </p:nvSpPr>
        <p:spPr bwMode="auto">
          <a:xfrm>
            <a:off x="-36513" y="1465263"/>
            <a:ext cx="93614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800"/>
              <a:t>Which letters of these road signs have lines of symmetry?  </a:t>
            </a:r>
          </a:p>
        </p:txBody>
      </p:sp>
      <p:pic>
        <p:nvPicPr>
          <p:cNvPr id="24605" name="Picture 4" descr="30mp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22637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06" name="Picture 5" descr="aircraf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22637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07" name="Picture 6" descr="cattl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8" y="22637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08" name="Picture 7" descr="crossroad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688" y="22637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09" name="Picture 8" descr="give way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088" y="22637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10" name="Picture 9" descr="hump bridg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488" y="22637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11" name="Picture 10" descr="ice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888" y="22637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12" name="Picture 11" descr="lights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35591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13" name="Picture 12" descr="narrows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35591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14" name="Picture 13" descr="national speed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8" y="35591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15" name="Picture 14" descr="no entry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688" y="35591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16" name="Picture 15" descr="no stoppi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088" y="35591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17" name="Picture 16" descr="no thru road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488" y="35591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18" name="Picture 17" descr="patrol stop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888" y="35591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19" name="Picture 18" descr="roadworks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48545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20" name="Picture 19" descr="roundabout triangle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48545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21" name="Picture 20" descr="roundabout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088" y="48545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22" name="Picture 21" descr="turn left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8" y="48545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23" name="Picture 22" descr="count-down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6688" y="4854575"/>
            <a:ext cx="1143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24" name="Picture 23" descr="level crossing"/>
          <p:cNvPicPr>
            <a:picLocks noChangeAspect="1" noChangeArrowheads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488" y="4854575"/>
            <a:ext cx="23812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8" name="Line 24"/>
          <p:cNvSpPr>
            <a:spLocks noChangeShapeType="1"/>
          </p:cNvSpPr>
          <p:nvPr/>
        </p:nvSpPr>
        <p:spPr bwMode="auto">
          <a:xfrm>
            <a:off x="71438" y="2825750"/>
            <a:ext cx="11430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49" name="Line 25"/>
          <p:cNvSpPr>
            <a:spLocks noChangeShapeType="1"/>
          </p:cNvSpPr>
          <p:nvPr/>
        </p:nvSpPr>
        <p:spPr bwMode="auto">
          <a:xfrm rot="-5400000">
            <a:off x="3971925" y="2851150"/>
            <a:ext cx="11430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50" name="Line 26"/>
          <p:cNvSpPr>
            <a:spLocks noChangeShapeType="1"/>
          </p:cNvSpPr>
          <p:nvPr/>
        </p:nvSpPr>
        <p:spPr bwMode="auto">
          <a:xfrm>
            <a:off x="1376363" y="2579688"/>
            <a:ext cx="1141412" cy="719137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51" name="Line 27"/>
          <p:cNvSpPr>
            <a:spLocks noChangeShapeType="1"/>
          </p:cNvSpPr>
          <p:nvPr/>
        </p:nvSpPr>
        <p:spPr bwMode="auto">
          <a:xfrm rot="-5400000">
            <a:off x="6569075" y="2841625"/>
            <a:ext cx="11430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52" name="Line 28"/>
          <p:cNvSpPr>
            <a:spLocks noChangeShapeType="1"/>
          </p:cNvSpPr>
          <p:nvPr/>
        </p:nvSpPr>
        <p:spPr bwMode="auto">
          <a:xfrm rot="-5400000">
            <a:off x="7853363" y="2841625"/>
            <a:ext cx="11430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53" name="Line 29"/>
          <p:cNvSpPr>
            <a:spLocks noChangeShapeType="1"/>
          </p:cNvSpPr>
          <p:nvPr/>
        </p:nvSpPr>
        <p:spPr bwMode="auto">
          <a:xfrm rot="-5400000">
            <a:off x="80963" y="4127500"/>
            <a:ext cx="11430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54" name="Line 30"/>
          <p:cNvSpPr>
            <a:spLocks noChangeShapeType="1"/>
          </p:cNvSpPr>
          <p:nvPr/>
        </p:nvSpPr>
        <p:spPr bwMode="auto">
          <a:xfrm rot="-5400000">
            <a:off x="1374775" y="4110038"/>
            <a:ext cx="11430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55" name="Line 31"/>
          <p:cNvSpPr>
            <a:spLocks noChangeShapeType="1"/>
          </p:cNvSpPr>
          <p:nvPr/>
        </p:nvSpPr>
        <p:spPr bwMode="auto">
          <a:xfrm rot="-5400000">
            <a:off x="5265738" y="4135438"/>
            <a:ext cx="11430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56" name="Line 32"/>
          <p:cNvSpPr>
            <a:spLocks noChangeShapeType="1"/>
          </p:cNvSpPr>
          <p:nvPr/>
        </p:nvSpPr>
        <p:spPr bwMode="auto">
          <a:xfrm rot="-5400000">
            <a:off x="6559550" y="4144963"/>
            <a:ext cx="11430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57" name="Line 33"/>
          <p:cNvSpPr>
            <a:spLocks noChangeShapeType="1"/>
          </p:cNvSpPr>
          <p:nvPr/>
        </p:nvSpPr>
        <p:spPr bwMode="auto">
          <a:xfrm rot="-5400000">
            <a:off x="7170738" y="5411788"/>
            <a:ext cx="11430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58" name="Line 34"/>
          <p:cNvSpPr>
            <a:spLocks noChangeShapeType="1"/>
          </p:cNvSpPr>
          <p:nvPr/>
        </p:nvSpPr>
        <p:spPr bwMode="auto">
          <a:xfrm>
            <a:off x="3987800" y="4146550"/>
            <a:ext cx="11430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59" name="Line 35"/>
          <p:cNvSpPr>
            <a:spLocks noChangeShapeType="1"/>
          </p:cNvSpPr>
          <p:nvPr/>
        </p:nvSpPr>
        <p:spPr bwMode="auto">
          <a:xfrm>
            <a:off x="5264150" y="4137025"/>
            <a:ext cx="11430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0" name="Line 36"/>
          <p:cNvSpPr>
            <a:spLocks noChangeShapeType="1"/>
          </p:cNvSpPr>
          <p:nvPr/>
        </p:nvSpPr>
        <p:spPr bwMode="auto">
          <a:xfrm>
            <a:off x="2693988" y="5432425"/>
            <a:ext cx="11430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1" name="Line 37"/>
          <p:cNvSpPr>
            <a:spLocks noChangeShapeType="1"/>
          </p:cNvSpPr>
          <p:nvPr/>
        </p:nvSpPr>
        <p:spPr bwMode="auto">
          <a:xfrm>
            <a:off x="6596063" y="5441950"/>
            <a:ext cx="2320925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2" name="Line 38"/>
          <p:cNvSpPr>
            <a:spLocks noChangeShapeType="1"/>
          </p:cNvSpPr>
          <p:nvPr/>
        </p:nvSpPr>
        <p:spPr bwMode="auto">
          <a:xfrm flipH="1">
            <a:off x="2679700" y="3594100"/>
            <a:ext cx="1112838" cy="110490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3" name="Line 39"/>
          <p:cNvSpPr>
            <a:spLocks noChangeShapeType="1"/>
          </p:cNvSpPr>
          <p:nvPr/>
        </p:nvSpPr>
        <p:spPr bwMode="auto">
          <a:xfrm flipH="1">
            <a:off x="5257800" y="3595688"/>
            <a:ext cx="1112838" cy="110490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4" name="Line 40"/>
          <p:cNvSpPr>
            <a:spLocks noChangeShapeType="1"/>
          </p:cNvSpPr>
          <p:nvPr/>
        </p:nvSpPr>
        <p:spPr bwMode="auto">
          <a:xfrm flipH="1">
            <a:off x="7864475" y="2560638"/>
            <a:ext cx="1155700" cy="727075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5" name="Line 41"/>
          <p:cNvSpPr>
            <a:spLocks noChangeShapeType="1"/>
          </p:cNvSpPr>
          <p:nvPr/>
        </p:nvSpPr>
        <p:spPr bwMode="auto">
          <a:xfrm>
            <a:off x="2697163" y="3584575"/>
            <a:ext cx="1112837" cy="110490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6" name="Line 42"/>
          <p:cNvSpPr>
            <a:spLocks noChangeShapeType="1"/>
          </p:cNvSpPr>
          <p:nvPr/>
        </p:nvSpPr>
        <p:spPr bwMode="auto">
          <a:xfrm>
            <a:off x="5275263" y="3586163"/>
            <a:ext cx="1112837" cy="110490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7" name="Line 43"/>
          <p:cNvSpPr>
            <a:spLocks noChangeShapeType="1"/>
          </p:cNvSpPr>
          <p:nvPr/>
        </p:nvSpPr>
        <p:spPr bwMode="auto">
          <a:xfrm>
            <a:off x="7853363" y="2543175"/>
            <a:ext cx="1150937" cy="827088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8" name="Line 44"/>
          <p:cNvSpPr>
            <a:spLocks noChangeShapeType="1"/>
          </p:cNvSpPr>
          <p:nvPr/>
        </p:nvSpPr>
        <p:spPr bwMode="auto">
          <a:xfrm rot="-5400000">
            <a:off x="3970338" y="4127500"/>
            <a:ext cx="1143000" cy="0"/>
          </a:xfrm>
          <a:prstGeom prst="line">
            <a:avLst/>
          </a:prstGeom>
          <a:noFill/>
          <a:ln w="38100">
            <a:solidFill>
              <a:srgbClr val="7030A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9"/>
          <p:cNvSpPr>
            <a:spLocks noChangeArrowheads="1"/>
          </p:cNvSpPr>
          <p:nvPr/>
        </p:nvSpPr>
        <p:spPr bwMode="auto">
          <a:xfrm>
            <a:off x="2484438" y="831850"/>
            <a:ext cx="3224212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GB" sz="2400">
                <a:solidFill>
                  <a:srgbClr val="336699"/>
                </a:solidFill>
                <a:latin typeface="Franklin Gothic Demi" pitchFamily="34" charset="0"/>
              </a:rPr>
              <a:t>What have you learnt?</a:t>
            </a:r>
          </a:p>
        </p:txBody>
      </p:sp>
      <p:pic>
        <p:nvPicPr>
          <p:cNvPr id="25603" name="Picture 12" descr="Student resources 04 bluegrey PPT 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91288"/>
            <a:ext cx="9144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Rectangle 3"/>
          <p:cNvSpPr txBox="1">
            <a:spLocks noChangeArrowheads="1"/>
          </p:cNvSpPr>
          <p:nvPr/>
        </p:nvSpPr>
        <p:spPr bwMode="auto">
          <a:xfrm>
            <a:off x="0" y="2393950"/>
            <a:ext cx="9144000" cy="429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2400">
                <a:latin typeface="Calibri" pitchFamily="34" charset="0"/>
              </a:rPr>
              <a:t>In your brain, write or draw everything you can remember about </a:t>
            </a:r>
            <a:r>
              <a:rPr lang="en-US" sz="2400">
                <a:latin typeface="Calibri" pitchFamily="34" charset="0"/>
              </a:rPr>
              <a:t>reflecting objects in different mirror lines. </a:t>
            </a:r>
            <a:r>
              <a:rPr lang="en-GB" sz="2400">
                <a:latin typeface="Calibri" pitchFamily="34" charset="0"/>
              </a:rPr>
              <a:t>It can be a skill or a reflection, or something else that might be prominent in your brain.  </a:t>
            </a:r>
          </a:p>
          <a:p>
            <a:pPr algn="ctr">
              <a:spcBef>
                <a:spcPct val="20000"/>
              </a:spcBef>
            </a:pPr>
            <a:endParaRPr lang="en-GB" sz="2400">
              <a:latin typeface="Calibri" pitchFamily="34" charset="0"/>
            </a:endParaRPr>
          </a:p>
        </p:txBody>
      </p:sp>
      <p:pic>
        <p:nvPicPr>
          <p:cNvPr id="25605" name="Picture 6" descr="pencil37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58913"/>
            <a:ext cx="11811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7" descr="pencil37">
            <a:hlinkClick r:id="rId4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438" y="1458913"/>
            <a:ext cx="1195387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428625" y="12446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en-GB" sz="4400" b="1" kern="0" dirty="0">
                <a:solidFill>
                  <a:srgbClr val="C00000"/>
                </a:solidFill>
                <a:latin typeface="Calibri" pitchFamily="34" charset="0"/>
                <a:ea typeface="+mj-ea"/>
                <a:cs typeface="+mj-cs"/>
              </a:rPr>
              <a:t>Draw your brain</a:t>
            </a:r>
          </a:p>
        </p:txBody>
      </p:sp>
      <p:pic>
        <p:nvPicPr>
          <p:cNvPr id="25608" name="Picture 2" descr="http://www.ffrf.org/fttoday/2007/junejuly/images/addis-faith-brain-cartoon.jpg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673475"/>
            <a:ext cx="3667125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Freeform 12"/>
          <p:cNvSpPr/>
          <p:nvPr/>
        </p:nvSpPr>
        <p:spPr>
          <a:xfrm>
            <a:off x="3179763" y="3813175"/>
            <a:ext cx="2389187" cy="2046288"/>
          </a:xfrm>
          <a:custGeom>
            <a:avLst/>
            <a:gdLst>
              <a:gd name="connsiteX0" fmla="*/ 723332 w 2388359"/>
              <a:gd name="connsiteY0" fmla="*/ 109182 h 2047164"/>
              <a:gd name="connsiteX1" fmla="*/ 641445 w 2388359"/>
              <a:gd name="connsiteY1" fmla="*/ 204716 h 2047164"/>
              <a:gd name="connsiteX2" fmla="*/ 532263 w 2388359"/>
              <a:gd name="connsiteY2" fmla="*/ 327546 h 2047164"/>
              <a:gd name="connsiteX3" fmla="*/ 491320 w 2388359"/>
              <a:gd name="connsiteY3" fmla="*/ 354842 h 2047164"/>
              <a:gd name="connsiteX4" fmla="*/ 232012 w 2388359"/>
              <a:gd name="connsiteY4" fmla="*/ 368490 h 2047164"/>
              <a:gd name="connsiteX5" fmla="*/ 0 w 2388359"/>
              <a:gd name="connsiteY5" fmla="*/ 955343 h 2047164"/>
              <a:gd name="connsiteX6" fmla="*/ 232012 w 2388359"/>
              <a:gd name="connsiteY6" fmla="*/ 1651379 h 2047164"/>
              <a:gd name="connsiteX7" fmla="*/ 655093 w 2388359"/>
              <a:gd name="connsiteY7" fmla="*/ 2006221 h 2047164"/>
              <a:gd name="connsiteX8" fmla="*/ 1132765 w 2388359"/>
              <a:gd name="connsiteY8" fmla="*/ 2047164 h 2047164"/>
              <a:gd name="connsiteX9" fmla="*/ 2388359 w 2388359"/>
              <a:gd name="connsiteY9" fmla="*/ 1269242 h 2047164"/>
              <a:gd name="connsiteX10" fmla="*/ 2197290 w 2388359"/>
              <a:gd name="connsiteY10" fmla="*/ 682388 h 2047164"/>
              <a:gd name="connsiteX11" fmla="*/ 1883391 w 2388359"/>
              <a:gd name="connsiteY11" fmla="*/ 95534 h 2047164"/>
              <a:gd name="connsiteX12" fmla="*/ 1392072 w 2388359"/>
              <a:gd name="connsiteY12" fmla="*/ 0 h 2047164"/>
              <a:gd name="connsiteX13" fmla="*/ 900753 w 2388359"/>
              <a:gd name="connsiteY13" fmla="*/ 54591 h 2047164"/>
              <a:gd name="connsiteX14" fmla="*/ 723332 w 2388359"/>
              <a:gd name="connsiteY14" fmla="*/ 109182 h 204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388359" h="2047164">
                <a:moveTo>
                  <a:pt x="723332" y="109182"/>
                </a:moveTo>
                <a:cubicBezTo>
                  <a:pt x="660662" y="203185"/>
                  <a:pt x="740738" y="88873"/>
                  <a:pt x="641445" y="204716"/>
                </a:cubicBezTo>
                <a:cubicBezTo>
                  <a:pt x="586744" y="268535"/>
                  <a:pt x="639856" y="255816"/>
                  <a:pt x="532263" y="327546"/>
                </a:cubicBezTo>
                <a:cubicBezTo>
                  <a:pt x="518615" y="336645"/>
                  <a:pt x="507572" y="352626"/>
                  <a:pt x="491320" y="354842"/>
                </a:cubicBezTo>
                <a:cubicBezTo>
                  <a:pt x="405558" y="366537"/>
                  <a:pt x="232012" y="368490"/>
                  <a:pt x="232012" y="368490"/>
                </a:cubicBezTo>
                <a:lnTo>
                  <a:pt x="0" y="955343"/>
                </a:lnTo>
                <a:lnTo>
                  <a:pt x="232012" y="1651379"/>
                </a:lnTo>
                <a:lnTo>
                  <a:pt x="655093" y="2006221"/>
                </a:lnTo>
                <a:lnTo>
                  <a:pt x="1132765" y="2047164"/>
                </a:lnTo>
                <a:lnTo>
                  <a:pt x="2388359" y="1269242"/>
                </a:lnTo>
                <a:lnTo>
                  <a:pt x="2197290" y="682388"/>
                </a:lnTo>
                <a:lnTo>
                  <a:pt x="1883391" y="95534"/>
                </a:lnTo>
                <a:lnTo>
                  <a:pt x="1392072" y="0"/>
                </a:lnTo>
                <a:lnTo>
                  <a:pt x="900753" y="54591"/>
                </a:lnTo>
                <a:lnTo>
                  <a:pt x="723332" y="109182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grpSp>
        <p:nvGrpSpPr>
          <p:cNvPr id="25610" name="Group 38"/>
          <p:cNvGrpSpPr>
            <a:grpSpLocks/>
          </p:cNvGrpSpPr>
          <p:nvPr/>
        </p:nvGrpSpPr>
        <p:grpSpPr bwMode="auto">
          <a:xfrm>
            <a:off x="7162800" y="3887788"/>
            <a:ext cx="1657350" cy="2376487"/>
            <a:chOff x="4558" y="618"/>
            <a:chExt cx="1044" cy="1497"/>
          </a:xfrm>
        </p:grpSpPr>
        <p:pic>
          <p:nvPicPr>
            <p:cNvPr id="25642" name="Picture 34" descr="grade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8" y="663"/>
              <a:ext cx="1044" cy="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43" name="Text Box 35"/>
            <p:cNvSpPr txBox="1">
              <a:spLocks noChangeArrowheads="1"/>
            </p:cNvSpPr>
            <p:nvPr/>
          </p:nvSpPr>
          <p:spPr bwMode="auto">
            <a:xfrm>
              <a:off x="4558" y="1525"/>
              <a:ext cx="1044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GB" b="1">
                  <a:solidFill>
                    <a:srgbClr val="660066"/>
                  </a:solidFill>
                </a:rPr>
                <a:t>What level are we working at?</a:t>
              </a:r>
            </a:p>
          </p:txBody>
        </p:sp>
        <p:sp>
          <p:nvSpPr>
            <p:cNvPr id="25644" name="Rectangle 36"/>
            <p:cNvSpPr>
              <a:spLocks noChangeArrowheads="1"/>
            </p:cNvSpPr>
            <p:nvPr/>
          </p:nvSpPr>
          <p:spPr bwMode="auto">
            <a:xfrm>
              <a:off x="4558" y="618"/>
              <a:ext cx="1044" cy="149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25611" name="Group 20"/>
          <p:cNvGrpSpPr>
            <a:grpSpLocks/>
          </p:cNvGrpSpPr>
          <p:nvPr/>
        </p:nvGrpSpPr>
        <p:grpSpPr bwMode="auto">
          <a:xfrm>
            <a:off x="395288" y="3887788"/>
            <a:ext cx="1657350" cy="2376487"/>
            <a:chOff x="249" y="2205"/>
            <a:chExt cx="1044" cy="1497"/>
          </a:xfrm>
        </p:grpSpPr>
        <p:grpSp>
          <p:nvGrpSpPr>
            <p:cNvPr id="25637" name="Group 38"/>
            <p:cNvGrpSpPr>
              <a:grpSpLocks/>
            </p:cNvGrpSpPr>
            <p:nvPr/>
          </p:nvGrpSpPr>
          <p:grpSpPr bwMode="auto">
            <a:xfrm>
              <a:off x="249" y="2205"/>
              <a:ext cx="1044" cy="1497"/>
              <a:chOff x="4558" y="618"/>
              <a:chExt cx="1044" cy="1497"/>
            </a:xfrm>
          </p:grpSpPr>
          <p:pic>
            <p:nvPicPr>
              <p:cNvPr id="25639" name="Picture 34" descr="grade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58" y="663"/>
                <a:ext cx="1044" cy="8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640" name="Text Box 35"/>
              <p:cNvSpPr txBox="1">
                <a:spLocks noChangeArrowheads="1"/>
              </p:cNvSpPr>
              <p:nvPr/>
            </p:nvSpPr>
            <p:spPr bwMode="auto">
              <a:xfrm>
                <a:off x="4558" y="1525"/>
                <a:ext cx="1044" cy="5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GB" b="1">
                    <a:solidFill>
                      <a:srgbClr val="660066"/>
                    </a:solidFill>
                  </a:rPr>
                  <a:t>Where are we in our journey?</a:t>
                </a:r>
              </a:p>
            </p:txBody>
          </p:sp>
          <p:sp>
            <p:nvSpPr>
              <p:cNvPr id="25641" name="Rectangle 36"/>
              <p:cNvSpPr>
                <a:spLocks noChangeArrowheads="1"/>
              </p:cNvSpPr>
              <p:nvPr/>
            </p:nvSpPr>
            <p:spPr bwMode="auto">
              <a:xfrm>
                <a:off x="4558" y="618"/>
                <a:ext cx="1044" cy="149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pic>
          <p:nvPicPr>
            <p:cNvPr id="25638" name="Picture 19" descr="journey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" y="2205"/>
              <a:ext cx="1043" cy="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612" name="Line 4"/>
          <p:cNvSpPr>
            <a:spLocks noChangeShapeType="1"/>
          </p:cNvSpPr>
          <p:nvPr/>
        </p:nvSpPr>
        <p:spPr bwMode="auto">
          <a:xfrm>
            <a:off x="0" y="141287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5613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44" name="Rounded Rectangle 43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chemeClr val="bg1"/>
                </a:solidFill>
              </a:rPr>
              <a:t>Creative Entrepreneur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chemeClr val="bg1"/>
                </a:solidFill>
              </a:rPr>
              <a:t>Responsible Citizen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Independent Learner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Positive Thinker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Team Worker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Reflective Learner</a:t>
            </a:r>
          </a:p>
        </p:txBody>
      </p:sp>
      <p:sp>
        <p:nvSpPr>
          <p:cNvPr id="25632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25633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3" name="Rounded Rectangle 52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5636" name="Rectangle 9"/>
          <p:cNvSpPr>
            <a:spLocks noChangeArrowheads="1"/>
          </p:cNvSpPr>
          <p:nvPr/>
        </p:nvSpPr>
        <p:spPr bwMode="auto">
          <a:xfrm>
            <a:off x="2124075" y="44450"/>
            <a:ext cx="611505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800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4800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2800" b="1" u="sng">
                <a:latin typeface="Comic Sans MS" pitchFamily="66" charset="0"/>
              </a:rPr>
              <a:t>SELF ASSESSMENT</a:t>
            </a:r>
          </a:p>
          <a:p>
            <a:r>
              <a:rPr lang="en-US" sz="4800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12" descr="Student resources 04 bluegrey PPT 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03938"/>
            <a:ext cx="9144000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Rectangle 9"/>
          <p:cNvSpPr>
            <a:spLocks noChangeArrowheads="1"/>
          </p:cNvSpPr>
          <p:nvPr/>
        </p:nvSpPr>
        <p:spPr bwMode="auto">
          <a:xfrm>
            <a:off x="785813" y="3929063"/>
            <a:ext cx="7858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/>
              <a:t>. </a:t>
            </a:r>
          </a:p>
        </p:txBody>
      </p:sp>
      <p:sp>
        <p:nvSpPr>
          <p:cNvPr id="26628" name="TextBox 13"/>
          <p:cNvSpPr txBox="1">
            <a:spLocks noChangeArrowheads="1"/>
          </p:cNvSpPr>
          <p:nvPr/>
        </p:nvSpPr>
        <p:spPr bwMode="auto">
          <a:xfrm>
            <a:off x="857250" y="1428750"/>
            <a:ext cx="7358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2400"/>
              <a:t>How well do you understand the task?</a:t>
            </a:r>
          </a:p>
        </p:txBody>
      </p:sp>
      <p:sp>
        <p:nvSpPr>
          <p:cNvPr id="26629" name="TextBox 11"/>
          <p:cNvSpPr txBox="1">
            <a:spLocks noChangeArrowheads="1"/>
          </p:cNvSpPr>
          <p:nvPr/>
        </p:nvSpPr>
        <p:spPr bwMode="auto">
          <a:xfrm>
            <a:off x="928688" y="4857750"/>
            <a:ext cx="1857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b="1"/>
              <a:t>I don’t understand</a:t>
            </a:r>
          </a:p>
        </p:txBody>
      </p:sp>
      <p:sp>
        <p:nvSpPr>
          <p:cNvPr id="26630" name="TextBox 12"/>
          <p:cNvSpPr txBox="1">
            <a:spLocks noChangeArrowheads="1"/>
          </p:cNvSpPr>
          <p:nvPr/>
        </p:nvSpPr>
        <p:spPr bwMode="auto">
          <a:xfrm>
            <a:off x="3786188" y="4857750"/>
            <a:ext cx="1857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b="1"/>
              <a:t>I nearly  understand</a:t>
            </a:r>
          </a:p>
        </p:txBody>
      </p:sp>
      <p:sp>
        <p:nvSpPr>
          <p:cNvPr id="26631" name="TextBox 15"/>
          <p:cNvSpPr txBox="1">
            <a:spLocks noChangeArrowheads="1"/>
          </p:cNvSpPr>
          <p:nvPr/>
        </p:nvSpPr>
        <p:spPr bwMode="auto">
          <a:xfrm>
            <a:off x="6500813" y="4854575"/>
            <a:ext cx="1857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b="1"/>
              <a:t>I fully understand</a:t>
            </a:r>
          </a:p>
        </p:txBody>
      </p:sp>
      <p:sp>
        <p:nvSpPr>
          <p:cNvPr id="16" name="Oval 15"/>
          <p:cNvSpPr/>
          <p:nvPr/>
        </p:nvSpPr>
        <p:spPr>
          <a:xfrm>
            <a:off x="571500" y="2500313"/>
            <a:ext cx="2571750" cy="23574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3429000" y="2500313"/>
            <a:ext cx="2571750" cy="2357437"/>
          </a:xfrm>
          <a:prstGeom prst="ellipse">
            <a:avLst/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6286500" y="2428875"/>
            <a:ext cx="2571750" cy="235743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pic>
        <p:nvPicPr>
          <p:cNvPr id="26635" name="Picture 20" descr="http://r21freak.com/shadowobsessed/happy-face-istock-456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2714625"/>
            <a:ext cx="2628900" cy="175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6" name="Picture 2" descr="http://healthhabits.files.wordpress.com/2009/07/sad_face.jpg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2643188"/>
            <a:ext cx="2120900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7" name="Picture 4" descr="http://thumb11.shutterstock.com.edgesuite.net/display_pic_with_logo/3223/3223,1204826057,11/stock-photo-a-conceptual-image-of-a-very-puzzled-and-confused-cartoon-face-10159492.jpg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188" y="2500313"/>
            <a:ext cx="1792287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8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8" name="Rounded Rectangle 27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chemeClr val="bg1"/>
                </a:solidFill>
              </a:rPr>
              <a:t>Creative Entrepreneur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chemeClr val="bg1"/>
                </a:solidFill>
              </a:rPr>
              <a:t>Responsible Citizen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Independent Learner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Positive Thinker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Team Worker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Reflective Learner</a:t>
            </a:r>
          </a:p>
        </p:txBody>
      </p:sp>
      <p:sp>
        <p:nvSpPr>
          <p:cNvPr id="26657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26658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9" name="Rounded Rectangle 38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6661" name="Rectangle 9"/>
          <p:cNvSpPr>
            <a:spLocks noChangeArrowheads="1"/>
          </p:cNvSpPr>
          <p:nvPr/>
        </p:nvSpPr>
        <p:spPr bwMode="auto">
          <a:xfrm>
            <a:off x="2124075" y="44450"/>
            <a:ext cx="611505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800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4800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2800" b="1" u="sng">
                <a:latin typeface="Comic Sans MS" pitchFamily="66" charset="0"/>
              </a:rPr>
              <a:t>SELF ASSESSMENT</a:t>
            </a:r>
          </a:p>
          <a:p>
            <a:r>
              <a:rPr lang="en-US" sz="4800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26662" name="Line 4"/>
          <p:cNvSpPr>
            <a:spLocks noChangeShapeType="1"/>
          </p:cNvSpPr>
          <p:nvPr/>
        </p:nvSpPr>
        <p:spPr bwMode="auto">
          <a:xfrm>
            <a:off x="0" y="1403350"/>
            <a:ext cx="9115425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6663" name="Rectangle 9"/>
          <p:cNvSpPr>
            <a:spLocks noChangeArrowheads="1"/>
          </p:cNvSpPr>
          <p:nvPr/>
        </p:nvSpPr>
        <p:spPr bwMode="auto">
          <a:xfrm>
            <a:off x="3159125" y="836613"/>
            <a:ext cx="206057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Plenary Activity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9"/>
          <p:cNvSpPr>
            <a:spLocks noChangeArrowheads="1"/>
          </p:cNvSpPr>
          <p:nvPr/>
        </p:nvSpPr>
        <p:spPr bwMode="auto">
          <a:xfrm>
            <a:off x="2124075" y="44450"/>
            <a:ext cx="611505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4800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4800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2800" b="1" u="sng">
                <a:latin typeface="Comic Sans MS" pitchFamily="66" charset="0"/>
              </a:rPr>
              <a:t>SELF ASSESSMENT</a:t>
            </a:r>
          </a:p>
          <a:p>
            <a:r>
              <a:rPr lang="en-US" sz="4800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9088" y="1882775"/>
            <a:ext cx="8286750" cy="4786313"/>
          </a:xfrm>
        </p:spPr>
        <p:txBody>
          <a:bodyPr/>
          <a:lstStyle/>
          <a:p>
            <a:pPr marL="0" indent="0" eaLnBrk="1" hangingPunct="1">
              <a:buFontTx/>
              <a:buNone/>
              <a:defRPr/>
            </a:pPr>
            <a:endParaRPr lang="en-US" sz="1800" b="1" dirty="0" smtClean="0">
              <a:solidFill>
                <a:srgbClr val="002060"/>
              </a:solidFill>
              <a:ea typeface="Kozuka Gothic Pro M" pitchFamily="34" charset="-128"/>
            </a:endParaRPr>
          </a:p>
          <a:p>
            <a:pPr marL="0" indent="0" eaLnBrk="1" hangingPunct="1">
              <a:buFontTx/>
              <a:buNone/>
              <a:defRPr/>
            </a:pPr>
            <a:endParaRPr lang="en-US" sz="1800" b="1" dirty="0" smtClean="0">
              <a:solidFill>
                <a:srgbClr val="002060"/>
              </a:solidFill>
              <a:ea typeface="Kozuka Gothic Pro M" pitchFamily="34" charset="-128"/>
            </a:endParaRPr>
          </a:p>
          <a:p>
            <a:pPr marL="0" indent="0" eaLnBrk="1" hangingPunct="1">
              <a:buFontTx/>
              <a:buNone/>
              <a:defRPr/>
            </a:pPr>
            <a:endParaRPr lang="en-US" sz="1800" b="1" dirty="0" smtClean="0">
              <a:latin typeface="+mj-lt"/>
              <a:ea typeface="Kozuka Gothic Pro M" pitchFamily="34" charset="-128"/>
            </a:endParaRPr>
          </a:p>
          <a:p>
            <a:pPr marL="0" indent="0" eaLnBrk="1" hangingPunct="1">
              <a:buFontTx/>
              <a:buNone/>
              <a:defRPr/>
            </a:pPr>
            <a:endParaRPr lang="en-US" sz="1800" b="1" dirty="0" smtClean="0">
              <a:latin typeface="+mj-lt"/>
              <a:ea typeface="Kozuka Gothic Pro M" pitchFamily="34" charset="-128"/>
            </a:endParaRPr>
          </a:p>
          <a:p>
            <a:pPr marL="0" indent="0" eaLnBrk="1" hangingPunct="1">
              <a:buFontTx/>
              <a:buNone/>
              <a:defRPr/>
            </a:pPr>
            <a:endParaRPr lang="en-US" sz="1800" dirty="0" smtClean="0">
              <a:latin typeface="+mj-lt"/>
              <a:ea typeface="Kozuka Gothic Pro M" pitchFamily="34" charset="-128"/>
            </a:endParaRPr>
          </a:p>
          <a:p>
            <a:pPr marL="0" indent="0" eaLnBrk="1" hangingPunct="1">
              <a:buFontTx/>
              <a:buNone/>
              <a:defRPr/>
            </a:pPr>
            <a:endParaRPr lang="en-US" sz="1800" b="1" dirty="0" smtClean="0">
              <a:latin typeface="+mj-lt"/>
              <a:ea typeface="Kozuka Gothic Pro M" pitchFamily="34" charset="-128"/>
            </a:endParaRPr>
          </a:p>
          <a:p>
            <a:pPr marL="0" indent="0" eaLnBrk="1" hangingPunct="1">
              <a:buFontTx/>
              <a:buNone/>
              <a:defRPr/>
            </a:pPr>
            <a:endParaRPr lang="en-US" sz="1800" b="1" dirty="0" smtClean="0">
              <a:latin typeface="+mj-lt"/>
              <a:ea typeface="Kozuka Gothic Pro M" pitchFamily="34" charset="-128"/>
            </a:endParaRPr>
          </a:p>
          <a:p>
            <a:pPr marL="0" indent="0" eaLnBrk="1" hangingPunct="1">
              <a:buFontTx/>
              <a:buNone/>
              <a:defRPr/>
            </a:pPr>
            <a:endParaRPr lang="en-US" sz="1800" dirty="0" smtClean="0">
              <a:latin typeface="+mj-lt"/>
              <a:ea typeface="Kozuka Gothic Pro M" pitchFamily="34" charset="-128"/>
            </a:endParaRPr>
          </a:p>
          <a:p>
            <a:pPr marL="0" indent="0" eaLnBrk="1" hangingPunct="1">
              <a:defRPr/>
            </a:pPr>
            <a:endParaRPr lang="en-US" sz="1800" dirty="0" smtClean="0">
              <a:latin typeface="+mj-lt"/>
              <a:ea typeface="Kozuka Gothic Pro M" pitchFamily="34" charset="-128"/>
            </a:endParaRPr>
          </a:p>
          <a:p>
            <a:pPr marL="0" indent="0" eaLnBrk="1" hangingPunct="1">
              <a:defRPr/>
            </a:pPr>
            <a:endParaRPr lang="en-US" sz="1800" dirty="0" smtClean="0">
              <a:latin typeface="Arial Rounded MT Bold" pitchFamily="34" charset="0"/>
            </a:endParaRPr>
          </a:p>
          <a:p>
            <a:pPr marL="0" indent="0" eaLnBrk="1" hangingPunct="1">
              <a:defRPr/>
            </a:pPr>
            <a:endParaRPr lang="en-US" sz="1400" dirty="0" smtClean="0">
              <a:latin typeface="Arial Rounded MT Bold" pitchFamily="34" charset="0"/>
            </a:endParaRPr>
          </a:p>
          <a:p>
            <a:pPr marL="0" indent="0" eaLnBrk="1" hangingPunct="1">
              <a:defRPr/>
            </a:pPr>
            <a:endParaRPr lang="en-US" sz="1600" dirty="0" smtClean="0">
              <a:latin typeface="Franklin Gothic Demi Cond" pitchFamily="34" charset="0"/>
            </a:endParaRPr>
          </a:p>
          <a:p>
            <a:pPr marL="0" indent="0" eaLnBrk="1" hangingPunct="1">
              <a:defRPr/>
            </a:pPr>
            <a:endParaRPr lang="en-US" sz="1600" dirty="0" smtClean="0">
              <a:latin typeface="Franklin Gothic Demi Cond" pitchFamily="34" charset="0"/>
            </a:endParaRPr>
          </a:p>
          <a:p>
            <a:pPr marL="0" indent="0" eaLnBrk="1" hangingPunct="1">
              <a:buFontTx/>
              <a:buNone/>
              <a:defRPr/>
            </a:pPr>
            <a:endParaRPr lang="en-US" sz="1600" i="1" dirty="0" smtClean="0">
              <a:latin typeface="Franklin Gothic Demi Cond" pitchFamily="34" charset="0"/>
            </a:endParaRPr>
          </a:p>
        </p:txBody>
      </p:sp>
      <p:sp>
        <p:nvSpPr>
          <p:cNvPr id="27652" name="Line 4"/>
          <p:cNvSpPr>
            <a:spLocks noChangeShapeType="1"/>
          </p:cNvSpPr>
          <p:nvPr/>
        </p:nvSpPr>
        <p:spPr bwMode="auto">
          <a:xfrm>
            <a:off x="0" y="1403350"/>
            <a:ext cx="9115425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7653" name="Rectangle 9"/>
          <p:cNvSpPr>
            <a:spLocks noChangeArrowheads="1"/>
          </p:cNvSpPr>
          <p:nvPr/>
        </p:nvSpPr>
        <p:spPr bwMode="auto">
          <a:xfrm>
            <a:off x="3159125" y="836613"/>
            <a:ext cx="206057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Plenary Activity</a:t>
            </a:r>
          </a:p>
        </p:txBody>
      </p:sp>
      <p:pic>
        <p:nvPicPr>
          <p:cNvPr id="27654" name="Picture 2" descr="thinkingcapwhoa_co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025" y="4168775"/>
            <a:ext cx="2143125" cy="248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Callout 11"/>
          <p:cNvSpPr/>
          <p:nvPr/>
        </p:nvSpPr>
        <p:spPr>
          <a:xfrm>
            <a:off x="2248210" y="3954735"/>
            <a:ext cx="3500463" cy="2071702"/>
          </a:xfrm>
          <a:prstGeom prst="wedgeEllipseCallout">
            <a:avLst>
              <a:gd name="adj1" fmla="val 83266"/>
              <a:gd name="adj2" fmla="val 55254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On your post it notes…</a:t>
            </a:r>
          </a:p>
          <a:p>
            <a:pPr algn="ctr">
              <a:defRPr/>
            </a:pPr>
            <a:r>
              <a:rPr lang="en-GB" dirty="0"/>
              <a:t>Think about how you can improve your work. </a:t>
            </a:r>
          </a:p>
        </p:txBody>
      </p:sp>
      <p:pic>
        <p:nvPicPr>
          <p:cNvPr id="27658" name="Picture 2" descr="Post It Paper Pen Clip Ar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438" y="-26052463"/>
            <a:ext cx="202882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9" name="Picture 4" descr="http://t2.gstatic.com/images?q=tbn:iv7uPk4WKp0BSM: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525" y="1668463"/>
            <a:ext cx="1928813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0" name="Rectangle 5"/>
          <p:cNvSpPr>
            <a:spLocks noChangeArrowheads="1"/>
          </p:cNvSpPr>
          <p:nvPr/>
        </p:nvSpPr>
        <p:spPr bwMode="auto">
          <a:xfrm>
            <a:off x="104775" y="1739900"/>
            <a:ext cx="600075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4400">
                <a:solidFill>
                  <a:srgbClr val="003366"/>
                </a:solidFill>
                <a:latin typeface="Calibri" pitchFamily="34" charset="0"/>
                <a:cs typeface="Times New Roman" pitchFamily="18" charset="0"/>
              </a:rPr>
              <a:t>WWW (What Went Well)</a:t>
            </a:r>
            <a:endParaRPr lang="en-GB" sz="6000">
              <a:solidFill>
                <a:srgbClr val="003366"/>
              </a:solidFill>
            </a:endParaRPr>
          </a:p>
          <a:p>
            <a:pPr eaLnBrk="0" hangingPunct="0"/>
            <a:endParaRPr lang="en-GB" sz="4400">
              <a:solidFill>
                <a:srgbClr val="003366"/>
              </a:solidFill>
              <a:latin typeface="Calibri" pitchFamily="34" charset="0"/>
              <a:cs typeface="Times New Roman" pitchFamily="18" charset="0"/>
            </a:endParaRPr>
          </a:p>
          <a:p>
            <a:pPr eaLnBrk="0" hangingPunct="0"/>
            <a:r>
              <a:rPr lang="en-GB" sz="4400">
                <a:solidFill>
                  <a:srgbClr val="003366"/>
                </a:solidFill>
                <a:latin typeface="Calibri" pitchFamily="34" charset="0"/>
                <a:cs typeface="Times New Roman" pitchFamily="18" charset="0"/>
              </a:rPr>
              <a:t>EBI (Even Better If)</a:t>
            </a:r>
            <a:endParaRPr lang="en-GB" sz="8800">
              <a:solidFill>
                <a:srgbClr val="003366"/>
              </a:solidFill>
            </a:endParaRPr>
          </a:p>
        </p:txBody>
      </p:sp>
      <p:sp>
        <p:nvSpPr>
          <p:cNvPr id="27661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5" name="Rounded Rectangle 24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chemeClr val="bg1"/>
                </a:solidFill>
              </a:rPr>
              <a:t>Creative Entrepreneur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chemeClr val="bg1"/>
                </a:solidFill>
              </a:rPr>
              <a:t>Responsible Citizen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Independent Learner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Positive Thinker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Team Worker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Reflective Learner</a:t>
            </a:r>
          </a:p>
        </p:txBody>
      </p:sp>
      <p:sp>
        <p:nvSpPr>
          <p:cNvPr id="27680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27681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4" name="Rounded Rectangle 33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8" name="Text Box 40"/>
          <p:cNvSpPr txBox="1">
            <a:spLocks noChangeArrowheads="1"/>
          </p:cNvSpPr>
          <p:nvPr/>
        </p:nvSpPr>
        <p:spPr bwMode="auto">
          <a:xfrm>
            <a:off x="16101" y="332656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TASK 1 (LEVEL 4)</a:t>
            </a:r>
          </a:p>
        </p:txBody>
      </p:sp>
      <p:sp>
        <p:nvSpPr>
          <p:cNvPr id="28699" name="Text Box 37"/>
          <p:cNvSpPr txBox="1">
            <a:spLocks noChangeArrowheads="1"/>
          </p:cNvSpPr>
          <p:nvPr/>
        </p:nvSpPr>
        <p:spPr bwMode="auto">
          <a:xfrm>
            <a:off x="-418874" y="675556"/>
            <a:ext cx="6638926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Reflect the shapes in the mirror lines given below:</a:t>
            </a:r>
          </a:p>
        </p:txBody>
      </p:sp>
      <p:pic>
        <p:nvPicPr>
          <p:cNvPr id="28700" name="Picture 1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64" y="1196752"/>
            <a:ext cx="8736752" cy="5472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2" name="Text Box 40"/>
          <p:cNvSpPr txBox="1">
            <a:spLocks noChangeArrowheads="1"/>
          </p:cNvSpPr>
          <p:nvPr/>
        </p:nvSpPr>
        <p:spPr bwMode="auto">
          <a:xfrm>
            <a:off x="251520" y="116632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 dirty="0">
                <a:solidFill>
                  <a:srgbClr val="FF0000"/>
                </a:solidFill>
              </a:rPr>
              <a:t>TASK 2 (LEVEL 4)</a:t>
            </a:r>
          </a:p>
        </p:txBody>
      </p:sp>
      <p:sp>
        <p:nvSpPr>
          <p:cNvPr id="29723" name="Text Box 37"/>
          <p:cNvSpPr txBox="1">
            <a:spLocks noChangeArrowheads="1"/>
          </p:cNvSpPr>
          <p:nvPr/>
        </p:nvSpPr>
        <p:spPr bwMode="auto">
          <a:xfrm>
            <a:off x="-183455" y="459532"/>
            <a:ext cx="6638926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Reflect the shapes in the mirror lines given below:</a:t>
            </a:r>
          </a:p>
        </p:txBody>
      </p:sp>
      <p:pic>
        <p:nvPicPr>
          <p:cNvPr id="29724" name="Picture 2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189" y="1268760"/>
            <a:ext cx="8778208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30741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30742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30745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solidFill>
                  <a:srgbClr val="000000"/>
                </a:solidFill>
                <a:latin typeface="Comic Sans MS" pitchFamily="66" charset="0"/>
              </a:rPr>
              <a:t>REFLECTIONS</a:t>
            </a:r>
          </a:p>
          <a:p>
            <a:endParaRPr lang="en-US" sz="3000" b="1" u="sng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30746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TASK 3 (LEVEL 4)</a:t>
            </a:r>
          </a:p>
        </p:txBody>
      </p:sp>
      <p:sp>
        <p:nvSpPr>
          <p:cNvPr id="30747" name="Text Box 37"/>
          <p:cNvSpPr txBox="1">
            <a:spLocks noChangeArrowheads="1"/>
          </p:cNvSpPr>
          <p:nvPr/>
        </p:nvSpPr>
        <p:spPr bwMode="auto">
          <a:xfrm>
            <a:off x="-468313" y="1327150"/>
            <a:ext cx="6638926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Reflect the shapes in the mirror lines given below:</a:t>
            </a:r>
          </a:p>
        </p:txBody>
      </p:sp>
      <p:pic>
        <p:nvPicPr>
          <p:cNvPr id="30748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1727200"/>
            <a:ext cx="8097837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31765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31766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31769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solidFill>
                  <a:srgbClr val="000000"/>
                </a:solidFill>
                <a:latin typeface="Comic Sans MS" pitchFamily="66" charset="0"/>
              </a:rPr>
              <a:t>REFLECTIONS</a:t>
            </a:r>
          </a:p>
          <a:p>
            <a:endParaRPr lang="en-US" sz="3000" b="1" u="sng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31770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TASK 4 (LEVEL 4)</a:t>
            </a:r>
          </a:p>
        </p:txBody>
      </p:sp>
      <p:sp>
        <p:nvSpPr>
          <p:cNvPr id="31771" name="Text Box 37"/>
          <p:cNvSpPr txBox="1">
            <a:spLocks noChangeArrowheads="1"/>
          </p:cNvSpPr>
          <p:nvPr/>
        </p:nvSpPr>
        <p:spPr bwMode="auto">
          <a:xfrm>
            <a:off x="-468313" y="1327150"/>
            <a:ext cx="6638926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Reflect the shapes in the mirror lines given below:</a:t>
            </a:r>
          </a:p>
        </p:txBody>
      </p:sp>
      <p:pic>
        <p:nvPicPr>
          <p:cNvPr id="3177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13" y="1844675"/>
            <a:ext cx="8097837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32789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32790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32793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solidFill>
                  <a:srgbClr val="000000"/>
                </a:solidFill>
                <a:latin typeface="Comic Sans MS" pitchFamily="66" charset="0"/>
              </a:rPr>
              <a:t>REFLECTIONS</a:t>
            </a:r>
          </a:p>
          <a:p>
            <a:endParaRPr lang="en-US" sz="3000" b="1" u="sng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32794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TASK 5 (LEVEL 4)</a:t>
            </a:r>
          </a:p>
        </p:txBody>
      </p:sp>
      <p:sp>
        <p:nvSpPr>
          <p:cNvPr id="32795" name="Text Box 37"/>
          <p:cNvSpPr txBox="1">
            <a:spLocks noChangeArrowheads="1"/>
          </p:cNvSpPr>
          <p:nvPr/>
        </p:nvSpPr>
        <p:spPr bwMode="auto">
          <a:xfrm>
            <a:off x="-468313" y="1327150"/>
            <a:ext cx="6638926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Reflect the shapes in the mirror lines given below:</a:t>
            </a:r>
          </a:p>
        </p:txBody>
      </p:sp>
      <p:pic>
        <p:nvPicPr>
          <p:cNvPr id="32796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1720850"/>
            <a:ext cx="8040688" cy="506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1"/>
          <p:cNvGrpSpPr>
            <a:grpSpLocks/>
          </p:cNvGrpSpPr>
          <p:nvPr/>
        </p:nvGrpSpPr>
        <p:grpSpPr bwMode="auto">
          <a:xfrm rot="60000">
            <a:off x="1619248" y="807555"/>
            <a:ext cx="6337127" cy="5722615"/>
            <a:chOff x="1619250" y="1446213"/>
            <a:chExt cx="5457825" cy="5362575"/>
          </a:xfrm>
        </p:grpSpPr>
        <p:pic>
          <p:nvPicPr>
            <p:cNvPr id="33820" name="Picture 2" descr="Screen Clippi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9250" y="1446213"/>
              <a:ext cx="5457825" cy="5362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Rectangle 26"/>
            <p:cNvSpPr/>
            <p:nvPr/>
          </p:nvSpPr>
          <p:spPr>
            <a:xfrm>
              <a:off x="1619250" y="1446213"/>
              <a:ext cx="431800" cy="1365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33819" name="Text Box 40"/>
          <p:cNvSpPr txBox="1">
            <a:spLocks noChangeArrowheads="1"/>
          </p:cNvSpPr>
          <p:nvPr/>
        </p:nvSpPr>
        <p:spPr bwMode="auto">
          <a:xfrm>
            <a:off x="251520" y="332656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 dirty="0">
                <a:solidFill>
                  <a:srgbClr val="FF0000"/>
                </a:solidFill>
              </a:rPr>
              <a:t>TASK 6 (LEVEL 4)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34837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34838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34841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solidFill>
                  <a:srgbClr val="000000"/>
                </a:solidFill>
                <a:latin typeface="Comic Sans MS" pitchFamily="66" charset="0"/>
              </a:rPr>
              <a:t>REFLECTIONS</a:t>
            </a:r>
          </a:p>
          <a:p>
            <a:endParaRPr lang="en-US" sz="3000" b="1" u="sng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34842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TASK 7 (LEVEL 5)</a:t>
            </a:r>
          </a:p>
        </p:txBody>
      </p:sp>
      <p:pic>
        <p:nvPicPr>
          <p:cNvPr id="34843" name="Picture 3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446213"/>
            <a:ext cx="3233738" cy="255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34844" name="Picture 3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838" y="1412875"/>
            <a:ext cx="3209925" cy="2560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34845" name="Picture 3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013" y="4119563"/>
            <a:ext cx="3206750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34846" name="Picture 3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181475"/>
            <a:ext cx="3227388" cy="2551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34847" name="Rectangle 1"/>
          <p:cNvSpPr>
            <a:spLocks noChangeArrowheads="1"/>
          </p:cNvSpPr>
          <p:nvPr/>
        </p:nvSpPr>
        <p:spPr bwMode="auto">
          <a:xfrm>
            <a:off x="-74613" y="1309688"/>
            <a:ext cx="542926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1)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34848" name="Rectangle 1"/>
          <p:cNvSpPr>
            <a:spLocks noChangeArrowheads="1"/>
          </p:cNvSpPr>
          <p:nvPr/>
        </p:nvSpPr>
        <p:spPr bwMode="auto">
          <a:xfrm>
            <a:off x="4435475" y="1311275"/>
            <a:ext cx="544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2)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34849" name="Rectangle 1"/>
          <p:cNvSpPr>
            <a:spLocks noChangeArrowheads="1"/>
          </p:cNvSpPr>
          <p:nvPr/>
        </p:nvSpPr>
        <p:spPr bwMode="auto">
          <a:xfrm>
            <a:off x="-36513" y="4048125"/>
            <a:ext cx="5445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3)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34850" name="Rectangle 1"/>
          <p:cNvSpPr>
            <a:spLocks noChangeArrowheads="1"/>
          </p:cNvSpPr>
          <p:nvPr/>
        </p:nvSpPr>
        <p:spPr bwMode="auto">
          <a:xfrm>
            <a:off x="4467225" y="4048125"/>
            <a:ext cx="5445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4)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34851" name="TextBox 1"/>
          <p:cNvSpPr txBox="1">
            <a:spLocks noChangeArrowheads="1"/>
          </p:cNvSpPr>
          <p:nvPr/>
        </p:nvSpPr>
        <p:spPr bwMode="auto">
          <a:xfrm>
            <a:off x="3176588" y="3416300"/>
            <a:ext cx="15843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000000"/>
                </a:solidFill>
              </a:rPr>
              <a:t>Reflect in the line x = -1 </a:t>
            </a:r>
          </a:p>
        </p:txBody>
      </p:sp>
      <p:sp>
        <p:nvSpPr>
          <p:cNvPr id="34852" name="TextBox 29"/>
          <p:cNvSpPr txBox="1">
            <a:spLocks noChangeArrowheads="1"/>
          </p:cNvSpPr>
          <p:nvPr/>
        </p:nvSpPr>
        <p:spPr bwMode="auto">
          <a:xfrm>
            <a:off x="7627938" y="3430588"/>
            <a:ext cx="1584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000000"/>
                </a:solidFill>
              </a:rPr>
              <a:t>Reflect in the line y = 1 </a:t>
            </a:r>
          </a:p>
        </p:txBody>
      </p:sp>
      <p:sp>
        <p:nvSpPr>
          <p:cNvPr id="34853" name="TextBox 30"/>
          <p:cNvSpPr txBox="1">
            <a:spLocks noChangeArrowheads="1"/>
          </p:cNvSpPr>
          <p:nvPr/>
        </p:nvSpPr>
        <p:spPr bwMode="auto">
          <a:xfrm>
            <a:off x="3176588" y="6211888"/>
            <a:ext cx="1584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000000"/>
                </a:solidFill>
              </a:rPr>
              <a:t>Reflect in the line x = 2 </a:t>
            </a:r>
          </a:p>
        </p:txBody>
      </p:sp>
      <p:sp>
        <p:nvSpPr>
          <p:cNvPr id="34854" name="TextBox 31"/>
          <p:cNvSpPr txBox="1">
            <a:spLocks noChangeArrowheads="1"/>
          </p:cNvSpPr>
          <p:nvPr/>
        </p:nvSpPr>
        <p:spPr bwMode="auto">
          <a:xfrm>
            <a:off x="7650163" y="6238875"/>
            <a:ext cx="1584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000000"/>
                </a:solidFill>
              </a:rPr>
              <a:t>Reflect in the line y = -1 </a:t>
            </a:r>
          </a:p>
        </p:txBody>
      </p:sp>
      <p:sp>
        <p:nvSpPr>
          <p:cNvPr id="34855" name="TextBox 7"/>
          <p:cNvSpPr txBox="1">
            <a:spLocks noChangeArrowheads="1"/>
          </p:cNvSpPr>
          <p:nvPr/>
        </p:nvSpPr>
        <p:spPr bwMode="auto">
          <a:xfrm>
            <a:off x="3219450" y="273526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4856" name="TextBox 129"/>
          <p:cNvSpPr txBox="1">
            <a:spLocks noChangeArrowheads="1"/>
          </p:cNvSpPr>
          <p:nvPr/>
        </p:nvSpPr>
        <p:spPr bwMode="auto">
          <a:xfrm>
            <a:off x="1749425" y="135731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34857" name="TextBox 7"/>
          <p:cNvSpPr txBox="1">
            <a:spLocks noChangeArrowheads="1"/>
          </p:cNvSpPr>
          <p:nvPr/>
        </p:nvSpPr>
        <p:spPr bwMode="auto">
          <a:xfrm>
            <a:off x="7696200" y="271938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4858" name="TextBox 129"/>
          <p:cNvSpPr txBox="1">
            <a:spLocks noChangeArrowheads="1"/>
          </p:cNvSpPr>
          <p:nvPr/>
        </p:nvSpPr>
        <p:spPr bwMode="auto">
          <a:xfrm>
            <a:off x="6227763" y="134143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34859" name="TextBox 7"/>
          <p:cNvSpPr txBox="1">
            <a:spLocks noChangeArrowheads="1"/>
          </p:cNvSpPr>
          <p:nvPr/>
        </p:nvSpPr>
        <p:spPr bwMode="auto">
          <a:xfrm>
            <a:off x="3232150" y="547211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4860" name="TextBox 129"/>
          <p:cNvSpPr txBox="1">
            <a:spLocks noChangeArrowheads="1"/>
          </p:cNvSpPr>
          <p:nvPr/>
        </p:nvSpPr>
        <p:spPr bwMode="auto">
          <a:xfrm>
            <a:off x="1763713" y="409416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34861" name="TextBox 7"/>
          <p:cNvSpPr txBox="1">
            <a:spLocks noChangeArrowheads="1"/>
          </p:cNvSpPr>
          <p:nvPr/>
        </p:nvSpPr>
        <p:spPr bwMode="auto">
          <a:xfrm>
            <a:off x="7681913" y="5441950"/>
            <a:ext cx="215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4862" name="TextBox 129"/>
          <p:cNvSpPr txBox="1">
            <a:spLocks noChangeArrowheads="1"/>
          </p:cNvSpPr>
          <p:nvPr/>
        </p:nvSpPr>
        <p:spPr bwMode="auto">
          <a:xfrm>
            <a:off x="6240463" y="4076700"/>
            <a:ext cx="215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888" y="4121150"/>
            <a:ext cx="3190875" cy="261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3584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4181475"/>
            <a:ext cx="3195637" cy="2551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35844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538" y="1412875"/>
            <a:ext cx="3197225" cy="25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pic>
        <p:nvPicPr>
          <p:cNvPr id="35845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1458913"/>
            <a:ext cx="3214688" cy="254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kx="3284103" algn="bl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</p:pic>
      <p:sp>
        <p:nvSpPr>
          <p:cNvPr id="35846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35865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35866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35869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solidFill>
                  <a:srgbClr val="000000"/>
                </a:solidFill>
                <a:latin typeface="Comic Sans MS" pitchFamily="66" charset="0"/>
              </a:rPr>
              <a:t>REFLECTIONS</a:t>
            </a:r>
          </a:p>
          <a:p>
            <a:endParaRPr lang="en-US" sz="3000" b="1" u="sng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35870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FF0000"/>
                </a:solidFill>
              </a:rPr>
              <a:t>TASK 8 (LEVEL 5)</a:t>
            </a:r>
          </a:p>
        </p:txBody>
      </p:sp>
      <p:sp>
        <p:nvSpPr>
          <p:cNvPr id="35871" name="Rectangle 1"/>
          <p:cNvSpPr>
            <a:spLocks noChangeArrowheads="1"/>
          </p:cNvSpPr>
          <p:nvPr/>
        </p:nvSpPr>
        <p:spPr bwMode="auto">
          <a:xfrm>
            <a:off x="-74613" y="1309688"/>
            <a:ext cx="542926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1)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35872" name="Rectangle 1"/>
          <p:cNvSpPr>
            <a:spLocks noChangeArrowheads="1"/>
          </p:cNvSpPr>
          <p:nvPr/>
        </p:nvSpPr>
        <p:spPr bwMode="auto">
          <a:xfrm>
            <a:off x="4435475" y="1311275"/>
            <a:ext cx="544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2)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35873" name="Rectangle 1"/>
          <p:cNvSpPr>
            <a:spLocks noChangeArrowheads="1"/>
          </p:cNvSpPr>
          <p:nvPr/>
        </p:nvSpPr>
        <p:spPr bwMode="auto">
          <a:xfrm>
            <a:off x="-36513" y="4048125"/>
            <a:ext cx="5445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3)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35874" name="Rectangle 1"/>
          <p:cNvSpPr>
            <a:spLocks noChangeArrowheads="1"/>
          </p:cNvSpPr>
          <p:nvPr/>
        </p:nvSpPr>
        <p:spPr bwMode="auto">
          <a:xfrm>
            <a:off x="4467225" y="4048125"/>
            <a:ext cx="5445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4) 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35875" name="TextBox 1"/>
          <p:cNvSpPr txBox="1">
            <a:spLocks noChangeArrowheads="1"/>
          </p:cNvSpPr>
          <p:nvPr/>
        </p:nvSpPr>
        <p:spPr bwMode="auto">
          <a:xfrm>
            <a:off x="3176588" y="3416300"/>
            <a:ext cx="15843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000000"/>
                </a:solidFill>
              </a:rPr>
              <a:t>Reflect in the line y = 0 </a:t>
            </a:r>
          </a:p>
        </p:txBody>
      </p:sp>
      <p:sp>
        <p:nvSpPr>
          <p:cNvPr id="35876" name="TextBox 29"/>
          <p:cNvSpPr txBox="1">
            <a:spLocks noChangeArrowheads="1"/>
          </p:cNvSpPr>
          <p:nvPr/>
        </p:nvSpPr>
        <p:spPr bwMode="auto">
          <a:xfrm>
            <a:off x="7627938" y="3430588"/>
            <a:ext cx="1584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000000"/>
                </a:solidFill>
              </a:rPr>
              <a:t>Reflect in the line x = 0 </a:t>
            </a:r>
          </a:p>
        </p:txBody>
      </p:sp>
      <p:sp>
        <p:nvSpPr>
          <p:cNvPr id="35877" name="TextBox 30"/>
          <p:cNvSpPr txBox="1">
            <a:spLocks noChangeArrowheads="1"/>
          </p:cNvSpPr>
          <p:nvPr/>
        </p:nvSpPr>
        <p:spPr bwMode="auto">
          <a:xfrm>
            <a:off x="3176588" y="6211888"/>
            <a:ext cx="1584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000000"/>
                </a:solidFill>
              </a:rPr>
              <a:t>Reflect in the line y = x </a:t>
            </a:r>
          </a:p>
        </p:txBody>
      </p:sp>
      <p:sp>
        <p:nvSpPr>
          <p:cNvPr id="35878" name="TextBox 31"/>
          <p:cNvSpPr txBox="1">
            <a:spLocks noChangeArrowheads="1"/>
          </p:cNvSpPr>
          <p:nvPr/>
        </p:nvSpPr>
        <p:spPr bwMode="auto">
          <a:xfrm>
            <a:off x="7650163" y="6238875"/>
            <a:ext cx="1584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solidFill>
                  <a:srgbClr val="000000"/>
                </a:solidFill>
              </a:rPr>
              <a:t>Reflect in the line y = -x </a:t>
            </a:r>
          </a:p>
        </p:txBody>
      </p:sp>
      <p:sp>
        <p:nvSpPr>
          <p:cNvPr id="35879" name="TextBox 7"/>
          <p:cNvSpPr txBox="1">
            <a:spLocks noChangeArrowheads="1"/>
          </p:cNvSpPr>
          <p:nvPr/>
        </p:nvSpPr>
        <p:spPr bwMode="auto">
          <a:xfrm>
            <a:off x="3087688" y="2873375"/>
            <a:ext cx="215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5880" name="TextBox 129"/>
          <p:cNvSpPr txBox="1">
            <a:spLocks noChangeArrowheads="1"/>
          </p:cNvSpPr>
          <p:nvPr/>
        </p:nvSpPr>
        <p:spPr bwMode="auto">
          <a:xfrm>
            <a:off x="1749425" y="135731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35881" name="TextBox 7"/>
          <p:cNvSpPr txBox="1">
            <a:spLocks noChangeArrowheads="1"/>
          </p:cNvSpPr>
          <p:nvPr/>
        </p:nvSpPr>
        <p:spPr bwMode="auto">
          <a:xfrm>
            <a:off x="7696200" y="271938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5882" name="TextBox 129"/>
          <p:cNvSpPr txBox="1">
            <a:spLocks noChangeArrowheads="1"/>
          </p:cNvSpPr>
          <p:nvPr/>
        </p:nvSpPr>
        <p:spPr bwMode="auto">
          <a:xfrm>
            <a:off x="6011863" y="125888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35883" name="TextBox 7"/>
          <p:cNvSpPr txBox="1">
            <a:spLocks noChangeArrowheads="1"/>
          </p:cNvSpPr>
          <p:nvPr/>
        </p:nvSpPr>
        <p:spPr bwMode="auto">
          <a:xfrm>
            <a:off x="3236913" y="544036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5884" name="TextBox 129"/>
          <p:cNvSpPr txBox="1">
            <a:spLocks noChangeArrowheads="1"/>
          </p:cNvSpPr>
          <p:nvPr/>
        </p:nvSpPr>
        <p:spPr bwMode="auto">
          <a:xfrm>
            <a:off x="1766888" y="4062413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  <p:sp>
        <p:nvSpPr>
          <p:cNvPr id="35885" name="TextBox 7"/>
          <p:cNvSpPr txBox="1">
            <a:spLocks noChangeArrowheads="1"/>
          </p:cNvSpPr>
          <p:nvPr/>
        </p:nvSpPr>
        <p:spPr bwMode="auto">
          <a:xfrm>
            <a:off x="7713663" y="542448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35886" name="TextBox 129"/>
          <p:cNvSpPr txBox="1">
            <a:spLocks noChangeArrowheads="1"/>
          </p:cNvSpPr>
          <p:nvPr/>
        </p:nvSpPr>
        <p:spPr bwMode="auto">
          <a:xfrm>
            <a:off x="6243638" y="4046538"/>
            <a:ext cx="215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00"/>
                </a:solidFill>
              </a:rPr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Line 4"/>
          <p:cNvSpPr>
            <a:spLocks noChangeShapeType="1"/>
          </p:cNvSpPr>
          <p:nvPr/>
        </p:nvSpPr>
        <p:spPr bwMode="auto">
          <a:xfrm>
            <a:off x="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0" name="Rounded Rectangle 59"/>
          <p:cNvSpPr/>
          <p:nvPr/>
        </p:nvSpPr>
        <p:spPr>
          <a:xfrm>
            <a:off x="1500165" y="1"/>
            <a:ext cx="1643075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Creative Entrepreneur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0195" y="1"/>
            <a:ext cx="1555007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700" b="1" dirty="0">
                <a:solidFill>
                  <a:srgbClr val="FFFFFF"/>
                </a:solidFill>
              </a:rPr>
              <a:t>Responsible Citizen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43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Independent Learner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Positive Thinker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870720" y="2"/>
            <a:ext cx="1259632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Team Worker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86315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rgbClr val="FFFFFF"/>
                </a:solidFill>
              </a:rPr>
              <a:t>Reflective Learner</a:t>
            </a:r>
          </a:p>
        </p:txBody>
      </p:sp>
      <p:sp>
        <p:nvSpPr>
          <p:cNvPr id="36885" name="Rectangle 9"/>
          <p:cNvSpPr>
            <a:spLocks noChangeArrowheads="1"/>
          </p:cNvSpPr>
          <p:nvPr/>
        </p:nvSpPr>
        <p:spPr bwMode="auto">
          <a:xfrm>
            <a:off x="0" y="428625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Enterprise Skills</a:t>
            </a:r>
          </a:p>
        </p:txBody>
      </p:sp>
      <p:sp>
        <p:nvSpPr>
          <p:cNvPr id="36886" name="Rectangle 2"/>
          <p:cNvSpPr txBox="1">
            <a:spLocks noChangeArrowheads="1"/>
          </p:cNvSpPr>
          <p:nvPr/>
        </p:nvSpPr>
        <p:spPr bwMode="auto">
          <a:xfrm>
            <a:off x="5357813" y="485775"/>
            <a:ext cx="37861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r>
              <a:rPr lang="en-US" sz="2400">
                <a:solidFill>
                  <a:srgbClr val="336699"/>
                </a:solidFill>
                <a:latin typeface="Franklin Gothic Demi Cond" pitchFamily="34" charset="0"/>
              </a:rPr>
              <a:t>Which ones are you using?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0" y="571500"/>
            <a:ext cx="2051050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5929313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srgbClr val="FFFFFF"/>
              </a:solidFill>
            </a:endParaRPr>
          </a:p>
        </p:txBody>
      </p:sp>
      <p:sp>
        <p:nvSpPr>
          <p:cNvPr id="36889" name="Rectangle 9"/>
          <p:cNvSpPr>
            <a:spLocks noChangeArrowheads="1"/>
          </p:cNvSpPr>
          <p:nvPr/>
        </p:nvSpPr>
        <p:spPr bwMode="auto">
          <a:xfrm>
            <a:off x="2462213" y="41433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	</a:t>
            </a: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	</a:t>
            </a:r>
          </a:p>
          <a:p>
            <a:r>
              <a:rPr lang="en-US" sz="3000" b="1" u="sng">
                <a:solidFill>
                  <a:srgbClr val="000000"/>
                </a:solidFill>
                <a:latin typeface="Comic Sans MS" pitchFamily="66" charset="0"/>
              </a:rPr>
              <a:t>REFLECTIONS</a:t>
            </a:r>
          </a:p>
          <a:p>
            <a:endParaRPr lang="en-US" sz="3000" b="1" u="sng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en-US" sz="3000" b="1">
                <a:solidFill>
                  <a:srgbClr val="C00000"/>
                </a:solidFill>
                <a:latin typeface="Corbel" pitchFamily="34" charset="0"/>
              </a:rPr>
              <a:t>               </a:t>
            </a:r>
          </a:p>
        </p:txBody>
      </p:sp>
      <p:sp>
        <p:nvSpPr>
          <p:cNvPr id="36890" name="Text Box 40"/>
          <p:cNvSpPr txBox="1">
            <a:spLocks noChangeArrowheads="1"/>
          </p:cNvSpPr>
          <p:nvPr/>
        </p:nvSpPr>
        <p:spPr bwMode="auto">
          <a:xfrm>
            <a:off x="-33338" y="984250"/>
            <a:ext cx="6692901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2400" b="1" u="sng">
                <a:solidFill>
                  <a:srgbClr val="7030A0"/>
                </a:solidFill>
              </a:rPr>
              <a:t>EXTENSION 1 (LEVEL 5)</a:t>
            </a:r>
          </a:p>
        </p:txBody>
      </p:sp>
      <p:sp>
        <p:nvSpPr>
          <p:cNvPr id="36891" name="Text Box 37"/>
          <p:cNvSpPr txBox="1">
            <a:spLocks noChangeArrowheads="1"/>
          </p:cNvSpPr>
          <p:nvPr/>
        </p:nvSpPr>
        <p:spPr bwMode="auto">
          <a:xfrm>
            <a:off x="-468313" y="1327150"/>
            <a:ext cx="6638926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sz="2000">
                <a:solidFill>
                  <a:srgbClr val="000000"/>
                </a:solidFill>
              </a:rPr>
              <a:t>Reflect the shapes in the mirror lines given below:</a:t>
            </a:r>
          </a:p>
        </p:txBody>
      </p:sp>
      <p:pic>
        <p:nvPicPr>
          <p:cNvPr id="36892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17"/>
          <a:stretch>
            <a:fillRect/>
          </a:stretch>
        </p:blipFill>
        <p:spPr bwMode="auto">
          <a:xfrm>
            <a:off x="-14288" y="1844675"/>
            <a:ext cx="9144001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7703</TotalTime>
  <Words>1654</Words>
  <Application>Microsoft Office PowerPoint</Application>
  <PresentationFormat>On-screen Show (4:3)</PresentationFormat>
  <Paragraphs>699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Comic Sans MS</vt:lpstr>
      <vt:lpstr>Kozuka Gothic Pro M</vt:lpstr>
      <vt:lpstr>Franklin Gothic Demi Cond</vt:lpstr>
      <vt:lpstr>Corbel</vt:lpstr>
      <vt:lpstr>Times New Roman</vt:lpstr>
      <vt:lpstr>Franklin Gothic Demi</vt:lpstr>
      <vt:lpstr>Calibri</vt:lpstr>
      <vt:lpstr>Arial Rounded MT Bold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Mr Mistry</dc:creator>
  <cp:lastModifiedBy>FRASER-JONES Laura</cp:lastModifiedBy>
  <cp:revision>1436</cp:revision>
  <cp:lastPrinted>2016-11-29T02:22:37Z</cp:lastPrinted>
  <dcterms:created xsi:type="dcterms:W3CDTF">2009-08-27T13:24:46Z</dcterms:created>
  <dcterms:modified xsi:type="dcterms:W3CDTF">2016-11-29T02:25:37Z</dcterms:modified>
</cp:coreProperties>
</file>
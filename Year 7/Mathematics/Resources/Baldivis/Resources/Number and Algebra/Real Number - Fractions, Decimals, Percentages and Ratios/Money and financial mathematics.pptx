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258" r:id="rId5"/>
    <p:sldId id="303" r:id="rId6"/>
    <p:sldId id="309" r:id="rId7"/>
    <p:sldId id="308" r:id="rId8"/>
    <p:sldId id="313" r:id="rId9"/>
    <p:sldId id="311" r:id="rId10"/>
    <p:sldId id="310" r:id="rId11"/>
    <p:sldId id="314" r:id="rId12"/>
    <p:sldId id="316" r:id="rId13"/>
    <p:sldId id="317" r:id="rId14"/>
    <p:sldId id="315" r:id="rId15"/>
    <p:sldId id="318" r:id="rId16"/>
    <p:sldId id="323" r:id="rId17"/>
    <p:sldId id="324" r:id="rId18"/>
    <p:sldId id="312" r:id="rId19"/>
    <p:sldId id="321" r:id="rId20"/>
    <p:sldId id="325" r:id="rId21"/>
    <p:sldId id="327" r:id="rId22"/>
    <p:sldId id="320" r:id="rId23"/>
    <p:sldId id="329" r:id="rId24"/>
    <p:sldId id="326" r:id="rId25"/>
    <p:sldId id="319" r:id="rId26"/>
    <p:sldId id="330" r:id="rId27"/>
    <p:sldId id="333" r:id="rId28"/>
    <p:sldId id="328" r:id="rId29"/>
    <p:sldId id="331" r:id="rId30"/>
    <p:sldId id="332" r:id="rId31"/>
    <p:sldId id="335" r:id="rId32"/>
    <p:sldId id="334" r:id="rId33"/>
    <p:sldId id="337" r:id="rId34"/>
    <p:sldId id="336" r:id="rId35"/>
    <p:sldId id="292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7" d="100"/>
          <a:sy n="67" d="100"/>
        </p:scale>
        <p:origin x="147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your own front page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/>
              <a:t>Name </a:t>
            </a:r>
          </a:p>
          <a:p>
            <a:pPr>
              <a:buFontTx/>
              <a:buChar char="-"/>
            </a:pPr>
            <a:r>
              <a:rPr lang="en-AU" dirty="0"/>
              <a:t>Class</a:t>
            </a:r>
          </a:p>
          <a:p>
            <a:pPr>
              <a:buFontTx/>
              <a:buChar char="-"/>
            </a:pPr>
            <a:r>
              <a:rPr lang="en-AU" dirty="0"/>
              <a:t>Teachers Name</a:t>
            </a:r>
          </a:p>
          <a:p>
            <a:pPr>
              <a:buFontTx/>
              <a:buChar char="-"/>
            </a:pPr>
            <a:r>
              <a:rPr lang="en-AU" dirty="0"/>
              <a:t>Semester 1 Term 1</a:t>
            </a:r>
          </a:p>
          <a:p>
            <a:pPr>
              <a:buFontTx/>
              <a:buChar char="-"/>
            </a:pPr>
            <a:r>
              <a:rPr lang="en-AU" dirty="0"/>
              <a:t>Page number 1</a:t>
            </a:r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Estimating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1511" y="2154052"/>
            <a:ext cx="55047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An estimate of how much we have to pay is useful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1511" y="2693798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000" b="1" dirty="0"/>
              <a:t>Leading digit estimation </a:t>
            </a:r>
          </a:p>
          <a:p>
            <a:r>
              <a:rPr lang="en-AU" sz="2000" dirty="0"/>
              <a:t>Rounding to the first digit gives a fairly rough estimate, but is close enough for many purposes.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983666"/>
            <a:ext cx="5414633" cy="308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Estimating</a:t>
            </a:r>
          </a:p>
          <a:p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773269"/>
            <a:ext cx="3451485" cy="8661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813" y="4293096"/>
            <a:ext cx="3546663" cy="900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56248" y="3735401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6248" y="2201345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</p:spTree>
    <p:extLst>
      <p:ext uri="{BB962C8B-B14F-4D97-AF65-F5344CB8AC3E}">
        <p14:creationId xmlns:p14="http://schemas.microsoft.com/office/powerpoint/2010/main" val="2440636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0853" y="260648"/>
            <a:ext cx="3106688" cy="490066"/>
          </a:xfrm>
        </p:spPr>
        <p:txBody>
          <a:bodyPr>
            <a:normAutofit fontScale="90000"/>
          </a:bodyPr>
          <a:lstStyle/>
          <a:p>
            <a:r>
              <a:rPr lang="en-AU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20688"/>
            <a:ext cx="3635462" cy="59046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865721"/>
            <a:ext cx="3299537" cy="565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66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72816"/>
            <a:ext cx="3457749" cy="2448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758528"/>
            <a:ext cx="3543684" cy="246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83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GST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9832" y="2164916"/>
            <a:ext cx="5832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The GST is a tax of 10% on most supplies of goods and services in Australia from 1 July 2000.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59832" y="3380103"/>
            <a:ext cx="5832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Step 1 – Add 10% of the original amount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3871770"/>
            <a:ext cx="5328592" cy="228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5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GST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3788" y="4473116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923" y="2802489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5816" y="1978909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/>
              <a:t>Add GST (10%) to the price of each of the following items: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6645" y="3261300"/>
            <a:ext cx="3197524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 </a:t>
            </a:r>
            <a:r>
              <a:rPr lang="en-AU" sz="2000" dirty="0"/>
              <a:t>A sandwich @ $2.15</a:t>
            </a:r>
          </a:p>
          <a:p>
            <a:endParaRPr lang="en-AU" dirty="0"/>
          </a:p>
          <a:p>
            <a:r>
              <a:rPr lang="en-AU" sz="2000" dirty="0"/>
              <a:t>Cable subscription @ $43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1821" y="4981393"/>
            <a:ext cx="2264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A watch @ $415.85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7319" y="5590652"/>
            <a:ext cx="2411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A filing cabinet @ $220 </a:t>
            </a:r>
          </a:p>
        </p:txBody>
      </p:sp>
    </p:spTree>
    <p:extLst>
      <p:ext uri="{BB962C8B-B14F-4D97-AF65-F5344CB8AC3E}">
        <p14:creationId xmlns:p14="http://schemas.microsoft.com/office/powerpoint/2010/main" val="12342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39" y="1417638"/>
            <a:ext cx="6613659" cy="3551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38" y="1896640"/>
            <a:ext cx="4566275" cy="16043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38" y="3624830"/>
            <a:ext cx="4828243" cy="160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71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Discounts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132856"/>
            <a:ext cx="6075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Items are often discounted when shops try and increase </a:t>
            </a:r>
          </a:p>
          <a:p>
            <a:r>
              <a:rPr lang="en-AU" sz="2000" dirty="0"/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8619" y="2852936"/>
            <a:ext cx="6114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Step 1 – Multiply the original amount by the discounted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percentage (10% 20% etc.) and subtract this from the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 original amount.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94" y="4014065"/>
            <a:ext cx="6794270" cy="184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48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Discounts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8655" y="4915922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5526" y="2624718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8655" y="1916832"/>
            <a:ext cx="59646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 discount of 10% is offered on each of the following items. Find the discount, and the new price: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5526" y="3039307"/>
            <a:ext cx="23711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A single bed @ $210 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5526" y="3644882"/>
            <a:ext cx="16476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A vase @ $20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52400" y="4136793"/>
            <a:ext cx="6156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 discount of 20% is offered on each of the following items. Find the discount, and the new price: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0679" y="5357389"/>
            <a:ext cx="2662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An Angus bull @ $3600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24905" y="5987422"/>
            <a:ext cx="2694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A 20-year old ute @ $2000</a:t>
            </a:r>
          </a:p>
        </p:txBody>
      </p:sp>
    </p:spTree>
    <p:extLst>
      <p:ext uri="{BB962C8B-B14F-4D97-AF65-F5344CB8AC3E}">
        <p14:creationId xmlns:p14="http://schemas.microsoft.com/office/powerpoint/2010/main" val="1830752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40" y="1155700"/>
            <a:ext cx="6828592" cy="6891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39" y="2132856"/>
            <a:ext cx="4349771" cy="17281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46" y="4077072"/>
            <a:ext cx="3960440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34" y="1155700"/>
            <a:ext cx="6941358" cy="6891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57970"/>
            <a:ext cx="3960964" cy="14270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83855"/>
            <a:ext cx="3960964" cy="15051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87892"/>
            <a:ext cx="8646222" cy="74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47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5656" y="119675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Rates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5816" y="2074478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000" dirty="0"/>
              <a:t>A rate is a comparison of quantities of different kinds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2878155"/>
            <a:ext cx="4427984" cy="320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5656" y="119675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Rates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5816" y="2074478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000" dirty="0"/>
              <a:t>Rates are in the form of $ per unit measurement </a:t>
            </a:r>
            <a:r>
              <a:rPr lang="en-AU" sz="2000" dirty="0" err="1"/>
              <a:t>ie</a:t>
            </a:r>
            <a:r>
              <a:rPr lang="en-AU" sz="2000" dirty="0"/>
              <a:t>. Bananas are about $4/kg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940009"/>
            <a:ext cx="7848872" cy="15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88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6104" y="4384314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5526" y="2624718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028975" y="3061808"/>
            <a:ext cx="5958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Petrol price of $1.05/L 		Wool price of 850c/kg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8974" y="4846262"/>
            <a:ext cx="57194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Land price of $18 000/ha                       Call cost of 77c/min </a:t>
            </a:r>
          </a:p>
        </p:txBody>
      </p:sp>
    </p:spTree>
    <p:extLst>
      <p:ext uri="{BB962C8B-B14F-4D97-AF65-F5344CB8AC3E}">
        <p14:creationId xmlns:p14="http://schemas.microsoft.com/office/powerpoint/2010/main" val="103107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02209"/>
            <a:ext cx="6931724" cy="3706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68" y="1817712"/>
            <a:ext cx="4341835" cy="16832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69" y="3717032"/>
            <a:ext cx="4033564" cy="179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1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Rates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8955" y="2154052"/>
            <a:ext cx="289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u="sng" dirty="0"/>
              <a:t>How to simplify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2780928"/>
            <a:ext cx="50749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Step 1 - Divide the $ price by the unit quantity</a:t>
            </a:r>
          </a:p>
          <a:p>
            <a:endParaRPr lang="en-AU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694" y="3479812"/>
            <a:ext cx="3578069" cy="239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26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6104" y="4384314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5526" y="2624718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084376" y="2043323"/>
            <a:ext cx="4223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Simplify each of the following rates: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2534" y="3244334"/>
            <a:ext cx="5447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$24 for 6 hours  		$30 per 2 kg 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814" y="4889913"/>
            <a:ext cx="4877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$42 for 13 buttons 		 $55 per 11 seconds </a:t>
            </a:r>
          </a:p>
        </p:txBody>
      </p:sp>
    </p:spTree>
    <p:extLst>
      <p:ext uri="{BB962C8B-B14F-4D97-AF65-F5344CB8AC3E}">
        <p14:creationId xmlns:p14="http://schemas.microsoft.com/office/powerpoint/2010/main" val="2813415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3200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836712"/>
            <a:ext cx="2920009" cy="5400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860152"/>
            <a:ext cx="2752090" cy="537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87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5815" y="1969386"/>
            <a:ext cx="610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We can use rates to calculate the amount of money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5814" y="2615716"/>
            <a:ext cx="610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Step 1 – Multiply the rate by the unit quantity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3235723"/>
            <a:ext cx="4694284" cy="20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72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9832" y="4437112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2043793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29" y="2453258"/>
            <a:ext cx="6709783" cy="13952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29" y="5103718"/>
            <a:ext cx="6638346" cy="161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41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1" y="1268760"/>
            <a:ext cx="8059658" cy="49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36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21631"/>
            <a:ext cx="8005768" cy="34475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092" y="5589240"/>
            <a:ext cx="2208951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61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Unitary Method </a:t>
            </a:r>
          </a:p>
        </p:txBody>
      </p:sp>
      <p:sp>
        <p:nvSpPr>
          <p:cNvPr id="3" name="Rectangle 2"/>
          <p:cNvSpPr/>
          <p:nvPr/>
        </p:nvSpPr>
        <p:spPr>
          <a:xfrm>
            <a:off x="2934667" y="202934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000" dirty="0"/>
              <a:t>The unitary method is a useful method for comparing one rate with another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34667" y="2737229"/>
            <a:ext cx="572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Step 1 – Find the unit rates for a single quantity and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42" y="3973958"/>
            <a:ext cx="8509222" cy="140311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934667" y="3449814"/>
            <a:ext cx="48913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Find the rate for one in each of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2822809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Unitary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6104" y="4384314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5526" y="2624718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2948384" y="2086109"/>
            <a:ext cx="48913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Find the rate for one in each of the following: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956" y="3081980"/>
            <a:ext cx="56995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$12 for 2 kg 			$24 for 4 litres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6104" y="4949788"/>
            <a:ext cx="5686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$4.50 for 25 g 			$5.60 for 60 grams </a:t>
            </a:r>
          </a:p>
        </p:txBody>
      </p:sp>
    </p:spTree>
    <p:extLst>
      <p:ext uri="{BB962C8B-B14F-4D97-AF65-F5344CB8AC3E}">
        <p14:creationId xmlns:p14="http://schemas.microsoft.com/office/powerpoint/2010/main" val="402695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634082"/>
          </a:xfrm>
        </p:spPr>
        <p:txBody>
          <a:bodyPr>
            <a:normAutofit fontScale="90000"/>
          </a:bodyPr>
          <a:lstStyle/>
          <a:p>
            <a:r>
              <a:rPr lang="en-AU" sz="3600" dirty="0"/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908720"/>
            <a:ext cx="48913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Find the rate for one in each of the following: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66" y="1367526"/>
            <a:ext cx="7906478" cy="11507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2666" y="2576994"/>
            <a:ext cx="2541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Which is the best buy?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035800"/>
            <a:ext cx="6319286" cy="39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74" y="4149080"/>
            <a:ext cx="5797302" cy="3706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27" y="5307453"/>
            <a:ext cx="6230842" cy="32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39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Unitary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3059832" y="2165670"/>
            <a:ext cx="54726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The unitary method can also find the rate for 100 (if the second quantity is larger than 100).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2873556"/>
            <a:ext cx="51491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Step 1 – Reduce the quantity down to 100</a:t>
            </a:r>
          </a:p>
          <a:p>
            <a:r>
              <a:rPr lang="en-AU" sz="2000" b="1" dirty="0">
                <a:solidFill>
                  <a:srgbClr val="FF0000"/>
                </a:solidFill>
              </a:rPr>
              <a:t>Step 2 – Divide this number in to the $ amount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092" y="3873040"/>
            <a:ext cx="4462515" cy="193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84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Unitary Method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6104" y="4384314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5526" y="2624718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I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2946" y="2093994"/>
            <a:ext cx="49025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Find the rate for 100 of each of the following:</a:t>
            </a:r>
          </a:p>
        </p:txBody>
      </p:sp>
      <p:sp>
        <p:nvSpPr>
          <p:cNvPr id="5" name="Rectangle 4"/>
          <p:cNvSpPr/>
          <p:nvPr/>
        </p:nvSpPr>
        <p:spPr>
          <a:xfrm>
            <a:off x="3038631" y="3244334"/>
            <a:ext cx="45747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$50 for 200 g 		$12 for 840 mL 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5526" y="4941357"/>
            <a:ext cx="53949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$27 for 900 g		 $11.4 for 200 g </a:t>
            </a:r>
          </a:p>
        </p:txBody>
      </p:sp>
    </p:spTree>
    <p:extLst>
      <p:ext uri="{BB962C8B-B14F-4D97-AF65-F5344CB8AC3E}">
        <p14:creationId xmlns:p14="http://schemas.microsoft.com/office/powerpoint/2010/main" val="2779447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AU" sz="3200" dirty="0"/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1560" y="836712"/>
            <a:ext cx="49602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Find the rate for 100 of each of the following: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57" y="1380838"/>
            <a:ext cx="7107144" cy="9680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8057" y="2492896"/>
            <a:ext cx="259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dirty="0"/>
              <a:t>Which is the best buy?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95" y="2991956"/>
            <a:ext cx="7286119" cy="3650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94" y="4149080"/>
            <a:ext cx="7073949" cy="3913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5303409"/>
            <a:ext cx="7268954" cy="35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81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0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7664" y="121794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</a:t>
            </a:r>
          </a:p>
        </p:txBody>
      </p:sp>
    </p:spTree>
    <p:extLst>
      <p:ext uri="{BB962C8B-B14F-4D97-AF65-F5344CB8AC3E}">
        <p14:creationId xmlns:p14="http://schemas.microsoft.com/office/powerpoint/2010/main" val="2620600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314850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784</Words>
  <Application>Microsoft Office PowerPoint</Application>
  <PresentationFormat>On-screen Show (4:3)</PresentationFormat>
  <Paragraphs>246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Questions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Questions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Questions</vt:lpstr>
      <vt:lpstr>PowerPoint Presentation</vt:lpstr>
      <vt:lpstr>PowerPoint Presentation</vt:lpstr>
      <vt:lpstr>Questions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ctjam</cp:lastModifiedBy>
  <cp:revision>76</cp:revision>
  <dcterms:created xsi:type="dcterms:W3CDTF">2014-05-14T02:58:57Z</dcterms:created>
  <dcterms:modified xsi:type="dcterms:W3CDTF">2016-03-12T15:26:43Z</dcterms:modified>
</cp:coreProperties>
</file>
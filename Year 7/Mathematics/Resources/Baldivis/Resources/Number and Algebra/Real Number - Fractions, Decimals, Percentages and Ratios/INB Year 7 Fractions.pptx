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</p:sldMasterIdLst>
  <p:notesMasterIdLst>
    <p:notesMasterId r:id="rId47"/>
  </p:notesMasterIdLst>
  <p:sldIdLst>
    <p:sldId id="257" r:id="rId4"/>
    <p:sldId id="258" r:id="rId5"/>
    <p:sldId id="259" r:id="rId6"/>
    <p:sldId id="261" r:id="rId7"/>
    <p:sldId id="260" r:id="rId8"/>
    <p:sldId id="262" r:id="rId9"/>
    <p:sldId id="263" r:id="rId10"/>
    <p:sldId id="264" r:id="rId11"/>
    <p:sldId id="266" r:id="rId12"/>
    <p:sldId id="265" r:id="rId13"/>
    <p:sldId id="267" r:id="rId14"/>
    <p:sldId id="271" r:id="rId15"/>
    <p:sldId id="268" r:id="rId16"/>
    <p:sldId id="270" r:id="rId17"/>
    <p:sldId id="269" r:id="rId18"/>
    <p:sldId id="272" r:id="rId19"/>
    <p:sldId id="273" r:id="rId20"/>
    <p:sldId id="274" r:id="rId21"/>
    <p:sldId id="275" r:id="rId22"/>
    <p:sldId id="277" r:id="rId23"/>
    <p:sldId id="278" r:id="rId24"/>
    <p:sldId id="279" r:id="rId25"/>
    <p:sldId id="280" r:id="rId26"/>
    <p:sldId id="283" r:id="rId27"/>
    <p:sldId id="281" r:id="rId28"/>
    <p:sldId id="282" r:id="rId29"/>
    <p:sldId id="284" r:id="rId30"/>
    <p:sldId id="285" r:id="rId31"/>
    <p:sldId id="286" r:id="rId32"/>
    <p:sldId id="288" r:id="rId33"/>
    <p:sldId id="289" r:id="rId34"/>
    <p:sldId id="290" r:id="rId35"/>
    <p:sldId id="287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294" autoAdjust="0"/>
    <p:restoredTop sz="94660"/>
  </p:normalViewPr>
  <p:slideViewPr>
    <p:cSldViewPr snapToGrid="0">
      <p:cViewPr varScale="1">
        <p:scale>
          <a:sx n="74" d="100"/>
          <a:sy n="74" d="100"/>
        </p:scale>
        <p:origin x="3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slide" Target="slides/slide3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presProps" Target="presProps.xml"/><Relationship Id="rId8" Type="http://schemas.openxmlformats.org/officeDocument/2006/relationships/slide" Target="slides/slide5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58D271-75C6-4A7B-981E-95489D89B893}" type="datetimeFigureOut">
              <a:rPr lang="en-AU" smtClean="0"/>
              <a:t>25/06/2015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55BE75-6727-4F64-82F8-DA94106C053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46076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55BE75-6727-4F64-82F8-DA94106C0530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35564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55BE75-6727-4F64-82F8-DA94106C0530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55883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55BE75-6727-4F64-82F8-DA94106C0530}" type="slidenum">
              <a:rPr lang="en-AU" smtClean="0"/>
              <a:t>16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08376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55BE75-6727-4F64-82F8-DA94106C0530}" type="slidenum">
              <a:rPr lang="en-AU" smtClean="0"/>
              <a:t>18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203701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55BE75-6727-4F64-82F8-DA94106C0530}" type="slidenum">
              <a:rPr lang="en-AU" smtClean="0"/>
              <a:t>21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20154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55BE75-6727-4F64-82F8-DA94106C0530}" type="slidenum">
              <a:rPr lang="en-AU" smtClean="0"/>
              <a:t>25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482661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55BE75-6727-4F64-82F8-DA94106C0530}" type="slidenum">
              <a:rPr lang="en-AU" smtClean="0">
                <a:solidFill>
                  <a:prstClr val="black"/>
                </a:solidFill>
              </a:rPr>
              <a:pPr/>
              <a:t>30</a:t>
            </a:fld>
            <a:endParaRPr lang="en-A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38419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55BE75-6727-4F64-82F8-DA94106C0530}" type="slidenum">
              <a:rPr lang="en-AU" smtClean="0">
                <a:solidFill>
                  <a:prstClr val="black"/>
                </a:solidFill>
              </a:rPr>
              <a:pPr/>
              <a:t>33</a:t>
            </a:fld>
            <a:endParaRPr lang="en-A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20824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55BE75-6727-4F64-82F8-DA94106C0530}" type="slidenum">
              <a:rPr lang="en-AU" smtClean="0">
                <a:solidFill>
                  <a:prstClr val="black"/>
                </a:solidFill>
              </a:rPr>
              <a:pPr/>
              <a:t>37</a:t>
            </a:fld>
            <a:endParaRPr lang="en-A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19213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55BE75-6727-4F64-82F8-DA94106C0530}" type="slidenum">
              <a:rPr lang="en-AU" smtClean="0">
                <a:solidFill>
                  <a:prstClr val="black"/>
                </a:solidFill>
              </a:rPr>
              <a:pPr/>
              <a:t>41</a:t>
            </a:fld>
            <a:endParaRPr lang="en-A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26507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8812C-C34E-44C0-BA7B-DC1BE132F169}" type="datetimeFigureOut">
              <a:rPr lang="en-AU" smtClean="0"/>
              <a:t>25/06/2015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0ACD9-9522-4065-8C26-204359FDC46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84834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8812C-C34E-44C0-BA7B-DC1BE132F169}" type="datetimeFigureOut">
              <a:rPr lang="en-AU" smtClean="0"/>
              <a:t>25/06/2015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0ACD9-9522-4065-8C26-204359FDC46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61041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8812C-C34E-44C0-BA7B-DC1BE132F169}" type="datetimeFigureOut">
              <a:rPr lang="en-AU" smtClean="0"/>
              <a:t>25/06/2015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0ACD9-9522-4065-8C26-204359FDC46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24640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8812C-C34E-44C0-BA7B-DC1BE132F169}" type="datetimeFigureOut">
              <a:rPr lang="en-AU" smtClean="0"/>
              <a:t>25/06/2015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0ACD9-9522-4065-8C26-204359FDC46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5566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8812C-C34E-44C0-BA7B-DC1BE132F169}" type="datetimeFigureOut">
              <a:rPr lang="en-AU" smtClean="0"/>
              <a:t>25/06/2015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0ACD9-9522-4065-8C26-204359FDC46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41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8812C-C34E-44C0-BA7B-DC1BE132F169}" type="datetimeFigureOut">
              <a:rPr lang="en-AU" smtClean="0"/>
              <a:t>25/06/2015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0ACD9-9522-4065-8C26-204359FDC46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2249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8812C-C34E-44C0-BA7B-DC1BE132F169}" type="datetimeFigureOut">
              <a:rPr lang="en-AU" smtClean="0"/>
              <a:t>25/06/2015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0ACD9-9522-4065-8C26-204359FDC46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2584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8812C-C34E-44C0-BA7B-DC1BE132F169}" type="datetimeFigureOut">
              <a:rPr lang="en-AU" smtClean="0"/>
              <a:t>25/06/2015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0ACD9-9522-4065-8C26-204359FDC46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60117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8812C-C34E-44C0-BA7B-DC1BE132F169}" type="datetimeFigureOut">
              <a:rPr lang="en-AU" smtClean="0"/>
              <a:t>25/06/2015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0ACD9-9522-4065-8C26-204359FDC46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52282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8812C-C34E-44C0-BA7B-DC1BE132F169}" type="datetimeFigureOut">
              <a:rPr lang="en-AU" smtClean="0"/>
              <a:t>25/06/2015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0ACD9-9522-4065-8C26-204359FDC46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2446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8812C-C34E-44C0-BA7B-DC1BE132F169}" type="datetimeFigureOut">
              <a:rPr lang="en-AU" smtClean="0"/>
              <a:t>25/06/2015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0ACD9-9522-4065-8C26-204359FDC46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78126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25/06/2015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35032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25/06/2015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68122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25/06/2015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83640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25/06/2015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9650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25/06/2015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03604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25/06/2015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49083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25/06/2015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317568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25/06/2015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56297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25/06/2015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94385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25/06/2015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46485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25/06/2015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5329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25/06/2015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074855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25/06/2015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923345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25/06/2015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533538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25/06/2015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798187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25/06/2015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097185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25/06/2015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846911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25/06/2015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660742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25/06/2015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073141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25/06/2015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173139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25/06/2015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957110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25/06/2015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9115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18812C-C34E-44C0-BA7B-DC1BE132F169}" type="datetimeFigureOut">
              <a:rPr lang="en-AU" smtClean="0"/>
              <a:t>25/06/2015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70ACD9-9522-4065-8C26-204359FDC46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391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25/06/2015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0465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25/06/2015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9972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gif"/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4.gif"/></Relationships>
</file>

<file path=ppt/slides/_rels/slide37.xml.rels><?xml version="1.0" encoding="UTF-8" standalone="yes"?>
<Relationships xmlns="http://schemas.openxmlformats.org/package/2006/relationships"><Relationship Id="rId7" Type="http://schemas.openxmlformats.org/officeDocument/2006/relationships/image" Target="../media/image2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6.jpg"/><Relationship Id="rId5" Type="http://schemas.openxmlformats.org/officeDocument/2006/relationships/image" Target="../media/image25.jpg"/><Relationship Id="rId4" Type="http://schemas.openxmlformats.org/officeDocument/2006/relationships/image" Target="../media/image3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8.jp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4.gi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8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35560" y="332657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AU" dirty="0" smtClean="0"/>
              <a:t>Decimals and Fractions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43672" y="4581128"/>
            <a:ext cx="6400800" cy="1752600"/>
          </a:xfrm>
        </p:spPr>
        <p:txBody>
          <a:bodyPr>
            <a:normAutofit lnSpcReduction="10000"/>
          </a:bodyPr>
          <a:lstStyle/>
          <a:p>
            <a:pPr algn="l"/>
            <a:r>
              <a:rPr lang="en-AU" dirty="0" smtClean="0"/>
              <a:t>Your Name</a:t>
            </a:r>
          </a:p>
          <a:p>
            <a:pPr algn="l"/>
            <a:r>
              <a:rPr lang="en-AU" dirty="0" smtClean="0"/>
              <a:t>Class 7.1 or 7.8</a:t>
            </a:r>
          </a:p>
          <a:p>
            <a:pPr algn="l"/>
            <a:r>
              <a:rPr lang="en-AU" dirty="0" smtClean="0"/>
              <a:t>Mrs Riksman</a:t>
            </a:r>
          </a:p>
          <a:p>
            <a:pPr algn="l"/>
            <a:r>
              <a:rPr lang="en-AU" dirty="0" smtClean="0"/>
              <a:t>Term 2 Semester 1</a:t>
            </a:r>
          </a:p>
        </p:txBody>
      </p:sp>
      <p:pic>
        <p:nvPicPr>
          <p:cNvPr id="4" name="Picture 2" descr="http://2.bp.blogspot.com/-lo-db3N7QDI/UHXfNusp8oI/AAAAAAAALNk/iEXC-fYAmbg/s1600/Minions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4730" y="1802682"/>
            <a:ext cx="3153942" cy="2522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5189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013272" y="0"/>
            <a:ext cx="0" cy="685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-19999" y="389336"/>
            <a:ext cx="6014125" cy="34014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H="1">
            <a:off x="1132285" y="404664"/>
            <a:ext cx="8756" cy="6128875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430904" y="66109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>
                <a:solidFill>
                  <a:prstClr val="black"/>
                </a:solidFill>
              </a:rP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5012" y="440647"/>
            <a:ext cx="5783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prstClr val="black"/>
                </a:solidFill>
              </a:rPr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2233530" y="404664"/>
            <a:ext cx="32788" cy="6128875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312519" y="434295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>
                <a:solidFill>
                  <a:prstClr val="black"/>
                </a:solidFill>
              </a:rPr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17639" y="404664"/>
            <a:ext cx="21214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prstClr val="black"/>
                </a:solidFill>
              </a:rPr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37898" y="13609"/>
            <a:ext cx="10194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prstClr val="black"/>
                </a:solidFill>
              </a:rPr>
              <a:t>Glossary</a:t>
            </a:r>
          </a:p>
        </p:txBody>
      </p:sp>
      <p:cxnSp>
        <p:nvCxnSpPr>
          <p:cNvPr id="19" name="Straight Connector 18"/>
          <p:cNvCxnSpPr/>
          <p:nvPr/>
        </p:nvCxnSpPr>
        <p:spPr>
          <a:xfrm flipV="1">
            <a:off x="39796" y="733871"/>
            <a:ext cx="5954329" cy="38978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V="1">
            <a:off x="-19999" y="6533539"/>
            <a:ext cx="6052418" cy="2026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6013272" y="380350"/>
            <a:ext cx="6178728" cy="8986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6032419" y="733870"/>
            <a:ext cx="6159581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6032419" y="6533539"/>
            <a:ext cx="6159581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7608168" y="404665"/>
            <a:ext cx="21357" cy="6128874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543103" y="406343"/>
            <a:ext cx="8049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prstClr val="black"/>
                </a:solidFill>
              </a:rPr>
              <a:t>Word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37898" y="395316"/>
            <a:ext cx="11303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prstClr val="black"/>
                </a:solidFill>
              </a:rPr>
              <a:t>Description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796" y="863541"/>
            <a:ext cx="109248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>
                <a:solidFill>
                  <a:prstClr val="black"/>
                </a:solidFill>
              </a:rPr>
              <a:t>4-5</a:t>
            </a:r>
          </a:p>
          <a:p>
            <a:pPr algn="ctr"/>
            <a:r>
              <a:rPr lang="en-AU" dirty="0" smtClean="0">
                <a:solidFill>
                  <a:prstClr val="black"/>
                </a:solidFill>
              </a:rPr>
              <a:t>6-7</a:t>
            </a:r>
          </a:p>
          <a:p>
            <a:pPr algn="ctr"/>
            <a:r>
              <a:rPr lang="en-AU" dirty="0" smtClean="0">
                <a:solidFill>
                  <a:prstClr val="black"/>
                </a:solidFill>
              </a:rPr>
              <a:t>8-9</a:t>
            </a:r>
          </a:p>
          <a:p>
            <a:pPr algn="ctr"/>
            <a:r>
              <a:rPr lang="en-AU" dirty="0" smtClean="0">
                <a:solidFill>
                  <a:prstClr val="black"/>
                </a:solidFill>
              </a:rPr>
              <a:t>10-11</a:t>
            </a:r>
          </a:p>
          <a:p>
            <a:pPr algn="ctr"/>
            <a:r>
              <a:rPr lang="en-AU" dirty="0" smtClean="0">
                <a:solidFill>
                  <a:prstClr val="black"/>
                </a:solidFill>
              </a:rPr>
              <a:t>12-13</a:t>
            </a:r>
          </a:p>
          <a:p>
            <a:pPr algn="ctr"/>
            <a:r>
              <a:rPr lang="en-AU" dirty="0" smtClean="0">
                <a:solidFill>
                  <a:prstClr val="black"/>
                </a:solidFill>
              </a:rPr>
              <a:t>14-15</a:t>
            </a:r>
          </a:p>
          <a:p>
            <a:pPr algn="ctr"/>
            <a:r>
              <a:rPr lang="en-AU" dirty="0" smtClean="0">
                <a:solidFill>
                  <a:prstClr val="black"/>
                </a:solidFill>
              </a:rPr>
              <a:t>16-17</a:t>
            </a:r>
          </a:p>
          <a:p>
            <a:pPr algn="ctr"/>
            <a:r>
              <a:rPr lang="en-AU" smtClean="0">
                <a:solidFill>
                  <a:prstClr val="black"/>
                </a:solidFill>
              </a:rPr>
              <a:t>18-19</a:t>
            </a:r>
            <a:endParaRPr lang="en-AU" dirty="0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92077" y="863541"/>
            <a:ext cx="105132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>
                <a:solidFill>
                  <a:prstClr val="black"/>
                </a:solidFill>
              </a:rPr>
              <a:t>21/4</a:t>
            </a:r>
          </a:p>
          <a:p>
            <a:pPr algn="ctr"/>
            <a:r>
              <a:rPr lang="en-AU" dirty="0" smtClean="0">
                <a:solidFill>
                  <a:prstClr val="black"/>
                </a:solidFill>
              </a:rPr>
              <a:t>28/4</a:t>
            </a:r>
          </a:p>
          <a:p>
            <a:pPr algn="ctr"/>
            <a:r>
              <a:rPr lang="en-AU" dirty="0" smtClean="0">
                <a:solidFill>
                  <a:prstClr val="black"/>
                </a:solidFill>
              </a:rPr>
              <a:t>30/4</a:t>
            </a:r>
          </a:p>
          <a:p>
            <a:pPr algn="ctr"/>
            <a:r>
              <a:rPr lang="en-AU" dirty="0" smtClean="0">
                <a:solidFill>
                  <a:prstClr val="black"/>
                </a:solidFill>
              </a:rPr>
              <a:t>4/5</a:t>
            </a:r>
          </a:p>
          <a:p>
            <a:pPr algn="ctr"/>
            <a:r>
              <a:rPr lang="en-AU" dirty="0" smtClean="0">
                <a:solidFill>
                  <a:prstClr val="black"/>
                </a:solidFill>
              </a:rPr>
              <a:t>6/5</a:t>
            </a:r>
          </a:p>
          <a:p>
            <a:pPr algn="ctr"/>
            <a:r>
              <a:rPr lang="en-AU" dirty="0" smtClean="0">
                <a:solidFill>
                  <a:prstClr val="black"/>
                </a:solidFill>
              </a:rPr>
              <a:t>11/5</a:t>
            </a:r>
          </a:p>
          <a:p>
            <a:pPr algn="ctr"/>
            <a:r>
              <a:rPr lang="en-AU" dirty="0" smtClean="0">
                <a:solidFill>
                  <a:prstClr val="black"/>
                </a:solidFill>
              </a:rPr>
              <a:t>8/6</a:t>
            </a:r>
          </a:p>
          <a:p>
            <a:pPr algn="ctr"/>
            <a:r>
              <a:rPr lang="en-AU" dirty="0" smtClean="0">
                <a:solidFill>
                  <a:prstClr val="black"/>
                </a:solidFill>
              </a:rPr>
              <a:t>9/6</a:t>
            </a:r>
            <a:endParaRPr lang="en-AU" dirty="0">
              <a:solidFill>
                <a:prstClr val="black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303717" y="863541"/>
            <a:ext cx="370079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prstClr val="black"/>
                </a:solidFill>
              </a:rPr>
              <a:t>Naming and Comparing Decimals</a:t>
            </a:r>
          </a:p>
          <a:p>
            <a:r>
              <a:rPr lang="en-AU" dirty="0" smtClean="0">
                <a:solidFill>
                  <a:prstClr val="black"/>
                </a:solidFill>
              </a:rPr>
              <a:t>Adding and Subtracting Decimals</a:t>
            </a:r>
          </a:p>
          <a:p>
            <a:r>
              <a:rPr lang="en-AU" dirty="0" smtClean="0">
                <a:solidFill>
                  <a:prstClr val="black"/>
                </a:solidFill>
              </a:rPr>
              <a:t>Multiplying Decimals</a:t>
            </a:r>
          </a:p>
          <a:p>
            <a:r>
              <a:rPr lang="en-AU" dirty="0" smtClean="0">
                <a:solidFill>
                  <a:prstClr val="black"/>
                </a:solidFill>
              </a:rPr>
              <a:t>Dividing Decimals</a:t>
            </a:r>
          </a:p>
          <a:p>
            <a:r>
              <a:rPr lang="en-AU" dirty="0" smtClean="0">
                <a:solidFill>
                  <a:prstClr val="black"/>
                </a:solidFill>
              </a:rPr>
              <a:t>Converting fractions to decimals</a:t>
            </a:r>
          </a:p>
          <a:p>
            <a:r>
              <a:rPr lang="en-AU" dirty="0" smtClean="0">
                <a:solidFill>
                  <a:prstClr val="black"/>
                </a:solidFill>
              </a:rPr>
              <a:t>Rounding Decimals</a:t>
            </a:r>
          </a:p>
          <a:p>
            <a:r>
              <a:rPr lang="en-AU" dirty="0" smtClean="0">
                <a:solidFill>
                  <a:prstClr val="black"/>
                </a:solidFill>
              </a:rPr>
              <a:t>Introduction to fractions</a:t>
            </a:r>
          </a:p>
          <a:p>
            <a:r>
              <a:rPr lang="en-AU" dirty="0" smtClean="0">
                <a:solidFill>
                  <a:prstClr val="black"/>
                </a:solidFill>
              </a:rPr>
              <a:t>Equivalent Fractions</a:t>
            </a:r>
            <a:endParaRPr lang="en-A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7414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537201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</a:rPr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 flipV="1">
            <a:off x="0" y="1035897"/>
            <a:ext cx="12192000" cy="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121920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223145" y="1916832"/>
            <a:ext cx="7431" cy="4941168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-19050" y="517265"/>
            <a:ext cx="7439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</a:rPr>
              <a:t>Title: </a:t>
            </a:r>
            <a:r>
              <a:rPr lang="en-AU" sz="2800" dirty="0" smtClean="0">
                <a:solidFill>
                  <a:prstClr val="black"/>
                </a:solidFill>
              </a:rPr>
              <a:t>Naming and Comparing Decimals</a:t>
            </a:r>
            <a:endParaRPr lang="en-AU" sz="2800" dirty="0">
              <a:solidFill>
                <a:prstClr val="black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5552" y="512677"/>
            <a:ext cx="24969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</a:rPr>
              <a:t>Date</a:t>
            </a:r>
            <a:r>
              <a:rPr lang="en-AU" sz="2800" dirty="0" smtClean="0">
                <a:solidFill>
                  <a:prstClr val="black"/>
                </a:solidFill>
              </a:rPr>
              <a:t>: 21/4/15</a:t>
            </a:r>
            <a:endParaRPr lang="en-AU" sz="2800" dirty="0">
              <a:solidFill>
                <a:prstClr val="black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-1" y="1065325"/>
            <a:ext cx="120729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EQ </a:t>
            </a:r>
            <a:r>
              <a:rPr lang="en-AU" sz="2400" dirty="0" smtClean="0">
                <a:solidFill>
                  <a:prstClr val="black"/>
                </a:solidFill>
              </a:rPr>
              <a:t>: Students need to name each place value to the right of the decimal point and describe the relationship moving in both directions. </a:t>
            </a:r>
            <a:endParaRPr lang="en-AU" sz="2400" dirty="0">
              <a:solidFill>
                <a:prstClr val="black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7752184" y="0"/>
            <a:ext cx="0" cy="98072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815" y="1879010"/>
            <a:ext cx="2915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Question: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300265" y="1959258"/>
                <a:ext cx="8715589" cy="6074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>
                    <a:solidFill>
                      <a:prstClr val="black"/>
                    </a:solidFill>
                  </a:rPr>
                  <a:t>Notes: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AU" sz="2000" dirty="0" smtClean="0">
                    <a:solidFill>
                      <a:prstClr val="black"/>
                    </a:solidFill>
                  </a:rPr>
                  <a:t>Each place value is ten times as big as the one before it </a:t>
                </a:r>
                <a:r>
                  <a:rPr lang="en-AU" sz="2000" dirty="0" err="1" smtClean="0">
                    <a:solidFill>
                      <a:prstClr val="black"/>
                    </a:solidFill>
                  </a:rPr>
                  <a:t>e.g</a:t>
                </a:r>
                <a:endParaRPr lang="en-AU" sz="2000" dirty="0" smtClean="0">
                  <a:solidFill>
                    <a:prstClr val="black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AU" sz="2000" dirty="0">
                  <a:solidFill>
                    <a:prstClr val="black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AU" sz="2000" dirty="0" smtClean="0">
                  <a:solidFill>
                    <a:prstClr val="black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AU" sz="2000" dirty="0">
                  <a:solidFill>
                    <a:prstClr val="black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AU" sz="2000" dirty="0" smtClean="0">
                  <a:solidFill>
                    <a:prstClr val="black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AU" sz="2000" dirty="0" smtClean="0">
                    <a:solidFill>
                      <a:prstClr val="black"/>
                    </a:solidFill>
                  </a:rPr>
                  <a:t>The decimal point separates the whole number from the fraction part of the number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AU" sz="2000" dirty="0" smtClean="0">
                    <a:solidFill>
                      <a:prstClr val="black"/>
                    </a:solidFill>
                  </a:rPr>
                  <a:t>In the same way you can divide 1 into ten equal parts and each part is called a tenth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en-AU" sz="2000" b="0" dirty="0" smtClean="0">
                    <a:solidFill>
                      <a:prstClr val="black"/>
                    </a:solidFill>
                  </a:rPr>
                  <a:t> or 0.1, followed by hundredths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  <m:r>
                      <a:rPr lang="en-AU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𝑜𝑟</m:t>
                    </m:r>
                    <m:r>
                      <a:rPr lang="en-AU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0.01</m:t>
                    </m:r>
                  </m:oMath>
                </a14:m>
                <a:r>
                  <a:rPr lang="en-AU" sz="2000" b="0" dirty="0" smtClean="0">
                    <a:solidFill>
                      <a:prstClr val="black"/>
                    </a:solidFill>
                  </a:rPr>
                  <a:t> and then thousandths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1000</m:t>
                        </m:r>
                      </m:den>
                    </m:f>
                    <m:r>
                      <a:rPr lang="en-AU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𝑜𝑟</m:t>
                    </m:r>
                    <m:r>
                      <a:rPr lang="en-AU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 0.001</m:t>
                    </m:r>
                  </m:oMath>
                </a14:m>
                <a:r>
                  <a:rPr lang="en-AU" sz="2000" b="0" dirty="0" smtClean="0">
                    <a:solidFill>
                      <a:prstClr val="black"/>
                    </a:solidFill>
                  </a:rPr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AU" sz="2000" dirty="0" smtClean="0">
                    <a:solidFill>
                      <a:prstClr val="black"/>
                    </a:solidFill>
                  </a:rPr>
                  <a:t>This means that going from left to right the value is divided by ten and becomes smaller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AU" sz="2000" b="0" dirty="0" smtClean="0">
                    <a:solidFill>
                      <a:prstClr val="black"/>
                    </a:solidFill>
                  </a:rPr>
                  <a:t>So going from right left the value is multiplied by ten and gets larger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AU" sz="2200" b="0" dirty="0" smtClean="0">
                  <a:solidFill>
                    <a:prstClr val="black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AU" sz="2200" dirty="0">
                  <a:solidFill>
                    <a:prstClr val="black"/>
                  </a:solidFill>
                </a:endParaRPr>
              </a:p>
              <a:p>
                <a:endParaRPr lang="en-AU" sz="2000" dirty="0">
                  <a:solidFill>
                    <a:prstClr val="black"/>
                  </a:solidFill>
                </a:endParaRPr>
              </a:p>
              <a:p>
                <a:endParaRPr lang="en-AU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0265" y="1959258"/>
                <a:ext cx="8715589" cy="6074483"/>
              </a:xfrm>
              <a:prstGeom prst="rect">
                <a:avLst/>
              </a:prstGeom>
              <a:blipFill rotWithShape="0">
                <a:blip r:embed="rId2"/>
                <a:stretch>
                  <a:fillRect l="-1049" t="-80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130366" y="2333685"/>
            <a:ext cx="290838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sz="2000" dirty="0" smtClean="0">
              <a:solidFill>
                <a:prstClr val="black"/>
              </a:solidFill>
            </a:endParaRPr>
          </a:p>
          <a:p>
            <a:endParaRPr lang="en-AU" sz="2000" dirty="0">
              <a:solidFill>
                <a:prstClr val="black"/>
              </a:solidFill>
            </a:endParaRPr>
          </a:p>
          <a:p>
            <a:endParaRPr lang="en-AU" sz="2000" dirty="0" smtClean="0">
              <a:solidFill>
                <a:prstClr val="black"/>
              </a:solidFill>
            </a:endParaRPr>
          </a:p>
          <a:p>
            <a:endParaRPr lang="en-AU" sz="2000" dirty="0">
              <a:solidFill>
                <a:prstClr val="black"/>
              </a:solidFill>
            </a:endParaRPr>
          </a:p>
          <a:p>
            <a:endParaRPr lang="en-AU" sz="2000" dirty="0" smtClean="0">
              <a:solidFill>
                <a:prstClr val="black"/>
              </a:solidFill>
            </a:endParaRPr>
          </a:p>
          <a:p>
            <a:r>
              <a:rPr lang="en-AU" sz="2000" dirty="0" smtClean="0">
                <a:solidFill>
                  <a:prstClr val="black"/>
                </a:solidFill>
              </a:rPr>
              <a:t>What does the decimal point do?</a:t>
            </a:r>
          </a:p>
          <a:p>
            <a:r>
              <a:rPr lang="en-AU" sz="2000" dirty="0" smtClean="0">
                <a:solidFill>
                  <a:prstClr val="black"/>
                </a:solidFill>
              </a:rPr>
              <a:t>Identify the first 3 places after the decimal point</a:t>
            </a:r>
          </a:p>
          <a:p>
            <a:endParaRPr lang="en-AU" sz="2000" dirty="0" smtClean="0">
              <a:solidFill>
                <a:prstClr val="black"/>
              </a:solidFill>
            </a:endParaRPr>
          </a:p>
          <a:p>
            <a:r>
              <a:rPr lang="en-AU" sz="2000" dirty="0" smtClean="0">
                <a:solidFill>
                  <a:prstClr val="black"/>
                </a:solidFill>
              </a:rPr>
              <a:t>What is the relationship between each number moving in both directions?</a:t>
            </a:r>
            <a:endParaRPr lang="en-AU" sz="2000" dirty="0">
              <a:solidFill>
                <a:prstClr val="black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67725" y="85028"/>
            <a:ext cx="8640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</a:rPr>
              <a:t>24</a:t>
            </a:r>
          </a:p>
          <a:p>
            <a:r>
              <a:rPr lang="en-AU" dirty="0">
                <a:solidFill>
                  <a:prstClr val="black"/>
                </a:solidFill>
              </a:rPr>
              <a:t>7</a:t>
            </a:r>
          </a:p>
          <a:p>
            <a:r>
              <a:rPr lang="en-AU" dirty="0">
                <a:solidFill>
                  <a:prstClr val="black"/>
                </a:solidFill>
              </a:rPr>
              <a:t>30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9010" y="2702107"/>
            <a:ext cx="2632811" cy="1253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12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9644" y="180622"/>
            <a:ext cx="1165013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Activities</a:t>
            </a:r>
          </a:p>
          <a:p>
            <a:endParaRPr lang="en-AU" sz="2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AU" sz="2400" u="sng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AU" sz="2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AU" sz="2400" u="sng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AU" sz="2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AU" sz="2400" u="sng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AU" sz="2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AU" sz="2400" u="sng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AU" sz="2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118"/>
          <a:stretch/>
        </p:blipFill>
        <p:spPr>
          <a:xfrm>
            <a:off x="259644" y="757943"/>
            <a:ext cx="6897512" cy="221103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810"/>
          <a:stretch/>
        </p:blipFill>
        <p:spPr>
          <a:xfrm>
            <a:off x="259644" y="3283127"/>
            <a:ext cx="7931856" cy="2383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09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1" name="Picture 112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4847771" cy="6800480"/>
          </a:xfrm>
          <a:prstGeom prst="rect">
            <a:avLst/>
          </a:prstGeom>
        </p:spPr>
      </p:pic>
      <p:pic>
        <p:nvPicPr>
          <p:cNvPr id="1122" name="Picture 112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3944" y="0"/>
            <a:ext cx="4838056" cy="6800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608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537201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</a:rPr>
              <a:t> </a:t>
            </a:r>
            <a:r>
              <a:rPr lang="en-AU" dirty="0" smtClean="0">
                <a:solidFill>
                  <a:prstClr val="black"/>
                </a:solidFill>
              </a:rPr>
              <a:t>7</a:t>
            </a:r>
            <a:endParaRPr lang="en-AU" dirty="0">
              <a:solidFill>
                <a:prstClr val="black"/>
              </a:solidFill>
            </a:endParaRPr>
          </a:p>
        </p:txBody>
      </p:sp>
      <p:cxnSp>
        <p:nvCxnSpPr>
          <p:cNvPr id="4" name="Straight Connector 3"/>
          <p:cNvCxnSpPr/>
          <p:nvPr/>
        </p:nvCxnSpPr>
        <p:spPr>
          <a:xfrm flipV="1">
            <a:off x="0" y="1035897"/>
            <a:ext cx="12192000" cy="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121920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223145" y="1916832"/>
            <a:ext cx="7431" cy="4941168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-19050" y="517265"/>
            <a:ext cx="7439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</a:rPr>
              <a:t>Title</a:t>
            </a:r>
            <a:r>
              <a:rPr lang="en-AU" sz="2800" dirty="0" smtClean="0">
                <a:solidFill>
                  <a:prstClr val="black"/>
                </a:solidFill>
              </a:rPr>
              <a:t>: Adding and subtracting decimals</a:t>
            </a:r>
            <a:endParaRPr lang="en-AU" sz="2800" dirty="0">
              <a:solidFill>
                <a:prstClr val="black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5552" y="512677"/>
            <a:ext cx="24969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>
                <a:solidFill>
                  <a:prstClr val="black"/>
                </a:solidFill>
              </a:rPr>
              <a:t>Date:28/4/15</a:t>
            </a:r>
            <a:endParaRPr lang="en-AU" sz="2800" dirty="0">
              <a:solidFill>
                <a:prstClr val="black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-1" y="1065325"/>
            <a:ext cx="120729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EQ </a:t>
            </a:r>
            <a:r>
              <a:rPr lang="en-AU" sz="2400" dirty="0" smtClean="0">
                <a:solidFill>
                  <a:prstClr val="black"/>
                </a:solidFill>
              </a:rPr>
              <a:t>: Describe the written method we use to add and subtract decimals? </a:t>
            </a:r>
            <a:endParaRPr lang="en-AU" sz="2400" dirty="0">
              <a:solidFill>
                <a:prstClr val="black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7752184" y="0"/>
            <a:ext cx="0" cy="98072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815" y="1879010"/>
            <a:ext cx="29158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Question</a:t>
            </a:r>
            <a:r>
              <a:rPr lang="en-AU" sz="2400" dirty="0" smtClean="0">
                <a:solidFill>
                  <a:prstClr val="black"/>
                </a:solidFill>
              </a:rPr>
              <a:t>:</a:t>
            </a:r>
          </a:p>
          <a:p>
            <a:endParaRPr lang="en-AU" sz="2400" dirty="0">
              <a:solidFill>
                <a:prstClr val="black"/>
              </a:solidFill>
            </a:endParaRPr>
          </a:p>
          <a:p>
            <a:endParaRPr lang="en-AU" sz="2400" dirty="0">
              <a:solidFill>
                <a:prstClr val="black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226860" y="1954655"/>
            <a:ext cx="8715589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prstClr val="black"/>
                </a:solidFill>
              </a:rPr>
              <a:t>Notes: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200" dirty="0">
                <a:solidFill>
                  <a:prstClr val="black"/>
                </a:solidFill>
              </a:rPr>
              <a:t>To add or subtract decimals, we use methods similar to those for whole numbers. </a:t>
            </a:r>
            <a:endParaRPr lang="en-AU" sz="2200" dirty="0" smtClean="0">
              <a:solidFill>
                <a:prstClr val="black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200" dirty="0" smtClean="0">
                <a:solidFill>
                  <a:prstClr val="black"/>
                </a:solidFill>
              </a:rPr>
              <a:t>We </a:t>
            </a:r>
            <a:r>
              <a:rPr lang="en-AU" sz="2200" dirty="0">
                <a:solidFill>
                  <a:prstClr val="black"/>
                </a:solidFill>
              </a:rPr>
              <a:t>use mental </a:t>
            </a:r>
            <a:r>
              <a:rPr lang="en-AU" sz="2200" dirty="0" smtClean="0">
                <a:solidFill>
                  <a:prstClr val="black"/>
                </a:solidFill>
              </a:rPr>
              <a:t>strategies </a:t>
            </a:r>
            <a:r>
              <a:rPr lang="en-AU" sz="2200" dirty="0">
                <a:solidFill>
                  <a:prstClr val="black"/>
                </a:solidFill>
              </a:rPr>
              <a:t>for simple cases, especially those where the place values are the same. </a:t>
            </a:r>
            <a:endParaRPr lang="en-AU" sz="2200" dirty="0" smtClean="0">
              <a:solidFill>
                <a:prstClr val="black"/>
              </a:solidFill>
            </a:endParaRPr>
          </a:p>
          <a:p>
            <a:endParaRPr lang="en-AU" sz="2200" dirty="0" smtClean="0">
              <a:solidFill>
                <a:prstClr val="black"/>
              </a:solidFill>
            </a:endParaRPr>
          </a:p>
          <a:p>
            <a:r>
              <a:rPr lang="en-AU" sz="2200" u="sng" dirty="0" smtClean="0">
                <a:solidFill>
                  <a:prstClr val="black"/>
                </a:solidFill>
              </a:rPr>
              <a:t>The written </a:t>
            </a:r>
            <a:r>
              <a:rPr lang="en-AU" sz="2200" u="sng" dirty="0">
                <a:solidFill>
                  <a:prstClr val="black"/>
                </a:solidFill>
              </a:rPr>
              <a:t>method of addition and subtraction of </a:t>
            </a:r>
            <a:r>
              <a:rPr lang="en-AU" sz="2200" u="sng" dirty="0" smtClean="0">
                <a:solidFill>
                  <a:prstClr val="black"/>
                </a:solidFill>
              </a:rPr>
              <a:t>decimals: 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2200" dirty="0">
                <a:solidFill>
                  <a:prstClr val="black"/>
                </a:solidFill>
              </a:rPr>
              <a:t>P</a:t>
            </a:r>
            <a:r>
              <a:rPr lang="en-AU" sz="2200" dirty="0" smtClean="0">
                <a:solidFill>
                  <a:prstClr val="black"/>
                </a:solidFill>
              </a:rPr>
              <a:t>ut </a:t>
            </a:r>
            <a:r>
              <a:rPr lang="en-AU" sz="2200" dirty="0">
                <a:solidFill>
                  <a:prstClr val="black"/>
                </a:solidFill>
              </a:rPr>
              <a:t>a decimal point at the right end of whole numbers. </a:t>
            </a:r>
            <a:endParaRPr lang="en-AU" sz="2200" dirty="0" smtClean="0">
              <a:solidFill>
                <a:prstClr val="black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AU" sz="2200" dirty="0" smtClean="0">
                <a:solidFill>
                  <a:prstClr val="black"/>
                </a:solidFill>
              </a:rPr>
              <a:t>Set </a:t>
            </a:r>
            <a:r>
              <a:rPr lang="en-AU" sz="2200" dirty="0">
                <a:solidFill>
                  <a:prstClr val="black"/>
                </a:solidFill>
              </a:rPr>
              <a:t>out vertically with decimal points under each other. </a:t>
            </a:r>
            <a:endParaRPr lang="en-AU" sz="2200" dirty="0" smtClean="0">
              <a:solidFill>
                <a:prstClr val="black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AU" sz="2200" dirty="0" smtClean="0">
                <a:solidFill>
                  <a:prstClr val="black"/>
                </a:solidFill>
              </a:rPr>
              <a:t>Put </a:t>
            </a:r>
            <a:r>
              <a:rPr lang="en-AU" sz="2200" dirty="0">
                <a:solidFill>
                  <a:prstClr val="black"/>
                </a:solidFill>
              </a:rPr>
              <a:t>zeros on the right end if needed to make all the decimal parts the same length</a:t>
            </a:r>
            <a:r>
              <a:rPr lang="en-AU" sz="2200" dirty="0" smtClean="0">
                <a:solidFill>
                  <a:prstClr val="black"/>
                </a:solidFill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2200" dirty="0" smtClean="0">
                <a:solidFill>
                  <a:prstClr val="black"/>
                </a:solidFill>
              </a:rPr>
              <a:t>Add </a:t>
            </a:r>
            <a:r>
              <a:rPr lang="en-AU" sz="2200" dirty="0">
                <a:solidFill>
                  <a:prstClr val="black"/>
                </a:solidFill>
              </a:rPr>
              <a:t>or subtract as if </a:t>
            </a:r>
            <a:r>
              <a:rPr lang="en-AU" sz="2200" dirty="0" smtClean="0">
                <a:solidFill>
                  <a:prstClr val="black"/>
                </a:solidFill>
              </a:rPr>
              <a:t>they were whole </a:t>
            </a:r>
            <a:r>
              <a:rPr lang="en-AU" sz="2200" dirty="0">
                <a:solidFill>
                  <a:prstClr val="black"/>
                </a:solidFill>
              </a:rPr>
              <a:t>numbers. </a:t>
            </a:r>
            <a:endParaRPr lang="en-AU" sz="2200" dirty="0" smtClean="0">
              <a:solidFill>
                <a:prstClr val="black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AU" sz="2200" dirty="0" smtClean="0">
                <a:solidFill>
                  <a:prstClr val="black"/>
                </a:solidFill>
              </a:rPr>
              <a:t>Put </a:t>
            </a:r>
            <a:r>
              <a:rPr lang="en-AU" sz="2200" dirty="0">
                <a:solidFill>
                  <a:prstClr val="black"/>
                </a:solidFill>
              </a:rPr>
              <a:t>the decimal point in the answer in line with those in the problem.</a:t>
            </a:r>
          </a:p>
          <a:p>
            <a:r>
              <a:rPr lang="en-AU" sz="2200" dirty="0">
                <a:solidFill>
                  <a:prstClr val="black"/>
                </a:solidFill>
              </a:rPr>
              <a:t> </a:t>
            </a:r>
            <a:endParaRPr lang="en-AU" sz="2200" dirty="0" smtClean="0">
              <a:solidFill>
                <a:prstClr val="black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AU" sz="2200" dirty="0">
              <a:solidFill>
                <a:prstClr val="black"/>
              </a:solidFill>
            </a:endParaRPr>
          </a:p>
          <a:p>
            <a:endParaRPr lang="en-AU" sz="2000" dirty="0">
              <a:solidFill>
                <a:prstClr val="black"/>
              </a:solidFill>
            </a:endParaRPr>
          </a:p>
          <a:p>
            <a:endParaRPr lang="en-AU" sz="2400" dirty="0">
              <a:solidFill>
                <a:prstClr val="black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0366" y="2333685"/>
            <a:ext cx="290838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sz="2000" dirty="0" smtClean="0">
              <a:solidFill>
                <a:prstClr val="black"/>
              </a:solidFill>
            </a:endParaRPr>
          </a:p>
          <a:p>
            <a:endParaRPr lang="en-AU" sz="2000" dirty="0">
              <a:solidFill>
                <a:prstClr val="black"/>
              </a:solidFill>
            </a:endParaRPr>
          </a:p>
          <a:p>
            <a:endParaRPr lang="en-AU" sz="2000" dirty="0" smtClean="0">
              <a:solidFill>
                <a:prstClr val="black"/>
              </a:solidFill>
            </a:endParaRPr>
          </a:p>
          <a:p>
            <a:endParaRPr lang="en-AU" sz="2000" dirty="0">
              <a:solidFill>
                <a:prstClr val="black"/>
              </a:solidFill>
            </a:endParaRPr>
          </a:p>
          <a:p>
            <a:endParaRPr lang="en-AU" sz="2000" dirty="0" smtClean="0">
              <a:solidFill>
                <a:prstClr val="black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67725" y="85028"/>
            <a:ext cx="8640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</a:rPr>
              <a:t>24</a:t>
            </a:r>
          </a:p>
          <a:p>
            <a:r>
              <a:rPr lang="en-AU" dirty="0">
                <a:solidFill>
                  <a:prstClr val="black"/>
                </a:solidFill>
              </a:rPr>
              <a:t>7</a:t>
            </a:r>
          </a:p>
          <a:p>
            <a:r>
              <a:rPr lang="en-AU" dirty="0">
                <a:solidFill>
                  <a:prstClr val="black"/>
                </a:solidFill>
              </a:rP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815" y="2333685"/>
            <a:ext cx="317733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 smtClean="0"/>
          </a:p>
          <a:p>
            <a:endParaRPr lang="en-AU" sz="1000" dirty="0"/>
          </a:p>
          <a:p>
            <a:endParaRPr lang="en-AU" dirty="0" smtClean="0"/>
          </a:p>
          <a:p>
            <a:r>
              <a:rPr lang="en-AU" sz="2200" dirty="0" smtClean="0"/>
              <a:t>When is it best to use mental strategies to add and subtract decimals? </a:t>
            </a:r>
          </a:p>
          <a:p>
            <a:endParaRPr lang="en-AU" sz="2200" dirty="0"/>
          </a:p>
          <a:p>
            <a:r>
              <a:rPr lang="en-AU" sz="2200" dirty="0" smtClean="0"/>
              <a:t>List the steps for performing the addition or subtraction of decimals</a:t>
            </a:r>
            <a:endParaRPr lang="en-AU" sz="2200" dirty="0"/>
          </a:p>
        </p:txBody>
      </p:sp>
    </p:spTree>
    <p:extLst>
      <p:ext uri="{BB962C8B-B14F-4D97-AF65-F5344CB8AC3E}">
        <p14:creationId xmlns:p14="http://schemas.microsoft.com/office/powerpoint/2010/main" val="1168469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47730" y="437882"/>
            <a:ext cx="1151371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Lets do the following additions together:</a:t>
            </a:r>
          </a:p>
          <a:p>
            <a:endParaRPr lang="en-AU" sz="2400" dirty="0" smtClean="0"/>
          </a:p>
          <a:p>
            <a:pPr marL="914400" lvl="1" indent="-457200">
              <a:buAutoNum type="arabicParenR"/>
            </a:pPr>
            <a:r>
              <a:rPr lang="en-AU" sz="2400" dirty="0" smtClean="0"/>
              <a:t>  45.78		1.693		713.4		15.672		3.21</a:t>
            </a:r>
          </a:p>
          <a:p>
            <a:r>
              <a:rPr lang="en-AU" sz="2400" dirty="0" smtClean="0"/>
              <a:t>	</a:t>
            </a:r>
            <a:r>
              <a:rPr lang="en-AU" sz="2400" u="sng" dirty="0" smtClean="0"/>
              <a:t>+  3.2	</a:t>
            </a:r>
            <a:r>
              <a:rPr lang="en-AU" sz="2400" dirty="0" smtClean="0"/>
              <a:t>         </a:t>
            </a:r>
            <a:r>
              <a:rPr lang="en-AU" sz="2400" u="sng" dirty="0" smtClean="0"/>
              <a:t>+27.48	</a:t>
            </a:r>
            <a:r>
              <a:rPr lang="en-AU" sz="2400" dirty="0" smtClean="0"/>
              <a:t>            </a:t>
            </a:r>
            <a:r>
              <a:rPr lang="en-AU" sz="2400" u="sng" dirty="0" smtClean="0"/>
              <a:t>+    1.371</a:t>
            </a:r>
            <a:r>
              <a:rPr lang="en-AU" sz="2400" dirty="0" smtClean="0"/>
              <a:t>          </a:t>
            </a:r>
            <a:r>
              <a:rPr lang="en-AU" sz="2400" u="sng" dirty="0" smtClean="0"/>
              <a:t>+23.15	</a:t>
            </a:r>
            <a:r>
              <a:rPr lang="en-AU" sz="2400" dirty="0" smtClean="0"/>
              <a:t>         </a:t>
            </a:r>
            <a:r>
              <a:rPr lang="en-AU" sz="2400" u="sng" dirty="0" smtClean="0"/>
              <a:t>+14.928</a:t>
            </a:r>
          </a:p>
          <a:p>
            <a:r>
              <a:rPr lang="en-AU" sz="2400" dirty="0"/>
              <a:t>	</a:t>
            </a:r>
            <a:r>
              <a:rPr lang="en-AU" sz="2400" u="sng" dirty="0" smtClean="0"/>
              <a:t> 									</a:t>
            </a:r>
          </a:p>
          <a:p>
            <a:endParaRPr lang="en-AU" sz="2400" u="sng" dirty="0"/>
          </a:p>
          <a:p>
            <a:r>
              <a:rPr lang="en-AU" sz="2400" dirty="0" smtClean="0"/>
              <a:t> </a:t>
            </a:r>
            <a:endParaRPr lang="en-AU" sz="2400" dirty="0"/>
          </a:p>
        </p:txBody>
      </p:sp>
      <p:sp>
        <p:nvSpPr>
          <p:cNvPr id="4" name="Rectangle 3"/>
          <p:cNvSpPr/>
          <p:nvPr/>
        </p:nvSpPr>
        <p:spPr>
          <a:xfrm>
            <a:off x="405685" y="3017244"/>
            <a:ext cx="11397802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AU" sz="2400" dirty="0">
                <a:solidFill>
                  <a:prstClr val="black"/>
                </a:solidFill>
              </a:rPr>
              <a:t>Lets do the following </a:t>
            </a:r>
            <a:r>
              <a:rPr lang="en-AU" sz="2400" dirty="0" smtClean="0">
                <a:solidFill>
                  <a:prstClr val="black"/>
                </a:solidFill>
              </a:rPr>
              <a:t>subtractions </a:t>
            </a:r>
            <a:r>
              <a:rPr lang="en-AU" sz="2400" dirty="0">
                <a:solidFill>
                  <a:prstClr val="black"/>
                </a:solidFill>
              </a:rPr>
              <a:t>together:</a:t>
            </a:r>
          </a:p>
          <a:p>
            <a:pPr lvl="0"/>
            <a:endParaRPr lang="en-AU" sz="2400" dirty="0">
              <a:solidFill>
                <a:prstClr val="black"/>
              </a:solidFill>
            </a:endParaRPr>
          </a:p>
          <a:p>
            <a:pPr lvl="1"/>
            <a:r>
              <a:rPr lang="en-AU" sz="2400" dirty="0" smtClean="0">
                <a:solidFill>
                  <a:prstClr val="black"/>
                </a:solidFill>
              </a:rPr>
              <a:t>2)     29.83</a:t>
            </a:r>
            <a:r>
              <a:rPr lang="en-AU" sz="2400" dirty="0">
                <a:solidFill>
                  <a:prstClr val="black"/>
                </a:solidFill>
              </a:rPr>
              <a:t>	</a:t>
            </a:r>
            <a:r>
              <a:rPr lang="en-AU" sz="2400" dirty="0" smtClean="0">
                <a:solidFill>
                  <a:prstClr val="black"/>
                </a:solidFill>
              </a:rPr>
              <a:t>           211.693</a:t>
            </a:r>
            <a:r>
              <a:rPr lang="en-AU" sz="2400" dirty="0">
                <a:solidFill>
                  <a:prstClr val="black"/>
                </a:solidFill>
              </a:rPr>
              <a:t>		</a:t>
            </a:r>
            <a:r>
              <a:rPr lang="en-AU" sz="2400" dirty="0" smtClean="0">
                <a:solidFill>
                  <a:prstClr val="black"/>
                </a:solidFill>
              </a:rPr>
              <a:t>567.4</a:t>
            </a:r>
            <a:r>
              <a:rPr lang="en-AU" sz="2400" dirty="0">
                <a:solidFill>
                  <a:prstClr val="black"/>
                </a:solidFill>
              </a:rPr>
              <a:t>		</a:t>
            </a:r>
            <a:r>
              <a:rPr lang="en-AU" sz="2400" dirty="0" smtClean="0">
                <a:solidFill>
                  <a:prstClr val="black"/>
                </a:solidFill>
              </a:rPr>
              <a:t>115.932</a:t>
            </a:r>
            <a:r>
              <a:rPr lang="en-AU" sz="2400" dirty="0">
                <a:solidFill>
                  <a:prstClr val="black"/>
                </a:solidFill>
              </a:rPr>
              <a:t>	</a:t>
            </a:r>
            <a:r>
              <a:rPr lang="en-AU" sz="2400" dirty="0" smtClean="0">
                <a:solidFill>
                  <a:prstClr val="black"/>
                </a:solidFill>
              </a:rPr>
              <a:t>3.21</a:t>
            </a:r>
            <a:endParaRPr lang="en-AU" sz="2400" dirty="0">
              <a:solidFill>
                <a:prstClr val="black"/>
              </a:solidFill>
            </a:endParaRPr>
          </a:p>
          <a:p>
            <a:pPr lvl="0"/>
            <a:r>
              <a:rPr lang="en-AU" sz="2400" dirty="0">
                <a:solidFill>
                  <a:prstClr val="black"/>
                </a:solidFill>
              </a:rPr>
              <a:t>	</a:t>
            </a:r>
            <a:r>
              <a:rPr lang="en-AU" sz="2400" u="sng" dirty="0" smtClean="0">
                <a:solidFill>
                  <a:prstClr val="black"/>
                </a:solidFill>
              </a:rPr>
              <a:t>- 11.1</a:t>
            </a:r>
            <a:r>
              <a:rPr lang="en-AU" sz="2400" u="sng" dirty="0">
                <a:solidFill>
                  <a:prstClr val="black"/>
                </a:solidFill>
              </a:rPr>
              <a:t>	</a:t>
            </a:r>
            <a:r>
              <a:rPr lang="en-AU" sz="2400" dirty="0">
                <a:solidFill>
                  <a:prstClr val="black"/>
                </a:solidFill>
              </a:rPr>
              <a:t>         </a:t>
            </a:r>
            <a:r>
              <a:rPr lang="en-AU" sz="2400" u="sng" dirty="0" smtClean="0">
                <a:solidFill>
                  <a:prstClr val="black"/>
                </a:solidFill>
              </a:rPr>
              <a:t>-   36.27</a:t>
            </a:r>
            <a:r>
              <a:rPr lang="en-AU" sz="2400" u="sng" dirty="0">
                <a:solidFill>
                  <a:prstClr val="black"/>
                </a:solidFill>
              </a:rPr>
              <a:t>	</a:t>
            </a:r>
            <a:r>
              <a:rPr lang="en-AU" sz="2400" dirty="0">
                <a:solidFill>
                  <a:prstClr val="black"/>
                </a:solidFill>
              </a:rPr>
              <a:t>            </a:t>
            </a:r>
            <a:r>
              <a:rPr lang="en-AU" sz="2400" u="sng" dirty="0" smtClean="0">
                <a:solidFill>
                  <a:prstClr val="black"/>
                </a:solidFill>
              </a:rPr>
              <a:t>-     2.32</a:t>
            </a:r>
            <a:r>
              <a:rPr lang="en-AU" sz="2400" dirty="0" smtClean="0">
                <a:solidFill>
                  <a:prstClr val="black"/>
                </a:solidFill>
              </a:rPr>
              <a:t>          </a:t>
            </a:r>
            <a:r>
              <a:rPr lang="en-AU" sz="2400" u="sng" dirty="0" smtClean="0">
                <a:solidFill>
                  <a:prstClr val="black"/>
                </a:solidFill>
              </a:rPr>
              <a:t>- 	  71.41</a:t>
            </a:r>
            <a:r>
              <a:rPr lang="en-AU" sz="2400" u="sng" dirty="0">
                <a:solidFill>
                  <a:prstClr val="black"/>
                </a:solidFill>
              </a:rPr>
              <a:t>	</a:t>
            </a:r>
            <a:r>
              <a:rPr lang="en-AU" sz="2400" dirty="0">
                <a:solidFill>
                  <a:prstClr val="black"/>
                </a:solidFill>
              </a:rPr>
              <a:t>         </a:t>
            </a:r>
            <a:r>
              <a:rPr lang="en-AU" sz="2400" u="sng" dirty="0" smtClean="0">
                <a:solidFill>
                  <a:prstClr val="black"/>
                </a:solidFill>
              </a:rPr>
              <a:t>-   0.728</a:t>
            </a:r>
            <a:endParaRPr lang="en-AU" sz="2400" u="sng" dirty="0">
              <a:solidFill>
                <a:prstClr val="black"/>
              </a:solidFill>
            </a:endParaRPr>
          </a:p>
          <a:p>
            <a:pPr lvl="0"/>
            <a:r>
              <a:rPr lang="en-AU" sz="2400" dirty="0">
                <a:solidFill>
                  <a:prstClr val="black"/>
                </a:solidFill>
              </a:rPr>
              <a:t>	</a:t>
            </a:r>
            <a:r>
              <a:rPr lang="en-AU" sz="2400" u="sng" dirty="0">
                <a:solidFill>
                  <a:prstClr val="black"/>
                </a:solidFill>
              </a:rPr>
              <a:t> 									</a:t>
            </a:r>
          </a:p>
          <a:p>
            <a:pPr lvl="0"/>
            <a:endParaRPr lang="en-AU" sz="2400" u="sng" dirty="0" smtClean="0">
              <a:solidFill>
                <a:prstClr val="black"/>
              </a:solidFill>
            </a:endParaRPr>
          </a:p>
          <a:p>
            <a:pPr lvl="0"/>
            <a:r>
              <a:rPr lang="en-AU" sz="2400" b="1" i="1" dirty="0" smtClean="0">
                <a:solidFill>
                  <a:prstClr val="black"/>
                </a:solidFill>
              </a:rPr>
              <a:t>Now complete Questions 1-12 on page 190 of your textbook</a:t>
            </a:r>
            <a:endParaRPr lang="en-AU" sz="2400" b="1" i="1" dirty="0">
              <a:solidFill>
                <a:prstClr val="black"/>
              </a:solidFill>
            </a:endParaRPr>
          </a:p>
          <a:p>
            <a:pPr lvl="0"/>
            <a:r>
              <a:rPr lang="en-AU" sz="2400" dirty="0">
                <a:solidFill>
                  <a:prstClr val="black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5490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705350" cy="66675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1743" y="0"/>
            <a:ext cx="4724400" cy="666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502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550794" cy="740105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7014" y="0"/>
            <a:ext cx="5389272" cy="7185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267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537201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</a:rPr>
              <a:t> 9</a:t>
            </a:r>
          </a:p>
        </p:txBody>
      </p:sp>
      <p:cxnSp>
        <p:nvCxnSpPr>
          <p:cNvPr id="4" name="Straight Connector 3"/>
          <p:cNvCxnSpPr/>
          <p:nvPr/>
        </p:nvCxnSpPr>
        <p:spPr>
          <a:xfrm flipV="1">
            <a:off x="0" y="1035897"/>
            <a:ext cx="12192000" cy="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121920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223145" y="1916832"/>
            <a:ext cx="7431" cy="4941168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-19050" y="517265"/>
            <a:ext cx="7439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</a:rPr>
              <a:t>Title</a:t>
            </a:r>
            <a:r>
              <a:rPr lang="en-AU" sz="2800" dirty="0" smtClean="0">
                <a:solidFill>
                  <a:prstClr val="black"/>
                </a:solidFill>
              </a:rPr>
              <a:t>: Multiplying decimals</a:t>
            </a:r>
            <a:endParaRPr lang="en-AU" sz="2800" dirty="0">
              <a:solidFill>
                <a:prstClr val="black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5552" y="512677"/>
            <a:ext cx="24969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>
                <a:solidFill>
                  <a:prstClr val="black"/>
                </a:solidFill>
              </a:rPr>
              <a:t>Date:30/4/15</a:t>
            </a:r>
            <a:endParaRPr lang="en-AU" sz="2800" dirty="0">
              <a:solidFill>
                <a:prstClr val="black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-1" y="1065325"/>
            <a:ext cx="120729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EQ </a:t>
            </a:r>
            <a:r>
              <a:rPr lang="en-AU" sz="2400" dirty="0" smtClean="0">
                <a:solidFill>
                  <a:prstClr val="black"/>
                </a:solidFill>
              </a:rPr>
              <a:t>: Describe the method used to multiply decimals . How do we multiply by factors of 10, 100 and 100?</a:t>
            </a:r>
            <a:endParaRPr lang="en-AU" sz="2400" dirty="0">
              <a:solidFill>
                <a:prstClr val="black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7752184" y="0"/>
            <a:ext cx="0" cy="98072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815" y="1879010"/>
            <a:ext cx="29158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Question</a:t>
            </a:r>
            <a:r>
              <a:rPr lang="en-AU" sz="2400" dirty="0" smtClean="0">
                <a:solidFill>
                  <a:prstClr val="black"/>
                </a:solidFill>
              </a:rPr>
              <a:t>:</a:t>
            </a:r>
          </a:p>
          <a:p>
            <a:endParaRPr lang="en-AU" sz="2400" dirty="0">
              <a:solidFill>
                <a:prstClr val="black"/>
              </a:solidFill>
            </a:endParaRPr>
          </a:p>
          <a:p>
            <a:endParaRPr lang="en-AU" sz="2400" dirty="0">
              <a:solidFill>
                <a:prstClr val="black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226860" y="1954655"/>
            <a:ext cx="8715589" cy="59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prstClr val="black"/>
                </a:solidFill>
              </a:rPr>
              <a:t>Notes:</a:t>
            </a:r>
          </a:p>
          <a:p>
            <a:r>
              <a:rPr lang="en-AU" sz="2200" u="sng" dirty="0" smtClean="0">
                <a:solidFill>
                  <a:prstClr val="black"/>
                </a:solidFill>
              </a:rPr>
              <a:t>Written multiplication of decimals:</a:t>
            </a:r>
          </a:p>
          <a:p>
            <a:pPr marL="457200" indent="-457200">
              <a:buAutoNum type="arabicPeriod"/>
            </a:pPr>
            <a:r>
              <a:rPr lang="en-AU" sz="2200" dirty="0" smtClean="0">
                <a:solidFill>
                  <a:prstClr val="black"/>
                </a:solidFill>
              </a:rPr>
              <a:t>Ignore the decimal points and multiply as whole numbers.</a:t>
            </a:r>
          </a:p>
          <a:p>
            <a:pPr marL="457200" indent="-457200">
              <a:buAutoNum type="arabicPeriod"/>
            </a:pPr>
            <a:r>
              <a:rPr lang="en-AU" sz="2200" dirty="0" smtClean="0">
                <a:solidFill>
                  <a:prstClr val="black"/>
                </a:solidFill>
              </a:rPr>
              <a:t>Count the total number of decimal places altogether in the numbers.</a:t>
            </a:r>
          </a:p>
          <a:p>
            <a:pPr marL="457200" indent="-457200">
              <a:buAutoNum type="arabicPeriod"/>
            </a:pPr>
            <a:r>
              <a:rPr lang="en-AU" sz="2200" dirty="0" smtClean="0">
                <a:solidFill>
                  <a:prstClr val="black"/>
                </a:solidFill>
              </a:rPr>
              <a:t>Insert the decimal point to give this total number of decimal places in the answer</a:t>
            </a:r>
          </a:p>
          <a:p>
            <a:r>
              <a:rPr lang="en-AU" sz="2200" dirty="0" smtClean="0">
                <a:solidFill>
                  <a:prstClr val="black"/>
                </a:solidFill>
              </a:rPr>
              <a:t>Example:		</a:t>
            </a:r>
            <a:r>
              <a:rPr lang="en-AU" sz="2000" dirty="0" smtClean="0">
                <a:solidFill>
                  <a:prstClr val="black"/>
                </a:solidFill>
              </a:rPr>
              <a:t>  6.5		</a:t>
            </a:r>
            <a:r>
              <a:rPr lang="en-AU" sz="2000" dirty="0" smtClean="0">
                <a:solidFill>
                  <a:prstClr val="black"/>
                </a:solidFill>
                <a:sym typeface="Wingdings" panose="05000000000000000000" pitchFamily="2" charset="2"/>
              </a:rPr>
              <a:t> 1 decimal place</a:t>
            </a:r>
          </a:p>
          <a:p>
            <a:r>
              <a:rPr lang="en-AU" sz="2000" dirty="0">
                <a:solidFill>
                  <a:prstClr val="black"/>
                </a:solidFill>
              </a:rPr>
              <a:t>	</a:t>
            </a:r>
            <a:r>
              <a:rPr lang="en-AU" sz="2000" dirty="0" smtClean="0">
                <a:solidFill>
                  <a:prstClr val="black"/>
                </a:solidFill>
              </a:rPr>
              <a:t>		</a:t>
            </a:r>
            <a:r>
              <a:rPr lang="en-AU" sz="2000" u="sng" dirty="0" smtClean="0">
                <a:solidFill>
                  <a:prstClr val="black"/>
                </a:solidFill>
              </a:rPr>
              <a:t>x0.7</a:t>
            </a:r>
            <a:r>
              <a:rPr lang="en-AU" sz="2000" dirty="0" smtClean="0">
                <a:solidFill>
                  <a:prstClr val="black"/>
                </a:solidFill>
              </a:rPr>
              <a:t>		</a:t>
            </a:r>
            <a:r>
              <a:rPr lang="en-AU" sz="2000" u="sng" dirty="0" smtClean="0">
                <a:solidFill>
                  <a:prstClr val="black"/>
                </a:solidFill>
                <a:sym typeface="Wingdings" panose="05000000000000000000" pitchFamily="2" charset="2"/>
              </a:rPr>
              <a:t> 1 decimal place</a:t>
            </a:r>
            <a:endParaRPr lang="en-AU" sz="2000" u="sng" dirty="0">
              <a:solidFill>
                <a:prstClr val="black"/>
              </a:solidFill>
            </a:endParaRPr>
          </a:p>
          <a:p>
            <a:r>
              <a:rPr lang="en-AU" sz="2000" dirty="0">
                <a:solidFill>
                  <a:prstClr val="black"/>
                </a:solidFill>
              </a:rPr>
              <a:t> </a:t>
            </a:r>
            <a:r>
              <a:rPr lang="en-AU" sz="2000" dirty="0" smtClean="0">
                <a:solidFill>
                  <a:prstClr val="black"/>
                </a:solidFill>
              </a:rPr>
              <a:t>			</a:t>
            </a:r>
            <a:r>
              <a:rPr lang="en-AU" sz="2000" b="1" dirty="0" smtClean="0">
                <a:solidFill>
                  <a:srgbClr val="0070C0"/>
                </a:solidFill>
              </a:rPr>
              <a:t> 4.55</a:t>
            </a:r>
            <a:r>
              <a:rPr lang="en-AU" sz="2000" dirty="0" smtClean="0">
                <a:solidFill>
                  <a:prstClr val="black"/>
                </a:solidFill>
              </a:rPr>
              <a:t>		     2 decimal places</a:t>
            </a:r>
          </a:p>
          <a:p>
            <a:endParaRPr lang="en-AU" sz="2000" dirty="0" smtClean="0">
              <a:solidFill>
                <a:prstClr val="black"/>
              </a:solidFill>
            </a:endParaRPr>
          </a:p>
          <a:p>
            <a:r>
              <a:rPr lang="en-AU" sz="2000" dirty="0">
                <a:solidFill>
                  <a:prstClr val="black"/>
                </a:solidFill>
              </a:rPr>
              <a:t>	</a:t>
            </a:r>
            <a:r>
              <a:rPr lang="en-AU" sz="2000" dirty="0" smtClean="0">
                <a:solidFill>
                  <a:prstClr val="black"/>
                </a:solidFill>
              </a:rPr>
              <a:t>		4.56 		</a:t>
            </a:r>
            <a:r>
              <a:rPr lang="en-AU" sz="2000" dirty="0" smtClean="0">
                <a:solidFill>
                  <a:prstClr val="black"/>
                </a:solidFill>
                <a:sym typeface="Wingdings" panose="05000000000000000000" pitchFamily="2" charset="2"/>
              </a:rPr>
              <a:t> 2 decimal places</a:t>
            </a:r>
          </a:p>
          <a:p>
            <a:r>
              <a:rPr lang="en-AU" sz="2000" dirty="0">
                <a:solidFill>
                  <a:prstClr val="black"/>
                </a:solidFill>
              </a:rPr>
              <a:t>	</a:t>
            </a:r>
            <a:r>
              <a:rPr lang="en-AU" sz="2000" dirty="0" smtClean="0">
                <a:solidFill>
                  <a:prstClr val="black"/>
                </a:solidFill>
              </a:rPr>
              <a:t>	           </a:t>
            </a:r>
            <a:r>
              <a:rPr lang="en-AU" sz="2000" u="sng" dirty="0" smtClean="0">
                <a:solidFill>
                  <a:prstClr val="black"/>
                </a:solidFill>
              </a:rPr>
              <a:t>x  0.024 </a:t>
            </a:r>
            <a:r>
              <a:rPr lang="en-AU" sz="2000" dirty="0" smtClean="0">
                <a:solidFill>
                  <a:prstClr val="black"/>
                </a:solidFill>
              </a:rPr>
              <a:t>		</a:t>
            </a:r>
            <a:r>
              <a:rPr lang="en-AU" sz="2000" u="sng" dirty="0" smtClean="0">
                <a:solidFill>
                  <a:prstClr val="black"/>
                </a:solidFill>
                <a:sym typeface="Wingdings" panose="05000000000000000000" pitchFamily="2" charset="2"/>
              </a:rPr>
              <a:t> 3 decimal places</a:t>
            </a:r>
          </a:p>
          <a:p>
            <a:r>
              <a:rPr lang="en-AU" sz="2000" dirty="0" smtClean="0">
                <a:solidFill>
                  <a:prstClr val="black"/>
                </a:solidFill>
              </a:rPr>
              <a:t>			 1824</a:t>
            </a:r>
          </a:p>
          <a:p>
            <a:r>
              <a:rPr lang="en-AU" sz="2000" dirty="0">
                <a:solidFill>
                  <a:prstClr val="black"/>
                </a:solidFill>
              </a:rPr>
              <a:t>	</a:t>
            </a:r>
            <a:r>
              <a:rPr lang="en-AU" sz="2000" dirty="0" smtClean="0">
                <a:solidFill>
                  <a:prstClr val="black"/>
                </a:solidFill>
              </a:rPr>
              <a:t>		</a:t>
            </a:r>
            <a:r>
              <a:rPr lang="en-AU" sz="2000" u="sng" dirty="0" smtClean="0">
                <a:solidFill>
                  <a:prstClr val="black"/>
                </a:solidFill>
              </a:rPr>
              <a:t> 9120 </a:t>
            </a:r>
          </a:p>
          <a:p>
            <a:r>
              <a:rPr lang="en-AU" sz="2000" dirty="0" smtClean="0">
                <a:solidFill>
                  <a:prstClr val="black"/>
                </a:solidFill>
              </a:rPr>
              <a:t>		</a:t>
            </a:r>
            <a:r>
              <a:rPr lang="en-AU" sz="2000" b="1" dirty="0" smtClean="0">
                <a:solidFill>
                  <a:srgbClr val="0070C0"/>
                </a:solidFill>
              </a:rPr>
              <a:t>            0.10944 </a:t>
            </a:r>
            <a:r>
              <a:rPr lang="en-AU" sz="2000" dirty="0" smtClean="0">
                <a:solidFill>
                  <a:prstClr val="black"/>
                </a:solidFill>
              </a:rPr>
              <a:t>  	 	     5 decimal places	</a:t>
            </a:r>
          </a:p>
          <a:p>
            <a:endParaRPr lang="en-AU" sz="2200" u="sng" dirty="0">
              <a:solidFill>
                <a:prstClr val="black"/>
              </a:solidFill>
            </a:endParaRPr>
          </a:p>
          <a:p>
            <a:endParaRPr lang="en-AU" sz="2000" dirty="0">
              <a:solidFill>
                <a:prstClr val="black"/>
              </a:solidFill>
            </a:endParaRPr>
          </a:p>
          <a:p>
            <a:endParaRPr lang="en-AU" sz="2400" dirty="0">
              <a:solidFill>
                <a:prstClr val="black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0366" y="2333685"/>
            <a:ext cx="290838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sz="2000" dirty="0" smtClean="0">
              <a:solidFill>
                <a:prstClr val="black"/>
              </a:solidFill>
            </a:endParaRPr>
          </a:p>
          <a:p>
            <a:endParaRPr lang="en-AU" sz="2000" dirty="0">
              <a:solidFill>
                <a:prstClr val="black"/>
              </a:solidFill>
            </a:endParaRPr>
          </a:p>
          <a:p>
            <a:endParaRPr lang="en-AU" sz="2000" dirty="0" smtClean="0">
              <a:solidFill>
                <a:prstClr val="black"/>
              </a:solidFill>
            </a:endParaRPr>
          </a:p>
          <a:p>
            <a:endParaRPr lang="en-AU" sz="2000" dirty="0">
              <a:solidFill>
                <a:prstClr val="black"/>
              </a:solidFill>
            </a:endParaRPr>
          </a:p>
          <a:p>
            <a:endParaRPr lang="en-AU" sz="2000" dirty="0" smtClean="0">
              <a:solidFill>
                <a:prstClr val="black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67725" y="85028"/>
            <a:ext cx="8640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</a:rPr>
              <a:t>24</a:t>
            </a:r>
          </a:p>
          <a:p>
            <a:r>
              <a:rPr lang="en-AU" dirty="0">
                <a:solidFill>
                  <a:prstClr val="black"/>
                </a:solidFill>
              </a:rPr>
              <a:t>7</a:t>
            </a:r>
          </a:p>
          <a:p>
            <a:r>
              <a:rPr lang="en-AU" dirty="0">
                <a:solidFill>
                  <a:prstClr val="black"/>
                </a:solidFill>
              </a:rP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815" y="2333685"/>
            <a:ext cx="317733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 smtClean="0">
              <a:solidFill>
                <a:prstClr val="black"/>
              </a:solidFill>
            </a:endParaRPr>
          </a:p>
          <a:p>
            <a:endParaRPr lang="en-AU" sz="1000" dirty="0">
              <a:solidFill>
                <a:prstClr val="black"/>
              </a:solidFill>
            </a:endParaRPr>
          </a:p>
          <a:p>
            <a:endParaRPr lang="en-AU" dirty="0" smtClean="0">
              <a:solidFill>
                <a:prstClr val="black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815" y="2333685"/>
            <a:ext cx="29929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How do we multiply decimals?</a:t>
            </a:r>
            <a:endParaRPr lang="en-AU" sz="2200" dirty="0"/>
          </a:p>
        </p:txBody>
      </p:sp>
    </p:spTree>
    <p:extLst>
      <p:ext uri="{BB962C8B-B14F-4D97-AF65-F5344CB8AC3E}">
        <p14:creationId xmlns:p14="http://schemas.microsoft.com/office/powerpoint/2010/main" val="987016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3026535" y="0"/>
            <a:ext cx="0" cy="68580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122567" y="0"/>
            <a:ext cx="140269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AU" sz="2400" dirty="0">
                <a:solidFill>
                  <a:prstClr val="black"/>
                </a:solidFill>
              </a:rPr>
              <a:t>Question:</a:t>
            </a:r>
          </a:p>
        </p:txBody>
      </p:sp>
      <p:sp>
        <p:nvSpPr>
          <p:cNvPr id="6" name="Rectangle 5"/>
          <p:cNvSpPr/>
          <p:nvPr/>
        </p:nvSpPr>
        <p:spPr>
          <a:xfrm>
            <a:off x="3026535" y="-1"/>
            <a:ext cx="10004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AU" sz="2400" dirty="0">
                <a:solidFill>
                  <a:prstClr val="black"/>
                </a:solidFill>
              </a:rPr>
              <a:t>Notes: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590251"/>
            <a:ext cx="121920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026535" y="571500"/>
            <a:ext cx="9165465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200" dirty="0" smtClean="0"/>
              <a:t>When multiplying a number by 10, move the decimal point one place to the right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200" dirty="0" smtClean="0"/>
              <a:t>When multiplying a number by 100, move the decimal point two places to the right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200" dirty="0" smtClean="0"/>
              <a:t>When multiplying a number by 1000, move the decimal point three places to the right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AU" sz="2200" dirty="0"/>
          </a:p>
          <a:p>
            <a:r>
              <a:rPr lang="en-AU" sz="2200" dirty="0" smtClean="0"/>
              <a:t>Examples:			2.6 x 10 = 26</a:t>
            </a:r>
          </a:p>
          <a:p>
            <a:pPr algn="ctr"/>
            <a:r>
              <a:rPr lang="en-AU" sz="2200" dirty="0" smtClean="0"/>
              <a:t>3.45 x 100 = 345</a:t>
            </a:r>
          </a:p>
          <a:p>
            <a:pPr algn="ctr"/>
            <a:r>
              <a:rPr lang="en-AU" sz="2200" dirty="0" smtClean="0"/>
              <a:t>1.7 x 1000 = 1700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2567" y="714375"/>
            <a:ext cx="274922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How do we multiply by factors of 10?</a:t>
            </a:r>
            <a:endParaRPr lang="en-AU" sz="2200" dirty="0"/>
          </a:p>
        </p:txBody>
      </p:sp>
    </p:spTree>
    <p:extLst>
      <p:ext uri="{BB962C8B-B14F-4D97-AF65-F5344CB8AC3E}">
        <p14:creationId xmlns:p14="http://schemas.microsoft.com/office/powerpoint/2010/main" val="1684652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170423" y="1068945"/>
            <a:ext cx="2508384" cy="540912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AU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Q1.	3 x 10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AU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Q2.	43 x 10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AU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Q3.	5.6 x 10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AU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Q4.	7 x 100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AU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Q5.	2.3 x 100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AU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Q6.	4.56 x 1000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AU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Q7.	0.49 x 10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AU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Q8.	62 x 10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AU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Q9.	68 x 100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AU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Q10.	5 x 1000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AU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Q11.	5.9 x 10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AU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Q12.	0.32 x 10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AU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Q13.	0.045 x 100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0422" y="103031"/>
            <a:ext cx="44273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 smtClean="0"/>
              <a:t>Task:</a:t>
            </a:r>
            <a:endParaRPr lang="en-AU" sz="3600" dirty="0"/>
          </a:p>
        </p:txBody>
      </p:sp>
    </p:spTree>
    <p:extLst>
      <p:ext uri="{BB962C8B-B14F-4D97-AF65-F5344CB8AC3E}">
        <p14:creationId xmlns:p14="http://schemas.microsoft.com/office/powerpoint/2010/main" val="11941652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1035897"/>
            <a:ext cx="12192000" cy="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121920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223145" y="1916832"/>
            <a:ext cx="7431" cy="4941168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-19050" y="517265"/>
            <a:ext cx="7439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</a:rPr>
              <a:t>Title</a:t>
            </a:r>
            <a:r>
              <a:rPr lang="en-AU" sz="2800" dirty="0" smtClean="0">
                <a:solidFill>
                  <a:prstClr val="black"/>
                </a:solidFill>
              </a:rPr>
              <a:t>: Dividing decimals</a:t>
            </a:r>
            <a:endParaRPr lang="en-AU" sz="2800" dirty="0">
              <a:solidFill>
                <a:prstClr val="black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5552" y="512677"/>
            <a:ext cx="24969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>
                <a:solidFill>
                  <a:prstClr val="black"/>
                </a:solidFill>
              </a:rPr>
              <a:t>Date: 4/5/15</a:t>
            </a:r>
            <a:endParaRPr lang="en-AU" sz="2800" dirty="0">
              <a:solidFill>
                <a:prstClr val="black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878" y="1065325"/>
            <a:ext cx="120729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EQ : Describe the method used to </a:t>
            </a:r>
            <a:r>
              <a:rPr lang="en-AU" sz="2400" dirty="0" smtClean="0">
                <a:solidFill>
                  <a:prstClr val="black"/>
                </a:solidFill>
              </a:rPr>
              <a:t>divide </a:t>
            </a:r>
            <a:r>
              <a:rPr lang="en-AU" sz="2400" dirty="0">
                <a:solidFill>
                  <a:prstClr val="black"/>
                </a:solidFill>
              </a:rPr>
              <a:t>decimals . How do we </a:t>
            </a:r>
            <a:r>
              <a:rPr lang="en-AU" sz="2400" dirty="0" smtClean="0">
                <a:solidFill>
                  <a:prstClr val="black"/>
                </a:solidFill>
              </a:rPr>
              <a:t>divide </a:t>
            </a:r>
            <a:r>
              <a:rPr lang="en-AU" sz="2400" dirty="0">
                <a:solidFill>
                  <a:prstClr val="black"/>
                </a:solidFill>
              </a:rPr>
              <a:t>by factors of 10, 100 and 100?</a:t>
            </a:r>
          </a:p>
          <a:p>
            <a:endParaRPr lang="en-AU" sz="2400" dirty="0">
              <a:solidFill>
                <a:prstClr val="black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7752184" y="0"/>
            <a:ext cx="0" cy="98072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815" y="1879010"/>
            <a:ext cx="29158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Question</a:t>
            </a:r>
            <a:r>
              <a:rPr lang="en-AU" sz="2400" dirty="0" smtClean="0">
                <a:solidFill>
                  <a:prstClr val="black"/>
                </a:solidFill>
              </a:rPr>
              <a:t>:</a:t>
            </a:r>
          </a:p>
          <a:p>
            <a:endParaRPr lang="en-AU" sz="2400" dirty="0">
              <a:solidFill>
                <a:prstClr val="black"/>
              </a:solidFill>
            </a:endParaRPr>
          </a:p>
          <a:p>
            <a:endParaRPr lang="en-AU" sz="2400" dirty="0">
              <a:solidFill>
                <a:prstClr val="black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226860" y="1954655"/>
                <a:ext cx="8715589" cy="58178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>
                    <a:solidFill>
                      <a:prstClr val="black"/>
                    </a:solidFill>
                  </a:rPr>
                  <a:t>Notes:</a:t>
                </a:r>
              </a:p>
              <a:p>
                <a:r>
                  <a:rPr lang="en-AU" sz="2200" u="sng" dirty="0">
                    <a:solidFill>
                      <a:prstClr val="black"/>
                    </a:solidFill>
                  </a:rPr>
                  <a:t>Written </a:t>
                </a:r>
                <a:r>
                  <a:rPr lang="en-AU" sz="2200" u="sng" dirty="0" smtClean="0">
                    <a:solidFill>
                      <a:prstClr val="black"/>
                    </a:solidFill>
                  </a:rPr>
                  <a:t>division </a:t>
                </a:r>
                <a:r>
                  <a:rPr lang="en-AU" sz="2200" u="sng" dirty="0">
                    <a:solidFill>
                      <a:prstClr val="black"/>
                    </a:solidFill>
                  </a:rPr>
                  <a:t>of decimals: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AU" sz="2200" dirty="0" smtClean="0">
                    <a:solidFill>
                      <a:prstClr val="black"/>
                    </a:solidFill>
                  </a:rPr>
                  <a:t>Change </a:t>
                </a:r>
                <a:r>
                  <a:rPr lang="en-AU" sz="2200" i="1" dirty="0" smtClean="0">
                    <a:solidFill>
                      <a:prstClr val="black"/>
                    </a:solidFill>
                  </a:rPr>
                  <a:t>both</a:t>
                </a:r>
                <a:r>
                  <a:rPr lang="en-AU" sz="2200" dirty="0" smtClean="0">
                    <a:solidFill>
                      <a:prstClr val="black"/>
                    </a:solidFill>
                  </a:rPr>
                  <a:t> numbers by the same number of place values to make the divisor a whole number.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AU" sz="2200" dirty="0" smtClean="0">
                    <a:solidFill>
                      <a:prstClr val="black"/>
                    </a:solidFill>
                  </a:rPr>
                  <a:t>Perform the new division, adding zeros as needed to complete the calculation.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AU" sz="2200" dirty="0" smtClean="0">
                    <a:solidFill>
                      <a:prstClr val="black"/>
                    </a:solidFill>
                  </a:rPr>
                  <a:t>If the answer does not terminate, it will have repeating digits. </a:t>
                </a:r>
                <a:r>
                  <a:rPr lang="en-AU" sz="2200" i="1" dirty="0" smtClean="0">
                    <a:solidFill>
                      <a:prstClr val="black"/>
                    </a:solidFill>
                  </a:rPr>
                  <a:t>We show that the digits are repeating by putting a dot over the repeating digits.</a:t>
                </a:r>
                <a:endParaRPr lang="en-AU" sz="2200" i="1" dirty="0">
                  <a:solidFill>
                    <a:prstClr val="black"/>
                  </a:solidFill>
                </a:endParaRPr>
              </a:p>
              <a:p>
                <a:r>
                  <a:rPr lang="en-AU" sz="2000" dirty="0" smtClean="0">
                    <a:solidFill>
                      <a:prstClr val="black"/>
                    </a:solidFill>
                  </a:rPr>
                  <a:t>Examples:</a:t>
                </a:r>
              </a:p>
              <a:p>
                <a:r>
                  <a:rPr lang="en-AU" sz="2000" dirty="0">
                    <a:solidFill>
                      <a:prstClr val="black"/>
                    </a:solidFill>
                  </a:rPr>
                  <a:t>	</a:t>
                </a:r>
                <a:r>
                  <a:rPr lang="en-AU" sz="2000" dirty="0" smtClean="0">
                    <a:solidFill>
                      <a:prstClr val="black"/>
                    </a:solidFill>
                  </a:rPr>
                  <a:t>	1) 24.71 ÷ 0.4		</a:t>
                </a:r>
                <a:r>
                  <a:rPr lang="en-AU" sz="2000" dirty="0" smtClean="0">
                    <a:solidFill>
                      <a:prstClr val="black"/>
                    </a:solidFill>
                    <a:sym typeface="Wingdings" panose="05000000000000000000" pitchFamily="2" charset="2"/>
                  </a:rPr>
                  <a:t></a:t>
                </a:r>
                <a:endParaRPr lang="en-AU" sz="2000" dirty="0" smtClean="0">
                  <a:solidFill>
                    <a:prstClr val="black"/>
                  </a:solidFill>
                </a:endParaRPr>
              </a:p>
              <a:p>
                <a:endParaRPr lang="en-AU" sz="2000" dirty="0">
                  <a:solidFill>
                    <a:prstClr val="black"/>
                  </a:solidFill>
                </a:endParaRPr>
              </a:p>
              <a:p>
                <a:endParaRPr lang="en-AU" sz="2000" dirty="0" smtClean="0">
                  <a:solidFill>
                    <a:prstClr val="black"/>
                  </a:solidFill>
                </a:endParaRPr>
              </a:p>
              <a:p>
                <a:r>
                  <a:rPr lang="en-AU" sz="2000" dirty="0">
                    <a:solidFill>
                      <a:prstClr val="black"/>
                    </a:solidFill>
                  </a:rPr>
                  <a:t>	</a:t>
                </a:r>
                <a:r>
                  <a:rPr lang="en-AU" sz="2000" dirty="0" smtClean="0">
                    <a:solidFill>
                      <a:prstClr val="black"/>
                    </a:solidFill>
                  </a:rPr>
                  <a:t>	2)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2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5.1</m:t>
                        </m:r>
                      </m:num>
                      <m:den>
                        <m:r>
                          <a:rPr lang="en-AU" sz="2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0.06</m:t>
                        </m:r>
                      </m:den>
                    </m:f>
                  </m:oMath>
                </a14:m>
                <a:r>
                  <a:rPr lang="en-AU" sz="2200" dirty="0" smtClean="0">
                    <a:solidFill>
                      <a:prstClr val="black"/>
                    </a:solidFill>
                  </a:rPr>
                  <a:t>			</a:t>
                </a:r>
                <a:r>
                  <a:rPr lang="en-AU" sz="2200" dirty="0" smtClean="0">
                    <a:solidFill>
                      <a:prstClr val="black"/>
                    </a:solidFill>
                    <a:sym typeface="Wingdings" panose="05000000000000000000" pitchFamily="2" charset="2"/>
                  </a:rPr>
                  <a:t></a:t>
                </a:r>
                <a:endParaRPr lang="en-AU" sz="2200" dirty="0" smtClean="0">
                  <a:solidFill>
                    <a:prstClr val="black"/>
                  </a:solidFill>
                </a:endParaRPr>
              </a:p>
              <a:p>
                <a:r>
                  <a:rPr lang="en-AU" sz="2000" dirty="0">
                    <a:solidFill>
                      <a:prstClr val="black"/>
                    </a:solidFill>
                  </a:rPr>
                  <a:t>	</a:t>
                </a:r>
                <a:r>
                  <a:rPr lang="en-AU" sz="2000" dirty="0" smtClean="0">
                    <a:solidFill>
                      <a:prstClr val="black"/>
                    </a:solidFill>
                  </a:rPr>
                  <a:t>		</a:t>
                </a:r>
              </a:p>
              <a:p>
                <a:r>
                  <a:rPr lang="en-AU" sz="2000" dirty="0">
                    <a:solidFill>
                      <a:prstClr val="black"/>
                    </a:solidFill>
                  </a:rPr>
                  <a:t>	</a:t>
                </a:r>
                <a:r>
                  <a:rPr lang="en-AU" sz="2000" dirty="0" smtClean="0">
                    <a:solidFill>
                      <a:prstClr val="black"/>
                    </a:solidFill>
                  </a:rPr>
                  <a:t>		</a:t>
                </a:r>
              </a:p>
              <a:p>
                <a:r>
                  <a:rPr lang="en-AU" sz="2000" dirty="0">
                    <a:solidFill>
                      <a:prstClr val="black"/>
                    </a:solidFill>
                  </a:rPr>
                  <a:t>	</a:t>
                </a:r>
                <a:r>
                  <a:rPr lang="en-AU" sz="2000" dirty="0" smtClean="0">
                    <a:solidFill>
                      <a:prstClr val="black"/>
                    </a:solidFill>
                  </a:rPr>
                  <a:t>		</a:t>
                </a:r>
                <a:endParaRPr lang="en-AU" sz="2000" dirty="0">
                  <a:solidFill>
                    <a:prstClr val="black"/>
                  </a:solidFill>
                </a:endParaRPr>
              </a:p>
              <a:p>
                <a:endParaRPr lang="en-AU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6860" y="1954655"/>
                <a:ext cx="8715589" cy="5817811"/>
              </a:xfrm>
              <a:prstGeom prst="rect">
                <a:avLst/>
              </a:prstGeom>
              <a:blipFill rotWithShape="0">
                <a:blip r:embed="rId3"/>
                <a:stretch>
                  <a:fillRect l="-1049" t="-839" r="-153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130366" y="2333685"/>
            <a:ext cx="290838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sz="2000" dirty="0" smtClean="0">
              <a:solidFill>
                <a:prstClr val="black"/>
              </a:solidFill>
            </a:endParaRPr>
          </a:p>
          <a:p>
            <a:endParaRPr lang="en-AU" sz="2000" dirty="0">
              <a:solidFill>
                <a:prstClr val="black"/>
              </a:solidFill>
            </a:endParaRPr>
          </a:p>
          <a:p>
            <a:endParaRPr lang="en-AU" sz="2000" dirty="0" smtClean="0">
              <a:solidFill>
                <a:prstClr val="black"/>
              </a:solidFill>
            </a:endParaRPr>
          </a:p>
          <a:p>
            <a:endParaRPr lang="en-AU" sz="2000" dirty="0">
              <a:solidFill>
                <a:prstClr val="black"/>
              </a:solidFill>
            </a:endParaRPr>
          </a:p>
          <a:p>
            <a:endParaRPr lang="en-AU" sz="2000" dirty="0" smtClean="0">
              <a:solidFill>
                <a:prstClr val="black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67725" y="85028"/>
            <a:ext cx="8640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</a:rPr>
              <a:t>24</a:t>
            </a:r>
          </a:p>
          <a:p>
            <a:r>
              <a:rPr lang="en-AU" dirty="0">
                <a:solidFill>
                  <a:prstClr val="black"/>
                </a:solidFill>
              </a:rPr>
              <a:t>7</a:t>
            </a:r>
          </a:p>
          <a:p>
            <a:r>
              <a:rPr lang="en-AU" dirty="0">
                <a:solidFill>
                  <a:prstClr val="black"/>
                </a:solidFill>
              </a:rP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815" y="2333685"/>
            <a:ext cx="317733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/>
              <a:t>How do we </a:t>
            </a:r>
            <a:r>
              <a:rPr lang="en-AU" sz="2200" dirty="0" smtClean="0"/>
              <a:t>divide </a:t>
            </a:r>
            <a:r>
              <a:rPr lang="en-AU" sz="2200" dirty="0"/>
              <a:t>decimals?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60812" y="6362164"/>
            <a:ext cx="425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11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25332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3026535" y="0"/>
            <a:ext cx="0" cy="68580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122567" y="0"/>
            <a:ext cx="140269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AU" sz="2400" dirty="0">
                <a:solidFill>
                  <a:prstClr val="black"/>
                </a:solidFill>
              </a:rPr>
              <a:t>Question:</a:t>
            </a:r>
          </a:p>
        </p:txBody>
      </p:sp>
      <p:sp>
        <p:nvSpPr>
          <p:cNvPr id="6" name="Rectangle 5"/>
          <p:cNvSpPr/>
          <p:nvPr/>
        </p:nvSpPr>
        <p:spPr>
          <a:xfrm>
            <a:off x="3026535" y="-1"/>
            <a:ext cx="10004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AU" sz="2400" dirty="0">
                <a:solidFill>
                  <a:prstClr val="black"/>
                </a:solidFill>
              </a:rPr>
              <a:t>Notes: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590251"/>
            <a:ext cx="121920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026535" y="571500"/>
            <a:ext cx="9165465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200" dirty="0" smtClean="0"/>
              <a:t>When dividing a number by 10, move the decimal point one place to the left.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200" dirty="0" smtClean="0"/>
              <a:t>When dividing a number by 100, move the decimal point two places to the left.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200" dirty="0" smtClean="0"/>
              <a:t>When dividing a number by 1000, move the decimal point three places to the left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AU" sz="2200" dirty="0"/>
          </a:p>
          <a:p>
            <a:r>
              <a:rPr lang="en-AU" sz="2200" dirty="0" smtClean="0"/>
              <a:t>Examples:			3.62 </a:t>
            </a:r>
            <a:r>
              <a:rPr lang="en-AU" sz="2200" dirty="0"/>
              <a:t>÷</a:t>
            </a:r>
            <a:r>
              <a:rPr lang="en-AU" sz="2200" dirty="0" smtClean="0"/>
              <a:t> 10 = 0.362</a:t>
            </a:r>
          </a:p>
          <a:p>
            <a:pPr algn="ctr"/>
            <a:r>
              <a:rPr lang="en-AU" sz="2200" dirty="0" smtClean="0"/>
              <a:t>761.8 </a:t>
            </a:r>
            <a:r>
              <a:rPr lang="en-AU" sz="2200" dirty="0"/>
              <a:t>÷</a:t>
            </a:r>
            <a:r>
              <a:rPr lang="en-AU" sz="2200" dirty="0" smtClean="0"/>
              <a:t> 100 = 7.618</a:t>
            </a:r>
          </a:p>
          <a:p>
            <a:pPr algn="ctr"/>
            <a:r>
              <a:rPr lang="en-AU" sz="2200" dirty="0" smtClean="0"/>
              <a:t>139.1 ÷ 1000 = 0.1391</a:t>
            </a:r>
          </a:p>
          <a:p>
            <a:pPr algn="ctr"/>
            <a:endParaRPr lang="en-AU" sz="2200" dirty="0"/>
          </a:p>
          <a:p>
            <a:pPr algn="ctr"/>
            <a:endParaRPr lang="en-AU" sz="2200" dirty="0" smtClean="0"/>
          </a:p>
          <a:p>
            <a:pPr algn="ctr"/>
            <a:endParaRPr lang="en-AU" sz="2200" dirty="0"/>
          </a:p>
          <a:p>
            <a:pPr algn="ctr"/>
            <a:endParaRPr lang="en-AU" sz="2200" dirty="0" smtClean="0"/>
          </a:p>
          <a:p>
            <a:pPr algn="ctr"/>
            <a:endParaRPr lang="en-AU" sz="2200" dirty="0"/>
          </a:p>
          <a:p>
            <a:pPr algn="ctr"/>
            <a:endParaRPr lang="en-AU" sz="2200" dirty="0" smtClean="0"/>
          </a:p>
          <a:p>
            <a:pPr algn="ctr"/>
            <a:r>
              <a:rPr lang="en-AU" sz="2200" b="1" i="1" dirty="0" smtClean="0"/>
              <a:t>Task: On your left hand task page complete Questions 2-4 on page 197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2567" y="714375"/>
            <a:ext cx="274922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How do we divide by factors of 10?</a:t>
            </a:r>
          </a:p>
          <a:p>
            <a:endParaRPr lang="en-AU" sz="2200" dirty="0"/>
          </a:p>
        </p:txBody>
      </p:sp>
    </p:spTree>
    <p:extLst>
      <p:ext uri="{BB962C8B-B14F-4D97-AF65-F5344CB8AC3E}">
        <p14:creationId xmlns:p14="http://schemas.microsoft.com/office/powerpoint/2010/main" val="3700271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250"/>
            <a:ext cx="4676775" cy="66675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8046" y="95250"/>
            <a:ext cx="4705350" cy="666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113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1035897"/>
            <a:ext cx="12192000" cy="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121920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223145" y="1916832"/>
            <a:ext cx="7431" cy="4941168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-19050" y="517265"/>
            <a:ext cx="7439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</a:rPr>
              <a:t>Title</a:t>
            </a:r>
            <a:r>
              <a:rPr lang="en-AU" sz="2800" dirty="0" smtClean="0">
                <a:solidFill>
                  <a:prstClr val="black"/>
                </a:solidFill>
              </a:rPr>
              <a:t>: Converting fractions to decimals</a:t>
            </a:r>
            <a:endParaRPr lang="en-AU" sz="2800" dirty="0">
              <a:solidFill>
                <a:prstClr val="black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5552" y="512677"/>
            <a:ext cx="24969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>
                <a:solidFill>
                  <a:prstClr val="black"/>
                </a:solidFill>
              </a:rPr>
              <a:t>Date: 7/5/15</a:t>
            </a:r>
            <a:endParaRPr lang="en-AU" sz="2800" dirty="0">
              <a:solidFill>
                <a:prstClr val="black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878" y="1065325"/>
            <a:ext cx="120729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EQ </a:t>
            </a:r>
            <a:r>
              <a:rPr lang="en-AU" sz="2400" dirty="0" smtClean="0">
                <a:solidFill>
                  <a:prstClr val="black"/>
                </a:solidFill>
              </a:rPr>
              <a:t>: Describe two ways to convert fractions into decimals. </a:t>
            </a:r>
            <a:endParaRPr lang="en-AU" sz="2400" dirty="0">
              <a:solidFill>
                <a:prstClr val="black"/>
              </a:solidFill>
            </a:endParaRPr>
          </a:p>
          <a:p>
            <a:endParaRPr lang="en-AU" sz="2400" dirty="0">
              <a:solidFill>
                <a:prstClr val="black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7752184" y="0"/>
            <a:ext cx="0" cy="98072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815" y="1879010"/>
            <a:ext cx="29158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Question</a:t>
            </a:r>
            <a:r>
              <a:rPr lang="en-AU" sz="2400" dirty="0" smtClean="0">
                <a:solidFill>
                  <a:prstClr val="black"/>
                </a:solidFill>
              </a:rPr>
              <a:t>:</a:t>
            </a:r>
          </a:p>
          <a:p>
            <a:endParaRPr lang="en-AU" sz="2400" dirty="0">
              <a:solidFill>
                <a:prstClr val="black"/>
              </a:solidFill>
            </a:endParaRPr>
          </a:p>
          <a:p>
            <a:endParaRPr lang="en-AU" sz="2400" dirty="0">
              <a:solidFill>
                <a:prstClr val="black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226860" y="1954655"/>
                <a:ext cx="8715589" cy="4553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>
                    <a:solidFill>
                      <a:prstClr val="black"/>
                    </a:solidFill>
                  </a:rPr>
                  <a:t>Notes:</a:t>
                </a:r>
              </a:p>
              <a:p>
                <a:r>
                  <a:rPr lang="en-AU" sz="2200" dirty="0" smtClean="0">
                    <a:solidFill>
                      <a:prstClr val="black"/>
                    </a:solidFill>
                  </a:rPr>
                  <a:t>We can convert fractions to decimals in two different ways.</a:t>
                </a:r>
              </a:p>
              <a:p>
                <a:pPr marL="457200" indent="-457200">
                  <a:buAutoNum type="arabicParenR"/>
                </a:pPr>
                <a:r>
                  <a:rPr lang="en-AU" sz="2200" dirty="0" smtClean="0">
                    <a:solidFill>
                      <a:prstClr val="black"/>
                    </a:solidFill>
                  </a:rPr>
                  <a:t>We know that the positions to the right of the decimal point are in order </a:t>
                </a:r>
                <a:r>
                  <a:rPr lang="en-AU" sz="2200" i="1" dirty="0" smtClean="0">
                    <a:solidFill>
                      <a:prstClr val="black"/>
                    </a:solidFill>
                  </a:rPr>
                  <a:t>tenths, hundredths, thousandths and ten thousandths </a:t>
                </a:r>
                <a:r>
                  <a:rPr lang="en-AU" sz="2200" dirty="0" smtClean="0">
                    <a:solidFill>
                      <a:prstClr val="black"/>
                    </a:solidFill>
                  </a:rPr>
                  <a:t>thus:</a:t>
                </a: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AU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en-AU" sz="2000" dirty="0" smtClean="0">
                    <a:solidFill>
                      <a:prstClr val="black"/>
                    </a:solidFill>
                  </a:rPr>
                  <a:t> = 0.7			3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AU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1000</m:t>
                        </m:r>
                      </m:den>
                    </m:f>
                  </m:oMath>
                </a14:m>
                <a:r>
                  <a:rPr lang="en-AU" sz="2000" dirty="0" smtClean="0">
                    <a:solidFill>
                      <a:prstClr val="black"/>
                    </a:solidFill>
                  </a:rPr>
                  <a:t> = 3.009</a:t>
                </a:r>
              </a:p>
              <a:p>
                <a:r>
                  <a:rPr lang="en-AU" sz="2000" dirty="0">
                    <a:solidFill>
                      <a:prstClr val="black"/>
                    </a:solidFill>
                  </a:rPr>
                  <a:t>	</a:t>
                </a:r>
                <a:r>
                  <a:rPr lang="en-AU" sz="2000" dirty="0" smtClean="0">
                    <a:solidFill>
                      <a:prstClr val="black"/>
                    </a:solidFill>
                  </a:rPr>
                  <a:t>	</a:t>
                </a:r>
              </a:p>
              <a:p>
                <a:r>
                  <a:rPr lang="en-AU" sz="2000" dirty="0">
                    <a:solidFill>
                      <a:prstClr val="black"/>
                    </a:solidFill>
                  </a:rPr>
                  <a:t>	</a:t>
                </a:r>
                <a:r>
                  <a:rPr lang="en-AU" sz="2000" dirty="0" smtClean="0">
                    <a:solidFill>
                      <a:prstClr val="black"/>
                    </a:solidFill>
                  </a:rPr>
                  <a:t>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63</m:t>
                        </m:r>
                      </m:num>
                      <m:den>
                        <m:r>
                          <a:rPr lang="en-AU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</m:oMath>
                </a14:m>
                <a:r>
                  <a:rPr lang="en-AU" sz="2000" dirty="0" smtClean="0">
                    <a:solidFill>
                      <a:prstClr val="black"/>
                    </a:solidFill>
                  </a:rPr>
                  <a:t> = 0.63		61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115</m:t>
                        </m:r>
                      </m:num>
                      <m:den>
                        <m:r>
                          <a:rPr lang="en-AU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10000</m:t>
                        </m:r>
                      </m:den>
                    </m:f>
                  </m:oMath>
                </a14:m>
                <a:r>
                  <a:rPr lang="en-AU" sz="2000" dirty="0" smtClean="0">
                    <a:solidFill>
                      <a:prstClr val="black"/>
                    </a:solidFill>
                  </a:rPr>
                  <a:t> = 61. 0115	</a:t>
                </a:r>
              </a:p>
              <a:p>
                <a:r>
                  <a:rPr lang="en-AU" sz="2000" dirty="0" smtClean="0">
                    <a:solidFill>
                      <a:srgbClr val="0070C0"/>
                    </a:solidFill>
                  </a:rPr>
                  <a:t>Remember: Our first lesson on naming decimals</a:t>
                </a:r>
                <a:r>
                  <a:rPr lang="en-AU" sz="2000" dirty="0">
                    <a:solidFill>
                      <a:prstClr val="black"/>
                    </a:solidFill>
                  </a:rPr>
                  <a:t>	</a:t>
                </a:r>
                <a:r>
                  <a:rPr lang="en-AU" sz="2000" dirty="0" smtClean="0">
                    <a:solidFill>
                      <a:prstClr val="black"/>
                    </a:solidFill>
                  </a:rPr>
                  <a:t>		</a:t>
                </a:r>
              </a:p>
              <a:p>
                <a:r>
                  <a:rPr lang="en-AU" sz="2400" dirty="0" smtClean="0">
                    <a:solidFill>
                      <a:prstClr val="black"/>
                    </a:solidFill>
                  </a:rPr>
                  <a:t>2</a:t>
                </a:r>
                <a:r>
                  <a:rPr lang="en-AU" sz="2200" dirty="0" smtClean="0">
                    <a:solidFill>
                      <a:prstClr val="black"/>
                    </a:solidFill>
                  </a:rPr>
                  <a:t>) Alternatively you can use your scientific calculator by entering the fraction as a division statement :</a:t>
                </a: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AU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en-AU" sz="2000" dirty="0" smtClean="0">
                    <a:solidFill>
                      <a:prstClr val="black"/>
                    </a:solidFill>
                  </a:rPr>
                  <a:t> 	=	 8 ÷ 10 = 0.8</a:t>
                </a:r>
              </a:p>
              <a:p>
                <a:r>
                  <a:rPr lang="en-AU" sz="2000" dirty="0">
                    <a:solidFill>
                      <a:prstClr val="black"/>
                    </a:solidFill>
                  </a:rPr>
                  <a:t>	</a:t>
                </a:r>
                <a:r>
                  <a:rPr lang="en-AU" sz="2000" dirty="0" smtClean="0">
                    <a:solidFill>
                      <a:prstClr val="black"/>
                    </a:solidFill>
                  </a:rPr>
                  <a:t>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num>
                      <m:den>
                        <m:r>
                          <a:rPr lang="en-AU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</m:oMath>
                </a14:m>
                <a:r>
                  <a:rPr lang="en-AU" sz="2000" dirty="0" smtClean="0">
                    <a:solidFill>
                      <a:prstClr val="black"/>
                    </a:solidFill>
                  </a:rPr>
                  <a:t>	=	49 ÷ 100 = 0.49</a:t>
                </a:r>
                <a:endParaRPr lang="en-AU" sz="20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6860" y="1954655"/>
                <a:ext cx="8715589" cy="4553875"/>
              </a:xfrm>
              <a:prstGeom prst="rect">
                <a:avLst/>
              </a:prstGeom>
              <a:blipFill rotWithShape="0">
                <a:blip r:embed="rId3"/>
                <a:stretch>
                  <a:fillRect l="-1049" t="-1071" b="-13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130366" y="2333685"/>
            <a:ext cx="2908385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>
                <a:solidFill>
                  <a:prstClr val="black"/>
                </a:solidFill>
              </a:rPr>
              <a:t>How do we use the position of a number in a fraction to write decimals?</a:t>
            </a:r>
          </a:p>
          <a:p>
            <a:endParaRPr lang="en-AU" sz="2000" dirty="0">
              <a:solidFill>
                <a:prstClr val="black"/>
              </a:solidFill>
            </a:endParaRPr>
          </a:p>
          <a:p>
            <a:endParaRPr lang="en-AU" sz="2000" dirty="0" smtClean="0">
              <a:solidFill>
                <a:prstClr val="black"/>
              </a:solidFill>
            </a:endParaRPr>
          </a:p>
          <a:p>
            <a:endParaRPr lang="en-AU" sz="2000" dirty="0">
              <a:solidFill>
                <a:prstClr val="black"/>
              </a:solidFill>
            </a:endParaRPr>
          </a:p>
          <a:p>
            <a:endParaRPr lang="en-AU" sz="2000" dirty="0" smtClean="0">
              <a:solidFill>
                <a:prstClr val="black"/>
              </a:solidFill>
            </a:endParaRPr>
          </a:p>
          <a:p>
            <a:r>
              <a:rPr lang="en-AU" sz="2000" dirty="0" smtClean="0">
                <a:solidFill>
                  <a:prstClr val="black"/>
                </a:solidFill>
              </a:rPr>
              <a:t>How can we use a calculator to convert fractions to decimals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7725" y="85028"/>
            <a:ext cx="8640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</a:rPr>
              <a:t>24</a:t>
            </a:r>
          </a:p>
          <a:p>
            <a:r>
              <a:rPr lang="en-AU" dirty="0">
                <a:solidFill>
                  <a:prstClr val="black"/>
                </a:solidFill>
              </a:rPr>
              <a:t>7</a:t>
            </a:r>
          </a:p>
          <a:p>
            <a:r>
              <a:rPr lang="en-AU" dirty="0">
                <a:solidFill>
                  <a:prstClr val="black"/>
                </a:solidFill>
              </a:rPr>
              <a:t>30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1565228" y="6400800"/>
            <a:ext cx="520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13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95884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143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231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1035897"/>
            <a:ext cx="12192000" cy="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121920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223145" y="1916832"/>
            <a:ext cx="7431" cy="4941168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-19050" y="517265"/>
            <a:ext cx="7439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</a:rPr>
              <a:t>Title</a:t>
            </a:r>
            <a:r>
              <a:rPr lang="en-AU" sz="2800" dirty="0" smtClean="0">
                <a:solidFill>
                  <a:prstClr val="black"/>
                </a:solidFill>
              </a:rPr>
              <a:t>: Rounding decimals</a:t>
            </a:r>
            <a:endParaRPr lang="en-AU" sz="2800" dirty="0">
              <a:solidFill>
                <a:prstClr val="black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5552" y="512677"/>
            <a:ext cx="24969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>
                <a:solidFill>
                  <a:prstClr val="black"/>
                </a:solidFill>
              </a:rPr>
              <a:t>Date: 11/5/15</a:t>
            </a:r>
            <a:endParaRPr lang="en-AU" sz="2800" dirty="0">
              <a:solidFill>
                <a:prstClr val="black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878" y="1065325"/>
            <a:ext cx="120729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EQ </a:t>
            </a:r>
            <a:r>
              <a:rPr lang="en-AU" sz="2400" dirty="0" smtClean="0">
                <a:solidFill>
                  <a:prstClr val="black"/>
                </a:solidFill>
              </a:rPr>
              <a:t>: Describe with an example how to round decimals to a given decimal place</a:t>
            </a:r>
            <a:endParaRPr lang="en-AU" sz="2400" dirty="0">
              <a:solidFill>
                <a:prstClr val="black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7752184" y="0"/>
            <a:ext cx="0" cy="98072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815" y="1879010"/>
            <a:ext cx="29158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Question</a:t>
            </a:r>
            <a:r>
              <a:rPr lang="en-AU" sz="2400" dirty="0" smtClean="0">
                <a:solidFill>
                  <a:prstClr val="black"/>
                </a:solidFill>
              </a:rPr>
              <a:t>:</a:t>
            </a:r>
          </a:p>
          <a:p>
            <a:endParaRPr lang="en-AU" sz="2400" dirty="0">
              <a:solidFill>
                <a:prstClr val="black"/>
              </a:solidFill>
            </a:endParaRPr>
          </a:p>
          <a:p>
            <a:endParaRPr lang="en-AU" sz="2400" dirty="0">
              <a:solidFill>
                <a:prstClr val="black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285943" y="1921419"/>
            <a:ext cx="8715589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prstClr val="black"/>
                </a:solidFill>
              </a:rPr>
              <a:t>Notes:</a:t>
            </a:r>
          </a:p>
          <a:p>
            <a:r>
              <a:rPr lang="en-AU" sz="2200" u="sng" dirty="0" smtClean="0">
                <a:solidFill>
                  <a:prstClr val="black"/>
                </a:solidFill>
              </a:rPr>
              <a:t>Steps for Rounding decimals</a:t>
            </a:r>
          </a:p>
          <a:p>
            <a:r>
              <a:rPr lang="en-AU" sz="2200" b="1" dirty="0" smtClean="0">
                <a:solidFill>
                  <a:srgbClr val="0070C0"/>
                </a:solidFill>
              </a:rPr>
              <a:t>1)</a:t>
            </a:r>
            <a:r>
              <a:rPr lang="en-AU" sz="2200" dirty="0" smtClean="0">
                <a:solidFill>
                  <a:prstClr val="black"/>
                </a:solidFill>
              </a:rPr>
              <a:t> </a:t>
            </a:r>
            <a:r>
              <a:rPr lang="en-AU" sz="2200" dirty="0">
                <a:solidFill>
                  <a:prstClr val="black"/>
                </a:solidFill>
              </a:rPr>
              <a:t>Underline the digit to be rounded. </a:t>
            </a:r>
            <a:endParaRPr lang="en-AU" sz="2200" dirty="0" smtClean="0">
              <a:solidFill>
                <a:prstClr val="black"/>
              </a:solidFill>
            </a:endParaRPr>
          </a:p>
          <a:p>
            <a:r>
              <a:rPr lang="en-AU" sz="2200" b="1" dirty="0" smtClean="0">
                <a:solidFill>
                  <a:srgbClr val="0070C0"/>
                </a:solidFill>
              </a:rPr>
              <a:t>2)</a:t>
            </a:r>
            <a:r>
              <a:rPr lang="en-AU" sz="2200" dirty="0" smtClean="0">
                <a:solidFill>
                  <a:prstClr val="black"/>
                </a:solidFill>
              </a:rPr>
              <a:t> </a:t>
            </a:r>
            <a:r>
              <a:rPr lang="en-AU" sz="2200" dirty="0">
                <a:solidFill>
                  <a:prstClr val="black"/>
                </a:solidFill>
              </a:rPr>
              <a:t>Circle the next digit to (the right of) </a:t>
            </a:r>
            <a:r>
              <a:rPr lang="en-AU" sz="2200">
                <a:solidFill>
                  <a:prstClr val="black"/>
                </a:solidFill>
              </a:rPr>
              <a:t>the </a:t>
            </a:r>
            <a:r>
              <a:rPr lang="en-AU" sz="2200" smtClean="0">
                <a:solidFill>
                  <a:prstClr val="black"/>
                </a:solidFill>
              </a:rPr>
              <a:t>underlined </a:t>
            </a:r>
            <a:r>
              <a:rPr lang="en-AU" sz="2200" dirty="0">
                <a:solidFill>
                  <a:prstClr val="black"/>
                </a:solidFill>
              </a:rPr>
              <a:t>digit</a:t>
            </a:r>
            <a:r>
              <a:rPr lang="en-AU" sz="2200" dirty="0" smtClean="0">
                <a:solidFill>
                  <a:prstClr val="black"/>
                </a:solidFill>
              </a:rPr>
              <a:t>.</a:t>
            </a:r>
          </a:p>
          <a:p>
            <a:r>
              <a:rPr lang="en-AU" sz="2200" b="1" dirty="0" smtClean="0">
                <a:solidFill>
                  <a:srgbClr val="0070C0"/>
                </a:solidFill>
              </a:rPr>
              <a:t>3)</a:t>
            </a:r>
            <a:r>
              <a:rPr lang="en-AU" sz="2200" dirty="0" smtClean="0">
                <a:solidFill>
                  <a:prstClr val="black"/>
                </a:solidFill>
              </a:rPr>
              <a:t> </a:t>
            </a:r>
            <a:r>
              <a:rPr lang="en-AU" sz="2200" dirty="0">
                <a:solidFill>
                  <a:prstClr val="black"/>
                </a:solidFill>
              </a:rPr>
              <a:t>If the circled digit is less than 5, leave the underlined digit as it is. </a:t>
            </a:r>
            <a:endParaRPr lang="en-AU" sz="2200" dirty="0" smtClean="0">
              <a:solidFill>
                <a:prstClr val="black"/>
              </a:solidFill>
            </a:endParaRPr>
          </a:p>
          <a:p>
            <a:r>
              <a:rPr lang="en-AU" sz="2200" b="1" dirty="0" smtClean="0">
                <a:solidFill>
                  <a:srgbClr val="0070C0"/>
                </a:solidFill>
              </a:rPr>
              <a:t>4) </a:t>
            </a:r>
            <a:r>
              <a:rPr lang="en-AU" sz="2200" dirty="0">
                <a:solidFill>
                  <a:prstClr val="black"/>
                </a:solidFill>
              </a:rPr>
              <a:t>If the circled digit is 5 or more, round the underlined digit up to the next digit. </a:t>
            </a:r>
            <a:endParaRPr lang="en-AU" sz="2200" dirty="0" smtClean="0">
              <a:solidFill>
                <a:prstClr val="black"/>
              </a:solidFill>
            </a:endParaRPr>
          </a:p>
          <a:p>
            <a:r>
              <a:rPr lang="en-AU" sz="2200" b="1" dirty="0" smtClean="0">
                <a:solidFill>
                  <a:srgbClr val="0070C0"/>
                </a:solidFill>
              </a:rPr>
              <a:t>5) </a:t>
            </a:r>
            <a:r>
              <a:rPr lang="en-AU" sz="2200" dirty="0">
                <a:solidFill>
                  <a:prstClr val="black"/>
                </a:solidFill>
              </a:rPr>
              <a:t>Leave off the digits after the rounded digit.</a:t>
            </a:r>
          </a:p>
          <a:p>
            <a:endParaRPr lang="en-AU" sz="2400" dirty="0" smtClean="0">
              <a:solidFill>
                <a:prstClr val="black"/>
              </a:solidFill>
            </a:endParaRPr>
          </a:p>
          <a:p>
            <a:r>
              <a:rPr lang="en-AU" sz="2200" dirty="0" smtClean="0">
                <a:solidFill>
                  <a:prstClr val="black"/>
                </a:solidFill>
              </a:rPr>
              <a:t>Example</a:t>
            </a:r>
          </a:p>
          <a:p>
            <a:r>
              <a:rPr lang="en-AU" sz="2200" dirty="0" smtClean="0">
                <a:solidFill>
                  <a:prstClr val="black"/>
                </a:solidFill>
              </a:rPr>
              <a:t>Round the following number to 2 decimal places:</a:t>
            </a:r>
          </a:p>
          <a:p>
            <a:endParaRPr lang="en-AU" sz="1400" dirty="0">
              <a:solidFill>
                <a:prstClr val="black"/>
              </a:solidFill>
            </a:endParaRPr>
          </a:p>
          <a:p>
            <a:pPr marL="457200" indent="-457200">
              <a:buAutoNum type="alphaLcParenR"/>
            </a:pPr>
            <a:r>
              <a:rPr lang="en-AU" sz="2200" dirty="0" smtClean="0">
                <a:solidFill>
                  <a:prstClr val="black"/>
                </a:solidFill>
              </a:rPr>
              <a:t>34.2</a:t>
            </a:r>
            <a:r>
              <a:rPr lang="en-AU" sz="2200" u="sng" dirty="0" smtClean="0">
                <a:solidFill>
                  <a:prstClr val="black"/>
                </a:solidFill>
              </a:rPr>
              <a:t>8</a:t>
            </a:r>
            <a:r>
              <a:rPr lang="en-AU" sz="2200" dirty="0" smtClean="0">
                <a:solidFill>
                  <a:prstClr val="black"/>
                </a:solidFill>
              </a:rPr>
              <a:t> 7		b) 4.9</a:t>
            </a:r>
            <a:r>
              <a:rPr lang="en-AU" sz="2200" u="sng" dirty="0" smtClean="0">
                <a:solidFill>
                  <a:prstClr val="black"/>
                </a:solidFill>
              </a:rPr>
              <a:t>5</a:t>
            </a:r>
            <a:r>
              <a:rPr lang="en-AU" sz="2200" dirty="0" smtClean="0">
                <a:solidFill>
                  <a:prstClr val="black"/>
                </a:solidFill>
              </a:rPr>
              <a:t> 3		c) 167.5</a:t>
            </a:r>
            <a:r>
              <a:rPr lang="en-AU" sz="2200" u="sng" dirty="0" smtClean="0">
                <a:solidFill>
                  <a:prstClr val="black"/>
                </a:solidFill>
              </a:rPr>
              <a:t>8</a:t>
            </a:r>
            <a:r>
              <a:rPr lang="en-AU" sz="2200" dirty="0" smtClean="0">
                <a:solidFill>
                  <a:prstClr val="black"/>
                </a:solidFill>
              </a:rPr>
              <a:t> 5 </a:t>
            </a:r>
          </a:p>
          <a:p>
            <a:r>
              <a:rPr lang="en-AU" sz="2200" dirty="0" smtClean="0">
                <a:solidFill>
                  <a:srgbClr val="0070C0"/>
                </a:solidFill>
              </a:rPr>
              <a:t>Step 4 </a:t>
            </a:r>
            <a:r>
              <a:rPr lang="en-AU" sz="2200" dirty="0" smtClean="0">
                <a:solidFill>
                  <a:srgbClr val="0070C0"/>
                </a:solidFill>
                <a:sym typeface="Wingdings" panose="05000000000000000000" pitchFamily="2" charset="2"/>
              </a:rPr>
              <a:t> </a:t>
            </a:r>
            <a:r>
              <a:rPr lang="en-AU" sz="2200" dirty="0" smtClean="0">
                <a:sym typeface="Wingdings" panose="05000000000000000000" pitchFamily="2" charset="2"/>
              </a:rPr>
              <a:t>34.29		</a:t>
            </a:r>
            <a:r>
              <a:rPr lang="en-AU" sz="2200" dirty="0" smtClean="0">
                <a:solidFill>
                  <a:srgbClr val="0070C0"/>
                </a:solidFill>
                <a:sym typeface="Wingdings" panose="05000000000000000000" pitchFamily="2" charset="2"/>
              </a:rPr>
              <a:t>Step 3  </a:t>
            </a:r>
            <a:r>
              <a:rPr lang="en-AU" sz="2200" dirty="0" smtClean="0">
                <a:sym typeface="Wingdings" panose="05000000000000000000" pitchFamily="2" charset="2"/>
              </a:rPr>
              <a:t>4.95		</a:t>
            </a:r>
            <a:r>
              <a:rPr lang="en-AU" sz="2200" dirty="0" smtClean="0">
                <a:solidFill>
                  <a:srgbClr val="0070C0"/>
                </a:solidFill>
                <a:sym typeface="Wingdings" panose="05000000000000000000" pitchFamily="2" charset="2"/>
              </a:rPr>
              <a:t>Step 4  </a:t>
            </a:r>
            <a:r>
              <a:rPr lang="en-AU" sz="2200" dirty="0" smtClean="0">
                <a:sym typeface="Wingdings" panose="05000000000000000000" pitchFamily="2" charset="2"/>
              </a:rPr>
              <a:t>167.59</a:t>
            </a:r>
            <a:endParaRPr lang="en-AU" sz="2200" dirty="0" smtClean="0">
              <a:solidFill>
                <a:srgbClr val="0070C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0366" y="2333685"/>
            <a:ext cx="290838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/>
              <a:t>What </a:t>
            </a:r>
            <a:r>
              <a:rPr lang="en-AU" sz="2000" dirty="0"/>
              <a:t>are the steps we take to round decimals?</a:t>
            </a:r>
          </a:p>
          <a:p>
            <a:endParaRPr lang="en-AU" sz="2000" dirty="0" smtClean="0">
              <a:solidFill>
                <a:prstClr val="black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67725" y="85028"/>
            <a:ext cx="8640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</a:rPr>
              <a:t>24</a:t>
            </a:r>
          </a:p>
          <a:p>
            <a:r>
              <a:rPr lang="en-AU" dirty="0">
                <a:solidFill>
                  <a:prstClr val="black"/>
                </a:solidFill>
              </a:rPr>
              <a:t>7</a:t>
            </a:r>
          </a:p>
          <a:p>
            <a:r>
              <a:rPr lang="en-AU" dirty="0">
                <a:solidFill>
                  <a:prstClr val="black"/>
                </a:solidFill>
              </a:rPr>
              <a:t>30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1565228" y="6400800"/>
            <a:ext cx="520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15</a:t>
            </a:r>
            <a:endParaRPr lang="en-AU" dirty="0"/>
          </a:p>
        </p:txBody>
      </p:sp>
      <p:sp>
        <p:nvSpPr>
          <p:cNvPr id="7" name="Oval 6"/>
          <p:cNvSpPr/>
          <p:nvPr/>
        </p:nvSpPr>
        <p:spPr>
          <a:xfrm>
            <a:off x="4490811" y="5904762"/>
            <a:ext cx="239352" cy="38375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Oval 14"/>
          <p:cNvSpPr/>
          <p:nvPr/>
        </p:nvSpPr>
        <p:spPr>
          <a:xfrm>
            <a:off x="6912057" y="5904762"/>
            <a:ext cx="239352" cy="38375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Oval 15"/>
          <p:cNvSpPr/>
          <p:nvPr/>
        </p:nvSpPr>
        <p:spPr>
          <a:xfrm>
            <a:off x="9911231" y="5904762"/>
            <a:ext cx="239352" cy="38375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68101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313" y="0"/>
            <a:ext cx="1183005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u="sng" dirty="0" smtClean="0"/>
              <a:t>Tasks</a:t>
            </a:r>
          </a:p>
          <a:p>
            <a:endParaRPr lang="en-AU" sz="2400" u="sng" dirty="0"/>
          </a:p>
          <a:p>
            <a:pPr marL="457200" indent="-457200">
              <a:buAutoNum type="arabicParenR"/>
            </a:pPr>
            <a:r>
              <a:rPr lang="en-AU" sz="2400" dirty="0" smtClean="0"/>
              <a:t>Round the following numbers to 1 decimal place (</a:t>
            </a:r>
            <a:r>
              <a:rPr lang="en-AU" sz="2400" dirty="0" err="1" smtClean="0"/>
              <a:t>d.p</a:t>
            </a:r>
            <a:r>
              <a:rPr lang="en-AU" sz="2400" dirty="0" smtClean="0"/>
              <a:t>)</a:t>
            </a:r>
          </a:p>
          <a:p>
            <a:r>
              <a:rPr lang="en-AU" sz="2400" dirty="0" smtClean="0"/>
              <a:t>	</a:t>
            </a:r>
            <a:r>
              <a:rPr lang="en-AU" sz="2400" b="1" dirty="0" smtClean="0">
                <a:solidFill>
                  <a:srgbClr val="C00000"/>
                </a:solidFill>
              </a:rPr>
              <a:t>a</a:t>
            </a:r>
            <a:r>
              <a:rPr lang="en-AU" sz="2400" dirty="0" smtClean="0"/>
              <a:t> 45.</a:t>
            </a:r>
            <a:r>
              <a:rPr lang="en-AU" sz="2400" u="sng" dirty="0" smtClean="0"/>
              <a:t>6</a:t>
            </a:r>
            <a:r>
              <a:rPr lang="en-AU" sz="2400" dirty="0" smtClean="0"/>
              <a:t> 3	</a:t>
            </a:r>
            <a:r>
              <a:rPr lang="en-AU" sz="2400" b="1" dirty="0" smtClean="0">
                <a:solidFill>
                  <a:srgbClr val="C00000"/>
                </a:solidFill>
              </a:rPr>
              <a:t>b</a:t>
            </a:r>
            <a:r>
              <a:rPr lang="en-AU" sz="2400" dirty="0" smtClean="0"/>
              <a:t> 3.</a:t>
            </a:r>
            <a:r>
              <a:rPr lang="en-AU" sz="2400" u="sng" dirty="0" smtClean="0"/>
              <a:t>4</a:t>
            </a:r>
            <a:r>
              <a:rPr lang="en-AU" sz="2400" dirty="0" smtClean="0"/>
              <a:t> 6		</a:t>
            </a:r>
            <a:r>
              <a:rPr lang="en-AU" sz="2400" b="1" dirty="0" smtClean="0">
                <a:solidFill>
                  <a:srgbClr val="C00000"/>
                </a:solidFill>
              </a:rPr>
              <a:t>c</a:t>
            </a:r>
            <a:r>
              <a:rPr lang="en-AU" sz="2400" dirty="0" smtClean="0"/>
              <a:t> 145.</a:t>
            </a:r>
            <a:r>
              <a:rPr lang="en-AU" sz="2400" u="sng" dirty="0" smtClean="0"/>
              <a:t>9</a:t>
            </a:r>
            <a:r>
              <a:rPr lang="en-AU" sz="2400" dirty="0" smtClean="0"/>
              <a:t> 2	</a:t>
            </a:r>
            <a:r>
              <a:rPr lang="en-AU" sz="2400" b="1" dirty="0" smtClean="0">
                <a:solidFill>
                  <a:srgbClr val="C00000"/>
                </a:solidFill>
              </a:rPr>
              <a:t>d</a:t>
            </a:r>
            <a:r>
              <a:rPr lang="en-AU" sz="2400" dirty="0" smtClean="0"/>
              <a:t> 1001.</a:t>
            </a:r>
            <a:r>
              <a:rPr lang="en-AU" sz="2400" u="sng" dirty="0" smtClean="0"/>
              <a:t>2</a:t>
            </a:r>
            <a:r>
              <a:rPr lang="en-AU" sz="2400" dirty="0" smtClean="0"/>
              <a:t> 5	</a:t>
            </a:r>
            <a:r>
              <a:rPr lang="en-AU" sz="2400" b="1" dirty="0" smtClean="0">
                <a:solidFill>
                  <a:srgbClr val="C00000"/>
                </a:solidFill>
              </a:rPr>
              <a:t>e</a:t>
            </a:r>
            <a:r>
              <a:rPr lang="en-AU" sz="2400" dirty="0" smtClean="0"/>
              <a:t> 0.</a:t>
            </a:r>
            <a:r>
              <a:rPr lang="en-AU" sz="2400" u="sng" dirty="0" smtClean="0"/>
              <a:t>3</a:t>
            </a:r>
            <a:r>
              <a:rPr lang="en-AU" sz="2400" dirty="0" smtClean="0"/>
              <a:t> 9		</a:t>
            </a:r>
            <a:r>
              <a:rPr lang="en-AU" sz="2400" b="1" dirty="0" smtClean="0">
                <a:solidFill>
                  <a:srgbClr val="C00000"/>
                </a:solidFill>
              </a:rPr>
              <a:t>f</a:t>
            </a:r>
            <a:r>
              <a:rPr lang="en-AU" sz="2400" dirty="0" smtClean="0"/>
              <a:t> 12.</a:t>
            </a:r>
            <a:r>
              <a:rPr lang="en-AU" sz="2400" u="sng" dirty="0" smtClean="0"/>
              <a:t>8</a:t>
            </a:r>
            <a:r>
              <a:rPr lang="en-AU" sz="2400" dirty="0" smtClean="0"/>
              <a:t> 1	</a:t>
            </a:r>
          </a:p>
          <a:p>
            <a:pPr marL="457200" indent="-457200">
              <a:buAutoNum type="arabicParenR" startAt="2"/>
            </a:pPr>
            <a:r>
              <a:rPr lang="en-AU" sz="2400" dirty="0" smtClean="0"/>
              <a:t>Round the following numbers to 2 decimal places (</a:t>
            </a:r>
            <a:r>
              <a:rPr lang="en-AU" sz="2400" dirty="0" err="1" smtClean="0"/>
              <a:t>d.p</a:t>
            </a:r>
            <a:r>
              <a:rPr lang="en-AU" sz="2400" dirty="0" smtClean="0"/>
              <a:t>)</a:t>
            </a:r>
          </a:p>
          <a:p>
            <a:r>
              <a:rPr lang="en-AU" sz="2400" dirty="0"/>
              <a:t>	</a:t>
            </a:r>
            <a:r>
              <a:rPr lang="en-AU" sz="2400" b="1" dirty="0" smtClean="0">
                <a:solidFill>
                  <a:srgbClr val="C00000"/>
                </a:solidFill>
              </a:rPr>
              <a:t>a</a:t>
            </a:r>
            <a:r>
              <a:rPr lang="en-AU" sz="2400" dirty="0" smtClean="0"/>
              <a:t> 123.4</a:t>
            </a:r>
            <a:r>
              <a:rPr lang="en-AU" sz="2400" u="sng" dirty="0" smtClean="0"/>
              <a:t>6</a:t>
            </a:r>
            <a:r>
              <a:rPr lang="en-AU" sz="2400" dirty="0" smtClean="0"/>
              <a:t>  7	</a:t>
            </a:r>
            <a:r>
              <a:rPr lang="en-AU" sz="2400" b="1" dirty="0" smtClean="0">
                <a:solidFill>
                  <a:srgbClr val="C00000"/>
                </a:solidFill>
              </a:rPr>
              <a:t>b</a:t>
            </a:r>
            <a:r>
              <a:rPr lang="en-AU" sz="2400" dirty="0" smtClean="0"/>
              <a:t> 1.7</a:t>
            </a:r>
            <a:r>
              <a:rPr lang="en-AU" sz="2400" u="sng" dirty="0" smtClean="0"/>
              <a:t>3</a:t>
            </a:r>
            <a:r>
              <a:rPr lang="en-AU" sz="2400" dirty="0" smtClean="0"/>
              <a:t>  1	</a:t>
            </a:r>
            <a:r>
              <a:rPr lang="en-AU" sz="2400" b="1" dirty="0" smtClean="0">
                <a:solidFill>
                  <a:srgbClr val="C00000"/>
                </a:solidFill>
              </a:rPr>
              <a:t>c</a:t>
            </a:r>
            <a:r>
              <a:rPr lang="en-AU" sz="2400" dirty="0" smtClean="0"/>
              <a:t> 92. 2</a:t>
            </a:r>
            <a:r>
              <a:rPr lang="en-AU" sz="2400" u="sng" dirty="0" smtClean="0"/>
              <a:t>7</a:t>
            </a:r>
            <a:r>
              <a:rPr lang="en-AU" sz="2400" dirty="0" smtClean="0"/>
              <a:t>  2	</a:t>
            </a:r>
            <a:r>
              <a:rPr lang="en-AU" sz="2400" b="1" dirty="0" smtClean="0">
                <a:solidFill>
                  <a:srgbClr val="C00000"/>
                </a:solidFill>
              </a:rPr>
              <a:t>d</a:t>
            </a:r>
            <a:r>
              <a:rPr lang="en-AU" sz="2400" dirty="0" smtClean="0"/>
              <a:t> 0.1</a:t>
            </a:r>
            <a:r>
              <a:rPr lang="en-AU" sz="2400" u="sng" dirty="0" smtClean="0"/>
              <a:t>9</a:t>
            </a:r>
            <a:r>
              <a:rPr lang="en-AU" sz="2400" dirty="0" smtClean="0"/>
              <a:t>  5	</a:t>
            </a:r>
            <a:r>
              <a:rPr lang="en-AU" sz="2400" b="1" dirty="0" smtClean="0">
                <a:solidFill>
                  <a:srgbClr val="C00000"/>
                </a:solidFill>
              </a:rPr>
              <a:t>e</a:t>
            </a:r>
            <a:r>
              <a:rPr lang="en-AU" sz="2400" dirty="0" smtClean="0"/>
              <a:t> 10.4</a:t>
            </a:r>
            <a:r>
              <a:rPr lang="en-AU" sz="2400" u="sng" dirty="0" smtClean="0"/>
              <a:t>5</a:t>
            </a:r>
            <a:r>
              <a:rPr lang="en-AU" sz="2400" dirty="0" smtClean="0"/>
              <a:t>  8	</a:t>
            </a:r>
            <a:r>
              <a:rPr lang="en-AU" sz="2400" b="1" dirty="0" smtClean="0">
                <a:solidFill>
                  <a:srgbClr val="C00000"/>
                </a:solidFill>
              </a:rPr>
              <a:t>f</a:t>
            </a:r>
            <a:r>
              <a:rPr lang="en-AU" sz="2400" dirty="0" smtClean="0"/>
              <a:t> 2057.6</a:t>
            </a:r>
            <a:r>
              <a:rPr lang="en-AU" sz="2400" u="sng" dirty="0" smtClean="0"/>
              <a:t>5</a:t>
            </a:r>
            <a:r>
              <a:rPr lang="en-AU" sz="2400" dirty="0" smtClean="0"/>
              <a:t> 0</a:t>
            </a:r>
          </a:p>
          <a:p>
            <a:endParaRPr lang="en-AU" sz="2400" dirty="0"/>
          </a:p>
          <a:p>
            <a:r>
              <a:rPr lang="en-AU" sz="2400" dirty="0" smtClean="0"/>
              <a:t>	</a:t>
            </a:r>
            <a:r>
              <a:rPr lang="en-AU" sz="2400" b="1" dirty="0" smtClean="0">
                <a:solidFill>
                  <a:srgbClr val="C00000"/>
                </a:solidFill>
              </a:rPr>
              <a:t>g</a:t>
            </a:r>
            <a:r>
              <a:rPr lang="en-AU" sz="2400" dirty="0" smtClean="0"/>
              <a:t> 7. 1</a:t>
            </a:r>
            <a:r>
              <a:rPr lang="en-AU" sz="2400" u="sng" dirty="0" smtClean="0"/>
              <a:t>1</a:t>
            </a:r>
            <a:r>
              <a:rPr lang="en-AU" sz="2400" dirty="0" smtClean="0"/>
              <a:t> 3	</a:t>
            </a:r>
            <a:r>
              <a:rPr lang="en-AU" sz="2400" b="1" dirty="0" smtClean="0">
                <a:solidFill>
                  <a:srgbClr val="C00000"/>
                </a:solidFill>
              </a:rPr>
              <a:t>h</a:t>
            </a:r>
            <a:r>
              <a:rPr lang="en-AU" sz="2400" dirty="0" smtClean="0"/>
              <a:t> 743. 2</a:t>
            </a:r>
            <a:r>
              <a:rPr lang="en-AU" sz="2400" u="sng" dirty="0" smtClean="0"/>
              <a:t>0</a:t>
            </a:r>
            <a:r>
              <a:rPr lang="en-AU" sz="2400" dirty="0" smtClean="0"/>
              <a:t> 6 	</a:t>
            </a:r>
            <a:r>
              <a:rPr lang="en-AU" sz="2400" b="1" dirty="0" err="1" smtClean="0">
                <a:solidFill>
                  <a:srgbClr val="C00000"/>
                </a:solidFill>
              </a:rPr>
              <a:t>i</a:t>
            </a:r>
            <a:r>
              <a:rPr lang="en-AU" sz="2400" dirty="0" smtClean="0"/>
              <a:t> 0.0</a:t>
            </a:r>
            <a:r>
              <a:rPr lang="en-AU" sz="2400" u="sng" dirty="0" smtClean="0"/>
              <a:t>0</a:t>
            </a:r>
            <a:r>
              <a:rPr lang="en-AU" sz="2400" dirty="0" smtClean="0"/>
              <a:t> 9		</a:t>
            </a:r>
            <a:r>
              <a:rPr lang="en-AU" sz="2400" b="1" dirty="0" smtClean="0">
                <a:solidFill>
                  <a:srgbClr val="C00000"/>
                </a:solidFill>
              </a:rPr>
              <a:t>j</a:t>
            </a:r>
            <a:r>
              <a:rPr lang="en-AU" sz="2400" dirty="0" smtClean="0"/>
              <a:t> 56. 3</a:t>
            </a:r>
            <a:r>
              <a:rPr lang="en-AU" sz="2400" u="sng" dirty="0" smtClean="0"/>
              <a:t>3</a:t>
            </a:r>
            <a:r>
              <a:rPr lang="en-AU" sz="2400" dirty="0" smtClean="0"/>
              <a:t> 4	</a:t>
            </a:r>
            <a:r>
              <a:rPr lang="en-AU" sz="2400" b="1" dirty="0" smtClean="0">
                <a:solidFill>
                  <a:srgbClr val="C00000"/>
                </a:solidFill>
              </a:rPr>
              <a:t>k</a:t>
            </a:r>
            <a:r>
              <a:rPr lang="en-AU" sz="2400" dirty="0" smtClean="0"/>
              <a:t> 21. 8</a:t>
            </a:r>
            <a:r>
              <a:rPr lang="en-AU" sz="2400" u="sng" dirty="0" smtClean="0"/>
              <a:t>1</a:t>
            </a:r>
            <a:r>
              <a:rPr lang="en-AU" sz="2400" dirty="0" smtClean="0"/>
              <a:t> 1	</a:t>
            </a:r>
            <a:r>
              <a:rPr lang="en-AU" sz="2400" b="1" dirty="0" smtClean="0">
                <a:solidFill>
                  <a:srgbClr val="C00000"/>
                </a:solidFill>
              </a:rPr>
              <a:t>l </a:t>
            </a:r>
            <a:r>
              <a:rPr lang="en-AU" sz="2400" dirty="0" smtClean="0"/>
              <a:t>10876. 0</a:t>
            </a:r>
            <a:r>
              <a:rPr lang="en-AU" sz="2400" u="sng" dirty="0" smtClean="0"/>
              <a:t>1</a:t>
            </a:r>
            <a:r>
              <a:rPr lang="en-AU" sz="2400" dirty="0" smtClean="0"/>
              <a:t> 8</a:t>
            </a:r>
          </a:p>
          <a:p>
            <a:endParaRPr lang="en-AU" sz="2400" dirty="0"/>
          </a:p>
          <a:p>
            <a:pPr marL="457200" indent="-457200">
              <a:buAutoNum type="arabicParenR" startAt="3"/>
            </a:pPr>
            <a:r>
              <a:rPr lang="en-AU" sz="2400" dirty="0" smtClean="0"/>
              <a:t>Round the following numbers to 3 decimal places (</a:t>
            </a:r>
            <a:r>
              <a:rPr lang="en-AU" sz="2400" dirty="0" err="1" smtClean="0"/>
              <a:t>d.p</a:t>
            </a:r>
            <a:r>
              <a:rPr lang="en-AU" sz="2400" dirty="0" smtClean="0"/>
              <a:t>)</a:t>
            </a:r>
          </a:p>
          <a:p>
            <a:r>
              <a:rPr lang="en-AU" sz="2400" dirty="0"/>
              <a:t>	</a:t>
            </a:r>
            <a:r>
              <a:rPr lang="en-AU" sz="2400" b="1" dirty="0" smtClean="0">
                <a:solidFill>
                  <a:srgbClr val="C00000"/>
                </a:solidFill>
              </a:rPr>
              <a:t>a</a:t>
            </a:r>
            <a:r>
              <a:rPr lang="en-AU" sz="2400" dirty="0" smtClean="0"/>
              <a:t> 5. 36</a:t>
            </a:r>
            <a:r>
              <a:rPr lang="en-AU" sz="2400" u="sng" dirty="0" smtClean="0"/>
              <a:t>5</a:t>
            </a:r>
            <a:r>
              <a:rPr lang="en-AU" sz="2400" dirty="0" smtClean="0"/>
              <a:t> 1	</a:t>
            </a:r>
            <a:r>
              <a:rPr lang="en-AU" sz="2400" b="1" dirty="0" smtClean="0">
                <a:solidFill>
                  <a:srgbClr val="C00000"/>
                </a:solidFill>
              </a:rPr>
              <a:t>b</a:t>
            </a:r>
            <a:r>
              <a:rPr lang="en-AU" sz="2400" dirty="0" smtClean="0"/>
              <a:t> 19. 60</a:t>
            </a:r>
            <a:r>
              <a:rPr lang="en-AU" sz="2400" u="sng" dirty="0" smtClean="0"/>
              <a:t>1</a:t>
            </a:r>
            <a:r>
              <a:rPr lang="en-AU" sz="2400" dirty="0" smtClean="0"/>
              <a:t> 7	</a:t>
            </a:r>
            <a:r>
              <a:rPr lang="en-AU" sz="2400" b="1" dirty="0" smtClean="0">
                <a:solidFill>
                  <a:srgbClr val="C00000"/>
                </a:solidFill>
              </a:rPr>
              <a:t>c </a:t>
            </a:r>
            <a:r>
              <a:rPr lang="en-AU" sz="2400" dirty="0" smtClean="0"/>
              <a:t>314. 32</a:t>
            </a:r>
            <a:r>
              <a:rPr lang="en-AU" sz="2400" u="sng" dirty="0" smtClean="0"/>
              <a:t>1</a:t>
            </a:r>
            <a:r>
              <a:rPr lang="en-AU" sz="2400" dirty="0" smtClean="0"/>
              <a:t> 5	</a:t>
            </a:r>
            <a:r>
              <a:rPr lang="en-AU" sz="2400" b="1" dirty="0" smtClean="0">
                <a:solidFill>
                  <a:srgbClr val="C00000"/>
                </a:solidFill>
              </a:rPr>
              <a:t>d</a:t>
            </a:r>
            <a:r>
              <a:rPr lang="en-AU" sz="2400" dirty="0" smtClean="0"/>
              <a:t> 2082. 10</a:t>
            </a:r>
            <a:r>
              <a:rPr lang="en-AU" sz="2400" u="sng" dirty="0" smtClean="0"/>
              <a:t>0</a:t>
            </a:r>
            <a:r>
              <a:rPr lang="en-AU" sz="2400" dirty="0" smtClean="0"/>
              <a:t> 3	</a:t>
            </a:r>
            <a:r>
              <a:rPr lang="en-AU" sz="2400" b="1" dirty="0" smtClean="0">
                <a:solidFill>
                  <a:srgbClr val="C00000"/>
                </a:solidFill>
              </a:rPr>
              <a:t>e</a:t>
            </a:r>
            <a:r>
              <a:rPr lang="en-AU" sz="2400" dirty="0" smtClean="0"/>
              <a:t> 0.76</a:t>
            </a:r>
            <a:r>
              <a:rPr lang="en-AU" sz="2400" u="sng" dirty="0" smtClean="0"/>
              <a:t>8</a:t>
            </a:r>
            <a:r>
              <a:rPr lang="en-AU" sz="2400" dirty="0" smtClean="0"/>
              <a:t> 9	</a:t>
            </a:r>
            <a:r>
              <a:rPr lang="en-AU" sz="2400" b="1" dirty="0" smtClean="0">
                <a:solidFill>
                  <a:srgbClr val="C00000"/>
                </a:solidFill>
              </a:rPr>
              <a:t>f</a:t>
            </a:r>
            <a:r>
              <a:rPr lang="en-AU" sz="2400" dirty="0" smtClean="0"/>
              <a:t> 89.01</a:t>
            </a:r>
            <a:r>
              <a:rPr lang="en-AU" sz="2400" u="sng" dirty="0" smtClean="0"/>
              <a:t>3</a:t>
            </a:r>
            <a:r>
              <a:rPr lang="en-AU" sz="2400" dirty="0" smtClean="0"/>
              <a:t> 6</a:t>
            </a:r>
          </a:p>
          <a:p>
            <a:endParaRPr lang="en-AU" sz="2400" dirty="0"/>
          </a:p>
          <a:p>
            <a:pPr marL="457200" indent="-457200">
              <a:buAutoNum type="arabicParenR" startAt="4"/>
            </a:pPr>
            <a:r>
              <a:rPr lang="en-AU" sz="2400" dirty="0" smtClean="0"/>
              <a:t>Use a calculator to round the answers to 2 </a:t>
            </a:r>
            <a:r>
              <a:rPr lang="en-AU" sz="2400" dirty="0" err="1" smtClean="0"/>
              <a:t>d.p</a:t>
            </a:r>
            <a:endParaRPr lang="en-AU" sz="2400" dirty="0" smtClean="0"/>
          </a:p>
          <a:p>
            <a:r>
              <a:rPr lang="en-AU" sz="2400" dirty="0" smtClean="0"/>
              <a:t>	</a:t>
            </a:r>
            <a:r>
              <a:rPr lang="en-AU" sz="2400" b="1" dirty="0" smtClean="0">
                <a:solidFill>
                  <a:srgbClr val="C00000"/>
                </a:solidFill>
              </a:rPr>
              <a:t>a</a:t>
            </a:r>
            <a:r>
              <a:rPr lang="en-AU" sz="2400" dirty="0" smtClean="0"/>
              <a:t> 143 ÷ 7	</a:t>
            </a:r>
            <a:r>
              <a:rPr lang="en-AU" sz="2400" b="1" dirty="0" smtClean="0">
                <a:solidFill>
                  <a:srgbClr val="C00000"/>
                </a:solidFill>
              </a:rPr>
              <a:t>b</a:t>
            </a:r>
            <a:r>
              <a:rPr lang="en-AU" sz="2400" dirty="0" smtClean="0"/>
              <a:t> 13 ÷ 5.7	</a:t>
            </a:r>
            <a:r>
              <a:rPr lang="en-AU" sz="2400" b="1" dirty="0" smtClean="0">
                <a:solidFill>
                  <a:srgbClr val="C00000"/>
                </a:solidFill>
              </a:rPr>
              <a:t>c</a:t>
            </a:r>
            <a:r>
              <a:rPr lang="en-AU" sz="2400" dirty="0" smtClean="0"/>
              <a:t> 1076 ÷ 12.8	</a:t>
            </a:r>
            <a:r>
              <a:rPr lang="en-AU" sz="2400" b="1" dirty="0" smtClean="0">
                <a:solidFill>
                  <a:srgbClr val="C00000"/>
                </a:solidFill>
              </a:rPr>
              <a:t>d</a:t>
            </a:r>
            <a:r>
              <a:rPr lang="en-AU" sz="2400" dirty="0" smtClean="0"/>
              <a:t> 0.897 ÷ 2.1	</a:t>
            </a:r>
            <a:r>
              <a:rPr lang="en-AU" sz="2400" b="1" dirty="0" smtClean="0"/>
              <a:t>e</a:t>
            </a:r>
            <a:r>
              <a:rPr lang="en-AU" sz="2400" dirty="0" smtClean="0"/>
              <a:t> 6.43 ÷ 8	</a:t>
            </a:r>
            <a:r>
              <a:rPr lang="en-AU" sz="2400" b="1" dirty="0" smtClean="0">
                <a:solidFill>
                  <a:srgbClr val="C00000"/>
                </a:solidFill>
              </a:rPr>
              <a:t>f</a:t>
            </a:r>
            <a:r>
              <a:rPr lang="en-AU" sz="2400" dirty="0" smtClean="0"/>
              <a:t> 237 ÷ 4.72</a:t>
            </a:r>
          </a:p>
          <a:p>
            <a:endParaRPr lang="en-AU" sz="2400" dirty="0"/>
          </a:p>
          <a:p>
            <a:endParaRPr lang="en-AU" sz="2400" dirty="0" smtClean="0"/>
          </a:p>
          <a:p>
            <a:r>
              <a:rPr lang="en-AU" sz="2400" b="1" i="1" dirty="0" smtClean="0"/>
              <a:t>Complete Exercise 4.2 on page 186 questions 6 -12</a:t>
            </a:r>
          </a:p>
        </p:txBody>
      </p:sp>
      <p:sp>
        <p:nvSpPr>
          <p:cNvPr id="3" name="Oval 2"/>
          <p:cNvSpPr/>
          <p:nvPr/>
        </p:nvSpPr>
        <p:spPr>
          <a:xfrm>
            <a:off x="7804512" y="1145012"/>
            <a:ext cx="239352" cy="38375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Oval 3"/>
          <p:cNvSpPr/>
          <p:nvPr/>
        </p:nvSpPr>
        <p:spPr>
          <a:xfrm>
            <a:off x="3684337" y="1145012"/>
            <a:ext cx="239352" cy="38375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Oval 4"/>
          <p:cNvSpPr/>
          <p:nvPr/>
        </p:nvSpPr>
        <p:spPr>
          <a:xfrm>
            <a:off x="5804262" y="1145012"/>
            <a:ext cx="239352" cy="38375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Oval 5"/>
          <p:cNvSpPr/>
          <p:nvPr/>
        </p:nvSpPr>
        <p:spPr>
          <a:xfrm>
            <a:off x="2003787" y="1145012"/>
            <a:ext cx="239352" cy="38375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Oval 6"/>
          <p:cNvSpPr/>
          <p:nvPr/>
        </p:nvSpPr>
        <p:spPr>
          <a:xfrm>
            <a:off x="9176112" y="1145012"/>
            <a:ext cx="239352" cy="38375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Oval 7"/>
          <p:cNvSpPr/>
          <p:nvPr/>
        </p:nvSpPr>
        <p:spPr>
          <a:xfrm>
            <a:off x="11085874" y="1145012"/>
            <a:ext cx="239352" cy="38375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Oval 14"/>
          <p:cNvSpPr/>
          <p:nvPr/>
        </p:nvSpPr>
        <p:spPr>
          <a:xfrm>
            <a:off x="2315497" y="2266379"/>
            <a:ext cx="344738" cy="38375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Oval 18"/>
          <p:cNvSpPr/>
          <p:nvPr/>
        </p:nvSpPr>
        <p:spPr>
          <a:xfrm>
            <a:off x="9491974" y="2266379"/>
            <a:ext cx="344738" cy="38375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" name="Oval 19"/>
          <p:cNvSpPr/>
          <p:nvPr/>
        </p:nvSpPr>
        <p:spPr>
          <a:xfrm>
            <a:off x="3855011" y="2254990"/>
            <a:ext cx="344738" cy="38375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Oval 20"/>
          <p:cNvSpPr/>
          <p:nvPr/>
        </p:nvSpPr>
        <p:spPr>
          <a:xfrm>
            <a:off x="7495709" y="2254990"/>
            <a:ext cx="344738" cy="38375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2" name="Oval 21"/>
          <p:cNvSpPr/>
          <p:nvPr/>
        </p:nvSpPr>
        <p:spPr>
          <a:xfrm>
            <a:off x="5881077" y="2266379"/>
            <a:ext cx="344738" cy="38375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Oval 22"/>
          <p:cNvSpPr/>
          <p:nvPr/>
        </p:nvSpPr>
        <p:spPr>
          <a:xfrm>
            <a:off x="11488239" y="2254990"/>
            <a:ext cx="344738" cy="38375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4" name="Oval 23"/>
          <p:cNvSpPr/>
          <p:nvPr/>
        </p:nvSpPr>
        <p:spPr>
          <a:xfrm>
            <a:off x="2003787" y="3025224"/>
            <a:ext cx="344738" cy="38375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Oval 24"/>
          <p:cNvSpPr/>
          <p:nvPr/>
        </p:nvSpPr>
        <p:spPr>
          <a:xfrm>
            <a:off x="4199749" y="2981218"/>
            <a:ext cx="344738" cy="38375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Oval 25"/>
          <p:cNvSpPr/>
          <p:nvPr/>
        </p:nvSpPr>
        <p:spPr>
          <a:xfrm>
            <a:off x="5565834" y="2974020"/>
            <a:ext cx="344738" cy="38375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7" name="Oval 26"/>
          <p:cNvSpPr/>
          <p:nvPr/>
        </p:nvSpPr>
        <p:spPr>
          <a:xfrm>
            <a:off x="7632143" y="2974020"/>
            <a:ext cx="344738" cy="38375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8" name="Oval 27"/>
          <p:cNvSpPr/>
          <p:nvPr/>
        </p:nvSpPr>
        <p:spPr>
          <a:xfrm>
            <a:off x="9506263" y="2974020"/>
            <a:ext cx="344738" cy="38375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9" name="Oval 28"/>
          <p:cNvSpPr/>
          <p:nvPr/>
        </p:nvSpPr>
        <p:spPr>
          <a:xfrm>
            <a:off x="11713914" y="2981218"/>
            <a:ext cx="344738" cy="38375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0" name="Oval 29"/>
          <p:cNvSpPr/>
          <p:nvPr/>
        </p:nvSpPr>
        <p:spPr>
          <a:xfrm>
            <a:off x="6134713" y="4088869"/>
            <a:ext cx="344738" cy="38375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1" name="Oval 30"/>
          <p:cNvSpPr/>
          <p:nvPr/>
        </p:nvSpPr>
        <p:spPr>
          <a:xfrm>
            <a:off x="4199749" y="4088869"/>
            <a:ext cx="344738" cy="38375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2" name="Oval 31"/>
          <p:cNvSpPr/>
          <p:nvPr/>
        </p:nvSpPr>
        <p:spPr>
          <a:xfrm>
            <a:off x="2185210" y="4088869"/>
            <a:ext cx="344738" cy="38375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3" name="Oval 32"/>
          <p:cNvSpPr/>
          <p:nvPr/>
        </p:nvSpPr>
        <p:spPr>
          <a:xfrm>
            <a:off x="9444040" y="4088869"/>
            <a:ext cx="344738" cy="38375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4" name="Oval 33"/>
          <p:cNvSpPr/>
          <p:nvPr/>
        </p:nvSpPr>
        <p:spPr>
          <a:xfrm>
            <a:off x="8180749" y="4088869"/>
            <a:ext cx="344738" cy="38375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5" name="Oval 34"/>
          <p:cNvSpPr/>
          <p:nvPr/>
        </p:nvSpPr>
        <p:spPr>
          <a:xfrm>
            <a:off x="11369176" y="4088869"/>
            <a:ext cx="344738" cy="38375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56429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908879" y="407510"/>
                <a:ext cx="10367493" cy="76660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3600" u="sng" dirty="0" smtClean="0">
                    <a:solidFill>
                      <a:prstClr val="black"/>
                    </a:solidFill>
                  </a:rPr>
                  <a:t>10 Quick Questions</a:t>
                </a:r>
              </a:p>
              <a:p>
                <a:pPr algn="ctr"/>
                <a:endParaRPr lang="en-AU" sz="3600" u="sng" dirty="0">
                  <a:solidFill>
                    <a:prstClr val="black"/>
                  </a:solidFill>
                </a:endParaRPr>
              </a:p>
              <a:p>
                <a:r>
                  <a:rPr lang="en-AU" sz="2400" dirty="0" smtClean="0">
                    <a:solidFill>
                      <a:prstClr val="black"/>
                    </a:solidFill>
                  </a:rPr>
                  <a:t>			1. 	16 x 4 =</a:t>
                </a: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		2.	1000 – 637 =</a:t>
                </a:r>
              </a:p>
              <a:p>
                <a:r>
                  <a:rPr lang="en-AU" sz="2400" dirty="0" smtClean="0">
                    <a:solidFill>
                      <a:prstClr val="black"/>
                    </a:solidFill>
                  </a:rPr>
                  <a:t>			3. 	481 + 378 =</a:t>
                </a: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		4. 	678 ÷ </a:t>
                </a:r>
                <a:r>
                  <a:rPr lang="en-AU" sz="2400" dirty="0">
                    <a:solidFill>
                      <a:prstClr val="black"/>
                    </a:solidFill>
                  </a:rPr>
                  <a:t>6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 =</a:t>
                </a: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		5. 	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144</m:t>
                        </m:r>
                      </m:e>
                    </m:rad>
                  </m:oMath>
                </a14:m>
                <a:r>
                  <a:rPr lang="en-AU" sz="2400" dirty="0" smtClean="0">
                    <a:solidFill>
                      <a:prstClr val="black"/>
                    </a:solidFill>
                  </a:rPr>
                  <a:t> =</a:t>
                </a: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		6.	4</a:t>
                </a:r>
                <a:r>
                  <a:rPr lang="en-AU" sz="2400" baseline="30000" dirty="0" smtClean="0">
                    <a:solidFill>
                      <a:prstClr val="black"/>
                    </a:solidFill>
                  </a:rPr>
                  <a:t>3</a:t>
                </a:r>
                <a:endParaRPr lang="en-AU" sz="2400" dirty="0" smtClean="0">
                  <a:solidFill>
                    <a:prstClr val="black"/>
                  </a:solidFill>
                </a:endParaRP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		7. 	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−2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+2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AU" sz="2400" dirty="0" smtClean="0">
                  <a:solidFill>
                    <a:prstClr val="black"/>
                  </a:solidFill>
                </a:endParaRP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		8. 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AU" sz="24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AU" sz="24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30</m:t>
                    </m:r>
                  </m:oMath>
                </a14:m>
                <a:endParaRPr lang="en-AU" sz="2400" dirty="0" smtClean="0">
                  <a:solidFill>
                    <a:prstClr val="black"/>
                  </a:solidFill>
                </a:endParaRP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		9.	Find the perimeter</a:t>
                </a:r>
              </a:p>
              <a:p>
                <a:endParaRPr lang="en-AU" sz="2400" dirty="0" smtClean="0">
                  <a:solidFill>
                    <a:prstClr val="black"/>
                  </a:solidFill>
                </a:endParaRP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		10.	Find the area</a:t>
                </a:r>
              </a:p>
              <a:p>
                <a:endParaRPr lang="en-AU" sz="2400" dirty="0" smtClean="0">
                  <a:solidFill>
                    <a:prstClr val="black"/>
                  </a:solidFill>
                </a:endParaRPr>
              </a:p>
              <a:p>
                <a:r>
                  <a:rPr lang="en-AU" sz="2400" dirty="0" smtClean="0">
                    <a:solidFill>
                      <a:prstClr val="black"/>
                    </a:solidFill>
                  </a:rPr>
                  <a:t> </a:t>
                </a:r>
              </a:p>
              <a:p>
                <a:endParaRPr lang="en-AU" sz="2400" dirty="0" smtClean="0">
                  <a:solidFill>
                    <a:prstClr val="black"/>
                  </a:solidFill>
                </a:endParaRPr>
              </a:p>
              <a:p>
                <a:r>
                  <a:rPr lang="en-AU" sz="2400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	</a:t>
                </a:r>
                <a:r>
                  <a:rPr lang="en-AU" sz="2400" dirty="0" smtClean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		</a:t>
                </a:r>
              </a:p>
              <a:p>
                <a:r>
                  <a:rPr lang="en-AU" sz="2400" dirty="0" smtClean="0">
                    <a:solidFill>
                      <a:prstClr val="black"/>
                    </a:solidFill>
                  </a:rPr>
                  <a:t>			</a:t>
                </a:r>
              </a:p>
              <a:p>
                <a:pPr algn="ctr"/>
                <a:endParaRPr lang="en-AU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879" y="407510"/>
                <a:ext cx="10367493" cy="7666009"/>
              </a:xfrm>
              <a:prstGeom prst="rect">
                <a:avLst/>
              </a:prstGeom>
              <a:blipFill rotWithShape="0">
                <a:blip r:embed="rId2"/>
                <a:stretch>
                  <a:fillRect t="-127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68051"/>
            <a:ext cx="2994807" cy="299480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847787" y="4812031"/>
            <a:ext cx="1004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prstClr val="black"/>
                </a:solidFill>
              </a:rPr>
              <a:t>7m</a:t>
            </a:r>
            <a:endParaRPr lang="en-AU" dirty="0">
              <a:solidFill>
                <a:prstClr val="black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22374" y="6183204"/>
            <a:ext cx="763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prstClr val="black"/>
                </a:solidFill>
              </a:rPr>
              <a:t>12cm</a:t>
            </a:r>
            <a:endParaRPr lang="en-AU" dirty="0">
              <a:solidFill>
                <a:prstClr val="black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4"/>
          <a:srcRect t="16252" r="26387"/>
          <a:stretch/>
        </p:blipFill>
        <p:spPr>
          <a:xfrm>
            <a:off x="7407193" y="4751743"/>
            <a:ext cx="1440594" cy="80670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843373" y="4412555"/>
            <a:ext cx="1004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prstClr val="black"/>
                </a:solidFill>
              </a:rPr>
              <a:t>19m</a:t>
            </a:r>
            <a:endParaRPr lang="en-AU" dirty="0">
              <a:solidFill>
                <a:prstClr val="black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4"/>
          <a:srcRect t="16252" r="26387"/>
          <a:stretch/>
        </p:blipFill>
        <p:spPr>
          <a:xfrm>
            <a:off x="5382834" y="5964519"/>
            <a:ext cx="1440594" cy="80670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69431" y="5652409"/>
            <a:ext cx="646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prstClr val="black"/>
                </a:solidFill>
              </a:rPr>
              <a:t>4cm</a:t>
            </a:r>
            <a:endParaRPr lang="en-A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944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1035897"/>
            <a:ext cx="12192000" cy="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121920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223145" y="1916832"/>
            <a:ext cx="7431" cy="4941168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-19050" y="517265"/>
            <a:ext cx="7439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</a:rPr>
              <a:t>Title</a:t>
            </a:r>
            <a:r>
              <a:rPr lang="en-AU" sz="2800" dirty="0" smtClean="0">
                <a:solidFill>
                  <a:prstClr val="black"/>
                </a:solidFill>
              </a:rPr>
              <a:t>: Introduction to fractions</a:t>
            </a:r>
            <a:endParaRPr lang="en-AU" sz="2800" dirty="0">
              <a:solidFill>
                <a:prstClr val="black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5552" y="512677"/>
            <a:ext cx="24969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>
                <a:solidFill>
                  <a:prstClr val="black"/>
                </a:solidFill>
              </a:rPr>
              <a:t>Date: 8/6/15</a:t>
            </a:r>
            <a:endParaRPr lang="en-AU" sz="2800" dirty="0">
              <a:solidFill>
                <a:prstClr val="black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878" y="1065325"/>
            <a:ext cx="120729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EQ </a:t>
            </a:r>
            <a:r>
              <a:rPr lang="en-AU" sz="2400" dirty="0" smtClean="0">
                <a:solidFill>
                  <a:prstClr val="black"/>
                </a:solidFill>
              </a:rPr>
              <a:t>: Correctly identify and describe the numerator and denominator </a:t>
            </a:r>
            <a:endParaRPr lang="en-AU" sz="2400" dirty="0">
              <a:solidFill>
                <a:prstClr val="black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7752184" y="0"/>
            <a:ext cx="0" cy="98072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815" y="1879010"/>
            <a:ext cx="291581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Question</a:t>
            </a:r>
            <a:r>
              <a:rPr lang="en-AU" sz="2400" dirty="0" smtClean="0">
                <a:solidFill>
                  <a:prstClr val="black"/>
                </a:solidFill>
              </a:rPr>
              <a:t>:</a:t>
            </a:r>
          </a:p>
          <a:p>
            <a:endParaRPr lang="en-AU" sz="2400" dirty="0">
              <a:solidFill>
                <a:prstClr val="black"/>
              </a:solidFill>
            </a:endParaRPr>
          </a:p>
          <a:p>
            <a:r>
              <a:rPr lang="en-AU" sz="2000" dirty="0" smtClean="0">
                <a:solidFill>
                  <a:prstClr val="black"/>
                </a:solidFill>
              </a:rPr>
              <a:t>What is the denominator?</a:t>
            </a:r>
          </a:p>
          <a:p>
            <a:endParaRPr lang="en-AU" sz="2000" dirty="0">
              <a:solidFill>
                <a:prstClr val="black"/>
              </a:solidFill>
            </a:endParaRPr>
          </a:p>
          <a:p>
            <a:endParaRPr lang="en-AU" sz="2000" dirty="0" smtClean="0">
              <a:solidFill>
                <a:prstClr val="black"/>
              </a:solidFill>
            </a:endParaRPr>
          </a:p>
          <a:p>
            <a:endParaRPr lang="en-AU" sz="2000" dirty="0">
              <a:solidFill>
                <a:prstClr val="black"/>
              </a:solidFill>
            </a:endParaRPr>
          </a:p>
          <a:p>
            <a:r>
              <a:rPr lang="en-AU" sz="2000" dirty="0" smtClean="0">
                <a:solidFill>
                  <a:prstClr val="black"/>
                </a:solidFill>
              </a:rPr>
              <a:t>What is the numerator?</a:t>
            </a:r>
          </a:p>
          <a:p>
            <a:endParaRPr lang="en-AU" sz="2400" dirty="0">
              <a:solidFill>
                <a:prstClr val="black"/>
              </a:solidFill>
            </a:endParaRPr>
          </a:p>
          <a:p>
            <a:endParaRPr lang="en-AU" sz="2400" dirty="0">
              <a:solidFill>
                <a:prstClr val="black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226860" y="1954655"/>
                <a:ext cx="8715589" cy="43190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>
                    <a:solidFill>
                      <a:prstClr val="black"/>
                    </a:solidFill>
                  </a:rPr>
                  <a:t>Notes:</a:t>
                </a:r>
              </a:p>
              <a:p>
                <a:endParaRPr lang="en-AU" sz="2400" dirty="0">
                  <a:solidFill>
                    <a:prstClr val="black"/>
                  </a:solidFill>
                </a:endParaRP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en-AU" sz="2400" dirty="0" smtClean="0">
                    <a:solidFill>
                      <a:prstClr val="black"/>
                    </a:solidFill>
                  </a:rPr>
                  <a:t>The denominator goes below the fraction line and tells us how many pieces the whole has been divided into.</a:t>
                </a: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endParaRPr lang="en-AU" sz="2400" dirty="0">
                  <a:solidFill>
                    <a:prstClr val="black"/>
                  </a:solidFill>
                </a:endParaRP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en-AU" sz="2400" dirty="0" smtClean="0">
                    <a:solidFill>
                      <a:prstClr val="black"/>
                    </a:solidFill>
                  </a:rPr>
                  <a:t>The numerator sits above the fraction line and says how many parts of the whole have been shaded or selected.</a:t>
                </a:r>
              </a:p>
              <a:p>
                <a:r>
                  <a:rPr lang="en-AU" sz="2400" dirty="0" smtClean="0">
                    <a:solidFill>
                      <a:prstClr val="black"/>
                    </a:solidFill>
                  </a:rPr>
                  <a:t>						</a:t>
                </a:r>
                <a:r>
                  <a:rPr lang="en-AU" sz="2400" dirty="0" smtClean="0">
                    <a:solidFill>
                      <a:srgbClr val="C00000"/>
                    </a:solidFill>
                  </a:rPr>
                  <a:t>Numerator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4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4400" dirty="0" smtClean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6860" y="1954655"/>
                <a:ext cx="8715589" cy="4319067"/>
              </a:xfrm>
              <a:prstGeom prst="rect">
                <a:avLst/>
              </a:prstGeom>
              <a:blipFill rotWithShape="0">
                <a:blip r:embed="rId3"/>
                <a:stretch>
                  <a:fillRect l="-1049" t="-113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6467725" y="85028"/>
            <a:ext cx="8640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</a:rPr>
              <a:t>24</a:t>
            </a:r>
          </a:p>
          <a:p>
            <a:r>
              <a:rPr lang="en-AU" dirty="0">
                <a:solidFill>
                  <a:prstClr val="black"/>
                </a:solidFill>
              </a:rPr>
              <a:t>7</a:t>
            </a:r>
          </a:p>
          <a:p>
            <a:r>
              <a:rPr lang="en-AU" dirty="0">
                <a:solidFill>
                  <a:prstClr val="black"/>
                </a:solidFill>
              </a:rPr>
              <a:t>30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1565228" y="6400800"/>
            <a:ext cx="520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mtClean="0"/>
              <a:t>17</a:t>
            </a:r>
            <a:endParaRPr lang="en-AU" dirty="0"/>
          </a:p>
        </p:txBody>
      </p:sp>
      <p:sp>
        <p:nvSpPr>
          <p:cNvPr id="7" name="Oval 6"/>
          <p:cNvSpPr/>
          <p:nvPr/>
        </p:nvSpPr>
        <p:spPr>
          <a:xfrm>
            <a:off x="7160654" y="4868214"/>
            <a:ext cx="862884" cy="708338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8023538" y="4741136"/>
            <a:ext cx="534675" cy="301253"/>
          </a:xfrm>
          <a:prstGeom prst="straightConnector1">
            <a:avLst/>
          </a:prstGeom>
          <a:ln w="222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5586094" y="6056837"/>
            <a:ext cx="1416796" cy="14288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155070" y="5747192"/>
            <a:ext cx="862884" cy="708338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2" name="TextBox 21"/>
          <p:cNvSpPr txBox="1"/>
          <p:nvPr/>
        </p:nvSpPr>
        <p:spPr>
          <a:xfrm>
            <a:off x="3757205" y="5771078"/>
            <a:ext cx="18426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>
                <a:solidFill>
                  <a:srgbClr val="0070C0"/>
                </a:solidFill>
              </a:rPr>
              <a:t>Denominator</a:t>
            </a:r>
            <a:endParaRPr lang="en-AU" sz="2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3025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Image result for shaded fracti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1396999"/>
            <a:ext cx="2173288" cy="5110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mage result for shaded fraction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9038" y="1396999"/>
            <a:ext cx="8421458" cy="3275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528638" y="1600200"/>
            <a:ext cx="657225" cy="407193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4" name="TextBox 3"/>
          <p:cNvSpPr txBox="1"/>
          <p:nvPr/>
        </p:nvSpPr>
        <p:spPr>
          <a:xfrm>
            <a:off x="1500188" y="228600"/>
            <a:ext cx="9215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Identify the shaded fraction of the shapes below: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7169083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908879" y="407510"/>
                <a:ext cx="10367493" cy="76660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3600" u="sng" dirty="0" smtClean="0">
                    <a:solidFill>
                      <a:prstClr val="black"/>
                    </a:solidFill>
                  </a:rPr>
                  <a:t>10 Quick Questions</a:t>
                </a:r>
              </a:p>
              <a:p>
                <a:pPr algn="ctr"/>
                <a:endParaRPr lang="en-AU" sz="3600" u="sng" dirty="0">
                  <a:solidFill>
                    <a:prstClr val="black"/>
                  </a:solidFill>
                </a:endParaRPr>
              </a:p>
              <a:p>
                <a:r>
                  <a:rPr lang="en-AU" sz="2400" dirty="0" smtClean="0">
                    <a:solidFill>
                      <a:prstClr val="black"/>
                    </a:solidFill>
                  </a:rPr>
                  <a:t>			1. 	22 x 3 =</a:t>
                </a: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		2.	1140 – 569 =</a:t>
                </a:r>
              </a:p>
              <a:p>
                <a:r>
                  <a:rPr lang="en-AU" sz="2400" dirty="0" smtClean="0">
                    <a:solidFill>
                      <a:prstClr val="black"/>
                    </a:solidFill>
                  </a:rPr>
                  <a:t>			3. 	756 + 513 =</a:t>
                </a: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		4. 	1293 ÷ </a:t>
                </a:r>
                <a:r>
                  <a:rPr lang="en-AU" sz="2400" dirty="0">
                    <a:solidFill>
                      <a:prstClr val="black"/>
                    </a:solidFill>
                  </a:rPr>
                  <a:t>3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 =</a:t>
                </a: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		5. 	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AU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21</m:t>
                        </m:r>
                      </m:e>
                    </m:rad>
                  </m:oMath>
                </a14:m>
                <a:r>
                  <a:rPr lang="en-AU" sz="2400" dirty="0" smtClean="0">
                    <a:solidFill>
                      <a:prstClr val="black"/>
                    </a:solidFill>
                  </a:rPr>
                  <a:t> =</a:t>
                </a: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		6.	5</a:t>
                </a:r>
                <a:r>
                  <a:rPr lang="en-AU" sz="2400" baseline="30000" dirty="0" smtClean="0">
                    <a:solidFill>
                      <a:prstClr val="black"/>
                    </a:solidFill>
                  </a:rPr>
                  <a:t>3</a:t>
                </a:r>
                <a:endParaRPr lang="en-AU" sz="2400" dirty="0" smtClean="0">
                  <a:solidFill>
                    <a:prstClr val="black"/>
                  </a:solidFill>
                </a:endParaRP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		7. 	</a:t>
                </a:r>
                <a14:m>
                  <m:oMath xmlns:m="http://schemas.openxmlformats.org/officeDocument/2006/math">
                    <m:r>
                      <a:rPr lang="en-AU" sz="2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AU" sz="24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AU" sz="24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4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endParaRPr lang="en-AU" sz="2400" dirty="0" smtClean="0">
                  <a:solidFill>
                    <a:prstClr val="black"/>
                  </a:solidFill>
                </a:endParaRP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		8. 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AU" sz="24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AU" sz="24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30</m:t>
                    </m:r>
                  </m:oMath>
                </a14:m>
                <a:endParaRPr lang="en-AU" sz="2400" dirty="0" smtClean="0">
                  <a:solidFill>
                    <a:prstClr val="black"/>
                  </a:solidFill>
                </a:endParaRP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		9.	Find the perimeter</a:t>
                </a:r>
              </a:p>
              <a:p>
                <a:endParaRPr lang="en-AU" sz="2400" dirty="0" smtClean="0">
                  <a:solidFill>
                    <a:prstClr val="black"/>
                  </a:solidFill>
                </a:endParaRP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		10.	Find the area</a:t>
                </a:r>
              </a:p>
              <a:p>
                <a:endParaRPr lang="en-AU" sz="2400" dirty="0" smtClean="0">
                  <a:solidFill>
                    <a:prstClr val="black"/>
                  </a:solidFill>
                </a:endParaRPr>
              </a:p>
              <a:p>
                <a:r>
                  <a:rPr lang="en-AU" sz="2400" dirty="0" smtClean="0">
                    <a:solidFill>
                      <a:prstClr val="black"/>
                    </a:solidFill>
                  </a:rPr>
                  <a:t> </a:t>
                </a:r>
              </a:p>
              <a:p>
                <a:endParaRPr lang="en-AU" sz="2400" dirty="0" smtClean="0">
                  <a:solidFill>
                    <a:prstClr val="black"/>
                  </a:solidFill>
                </a:endParaRPr>
              </a:p>
              <a:p>
                <a:r>
                  <a:rPr lang="en-AU" sz="2400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	</a:t>
                </a:r>
                <a:r>
                  <a:rPr lang="en-AU" sz="2400" dirty="0" smtClean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		</a:t>
                </a:r>
              </a:p>
              <a:p>
                <a:r>
                  <a:rPr lang="en-AU" sz="2400" dirty="0" smtClean="0">
                    <a:solidFill>
                      <a:prstClr val="black"/>
                    </a:solidFill>
                  </a:rPr>
                  <a:t>			</a:t>
                </a:r>
              </a:p>
              <a:p>
                <a:pPr algn="ctr"/>
                <a:endParaRPr lang="en-AU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879" y="407510"/>
                <a:ext cx="10367493" cy="7666009"/>
              </a:xfrm>
              <a:prstGeom prst="rect">
                <a:avLst/>
              </a:prstGeom>
              <a:blipFill rotWithShape="0">
                <a:blip r:embed="rId2"/>
                <a:stretch>
                  <a:fillRect t="-127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68051"/>
            <a:ext cx="2994807" cy="299480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847787" y="4812031"/>
            <a:ext cx="1004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prstClr val="black"/>
                </a:solidFill>
              </a:rPr>
              <a:t>6cm</a:t>
            </a:r>
            <a:endParaRPr lang="en-AU" dirty="0">
              <a:solidFill>
                <a:prstClr val="black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22374" y="6183204"/>
            <a:ext cx="763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prstClr val="black"/>
                </a:solidFill>
              </a:rPr>
              <a:t>4km</a:t>
            </a:r>
            <a:endParaRPr lang="en-AU" dirty="0">
              <a:solidFill>
                <a:prstClr val="black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4"/>
          <a:srcRect t="16252" r="26387"/>
          <a:stretch/>
        </p:blipFill>
        <p:spPr>
          <a:xfrm>
            <a:off x="7407193" y="4751743"/>
            <a:ext cx="1440594" cy="80670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843373" y="4412555"/>
            <a:ext cx="1004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prstClr val="black"/>
                </a:solidFill>
              </a:rPr>
              <a:t>9cm</a:t>
            </a:r>
            <a:endParaRPr lang="en-AU" dirty="0">
              <a:solidFill>
                <a:prstClr val="black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4"/>
          <a:srcRect t="16252" r="26387"/>
          <a:stretch/>
        </p:blipFill>
        <p:spPr>
          <a:xfrm>
            <a:off x="5382834" y="5964519"/>
            <a:ext cx="1440594" cy="80670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69431" y="5652409"/>
            <a:ext cx="646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prstClr val="black"/>
                </a:solidFill>
              </a:rPr>
              <a:t>7km</a:t>
            </a:r>
            <a:endParaRPr lang="en-A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9860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908879" y="407510"/>
                <a:ext cx="10367493" cy="80030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3600" u="sng" dirty="0" smtClean="0">
                    <a:solidFill>
                      <a:prstClr val="black"/>
                    </a:solidFill>
                  </a:rPr>
                  <a:t>10 Quick Questions</a:t>
                </a:r>
              </a:p>
              <a:p>
                <a:pPr algn="ctr"/>
                <a:endParaRPr lang="en-AU" sz="3600" u="sng" dirty="0">
                  <a:solidFill>
                    <a:prstClr val="black"/>
                  </a:solidFill>
                </a:endParaRPr>
              </a:p>
              <a:p>
                <a:r>
                  <a:rPr lang="en-AU" sz="2400" dirty="0" smtClean="0">
                    <a:solidFill>
                      <a:prstClr val="black"/>
                    </a:solidFill>
                  </a:rPr>
                  <a:t>			1. 	15 x 6 =</a:t>
                </a: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		2.	1533 – 746 =</a:t>
                </a:r>
              </a:p>
              <a:p>
                <a:r>
                  <a:rPr lang="en-AU" sz="2400" dirty="0" smtClean="0">
                    <a:solidFill>
                      <a:prstClr val="black"/>
                    </a:solidFill>
                  </a:rPr>
                  <a:t>			3. 	1281 + 392 =</a:t>
                </a: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		4. 	678 ÷ </a:t>
                </a:r>
                <a:r>
                  <a:rPr lang="en-AU" sz="2400" dirty="0">
                    <a:solidFill>
                      <a:prstClr val="black"/>
                    </a:solidFill>
                  </a:rPr>
                  <a:t>6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 =</a:t>
                </a: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		5. 	Round 314.76 to 1 </a:t>
                </a:r>
                <a:r>
                  <a:rPr lang="en-AU" sz="2400" dirty="0" err="1" smtClean="0">
                    <a:solidFill>
                      <a:prstClr val="black"/>
                    </a:solidFill>
                  </a:rPr>
                  <a:t>d.p</a:t>
                </a:r>
                <a:endParaRPr lang="en-AU" sz="2400" dirty="0" smtClean="0">
                  <a:solidFill>
                    <a:prstClr val="black"/>
                  </a:solidFill>
                </a:endParaRP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		6.	How many decimal places in 15.62</a:t>
                </a: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		7. 	</a:t>
                </a:r>
                <a14:m>
                  <m:oMath xmlns:m="http://schemas.openxmlformats.org/officeDocument/2006/math">
                    <m:r>
                      <a:rPr lang="en-AU" sz="2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AU" sz="24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AU" sz="24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AU" sz="24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endParaRPr lang="en-AU" sz="2400" dirty="0" smtClean="0">
                  <a:solidFill>
                    <a:prstClr val="black"/>
                  </a:solidFill>
                </a:endParaRP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		8. 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AU" sz="24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AU" sz="24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40</m:t>
                    </m:r>
                  </m:oMath>
                </a14:m>
                <a:endParaRPr lang="en-AU" sz="2400" dirty="0" smtClean="0">
                  <a:solidFill>
                    <a:prstClr val="black"/>
                  </a:solidFill>
                </a:endParaRP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		9.	Find the perimeter</a:t>
                </a:r>
              </a:p>
              <a:p>
                <a:endParaRPr lang="en-AU" sz="2400" dirty="0" smtClean="0">
                  <a:solidFill>
                    <a:prstClr val="black"/>
                  </a:solidFill>
                </a:endParaRP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		10.	Find the area</a:t>
                </a: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				</a:t>
                </a:r>
              </a:p>
              <a:p>
                <a:endParaRPr lang="en-AU" sz="2400" dirty="0" smtClean="0">
                  <a:solidFill>
                    <a:prstClr val="black"/>
                  </a:solidFill>
                </a:endParaRPr>
              </a:p>
              <a:p>
                <a:r>
                  <a:rPr lang="en-AU" sz="2400" dirty="0" smtClean="0">
                    <a:solidFill>
                      <a:prstClr val="black"/>
                    </a:solidFill>
                  </a:rPr>
                  <a:t> </a:t>
                </a:r>
              </a:p>
              <a:p>
                <a:endParaRPr lang="en-AU" sz="2400" dirty="0" smtClean="0">
                  <a:solidFill>
                    <a:prstClr val="black"/>
                  </a:solidFill>
                </a:endParaRPr>
              </a:p>
              <a:p>
                <a:r>
                  <a:rPr lang="en-AU" sz="2400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	</a:t>
                </a:r>
                <a:r>
                  <a:rPr lang="en-AU" sz="2400" dirty="0" smtClean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		</a:t>
                </a:r>
              </a:p>
              <a:p>
                <a:r>
                  <a:rPr lang="en-AU" sz="2400" dirty="0" smtClean="0">
                    <a:solidFill>
                      <a:prstClr val="black"/>
                    </a:solidFill>
                  </a:rPr>
                  <a:t>			</a:t>
                </a:r>
              </a:p>
              <a:p>
                <a:pPr algn="ctr"/>
                <a:endParaRPr lang="en-AU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879" y="407510"/>
                <a:ext cx="10367493" cy="8003025"/>
              </a:xfrm>
              <a:prstGeom prst="rect">
                <a:avLst/>
              </a:prstGeom>
              <a:blipFill rotWithShape="0">
                <a:blip r:embed="rId2"/>
                <a:stretch>
                  <a:fillRect t="-121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68051"/>
            <a:ext cx="2994807" cy="299480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4736" y="4592069"/>
            <a:ext cx="1943100" cy="1143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84207" y="4714982"/>
            <a:ext cx="1004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</a:rPr>
              <a:t>7</a:t>
            </a:r>
            <a:r>
              <a:rPr lang="en-AU" dirty="0" smtClean="0">
                <a:solidFill>
                  <a:prstClr val="black"/>
                </a:solidFill>
              </a:rPr>
              <a:t>m</a:t>
            </a:r>
            <a:endParaRPr lang="en-AU" dirty="0">
              <a:solidFill>
                <a:prstClr val="black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916074" y="5397569"/>
            <a:ext cx="1004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prstClr val="black"/>
                </a:solidFill>
              </a:rPr>
              <a:t>3m</a:t>
            </a:r>
            <a:endParaRPr lang="en-AU" dirty="0">
              <a:solidFill>
                <a:prstClr val="black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2944" y="5691045"/>
            <a:ext cx="1819617" cy="107036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453030" y="4785805"/>
            <a:ext cx="1004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</a:rPr>
              <a:t>4</a:t>
            </a:r>
            <a:r>
              <a:rPr lang="en-AU" dirty="0" smtClean="0">
                <a:solidFill>
                  <a:prstClr val="black"/>
                </a:solidFill>
              </a:rPr>
              <a:t>m</a:t>
            </a:r>
            <a:endParaRPr lang="en-AU" dirty="0">
              <a:solidFill>
                <a:prstClr val="black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982752" y="6419364"/>
            <a:ext cx="1004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prstClr val="black"/>
                </a:solidFill>
              </a:rPr>
              <a:t>4cm</a:t>
            </a:r>
            <a:endParaRPr lang="en-AU" dirty="0">
              <a:solidFill>
                <a:prstClr val="black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480545" y="6022744"/>
            <a:ext cx="1004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prstClr val="black"/>
                </a:solidFill>
              </a:rPr>
              <a:t>8cm</a:t>
            </a:r>
            <a:endParaRPr lang="en-A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3513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1035897"/>
            <a:ext cx="12192000" cy="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121920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223145" y="1916832"/>
            <a:ext cx="7431" cy="4941168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-19050" y="517265"/>
            <a:ext cx="7439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</a:rPr>
              <a:t>Title</a:t>
            </a:r>
            <a:r>
              <a:rPr lang="en-AU" sz="2800" dirty="0" smtClean="0">
                <a:solidFill>
                  <a:prstClr val="black"/>
                </a:solidFill>
              </a:rPr>
              <a:t>: Equivalent fractions</a:t>
            </a:r>
            <a:endParaRPr lang="en-AU" sz="2800" dirty="0">
              <a:solidFill>
                <a:prstClr val="black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5552" y="512677"/>
            <a:ext cx="24969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>
                <a:solidFill>
                  <a:prstClr val="black"/>
                </a:solidFill>
              </a:rPr>
              <a:t>Date: 11/6/15</a:t>
            </a:r>
            <a:endParaRPr lang="en-AU" sz="2800" dirty="0">
              <a:solidFill>
                <a:prstClr val="black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878" y="1065325"/>
            <a:ext cx="120729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EQ </a:t>
            </a:r>
            <a:r>
              <a:rPr lang="en-AU" sz="2400" dirty="0" smtClean="0">
                <a:solidFill>
                  <a:prstClr val="black"/>
                </a:solidFill>
              </a:rPr>
              <a:t>: What is an equivalent fraction and how can it be calculated?</a:t>
            </a:r>
            <a:endParaRPr lang="en-AU" sz="2400" dirty="0">
              <a:solidFill>
                <a:prstClr val="black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7752184" y="0"/>
            <a:ext cx="0" cy="98072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815" y="1879010"/>
            <a:ext cx="2915816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Question</a:t>
            </a:r>
            <a:r>
              <a:rPr lang="en-AU" sz="2400" dirty="0" smtClean="0">
                <a:solidFill>
                  <a:prstClr val="black"/>
                </a:solidFill>
              </a:rPr>
              <a:t>:</a:t>
            </a:r>
          </a:p>
          <a:p>
            <a:endParaRPr lang="en-AU" sz="800" dirty="0" smtClean="0">
              <a:solidFill>
                <a:prstClr val="black"/>
              </a:solidFill>
            </a:endParaRPr>
          </a:p>
          <a:p>
            <a:r>
              <a:rPr lang="en-AU" sz="2000" dirty="0" smtClean="0">
                <a:solidFill>
                  <a:prstClr val="black"/>
                </a:solidFill>
              </a:rPr>
              <a:t>What is an equivalent fraction?</a:t>
            </a:r>
            <a:endParaRPr lang="en-AU" sz="2000" dirty="0">
              <a:solidFill>
                <a:prstClr val="black"/>
              </a:solidFill>
            </a:endParaRPr>
          </a:p>
          <a:p>
            <a:endParaRPr lang="en-AU" sz="2000" dirty="0" smtClean="0">
              <a:solidFill>
                <a:prstClr val="black"/>
              </a:solidFill>
            </a:endParaRPr>
          </a:p>
          <a:p>
            <a:endParaRPr lang="en-AU" sz="2000" dirty="0">
              <a:solidFill>
                <a:prstClr val="black"/>
              </a:solidFill>
            </a:endParaRPr>
          </a:p>
          <a:p>
            <a:endParaRPr lang="en-AU" sz="2000" dirty="0" smtClean="0">
              <a:solidFill>
                <a:prstClr val="black"/>
              </a:solidFill>
            </a:endParaRPr>
          </a:p>
          <a:p>
            <a:endParaRPr lang="en-AU" sz="2000" dirty="0">
              <a:solidFill>
                <a:prstClr val="black"/>
              </a:solidFill>
            </a:endParaRPr>
          </a:p>
          <a:p>
            <a:endParaRPr lang="en-AU" sz="2000" dirty="0" smtClean="0">
              <a:solidFill>
                <a:prstClr val="black"/>
              </a:solidFill>
            </a:endParaRPr>
          </a:p>
          <a:p>
            <a:r>
              <a:rPr lang="en-AU" sz="2000" dirty="0" smtClean="0">
                <a:solidFill>
                  <a:prstClr val="black"/>
                </a:solidFill>
              </a:rPr>
              <a:t>What is a common factor and can we use it to find the equivalent fraction</a:t>
            </a:r>
            <a:endParaRPr lang="en-AU" sz="2000" dirty="0">
              <a:solidFill>
                <a:prstClr val="black"/>
              </a:solidFill>
            </a:endParaRPr>
          </a:p>
          <a:p>
            <a:endParaRPr lang="en-AU" sz="2400" dirty="0">
              <a:solidFill>
                <a:prstClr val="black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226860" y="1954655"/>
            <a:ext cx="871558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prstClr val="black"/>
                </a:solidFill>
              </a:rPr>
              <a:t>Notes: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AU" sz="2400" dirty="0" smtClean="0"/>
              <a:t>Different </a:t>
            </a:r>
            <a:r>
              <a:rPr lang="en-AU" sz="2400" dirty="0"/>
              <a:t>fractions </a:t>
            </a:r>
            <a:r>
              <a:rPr lang="en-AU" sz="2400" dirty="0" smtClean="0"/>
              <a:t>that are equal in size are </a:t>
            </a:r>
            <a:r>
              <a:rPr lang="en-AU" sz="2400" dirty="0"/>
              <a:t>called equivalent fractions.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AU" sz="800" dirty="0" smtClean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AU" sz="2400" dirty="0" smtClean="0"/>
              <a:t>In its </a:t>
            </a:r>
            <a:r>
              <a:rPr lang="en-AU" sz="2400" dirty="0"/>
              <a:t>simplest form </a:t>
            </a:r>
            <a:r>
              <a:rPr lang="en-AU" sz="2400" dirty="0" smtClean="0"/>
              <a:t>an equivalent </a:t>
            </a:r>
            <a:r>
              <a:rPr lang="en-AU" sz="2400" dirty="0"/>
              <a:t>fraction </a:t>
            </a:r>
            <a:r>
              <a:rPr lang="en-AU" sz="2400" dirty="0" smtClean="0"/>
              <a:t>has the </a:t>
            </a:r>
            <a:r>
              <a:rPr lang="en-AU" sz="2400" dirty="0"/>
              <a:t>lowest possible denominator. </a:t>
            </a:r>
            <a:endParaRPr lang="en-AU" sz="2400" dirty="0" smtClean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AU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AU" sz="800" dirty="0" smtClean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AU" sz="2400" dirty="0" smtClean="0">
                <a:solidFill>
                  <a:prstClr val="black"/>
                </a:solidFill>
              </a:rPr>
              <a:t>A </a:t>
            </a:r>
            <a:r>
              <a:rPr lang="en-AU" sz="2400" dirty="0">
                <a:solidFill>
                  <a:prstClr val="black"/>
                </a:solidFill>
              </a:rPr>
              <a:t>number </a:t>
            </a:r>
            <a:r>
              <a:rPr lang="en-AU" sz="2400" dirty="0" smtClean="0">
                <a:solidFill>
                  <a:prstClr val="black"/>
                </a:solidFill>
              </a:rPr>
              <a:t>that goes into both </a:t>
            </a:r>
            <a:r>
              <a:rPr lang="en-AU" sz="2400" dirty="0">
                <a:solidFill>
                  <a:prstClr val="black"/>
                </a:solidFill>
              </a:rPr>
              <a:t>the numerator and the denominator </a:t>
            </a:r>
            <a:r>
              <a:rPr lang="en-AU" sz="2400" dirty="0" smtClean="0">
                <a:solidFill>
                  <a:prstClr val="black"/>
                </a:solidFill>
              </a:rPr>
              <a:t>is </a:t>
            </a:r>
            <a:r>
              <a:rPr lang="en-AU" sz="2400" dirty="0">
                <a:solidFill>
                  <a:prstClr val="black"/>
                </a:solidFill>
              </a:rPr>
              <a:t>called a common factor. </a:t>
            </a:r>
            <a:endParaRPr lang="en-AU" sz="2400" dirty="0" smtClean="0">
              <a:solidFill>
                <a:prstClr val="black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AU" sz="800" dirty="0" smtClean="0">
              <a:solidFill>
                <a:prstClr val="black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AU" sz="2400" dirty="0" smtClean="0">
                <a:solidFill>
                  <a:prstClr val="black"/>
                </a:solidFill>
              </a:rPr>
              <a:t>In its simplest form, a </a:t>
            </a:r>
            <a:r>
              <a:rPr lang="en-AU" sz="2400" dirty="0">
                <a:solidFill>
                  <a:prstClr val="black"/>
                </a:solidFill>
              </a:rPr>
              <a:t>fraction has no common factors in its numerator and denominator (apart from 1</a:t>
            </a:r>
            <a:r>
              <a:rPr lang="en-AU" sz="2400" dirty="0" smtClean="0">
                <a:solidFill>
                  <a:prstClr val="black"/>
                </a:solidFill>
              </a:rPr>
              <a:t>).</a:t>
            </a:r>
          </a:p>
          <a:p>
            <a:r>
              <a:rPr lang="en-AU" sz="2400" dirty="0" smtClean="0">
                <a:solidFill>
                  <a:prstClr val="black"/>
                </a:solidFill>
              </a:rPr>
              <a:t>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7725" y="85028"/>
            <a:ext cx="8640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</a:rPr>
              <a:t>24</a:t>
            </a:r>
          </a:p>
          <a:p>
            <a:r>
              <a:rPr lang="en-AU" dirty="0">
                <a:solidFill>
                  <a:prstClr val="black"/>
                </a:solidFill>
              </a:rPr>
              <a:t>7</a:t>
            </a:r>
          </a:p>
          <a:p>
            <a:r>
              <a:rPr lang="en-AU" dirty="0">
                <a:solidFill>
                  <a:prstClr val="black"/>
                </a:solidFill>
              </a:rPr>
              <a:t>30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1565228" y="6400800"/>
            <a:ext cx="520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19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47448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3026535" y="0"/>
            <a:ext cx="0" cy="68580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122567" y="0"/>
            <a:ext cx="140269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AU" sz="2400" dirty="0">
                <a:solidFill>
                  <a:prstClr val="black"/>
                </a:solidFill>
              </a:rPr>
              <a:t>Question:</a:t>
            </a:r>
          </a:p>
        </p:txBody>
      </p:sp>
      <p:sp>
        <p:nvSpPr>
          <p:cNvPr id="6" name="Rectangle 5"/>
          <p:cNvSpPr/>
          <p:nvPr/>
        </p:nvSpPr>
        <p:spPr>
          <a:xfrm>
            <a:off x="3026535" y="-1"/>
            <a:ext cx="10004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AU" sz="2400" dirty="0">
                <a:solidFill>
                  <a:prstClr val="black"/>
                </a:solidFill>
              </a:rPr>
              <a:t>Notes: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590251"/>
            <a:ext cx="121920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026535" y="571500"/>
                <a:ext cx="9165465" cy="59672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200" b="1" dirty="0" smtClean="0">
                    <a:solidFill>
                      <a:srgbClr val="C00000"/>
                    </a:solidFill>
                  </a:rPr>
                  <a:t>Examples: </a:t>
                </a:r>
              </a:p>
              <a:p>
                <a:r>
                  <a:rPr lang="en-AU" sz="2200" dirty="0" smtClean="0"/>
                  <a:t>1) Find the missing term in this pair of equivalent fractions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200" b="1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n-AU" sz="2200" b="1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r>
                        <a:rPr lang="en-AU" sz="2200" b="1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sz="2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200" b="1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?</m:t>
                          </m:r>
                        </m:num>
                        <m:den>
                          <m:r>
                            <a:rPr lang="en-AU" sz="2200" b="1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𝟐𝟎</m:t>
                          </m:r>
                        </m:den>
                      </m:f>
                    </m:oMath>
                  </m:oMathPara>
                </a14:m>
                <a:endParaRPr lang="en-AU" sz="2200" b="1" dirty="0" smtClean="0"/>
              </a:p>
              <a:p>
                <a:endParaRPr lang="en-AU" sz="1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AU" sz="2200" dirty="0"/>
                  <a:t>To ﬁnd the missing </a:t>
                </a:r>
                <a:r>
                  <a:rPr lang="en-AU" sz="2200" dirty="0" smtClean="0"/>
                  <a:t>numerator, look </a:t>
                </a:r>
                <a:r>
                  <a:rPr lang="en-AU" sz="2200" dirty="0"/>
                  <a:t>at the two given denominators, 4 and 20. </a:t>
                </a:r>
                <a:endParaRPr lang="en-AU" sz="2200" dirty="0" smtClean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AU" sz="2200" dirty="0" smtClean="0"/>
                  <a:t>4 </a:t>
                </a:r>
                <a:r>
                  <a:rPr lang="en-AU" sz="2200" dirty="0"/>
                  <a:t>is multiplied by 5 to give 20, so we do the same thing to the numerator 3</a:t>
                </a:r>
                <a:r>
                  <a:rPr lang="en-AU" sz="2200" dirty="0" smtClean="0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AU" sz="10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200" i="1" smtClean="0">
                              <a:solidFill>
                                <a:srgbClr val="CC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200">
                              <a:solidFill>
                                <a:srgbClr val="CC00CC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 sz="2200">
                              <a:solidFill>
                                <a:srgbClr val="CC00CC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AU" sz="2200">
                          <a:solidFill>
                            <a:srgbClr val="CC00CC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200" i="1" smtClean="0">
                              <a:solidFill>
                                <a:srgbClr val="CC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200" b="0" i="1" smtClean="0">
                              <a:solidFill>
                                <a:srgbClr val="CC00CC"/>
                              </a:solidFill>
                              <a:latin typeface="Cambria Math" panose="02040503050406030204" pitchFamily="18" charset="0"/>
                            </a:rPr>
                            <m:t>3 </m:t>
                          </m:r>
                          <m:r>
                            <m:rPr>
                              <m:sty m:val="p"/>
                            </m:rPr>
                            <a:rPr lang="en-AU" sz="2200" b="0" i="0" smtClean="0">
                              <a:solidFill>
                                <a:srgbClr val="CC00CC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AU" sz="2200" b="0" i="0" smtClean="0">
                              <a:solidFill>
                                <a:srgbClr val="CC00CC"/>
                              </a:solidFill>
                              <a:latin typeface="Cambria Math" panose="02040503050406030204" pitchFamily="18" charset="0"/>
                            </a:rPr>
                            <m:t> 5</m:t>
                          </m:r>
                        </m:num>
                        <m:den>
                          <m:r>
                            <a:rPr lang="en-AU" sz="2200" b="0" i="0" smtClean="0">
                              <a:solidFill>
                                <a:srgbClr val="CC00CC"/>
                              </a:solidFill>
                              <a:latin typeface="Cambria Math" panose="02040503050406030204" pitchFamily="18" charset="0"/>
                            </a:rPr>
                            <m:t>4 </m:t>
                          </m:r>
                          <m:r>
                            <m:rPr>
                              <m:sty m:val="p"/>
                            </m:rPr>
                            <a:rPr lang="en-AU" sz="2200" b="0" i="0" smtClean="0">
                              <a:solidFill>
                                <a:srgbClr val="CC00CC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AU" sz="2200" b="0" i="0" smtClean="0">
                              <a:solidFill>
                                <a:srgbClr val="CC00CC"/>
                              </a:solidFill>
                              <a:latin typeface="Cambria Math" panose="02040503050406030204" pitchFamily="18" charset="0"/>
                            </a:rPr>
                            <m:t> 5</m:t>
                          </m:r>
                        </m:den>
                      </m:f>
                      <m:r>
                        <a:rPr lang="en-AU" sz="2200" b="0" i="0" smtClean="0">
                          <a:solidFill>
                            <a:srgbClr val="CC00CC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200" i="1">
                              <a:solidFill>
                                <a:srgbClr val="CC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200" b="0" i="0" smtClean="0">
                              <a:solidFill>
                                <a:srgbClr val="CC00CC"/>
                              </a:solidFill>
                              <a:latin typeface="Cambria Math" panose="02040503050406030204" pitchFamily="18" charset="0"/>
                            </a:rPr>
                            <m:t>15</m:t>
                          </m:r>
                        </m:num>
                        <m:den>
                          <m:r>
                            <a:rPr lang="en-AU" sz="2200">
                              <a:solidFill>
                                <a:srgbClr val="CC00CC"/>
                              </a:solidFill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AU" sz="2200" dirty="0" smtClean="0"/>
              </a:p>
              <a:p>
                <a:r>
                  <a:rPr lang="en-AU" sz="2200" dirty="0" smtClean="0"/>
                  <a:t>2) </a:t>
                </a:r>
                <a:r>
                  <a:rPr lang="en-AU" sz="2200" dirty="0"/>
                  <a:t>Find the missing term in this pair of equivalent fractions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200" b="1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𝟏𝟔</m:t>
                          </m:r>
                        </m:num>
                        <m:den>
                          <m:r>
                            <a:rPr lang="en-AU" sz="2200" b="1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AU" sz="22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r>
                        <a:rPr lang="en-AU" sz="2200" b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sz="22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200" b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?</m:t>
                          </m:r>
                        </m:num>
                        <m:den>
                          <m:r>
                            <a:rPr lang="en-AU" sz="2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</m:den>
                      </m:f>
                    </m:oMath>
                  </m:oMathPara>
                </a14:m>
                <a:endParaRPr lang="en-AU" sz="2200" b="1" dirty="0" smtClean="0"/>
              </a:p>
              <a:p>
                <a:endParaRPr lang="en-AU" sz="1000" dirty="0" smtClean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AU" sz="2200" dirty="0"/>
                  <a:t>To ﬁnd the missing numerator, we look at 24 and 6. </a:t>
                </a:r>
                <a:endParaRPr lang="en-AU" sz="2200" dirty="0" smtClean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AU" sz="2200" dirty="0" smtClean="0"/>
                  <a:t>24 </a:t>
                </a:r>
                <a:r>
                  <a:rPr lang="en-AU" sz="2200" dirty="0"/>
                  <a:t>is divided by 4 to give 6, so we do the same to the numerator </a:t>
                </a:r>
                <a:r>
                  <a:rPr lang="en-AU" sz="2200" dirty="0" smtClean="0"/>
                  <a:t>16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AU" sz="1000" dirty="0" smtClean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200" i="1" smtClean="0">
                              <a:solidFill>
                                <a:srgbClr val="CC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200" b="0" i="0" smtClean="0">
                              <a:solidFill>
                                <a:srgbClr val="CC00CC"/>
                              </a:solidFill>
                              <a:latin typeface="Cambria Math" panose="02040503050406030204" pitchFamily="18" charset="0"/>
                            </a:rPr>
                            <m:t>16</m:t>
                          </m:r>
                        </m:num>
                        <m:den>
                          <m:r>
                            <a:rPr lang="en-AU" sz="2200" b="0" i="0" smtClean="0">
                              <a:solidFill>
                                <a:srgbClr val="CC00CC"/>
                              </a:solidFill>
                              <a:latin typeface="Cambria Math" panose="02040503050406030204" pitchFamily="18" charset="0"/>
                            </a:rPr>
                            <m:t>24</m:t>
                          </m:r>
                        </m:den>
                      </m:f>
                      <m:r>
                        <a:rPr lang="en-AU" sz="2200">
                          <a:solidFill>
                            <a:srgbClr val="CC00CC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200" i="1">
                              <a:solidFill>
                                <a:srgbClr val="CC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200" b="0" i="1" smtClean="0">
                              <a:solidFill>
                                <a:srgbClr val="CC00CC"/>
                              </a:solidFill>
                              <a:latin typeface="Cambria Math" panose="02040503050406030204" pitchFamily="18" charset="0"/>
                            </a:rPr>
                            <m:t>16 ÷4</m:t>
                          </m:r>
                        </m:num>
                        <m:den>
                          <m:r>
                            <a:rPr lang="en-AU" sz="2200" b="0" i="0" smtClean="0">
                              <a:solidFill>
                                <a:srgbClr val="CC00CC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AU" sz="2200">
                              <a:solidFill>
                                <a:srgbClr val="CC00CC"/>
                              </a:solidFill>
                              <a:latin typeface="Cambria Math" panose="02040503050406030204" pitchFamily="18" charset="0"/>
                            </a:rPr>
                            <m:t>4 </m:t>
                          </m:r>
                          <m:r>
                            <a:rPr lang="en-AU" sz="2200" i="1" smtClean="0">
                              <a:solidFill>
                                <a:srgbClr val="CC00CC"/>
                              </a:solidFill>
                              <a:latin typeface="Cambria Math" panose="02040503050406030204" pitchFamily="18" charset="0"/>
                            </a:rPr>
                            <m:t>÷</m:t>
                          </m:r>
                          <m:r>
                            <a:rPr lang="en-AU" sz="2200" b="0" i="1" smtClean="0">
                              <a:solidFill>
                                <a:srgbClr val="CC00CC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AU" sz="2200">
                          <a:solidFill>
                            <a:srgbClr val="CC00CC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200" i="1">
                              <a:solidFill>
                                <a:srgbClr val="CC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200" b="0" i="0" smtClean="0">
                              <a:solidFill>
                                <a:srgbClr val="CC00CC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AU" sz="2200" b="0" i="1" smtClean="0">
                              <a:solidFill>
                                <a:srgbClr val="CC00CC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AU" sz="2200" dirty="0" smtClean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6535" y="571500"/>
                <a:ext cx="9165465" cy="5967275"/>
              </a:xfrm>
              <a:prstGeom prst="rect">
                <a:avLst/>
              </a:prstGeom>
              <a:blipFill rotWithShape="0">
                <a:blip r:embed="rId2"/>
                <a:stretch>
                  <a:fillRect l="-864" t="-71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122567" y="714375"/>
            <a:ext cx="27492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sz="2200" dirty="0"/>
          </a:p>
        </p:txBody>
      </p:sp>
    </p:spTree>
    <p:extLst>
      <p:ext uri="{BB962C8B-B14F-4D97-AF65-F5344CB8AC3E}">
        <p14:creationId xmlns:p14="http://schemas.microsoft.com/office/powerpoint/2010/main" val="2953878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52" t="6010" r="3409" b="40845"/>
          <a:stretch/>
        </p:blipFill>
        <p:spPr>
          <a:xfrm>
            <a:off x="1519707" y="270458"/>
            <a:ext cx="8873544" cy="6293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100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52" t="61409" r="3409" b="1221"/>
          <a:stretch/>
        </p:blipFill>
        <p:spPr>
          <a:xfrm>
            <a:off x="669701" y="296214"/>
            <a:ext cx="11052016" cy="5512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7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908879" y="407510"/>
                <a:ext cx="10367493" cy="80030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3600" u="sng" dirty="0" smtClean="0">
                    <a:solidFill>
                      <a:prstClr val="black"/>
                    </a:solidFill>
                  </a:rPr>
                  <a:t>10 Quick Questions</a:t>
                </a:r>
              </a:p>
              <a:p>
                <a:pPr algn="ctr"/>
                <a:endParaRPr lang="en-AU" sz="3600" u="sng" dirty="0">
                  <a:solidFill>
                    <a:prstClr val="black"/>
                  </a:solidFill>
                </a:endParaRPr>
              </a:p>
              <a:p>
                <a:r>
                  <a:rPr lang="en-AU" sz="2400" dirty="0" smtClean="0">
                    <a:solidFill>
                      <a:prstClr val="black"/>
                    </a:solidFill>
                  </a:rPr>
                  <a:t>			1. 	12 x </a:t>
                </a:r>
                <a:r>
                  <a:rPr lang="en-AU" sz="2400" dirty="0">
                    <a:solidFill>
                      <a:prstClr val="black"/>
                    </a:solidFill>
                  </a:rPr>
                  <a:t>7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 =</a:t>
                </a: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		2.	1651 – 837 =</a:t>
                </a:r>
              </a:p>
              <a:p>
                <a:r>
                  <a:rPr lang="en-AU" sz="2400" dirty="0" smtClean="0">
                    <a:solidFill>
                      <a:prstClr val="black"/>
                    </a:solidFill>
                  </a:rPr>
                  <a:t>			3. 	1391 + 527 =</a:t>
                </a: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		4. 	678 ÷ </a:t>
                </a:r>
                <a:r>
                  <a:rPr lang="en-AU" sz="2400" dirty="0">
                    <a:solidFill>
                      <a:prstClr val="black"/>
                    </a:solidFill>
                  </a:rPr>
                  <a:t>6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 =</a:t>
                </a: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		5. 	Round 22.57 to 1 </a:t>
                </a:r>
                <a:r>
                  <a:rPr lang="en-AU" sz="2400" dirty="0" err="1" smtClean="0">
                    <a:solidFill>
                      <a:prstClr val="black"/>
                    </a:solidFill>
                  </a:rPr>
                  <a:t>d.p</a:t>
                </a:r>
                <a:endParaRPr lang="en-AU" sz="2400" dirty="0" smtClean="0">
                  <a:solidFill>
                    <a:prstClr val="black"/>
                  </a:solidFill>
                </a:endParaRP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		6.	How many decimal places in 5.97</a:t>
                </a: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		7. 	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sz="24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5</m:t>
                    </m:r>
                    <m:r>
                      <a:rPr lang="en-AU" sz="24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AU" sz="2400" dirty="0" smtClean="0">
                  <a:solidFill>
                    <a:prstClr val="black"/>
                  </a:solidFill>
                </a:endParaRP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		8. 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AU" sz="24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AU" sz="24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2400" dirty="0" smtClean="0">
                    <a:solidFill>
                      <a:prstClr val="black"/>
                    </a:solidFill>
                  </a:rPr>
                  <a:t>80</a:t>
                </a: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		9.	Find the perimeter</a:t>
                </a:r>
              </a:p>
              <a:p>
                <a:endParaRPr lang="en-AU" sz="2400" dirty="0" smtClean="0">
                  <a:solidFill>
                    <a:prstClr val="black"/>
                  </a:solidFill>
                </a:endParaRP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		10.	Find the area</a:t>
                </a: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				</a:t>
                </a:r>
              </a:p>
              <a:p>
                <a:endParaRPr lang="en-AU" sz="2400" dirty="0" smtClean="0">
                  <a:solidFill>
                    <a:prstClr val="black"/>
                  </a:solidFill>
                </a:endParaRPr>
              </a:p>
              <a:p>
                <a:r>
                  <a:rPr lang="en-AU" sz="2400" dirty="0" smtClean="0">
                    <a:solidFill>
                      <a:prstClr val="black"/>
                    </a:solidFill>
                  </a:rPr>
                  <a:t> </a:t>
                </a:r>
              </a:p>
              <a:p>
                <a:endParaRPr lang="en-AU" sz="2400" dirty="0" smtClean="0">
                  <a:solidFill>
                    <a:prstClr val="black"/>
                  </a:solidFill>
                </a:endParaRPr>
              </a:p>
              <a:p>
                <a:r>
                  <a:rPr lang="en-AU" sz="2400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	</a:t>
                </a:r>
                <a:r>
                  <a:rPr lang="en-AU" sz="2400" dirty="0" smtClean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		</a:t>
                </a:r>
              </a:p>
              <a:p>
                <a:r>
                  <a:rPr lang="en-AU" sz="2400" dirty="0" smtClean="0">
                    <a:solidFill>
                      <a:prstClr val="black"/>
                    </a:solidFill>
                  </a:rPr>
                  <a:t>			</a:t>
                </a:r>
              </a:p>
              <a:p>
                <a:pPr algn="ctr"/>
                <a:endParaRPr lang="en-AU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879" y="407510"/>
                <a:ext cx="10367493" cy="8003025"/>
              </a:xfrm>
              <a:prstGeom prst="rect">
                <a:avLst/>
              </a:prstGeom>
              <a:blipFill rotWithShape="0">
                <a:blip r:embed="rId2"/>
                <a:stretch>
                  <a:fillRect t="-121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68051"/>
            <a:ext cx="2994807" cy="299480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4736" y="4592069"/>
            <a:ext cx="1943100" cy="1143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124736" y="4634640"/>
            <a:ext cx="1004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prstClr val="black"/>
                </a:solidFill>
              </a:rPr>
              <a:t>2mm</a:t>
            </a:r>
            <a:endParaRPr lang="en-AU" dirty="0">
              <a:solidFill>
                <a:prstClr val="black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916074" y="5397569"/>
            <a:ext cx="1004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prstClr val="black"/>
                </a:solidFill>
              </a:rPr>
              <a:t>9mm</a:t>
            </a:r>
            <a:endParaRPr lang="en-AU" dirty="0">
              <a:solidFill>
                <a:prstClr val="black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2944" y="5691045"/>
            <a:ext cx="1819617" cy="107036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453030" y="4785805"/>
            <a:ext cx="1004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prstClr val="black"/>
                </a:solidFill>
              </a:rPr>
              <a:t>3mm</a:t>
            </a:r>
            <a:endParaRPr lang="en-AU" dirty="0">
              <a:solidFill>
                <a:prstClr val="black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982752" y="6419364"/>
            <a:ext cx="1004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prstClr val="black"/>
                </a:solidFill>
              </a:rPr>
              <a:t>8m</a:t>
            </a:r>
            <a:endParaRPr lang="en-AU" dirty="0">
              <a:solidFill>
                <a:prstClr val="black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480545" y="6022744"/>
            <a:ext cx="1004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prstClr val="black"/>
                </a:solidFill>
              </a:rPr>
              <a:t>7m</a:t>
            </a:r>
            <a:endParaRPr lang="en-A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9469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1035897"/>
            <a:ext cx="12192000" cy="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121920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223145" y="1916832"/>
            <a:ext cx="7431" cy="4941168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0" y="97178"/>
            <a:ext cx="74391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Title</a:t>
            </a:r>
            <a:r>
              <a:rPr lang="en-AU" sz="2400" dirty="0" smtClean="0">
                <a:solidFill>
                  <a:prstClr val="black"/>
                </a:solidFill>
              </a:rPr>
              <a:t>: Different types of fractions</a:t>
            </a:r>
            <a:endParaRPr lang="en-AU" sz="2400" dirty="0">
              <a:solidFill>
                <a:prstClr val="black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5552" y="512677"/>
            <a:ext cx="24969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>
                <a:solidFill>
                  <a:prstClr val="black"/>
                </a:solidFill>
              </a:rPr>
              <a:t>Date: </a:t>
            </a:r>
            <a:endParaRPr lang="en-AU" sz="2800" dirty="0">
              <a:solidFill>
                <a:prstClr val="black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878" y="1065325"/>
            <a:ext cx="120729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EQ </a:t>
            </a:r>
            <a:r>
              <a:rPr lang="en-AU" sz="2400" dirty="0" smtClean="0">
                <a:solidFill>
                  <a:prstClr val="black"/>
                </a:solidFill>
              </a:rPr>
              <a:t>: Identify and describe the three types of fractions proper, improper and mixed numerals.</a:t>
            </a:r>
            <a:endParaRPr lang="en-AU" sz="2400" dirty="0">
              <a:solidFill>
                <a:prstClr val="black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7752184" y="0"/>
            <a:ext cx="0" cy="98072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815" y="1879010"/>
            <a:ext cx="29158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Question</a:t>
            </a:r>
            <a:r>
              <a:rPr lang="en-AU" sz="2400" dirty="0" smtClean="0">
                <a:solidFill>
                  <a:prstClr val="black"/>
                </a:solidFill>
              </a:rPr>
              <a:t>:</a:t>
            </a:r>
          </a:p>
          <a:p>
            <a:endParaRPr lang="en-AU" sz="800" dirty="0" smtClean="0">
              <a:solidFill>
                <a:prstClr val="black"/>
              </a:solidFill>
            </a:endParaRPr>
          </a:p>
          <a:p>
            <a:endParaRPr lang="en-AU" sz="2400" dirty="0">
              <a:solidFill>
                <a:prstClr val="black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226860" y="1954655"/>
                <a:ext cx="8715589" cy="42515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>
                    <a:solidFill>
                      <a:prstClr val="black"/>
                    </a:solidFill>
                  </a:rPr>
                  <a:t>Notes:</a:t>
                </a: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en-AU" sz="2400" dirty="0" smtClean="0">
                    <a:solidFill>
                      <a:srgbClr val="0070C0"/>
                    </a:solidFill>
                  </a:rPr>
                  <a:t>Proper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 </a:t>
                </a:r>
                <a:r>
                  <a:rPr lang="en-AU" sz="2400" dirty="0" smtClean="0">
                    <a:solidFill>
                      <a:srgbClr val="0070C0"/>
                    </a:solidFill>
                  </a:rPr>
                  <a:t>fractions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 have a numerator that is less than the denominator. Examples:</a:t>
                </a:r>
              </a:p>
              <a:p>
                <a:r>
                  <a:rPr lang="en-AU" sz="2400" dirty="0" smtClean="0">
                    <a:solidFill>
                      <a:prstClr val="black"/>
                    </a:solidFill>
                  </a:rPr>
                  <a:t>		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f>
                      <m:fPr>
                        <m:ctrlP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lang="en-AU" sz="2400" dirty="0" smtClean="0">
                    <a:solidFill>
                      <a:prstClr val="black"/>
                    </a:solidFill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37</m:t>
                        </m:r>
                      </m:num>
                      <m:den>
                        <m:r>
                          <a:rPr lang="en-AU" sz="24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den>
                    </m:f>
                  </m:oMath>
                </a14:m>
                <a:endParaRPr lang="en-AU" sz="2400" dirty="0" smtClean="0">
                  <a:solidFill>
                    <a:prstClr val="black"/>
                  </a:solidFill>
                </a:endParaRP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en-AU" sz="2400" dirty="0" smtClean="0">
                    <a:solidFill>
                      <a:srgbClr val="7030A0"/>
                    </a:solidFill>
                  </a:rPr>
                  <a:t>Improper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 </a:t>
                </a:r>
                <a:r>
                  <a:rPr lang="en-AU" sz="2400" dirty="0" smtClean="0">
                    <a:solidFill>
                      <a:srgbClr val="7030A0"/>
                    </a:solidFill>
                  </a:rPr>
                  <a:t>fractions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 have a numerator that is more than the denominator. </a:t>
                </a:r>
                <a:r>
                  <a:rPr lang="en-AU" sz="2400" dirty="0">
                    <a:solidFill>
                      <a:prstClr val="black"/>
                    </a:solidFill>
                  </a:rPr>
                  <a:t>Examples:</a:t>
                </a: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	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f>
                      <m:fPr>
                        <m:ctrlP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num>
                      <m:den>
                        <m: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lang="en-AU" sz="2400" dirty="0">
                    <a:solidFill>
                      <a:prstClr val="black"/>
                    </a:solidFill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67</m:t>
                        </m:r>
                      </m:num>
                      <m:den>
                        <m:r>
                          <a:rPr lang="en-AU" sz="24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den>
                    </m:f>
                  </m:oMath>
                </a14:m>
                <a:endParaRPr lang="en-AU" sz="2400" dirty="0" smtClean="0">
                  <a:solidFill>
                    <a:prstClr val="black"/>
                  </a:solidFill>
                </a:endParaRP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en-AU" sz="2400" dirty="0" smtClean="0">
                    <a:solidFill>
                      <a:srgbClr val="C00000"/>
                    </a:solidFill>
                  </a:rPr>
                  <a:t>Mixed numerals </a:t>
                </a:r>
                <a:r>
                  <a:rPr lang="en-AU" sz="2400" dirty="0" smtClean="0"/>
                  <a:t>have</a:t>
                </a:r>
                <a:r>
                  <a:rPr lang="en-AU" sz="2400" dirty="0" smtClean="0">
                    <a:solidFill>
                      <a:srgbClr val="C00000"/>
                    </a:solidFill>
                  </a:rPr>
                  <a:t> 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a whole part and a fraction part. </a:t>
                </a:r>
              </a:p>
              <a:p>
                <a:r>
                  <a:rPr lang="en-AU" sz="2400" dirty="0" smtClean="0">
                    <a:solidFill>
                      <a:prstClr val="black"/>
                    </a:solidFill>
                  </a:rPr>
                  <a:t>     Examples</a:t>
                </a:r>
                <a:r>
                  <a:rPr lang="en-AU" sz="2400" dirty="0">
                    <a:solidFill>
                      <a:prstClr val="black"/>
                    </a:solidFill>
                  </a:rPr>
                  <a:t>:</a:t>
                </a: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			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1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2</m:t>
                    </m:r>
                    <m:f>
                      <m:fPr>
                        <m:ctrlP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lang="en-AU" sz="2400" dirty="0">
                    <a:solidFill>
                      <a:prstClr val="black"/>
                    </a:solidFill>
                  </a:rPr>
                  <a:t>, 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3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37</m:t>
                        </m:r>
                      </m:num>
                      <m:den>
                        <m:r>
                          <a:rPr lang="en-AU" sz="24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den>
                    </m:f>
                  </m:oMath>
                </a14:m>
                <a:endParaRPr lang="en-AU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6860" y="1954655"/>
                <a:ext cx="8715589" cy="4251548"/>
              </a:xfrm>
              <a:prstGeom prst="rect">
                <a:avLst/>
              </a:prstGeom>
              <a:blipFill rotWithShape="0">
                <a:blip r:embed="rId3"/>
                <a:stretch>
                  <a:fillRect l="-1049" t="-1148" b="-57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6467725" y="85028"/>
            <a:ext cx="8640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</a:rPr>
              <a:t>24</a:t>
            </a:r>
          </a:p>
          <a:p>
            <a:r>
              <a:rPr lang="en-AU" dirty="0">
                <a:solidFill>
                  <a:prstClr val="black"/>
                </a:solidFill>
              </a:rPr>
              <a:t>7</a:t>
            </a:r>
          </a:p>
          <a:p>
            <a:r>
              <a:rPr lang="en-AU" dirty="0">
                <a:solidFill>
                  <a:prstClr val="black"/>
                </a:solidFill>
              </a:rPr>
              <a:t>30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1565228" y="6400800"/>
            <a:ext cx="520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prstClr val="black"/>
                </a:solidFill>
              </a:rPr>
              <a:t>21</a:t>
            </a:r>
            <a:endParaRPr lang="en-AU" dirty="0">
              <a:solidFill>
                <a:prstClr val="black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3958" y="2356063"/>
            <a:ext cx="3177330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What is a proper fraction?</a:t>
            </a:r>
          </a:p>
          <a:p>
            <a:endParaRPr lang="en-AU" sz="2200" dirty="0"/>
          </a:p>
          <a:p>
            <a:endParaRPr lang="en-AU" sz="1200" dirty="0" smtClean="0"/>
          </a:p>
          <a:p>
            <a:endParaRPr lang="en-AU" sz="1200" dirty="0"/>
          </a:p>
          <a:p>
            <a:endParaRPr lang="en-AU" sz="1200" dirty="0" smtClean="0"/>
          </a:p>
          <a:p>
            <a:r>
              <a:rPr lang="en-AU" sz="2200" dirty="0" smtClean="0"/>
              <a:t>What is an improper fraction?</a:t>
            </a:r>
          </a:p>
          <a:p>
            <a:endParaRPr lang="en-AU" sz="2200" dirty="0"/>
          </a:p>
          <a:p>
            <a:endParaRPr lang="en-AU" sz="2200" dirty="0" smtClean="0"/>
          </a:p>
          <a:p>
            <a:r>
              <a:rPr lang="en-AU" sz="2200" dirty="0" smtClean="0"/>
              <a:t>What is a mixed numeral?</a:t>
            </a:r>
          </a:p>
        </p:txBody>
      </p:sp>
    </p:spTree>
    <p:extLst>
      <p:ext uri="{BB962C8B-B14F-4D97-AF65-F5344CB8AC3E}">
        <p14:creationId xmlns:p14="http://schemas.microsoft.com/office/powerpoint/2010/main" val="115771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3026535" y="0"/>
            <a:ext cx="0" cy="68580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122567" y="0"/>
            <a:ext cx="140269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Question:</a:t>
            </a:r>
          </a:p>
        </p:txBody>
      </p:sp>
      <p:sp>
        <p:nvSpPr>
          <p:cNvPr id="6" name="Rectangle 5"/>
          <p:cNvSpPr/>
          <p:nvPr/>
        </p:nvSpPr>
        <p:spPr>
          <a:xfrm>
            <a:off x="3026535" y="-1"/>
            <a:ext cx="10004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Notes: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590251"/>
            <a:ext cx="121920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026535" y="571500"/>
                <a:ext cx="9165465" cy="61022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200" dirty="0" smtClean="0">
                    <a:solidFill>
                      <a:prstClr val="black"/>
                    </a:solidFill>
                  </a:rPr>
                  <a:t>We need to be able to convert mixed numerals to improper fractions and vice versa.</a:t>
                </a:r>
              </a:p>
              <a:p>
                <a:r>
                  <a:rPr lang="en-AU" sz="2200" dirty="0" smtClean="0">
                    <a:solidFill>
                      <a:srgbClr val="0070C0"/>
                    </a:solidFill>
                  </a:rPr>
                  <a:t>Mixed numeral </a:t>
                </a:r>
                <a:r>
                  <a:rPr lang="en-AU" sz="2200" dirty="0" smtClean="0">
                    <a:solidFill>
                      <a:srgbClr val="0070C0"/>
                    </a:solidFill>
                    <a:sym typeface="Wingdings" panose="05000000000000000000" pitchFamily="2" charset="2"/>
                  </a:rPr>
                  <a:t> Improper fraction</a:t>
                </a:r>
              </a:p>
              <a:p>
                <a:r>
                  <a:rPr lang="en-AU" sz="2200" dirty="0" err="1" smtClean="0">
                    <a:solidFill>
                      <a:prstClr val="black"/>
                    </a:solidFill>
                    <a:sym typeface="Wingdings" panose="05000000000000000000" pitchFamily="2" charset="2"/>
                  </a:rPr>
                  <a:t>Eg</a:t>
                </a:r>
                <a:r>
                  <a:rPr lang="en-AU" sz="2200" dirty="0" smtClean="0">
                    <a:solidFill>
                      <a:prstClr val="black"/>
                    </a:solidFill>
                    <a:sym typeface="Wingdings" panose="05000000000000000000" pitchFamily="2" charset="2"/>
                  </a:rPr>
                  <a:t>. 1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2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AU" sz="2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</m:t>
                        </m:r>
                      </m:num>
                      <m:den>
                        <m:r>
                          <a:rPr lang="en-AU" sz="2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4</m:t>
                        </m:r>
                      </m:den>
                    </m:f>
                  </m:oMath>
                </a14:m>
                <a:r>
                  <a:rPr lang="en-AU" sz="2200" dirty="0" smtClean="0">
                    <a:solidFill>
                      <a:prstClr val="black"/>
                    </a:solidFill>
                  </a:rPr>
                  <a:t> is made up of 1 whole plus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2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2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sz="2200" dirty="0" smtClean="0">
                  <a:solidFill>
                    <a:prstClr val="black"/>
                  </a:solidFill>
                </a:endParaRPr>
              </a:p>
              <a:p>
                <a:r>
                  <a:rPr lang="en-AU" sz="2200" dirty="0">
                    <a:solidFill>
                      <a:prstClr val="black"/>
                    </a:solidFill>
                  </a:rPr>
                  <a:t> </a:t>
                </a:r>
                <a:r>
                  <a:rPr lang="en-AU" sz="2200" dirty="0" smtClean="0">
                    <a:solidFill>
                      <a:prstClr val="black"/>
                    </a:solidFill>
                  </a:rPr>
                  <a:t>we can write this as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AU" sz="2400" dirty="0">
                    <a:solidFill>
                      <a:prstClr val="black"/>
                    </a:solidFill>
                  </a:rPr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24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AU" sz="2400" dirty="0" smtClean="0">
                    <a:solidFill>
                      <a:prstClr val="black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sz="2400" dirty="0" smtClean="0">
                  <a:solidFill>
                    <a:prstClr val="black"/>
                  </a:solidFill>
                </a:endParaRPr>
              </a:p>
              <a:p>
                <a:endParaRPr lang="en-AU" sz="1200" dirty="0" smtClean="0">
                  <a:solidFill>
                    <a:prstClr val="black"/>
                  </a:solidFill>
                </a:endParaRPr>
              </a:p>
              <a:p>
                <a:r>
                  <a:rPr lang="en-AU" sz="2200" dirty="0" smtClean="0">
                    <a:solidFill>
                      <a:prstClr val="black"/>
                    </a:solidFill>
                  </a:rPr>
                  <a:t>Now try converting 5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2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2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lang="en-AU" sz="2200" dirty="0" smtClean="0">
                    <a:solidFill>
                      <a:prstClr val="black"/>
                    </a:solidFill>
                  </a:rPr>
                  <a:t> to an improper fraction</a:t>
                </a:r>
              </a:p>
              <a:p>
                <a:endParaRPr lang="en-AU" sz="2200" dirty="0" smtClean="0">
                  <a:solidFill>
                    <a:prstClr val="black"/>
                  </a:solidFill>
                </a:endParaRPr>
              </a:p>
              <a:p>
                <a:endParaRPr lang="en-AU" sz="2200" dirty="0">
                  <a:solidFill>
                    <a:prstClr val="black"/>
                  </a:solidFill>
                </a:endParaRPr>
              </a:p>
              <a:p>
                <a:r>
                  <a:rPr lang="en-AU" sz="2200" dirty="0" smtClean="0">
                    <a:solidFill>
                      <a:srgbClr val="7030A0"/>
                    </a:solidFill>
                  </a:rPr>
                  <a:t>Improper fraction </a:t>
                </a:r>
                <a:r>
                  <a:rPr lang="en-AU" sz="2200" dirty="0" smtClean="0">
                    <a:solidFill>
                      <a:srgbClr val="7030A0"/>
                    </a:solidFill>
                    <a:sym typeface="Wingdings" panose="05000000000000000000" pitchFamily="2" charset="2"/>
                  </a:rPr>
                  <a:t> Mixed numeral</a:t>
                </a:r>
              </a:p>
              <a:p>
                <a:r>
                  <a:rPr lang="en-AU" sz="2200" dirty="0" smtClean="0">
                    <a:solidFill>
                      <a:prstClr val="black"/>
                    </a:solidFill>
                    <a:sym typeface="Wingdings" panose="05000000000000000000" pitchFamily="2" charset="2"/>
                  </a:rPr>
                  <a:t>We need to divide the numerator by the denominator and </a:t>
                </a:r>
                <a:r>
                  <a:rPr lang="en-AU" sz="2200" dirty="0" err="1" smtClean="0">
                    <a:solidFill>
                      <a:prstClr val="black"/>
                    </a:solidFill>
                    <a:sym typeface="Wingdings" panose="05000000000000000000" pitchFamily="2" charset="2"/>
                  </a:rPr>
                  <a:t>writethe</a:t>
                </a:r>
                <a:r>
                  <a:rPr lang="en-AU" sz="2200" dirty="0" smtClean="0">
                    <a:solidFill>
                      <a:prstClr val="black"/>
                    </a:solidFill>
                    <a:sym typeface="Wingdings" panose="05000000000000000000" pitchFamily="2" charset="2"/>
                  </a:rPr>
                  <a:t> remainder as  a proper fraction.</a:t>
                </a:r>
              </a:p>
              <a:p>
                <a:r>
                  <a:rPr lang="en-AU" sz="2200" dirty="0" err="1" smtClean="0">
                    <a:solidFill>
                      <a:prstClr val="black"/>
                    </a:solidFill>
                    <a:sym typeface="Wingdings" panose="05000000000000000000" pitchFamily="2" charset="2"/>
                  </a:rPr>
                  <a:t>Eg</a:t>
                </a:r>
                <a:r>
                  <a:rPr lang="en-AU" sz="2200" dirty="0" smtClean="0">
                    <a:solidFill>
                      <a:prstClr val="black"/>
                    </a:solidFill>
                    <a:sym typeface="Wingdings" panose="05000000000000000000" pitchFamily="2" charset="2"/>
                  </a:rPr>
                  <a:t>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2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AU" sz="2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38</m:t>
                        </m:r>
                      </m:num>
                      <m:den>
                        <m:r>
                          <a:rPr lang="en-AU" sz="2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</m:t>
                        </m:r>
                      </m:den>
                    </m:f>
                  </m:oMath>
                </a14:m>
                <a:r>
                  <a:rPr lang="en-AU" sz="2200" dirty="0" smtClean="0">
                    <a:solidFill>
                      <a:prstClr val="black"/>
                    </a:solidFill>
                    <a:sym typeface="Wingdings" panose="05000000000000000000" pitchFamily="2" charset="2"/>
                  </a:rPr>
                  <a:t> =	12 remainder 2	=12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2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AU" sz="2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num>
                      <m:den>
                        <m:r>
                          <a:rPr lang="en-AU" sz="2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</m:t>
                        </m:r>
                      </m:den>
                    </m:f>
                  </m:oMath>
                </a14:m>
                <a:endParaRPr lang="en-AU" sz="2200" dirty="0" smtClean="0">
                  <a:solidFill>
                    <a:prstClr val="black"/>
                  </a:solidFill>
                  <a:sym typeface="Wingdings" panose="05000000000000000000" pitchFamily="2" charset="2"/>
                </a:endParaRPr>
              </a:p>
              <a:p>
                <a:endParaRPr lang="en-AU" sz="2200" dirty="0">
                  <a:solidFill>
                    <a:prstClr val="black"/>
                  </a:solidFill>
                  <a:sym typeface="Wingdings" panose="05000000000000000000" pitchFamily="2" charset="2"/>
                </a:endParaRPr>
              </a:p>
              <a:p>
                <a:r>
                  <a:rPr lang="en-AU" sz="2200" dirty="0" smtClean="0">
                    <a:solidFill>
                      <a:prstClr val="black"/>
                    </a:solidFill>
                    <a:sym typeface="Wingdings" panose="05000000000000000000" pitchFamily="2" charset="2"/>
                  </a:rPr>
                  <a:t>Now try converting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2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AU" sz="2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27</m:t>
                        </m:r>
                      </m:num>
                      <m:den>
                        <m:r>
                          <a:rPr lang="en-AU" sz="2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4</m:t>
                        </m:r>
                      </m:den>
                    </m:f>
                    <m:r>
                      <a:rPr lang="en-AU" sz="22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</m:oMath>
                </a14:m>
                <a:r>
                  <a:rPr lang="en-AU" sz="2200" dirty="0" smtClean="0">
                    <a:solidFill>
                      <a:prstClr val="black"/>
                    </a:solidFill>
                    <a:sym typeface="Wingdings" panose="05000000000000000000" pitchFamily="2" charset="2"/>
                  </a:rPr>
                  <a:t>to a mixed numeral</a:t>
                </a:r>
              </a:p>
              <a:p>
                <a:endParaRPr lang="en-AU" sz="22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6535" y="571500"/>
                <a:ext cx="9165465" cy="6102248"/>
              </a:xfrm>
              <a:prstGeom prst="rect">
                <a:avLst/>
              </a:prstGeom>
              <a:blipFill rotWithShape="0">
                <a:blip r:embed="rId2"/>
                <a:stretch>
                  <a:fillRect l="-864" t="-699" r="-33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122567" y="714375"/>
            <a:ext cx="27492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sz="2200" dirty="0">
              <a:solidFill>
                <a:prstClr val="black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22567" y="714375"/>
            <a:ext cx="2749221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 smtClean="0"/>
          </a:p>
          <a:p>
            <a:endParaRPr lang="en-AU" dirty="0"/>
          </a:p>
          <a:p>
            <a:r>
              <a:rPr lang="en-AU" sz="2200" dirty="0" smtClean="0"/>
              <a:t>How do we convert a mixed numeral to an improper fraction?</a:t>
            </a:r>
          </a:p>
          <a:p>
            <a:endParaRPr lang="en-AU" sz="2200" dirty="0"/>
          </a:p>
          <a:p>
            <a:endParaRPr lang="en-AU" sz="2200" dirty="0" smtClean="0"/>
          </a:p>
          <a:p>
            <a:endParaRPr lang="en-AU" sz="2200" dirty="0"/>
          </a:p>
          <a:p>
            <a:endParaRPr lang="en-AU" sz="2200" dirty="0" smtClean="0"/>
          </a:p>
          <a:p>
            <a:endParaRPr lang="en-AU" sz="2200" dirty="0"/>
          </a:p>
          <a:p>
            <a:r>
              <a:rPr lang="en-AU" sz="2200" dirty="0" smtClean="0"/>
              <a:t>How do we convert an improper fraction to a mixed numeral?</a:t>
            </a:r>
          </a:p>
        </p:txBody>
      </p:sp>
    </p:spTree>
    <p:extLst>
      <p:ext uri="{BB962C8B-B14F-4D97-AF65-F5344CB8AC3E}">
        <p14:creationId xmlns:p14="http://schemas.microsoft.com/office/powerpoint/2010/main" val="2820545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908879" y="407510"/>
                <a:ext cx="10367493" cy="80030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3600" u="sng" dirty="0" smtClean="0">
                    <a:solidFill>
                      <a:prstClr val="black"/>
                    </a:solidFill>
                  </a:rPr>
                  <a:t>10 Quick Questions</a:t>
                </a:r>
              </a:p>
              <a:p>
                <a:pPr algn="ctr"/>
                <a:endParaRPr lang="en-AU" sz="3600" u="sng" dirty="0">
                  <a:solidFill>
                    <a:prstClr val="black"/>
                  </a:solidFill>
                </a:endParaRPr>
              </a:p>
              <a:p>
                <a:r>
                  <a:rPr lang="en-AU" sz="2400" dirty="0" smtClean="0">
                    <a:solidFill>
                      <a:prstClr val="black"/>
                    </a:solidFill>
                  </a:rPr>
                  <a:t>			1. 	17 x </a:t>
                </a:r>
                <a:r>
                  <a:rPr lang="en-AU" sz="2400" dirty="0">
                    <a:solidFill>
                      <a:prstClr val="black"/>
                    </a:solidFill>
                  </a:rPr>
                  <a:t>6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 =</a:t>
                </a: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		2.	1341 – 978 =</a:t>
                </a:r>
              </a:p>
              <a:p>
                <a:r>
                  <a:rPr lang="en-AU" sz="2400" dirty="0" smtClean="0">
                    <a:solidFill>
                      <a:prstClr val="black"/>
                    </a:solidFill>
                  </a:rPr>
                  <a:t>			3. 	1769 + 635 =</a:t>
                </a: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		4. 	22</a:t>
                </a:r>
                <a:r>
                  <a:rPr lang="en-AU" sz="2400" dirty="0">
                    <a:solidFill>
                      <a:prstClr val="black"/>
                    </a:solidFill>
                  </a:rPr>
                  <a:t>4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 ÷ </a:t>
                </a:r>
                <a:r>
                  <a:rPr lang="en-AU" sz="2400" dirty="0">
                    <a:solidFill>
                      <a:prstClr val="black"/>
                    </a:solidFill>
                  </a:rPr>
                  <a:t>7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 =</a:t>
                </a: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		5. 	Round 76.61 to 1 </a:t>
                </a:r>
                <a:r>
                  <a:rPr lang="en-AU" sz="2400" dirty="0" err="1" smtClean="0">
                    <a:solidFill>
                      <a:prstClr val="black"/>
                    </a:solidFill>
                  </a:rPr>
                  <a:t>d.p</a:t>
                </a:r>
                <a:endParaRPr lang="en-AU" sz="2400" dirty="0" smtClean="0">
                  <a:solidFill>
                    <a:prstClr val="black"/>
                  </a:solidFill>
                </a:endParaRP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		6.	How many decimal places in 15.724</a:t>
                </a: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		7. 	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sz="24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+ 5</m:t>
                    </m:r>
                    <m:r>
                      <a:rPr lang="en-AU" sz="24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AU" sz="24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+2</m:t>
                    </m:r>
                    <m:r>
                      <a:rPr lang="en-AU" sz="24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AU" sz="2400" dirty="0" smtClean="0">
                  <a:solidFill>
                    <a:prstClr val="black"/>
                  </a:solidFill>
                </a:endParaRP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		8. 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AU" sz="24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AU" sz="24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54</m:t>
                    </m:r>
                  </m:oMath>
                </a14:m>
                <a:endParaRPr lang="en-AU" sz="2400" dirty="0" smtClean="0">
                  <a:solidFill>
                    <a:prstClr val="black"/>
                  </a:solidFill>
                </a:endParaRP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		9.	Find the perimeter</a:t>
                </a:r>
              </a:p>
              <a:p>
                <a:endParaRPr lang="en-AU" sz="2400" dirty="0" smtClean="0">
                  <a:solidFill>
                    <a:prstClr val="black"/>
                  </a:solidFill>
                </a:endParaRP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		10.	Find the area</a:t>
                </a: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				</a:t>
                </a:r>
              </a:p>
              <a:p>
                <a:endParaRPr lang="en-AU" sz="2400" dirty="0" smtClean="0">
                  <a:solidFill>
                    <a:prstClr val="black"/>
                  </a:solidFill>
                </a:endParaRPr>
              </a:p>
              <a:p>
                <a:r>
                  <a:rPr lang="en-AU" sz="2400" dirty="0" smtClean="0">
                    <a:solidFill>
                      <a:prstClr val="black"/>
                    </a:solidFill>
                  </a:rPr>
                  <a:t> </a:t>
                </a:r>
              </a:p>
              <a:p>
                <a:endParaRPr lang="en-AU" sz="2400" dirty="0" smtClean="0">
                  <a:solidFill>
                    <a:prstClr val="black"/>
                  </a:solidFill>
                </a:endParaRPr>
              </a:p>
              <a:p>
                <a:r>
                  <a:rPr lang="en-AU" sz="2400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	</a:t>
                </a:r>
                <a:r>
                  <a:rPr lang="en-AU" sz="2400" dirty="0" smtClean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		</a:t>
                </a:r>
              </a:p>
              <a:p>
                <a:r>
                  <a:rPr lang="en-AU" sz="2400" dirty="0" smtClean="0">
                    <a:solidFill>
                      <a:prstClr val="black"/>
                    </a:solidFill>
                  </a:rPr>
                  <a:t>			</a:t>
                </a:r>
              </a:p>
              <a:p>
                <a:pPr algn="ctr"/>
                <a:endParaRPr lang="en-AU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879" y="407510"/>
                <a:ext cx="10367493" cy="8003025"/>
              </a:xfrm>
              <a:prstGeom prst="rect">
                <a:avLst/>
              </a:prstGeom>
              <a:blipFill rotWithShape="0">
                <a:blip r:embed="rId2"/>
                <a:stretch>
                  <a:fillRect t="-121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57733"/>
            <a:ext cx="2994807" cy="299480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4736" y="4592069"/>
            <a:ext cx="1943100" cy="1143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124736" y="4634640"/>
            <a:ext cx="1004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prstClr val="black"/>
                </a:solidFill>
              </a:rPr>
              <a:t>4m</a:t>
            </a:r>
            <a:endParaRPr lang="en-AU" dirty="0">
              <a:solidFill>
                <a:prstClr val="black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916074" y="5397569"/>
            <a:ext cx="1004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prstClr val="black"/>
                </a:solidFill>
              </a:rPr>
              <a:t>15m</a:t>
            </a:r>
            <a:endParaRPr lang="en-AU" dirty="0">
              <a:solidFill>
                <a:prstClr val="black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2944" y="5691045"/>
            <a:ext cx="1819617" cy="107036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453030" y="4785805"/>
            <a:ext cx="1004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prstClr val="black"/>
                </a:solidFill>
              </a:rPr>
              <a:t>3m</a:t>
            </a:r>
            <a:endParaRPr lang="en-AU" dirty="0">
              <a:solidFill>
                <a:prstClr val="black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982752" y="6419364"/>
            <a:ext cx="1004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prstClr val="black"/>
                </a:solidFill>
              </a:rPr>
              <a:t>12cm</a:t>
            </a:r>
            <a:endParaRPr lang="en-AU" dirty="0">
              <a:solidFill>
                <a:prstClr val="black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480545" y="6022744"/>
            <a:ext cx="1004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prstClr val="black"/>
                </a:solidFill>
              </a:rPr>
              <a:t>8cm</a:t>
            </a:r>
            <a:endParaRPr lang="en-A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4385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1035897"/>
            <a:ext cx="12192000" cy="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121920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223145" y="1916832"/>
            <a:ext cx="7431" cy="4941168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0" y="97178"/>
            <a:ext cx="74391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Title</a:t>
            </a:r>
            <a:r>
              <a:rPr lang="en-AU" sz="2400" dirty="0" smtClean="0">
                <a:solidFill>
                  <a:prstClr val="black"/>
                </a:solidFill>
              </a:rPr>
              <a:t>: Adding and Subtracting Fractions with</a:t>
            </a:r>
          </a:p>
          <a:p>
            <a:r>
              <a:rPr lang="en-AU" sz="2400" dirty="0">
                <a:solidFill>
                  <a:prstClr val="black"/>
                </a:solidFill>
              </a:rPr>
              <a:t> </a:t>
            </a:r>
            <a:r>
              <a:rPr lang="en-AU" sz="2400" dirty="0" smtClean="0">
                <a:solidFill>
                  <a:prstClr val="black"/>
                </a:solidFill>
              </a:rPr>
              <a:t>         </a:t>
            </a:r>
            <a:r>
              <a:rPr lang="en-AU" sz="2400" dirty="0">
                <a:solidFill>
                  <a:prstClr val="black"/>
                </a:solidFill>
              </a:rPr>
              <a:t>t</a:t>
            </a:r>
            <a:r>
              <a:rPr lang="en-AU" sz="2400" dirty="0" smtClean="0">
                <a:solidFill>
                  <a:prstClr val="black"/>
                </a:solidFill>
              </a:rPr>
              <a:t>he same  Denominator</a:t>
            </a:r>
            <a:endParaRPr lang="en-AU" sz="2400" dirty="0">
              <a:solidFill>
                <a:prstClr val="black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878" y="1065325"/>
            <a:ext cx="120729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EQ </a:t>
            </a:r>
            <a:r>
              <a:rPr lang="en-AU" sz="2400" dirty="0" smtClean="0">
                <a:solidFill>
                  <a:prstClr val="black"/>
                </a:solidFill>
              </a:rPr>
              <a:t>: Explain the process of adding and subtracting fractions with the same denominator </a:t>
            </a:r>
            <a:endParaRPr lang="en-AU" sz="2400" dirty="0">
              <a:solidFill>
                <a:prstClr val="black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7752184" y="0"/>
            <a:ext cx="0" cy="98072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815" y="1879010"/>
            <a:ext cx="29158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Question</a:t>
            </a:r>
            <a:r>
              <a:rPr lang="en-AU" sz="2400" dirty="0" smtClean="0">
                <a:solidFill>
                  <a:prstClr val="black"/>
                </a:solidFill>
              </a:rPr>
              <a:t>:</a:t>
            </a:r>
          </a:p>
          <a:p>
            <a:endParaRPr lang="en-AU" sz="800" dirty="0" smtClean="0">
              <a:solidFill>
                <a:prstClr val="black"/>
              </a:solidFill>
            </a:endParaRPr>
          </a:p>
          <a:p>
            <a:endParaRPr lang="en-AU" sz="2400" dirty="0">
              <a:solidFill>
                <a:prstClr val="black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226860" y="1954655"/>
                <a:ext cx="8715589" cy="41204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>
                    <a:solidFill>
                      <a:prstClr val="black"/>
                    </a:solidFill>
                  </a:rPr>
                  <a:t>Notes:</a:t>
                </a: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endParaRPr lang="en-AU" sz="2400" dirty="0" smtClean="0">
                  <a:solidFill>
                    <a:prstClr val="black"/>
                  </a:solidFill>
                </a:endParaRPr>
              </a:p>
              <a:p>
                <a:r>
                  <a:rPr lang="en-AU" sz="2400" dirty="0" smtClean="0">
                    <a:solidFill>
                      <a:prstClr val="black"/>
                    </a:solidFill>
                  </a:rPr>
                  <a:t>Fractions with the same denominator have ‘pieces’ that are the same size.</a:t>
                </a: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 </a:t>
                </a:r>
                <a:endParaRPr lang="en-AU" sz="2400" dirty="0" smtClean="0">
                  <a:solidFill>
                    <a:prstClr val="black"/>
                  </a:solidFill>
                </a:endParaRPr>
              </a:p>
              <a:p>
                <a:r>
                  <a:rPr lang="en-AU" sz="2400" dirty="0" smtClean="0">
                    <a:solidFill>
                      <a:prstClr val="black"/>
                    </a:solidFill>
                  </a:rPr>
                  <a:t>This means you can add or subtract fractions by simply doing the sum with the numerators and placing them over the common denominator.</a:t>
                </a:r>
              </a:p>
              <a:p>
                <a:endParaRPr lang="en-AU" sz="2400" dirty="0" smtClean="0">
                  <a:solidFill>
                    <a:prstClr val="black"/>
                  </a:solidFill>
                </a:endParaRPr>
              </a:p>
              <a:p>
                <a:r>
                  <a:rPr lang="en-AU" sz="3200" dirty="0" smtClean="0">
                    <a:solidFill>
                      <a:prstClr val="black"/>
                    </a:solidFill>
                  </a:rPr>
                  <a:t>			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32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3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lang="en-AU" sz="3200" dirty="0" smtClean="0">
                    <a:solidFill>
                      <a:prstClr val="black"/>
                    </a:solidFill>
                  </a:rPr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32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2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32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lang="en-AU" sz="3200" dirty="0" smtClean="0">
                    <a:solidFill>
                      <a:prstClr val="black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32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sz="3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endParaRPr lang="en-AU" sz="3200" dirty="0" smtClean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6860" y="1954655"/>
                <a:ext cx="8715589" cy="4120487"/>
              </a:xfrm>
              <a:prstGeom prst="rect">
                <a:avLst/>
              </a:prstGeom>
              <a:blipFill rotWithShape="0">
                <a:blip r:embed="rId3"/>
                <a:stretch>
                  <a:fillRect l="-1049" t="-1183" b="-162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6467725" y="85028"/>
            <a:ext cx="8640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</a:rPr>
              <a:t>24</a:t>
            </a:r>
          </a:p>
          <a:p>
            <a:r>
              <a:rPr lang="en-AU" dirty="0">
                <a:solidFill>
                  <a:prstClr val="black"/>
                </a:solidFill>
              </a:rPr>
              <a:t>7</a:t>
            </a:r>
          </a:p>
          <a:p>
            <a:r>
              <a:rPr lang="en-AU" dirty="0">
                <a:solidFill>
                  <a:prstClr val="black"/>
                </a:solidFill>
              </a:rPr>
              <a:t>30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1565228" y="6400800"/>
            <a:ext cx="520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prstClr val="black"/>
                </a:solidFill>
              </a:rPr>
              <a:t>23</a:t>
            </a:r>
            <a:endParaRPr lang="en-AU" dirty="0">
              <a:solidFill>
                <a:prstClr val="black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049345" y="5181600"/>
            <a:ext cx="1530897" cy="596348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7" name="Straight Arrow Connector 16"/>
          <p:cNvCxnSpPr/>
          <p:nvPr/>
        </p:nvCxnSpPr>
        <p:spPr>
          <a:xfrm flipH="1">
            <a:off x="7580242" y="4956313"/>
            <a:ext cx="503584" cy="357809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057322" y="4633147"/>
            <a:ext cx="22990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Do the sum with the numerators</a:t>
            </a:r>
            <a:endParaRPr lang="en-AU" dirty="0">
              <a:solidFill>
                <a:srgbClr val="0070C0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7194455" y="5755441"/>
            <a:ext cx="344555" cy="335017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1" name="Straight Arrow Connector 20"/>
          <p:cNvCxnSpPr/>
          <p:nvPr/>
        </p:nvCxnSpPr>
        <p:spPr>
          <a:xfrm flipH="1" flipV="1">
            <a:off x="7486001" y="6048638"/>
            <a:ext cx="472667" cy="22392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930263" y="6108532"/>
            <a:ext cx="2426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C00000"/>
                </a:solidFill>
              </a:rPr>
              <a:t>Place over the common denominator</a:t>
            </a:r>
            <a:endParaRPr lang="en-AU" dirty="0">
              <a:solidFill>
                <a:srgbClr val="C0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815" y="3853050"/>
            <a:ext cx="303873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/>
              <a:t>How do you add or subtract fractions with the same denominator?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2717178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3026535" y="0"/>
            <a:ext cx="0" cy="68580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122567" y="0"/>
            <a:ext cx="140269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Question:</a:t>
            </a:r>
          </a:p>
        </p:txBody>
      </p:sp>
      <p:sp>
        <p:nvSpPr>
          <p:cNvPr id="6" name="Rectangle 5"/>
          <p:cNvSpPr/>
          <p:nvPr/>
        </p:nvSpPr>
        <p:spPr>
          <a:xfrm>
            <a:off x="3026535" y="-1"/>
            <a:ext cx="10004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Notes: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590251"/>
            <a:ext cx="121920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026535" y="571500"/>
                <a:ext cx="9165465" cy="68095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200" dirty="0" smtClean="0">
                    <a:solidFill>
                      <a:prstClr val="black"/>
                    </a:solidFill>
                  </a:rPr>
                  <a:t>Examples:</a:t>
                </a:r>
              </a:p>
              <a:p>
                <a:r>
                  <a:rPr lang="en-AU" sz="2200" dirty="0" smtClean="0">
                    <a:solidFill>
                      <a:prstClr val="black"/>
                    </a:solidFill>
                  </a:rPr>
                  <a:t>1.</a:t>
                </a:r>
                <a:endParaRPr lang="en-AU" sz="2200" dirty="0">
                  <a:solidFill>
                    <a:prstClr val="black"/>
                  </a:solidFill>
                </a:endParaRPr>
              </a:p>
              <a:p>
                <a:r>
                  <a:rPr lang="en-AU" sz="2200" dirty="0" smtClean="0">
                    <a:solidFill>
                      <a:prstClr val="black"/>
                    </a:solidFill>
                  </a:rPr>
                  <a:t>	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lang="en-AU" sz="2800" dirty="0">
                    <a:solidFill>
                      <a:prstClr val="black"/>
                    </a:solidFill>
                  </a:rPr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AU" sz="28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lang="en-AU" sz="2800" dirty="0">
                    <a:solidFill>
                      <a:prstClr val="black"/>
                    </a:solidFill>
                  </a:rPr>
                  <a:t> = </a:t>
                </a:r>
                <a:r>
                  <a:rPr lang="en-AU" sz="2800" dirty="0" smtClean="0">
                    <a:solidFill>
                      <a:prstClr val="black"/>
                    </a:solidFill>
                  </a:rPr>
                  <a:t>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AU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lang="en-AU" sz="2800" dirty="0" smtClean="0">
                  <a:solidFill>
                    <a:prstClr val="black"/>
                  </a:solidFill>
                </a:endParaRPr>
              </a:p>
              <a:p>
                <a:endParaRPr lang="en-AU" sz="2200" dirty="0" smtClean="0">
                  <a:solidFill>
                    <a:prstClr val="black"/>
                  </a:solidFill>
                </a:endParaRPr>
              </a:p>
              <a:p>
                <a:r>
                  <a:rPr lang="en-AU" sz="2200" dirty="0" smtClean="0">
                    <a:solidFill>
                      <a:prstClr val="black"/>
                    </a:solidFill>
                  </a:rPr>
                  <a:t>2.	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AU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lang="en-AU" sz="2800" dirty="0">
                    <a:solidFill>
                      <a:prstClr val="black"/>
                    </a:solidFill>
                  </a:rPr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AU" sz="28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lang="en-AU" sz="2800" dirty="0">
                    <a:solidFill>
                      <a:prstClr val="black"/>
                    </a:solidFill>
                  </a:rPr>
                  <a:t> </a:t>
                </a:r>
                <a:r>
                  <a:rPr lang="en-AU" sz="2800" dirty="0" smtClean="0">
                    <a:solidFill>
                      <a:prstClr val="black"/>
                    </a:solidFill>
                  </a:rPr>
                  <a:t>=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AU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15 </m:t>
                        </m:r>
                      </m:den>
                    </m:f>
                  </m:oMath>
                </a14:m>
                <a:r>
                  <a:rPr lang="en-AU" sz="2200" dirty="0" smtClean="0">
                    <a:solidFill>
                      <a:prstClr val="black"/>
                    </a:solidFill>
                  </a:rPr>
                  <a:t> =	 </a:t>
                </a:r>
                <a:r>
                  <a:rPr lang="en-AU" sz="2800" dirty="0" smtClean="0">
                    <a:solidFill>
                      <a:prstClr val="black"/>
                    </a:solidFill>
                  </a:rPr>
                  <a:t>1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AU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lang="en-AU" sz="2800" dirty="0" smtClean="0">
                    <a:solidFill>
                      <a:prstClr val="black"/>
                    </a:solidFill>
                  </a:rPr>
                  <a:t>	</a:t>
                </a:r>
                <a:r>
                  <a:rPr lang="en-AU" sz="2200" dirty="0" smtClean="0">
                    <a:solidFill>
                      <a:prstClr val="black"/>
                    </a:solidFill>
                  </a:rPr>
                  <a:t>		</a:t>
                </a:r>
              </a:p>
              <a:p>
                <a:endParaRPr lang="en-AU" sz="2200" dirty="0" smtClean="0">
                  <a:solidFill>
                    <a:prstClr val="black"/>
                  </a:solidFill>
                </a:endParaRPr>
              </a:p>
              <a:p>
                <a:r>
                  <a:rPr lang="en-AU" sz="2200" dirty="0" smtClean="0">
                    <a:solidFill>
                      <a:prstClr val="black"/>
                    </a:solidFill>
                  </a:rPr>
                  <a:t>3.	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num>
                      <m:den>
                        <m:r>
                          <a:rPr lang="en-AU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lang="en-AU" sz="2800" dirty="0">
                    <a:solidFill>
                      <a:prstClr val="black"/>
                    </a:solidFill>
                  </a:rPr>
                  <a:t> </a:t>
                </a:r>
                <a:r>
                  <a:rPr lang="en-AU" sz="2800" dirty="0" smtClean="0">
                    <a:solidFill>
                      <a:prstClr val="black"/>
                    </a:solidFill>
                  </a:rPr>
                  <a:t>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sz="28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lang="en-AU" sz="2800" dirty="0">
                    <a:solidFill>
                      <a:prstClr val="black"/>
                    </a:solidFill>
                  </a:rPr>
                  <a:t> =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num>
                      <m:den>
                        <m:r>
                          <a:rPr lang="en-AU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AU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AU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den>
                    </m:f>
                  </m:oMath>
                </a14:m>
                <a:r>
                  <a:rPr lang="en-AU" sz="2800" dirty="0" smtClean="0">
                    <a:solidFill>
                      <a:prstClr val="black"/>
                    </a:solidFill>
                  </a:rPr>
                  <a:t> = 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AU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en-AU" sz="2800" dirty="0">
                    <a:solidFill>
                      <a:prstClr val="black"/>
                    </a:solidFill>
                  </a:rPr>
                  <a:t> = </a:t>
                </a:r>
                <a:r>
                  <a:rPr lang="en-AU" sz="2800" dirty="0" smtClean="0">
                    <a:solidFill>
                      <a:prstClr val="black"/>
                    </a:solidFill>
                  </a:rPr>
                  <a:t>	1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en-AU" sz="2800" dirty="0" smtClean="0">
                    <a:solidFill>
                      <a:prstClr val="black"/>
                    </a:solidFill>
                  </a:rPr>
                  <a:t>	</a:t>
                </a:r>
              </a:p>
              <a:p>
                <a:pPr marL="457200" indent="-457200">
                  <a:buAutoNum type="arabicParenR"/>
                </a:pPr>
                <a:endParaRPr lang="en-AU" sz="2200" dirty="0">
                  <a:solidFill>
                    <a:prstClr val="black"/>
                  </a:solidFill>
                </a:endParaRPr>
              </a:p>
              <a:p>
                <a:pPr marL="457200" indent="-457200">
                  <a:buAutoNum type="arabicParenR"/>
                </a:pPr>
                <a:endParaRPr lang="en-AU" sz="2200" dirty="0" smtClean="0">
                  <a:solidFill>
                    <a:prstClr val="black"/>
                  </a:solidFill>
                </a:endParaRPr>
              </a:p>
              <a:p>
                <a:pPr marL="457200" indent="-457200">
                  <a:buAutoNum type="arabicParenR"/>
                </a:pPr>
                <a:endParaRPr lang="en-AU" sz="2200" dirty="0">
                  <a:solidFill>
                    <a:prstClr val="black"/>
                  </a:solidFill>
                </a:endParaRPr>
              </a:p>
              <a:p>
                <a:r>
                  <a:rPr lang="en-AU" sz="2200" dirty="0" smtClean="0">
                    <a:solidFill>
                      <a:srgbClr val="C00000"/>
                    </a:solidFill>
                  </a:rPr>
                  <a:t>Remember to convert an improper fraction to a mixed numeral</a:t>
                </a:r>
                <a:r>
                  <a:rPr lang="en-AU" sz="2200" dirty="0">
                    <a:solidFill>
                      <a:srgbClr val="C00000"/>
                    </a:solidFill>
                    <a:sym typeface="Wingdings" panose="05000000000000000000" pitchFamily="2" charset="2"/>
                  </a:rPr>
                  <a:t> </a:t>
                </a:r>
                <a:r>
                  <a:rPr lang="en-AU" sz="2200" dirty="0">
                    <a:sym typeface="Wingdings" panose="05000000000000000000" pitchFamily="2" charset="2"/>
                  </a:rPr>
                  <a:t>w</a:t>
                </a:r>
                <a:r>
                  <a:rPr lang="en-AU" sz="2200" dirty="0" smtClean="0">
                    <a:solidFill>
                      <a:prstClr val="black"/>
                    </a:solidFill>
                    <a:sym typeface="Wingdings" panose="05000000000000000000" pitchFamily="2" charset="2"/>
                  </a:rPr>
                  <a:t>e need to divide the numerator by the denominator and write the remainder as  a proper fraction.</a:t>
                </a:r>
              </a:p>
              <a:p>
                <a:r>
                  <a:rPr lang="en-AU" sz="2200" dirty="0" err="1" smtClean="0">
                    <a:solidFill>
                      <a:prstClr val="black"/>
                    </a:solidFill>
                    <a:sym typeface="Wingdings" panose="05000000000000000000" pitchFamily="2" charset="2"/>
                  </a:rPr>
                  <a:t>Eg</a:t>
                </a:r>
                <a:r>
                  <a:rPr lang="en-AU" sz="2200" dirty="0" smtClean="0">
                    <a:solidFill>
                      <a:prstClr val="black"/>
                    </a:solidFill>
                    <a:sym typeface="Wingdings" panose="05000000000000000000" pitchFamily="2" charset="2"/>
                  </a:rPr>
                  <a:t>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2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AU" sz="2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38</m:t>
                        </m:r>
                      </m:num>
                      <m:den>
                        <m:r>
                          <a:rPr lang="en-AU" sz="2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</m:t>
                        </m:r>
                      </m:den>
                    </m:f>
                  </m:oMath>
                </a14:m>
                <a:r>
                  <a:rPr lang="en-AU" sz="2200" dirty="0" smtClean="0">
                    <a:solidFill>
                      <a:prstClr val="black"/>
                    </a:solidFill>
                    <a:sym typeface="Wingdings" panose="05000000000000000000" pitchFamily="2" charset="2"/>
                  </a:rPr>
                  <a:t> =			12 remainder 2	=	12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2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AU" sz="2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num>
                      <m:den>
                        <m:r>
                          <a:rPr lang="en-AU" sz="2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</m:t>
                        </m:r>
                      </m:den>
                    </m:f>
                  </m:oMath>
                </a14:m>
                <a:endParaRPr lang="en-AU" sz="2200" dirty="0" smtClean="0">
                  <a:solidFill>
                    <a:prstClr val="black"/>
                  </a:solidFill>
                  <a:sym typeface="Wingdings" panose="05000000000000000000" pitchFamily="2" charset="2"/>
                </a:endParaRPr>
              </a:p>
              <a:p>
                <a:endParaRPr lang="en-AU" sz="2200" dirty="0">
                  <a:solidFill>
                    <a:prstClr val="black"/>
                  </a:solidFill>
                  <a:sym typeface="Wingdings" panose="05000000000000000000" pitchFamily="2" charset="2"/>
                </a:endParaRPr>
              </a:p>
              <a:p>
                <a:endParaRPr lang="en-AU" sz="22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6535" y="571500"/>
                <a:ext cx="9165465" cy="6809556"/>
              </a:xfrm>
              <a:prstGeom prst="rect">
                <a:avLst/>
              </a:prstGeom>
              <a:blipFill rotWithShape="0">
                <a:blip r:embed="rId2"/>
                <a:stretch>
                  <a:fillRect l="-864" t="-627" r="-119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122567" y="714375"/>
            <a:ext cx="27492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sz="2200" dirty="0">
              <a:solidFill>
                <a:prstClr val="black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22567" y="714375"/>
            <a:ext cx="2749221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 smtClean="0"/>
          </a:p>
          <a:p>
            <a:endParaRPr lang="en-AU" sz="2200" dirty="0"/>
          </a:p>
          <a:p>
            <a:endParaRPr lang="en-AU" sz="2200" dirty="0" smtClean="0"/>
          </a:p>
          <a:p>
            <a:endParaRPr lang="en-AU" sz="2200" dirty="0"/>
          </a:p>
          <a:p>
            <a:endParaRPr lang="en-AU" sz="2200" dirty="0" smtClean="0"/>
          </a:p>
          <a:p>
            <a:endParaRPr lang="en-AU" sz="2200" dirty="0"/>
          </a:p>
          <a:p>
            <a:endParaRPr lang="en-AU" sz="2200" dirty="0" smtClean="0"/>
          </a:p>
        </p:txBody>
      </p:sp>
      <p:sp>
        <p:nvSpPr>
          <p:cNvPr id="11" name="TextBox 10"/>
          <p:cNvSpPr txBox="1"/>
          <p:nvPr/>
        </p:nvSpPr>
        <p:spPr>
          <a:xfrm>
            <a:off x="11565228" y="6400800"/>
            <a:ext cx="520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prstClr val="black"/>
                </a:solidFill>
              </a:rPr>
              <a:t>23</a:t>
            </a:r>
            <a:endParaRPr lang="en-A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4494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75" t="15023" r="5623" b="20564"/>
          <a:stretch/>
        </p:blipFill>
        <p:spPr>
          <a:xfrm>
            <a:off x="2343954" y="103030"/>
            <a:ext cx="6967471" cy="6620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142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908879" y="407510"/>
                <a:ext cx="10367493" cy="7631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3600" u="sng" dirty="0" smtClean="0">
                    <a:solidFill>
                      <a:prstClr val="black"/>
                    </a:solidFill>
                  </a:rPr>
                  <a:t>10 Quick Questions</a:t>
                </a:r>
              </a:p>
              <a:p>
                <a:pPr algn="ctr"/>
                <a:endParaRPr lang="en-AU" sz="1200" u="sng" dirty="0" smtClean="0">
                  <a:solidFill>
                    <a:prstClr val="black"/>
                  </a:solidFill>
                </a:endParaRPr>
              </a:p>
              <a:p>
                <a:r>
                  <a:rPr lang="en-AU" sz="2400" dirty="0" smtClean="0">
                    <a:solidFill>
                      <a:prstClr val="black"/>
                    </a:solidFill>
                  </a:rPr>
                  <a:t>			1. 	23 x </a:t>
                </a:r>
                <a:r>
                  <a:rPr lang="en-AU" sz="2400" dirty="0">
                    <a:solidFill>
                      <a:prstClr val="black"/>
                    </a:solidFill>
                  </a:rPr>
                  <a:t>5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 =</a:t>
                </a: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		2.	2165 – 889 =</a:t>
                </a:r>
              </a:p>
              <a:p>
                <a:r>
                  <a:rPr lang="en-AU" sz="2400" dirty="0" smtClean="0">
                    <a:solidFill>
                      <a:prstClr val="black"/>
                    </a:solidFill>
                  </a:rPr>
                  <a:t>			3. 	1912 + 796 =</a:t>
                </a: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		4. 	5624 ÷ </a:t>
                </a:r>
                <a:r>
                  <a:rPr lang="en-AU" sz="2400" dirty="0">
                    <a:solidFill>
                      <a:prstClr val="black"/>
                    </a:solidFill>
                  </a:rPr>
                  <a:t>8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 =</a:t>
                </a: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		5. 	Round 103.874 to 2 </a:t>
                </a:r>
                <a:r>
                  <a:rPr lang="en-AU" sz="2400" dirty="0" err="1" smtClean="0">
                    <a:solidFill>
                      <a:prstClr val="black"/>
                    </a:solidFill>
                  </a:rPr>
                  <a:t>d.p</a:t>
                </a:r>
                <a:endParaRPr lang="en-AU" sz="2400" dirty="0" smtClean="0">
                  <a:solidFill>
                    <a:prstClr val="black"/>
                  </a:solidFill>
                </a:endParaRP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		6.	Round 387 to the nearest hundred</a:t>
                </a: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		7. 	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3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AU" sz="2400" dirty="0" smtClean="0">
                  <a:solidFill>
                    <a:prstClr val="black"/>
                  </a:solidFill>
                </a:endParaRP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		8. 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a:rPr lang="en-AU" sz="24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AU" sz="24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63</m:t>
                    </m:r>
                  </m:oMath>
                </a14:m>
                <a:endParaRPr lang="en-AU" sz="2400" dirty="0" smtClean="0">
                  <a:solidFill>
                    <a:prstClr val="black"/>
                  </a:solidFill>
                </a:endParaRP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		9.	Find the perimeter</a:t>
                </a:r>
              </a:p>
              <a:p>
                <a:endParaRPr lang="en-AU" sz="2400" dirty="0" smtClean="0">
                  <a:solidFill>
                    <a:prstClr val="black"/>
                  </a:solidFill>
                </a:endParaRP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		10.	Find the area</a:t>
                </a: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				</a:t>
                </a:r>
              </a:p>
              <a:p>
                <a:endParaRPr lang="en-AU" sz="2400" dirty="0" smtClean="0">
                  <a:solidFill>
                    <a:prstClr val="black"/>
                  </a:solidFill>
                </a:endParaRPr>
              </a:p>
              <a:p>
                <a:r>
                  <a:rPr lang="en-AU" sz="2400" dirty="0" smtClean="0">
                    <a:solidFill>
                      <a:prstClr val="black"/>
                    </a:solidFill>
                  </a:rPr>
                  <a:t> </a:t>
                </a:r>
              </a:p>
              <a:p>
                <a:endParaRPr lang="en-AU" sz="2400" dirty="0" smtClean="0">
                  <a:solidFill>
                    <a:prstClr val="black"/>
                  </a:solidFill>
                </a:endParaRPr>
              </a:p>
              <a:p>
                <a:r>
                  <a:rPr lang="en-AU" sz="2400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	</a:t>
                </a:r>
                <a:r>
                  <a:rPr lang="en-AU" sz="2400" dirty="0" smtClean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		</a:t>
                </a:r>
              </a:p>
              <a:p>
                <a:r>
                  <a:rPr lang="en-AU" sz="2400" dirty="0" smtClean="0">
                    <a:solidFill>
                      <a:prstClr val="black"/>
                    </a:solidFill>
                  </a:rPr>
                  <a:t>			</a:t>
                </a:r>
              </a:p>
              <a:p>
                <a:pPr algn="ctr"/>
                <a:endParaRPr lang="en-AU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879" y="407510"/>
                <a:ext cx="10367493" cy="7631769"/>
              </a:xfrm>
              <a:prstGeom prst="rect">
                <a:avLst/>
              </a:prstGeom>
              <a:blipFill rotWithShape="0">
                <a:blip r:embed="rId2"/>
                <a:stretch>
                  <a:fillRect t="-127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57733"/>
            <a:ext cx="2994807" cy="299480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5589" y="4026526"/>
            <a:ext cx="1877492" cy="135684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4002" y="5430925"/>
            <a:ext cx="1877492" cy="135684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37898" y="4520281"/>
            <a:ext cx="1004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3cm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7633346" y="4038728"/>
            <a:ext cx="1004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7cm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5396942" y="6467874"/>
            <a:ext cx="1004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8</a:t>
            </a:r>
            <a:r>
              <a:rPr lang="en-AU" dirty="0" smtClean="0"/>
              <a:t>m</a:t>
            </a:r>
            <a:endParaRPr lang="en-AU" dirty="0"/>
          </a:p>
        </p:txBody>
      </p:sp>
      <p:sp>
        <p:nvSpPr>
          <p:cNvPr id="18" name="TextBox 17"/>
          <p:cNvSpPr txBox="1"/>
          <p:nvPr/>
        </p:nvSpPr>
        <p:spPr>
          <a:xfrm>
            <a:off x="5088073" y="5829730"/>
            <a:ext cx="1004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4m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5060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1035897"/>
            <a:ext cx="12192000" cy="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121920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223145" y="1916832"/>
            <a:ext cx="7431" cy="4941168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0" y="97178"/>
            <a:ext cx="74391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Title</a:t>
            </a:r>
            <a:r>
              <a:rPr lang="en-AU" sz="2400" dirty="0" smtClean="0">
                <a:solidFill>
                  <a:prstClr val="black"/>
                </a:solidFill>
              </a:rPr>
              <a:t>: Adding and Subtracting Fractions with</a:t>
            </a:r>
          </a:p>
          <a:p>
            <a:r>
              <a:rPr lang="en-AU" sz="2400" dirty="0">
                <a:solidFill>
                  <a:prstClr val="black"/>
                </a:solidFill>
              </a:rPr>
              <a:t> </a:t>
            </a:r>
            <a:r>
              <a:rPr lang="en-AU" sz="2400" dirty="0" smtClean="0">
                <a:solidFill>
                  <a:prstClr val="black"/>
                </a:solidFill>
              </a:rPr>
              <a:t>         </a:t>
            </a:r>
            <a:r>
              <a:rPr lang="en-AU" sz="2400" dirty="0">
                <a:solidFill>
                  <a:prstClr val="black"/>
                </a:solidFill>
              </a:rPr>
              <a:t>t</a:t>
            </a:r>
            <a:r>
              <a:rPr lang="en-AU" sz="2400" dirty="0" smtClean="0">
                <a:solidFill>
                  <a:prstClr val="black"/>
                </a:solidFill>
              </a:rPr>
              <a:t>he Related  Denominators</a:t>
            </a:r>
            <a:endParaRPr lang="en-AU" sz="2400" dirty="0">
              <a:solidFill>
                <a:prstClr val="black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878" y="1065325"/>
            <a:ext cx="120729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EQ </a:t>
            </a:r>
            <a:r>
              <a:rPr lang="en-AU" sz="2400" dirty="0" smtClean="0">
                <a:solidFill>
                  <a:prstClr val="black"/>
                </a:solidFill>
              </a:rPr>
              <a:t>: Explain the process of adding and subtracting fractions with the related denominators </a:t>
            </a:r>
            <a:endParaRPr lang="en-AU" sz="2400" dirty="0">
              <a:solidFill>
                <a:prstClr val="black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7752184" y="0"/>
            <a:ext cx="0" cy="98072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815" y="1879010"/>
            <a:ext cx="29158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Question</a:t>
            </a:r>
            <a:r>
              <a:rPr lang="en-AU" sz="2400" dirty="0" smtClean="0">
                <a:solidFill>
                  <a:prstClr val="black"/>
                </a:solidFill>
              </a:rPr>
              <a:t>:</a:t>
            </a:r>
          </a:p>
          <a:p>
            <a:endParaRPr lang="en-AU" sz="800" dirty="0" smtClean="0">
              <a:solidFill>
                <a:prstClr val="black"/>
              </a:solidFill>
            </a:endParaRPr>
          </a:p>
          <a:p>
            <a:endParaRPr lang="en-AU" sz="2400" dirty="0">
              <a:solidFill>
                <a:prstClr val="black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67725" y="85028"/>
            <a:ext cx="8640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</a:rPr>
              <a:t>24</a:t>
            </a:r>
          </a:p>
          <a:p>
            <a:r>
              <a:rPr lang="en-AU" dirty="0">
                <a:solidFill>
                  <a:prstClr val="black"/>
                </a:solidFill>
              </a:rPr>
              <a:t>7</a:t>
            </a:r>
          </a:p>
          <a:p>
            <a:r>
              <a:rPr lang="en-AU" dirty="0">
                <a:solidFill>
                  <a:prstClr val="black"/>
                </a:solidFill>
              </a:rPr>
              <a:t>30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1565228" y="6400800"/>
            <a:ext cx="520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prstClr val="black"/>
                </a:solidFill>
              </a:rPr>
              <a:t>25</a:t>
            </a:r>
            <a:endParaRPr lang="en-AU" dirty="0">
              <a:solidFill>
                <a:prstClr val="black"/>
              </a:solidFill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3226860" y="1954655"/>
            <a:ext cx="8715589" cy="4921475"/>
            <a:chOff x="3226860" y="1954655"/>
            <a:chExt cx="8715589" cy="492147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/>
                <p:cNvSpPr txBox="1"/>
                <p:nvPr/>
              </p:nvSpPr>
              <p:spPr>
                <a:xfrm>
                  <a:off x="3226860" y="1954655"/>
                  <a:ext cx="8715589" cy="49214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AU" sz="2400" dirty="0" smtClean="0">
                      <a:solidFill>
                        <a:prstClr val="black"/>
                      </a:solidFill>
                    </a:rPr>
                    <a:t>Notes:		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AU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AU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         </m:t>
                      </m:r>
                    </m:oMath>
                  </a14:m>
                  <a:r>
                    <a:rPr lang="en-AU" sz="2400" dirty="0" smtClean="0">
                      <a:solidFill>
                        <a:prstClr val="black"/>
                      </a:solidFill>
                    </a:rPr>
                    <a:t>+         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AU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a14:m>
                  <a:endParaRPr lang="en-AU" sz="2400" dirty="0" smtClean="0">
                    <a:solidFill>
                      <a:prstClr val="black"/>
                    </a:solidFill>
                  </a:endParaRPr>
                </a:p>
                <a:p>
                  <a:endParaRPr lang="en-AU" sz="2400" dirty="0" smtClean="0">
                    <a:solidFill>
                      <a:prstClr val="black"/>
                    </a:solidFill>
                  </a:endParaRPr>
                </a:p>
                <a:p>
                  <a:endParaRPr lang="en-AU" sz="2400" dirty="0" smtClean="0"/>
                </a:p>
                <a:p>
                  <a:endParaRPr lang="en-AU" sz="2400" dirty="0"/>
                </a:p>
                <a:p>
                  <a:r>
                    <a:rPr lang="en-AU" sz="2400" dirty="0" smtClean="0"/>
                    <a:t>1. We </a:t>
                  </a:r>
                  <a:r>
                    <a:rPr lang="en-AU" sz="2400" dirty="0"/>
                    <a:t>need to make them the same before we can continue, because we </a:t>
                  </a:r>
                  <a:r>
                    <a:rPr lang="en-AU" sz="2400" b="1" dirty="0"/>
                    <a:t>can't</a:t>
                  </a:r>
                  <a:r>
                    <a:rPr lang="en-AU" sz="2400" dirty="0"/>
                    <a:t> add them like that</a:t>
                  </a:r>
                  <a:r>
                    <a:rPr lang="en-AU" sz="2400" dirty="0" smtClean="0"/>
                    <a:t>.</a:t>
                  </a:r>
                </a:p>
                <a:p>
                  <a:endParaRPr lang="en-AU" sz="1600" dirty="0"/>
                </a:p>
                <a:p>
                  <a:r>
                    <a:rPr lang="en-AU" sz="2400" dirty="0"/>
                    <a:t>The number "6" is twice as big as "3", so to make the bottom numbers the same we can multiply the top and bottom of the first fraction by </a:t>
                  </a:r>
                  <a:r>
                    <a:rPr lang="en-AU" sz="2400" b="1" dirty="0"/>
                    <a:t>2</a:t>
                  </a:r>
                  <a:r>
                    <a:rPr lang="en-AU" sz="2400" dirty="0"/>
                    <a:t>, like this:</a:t>
                  </a:r>
                </a:p>
                <a:p>
                  <a:pPr algn="ctr"/>
                  <a14:m>
                    <m:oMath xmlns:m="http://schemas.openxmlformats.org/officeDocument/2006/math">
                      <m:f>
                        <m:fPr>
                          <m:ctrlPr>
                            <a:rPr lang="en-AU" sz="28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a14:m>
                  <a:r>
                    <a:rPr lang="en-AU" sz="2800" dirty="0" smtClean="0">
                      <a:solidFill>
                        <a:prstClr val="black"/>
                      </a:solidFill>
                    </a:rPr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AU" sz="28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a14:m>
                  <a:endParaRPr lang="en-AU" sz="2800" dirty="0" smtClean="0">
                    <a:solidFill>
                      <a:prstClr val="black"/>
                    </a:solidFill>
                  </a:endParaRPr>
                </a:p>
                <a:p>
                  <a:r>
                    <a:rPr lang="en-AU" sz="3200" dirty="0" smtClean="0">
                      <a:solidFill>
                        <a:prstClr val="black"/>
                      </a:solidFill>
                    </a:rPr>
                    <a:t>			</a:t>
                  </a:r>
                </a:p>
              </p:txBody>
            </p:sp>
          </mc:Choice>
          <mc:Fallback xmlns="">
            <p:sp>
              <p:nvSpPr>
                <p:cNvPr id="13" name="TextBox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6860" y="1954655"/>
                  <a:ext cx="8715589" cy="4921475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l="-1049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50415" y="2519876"/>
              <a:ext cx="1143000" cy="1143000"/>
            </a:xfrm>
            <a:prstGeom prst="rect">
              <a:avLst/>
            </a:prstGeom>
          </p:spPr>
        </p:pic>
        <p:pic>
          <p:nvPicPr>
            <p:cNvPr id="24" name="Picture 23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97435" y="2572904"/>
              <a:ext cx="1057275" cy="1057275"/>
            </a:xfrm>
            <a:prstGeom prst="rect">
              <a:avLst/>
            </a:prstGeom>
          </p:spPr>
        </p:pic>
        <p:pic>
          <p:nvPicPr>
            <p:cNvPr id="25" name="Picture 24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02104" y="2561447"/>
              <a:ext cx="1066800" cy="1057275"/>
            </a:xfrm>
            <a:prstGeom prst="rect">
              <a:avLst/>
            </a:prstGeom>
          </p:spPr>
        </p:pic>
      </p:grpSp>
      <p:sp>
        <p:nvSpPr>
          <p:cNvPr id="26" name="TextBox 25"/>
          <p:cNvSpPr txBox="1"/>
          <p:nvPr/>
        </p:nvSpPr>
        <p:spPr>
          <a:xfrm>
            <a:off x="5820593" y="2792603"/>
            <a:ext cx="5606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94520" y="2792603"/>
            <a:ext cx="5606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 smtClean="0"/>
              <a:t>=</a:t>
            </a:r>
            <a:endParaRPr lang="en-AU" sz="3200" dirty="0"/>
          </a:p>
        </p:txBody>
      </p:sp>
      <p:sp>
        <p:nvSpPr>
          <p:cNvPr id="30" name="Curved Down Arrow 29"/>
          <p:cNvSpPr/>
          <p:nvPr/>
        </p:nvSpPr>
        <p:spPr>
          <a:xfrm>
            <a:off x="7351211" y="5514947"/>
            <a:ext cx="518594" cy="193184"/>
          </a:xfrm>
          <a:prstGeom prst="curved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31" name="Curved Up Arrow 30"/>
          <p:cNvSpPr/>
          <p:nvPr/>
        </p:nvSpPr>
        <p:spPr>
          <a:xfrm>
            <a:off x="7331821" y="6308467"/>
            <a:ext cx="518594" cy="184666"/>
          </a:xfrm>
          <a:prstGeom prst="curvedUp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024" name="TextBox 1023"/>
          <p:cNvSpPr txBox="1"/>
          <p:nvPr/>
        </p:nvSpPr>
        <p:spPr>
          <a:xfrm>
            <a:off x="7610508" y="6412669"/>
            <a:ext cx="450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x2</a:t>
            </a:r>
            <a:endParaRPr lang="en-AU" dirty="0"/>
          </a:p>
        </p:txBody>
      </p:sp>
      <p:sp>
        <p:nvSpPr>
          <p:cNvPr id="38" name="TextBox 37"/>
          <p:cNvSpPr txBox="1"/>
          <p:nvPr/>
        </p:nvSpPr>
        <p:spPr>
          <a:xfrm>
            <a:off x="7260526" y="5228556"/>
            <a:ext cx="450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x2</a:t>
            </a:r>
            <a:endParaRPr lang="en-AU" dirty="0"/>
          </a:p>
        </p:txBody>
      </p:sp>
      <p:sp>
        <p:nvSpPr>
          <p:cNvPr id="1030" name="TextBox 1029"/>
          <p:cNvSpPr txBox="1"/>
          <p:nvPr/>
        </p:nvSpPr>
        <p:spPr>
          <a:xfrm>
            <a:off x="76435" y="3714051"/>
            <a:ext cx="311144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/>
              <a:t>What is the first step in the process?</a:t>
            </a:r>
          </a:p>
          <a:p>
            <a:endParaRPr lang="en-AU" sz="2000" dirty="0"/>
          </a:p>
          <a:p>
            <a:r>
              <a:rPr lang="en-AU" sz="2000" dirty="0" smtClean="0"/>
              <a:t>How do we convert the numerator and denominator?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2852705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3026535" y="0"/>
            <a:ext cx="0" cy="68580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122567" y="0"/>
            <a:ext cx="140269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Question:</a:t>
            </a:r>
          </a:p>
        </p:txBody>
      </p:sp>
      <p:sp>
        <p:nvSpPr>
          <p:cNvPr id="6" name="Rectangle 5"/>
          <p:cNvSpPr/>
          <p:nvPr/>
        </p:nvSpPr>
        <p:spPr>
          <a:xfrm>
            <a:off x="3026535" y="-1"/>
            <a:ext cx="10004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Notes: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590251"/>
            <a:ext cx="121920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026535" y="571500"/>
                <a:ext cx="9165465" cy="52028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AU" sz="2400" dirty="0" smtClean="0">
                  <a:solidFill>
                    <a:srgbClr val="7030A0"/>
                  </a:solidFill>
                </a:endParaRPr>
              </a:p>
              <a:p>
                <a:r>
                  <a:rPr lang="en-AU" sz="2400" dirty="0" smtClean="0">
                    <a:solidFill>
                      <a:srgbClr val="7030A0"/>
                    </a:solidFill>
                  </a:rPr>
                  <a:t>Important</a:t>
                </a:r>
                <a:r>
                  <a:rPr lang="en-AU" sz="2400" dirty="0"/>
                  <a:t>: you multiply </a:t>
                </a:r>
                <a:r>
                  <a:rPr lang="en-AU" sz="2400" b="1" dirty="0"/>
                  <a:t>both top and bottom</a:t>
                </a:r>
                <a:r>
                  <a:rPr lang="en-AU" sz="2400" dirty="0"/>
                  <a:t> by the same amount, </a:t>
                </a:r>
                <a:br>
                  <a:rPr lang="en-AU" sz="2400" dirty="0"/>
                </a:br>
                <a:r>
                  <a:rPr lang="en-AU" sz="2400" dirty="0"/>
                  <a:t>to keep the value of the fraction the </a:t>
                </a:r>
                <a:r>
                  <a:rPr lang="en-AU" sz="2400" dirty="0" smtClean="0"/>
                  <a:t>same</a:t>
                </a:r>
              </a:p>
              <a:p>
                <a:endParaRPr lang="en-AU" sz="2400" dirty="0">
                  <a:solidFill>
                    <a:prstClr val="black"/>
                  </a:solidFill>
                  <a:sym typeface="Wingdings" panose="05000000000000000000" pitchFamily="2" charset="2"/>
                </a:endParaRPr>
              </a:p>
              <a:p>
                <a:r>
                  <a:rPr lang="en-AU" sz="2400" dirty="0"/>
                  <a:t>Now the fractions have the same bottom number ("6"), and our question looks like this</a:t>
                </a:r>
                <a:r>
                  <a:rPr lang="en-AU" sz="2400" dirty="0" smtClean="0"/>
                  <a:t>:</a:t>
                </a:r>
              </a:p>
              <a:p>
                <a:r>
                  <a:rPr lang="en-AU" sz="2400" dirty="0"/>
                  <a:t>	</a:t>
                </a:r>
                <a:r>
                  <a:rPr lang="en-AU" sz="2400" dirty="0" smtClean="0"/>
                  <a:t>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         </m:t>
                    </m:r>
                  </m:oMath>
                </a14:m>
                <a:r>
                  <a:rPr lang="en-AU" sz="2400" dirty="0">
                    <a:solidFill>
                      <a:prstClr val="black"/>
                    </a:solidFill>
                  </a:rPr>
                  <a:t>+   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lang="en-AU" sz="2400" dirty="0" smtClean="0"/>
              </a:p>
              <a:p>
                <a:endParaRPr lang="en-AU" sz="2200" dirty="0" smtClean="0">
                  <a:solidFill>
                    <a:prstClr val="black"/>
                  </a:solidFill>
                  <a:sym typeface="Wingdings" panose="05000000000000000000" pitchFamily="2" charset="2"/>
                </a:endParaRPr>
              </a:p>
              <a:p>
                <a:endParaRPr lang="en-AU" sz="2200" dirty="0" smtClean="0">
                  <a:solidFill>
                    <a:prstClr val="black"/>
                  </a:solidFill>
                  <a:sym typeface="Wingdings" panose="05000000000000000000" pitchFamily="2" charset="2"/>
                </a:endParaRPr>
              </a:p>
              <a:p>
                <a:endParaRPr lang="en-AU" sz="2200" dirty="0">
                  <a:solidFill>
                    <a:prstClr val="black"/>
                  </a:solidFill>
                  <a:sym typeface="Wingdings" panose="05000000000000000000" pitchFamily="2" charset="2"/>
                </a:endParaRPr>
              </a:p>
              <a:p>
                <a:endParaRPr lang="en-AU" sz="2200" dirty="0" smtClean="0">
                  <a:solidFill>
                    <a:prstClr val="black"/>
                  </a:solidFill>
                  <a:sym typeface="Wingdings" panose="05000000000000000000" pitchFamily="2" charset="2"/>
                </a:endParaRPr>
              </a:p>
              <a:p>
                <a:r>
                  <a:rPr lang="en-AU" sz="2200" dirty="0" smtClean="0">
                    <a:solidFill>
                      <a:prstClr val="black"/>
                    </a:solidFill>
                    <a:sym typeface="Wingdings" panose="05000000000000000000" pitchFamily="2" charset="2"/>
                  </a:rPr>
                  <a:t>We can now add and subtract like we did for fractions with the same denominator</a:t>
                </a:r>
                <a:endParaRPr lang="en-AU" sz="2200" dirty="0">
                  <a:solidFill>
                    <a:prstClr val="black"/>
                  </a:solidFill>
                  <a:sym typeface="Wingdings" panose="05000000000000000000" pitchFamily="2" charset="2"/>
                </a:endParaRPr>
              </a:p>
              <a:p>
                <a:endParaRPr lang="en-AU" sz="22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6535" y="571500"/>
                <a:ext cx="9165465" cy="5202835"/>
              </a:xfrm>
              <a:prstGeom prst="rect">
                <a:avLst/>
              </a:prstGeom>
              <a:blipFill rotWithShape="0">
                <a:blip r:embed="rId2"/>
                <a:stretch>
                  <a:fillRect l="-99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122567" y="714375"/>
            <a:ext cx="27492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sz="2200" dirty="0">
              <a:solidFill>
                <a:prstClr val="black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22567" y="714375"/>
            <a:ext cx="2749221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 smtClean="0"/>
          </a:p>
          <a:p>
            <a:endParaRPr lang="en-AU" sz="2200" dirty="0"/>
          </a:p>
          <a:p>
            <a:endParaRPr lang="en-AU" sz="2200" dirty="0" smtClean="0"/>
          </a:p>
          <a:p>
            <a:endParaRPr lang="en-AU" sz="2200" dirty="0"/>
          </a:p>
          <a:p>
            <a:endParaRPr lang="en-AU" sz="2200" dirty="0" smtClean="0"/>
          </a:p>
          <a:p>
            <a:endParaRPr lang="en-AU" sz="2200" dirty="0"/>
          </a:p>
          <a:p>
            <a:endParaRPr lang="en-AU" sz="2200" dirty="0" smtClean="0"/>
          </a:p>
        </p:txBody>
      </p:sp>
      <p:sp>
        <p:nvSpPr>
          <p:cNvPr id="11" name="TextBox 10"/>
          <p:cNvSpPr txBox="1"/>
          <p:nvPr/>
        </p:nvSpPr>
        <p:spPr>
          <a:xfrm>
            <a:off x="11565228" y="6400800"/>
            <a:ext cx="520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prstClr val="black"/>
                </a:solidFill>
              </a:rPr>
              <a:t>25</a:t>
            </a:r>
            <a:endParaRPr lang="en-AU" dirty="0">
              <a:solidFill>
                <a:prstClr val="black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0132" y="3438525"/>
            <a:ext cx="1066800" cy="10572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2699" y="3429000"/>
            <a:ext cx="1066800" cy="1066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992" y="1009599"/>
            <a:ext cx="3026534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/>
              <a:t>Why do we multiply both the top and bottom?</a:t>
            </a:r>
          </a:p>
          <a:p>
            <a:endParaRPr lang="en-AU" sz="2000" dirty="0"/>
          </a:p>
          <a:p>
            <a:endParaRPr lang="en-AU" sz="2000" dirty="0" smtClean="0"/>
          </a:p>
          <a:p>
            <a:endParaRPr lang="en-AU" sz="2000" dirty="0"/>
          </a:p>
          <a:p>
            <a:endParaRPr lang="en-AU" sz="2000" dirty="0" smtClean="0"/>
          </a:p>
          <a:p>
            <a:endParaRPr lang="en-AU" sz="2000" dirty="0"/>
          </a:p>
          <a:p>
            <a:endParaRPr lang="en-AU" sz="2000" dirty="0" smtClean="0"/>
          </a:p>
          <a:p>
            <a:endParaRPr lang="en-AU" sz="2000" dirty="0"/>
          </a:p>
          <a:p>
            <a:endParaRPr lang="en-AU" sz="2000" dirty="0" smtClean="0"/>
          </a:p>
          <a:p>
            <a:endParaRPr lang="en-AU" sz="2000" dirty="0"/>
          </a:p>
          <a:p>
            <a:endParaRPr lang="en-AU" sz="2000" dirty="0" smtClean="0"/>
          </a:p>
          <a:p>
            <a:r>
              <a:rPr lang="en-AU" sz="2000" dirty="0" smtClean="0"/>
              <a:t>What is the final step?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3474971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908879" y="407510"/>
                <a:ext cx="10367493" cy="7631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3600" u="sng" dirty="0" smtClean="0">
                    <a:solidFill>
                      <a:prstClr val="black"/>
                    </a:solidFill>
                  </a:rPr>
                  <a:t>10 Quick Questions</a:t>
                </a:r>
              </a:p>
              <a:p>
                <a:pPr algn="ctr"/>
                <a:endParaRPr lang="en-AU" sz="1200" u="sng" dirty="0" smtClean="0">
                  <a:solidFill>
                    <a:prstClr val="black"/>
                  </a:solidFill>
                </a:endParaRPr>
              </a:p>
              <a:p>
                <a:r>
                  <a:rPr lang="en-AU" sz="2400" dirty="0" smtClean="0">
                    <a:solidFill>
                      <a:prstClr val="black"/>
                    </a:solidFill>
                  </a:rPr>
                  <a:t>			1. 	31 x 6 =</a:t>
                </a: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		2.	2352 – 768 =</a:t>
                </a:r>
              </a:p>
              <a:p>
                <a:r>
                  <a:rPr lang="en-AU" sz="2400" dirty="0" smtClean="0">
                    <a:solidFill>
                      <a:prstClr val="black"/>
                    </a:solidFill>
                  </a:rPr>
                  <a:t>			3. 	2124 + 971 =</a:t>
                </a: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		4. 	56714 ÷ </a:t>
                </a:r>
                <a:r>
                  <a:rPr lang="en-AU" sz="2400" dirty="0">
                    <a:solidFill>
                      <a:prstClr val="black"/>
                    </a:solidFill>
                  </a:rPr>
                  <a:t>7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 =</a:t>
                </a: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		5. 	Round 52.1982 to 2 </a:t>
                </a:r>
                <a:r>
                  <a:rPr lang="en-AU" sz="2400" dirty="0" err="1" smtClean="0">
                    <a:solidFill>
                      <a:prstClr val="black"/>
                    </a:solidFill>
                  </a:rPr>
                  <a:t>d.p</a:t>
                </a:r>
                <a:endParaRPr lang="en-AU" sz="2400" dirty="0" smtClean="0">
                  <a:solidFill>
                    <a:prstClr val="black"/>
                  </a:solidFill>
                </a:endParaRP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		6.	Round 576 to the nearest ten</a:t>
                </a: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		7. 	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+6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−3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AU" sz="2400" dirty="0" smtClean="0">
                  <a:solidFill>
                    <a:prstClr val="black"/>
                  </a:solidFill>
                </a:endParaRP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		8. 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sz="24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AU" sz="24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endParaRPr lang="en-AU" sz="2400" dirty="0" smtClean="0">
                  <a:solidFill>
                    <a:prstClr val="black"/>
                  </a:solidFill>
                </a:endParaRP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		9.	Find the perimeter</a:t>
                </a:r>
              </a:p>
              <a:p>
                <a:endParaRPr lang="en-AU" sz="2400" dirty="0" smtClean="0">
                  <a:solidFill>
                    <a:prstClr val="black"/>
                  </a:solidFill>
                </a:endParaRP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		10.	Find the area</a:t>
                </a: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				</a:t>
                </a:r>
              </a:p>
              <a:p>
                <a:endParaRPr lang="en-AU" sz="2400" dirty="0" smtClean="0">
                  <a:solidFill>
                    <a:prstClr val="black"/>
                  </a:solidFill>
                </a:endParaRPr>
              </a:p>
              <a:p>
                <a:r>
                  <a:rPr lang="en-AU" sz="2400" dirty="0" smtClean="0">
                    <a:solidFill>
                      <a:prstClr val="black"/>
                    </a:solidFill>
                  </a:rPr>
                  <a:t> </a:t>
                </a:r>
              </a:p>
              <a:p>
                <a:endParaRPr lang="en-AU" sz="2400" dirty="0" smtClean="0">
                  <a:solidFill>
                    <a:prstClr val="black"/>
                  </a:solidFill>
                </a:endParaRPr>
              </a:p>
              <a:p>
                <a:r>
                  <a:rPr lang="en-AU" sz="2400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	</a:t>
                </a:r>
                <a:r>
                  <a:rPr lang="en-AU" sz="2400" dirty="0" smtClean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		</a:t>
                </a:r>
              </a:p>
              <a:p>
                <a:r>
                  <a:rPr lang="en-AU" sz="2400" dirty="0" smtClean="0">
                    <a:solidFill>
                      <a:prstClr val="black"/>
                    </a:solidFill>
                  </a:rPr>
                  <a:t>			</a:t>
                </a:r>
              </a:p>
              <a:p>
                <a:pPr algn="ctr"/>
                <a:endParaRPr lang="en-AU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879" y="407510"/>
                <a:ext cx="10367493" cy="7631769"/>
              </a:xfrm>
              <a:prstGeom prst="rect">
                <a:avLst/>
              </a:prstGeom>
              <a:blipFill rotWithShape="0">
                <a:blip r:embed="rId2"/>
                <a:stretch>
                  <a:fillRect t="-127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57733"/>
            <a:ext cx="2994807" cy="299480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5589" y="4026526"/>
            <a:ext cx="1877492" cy="135684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4002" y="5430925"/>
            <a:ext cx="1877492" cy="135684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37898" y="4520281"/>
            <a:ext cx="1004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  <a:r>
              <a:rPr lang="en-AU" dirty="0" smtClean="0"/>
              <a:t>mm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7633346" y="4038728"/>
            <a:ext cx="1004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6mm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5396942" y="6467874"/>
            <a:ext cx="1004552" cy="3777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55" dirty="0" smtClean="0"/>
              <a:t>9cm</a:t>
            </a:r>
            <a:endParaRPr lang="en-AU" sz="1855" dirty="0"/>
          </a:p>
        </p:txBody>
      </p:sp>
      <p:sp>
        <p:nvSpPr>
          <p:cNvPr id="18" name="TextBox 17"/>
          <p:cNvSpPr txBox="1"/>
          <p:nvPr/>
        </p:nvSpPr>
        <p:spPr>
          <a:xfrm>
            <a:off x="5088073" y="5829730"/>
            <a:ext cx="1004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7cm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52705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908879" y="407510"/>
                <a:ext cx="10367493" cy="81573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3600" u="sng" dirty="0" smtClean="0">
                    <a:solidFill>
                      <a:prstClr val="black"/>
                    </a:solidFill>
                  </a:rPr>
                  <a:t>10 Quick Questions</a:t>
                </a:r>
              </a:p>
              <a:p>
                <a:pPr algn="ctr"/>
                <a:endParaRPr lang="en-AU" sz="1200" u="sng" dirty="0" smtClean="0">
                  <a:solidFill>
                    <a:prstClr val="black"/>
                  </a:solidFill>
                </a:endParaRPr>
              </a:p>
              <a:p>
                <a:r>
                  <a:rPr lang="en-AU" sz="2400" dirty="0" smtClean="0">
                    <a:solidFill>
                      <a:prstClr val="black"/>
                    </a:solidFill>
                  </a:rPr>
                  <a:t>			1. 	43 x 8 =</a:t>
                </a: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		2.	3268 – 892=</a:t>
                </a:r>
              </a:p>
              <a:p>
                <a:r>
                  <a:rPr lang="en-AU" sz="2400" dirty="0" smtClean="0">
                    <a:solidFill>
                      <a:prstClr val="black"/>
                    </a:solidFill>
                  </a:rPr>
                  <a:t>			3. 	3817 + 1492 =</a:t>
                </a: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		4. 	5648 ÷ </a:t>
                </a:r>
                <a:r>
                  <a:rPr lang="en-AU" sz="2400" dirty="0">
                    <a:solidFill>
                      <a:prstClr val="black"/>
                    </a:solidFill>
                  </a:rPr>
                  <a:t>8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 =</a:t>
                </a: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		5. 	Round to 0.98725 </a:t>
                </a:r>
                <a:r>
                  <a:rPr lang="en-AU" sz="2400" dirty="0">
                    <a:solidFill>
                      <a:prstClr val="black"/>
                    </a:solidFill>
                  </a:rPr>
                  <a:t>3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 </a:t>
                </a:r>
                <a:r>
                  <a:rPr lang="en-AU" sz="2400" dirty="0" err="1" smtClean="0">
                    <a:solidFill>
                      <a:prstClr val="black"/>
                    </a:solidFill>
                  </a:rPr>
                  <a:t>d.p</a:t>
                </a:r>
                <a:endParaRPr lang="en-AU" sz="2400" dirty="0" smtClean="0">
                  <a:solidFill>
                    <a:prstClr val="black"/>
                  </a:solidFill>
                </a:endParaRP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		6.</a:t>
                </a:r>
                <a:r>
                  <a:rPr lang="en-AU" sz="2400" dirty="0">
                    <a:solidFill>
                      <a:prstClr val="black"/>
                    </a:solidFill>
                  </a:rPr>
                  <a:t>	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Write 3 hundredths as a fraction</a:t>
                </a: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		7. 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5 </m:t>
                        </m:r>
                      </m:den>
                    </m:f>
                  </m:oMath>
                </a14:m>
                <a:r>
                  <a:rPr lang="en-AU" sz="2400" dirty="0" smtClean="0">
                    <a:solidFill>
                      <a:prstClr val="black"/>
                    </a:solidFill>
                  </a:rPr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sz="2400" dirty="0" smtClean="0">
                  <a:solidFill>
                    <a:prstClr val="black"/>
                  </a:solidFill>
                </a:endParaRPr>
              </a:p>
              <a:p>
                <a:endParaRPr lang="en-AU" sz="1000" dirty="0" smtClean="0">
                  <a:solidFill>
                    <a:prstClr val="black"/>
                  </a:solidFill>
                </a:endParaRP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		8. 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sz="24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AU" sz="24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45</m:t>
                    </m:r>
                  </m:oMath>
                </a14:m>
                <a:endParaRPr lang="en-AU" sz="2400" dirty="0" smtClean="0">
                  <a:solidFill>
                    <a:prstClr val="black"/>
                  </a:solidFill>
                </a:endParaRP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		9.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5 </m:t>
                        </m:r>
                      </m:den>
                    </m:f>
                  </m:oMath>
                </a14:m>
                <a:r>
                  <a:rPr lang="en-AU" sz="2400" dirty="0">
                    <a:solidFill>
                      <a:prstClr val="black"/>
                    </a:solidFill>
                  </a:rPr>
                  <a:t> 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sz="2400" dirty="0" smtClean="0">
                  <a:solidFill>
                    <a:prstClr val="black"/>
                  </a:solidFill>
                </a:endParaRPr>
              </a:p>
              <a:p>
                <a:endParaRPr lang="en-AU" sz="2400" dirty="0" smtClean="0">
                  <a:solidFill>
                    <a:prstClr val="black"/>
                  </a:solidFill>
                </a:endParaRP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	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	10.	Find the area</a:t>
                </a: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				</a:t>
                </a:r>
              </a:p>
              <a:p>
                <a:endParaRPr lang="en-AU" sz="2400" dirty="0" smtClean="0">
                  <a:solidFill>
                    <a:prstClr val="black"/>
                  </a:solidFill>
                </a:endParaRPr>
              </a:p>
              <a:p>
                <a:r>
                  <a:rPr lang="en-AU" sz="2400" dirty="0" smtClean="0">
                    <a:solidFill>
                      <a:prstClr val="black"/>
                    </a:solidFill>
                  </a:rPr>
                  <a:t> </a:t>
                </a:r>
              </a:p>
              <a:p>
                <a:endParaRPr lang="en-AU" sz="2400" dirty="0" smtClean="0">
                  <a:solidFill>
                    <a:prstClr val="black"/>
                  </a:solidFill>
                </a:endParaRPr>
              </a:p>
              <a:p>
                <a:r>
                  <a:rPr lang="en-AU" sz="2400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	</a:t>
                </a:r>
                <a:r>
                  <a:rPr lang="en-AU" sz="2400" dirty="0" smtClean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		</a:t>
                </a:r>
              </a:p>
              <a:p>
                <a:r>
                  <a:rPr lang="en-AU" sz="2400" dirty="0" smtClean="0">
                    <a:solidFill>
                      <a:prstClr val="black"/>
                    </a:solidFill>
                  </a:rPr>
                  <a:t>			</a:t>
                </a:r>
              </a:p>
              <a:p>
                <a:pPr algn="ctr"/>
                <a:endParaRPr lang="en-AU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879" y="407510"/>
                <a:ext cx="10367493" cy="8157361"/>
              </a:xfrm>
              <a:prstGeom prst="rect">
                <a:avLst/>
              </a:prstGeom>
              <a:blipFill rotWithShape="0">
                <a:blip r:embed="rId2"/>
                <a:stretch>
                  <a:fillRect t="-119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57733"/>
            <a:ext cx="2994807" cy="29948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5541" y="5368412"/>
            <a:ext cx="2314977" cy="13617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34240" y="6360831"/>
            <a:ext cx="695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12m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7986510" y="5864621"/>
            <a:ext cx="695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9m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34748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1035897"/>
            <a:ext cx="12192000" cy="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121920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223145" y="1916832"/>
            <a:ext cx="7431" cy="4941168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0" y="97178"/>
            <a:ext cx="74391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Title</a:t>
            </a:r>
            <a:r>
              <a:rPr lang="en-AU" sz="2400" dirty="0" smtClean="0">
                <a:solidFill>
                  <a:prstClr val="black"/>
                </a:solidFill>
              </a:rPr>
              <a:t>:	Finding fractions of an amount and </a:t>
            </a:r>
          </a:p>
          <a:p>
            <a:r>
              <a:rPr lang="en-AU" sz="2400" dirty="0">
                <a:solidFill>
                  <a:prstClr val="black"/>
                </a:solidFill>
              </a:rPr>
              <a:t>	</a:t>
            </a:r>
            <a:r>
              <a:rPr lang="en-AU" sz="2400" dirty="0" smtClean="0">
                <a:solidFill>
                  <a:prstClr val="black"/>
                </a:solidFill>
              </a:rPr>
              <a:t>Multiplying  Fractions</a:t>
            </a:r>
          </a:p>
          <a:p>
            <a:endParaRPr lang="en-AU" sz="2400" dirty="0">
              <a:solidFill>
                <a:prstClr val="black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878" y="1065325"/>
            <a:ext cx="120729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EQ </a:t>
            </a:r>
            <a:r>
              <a:rPr lang="en-AU" sz="2400" dirty="0" smtClean="0">
                <a:solidFill>
                  <a:prstClr val="black"/>
                </a:solidFill>
              </a:rPr>
              <a:t>: Explain how to find the fraction of an amount and the process of multiplying fractions</a:t>
            </a:r>
            <a:endParaRPr lang="en-AU" sz="2400" dirty="0">
              <a:solidFill>
                <a:prstClr val="black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7752184" y="0"/>
            <a:ext cx="0" cy="98072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815" y="1879010"/>
            <a:ext cx="29158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Question</a:t>
            </a:r>
            <a:r>
              <a:rPr lang="en-AU" sz="2400" dirty="0" smtClean="0">
                <a:solidFill>
                  <a:prstClr val="black"/>
                </a:solidFill>
              </a:rPr>
              <a:t>:</a:t>
            </a:r>
          </a:p>
          <a:p>
            <a:endParaRPr lang="en-AU" sz="800" dirty="0" smtClean="0">
              <a:solidFill>
                <a:prstClr val="black"/>
              </a:solidFill>
            </a:endParaRPr>
          </a:p>
          <a:p>
            <a:endParaRPr lang="en-AU" sz="2400" dirty="0">
              <a:solidFill>
                <a:prstClr val="black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226860" y="1954655"/>
                <a:ext cx="8715589" cy="55674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>
                    <a:solidFill>
                      <a:prstClr val="black"/>
                    </a:solidFill>
                  </a:rPr>
                  <a:t>Notes:			</a:t>
                </a:r>
              </a:p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AU" sz="36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6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num>
                      <m:den>
                        <m:r>
                          <a:rPr lang="en-AU" sz="36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  <m:r>
                      <a:rPr lang="en-AU" sz="36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3600" dirty="0" smtClean="0">
                    <a:solidFill>
                      <a:prstClr val="black"/>
                    </a:solidFill>
                  </a:rPr>
                  <a:t> of $12</a:t>
                </a:r>
              </a:p>
              <a:p>
                <a:r>
                  <a:rPr lang="en-AU" sz="2400" dirty="0" smtClean="0">
                    <a:solidFill>
                      <a:prstClr val="black"/>
                    </a:solidFill>
                  </a:rPr>
                  <a:t>1) Find one third of $12 by dividing the amount by the </a:t>
                </a:r>
                <a:r>
                  <a:rPr lang="en-AU" sz="2400" b="1" dirty="0" smtClean="0">
                    <a:solidFill>
                      <a:srgbClr val="0070C0"/>
                    </a:solidFill>
                  </a:rPr>
                  <a:t>denominator</a:t>
                </a:r>
              </a:p>
              <a:p>
                <a:r>
                  <a:rPr lang="en-AU" sz="2400" dirty="0" smtClean="0">
                    <a:solidFill>
                      <a:prstClr val="black"/>
                    </a:solidFill>
                  </a:rPr>
                  <a:t>				 12 ÷ 3 = $4</a:t>
                </a:r>
              </a:p>
              <a:p>
                <a:r>
                  <a:rPr lang="en-AU" sz="2400" dirty="0" smtClean="0">
                    <a:solidFill>
                      <a:prstClr val="black"/>
                    </a:solidFill>
                  </a:rPr>
                  <a:t>2) Multiply the amount in step 1 by the </a:t>
                </a:r>
                <a:r>
                  <a:rPr lang="en-AU" sz="2400" b="1" dirty="0" smtClean="0">
                    <a:solidFill>
                      <a:srgbClr val="7030A0"/>
                    </a:solidFill>
                  </a:rPr>
                  <a:t>numerator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 </a:t>
                </a: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			$4 x 2 = $8</a:t>
                </a:r>
              </a:p>
              <a:p>
                <a:endParaRPr lang="en-AU" sz="1100" dirty="0" smtClean="0">
                  <a:solidFill>
                    <a:prstClr val="black"/>
                  </a:solidFill>
                </a:endParaRPr>
              </a:p>
              <a:p>
                <a:r>
                  <a:rPr lang="en-AU" sz="2400" u="sng" dirty="0" smtClean="0">
                    <a:solidFill>
                      <a:prstClr val="black"/>
                    </a:solidFill>
                  </a:rPr>
                  <a:t>Examples:</a:t>
                </a:r>
              </a:p>
              <a:p>
                <a:r>
                  <a:rPr lang="en-AU" sz="2400" dirty="0" smtClean="0">
                    <a:solidFill>
                      <a:prstClr val="black"/>
                    </a:solidFill>
                  </a:rPr>
                  <a:t>Find:	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20</m:t>
                    </m:r>
                  </m:oMath>
                </a14:m>
                <a:r>
                  <a:rPr lang="en-AU" sz="2400" dirty="0" smtClean="0">
                    <a:solidFill>
                      <a:prstClr val="black"/>
                    </a:solidFill>
                  </a:rPr>
                  <a:t> =</a:t>
                </a:r>
              </a:p>
              <a:p>
                <a:endParaRPr lang="en-AU" sz="1200" dirty="0" smtClean="0">
                  <a:solidFill>
                    <a:prstClr val="black"/>
                  </a:solidFill>
                </a:endParaRP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64</m:t>
                    </m:r>
                  </m:oMath>
                </a14:m>
                <a:r>
                  <a:rPr lang="en-AU" sz="2400" dirty="0" smtClean="0">
                    <a:solidFill>
                      <a:prstClr val="black"/>
                    </a:solidFill>
                  </a:rPr>
                  <a:t> =</a:t>
                </a:r>
                <a:endParaRPr lang="en-AU" sz="2400" dirty="0">
                  <a:solidFill>
                    <a:prstClr val="black"/>
                  </a:solidFill>
                </a:endParaRPr>
              </a:p>
              <a:p>
                <a:endParaRPr lang="en-AU" sz="2400" dirty="0" smtClean="0">
                  <a:solidFill>
                    <a:prstClr val="black"/>
                  </a:solidFill>
                </a:endParaRPr>
              </a:p>
              <a:p>
                <a:endParaRPr lang="en-AU" sz="3200" dirty="0" smtClean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6860" y="1954655"/>
                <a:ext cx="8715589" cy="5567422"/>
              </a:xfrm>
              <a:prstGeom prst="rect">
                <a:avLst/>
              </a:prstGeom>
              <a:blipFill rotWithShape="0">
                <a:blip r:embed="rId3"/>
                <a:stretch>
                  <a:fillRect l="-1049" t="-87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6467725" y="85028"/>
            <a:ext cx="8640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</a:rPr>
              <a:t>24</a:t>
            </a:r>
          </a:p>
          <a:p>
            <a:r>
              <a:rPr lang="en-AU" dirty="0">
                <a:solidFill>
                  <a:prstClr val="black"/>
                </a:solidFill>
              </a:rPr>
              <a:t>7</a:t>
            </a:r>
          </a:p>
          <a:p>
            <a:r>
              <a:rPr lang="en-AU" dirty="0">
                <a:solidFill>
                  <a:prstClr val="black"/>
                </a:solidFill>
              </a:rPr>
              <a:t>30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1565228" y="6400800"/>
            <a:ext cx="520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prstClr val="black"/>
                </a:solidFill>
              </a:rPr>
              <a:t>27</a:t>
            </a:r>
            <a:endParaRPr lang="en-AU" dirty="0">
              <a:solidFill>
                <a:prstClr val="black"/>
              </a:solidFill>
            </a:endParaRPr>
          </a:p>
        </p:txBody>
      </p:sp>
      <p:sp>
        <p:nvSpPr>
          <p:cNvPr id="1030" name="TextBox 1029"/>
          <p:cNvSpPr txBox="1"/>
          <p:nvPr/>
        </p:nvSpPr>
        <p:spPr>
          <a:xfrm>
            <a:off x="76435" y="3714051"/>
            <a:ext cx="31114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sz="2000" dirty="0"/>
          </a:p>
        </p:txBody>
      </p:sp>
      <p:sp>
        <p:nvSpPr>
          <p:cNvPr id="3" name="TextBox 2"/>
          <p:cNvSpPr txBox="1"/>
          <p:nvPr/>
        </p:nvSpPr>
        <p:spPr>
          <a:xfrm>
            <a:off x="0" y="3142445"/>
            <a:ext cx="31878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How do you find a fraction of an amount?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553309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3026535" y="0"/>
            <a:ext cx="0" cy="68580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122567" y="0"/>
            <a:ext cx="140269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Question:</a:t>
            </a:r>
          </a:p>
        </p:txBody>
      </p:sp>
      <p:sp>
        <p:nvSpPr>
          <p:cNvPr id="6" name="Rectangle 5"/>
          <p:cNvSpPr/>
          <p:nvPr/>
        </p:nvSpPr>
        <p:spPr>
          <a:xfrm>
            <a:off x="3026535" y="-1"/>
            <a:ext cx="10004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Notes: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590251"/>
            <a:ext cx="121920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982363" y="571618"/>
                <a:ext cx="9165465" cy="66611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AU" sz="3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6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AU" sz="36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</m:oMath>
                </a14:m>
                <a:r>
                  <a:rPr lang="en-AU" sz="3600" dirty="0" smtClean="0">
                    <a:solidFill>
                      <a:schemeClr val="tx1"/>
                    </a:solidFill>
                  </a:rPr>
                  <a:t>    x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3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6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num>
                      <m:den>
                        <m:r>
                          <a:rPr lang="en-AU" sz="36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den>
                    </m:f>
                  </m:oMath>
                </a14:m>
                <a:r>
                  <a:rPr lang="en-AU" sz="3600" dirty="0" smtClean="0">
                    <a:solidFill>
                      <a:schemeClr val="tx1"/>
                    </a:solidFill>
                  </a:rPr>
                  <a:t>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3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6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AU" sz="36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3600" b="1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  <m:r>
                          <a:rPr lang="en-AU" sz="3600" b="1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3600" b="1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num>
                      <m:den>
                        <m:r>
                          <a:rPr lang="en-AU" sz="36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AU" sz="36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3600" b="1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  <m:r>
                          <a:rPr lang="en-AU" sz="3600" b="1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3600" b="1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den>
                    </m:f>
                  </m:oMath>
                </a14:m>
                <a:r>
                  <a:rPr lang="en-AU" sz="3600" dirty="0" smtClean="0">
                    <a:solidFill>
                      <a:schemeClr val="tx1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36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600" b="1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num>
                      <m:den>
                        <m:r>
                          <a:rPr lang="en-AU" sz="36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𝟏𝟓</m:t>
                        </m:r>
                      </m:den>
                    </m:f>
                  </m:oMath>
                </a14:m>
                <a:endParaRPr lang="en-AU" sz="3600" b="1" dirty="0" smtClean="0">
                  <a:solidFill>
                    <a:schemeClr val="tx1"/>
                  </a:solidFill>
                </a:endParaRPr>
              </a:p>
              <a:p>
                <a:pPr algn="ctr"/>
                <a:endParaRPr lang="en-AU" sz="1400" dirty="0" smtClean="0">
                  <a:solidFill>
                    <a:schemeClr val="tx1"/>
                  </a:solidFill>
                </a:endParaRPr>
              </a:p>
              <a:p>
                <a:r>
                  <a:rPr lang="en-AU" sz="2400" dirty="0" smtClean="0">
                    <a:solidFill>
                      <a:prstClr val="black"/>
                    </a:solidFill>
                  </a:rPr>
                  <a:t>To multiply two fractions together we follow the steps below:</a:t>
                </a:r>
              </a:p>
              <a:p>
                <a:pPr marL="457200" indent="-457200">
                  <a:buAutoNum type="arabicParenR"/>
                </a:pPr>
                <a:r>
                  <a:rPr lang="en-AU" sz="2400" dirty="0" smtClean="0">
                    <a:solidFill>
                      <a:prstClr val="black"/>
                    </a:solidFill>
                  </a:rPr>
                  <a:t>Multiply the </a:t>
                </a:r>
                <a:r>
                  <a:rPr lang="en-AU" sz="2400" b="1" dirty="0" smtClean="0">
                    <a:solidFill>
                      <a:srgbClr val="0070C0"/>
                    </a:solidFill>
                  </a:rPr>
                  <a:t>numerators</a:t>
                </a:r>
              </a:p>
              <a:p>
                <a:pPr marL="457200" indent="-457200">
                  <a:buAutoNum type="arabicParenR"/>
                </a:pPr>
                <a:r>
                  <a:rPr lang="en-AU" sz="2400" dirty="0" smtClean="0">
                    <a:solidFill>
                      <a:prstClr val="black"/>
                    </a:solidFill>
                  </a:rPr>
                  <a:t>Multiply the </a:t>
                </a:r>
                <a:r>
                  <a:rPr lang="en-AU" sz="2400" b="1" dirty="0" smtClean="0">
                    <a:solidFill>
                      <a:srgbClr val="7030A0"/>
                    </a:solidFill>
                  </a:rPr>
                  <a:t>denominators</a:t>
                </a:r>
              </a:p>
              <a:p>
                <a:pPr marL="457200" indent="-457200">
                  <a:buAutoNum type="arabicParenR" startAt="3"/>
                </a:pPr>
                <a:r>
                  <a:rPr lang="en-AU" sz="2400" dirty="0" smtClean="0"/>
                  <a:t>Simplify your answer</a:t>
                </a:r>
              </a:p>
              <a:p>
                <a:pPr marL="457200" indent="-457200">
                  <a:buAutoNum type="arabicParenR" startAt="3"/>
                </a:pPr>
                <a:r>
                  <a:rPr lang="en-AU" sz="2400" dirty="0" smtClean="0"/>
                  <a:t>If you are given a mixed numeral convert this to an improper fraction before starting the steps</a:t>
                </a:r>
              </a:p>
              <a:p>
                <a:pPr marL="457200" indent="-457200">
                  <a:buAutoNum type="arabicParenR" startAt="3"/>
                </a:pPr>
                <a:endParaRPr lang="en-AU" sz="1200" dirty="0"/>
              </a:p>
              <a:p>
                <a:r>
                  <a:rPr lang="en-AU" sz="2400" u="sng" dirty="0" smtClean="0"/>
                  <a:t>Examples:</a:t>
                </a:r>
              </a:p>
              <a:p>
                <a:r>
                  <a:rPr lang="en-AU" sz="2400" dirty="0" smtClean="0"/>
                  <a:t>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AU" sz="2400" dirty="0" smtClean="0"/>
                  <a:t>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lang="en-AU" sz="2400" dirty="0" smtClean="0"/>
                  <a:t> = </a:t>
                </a:r>
              </a:p>
              <a:p>
                <a:endParaRPr lang="en-AU" sz="1200" dirty="0"/>
              </a:p>
              <a:p>
                <a:r>
                  <a:rPr lang="en-AU" sz="1200" dirty="0" smtClean="0"/>
                  <a:t>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AU" sz="2400" dirty="0"/>
                  <a:t>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en-AU" sz="2400" dirty="0"/>
                  <a:t> = </a:t>
                </a:r>
                <a:endParaRPr lang="en-AU" sz="2400" dirty="0" smtClean="0"/>
              </a:p>
              <a:p>
                <a:endParaRPr lang="en-AU" sz="1200" dirty="0"/>
              </a:p>
              <a:p>
                <a:r>
                  <a:rPr lang="en-AU" sz="1200" dirty="0" smtClean="0"/>
                  <a:t>	</a:t>
                </a:r>
                <a:r>
                  <a:rPr lang="en-AU" sz="2400" dirty="0" smtClean="0"/>
                  <a:t>1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AU" sz="2400" dirty="0"/>
                  <a:t>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en-AU" sz="2400" dirty="0"/>
                  <a:t> = </a:t>
                </a:r>
              </a:p>
              <a:p>
                <a:endParaRPr lang="en-AU" sz="1000" dirty="0" smtClean="0"/>
              </a:p>
              <a:p>
                <a:r>
                  <a:rPr lang="en-AU" b="1" dirty="0" smtClean="0">
                    <a:solidFill>
                      <a:srgbClr val="C00000"/>
                    </a:solidFill>
                  </a:rPr>
                  <a:t>Complete Q 1,2, 7,8 &amp; 9 Page 289 in your textbook</a:t>
                </a:r>
                <a:endParaRPr lang="en-AU" b="1" dirty="0">
                  <a:solidFill>
                    <a:srgbClr val="C00000"/>
                  </a:solidFill>
                </a:endParaRPr>
              </a:p>
              <a:p>
                <a:endParaRPr lang="en-AU" sz="12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2363" y="571618"/>
                <a:ext cx="9165465" cy="6661182"/>
              </a:xfrm>
              <a:prstGeom prst="rect">
                <a:avLst/>
              </a:prstGeom>
              <a:blipFill rotWithShape="0">
                <a:blip r:embed="rId2"/>
                <a:stretch>
                  <a:fillRect l="-1064" r="-152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122567" y="714375"/>
            <a:ext cx="27492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sz="2200" dirty="0">
              <a:solidFill>
                <a:prstClr val="black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22567" y="714375"/>
            <a:ext cx="2749221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 smtClean="0"/>
          </a:p>
          <a:p>
            <a:endParaRPr lang="en-AU" sz="2200" dirty="0"/>
          </a:p>
          <a:p>
            <a:endParaRPr lang="en-AU" sz="2200" dirty="0" smtClean="0"/>
          </a:p>
          <a:p>
            <a:endParaRPr lang="en-AU" sz="2200" dirty="0"/>
          </a:p>
          <a:p>
            <a:endParaRPr lang="en-AU" sz="2200" dirty="0" smtClean="0"/>
          </a:p>
          <a:p>
            <a:endParaRPr lang="en-AU" sz="2200" dirty="0"/>
          </a:p>
          <a:p>
            <a:endParaRPr lang="en-AU" sz="2200" dirty="0" smtClean="0"/>
          </a:p>
        </p:txBody>
      </p:sp>
      <p:sp>
        <p:nvSpPr>
          <p:cNvPr id="11" name="TextBox 10"/>
          <p:cNvSpPr txBox="1"/>
          <p:nvPr/>
        </p:nvSpPr>
        <p:spPr>
          <a:xfrm>
            <a:off x="11565228" y="6400800"/>
            <a:ext cx="520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prstClr val="black"/>
                </a:solidFill>
              </a:rPr>
              <a:t>27</a:t>
            </a:r>
            <a:endParaRPr lang="en-AU" dirty="0">
              <a:solidFill>
                <a:prstClr val="black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992" y="1009599"/>
            <a:ext cx="302653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sz="2000" dirty="0"/>
          </a:p>
          <a:p>
            <a:endParaRPr lang="en-AU" sz="2000" dirty="0" smtClean="0"/>
          </a:p>
          <a:p>
            <a:endParaRPr lang="en-AU" sz="2000" dirty="0"/>
          </a:p>
          <a:p>
            <a:endParaRPr lang="en-AU" sz="2000" dirty="0" smtClean="0"/>
          </a:p>
          <a:p>
            <a:endParaRPr lang="en-AU" sz="2000" dirty="0"/>
          </a:p>
          <a:p>
            <a:endParaRPr lang="en-AU" sz="2000" dirty="0" smtClean="0"/>
          </a:p>
          <a:p>
            <a:endParaRPr lang="en-AU" sz="2000" dirty="0"/>
          </a:p>
          <a:p>
            <a:endParaRPr lang="en-AU" sz="2000" dirty="0" smtClean="0"/>
          </a:p>
        </p:txBody>
      </p:sp>
      <p:sp>
        <p:nvSpPr>
          <p:cNvPr id="13" name="TextBox 12"/>
          <p:cNvSpPr txBox="1"/>
          <p:nvPr/>
        </p:nvSpPr>
        <p:spPr>
          <a:xfrm>
            <a:off x="11992" y="1545465"/>
            <a:ext cx="28597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What are the steps to multiply two fractions?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906793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908879" y="407510"/>
                <a:ext cx="10367493" cy="71801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700" u="sng" dirty="0" smtClean="0">
                    <a:solidFill>
                      <a:prstClr val="black"/>
                    </a:solidFill>
                  </a:rPr>
                  <a:t>10 Quick Questions</a:t>
                </a:r>
              </a:p>
              <a:p>
                <a:pPr algn="ctr"/>
                <a:endParaRPr lang="en-AU" sz="900" u="sng" dirty="0">
                  <a:solidFill>
                    <a:prstClr val="black"/>
                  </a:solidFill>
                </a:endParaRP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		1. 	 </a:t>
                </a:r>
                <a:r>
                  <a:rPr lang="en-AU" sz="2400" dirty="0">
                    <a:solidFill>
                      <a:prstClr val="black"/>
                    </a:solidFill>
                  </a:rPr>
                  <a:t>62 </a:t>
                </a:r>
                <a:r>
                  <a:rPr lang="en-AU" sz="2400" dirty="0">
                    <a:solidFill>
                      <a:prstClr val="black"/>
                    </a:solidFill>
                  </a:rPr>
                  <a:t>x 5</a:t>
                </a:r>
                <a:r>
                  <a:rPr lang="en-AU" sz="2400" dirty="0">
                    <a:solidFill>
                      <a:prstClr val="black"/>
                    </a:solidFill>
                  </a:rPr>
                  <a:t> </a:t>
                </a:r>
                <a:r>
                  <a:rPr lang="en-AU" sz="2400" dirty="0">
                    <a:solidFill>
                      <a:prstClr val="black"/>
                    </a:solidFill>
                  </a:rPr>
                  <a:t>=</a:t>
                </a: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		2.	 </a:t>
                </a:r>
                <a:r>
                  <a:rPr lang="en-AU" sz="2400" dirty="0">
                    <a:solidFill>
                      <a:prstClr val="black"/>
                    </a:solidFill>
                  </a:rPr>
                  <a:t>3362 </a:t>
                </a:r>
                <a:r>
                  <a:rPr lang="en-AU" sz="2400" dirty="0">
                    <a:solidFill>
                      <a:prstClr val="black"/>
                    </a:solidFill>
                  </a:rPr>
                  <a:t>– </a:t>
                </a:r>
                <a:r>
                  <a:rPr lang="en-AU" sz="2400" dirty="0">
                    <a:solidFill>
                      <a:prstClr val="black"/>
                    </a:solidFill>
                  </a:rPr>
                  <a:t>1887 </a:t>
                </a:r>
                <a:r>
                  <a:rPr lang="en-AU" sz="2400" dirty="0">
                    <a:solidFill>
                      <a:prstClr val="black"/>
                    </a:solidFill>
                  </a:rPr>
                  <a:t>=</a:t>
                </a: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		3. 	 </a:t>
                </a:r>
                <a:r>
                  <a:rPr lang="en-AU" sz="2400" dirty="0">
                    <a:solidFill>
                      <a:prstClr val="black"/>
                    </a:solidFill>
                  </a:rPr>
                  <a:t>3470 </a:t>
                </a:r>
                <a:r>
                  <a:rPr lang="en-AU" sz="2400" dirty="0">
                    <a:solidFill>
                      <a:prstClr val="black"/>
                    </a:solidFill>
                  </a:rPr>
                  <a:t>+ </a:t>
                </a:r>
                <a:r>
                  <a:rPr lang="en-AU" sz="2400" dirty="0">
                    <a:solidFill>
                      <a:prstClr val="black"/>
                    </a:solidFill>
                  </a:rPr>
                  <a:t>1768 </a:t>
                </a:r>
                <a:r>
                  <a:rPr lang="en-AU" sz="2400" dirty="0">
                    <a:solidFill>
                      <a:prstClr val="black"/>
                    </a:solidFill>
                  </a:rPr>
                  <a:t>=</a:t>
                </a: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		4. 	 </a:t>
                </a:r>
                <a:r>
                  <a:rPr lang="en-AU" sz="2400" dirty="0">
                    <a:solidFill>
                      <a:prstClr val="black"/>
                    </a:solidFill>
                  </a:rPr>
                  <a:t>60186 </a:t>
                </a:r>
                <a:r>
                  <a:rPr lang="en-AU" sz="2400" dirty="0">
                    <a:solidFill>
                      <a:prstClr val="black"/>
                    </a:solidFill>
                  </a:rPr>
                  <a:t>÷ </a:t>
                </a:r>
                <a:r>
                  <a:rPr lang="en-AU" sz="2400" dirty="0">
                    <a:solidFill>
                      <a:prstClr val="black"/>
                    </a:solidFill>
                  </a:rPr>
                  <a:t>6 </a:t>
                </a:r>
                <a:r>
                  <a:rPr lang="en-AU" sz="2400" dirty="0">
                    <a:solidFill>
                      <a:prstClr val="black"/>
                    </a:solidFill>
                  </a:rPr>
                  <a:t>=</a:t>
                </a: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		5. 	Round to </a:t>
                </a:r>
                <a:r>
                  <a:rPr lang="en-AU" sz="2400" dirty="0">
                    <a:solidFill>
                      <a:prstClr val="black"/>
                    </a:solidFill>
                  </a:rPr>
                  <a:t>1.98 to 1 </a:t>
                </a:r>
                <a:r>
                  <a:rPr lang="en-AU" sz="2400" dirty="0" err="1">
                    <a:solidFill>
                      <a:prstClr val="black"/>
                    </a:solidFill>
                  </a:rPr>
                  <a:t>d.p</a:t>
                </a:r>
                <a:endParaRPr lang="en-AU" sz="2400" dirty="0">
                  <a:solidFill>
                    <a:prstClr val="black"/>
                  </a:solidFill>
                </a:endParaRP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		6.	Write 5</a:t>
                </a:r>
                <a:r>
                  <a:rPr lang="en-AU" sz="2400" dirty="0">
                    <a:solidFill>
                      <a:prstClr val="black"/>
                    </a:solidFill>
                  </a:rPr>
                  <a:t> tenths </a:t>
                </a:r>
                <a:r>
                  <a:rPr lang="en-AU" sz="2400" dirty="0">
                    <a:solidFill>
                      <a:prstClr val="black"/>
                    </a:solidFill>
                  </a:rPr>
                  <a:t>as a </a:t>
                </a:r>
                <a:r>
                  <a:rPr lang="en-AU" sz="2400" dirty="0">
                    <a:solidFill>
                      <a:prstClr val="black"/>
                    </a:solidFill>
                  </a:rPr>
                  <a:t>fraction</a:t>
                </a:r>
                <a:endParaRPr lang="en-AU" sz="2400" dirty="0">
                  <a:solidFill>
                    <a:prstClr val="black"/>
                  </a:solidFill>
                </a:endParaRP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		7. 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81</m:t>
                    </m:r>
                  </m:oMath>
                </a14:m>
                <a:endParaRPr lang="en-AU" sz="2400" dirty="0">
                  <a:solidFill>
                    <a:prstClr val="black"/>
                  </a:solidFill>
                </a:endParaRP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		8. 	</a:t>
                </a:r>
                <a:r>
                  <a:rPr lang="en-AU" sz="2400" dirty="0">
                    <a:solidFill>
                      <a:prstClr val="black"/>
                    </a:solidFill>
                  </a:rPr>
                  <a:t>Write a fraction equivalent  to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lang="en-AU" sz="2400" dirty="0">
                  <a:solidFill>
                    <a:prstClr val="black"/>
                  </a:solidFill>
                </a:endParaRP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		9.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 </m:t>
                    </m:r>
                    <m:f>
                      <m:fPr>
                        <m:ctrlP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lang="en-AU" sz="2400" dirty="0" smtClean="0">
                  <a:solidFill>
                    <a:prstClr val="black"/>
                  </a:solidFill>
                </a:endParaRPr>
              </a:p>
              <a:p>
                <a:endParaRPr lang="en-AU" sz="2400" dirty="0" smtClean="0">
                  <a:solidFill>
                    <a:prstClr val="black"/>
                  </a:solidFill>
                </a:endParaRP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		10. 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endParaRPr lang="en-AU" sz="2400" dirty="0" smtClean="0">
                  <a:solidFill>
                    <a:prstClr val="black"/>
                  </a:solidFill>
                </a:endParaRPr>
              </a:p>
              <a:p>
                <a:r>
                  <a:rPr lang="en-AU" sz="2400" dirty="0" smtClean="0">
                    <a:solidFill>
                      <a:prstClr val="black"/>
                    </a:solidFill>
                  </a:rPr>
                  <a:t> </a:t>
                </a:r>
              </a:p>
              <a:p>
                <a:endParaRPr lang="en-AU" sz="2400" dirty="0" smtClean="0">
                  <a:solidFill>
                    <a:prstClr val="black"/>
                  </a:solidFill>
                </a:endParaRPr>
              </a:p>
              <a:p>
                <a:r>
                  <a:rPr lang="en-AU" sz="2400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	</a:t>
                </a:r>
                <a:r>
                  <a:rPr lang="en-AU" sz="2400" dirty="0" smtClean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		</a:t>
                </a:r>
              </a:p>
              <a:p>
                <a:r>
                  <a:rPr lang="en-AU" sz="2400" dirty="0" smtClean="0">
                    <a:solidFill>
                      <a:prstClr val="black"/>
                    </a:solidFill>
                  </a:rPr>
                  <a:t>			</a:t>
                </a:r>
              </a:p>
              <a:p>
                <a:pPr algn="ctr"/>
                <a:endParaRPr lang="en-AU" sz="2400" dirty="0">
                  <a:solidFill>
                    <a:prstClr val="black"/>
                  </a:solidFill>
                </a:endParaRPr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879" y="407510"/>
                <a:ext cx="10367493" cy="7180171"/>
              </a:xfrm>
              <a:prstGeom prst="rect">
                <a:avLst/>
              </a:prstGeom>
              <a:blipFill rotWithShape="0">
                <a:blip r:embed="rId2"/>
                <a:stretch>
                  <a:fillRect t="-76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57733"/>
            <a:ext cx="2994807" cy="2994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652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4241</TotalTime>
  <Words>1573</Words>
  <Application>Microsoft Office PowerPoint</Application>
  <PresentationFormat>Widescreen</PresentationFormat>
  <Paragraphs>743</Paragraphs>
  <Slides>43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43</vt:i4>
      </vt:variant>
    </vt:vector>
  </HeadingPairs>
  <TitlesOfParts>
    <vt:vector size="52" baseType="lpstr">
      <vt:lpstr>Arial</vt:lpstr>
      <vt:lpstr>Calibri</vt:lpstr>
      <vt:lpstr>Calibri Light</vt:lpstr>
      <vt:lpstr>Cambria Math</vt:lpstr>
      <vt:lpstr>Times New Roman</vt:lpstr>
      <vt:lpstr>Wingdings</vt:lpstr>
      <vt:lpstr>Office Theme</vt:lpstr>
      <vt:lpstr>1_Office Theme</vt:lpstr>
      <vt:lpstr>2_Office Theme</vt:lpstr>
      <vt:lpstr>Decimals and Fractions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Bianca Riksman</dc:creator>
  <cp:lastModifiedBy>e4058769</cp:lastModifiedBy>
  <cp:revision>99</cp:revision>
  <dcterms:created xsi:type="dcterms:W3CDTF">2015-04-20T06:02:45Z</dcterms:created>
  <dcterms:modified xsi:type="dcterms:W3CDTF">2015-06-25T13:41:10Z</dcterms:modified>
</cp:coreProperties>
</file>
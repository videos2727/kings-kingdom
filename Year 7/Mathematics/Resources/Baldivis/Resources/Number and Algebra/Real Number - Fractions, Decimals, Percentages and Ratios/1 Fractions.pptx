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301" r:id="rId3"/>
    <p:sldId id="258" r:id="rId4"/>
    <p:sldId id="278" r:id="rId5"/>
    <p:sldId id="279" r:id="rId6"/>
    <p:sldId id="288" r:id="rId7"/>
    <p:sldId id="289" r:id="rId8"/>
    <p:sldId id="304" r:id="rId9"/>
    <p:sldId id="305" r:id="rId10"/>
    <p:sldId id="302" r:id="rId11"/>
    <p:sldId id="3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94" autoAdjust="0"/>
    <p:restoredTop sz="94660"/>
  </p:normalViewPr>
  <p:slideViewPr>
    <p:cSldViewPr snapToGrid="0">
      <p:cViewPr>
        <p:scale>
          <a:sx n="70" d="100"/>
          <a:sy n="70" d="100"/>
        </p:scale>
        <p:origin x="-126" y="-4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8D271-75C6-4A7B-981E-95489D89B893}" type="datetimeFigureOut">
              <a:rPr lang="en-AU" smtClean="0"/>
              <a:t>3/02/2016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5BE75-6727-4F64-82F8-DA94106C05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6076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>
                <a:solidFill>
                  <a:prstClr val="black"/>
                </a:solidFill>
              </a:rPr>
              <a:pPr/>
              <a:t>5</a:t>
            </a:fld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841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>
                <a:solidFill>
                  <a:prstClr val="black"/>
                </a:solidFill>
              </a:rPr>
              <a:pPr/>
              <a:t>8</a:t>
            </a:fld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650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812C-C34E-44C0-BA7B-DC1BE132F169}" type="datetimeFigureOut">
              <a:rPr lang="en-AU" smtClean="0"/>
              <a:t>3/02/2016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ACD9-9522-4065-8C26-204359FDC4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4834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812C-C34E-44C0-BA7B-DC1BE132F169}" type="datetimeFigureOut">
              <a:rPr lang="en-AU" smtClean="0"/>
              <a:t>3/02/2016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ACD9-9522-4065-8C26-204359FDC4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1041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812C-C34E-44C0-BA7B-DC1BE132F169}" type="datetimeFigureOut">
              <a:rPr lang="en-AU" smtClean="0"/>
              <a:t>3/02/2016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ACD9-9522-4065-8C26-204359FDC4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4640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812C-C34E-44C0-BA7B-DC1BE132F169}" type="datetimeFigureOut">
              <a:rPr lang="en-AU" smtClean="0"/>
              <a:t>3/02/2016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ACD9-9522-4065-8C26-204359FDC4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5566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812C-C34E-44C0-BA7B-DC1BE132F169}" type="datetimeFigureOut">
              <a:rPr lang="en-AU" smtClean="0"/>
              <a:t>3/02/2016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ACD9-9522-4065-8C26-204359FDC4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41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812C-C34E-44C0-BA7B-DC1BE132F169}" type="datetimeFigureOut">
              <a:rPr lang="en-AU" smtClean="0"/>
              <a:t>3/02/2016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ACD9-9522-4065-8C26-204359FDC4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249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812C-C34E-44C0-BA7B-DC1BE132F169}" type="datetimeFigureOut">
              <a:rPr lang="en-AU" smtClean="0"/>
              <a:t>3/02/2016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ACD9-9522-4065-8C26-204359FDC4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2584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812C-C34E-44C0-BA7B-DC1BE132F169}" type="datetimeFigureOut">
              <a:rPr lang="en-AU" smtClean="0"/>
              <a:t>3/02/2016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ACD9-9522-4065-8C26-204359FDC4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0117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812C-C34E-44C0-BA7B-DC1BE132F169}" type="datetimeFigureOut">
              <a:rPr lang="en-AU" smtClean="0"/>
              <a:t>3/02/2016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ACD9-9522-4065-8C26-204359FDC4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2282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812C-C34E-44C0-BA7B-DC1BE132F169}" type="datetimeFigureOut">
              <a:rPr lang="en-AU" smtClean="0"/>
              <a:t>3/02/2016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ACD9-9522-4065-8C26-204359FDC4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2446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812C-C34E-44C0-BA7B-DC1BE132F169}" type="datetimeFigureOut">
              <a:rPr lang="en-AU" smtClean="0"/>
              <a:t>3/02/2016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0ACD9-9522-4065-8C26-204359FDC4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7812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3/02/2016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503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3/02/2016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812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3/02/2016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364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3/02/2016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65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3/02/2016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3604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3/02/2016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9083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3/02/2016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1756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3/02/2016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6297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3/02/2016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4385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3/02/2016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648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3/02/2016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532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8812C-C34E-44C0-BA7B-DC1BE132F169}" type="datetimeFigureOut">
              <a:rPr lang="en-AU" smtClean="0"/>
              <a:t>3/02/2016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70ACD9-9522-4065-8C26-204359FDC4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391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3/02/2016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46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5413" y="332657"/>
            <a:ext cx="10363200" cy="2098745"/>
          </a:xfrm>
        </p:spPr>
        <p:txBody>
          <a:bodyPr>
            <a:normAutofit/>
          </a:bodyPr>
          <a:lstStyle/>
          <a:p>
            <a:r>
              <a:rPr lang="en-AU" dirty="0" smtClean="0"/>
              <a:t>My Fractions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64620" y="6488668"/>
            <a:ext cx="733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73499" y="908721"/>
                <a:ext cx="1008179" cy="26275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88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88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9</m:t>
                          </m:r>
                        </m:num>
                        <m:den>
                          <m:r>
                            <a:rPr lang="en-AU" sz="88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99" y="908721"/>
                <a:ext cx="1008179" cy="262757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648395" y="437585"/>
                <a:ext cx="1824203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73499" y="4488250"/>
                <a:ext cx="1824203" cy="2000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24" y="4488249"/>
                <a:ext cx="1368152" cy="2000419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024325" y="3174459"/>
                <a:ext cx="2256251" cy="2663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2</m:t>
                      </m:r>
                      <m:f>
                        <m:fPr>
                          <m:ctrlPr>
                            <a:rPr lang="en-AU" sz="88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88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sz="88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325" y="3174459"/>
                <a:ext cx="2256251" cy="2663934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559830" y="2222511"/>
                <a:ext cx="1920213" cy="2000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AU" sz="66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830" y="2222511"/>
                <a:ext cx="1920213" cy="2000419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4012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13272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-19999" y="389336"/>
            <a:ext cx="6014125" cy="34014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1132285" y="404664"/>
            <a:ext cx="8756" cy="6128875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430904" y="66109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</a:rP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5012" y="440647"/>
            <a:ext cx="5783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</a:rPr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2233530" y="404664"/>
            <a:ext cx="32788" cy="6128875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12519" y="434295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</a:rPr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7639" y="404664"/>
            <a:ext cx="2121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</a:rPr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7898" y="13609"/>
            <a:ext cx="1019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</a:rPr>
              <a:t>Glossary</a:t>
            </a:r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39796" y="733871"/>
            <a:ext cx="5954329" cy="3897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-19999" y="6533539"/>
            <a:ext cx="6052418" cy="2026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013272" y="380350"/>
            <a:ext cx="6178728" cy="8986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032419" y="733870"/>
            <a:ext cx="6159581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032419" y="6533539"/>
            <a:ext cx="6159581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608168" y="404665"/>
            <a:ext cx="21357" cy="6128874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43103" y="406343"/>
            <a:ext cx="804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</a:rPr>
              <a:t>Word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37898" y="395316"/>
            <a:ext cx="11303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3717" y="863541"/>
            <a:ext cx="3700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Fractions and Mixed Numbers</a:t>
            </a:r>
          </a:p>
        </p:txBody>
      </p:sp>
    </p:spTree>
    <p:extLst>
      <p:ext uri="{BB962C8B-B14F-4D97-AF65-F5344CB8AC3E}">
        <p14:creationId xmlns:p14="http://schemas.microsoft.com/office/powerpoint/2010/main" val="3277414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45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19050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Introduction to fractions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5552" y="512677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Date: 8/6/15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78" y="1065325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Correctly identify and describe the numerator and denominator 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0"/>
            <a:ext cx="291581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  <a:p>
            <a:endParaRPr lang="en-AU" sz="2400" dirty="0">
              <a:solidFill>
                <a:prstClr val="black"/>
              </a:solidFill>
            </a:endParaRPr>
          </a:p>
          <a:p>
            <a:r>
              <a:rPr lang="en-AU" sz="2000" dirty="0" smtClean="0">
                <a:solidFill>
                  <a:prstClr val="black"/>
                </a:solidFill>
              </a:rPr>
              <a:t>What is the denominator?</a:t>
            </a:r>
          </a:p>
          <a:p>
            <a:endParaRPr lang="en-AU" sz="2000" dirty="0">
              <a:solidFill>
                <a:prstClr val="black"/>
              </a:solidFill>
            </a:endParaRPr>
          </a:p>
          <a:p>
            <a:endParaRPr lang="en-AU" sz="2000" dirty="0" smtClean="0">
              <a:solidFill>
                <a:prstClr val="black"/>
              </a:solidFill>
            </a:endParaRPr>
          </a:p>
          <a:p>
            <a:endParaRPr lang="en-AU" sz="2000" dirty="0">
              <a:solidFill>
                <a:prstClr val="black"/>
              </a:solidFill>
            </a:endParaRPr>
          </a:p>
          <a:p>
            <a:r>
              <a:rPr lang="en-AU" sz="2000" dirty="0" smtClean="0">
                <a:solidFill>
                  <a:prstClr val="black"/>
                </a:solidFill>
              </a:rPr>
              <a:t>What is the numerator?</a:t>
            </a:r>
          </a:p>
          <a:p>
            <a:endParaRPr lang="en-AU" sz="2400" dirty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226860" y="1954655"/>
                <a:ext cx="8715589" cy="4319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Notes:</a:t>
                </a:r>
              </a:p>
              <a:p>
                <a:endParaRPr lang="en-AU" sz="2400" dirty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AU" sz="2400" dirty="0" smtClean="0">
                    <a:solidFill>
                      <a:prstClr val="black"/>
                    </a:solidFill>
                  </a:rPr>
                  <a:t>The denominator goes below the fraction line and tells us how many pieces the whole has been divided into.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en-AU" sz="2400" dirty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AU" sz="2400" dirty="0" smtClean="0">
                    <a:solidFill>
                      <a:prstClr val="black"/>
                    </a:solidFill>
                  </a:rPr>
                  <a:t>The numerator sits above the fraction line and says how many parts of the whole have been shaded or selected.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			</a:t>
                </a:r>
                <a:r>
                  <a:rPr lang="en-AU" sz="2400" dirty="0" smtClean="0">
                    <a:solidFill>
                      <a:srgbClr val="C00000"/>
                    </a:solidFill>
                  </a:rPr>
                  <a:t>Numerator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4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4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4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860" y="1954655"/>
                <a:ext cx="8715589" cy="4319067"/>
              </a:xfrm>
              <a:prstGeom prst="rect">
                <a:avLst/>
              </a:prstGeom>
              <a:blipFill rotWithShape="0">
                <a:blip r:embed="rId3"/>
                <a:stretch>
                  <a:fillRect l="-1049" t="-11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8" y="6400800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17</a:t>
            </a:r>
            <a:endParaRPr lang="en-AU" dirty="0"/>
          </a:p>
        </p:txBody>
      </p:sp>
      <p:sp>
        <p:nvSpPr>
          <p:cNvPr id="7" name="Oval 6"/>
          <p:cNvSpPr/>
          <p:nvPr/>
        </p:nvSpPr>
        <p:spPr>
          <a:xfrm>
            <a:off x="7160654" y="4868214"/>
            <a:ext cx="862884" cy="70833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8023538" y="4741136"/>
            <a:ext cx="534675" cy="301253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5586094" y="6056837"/>
            <a:ext cx="1416796" cy="14288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55070" y="5747192"/>
            <a:ext cx="862884" cy="70833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TextBox 21"/>
          <p:cNvSpPr txBox="1"/>
          <p:nvPr/>
        </p:nvSpPr>
        <p:spPr>
          <a:xfrm>
            <a:off x="3757205" y="5771078"/>
            <a:ext cx="1842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>
                <a:solidFill>
                  <a:srgbClr val="0070C0"/>
                </a:solidFill>
              </a:rPr>
              <a:t>Denominator</a:t>
            </a:r>
            <a:endParaRPr lang="en-AU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025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 result for shaded frac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396999"/>
            <a:ext cx="2173288" cy="5110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shaded fracti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9038" y="1396999"/>
            <a:ext cx="8421458" cy="3275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28638" y="1600200"/>
            <a:ext cx="657225" cy="407193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500188" y="228600"/>
            <a:ext cx="9215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Identify the shaded fraction of the shapes below: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716908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45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97178"/>
            <a:ext cx="7439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Title</a:t>
            </a:r>
            <a:r>
              <a:rPr lang="en-AU" sz="2400" dirty="0" smtClean="0">
                <a:solidFill>
                  <a:prstClr val="black"/>
                </a:solidFill>
              </a:rPr>
              <a:t>: Different types of fractions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5552" y="512677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Date: 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78" y="1065325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Identify and describe the three types of fractions proper, improper and mixed numerals.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0"/>
            <a:ext cx="29158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  <a:p>
            <a:endParaRPr lang="en-AU" sz="800" dirty="0" smtClean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226860" y="1954655"/>
                <a:ext cx="8715589" cy="4251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Notes: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AU" sz="2400" dirty="0" smtClean="0">
                    <a:solidFill>
                      <a:srgbClr val="0070C0"/>
                    </a:solidFill>
                  </a:rPr>
                  <a:t>Proper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</a:t>
                </a:r>
                <a:r>
                  <a:rPr lang="en-AU" sz="2400" dirty="0" smtClean="0">
                    <a:solidFill>
                      <a:srgbClr val="0070C0"/>
                    </a:solidFill>
                  </a:rPr>
                  <a:t>fractions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have a numerator that is less than the denominator. Examples: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sz="2400" dirty="0" smtClean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AU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AU" sz="2400" dirty="0" smtClean="0">
                    <a:solidFill>
                      <a:srgbClr val="7030A0"/>
                    </a:solidFill>
                  </a:rPr>
                  <a:t>Improper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</a:t>
                </a:r>
                <a:r>
                  <a:rPr lang="en-AU" sz="2400" dirty="0" smtClean="0">
                    <a:solidFill>
                      <a:srgbClr val="7030A0"/>
                    </a:solidFill>
                  </a:rPr>
                  <a:t>fractions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have a numerator that is more than the denominator. </a:t>
                </a:r>
                <a:r>
                  <a:rPr lang="en-AU" sz="2400" dirty="0">
                    <a:solidFill>
                      <a:prstClr val="black"/>
                    </a:solidFill>
                  </a:rPr>
                  <a:t>Examples: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67</m:t>
                        </m:r>
                      </m:num>
                      <m:den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AU" sz="2400" dirty="0" smtClean="0">
                    <a:solidFill>
                      <a:srgbClr val="C00000"/>
                    </a:solidFill>
                  </a:rPr>
                  <a:t>Mixed numerals </a:t>
                </a:r>
                <a:r>
                  <a:rPr lang="en-AU" sz="2400" dirty="0" smtClean="0"/>
                  <a:t>have</a:t>
                </a:r>
                <a:r>
                  <a:rPr lang="en-AU" sz="2400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a whole part and a fraction part. 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     Examples</a:t>
                </a:r>
                <a:r>
                  <a:rPr lang="en-AU" sz="2400" dirty="0">
                    <a:solidFill>
                      <a:prstClr val="black"/>
                    </a:solidFill>
                  </a:rPr>
                  <a:t>: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,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860" y="1954655"/>
                <a:ext cx="8715589" cy="4251548"/>
              </a:xfrm>
              <a:prstGeom prst="rect">
                <a:avLst/>
              </a:prstGeom>
              <a:blipFill rotWithShape="0">
                <a:blip r:embed="rId3"/>
                <a:stretch>
                  <a:fillRect l="-1049" t="-1148" b="-5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8" y="6400800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21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958" y="2356063"/>
            <a:ext cx="317733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What is a proper fraction?</a:t>
            </a:r>
          </a:p>
          <a:p>
            <a:endParaRPr lang="en-AU" sz="2200" dirty="0"/>
          </a:p>
          <a:p>
            <a:endParaRPr lang="en-AU" sz="1200" dirty="0" smtClean="0"/>
          </a:p>
          <a:p>
            <a:endParaRPr lang="en-AU" sz="1200" dirty="0"/>
          </a:p>
          <a:p>
            <a:endParaRPr lang="en-AU" sz="1200" dirty="0" smtClean="0"/>
          </a:p>
          <a:p>
            <a:r>
              <a:rPr lang="en-AU" sz="2200" dirty="0" smtClean="0"/>
              <a:t>What is an improper fraction?</a:t>
            </a:r>
          </a:p>
          <a:p>
            <a:endParaRPr lang="en-AU" sz="2200" dirty="0"/>
          </a:p>
          <a:p>
            <a:endParaRPr lang="en-AU" sz="2200" dirty="0" smtClean="0"/>
          </a:p>
          <a:p>
            <a:r>
              <a:rPr lang="en-AU" sz="2200" dirty="0" smtClean="0"/>
              <a:t>What is a mixed numeral?</a:t>
            </a:r>
          </a:p>
        </p:txBody>
      </p:sp>
    </p:spTree>
    <p:extLst>
      <p:ext uri="{BB962C8B-B14F-4D97-AF65-F5344CB8AC3E}">
        <p14:creationId xmlns:p14="http://schemas.microsoft.com/office/powerpoint/2010/main" val="11577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3026535" y="0"/>
            <a:ext cx="0" cy="68580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22567" y="0"/>
            <a:ext cx="14026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3026535" y="-1"/>
            <a:ext cx="10004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Notes: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590251"/>
            <a:ext cx="12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026535" y="571500"/>
                <a:ext cx="9165465" cy="6102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>
                    <a:solidFill>
                      <a:prstClr val="black"/>
                    </a:solidFill>
                  </a:rPr>
                  <a:t>We need to be able to convert mixed numerals to improper fractions and vice versa.</a:t>
                </a:r>
              </a:p>
              <a:p>
                <a:r>
                  <a:rPr lang="en-AU" sz="2200" dirty="0" smtClean="0">
                    <a:solidFill>
                      <a:srgbClr val="0070C0"/>
                    </a:solidFill>
                  </a:rPr>
                  <a:t>Mixed numeral </a:t>
                </a:r>
                <a:r>
                  <a:rPr lang="en-AU" sz="2200" dirty="0" smtClean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Improper fraction</a:t>
                </a:r>
              </a:p>
              <a:p>
                <a:r>
                  <a:rPr lang="en-AU" sz="2200" dirty="0" err="1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Eg</a:t>
                </a:r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. 1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200" dirty="0" smtClean="0">
                    <a:solidFill>
                      <a:prstClr val="black"/>
                    </a:solidFill>
                  </a:rPr>
                  <a:t> is made up of 1 whole plus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2200" dirty="0" smtClean="0">
                  <a:solidFill>
                    <a:prstClr val="black"/>
                  </a:solidFill>
                </a:endParaRPr>
              </a:p>
              <a:p>
                <a:r>
                  <a:rPr lang="en-AU" sz="2200" dirty="0">
                    <a:solidFill>
                      <a:prstClr val="black"/>
                    </a:solidFill>
                  </a:rPr>
                  <a:t> </a:t>
                </a:r>
                <a:r>
                  <a:rPr lang="en-AU" sz="2200" dirty="0" smtClean="0">
                    <a:solidFill>
                      <a:prstClr val="black"/>
                    </a:solidFill>
                  </a:rPr>
                  <a:t>we can write this as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400" dirty="0" smtClean="0">
                    <a:solidFill>
                      <a:prstClr val="black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endParaRPr lang="en-AU" sz="1200" dirty="0" smtClean="0">
                  <a:solidFill>
                    <a:prstClr val="black"/>
                  </a:solidFill>
                </a:endParaRPr>
              </a:p>
              <a:p>
                <a:r>
                  <a:rPr lang="en-AU" sz="2200" dirty="0" smtClean="0">
                    <a:solidFill>
                      <a:prstClr val="black"/>
                    </a:solidFill>
                  </a:rPr>
                  <a:t>Now try converting 5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AU" sz="2200" dirty="0" smtClean="0">
                    <a:solidFill>
                      <a:prstClr val="black"/>
                    </a:solidFill>
                  </a:rPr>
                  <a:t> to an improper fraction</a:t>
                </a:r>
              </a:p>
              <a:p>
                <a:endParaRPr lang="en-AU" sz="2200" dirty="0" smtClean="0">
                  <a:solidFill>
                    <a:prstClr val="black"/>
                  </a:solidFill>
                </a:endParaRPr>
              </a:p>
              <a:p>
                <a:endParaRPr lang="en-AU" sz="2200" dirty="0">
                  <a:solidFill>
                    <a:prstClr val="black"/>
                  </a:solidFill>
                </a:endParaRPr>
              </a:p>
              <a:p>
                <a:r>
                  <a:rPr lang="en-AU" sz="2200" dirty="0" smtClean="0">
                    <a:solidFill>
                      <a:srgbClr val="7030A0"/>
                    </a:solidFill>
                  </a:rPr>
                  <a:t>Improper fraction </a:t>
                </a:r>
                <a:r>
                  <a:rPr lang="en-AU" sz="2200" dirty="0" smtClean="0">
                    <a:solidFill>
                      <a:srgbClr val="7030A0"/>
                    </a:solidFill>
                    <a:sym typeface="Wingdings" panose="05000000000000000000" pitchFamily="2" charset="2"/>
                  </a:rPr>
                  <a:t> Mixed numeral</a:t>
                </a:r>
              </a:p>
              <a:p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We need to divide the numerator by the denominator and </a:t>
                </a:r>
                <a:r>
                  <a:rPr lang="en-AU" sz="2200" dirty="0" err="1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writethe</a:t>
                </a:r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 remainder as  a proper fraction.</a:t>
                </a:r>
              </a:p>
              <a:p>
                <a:r>
                  <a:rPr lang="en-AU" sz="2200" dirty="0" err="1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Eg</a:t>
                </a:r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38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 =	12 remainder 2	=12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den>
                    </m:f>
                  </m:oMath>
                </a14:m>
                <a:endParaRPr lang="en-AU" sz="2200" dirty="0" smtClean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endParaRPr lang="en-AU" sz="2200" dirty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Now try converting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27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  <m:r>
                      <a:rPr lang="en-AU" sz="22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to a mixed numeral</a:t>
                </a:r>
              </a:p>
              <a:p>
                <a:endParaRPr lang="en-AU" sz="22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535" y="571500"/>
                <a:ext cx="9165465" cy="6102248"/>
              </a:xfrm>
              <a:prstGeom prst="rect">
                <a:avLst/>
              </a:prstGeom>
              <a:blipFill rotWithShape="0">
                <a:blip r:embed="rId2"/>
                <a:stretch>
                  <a:fillRect l="-864" t="-699" r="-3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22567" y="714375"/>
            <a:ext cx="27492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200" dirty="0">
              <a:solidFill>
                <a:prstClr val="black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2567" y="714375"/>
            <a:ext cx="2749221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 smtClean="0"/>
          </a:p>
          <a:p>
            <a:endParaRPr lang="en-AU" dirty="0"/>
          </a:p>
          <a:p>
            <a:r>
              <a:rPr lang="en-AU" sz="2200" dirty="0" smtClean="0"/>
              <a:t>How do we convert a mixed numeral to an improper fraction?</a:t>
            </a:r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r>
              <a:rPr lang="en-AU" sz="2200" dirty="0" smtClean="0"/>
              <a:t>How do we convert an improper fraction to a mixed numeral?</a:t>
            </a:r>
          </a:p>
        </p:txBody>
      </p:sp>
    </p:spTree>
    <p:extLst>
      <p:ext uri="{BB962C8B-B14F-4D97-AF65-F5344CB8AC3E}">
        <p14:creationId xmlns:p14="http://schemas.microsoft.com/office/powerpoint/2010/main" val="2820545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5413" y="764704"/>
            <a:ext cx="10177131" cy="4536504"/>
          </a:xfrm>
        </p:spPr>
        <p:txBody>
          <a:bodyPr>
            <a:normAutofit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1.1  and 1.2 from Dwyer</a:t>
            </a:r>
          </a:p>
          <a:p>
            <a:endParaRPr lang="en-AU" b="1" dirty="0" smtClean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rgbClr val="FF0000"/>
                </a:solidFill>
              </a:rPr>
              <a:t>Handout for the moment</a:t>
            </a:r>
            <a:endParaRPr lang="en-AU" b="1" dirty="0">
              <a:solidFill>
                <a:srgbClr val="FF0000"/>
              </a:solidFill>
            </a:endParaRP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028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45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97178"/>
            <a:ext cx="74391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Title</a:t>
            </a:r>
            <a:r>
              <a:rPr lang="en-AU" sz="2400" dirty="0" smtClean="0">
                <a:solidFill>
                  <a:prstClr val="black"/>
                </a:solidFill>
              </a:rPr>
              <a:t>:	Finding fractions of an amount and </a:t>
            </a:r>
          </a:p>
          <a:p>
            <a:r>
              <a:rPr lang="en-AU" sz="2400" dirty="0">
                <a:solidFill>
                  <a:prstClr val="black"/>
                </a:solidFill>
              </a:rPr>
              <a:t>	</a:t>
            </a:r>
            <a:r>
              <a:rPr lang="en-AU" sz="2400" dirty="0" smtClean="0">
                <a:solidFill>
                  <a:prstClr val="black"/>
                </a:solidFill>
              </a:rPr>
              <a:t>Multiplying  Fractions</a:t>
            </a: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78" y="1065325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Explain how to find the fraction of an amount and the process of multiplying fractions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0"/>
            <a:ext cx="29158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  <a:p>
            <a:endParaRPr lang="en-AU" sz="800" dirty="0" smtClean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226860" y="1954655"/>
                <a:ext cx="8715589" cy="5567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Notes:			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36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AU" sz="3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AU" sz="3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3600" dirty="0" smtClean="0">
                    <a:solidFill>
                      <a:prstClr val="black"/>
                    </a:solidFill>
                  </a:rPr>
                  <a:t> of $12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1) Find one third of $12 by dividing the amount by the </a:t>
                </a:r>
                <a:r>
                  <a:rPr lang="en-AU" sz="2400" b="1" dirty="0" smtClean="0">
                    <a:solidFill>
                      <a:srgbClr val="0070C0"/>
                    </a:solidFill>
                  </a:rPr>
                  <a:t>denominator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	 12 ÷ 3 = $4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2) Multiply the amount in step 1 by the </a:t>
                </a:r>
                <a:r>
                  <a:rPr lang="en-AU" sz="2400" b="1" dirty="0" smtClean="0">
                    <a:solidFill>
                      <a:srgbClr val="7030A0"/>
                    </a:solidFill>
                  </a:rPr>
                  <a:t>numerator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			$4 x 2 = $8</a:t>
                </a:r>
              </a:p>
              <a:p>
                <a:endParaRPr lang="en-AU" sz="11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u="sng" dirty="0" smtClean="0">
                    <a:solidFill>
                      <a:prstClr val="black"/>
                    </a:solidFill>
                  </a:rPr>
                  <a:t>Examples: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Find: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20</m:t>
                    </m:r>
                  </m:oMath>
                </a14:m>
                <a:r>
                  <a:rPr lang="en-AU" sz="2400" dirty="0" smtClean="0">
                    <a:solidFill>
                      <a:prstClr val="black"/>
                    </a:solidFill>
                  </a:rPr>
                  <a:t> =</a:t>
                </a:r>
              </a:p>
              <a:p>
                <a:endParaRPr lang="en-AU" sz="1200" dirty="0" smtClean="0">
                  <a:solidFill>
                    <a:prstClr val="black"/>
                  </a:solidFill>
                </a:endParaRP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64</m:t>
                    </m:r>
                  </m:oMath>
                </a14:m>
                <a:r>
                  <a:rPr lang="en-AU" sz="2400" dirty="0" smtClean="0">
                    <a:solidFill>
                      <a:prstClr val="black"/>
                    </a:solidFill>
                  </a:rPr>
                  <a:t> =</a:t>
                </a:r>
                <a:endParaRPr lang="en-AU" sz="2400" dirty="0">
                  <a:solidFill>
                    <a:prstClr val="black"/>
                  </a:solidFill>
                </a:endParaRP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Do Exercise 1.3 from Dwyer</a:t>
                </a:r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endParaRPr lang="en-AU" sz="3200" dirty="0" smtClean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860" y="1954655"/>
                <a:ext cx="8715589" cy="5567422"/>
              </a:xfrm>
              <a:prstGeom prst="rect">
                <a:avLst/>
              </a:prstGeom>
              <a:blipFill rotWithShape="1">
                <a:blip r:embed="rId3"/>
                <a:stretch>
                  <a:fillRect l="-1049" t="-8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1030" name="TextBox 1029"/>
          <p:cNvSpPr txBox="1"/>
          <p:nvPr/>
        </p:nvSpPr>
        <p:spPr>
          <a:xfrm>
            <a:off x="76435" y="3714051"/>
            <a:ext cx="31114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3142445"/>
            <a:ext cx="31878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How do you find a fraction of an amount?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623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00516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7980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4261</TotalTime>
  <Words>437</Words>
  <Application>Microsoft Office PowerPoint</Application>
  <PresentationFormat>Custom</PresentationFormat>
  <Paragraphs>132</Paragraphs>
  <Slides>10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Office Theme</vt:lpstr>
      <vt:lpstr>1_Office Theme</vt:lpstr>
      <vt:lpstr>My Fractions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Bianca Riksman</dc:creator>
  <cp:lastModifiedBy>MCALLISTER Robert</cp:lastModifiedBy>
  <cp:revision>102</cp:revision>
  <dcterms:created xsi:type="dcterms:W3CDTF">2015-04-20T06:02:45Z</dcterms:created>
  <dcterms:modified xsi:type="dcterms:W3CDTF">2016-02-03T01:28:13Z</dcterms:modified>
</cp:coreProperties>
</file>
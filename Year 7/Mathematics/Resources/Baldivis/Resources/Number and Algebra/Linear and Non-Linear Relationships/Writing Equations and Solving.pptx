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11"/>
  </p:handout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1" r:id="rId9"/>
    <p:sldId id="265" r:id="rId10"/>
  </p:sldIdLst>
  <p:sldSz cx="9144000" cy="6858000" type="screen4x3"/>
  <p:notesSz cx="6856413" cy="9083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FFFF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 autoAdjust="0"/>
    <p:restoredTop sz="94581" autoAdjust="0"/>
  </p:normalViewPr>
  <p:slideViewPr>
    <p:cSldViewPr>
      <p:cViewPr varScale="1">
        <p:scale>
          <a:sx n="84" d="100"/>
          <a:sy n="84" d="100"/>
        </p:scale>
        <p:origin x="-845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2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7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2" Type="http://schemas.openxmlformats.org/officeDocument/2006/relationships/image" Target="../media/image21.wmf"/><Relationship Id="rId1" Type="http://schemas.openxmlformats.org/officeDocument/2006/relationships/image" Target="../media/image28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806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862806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fld id="{42ED8A7A-B89E-4FCC-8C3D-FDC6186298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08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8F14-A603-4999-9DED-B2A11E0AEB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653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F940F-FA38-43C2-B630-A175FEE16B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214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43B71-41C2-4EDB-B87D-16377FD8E8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5803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A2B7-558C-42B8-98A9-C726A65A5B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1287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62C2-FD10-470A-8361-498AF94B21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1039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E876-28F5-4714-A775-50A27F535A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279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32B98-3080-4186-A6B8-7052E39863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7564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FF67-B78A-4F7A-B2FE-2FA3CE6354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1516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0172-9F96-4DA6-9D9E-6F96998D5C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0224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96E92-59BA-4CED-9B09-42D3F2C325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0863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7600-DA6F-4850-8C5C-63852AE12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825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916AC-D2D2-4ECD-B90E-040EFC26D4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3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random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8.bin"/><Relationship Id="rId3" Type="http://schemas.openxmlformats.org/officeDocument/2006/relationships/oleObject" Target="../embeddings/oleObject10.bin"/><Relationship Id="rId21" Type="http://schemas.openxmlformats.org/officeDocument/2006/relationships/image" Target="../media/image17.wmf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image" Target="../media/image12.wmf"/><Relationship Id="rId24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4.wmf"/><Relationship Id="rId23" Type="http://schemas.openxmlformats.org/officeDocument/2006/relationships/oleObject" Target="../embeddings/oleObject21.bin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6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13.bin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3.png"/><Relationship Id="rId4" Type="http://schemas.openxmlformats.org/officeDocument/2006/relationships/image" Target="../media/image19.wmf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1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35.wmf"/><Relationship Id="rId34" Type="http://schemas.openxmlformats.org/officeDocument/2006/relationships/image" Target="../media/image41.w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1.wmf"/><Relationship Id="rId17" Type="http://schemas.openxmlformats.org/officeDocument/2006/relationships/image" Target="../media/image33.wmf"/><Relationship Id="rId25" Type="http://schemas.openxmlformats.org/officeDocument/2006/relationships/image" Target="../media/image37.wmf"/><Relationship Id="rId3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oleObject" Target="../embeddings/oleObject44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1.bin"/><Relationship Id="rId32" Type="http://schemas.openxmlformats.org/officeDocument/2006/relationships/image" Target="../media/image40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43.bin"/><Relationship Id="rId10" Type="http://schemas.openxmlformats.org/officeDocument/2006/relationships/image" Target="../media/image30.wmf"/><Relationship Id="rId19" Type="http://schemas.openxmlformats.org/officeDocument/2006/relationships/image" Target="../media/image34.wmf"/><Relationship Id="rId31" Type="http://schemas.openxmlformats.org/officeDocument/2006/relationships/oleObject" Target="../embeddings/oleObject45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2.wmf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38.wmf"/><Relationship Id="rId30" Type="http://schemas.openxmlformats.org/officeDocument/2006/relationships/image" Target="../media/image39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905000"/>
            <a:ext cx="822325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Topic: Writing and solving Equations.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EQ: How do I write sentences as equations?</a:t>
            </a:r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Phrases and symbols that suggest </a:t>
            </a:r>
            <a:br>
              <a:rPr lang="en-US" sz="3200"/>
            </a:br>
            <a:r>
              <a:rPr lang="en-US" sz="3200"/>
              <a:t>adding and subtracting.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/>
              <a:t>ADDITION</a:t>
            </a:r>
          </a:p>
          <a:p>
            <a:pPr algn="ctr">
              <a:buFontTx/>
              <a:buNone/>
            </a:pPr>
            <a:endParaRPr lang="en-US" sz="2400" dirty="0"/>
          </a:p>
          <a:p>
            <a:r>
              <a:rPr lang="en-US" sz="2400" dirty="0"/>
              <a:t>Sum</a:t>
            </a:r>
          </a:p>
          <a:p>
            <a:r>
              <a:rPr lang="en-US" sz="2400" dirty="0"/>
              <a:t>Total</a:t>
            </a:r>
          </a:p>
          <a:p>
            <a:r>
              <a:rPr lang="en-US" sz="2400" dirty="0"/>
              <a:t>Added to</a:t>
            </a:r>
          </a:p>
          <a:p>
            <a:r>
              <a:rPr lang="en-US" sz="2400" dirty="0"/>
              <a:t>Increased by</a:t>
            </a:r>
          </a:p>
          <a:p>
            <a:r>
              <a:rPr lang="en-US" sz="2400" dirty="0"/>
              <a:t>More than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/>
              <a:t>SUBTRACTION</a:t>
            </a:r>
          </a:p>
          <a:p>
            <a:pPr algn="ctr">
              <a:buFontTx/>
              <a:buNone/>
            </a:pPr>
            <a:endParaRPr lang="en-US" sz="2400" dirty="0"/>
          </a:p>
          <a:p>
            <a:pPr algn="ctr">
              <a:buFontTx/>
              <a:buNone/>
            </a:pPr>
            <a:endParaRPr lang="en-US" sz="2400" dirty="0"/>
          </a:p>
          <a:p>
            <a:r>
              <a:rPr lang="en-US" sz="2400" dirty="0"/>
              <a:t>Difference</a:t>
            </a:r>
          </a:p>
          <a:p>
            <a:r>
              <a:rPr lang="en-US" sz="2400" dirty="0"/>
              <a:t>Subtracted from</a:t>
            </a:r>
          </a:p>
          <a:p>
            <a:r>
              <a:rPr lang="en-US" sz="2400" dirty="0"/>
              <a:t>Decreased by</a:t>
            </a:r>
          </a:p>
          <a:p>
            <a:r>
              <a:rPr lang="en-US" sz="2400" dirty="0"/>
              <a:t>Less than</a:t>
            </a: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762947"/>
              </p:ext>
            </p:extLst>
          </p:nvPr>
        </p:nvGraphicFramePr>
        <p:xfrm>
          <a:off x="1295400" y="4800600"/>
          <a:ext cx="91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3" imgW="139680" imgH="139680" progId="Equation.DSMT4">
                  <p:embed/>
                </p:oleObj>
              </mc:Choice>
              <mc:Fallback>
                <p:oleObj name="Equation" r:id="rId3" imgW="139680" imgH="1396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00600"/>
                        <a:ext cx="91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100083"/>
              </p:ext>
            </p:extLst>
          </p:nvPr>
        </p:nvGraphicFramePr>
        <p:xfrm>
          <a:off x="5410200" y="5029200"/>
          <a:ext cx="8318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5" imgW="126720" imgH="101520" progId="Equation.DSMT4">
                  <p:embed/>
                </p:oleObj>
              </mc:Choice>
              <mc:Fallback>
                <p:oleObj name="Equation" r:id="rId5" imgW="126720" imgH="101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029200"/>
                        <a:ext cx="8318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Phrases and symbols that suggest </a:t>
            </a:r>
            <a:br>
              <a:rPr lang="en-US" sz="3200"/>
            </a:br>
            <a:r>
              <a:rPr lang="en-US" sz="3200"/>
              <a:t>multiplying and dividing.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/>
              <a:t>MULTIPLICATION</a:t>
            </a:r>
          </a:p>
          <a:p>
            <a:pPr>
              <a:buFontTx/>
              <a:buNone/>
            </a:pPr>
            <a:endParaRPr lang="en-US" sz="2400" dirty="0"/>
          </a:p>
          <a:p>
            <a:r>
              <a:rPr lang="en-US" sz="2400" dirty="0"/>
              <a:t>Product</a:t>
            </a:r>
          </a:p>
          <a:p>
            <a:r>
              <a:rPr lang="en-US" sz="2400" dirty="0"/>
              <a:t>Times</a:t>
            </a:r>
          </a:p>
          <a:p>
            <a:r>
              <a:rPr lang="en-US" sz="2400" dirty="0"/>
              <a:t>Multiplied by</a:t>
            </a:r>
          </a:p>
          <a:p>
            <a:pPr>
              <a:buFontTx/>
              <a:buNone/>
            </a:pPr>
            <a:endParaRPr lang="en-US" sz="2400" dirty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/>
              <a:t>DIVISION</a:t>
            </a:r>
          </a:p>
          <a:p>
            <a:endParaRPr lang="en-US" sz="2400" dirty="0"/>
          </a:p>
          <a:p>
            <a:r>
              <a:rPr lang="en-US" sz="2400" dirty="0"/>
              <a:t>Quotient</a:t>
            </a:r>
          </a:p>
          <a:p>
            <a:endParaRPr lang="en-US" sz="2400" dirty="0"/>
          </a:p>
          <a:p>
            <a:r>
              <a:rPr lang="en-US" sz="2400" dirty="0"/>
              <a:t>Divided by</a:t>
            </a:r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988626"/>
              </p:ext>
            </p:extLst>
          </p:nvPr>
        </p:nvGraphicFramePr>
        <p:xfrm>
          <a:off x="684212" y="4168775"/>
          <a:ext cx="4937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3" imgW="114120" imgH="139680" progId="Equation.DSMT4">
                  <p:embed/>
                </p:oleObj>
              </mc:Choice>
              <mc:Fallback>
                <p:oleObj name="Equation" r:id="rId3" imgW="114120" imgH="1396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2" y="4168775"/>
                        <a:ext cx="4937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178080"/>
              </p:ext>
            </p:extLst>
          </p:nvPr>
        </p:nvGraphicFramePr>
        <p:xfrm>
          <a:off x="1257300" y="4195763"/>
          <a:ext cx="4937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5" imgW="114120" imgH="126720" progId="Equation.DSMT4">
                  <p:embed/>
                </p:oleObj>
              </mc:Choice>
              <mc:Fallback>
                <p:oleObj name="Equation" r:id="rId5" imgW="114120" imgH="126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4195763"/>
                        <a:ext cx="4937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678942"/>
              </p:ext>
            </p:extLst>
          </p:nvPr>
        </p:nvGraphicFramePr>
        <p:xfrm>
          <a:off x="1676400" y="4038600"/>
          <a:ext cx="8763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7" imgW="203040" imgH="203040" progId="Equation.DSMT4">
                  <p:embed/>
                </p:oleObj>
              </mc:Choice>
              <mc:Fallback>
                <p:oleObj name="Equation" r:id="rId7" imgW="20304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8763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603459"/>
              </p:ext>
            </p:extLst>
          </p:nvPr>
        </p:nvGraphicFramePr>
        <p:xfrm>
          <a:off x="2628900" y="4195763"/>
          <a:ext cx="4937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9" imgW="114120" imgH="126720" progId="Equation.DSMT4">
                  <p:embed/>
                </p:oleObj>
              </mc:Choice>
              <mc:Fallback>
                <p:oleObj name="Equation" r:id="rId9" imgW="114120" imgH="1267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195763"/>
                        <a:ext cx="4937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431590"/>
              </p:ext>
            </p:extLst>
          </p:nvPr>
        </p:nvGraphicFramePr>
        <p:xfrm>
          <a:off x="5076825" y="4322762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Equation" r:id="rId11" imgW="126720" imgH="126720" progId="Equation.DSMT4">
                  <p:embed/>
                </p:oleObj>
              </mc:Choice>
              <mc:Fallback>
                <p:oleObj name="Equation" r:id="rId11" imgW="126720" imgH="1267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322762"/>
                        <a:ext cx="68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943408"/>
              </p:ext>
            </p:extLst>
          </p:nvPr>
        </p:nvGraphicFramePr>
        <p:xfrm>
          <a:off x="6019800" y="3962400"/>
          <a:ext cx="523875" cy="135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Equation" r:id="rId13" imgW="152280" imgH="393480" progId="Equation.DSMT4">
                  <p:embed/>
                </p:oleObj>
              </mc:Choice>
              <mc:Fallback>
                <p:oleObj name="Equation" r:id="rId13" imgW="15228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962400"/>
                        <a:ext cx="523875" cy="1350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144084"/>
              </p:ext>
            </p:extLst>
          </p:nvPr>
        </p:nvGraphicFramePr>
        <p:xfrm>
          <a:off x="6829425" y="4094162"/>
          <a:ext cx="8128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name="Equation" r:id="rId15" imgW="228600" imgH="304560" progId="Equation.DSMT4">
                  <p:embed/>
                </p:oleObj>
              </mc:Choice>
              <mc:Fallback>
                <p:oleObj name="Equation" r:id="rId15" imgW="228600" imgH="3045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4094162"/>
                        <a:ext cx="812800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1" fill="hold"/>
                                        <p:tgtEl>
                                          <p:spTgt spid="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8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8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6" dur="1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6" dur="1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33400" y="228600"/>
            <a:ext cx="7620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smtClean="0"/>
              <a:t>1)  </a:t>
            </a:r>
            <a:r>
              <a:rPr lang="en-US" sz="3200" dirty="0"/>
              <a:t>19 less than w</a:t>
            </a:r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2057400" y="914400"/>
          <a:ext cx="8318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3" imgW="126720" imgH="101520" progId="Equation.DSMT4">
                  <p:embed/>
                </p:oleObj>
              </mc:Choice>
              <mc:Fallback>
                <p:oleObj name="Equation" r:id="rId3" imgW="126720" imgH="101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914400"/>
                        <a:ext cx="8318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2887663" y="762000"/>
          <a:ext cx="7699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5" imgW="177480" imgH="177480" progId="Equation.DSMT4">
                  <p:embed/>
                </p:oleObj>
              </mc:Choice>
              <mc:Fallback>
                <p:oleObj name="Equation" r:id="rId5" imgW="17748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3" y="762000"/>
                        <a:ext cx="769937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1273175" y="844550"/>
          <a:ext cx="8604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7" imgW="152280" imgH="139680" progId="Equation.DSMT4">
                  <p:embed/>
                </p:oleObj>
              </mc:Choice>
              <mc:Fallback>
                <p:oleObj name="Equation" r:id="rId7" imgW="152280" imgH="1396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844550"/>
                        <a:ext cx="86042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33400" y="2011363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smtClean="0"/>
              <a:t>4)  </a:t>
            </a:r>
            <a:r>
              <a:rPr lang="en-US" sz="3200" dirty="0"/>
              <a:t>13 subtracted from d</a:t>
            </a:r>
          </a:p>
        </p:txBody>
      </p:sp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2825750" y="2916238"/>
          <a:ext cx="8318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9" imgW="126720" imgH="101520" progId="Equation.DSMT4">
                  <p:embed/>
                </p:oleObj>
              </mc:Choice>
              <mc:Fallback>
                <p:oleObj name="Equation" r:id="rId9" imgW="126720" imgH="1015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916238"/>
                        <a:ext cx="83185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3725863" y="2743200"/>
          <a:ext cx="7699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Equation" r:id="rId10" imgW="177480" imgH="177480" progId="Equation.DSMT4">
                  <p:embed/>
                </p:oleObj>
              </mc:Choice>
              <mc:Fallback>
                <p:oleObj name="Equation" r:id="rId10" imgW="17748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3" y="2743200"/>
                        <a:ext cx="769937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2139950" y="2743200"/>
          <a:ext cx="6048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Equation" r:id="rId12" imgW="139680" imgH="177480" progId="Equation.DSMT4">
                  <p:embed/>
                </p:oleObj>
              </mc:Choice>
              <mc:Fallback>
                <p:oleObj name="Equation" r:id="rId12" imgW="139680" imgH="177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2743200"/>
                        <a:ext cx="6048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533400" y="3810000"/>
            <a:ext cx="838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smtClean="0"/>
              <a:t>3) </a:t>
            </a:r>
            <a:r>
              <a:rPr lang="en-US" sz="3200" dirty="0"/>
              <a:t>10 meters added to the perimeter</a:t>
            </a:r>
          </a:p>
        </p:txBody>
      </p:sp>
      <p:graphicFrame>
        <p:nvGraphicFramePr>
          <p:cNvPr id="12304" name="Object 16"/>
          <p:cNvGraphicFramePr>
            <a:graphicFrameLocks noChangeAspect="1"/>
          </p:cNvGraphicFramePr>
          <p:nvPr/>
        </p:nvGraphicFramePr>
        <p:xfrm>
          <a:off x="3124200" y="4419600"/>
          <a:ext cx="91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Equation" r:id="rId14" imgW="139680" imgH="139680" progId="Equation.DSMT4">
                  <p:embed/>
                </p:oleObj>
              </mc:Choice>
              <mc:Fallback>
                <p:oleObj name="Equation" r:id="rId14" imgW="139680" imgH="1396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19600"/>
                        <a:ext cx="91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/>
          <p:cNvGraphicFramePr>
            <a:graphicFrameLocks noChangeAspect="1"/>
          </p:cNvGraphicFramePr>
          <p:nvPr/>
        </p:nvGraphicFramePr>
        <p:xfrm>
          <a:off x="2319338" y="4672013"/>
          <a:ext cx="72866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16" imgW="152280" imgH="164880" progId="Equation.DSMT4">
                  <p:embed/>
                </p:oleObj>
              </mc:Choice>
              <mc:Fallback>
                <p:oleObj name="Equation" r:id="rId16" imgW="152280" imgH="1648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4672013"/>
                        <a:ext cx="728662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/>
          <p:cNvGraphicFramePr>
            <a:graphicFrameLocks noChangeAspect="1"/>
          </p:cNvGraphicFramePr>
          <p:nvPr/>
        </p:nvGraphicFramePr>
        <p:xfrm>
          <a:off x="4114800" y="4565650"/>
          <a:ext cx="7699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Equation" r:id="rId18" imgW="177480" imgH="177480" progId="Equation.DSMT4">
                  <p:embed/>
                </p:oleObj>
              </mc:Choice>
              <mc:Fallback>
                <p:oleObj name="Equation" r:id="rId18" imgW="177480" imgH="1774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565650"/>
                        <a:ext cx="7699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33400" y="5364163"/>
            <a:ext cx="838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dirty="0" smtClean="0"/>
              <a:t>4)  </a:t>
            </a:r>
            <a:r>
              <a:rPr lang="en-US" sz="3200" dirty="0"/>
              <a:t>Eight more than a number</a:t>
            </a:r>
          </a:p>
        </p:txBody>
      </p:sp>
      <p:graphicFrame>
        <p:nvGraphicFramePr>
          <p:cNvPr id="12310" name="Object 22"/>
          <p:cNvGraphicFramePr>
            <a:graphicFrameLocks noChangeAspect="1"/>
          </p:cNvGraphicFramePr>
          <p:nvPr/>
        </p:nvGraphicFramePr>
        <p:xfrm>
          <a:off x="2805113" y="5943600"/>
          <a:ext cx="6238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8" name="Equation" r:id="rId20" imgW="126720" imgH="139680" progId="Equation.DSMT4">
                  <p:embed/>
                </p:oleObj>
              </mc:Choice>
              <mc:Fallback>
                <p:oleObj name="Equation" r:id="rId20" imgW="126720" imgH="1396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5943600"/>
                        <a:ext cx="6238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3"/>
          <p:cNvGraphicFramePr>
            <a:graphicFrameLocks noChangeAspect="1"/>
          </p:cNvGraphicFramePr>
          <p:nvPr/>
        </p:nvGraphicFramePr>
        <p:xfrm>
          <a:off x="3352800" y="58674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" name="Equation" r:id="rId22" imgW="139680" imgH="139680" progId="Equation.DSMT4">
                  <p:embed/>
                </p:oleObj>
              </mc:Choice>
              <mc:Fallback>
                <p:oleObj name="Equation" r:id="rId22" imgW="139680" imgH="1396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867400"/>
                        <a:ext cx="68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24"/>
          <p:cNvGraphicFramePr>
            <a:graphicFrameLocks noChangeAspect="1"/>
          </p:cNvGraphicFramePr>
          <p:nvPr/>
        </p:nvGraphicFramePr>
        <p:xfrm>
          <a:off x="3962400" y="5818188"/>
          <a:ext cx="5207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0" name="Equation" r:id="rId23" imgW="114120" imgH="177480" progId="Equation.DSMT4">
                  <p:embed/>
                </p:oleObj>
              </mc:Choice>
              <mc:Fallback>
                <p:oleObj name="Equation" r:id="rId23" imgW="114120" imgH="1774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818188"/>
                        <a:ext cx="5207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/>
      <p:bldP spid="12303" grpId="0"/>
      <p:bldP spid="123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7313613" cy="884238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Writing Equations and Formulas</a:t>
            </a:r>
          </a:p>
        </p:txBody>
      </p:sp>
      <p:sp>
        <p:nvSpPr>
          <p:cNvPr id="16388" name="WordArt 4"/>
          <p:cNvSpPr>
            <a:spLocks noChangeArrowheads="1" noChangeShapeType="1" noTextEdit="1"/>
          </p:cNvSpPr>
          <p:nvPr/>
        </p:nvSpPr>
        <p:spPr bwMode="auto">
          <a:xfrm>
            <a:off x="76200" y="2743200"/>
            <a:ext cx="2057400" cy="762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Read the</a:t>
            </a:r>
          </a:p>
          <a:p>
            <a:pPr algn="ctr"/>
            <a:r>
              <a:rPr lang="en-AU" sz="3600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Words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286000" y="2667000"/>
            <a:ext cx="617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5)  </a:t>
            </a:r>
            <a:r>
              <a:rPr lang="en-US" sz="2400" b="1" dirty="0"/>
              <a:t>Nine times a number </a:t>
            </a:r>
            <a:r>
              <a:rPr lang="en-US" sz="2400" b="1" dirty="0" smtClean="0"/>
              <a:t>added to </a:t>
            </a:r>
            <a:r>
              <a:rPr lang="en-US" sz="2400" b="1" dirty="0"/>
              <a:t>95 equals </a:t>
            </a:r>
            <a:r>
              <a:rPr lang="en-US" sz="2400" b="1" dirty="0" smtClean="0"/>
              <a:t>113.</a:t>
            </a:r>
            <a:endParaRPr lang="en-US" sz="2400" b="1" dirty="0"/>
          </a:p>
        </p:txBody>
      </p:sp>
      <p:sp>
        <p:nvSpPr>
          <p:cNvPr id="16390" name="WordArt 6"/>
          <p:cNvSpPr>
            <a:spLocks noChangeArrowheads="1" noChangeShapeType="1" noTextEdit="1"/>
          </p:cNvSpPr>
          <p:nvPr/>
        </p:nvSpPr>
        <p:spPr bwMode="auto">
          <a:xfrm>
            <a:off x="152400" y="3806825"/>
            <a:ext cx="1981200" cy="8413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b="1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Define the</a:t>
            </a:r>
          </a:p>
          <a:p>
            <a:pPr algn="ctr"/>
            <a:r>
              <a:rPr lang="en-AU" sz="3600" b="1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Variable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2286000" y="3962400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Let “n” represent “a number”</a:t>
            </a:r>
          </a:p>
        </p:txBody>
      </p:sp>
      <p:sp>
        <p:nvSpPr>
          <p:cNvPr id="16392" name="WordArt 8"/>
          <p:cNvSpPr>
            <a:spLocks noChangeArrowheads="1" noChangeShapeType="1" noTextEdit="1"/>
          </p:cNvSpPr>
          <p:nvPr/>
        </p:nvSpPr>
        <p:spPr bwMode="auto">
          <a:xfrm>
            <a:off x="152400" y="5026025"/>
            <a:ext cx="1828800" cy="8413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b="1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Write the</a:t>
            </a:r>
          </a:p>
          <a:p>
            <a:pPr algn="ctr"/>
            <a:r>
              <a:rPr lang="en-AU" sz="3600" b="1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Equation</a:t>
            </a:r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3940175" y="5156200"/>
          <a:ext cx="711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3" imgW="203040" imgH="177480" progId="Equation.DSMT4">
                  <p:embed/>
                </p:oleObj>
              </mc:Choice>
              <mc:Fallback>
                <p:oleObj name="Equation" r:id="rId3" imgW="203040" imgH="177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5156200"/>
                        <a:ext cx="711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2743200" y="5168900"/>
          <a:ext cx="6667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tion" r:id="rId5" imgW="190440" imgH="177480" progId="Equation.DSMT4">
                  <p:embed/>
                </p:oleObj>
              </mc:Choice>
              <mc:Fallback>
                <p:oleObj name="Equation" r:id="rId5" imgW="190440" imgH="177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68900"/>
                        <a:ext cx="6667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4625975" y="5378450"/>
          <a:ext cx="444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Equation" r:id="rId7" imgW="126720" imgH="114120" progId="Equation.DSMT4">
                  <p:embed/>
                </p:oleObj>
              </mc:Choice>
              <mc:Fallback>
                <p:oleObj name="Equation" r:id="rId7" imgW="126720" imgH="1141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975" y="5378450"/>
                        <a:ext cx="444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990600" y="914400"/>
            <a:ext cx="7543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b="1"/>
              <a:t>Words or phrases that suggest  “ = “</a:t>
            </a:r>
          </a:p>
        </p:txBody>
      </p:sp>
      <p:sp>
        <p:nvSpPr>
          <p:cNvPr id="16401" name="WordArt 17"/>
          <p:cNvSpPr>
            <a:spLocks noChangeArrowheads="1" noChangeShapeType="1" noTextEdit="1"/>
          </p:cNvSpPr>
          <p:nvPr/>
        </p:nvSpPr>
        <p:spPr bwMode="auto">
          <a:xfrm>
            <a:off x="2095500" y="1524000"/>
            <a:ext cx="952500" cy="3619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Equals -</a:t>
            </a:r>
          </a:p>
        </p:txBody>
      </p:sp>
      <p:sp>
        <p:nvSpPr>
          <p:cNvPr id="16402" name="WordArt 18"/>
          <p:cNvSpPr>
            <a:spLocks noChangeArrowheads="1" noChangeShapeType="1" noTextEdit="1"/>
          </p:cNvSpPr>
          <p:nvPr/>
        </p:nvSpPr>
        <p:spPr bwMode="auto">
          <a:xfrm>
            <a:off x="3162300" y="1524000"/>
            <a:ext cx="266700" cy="304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Is -</a:t>
            </a:r>
          </a:p>
        </p:txBody>
      </p:sp>
      <p:sp>
        <p:nvSpPr>
          <p:cNvPr id="16403" name="WordArt 19"/>
          <p:cNvSpPr>
            <a:spLocks noChangeArrowheads="1" noChangeShapeType="1" noTextEdit="1"/>
          </p:cNvSpPr>
          <p:nvPr/>
        </p:nvSpPr>
        <p:spPr bwMode="auto">
          <a:xfrm>
            <a:off x="3581400" y="1536700"/>
            <a:ext cx="1485900" cy="3683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Is equal to -</a:t>
            </a:r>
          </a:p>
        </p:txBody>
      </p:sp>
      <p:sp>
        <p:nvSpPr>
          <p:cNvPr id="16404" name="WordArt 20"/>
          <p:cNvSpPr>
            <a:spLocks noChangeArrowheads="1" noChangeShapeType="1" noTextEdit="1"/>
          </p:cNvSpPr>
          <p:nvPr/>
        </p:nvSpPr>
        <p:spPr bwMode="auto">
          <a:xfrm>
            <a:off x="5219700" y="1524000"/>
            <a:ext cx="1638300" cy="304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Is as much as - </a:t>
            </a:r>
          </a:p>
        </p:txBody>
      </p:sp>
      <p:sp>
        <p:nvSpPr>
          <p:cNvPr id="16405" name="WordArt 21"/>
          <p:cNvSpPr>
            <a:spLocks noChangeArrowheads="1" noChangeShapeType="1" noTextEdit="1"/>
          </p:cNvSpPr>
          <p:nvPr/>
        </p:nvSpPr>
        <p:spPr bwMode="auto">
          <a:xfrm>
            <a:off x="2819400" y="2057400"/>
            <a:ext cx="1638300" cy="304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Is the same as - </a:t>
            </a:r>
          </a:p>
        </p:txBody>
      </p:sp>
      <p:sp>
        <p:nvSpPr>
          <p:cNvPr id="16406" name="WordArt 22"/>
          <p:cNvSpPr>
            <a:spLocks noChangeArrowheads="1" noChangeShapeType="1" noTextEdit="1"/>
          </p:cNvSpPr>
          <p:nvPr/>
        </p:nvSpPr>
        <p:spPr bwMode="auto">
          <a:xfrm>
            <a:off x="4495800" y="2057400"/>
            <a:ext cx="1638300" cy="304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2000" kern="10" spc="40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/>
              </a:rPr>
              <a:t>Is identical to  </a:t>
            </a:r>
          </a:p>
        </p:txBody>
      </p:sp>
      <p:sp>
        <p:nvSpPr>
          <p:cNvPr id="16407" name="AutoShape 23"/>
          <p:cNvSpPr>
            <a:spLocks noChangeArrowheads="1"/>
          </p:cNvSpPr>
          <p:nvPr/>
        </p:nvSpPr>
        <p:spPr bwMode="auto">
          <a:xfrm>
            <a:off x="76200" y="1447800"/>
            <a:ext cx="1828800" cy="1219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/>
              <a:t>Translating</a:t>
            </a:r>
          </a:p>
          <a:p>
            <a:pPr algn="ctr"/>
            <a:r>
              <a:rPr lang="en-US" b="1"/>
              <a:t>Equations</a:t>
            </a:r>
          </a:p>
          <a:p>
            <a:pPr algn="ctr"/>
            <a:r>
              <a:rPr lang="en-US" b="1"/>
              <a:t>Has 3</a:t>
            </a:r>
          </a:p>
          <a:p>
            <a:pPr algn="ctr"/>
            <a:r>
              <a:rPr lang="en-US" b="1"/>
              <a:t>Steps</a:t>
            </a:r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>
            <a:off x="4452938" y="3095625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409" name="Rectangle 25"/>
          <p:cNvSpPr>
            <a:spLocks noChangeArrowheads="1"/>
          </p:cNvSpPr>
          <p:nvPr/>
        </p:nvSpPr>
        <p:spPr bwMode="auto">
          <a:xfrm>
            <a:off x="5867400" y="3048000"/>
            <a:ext cx="2362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2790825" y="3048000"/>
            <a:ext cx="3048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2209800" y="3409950"/>
            <a:ext cx="609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2895600" y="3429000"/>
            <a:ext cx="838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3810000" y="3414713"/>
            <a:ext cx="609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429000" y="5154324"/>
                <a:ext cx="6046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154324"/>
                <a:ext cx="604653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5152742" y="5160171"/>
                <a:ext cx="9813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0" smtClean="0">
                          <a:latin typeface="Cambria Math"/>
                        </a:rPr>
                        <m:t>113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742" y="5160171"/>
                <a:ext cx="981358" cy="584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2362200" y="5896069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Now solve:</a:t>
            </a:r>
            <a:endParaRPr lang="en-US" sz="24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8" dur="500" autoRev="1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500" autoRev="1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500" autoRev="1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1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90" grpId="0" animBg="1"/>
      <p:bldP spid="16391" grpId="0"/>
      <p:bldP spid="16392" grpId="0" animBg="1"/>
      <p:bldP spid="16401" grpId="0" animBg="1"/>
      <p:bldP spid="16402" grpId="0" animBg="1"/>
      <p:bldP spid="16403" grpId="0" animBg="1"/>
      <p:bldP spid="16404" grpId="0" animBg="1"/>
      <p:bldP spid="16405" grpId="0" animBg="1"/>
      <p:bldP spid="16406" grpId="0" animBg="1"/>
      <p:bldP spid="16407" grpId="0" animBg="1"/>
      <p:bldP spid="16408" grpId="0" animBg="1"/>
      <p:bldP spid="16409" grpId="0" animBg="1"/>
      <p:bldP spid="16410" grpId="0" animBg="1"/>
      <p:bldP spid="16411" grpId="0" animBg="1"/>
      <p:bldP spid="16412" grpId="0" animBg="1"/>
      <p:bldP spid="16413" grpId="0" animBg="1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WordArt 4"/>
          <p:cNvSpPr>
            <a:spLocks noChangeArrowheads="1" noChangeShapeType="1" noTextEdit="1"/>
          </p:cNvSpPr>
          <p:nvPr/>
        </p:nvSpPr>
        <p:spPr bwMode="auto">
          <a:xfrm>
            <a:off x="76200" y="1447800"/>
            <a:ext cx="2057400" cy="762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Read the</a:t>
            </a:r>
          </a:p>
          <a:p>
            <a:pPr algn="ctr"/>
            <a:r>
              <a:rPr lang="en-AU" sz="3600" kern="1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Words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743200" y="304800"/>
            <a:ext cx="617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6)  </a:t>
            </a:r>
            <a:r>
              <a:rPr lang="en-US" sz="2400" b="1" dirty="0"/>
              <a:t>Twice the number x decreased by eight equals seventy.</a:t>
            </a:r>
          </a:p>
        </p:txBody>
      </p:sp>
      <p:sp>
        <p:nvSpPr>
          <p:cNvPr id="18438" name="WordArt 6"/>
          <p:cNvSpPr>
            <a:spLocks noChangeArrowheads="1" noChangeShapeType="1" noTextEdit="1"/>
          </p:cNvSpPr>
          <p:nvPr/>
        </p:nvSpPr>
        <p:spPr bwMode="auto">
          <a:xfrm>
            <a:off x="152400" y="2953237"/>
            <a:ext cx="1981200" cy="8413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b="1" kern="10" dirty="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Define the</a:t>
            </a:r>
          </a:p>
          <a:p>
            <a:pPr algn="ctr"/>
            <a:r>
              <a:rPr lang="en-AU" sz="3600" b="1" kern="10" dirty="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Variable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743200" y="1600200"/>
            <a:ext cx="586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Let “x” represent “the number”</a:t>
            </a:r>
          </a:p>
        </p:txBody>
      </p:sp>
      <p:sp>
        <p:nvSpPr>
          <p:cNvPr id="18440" name="WordArt 8"/>
          <p:cNvSpPr>
            <a:spLocks noChangeArrowheads="1" noChangeShapeType="1" noTextEdit="1"/>
          </p:cNvSpPr>
          <p:nvPr/>
        </p:nvSpPr>
        <p:spPr bwMode="auto">
          <a:xfrm>
            <a:off x="152400" y="4608811"/>
            <a:ext cx="1828800" cy="8413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b="1" kern="10" dirty="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Write the</a:t>
            </a:r>
          </a:p>
          <a:p>
            <a:pPr algn="ctr"/>
            <a:r>
              <a:rPr lang="en-AU" sz="3600" b="1" kern="10" dirty="0">
                <a:solidFill>
                  <a:srgbClr val="3333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Poor Richard"/>
              </a:rPr>
              <a:t>Equation</a:t>
            </a:r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3276600" y="2794000"/>
          <a:ext cx="711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Equation" r:id="rId3" imgW="203040" imgH="177480" progId="Equation.DSMT4">
                  <p:embed/>
                </p:oleObj>
              </mc:Choice>
              <mc:Fallback>
                <p:oleObj name="Equation" r:id="rId3" imgW="20304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94000"/>
                        <a:ext cx="711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3886200" y="3035300"/>
          <a:ext cx="444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Equation" r:id="rId5" imgW="126720" imgH="101520" progId="Equation.DSMT4">
                  <p:embed/>
                </p:oleObj>
              </mc:Choice>
              <mc:Fallback>
                <p:oleObj name="Equation" r:id="rId5" imgW="126720" imgH="1015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35300"/>
                        <a:ext cx="444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4343400" y="2833688"/>
          <a:ext cx="4000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833688"/>
                        <a:ext cx="4000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4800600" y="3016250"/>
          <a:ext cx="444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9" imgW="126720" imgH="114120" progId="Equation.DSMT4">
                  <p:embed/>
                </p:oleObj>
              </mc:Choice>
              <mc:Fallback>
                <p:oleObj name="Equation" r:id="rId9" imgW="126720" imgH="1141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16250"/>
                        <a:ext cx="444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/>
        </p:nvGraphicFramePr>
        <p:xfrm>
          <a:off x="5257800" y="2819400"/>
          <a:ext cx="711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Equation" r:id="rId11" imgW="203040" imgH="177480" progId="Equation.DSMT4">
                  <p:embed/>
                </p:oleObj>
              </mc:Choice>
              <mc:Fallback>
                <p:oleObj name="Equation" r:id="rId11" imgW="20304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19400"/>
                        <a:ext cx="711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76200" y="152400"/>
            <a:ext cx="1828800" cy="1219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  <a:p>
            <a:pPr algn="ctr"/>
            <a:r>
              <a:rPr lang="en-US" b="1"/>
              <a:t>Steps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4724400" y="733425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6096000" y="685800"/>
            <a:ext cx="2133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3248025" y="685800"/>
            <a:ext cx="3048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2819400" y="1066800"/>
            <a:ext cx="762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3686175" y="1066800"/>
            <a:ext cx="838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4724400" y="1066800"/>
            <a:ext cx="10668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8454" name="AutoShape 22"/>
          <p:cNvSpPr>
            <a:spLocks noChangeArrowheads="1"/>
          </p:cNvSpPr>
          <p:nvPr/>
        </p:nvSpPr>
        <p:spPr bwMode="auto">
          <a:xfrm>
            <a:off x="5486400" y="3733800"/>
            <a:ext cx="2819400" cy="27432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/>
              <a:t>Watch Out!!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We’re not using the</a:t>
            </a:r>
          </a:p>
          <a:p>
            <a:pPr algn="ctr"/>
            <a:r>
              <a:rPr lang="en-US" b="1" dirty="0"/>
              <a:t>Less than or </a:t>
            </a:r>
          </a:p>
          <a:p>
            <a:pPr algn="ctr"/>
            <a:r>
              <a:rPr lang="en-US" b="1" dirty="0"/>
              <a:t>More than phrase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So translate in</a:t>
            </a:r>
          </a:p>
          <a:p>
            <a:pPr algn="ctr"/>
            <a:r>
              <a:rPr lang="en-US" b="1" dirty="0"/>
              <a:t>order.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autoRev="1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autoRev="1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autoRev="1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8" grpId="0" animBg="1"/>
      <p:bldP spid="18439" grpId="0"/>
      <p:bldP spid="18440" grpId="0" animBg="1"/>
      <p:bldP spid="18446" grpId="0" animBg="1"/>
      <p:bldP spid="18447" grpId="0" animBg="1"/>
      <p:bldP spid="18448" grpId="0" animBg="1"/>
      <p:bldP spid="18449" grpId="0" animBg="1"/>
      <p:bldP spid="18450" grpId="0" animBg="1"/>
      <p:bldP spid="18451" grpId="0" animBg="1"/>
      <p:bldP spid="18452" grpId="0" animBg="1"/>
      <p:bldP spid="184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676400" y="304800"/>
            <a:ext cx="701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7)  </a:t>
            </a:r>
            <a:r>
              <a:rPr lang="en-US" sz="2400" b="1" dirty="0"/>
              <a:t>The perimeter of a square equals four times the length of the side.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362200" y="685800"/>
            <a:ext cx="3505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3581400" y="1365250"/>
          <a:ext cx="5683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Equation" r:id="rId3" imgW="152280" imgH="164880" progId="Equation.DSMT4">
                  <p:embed/>
                </p:oleObj>
              </mc:Choice>
              <mc:Fallback>
                <p:oleObj name="Equation" r:id="rId3" imgW="152280" imgH="164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365250"/>
                        <a:ext cx="5683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4114800" y="1581150"/>
          <a:ext cx="444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Equation" r:id="rId5" imgW="126720" imgH="114120" progId="Equation.DSMT4">
                  <p:embed/>
                </p:oleObj>
              </mc:Choice>
              <mc:Fallback>
                <p:oleObj name="Equation" r:id="rId5" imgW="126720" imgH="1141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581150"/>
                        <a:ext cx="444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6096000" y="685800"/>
            <a:ext cx="838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7010400" y="685800"/>
            <a:ext cx="1524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4622800" y="1298575"/>
          <a:ext cx="132556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3" name="Equation" r:id="rId7" imgW="355320" imgH="203040" progId="Equation.DSMT4">
                  <p:embed/>
                </p:oleObj>
              </mc:Choice>
              <mc:Fallback>
                <p:oleObj name="Equation" r:id="rId7" imgW="35532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1298575"/>
                        <a:ext cx="132556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4114800" y="1066800"/>
            <a:ext cx="838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5214938" y="1371600"/>
          <a:ext cx="5000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4" name="Equation" r:id="rId9" imgW="114120" imgH="139680" progId="Equation.DSMT4">
                  <p:embed/>
                </p:oleObj>
              </mc:Choice>
              <mc:Fallback>
                <p:oleObj name="Equation" r:id="rId9" imgW="114120" imgH="1396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1371600"/>
                        <a:ext cx="5000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3619500" y="1981200"/>
          <a:ext cx="24765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5" name="Equation" r:id="rId11" imgW="685800" imgH="177480" progId="Equation.DSMT4">
                  <p:embed/>
                </p:oleObj>
              </mc:Choice>
              <mc:Fallback>
                <p:oleObj name="Equation" r:id="rId11" imgW="68580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981200"/>
                        <a:ext cx="24765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WordArt 14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F</a:t>
            </a:r>
          </a:p>
        </p:txBody>
      </p:sp>
      <p:sp>
        <p:nvSpPr>
          <p:cNvPr id="19471" name="WordArt 15"/>
          <p:cNvSpPr>
            <a:spLocks noChangeArrowheads="1" noChangeShapeType="1" noTextEdit="1"/>
          </p:cNvSpPr>
          <p:nvPr/>
        </p:nvSpPr>
        <p:spPr bwMode="auto">
          <a:xfrm>
            <a:off x="304800" y="11430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O</a:t>
            </a:r>
          </a:p>
        </p:txBody>
      </p:sp>
      <p:sp>
        <p:nvSpPr>
          <p:cNvPr id="19472" name="WordArt 16"/>
          <p:cNvSpPr>
            <a:spLocks noChangeArrowheads="1" noChangeShapeType="1" noTextEdit="1"/>
          </p:cNvSpPr>
          <p:nvPr/>
        </p:nvSpPr>
        <p:spPr bwMode="auto">
          <a:xfrm>
            <a:off x="304800" y="19812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R</a:t>
            </a:r>
          </a:p>
        </p:txBody>
      </p:sp>
      <p:sp>
        <p:nvSpPr>
          <p:cNvPr id="19473" name="WordArt 17"/>
          <p:cNvSpPr>
            <a:spLocks noChangeArrowheads="1" noChangeShapeType="1" noTextEdit="1"/>
          </p:cNvSpPr>
          <p:nvPr/>
        </p:nvSpPr>
        <p:spPr bwMode="auto">
          <a:xfrm>
            <a:off x="304800" y="28194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M</a:t>
            </a:r>
          </a:p>
        </p:txBody>
      </p:sp>
      <p:sp>
        <p:nvSpPr>
          <p:cNvPr id="19474" name="WordArt 18"/>
          <p:cNvSpPr>
            <a:spLocks noChangeArrowheads="1" noChangeShapeType="1" noTextEdit="1"/>
          </p:cNvSpPr>
          <p:nvPr/>
        </p:nvSpPr>
        <p:spPr bwMode="auto">
          <a:xfrm>
            <a:off x="304800" y="4359275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L</a:t>
            </a:r>
          </a:p>
        </p:txBody>
      </p:sp>
      <p:sp>
        <p:nvSpPr>
          <p:cNvPr id="19475" name="WordArt 19"/>
          <p:cNvSpPr>
            <a:spLocks noChangeArrowheads="1" noChangeShapeType="1" noTextEdit="1"/>
          </p:cNvSpPr>
          <p:nvPr/>
        </p:nvSpPr>
        <p:spPr bwMode="auto">
          <a:xfrm>
            <a:off x="304800" y="5197475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A</a:t>
            </a:r>
          </a:p>
        </p:txBody>
      </p:sp>
      <p:sp>
        <p:nvSpPr>
          <p:cNvPr id="19476" name="WordArt 20"/>
          <p:cNvSpPr>
            <a:spLocks noChangeArrowheads="1" noChangeShapeType="1" noTextEdit="1"/>
          </p:cNvSpPr>
          <p:nvPr/>
        </p:nvSpPr>
        <p:spPr bwMode="auto">
          <a:xfrm>
            <a:off x="304800" y="6035675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</a:t>
            </a:r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1676400" y="2759075"/>
            <a:ext cx="701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8</a:t>
            </a:r>
            <a:r>
              <a:rPr lang="en-US" sz="2400" b="1" dirty="0" smtClean="0"/>
              <a:t>)  </a:t>
            </a:r>
            <a:r>
              <a:rPr lang="en-US" sz="2400" b="1" dirty="0"/>
              <a:t>The circumference (C) of a circle equals the product of 2, </a:t>
            </a:r>
            <a:r>
              <a:rPr lang="el-GR" sz="2400" b="1" dirty="0">
                <a:cs typeface="Arial" charset="0"/>
              </a:rPr>
              <a:t>π</a:t>
            </a:r>
            <a:r>
              <a:rPr lang="en-US" sz="2400" b="1" dirty="0">
                <a:cs typeface="Arial" charset="0"/>
              </a:rPr>
              <a:t>, and the radius (r).</a:t>
            </a:r>
            <a:endParaRPr lang="el-GR" sz="2400" b="1" dirty="0">
              <a:cs typeface="Arial" charset="0"/>
            </a:endParaRP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86000" y="3124200"/>
            <a:ext cx="3505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3581400" y="3627438"/>
          <a:ext cx="568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6" name="Equation" r:id="rId13" imgW="152280" imgH="177480" progId="Equation.DSMT4">
                  <p:embed/>
                </p:oleObj>
              </mc:Choice>
              <mc:Fallback>
                <p:oleObj name="Equation" r:id="rId13" imgW="152280" imgH="177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627438"/>
                        <a:ext cx="5683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Rectangle 24"/>
          <p:cNvSpPr>
            <a:spLocks noChangeArrowheads="1"/>
          </p:cNvSpPr>
          <p:nvPr/>
        </p:nvSpPr>
        <p:spPr bwMode="auto">
          <a:xfrm>
            <a:off x="7239000" y="3124200"/>
            <a:ext cx="8382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81" name="Object 25"/>
          <p:cNvGraphicFramePr>
            <a:graphicFrameLocks noChangeAspect="1"/>
          </p:cNvGraphicFramePr>
          <p:nvPr/>
        </p:nvGraphicFramePr>
        <p:xfrm>
          <a:off x="4114800" y="3867150"/>
          <a:ext cx="444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15" imgW="126720" imgH="114120" progId="Equation.DSMT4">
                  <p:embed/>
                </p:oleObj>
              </mc:Choice>
              <mc:Fallback>
                <p:oleObj name="Equation" r:id="rId15" imgW="126720" imgH="1141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867150"/>
                        <a:ext cx="444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Rectangle 26"/>
          <p:cNvSpPr>
            <a:spLocks noChangeArrowheads="1"/>
          </p:cNvSpPr>
          <p:nvPr/>
        </p:nvSpPr>
        <p:spPr bwMode="auto">
          <a:xfrm>
            <a:off x="2286000" y="3581400"/>
            <a:ext cx="1524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83" name="Object 27"/>
          <p:cNvGraphicFramePr>
            <a:graphicFrameLocks noChangeAspect="1"/>
          </p:cNvGraphicFramePr>
          <p:nvPr/>
        </p:nvGraphicFramePr>
        <p:xfrm>
          <a:off x="4560888" y="3609975"/>
          <a:ext cx="29829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16" imgW="799920" imgH="203040" progId="Equation.DSMT4">
                  <p:embed/>
                </p:oleObj>
              </mc:Choice>
              <mc:Fallback>
                <p:oleObj name="Equation" r:id="rId16" imgW="79992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3609975"/>
                        <a:ext cx="29829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4" name="Object 28"/>
          <p:cNvGraphicFramePr>
            <a:graphicFrameLocks noChangeAspect="1"/>
          </p:cNvGraphicFramePr>
          <p:nvPr/>
        </p:nvGraphicFramePr>
        <p:xfrm>
          <a:off x="4883150" y="3581400"/>
          <a:ext cx="5143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18" imgW="126720" imgH="164880" progId="Equation.DSMT4">
                  <p:embed/>
                </p:oleObj>
              </mc:Choice>
              <mc:Fallback>
                <p:oleObj name="Equation" r:id="rId18" imgW="126720" imgH="1648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581400"/>
                        <a:ext cx="5143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3886200" y="3581400"/>
            <a:ext cx="3276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86" name="Object 30"/>
          <p:cNvGraphicFramePr>
            <a:graphicFrameLocks noChangeAspect="1"/>
          </p:cNvGraphicFramePr>
          <p:nvPr/>
        </p:nvGraphicFramePr>
        <p:xfrm>
          <a:off x="5784850" y="3733800"/>
          <a:ext cx="5651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" name="Equation" r:id="rId20" imgW="139680" imgH="139680" progId="Equation.DSMT4">
                  <p:embed/>
                </p:oleObj>
              </mc:Choice>
              <mc:Fallback>
                <p:oleObj name="Equation" r:id="rId20" imgW="139680" imgH="1396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3733800"/>
                        <a:ext cx="5651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7" name="Object 31"/>
          <p:cNvGraphicFramePr>
            <a:graphicFrameLocks noChangeAspect="1"/>
          </p:cNvGraphicFramePr>
          <p:nvPr/>
        </p:nvGraphicFramePr>
        <p:xfrm>
          <a:off x="6826250" y="3754438"/>
          <a:ext cx="4619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1" name="Equation" r:id="rId22" imgW="114120" imgH="126720" progId="Equation.DSMT4">
                  <p:embed/>
                </p:oleObj>
              </mc:Choice>
              <mc:Fallback>
                <p:oleObj name="Equation" r:id="rId22" imgW="114120" imgH="12672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0" y="3754438"/>
                        <a:ext cx="46196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8" name="Object 32"/>
          <p:cNvGraphicFramePr>
            <a:graphicFrameLocks noChangeAspect="1"/>
          </p:cNvGraphicFramePr>
          <p:nvPr/>
        </p:nvGraphicFramePr>
        <p:xfrm>
          <a:off x="4076700" y="4311650"/>
          <a:ext cx="27051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Equation" r:id="rId24" imgW="749160" imgH="177480" progId="Equation.DSMT4">
                  <p:embed/>
                </p:oleObj>
              </mc:Choice>
              <mc:Fallback>
                <p:oleObj name="Equation" r:id="rId24" imgW="749160" imgH="177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4311650"/>
                        <a:ext cx="27051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1676400" y="5045075"/>
            <a:ext cx="7467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9</a:t>
            </a:r>
            <a:r>
              <a:rPr lang="en-US" sz="2400" b="1" dirty="0" smtClean="0"/>
              <a:t>)  </a:t>
            </a:r>
            <a:r>
              <a:rPr lang="en-US" sz="2400" b="1" dirty="0"/>
              <a:t>The square of the hypotenuse (c) is equal to the sum of the squares of the legs (a) and (b).</a:t>
            </a:r>
            <a:endParaRPr lang="el-GR" sz="2400" b="1" dirty="0">
              <a:cs typeface="Arial" charset="0"/>
            </a:endParaRPr>
          </a:p>
        </p:txBody>
      </p:sp>
      <p:graphicFrame>
        <p:nvGraphicFramePr>
          <p:cNvPr id="19490" name="Object 34"/>
          <p:cNvGraphicFramePr>
            <a:graphicFrameLocks noChangeAspect="1"/>
          </p:cNvGraphicFramePr>
          <p:nvPr/>
        </p:nvGraphicFramePr>
        <p:xfrm>
          <a:off x="3633788" y="5918200"/>
          <a:ext cx="6159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Equation" r:id="rId26" imgW="164880" imgH="203040" progId="Equation.DSMT4">
                  <p:embed/>
                </p:oleObj>
              </mc:Choice>
              <mc:Fallback>
                <p:oleObj name="Equation" r:id="rId26" imgW="164880" imgH="2030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5918200"/>
                        <a:ext cx="6159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91" name="Object 35"/>
          <p:cNvGraphicFramePr>
            <a:graphicFrameLocks noChangeAspect="1"/>
          </p:cNvGraphicFramePr>
          <p:nvPr/>
        </p:nvGraphicFramePr>
        <p:xfrm>
          <a:off x="4267200" y="6305550"/>
          <a:ext cx="444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Equation" r:id="rId28" imgW="126720" imgH="114120" progId="Equation.DSMT4">
                  <p:embed/>
                </p:oleObj>
              </mc:Choice>
              <mc:Fallback>
                <p:oleObj name="Equation" r:id="rId28" imgW="126720" imgH="11412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305550"/>
                        <a:ext cx="4445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92" name="Object 36"/>
          <p:cNvGraphicFramePr>
            <a:graphicFrameLocks noChangeAspect="1"/>
          </p:cNvGraphicFramePr>
          <p:nvPr/>
        </p:nvGraphicFramePr>
        <p:xfrm>
          <a:off x="5324475" y="6140450"/>
          <a:ext cx="488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29" imgW="139680" imgH="139680" progId="Equation.DSMT4">
                  <p:embed/>
                </p:oleObj>
              </mc:Choice>
              <mc:Fallback>
                <p:oleObj name="Equation" r:id="rId29" imgW="139680" imgH="1396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475" y="6140450"/>
                        <a:ext cx="4889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3" name="Rectangle 37"/>
          <p:cNvSpPr>
            <a:spLocks noChangeArrowheads="1"/>
          </p:cNvSpPr>
          <p:nvPr/>
        </p:nvSpPr>
        <p:spPr bwMode="auto">
          <a:xfrm>
            <a:off x="2438400" y="5410200"/>
            <a:ext cx="47244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94" name="Rectangle 38"/>
          <p:cNvSpPr>
            <a:spLocks noChangeArrowheads="1"/>
          </p:cNvSpPr>
          <p:nvPr/>
        </p:nvSpPr>
        <p:spPr bwMode="auto">
          <a:xfrm>
            <a:off x="7272338" y="5429250"/>
            <a:ext cx="1524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95" name="Rectangle 39"/>
          <p:cNvSpPr>
            <a:spLocks noChangeArrowheads="1"/>
          </p:cNvSpPr>
          <p:nvPr/>
        </p:nvSpPr>
        <p:spPr bwMode="auto">
          <a:xfrm>
            <a:off x="1752600" y="5791200"/>
            <a:ext cx="15240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96" name="Object 40"/>
          <p:cNvGraphicFramePr>
            <a:graphicFrameLocks noChangeAspect="1"/>
          </p:cNvGraphicFramePr>
          <p:nvPr/>
        </p:nvGraphicFramePr>
        <p:xfrm>
          <a:off x="4846638" y="5943600"/>
          <a:ext cx="6635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Equation" r:id="rId31" imgW="177480" imgH="203040" progId="Equation.DSMT4">
                  <p:embed/>
                </p:oleObj>
              </mc:Choice>
              <mc:Fallback>
                <p:oleObj name="Equation" r:id="rId31" imgW="177480" imgH="20304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5943600"/>
                        <a:ext cx="6635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7" name="Rectangle 41"/>
          <p:cNvSpPr>
            <a:spLocks noChangeArrowheads="1"/>
          </p:cNvSpPr>
          <p:nvPr/>
        </p:nvSpPr>
        <p:spPr bwMode="auto">
          <a:xfrm>
            <a:off x="3505200" y="5791200"/>
            <a:ext cx="47244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19499" name="Object 43"/>
          <p:cNvGraphicFramePr>
            <a:graphicFrameLocks noChangeAspect="1"/>
          </p:cNvGraphicFramePr>
          <p:nvPr/>
        </p:nvGraphicFramePr>
        <p:xfrm>
          <a:off x="5813425" y="5943600"/>
          <a:ext cx="6635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Equation" r:id="rId33" imgW="177480" imgH="203040" progId="Equation.DSMT4">
                  <p:embed/>
                </p:oleObj>
              </mc:Choice>
              <mc:Fallback>
                <p:oleObj name="Equation" r:id="rId33" imgW="177480" imgH="203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5943600"/>
                        <a:ext cx="6635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WordArt 17"/>
          <p:cNvSpPr>
            <a:spLocks noChangeArrowheads="1" noChangeShapeType="1" noTextEdit="1"/>
          </p:cNvSpPr>
          <p:nvPr/>
        </p:nvSpPr>
        <p:spPr bwMode="auto">
          <a:xfrm>
            <a:off x="304800" y="36195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200" kern="10" dirty="0" smtClean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U</a:t>
            </a:r>
            <a:endParaRPr lang="en-AU" sz="3200" kern="10" dirty="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 Black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9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9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4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4" grpId="0" animBg="1"/>
      <p:bldP spid="19465" grpId="0" animBg="1"/>
      <p:bldP spid="19467" grpId="0" animBg="1"/>
      <p:bldP spid="19477" grpId="0"/>
      <p:bldP spid="19478" grpId="0" animBg="1"/>
      <p:bldP spid="19480" grpId="0" animBg="1"/>
      <p:bldP spid="19482" grpId="0" animBg="1"/>
      <p:bldP spid="19485" grpId="0" animBg="1"/>
      <p:bldP spid="19489" grpId="0"/>
      <p:bldP spid="19493" grpId="0" animBg="1"/>
      <p:bldP spid="19494" grpId="0" animBg="1"/>
      <p:bldP spid="19495" grpId="0" animBg="1"/>
      <p:bldP spid="1949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066800"/>
            <a:ext cx="7696200" cy="1143000"/>
          </a:xfrm>
        </p:spPr>
        <p:txBody>
          <a:bodyPr/>
          <a:lstStyle/>
          <a:p>
            <a:r>
              <a:rPr lang="en-US" sz="3200"/>
              <a:t>12)  Translate into words the expression</a:t>
            </a:r>
            <a:br>
              <a:rPr lang="en-US" sz="3200"/>
            </a:br>
            <a:r>
              <a:rPr lang="en-US" sz="3200"/>
              <a:t>			4m – 19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133600"/>
            <a:ext cx="7313613" cy="29718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The product of 4 and a number “m” decreased by 19.</a:t>
            </a:r>
          </a:p>
          <a:p>
            <a:r>
              <a:rPr lang="en-US"/>
              <a:t>4 times a number “m” minus 19.</a:t>
            </a:r>
          </a:p>
          <a:p>
            <a:r>
              <a:rPr lang="en-US"/>
              <a:t>19 subtracted from 4 times a number “m”</a:t>
            </a:r>
          </a:p>
          <a:p>
            <a:r>
              <a:rPr lang="en-US"/>
              <a:t>The difference of 4 times a number “m” and 19.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066800" y="152400"/>
            <a:ext cx="7620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When translating from symbols into words, there is more than one way to translate an equation.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066800" y="3048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3200">
                <a:solidFill>
                  <a:schemeClr val="tx2"/>
                </a:solidFill>
              </a:rPr>
              <a:t>13)  Translate into words the expression</a:t>
            </a:r>
            <a:br>
              <a:rPr lang="en-US" sz="3200">
                <a:solidFill>
                  <a:schemeClr val="tx2"/>
                </a:solidFill>
              </a:rPr>
            </a:br>
            <a:r>
              <a:rPr lang="en-US" sz="3200">
                <a:solidFill>
                  <a:schemeClr val="tx2"/>
                </a:solidFill>
              </a:rPr>
              <a:t>			3y + 15 = 14 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066800" y="19812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3200">
                <a:solidFill>
                  <a:schemeClr val="tx2"/>
                </a:solidFill>
              </a:rPr>
              <a:t>14)  Translate into words the expression</a:t>
            </a:r>
            <a:br>
              <a:rPr lang="en-US" sz="3200">
                <a:solidFill>
                  <a:schemeClr val="tx2"/>
                </a:solidFill>
              </a:rPr>
            </a:br>
            <a:r>
              <a:rPr lang="en-US" sz="3200">
                <a:solidFill>
                  <a:schemeClr val="tx2"/>
                </a:solidFill>
              </a:rPr>
              <a:t>			12 – 2x = -5 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1066800" y="35052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3200">
                <a:solidFill>
                  <a:schemeClr val="tx2"/>
                </a:solidFill>
              </a:rPr>
              <a:t>15)  Translate into words the expression</a:t>
            </a:r>
            <a:br>
              <a:rPr lang="en-US" sz="3200">
                <a:solidFill>
                  <a:schemeClr val="tx2"/>
                </a:solidFill>
              </a:rPr>
            </a:br>
            <a:r>
              <a:rPr lang="en-US" sz="3200">
                <a:solidFill>
                  <a:schemeClr val="tx2"/>
                </a:solidFill>
              </a:rPr>
              <a:t>			A = ½ bh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TM01859861[[fn=Tradeshow]]</Template>
  <TotalTime>419</TotalTime>
  <Words>362</Words>
  <Application>Microsoft Office PowerPoint</Application>
  <PresentationFormat>On-screen Show (4:3)</PresentationFormat>
  <Paragraphs>92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Office Theme</vt:lpstr>
      <vt:lpstr>MathType 5.0 Equation</vt:lpstr>
      <vt:lpstr>Topic: Writing and solving Equations.  EQ: How do I write sentences as equations?</vt:lpstr>
      <vt:lpstr>Phrases and symbols that suggest  adding and subtracting.</vt:lpstr>
      <vt:lpstr>Phrases and symbols that suggest  multiplying and dividing.</vt:lpstr>
      <vt:lpstr>PowerPoint Presentation</vt:lpstr>
      <vt:lpstr>Writing Equations and Formulas</vt:lpstr>
      <vt:lpstr>PowerPoint Presentation</vt:lpstr>
      <vt:lpstr>PowerPoint Presentation</vt:lpstr>
      <vt:lpstr>12)  Translate into words the expression    4m – 19 </vt:lpstr>
      <vt:lpstr>PowerPoint Presentation</vt:lpstr>
    </vt:vector>
  </TitlesOfParts>
  <Company>Patricia Wilson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TRANSLATING</dc:title>
  <dc:creator>Patricia Wilson</dc:creator>
  <cp:lastModifiedBy>FRASER-JONES Laura</cp:lastModifiedBy>
  <cp:revision>22</cp:revision>
  <dcterms:created xsi:type="dcterms:W3CDTF">2007-07-09T14:43:17Z</dcterms:created>
  <dcterms:modified xsi:type="dcterms:W3CDTF">2016-08-15T02:42:10Z</dcterms:modified>
</cp:coreProperties>
</file>
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6" r:id="rId2"/>
    <p:sldId id="260" r:id="rId3"/>
    <p:sldId id="256" r:id="rId4"/>
    <p:sldId id="257" r:id="rId5"/>
    <p:sldId id="261" r:id="rId6"/>
    <p:sldId id="258" r:id="rId7"/>
    <p:sldId id="259" r:id="rId8"/>
    <p:sldId id="262" r:id="rId9"/>
    <p:sldId id="264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4" autoAdjust="0"/>
  </p:normalViewPr>
  <p:slideViewPr>
    <p:cSldViewPr snapToGrid="0">
      <p:cViewPr>
        <p:scale>
          <a:sx n="91" d="100"/>
          <a:sy n="91" d="100"/>
        </p:scale>
        <p:origin x="-1229" y="-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D6A36-B26C-40B5-9D63-59D7A245402F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D88B3-DEDE-49EA-B8FD-04061A0C439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53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D88B3-DEDE-49EA-B8FD-04061A0C4390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6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37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69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54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38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3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72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58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48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96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0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</a:t>
            </a:r>
            <a:r>
              <a:rPr lang="en-GB" b="1" dirty="0" smtClean="0"/>
              <a:t>Solving Equations with balance method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How do I </a:t>
            </a:r>
            <a:r>
              <a:rPr lang="en-GB" b="1" dirty="0" smtClean="0"/>
              <a:t>use the balance method to solve equations?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6125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j03441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6" name="Group 6"/>
          <p:cNvGrpSpPr>
            <a:grpSpLocks/>
          </p:cNvGrpSpPr>
          <p:nvPr/>
        </p:nvGrpSpPr>
        <p:grpSpPr bwMode="auto">
          <a:xfrm>
            <a:off x="4787900" y="3789363"/>
            <a:ext cx="720725" cy="792162"/>
            <a:chOff x="204" y="3212"/>
            <a:chExt cx="726" cy="807"/>
          </a:xfrm>
        </p:grpSpPr>
        <p:sp>
          <p:nvSpPr>
            <p:cNvPr id="5127" name="AutoShape 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28" name="Oval 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29" name="Group 9"/>
          <p:cNvGrpSpPr>
            <a:grpSpLocks/>
          </p:cNvGrpSpPr>
          <p:nvPr/>
        </p:nvGrpSpPr>
        <p:grpSpPr bwMode="auto">
          <a:xfrm>
            <a:off x="4427538" y="3933825"/>
            <a:ext cx="720725" cy="792163"/>
            <a:chOff x="204" y="3212"/>
            <a:chExt cx="726" cy="807"/>
          </a:xfrm>
        </p:grpSpPr>
        <p:sp>
          <p:nvSpPr>
            <p:cNvPr id="5130" name="AutoShape 1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grpSp>
        <p:nvGrpSpPr>
          <p:cNvPr id="5133" name="Group 13"/>
          <p:cNvGrpSpPr>
            <a:grpSpLocks/>
          </p:cNvGrpSpPr>
          <p:nvPr/>
        </p:nvGrpSpPr>
        <p:grpSpPr bwMode="auto">
          <a:xfrm>
            <a:off x="5148263" y="3933825"/>
            <a:ext cx="720725" cy="792163"/>
            <a:chOff x="204" y="3212"/>
            <a:chExt cx="726" cy="807"/>
          </a:xfrm>
        </p:grpSpPr>
        <p:sp>
          <p:nvSpPr>
            <p:cNvPr id="5134" name="AutoShape 1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137" name="WordArt 17"/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5138" name="WordArt 18"/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5139" name="WordArt 19"/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5</a:t>
            </a:r>
          </a:p>
        </p:txBody>
      </p:sp>
      <p:sp>
        <p:nvSpPr>
          <p:cNvPr id="5140" name="WordArt 20"/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5141" name="WordArt 21"/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grpSp>
        <p:nvGrpSpPr>
          <p:cNvPr id="5145" name="Group 25"/>
          <p:cNvGrpSpPr>
            <a:grpSpLocks/>
          </p:cNvGrpSpPr>
          <p:nvPr/>
        </p:nvGrpSpPr>
        <p:grpSpPr bwMode="auto">
          <a:xfrm>
            <a:off x="1042988" y="3933825"/>
            <a:ext cx="720725" cy="792163"/>
            <a:chOff x="204" y="3212"/>
            <a:chExt cx="726" cy="807"/>
          </a:xfrm>
        </p:grpSpPr>
        <p:sp>
          <p:nvSpPr>
            <p:cNvPr id="5146" name="AutoShape 26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5148" name="Picture 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49" name="Text Box 29"/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x + 3 = 5</a:t>
            </a:r>
          </a:p>
        </p:txBody>
      </p:sp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x        = 2</a:t>
            </a:r>
          </a:p>
        </p:txBody>
      </p:sp>
      <p:sp>
        <p:nvSpPr>
          <p:cNvPr id="5151" name="Text Box 31"/>
          <p:cNvSpPr txBox="1">
            <a:spLocks noChangeArrowheads="1"/>
          </p:cNvSpPr>
          <p:nvPr/>
        </p:nvSpPr>
        <p:spPr bwMode="auto">
          <a:xfrm>
            <a:off x="7400698" y="1682523"/>
            <a:ext cx="4892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-3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5157" name="Group 37"/>
          <p:cNvGrpSpPr>
            <a:grpSpLocks/>
          </p:cNvGrpSpPr>
          <p:nvPr/>
        </p:nvGrpSpPr>
        <p:grpSpPr bwMode="auto">
          <a:xfrm>
            <a:off x="971550" y="3429000"/>
            <a:ext cx="720725" cy="792163"/>
            <a:chOff x="204" y="3212"/>
            <a:chExt cx="726" cy="807"/>
          </a:xfrm>
        </p:grpSpPr>
        <p:sp>
          <p:nvSpPr>
            <p:cNvPr id="5158" name="AutoShape 38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54" name="Group 34"/>
          <p:cNvGrpSpPr>
            <a:grpSpLocks/>
          </p:cNvGrpSpPr>
          <p:nvPr/>
        </p:nvGrpSpPr>
        <p:grpSpPr bwMode="auto">
          <a:xfrm>
            <a:off x="1403350" y="3932238"/>
            <a:ext cx="720725" cy="792162"/>
            <a:chOff x="204" y="3212"/>
            <a:chExt cx="726" cy="807"/>
          </a:xfrm>
        </p:grpSpPr>
        <p:sp>
          <p:nvSpPr>
            <p:cNvPr id="5155" name="AutoShape 35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23" name="Group 3"/>
          <p:cNvGrpSpPr>
            <a:grpSpLocks/>
          </p:cNvGrpSpPr>
          <p:nvPr/>
        </p:nvGrpSpPr>
        <p:grpSpPr bwMode="auto">
          <a:xfrm>
            <a:off x="611188" y="3644900"/>
            <a:ext cx="865187" cy="1079500"/>
            <a:chOff x="204" y="3212"/>
            <a:chExt cx="726" cy="807"/>
          </a:xfrm>
        </p:grpSpPr>
        <p:sp>
          <p:nvSpPr>
            <p:cNvPr id="5124" name="AutoShape 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5125" name="Oval 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66" name="Group 46"/>
          <p:cNvGrpSpPr>
            <a:grpSpLocks/>
          </p:cNvGrpSpPr>
          <p:nvPr/>
        </p:nvGrpSpPr>
        <p:grpSpPr bwMode="auto">
          <a:xfrm>
            <a:off x="5076825" y="3933825"/>
            <a:ext cx="720725" cy="792163"/>
            <a:chOff x="204" y="3212"/>
            <a:chExt cx="726" cy="807"/>
          </a:xfrm>
        </p:grpSpPr>
        <p:sp>
          <p:nvSpPr>
            <p:cNvPr id="5167" name="AutoShape 4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68" name="Oval 4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69" name="Group 49"/>
          <p:cNvGrpSpPr>
            <a:grpSpLocks/>
          </p:cNvGrpSpPr>
          <p:nvPr/>
        </p:nvGrpSpPr>
        <p:grpSpPr bwMode="auto">
          <a:xfrm>
            <a:off x="4643438" y="3933825"/>
            <a:ext cx="720725" cy="792163"/>
            <a:chOff x="204" y="3212"/>
            <a:chExt cx="726" cy="807"/>
          </a:xfrm>
        </p:grpSpPr>
        <p:sp>
          <p:nvSpPr>
            <p:cNvPr id="5170" name="AutoShape 5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71" name="Oval 5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4" name="Text Box 31"/>
          <p:cNvSpPr txBox="1">
            <a:spLocks noChangeArrowheads="1"/>
          </p:cNvSpPr>
          <p:nvPr/>
        </p:nvSpPr>
        <p:spPr bwMode="auto">
          <a:xfrm>
            <a:off x="8376058" y="1691232"/>
            <a:ext cx="49362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-3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9" grpId="0"/>
      <p:bldP spid="5150" grpId="0"/>
      <p:bldP spid="5151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/>
          <p:cNvGrpSpPr/>
          <p:nvPr/>
        </p:nvGrpSpPr>
        <p:grpSpPr>
          <a:xfrm>
            <a:off x="6316845" y="1578997"/>
            <a:ext cx="1661375" cy="2904186"/>
            <a:chOff x="566547" y="1590541"/>
            <a:chExt cx="1661375" cy="2343955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53412" y="1590540"/>
            <a:ext cx="1661375" cy="2904186"/>
            <a:chOff x="566547" y="1590541"/>
            <a:chExt cx="1661375" cy="2343955"/>
          </a:xfrm>
        </p:grpSpPr>
        <p:cxnSp>
          <p:nvCxnSpPr>
            <p:cNvPr id="24" name="Straight Connector 23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2" name="Flowchart: Connector 31"/>
          <p:cNvSpPr/>
          <p:nvPr/>
        </p:nvSpPr>
        <p:spPr>
          <a:xfrm>
            <a:off x="1413997" y="3915991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4" name="Flowchart: Connector 33"/>
          <p:cNvSpPr/>
          <p:nvPr/>
        </p:nvSpPr>
        <p:spPr>
          <a:xfrm>
            <a:off x="1820439" y="391532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x</a:t>
            </a:r>
            <a:r>
              <a:rPr lang="en-GB" sz="3200" dirty="0" smtClean="0"/>
              <a:t> + 2 = 4</a:t>
            </a:r>
            <a:endParaRPr lang="en-GB" sz="3200" dirty="0"/>
          </a:p>
        </p:txBody>
      </p:sp>
      <p:sp>
        <p:nvSpPr>
          <p:cNvPr id="27" name="Regular Pentagon 26"/>
          <p:cNvSpPr/>
          <p:nvPr/>
        </p:nvSpPr>
        <p:spPr>
          <a:xfrm>
            <a:off x="765302" y="3791158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7149233" y="389629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Flowchart: Connector 36"/>
          <p:cNvSpPr/>
          <p:nvPr/>
        </p:nvSpPr>
        <p:spPr>
          <a:xfrm>
            <a:off x="6708508" y="390041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8" name="Flowchart: Connector 37"/>
          <p:cNvSpPr/>
          <p:nvPr/>
        </p:nvSpPr>
        <p:spPr>
          <a:xfrm>
            <a:off x="7585838" y="3900414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0" name="Flowchart: Connector 39"/>
          <p:cNvSpPr/>
          <p:nvPr/>
        </p:nvSpPr>
        <p:spPr>
          <a:xfrm>
            <a:off x="6276021" y="3900414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27157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-2</a:t>
            </a:r>
            <a:endParaRPr lang="en-GB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46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07083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600000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27" grpId="0" animBg="1"/>
      <p:bldP spid="30" grpId="0" animBg="1"/>
      <p:bldP spid="37" grpId="0" animBg="1"/>
      <p:bldP spid="38" grpId="0" animBg="1"/>
      <p:bldP spid="40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 rot="600000"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53412" y="1077243"/>
            <a:ext cx="1661375" cy="2904186"/>
            <a:chOff x="566547" y="1590541"/>
            <a:chExt cx="1661375" cy="2343955"/>
          </a:xfrm>
        </p:grpSpPr>
        <p:cxnSp>
          <p:nvCxnSpPr>
            <p:cNvPr id="27" name="Straight Connector 2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316844" y="2063531"/>
            <a:ext cx="1661375" cy="2904186"/>
            <a:chOff x="566547" y="1590541"/>
            <a:chExt cx="1661375" cy="2343955"/>
          </a:xfrm>
        </p:grpSpPr>
        <p:cxnSp>
          <p:nvCxnSpPr>
            <p:cNvPr id="31" name="Straight Connector 30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Flowchart: Connector 38"/>
          <p:cNvSpPr/>
          <p:nvPr/>
        </p:nvSpPr>
        <p:spPr>
          <a:xfrm>
            <a:off x="6271469" y="4378063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Flowchart: Connector 41"/>
          <p:cNvSpPr/>
          <p:nvPr/>
        </p:nvSpPr>
        <p:spPr>
          <a:xfrm>
            <a:off x="7582200" y="4378063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x</a:t>
            </a:r>
            <a:r>
              <a:rPr lang="en-GB" sz="3200" dirty="0" smtClean="0"/>
              <a:t> </a:t>
            </a:r>
            <a:r>
              <a:rPr lang="en-GB" sz="3200" dirty="0" smtClean="0">
                <a:solidFill>
                  <a:schemeClr val="bg1"/>
                </a:solidFill>
              </a:rPr>
              <a:t>+ 2</a:t>
            </a:r>
            <a:r>
              <a:rPr lang="en-GB" sz="3200" dirty="0" smtClean="0"/>
              <a:t> =</a:t>
            </a:r>
            <a:r>
              <a:rPr lang="en-GB" sz="3200" dirty="0" smtClean="0">
                <a:solidFill>
                  <a:schemeClr val="bg1"/>
                </a:solidFill>
              </a:rPr>
              <a:t> 4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23" name="Regular Pentagon 22"/>
          <p:cNvSpPr/>
          <p:nvPr/>
        </p:nvSpPr>
        <p:spPr>
          <a:xfrm>
            <a:off x="776134" y="3280242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4" name="Flowchart: Connector 23"/>
          <p:cNvSpPr/>
          <p:nvPr/>
        </p:nvSpPr>
        <p:spPr>
          <a:xfrm>
            <a:off x="7149227" y="437252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5" name="Flowchart: Connector 24"/>
          <p:cNvSpPr/>
          <p:nvPr/>
        </p:nvSpPr>
        <p:spPr>
          <a:xfrm>
            <a:off x="6708502" y="4376641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27157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83892" y="424248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940141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4</a:t>
            </a:r>
            <a:endParaRPr lang="en-GB" sz="3200" dirty="0"/>
          </a:p>
        </p:txBody>
      </p:sp>
      <p:sp>
        <p:nvSpPr>
          <p:cNvPr id="36" name="Rectangle 35"/>
          <p:cNvSpPr/>
          <p:nvPr/>
        </p:nvSpPr>
        <p:spPr>
          <a:xfrm>
            <a:off x="4931904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2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167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600000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33333E-6 2.96296E-6 L -3.33333E-6 0.07083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38889E-6 3.7037E-6 L 1.38889E-6 -0.07732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38889E-6 3.7037E-6 L 1.38889E-6 -0.07732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23" grpId="0" animBg="1"/>
      <p:bldP spid="24" grpId="0" animBg="1"/>
      <p:bldP spid="25" grpId="0" animBg="1"/>
      <p:bldP spid="34" grpId="0" animBg="1"/>
      <p:bldP spid="35" grpId="0"/>
      <p:bldP spid="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9" name="Picture 11" descr="j03441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3" name="Group 15"/>
          <p:cNvGrpSpPr>
            <a:grpSpLocks/>
          </p:cNvGrpSpPr>
          <p:nvPr/>
        </p:nvGrpSpPr>
        <p:grpSpPr bwMode="auto">
          <a:xfrm>
            <a:off x="468313" y="3573463"/>
            <a:ext cx="865187" cy="1079500"/>
            <a:chOff x="204" y="3212"/>
            <a:chExt cx="726" cy="807"/>
          </a:xfrm>
        </p:grpSpPr>
        <p:sp>
          <p:nvSpPr>
            <p:cNvPr id="2060" name="AutoShape 12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86" name="Group 38"/>
          <p:cNvGrpSpPr>
            <a:grpSpLocks/>
          </p:cNvGrpSpPr>
          <p:nvPr/>
        </p:nvGrpSpPr>
        <p:grpSpPr bwMode="auto">
          <a:xfrm>
            <a:off x="4787900" y="3789363"/>
            <a:ext cx="720725" cy="792162"/>
            <a:chOff x="204" y="3212"/>
            <a:chExt cx="726" cy="807"/>
          </a:xfrm>
        </p:grpSpPr>
        <p:sp>
          <p:nvSpPr>
            <p:cNvPr id="2087" name="AutoShape 39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88" name="Oval 40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80" name="Group 32"/>
          <p:cNvGrpSpPr>
            <a:grpSpLocks/>
          </p:cNvGrpSpPr>
          <p:nvPr/>
        </p:nvGrpSpPr>
        <p:grpSpPr bwMode="auto">
          <a:xfrm>
            <a:off x="4427538" y="3933825"/>
            <a:ext cx="720725" cy="792163"/>
            <a:chOff x="204" y="3212"/>
            <a:chExt cx="726" cy="807"/>
          </a:xfrm>
        </p:grpSpPr>
        <p:sp>
          <p:nvSpPr>
            <p:cNvPr id="2081" name="AutoShape 33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82" name="Oval 34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83" name="Group 35"/>
          <p:cNvGrpSpPr>
            <a:grpSpLocks/>
          </p:cNvGrpSpPr>
          <p:nvPr/>
        </p:nvGrpSpPr>
        <p:grpSpPr bwMode="auto">
          <a:xfrm>
            <a:off x="5148263" y="3933825"/>
            <a:ext cx="720725" cy="792163"/>
            <a:chOff x="204" y="3212"/>
            <a:chExt cx="726" cy="807"/>
          </a:xfrm>
        </p:grpSpPr>
        <p:sp>
          <p:nvSpPr>
            <p:cNvPr id="2084" name="AutoShape 36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85" name="Oval 37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089" name="WordArt 41"/>
          <p:cNvSpPr>
            <a:spLocks noChangeArrowheads="1" noChangeShapeType="1" noTextEdit="1"/>
          </p:cNvSpPr>
          <p:nvPr/>
        </p:nvSpPr>
        <p:spPr bwMode="auto">
          <a:xfrm>
            <a:off x="323850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2090" name="WordArt 42"/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2091" name="WordArt 43"/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092" name="WordArt 44"/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2093" name="WordArt 45"/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2094" name="WordArt 46"/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</a:t>
            </a:r>
          </a:p>
        </p:txBody>
      </p:sp>
      <p:grpSp>
        <p:nvGrpSpPr>
          <p:cNvPr id="2095" name="Group 47"/>
          <p:cNvGrpSpPr>
            <a:grpSpLocks/>
          </p:cNvGrpSpPr>
          <p:nvPr/>
        </p:nvGrpSpPr>
        <p:grpSpPr bwMode="auto">
          <a:xfrm>
            <a:off x="1331913" y="3573463"/>
            <a:ext cx="865187" cy="1079500"/>
            <a:chOff x="204" y="3212"/>
            <a:chExt cx="726" cy="807"/>
          </a:xfrm>
        </p:grpSpPr>
        <p:sp>
          <p:nvSpPr>
            <p:cNvPr id="2096" name="AutoShape 48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097" name="Oval 49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67" name="Group 19"/>
          <p:cNvGrpSpPr>
            <a:grpSpLocks/>
          </p:cNvGrpSpPr>
          <p:nvPr/>
        </p:nvGrpSpPr>
        <p:grpSpPr bwMode="auto">
          <a:xfrm>
            <a:off x="1042988" y="3933825"/>
            <a:ext cx="720725" cy="792163"/>
            <a:chOff x="204" y="3212"/>
            <a:chExt cx="726" cy="807"/>
          </a:xfrm>
        </p:grpSpPr>
        <p:sp>
          <p:nvSpPr>
            <p:cNvPr id="2068" name="AutoShape 2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69" name="Oval 2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098" name="Picture 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99" name="Text Box 51"/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2x + 1 = 3</a:t>
            </a:r>
          </a:p>
        </p:txBody>
      </p:sp>
      <p:sp>
        <p:nvSpPr>
          <p:cNvPr id="2100" name="Text Box 52"/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2x        = 2</a:t>
            </a:r>
          </a:p>
        </p:txBody>
      </p:sp>
      <p:sp>
        <p:nvSpPr>
          <p:cNvPr id="2101" name="Text Box 53"/>
          <p:cNvSpPr txBox="1">
            <a:spLocks noChangeArrowheads="1"/>
          </p:cNvSpPr>
          <p:nvPr/>
        </p:nvSpPr>
        <p:spPr bwMode="auto">
          <a:xfrm>
            <a:off x="7191693" y="1656398"/>
            <a:ext cx="5545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-1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2102" name="Text Box 54"/>
          <p:cNvSpPr txBox="1">
            <a:spLocks noChangeArrowheads="1"/>
          </p:cNvSpPr>
          <p:nvPr/>
        </p:nvSpPr>
        <p:spPr bwMode="auto">
          <a:xfrm>
            <a:off x="6551614" y="2900363"/>
            <a:ext cx="6590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÷2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2103" name="Text Box 55"/>
          <p:cNvSpPr txBox="1">
            <a:spLocks noChangeArrowheads="1"/>
          </p:cNvSpPr>
          <p:nvPr/>
        </p:nvSpPr>
        <p:spPr bwMode="auto">
          <a:xfrm>
            <a:off x="6588125" y="3357563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1</a:t>
            </a:r>
          </a:p>
        </p:txBody>
      </p:sp>
      <p:sp>
        <p:nvSpPr>
          <p:cNvPr id="2105" name="Text Box 57"/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sp>
        <p:nvSpPr>
          <p:cNvPr id="82" name="Text Box 53"/>
          <p:cNvSpPr txBox="1">
            <a:spLocks noChangeArrowheads="1"/>
          </p:cNvSpPr>
          <p:nvPr/>
        </p:nvSpPr>
        <p:spPr bwMode="auto">
          <a:xfrm>
            <a:off x="8585064" y="1691234"/>
            <a:ext cx="558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-1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83" name="Text Box 54"/>
          <p:cNvSpPr txBox="1">
            <a:spLocks noChangeArrowheads="1"/>
          </p:cNvSpPr>
          <p:nvPr/>
        </p:nvSpPr>
        <p:spPr bwMode="auto">
          <a:xfrm>
            <a:off x="8258494" y="2896008"/>
            <a:ext cx="6590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÷2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" grpId="0"/>
      <p:bldP spid="2100" grpId="0"/>
      <p:bldP spid="2101" grpId="0"/>
      <p:bldP spid="2102" grpId="0"/>
      <p:bldP spid="2103" grpId="0"/>
      <p:bldP spid="82" grpId="0"/>
      <p:bldP spid="8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/>
          <p:cNvGrpSpPr/>
          <p:nvPr/>
        </p:nvGrpSpPr>
        <p:grpSpPr>
          <a:xfrm>
            <a:off x="6316845" y="1578997"/>
            <a:ext cx="1661375" cy="2904186"/>
            <a:chOff x="566547" y="1590541"/>
            <a:chExt cx="1661375" cy="2343955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53412" y="1590540"/>
            <a:ext cx="1661375" cy="2904186"/>
            <a:chOff x="566547" y="1590541"/>
            <a:chExt cx="1661375" cy="2343955"/>
          </a:xfrm>
        </p:grpSpPr>
        <p:cxnSp>
          <p:nvCxnSpPr>
            <p:cNvPr id="24" name="Straight Connector 23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2" name="Flowchart: Connector 31"/>
          <p:cNvSpPr/>
          <p:nvPr/>
        </p:nvSpPr>
        <p:spPr>
          <a:xfrm>
            <a:off x="1438710" y="3903634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4" name="Flowchart: Connector 33"/>
          <p:cNvSpPr/>
          <p:nvPr/>
        </p:nvSpPr>
        <p:spPr>
          <a:xfrm>
            <a:off x="1845152" y="390296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Flowchart: Connector 36"/>
          <p:cNvSpPr/>
          <p:nvPr/>
        </p:nvSpPr>
        <p:spPr>
          <a:xfrm>
            <a:off x="1626087" y="3479849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/>
              <a:t>2x+ 3 = 7</a:t>
            </a:r>
            <a:endParaRPr lang="en-GB" sz="3200" dirty="0"/>
          </a:p>
        </p:txBody>
      </p:sp>
      <p:sp>
        <p:nvSpPr>
          <p:cNvPr id="39" name="Flowchart: Connector 38"/>
          <p:cNvSpPr/>
          <p:nvPr/>
        </p:nvSpPr>
        <p:spPr>
          <a:xfrm>
            <a:off x="6283825" y="3908507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0" name="Flowchart: Connector 39"/>
          <p:cNvSpPr/>
          <p:nvPr/>
        </p:nvSpPr>
        <p:spPr>
          <a:xfrm>
            <a:off x="6720658" y="389629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1" name="Flowchart: Connector 40"/>
          <p:cNvSpPr/>
          <p:nvPr/>
        </p:nvSpPr>
        <p:spPr>
          <a:xfrm>
            <a:off x="7161589" y="389629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Flowchart: Connector 41"/>
          <p:cNvSpPr/>
          <p:nvPr/>
        </p:nvSpPr>
        <p:spPr>
          <a:xfrm>
            <a:off x="7594556" y="3908507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7" name="Flowchart: Connector 46"/>
          <p:cNvSpPr/>
          <p:nvPr/>
        </p:nvSpPr>
        <p:spPr>
          <a:xfrm>
            <a:off x="7363896" y="346778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8" name="Flowchart: Connector 47"/>
          <p:cNvSpPr/>
          <p:nvPr/>
        </p:nvSpPr>
        <p:spPr>
          <a:xfrm>
            <a:off x="6931410" y="3480139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9" name="Flowchart: Connector 48"/>
          <p:cNvSpPr/>
          <p:nvPr/>
        </p:nvSpPr>
        <p:spPr>
          <a:xfrm>
            <a:off x="6486567" y="3480140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0" name="Regular Pentagon 49"/>
          <p:cNvSpPr/>
          <p:nvPr/>
        </p:nvSpPr>
        <p:spPr>
          <a:xfrm>
            <a:off x="802373" y="3778802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1" name="Regular Pentagon 50"/>
          <p:cNvSpPr/>
          <p:nvPr/>
        </p:nvSpPr>
        <p:spPr>
          <a:xfrm>
            <a:off x="809876" y="3179122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4722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-3</a:t>
            </a:r>
            <a:endParaRPr lang="en-GB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1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0708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600000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/>
              <a:t>2x</a:t>
            </a:r>
            <a:r>
              <a:rPr lang="en-GB" sz="3200" dirty="0" smtClean="0">
                <a:solidFill>
                  <a:schemeClr val="bg1"/>
                </a:solidFill>
              </a:rPr>
              <a:t>+ 3</a:t>
            </a:r>
            <a:r>
              <a:rPr lang="en-GB" sz="3200" dirty="0" smtClean="0"/>
              <a:t> = </a:t>
            </a:r>
            <a:r>
              <a:rPr lang="en-GB" sz="3200" dirty="0" smtClean="0">
                <a:solidFill>
                  <a:schemeClr val="bg1"/>
                </a:solidFill>
              </a:rPr>
              <a:t>7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16903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7</a:t>
            </a:r>
            <a:endParaRPr lang="en-GB" sz="3200" dirty="0"/>
          </a:p>
        </p:txBody>
      </p:sp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 rot="600000"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53412" y="1077243"/>
            <a:ext cx="1661375" cy="2904186"/>
            <a:chOff x="566547" y="1590541"/>
            <a:chExt cx="1661375" cy="2343955"/>
          </a:xfrm>
        </p:grpSpPr>
        <p:cxnSp>
          <p:nvCxnSpPr>
            <p:cNvPr id="27" name="Straight Connector 2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316844" y="2063531"/>
            <a:ext cx="1661375" cy="2904186"/>
            <a:chOff x="566547" y="1590541"/>
            <a:chExt cx="1661375" cy="2343955"/>
          </a:xfrm>
        </p:grpSpPr>
        <p:cxnSp>
          <p:nvCxnSpPr>
            <p:cNvPr id="31" name="Straight Connector 30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4" name="Flowchart: Connector 33"/>
          <p:cNvSpPr/>
          <p:nvPr/>
        </p:nvSpPr>
        <p:spPr>
          <a:xfrm>
            <a:off x="6283820" y="4397090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5" name="Flowchart: Connector 34"/>
          <p:cNvSpPr/>
          <p:nvPr/>
        </p:nvSpPr>
        <p:spPr>
          <a:xfrm>
            <a:off x="6720653" y="4384878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6" name="Flowchart: Connector 35"/>
          <p:cNvSpPr/>
          <p:nvPr/>
        </p:nvSpPr>
        <p:spPr>
          <a:xfrm>
            <a:off x="7161584" y="4384878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Flowchart: Connector 36"/>
          <p:cNvSpPr/>
          <p:nvPr/>
        </p:nvSpPr>
        <p:spPr>
          <a:xfrm>
            <a:off x="7594551" y="4397090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4" name="Flowchart: Connector 43"/>
          <p:cNvSpPr/>
          <p:nvPr/>
        </p:nvSpPr>
        <p:spPr>
          <a:xfrm>
            <a:off x="7375486" y="396577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5" name="Flowchart: Connector 44"/>
          <p:cNvSpPr/>
          <p:nvPr/>
        </p:nvSpPr>
        <p:spPr>
          <a:xfrm>
            <a:off x="6947682" y="396176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6" name="Flowchart: Connector 45"/>
          <p:cNvSpPr/>
          <p:nvPr/>
        </p:nvSpPr>
        <p:spPr>
          <a:xfrm>
            <a:off x="6505119" y="396176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7" name="Regular Pentagon 46"/>
          <p:cNvSpPr/>
          <p:nvPr/>
        </p:nvSpPr>
        <p:spPr>
          <a:xfrm>
            <a:off x="813205" y="3267885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8" name="Regular Pentagon 47"/>
          <p:cNvSpPr/>
          <p:nvPr/>
        </p:nvSpPr>
        <p:spPr>
          <a:xfrm>
            <a:off x="834591" y="2678893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4722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-3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79013" y="418631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-3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042741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4</a:t>
            </a:r>
            <a:endParaRPr lang="en-GB" sz="3200" dirty="0"/>
          </a:p>
        </p:txBody>
      </p:sp>
      <p:sp>
        <p:nvSpPr>
          <p:cNvPr id="43" name="TextBox 42"/>
          <p:cNvSpPr txBox="1"/>
          <p:nvPr/>
        </p:nvSpPr>
        <p:spPr>
          <a:xfrm>
            <a:off x="4244722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÷2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79013" y="418631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÷2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015032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2</a:t>
            </a:r>
            <a:endParaRPr lang="en-GB" sz="3200" dirty="0"/>
          </a:p>
        </p:txBody>
      </p:sp>
      <p:sp>
        <p:nvSpPr>
          <p:cNvPr id="51" name="Rectangle 50"/>
          <p:cNvSpPr/>
          <p:nvPr/>
        </p:nvSpPr>
        <p:spPr>
          <a:xfrm>
            <a:off x="3214255" y="0"/>
            <a:ext cx="803563" cy="637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37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600000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38889E-6 3.7037E-6 L 1.38889E-6 -0.07732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8.33333E-7 1.85185E-6 L -8.33333E-7 -0.07732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07083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2.59259E-6 L -3.88889E-6 0.07083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4" grpId="0" animBg="1"/>
      <p:bldP spid="34" grpId="1" animBg="1"/>
      <p:bldP spid="35" grpId="0" animBg="1"/>
      <p:bldP spid="36" grpId="0" animBg="1"/>
      <p:bldP spid="37" grpId="0" animBg="1"/>
      <p:bldP spid="37" grpId="1" animBg="1"/>
      <p:bldP spid="44" grpId="0" animBg="1"/>
      <p:bldP spid="45" grpId="0" animBg="1"/>
      <p:bldP spid="46" grpId="0" animBg="1"/>
      <p:bldP spid="47" grpId="0" animBg="1"/>
      <p:bldP spid="48" grpId="0" animBg="1"/>
      <p:bldP spid="48" grpId="1" animBg="1"/>
      <p:bldP spid="25" grpId="0" animBg="1"/>
      <p:bldP spid="39" grpId="0" animBg="1"/>
      <p:bldP spid="39" grpId="1" animBg="1"/>
      <p:bldP spid="42" grpId="0"/>
      <p:bldP spid="42" grpId="1"/>
      <p:bldP spid="43" grpId="0" animBg="1"/>
      <p:bldP spid="49" grpId="0" animBg="1"/>
      <p:bldP spid="50" grpId="0"/>
      <p:bldP spid="5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03441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18" name="Group 46"/>
          <p:cNvGrpSpPr>
            <a:grpSpLocks/>
          </p:cNvGrpSpPr>
          <p:nvPr/>
        </p:nvGrpSpPr>
        <p:grpSpPr bwMode="auto">
          <a:xfrm>
            <a:off x="4787900" y="3933825"/>
            <a:ext cx="720725" cy="792163"/>
            <a:chOff x="204" y="3212"/>
            <a:chExt cx="726" cy="807"/>
          </a:xfrm>
        </p:grpSpPr>
        <p:sp>
          <p:nvSpPr>
            <p:cNvPr id="3119" name="AutoShape 4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20" name="Oval 4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5219700" y="3933825"/>
            <a:ext cx="720725" cy="792163"/>
            <a:chOff x="204" y="3212"/>
            <a:chExt cx="726" cy="807"/>
          </a:xfrm>
        </p:grpSpPr>
        <p:sp>
          <p:nvSpPr>
            <p:cNvPr id="3125" name="AutoShape 53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26" name="Oval 54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06" name="Group 34"/>
          <p:cNvGrpSpPr>
            <a:grpSpLocks/>
          </p:cNvGrpSpPr>
          <p:nvPr/>
        </p:nvGrpSpPr>
        <p:grpSpPr bwMode="auto">
          <a:xfrm>
            <a:off x="900113" y="3213100"/>
            <a:ext cx="865187" cy="1079500"/>
            <a:chOff x="204" y="3212"/>
            <a:chExt cx="726" cy="807"/>
          </a:xfrm>
        </p:grpSpPr>
        <p:sp>
          <p:nvSpPr>
            <p:cNvPr id="3107" name="AutoShape 35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3108" name="Oval 36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75" name="Group 3"/>
          <p:cNvGrpSpPr>
            <a:grpSpLocks/>
          </p:cNvGrpSpPr>
          <p:nvPr/>
        </p:nvGrpSpPr>
        <p:grpSpPr bwMode="auto">
          <a:xfrm>
            <a:off x="468313" y="3573463"/>
            <a:ext cx="865187" cy="1079500"/>
            <a:chOff x="204" y="3212"/>
            <a:chExt cx="726" cy="807"/>
          </a:xfrm>
        </p:grpSpPr>
        <p:sp>
          <p:nvSpPr>
            <p:cNvPr id="3076" name="AutoShape 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78" name="Group 6"/>
          <p:cNvGrpSpPr>
            <a:grpSpLocks/>
          </p:cNvGrpSpPr>
          <p:nvPr/>
        </p:nvGrpSpPr>
        <p:grpSpPr bwMode="auto">
          <a:xfrm>
            <a:off x="5076825" y="3284538"/>
            <a:ext cx="720725" cy="792162"/>
            <a:chOff x="204" y="3212"/>
            <a:chExt cx="726" cy="807"/>
          </a:xfrm>
        </p:grpSpPr>
        <p:sp>
          <p:nvSpPr>
            <p:cNvPr id="3079" name="AutoShape 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81" name="Group 9"/>
          <p:cNvGrpSpPr>
            <a:grpSpLocks/>
          </p:cNvGrpSpPr>
          <p:nvPr/>
        </p:nvGrpSpPr>
        <p:grpSpPr bwMode="auto">
          <a:xfrm>
            <a:off x="4284663" y="3860800"/>
            <a:ext cx="720725" cy="792163"/>
            <a:chOff x="204" y="3212"/>
            <a:chExt cx="726" cy="807"/>
          </a:xfrm>
        </p:grpSpPr>
        <p:sp>
          <p:nvSpPr>
            <p:cNvPr id="3082" name="AutoShape 1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85" name="Group 13"/>
          <p:cNvGrpSpPr>
            <a:grpSpLocks/>
          </p:cNvGrpSpPr>
          <p:nvPr/>
        </p:nvGrpSpPr>
        <p:grpSpPr bwMode="auto">
          <a:xfrm>
            <a:off x="5003800" y="3933825"/>
            <a:ext cx="720725" cy="792163"/>
            <a:chOff x="204" y="3212"/>
            <a:chExt cx="726" cy="807"/>
          </a:xfrm>
        </p:grpSpPr>
        <p:sp>
          <p:nvSpPr>
            <p:cNvPr id="3086" name="AutoShape 1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088" name="WordArt 16"/>
          <p:cNvSpPr>
            <a:spLocks noChangeArrowheads="1" noChangeShapeType="1" noTextEdit="1"/>
          </p:cNvSpPr>
          <p:nvPr/>
        </p:nvSpPr>
        <p:spPr bwMode="auto">
          <a:xfrm>
            <a:off x="323850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3089" name="WordArt 17"/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3090" name="WordArt 18"/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3091" name="WordArt 19"/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8</a:t>
            </a:r>
          </a:p>
        </p:txBody>
      </p:sp>
      <p:sp>
        <p:nvSpPr>
          <p:cNvPr id="3092" name="WordArt 20"/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3093" name="WordArt 21"/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grpSp>
        <p:nvGrpSpPr>
          <p:cNvPr id="3094" name="Group 22"/>
          <p:cNvGrpSpPr>
            <a:grpSpLocks/>
          </p:cNvGrpSpPr>
          <p:nvPr/>
        </p:nvGrpSpPr>
        <p:grpSpPr bwMode="auto">
          <a:xfrm>
            <a:off x="1331913" y="3573463"/>
            <a:ext cx="865187" cy="1079500"/>
            <a:chOff x="204" y="3212"/>
            <a:chExt cx="726" cy="807"/>
          </a:xfrm>
        </p:grpSpPr>
        <p:sp>
          <p:nvSpPr>
            <p:cNvPr id="3095" name="AutoShape 23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3096" name="Oval 24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97" name="Group 25"/>
          <p:cNvGrpSpPr>
            <a:grpSpLocks/>
          </p:cNvGrpSpPr>
          <p:nvPr/>
        </p:nvGrpSpPr>
        <p:grpSpPr bwMode="auto">
          <a:xfrm>
            <a:off x="684213" y="3860800"/>
            <a:ext cx="720725" cy="792163"/>
            <a:chOff x="204" y="3212"/>
            <a:chExt cx="726" cy="807"/>
          </a:xfrm>
        </p:grpSpPr>
        <p:sp>
          <p:nvSpPr>
            <p:cNvPr id="3098" name="AutoShape 26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99" name="Oval 27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3100" name="Picture 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01" name="Text Box 29"/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3x + 2 = 8</a:t>
            </a:r>
          </a:p>
        </p:txBody>
      </p:sp>
      <p:sp>
        <p:nvSpPr>
          <p:cNvPr id="3102" name="Text Box 30"/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3x        = 6</a:t>
            </a:r>
          </a:p>
        </p:txBody>
      </p:sp>
      <p:sp>
        <p:nvSpPr>
          <p:cNvPr id="3103" name="Text Box 31"/>
          <p:cNvSpPr txBox="1">
            <a:spLocks noChangeArrowheads="1"/>
          </p:cNvSpPr>
          <p:nvPr/>
        </p:nvSpPr>
        <p:spPr bwMode="auto">
          <a:xfrm>
            <a:off x="7313523" y="1707924"/>
            <a:ext cx="51112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-2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104" name="Text Box 32"/>
          <p:cNvSpPr txBox="1">
            <a:spLocks noChangeArrowheads="1"/>
          </p:cNvSpPr>
          <p:nvPr/>
        </p:nvSpPr>
        <p:spPr bwMode="auto">
          <a:xfrm>
            <a:off x="6551614" y="2908436"/>
            <a:ext cx="685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÷3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6516688" y="3651250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2</a:t>
            </a:r>
          </a:p>
        </p:txBody>
      </p:sp>
      <p:grpSp>
        <p:nvGrpSpPr>
          <p:cNvPr id="3109" name="Group 37"/>
          <p:cNvGrpSpPr>
            <a:grpSpLocks/>
          </p:cNvGrpSpPr>
          <p:nvPr/>
        </p:nvGrpSpPr>
        <p:grpSpPr bwMode="auto">
          <a:xfrm>
            <a:off x="1331913" y="3860800"/>
            <a:ext cx="720725" cy="792163"/>
            <a:chOff x="204" y="3212"/>
            <a:chExt cx="726" cy="807"/>
          </a:xfrm>
        </p:grpSpPr>
        <p:sp>
          <p:nvSpPr>
            <p:cNvPr id="3110" name="AutoShape 38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11" name="Oval 39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12" name="Group 40"/>
          <p:cNvGrpSpPr>
            <a:grpSpLocks/>
          </p:cNvGrpSpPr>
          <p:nvPr/>
        </p:nvGrpSpPr>
        <p:grpSpPr bwMode="auto">
          <a:xfrm>
            <a:off x="4932363" y="3933825"/>
            <a:ext cx="720725" cy="792163"/>
            <a:chOff x="204" y="3212"/>
            <a:chExt cx="726" cy="807"/>
          </a:xfrm>
        </p:grpSpPr>
        <p:sp>
          <p:nvSpPr>
            <p:cNvPr id="3113" name="AutoShape 41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14" name="Oval 42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15" name="Group 43"/>
          <p:cNvGrpSpPr>
            <a:grpSpLocks/>
          </p:cNvGrpSpPr>
          <p:nvPr/>
        </p:nvGrpSpPr>
        <p:grpSpPr bwMode="auto">
          <a:xfrm>
            <a:off x="4500563" y="3284538"/>
            <a:ext cx="720725" cy="792162"/>
            <a:chOff x="204" y="3212"/>
            <a:chExt cx="726" cy="807"/>
          </a:xfrm>
        </p:grpSpPr>
        <p:sp>
          <p:nvSpPr>
            <p:cNvPr id="3116" name="AutoShape 4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17" name="Oval 4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21" name="Group 49"/>
          <p:cNvGrpSpPr>
            <a:grpSpLocks/>
          </p:cNvGrpSpPr>
          <p:nvPr/>
        </p:nvGrpSpPr>
        <p:grpSpPr bwMode="auto">
          <a:xfrm>
            <a:off x="4500563" y="3933825"/>
            <a:ext cx="720725" cy="792163"/>
            <a:chOff x="204" y="3212"/>
            <a:chExt cx="726" cy="807"/>
          </a:xfrm>
        </p:grpSpPr>
        <p:sp>
          <p:nvSpPr>
            <p:cNvPr id="3122" name="AutoShape 5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23" name="Oval 5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127" name="Text Box 55"/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8632871" y="1716632"/>
            <a:ext cx="51112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-2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72" name="Text Box 32"/>
          <p:cNvSpPr txBox="1">
            <a:spLocks noChangeArrowheads="1"/>
          </p:cNvSpPr>
          <p:nvPr/>
        </p:nvSpPr>
        <p:spPr bwMode="auto">
          <a:xfrm>
            <a:off x="8271557" y="2930208"/>
            <a:ext cx="685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÷3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65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1" grpId="0"/>
      <p:bldP spid="3102" grpId="0"/>
      <p:bldP spid="3103" grpId="0"/>
      <p:bldP spid="3104" grpId="0"/>
      <p:bldP spid="3105" grpId="0"/>
      <p:bldP spid="71" grpId="0"/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50825" y="1341438"/>
            <a:ext cx="770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What if…</a:t>
            </a:r>
            <a:endParaRPr lang="en-GB" altLang="en-US">
              <a:latin typeface="Comic Sans MS" panose="030F0702030302020204" pitchFamily="66" charset="0"/>
            </a:endParaRPr>
          </a:p>
        </p:txBody>
      </p:sp>
      <p:sp>
        <p:nvSpPr>
          <p:cNvPr id="6149" name="WordArt 5"/>
          <p:cNvSpPr>
            <a:spLocks noChangeArrowheads="1" noChangeShapeType="1" noTextEdit="1"/>
          </p:cNvSpPr>
          <p:nvPr/>
        </p:nvSpPr>
        <p:spPr bwMode="auto">
          <a:xfrm>
            <a:off x="1908175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6150" name="WordArt 6"/>
          <p:cNvSpPr>
            <a:spLocks noChangeArrowheads="1" noChangeShapeType="1" noTextEdit="1"/>
          </p:cNvSpPr>
          <p:nvPr/>
        </p:nvSpPr>
        <p:spPr bwMode="auto">
          <a:xfrm>
            <a:off x="2411413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6151" name="WordArt 7"/>
          <p:cNvSpPr>
            <a:spLocks noChangeArrowheads="1" noChangeShapeType="1" noTextEdit="1"/>
          </p:cNvSpPr>
          <p:nvPr/>
        </p:nvSpPr>
        <p:spPr bwMode="auto">
          <a:xfrm>
            <a:off x="4787900" y="2024063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6152" name="WordArt 8"/>
          <p:cNvSpPr>
            <a:spLocks noChangeArrowheads="1" noChangeShapeType="1" noTextEdit="1"/>
          </p:cNvSpPr>
          <p:nvPr/>
        </p:nvSpPr>
        <p:spPr bwMode="auto">
          <a:xfrm>
            <a:off x="5722938" y="1989138"/>
            <a:ext cx="720725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18</a:t>
            </a:r>
          </a:p>
        </p:txBody>
      </p:sp>
      <p:sp>
        <p:nvSpPr>
          <p:cNvPr id="6153" name="WordArt 9"/>
          <p:cNvSpPr>
            <a:spLocks noChangeArrowheads="1" noChangeShapeType="1" noTextEdit="1"/>
          </p:cNvSpPr>
          <p:nvPr/>
        </p:nvSpPr>
        <p:spPr bwMode="auto">
          <a:xfrm>
            <a:off x="3043238" y="2174875"/>
            <a:ext cx="360362" cy="1428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6154" name="WordArt 10"/>
          <p:cNvSpPr>
            <a:spLocks noChangeArrowheads="1" noChangeShapeType="1" noTextEdit="1"/>
          </p:cNvSpPr>
          <p:nvPr/>
        </p:nvSpPr>
        <p:spPr bwMode="auto">
          <a:xfrm>
            <a:off x="3563938" y="2024063"/>
            <a:ext cx="79057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10</a:t>
            </a:r>
          </a:p>
        </p:txBody>
      </p:sp>
      <p:sp>
        <p:nvSpPr>
          <p:cNvPr id="6179" name="WordArt 35"/>
          <p:cNvSpPr>
            <a:spLocks noChangeArrowheads="1" noChangeShapeType="1" noTextEdit="1"/>
          </p:cNvSpPr>
          <p:nvPr/>
        </p:nvSpPr>
        <p:spPr bwMode="auto">
          <a:xfrm>
            <a:off x="6804025" y="20605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?</a:t>
            </a:r>
          </a:p>
        </p:txBody>
      </p:sp>
      <p:pic>
        <p:nvPicPr>
          <p:cNvPr id="6180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83"/>
          <a:stretch>
            <a:fillRect/>
          </a:stretch>
        </p:blipFill>
        <p:spPr bwMode="auto">
          <a:xfrm>
            <a:off x="2771775" y="2701925"/>
            <a:ext cx="3743325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81" name="Text Box 37"/>
          <p:cNvSpPr txBox="1">
            <a:spLocks noChangeArrowheads="1"/>
          </p:cNvSpPr>
          <p:nvPr/>
        </p:nvSpPr>
        <p:spPr bwMode="auto">
          <a:xfrm>
            <a:off x="3419475" y="2924175"/>
            <a:ext cx="295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4x - 10 = 18</a:t>
            </a:r>
          </a:p>
        </p:txBody>
      </p:sp>
      <p:sp>
        <p:nvSpPr>
          <p:cNvPr id="6182" name="Text Box 38"/>
          <p:cNvSpPr txBox="1">
            <a:spLocks noChangeArrowheads="1"/>
          </p:cNvSpPr>
          <p:nvPr/>
        </p:nvSpPr>
        <p:spPr bwMode="auto">
          <a:xfrm>
            <a:off x="3419475" y="4076700"/>
            <a:ext cx="316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4x        = 28</a:t>
            </a:r>
          </a:p>
        </p:txBody>
      </p:sp>
      <p:sp>
        <p:nvSpPr>
          <p:cNvPr id="6183" name="Text Box 39"/>
          <p:cNvSpPr txBox="1">
            <a:spLocks noChangeArrowheads="1"/>
          </p:cNvSpPr>
          <p:nvPr/>
        </p:nvSpPr>
        <p:spPr bwMode="auto">
          <a:xfrm>
            <a:off x="3812177" y="3563212"/>
            <a:ext cx="825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+10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6184" name="Text Box 40"/>
          <p:cNvSpPr txBox="1">
            <a:spLocks noChangeArrowheads="1"/>
          </p:cNvSpPr>
          <p:nvPr/>
        </p:nvSpPr>
        <p:spPr bwMode="auto">
          <a:xfrm>
            <a:off x="3348039" y="4797425"/>
            <a:ext cx="7014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÷4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6185" name="Text Box 41"/>
          <p:cNvSpPr txBox="1">
            <a:spLocks noChangeArrowheads="1"/>
          </p:cNvSpPr>
          <p:nvPr/>
        </p:nvSpPr>
        <p:spPr bwMode="auto">
          <a:xfrm>
            <a:off x="3419475" y="5516563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7</a:t>
            </a:r>
          </a:p>
        </p:txBody>
      </p:sp>
      <p:sp>
        <p:nvSpPr>
          <p:cNvPr id="6186" name="WordArt 42"/>
          <p:cNvSpPr>
            <a:spLocks noChangeArrowheads="1" noChangeShapeType="1" noTextEdit="1"/>
          </p:cNvSpPr>
          <p:nvPr/>
        </p:nvSpPr>
        <p:spPr bwMode="auto">
          <a:xfrm>
            <a:off x="1547813" y="333375"/>
            <a:ext cx="587692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5400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Comic Sans MS" panose="030F0702030302020204" pitchFamily="66" charset="0"/>
              </a:rPr>
              <a:t>Solving Equations</a:t>
            </a:r>
          </a:p>
        </p:txBody>
      </p:sp>
      <p:sp>
        <p:nvSpPr>
          <p:cNvPr id="38" name="Text Box 39"/>
          <p:cNvSpPr txBox="1">
            <a:spLocks noChangeArrowheads="1"/>
          </p:cNvSpPr>
          <p:nvPr/>
        </p:nvSpPr>
        <p:spPr bwMode="auto">
          <a:xfrm>
            <a:off x="5349240" y="3558858"/>
            <a:ext cx="825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+10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9" name="Text Box 40"/>
          <p:cNvSpPr txBox="1">
            <a:spLocks noChangeArrowheads="1"/>
          </p:cNvSpPr>
          <p:nvPr/>
        </p:nvSpPr>
        <p:spPr bwMode="auto">
          <a:xfrm>
            <a:off x="5342302" y="4780007"/>
            <a:ext cx="7014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÷4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5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1" grpId="0"/>
      <p:bldP spid="6182" grpId="0"/>
      <p:bldP spid="6183" grpId="0"/>
      <p:bldP spid="6184" grpId="0"/>
      <p:bldP spid="6185" grpId="0"/>
      <p:bldP spid="3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886" y="948963"/>
            <a:ext cx="828675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</TotalTime>
  <Words>231</Words>
  <Application>Microsoft Office PowerPoint</Application>
  <PresentationFormat>On-screen Show (4:3)</PresentationFormat>
  <Paragraphs>134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Topic: Solving Equations with balance method  EQ: How do I use the balance method to solve equations?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FRASER-JONES Laura</cp:lastModifiedBy>
  <cp:revision>41</cp:revision>
  <dcterms:created xsi:type="dcterms:W3CDTF">2015-12-01T21:48:47Z</dcterms:created>
  <dcterms:modified xsi:type="dcterms:W3CDTF">2016-08-04T02:14:05Z</dcterms:modified>
</cp:coreProperties>
</file>
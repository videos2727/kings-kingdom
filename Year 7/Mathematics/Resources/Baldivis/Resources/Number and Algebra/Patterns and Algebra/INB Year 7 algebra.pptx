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06" r:id="rId6"/>
    <p:sldId id="301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05" r:id="rId16"/>
    <p:sldId id="316" r:id="rId17"/>
    <p:sldId id="307" r:id="rId18"/>
    <p:sldId id="317" r:id="rId19"/>
    <p:sldId id="318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 autoAdjust="0"/>
    <p:restoredTop sz="92895" autoAdjust="0"/>
  </p:normalViewPr>
  <p:slideViewPr>
    <p:cSldViewPr>
      <p:cViewPr varScale="1">
        <p:scale>
          <a:sx n="69" d="100"/>
          <a:sy n="69" d="100"/>
        </p:scale>
        <p:origin x="139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16/03/2015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sisfun.com/associative-commutative-distributive.html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1.xls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458112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Your Name</a:t>
            </a:r>
          </a:p>
          <a:p>
            <a:pPr algn="l"/>
            <a:r>
              <a:rPr lang="en-AU" dirty="0" smtClean="0"/>
              <a:t>Class 7.1, Class 7.8</a:t>
            </a:r>
          </a:p>
          <a:p>
            <a:pPr algn="l"/>
            <a:r>
              <a:rPr lang="en-AU" dirty="0" smtClean="0"/>
              <a:t>Mrs Riksman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3074" name="Picture 2" descr="https://encrypted-tbn3.gstatic.com/images?q=tbn:ANd9GcQtiNSsmHp5BOHFpLZRgA66InvbKd2UAiFQbbBJ1_XvAchg7m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916831"/>
            <a:ext cx="4176464" cy="204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489272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0" y="389336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92489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8245" y="33837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7327" y="355445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278189" y="50782"/>
            <a:ext cx="101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-1" y="733870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2" y="6280308"/>
            <a:ext cx="4470126" cy="3220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89272" y="404664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489272" y="733870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70124" y="6312515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84168" y="404664"/>
            <a:ext cx="0" cy="59078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08694" y="372391"/>
            <a:ext cx="80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Word</a:t>
            </a:r>
            <a:endParaRPr lang="en-AU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113898" y="395316"/>
            <a:ext cx="113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2143810" y="749198"/>
            <a:ext cx="2326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 </a:t>
            </a:r>
            <a:r>
              <a:rPr lang="en-AU" dirty="0" smtClean="0"/>
              <a:t>Rules</a:t>
            </a:r>
          </a:p>
          <a:p>
            <a:r>
              <a:rPr lang="en-AU" dirty="0" smtClean="0"/>
              <a:t>Parts of an Equation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092489" y="749198"/>
            <a:ext cx="1051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9/3</a:t>
            </a:r>
          </a:p>
          <a:p>
            <a:pPr algn="ctr"/>
            <a:r>
              <a:rPr lang="en-AU" dirty="0" smtClean="0"/>
              <a:t>17/3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-2" y="749198"/>
            <a:ext cx="1092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4-5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374312" y="-13817"/>
            <a:ext cx="21769" cy="684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96081" y="601548"/>
            <a:ext cx="4747919" cy="191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396081" y="1196751"/>
            <a:ext cx="474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17850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572089" y="0"/>
            <a:ext cx="3384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Title:</a:t>
            </a:r>
            <a:endParaRPr lang="en-AU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7956376" y="0"/>
            <a:ext cx="118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Date:</a:t>
            </a:r>
            <a:endParaRPr lang="en-AU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7729713" y="16460"/>
            <a:ext cx="45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/>
              <a:t>24</a:t>
            </a:r>
          </a:p>
          <a:p>
            <a:r>
              <a:rPr lang="en-AU" sz="1200" dirty="0" smtClean="0"/>
              <a:t>7</a:t>
            </a:r>
          </a:p>
          <a:p>
            <a:r>
              <a:rPr lang="en-AU" sz="1200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34133" y="48352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Title: Number Rules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6243023" y="454115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Date: 9/3/15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:Describe with examples the commutative, associative and distributive laws.  </a:t>
            </a:r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Question:</a:t>
            </a:r>
          </a:p>
          <a:p>
            <a:endParaRPr lang="en-AU" sz="2400" dirty="0"/>
          </a:p>
          <a:p>
            <a:r>
              <a:rPr lang="en-AU" sz="2400" dirty="0" smtClean="0"/>
              <a:t>What is the Commutative Law?</a:t>
            </a:r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  <a:p>
            <a:r>
              <a:rPr lang="en-AU" sz="2400" dirty="0" smtClean="0"/>
              <a:t>How is the Associative Law different from the Commutative Law?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23247" y="1916832"/>
            <a:ext cx="62207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Notes:</a:t>
            </a:r>
          </a:p>
          <a:p>
            <a:endParaRPr lang="en-A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</a:t>
            </a:r>
            <a:r>
              <a:rPr lang="en-AU" sz="2400" dirty="0"/>
              <a:t>"Commutative </a:t>
            </a:r>
            <a:r>
              <a:rPr lang="en-AU" sz="2400" dirty="0" smtClean="0"/>
              <a:t>Law" says </a:t>
            </a:r>
            <a:r>
              <a:rPr lang="en-AU" sz="2400" dirty="0"/>
              <a:t>we can </a:t>
            </a:r>
            <a:r>
              <a:rPr lang="en-AU" sz="2400" b="1" dirty="0"/>
              <a:t>swap numbers</a:t>
            </a:r>
            <a:r>
              <a:rPr lang="en-AU" sz="2400" dirty="0"/>
              <a:t> over and still get the same </a:t>
            </a:r>
            <a:r>
              <a:rPr lang="en-AU" sz="2400" dirty="0" smtClean="0"/>
              <a:t>answer when </a:t>
            </a:r>
            <a:r>
              <a:rPr lang="en-AU" sz="2400" dirty="0"/>
              <a:t>we </a:t>
            </a:r>
            <a:r>
              <a:rPr lang="en-AU" sz="2400" b="1" dirty="0" smtClean="0"/>
              <a:t>add</a:t>
            </a:r>
            <a:r>
              <a:rPr lang="en-AU" sz="2400" dirty="0"/>
              <a:t> </a:t>
            </a:r>
            <a:r>
              <a:rPr lang="en-AU" sz="2400" dirty="0" smtClean="0"/>
              <a:t>or multiply.</a:t>
            </a:r>
          </a:p>
          <a:p>
            <a:r>
              <a:rPr lang="en-AU" sz="2400" dirty="0" smtClean="0"/>
              <a:t>	Example:</a:t>
            </a:r>
          </a:p>
          <a:p>
            <a:r>
              <a:rPr lang="en-AU" sz="2400" dirty="0" smtClean="0"/>
              <a:t>	</a:t>
            </a:r>
            <a:r>
              <a:rPr lang="en-AU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 × b</a:t>
            </a:r>
            <a:r>
              <a:rPr lang="en-AU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 =  </a:t>
            </a:r>
            <a:r>
              <a:rPr lang="en-AU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 × a </a:t>
            </a:r>
            <a:r>
              <a:rPr lang="en-AU" sz="2400" dirty="0" smtClean="0">
                <a:sym typeface="Wingdings" panose="05000000000000000000" pitchFamily="2" charset="2"/>
              </a:rPr>
              <a:t> </a:t>
            </a:r>
            <a:r>
              <a:rPr lang="en-AU" sz="2400" dirty="0" smtClean="0"/>
              <a:t>6 x 3 = 3 x 6 = 18</a:t>
            </a:r>
          </a:p>
          <a:p>
            <a:r>
              <a:rPr lang="en-AU" sz="2400" dirty="0" smtClean="0"/>
              <a:t>	</a:t>
            </a:r>
            <a:r>
              <a:rPr lang="en-AU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 + b</a:t>
            </a:r>
            <a:r>
              <a:rPr lang="en-AU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 =  </a:t>
            </a:r>
            <a:r>
              <a:rPr lang="en-AU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 + a </a:t>
            </a:r>
            <a:r>
              <a:rPr lang="en-AU" sz="2400" dirty="0" smtClean="0">
                <a:sym typeface="Wingdings" panose="05000000000000000000" pitchFamily="2" charset="2"/>
              </a:rPr>
              <a:t> </a:t>
            </a:r>
            <a:r>
              <a:rPr lang="en-AU" sz="2400" dirty="0" smtClean="0"/>
              <a:t>23 + 27 = 27 + 23 = 50</a:t>
            </a:r>
          </a:p>
          <a:p>
            <a:endParaRPr lang="en-A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The "Associative Laws" say that it doesn't matter how we group the numbers (i.e. which we calculate first</a:t>
            </a:r>
            <a:r>
              <a:rPr lang="en-AU" sz="2400" dirty="0" smtClean="0"/>
              <a:t>) when we add or multiply.</a:t>
            </a:r>
            <a:endParaRPr lang="en-AU" sz="2400" dirty="0"/>
          </a:p>
          <a:p>
            <a:endParaRPr lang="en-AU" sz="2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364088" y="37839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8642511" y="6277189"/>
            <a:ext cx="351768" cy="369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0679" y="251067"/>
            <a:ext cx="6220752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Example:</a:t>
            </a: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pt-B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(a + b) + c</a:t>
            </a:r>
            <a:r>
              <a:rPr lang="pt-B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 =  </a:t>
            </a:r>
            <a:r>
              <a:rPr lang="pt-B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 + (b + c</a:t>
            </a:r>
            <a:r>
              <a:rPr lang="pt-BR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 </a:t>
            </a:r>
            <a:r>
              <a:rPr lang="pt-BR" sz="2400" dirty="0" smtClean="0">
                <a:sym typeface="Wingdings" panose="05000000000000000000" pitchFamily="2" charset="2"/>
              </a:rPr>
              <a:t></a:t>
            </a:r>
          </a:p>
          <a:p>
            <a:r>
              <a:rPr lang="pt-BR" sz="2400" dirty="0">
                <a:sym typeface="Wingdings" panose="05000000000000000000" pitchFamily="2" charset="2"/>
              </a:rPr>
              <a:t>	</a:t>
            </a:r>
            <a:r>
              <a:rPr lang="pt-BR" sz="2400" dirty="0" smtClean="0">
                <a:sym typeface="Wingdings" panose="05000000000000000000" pitchFamily="2" charset="2"/>
              </a:rPr>
              <a:t> (3 + 4) + 2  = 3 + (4 + 2) = 9</a:t>
            </a:r>
          </a:p>
          <a:p>
            <a:r>
              <a:rPr lang="pt-BR" sz="2400" dirty="0">
                <a:solidFill>
                  <a:prstClr val="black"/>
                </a:solidFill>
                <a:sym typeface="Wingdings" panose="05000000000000000000" pitchFamily="2" charset="2"/>
              </a:rPr>
              <a:t>	</a:t>
            </a:r>
            <a:r>
              <a:rPr lang="pt-B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(a × b) × c</a:t>
            </a:r>
            <a:r>
              <a:rPr lang="pt-B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 =  </a:t>
            </a:r>
            <a:r>
              <a:rPr lang="pt-B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 × (b × c</a:t>
            </a:r>
            <a:r>
              <a:rPr lang="pt-BR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 </a:t>
            </a:r>
            <a:r>
              <a:rPr lang="pt-BR" sz="2400" dirty="0" smtClean="0">
                <a:sym typeface="Wingdings" panose="05000000000000000000" pitchFamily="2" charset="2"/>
              </a:rPr>
              <a:t></a:t>
            </a:r>
          </a:p>
          <a:p>
            <a:r>
              <a:rPr lang="pt-BR" sz="2400" dirty="0">
                <a:solidFill>
                  <a:schemeClr val="tx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  <a:r>
              <a:rPr lang="pt-BR" sz="2400" dirty="0" smtClean="0">
                <a:sym typeface="Wingdings" panose="05000000000000000000" pitchFamily="2" charset="2"/>
              </a:rPr>
              <a:t> (1 x 2) x 3  = 1 x (2 x 3) = 6</a:t>
            </a:r>
          </a:p>
          <a:p>
            <a:r>
              <a:rPr lang="en-AU" sz="2400" dirty="0" smtClean="0">
                <a:solidFill>
                  <a:srgbClr val="CC0000"/>
                </a:solidFill>
              </a:rPr>
              <a:t>Remember : The Commutative and Associative Laws do</a:t>
            </a:r>
            <a:r>
              <a:rPr lang="en-AU" sz="2400" dirty="0">
                <a:solidFill>
                  <a:srgbClr val="CC0000"/>
                </a:solidFill>
              </a:rPr>
              <a:t> </a:t>
            </a:r>
            <a:r>
              <a:rPr lang="en-AU" sz="2400" b="1" dirty="0">
                <a:solidFill>
                  <a:srgbClr val="CC0000"/>
                </a:solidFill>
              </a:rPr>
              <a:t>not</a:t>
            </a:r>
            <a:r>
              <a:rPr lang="en-AU" sz="2400" dirty="0">
                <a:solidFill>
                  <a:srgbClr val="CC0000"/>
                </a:solidFill>
              </a:rPr>
              <a:t> work for subtraction or </a:t>
            </a:r>
            <a:r>
              <a:rPr lang="en-AU" sz="2400" dirty="0" smtClean="0">
                <a:solidFill>
                  <a:srgbClr val="CC0000"/>
                </a:solidFill>
              </a:rPr>
              <a:t>division.</a:t>
            </a:r>
          </a:p>
          <a:p>
            <a:endParaRPr lang="en-AU" sz="1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</a:t>
            </a:r>
            <a:r>
              <a:rPr lang="en-AU" sz="2400" dirty="0"/>
              <a:t>"Distributive Law" </a:t>
            </a:r>
            <a:r>
              <a:rPr lang="en-AU" sz="2400" dirty="0" smtClean="0"/>
              <a:t>is written as:</a:t>
            </a:r>
          </a:p>
          <a:p>
            <a:r>
              <a:rPr lang="pt-BR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	a </a:t>
            </a:r>
            <a:r>
              <a:rPr lang="pt-B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× (b + c)  =  a × b  +  a × </a:t>
            </a:r>
            <a:r>
              <a:rPr lang="pt-BR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 </a:t>
            </a:r>
          </a:p>
          <a:p>
            <a:r>
              <a:rPr lang="pt-BR" sz="2400" dirty="0" smtClean="0"/>
              <a:t>It means</a:t>
            </a:r>
          </a:p>
          <a:p>
            <a:endParaRPr lang="pt-BR" sz="24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pt-BR" sz="24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sz="2400" dirty="0" smtClean="0"/>
          </a:p>
          <a:p>
            <a:r>
              <a:rPr lang="en-AU" sz="2400" dirty="0" smtClean="0"/>
              <a:t>3 </a:t>
            </a:r>
            <a:r>
              <a:rPr lang="en-AU" sz="2400" dirty="0"/>
              <a:t>lots of </a:t>
            </a:r>
            <a:r>
              <a:rPr lang="en-AU" sz="2400" b="1" dirty="0"/>
              <a:t>(2+4)</a:t>
            </a:r>
            <a:r>
              <a:rPr lang="en-AU" sz="2400" dirty="0"/>
              <a:t> is the same as </a:t>
            </a:r>
            <a:r>
              <a:rPr lang="en-AU" sz="2400" b="1" dirty="0"/>
              <a:t>3 lots of 2</a:t>
            </a:r>
            <a:r>
              <a:rPr lang="en-AU" sz="2400" dirty="0"/>
              <a:t> plus </a:t>
            </a:r>
            <a:r>
              <a:rPr lang="en-AU" sz="2400" b="1" dirty="0"/>
              <a:t>3 lots of 4</a:t>
            </a:r>
            <a:endParaRPr lang="en-AU" sz="2400" dirty="0" smtClean="0"/>
          </a:p>
          <a:p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667495" y="6184858"/>
            <a:ext cx="41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7504" y="703781"/>
            <a:ext cx="266429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/>
          </a:p>
          <a:p>
            <a:r>
              <a:rPr lang="en-AU" sz="2400" dirty="0" smtClean="0"/>
              <a:t>When do these two Laws not apply?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430" y="4725144"/>
            <a:ext cx="324802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7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60648"/>
            <a:ext cx="813690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Tasks</a:t>
            </a:r>
          </a:p>
          <a:p>
            <a:r>
              <a:rPr lang="en-AU" sz="2400" dirty="0" smtClean="0"/>
              <a:t>Go online to the following address on your </a:t>
            </a:r>
            <a:r>
              <a:rPr lang="en-AU" sz="2400" dirty="0" err="1" smtClean="0"/>
              <a:t>ipad</a:t>
            </a:r>
            <a:r>
              <a:rPr lang="en-AU" sz="2400" dirty="0" smtClean="0"/>
              <a:t>:</a:t>
            </a:r>
          </a:p>
          <a:p>
            <a:endParaRPr lang="en-AU" sz="2400" dirty="0" smtClean="0"/>
          </a:p>
          <a:p>
            <a:r>
              <a:rPr lang="en-AU" sz="2400" dirty="0">
                <a:hlinkClick r:id="rId2"/>
              </a:rPr>
              <a:t>https://</a:t>
            </a:r>
            <a:r>
              <a:rPr lang="en-AU" sz="2400" dirty="0" smtClean="0">
                <a:hlinkClick r:id="rId2"/>
              </a:rPr>
              <a:t>www.mathsisfun.com/associative-commutative-distributive.html</a:t>
            </a:r>
            <a:endParaRPr lang="en-AU" sz="2400" dirty="0" smtClean="0"/>
          </a:p>
          <a:p>
            <a:endParaRPr lang="en-AU" sz="2400" dirty="0"/>
          </a:p>
          <a:p>
            <a:r>
              <a:rPr lang="en-AU" sz="2400" dirty="0" smtClean="0"/>
              <a:t>Read through the information and complete the 10 questions in the green boxes.</a:t>
            </a:r>
          </a:p>
          <a:p>
            <a:endParaRPr lang="en-AU" sz="2400" dirty="0"/>
          </a:p>
          <a:p>
            <a:r>
              <a:rPr lang="en-AU" sz="2400" dirty="0" err="1" smtClean="0"/>
              <a:t>Pg</a:t>
            </a:r>
            <a:r>
              <a:rPr lang="en-AU" sz="2400" dirty="0" smtClean="0"/>
              <a:t> 242 of your textbook Q 2-8, first two columns only</a:t>
            </a:r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4462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Introduction to algebra.</a:t>
            </a:r>
            <a:endParaRPr lang="en-GB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3707464" y="1357322"/>
            <a:ext cx="1221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? – 2 = 4</a:t>
            </a:r>
            <a:endParaRPr lang="en-GB" sz="2400" b="1" dirty="0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79512" y="836712"/>
            <a:ext cx="82809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What is the missing number?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latin typeface="+mj-lt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07504" y="1894180"/>
            <a:ext cx="8496944" cy="3046988"/>
            <a:chOff x="107504" y="1894180"/>
            <a:chExt cx="8496944" cy="3046988"/>
          </a:xfrm>
        </p:grpSpPr>
        <p:sp>
          <p:nvSpPr>
            <p:cNvPr id="19" name="TextBox 18"/>
            <p:cNvSpPr txBox="1"/>
            <p:nvPr/>
          </p:nvSpPr>
          <p:spPr>
            <a:xfrm>
              <a:off x="3649463" y="3903439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/>
                <a:t>x</a:t>
              </a:r>
              <a:r>
                <a:rPr lang="en-GB" sz="2400" b="1" dirty="0" smtClean="0"/>
                <a:t> – 2 = 4</a:t>
              </a:r>
              <a:endParaRPr lang="en-GB" sz="2400" b="1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7504" y="1894180"/>
              <a:ext cx="8496944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cs typeface="Arial" pitchFamily="34" charset="0"/>
                </a:rPr>
                <a:t>OK, the answer is 6, right? Because </a:t>
              </a:r>
              <a:r>
                <a:rPr lang="en-US" sz="2400" b="1" dirty="0">
                  <a:cs typeface="Arial" pitchFamily="34" charset="0"/>
                </a:rPr>
                <a:t>6 - 2 = 4</a:t>
              </a:r>
              <a:r>
                <a:rPr lang="en-US" sz="2400" dirty="0">
                  <a:cs typeface="Arial" pitchFamily="34" charset="0"/>
                </a:rPr>
                <a:t>. Easy stuff.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cs typeface="Arial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cs typeface="Arial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cs typeface="Arial" pitchFamily="34" charset="0"/>
                </a:rPr>
                <a:t>Well, in Algebra we don't use question marks, we use a </a:t>
              </a:r>
              <a:r>
                <a:rPr lang="en-US" sz="2400" b="1" dirty="0">
                  <a:cs typeface="Arial" pitchFamily="34" charset="0"/>
                </a:rPr>
                <a:t>letter</a:t>
              </a:r>
              <a:r>
                <a:rPr lang="en-US" sz="2400" dirty="0">
                  <a:cs typeface="Arial" pitchFamily="34" charset="0"/>
                </a:rPr>
                <a:t> (usually an x or y, but any letter is fine). So we would write: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cs typeface="Arial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cs typeface="Arial" pitchFamily="34" charset="0"/>
              </a:endParaRPr>
            </a:p>
            <a:p>
              <a:endParaRPr lang="en-GB" sz="24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7504" y="4437112"/>
            <a:ext cx="8581356" cy="2585323"/>
            <a:chOff x="107504" y="4437112"/>
            <a:chExt cx="8581356" cy="2585323"/>
          </a:xfrm>
        </p:grpSpPr>
        <p:sp>
          <p:nvSpPr>
            <p:cNvPr id="20" name="TextBox 19"/>
            <p:cNvSpPr txBox="1"/>
            <p:nvPr/>
          </p:nvSpPr>
          <p:spPr>
            <a:xfrm>
              <a:off x="4368380" y="6304682"/>
              <a:ext cx="8018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 smtClean="0"/>
                <a:t>X = 6</a:t>
              </a:r>
              <a:endParaRPr lang="en-GB" sz="2400" b="1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7504" y="4437112"/>
              <a:ext cx="8581356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cs typeface="Arial" pitchFamily="34" charset="0"/>
                </a:rPr>
                <a:t>It is really that simple. The letter (in this case an x) just means "we don't know this yet", and is often called the </a:t>
              </a:r>
              <a:r>
                <a:rPr lang="en-US" sz="2400" b="1" dirty="0" smtClean="0">
                  <a:cs typeface="Arial" pitchFamily="34" charset="0"/>
                </a:rPr>
                <a:t>unknown</a:t>
              </a:r>
              <a:r>
                <a:rPr lang="en-US" sz="2400" dirty="0" smtClean="0">
                  <a:cs typeface="Arial" pitchFamily="34" charset="0"/>
                </a:rPr>
                <a:t> or the </a:t>
              </a:r>
              <a:r>
                <a:rPr lang="en-US" sz="2400" b="1" dirty="0" smtClean="0">
                  <a:cs typeface="Arial" pitchFamily="34" charset="0"/>
                </a:rPr>
                <a:t>variable</a:t>
              </a:r>
              <a:r>
                <a:rPr lang="en-US" sz="2400" dirty="0" smtClean="0">
                  <a:cs typeface="Arial" pitchFamily="34" charset="0"/>
                </a:rPr>
                <a:t>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 smtClean="0">
                <a:cs typeface="Arial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 smtClean="0">
                <a:cs typeface="Arial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cs typeface="Arial" pitchFamily="34" charset="0"/>
                </a:rPr>
                <a:t>And when you solve it you write:</a:t>
              </a:r>
            </a:p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79589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4462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Introduction to algebra.</a:t>
            </a:r>
            <a:endParaRPr lang="en-GB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251521" y="836712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Now try the same method with these, remember X is just a number that we don’t know yet.</a:t>
            </a:r>
            <a:endParaRPr lang="en-GB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1988840"/>
            <a:ext cx="214033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 3 + x = 9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4 ÷ x = 2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10 + x = 100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34 – x = 17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12 + x = 39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6 ÷ x = 3</a:t>
            </a:r>
            <a:endParaRPr lang="en-GB" sz="2400" dirty="0"/>
          </a:p>
        </p:txBody>
      </p:sp>
      <p:sp>
        <p:nvSpPr>
          <p:cNvPr id="7" name="Right Brace 6"/>
          <p:cNvSpPr/>
          <p:nvPr/>
        </p:nvSpPr>
        <p:spPr>
          <a:xfrm>
            <a:off x="2411760" y="1988840"/>
            <a:ext cx="720080" cy="4154984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203848" y="3831431"/>
            <a:ext cx="3522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What is x in each of these?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2529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4462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Introduction to algebra.</a:t>
            </a:r>
            <a:endParaRPr lang="en-GB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3707464" y="1357322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? x </a:t>
            </a:r>
            <a:r>
              <a:rPr lang="en-GB" sz="2400" b="1" dirty="0"/>
              <a:t>4</a:t>
            </a:r>
            <a:r>
              <a:rPr lang="en-GB" sz="2400" b="1" dirty="0" smtClean="0"/>
              <a:t> = 8</a:t>
            </a:r>
            <a:endParaRPr lang="en-GB" sz="2400" b="1" dirty="0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79512" y="836712"/>
            <a:ext cx="82809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What is the missing number here?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latin typeface="+mj-lt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11192" y="3903439"/>
            <a:ext cx="5381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Instead of X </a:t>
            </a:r>
            <a:r>
              <a:rPr lang="en-GB" sz="2400" b="1" dirty="0" err="1" smtClean="0"/>
              <a:t>x</a:t>
            </a:r>
            <a:r>
              <a:rPr lang="en-GB" sz="2400" b="1" dirty="0" smtClean="0"/>
              <a:t> 4 = 8 we could write 4X = 8</a:t>
            </a:r>
            <a:endParaRPr lang="en-GB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07504" y="1894180"/>
            <a:ext cx="8640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cs typeface="Arial" pitchFamily="34" charset="0"/>
              </a:rPr>
              <a:t>OK, the answer is </a:t>
            </a:r>
            <a:r>
              <a:rPr lang="en-US" sz="2400" dirty="0" smtClean="0">
                <a:cs typeface="Arial" pitchFamily="34" charset="0"/>
              </a:rPr>
              <a:t>2, </a:t>
            </a:r>
            <a:r>
              <a:rPr lang="en-US" sz="2400" dirty="0">
                <a:cs typeface="Arial" pitchFamily="34" charset="0"/>
              </a:rPr>
              <a:t>right? Because </a:t>
            </a:r>
            <a:r>
              <a:rPr lang="en-US" sz="2400" b="1" dirty="0" smtClean="0">
                <a:cs typeface="Arial" pitchFamily="34" charset="0"/>
              </a:rPr>
              <a:t>2 x 4 </a:t>
            </a:r>
            <a:r>
              <a:rPr lang="en-US" sz="2400" b="1" dirty="0">
                <a:cs typeface="Arial" pitchFamily="34" charset="0"/>
              </a:rPr>
              <a:t>= </a:t>
            </a:r>
            <a:r>
              <a:rPr lang="en-US" sz="2400" b="1" dirty="0" smtClean="0">
                <a:cs typeface="Arial" pitchFamily="34" charset="0"/>
              </a:rPr>
              <a:t>8</a:t>
            </a:r>
            <a:r>
              <a:rPr lang="en-US" sz="2400" dirty="0" smtClean="0">
                <a:cs typeface="Arial" pitchFamily="34" charset="0"/>
              </a:rPr>
              <a:t>. </a:t>
            </a:r>
            <a:r>
              <a:rPr lang="en-US" sz="2400" dirty="0">
                <a:cs typeface="Arial" pitchFamily="34" charset="0"/>
              </a:rPr>
              <a:t>Easy </a:t>
            </a:r>
            <a:r>
              <a:rPr lang="en-US" sz="2400" dirty="0" smtClean="0">
                <a:cs typeface="Arial" pitchFamily="34" charset="0"/>
              </a:rPr>
              <a:t>stuff again. </a:t>
            </a: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cs typeface="Arial" pitchFamily="34" charset="0"/>
              </a:rPr>
              <a:t>This time we aren’t going to use an x, we are going to make the sum even more simple:</a:t>
            </a: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endParaRPr lang="en-GB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43661" y="4869160"/>
            <a:ext cx="97129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 smtClean="0"/>
              <a:t>4X = 8 </a:t>
            </a:r>
            <a:r>
              <a:rPr lang="en-GB" sz="6000" dirty="0" smtClean="0"/>
              <a:t>because </a:t>
            </a:r>
            <a:r>
              <a:rPr lang="en-GB" sz="9600" dirty="0" smtClean="0"/>
              <a:t>X is 2.  </a:t>
            </a:r>
            <a:endParaRPr lang="en-GB" sz="9600" dirty="0"/>
          </a:p>
        </p:txBody>
      </p:sp>
    </p:spTree>
    <p:extLst>
      <p:ext uri="{BB962C8B-B14F-4D97-AF65-F5344CB8AC3E}">
        <p14:creationId xmlns:p14="http://schemas.microsoft.com/office/powerpoint/2010/main" val="88684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4462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Introduction to algebra.</a:t>
            </a:r>
            <a:endParaRPr lang="en-GB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251521" y="836712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Now try simplifying these:</a:t>
            </a:r>
            <a:endParaRPr lang="en-GB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1988840"/>
            <a:ext cx="194476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 3 X = 9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4X = 8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10X = 100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5X = 15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3X = 30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7X = 21</a:t>
            </a:r>
            <a:endParaRPr lang="en-GB" sz="2400" dirty="0"/>
          </a:p>
        </p:txBody>
      </p:sp>
      <p:sp>
        <p:nvSpPr>
          <p:cNvPr id="7" name="Right Brace 6"/>
          <p:cNvSpPr/>
          <p:nvPr/>
        </p:nvSpPr>
        <p:spPr>
          <a:xfrm>
            <a:off x="2411760" y="1988840"/>
            <a:ext cx="720080" cy="4154984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203848" y="3831431"/>
            <a:ext cx="3522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What is x in each of these?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7899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4462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Introduction to algebra.</a:t>
            </a:r>
            <a:endParaRPr lang="en-GB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251521" y="836712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Now try simplifying these:</a:t>
            </a:r>
            <a:endParaRPr lang="en-GB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1988840"/>
            <a:ext cx="194476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 3 X = 9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4X = 8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10X = 100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5X = 15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3X = 30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7X = 21</a:t>
            </a:r>
            <a:endParaRPr lang="en-GB" sz="2400" dirty="0"/>
          </a:p>
        </p:txBody>
      </p:sp>
      <p:sp>
        <p:nvSpPr>
          <p:cNvPr id="7" name="Right Brace 6"/>
          <p:cNvSpPr/>
          <p:nvPr/>
        </p:nvSpPr>
        <p:spPr>
          <a:xfrm>
            <a:off x="2411760" y="1988840"/>
            <a:ext cx="720080" cy="4154984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203848" y="3831431"/>
            <a:ext cx="3522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What is x in each of these?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82029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1" y="836712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Now try simplifying these:</a:t>
            </a:r>
            <a:endParaRPr lang="en-GB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4462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Introduction to algebra.</a:t>
            </a:r>
            <a:endParaRPr lang="en-GB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1988840"/>
            <a:ext cx="187583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 4 – y = 1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8 + y = 12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10y = 100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/>
              <a:t>y</a:t>
            </a:r>
            <a:r>
              <a:rPr lang="en-GB" sz="2400" dirty="0" smtClean="0"/>
              <a:t> ÷ 5 = 4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3y = 45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/>
          </a:p>
          <a:p>
            <a:pPr marL="457200" indent="-457200">
              <a:buFont typeface="+mj-lt"/>
              <a:buAutoNum type="alphaLcParenR"/>
            </a:pPr>
            <a:r>
              <a:rPr lang="en-GB" sz="2400" dirty="0" smtClean="0"/>
              <a:t>3y = 21</a:t>
            </a:r>
            <a:endParaRPr lang="en-GB" sz="2400" dirty="0"/>
          </a:p>
        </p:txBody>
      </p:sp>
      <p:sp>
        <p:nvSpPr>
          <p:cNvPr id="7" name="Right Brace 6"/>
          <p:cNvSpPr/>
          <p:nvPr/>
        </p:nvSpPr>
        <p:spPr>
          <a:xfrm>
            <a:off x="2267744" y="1988840"/>
            <a:ext cx="720080" cy="4154984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059832" y="3831431"/>
            <a:ext cx="3522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What is y in each of these?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5339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4462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Introduction to algebra.</a:t>
            </a:r>
            <a:endParaRPr lang="en-GB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3707464" y="1357322"/>
            <a:ext cx="1669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a + a + a + a</a:t>
            </a:r>
            <a:endParaRPr lang="en-GB" sz="2400" b="1" dirty="0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79512" y="836712"/>
            <a:ext cx="88569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We can also simplify longer sum using another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simple method.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latin typeface="+mj-lt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46569" y="2636912"/>
            <a:ext cx="39228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 smtClean="0"/>
              <a:t>a 4 times = 4 x a</a:t>
            </a:r>
            <a:endParaRPr lang="en-GB" sz="4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07504" y="1894180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cs typeface="Arial" pitchFamily="34" charset="0"/>
              </a:rPr>
              <a:t>TOO LONG!  What are we actually being asked to do?</a:t>
            </a: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endParaRPr lang="en-GB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43661" y="4869160"/>
            <a:ext cx="92683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 smtClean="0"/>
              <a:t>4a </a:t>
            </a:r>
            <a:r>
              <a:rPr lang="en-GB" sz="3600" dirty="0" smtClean="0"/>
              <a:t>instead of </a:t>
            </a:r>
            <a:r>
              <a:rPr lang="en-GB" sz="8800" dirty="0" smtClean="0"/>
              <a:t>a + a + a + a </a:t>
            </a:r>
            <a:endParaRPr lang="en-GB" sz="8800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3573016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cs typeface="Arial" pitchFamily="34" charset="0"/>
              </a:rPr>
              <a:t>So how have we been display multiplications in algebra?</a:t>
            </a: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8871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1" y="836712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Now try simplifying these:</a:t>
            </a:r>
            <a:endParaRPr lang="en-GB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4462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Introduction to algebra.</a:t>
            </a:r>
            <a:endParaRPr lang="en-GB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1988840"/>
            <a:ext cx="82809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 smtClean="0"/>
              <a:t> y + y + y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/>
              <a:t>b + b + b + b + b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/>
              <a:t>a + a + a + b + b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/>
              <a:t>x + x – y + y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/>
              <a:t>g + g + g – 5n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/>
              <a:t>6y + t + t + t +t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8957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</a:t>
            </a:r>
            <a:r>
              <a:rPr lang="en-AU" dirty="0">
                <a:solidFill>
                  <a:prstClr val="black"/>
                </a:solidFill>
              </a:rPr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57509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Title: </a:t>
            </a:r>
            <a:r>
              <a:rPr lang="en-AU" sz="2800" dirty="0" smtClean="0">
                <a:solidFill>
                  <a:prstClr val="black"/>
                </a:solidFill>
              </a:rPr>
              <a:t>Parts of an equation</a:t>
            </a:r>
            <a:r>
              <a:rPr lang="en-AU" sz="2800" dirty="0" smtClean="0">
                <a:solidFill>
                  <a:prstClr val="black"/>
                </a:solidFill>
              </a:rPr>
              <a:t> 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3384" y="48808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</a:t>
            </a:r>
            <a:r>
              <a:rPr lang="en-AU" sz="2800" dirty="0" smtClean="0">
                <a:solidFill>
                  <a:prstClr val="black"/>
                </a:solidFill>
              </a:rPr>
              <a:t>17/3/15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: </a:t>
            </a:r>
            <a:r>
              <a:rPr lang="en-AU" dirty="0" smtClean="0">
                <a:solidFill>
                  <a:prstClr val="black"/>
                </a:solidFill>
              </a:rPr>
              <a:t>Describe the difference between an expression and an </a:t>
            </a:r>
            <a:r>
              <a:rPr lang="en-AU" dirty="0" smtClean="0">
                <a:solidFill>
                  <a:prstClr val="black"/>
                </a:solidFill>
              </a:rPr>
              <a:t>e</a:t>
            </a:r>
            <a:r>
              <a:rPr lang="en-AU" dirty="0" smtClean="0">
                <a:solidFill>
                  <a:prstClr val="black"/>
                </a:solidFill>
              </a:rPr>
              <a:t>quation</a:t>
            </a:r>
            <a:r>
              <a:rPr lang="en-AU" dirty="0" smtClean="0">
                <a:solidFill>
                  <a:prstClr val="black"/>
                </a:solidFill>
              </a:rPr>
              <a:t>. Label the different parts of an equation namely the constant, variable and co-efficient. 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0669" y="1977094"/>
            <a:ext cx="6220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15025" y="6376615"/>
            <a:ext cx="404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8604448" y="6309320"/>
            <a:ext cx="41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364088" y="-10543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  <p:pic>
        <p:nvPicPr>
          <p:cNvPr id="1026" name="Picture 11" descr="http://www.mathsisfun.com/algebra/images/variable-constan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873" y="5424642"/>
            <a:ext cx="2857500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915816" y="2505806"/>
            <a:ext cx="5959256" cy="348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sz="2000" dirty="0">
                <a:latin typeface="+mn-lt"/>
              </a:rPr>
              <a:t>An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expression</a:t>
            </a:r>
            <a:r>
              <a:rPr lang="en-US" sz="2000" dirty="0">
                <a:latin typeface="+mn-lt"/>
              </a:rPr>
              <a:t> is a group of terms (the terms are separated by + or – signs).   </a:t>
            </a:r>
            <a:endParaRPr lang="en-US" sz="2000" dirty="0" smtClean="0">
              <a:latin typeface="+mn-lt"/>
            </a:endParaRPr>
          </a:p>
          <a:p>
            <a:pPr lvl="0"/>
            <a:endParaRPr lang="en-US" sz="2000" dirty="0">
              <a:latin typeface="+mn-lt"/>
            </a:endParaRPr>
          </a:p>
          <a:p>
            <a:pPr lvl="0"/>
            <a:r>
              <a:rPr lang="en-US" sz="2000" dirty="0" smtClean="0">
                <a:latin typeface="+mn-lt"/>
              </a:rPr>
              <a:t>An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equation</a:t>
            </a:r>
            <a:r>
              <a:rPr lang="en-US" sz="2000" dirty="0">
                <a:latin typeface="+mn-lt"/>
              </a:rPr>
              <a:t> says that two things are equal.  So that makes an equation a statement. An equation will have an equal sign </a:t>
            </a:r>
            <a:r>
              <a:rPr lang="en-US" sz="2000" dirty="0" smtClean="0">
                <a:latin typeface="+mn-lt"/>
              </a:rPr>
              <a:t>“=</a:t>
            </a:r>
          </a:p>
          <a:p>
            <a:pPr lvl="0"/>
            <a:endParaRPr kumimoji="0" lang="en-US" altLang="en-US" sz="2000" b="1" u="none" strike="noStrike" cap="none" normalizeH="0" baseline="0" dirty="0">
              <a:ln>
                <a:noFill/>
              </a:ln>
              <a:solidFill>
                <a:srgbClr val="4F81BD"/>
              </a:solidFill>
              <a:effectLst/>
              <a:latin typeface="+mn-lt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lvl="0"/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4F81BD"/>
                </a:solidFill>
                <a:effectLst/>
                <a:latin typeface="Cambria" panose="020405030504060302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Parts of an Equation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6725" algn="l"/>
                <a:tab pos="2971800" algn="ctr"/>
              </a:tabLs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Here we have an equation that says 4x-7 equals 5, and all its parts:</a:t>
            </a:r>
            <a:endParaRPr kumimoji="0" lang="en-AU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6725" algn="l"/>
                <a:tab pos="2971800" algn="ctr"/>
              </a:tabLst>
            </a:pPr>
            <a:endParaRPr kumimoji="0" lang="en-AU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2480768"/>
            <a:ext cx="2915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Describe the difference between an expression and an equation.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Label a diagram of an equation using the terms coefficient, variable and constant.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46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8642511" y="6277189"/>
            <a:ext cx="351768" cy="369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0679" y="251067"/>
            <a:ext cx="622075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667495" y="6184858"/>
            <a:ext cx="41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endParaRPr lang="en-AU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08765"/>
              </p:ext>
            </p:extLst>
          </p:nvPr>
        </p:nvGraphicFramePr>
        <p:xfrm>
          <a:off x="3030752" y="712732"/>
          <a:ext cx="6058815" cy="5784723"/>
        </p:xfrm>
        <a:graphic>
          <a:graphicData uri="http://schemas.openxmlformats.org/drawingml/2006/table">
            <a:tbl>
              <a:tblPr/>
              <a:tblGrid>
                <a:gridCol w="6058815"/>
              </a:tblGrid>
              <a:tr h="3015062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Variable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a symbol for a number we don't know yet. It is usually a letter like x or y</a:t>
                      </a: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number on its own is called a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Constant</a:t>
                      </a: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Coefficient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a number used to multiply a variable (4x means 4 times x, so 4 is a coefficient</a:t>
                      </a: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a symbol (such as +, ×, </a:t>
                      </a:r>
                      <a:r>
                        <a:rPr lang="en-AU" sz="2000" kern="14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etc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 that represents an operation (</a:t>
                      </a:r>
                      <a:r>
                        <a:rPr lang="en-AU" sz="2000" kern="14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ie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you want to do something with the values).</a:t>
                      </a: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6843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4940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Term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either a single number or a variable, or numbers and variables multiplied together</a:t>
                      </a: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Expression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a group of terms (the terms are separated by + or - signs)</a:t>
                      </a: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1" name="Picture 12" descr="http://www.mathsisfun.com/algebra/images/expression-ter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14" y="5379698"/>
            <a:ext cx="192405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-13855" y="774287"/>
            <a:ext cx="29158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Provide meanings for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Constant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Coefficient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Term</a:t>
            </a:r>
          </a:p>
        </p:txBody>
      </p:sp>
    </p:spTree>
    <p:extLst>
      <p:ext uri="{BB962C8B-B14F-4D97-AF65-F5344CB8AC3E}">
        <p14:creationId xmlns:p14="http://schemas.microsoft.com/office/powerpoint/2010/main" val="115817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88640"/>
            <a:ext cx="8136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Tasks</a:t>
            </a:r>
          </a:p>
          <a:p>
            <a:endParaRPr lang="en-AU" sz="40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45758"/>
              </p:ext>
            </p:extLst>
          </p:nvPr>
        </p:nvGraphicFramePr>
        <p:xfrm>
          <a:off x="467544" y="1916830"/>
          <a:ext cx="8352929" cy="46068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392155"/>
                <a:gridCol w="1392155"/>
                <a:gridCol w="5568619"/>
              </a:tblGrid>
              <a:tr h="73208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Algebraic Expression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Each part of an expression separated by an operation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3208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Coefficient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 number that stands by itself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09812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Constant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 number that does not stand by itself. It is attached to the variable.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3208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Term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 letter that stands for a particular numerical value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09812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Variable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 number sentence without an equal sign, has at least one two terms and one operation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80267" y="763428"/>
            <a:ext cx="834020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Match the vocabulary to the correct definition. Write the answer in the left hand side of your notebook.</a:t>
            </a:r>
            <a:endParaRPr kumimoji="0" lang="en-AU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15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60648"/>
            <a:ext cx="856895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Identify each part of the algebraic expression as the coefficient, constant, or variable</a:t>
            </a:r>
            <a:r>
              <a:rPr lang="en-US" sz="2000" dirty="0" smtClean="0"/>
              <a:t>.</a:t>
            </a:r>
          </a:p>
          <a:p>
            <a:endParaRPr lang="en-AU" dirty="0"/>
          </a:p>
          <a:p>
            <a:r>
              <a:rPr lang="en-US" dirty="0"/>
              <a:t>1. 4x - 12</a:t>
            </a:r>
            <a:endParaRPr lang="en-AU" dirty="0"/>
          </a:p>
          <a:p>
            <a:r>
              <a:rPr lang="en-US" dirty="0"/>
              <a:t>	4 is a(n) </a:t>
            </a:r>
            <a:r>
              <a:rPr lang="en-US" dirty="0" smtClean="0"/>
              <a:t>___________________</a:t>
            </a:r>
          </a:p>
          <a:p>
            <a:endParaRPr lang="en-AU" dirty="0"/>
          </a:p>
          <a:p>
            <a:r>
              <a:rPr lang="en-US" dirty="0" smtClean="0"/>
              <a:t>	x </a:t>
            </a:r>
            <a:r>
              <a:rPr lang="en-US" dirty="0"/>
              <a:t>is a(n) ___________________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	12 is a(n) </a:t>
            </a:r>
            <a:r>
              <a:rPr lang="en-US" dirty="0" smtClean="0"/>
              <a:t>__________________</a:t>
            </a:r>
          </a:p>
          <a:p>
            <a:endParaRPr lang="en-AU" dirty="0"/>
          </a:p>
          <a:p>
            <a:r>
              <a:rPr lang="en-US" dirty="0"/>
              <a:t>2. a + 3b</a:t>
            </a:r>
            <a:endParaRPr lang="en-AU" dirty="0"/>
          </a:p>
          <a:p>
            <a:r>
              <a:rPr lang="en-US" dirty="0"/>
              <a:t>	a is a(n) ___________________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	3 is a(n) ___________________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	b is a(n) </a:t>
            </a:r>
            <a:r>
              <a:rPr lang="en-US" dirty="0" smtClean="0"/>
              <a:t>__________________</a:t>
            </a:r>
          </a:p>
          <a:p>
            <a:endParaRPr lang="en-AU" dirty="0"/>
          </a:p>
          <a:p>
            <a:r>
              <a:rPr lang="en-US" dirty="0"/>
              <a:t>3. 6y</a:t>
            </a:r>
            <a:endParaRPr lang="en-AU" dirty="0"/>
          </a:p>
          <a:p>
            <a:r>
              <a:rPr lang="en-US" dirty="0"/>
              <a:t>	6 is a(n) ___________________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	y is a(n) ___________________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204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 flipV="1">
            <a:off x="971599" y="825209"/>
            <a:ext cx="871834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850630"/>
              </p:ext>
            </p:extLst>
          </p:nvPr>
        </p:nvGraphicFramePr>
        <p:xfrm>
          <a:off x="971600" y="476672"/>
          <a:ext cx="12218188" cy="580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Worksheet" r:id="rId3" imgW="14299200" imgH="6884280" progId="Excel.Sheet.8">
                  <p:embed/>
                </p:oleObj>
              </mc:Choice>
              <mc:Fallback>
                <p:oleObj name="Worksheet" r:id="rId3" imgW="14299200" imgH="6884280" progId="Excel.Shee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76672"/>
                        <a:ext cx="12218188" cy="5806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949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2561</TotalTime>
  <Words>1060</Words>
  <Application>Microsoft Office PowerPoint</Application>
  <PresentationFormat>On-screen Show (4:3)</PresentationFormat>
  <Paragraphs>291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MS Gothic</vt:lpstr>
      <vt:lpstr>Arial</vt:lpstr>
      <vt:lpstr>Calibri</vt:lpstr>
      <vt:lpstr>Cambria</vt:lpstr>
      <vt:lpstr>Times New Roman</vt:lpstr>
      <vt:lpstr>Wingdings</vt:lpstr>
      <vt:lpstr>Office Theme</vt:lpstr>
      <vt:lpstr>Microsoft Excel 97-2003 Worksheet</vt:lpstr>
      <vt:lpstr>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Bianca Riksman</cp:lastModifiedBy>
  <cp:revision>86</cp:revision>
  <dcterms:created xsi:type="dcterms:W3CDTF">2014-05-14T02:58:57Z</dcterms:created>
  <dcterms:modified xsi:type="dcterms:W3CDTF">2015-03-16T11:49:34Z</dcterms:modified>
</cp:coreProperties>
</file>
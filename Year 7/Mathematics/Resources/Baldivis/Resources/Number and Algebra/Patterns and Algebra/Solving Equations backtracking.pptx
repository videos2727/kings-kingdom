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3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72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-653" y="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46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6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23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45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3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45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71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641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965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24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9333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088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854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108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886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608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84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0735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164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5555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2913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31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EDF6-0D46-45CC-8364-2C993B872E76}" type="datetimeFigureOut">
              <a:rPr lang="en-GB" smtClean="0"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DD99A-9A16-4212-9E63-A47C0ACEF5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77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02ACC-3968-4E6E-9E5C-AE6A17245F70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195EC-FB89-457F-BFE2-BD3F95E84F4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84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Topic: Solving Equations </a:t>
            </a:r>
            <a:r>
              <a:rPr lang="en-GB" b="1" dirty="0" smtClean="0"/>
              <a:t>with backtracking.</a:t>
            </a: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EQ: How do I use the </a:t>
            </a:r>
            <a:r>
              <a:rPr lang="en-GB" b="1" dirty="0" smtClean="0"/>
              <a:t>backtracking method </a:t>
            </a:r>
            <a:r>
              <a:rPr lang="en-GB" b="1" dirty="0" smtClean="0"/>
              <a:t>to solve equations?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775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bart-simpson-gener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713788" cy="63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>
                <a:solidFill>
                  <a:schemeClr val="bg1"/>
                </a:solidFill>
              </a:rPr>
              <a:t>Solving Equations</a:t>
            </a: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 smtClean="0">
                <a:solidFill>
                  <a:schemeClr val="bg1"/>
                </a:solidFill>
              </a:rPr>
              <a:t>Able </a:t>
            </a:r>
            <a:r>
              <a:rPr lang="en-GB" dirty="0" smtClean="0">
                <a:solidFill>
                  <a:schemeClr val="bg1"/>
                </a:solidFill>
              </a:rPr>
              <a:t>to solve a one-step equation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bg1"/>
                </a:solidFill>
              </a:rPr>
              <a:t>   Able </a:t>
            </a:r>
            <a:r>
              <a:rPr lang="en-GB" dirty="0" smtClean="0">
                <a:solidFill>
                  <a:schemeClr val="bg1"/>
                </a:solidFill>
              </a:rPr>
              <a:t>to solve a two-step equation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67544" y="2852936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67544" y="4081991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71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60197" y="2659021"/>
            <a:ext cx="6553953" cy="2088232"/>
            <a:chOff x="507515" y="1988840"/>
            <a:chExt cx="3200389" cy="720080"/>
          </a:xfrm>
        </p:grpSpPr>
        <p:sp>
          <p:nvSpPr>
            <p:cNvPr id="5" name="Rounded Rectangle 4"/>
            <p:cNvSpPr/>
            <p:nvPr/>
          </p:nvSpPr>
          <p:spPr>
            <a:xfrm>
              <a:off x="1619672" y="1988840"/>
              <a:ext cx="1224136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827584" y="2348880"/>
              <a:ext cx="64807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3059832" y="2348880"/>
              <a:ext cx="64807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07515" y="2155029"/>
              <a:ext cx="432048" cy="350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0" dirty="0" smtClean="0"/>
                <a:t>n</a:t>
              </a:r>
              <a:endParaRPr lang="en-GB" sz="6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43692" y="2152424"/>
              <a:ext cx="1080120" cy="350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0" dirty="0">
                  <a:solidFill>
                    <a:schemeClr val="bg1"/>
                  </a:solidFill>
                </a:rPr>
                <a:t> </a:t>
              </a:r>
              <a:r>
                <a:rPr lang="en-GB" sz="6000" dirty="0" smtClean="0">
                  <a:solidFill>
                    <a:schemeClr val="bg1"/>
                  </a:solidFill>
                </a:rPr>
                <a:t>+ 4</a:t>
              </a:r>
              <a:endParaRPr lang="en-GB" sz="6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948264" y="3122118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/>
              <a:t>n + 4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4022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23528" y="2659021"/>
            <a:ext cx="6553953" cy="2088232"/>
            <a:chOff x="507515" y="1988840"/>
            <a:chExt cx="3200389" cy="720080"/>
          </a:xfrm>
        </p:grpSpPr>
        <p:sp>
          <p:nvSpPr>
            <p:cNvPr id="5" name="Rounded Rectangle 4"/>
            <p:cNvSpPr/>
            <p:nvPr/>
          </p:nvSpPr>
          <p:spPr>
            <a:xfrm>
              <a:off x="1619672" y="1988840"/>
              <a:ext cx="1224136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827584" y="2348880"/>
              <a:ext cx="64807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3059832" y="2348880"/>
              <a:ext cx="64807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07515" y="2155029"/>
              <a:ext cx="432048" cy="350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0" dirty="0" smtClean="0"/>
                <a:t>n</a:t>
              </a:r>
              <a:endParaRPr lang="en-GB" sz="6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07704" y="2152424"/>
              <a:ext cx="1080120" cy="350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0" dirty="0" smtClean="0">
                  <a:solidFill>
                    <a:schemeClr val="bg1"/>
                  </a:solidFill>
                </a:rPr>
                <a:t>- 3</a:t>
              </a:r>
              <a:endParaRPr lang="en-GB" sz="6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948264" y="3122118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/>
              <a:t>n - 3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160940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67544" y="2659021"/>
            <a:ext cx="6553953" cy="2088232"/>
            <a:chOff x="507515" y="1988840"/>
            <a:chExt cx="3200389" cy="720080"/>
          </a:xfrm>
        </p:grpSpPr>
        <p:sp>
          <p:nvSpPr>
            <p:cNvPr id="5" name="Rounded Rectangle 4"/>
            <p:cNvSpPr/>
            <p:nvPr/>
          </p:nvSpPr>
          <p:spPr>
            <a:xfrm>
              <a:off x="1619672" y="1988840"/>
              <a:ext cx="1224136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827584" y="2348880"/>
              <a:ext cx="64807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3059832" y="2348880"/>
              <a:ext cx="64807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07515" y="2155029"/>
              <a:ext cx="432048" cy="350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0" dirty="0" smtClean="0"/>
                <a:t>n</a:t>
              </a:r>
              <a:endParaRPr lang="en-GB" sz="6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07704" y="2152424"/>
              <a:ext cx="1080120" cy="350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0" dirty="0">
                  <a:solidFill>
                    <a:schemeClr val="bg1"/>
                  </a:solidFill>
                </a:rPr>
                <a:t> </a:t>
              </a:r>
              <a:r>
                <a:rPr lang="en-GB" sz="6000" dirty="0" smtClean="0">
                  <a:solidFill>
                    <a:schemeClr val="bg1"/>
                  </a:solidFill>
                </a:rPr>
                <a:t>x 11</a:t>
              </a:r>
              <a:endParaRPr lang="en-GB" sz="6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164288" y="3122118"/>
            <a:ext cx="18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/>
              <a:t>11n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21646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13149" y="2659021"/>
            <a:ext cx="6553953" cy="2088232"/>
            <a:chOff x="507515" y="1988840"/>
            <a:chExt cx="3200389" cy="720080"/>
          </a:xfrm>
        </p:grpSpPr>
        <p:sp>
          <p:nvSpPr>
            <p:cNvPr id="5" name="Rounded Rectangle 4"/>
            <p:cNvSpPr/>
            <p:nvPr/>
          </p:nvSpPr>
          <p:spPr>
            <a:xfrm>
              <a:off x="1619672" y="1988840"/>
              <a:ext cx="1224136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827584" y="2348880"/>
              <a:ext cx="64807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3059832" y="2348880"/>
              <a:ext cx="648072" cy="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07515" y="2155029"/>
              <a:ext cx="432048" cy="350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0" dirty="0" smtClean="0"/>
                <a:t>n</a:t>
              </a:r>
              <a:endParaRPr lang="en-GB" sz="6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907704" y="2152424"/>
              <a:ext cx="1080120" cy="350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000" dirty="0" smtClean="0">
                  <a:solidFill>
                    <a:schemeClr val="bg1"/>
                  </a:solidFill>
                </a:rPr>
                <a:t>÷ 5</a:t>
              </a:r>
              <a:endParaRPr lang="en-GB" sz="60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732240" y="2807429"/>
                <a:ext cx="1800200" cy="1667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000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AU" sz="6000" b="0" i="1" smtClean="0"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2807429"/>
                <a:ext cx="1800200" cy="166763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79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91680" y="1740589"/>
            <a:ext cx="2506861" cy="2088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906977" y="2784705"/>
            <a:ext cx="663581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499992" y="2784705"/>
            <a:ext cx="663581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1520" y="2222537"/>
            <a:ext cx="884774" cy="1015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>
                <a:solidFill>
                  <a:prstClr val="black"/>
                </a:solidFill>
              </a:rPr>
              <a:t>n</a:t>
            </a:r>
            <a:endParaRPr lang="en-GB" sz="6000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16048" y="2214983"/>
            <a:ext cx="2211936" cy="1015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 </a:t>
            </a:r>
            <a:r>
              <a:rPr lang="en-GB" sz="6000" dirty="0" smtClean="0">
                <a:solidFill>
                  <a:schemeClr val="bg1"/>
                </a:solidFill>
              </a:rPr>
              <a:t>x 5</a:t>
            </a:r>
            <a:endParaRPr lang="en-GB" sz="6000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64088" y="1772816"/>
            <a:ext cx="2506861" cy="2088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88456" y="2247210"/>
            <a:ext cx="2211936" cy="1015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 </a:t>
            </a:r>
            <a:r>
              <a:rPr lang="en-GB" sz="6000" dirty="0" smtClean="0">
                <a:solidFill>
                  <a:schemeClr val="bg1"/>
                </a:solidFill>
              </a:rPr>
              <a:t>+ 7</a:t>
            </a:r>
            <a:endParaRPr lang="en-GB" sz="6000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8084883" y="2780928"/>
            <a:ext cx="663581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44208" y="4509120"/>
            <a:ext cx="2232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/>
              <a:t>5n + 7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14384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907704" y="1560569"/>
            <a:ext cx="2506861" cy="2088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123001" y="2604685"/>
            <a:ext cx="663581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716016" y="2604685"/>
            <a:ext cx="663581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7544" y="2042517"/>
            <a:ext cx="884774" cy="1015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>
                <a:solidFill>
                  <a:prstClr val="black"/>
                </a:solidFill>
              </a:rPr>
              <a:t>n</a:t>
            </a:r>
            <a:endParaRPr lang="en-GB" sz="6000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32072" y="2034963"/>
            <a:ext cx="2211936" cy="1015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 </a:t>
            </a:r>
            <a:r>
              <a:rPr lang="en-GB" sz="6000" dirty="0" smtClean="0">
                <a:solidFill>
                  <a:schemeClr val="bg1"/>
                </a:solidFill>
              </a:rPr>
              <a:t>÷ 8</a:t>
            </a:r>
            <a:endParaRPr lang="en-GB" sz="6000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80112" y="1592796"/>
            <a:ext cx="2506861" cy="2088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04480" y="2067190"/>
            <a:ext cx="2211936" cy="1015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 -</a:t>
            </a:r>
            <a:r>
              <a:rPr lang="en-GB" sz="6000" dirty="0" smtClean="0">
                <a:solidFill>
                  <a:schemeClr val="bg1"/>
                </a:solidFill>
              </a:rPr>
              <a:t> 3</a:t>
            </a:r>
            <a:endParaRPr lang="en-GB" sz="6000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8300907" y="2600908"/>
            <a:ext cx="663581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732240" y="4293096"/>
                <a:ext cx="1800200" cy="1329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sz="60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6000" b="0" i="1" smtClean="0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AU" sz="6000" b="0" i="1" smtClean="0">
                            <a:latin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6000" dirty="0" smtClean="0"/>
                  <a:t> - 3</a:t>
                </a:r>
                <a:endParaRPr lang="en-GB" sz="60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4293096"/>
                <a:ext cx="1800200" cy="1329210"/>
              </a:xfrm>
              <a:prstGeom prst="rect">
                <a:avLst/>
              </a:prstGeom>
              <a:blipFill rotWithShape="1">
                <a:blip r:embed="rId2"/>
                <a:stretch>
                  <a:fillRect t="-4587" r="-4730" b="-160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77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835696" y="958620"/>
            <a:ext cx="2506861" cy="2088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050993" y="2002736"/>
            <a:ext cx="663581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644008" y="2002736"/>
            <a:ext cx="663581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5536" y="1440568"/>
            <a:ext cx="884774" cy="1015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>
                <a:solidFill>
                  <a:prstClr val="black"/>
                </a:solidFill>
              </a:rPr>
              <a:t>n</a:t>
            </a:r>
            <a:endParaRPr lang="en-GB" sz="6000" dirty="0">
              <a:solidFill>
                <a:prstClr val="black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60064" y="1433014"/>
            <a:ext cx="2211936" cy="1015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 </a:t>
            </a:r>
            <a:r>
              <a:rPr lang="en-GB" sz="6000" dirty="0" smtClean="0">
                <a:solidFill>
                  <a:schemeClr val="bg1"/>
                </a:solidFill>
              </a:rPr>
              <a:t>x 13</a:t>
            </a:r>
            <a:endParaRPr lang="en-GB" sz="6000"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08104" y="990847"/>
            <a:ext cx="2506861" cy="20882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32472" y="1465241"/>
            <a:ext cx="2211936" cy="1015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solidFill>
                  <a:schemeClr val="bg1"/>
                </a:solidFill>
              </a:rPr>
              <a:t> </a:t>
            </a:r>
            <a:r>
              <a:rPr lang="en-GB" sz="6000" dirty="0" smtClean="0">
                <a:solidFill>
                  <a:schemeClr val="bg1"/>
                </a:solidFill>
              </a:rPr>
              <a:t>+ 6</a:t>
            </a:r>
            <a:endParaRPr lang="en-GB" sz="6000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8228899" y="1998959"/>
            <a:ext cx="663581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72200" y="3429000"/>
            <a:ext cx="2592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 smtClean="0"/>
              <a:t>13n + 6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175746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When solving an equation, it’s useful to think of them as a function machine</a:t>
            </a:r>
          </a:p>
          <a:p>
            <a:endParaRPr lang="en-GB" dirty="0"/>
          </a:p>
          <a:p>
            <a:r>
              <a:rPr lang="en-GB" dirty="0" smtClean="0"/>
              <a:t>To find the starting value, you work backwards through the function machine</a:t>
            </a:r>
          </a:p>
          <a:p>
            <a:endParaRPr lang="en-GB" dirty="0"/>
          </a:p>
          <a:p>
            <a:r>
              <a:rPr lang="en-GB" dirty="0" smtClean="0"/>
              <a:t>You always do the opposite when working backwards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227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Find the value of x if: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x + 9 = 20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3567307" y="3829119"/>
            <a:ext cx="1762737" cy="12165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26712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641115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818" y="4109897"/>
            <a:ext cx="622142" cy="59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2069" y="4105496"/>
            <a:ext cx="1555356" cy="59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+ 9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4329" y="4105496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20</a:t>
            </a:r>
            <a:endParaRPr lang="en-GB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6588224" y="5601434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20</a:t>
            </a:r>
            <a:endParaRPr lang="en-GB" sz="4000" dirty="0"/>
          </a:p>
        </p:txBody>
      </p:sp>
      <p:sp>
        <p:nvSpPr>
          <p:cNvPr id="13" name="Rounded Rectangle 12"/>
          <p:cNvSpPr/>
          <p:nvPr/>
        </p:nvSpPr>
        <p:spPr>
          <a:xfrm>
            <a:off x="3581202" y="5301208"/>
            <a:ext cx="1762737" cy="121658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40607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655010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95963" y="5577585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-</a:t>
            </a:r>
            <a:r>
              <a:rPr lang="en-GB" sz="4000" dirty="0" smtClean="0">
                <a:solidFill>
                  <a:schemeClr val="bg1"/>
                </a:solidFill>
              </a:rPr>
              <a:t> 9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65885" y="5555557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11</a:t>
            </a:r>
            <a:endParaRPr lang="en-GB" sz="4000" dirty="0"/>
          </a:p>
        </p:txBody>
      </p:sp>
      <p:sp>
        <p:nvSpPr>
          <p:cNvPr id="19" name="Cloud Callout 18"/>
          <p:cNvSpPr/>
          <p:nvPr/>
        </p:nvSpPr>
        <p:spPr>
          <a:xfrm>
            <a:off x="5868144" y="1268760"/>
            <a:ext cx="2952328" cy="2448272"/>
          </a:xfrm>
          <a:prstGeom prst="cloudCallout">
            <a:avLst>
              <a:gd name="adj1" fmla="val -48051"/>
              <a:gd name="adj2" fmla="val 625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 smtClean="0"/>
              <a:t>So </a:t>
            </a:r>
          </a:p>
          <a:p>
            <a:pPr algn="ctr"/>
            <a:r>
              <a:rPr lang="en-GB" sz="4000" dirty="0" smtClean="0"/>
              <a:t>x = 11!!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64335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/>
      <p:bldP spid="11" grpId="0"/>
      <p:bldP spid="13" grpId="0" animBg="1"/>
      <p:bldP spid="17" grpId="0"/>
      <p:bldP spid="18" grpId="0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Find the value of x if: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dirty="0" smtClean="0"/>
              <a:t>x - 13 = 33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3567307" y="3829119"/>
            <a:ext cx="1762737" cy="12165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26712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641115" y="4437411"/>
            <a:ext cx="933214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818" y="4109897"/>
            <a:ext cx="622142" cy="591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2069" y="4105496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-13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4329" y="4105496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33</a:t>
            </a:r>
            <a:endParaRPr lang="en-GB" sz="4000" dirty="0"/>
          </a:p>
        </p:txBody>
      </p:sp>
      <p:sp>
        <p:nvSpPr>
          <p:cNvPr id="11" name="TextBox 10"/>
          <p:cNvSpPr txBox="1"/>
          <p:nvPr/>
        </p:nvSpPr>
        <p:spPr>
          <a:xfrm>
            <a:off x="6588224" y="5601434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33</a:t>
            </a:r>
            <a:endParaRPr lang="en-GB" sz="4000" dirty="0"/>
          </a:p>
        </p:txBody>
      </p:sp>
      <p:sp>
        <p:nvSpPr>
          <p:cNvPr id="13" name="Rounded Rectangle 12"/>
          <p:cNvSpPr/>
          <p:nvPr/>
        </p:nvSpPr>
        <p:spPr>
          <a:xfrm>
            <a:off x="3581202" y="5301208"/>
            <a:ext cx="1762737" cy="1216583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440607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655010" y="5909500"/>
            <a:ext cx="933214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95963" y="5577585"/>
            <a:ext cx="15553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</a:rPr>
              <a:t>+ 13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65885" y="5555557"/>
            <a:ext cx="1022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46</a:t>
            </a:r>
            <a:endParaRPr lang="en-GB" sz="4000" dirty="0"/>
          </a:p>
        </p:txBody>
      </p:sp>
      <p:sp>
        <p:nvSpPr>
          <p:cNvPr id="19" name="Cloud Callout 18"/>
          <p:cNvSpPr/>
          <p:nvPr/>
        </p:nvSpPr>
        <p:spPr>
          <a:xfrm>
            <a:off x="5868144" y="1268760"/>
            <a:ext cx="2952328" cy="2448272"/>
          </a:xfrm>
          <a:prstGeom prst="cloudCallout">
            <a:avLst>
              <a:gd name="adj1" fmla="val -48051"/>
              <a:gd name="adj2" fmla="val 62500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 smtClean="0"/>
              <a:t>So </a:t>
            </a:r>
          </a:p>
          <a:p>
            <a:pPr algn="ctr"/>
            <a:r>
              <a:rPr lang="en-GB" sz="4000" dirty="0" smtClean="0"/>
              <a:t>x = 46!!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28067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/>
      <p:bldP spid="11" grpId="0"/>
      <p:bldP spid="13" grpId="0" animBg="1"/>
      <p:bldP spid="17" grpId="0"/>
      <p:bldP spid="18" grpId="0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Find the value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if: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4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+ 7 = 27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loud Callout 18"/>
              <p:cNvSpPr/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solidFill>
                <a:schemeClr val="tx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4000" dirty="0" smtClean="0"/>
                  <a:t>So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 smtClean="0"/>
                  <a:t> = 5!!</a:t>
                </a:r>
                <a:endParaRPr lang="en-GB" sz="4000" dirty="0"/>
              </a:p>
            </p:txBody>
          </p:sp>
        </mc:Choice>
        <mc:Fallback xmlns="">
          <p:sp>
            <p:nvSpPr>
              <p:cNvPr id="19" name="Cloud Callou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/>
          <p:cNvSpPr/>
          <p:nvPr/>
        </p:nvSpPr>
        <p:spPr>
          <a:xfrm>
            <a:off x="1875892" y="4005064"/>
            <a:ext cx="1630336" cy="12145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899592" y="4612317"/>
            <a:ext cx="876650" cy="1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630336" y="4596204"/>
            <a:ext cx="1373712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 smtClean="0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4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2144040" y="4258374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x 4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220072" y="4005064"/>
            <a:ext cx="1630336" cy="1182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51330" y="4233282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+ </a:t>
            </a:r>
            <a:r>
              <a:rPr lang="en-GB" sz="4000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012517" y="4587225"/>
            <a:ext cx="1159883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59226" y="4233282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27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896570" y="5382845"/>
            <a:ext cx="1630336" cy="1214507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920270" y="5990098"/>
            <a:ext cx="876650" cy="1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651014" y="5973985"/>
            <a:ext cx="1373712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754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prstClr val="black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4718" y="5636155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÷ 4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240750" y="5382845"/>
            <a:ext cx="1630336" cy="118228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72008" y="5611063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-</a:t>
            </a:r>
            <a:r>
              <a:rPr lang="en-GB" sz="4000" dirty="0" smtClean="0">
                <a:solidFill>
                  <a:schemeClr val="bg1"/>
                </a:solidFill>
              </a:rPr>
              <a:t> </a:t>
            </a:r>
            <a:r>
              <a:rPr lang="en-GB" sz="4000" dirty="0">
                <a:solidFill>
                  <a:schemeClr val="bg1"/>
                </a:solidFill>
              </a:rPr>
              <a:t>7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033195" y="5965006"/>
            <a:ext cx="1159883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7990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27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67944" y="538284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20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28067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3" grpId="0"/>
      <p:bldP spid="24" grpId="0"/>
      <p:bldP spid="25" grpId="0" animBg="1"/>
      <p:bldP spid="26" grpId="0"/>
      <p:bldP spid="33" grpId="0"/>
      <p:bldP spid="34" grpId="0" animBg="1"/>
      <p:bldP spid="37" grpId="0"/>
      <p:bldP spid="38" grpId="0"/>
      <p:bldP spid="39" grpId="0" animBg="1"/>
      <p:bldP spid="40" grpId="0"/>
      <p:bldP spid="42" grpId="0"/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 smtClean="0"/>
                  <a:t>Find the value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if: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:r>
                  <a:rPr lang="en-GB" dirty="0" smtClean="0"/>
                  <a:t>20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 smtClean="0"/>
                  <a:t> – 15 = 85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1875892" y="4005064"/>
            <a:ext cx="1630336" cy="12145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99592" y="4612317"/>
            <a:ext cx="876650" cy="1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630336" y="4596204"/>
            <a:ext cx="1373712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 smtClean="0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4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233282"/>
                <a:ext cx="884774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144040" y="4258374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x 20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20072" y="4005064"/>
            <a:ext cx="1630336" cy="1182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51330" y="4233282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-</a:t>
            </a:r>
            <a:r>
              <a:rPr lang="en-GB" sz="4000" dirty="0" smtClean="0">
                <a:solidFill>
                  <a:schemeClr val="bg1"/>
                </a:solidFill>
              </a:rPr>
              <a:t> 15</a:t>
            </a:r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7012517" y="4587225"/>
            <a:ext cx="1159883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59226" y="4233282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85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896570" y="5382845"/>
            <a:ext cx="1630336" cy="1214507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920270" y="5990098"/>
            <a:ext cx="876650" cy="1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651014" y="5973985"/>
            <a:ext cx="1373712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754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prstClr val="black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1720" y="5636155"/>
            <a:ext cx="1275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÷ 20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40750" y="5382845"/>
            <a:ext cx="1630336" cy="118228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dirty="0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2008" y="5611063"/>
            <a:ext cx="1167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smtClean="0">
                <a:solidFill>
                  <a:schemeClr val="bg1"/>
                </a:solidFill>
              </a:rPr>
              <a:t>+15</a:t>
            </a:r>
            <a:endParaRPr lang="en-GB" sz="4000" dirty="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033195" y="5965006"/>
            <a:ext cx="1159883" cy="0"/>
          </a:xfrm>
          <a:prstGeom prst="straightConnector1">
            <a:avLst/>
          </a:prstGeom>
          <a:ln w="571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79904" y="5611063"/>
            <a:ext cx="884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solidFill>
                  <a:prstClr val="black"/>
                </a:solidFill>
              </a:rPr>
              <a:t>85</a:t>
            </a:r>
            <a:endParaRPr lang="en-GB" sz="4000" dirty="0"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23928" y="538284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/>
              <a:t>100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loud Callout 22"/>
              <p:cNvSpPr/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solidFill>
                <a:schemeClr val="tx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4000" dirty="0" smtClean="0"/>
                  <a:t>So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4000" dirty="0" smtClean="0"/>
                  <a:t> = 5!!</a:t>
                </a:r>
                <a:endParaRPr lang="en-GB" sz="4000" dirty="0"/>
              </a:p>
            </p:txBody>
          </p:sp>
        </mc:Choice>
        <mc:Fallback xmlns="">
          <p:sp>
            <p:nvSpPr>
              <p:cNvPr id="23" name="Cloud Callou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268760"/>
                <a:ext cx="2952328" cy="2448272"/>
              </a:xfrm>
              <a:prstGeom prst="cloudCallout">
                <a:avLst>
                  <a:gd name="adj1" fmla="val -48051"/>
                  <a:gd name="adj2" fmla="val 62500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95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9" grpId="0" animBg="1"/>
      <p:bldP spid="10" grpId="0"/>
      <p:bldP spid="12" grpId="0"/>
      <p:bldP spid="13" grpId="0" animBg="1"/>
      <p:bldP spid="16" grpId="0"/>
      <p:bldP spid="17" grpId="0"/>
      <p:bldP spid="18" grpId="0" animBg="1"/>
      <p:bldP spid="19" grpId="0"/>
      <p:bldP spid="21" grpId="0"/>
      <p:bldP spid="22" grpId="0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Solving Equations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Solve the following equations, showing your working out</a:t>
            </a:r>
          </a:p>
          <a:p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a + 5 = 12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b – 6 = 20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c + 17 = 32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d – 9 = 36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 smtClean="0"/>
              <a:t>e + 26 = 51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644008" y="3068960"/>
                <a:ext cx="3744416" cy="2779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 smtClean="0"/>
                  <a:t>6)   2f + 3 = 9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 smtClean="0"/>
                  <a:t>   4g – 15 = 9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 smtClean="0"/>
                  <a:t>   7h – 20 = 15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 smtClean="0"/>
                  <a:t>    10i + 27 = 97</a:t>
                </a:r>
              </a:p>
              <a:p>
                <a:pPr marL="342900" indent="-342900">
                  <a:buAutoNum type="arabicParenR" startAt="7"/>
                </a:pPr>
                <a:r>
                  <a:rPr lang="en-GB" sz="3200" dirty="0"/>
                  <a:t> </a:t>
                </a:r>
                <a:r>
                  <a:rPr lang="en-GB" sz="3200" dirty="0" smtClean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2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GB" sz="3200" b="0" i="1" smtClean="0">
                            <a:latin typeface="Cambria Math"/>
                          </a:rPr>
                          <m:t>𝑗</m:t>
                        </m:r>
                      </m:num>
                      <m:den>
                        <m:r>
                          <a:rPr lang="en-GB" sz="3200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3200" dirty="0" smtClean="0"/>
                  <a:t>  + 9 = 17</a:t>
                </a:r>
                <a:endParaRPr lang="en-GB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3068960"/>
                <a:ext cx="3744416" cy="2779031"/>
              </a:xfrm>
              <a:prstGeom prst="rect">
                <a:avLst/>
              </a:prstGeom>
              <a:blipFill rotWithShape="1">
                <a:blip r:embed="rId2"/>
                <a:stretch>
                  <a:fillRect l="-4397" t="-2851" b="-28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59832" y="306896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a = 7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59832" y="362586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b</a:t>
            </a:r>
            <a:r>
              <a:rPr lang="en-GB" sz="2800" dirty="0" smtClean="0">
                <a:solidFill>
                  <a:srgbClr val="FF0000"/>
                </a:solidFill>
              </a:rPr>
              <a:t> = 26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59832" y="414908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c</a:t>
            </a:r>
            <a:r>
              <a:rPr lang="en-GB" sz="2800" dirty="0" smtClean="0">
                <a:solidFill>
                  <a:srgbClr val="FF0000"/>
                </a:solidFill>
              </a:rPr>
              <a:t> = 15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87719" y="470598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d</a:t>
            </a:r>
            <a:r>
              <a:rPr lang="en-GB" sz="2800" dirty="0" smtClean="0">
                <a:solidFill>
                  <a:srgbClr val="FF0000"/>
                </a:solidFill>
              </a:rPr>
              <a:t> = 45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01752" y="5229200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e</a:t>
            </a:r>
            <a:r>
              <a:rPr lang="en-GB" sz="2800" dirty="0" smtClean="0">
                <a:solidFill>
                  <a:srgbClr val="FF0000"/>
                </a:solidFill>
              </a:rPr>
              <a:t> = 25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40352" y="3062211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f</a:t>
            </a:r>
            <a:r>
              <a:rPr lang="en-GB" sz="2800" dirty="0" smtClean="0">
                <a:solidFill>
                  <a:srgbClr val="FF0000"/>
                </a:solidFill>
              </a:rPr>
              <a:t> = 3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40352" y="3573016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g = 6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40352" y="407707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h = 5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8239" y="4581128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i = 7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82272" y="515719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</a:rPr>
              <a:t>j = 40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31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353</Words>
  <Application>Microsoft Office PowerPoint</Application>
  <PresentationFormat>On-screen Show (4:3)</PresentationFormat>
  <Paragraphs>114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1_Office Theme</vt:lpstr>
      <vt:lpstr>Topic: Solving Equations with backtracking.  EQ: How do I use the backtracking method to solve equations?</vt:lpstr>
      <vt:lpstr>Solving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Solving Equations</vt:lpstr>
      <vt:lpstr>Solving equations</vt:lpstr>
      <vt:lpstr>Solving equations</vt:lpstr>
      <vt:lpstr>Solving equations</vt:lpstr>
      <vt:lpstr>Solving equations</vt:lpstr>
      <vt:lpstr>Solving Equations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Burke</dc:creator>
  <cp:lastModifiedBy>FRASER-JONES Laura</cp:lastModifiedBy>
  <cp:revision>5</cp:revision>
  <dcterms:created xsi:type="dcterms:W3CDTF">2012-04-17T22:54:14Z</dcterms:created>
  <dcterms:modified xsi:type="dcterms:W3CDTF">2016-08-04T02:23:19Z</dcterms:modified>
</cp:coreProperties>
</file>
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9" r:id="rId3"/>
    <p:sldId id="258" r:id="rId4"/>
    <p:sldId id="303" r:id="rId5"/>
    <p:sldId id="304" r:id="rId6"/>
    <p:sldId id="305" r:id="rId7"/>
    <p:sldId id="307" r:id="rId8"/>
    <p:sldId id="308" r:id="rId9"/>
    <p:sldId id="309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10A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30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17/02/2015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117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1957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1957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1957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1957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8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solve problems where you add and subtract directed</a:t>
            </a:r>
          </a:p>
          <a:p>
            <a:r>
              <a:rPr lang="en-AU" sz="2400" dirty="0"/>
              <a:t>n</a:t>
            </a:r>
            <a:r>
              <a:rPr lang="en-AU" sz="2400" dirty="0" smtClean="0"/>
              <a:t>umbers?</a:t>
            </a:r>
            <a:endParaRPr lang="en-AU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77" t="36979" r="24231" b="50000"/>
          <a:stretch/>
        </p:blipFill>
        <p:spPr bwMode="auto">
          <a:xfrm>
            <a:off x="3331468" y="2307187"/>
            <a:ext cx="5178276" cy="710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1503" y="1989862"/>
            <a:ext cx="287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directed numbers?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122052" y="1989862"/>
            <a:ext cx="2899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Positive or negative numbers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solve problems where you add and subtract directed</a:t>
            </a:r>
          </a:p>
          <a:p>
            <a:r>
              <a:rPr lang="en-AU" sz="2400" dirty="0"/>
              <a:t>n</a:t>
            </a:r>
            <a:r>
              <a:rPr lang="en-AU" sz="2400" dirty="0" smtClean="0"/>
              <a:t>umbers?</a:t>
            </a:r>
            <a:endParaRPr lang="en-AU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77" t="36979" r="24231" b="50000"/>
          <a:stretch/>
        </p:blipFill>
        <p:spPr bwMode="auto">
          <a:xfrm>
            <a:off x="3331468" y="2307187"/>
            <a:ext cx="5178276" cy="710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1503" y="1989862"/>
            <a:ext cx="287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directed numbers?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122052" y="1989862"/>
            <a:ext cx="2899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Positive or negative numbers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3417837"/>
            <a:ext cx="2522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add two numbers?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290793" y="4064168"/>
                <a:ext cx="13724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−2</m:t>
                    </m:r>
                    <m:r>
                      <a:rPr lang="en-AU" b="0" i="0" smtClean="0">
                        <a:solidFill>
                          <a:srgbClr val="0070C0"/>
                        </a:solidFill>
                        <a:latin typeface="Cambria Math"/>
                      </a:rPr>
                      <m:t>+5</m:t>
                    </m:r>
                    <m:r>
                      <a:rPr lang="en-AU" b="0" i="0" smtClean="0">
                        <a:latin typeface="Cambria Math"/>
                      </a:rPr>
                      <m:t>=3</m:t>
                    </m:r>
                  </m:oMath>
                </a14:m>
                <a:endParaRPr lang="en-AU" b="0" dirty="0" smtClean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0793" y="4064168"/>
                <a:ext cx="1372492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806241" y="3351367"/>
            <a:ext cx="111498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Start here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/>
          <p:cNvCxnSpPr>
            <a:stCxn id="14" idx="0"/>
          </p:cNvCxnSpPr>
          <p:nvPr/>
        </p:nvCxnSpPr>
        <p:spPr>
          <a:xfrm flipH="1" flipV="1">
            <a:off x="5363733" y="3011859"/>
            <a:ext cx="1" cy="3395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363734" y="3017188"/>
            <a:ext cx="136850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13397" y="2982035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+5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74747" y="3330368"/>
            <a:ext cx="1023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End here</a:t>
            </a:r>
            <a:endParaRPr lang="en-AU" dirty="0"/>
          </a:p>
        </p:txBody>
      </p:sp>
      <p:cxnSp>
        <p:nvCxnSpPr>
          <p:cNvPr id="26" name="Straight Arrow Connector 25"/>
          <p:cNvCxnSpPr/>
          <p:nvPr/>
        </p:nvCxnSpPr>
        <p:spPr>
          <a:xfrm flipH="1" flipV="1">
            <a:off x="6750496" y="2996947"/>
            <a:ext cx="1" cy="3395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600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solve problems where you add and subtract directed</a:t>
            </a:r>
          </a:p>
          <a:p>
            <a:r>
              <a:rPr lang="en-AU" sz="2400" dirty="0"/>
              <a:t>n</a:t>
            </a:r>
            <a:r>
              <a:rPr lang="en-AU" sz="2400" dirty="0" smtClean="0"/>
              <a:t>umbers?</a:t>
            </a:r>
            <a:endParaRPr lang="en-AU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77" t="36979" r="24231" b="50000"/>
          <a:stretch/>
        </p:blipFill>
        <p:spPr bwMode="auto">
          <a:xfrm>
            <a:off x="3331468" y="2307187"/>
            <a:ext cx="5178276" cy="710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1503" y="1989862"/>
            <a:ext cx="287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directed numbers?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122052" y="1989862"/>
            <a:ext cx="2899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Positive or negative numbers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3417837"/>
            <a:ext cx="2522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add two numbers?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290793" y="4064168"/>
                <a:ext cx="13724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−2</m:t>
                    </m:r>
                    <m:r>
                      <a:rPr lang="en-AU" b="0" i="0" smtClean="0">
                        <a:solidFill>
                          <a:srgbClr val="0070C0"/>
                        </a:solidFill>
                        <a:latin typeface="Cambria Math"/>
                      </a:rPr>
                      <m:t>+5</m:t>
                    </m:r>
                    <m:r>
                      <a:rPr lang="en-AU" b="0" i="0" smtClean="0">
                        <a:latin typeface="Cambria Math"/>
                      </a:rPr>
                      <m:t>=3</m:t>
                    </m:r>
                  </m:oMath>
                </a14:m>
                <a:endParaRPr lang="en-AU" b="0" dirty="0" smtClean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0793" y="4064168"/>
                <a:ext cx="1372492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806241" y="3351367"/>
            <a:ext cx="111498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Start here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/>
          <p:cNvCxnSpPr>
            <a:stCxn id="14" idx="0"/>
          </p:cNvCxnSpPr>
          <p:nvPr/>
        </p:nvCxnSpPr>
        <p:spPr>
          <a:xfrm flipH="1" flipV="1">
            <a:off x="5363733" y="3011859"/>
            <a:ext cx="1" cy="3395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363734" y="3017188"/>
            <a:ext cx="136850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13397" y="2982035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+5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74747" y="3330368"/>
            <a:ext cx="1023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End here</a:t>
            </a:r>
            <a:endParaRPr lang="en-AU" dirty="0"/>
          </a:p>
        </p:txBody>
      </p:sp>
      <p:cxnSp>
        <p:nvCxnSpPr>
          <p:cNvPr id="26" name="Straight Arrow Connector 25"/>
          <p:cNvCxnSpPr/>
          <p:nvPr/>
        </p:nvCxnSpPr>
        <p:spPr>
          <a:xfrm flipH="1" flipV="1">
            <a:off x="6750496" y="2996947"/>
            <a:ext cx="1" cy="3395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77" t="36979" r="24231" b="50000"/>
          <a:stretch/>
        </p:blipFill>
        <p:spPr bwMode="auto">
          <a:xfrm>
            <a:off x="3536012" y="4494303"/>
            <a:ext cx="5178276" cy="710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5313903" y="5517484"/>
            <a:ext cx="111498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Start here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8" name="Straight Arrow Connector 27"/>
          <p:cNvCxnSpPr>
            <a:stCxn id="27" idx="0"/>
          </p:cNvCxnSpPr>
          <p:nvPr/>
        </p:nvCxnSpPr>
        <p:spPr>
          <a:xfrm flipH="1" flipV="1">
            <a:off x="5871395" y="5013177"/>
            <a:ext cx="1" cy="50430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3851921" y="5165593"/>
            <a:ext cx="2019476" cy="35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53108" y="5169151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-</a:t>
            </a:r>
            <a:r>
              <a:rPr lang="en-AU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6298" y="5517484"/>
            <a:ext cx="1023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End here</a:t>
            </a:r>
            <a:endParaRPr lang="en-AU" dirty="0"/>
          </a:p>
        </p:txBody>
      </p:sp>
      <p:cxnSp>
        <p:nvCxnSpPr>
          <p:cNvPr id="32" name="Straight Arrow Connector 31"/>
          <p:cNvCxnSpPr/>
          <p:nvPr/>
        </p:nvCxnSpPr>
        <p:spPr>
          <a:xfrm flipH="1" flipV="1">
            <a:off x="3851920" y="5163568"/>
            <a:ext cx="1" cy="3395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26534" y="5399983"/>
            <a:ext cx="2522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subtract two numbers?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3267778" y="6046314"/>
                <a:ext cx="15456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AU" b="0" i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AU" b="0" i="0" smtClean="0">
                        <a:solidFill>
                          <a:srgbClr val="0070C0"/>
                        </a:solidFill>
                        <a:latin typeface="Cambria Math"/>
                      </a:rPr>
                      <m:t>−7</m:t>
                    </m:r>
                    <m:r>
                      <a:rPr lang="en-AU" b="0" i="0" smtClean="0">
                        <a:solidFill>
                          <a:schemeClr val="tx1"/>
                        </a:solidFill>
                        <a:latin typeface="Cambria Math"/>
                      </a:rPr>
                      <m:t>=−8</m:t>
                    </m:r>
                  </m:oMath>
                </a14:m>
                <a:endParaRPr lang="en-AU" b="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778" y="6046314"/>
                <a:ext cx="1545616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460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solve problems where you add and subtract directed</a:t>
            </a:r>
          </a:p>
          <a:p>
            <a:r>
              <a:rPr lang="en-AU" sz="2400" dirty="0"/>
              <a:t>n</a:t>
            </a:r>
            <a:r>
              <a:rPr lang="en-AU" sz="2400" dirty="0" smtClean="0"/>
              <a:t>umbers?</a:t>
            </a:r>
            <a:endParaRPr lang="en-AU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77" t="36979" r="24231" b="50000"/>
          <a:stretch/>
        </p:blipFill>
        <p:spPr bwMode="auto">
          <a:xfrm>
            <a:off x="3331468" y="1952186"/>
            <a:ext cx="5178276" cy="710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4142" y="2910005"/>
            <a:ext cx="2522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add a negative number?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392233" y="3187509"/>
                <a:ext cx="203530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solidFill>
                          <a:schemeClr val="tx1"/>
                        </a:solidFill>
                        <a:latin typeface="Cambria Math"/>
                      </a:rPr>
                      <m:t>eg</m:t>
                    </m:r>
                    <m:r>
                      <a:rPr lang="en-AU" b="0" i="0" smtClean="0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AU" b="0" i="0" dirty="0" smtClean="0">
                  <a:solidFill>
                    <a:schemeClr val="tx1"/>
                  </a:solidFill>
                  <a:latin typeface="Cambria Math"/>
                </a:endParaRPr>
              </a:p>
              <a:p>
                <a:pPr/>
                <a:r>
                  <a:rPr lang="en-AU" b="0" dirty="0" smtClean="0">
                    <a:solidFill>
                      <a:schemeClr val="tx1"/>
                    </a:solidFill>
                  </a:rPr>
                  <a:t>1.     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−2</m:t>
                    </m:r>
                    <m:r>
                      <a:rPr lang="en-AU" b="0" i="0" smtClean="0">
                        <a:solidFill>
                          <a:srgbClr val="FF0000"/>
                        </a:solidFill>
                        <a:latin typeface="Cambria Math"/>
                      </a:rPr>
                      <m:t>+−</m:t>
                    </m:r>
                    <m:r>
                      <a:rPr lang="en-AU" b="0" i="0" smtClean="0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</m:oMath>
                </a14:m>
                <a:endParaRPr lang="en-AU" b="0" dirty="0" smtClean="0">
                  <a:solidFill>
                    <a:schemeClr val="tx1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   =−2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5=−7</m:t>
                      </m:r>
                    </m:oMath>
                  </m:oMathPara>
                </a14:m>
                <a:endParaRPr lang="en-AU" b="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233" y="3187509"/>
                <a:ext cx="2035301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3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920606" y="3187004"/>
                <a:ext cx="2438488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FF0000"/>
                    </a:solidFill>
                  </a:rPr>
                  <a:t>Ignore the + if next to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</m:oMath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606" y="3187004"/>
                <a:ext cx="2438488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741" t="-6452" b="-2419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8031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solve problems where you add and subtract directed</a:t>
            </a:r>
          </a:p>
          <a:p>
            <a:r>
              <a:rPr lang="en-AU" sz="2400" dirty="0"/>
              <a:t>n</a:t>
            </a:r>
            <a:r>
              <a:rPr lang="en-AU" sz="2400" dirty="0" smtClean="0"/>
              <a:t>umbers?</a:t>
            </a:r>
            <a:endParaRPr lang="en-AU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77" t="36979" r="24231" b="50000"/>
          <a:stretch/>
        </p:blipFill>
        <p:spPr bwMode="auto">
          <a:xfrm>
            <a:off x="3331468" y="1952186"/>
            <a:ext cx="5178276" cy="710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4142" y="2910005"/>
            <a:ext cx="2522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add a negative number?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392233" y="3187509"/>
                <a:ext cx="2053767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solidFill>
                          <a:schemeClr val="tx1"/>
                        </a:solidFill>
                        <a:latin typeface="Cambria Math"/>
                      </a:rPr>
                      <m:t>eg</m:t>
                    </m:r>
                    <m:r>
                      <a:rPr lang="en-AU" b="0" i="0" smtClean="0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AU" b="0" i="0" dirty="0" smtClean="0">
                  <a:solidFill>
                    <a:schemeClr val="tx1"/>
                  </a:solidFill>
                  <a:latin typeface="Cambria Math"/>
                </a:endParaRPr>
              </a:p>
              <a:p>
                <a:pPr/>
                <a:r>
                  <a:rPr lang="en-AU" b="0" dirty="0" smtClean="0">
                    <a:solidFill>
                      <a:schemeClr val="tx1"/>
                    </a:solidFill>
                  </a:rPr>
                  <a:t>1.     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−2</m:t>
                    </m:r>
                    <m:r>
                      <a:rPr lang="en-AU" b="0" i="0" smtClean="0">
                        <a:solidFill>
                          <a:srgbClr val="FF0000"/>
                        </a:solidFill>
                        <a:latin typeface="Cambria Math"/>
                      </a:rPr>
                      <m:t>+−</m:t>
                    </m:r>
                    <m:r>
                      <a:rPr lang="en-AU" b="0" i="0" smtClean="0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</m:oMath>
                </a14:m>
                <a:endParaRPr lang="en-AU" b="0" dirty="0" smtClean="0">
                  <a:solidFill>
                    <a:schemeClr val="tx1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   =−2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5=−7</m:t>
                      </m:r>
                    </m:oMath>
                  </m:oMathPara>
                </a14:m>
                <a:endParaRPr lang="en-AU" b="0" dirty="0" smtClean="0">
                  <a:solidFill>
                    <a:schemeClr val="tx1"/>
                  </a:solidFill>
                </a:endParaRPr>
              </a:p>
              <a:p>
                <a:r>
                  <a:rPr lang="en-AU" b="0" dirty="0" smtClean="0">
                    <a:solidFill>
                      <a:schemeClr val="tx1"/>
                    </a:solidFill>
                  </a:rPr>
                  <a:t>2.</a:t>
                </a:r>
                <a:r>
                  <a:rPr lang="en-AU" dirty="0" smtClean="0"/>
                  <a:t>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3</m:t>
                    </m:r>
                    <m:r>
                      <a:rPr lang="en-AU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−+ 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6</m:t>
                    </m:r>
                  </m:oMath>
                </a14:m>
                <a:endParaRPr lang="en-AU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    =</m:t>
                      </m:r>
                      <m:r>
                        <a:rPr lang="en-AU" b="0" i="1" smtClean="0">
                          <a:latin typeface="Cambria Math"/>
                        </a:rPr>
                        <m:t>3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6</m:t>
                      </m:r>
                      <m:r>
                        <a:rPr lang="en-AU" i="1">
                          <a:latin typeface="Cambria Math"/>
                        </a:rPr>
                        <m:t>=−</m:t>
                      </m:r>
                      <m:r>
                        <a:rPr lang="en-AU" b="0" i="1" smtClean="0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b="0" dirty="0" smtClean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233" y="3187509"/>
                <a:ext cx="2053767" cy="1754326"/>
              </a:xfrm>
              <a:prstGeom prst="rect">
                <a:avLst/>
              </a:prstGeom>
              <a:blipFill rotWithShape="1">
                <a:blip r:embed="rId4"/>
                <a:stretch>
                  <a:fillRect l="-23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900514" y="3187004"/>
                <a:ext cx="2438488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FF0000"/>
                    </a:solidFill>
                  </a:rPr>
                  <a:t>Ignore the + if next to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</m:oMath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514" y="3187004"/>
                <a:ext cx="2438488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990" t="-6452" b="-2419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53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solve problems where you add and subtract directed</a:t>
            </a:r>
          </a:p>
          <a:p>
            <a:r>
              <a:rPr lang="en-AU" sz="2400" dirty="0"/>
              <a:t>n</a:t>
            </a:r>
            <a:r>
              <a:rPr lang="en-AU" sz="2400" dirty="0" smtClean="0"/>
              <a:t>umbers?</a:t>
            </a:r>
            <a:endParaRPr lang="en-AU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77" t="36979" r="24231" b="50000"/>
          <a:stretch/>
        </p:blipFill>
        <p:spPr bwMode="auto">
          <a:xfrm>
            <a:off x="3331468" y="1952186"/>
            <a:ext cx="5178276" cy="710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4142" y="2910005"/>
            <a:ext cx="2522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add a negative number?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392233" y="3187509"/>
                <a:ext cx="2053767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solidFill>
                          <a:schemeClr val="tx1"/>
                        </a:solidFill>
                        <a:latin typeface="Cambria Math"/>
                      </a:rPr>
                      <m:t>eg</m:t>
                    </m:r>
                    <m:r>
                      <a:rPr lang="en-AU" b="0" i="0" smtClean="0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AU" b="0" i="0" dirty="0" smtClean="0">
                  <a:solidFill>
                    <a:schemeClr val="tx1"/>
                  </a:solidFill>
                  <a:latin typeface="Cambria Math"/>
                </a:endParaRPr>
              </a:p>
              <a:p>
                <a:pPr/>
                <a:r>
                  <a:rPr lang="en-AU" b="0" dirty="0" smtClean="0">
                    <a:solidFill>
                      <a:schemeClr val="tx1"/>
                    </a:solidFill>
                  </a:rPr>
                  <a:t>1.     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−2</m:t>
                    </m:r>
                    <m:r>
                      <a:rPr lang="en-AU" b="0" i="0" smtClean="0">
                        <a:solidFill>
                          <a:srgbClr val="FF0000"/>
                        </a:solidFill>
                        <a:latin typeface="Cambria Math"/>
                      </a:rPr>
                      <m:t>+−</m:t>
                    </m:r>
                    <m:r>
                      <a:rPr lang="en-AU" b="0" i="0" smtClean="0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</m:oMath>
                </a14:m>
                <a:endParaRPr lang="en-AU" b="0" dirty="0" smtClean="0">
                  <a:solidFill>
                    <a:schemeClr val="tx1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   =−2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5=−7</m:t>
                      </m:r>
                    </m:oMath>
                  </m:oMathPara>
                </a14:m>
                <a:endParaRPr lang="en-AU" b="0" dirty="0" smtClean="0">
                  <a:solidFill>
                    <a:schemeClr val="tx1"/>
                  </a:solidFill>
                </a:endParaRPr>
              </a:p>
              <a:p>
                <a:r>
                  <a:rPr lang="en-AU" b="0" dirty="0" smtClean="0">
                    <a:solidFill>
                      <a:schemeClr val="tx1"/>
                    </a:solidFill>
                  </a:rPr>
                  <a:t>2.</a:t>
                </a:r>
                <a:r>
                  <a:rPr lang="en-AU" dirty="0" smtClean="0"/>
                  <a:t>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3</m:t>
                    </m:r>
                    <m:r>
                      <a:rPr lang="en-AU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−+ 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6</m:t>
                    </m:r>
                  </m:oMath>
                </a14:m>
                <a:endParaRPr lang="en-AU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    =</m:t>
                      </m:r>
                      <m:r>
                        <a:rPr lang="en-AU" b="0" i="1" smtClean="0">
                          <a:latin typeface="Cambria Math"/>
                        </a:rPr>
                        <m:t>3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6</m:t>
                      </m:r>
                      <m:r>
                        <a:rPr lang="en-AU" i="1">
                          <a:latin typeface="Cambria Math"/>
                        </a:rPr>
                        <m:t>=−</m:t>
                      </m:r>
                      <m:r>
                        <a:rPr lang="en-AU" b="0" i="1" smtClean="0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b="0" dirty="0" smtClean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233" y="3187509"/>
                <a:ext cx="2053767" cy="1754326"/>
              </a:xfrm>
              <a:prstGeom prst="rect">
                <a:avLst/>
              </a:prstGeom>
              <a:blipFill rotWithShape="1">
                <a:blip r:embed="rId4"/>
                <a:stretch>
                  <a:fillRect l="-23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900514" y="3187004"/>
                <a:ext cx="2438488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FF0000"/>
                    </a:solidFill>
                  </a:rPr>
                  <a:t>Ignore the + if next to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</m:oMath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514" y="3187004"/>
                <a:ext cx="2438488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990" t="-6452" b="-2419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292478" y="4941835"/>
            <a:ext cx="2522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you subtract a negative number?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3331468" y="4930840"/>
                <a:ext cx="4572000" cy="9233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mtClean="0">
                          <a:latin typeface="Cambria Math"/>
                        </a:rPr>
                        <m:t>eg</m:t>
                      </m:r>
                      <m:r>
                        <a:rPr lang="en-AU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AU" dirty="0">
                  <a:latin typeface="Cambria Math"/>
                </a:endParaRPr>
              </a:p>
              <a:p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      </m:t>
                    </m:r>
                    <m:r>
                      <a:rPr lang="en-AU" i="1">
                        <a:latin typeface="Cambria Math"/>
                      </a:rPr>
                      <m:t>−2</m:t>
                    </m:r>
                    <m:r>
                      <a:rPr lang="en-AU" b="0" i="0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AU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AU">
                        <a:latin typeface="Cambria Math"/>
                      </a:rPr>
                      <m:t>5</m:t>
                    </m:r>
                  </m:oMath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    =−2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AU" i="1">
                          <a:latin typeface="Cambria Math"/>
                        </a:rPr>
                        <m:t>5=</m:t>
                      </m:r>
                      <m:r>
                        <a:rPr lang="en-AU" b="0" i="1" smtClean="0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1468" y="4930840"/>
                <a:ext cx="4572000" cy="92333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348281" y="5067968"/>
                <a:ext cx="3335913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FF0000"/>
                    </a:solidFill>
                  </a:rPr>
                  <a:t>Replace two adjacent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−−</m:t>
                    </m:r>
                  </m:oMath>
                </a14:m>
                <a:r>
                  <a:rPr lang="en-AU" dirty="0" smtClean="0">
                    <a:solidFill>
                      <a:srgbClr val="FF0000"/>
                    </a:solidFill>
                  </a:rPr>
                  <a:t> with + </a:t>
                </a:r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8281" y="5067968"/>
                <a:ext cx="3335913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273" t="-6349" r="-364" b="-22222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129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</TotalTime>
  <Words>476</Words>
  <Application>Microsoft Office PowerPoint</Application>
  <PresentationFormat>On-screen Show (4:3)</PresentationFormat>
  <Paragraphs>144</Paragraphs>
  <Slides>11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78</cp:revision>
  <dcterms:created xsi:type="dcterms:W3CDTF">2014-05-14T02:58:57Z</dcterms:created>
  <dcterms:modified xsi:type="dcterms:W3CDTF">2015-02-17T13:09:23Z</dcterms:modified>
</cp:coreProperties>
</file>
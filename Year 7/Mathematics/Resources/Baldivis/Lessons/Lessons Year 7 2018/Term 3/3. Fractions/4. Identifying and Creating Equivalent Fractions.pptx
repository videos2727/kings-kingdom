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61" r:id="rId3"/>
    <p:sldId id="269" r:id="rId4"/>
    <p:sldId id="268" r:id="rId5"/>
    <p:sldId id="263" r:id="rId6"/>
    <p:sldId id="264" r:id="rId7"/>
    <p:sldId id="265" r:id="rId8"/>
    <p:sldId id="270" r:id="rId9"/>
    <p:sldId id="271" r:id="rId10"/>
    <p:sldId id="272" r:id="rId11"/>
    <p:sldId id="273" r:id="rId12"/>
    <p:sldId id="27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8" autoAdjust="0"/>
    <p:restoredTop sz="79187" autoAdjust="0"/>
  </p:normalViewPr>
  <p:slideViewPr>
    <p:cSldViewPr snapToGrid="0">
      <p:cViewPr varScale="1">
        <p:scale>
          <a:sx n="65" d="100"/>
          <a:sy n="65" d="100"/>
        </p:scale>
        <p:origin x="43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040286-C2D6-41EF-A54A-B4DFCEEE965E}" type="datetimeFigureOut">
              <a:rPr lang="en-AU" smtClean="0"/>
              <a:t>19/08/2018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6BC82F-FA0D-40A2-B4AB-E72C627C20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264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9786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2 pieces become 8, which is four times greater. </a:t>
            </a:r>
          </a:p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size of each piece becomes 4 times smaller. </a:t>
            </a:r>
          </a:p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fraction 8/20 is the same size as the fraction 2/5.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08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15 pieces become 3, which is five times smaller. </a:t>
            </a:r>
          </a:p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size of each piece becomes 5 times greater. </a:t>
            </a:r>
          </a:p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fraction 15/20 is the same size as the fraction 3/4.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2156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 that this is the multiplicative relationship between the numerator and denominator and can be used to identify fractions that are equivalent to one half.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7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all these fractions are equivalent to one half, the denominator must be two times greater than the numerator. </a:t>
            </a:r>
          </a:p>
          <a:p>
            <a:pPr marL="628650" lvl="1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given the numerator, it must be multiplied by two to find the denominator. </a:t>
            </a:r>
          </a:p>
          <a:p>
            <a:pPr marL="628650" lvl="1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given the denominator, it must be divided by two to find the numerator. </a:t>
            </a:r>
          </a:p>
          <a:p>
            <a:pPr marL="628650" lvl="1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 that the multiplicative comparison of the numerator and denominator can be used to quickly identify equivalent forms of other unit fractions.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5400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all fractions equivalent to one third, the denominator must be three times greater than the numerator.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8514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7838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 that these numbers (2,3 and 6) are factors of both 18 and 24 and are called </a:t>
            </a:r>
            <a:r>
              <a:rPr lang="en-GB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common factors of 18 and 24. </a:t>
            </a:r>
          </a:p>
          <a:p>
            <a:endParaRPr lang="en-A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8491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3/4 is the simplest equivalent fraction because 1 is the only common factor of 3 and 4. Dividing the numerator and denominator by 1 will not simplify the fraction. </a:t>
            </a:r>
          </a:p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simplest way is to divide the numerator and denominator </a:t>
            </a:r>
            <a:r>
              <a:rPr lang="en-GB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their highest common factor. </a:t>
            </a: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example the numerator and denominator are divided by 6. The same answer can be achieved through a number of divisions using other common factors, in this example dividing the numerator and denominator by 2 then 3, or 3 then 2, but this is less efficient. </a:t>
            </a:r>
            <a:endParaRPr lang="en-A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8276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A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2559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A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66345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4/10       6/15</a:t>
            </a:r>
          </a:p>
          <a:p>
            <a:endParaRPr lang="en-A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A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2/5        30/75</a:t>
            </a:r>
          </a:p>
          <a:p>
            <a:endParaRPr lang="en-A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A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20/50     10/25      12/30</a:t>
            </a:r>
          </a:p>
          <a:p>
            <a:endParaRPr lang="en-A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0725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93F6A-4778-4E42-9170-168DFB259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F1B1A1-999C-43D2-9AA2-0BFA0CD9F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1F660-D043-4A1B-ADB4-34AD1F29F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24FE-8D85-4777-8B44-AE907D3FA762}" type="datetimeFigureOut">
              <a:rPr lang="en-AU" smtClean="0"/>
              <a:t>19/08/2018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2B874-056C-4E45-AC25-62F0084A4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24761-3DB4-4638-BAE6-E8BA8CA99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DC26-6436-4361-9D2A-FFD394605E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629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F9C25-2E47-43F7-81F7-E7EDCAA35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1C1D1-99D7-4089-998B-B38FFED0D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09F3F-4D25-46C4-9E77-DAC4C2F2F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24FE-8D85-4777-8B44-AE907D3FA762}" type="datetimeFigureOut">
              <a:rPr lang="en-AU" smtClean="0"/>
              <a:t>19/08/2018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CA54F-5D2B-4D39-B3BE-9FEBC0CAB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73635-938C-421D-9CA4-818265A9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DC26-6436-4361-9D2A-FFD394605E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5585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2243E-DB2F-4E48-829B-DB139532C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C777D-0CB4-402A-9DD6-A5BF7970E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DC965-E33D-44DB-96C1-3845D4D39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24FE-8D85-4777-8B44-AE907D3FA762}" type="datetimeFigureOut">
              <a:rPr lang="en-AU" smtClean="0"/>
              <a:t>19/08/2018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2BE57-4E16-46D8-BD97-8A0932D43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DCD1B-2DE4-43A6-A6F9-E6D2330E7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DC26-6436-4361-9D2A-FFD394605E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7763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74A82-7EE3-4A4E-8D56-ACEE199AB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F28F1-59DB-4608-A39B-6AC45E145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C616F-2941-425E-A484-7E79D48EC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E6C59-DBDD-4949-8C4C-8140006EC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24FE-8D85-4777-8B44-AE907D3FA762}" type="datetimeFigureOut">
              <a:rPr lang="en-AU" smtClean="0"/>
              <a:t>19/08/2018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EDCB4-21F1-4F49-842C-F16266C1A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C95DA-D7C0-47B2-A414-E74CD4CDE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DC26-6436-4361-9D2A-FFD394605E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8089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6F9AE-0EDD-49F4-A4BF-76962AC1D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1A5E3-96CA-46EB-8A7E-6C06F13BC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9019B-4DE6-4108-A36B-62FD87F55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C10D68-DED6-4154-B384-05154BA55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F3EE81-DB46-40B6-A521-51F1D5D808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350D74-1E13-4058-8399-35EA4FDDD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24FE-8D85-4777-8B44-AE907D3FA762}" type="datetimeFigureOut">
              <a:rPr lang="en-AU" smtClean="0"/>
              <a:t>19/08/2018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9C67E5-6CE5-40EF-B85F-E43EF50C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4FF23D-8EFD-48A9-8373-4F379A8E7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DC26-6436-4361-9D2A-FFD394605E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7710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56DC6-3B58-4712-9AA2-C10A6DCFF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91D20C-08D3-48C1-9781-6CB0D4DDF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24FE-8D85-4777-8B44-AE907D3FA762}" type="datetimeFigureOut">
              <a:rPr lang="en-AU" smtClean="0"/>
              <a:t>19/08/2018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DF260D-B665-4499-85CE-DAD358694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FE362-6B24-48A8-A243-9E68D9B69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DC26-6436-4361-9D2A-FFD394605E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2537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6A3C0D-CDD1-45FA-AF9F-05A96F39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24FE-8D85-4777-8B44-AE907D3FA762}" type="datetimeFigureOut">
              <a:rPr lang="en-AU" smtClean="0"/>
              <a:t>19/08/2018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791C62-1AAE-408F-AED4-C55B0C03E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719E2-476E-437C-88D8-4239EC7A3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DC26-6436-4361-9D2A-FFD394605E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145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1DEE9-F733-47AA-8E08-96D5376DB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FD405-B61D-4729-B00A-DBD994AEA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EAD3D-12D1-4E5B-8C2B-D336EA9E79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59CA5-C349-4E5B-8502-AC5F78272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24FE-8D85-4777-8B44-AE907D3FA762}" type="datetimeFigureOut">
              <a:rPr lang="en-AU" smtClean="0"/>
              <a:t>19/08/2018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F3360-D326-4156-A1F6-810EF1E9D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B2CA1-94D7-4BF1-94E8-31E15731E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DC26-6436-4361-9D2A-FFD394605E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3045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6ECE9-FAE4-4A41-8A81-58F85BC53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A6C1F2-9CD8-4276-9953-8471216ED1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06509-0B7C-489B-A9AC-EB10D652D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3FF0C-2BE8-4583-9377-844105438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24FE-8D85-4777-8B44-AE907D3FA762}" type="datetimeFigureOut">
              <a:rPr lang="en-AU" smtClean="0"/>
              <a:t>19/08/2018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413C3-1DDD-4F42-BD32-FD2D8851E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26BDF-87B5-4562-A7A2-32AE62A57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DC26-6436-4361-9D2A-FFD394605E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9941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1AB85-E4B5-41FB-AE0F-1F432FD86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E293A7-EEC1-4E48-86B0-89EB515C6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08E61-4175-4BE1-B576-1FD53DBA8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24FE-8D85-4777-8B44-AE907D3FA762}" type="datetimeFigureOut">
              <a:rPr lang="en-AU" smtClean="0"/>
              <a:t>19/08/2018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85A93-AC50-445E-8966-CC6846E7C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9889B-E1AD-40E3-B273-9911F85F7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DC26-6436-4361-9D2A-FFD394605E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786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45CF32-D0AB-40FE-A16C-C63E6D074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E5523-B9D4-4630-903D-6D743CF9C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4C2A1-F5B7-4D68-ABB3-CDB8446D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24FE-8D85-4777-8B44-AE907D3FA762}" type="datetimeFigureOut">
              <a:rPr lang="en-AU" smtClean="0"/>
              <a:t>19/08/2018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D58E8-DB5D-44D4-ADC3-E9539866E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80744-D360-49CC-BD19-01C213BBF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DC26-6436-4361-9D2A-FFD394605E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4231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689976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150903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63154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63418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91927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15461E-BF12-4B65-AD72-EA986E38A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8E3DE-3265-45EF-86FB-6E0EB55F8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5BB14-399C-4837-986D-6DD05C1C8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C24FE-8D85-4777-8B44-AE907D3FA762}" type="datetimeFigureOut">
              <a:rPr lang="en-AU" smtClean="0"/>
              <a:t>19/08/2018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B24C7-13B0-49AF-B7FB-801B533DE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C0CD5-0B5B-40D7-9905-DA7355B59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6BDC26-6436-4361-9D2A-FFD394605E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292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7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Identifying and Creating Equivalent Fractions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3901" y="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4FAC931-517C-4865-917A-F508A330DFDA}"/>
                  </a:ext>
                </a:extLst>
              </p:cNvPr>
              <p:cNvSpPr/>
              <p:nvPr/>
            </p:nvSpPr>
            <p:spPr>
              <a:xfrm>
                <a:off x="508000" y="988477"/>
                <a:ext cx="9671050" cy="4770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Consider the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GB" sz="2800" u="none" strike="noStrike" baseline="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. </a:t>
                </a:r>
                <a:r>
                  <a:rPr lang="en-GB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If the numerator and denominator of the fraction are multiplied by 4, what happens to the: </a:t>
                </a:r>
              </a:p>
              <a:p>
                <a:endParaRPr lang="en-GB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number of pieces?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size of each piece?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size of the fraction?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4FAC931-517C-4865-917A-F508A330DF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988477"/>
                <a:ext cx="9671050" cy="4770537"/>
              </a:xfrm>
              <a:prstGeom prst="rect">
                <a:avLst/>
              </a:prstGeom>
              <a:blipFill>
                <a:blip r:embed="rId3"/>
                <a:stretch>
                  <a:fillRect l="-1260" r="-2079" b="-25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3901" y="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4FAC931-517C-4865-917A-F508A330DFDA}"/>
                  </a:ext>
                </a:extLst>
              </p:cNvPr>
              <p:cNvSpPr/>
              <p:nvPr/>
            </p:nvSpPr>
            <p:spPr>
              <a:xfrm>
                <a:off x="508000" y="988477"/>
                <a:ext cx="9671050" cy="4770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Consider the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</m:num>
                      <m:den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den>
                    </m:f>
                  </m:oMath>
                </a14:m>
                <a:r>
                  <a:rPr lang="en-GB" sz="2800" u="none" strike="noStrike" baseline="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. </a:t>
                </a:r>
                <a:r>
                  <a:rPr lang="en-GB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If the numerator and denominator of the fraction are divided by 5, what happens to the: </a:t>
                </a:r>
              </a:p>
              <a:p>
                <a:endParaRPr lang="en-GB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number of pieces?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size of each piece?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size of the fraction?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4FAC931-517C-4865-917A-F508A330DF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988477"/>
                <a:ext cx="9671050" cy="4770537"/>
              </a:xfrm>
              <a:prstGeom prst="rect">
                <a:avLst/>
              </a:prstGeom>
              <a:blipFill>
                <a:blip r:embed="rId3"/>
                <a:stretch>
                  <a:fillRect l="-1260" r="-126" b="-26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3799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45868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Equivalent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identify and create equivalent fractions?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1345" y="1493244"/>
                <a:ext cx="11790474" cy="4884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𝟓𝟎𝟎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𝟏𝟎𝟎𝟎</m:t>
                          </m:r>
                        </m:den>
                      </m:f>
                      <m:r>
                        <a:rPr lang="en-AU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          </m:t>
                      </m:r>
                      <m:f>
                        <m:fPr>
                          <m:ctrlP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𝟏𝟕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𝟓𝟏</m:t>
                          </m:r>
                        </m:den>
                      </m:f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  <m:f>
                        <m:fPr>
                          <m:ctrlPr>
                            <a:rPr lang="en-AU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𝟑𝟔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𝟕𝟐</m:t>
                          </m:r>
                        </m:den>
                      </m:f>
                    </m:oMath>
                  </m:oMathPara>
                </a14:m>
                <a:endParaRPr lang="en-US" sz="2399" b="1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endParaRPr lang="en-US" sz="2399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endParaRPr lang="en-AU" dirty="0"/>
              </a:p>
              <a:p>
                <a:r>
                  <a:rPr lang="en-GB" sz="2800" dirty="0"/>
                  <a:t>Which fraction is not equivalent to one half? Explain your reasoning.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𝟏𝟕</m:t>
                        </m:r>
                      </m:num>
                      <m:den>
                        <m:r>
                          <a:rPr lang="en-AU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𝟓𝟏</m:t>
                        </m:r>
                      </m:den>
                    </m:f>
                  </m:oMath>
                </a14:m>
                <a:r>
                  <a:rPr lang="en-GB" sz="2400" i="1" dirty="0">
                    <a:solidFill>
                      <a:srgbClr val="FF0000"/>
                    </a:solidFill>
                  </a:rPr>
                  <a:t> is not equivalent to one half because 51 is not two times greater than 17. </a:t>
                </a:r>
              </a:p>
              <a:p>
                <a:endParaRPr lang="en-AU" dirty="0"/>
              </a:p>
              <a:p>
                <a:endParaRPr lang="en-GB" sz="2800" dirty="0"/>
              </a:p>
              <a:p>
                <a:r>
                  <a:rPr lang="en-GB" sz="2800" dirty="0"/>
                  <a:t>How many fractions have the same value as one half? Explain your reasoning. 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GB" sz="2400" i="1" dirty="0">
                    <a:solidFill>
                      <a:srgbClr val="FF0000"/>
                    </a:solidFill>
                  </a:rPr>
                  <a:t>There is an infinite number. Any fraction is equivalent to one half as long as the denominator is two times greater than the numerator.</a:t>
                </a:r>
              </a:p>
              <a:p>
                <a:pPr defTabSz="914126"/>
                <a:endParaRPr lang="en-US" sz="2399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5" y="1493244"/>
                <a:ext cx="11790474" cy="4884799"/>
              </a:xfrm>
              <a:prstGeom prst="rect">
                <a:avLst/>
              </a:prstGeom>
              <a:blipFill>
                <a:blip r:embed="rId3"/>
                <a:stretch>
                  <a:fillRect l="-10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39F1ED6-B101-4E86-845B-B594F7D4AD87}"/>
                  </a:ext>
                </a:extLst>
              </p:cNvPr>
              <p:cNvSpPr/>
              <p:nvPr/>
            </p:nvSpPr>
            <p:spPr>
              <a:xfrm>
                <a:off x="612076" y="1973498"/>
                <a:ext cx="10967847" cy="15437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/>
                      </m:f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AU" sz="4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𝟑𝟔</m:t>
                          </m:r>
                        </m:den>
                      </m:f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1" i="1" smtClean="0">
                              <a:latin typeface="Cambria Math" panose="02040503050406030204" pitchFamily="18" charset="0"/>
                            </a:rPr>
                            <m:t>𝟐𝟒</m:t>
                          </m:r>
                        </m:num>
                        <m:den/>
                      </m:f>
                      <m:r>
                        <a:rPr lang="en-AU" sz="4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AU" sz="4800" b="1" i="1"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/>
                      </m:f>
                      <m:r>
                        <a:rPr lang="en-AU" sz="4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AU" sz="4800" b="1" i="1" smtClean="0">
                              <a:latin typeface="Cambria Math" panose="02040503050406030204" pitchFamily="18" charset="0"/>
                            </a:rPr>
                            <m:t>𝟕𝟎𝟒</m:t>
                          </m:r>
                        </m:den>
                      </m:f>
                      <m:r>
                        <a:rPr lang="en-AU" sz="4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1" i="1"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AU" sz="4800" b="1" i="1" smtClean="0">
                              <a:latin typeface="Cambria Math" panose="02040503050406030204" pitchFamily="18" charset="0"/>
                            </a:rPr>
                            <m:t>𝟐𝟏</m:t>
                          </m:r>
                        </m:num>
                        <m:den/>
                      </m:f>
                    </m:oMath>
                  </m:oMathPara>
                </a14:m>
                <a:endParaRPr lang="en-AU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39F1ED6-B101-4E86-845B-B594F7D4AD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76" y="1973498"/>
                <a:ext cx="10967847" cy="15437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E504441-54D8-42DD-9D91-655797B8D2DC}"/>
              </a:ext>
            </a:extLst>
          </p:cNvPr>
          <p:cNvSpPr/>
          <p:nvPr/>
        </p:nvSpPr>
        <p:spPr>
          <a:xfrm>
            <a:off x="1712842" y="4487279"/>
            <a:ext cx="87663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en-GB" sz="3600" dirty="0">
                <a:solidFill>
                  <a:schemeClr val="accent6">
                    <a:lumMod val="75000"/>
                  </a:schemeClr>
                </a:solidFill>
              </a:rPr>
              <a:t>ow would you work out the missing numbers in this equation? </a:t>
            </a:r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065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BCD0614-3AD5-4DCE-9465-0265FF9B8CD0}"/>
                  </a:ext>
                </a:extLst>
              </p:cNvPr>
              <p:cNvSpPr/>
              <p:nvPr/>
            </p:nvSpPr>
            <p:spPr>
              <a:xfrm>
                <a:off x="518722" y="840840"/>
                <a:ext cx="10275173" cy="50885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sz="3200" dirty="0">
                    <a:solidFill>
                      <a:srgbClr val="000000"/>
                    </a:solidFill>
                  </a:rPr>
                  <a:t>W</a:t>
                </a:r>
                <a:r>
                  <a:rPr lang="en-GB" sz="3200" dirty="0">
                    <a:solidFill>
                      <a:srgbClr val="000000"/>
                    </a:solidFill>
                  </a:rPr>
                  <a:t>ork in pairs to write five fractions, with four fractions equivalent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GB" sz="3200" dirty="0">
                    <a:solidFill>
                      <a:srgbClr val="000000"/>
                    </a:solidFill>
                  </a:rPr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GB" sz="3200" dirty="0">
                  <a:solidFill>
                    <a:srgbClr val="00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GB" sz="3200" dirty="0">
                  <a:solidFill>
                    <a:srgbClr val="00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3200" dirty="0">
                    <a:solidFill>
                      <a:srgbClr val="000000"/>
                    </a:solidFill>
                  </a:rPr>
                  <a:t>Swap your fractions with another pair of students to identify the fraction that is not equivalent. </a:t>
                </a:r>
              </a:p>
              <a:p>
                <a:r>
                  <a:rPr lang="en-GB" sz="3200" dirty="0">
                    <a:solidFill>
                      <a:srgbClr val="000000"/>
                    </a:solidFill>
                  </a:rPr>
                  <a:t> </a:t>
                </a:r>
              </a:p>
              <a:p>
                <a:endParaRPr lang="en-AU" dirty="0"/>
              </a:p>
              <a:p>
                <a:pPr algn="ctr"/>
                <a:r>
                  <a:rPr lang="en-GB" sz="2800" i="1" dirty="0">
                    <a:solidFill>
                      <a:srgbClr val="0070C0"/>
                    </a:solidFill>
                  </a:rPr>
                  <a:t>What is the multiplicative relationship between the numerator and the denominator of all fractions that are equivalent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GB" sz="2800" i="1" dirty="0">
                    <a:solidFill>
                      <a:srgbClr val="0070C0"/>
                    </a:solidFill>
                  </a:rPr>
                  <a:t>? </a:t>
                </a:r>
                <a:endParaRPr lang="en-GB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BCD0614-3AD5-4DCE-9465-0265FF9B8C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22" y="840840"/>
                <a:ext cx="10275173" cy="5088573"/>
              </a:xfrm>
              <a:prstGeom prst="rect">
                <a:avLst/>
              </a:prstGeom>
              <a:blipFill>
                <a:blip r:embed="rId3"/>
                <a:stretch>
                  <a:fillRect l="-1542" t="-1916" b="-7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F82E5DB7-4546-496A-9A25-B83AB481E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895" y="4918586"/>
            <a:ext cx="892277" cy="892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3FDAE5-3F4D-4EE1-9560-B94317E91589}"/>
              </a:ext>
            </a:extLst>
          </p:cNvPr>
          <p:cNvSpPr txBox="1"/>
          <p:nvPr/>
        </p:nvSpPr>
        <p:spPr>
          <a:xfrm>
            <a:off x="10695974" y="5877248"/>
            <a:ext cx="1088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</a:t>
            </a:r>
            <a:r>
              <a:rPr lang="en-AU" sz="2400" b="1" dirty="0">
                <a:solidFill>
                  <a:srgbClr val="FF0000"/>
                </a:solidFill>
              </a:rPr>
              <a:t>IC</a:t>
            </a:r>
            <a:r>
              <a:rPr lang="en-AU" sz="2400" b="1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065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 1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BCD0614-3AD5-4DCE-9465-0265FF9B8CD0}"/>
                  </a:ext>
                </a:extLst>
              </p:cNvPr>
              <p:cNvSpPr/>
              <p:nvPr/>
            </p:nvSpPr>
            <p:spPr>
              <a:xfrm>
                <a:off x="518722" y="840840"/>
                <a:ext cx="10275173" cy="47890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AU" sz="4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𝟐𝟒</m:t>
                          </m:r>
                        </m:den>
                      </m:f>
                    </m:oMath>
                  </m:oMathPara>
                </a14:m>
                <a:endParaRPr lang="en-GB" sz="3200" dirty="0">
                  <a:solidFill>
                    <a:srgbClr val="000000"/>
                  </a:solidFill>
                </a:endParaRPr>
              </a:p>
              <a:p>
                <a:endParaRPr lang="en-GB" sz="3200" dirty="0">
                  <a:solidFill>
                    <a:srgbClr val="000000"/>
                  </a:solidFill>
                </a:endParaRPr>
              </a:p>
              <a:p>
                <a:endParaRPr lang="en-AU" dirty="0"/>
              </a:p>
              <a:p>
                <a:r>
                  <a:rPr lang="en-GB" sz="2800" i="1" dirty="0">
                    <a:solidFill>
                      <a:schemeClr val="tx1"/>
                    </a:solidFill>
                  </a:rPr>
                  <a:t>How many fractions, with denominators that are smaller than 24 and  that are equivalent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AU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AU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𝟐𝟒</m:t>
                        </m:r>
                      </m:den>
                    </m:f>
                  </m:oMath>
                </a14:m>
                <a:r>
                  <a:rPr lang="en-GB" sz="2800" i="1" dirty="0">
                    <a:solidFill>
                      <a:schemeClr val="tx1"/>
                    </a:solidFill>
                  </a:rPr>
                  <a:t> are there? </a:t>
                </a:r>
              </a:p>
              <a:p>
                <a:endParaRPr lang="en-GB" sz="2800" dirty="0">
                  <a:solidFill>
                    <a:schemeClr val="tx1"/>
                  </a:solidFill>
                </a:endParaRPr>
              </a:p>
              <a:p>
                <a:r>
                  <a:rPr lang="en-GB" sz="2800" dirty="0">
                    <a:solidFill>
                      <a:srgbClr val="0070C0"/>
                    </a:solidFill>
                  </a:rPr>
                  <a:t>Write them down on your task side</a:t>
                </a:r>
              </a:p>
              <a:p>
                <a:pPr algn="ctr"/>
                <a:endParaRPr lang="en-GB" sz="2800" dirty="0">
                  <a:solidFill>
                    <a:srgbClr val="0070C0"/>
                  </a:solidFill>
                </a:endParaRPr>
              </a:p>
              <a:p>
                <a:pPr algn="ctr"/>
                <a:endParaRPr lang="en-GB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BCD0614-3AD5-4DCE-9465-0265FF9B8C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22" y="840840"/>
                <a:ext cx="10275173" cy="4789003"/>
              </a:xfrm>
              <a:prstGeom prst="rect">
                <a:avLst/>
              </a:prstGeom>
              <a:blipFill>
                <a:blip r:embed="rId3"/>
                <a:stretch>
                  <a:fillRect l="-1186" r="-16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C119607-380D-4C32-920B-19D4DDE42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22" y="4794733"/>
            <a:ext cx="2266950" cy="13811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FB2E81E-3FA7-4447-A142-C9F941BD804C}"/>
              </a:ext>
            </a:extLst>
          </p:cNvPr>
          <p:cNvSpPr/>
          <p:nvPr/>
        </p:nvSpPr>
        <p:spPr>
          <a:xfrm>
            <a:off x="6106834" y="4339775"/>
            <a:ext cx="556644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dirty="0">
                <a:solidFill>
                  <a:srgbClr val="7030A0"/>
                </a:solidFill>
                <a:latin typeface="Arial" panose="020B0604020202020204" pitchFamily="34" charset="0"/>
              </a:rPr>
              <a:t>What numbers did you use to divide both the numerator and denominator to find these equivalent fractions?</a:t>
            </a:r>
          </a:p>
          <a:p>
            <a:pPr algn="ctr"/>
            <a:endParaRPr lang="en-AU" sz="2400" dirty="0">
              <a:solidFill>
                <a:srgbClr val="7030A0"/>
              </a:solidFill>
              <a:latin typeface="Arial" panose="020B0604020202020204" pitchFamily="34" charset="0"/>
            </a:endParaRPr>
          </a:p>
          <a:p>
            <a:pPr algn="ctr"/>
            <a:r>
              <a:rPr lang="en-AU" sz="2400" b="1" dirty="0">
                <a:solidFill>
                  <a:srgbClr val="7030A0"/>
                </a:solidFill>
                <a:latin typeface="Arial" panose="020B0604020202020204" pitchFamily="34" charset="0"/>
              </a:rPr>
              <a:t>2, 3 and 6</a:t>
            </a:r>
            <a:endParaRPr lang="en-AU" sz="1600" b="1" dirty="0">
              <a:solidFill>
                <a:srgbClr val="7030A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437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065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 1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43F70-F11D-4BF9-8D5C-FC9F20A25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59" y="517932"/>
            <a:ext cx="8731780" cy="3495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72AADE-1C1E-4566-8EC6-DC09258B3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450" y="2370907"/>
            <a:ext cx="2262973" cy="39657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517A647-DE86-455F-9F9E-B641B6314579}"/>
                  </a:ext>
                </a:extLst>
              </p:cNvPr>
              <p:cNvSpPr/>
              <p:nvPr/>
            </p:nvSpPr>
            <p:spPr>
              <a:xfrm>
                <a:off x="502359" y="3969593"/>
                <a:ext cx="7354950" cy="20919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GB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2400" dirty="0"/>
                  <a:t> </a:t>
                </a:r>
                <a:r>
                  <a:rPr lang="en-GB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the simplest equivalent fraction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0"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AU" sz="2400" b="0" i="0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lang="en-GB" sz="2400" dirty="0"/>
                  <a:t> </a:t>
                </a:r>
                <a:r>
                  <a:rPr lang="en-GB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? Justify your answer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GB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What is the most efficient way to determine the simplest equivalent fraction? 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517A647-DE86-455F-9F9E-B641B63145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359" y="3969593"/>
                <a:ext cx="7354950" cy="2091983"/>
              </a:xfrm>
              <a:prstGeom prst="rect">
                <a:avLst/>
              </a:prstGeom>
              <a:blipFill>
                <a:blip r:embed="rId5"/>
                <a:stretch>
                  <a:fillRect l="-1077" r="-414" b="-58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AD1C1A6-AAD7-48B9-9BF3-0CC4364DE631}"/>
              </a:ext>
            </a:extLst>
          </p:cNvPr>
          <p:cNvSpPr/>
          <p:nvPr/>
        </p:nvSpPr>
        <p:spPr>
          <a:xfrm>
            <a:off x="5264431" y="202474"/>
            <a:ext cx="4127863" cy="36380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D0BC9F-C886-4210-BCD2-0A4CAC0FD0E3}"/>
              </a:ext>
            </a:extLst>
          </p:cNvPr>
          <p:cNvSpPr/>
          <p:nvPr/>
        </p:nvSpPr>
        <p:spPr>
          <a:xfrm>
            <a:off x="9612648" y="2425549"/>
            <a:ext cx="2144486" cy="38511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840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065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 2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BCD0614-3AD5-4DCE-9465-0265FF9B8CD0}"/>
                  </a:ext>
                </a:extLst>
              </p:cNvPr>
              <p:cNvSpPr/>
              <p:nvPr/>
            </p:nvSpPr>
            <p:spPr>
              <a:xfrm>
                <a:off x="693982" y="756632"/>
                <a:ext cx="10275173" cy="54653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000" b="1" i="1" smtClean="0">
                              <a:solidFill>
                                <a:srgbClr val="D6009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D60093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D60093"/>
                              </a:solidFill>
                              <a:latin typeface="Cambria Math" panose="02040503050406030204" pitchFamily="18" charset="0"/>
                            </a:rPr>
                            <m:t>𝟏𝟓𝟎</m:t>
                          </m:r>
                        </m:den>
                      </m:f>
                    </m:oMath>
                  </m:oMathPara>
                </a14:m>
                <a:endParaRPr lang="en-GB" sz="3200" dirty="0">
                  <a:solidFill>
                    <a:srgbClr val="000000"/>
                  </a:solidFill>
                </a:endParaRPr>
              </a:p>
              <a:p>
                <a:endParaRPr lang="en-GB" sz="3200" dirty="0">
                  <a:solidFill>
                    <a:srgbClr val="000000"/>
                  </a:solidFill>
                </a:endParaRPr>
              </a:p>
              <a:p>
                <a:endParaRPr lang="en-AU" dirty="0"/>
              </a:p>
              <a:p>
                <a:endParaRPr lang="en-AU" sz="2800" dirty="0"/>
              </a:p>
              <a:p>
                <a:r>
                  <a:rPr lang="en-GB" sz="2800" dirty="0"/>
                  <a:t>Work in pairs to answer the following questions:</a:t>
                </a:r>
              </a:p>
              <a:p>
                <a:endParaRPr lang="en-GB" sz="2800" dirty="0"/>
              </a:p>
              <a:p>
                <a:pPr lvl="1"/>
                <a:r>
                  <a:rPr lang="en-GB" sz="2800" dirty="0"/>
                  <a:t>– find all equivalent fractions with denominators less than 150 </a:t>
                </a:r>
              </a:p>
              <a:p>
                <a:pPr lvl="1"/>
                <a:endParaRPr lang="en-GB" sz="2800" dirty="0"/>
              </a:p>
              <a:p>
                <a:pPr lvl="1"/>
                <a:r>
                  <a:rPr lang="en-GB" sz="2800" dirty="0"/>
                  <a:t>– determine the simplest equivalent fraction </a:t>
                </a:r>
              </a:p>
              <a:p>
                <a:pPr lvl="1"/>
                <a:endParaRPr lang="en-GB" sz="2800" dirty="0"/>
              </a:p>
              <a:p>
                <a:pPr lvl="1"/>
                <a:r>
                  <a:rPr lang="en-AU" sz="2800" dirty="0"/>
                  <a:t>– justify their answers.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BCD0614-3AD5-4DCE-9465-0265FF9B8C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82" y="756632"/>
                <a:ext cx="10275173" cy="5465342"/>
              </a:xfrm>
              <a:prstGeom prst="rect">
                <a:avLst/>
              </a:prstGeom>
              <a:blipFill>
                <a:blip r:embed="rId3"/>
                <a:stretch>
                  <a:fillRect l="-1246" b="-21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8C2FA88C-C503-40EB-8F12-D015E2B72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895" y="4918586"/>
            <a:ext cx="892277" cy="892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51E9F7-8813-482C-A60C-E923C87EE151}"/>
              </a:ext>
            </a:extLst>
          </p:cNvPr>
          <p:cNvSpPr txBox="1"/>
          <p:nvPr/>
        </p:nvSpPr>
        <p:spPr>
          <a:xfrm>
            <a:off x="10695974" y="5877248"/>
            <a:ext cx="1088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</a:t>
            </a:r>
            <a:r>
              <a:rPr lang="en-AU" sz="2400" b="1" dirty="0">
                <a:solidFill>
                  <a:srgbClr val="FF0000"/>
                </a:solidFill>
              </a:rPr>
              <a:t>IC</a:t>
            </a:r>
            <a:r>
              <a:rPr lang="en-AU" sz="2400" b="1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205601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065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 2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BCD0614-3AD5-4DCE-9465-0265FF9B8CD0}"/>
                  </a:ext>
                </a:extLst>
              </p:cNvPr>
              <p:cNvSpPr/>
              <p:nvPr/>
            </p:nvSpPr>
            <p:spPr>
              <a:xfrm>
                <a:off x="693982" y="756632"/>
                <a:ext cx="10275173" cy="5702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b="1" i="1" smtClean="0">
                              <a:solidFill>
                                <a:srgbClr val="D6009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D60093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D60093"/>
                              </a:solidFill>
                              <a:latin typeface="Cambria Math" panose="02040503050406030204" pitchFamily="18" charset="0"/>
                            </a:rPr>
                            <m:t>𝟏𝟓𝟎</m:t>
                          </m:r>
                        </m:den>
                      </m:f>
                    </m:oMath>
                  </m:oMathPara>
                </a14:m>
                <a:endParaRPr lang="en-GB" sz="3200" dirty="0">
                  <a:solidFill>
                    <a:srgbClr val="000000"/>
                  </a:solidFill>
                </a:endParaRPr>
              </a:p>
              <a:p>
                <a:endParaRPr lang="en-AU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800" dirty="0"/>
                  <a:t>What are the common factors of 60 and 150? 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GB" sz="2400" i="1" dirty="0">
                    <a:solidFill>
                      <a:srgbClr val="FF0000"/>
                    </a:solidFill>
                  </a:rPr>
                  <a:t>The common factors of 60 and 150 are 30, 15, 10, 6, 5, 3, 2 and 1.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800" dirty="0"/>
                  <a:t>What is the simplest form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𝟔𝟎</m:t>
                        </m:r>
                      </m:num>
                      <m:den>
                        <m:r>
                          <a:rPr lang="en-AU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𝟏𝟓𝟎</m:t>
                        </m:r>
                      </m:den>
                    </m:f>
                  </m:oMath>
                </a14:m>
                <a:r>
                  <a:rPr lang="en-GB" sz="2800" dirty="0"/>
                  <a:t>? Justify your answer. 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GB" sz="2400" i="1" dirty="0">
                    <a:solidFill>
                      <a:srgbClr val="FF0000"/>
                    </a:solidFill>
                  </a:rPr>
                  <a:t>2/5 is the simplest form because 1 is the only common factor of 2 and 5. Dividing the numerator and denominator by 1 will not simplify the fraction.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800" dirty="0"/>
                  <a:t>What is the most efficient way to simplify 60150 to its simplest form? How do you know? 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GB" sz="2400" i="1" dirty="0">
                    <a:solidFill>
                      <a:srgbClr val="FF0000"/>
                    </a:solidFill>
                  </a:rPr>
                  <a:t>The most efficient way is to divide the numerator and denominator by 30, because this is the </a:t>
                </a:r>
                <a:r>
                  <a:rPr lang="en-GB" sz="2400" b="1" i="1" dirty="0">
                    <a:solidFill>
                      <a:srgbClr val="FF0000"/>
                    </a:solidFill>
                  </a:rPr>
                  <a:t>highest common factor</a:t>
                </a:r>
                <a:r>
                  <a:rPr lang="en-GB" sz="2400" i="1" dirty="0">
                    <a:solidFill>
                      <a:srgbClr val="FF0000"/>
                    </a:solidFill>
                  </a:rPr>
                  <a:t> of 60 and 150.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BCD0614-3AD5-4DCE-9465-0265FF9B8C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82" y="756632"/>
                <a:ext cx="10275173" cy="5702523"/>
              </a:xfrm>
              <a:prstGeom prst="rect">
                <a:avLst/>
              </a:prstGeom>
              <a:blipFill>
                <a:blip r:embed="rId3"/>
                <a:stretch>
                  <a:fillRect l="-1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4671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065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 2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BCD0614-3AD5-4DCE-9465-0265FF9B8CD0}"/>
                  </a:ext>
                </a:extLst>
              </p:cNvPr>
              <p:cNvSpPr/>
              <p:nvPr/>
            </p:nvSpPr>
            <p:spPr>
              <a:xfrm>
                <a:off x="693982" y="756632"/>
                <a:ext cx="10275173" cy="35720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b="1" i="1" smtClean="0">
                              <a:solidFill>
                                <a:srgbClr val="D6009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D60093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D60093"/>
                              </a:solidFill>
                              <a:latin typeface="Cambria Math" panose="02040503050406030204" pitchFamily="18" charset="0"/>
                            </a:rPr>
                            <m:t>𝟏𝟓𝟎</m:t>
                          </m:r>
                        </m:den>
                      </m:f>
                    </m:oMath>
                  </m:oMathPara>
                </a14:m>
                <a:endParaRPr lang="en-GB" sz="3200" dirty="0">
                  <a:solidFill>
                    <a:srgbClr val="000000"/>
                  </a:solidFill>
                </a:endParaRPr>
              </a:p>
              <a:p>
                <a:endParaRPr lang="en-AU" dirty="0"/>
              </a:p>
              <a:p>
                <a:endParaRPr lang="en-AU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2800" dirty="0"/>
                  <a:t>How many equivalent fractions with denominators less than 150 are there? </a:t>
                </a:r>
                <a:r>
                  <a:rPr lang="en-GB" sz="2800" i="1" dirty="0"/>
                  <a:t>Come and write down one fraction from each pair.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GB" sz="2800" dirty="0"/>
              </a:p>
              <a:p>
                <a:endParaRPr lang="en-GB" sz="280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BCD0614-3AD5-4DCE-9465-0265FF9B8C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82" y="756632"/>
                <a:ext cx="10275173" cy="3572068"/>
              </a:xfrm>
              <a:prstGeom prst="rect">
                <a:avLst/>
              </a:prstGeom>
              <a:blipFill>
                <a:blip r:embed="rId3"/>
                <a:stretch>
                  <a:fillRect l="-1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8925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848</Words>
  <Application>Microsoft Office PowerPoint</Application>
  <PresentationFormat>Widescreen</PresentationFormat>
  <Paragraphs>115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Fragment Core</vt:lpstr>
      <vt:lpstr>Office Theme</vt:lpstr>
      <vt:lpstr>Identifying and Creating Equivalent Fractions</vt:lpstr>
      <vt:lpstr>From Last Lesson</vt:lpstr>
      <vt:lpstr>From Last Lesson</vt:lpstr>
      <vt:lpstr>PowerPoint Presentation</vt:lpstr>
      <vt:lpstr>Practice</vt:lpstr>
      <vt:lpstr>Task</vt:lpstr>
      <vt:lpstr>PowerPoint Presentation</vt:lpstr>
      <vt:lpstr>Task 1</vt:lpstr>
      <vt:lpstr>Task 1</vt:lpstr>
      <vt:lpstr>Task 2</vt:lpstr>
      <vt:lpstr>Task 2</vt:lpstr>
      <vt:lpstr>Task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Identifying and Creating Equivalent Fractions</dc:title>
  <dc:creator>Nine LABUSCHAGNE</dc:creator>
  <cp:lastModifiedBy>Nine LABUSCHAGNE</cp:lastModifiedBy>
  <cp:revision>20</cp:revision>
  <dcterms:created xsi:type="dcterms:W3CDTF">2018-08-17T06:07:36Z</dcterms:created>
  <dcterms:modified xsi:type="dcterms:W3CDTF">2018-08-19T04:00:04Z</dcterms:modified>
</cp:coreProperties>
</file>
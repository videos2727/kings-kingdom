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61" r:id="rId3"/>
    <p:sldId id="269" r:id="rId4"/>
    <p:sldId id="268" r:id="rId5"/>
    <p:sldId id="270" r:id="rId6"/>
    <p:sldId id="272" r:id="rId7"/>
    <p:sldId id="271" r:id="rId8"/>
    <p:sldId id="273" r:id="rId9"/>
    <p:sldId id="265" r:id="rId10"/>
    <p:sldId id="274" r:id="rId11"/>
    <p:sldId id="275" r:id="rId12"/>
    <p:sldId id="276" r:id="rId13"/>
    <p:sldId id="263" r:id="rId14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8" autoAdjust="0"/>
    <p:restoredTop sz="82007" autoAdjust="0"/>
  </p:normalViewPr>
  <p:slideViewPr>
    <p:cSldViewPr snapToGrid="0">
      <p:cViewPr varScale="1">
        <p:scale>
          <a:sx n="67" d="100"/>
          <a:sy n="67" d="100"/>
        </p:scale>
        <p:origin x="354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4706E5-D5B6-4057-9244-0E29425E1060}" type="datetimeFigureOut">
              <a:rPr lang="en-AU" smtClean="0"/>
              <a:t>17/08/2018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E5913-6273-401C-85B4-645E21EF25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6144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80856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34149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Each student gets two circles.</a:t>
            </a:r>
          </a:p>
          <a:p>
            <a:endParaRPr lang="en-AU" dirty="0"/>
          </a:p>
          <a:p>
            <a:r>
              <a:rPr lang="en-AU" dirty="0"/>
              <a:t>Students may explain that the fractions, three quarters and six eights represent the same amount of pizza.</a:t>
            </a:r>
          </a:p>
          <a:p>
            <a:r>
              <a:rPr lang="en-AU" dirty="0"/>
              <a:t>Some can explain the concrete representation of the fractions but not understand the representation.</a:t>
            </a:r>
          </a:p>
          <a:p>
            <a:endParaRPr lang="en-AU" dirty="0"/>
          </a:p>
          <a:p>
            <a:r>
              <a:rPr lang="en-AU" dirty="0"/>
              <a:t>Ask the students what these fractions are called.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2E5913-6273-401C-85B4-645E21EF252F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37019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8200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Students may explain that when quarters of a pizza are partitioned into eighths, the size of the pieces is halved and the number of pieces is doubled. </a:t>
            </a:r>
            <a:endParaRPr lang="en-AU" sz="1800" i="1" dirty="0">
              <a:solidFill>
                <a:prstClr val="black"/>
              </a:solidFill>
              <a:latin typeface="+mn-lt"/>
            </a:endParaRP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978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Students may explain that when quarters of a pizza are partitioned into eighths, the size of the pieces is halved and the number of pieces is doubled. </a:t>
            </a:r>
            <a:endParaRPr lang="en-AU" sz="1800" i="1" dirty="0">
              <a:solidFill>
                <a:prstClr val="black"/>
              </a:solidFill>
              <a:latin typeface="+mn-lt"/>
            </a:endParaRP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5613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1. Explain to students how this is represented with numbers. The numerator, 3, of 3/4 that represents the three pieces of pizza is multiplied by 2 to become 6 pieces of pizza in 6/8. </a:t>
            </a:r>
          </a:p>
          <a:p>
            <a:endParaRPr lang="en-AU" dirty="0"/>
          </a:p>
          <a:p>
            <a:endParaRPr lang="en-A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Explain how this is represented with numbers. The denominator, 4, of 3/4 indicates the size of each piece of pizza is one quarter. When 4 is multiplied by 2 to become 8 in 6/8 the 8 indicates the size of each piece of pizza is one eighth. 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4211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90050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Students may explain that when quarters of a pizza are partitioned into eighths, the size of the pieces is halved and the number of pieces is doubled. </a:t>
            </a:r>
            <a:endParaRPr lang="en-AU" sz="1800" i="1" dirty="0">
              <a:solidFill>
                <a:prstClr val="black"/>
              </a:solidFill>
              <a:latin typeface="+mn-lt"/>
            </a:endParaRP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4269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Explain how this is represented with numbers. The numerator, 6, of 6/8 that represents six pieces of pizza is divided by 2 to become 3 pieces of pizza in 3/4. </a:t>
            </a:r>
          </a:p>
          <a:p>
            <a:pPr marL="228600" indent="-228600">
              <a:buAutoNum type="arabicPeriod"/>
            </a:pPr>
            <a:endParaRPr lang="en-GB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indent="-228600">
              <a:buAutoNum type="arabicPeriod"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denominator, 8, of 6/8 indicates the size of each piece of pizza is one eighth. When 8 is divided by 2 to become 4 in 3/4 the size of each piece of pizza is one quarter.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874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Explain how this is represented with numbers. The numerator, 6, of 6/8 that represents six pieces of pizza is divided by 2 to become 3 pieces of pizza in 3/4. </a:t>
            </a:r>
          </a:p>
          <a:p>
            <a:pPr marL="228600" indent="-228600">
              <a:buAutoNum type="arabicPeriod"/>
            </a:pPr>
            <a:endParaRPr lang="en-GB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indent="-228600">
              <a:buAutoNum type="arabicPeriod"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denominator, 8, of 6/8 indicates the size of each piece of pizza is one eighth. When 8 is divided by 2 to become 4 in 3/4 the size of each piece of pizza is one quarter. </a:t>
            </a:r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7316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Explain to students that because the digits, 3 and 4, in the number 3/4 are smaller than the digits, 6 and 8, in the number 6/8 , 3/4 is called a </a:t>
            </a:r>
            <a:r>
              <a:rPr lang="en-GB" b="1" dirty="0"/>
              <a:t>simpler form of 6/8 .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9427357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Students may explain that the fractions, two thirds and six ninths, represent the same amount or quantity of pizza. </a:t>
            </a:r>
          </a:p>
          <a:p>
            <a:pPr marL="228600" lvl="0" indent="-2286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Because two thirds and six ninths are different names for the same amount or number. </a:t>
            </a:r>
          </a:p>
          <a:p>
            <a:pPr marL="228600" lvl="0" indent="-2286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Students may explain that when thirds of a pizza are partitioned into ninths, the size of the pieces is three times smaller and the number of pieces is three times larger. </a:t>
            </a:r>
          </a:p>
          <a:p>
            <a:pPr marL="228600" lvl="0" indent="-2286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Multiplying the numerator by 3 makes the number of pieces three times greater. Multiplying the denominator by 3 makes each piece three times smaller. </a:t>
            </a:r>
            <a:r>
              <a:rPr lang="en-GB" sz="1200" b="0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Dividing the numerator by three makes the number of pieces three times smaller (or fewer), Dividing the denominator by 3 makes the size of the piece three times larger three times smaller (or greater).</a:t>
            </a:r>
          </a:p>
          <a:p>
            <a:pPr marL="228600" lvl="0" indent="-228600">
              <a:spcBef>
                <a:spcPts val="0"/>
              </a:spcBef>
              <a:spcAft>
                <a:spcPts val="0"/>
              </a:spcAft>
              <a:buAutoNum type="arabicPeriod"/>
            </a:pPr>
            <a:endParaRPr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1281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2359E-E558-4510-A37D-B389BB303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0075FC-309D-4F98-94D7-13AB94658A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011C4-E82D-4F05-B8F0-15CBBC2EB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41EED-DEF3-4D0D-A5A2-A02B18E3170D}" type="datetimeFigureOut">
              <a:rPr lang="en-AU" smtClean="0"/>
              <a:t>17/08/2018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87BB1-5248-4F11-9B85-132BBD768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1AB8D-E0B6-4076-9C2D-4D9A0DFFB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2ACF4-93B8-4A0A-8812-7064761C93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8650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D3574-9343-4FE4-80D8-78339691A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36D48-4BF7-4FD6-A77C-87BDD5F66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6E07E-F074-44C5-9F09-F28DE349B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41EED-DEF3-4D0D-A5A2-A02B18E3170D}" type="datetimeFigureOut">
              <a:rPr lang="en-AU" smtClean="0"/>
              <a:t>17/08/2018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D1D6E-D7EB-4EF9-A7D7-0FF6DFC99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516A6-6849-4D01-86DC-D3CCDF598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2ACF4-93B8-4A0A-8812-7064761C93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0890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8A04A-7A7E-415E-87DA-CD800BD12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223E3-3C69-4FE2-9CB6-B2215A8AF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DA87C-4DB2-42B2-9FA2-F8F32CB93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41EED-DEF3-4D0D-A5A2-A02B18E3170D}" type="datetimeFigureOut">
              <a:rPr lang="en-AU" smtClean="0"/>
              <a:t>17/08/2018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83052-B741-4485-A87F-74411B1AD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7B982-CAD4-4C5D-9445-96F4F719D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2ACF4-93B8-4A0A-8812-7064761C93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5524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213B3-1BAF-4BE0-B9FC-500C55577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26320-1F58-4795-9227-02F6A75F69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D9645C-72C5-40E4-BCCF-B8641FCD2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999FF2-EEBB-403F-9420-49D36FDE4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41EED-DEF3-4D0D-A5A2-A02B18E3170D}" type="datetimeFigureOut">
              <a:rPr lang="en-AU" smtClean="0"/>
              <a:t>17/08/2018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77B988-13CF-4A37-AAEC-E65A68B68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0DE179-54FB-421D-9F57-40BE13999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2ACF4-93B8-4A0A-8812-7064761C93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6514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8794C-AE2C-43EC-85F3-82A561E32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26B51-F2D4-4AAA-AC44-C9831435E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3ABFD2-520F-4A45-8E6C-5B275F7739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EE7D07-5C7D-42E7-9E44-47CBE38916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517B43-369E-48B9-BBCF-F0B4B4A7DB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39B888-1FDD-4049-8A7D-512C7E1D9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41EED-DEF3-4D0D-A5A2-A02B18E3170D}" type="datetimeFigureOut">
              <a:rPr lang="en-AU" smtClean="0"/>
              <a:t>17/08/2018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D06154-F9C3-4E8D-AECC-C475E26A0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A5FBEE-3DCD-4EF0-B25D-DAF0DC5BB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2ACF4-93B8-4A0A-8812-7064761C93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7830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98E61-8541-443C-916C-C6FD0E285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2A9686-1983-4AEE-99F2-0F5674531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41EED-DEF3-4D0D-A5A2-A02B18E3170D}" type="datetimeFigureOut">
              <a:rPr lang="en-AU" smtClean="0"/>
              <a:t>17/08/2018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1E037F-F2A4-496F-A5B9-273F3013C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960C17-78CD-41EA-B79F-1422E04FD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2ACF4-93B8-4A0A-8812-7064761C93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836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D3FC84-0B67-416C-9619-647C079C7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41EED-DEF3-4D0D-A5A2-A02B18E3170D}" type="datetimeFigureOut">
              <a:rPr lang="en-AU" smtClean="0"/>
              <a:t>17/08/2018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0CAC8D-CCEA-4A92-962A-132B311BB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26FB7F-63FE-4C4B-A4F6-FB2FF696C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2ACF4-93B8-4A0A-8812-7064761C93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120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9BF7C-CE5A-4160-A0ED-F735D4C30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57598-AAA5-484E-BCD1-D1C3A418D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AA9C7F-8A3E-44AA-87E0-CAB3D34FD4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B6DB21-AE16-4E20-9A09-C83FA7AA3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41EED-DEF3-4D0D-A5A2-A02B18E3170D}" type="datetimeFigureOut">
              <a:rPr lang="en-AU" smtClean="0"/>
              <a:t>17/08/2018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6F610F-B8B1-461B-AB37-2569E1275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4F9C63-0D53-4804-A20F-DD6F4C40B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2ACF4-93B8-4A0A-8812-7064761C93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7444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3DB9D-A3D4-41E2-A115-057FB4BAB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643A5A-ED72-4A50-9256-57C00CB1FA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476E30-0BB1-4A8A-A4A6-3E6A57AE34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8681EB-029D-41CB-B103-209404F5E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41EED-DEF3-4D0D-A5A2-A02B18E3170D}" type="datetimeFigureOut">
              <a:rPr lang="en-AU" smtClean="0"/>
              <a:t>17/08/2018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38B15E-976E-438F-9438-65365C56B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44B5B9-A3EF-4474-945F-C5A82095B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2ACF4-93B8-4A0A-8812-7064761C93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9189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72681-5DFD-4A73-BA6F-8CFF6AC40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0E37FD-F699-476E-BCD8-806A86F92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B7219-43F6-40C1-BD4D-C7334A0F0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41EED-DEF3-4D0D-A5A2-A02B18E3170D}" type="datetimeFigureOut">
              <a:rPr lang="en-AU" smtClean="0"/>
              <a:t>17/08/2018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C345D-8017-4BE1-9DAB-9B2F38B8F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79386-5514-4B0A-99E0-7F441B0BB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2ACF4-93B8-4A0A-8812-7064761C93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1071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4E20F8-F0C2-42F4-BE56-45B08BB1ED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2F0B10-154F-455A-8C72-0AEB0ABE16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2FC2F-BA35-4B1E-A27F-416F35795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41EED-DEF3-4D0D-A5A2-A02B18E3170D}" type="datetimeFigureOut">
              <a:rPr lang="en-AU" smtClean="0"/>
              <a:t>17/08/2018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41512-5166-4B08-947F-1362389A7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C2E81-54BB-4B66-9DB1-92C79D25A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2ACF4-93B8-4A0A-8812-7064761C93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0202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9982223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903383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1125103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1010969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86027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8A1D2D-2E51-4C5C-897D-854615AA1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E8A4A-730E-42F2-BCF0-77C6BE34F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FADED-3DEB-4923-91B6-BA395DC2FF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41EED-DEF3-4D0D-A5A2-A02B18E3170D}" type="datetimeFigureOut">
              <a:rPr lang="en-AU" smtClean="0"/>
              <a:t>17/08/2018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ED484-5F68-468A-B000-CD4E436C5A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AE3F0-D453-4666-88D4-074D2690D7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A2ACF4-93B8-4A0A-8812-7064761C93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845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10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emf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7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Exploring Equivalent Fractions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3901" y="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Starter Activity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13">
                <a:extLst>
                  <a:ext uri="{FF2B5EF4-FFF2-40B4-BE49-F238E27FC236}">
                    <a16:creationId xmlns:a16="http://schemas.microsoft.com/office/drawing/2014/main" id="{03C6AC60-0EEB-4482-9041-0A4971612EE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3044" y="1362560"/>
                <a:ext cx="10820400" cy="5180713"/>
              </a:xfrm>
              <a:prstGeom prst="rect">
                <a:avLst/>
              </a:prstGeom>
            </p:spPr>
            <p:txBody>
              <a:bodyPr spcFirstLastPara="1" vert="horz" wrap="square" lIns="91425" tIns="91425" rIns="91425" bIns="91425" rtlCol="0" anchor="t" anchorCtr="0">
                <a:normAutofit/>
              </a:bodyPr>
              <a:lstStyle>
                <a:lvl1pPr marL="609585" lvl="0" indent="-474121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>
                    <a:srgbClr val="F0C3A3"/>
                  </a:buClr>
                  <a:buSzPts val="2000"/>
                  <a:buFont typeface="Arial" panose="020B0604020202020204" pitchFamily="34" charset="0"/>
                  <a:buChar char="‐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219170" lvl="1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0C3A3"/>
                  </a:buClr>
                  <a:buSzPts val="2000"/>
                  <a:buFont typeface="Arial" panose="020B0604020202020204" pitchFamily="34" charset="0"/>
                  <a:buChar char="‐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28754" lvl="2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0C3A3"/>
                  </a:buClr>
                  <a:buSzPts val="2000"/>
                  <a:buFont typeface="Arial" panose="020B0604020202020204" pitchFamily="34" charset="0"/>
                  <a:buChar char="‐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438339" lvl="3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‐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47924" lvl="4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‐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657509" lvl="5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‐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267093" lvl="6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‐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876678" lvl="7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‐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486263" lvl="8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‐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AU" sz="2800" dirty="0">
                    <a:latin typeface="Kiwi School Handwriting" panose="00000500000000000000" pitchFamily="2" charset="0"/>
                  </a:rPr>
                  <a:t>Student where asked which type of music they like best. It was found that:</a:t>
                </a:r>
              </a:p>
              <a:p>
                <a:pPr marL="1066785" lvl="1" indent="-457200"/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AU" sz="2800" dirty="0">
                    <a:latin typeface="Kiwi School Handwriting" panose="00000500000000000000" pitchFamily="2" charset="0"/>
                  </a:rPr>
                  <a:t>  of the students like rap music</a:t>
                </a:r>
              </a:p>
              <a:p>
                <a:pPr marL="1066785" lvl="1" indent="-457200"/>
                <a:endParaRPr lang="en-AU" sz="2800" dirty="0">
                  <a:latin typeface="Kiwi School Handwriting" panose="00000500000000000000" pitchFamily="2" charset="0"/>
                </a:endParaRPr>
              </a:p>
              <a:p>
                <a:pPr marL="1066785" lvl="1" indent="-457200"/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800" dirty="0">
                    <a:latin typeface="Kiwi School Handwriting" panose="00000500000000000000" pitchFamily="2" charset="0"/>
                  </a:rPr>
                  <a:t>  of the students like pop music</a:t>
                </a:r>
              </a:p>
              <a:p>
                <a:pPr marL="1066785" lvl="1" indent="-457200"/>
                <a:endParaRPr lang="en-AU" sz="2800" dirty="0">
                  <a:latin typeface="Kiwi School Handwriting" panose="00000500000000000000" pitchFamily="2" charset="0"/>
                </a:endParaRPr>
              </a:p>
              <a:p>
                <a:pPr marL="1066785" lvl="1" indent="-457200"/>
                <a:r>
                  <a:rPr lang="en-AU" sz="2800" dirty="0">
                    <a:latin typeface="Kiwi School Handwriting" panose="00000500000000000000" pitchFamily="2" charset="0"/>
                  </a:rPr>
                  <a:t>The rest of the students like other types of music.</a:t>
                </a:r>
              </a:p>
              <a:p>
                <a:pPr marL="0" indent="0">
                  <a:buNone/>
                </a:pPr>
                <a:endParaRPr lang="en-AU" sz="2800" dirty="0">
                  <a:latin typeface="Kiwi School Handwriting" panose="00000500000000000000" pitchFamily="2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800" dirty="0">
                    <a:latin typeface="Kiwi School Handwriting" panose="00000500000000000000" pitchFamily="2" charset="0"/>
                  </a:rPr>
                  <a:t>Do more students like rap than pop music? Explain your answer.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800" dirty="0">
                    <a:latin typeface="Kiwi School Handwriting" panose="00000500000000000000" pitchFamily="2" charset="0"/>
                  </a:rPr>
                  <a:t>What fraction of students like other types of music? Explain your answer.</a:t>
                </a:r>
              </a:p>
            </p:txBody>
          </p:sp>
        </mc:Choice>
        <mc:Fallback xmlns="">
          <p:sp>
            <p:nvSpPr>
              <p:cNvPr id="13" name="Content Placeholder 13">
                <a:extLst>
                  <a:ext uri="{FF2B5EF4-FFF2-40B4-BE49-F238E27FC236}">
                    <a16:creationId xmlns:a16="http://schemas.microsoft.com/office/drawing/2014/main" id="{03C6AC60-0EEB-4482-9041-0A4971612E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044" y="1362560"/>
                <a:ext cx="10820400" cy="5180713"/>
              </a:xfrm>
              <a:prstGeom prst="rect">
                <a:avLst/>
              </a:prstGeom>
              <a:blipFill>
                <a:blip r:embed="rId3"/>
                <a:stretch>
                  <a:fillRect l="-1183" b="-164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2" descr="Related image">
            <a:extLst>
              <a:ext uri="{FF2B5EF4-FFF2-40B4-BE49-F238E27FC236}">
                <a16:creationId xmlns:a16="http://schemas.microsoft.com/office/drawing/2014/main" id="{E5B1E88C-DDB7-4F7D-9BDF-8468E17D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044" y="487447"/>
            <a:ext cx="875113" cy="875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2">
            <a:extLst>
              <a:ext uri="{FF2B5EF4-FFF2-40B4-BE49-F238E27FC236}">
                <a16:creationId xmlns:a16="http://schemas.microsoft.com/office/drawing/2014/main" id="{300F9871-20CC-4351-A9C9-A7D01B6E5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3901" y="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 Side: Activity One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07C567-2128-4C00-BE10-72515E9B43D1}"/>
                  </a:ext>
                </a:extLst>
              </p:cNvPr>
              <p:cNvSpPr txBox="1"/>
              <p:nvPr/>
            </p:nvSpPr>
            <p:spPr>
              <a:xfrm>
                <a:off x="459682" y="1426378"/>
                <a:ext cx="11272635" cy="4762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:r>
                  <a:rPr lang="en-AU" sz="2399" dirty="0">
                    <a:solidFill>
                      <a:prstClr val="black"/>
                    </a:solidFill>
                    <a:latin typeface="Calibri" panose="020F0502020204030204"/>
                  </a:rPr>
                  <a:t>Using your two circles:</a:t>
                </a:r>
              </a:p>
              <a:p>
                <a:pPr defTabSz="914126"/>
                <a:endParaRPr lang="en-AU" sz="2399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ctr" defTabSz="914126"/>
                <a:r>
                  <a:rPr lang="en-AU" sz="3200" b="1" dirty="0">
                    <a:solidFill>
                      <a:srgbClr val="7030A0"/>
                    </a:solidFill>
                    <a:latin typeface="Calibri" panose="020F0502020204030204"/>
                  </a:rPr>
                  <a:t>Is the statement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4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AU" sz="4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n-AU" sz="4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4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num>
                      <m:den>
                        <m:r>
                          <a:rPr lang="en-AU" sz="4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den>
                    </m:f>
                  </m:oMath>
                </a14:m>
                <a:r>
                  <a:rPr lang="en-AU" sz="3200" b="1" dirty="0">
                    <a:solidFill>
                      <a:srgbClr val="00B050"/>
                    </a:solidFill>
                    <a:latin typeface="Calibri" panose="020F0502020204030204"/>
                  </a:rPr>
                  <a:t>  </a:t>
                </a:r>
                <a:r>
                  <a:rPr lang="en-AU" sz="3200" b="1" dirty="0">
                    <a:solidFill>
                      <a:srgbClr val="7030A0"/>
                    </a:solidFill>
                    <a:latin typeface="Calibri" panose="020F0502020204030204"/>
                  </a:rPr>
                  <a:t>true?</a:t>
                </a:r>
              </a:p>
              <a:p>
                <a:pPr defTabSz="914126"/>
                <a:endParaRPr lang="en-AU" sz="2399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r>
                  <a:rPr lang="en-AU" sz="2399" dirty="0">
                    <a:solidFill>
                      <a:prstClr val="black"/>
                    </a:solidFill>
                    <a:latin typeface="Calibri" panose="020F0502020204030204"/>
                  </a:rPr>
                  <a:t>Justify your answer by cutting, folding or drawing on the circle to support and demonstrate your answers.</a:t>
                </a:r>
              </a:p>
              <a:p>
                <a:pPr defTabSz="914126"/>
                <a:endParaRPr lang="en-AU" sz="2399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endParaRPr lang="en-AU" sz="2399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endParaRPr lang="en-AU" sz="2399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r>
                  <a:rPr lang="en-AU" sz="2399" i="1" dirty="0">
                    <a:solidFill>
                      <a:prstClr val="black"/>
                    </a:solidFill>
                    <a:latin typeface="Calibri" panose="020F0502020204030204"/>
                  </a:rPr>
                  <a:t>Extension: Represent this statement in another shape other than a circle.</a:t>
                </a:r>
              </a:p>
              <a:p>
                <a:pPr defTabSz="914126"/>
                <a:endParaRPr lang="en-AU" sz="2399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07C567-2128-4C00-BE10-72515E9B4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682" y="1426378"/>
                <a:ext cx="11272635" cy="4762586"/>
              </a:xfrm>
              <a:prstGeom prst="rect">
                <a:avLst/>
              </a:prstGeom>
              <a:blipFill>
                <a:blip r:embed="rId3"/>
                <a:stretch>
                  <a:fillRect l="-811" t="-102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0076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5868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Equivalent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492040"/>
            <a:ext cx="1845938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a equivalent fraction?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equivalent fractions?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2034" y="1418770"/>
            <a:ext cx="9544926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They are fractions that mark the same place on a number line.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C4F1DEA6-8312-495F-A986-DE37EFBB8F44}"/>
              </a:ext>
            </a:extLst>
          </p:cNvPr>
          <p:cNvGrpSpPr/>
          <p:nvPr/>
        </p:nvGrpSpPr>
        <p:grpSpPr>
          <a:xfrm>
            <a:off x="1915430" y="2092012"/>
            <a:ext cx="10203900" cy="4314468"/>
            <a:chOff x="1875691" y="1972831"/>
            <a:chExt cx="10203900" cy="4314468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60DF254-8373-452C-91E1-58D5B11844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44659"/>
            <a:stretch/>
          </p:blipFill>
          <p:spPr>
            <a:xfrm>
              <a:off x="1875691" y="1972831"/>
              <a:ext cx="10106128" cy="4314468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1385224-1973-49E8-8E25-D3A240CE8C59}"/>
                </a:ext>
              </a:extLst>
            </p:cNvPr>
            <p:cNvSpPr/>
            <p:nvPr/>
          </p:nvSpPr>
          <p:spPr>
            <a:xfrm>
              <a:off x="1973464" y="2537791"/>
              <a:ext cx="6660314" cy="36443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BB7D086-F9B7-4F59-8448-C6521E7825B1}"/>
                </a:ext>
              </a:extLst>
            </p:cNvPr>
            <p:cNvSpPr/>
            <p:nvPr/>
          </p:nvSpPr>
          <p:spPr>
            <a:xfrm>
              <a:off x="9679602" y="2537791"/>
              <a:ext cx="2399989" cy="36443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5868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Equivalent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equivalent fractions?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3464" y="4651397"/>
            <a:ext cx="954492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i="1" dirty="0">
                <a:solidFill>
                  <a:prstClr val="black"/>
                </a:solidFill>
                <a:latin typeface="Calibri" panose="020F0502020204030204"/>
              </a:rPr>
              <a:t>The number of pieces is </a:t>
            </a:r>
            <a:r>
              <a:rPr lang="en-AU" sz="2800" b="1" i="1" dirty="0">
                <a:solidFill>
                  <a:prstClr val="black"/>
                </a:solidFill>
                <a:latin typeface="Calibri" panose="020F0502020204030204"/>
              </a:rPr>
              <a:t>doubled </a:t>
            </a:r>
            <a:r>
              <a:rPr lang="en-AU" sz="2800" i="1" dirty="0">
                <a:solidFill>
                  <a:prstClr val="black"/>
                </a:solidFill>
                <a:latin typeface="Calibri" panose="020F0502020204030204"/>
              </a:rPr>
              <a:t>when the three pieces of pizza become six pieces. </a:t>
            </a:r>
          </a:p>
          <a:p>
            <a:pPr defTabSz="914126"/>
            <a:endParaRPr lang="en-AU" sz="2800" i="1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800" i="1" dirty="0">
                <a:solidFill>
                  <a:prstClr val="black"/>
                </a:solidFill>
                <a:latin typeface="Calibri" panose="020F0502020204030204"/>
              </a:rPr>
              <a:t>The size of the pieces is</a:t>
            </a:r>
            <a:r>
              <a:rPr lang="en-AU" sz="2800" b="1" i="1" dirty="0">
                <a:solidFill>
                  <a:prstClr val="black"/>
                </a:solidFill>
                <a:latin typeface="Calibri" panose="020F0502020204030204"/>
              </a:rPr>
              <a:t> halved</a:t>
            </a:r>
            <a:r>
              <a:rPr lang="en-AU" sz="2800" i="1" dirty="0">
                <a:solidFill>
                  <a:prstClr val="black"/>
                </a:solidFill>
                <a:latin typeface="Calibri" panose="020F0502020204030204"/>
              </a:rPr>
              <a:t>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2153132-9D2A-48E6-8397-3B75FFB7B6FE}"/>
                  </a:ext>
                </a:extLst>
              </p:cNvPr>
              <p:cNvSpPr/>
              <p:nvPr/>
            </p:nvSpPr>
            <p:spPr>
              <a:xfrm>
                <a:off x="5867217" y="2782541"/>
                <a:ext cx="1850186" cy="12929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defTabSz="914126"/>
                <a14:m>
                  <m:oMath xmlns:m="http://schemas.openxmlformats.org/officeDocument/2006/math">
                    <m:f>
                      <m:fPr>
                        <m:ctrlP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n-AU" sz="5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num>
                      <m:den>
                        <m: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den>
                    </m:f>
                  </m:oMath>
                </a14:m>
                <a:r>
                  <a:rPr lang="en-AU" sz="5400" b="1" dirty="0">
                    <a:solidFill>
                      <a:srgbClr val="00B050"/>
                    </a:solidFill>
                  </a:rPr>
                  <a:t> </a:t>
                </a:r>
                <a:endParaRPr lang="en-AU" sz="5400" b="1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2153132-9D2A-48E6-8397-3B75FFB7B6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217" y="2782541"/>
                <a:ext cx="1850186" cy="12929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B4B14F2B-CB6E-4F60-824A-B96373D1D007}"/>
              </a:ext>
            </a:extLst>
          </p:cNvPr>
          <p:cNvSpPr txBox="1"/>
          <p:nvPr/>
        </p:nvSpPr>
        <p:spPr>
          <a:xfrm>
            <a:off x="0" y="3612388"/>
            <a:ext cx="1845938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can I explain this in words?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FA0F68-8203-47B0-AF9D-DA88FA7FE7D0}"/>
              </a:ext>
            </a:extLst>
          </p:cNvPr>
          <p:cNvSpPr/>
          <p:nvPr/>
        </p:nvSpPr>
        <p:spPr>
          <a:xfrm>
            <a:off x="2030681" y="1471615"/>
            <a:ext cx="981623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000000"/>
                </a:solidFill>
                <a:latin typeface="Arial" panose="020B0604020202020204" pitchFamily="34" charset="0"/>
              </a:rPr>
              <a:t>What happens to the size of the pieces and the number of pieces when the quarters are divided into eighths? </a:t>
            </a:r>
          </a:p>
        </p:txBody>
      </p:sp>
    </p:spTree>
    <p:extLst>
      <p:ext uri="{BB962C8B-B14F-4D97-AF65-F5344CB8AC3E}">
        <p14:creationId xmlns:p14="http://schemas.microsoft.com/office/powerpoint/2010/main" val="2180354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5868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Equivalent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equivalent fractions?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46351" y="4446239"/>
            <a:ext cx="954492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i="1" dirty="0">
                <a:solidFill>
                  <a:prstClr val="black"/>
                </a:solidFill>
                <a:latin typeface="Calibri" panose="020F0502020204030204"/>
              </a:rPr>
              <a:t>The number of pieces is </a:t>
            </a:r>
            <a:r>
              <a:rPr lang="en-AU" sz="2800" b="1" i="1" dirty="0">
                <a:solidFill>
                  <a:prstClr val="black"/>
                </a:solidFill>
                <a:latin typeface="Calibri" panose="020F0502020204030204"/>
              </a:rPr>
              <a:t>doubled </a:t>
            </a:r>
            <a:r>
              <a:rPr lang="en-AU" sz="2800" i="1" dirty="0">
                <a:solidFill>
                  <a:prstClr val="black"/>
                </a:solidFill>
                <a:latin typeface="Calibri" panose="020F0502020204030204"/>
              </a:rPr>
              <a:t>when the three pieces of pizza become six pieces. </a:t>
            </a:r>
          </a:p>
          <a:p>
            <a:pPr defTabSz="914126"/>
            <a:endParaRPr lang="en-AU" sz="2800" i="1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800" i="1" dirty="0">
                <a:solidFill>
                  <a:prstClr val="black"/>
                </a:solidFill>
                <a:latin typeface="Calibri" panose="020F0502020204030204"/>
              </a:rPr>
              <a:t>The size of the pieces is</a:t>
            </a:r>
            <a:r>
              <a:rPr lang="en-AU" sz="2800" b="1" i="1" dirty="0">
                <a:solidFill>
                  <a:prstClr val="black"/>
                </a:solidFill>
                <a:latin typeface="Calibri" panose="020F0502020204030204"/>
              </a:rPr>
              <a:t> halved</a:t>
            </a:r>
            <a:r>
              <a:rPr lang="en-AU" sz="2800" i="1" dirty="0">
                <a:solidFill>
                  <a:prstClr val="black"/>
                </a:solidFill>
                <a:latin typeface="Calibri" panose="020F0502020204030204"/>
              </a:rPr>
              <a:t>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4B14F2B-CB6E-4F60-824A-B96373D1D007}"/>
              </a:ext>
            </a:extLst>
          </p:cNvPr>
          <p:cNvSpPr txBox="1"/>
          <p:nvPr/>
        </p:nvSpPr>
        <p:spPr>
          <a:xfrm>
            <a:off x="0" y="3612388"/>
            <a:ext cx="1845938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can I explain this in words?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EE9D87-5176-45EA-8A1A-EE59CC984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0299" y="1482849"/>
            <a:ext cx="2434858" cy="27286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EB6DCF-3790-4EE1-8E42-19314A90EE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6285" y="1465588"/>
            <a:ext cx="2477937" cy="2776893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0925EB80-E78D-43F1-87BE-7B86B4271A35}"/>
              </a:ext>
            </a:extLst>
          </p:cNvPr>
          <p:cNvSpPr/>
          <p:nvPr/>
        </p:nvSpPr>
        <p:spPr>
          <a:xfrm>
            <a:off x="5859406" y="2532864"/>
            <a:ext cx="1159565" cy="6791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9890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1371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5868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Equivalent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equivalent fractions?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0A2D387-4631-45D4-9D58-4076655F4D9B}"/>
                  </a:ext>
                </a:extLst>
              </p:cNvPr>
              <p:cNvSpPr/>
              <p:nvPr/>
            </p:nvSpPr>
            <p:spPr>
              <a:xfrm>
                <a:off x="5946730" y="2071765"/>
                <a:ext cx="1850186" cy="12929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defTabSz="914126"/>
                <a14:m>
                  <m:oMath xmlns:m="http://schemas.openxmlformats.org/officeDocument/2006/math">
                    <m:f>
                      <m:fPr>
                        <m:ctrlP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n-AU" sz="5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num>
                      <m:den>
                        <m: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den>
                    </m:f>
                  </m:oMath>
                </a14:m>
                <a:r>
                  <a:rPr lang="en-AU" sz="5400" b="1" dirty="0">
                    <a:solidFill>
                      <a:srgbClr val="00B050"/>
                    </a:solidFill>
                  </a:rPr>
                  <a:t> </a:t>
                </a:r>
                <a:endParaRPr lang="en-AU" sz="5400" b="1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0A2D387-4631-45D4-9D58-4076655F4D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6730" y="2071765"/>
                <a:ext cx="1850186" cy="12929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9C2351C3-5D00-4035-A067-E7B0BD98265F}"/>
              </a:ext>
            </a:extLst>
          </p:cNvPr>
          <p:cNvSpPr txBox="1"/>
          <p:nvPr/>
        </p:nvSpPr>
        <p:spPr>
          <a:xfrm>
            <a:off x="0" y="1492040"/>
            <a:ext cx="24516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can I explain this mathematically?</a:t>
            </a:r>
          </a:p>
        </p:txBody>
      </p:sp>
      <p:sp>
        <p:nvSpPr>
          <p:cNvPr id="2" name="Arrow: Curved Down 1">
            <a:extLst>
              <a:ext uri="{FF2B5EF4-FFF2-40B4-BE49-F238E27FC236}">
                <a16:creationId xmlns:a16="http://schemas.microsoft.com/office/drawing/2014/main" id="{508BF233-7440-45CA-9914-AC38C59FE1DA}"/>
              </a:ext>
            </a:extLst>
          </p:cNvPr>
          <p:cNvSpPr/>
          <p:nvPr/>
        </p:nvSpPr>
        <p:spPr>
          <a:xfrm>
            <a:off x="6407544" y="1878388"/>
            <a:ext cx="861391" cy="31347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3BD779-24EE-43B1-8B87-B3FCD061F523}"/>
              </a:ext>
            </a:extLst>
          </p:cNvPr>
          <p:cNvSpPr txBox="1"/>
          <p:nvPr/>
        </p:nvSpPr>
        <p:spPr>
          <a:xfrm>
            <a:off x="6533339" y="1296351"/>
            <a:ext cx="676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dirty="0">
                <a:solidFill>
                  <a:prstClr val="black"/>
                </a:solidFill>
                <a:latin typeface="Calibri" panose="020F0502020204030204"/>
              </a:rPr>
              <a:t>x 2</a:t>
            </a:r>
            <a:endParaRPr lang="en-AU" sz="2800" i="1" dirty="0">
              <a:solidFill>
                <a:prstClr val="black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B4B2ED6-99FE-4831-B3EF-F5908EA96AD6}"/>
                  </a:ext>
                </a:extLst>
              </p:cNvPr>
              <p:cNvSpPr/>
              <p:nvPr/>
            </p:nvSpPr>
            <p:spPr>
              <a:xfrm>
                <a:off x="5946730" y="3997722"/>
                <a:ext cx="1850186" cy="12929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defTabSz="914126"/>
                <a14:m>
                  <m:oMath xmlns:m="http://schemas.openxmlformats.org/officeDocument/2006/math">
                    <m:f>
                      <m:fPr>
                        <m:ctrlPr>
                          <a:rPr lang="en-AU" sz="5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5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AU" sz="5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n-AU" sz="5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5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5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num>
                      <m:den>
                        <m:r>
                          <a:rPr lang="en-AU" sz="5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den>
                    </m:f>
                  </m:oMath>
                </a14:m>
                <a:r>
                  <a:rPr lang="en-AU" sz="5400" b="1" dirty="0">
                    <a:solidFill>
                      <a:srgbClr val="0070C0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B4B2ED6-99FE-4831-B3EF-F5908EA96A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6730" y="3997722"/>
                <a:ext cx="1850186" cy="12929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Arrow: Curved Up 2">
            <a:extLst>
              <a:ext uri="{FF2B5EF4-FFF2-40B4-BE49-F238E27FC236}">
                <a16:creationId xmlns:a16="http://schemas.microsoft.com/office/drawing/2014/main" id="{01D7797F-15B7-41BC-9923-13E77320FFD7}"/>
              </a:ext>
            </a:extLst>
          </p:cNvPr>
          <p:cNvSpPr/>
          <p:nvPr/>
        </p:nvSpPr>
        <p:spPr>
          <a:xfrm>
            <a:off x="6430736" y="5290640"/>
            <a:ext cx="815006" cy="311426"/>
          </a:xfrm>
          <a:prstGeom prst="curved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290700-1EDD-4B76-81DB-D54D398263A7}"/>
              </a:ext>
            </a:extLst>
          </p:cNvPr>
          <p:cNvSpPr txBox="1"/>
          <p:nvPr/>
        </p:nvSpPr>
        <p:spPr>
          <a:xfrm>
            <a:off x="6499755" y="5685662"/>
            <a:ext cx="676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dirty="0">
                <a:solidFill>
                  <a:prstClr val="black"/>
                </a:solidFill>
                <a:latin typeface="Calibri" panose="020F0502020204030204"/>
              </a:rPr>
              <a:t>x 2</a:t>
            </a:r>
            <a:endParaRPr lang="en-AU" sz="2800" i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63A391-153D-4AF6-94BC-362E71C02807}"/>
              </a:ext>
            </a:extLst>
          </p:cNvPr>
          <p:cNvSpPr txBox="1"/>
          <p:nvPr/>
        </p:nvSpPr>
        <p:spPr>
          <a:xfrm>
            <a:off x="8087563" y="1594711"/>
            <a:ext cx="39578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i="1" dirty="0">
                <a:solidFill>
                  <a:prstClr val="black"/>
                </a:solidFill>
                <a:latin typeface="Calibri" panose="020F0502020204030204"/>
              </a:rPr>
              <a:t>The numerator: </a:t>
            </a:r>
            <a:r>
              <a:rPr lang="en-AU" sz="2800" i="1" dirty="0">
                <a:solidFill>
                  <a:prstClr val="black"/>
                </a:solidFill>
                <a:latin typeface="Calibri" panose="020F0502020204030204"/>
              </a:rPr>
              <a:t>amount of pizza pieces double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FD4B94-B02E-460D-A565-1FE4D800879A}"/>
              </a:ext>
            </a:extLst>
          </p:cNvPr>
          <p:cNvSpPr txBox="1"/>
          <p:nvPr/>
        </p:nvSpPr>
        <p:spPr>
          <a:xfrm>
            <a:off x="8023953" y="4813586"/>
            <a:ext cx="39578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i="1" dirty="0">
                <a:solidFill>
                  <a:prstClr val="black"/>
                </a:solidFill>
                <a:latin typeface="Calibri" panose="020F0502020204030204"/>
              </a:rPr>
              <a:t>The denominator: </a:t>
            </a:r>
            <a:r>
              <a:rPr lang="en-AU" sz="2800" i="1" dirty="0">
                <a:solidFill>
                  <a:prstClr val="black"/>
                </a:solidFill>
                <a:latin typeface="Calibri" panose="020F0502020204030204"/>
              </a:rPr>
              <a:t>the size of each pizza halves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1FF548-AC57-41A9-897E-BAC4CA46A3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7788" y="1327666"/>
            <a:ext cx="2190825" cy="24423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BDC18B-EA4C-4669-B4B9-9B558EE0C7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7788" y="4274703"/>
            <a:ext cx="2187071" cy="244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396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" grpId="0" animBg="1"/>
      <p:bldP spid="14" grpId="0"/>
      <p:bldP spid="17" grpId="0"/>
      <p:bldP spid="3" grpId="0" animBg="1"/>
      <p:bldP spid="18" grpId="0"/>
      <p:bldP spid="19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0F2AB1-18D3-4891-9F90-70766E5395EC}"/>
              </a:ext>
            </a:extLst>
          </p:cNvPr>
          <p:cNvSpPr/>
          <p:nvPr/>
        </p:nvSpPr>
        <p:spPr>
          <a:xfrm>
            <a:off x="858078" y="469300"/>
            <a:ext cx="10475843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dirty="0">
                <a:solidFill>
                  <a:srgbClr val="000000"/>
                </a:solidFill>
                <a:latin typeface="Arial" panose="020B0604020202020204" pitchFamily="34" charset="0"/>
              </a:rPr>
              <a:t>If the number of pieces of pizza is two times greater and the size of each piece is two times smaller, the amount of pizza will remain the same. </a:t>
            </a:r>
          </a:p>
          <a:p>
            <a:pPr algn="ctr"/>
            <a:endParaRPr lang="en-GB" sz="32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/>
            <a:r>
              <a:rPr lang="en-GB" sz="3200" i="1" dirty="0">
                <a:solidFill>
                  <a:srgbClr val="000000"/>
                </a:solidFill>
                <a:latin typeface="Arial" panose="020B0604020202020204" pitchFamily="34" charset="0"/>
              </a:rPr>
              <a:t>Therefore they are equivalent fractions</a:t>
            </a:r>
            <a:endParaRPr lang="en-AU" sz="3200" i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324C4A-97D9-45DA-95C3-E4DE41CAE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393" y="3278722"/>
            <a:ext cx="2934696" cy="32557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D1D9B94-AAEC-4D57-983B-52A69F794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0799" y="3306884"/>
            <a:ext cx="2889548" cy="319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086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5868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Equivalent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equivalent fractions?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3464" y="4651397"/>
            <a:ext cx="954492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i="1" dirty="0">
                <a:solidFill>
                  <a:prstClr val="black"/>
                </a:solidFill>
                <a:latin typeface="Calibri" panose="020F0502020204030204"/>
              </a:rPr>
              <a:t>The number of pieces is </a:t>
            </a:r>
            <a:r>
              <a:rPr lang="en-AU" sz="2800" b="1" i="1" dirty="0">
                <a:solidFill>
                  <a:prstClr val="black"/>
                </a:solidFill>
                <a:latin typeface="Calibri" panose="020F0502020204030204"/>
              </a:rPr>
              <a:t>halved </a:t>
            </a:r>
            <a:r>
              <a:rPr lang="en-AU" sz="2800" i="1" dirty="0">
                <a:solidFill>
                  <a:prstClr val="black"/>
                </a:solidFill>
                <a:latin typeface="Calibri" panose="020F0502020204030204"/>
              </a:rPr>
              <a:t>when the six pieces of pizza become three pieces. </a:t>
            </a:r>
          </a:p>
          <a:p>
            <a:pPr defTabSz="914126"/>
            <a:endParaRPr lang="en-AU" sz="2800" i="1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800" i="1" dirty="0">
                <a:solidFill>
                  <a:prstClr val="black"/>
                </a:solidFill>
                <a:latin typeface="Calibri" panose="020F0502020204030204"/>
              </a:rPr>
              <a:t>The size of the pieces is</a:t>
            </a:r>
            <a:r>
              <a:rPr lang="en-AU" sz="2800" b="1" i="1" dirty="0">
                <a:solidFill>
                  <a:prstClr val="black"/>
                </a:solidFill>
                <a:latin typeface="Calibri" panose="020F0502020204030204"/>
              </a:rPr>
              <a:t> doubled.</a:t>
            </a:r>
            <a:endParaRPr lang="en-AU" sz="2800" i="1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2153132-9D2A-48E6-8397-3B75FFB7B6FE}"/>
                  </a:ext>
                </a:extLst>
              </p:cNvPr>
              <p:cNvSpPr/>
              <p:nvPr/>
            </p:nvSpPr>
            <p:spPr>
              <a:xfrm>
                <a:off x="5820834" y="2490993"/>
                <a:ext cx="1850186" cy="12929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defTabSz="914126"/>
                <a14:m>
                  <m:oMath xmlns:m="http://schemas.openxmlformats.org/officeDocument/2006/math">
                    <m:f>
                      <m:fPr>
                        <m:ctrlP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num>
                      <m:den>
                        <m: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den>
                    </m:f>
                    <m:r>
                      <a:rPr lang="en-AU" sz="5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AU" sz="5400" b="1" dirty="0">
                    <a:solidFill>
                      <a:srgbClr val="00B050"/>
                    </a:solidFill>
                  </a:rPr>
                  <a:t> </a:t>
                </a:r>
                <a:endParaRPr lang="en-AU" sz="5400" b="1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2153132-9D2A-48E6-8397-3B75FFB7B6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0834" y="2490993"/>
                <a:ext cx="1850186" cy="12929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B4B14F2B-CB6E-4F60-824A-B96373D1D007}"/>
              </a:ext>
            </a:extLst>
          </p:cNvPr>
          <p:cNvSpPr txBox="1"/>
          <p:nvPr/>
        </p:nvSpPr>
        <p:spPr>
          <a:xfrm>
            <a:off x="0" y="2376213"/>
            <a:ext cx="1845938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can I explain this in words?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FA0F68-8203-47B0-AF9D-DA88FA7FE7D0}"/>
              </a:ext>
            </a:extLst>
          </p:cNvPr>
          <p:cNvSpPr/>
          <p:nvPr/>
        </p:nvSpPr>
        <p:spPr>
          <a:xfrm>
            <a:off x="2037824" y="1466115"/>
            <a:ext cx="981623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000000"/>
                </a:solidFill>
                <a:latin typeface="Arial" panose="020B0604020202020204" pitchFamily="34" charset="0"/>
              </a:rPr>
              <a:t>Can we go the other way?</a:t>
            </a:r>
          </a:p>
        </p:txBody>
      </p:sp>
    </p:spTree>
    <p:extLst>
      <p:ext uri="{BB962C8B-B14F-4D97-AF65-F5344CB8AC3E}">
        <p14:creationId xmlns:p14="http://schemas.microsoft.com/office/powerpoint/2010/main" val="2464894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5868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Equivalent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equivalent fractions?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4B14F2B-CB6E-4F60-824A-B96373D1D007}"/>
              </a:ext>
            </a:extLst>
          </p:cNvPr>
          <p:cNvSpPr txBox="1"/>
          <p:nvPr/>
        </p:nvSpPr>
        <p:spPr>
          <a:xfrm>
            <a:off x="0" y="2879543"/>
            <a:ext cx="1845938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can I explain this in words?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EE9D87-5176-45EA-8A1A-EE59CC984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614" y="1350869"/>
            <a:ext cx="2434858" cy="27286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EB6DCF-3790-4EE1-8E42-19314A90EE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6581" y="1435467"/>
            <a:ext cx="2477937" cy="2776893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0925EB80-E78D-43F1-87BE-7B86B4271A35}"/>
              </a:ext>
            </a:extLst>
          </p:cNvPr>
          <p:cNvSpPr/>
          <p:nvPr/>
        </p:nvSpPr>
        <p:spPr>
          <a:xfrm>
            <a:off x="5859406" y="2532864"/>
            <a:ext cx="1159565" cy="6791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212DE5-0048-4EF8-BE4B-A320433F8D32}"/>
              </a:ext>
            </a:extLst>
          </p:cNvPr>
          <p:cNvSpPr txBox="1"/>
          <p:nvPr/>
        </p:nvSpPr>
        <p:spPr>
          <a:xfrm>
            <a:off x="2039725" y="4599190"/>
            <a:ext cx="954492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i="1" dirty="0">
                <a:solidFill>
                  <a:prstClr val="black"/>
                </a:solidFill>
                <a:latin typeface="Calibri" panose="020F0502020204030204"/>
              </a:rPr>
              <a:t>The number of pieces is </a:t>
            </a:r>
            <a:r>
              <a:rPr lang="en-AU" sz="2800" b="1" i="1" dirty="0">
                <a:solidFill>
                  <a:prstClr val="black"/>
                </a:solidFill>
                <a:latin typeface="Calibri" panose="020F0502020204030204"/>
              </a:rPr>
              <a:t>halved </a:t>
            </a:r>
            <a:r>
              <a:rPr lang="en-AU" sz="2800" i="1" dirty="0">
                <a:solidFill>
                  <a:prstClr val="black"/>
                </a:solidFill>
                <a:latin typeface="Calibri" panose="020F0502020204030204"/>
              </a:rPr>
              <a:t>when the six pieces of pizza become three pieces. </a:t>
            </a:r>
          </a:p>
          <a:p>
            <a:pPr defTabSz="914126"/>
            <a:endParaRPr lang="en-AU" sz="2800" i="1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800" i="1" dirty="0">
                <a:solidFill>
                  <a:prstClr val="black"/>
                </a:solidFill>
                <a:latin typeface="Calibri" panose="020F0502020204030204"/>
              </a:rPr>
              <a:t>The size of the pieces is</a:t>
            </a:r>
            <a:r>
              <a:rPr lang="en-AU" sz="2800" b="1" i="1" dirty="0">
                <a:solidFill>
                  <a:prstClr val="black"/>
                </a:solidFill>
                <a:latin typeface="Calibri" panose="020F0502020204030204"/>
              </a:rPr>
              <a:t> doubled.</a:t>
            </a:r>
            <a:endParaRPr lang="en-AU" sz="2800" i="1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68592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1371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5868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Equivalent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equivalent fractions?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0A2D387-4631-45D4-9D58-4076655F4D9B}"/>
                  </a:ext>
                </a:extLst>
              </p:cNvPr>
              <p:cNvSpPr/>
              <p:nvPr/>
            </p:nvSpPr>
            <p:spPr>
              <a:xfrm>
                <a:off x="5946730" y="2071765"/>
                <a:ext cx="1850186" cy="12929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defTabSz="914126"/>
                <a14:m>
                  <m:oMath xmlns:m="http://schemas.openxmlformats.org/officeDocument/2006/math">
                    <m:f>
                      <m:fPr>
                        <m:ctrlP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num>
                      <m:den>
                        <m: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den>
                    </m:f>
                    <m:r>
                      <a:rPr lang="en-AU" sz="5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AU" sz="5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AU" sz="5400" b="1" dirty="0">
                    <a:solidFill>
                      <a:srgbClr val="00B050"/>
                    </a:solidFill>
                  </a:rPr>
                  <a:t> </a:t>
                </a:r>
                <a:endParaRPr lang="en-AU" sz="5400" b="1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0A2D387-4631-45D4-9D58-4076655F4D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6730" y="2071765"/>
                <a:ext cx="1850186" cy="12929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9C2351C3-5D00-4035-A067-E7B0BD98265F}"/>
              </a:ext>
            </a:extLst>
          </p:cNvPr>
          <p:cNvSpPr txBox="1"/>
          <p:nvPr/>
        </p:nvSpPr>
        <p:spPr>
          <a:xfrm>
            <a:off x="0" y="1492040"/>
            <a:ext cx="24516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can I explain this mathematically?</a:t>
            </a:r>
          </a:p>
        </p:txBody>
      </p:sp>
      <p:sp>
        <p:nvSpPr>
          <p:cNvPr id="2" name="Arrow: Curved Down 1">
            <a:extLst>
              <a:ext uri="{FF2B5EF4-FFF2-40B4-BE49-F238E27FC236}">
                <a16:creationId xmlns:a16="http://schemas.microsoft.com/office/drawing/2014/main" id="{508BF233-7440-45CA-9914-AC38C59FE1DA}"/>
              </a:ext>
            </a:extLst>
          </p:cNvPr>
          <p:cNvSpPr/>
          <p:nvPr/>
        </p:nvSpPr>
        <p:spPr>
          <a:xfrm>
            <a:off x="6407544" y="1878388"/>
            <a:ext cx="861391" cy="31347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83BD779-24EE-43B1-8B87-B3FCD061F523}"/>
                  </a:ext>
                </a:extLst>
              </p:cNvPr>
              <p:cNvSpPr txBox="1"/>
              <p:nvPr/>
            </p:nvSpPr>
            <p:spPr>
              <a:xfrm>
                <a:off x="6325120" y="1292792"/>
                <a:ext cx="102623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 xmlns:m="http://schemas.openxmlformats.org/officeDocument/2006/math">
                    <m:r>
                      <a:rPr lang="en-AU" sz="28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sz="2800" dirty="0">
                    <a:solidFill>
                      <a:prstClr val="black"/>
                    </a:solidFill>
                    <a:latin typeface="Calibri" panose="020F0502020204030204"/>
                  </a:rPr>
                  <a:t> 2</a:t>
                </a:r>
                <a:endParaRPr lang="en-AU" sz="2800" i="1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83BD779-24EE-43B1-8B87-B3FCD061F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5120" y="1292792"/>
                <a:ext cx="1026237" cy="523220"/>
              </a:xfrm>
              <a:prstGeom prst="rect">
                <a:avLst/>
              </a:prstGeom>
              <a:blipFill>
                <a:blip r:embed="rId4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B4B2ED6-99FE-4831-B3EF-F5908EA96AD6}"/>
                  </a:ext>
                </a:extLst>
              </p:cNvPr>
              <p:cNvSpPr/>
              <p:nvPr/>
            </p:nvSpPr>
            <p:spPr>
              <a:xfrm>
                <a:off x="5946730" y="3997722"/>
                <a:ext cx="1850186" cy="12929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defTabSz="914126"/>
                <a14:m>
                  <m:oMath xmlns:m="http://schemas.openxmlformats.org/officeDocument/2006/math">
                    <m:f>
                      <m:fPr>
                        <m:ctrlPr>
                          <a:rPr lang="en-AU" sz="5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5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num>
                      <m:den>
                        <m:r>
                          <a:rPr lang="en-AU" sz="5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den>
                    </m:f>
                    <m:r>
                      <a:rPr lang="en-AU" sz="5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5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5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AU" sz="5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AU" sz="5400" b="1" dirty="0">
                    <a:solidFill>
                      <a:srgbClr val="0070C0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B4B2ED6-99FE-4831-B3EF-F5908EA96A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6730" y="3997722"/>
                <a:ext cx="1850186" cy="12929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Arrow: Curved Up 2">
            <a:extLst>
              <a:ext uri="{FF2B5EF4-FFF2-40B4-BE49-F238E27FC236}">
                <a16:creationId xmlns:a16="http://schemas.microsoft.com/office/drawing/2014/main" id="{01D7797F-15B7-41BC-9923-13E77320FFD7}"/>
              </a:ext>
            </a:extLst>
          </p:cNvPr>
          <p:cNvSpPr/>
          <p:nvPr/>
        </p:nvSpPr>
        <p:spPr>
          <a:xfrm>
            <a:off x="6430736" y="5290640"/>
            <a:ext cx="815006" cy="311426"/>
          </a:xfrm>
          <a:prstGeom prst="curved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63A391-153D-4AF6-94BC-362E71C02807}"/>
              </a:ext>
            </a:extLst>
          </p:cNvPr>
          <p:cNvSpPr txBox="1"/>
          <p:nvPr/>
        </p:nvSpPr>
        <p:spPr>
          <a:xfrm>
            <a:off x="8087563" y="1594711"/>
            <a:ext cx="39578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i="1" dirty="0">
                <a:solidFill>
                  <a:prstClr val="black"/>
                </a:solidFill>
                <a:latin typeface="Calibri" panose="020F0502020204030204"/>
              </a:rPr>
              <a:t>The numerator: </a:t>
            </a:r>
            <a:r>
              <a:rPr lang="en-AU" sz="2800" i="1" dirty="0">
                <a:solidFill>
                  <a:prstClr val="black"/>
                </a:solidFill>
                <a:latin typeface="Calibri" panose="020F0502020204030204"/>
              </a:rPr>
              <a:t>amount of pizza pieces is halved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FD4B94-B02E-460D-A565-1FE4D800879A}"/>
              </a:ext>
            </a:extLst>
          </p:cNvPr>
          <p:cNvSpPr txBox="1"/>
          <p:nvPr/>
        </p:nvSpPr>
        <p:spPr>
          <a:xfrm>
            <a:off x="8023953" y="4969299"/>
            <a:ext cx="39578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i="1" dirty="0">
                <a:solidFill>
                  <a:prstClr val="black"/>
                </a:solidFill>
                <a:latin typeface="Calibri" panose="020F0502020204030204"/>
              </a:rPr>
              <a:t>The denominator: </a:t>
            </a:r>
            <a:r>
              <a:rPr lang="en-AU" sz="2800" i="1" dirty="0">
                <a:solidFill>
                  <a:prstClr val="black"/>
                </a:solidFill>
                <a:latin typeface="Calibri" panose="020F0502020204030204"/>
              </a:rPr>
              <a:t>the size of each pizza doubles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1FF548-AC57-41A9-897E-BAC4CA46A3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4412" y="4078331"/>
            <a:ext cx="2190825" cy="24423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BDC18B-EA4C-4669-B4B9-9B558EE0C7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16836" y="1428196"/>
            <a:ext cx="2187071" cy="244230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CFDDA73-F1C1-460F-9D25-B30569AD86C9}"/>
                  </a:ext>
                </a:extLst>
              </p:cNvPr>
              <p:cNvSpPr txBox="1"/>
              <p:nvPr/>
            </p:nvSpPr>
            <p:spPr>
              <a:xfrm>
                <a:off x="6443701" y="5662069"/>
                <a:ext cx="102623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 xmlns:m="http://schemas.openxmlformats.org/officeDocument/2006/math">
                    <m:r>
                      <a:rPr lang="en-AU" sz="28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sz="2800" dirty="0">
                    <a:solidFill>
                      <a:prstClr val="black"/>
                    </a:solidFill>
                    <a:latin typeface="Calibri" panose="020F0502020204030204"/>
                  </a:rPr>
                  <a:t> 2</a:t>
                </a:r>
                <a:endParaRPr lang="en-AU" sz="2800" i="1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CFDDA73-F1C1-460F-9D25-B30569AD86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3701" y="5662069"/>
                <a:ext cx="1026237" cy="523220"/>
              </a:xfrm>
              <a:prstGeom prst="rect">
                <a:avLst/>
              </a:prstGeom>
              <a:blipFill>
                <a:blip r:embed="rId8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6742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" grpId="0" animBg="1"/>
      <p:bldP spid="14" grpId="0"/>
      <p:bldP spid="17" grpId="0"/>
      <p:bldP spid="3" grpId="0" animBg="1"/>
      <p:bldP spid="19" grpId="0"/>
      <p:bldP spid="21" grpId="0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6DE5B57-BC8D-4ED9-B843-C31107973DBD}"/>
                  </a:ext>
                </a:extLst>
              </p:cNvPr>
              <p:cNvSpPr/>
              <p:nvPr/>
            </p:nvSpPr>
            <p:spPr>
              <a:xfrm>
                <a:off x="747713" y="574426"/>
                <a:ext cx="10553700" cy="12962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3200" dirty="0"/>
                  <a:t>Which of the equivalent fractions</a:t>
                </a:r>
                <a:r>
                  <a:rPr lang="en-GB" sz="32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AU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GB" sz="3200" dirty="0">
                    <a:solidFill>
                      <a:schemeClr val="tx1"/>
                    </a:solidFill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num>
                      <m:den>
                        <m:r>
                          <a:rPr lang="en-AU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den>
                    </m:f>
                  </m:oMath>
                </a14:m>
                <a:r>
                  <a:rPr lang="en-GB" sz="3200" dirty="0">
                    <a:solidFill>
                      <a:schemeClr val="tx1"/>
                    </a:solidFill>
                  </a:rPr>
                  <a:t> </a:t>
                </a:r>
                <a:r>
                  <a:rPr lang="en-GB" sz="3200" dirty="0"/>
                  <a:t>is easier to visualise or imagine? Why?</a:t>
                </a:r>
                <a:endParaRPr lang="en-AU" sz="3200" dirty="0"/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6DE5B57-BC8D-4ED9-B843-C31107973D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713" y="574426"/>
                <a:ext cx="10553700" cy="1296252"/>
              </a:xfrm>
              <a:prstGeom prst="rect">
                <a:avLst/>
              </a:prstGeom>
              <a:blipFill>
                <a:blip r:embed="rId3"/>
                <a:stretch>
                  <a:fillRect l="-1502" b="-1455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5235AD8-ABEF-41F0-B846-449015A8D0D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2854"/>
          <a:stretch/>
        </p:blipFill>
        <p:spPr>
          <a:xfrm>
            <a:off x="8903493" y="3271837"/>
            <a:ext cx="2834283" cy="329326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031273F-102B-48AA-A6F7-54E1B08F209F}"/>
                  </a:ext>
                </a:extLst>
              </p:cNvPr>
              <p:cNvSpPr/>
              <p:nvPr/>
            </p:nvSpPr>
            <p:spPr>
              <a:xfrm>
                <a:off x="690562" y="2403455"/>
                <a:ext cx="8396287" cy="27394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800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It is easier to visualise three quarters as the digits are smaller.</a:t>
                </a:r>
              </a:p>
              <a:p>
                <a:endParaRPr lang="en-GB" sz="2800" dirty="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  <a:p>
                <a:endParaRPr lang="en-GB" sz="3600" dirty="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36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AU" sz="3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GB" sz="3600" dirty="0">
                    <a:solidFill>
                      <a:srgbClr val="0070C0"/>
                    </a:solidFill>
                  </a:rPr>
                  <a:t>  is the simpler or simplified form of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6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num>
                      <m:den>
                        <m:r>
                          <a:rPr lang="en-AU" sz="3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den>
                    </m:f>
                  </m:oMath>
                </a14:m>
                <a:endParaRPr lang="en-AU" sz="36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031273F-102B-48AA-A6F7-54E1B08F20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562" y="2403455"/>
                <a:ext cx="8396287" cy="2739404"/>
              </a:xfrm>
              <a:prstGeom prst="rect">
                <a:avLst/>
              </a:prstGeom>
              <a:blipFill>
                <a:blip r:embed="rId5"/>
                <a:stretch>
                  <a:fillRect l="-1451" t="-2222" b="-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41957DF-A478-4539-8320-7E26BC48C1EF}"/>
                  </a:ext>
                </a:extLst>
              </p:cNvPr>
              <p:cNvSpPr/>
              <p:nvPr/>
            </p:nvSpPr>
            <p:spPr>
              <a:xfrm>
                <a:off x="476251" y="429877"/>
                <a:ext cx="10553700" cy="59982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3200" dirty="0"/>
                  <a:t>Using your two circles answer the following questions.</a:t>
                </a:r>
                <a:endParaRPr lang="en-GB" sz="3200" b="1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AU" sz="4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AU" sz="4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GB" sz="4000" dirty="0">
                    <a:solidFill>
                      <a:srgbClr val="7030A0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40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num>
                      <m:den>
                        <m:r>
                          <a:rPr lang="en-AU" sz="4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den>
                    </m:f>
                    <m:r>
                      <a:rPr lang="en-AU" sz="40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sz="4000" b="1" dirty="0">
                  <a:solidFill>
                    <a:srgbClr val="7030A0"/>
                  </a:solidFill>
                </a:endParaRPr>
              </a:p>
              <a:p>
                <a:endParaRPr lang="en-AU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800" i="1" dirty="0"/>
                  <a:t>Is the statement above true? Justify by folding, cutting or drawing on the circle to support and demonstrate your explanations. 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GB" sz="2400" i="1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800" i="1" dirty="0"/>
                  <a:t>Explain why these two fractions are called equivalent fractions.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GB" sz="2800" i="1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800" i="1" dirty="0"/>
                  <a:t>What happens to the size of the pieces and the number of pieces when the thirds are partitioned into ninths? 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GB" sz="2800" i="1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800" i="1" dirty="0"/>
                  <a:t>Explain how this is represented with numbers by multiplying and dividing. </a:t>
                </a:r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41957DF-A478-4539-8320-7E26BC48C1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1" y="429877"/>
                <a:ext cx="10553700" cy="5998245"/>
              </a:xfrm>
              <a:prstGeom prst="rect">
                <a:avLst/>
              </a:prstGeom>
              <a:blipFill>
                <a:blip r:embed="rId3"/>
                <a:stretch>
                  <a:fillRect l="-1444" t="-1221" r="-578" b="-203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1185</Words>
  <Application>Microsoft Office PowerPoint</Application>
  <PresentationFormat>Widescreen</PresentationFormat>
  <Paragraphs>152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Fragment Core</vt:lpstr>
      <vt:lpstr>Kiwi School Handwriting</vt:lpstr>
      <vt:lpstr>Office Theme</vt:lpstr>
      <vt:lpstr>Exploring Equivalent Fractions</vt:lpstr>
      <vt:lpstr>Starter Activity</vt:lpstr>
      <vt:lpstr>Task Side: Activity One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Exploring Equivalent Fractions</dc:title>
  <dc:creator>LABUSCHAGNE Nine [Baldivis Secondary College]</dc:creator>
  <cp:lastModifiedBy>Nine LABUSCHAGNE</cp:lastModifiedBy>
  <cp:revision>23</cp:revision>
  <dcterms:created xsi:type="dcterms:W3CDTF">2018-08-16T07:33:15Z</dcterms:created>
  <dcterms:modified xsi:type="dcterms:W3CDTF">2018-08-17T05:56:33Z</dcterms:modified>
</cp:coreProperties>
</file>
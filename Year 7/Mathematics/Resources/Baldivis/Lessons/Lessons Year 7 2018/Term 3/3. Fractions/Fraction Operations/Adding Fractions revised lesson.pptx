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1" r:id="rId3"/>
    <p:sldId id="281" r:id="rId4"/>
    <p:sldId id="268" r:id="rId5"/>
    <p:sldId id="269" r:id="rId6"/>
    <p:sldId id="270" r:id="rId7"/>
    <p:sldId id="263" r:id="rId8"/>
    <p:sldId id="265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62" autoAdjust="0"/>
    <p:restoredTop sz="94660"/>
  </p:normalViewPr>
  <p:slideViewPr>
    <p:cSldViewPr snapToGrid="0">
      <p:cViewPr varScale="1">
        <p:scale>
          <a:sx n="40" d="100"/>
          <a:sy n="40" d="100"/>
        </p:scale>
        <p:origin x="53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7D7BE-F082-43B4-BA8A-D3A3FCBD3717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20A1B-80AA-4B49-AEC6-98919A160C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947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249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5260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32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24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67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055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826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47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9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67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58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650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17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593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6826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03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3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1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9A9E1-BD2E-436C-AD80-72F4A363A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ECEAD-C444-44B4-A192-4211A24A0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D542E-CE64-45AE-B7E1-125B2A782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9298C-F2C2-44B8-9190-B5677FA4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9FB20-C8D2-4C58-B54C-0EC648D52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0000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04B82-2805-4B7E-8EFD-31690844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958C-4FBF-4D0A-B96B-6325B40FB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1BCC7-8A62-402A-8A18-D62901CC4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DA4E6-34E0-44FF-A3BE-9A8E30661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C90ED-6C13-491C-896B-F2EE1AAE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335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FF14-7ADA-4DBA-9A77-4DB6E93C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0AED9-CE0C-49BF-B641-D44751D0D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1970E-EB2A-490E-ACD3-61D1D4323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06488-0A77-4536-81AF-EC203ECF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80289-9869-4DF8-9A95-9256E160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826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69FAE-85D1-40F0-952B-C75DE81D6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6A08-BECF-43A3-971D-A670577F8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D1618-41ED-4447-99ED-6A6CE14EE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5C367-5BC3-40D6-9D22-18988200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3CAA0-3215-4F8D-92FE-73F6C96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C394F-173C-496C-ADAF-294033F5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337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E0DC-90C0-4E73-A928-258239EAA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4FF47-D8B6-4A03-AC0B-B1CC7C976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22734-BD93-4A9D-B84D-B1B563DC8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88CAD8-F2DC-4D6E-A312-D4DF19E58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295DD-AEC5-48D8-A2D7-393817305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96B77A-3A97-4D51-9DFA-F46A4A4B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57B28C-7961-4A29-BDB2-18B064F7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A1186-5ED9-46E4-BE2E-D1838CF4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407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FF41-03DB-4EAA-B2B1-11BB45E3F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F446AC-3B50-454C-B3B8-EBF1E0FF7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DA3C4-145A-4332-BF8D-1A8B970D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2A0C3-8F6F-4394-9478-F920C7C1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7653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8E0252-E6E9-453F-A90F-3C2BD77CC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F480F1-5868-4276-8938-9B70EB4E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491DC-DDBA-41B7-93E2-DD9CB4FA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963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079B-3411-4728-876A-D305CEA74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6CAD3-AC30-47B7-AC4E-CC75DA92E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6FE84-AEAE-4A6E-9C3B-576354B4A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1EFE8-3F58-40BF-BC79-C6842ED24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B92DA-C30C-4B12-9DA8-64BAE0A65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97951-EAAF-42C2-BAFC-298BC329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815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E347-6E01-4182-A50B-0FF4D046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2F4C85-32DE-46AD-B806-247FC2075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DCFFC-B040-41AC-9DD6-5CD034A74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DB051-63A0-458B-864B-E586518C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31D08-5937-4737-9704-F51515E6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2B75F-15C8-4333-A4E2-F0F4B79A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669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CEBE-A686-4A0A-9ADA-707FDF99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DBC7D-CCD7-4CC5-A564-71D806BB3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59952-4435-45EC-BBBE-5F81EC55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67DAE-7BAB-401A-A8F8-E8DE8276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C0B77-B6A0-4FDA-8422-60A1D96D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984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5987C6-F42B-4E3D-AF4F-0D9E68DC8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D4BFF-A3E5-4229-87F5-2F39564F9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97289-2A1C-4518-AAB0-7C79A9E0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1553A-B320-4632-9D1B-6BC3C587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120BA-9333-4817-9A35-C913A169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3134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28660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10173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80308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02696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0231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871E1F-5F0A-4FE6-9BE9-B826CF76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4B926-7D37-46BC-8294-327052EC6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65EF4-9530-4E6B-B821-E3B96BDF41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334F4-B247-4EF6-AE56-7D6857277023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2CBAA-F387-4078-9878-47CCBF1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56B7-9922-4628-80D0-DFF19FA64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5C4D8-F198-49CD-980C-A2D176E084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347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Adding Fractions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822367-DE48-45F5-835C-4EA35CB68A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99" t="33196" r="40548" b="24794"/>
          <a:stretch/>
        </p:blipFill>
        <p:spPr>
          <a:xfrm>
            <a:off x="780304" y="391459"/>
            <a:ext cx="10631391" cy="60750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AAAB7AE-4C67-469C-AF6A-D465D9E7B7D5}"/>
              </a:ext>
            </a:extLst>
          </p:cNvPr>
          <p:cNvSpPr/>
          <p:nvPr/>
        </p:nvSpPr>
        <p:spPr>
          <a:xfrm>
            <a:off x="780304" y="4825218"/>
            <a:ext cx="10839610" cy="15544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1D3E4-474E-462E-8368-D4B62910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16" y="151803"/>
            <a:ext cx="9818000" cy="1143200"/>
          </a:xfrm>
        </p:spPr>
        <p:txBody>
          <a:bodyPr/>
          <a:lstStyle/>
          <a:p>
            <a:r>
              <a:rPr lang="en-AU" dirty="0"/>
              <a:t>Mixed Fractions</a:t>
            </a:r>
          </a:p>
        </p:txBody>
      </p:sp>
    </p:spTree>
    <p:extLst>
      <p:ext uri="{BB962C8B-B14F-4D97-AF65-F5344CB8AC3E}">
        <p14:creationId xmlns:p14="http://schemas.microsoft.com/office/powerpoint/2010/main" val="1640363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75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Grids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73464" y="1458973"/>
                <a:ext cx="6593760" cy="3377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AU" sz="3200" dirty="0">
                    <a:solidFill>
                      <a:prstClr val="black"/>
                    </a:solidFill>
                    <a:latin typeface="Calibri" panose="020F0502020204030204"/>
                  </a:rPr>
                  <a:t>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Calibri" panose="020F0502020204030204"/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  <a:latin typeface="Calibri" panose="020F0502020204030204"/>
                  </a:rPr>
                  <a:t>and </a:t>
                </a:r>
                <a:r>
                  <a:rPr lang="en-AU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</a:endParaRPr>
              </a:p>
              <a:p>
                <a:pPr defTabSz="914126"/>
                <a:r>
                  <a:rPr lang="en-US" sz="3200" b="1" dirty="0">
                    <a:solidFill>
                      <a:prstClr val="black"/>
                    </a:solidFill>
                  </a:rPr>
                  <a:t>Step 1: </a:t>
                </a:r>
                <a:r>
                  <a:rPr lang="en-US" sz="3200" dirty="0">
                    <a:solidFill>
                      <a:prstClr val="black"/>
                    </a:solidFill>
                  </a:rPr>
                  <a:t>Draw two identical rectangles. Divide them up and shade in each fraction</a:t>
                </a:r>
                <a:r>
                  <a:rPr lang="en-US" sz="4000" dirty="0">
                    <a:solidFill>
                      <a:prstClr val="black"/>
                    </a:solidFill>
                  </a:rPr>
                  <a:t>.</a:t>
                </a:r>
                <a:r>
                  <a:rPr lang="en-US" sz="400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464" y="1458973"/>
                <a:ext cx="6593760" cy="3377143"/>
              </a:xfrm>
              <a:prstGeom prst="rect">
                <a:avLst/>
              </a:prstGeom>
              <a:blipFill>
                <a:blip r:embed="rId3"/>
                <a:stretch>
                  <a:fillRect l="-2405" r="-12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138926"/>
              </p:ext>
            </p:extLst>
          </p:nvPr>
        </p:nvGraphicFramePr>
        <p:xfrm>
          <a:off x="9000257" y="3910415"/>
          <a:ext cx="2886939" cy="210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313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2103523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178164"/>
              </p:ext>
            </p:extLst>
          </p:nvPr>
        </p:nvGraphicFramePr>
        <p:xfrm>
          <a:off x="9004535" y="1493244"/>
          <a:ext cx="2882661" cy="2103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661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75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Grids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73464" y="1458973"/>
                <a:ext cx="6593760" cy="2761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AU" sz="3200" dirty="0">
                    <a:solidFill>
                      <a:prstClr val="black"/>
                    </a:solidFill>
                    <a:latin typeface="Calibri" panose="020F0502020204030204"/>
                  </a:rPr>
                  <a:t>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Calibri" panose="020F0502020204030204"/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  <a:latin typeface="Calibri" panose="020F0502020204030204"/>
                  </a:rPr>
                  <a:t>and </a:t>
                </a:r>
                <a:r>
                  <a:rPr lang="en-AU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</a:endParaRPr>
              </a:p>
              <a:p>
                <a:pPr defTabSz="914126"/>
                <a:r>
                  <a:rPr lang="en-US" sz="3200" b="1" dirty="0">
                    <a:solidFill>
                      <a:prstClr val="black"/>
                    </a:solidFill>
                  </a:rPr>
                  <a:t>Step 2: </a:t>
                </a:r>
                <a:r>
                  <a:rPr lang="en-US" sz="3200" dirty="0">
                    <a:solidFill>
                      <a:prstClr val="black"/>
                    </a:solidFill>
                  </a:rPr>
                  <a:t>Lay the two rectangles on top of each other</a:t>
                </a:r>
                <a:endParaRPr lang="en-US" sz="40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464" y="1458973"/>
                <a:ext cx="6593760" cy="2761590"/>
              </a:xfrm>
              <a:prstGeom prst="rect">
                <a:avLst/>
              </a:prstGeom>
              <a:blipFill>
                <a:blip r:embed="rId3"/>
                <a:stretch>
                  <a:fillRect l="-24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314499"/>
              </p:ext>
            </p:extLst>
          </p:nvPr>
        </p:nvGraphicFramePr>
        <p:xfrm>
          <a:off x="8903141" y="3666828"/>
          <a:ext cx="2886939" cy="210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313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2103523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85030"/>
              </p:ext>
            </p:extLst>
          </p:nvPr>
        </p:nvGraphicFramePr>
        <p:xfrm>
          <a:off x="8907419" y="3666826"/>
          <a:ext cx="2882661" cy="2103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323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  <a:gridCol w="970669">
                  <a:extLst>
                    <a:ext uri="{9D8B030D-6E8A-4147-A177-3AD203B41FA5}">
                      <a16:colId xmlns:a16="http://schemas.microsoft.com/office/drawing/2014/main" val="1604844587"/>
                    </a:ext>
                  </a:extLst>
                </a:gridCol>
                <a:gridCol w="970669">
                  <a:extLst>
                    <a:ext uri="{9D8B030D-6E8A-4147-A177-3AD203B41FA5}">
                      <a16:colId xmlns:a16="http://schemas.microsoft.com/office/drawing/2014/main" val="3247007399"/>
                    </a:ext>
                  </a:extLst>
                </a:gridCol>
              </a:tblGrid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420705">
                <a:tc gridSpan="3"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420705">
                <a:tc gridSpan="3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38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75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Grids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66430" y="1365033"/>
                <a:ext cx="6593760" cy="4902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AU" sz="3200" dirty="0">
                    <a:solidFill>
                      <a:prstClr val="black"/>
                    </a:solidFill>
                    <a:latin typeface="Calibri" panose="020F0502020204030204"/>
                  </a:rPr>
                  <a:t>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Calibri" panose="020F0502020204030204"/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  <a:latin typeface="Calibri" panose="020F0502020204030204"/>
                  </a:rPr>
                  <a:t>and </a:t>
                </a:r>
                <a:r>
                  <a:rPr lang="en-AU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</a:endParaRPr>
              </a:p>
              <a:p>
                <a:pPr defTabSz="914126"/>
                <a:r>
                  <a:rPr lang="en-US" sz="3200" b="1" dirty="0">
                    <a:solidFill>
                      <a:prstClr val="black"/>
                    </a:solidFill>
                  </a:rPr>
                  <a:t>Step 3: </a:t>
                </a:r>
                <a:r>
                  <a:rPr lang="en-US" sz="3200" dirty="0">
                    <a:solidFill>
                      <a:prstClr val="black"/>
                    </a:solidFill>
                  </a:rPr>
                  <a:t>Remove the overlay 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3200" dirty="0">
                    <a:solidFill>
                      <a:prstClr val="black"/>
                    </a:solidFill>
                    <a:latin typeface="Calibri" panose="020F0502020204030204"/>
                  </a:rPr>
                  <a:t>The shaded grid gives you the result to the answer.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US" sz="4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430" y="1365033"/>
                <a:ext cx="6593760" cy="4902945"/>
              </a:xfrm>
              <a:prstGeom prst="rect">
                <a:avLst/>
              </a:prstGeom>
              <a:blipFill>
                <a:blip r:embed="rId3"/>
                <a:stretch>
                  <a:fillRect l="-2405" r="-32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/>
        </p:nvGraphicFramePr>
        <p:xfrm>
          <a:off x="8903141" y="3666828"/>
          <a:ext cx="2886939" cy="210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313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2103523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149786"/>
              </p:ext>
            </p:extLst>
          </p:nvPr>
        </p:nvGraphicFramePr>
        <p:xfrm>
          <a:off x="8907419" y="3666826"/>
          <a:ext cx="2882661" cy="2103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323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  <a:gridCol w="970669">
                  <a:extLst>
                    <a:ext uri="{9D8B030D-6E8A-4147-A177-3AD203B41FA5}">
                      <a16:colId xmlns:a16="http://schemas.microsoft.com/office/drawing/2014/main" val="1604844587"/>
                    </a:ext>
                  </a:extLst>
                </a:gridCol>
                <a:gridCol w="970669">
                  <a:extLst>
                    <a:ext uri="{9D8B030D-6E8A-4147-A177-3AD203B41FA5}">
                      <a16:colId xmlns:a16="http://schemas.microsoft.com/office/drawing/2014/main" val="3247007399"/>
                    </a:ext>
                  </a:extLst>
                </a:gridCol>
              </a:tblGrid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420705">
                <a:tc gridSpan="3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420705">
                <a:tc gridSpan="3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16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077395-86C7-4E3B-B3B2-7E3DC7F87C33}"/>
                  </a:ext>
                </a:extLst>
              </p:cNvPr>
              <p:cNvSpPr txBox="1"/>
              <p:nvPr/>
            </p:nvSpPr>
            <p:spPr>
              <a:xfrm>
                <a:off x="654153" y="587544"/>
                <a:ext cx="8757132" cy="2233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3200" dirty="0">
                    <a:solidFill>
                      <a:prstClr val="black"/>
                    </a:solidFill>
                    <a:latin typeface="Calibri" panose="020F0502020204030204"/>
                  </a:rPr>
                  <a:t>Use the grid method to work this out…..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077395-86C7-4E3B-B3B2-7E3DC7F87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53" y="587544"/>
                <a:ext cx="8757132" cy="2233688"/>
              </a:xfrm>
              <a:prstGeom prst="rect">
                <a:avLst/>
              </a:prstGeom>
              <a:blipFill>
                <a:blip r:embed="rId3"/>
                <a:stretch>
                  <a:fillRect l="-1740" b="-79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75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2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303259"/>
              </p:ext>
            </p:extLst>
          </p:nvPr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097555"/>
              </p:ext>
            </p:extLst>
          </p:nvPr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602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75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2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418123"/>
              </p:ext>
            </p:extLst>
          </p:nvPr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224462"/>
              </p:ext>
            </p:extLst>
          </p:nvPr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417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75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2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886765"/>
              </p:ext>
            </p:extLst>
          </p:nvPr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434425"/>
              </p:ext>
            </p:extLst>
          </p:nvPr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157670"/>
              </p:ext>
            </p:extLst>
          </p:nvPr>
        </p:nvGraphicFramePr>
        <p:xfrm>
          <a:off x="8937679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7610811" y="4303067"/>
            <a:ext cx="1242651" cy="78779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26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75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2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1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11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/>
        </p:nvGraphicFramePr>
        <p:xfrm>
          <a:off x="8937679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7610811" y="4303067"/>
            <a:ext cx="1242651" cy="78779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41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D5710-6F1E-45A6-9C65-194D0BCF3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28" y="553315"/>
            <a:ext cx="7958571" cy="557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24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75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3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Finding the Lowest Common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4018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1: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Find the Lowest Common Denominator (LCD)</a:t>
                </a:r>
              </a:p>
              <a:p>
                <a:pPr algn="ctr" defTabSz="914126"/>
                <a:r>
                  <a:rPr lang="en-US" sz="3600" b="1" dirty="0">
                    <a:solidFill>
                      <a:srgbClr val="0070C0"/>
                    </a:solidFill>
                    <a:latin typeface="Calibri" panose="020F0502020204030204"/>
                  </a:rPr>
                  <a:t>12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Multiply the denominators and numerators so the fractions reflect the LCD  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4018792"/>
              </a:xfrm>
              <a:prstGeom prst="rect">
                <a:avLst/>
              </a:prstGeom>
              <a:blipFill>
                <a:blip r:embed="rId3"/>
                <a:stretch>
                  <a:fillRect l="-1392" b="-33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60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75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3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Finding the Lowest Common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5084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Multiply the denominators and numerators so the fractions reflect the LCD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7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AU" sz="7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    </m:t>
                    </m:r>
                    <m:f>
                      <m:fPr>
                        <m:ctrlP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7200" dirty="0">
                    <a:solidFill>
                      <a:prstClr val="black"/>
                    </a:solidFill>
                    <a:latin typeface="Calibri" panose="020F0502020204030204"/>
                  </a:rPr>
                  <a:t>  </a:t>
                </a:r>
              </a:p>
              <a:p>
                <a:pPr algn="ctr" defTabSz="914126"/>
                <a:endParaRPr lang="en-US" sz="5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AU" sz="4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44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  </m:t>
                      </m:r>
                      <m:f>
                        <m:fPr>
                          <m:ctrlP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AU" sz="4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US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5084084"/>
              </a:xfrm>
              <a:prstGeom prst="rect">
                <a:avLst/>
              </a:prstGeom>
              <a:blipFill>
                <a:blip r:embed="rId3"/>
                <a:stretch>
                  <a:fillRect l="-1392" t="-11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6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9A24D-2D99-4E0E-ABB5-C47BAF625F74}"/>
              </a:ext>
            </a:extLst>
          </p:cNvPr>
          <p:cNvSpPr/>
          <p:nvPr/>
        </p:nvSpPr>
        <p:spPr>
          <a:xfrm>
            <a:off x="9036628" y="4225636"/>
            <a:ext cx="2708563" cy="1149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8C4479-B025-4EB2-9CA9-D8D9CB43C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6" y="489238"/>
            <a:ext cx="7811366" cy="545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52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75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4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Mixed Numbers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3812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1: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Add the whole numbers together then the fractions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3812582"/>
              </a:xfrm>
              <a:prstGeom prst="rect">
                <a:avLst/>
              </a:prstGeom>
              <a:blipFill>
                <a:blip r:embed="rId3"/>
                <a:stretch>
                  <a:fillRect l="-1392" r="-11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54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75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4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Mixed Numbers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937012" y="1315025"/>
                <a:ext cx="8757132" cy="5172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Simplify the answer.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3200" b="1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srgbClr val="FFC000"/>
                  </a:solidFill>
                </a:endParaRPr>
              </a:p>
              <a:p>
                <a:pPr defTabSz="914126"/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012" y="1315025"/>
                <a:ext cx="8757132" cy="5172506"/>
              </a:xfrm>
              <a:prstGeom prst="rect">
                <a:avLst/>
              </a:prstGeom>
              <a:blipFill>
                <a:blip r:embed="rId3"/>
                <a:stretch>
                  <a:fillRect l="-1462" t="-11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95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033625-9389-421F-A6FB-2987B2BF63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898"/>
          <a:stretch/>
        </p:blipFill>
        <p:spPr>
          <a:xfrm>
            <a:off x="583985" y="524616"/>
            <a:ext cx="3274505" cy="36852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0EE770-1C0A-4922-94DD-9A07943219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050"/>
          <a:stretch/>
        </p:blipFill>
        <p:spPr>
          <a:xfrm>
            <a:off x="4910574" y="524616"/>
            <a:ext cx="3217788" cy="368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459</Words>
  <Application>Microsoft Office PowerPoint</Application>
  <PresentationFormat>Widescreen</PresentationFormat>
  <Paragraphs>161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Fragment Core</vt:lpstr>
      <vt:lpstr>Office Theme</vt:lpstr>
      <vt:lpstr>Adding Fractions</vt:lpstr>
      <vt:lpstr>PowerPoint Presentation</vt:lpstr>
      <vt:lpstr>Mixed Fractions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Practice</vt:lpstr>
      <vt:lpstr>PowerPoint Presentation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Fractions</dc:title>
  <dc:creator>Nine Labuschagne</dc:creator>
  <cp:lastModifiedBy>LATHAM Alexandria [Baldivis Secondary College]</cp:lastModifiedBy>
  <cp:revision>19</cp:revision>
  <dcterms:created xsi:type="dcterms:W3CDTF">2018-08-28T06:21:27Z</dcterms:created>
  <dcterms:modified xsi:type="dcterms:W3CDTF">2018-09-02T11:40:20Z</dcterms:modified>
</cp:coreProperties>
</file>
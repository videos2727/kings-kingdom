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65" r:id="rId2"/>
    <p:sldId id="269" r:id="rId3"/>
    <p:sldId id="256" r:id="rId4"/>
    <p:sldId id="270" r:id="rId5"/>
    <p:sldId id="273" r:id="rId6"/>
    <p:sldId id="274" r:id="rId7"/>
    <p:sldId id="275" r:id="rId8"/>
    <p:sldId id="272" r:id="rId9"/>
    <p:sldId id="27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9/10/2018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9/10/2018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smtClean="0"/>
              <a:t>To calculate the percentage of a number first I need to </a:t>
            </a:r>
            <a:r>
              <a:rPr lang="en-AU" sz="1200" b="1" dirty="0" smtClean="0"/>
              <a:t>convert</a:t>
            </a:r>
            <a:r>
              <a:rPr lang="en-AU" sz="1200" dirty="0" smtClean="0"/>
              <a:t> the percentage into a </a:t>
            </a:r>
            <a:r>
              <a:rPr lang="en-AU" sz="1200" b="1" dirty="0" smtClean="0"/>
              <a:t>fraction</a:t>
            </a:r>
            <a:r>
              <a:rPr lang="en-AU" sz="1200" dirty="0" smtClean="0"/>
              <a:t>. Then the number </a:t>
            </a:r>
            <a:r>
              <a:rPr lang="en-AU" sz="1200" b="1" dirty="0" smtClean="0"/>
              <a:t>also</a:t>
            </a:r>
            <a:r>
              <a:rPr lang="en-AU" sz="1200" dirty="0" smtClean="0"/>
              <a:t> needs to become a</a:t>
            </a:r>
            <a:r>
              <a:rPr lang="en-AU" sz="1200" baseline="0" dirty="0" smtClean="0"/>
              <a:t> </a:t>
            </a:r>
            <a:r>
              <a:rPr lang="en-AU" sz="1200" b="1" baseline="0" dirty="0" smtClean="0"/>
              <a:t>fraction</a:t>
            </a:r>
            <a:r>
              <a:rPr lang="en-AU" sz="1200" baseline="0" dirty="0" smtClean="0"/>
              <a:t> </a:t>
            </a:r>
            <a:r>
              <a:rPr lang="en-AU" sz="1200" dirty="0" smtClean="0"/>
              <a:t>over one. Then I </a:t>
            </a:r>
            <a:r>
              <a:rPr lang="en-AU" sz="1200" b="1" dirty="0" smtClean="0"/>
              <a:t>multiply</a:t>
            </a:r>
            <a:r>
              <a:rPr lang="en-AU" sz="1200" dirty="0" smtClean="0"/>
              <a:t> the fractions using the rules of </a:t>
            </a:r>
            <a:r>
              <a:rPr lang="en-AU" sz="1200" b="1" dirty="0" smtClean="0"/>
              <a:t>fraction multiplication.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58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9/10/2018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9/10/2018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9/10/2018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9/10/2018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9/10/2018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9/10/2018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9/10/2018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9/10/2018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9/10/2018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9/10/2018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9/10/2018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9/10/2018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Human fractions and percentages!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solidFill>
                  <a:srgbClr val="00B0F0"/>
                </a:solidFill>
              </a:rPr>
              <a:t>You have 10 minutes to find…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What percentage of the class wear glasses?</a:t>
            </a:r>
          </a:p>
          <a:p>
            <a:endParaRPr lang="en-US" sz="2400" b="1" dirty="0"/>
          </a:p>
          <a:p>
            <a:r>
              <a:rPr lang="en-US" sz="2400" b="1" dirty="0" smtClean="0"/>
              <a:t>What fraction of the class have already had their birthday this year?</a:t>
            </a:r>
          </a:p>
          <a:p>
            <a:endParaRPr lang="en-US" sz="2400" b="1" dirty="0"/>
          </a:p>
          <a:p>
            <a:r>
              <a:rPr lang="en-US" sz="2400" b="1" dirty="0" smtClean="0"/>
              <a:t>What percentage of the class have a pet dog?</a:t>
            </a:r>
          </a:p>
          <a:p>
            <a:endParaRPr lang="en-US" sz="2400" b="1" dirty="0"/>
          </a:p>
          <a:p>
            <a:r>
              <a:rPr lang="en-US" sz="2400" b="1" dirty="0" smtClean="0"/>
              <a:t>What percentage of the class is here today?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7359"/>
            <a:ext cx="9509760" cy="1629797"/>
          </a:xfrm>
        </p:spPr>
        <p:txBody>
          <a:bodyPr>
            <a:normAutofit/>
          </a:bodyPr>
          <a:lstStyle/>
          <a:p>
            <a:r>
              <a:rPr lang="en-AU" dirty="0" smtClean="0"/>
              <a:t>Complete your summary by answering the EQ: </a:t>
            </a:r>
            <a:r>
              <a:rPr lang="en-US" sz="3600" dirty="0">
                <a:solidFill>
                  <a:srgbClr val="0070C0"/>
                </a:solidFill>
              </a:rPr>
              <a:t>How do I find the percentage of a number or </a:t>
            </a:r>
            <a:r>
              <a:rPr lang="en-US" sz="3600" dirty="0" smtClean="0">
                <a:solidFill>
                  <a:srgbClr val="0070C0"/>
                </a:solidFill>
              </a:rPr>
              <a:t>quantity?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9" y="2233749"/>
            <a:ext cx="10324011" cy="4428308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en-AU" sz="3200" dirty="0" smtClean="0"/>
              <a:t>To calculate the percentage of a number first I need to c_____________ the percentage into a _______________.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AU" sz="3200" dirty="0" smtClean="0"/>
              <a:t>Then the number _______ needs to become a ________________ over one.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AU" sz="3200" dirty="0" smtClean="0"/>
              <a:t>Then I m________________ the fractions using the rules of ________________ _________________.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8230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19200" y="2707885"/>
            <a:ext cx="9790544" cy="172409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Percentages</a:t>
            </a:r>
            <a:br>
              <a:rPr lang="en-US" dirty="0" smtClean="0"/>
            </a:br>
            <a:r>
              <a:rPr lang="en-US" dirty="0" smtClean="0"/>
              <a:t>EQ: How do I calculate what percentage I have?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245688"/>
            <a:ext cx="9509760" cy="123342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Topic: Percentages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EQ: How do I calculate what percentage I have?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9" y="2419793"/>
            <a:ext cx="7257463" cy="1487189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400" b="1" dirty="0"/>
              <a:t>Sometimes we want to know the proportion of a </a:t>
            </a:r>
            <a:r>
              <a:rPr lang="en-US" sz="2400" b="1" dirty="0" smtClean="0"/>
              <a:t>certain quantity </a:t>
            </a:r>
            <a:r>
              <a:rPr lang="en-US" sz="2400" b="1" dirty="0"/>
              <a:t>compared to </a:t>
            </a:r>
            <a:r>
              <a:rPr lang="en-US" sz="2400" b="1" dirty="0" smtClean="0"/>
              <a:t>the whole. </a:t>
            </a:r>
          </a:p>
          <a:p>
            <a:pPr marL="45720" indent="0">
              <a:buNone/>
            </a:pPr>
            <a:endParaRPr lang="en-US" sz="2400" b="1" dirty="0"/>
          </a:p>
          <a:p>
            <a:pPr marL="45720" indent="0">
              <a:buNone/>
            </a:pPr>
            <a:r>
              <a:rPr lang="en-US" sz="2400" b="1" dirty="0" smtClean="0"/>
              <a:t>This </a:t>
            </a:r>
            <a:r>
              <a:rPr lang="en-US" sz="2400" b="1" dirty="0"/>
              <a:t>may be done using a fraction, </a:t>
            </a:r>
            <a:r>
              <a:rPr lang="en-US" sz="2400" b="1" dirty="0">
                <a:solidFill>
                  <a:srgbClr val="0070C0"/>
                </a:solidFill>
              </a:rPr>
              <a:t>percentage</a:t>
            </a:r>
            <a:r>
              <a:rPr lang="en-US" sz="2400" b="1" dirty="0"/>
              <a:t> or ratio.</a:t>
            </a:r>
            <a:endParaRPr lang="en-AU" sz="2400" b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87420" y="1579284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656" y="1621035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Questions: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228282" y="1621035"/>
            <a:ext cx="94440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Notes: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0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245688"/>
            <a:ext cx="9509760" cy="123342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Topic: Percentages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EQ: How do I calculate what percentage I have?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2428" y="2447502"/>
            <a:ext cx="7257463" cy="1487189"/>
          </a:xfrm>
        </p:spPr>
        <p:txBody>
          <a:bodyPr>
            <a:noAutofit/>
          </a:bodyPr>
          <a:lstStyle/>
          <a:p>
            <a:pPr marL="502920" indent="-457200">
              <a:buFont typeface="+mj-lt"/>
              <a:buAutoNum type="arabicParenR"/>
            </a:pPr>
            <a:r>
              <a:rPr lang="en-US" b="1" dirty="0"/>
              <a:t>E</a:t>
            </a:r>
            <a:r>
              <a:rPr lang="en-US" b="1" dirty="0" smtClean="0"/>
              <a:t>xpress </a:t>
            </a:r>
            <a:r>
              <a:rPr lang="en-US" b="1" dirty="0"/>
              <a:t>one quantity as a fraction of </a:t>
            </a:r>
            <a:r>
              <a:rPr lang="en-US" b="1" dirty="0" smtClean="0"/>
              <a:t>another</a:t>
            </a:r>
          </a:p>
          <a:p>
            <a:pPr marL="45720" indent="0">
              <a:buNone/>
            </a:pPr>
            <a:endParaRPr lang="en-US" b="1" dirty="0" smtClean="0"/>
          </a:p>
          <a:p>
            <a:pPr marL="45720" indent="0">
              <a:buNone/>
            </a:pPr>
            <a:endParaRPr lang="en-US" b="1" dirty="0" smtClean="0"/>
          </a:p>
          <a:p>
            <a:pPr marL="502920" indent="-457200">
              <a:buFont typeface="+mj-lt"/>
              <a:buAutoNum type="arabicParenR" startAt="2"/>
            </a:pPr>
            <a:r>
              <a:rPr lang="en-US" b="1" dirty="0"/>
              <a:t>E</a:t>
            </a:r>
            <a:r>
              <a:rPr lang="en-US" b="1" dirty="0" smtClean="0"/>
              <a:t>xpress </a:t>
            </a:r>
            <a:r>
              <a:rPr lang="en-US" b="1" dirty="0"/>
              <a:t>one quantity as a percentage of another</a:t>
            </a:r>
            <a:endParaRPr lang="en-AU" sz="2400" b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087420" y="1579284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656" y="1621035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Questions: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200576" y="1621035"/>
            <a:ext cx="94440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Notes: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88898" y="2184903"/>
            <a:ext cx="1893456" cy="14773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 smtClean="0"/>
              <a:t>What steps do I follow to calculate the proportion as a percentage?</a:t>
            </a:r>
            <a:endParaRPr lang="en-AU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24" y="3043639"/>
            <a:ext cx="2409825" cy="742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24" y="4516986"/>
            <a:ext cx="35052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6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70C0"/>
                </a:solidFill>
              </a:rPr>
              <a:t>Example 1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01819" y="2921165"/>
            <a:ext cx="360045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1996" y="467360"/>
            <a:ext cx="5366327" cy="397031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800" b="1" dirty="0" smtClean="0"/>
              <a:t>What fraction is shaded red?</a:t>
            </a:r>
          </a:p>
          <a:p>
            <a:endParaRPr lang="en-AU" sz="2800" b="1" dirty="0" smtClean="0"/>
          </a:p>
          <a:p>
            <a:endParaRPr lang="en-AU" sz="2800" b="1" dirty="0"/>
          </a:p>
          <a:p>
            <a:endParaRPr lang="en-AU" sz="2800" b="1" dirty="0" smtClean="0"/>
          </a:p>
          <a:p>
            <a:endParaRPr lang="en-AU" sz="2800" b="1" dirty="0"/>
          </a:p>
          <a:p>
            <a:endParaRPr lang="en-AU" sz="2800" b="1" dirty="0"/>
          </a:p>
          <a:p>
            <a:endParaRPr lang="en-AU" sz="2800" b="1" dirty="0" smtClean="0"/>
          </a:p>
          <a:p>
            <a:r>
              <a:rPr lang="en-AU" sz="2800" b="1" dirty="0" smtClean="0"/>
              <a:t>What percentage is shaded red?</a:t>
            </a:r>
            <a:endParaRPr lang="en-AU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490" y="2189736"/>
            <a:ext cx="2286000" cy="78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490" y="1299125"/>
            <a:ext cx="2409825" cy="742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490" y="5367774"/>
            <a:ext cx="4010025" cy="76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490" y="4437678"/>
            <a:ext cx="35052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7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70C0"/>
                </a:solidFill>
              </a:rPr>
              <a:t>Example 2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25" y="2734108"/>
            <a:ext cx="230505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32651" y="3842666"/>
            <a:ext cx="1006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water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4118375" y="5412847"/>
            <a:ext cx="1006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Cordial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341120" y="1982911"/>
            <a:ext cx="3398982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b="1" dirty="0"/>
              <a:t>A glass of cordial is 1 part </a:t>
            </a:r>
            <a:r>
              <a:rPr lang="en-US" b="1" dirty="0" smtClean="0"/>
              <a:t>cordial </a:t>
            </a:r>
            <a:r>
              <a:rPr lang="en-US" b="1" dirty="0"/>
              <a:t>to 9 parts water.</a:t>
            </a:r>
            <a:endParaRPr lang="en-A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493098" y="2058525"/>
            <a:ext cx="4193309" cy="646331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b="1" dirty="0"/>
              <a:t>a </a:t>
            </a:r>
            <a:r>
              <a:rPr lang="en-US" dirty="0"/>
              <a:t>Express the amount of </a:t>
            </a:r>
            <a:r>
              <a:rPr lang="en-US" dirty="0" smtClean="0"/>
              <a:t>cordial   syrup </a:t>
            </a:r>
            <a:r>
              <a:rPr lang="en-US" dirty="0"/>
              <a:t>as a fraction of the total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93098" y="3818907"/>
            <a:ext cx="4193309" cy="646331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b="1" dirty="0"/>
              <a:t>b </a:t>
            </a:r>
            <a:r>
              <a:rPr lang="en-US" dirty="0"/>
              <a:t>Express the amount of water as a percentage of the total</a:t>
            </a:r>
            <a:r>
              <a:rPr lang="en-US" dirty="0" smtClean="0"/>
              <a:t>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109461" y="2810989"/>
                <a:ext cx="960582" cy="90178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461" y="2810989"/>
                <a:ext cx="960582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964152" y="4571371"/>
                <a:ext cx="3251200" cy="791820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</m:num>
                      <m:den>
                        <m:r>
                          <a:rPr lang="en-AU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3200" dirty="0" smtClean="0"/>
                  <a:t> </a:t>
                </a:r>
                <a:r>
                  <a:rPr lang="en-AU" sz="2000" dirty="0" smtClean="0"/>
                  <a:t>which is </a:t>
                </a:r>
                <a:r>
                  <a:rPr lang="en-AU" sz="3200" dirty="0" smtClean="0"/>
                  <a:t>90% </a:t>
                </a:r>
                <a:endParaRPr lang="en-AU" sz="32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152" y="4571371"/>
                <a:ext cx="3251200" cy="791820"/>
              </a:xfrm>
              <a:prstGeom prst="rect">
                <a:avLst/>
              </a:prstGeom>
              <a:blipFill>
                <a:blip r:embed="rId4"/>
                <a:stretch>
                  <a:fillRect b="-984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65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Think-Pair-Share</a:t>
            </a:r>
            <a:r>
              <a:rPr lang="en-AU" dirty="0"/>
              <a:t/>
            </a:r>
            <a:br>
              <a:rPr lang="en-AU" dirty="0"/>
            </a:br>
            <a:r>
              <a:rPr lang="en-AU" dirty="0">
                <a:solidFill>
                  <a:srgbClr val="00B0F0"/>
                </a:solidFill>
              </a:rPr>
              <a:t>Left-Hand-Side Task 1</a:t>
            </a:r>
            <a:endParaRPr lang="en-AU" dirty="0"/>
          </a:p>
        </p:txBody>
      </p:sp>
      <p:grpSp>
        <p:nvGrpSpPr>
          <p:cNvPr id="6" name="Group 5"/>
          <p:cNvGrpSpPr/>
          <p:nvPr/>
        </p:nvGrpSpPr>
        <p:grpSpPr>
          <a:xfrm>
            <a:off x="1223731" y="2335625"/>
            <a:ext cx="9744538" cy="3311316"/>
            <a:chOff x="1106342" y="2470648"/>
            <a:chExt cx="7271039" cy="258712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r="29221"/>
            <a:stretch/>
          </p:blipFill>
          <p:spPr>
            <a:xfrm>
              <a:off x="1106342" y="2470648"/>
              <a:ext cx="7271039" cy="258712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l="80714" b="32879"/>
            <a:stretch/>
          </p:blipFill>
          <p:spPr>
            <a:xfrm>
              <a:off x="6239625" y="3084867"/>
              <a:ext cx="1981199" cy="173651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676" y="98234"/>
            <a:ext cx="2765429" cy="169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9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B0F0"/>
                </a:solidFill>
              </a:rPr>
              <a:t>Left-Hand-Side Task 2</a:t>
            </a:r>
            <a:endParaRPr lang="en-AU" dirty="0">
              <a:solidFill>
                <a:srgbClr val="00B0F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36" y="2045276"/>
            <a:ext cx="9263207" cy="2088930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>
            <a:off x="822034" y="2045276"/>
            <a:ext cx="1060704" cy="914400"/>
          </a:xfrm>
          <a:prstGeom prst="triangl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 smtClean="0"/>
              <a:t>1.</a:t>
            </a:r>
            <a:endParaRPr lang="en-AU" sz="32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136" y="4437205"/>
            <a:ext cx="9263207" cy="1309052"/>
          </a:xfrm>
          <a:prstGeom prst="rect">
            <a:avLst/>
          </a:prstGeom>
        </p:spPr>
      </p:pic>
      <p:sp>
        <p:nvSpPr>
          <p:cNvPr id="8" name="Isosceles Triangle 7"/>
          <p:cNvSpPr/>
          <p:nvPr/>
        </p:nvSpPr>
        <p:spPr>
          <a:xfrm>
            <a:off x="822034" y="4437205"/>
            <a:ext cx="1060704" cy="914400"/>
          </a:xfrm>
          <a:prstGeom prst="triangl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 smtClean="0"/>
              <a:t>2.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162691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00B0F0"/>
                </a:solidFill>
              </a:rPr>
              <a:t>Left-Hand-Side Task 3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424871" y="1700784"/>
            <a:ext cx="1060704" cy="914400"/>
          </a:xfrm>
          <a:prstGeom prst="triangl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/>
              <a:t>3</a:t>
            </a:r>
            <a:r>
              <a:rPr lang="en-AU" sz="3200" b="1" dirty="0" smtClean="0"/>
              <a:t>.</a:t>
            </a:r>
            <a:endParaRPr lang="en-AU" sz="3200" b="1" dirty="0"/>
          </a:p>
        </p:txBody>
      </p:sp>
      <p:sp>
        <p:nvSpPr>
          <p:cNvPr id="8" name="Isosceles Triangle 7"/>
          <p:cNvSpPr/>
          <p:nvPr/>
        </p:nvSpPr>
        <p:spPr>
          <a:xfrm>
            <a:off x="424871" y="2738723"/>
            <a:ext cx="1060704" cy="914400"/>
          </a:xfrm>
          <a:prstGeom prst="triangl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/>
              <a:t>4</a:t>
            </a:r>
            <a:r>
              <a:rPr lang="en-AU" sz="3200" b="1" dirty="0" smtClean="0"/>
              <a:t>.</a:t>
            </a:r>
            <a:endParaRPr lang="en-AU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78" y="2001249"/>
            <a:ext cx="10001250" cy="352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778" y="2857785"/>
            <a:ext cx="10182225" cy="676275"/>
          </a:xfrm>
          <a:prstGeom prst="rect">
            <a:avLst/>
          </a:prstGeom>
        </p:spPr>
      </p:pic>
      <p:sp>
        <p:nvSpPr>
          <p:cNvPr id="9" name="Isosceles Triangle 8"/>
          <p:cNvSpPr/>
          <p:nvPr/>
        </p:nvSpPr>
        <p:spPr>
          <a:xfrm>
            <a:off x="424871" y="3776662"/>
            <a:ext cx="1060704" cy="914400"/>
          </a:xfrm>
          <a:prstGeom prst="triangl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 smtClean="0"/>
              <a:t>5.</a:t>
            </a:r>
            <a:endParaRPr lang="en-AU" sz="32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778" y="3847087"/>
            <a:ext cx="65722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3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65</TotalTime>
  <Words>299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 Math</vt:lpstr>
      <vt:lpstr>Century Gothic</vt:lpstr>
      <vt:lpstr>Courier New</vt:lpstr>
      <vt:lpstr>Wingdings</vt:lpstr>
      <vt:lpstr>Bubbles design template</vt:lpstr>
      <vt:lpstr>Human fractions and percentages! You have 10 minutes to find…</vt:lpstr>
      <vt:lpstr>Complete your summary by answering the EQ: How do I find the percentage of a number or quantity?</vt:lpstr>
      <vt:lpstr>Topic: Percentages EQ: How do I calculate what percentage I have?</vt:lpstr>
      <vt:lpstr>Topic: Percentages EQ: How do I calculate what percentage I have?</vt:lpstr>
      <vt:lpstr>Topic: Percentages EQ: How do I calculate what percentage I have?</vt:lpstr>
      <vt:lpstr>Example 1</vt:lpstr>
      <vt:lpstr>Example 2</vt:lpstr>
      <vt:lpstr>Think-Pair-Share Left-Hand-Side Task 1</vt:lpstr>
      <vt:lpstr>Left-Hand-Side Task 2</vt:lpstr>
      <vt:lpstr>Left-Hand-Side 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fractions and percentages! You have 10 minutes to find…</dc:title>
  <dc:creator>Abigail Stephenson</dc:creator>
  <cp:lastModifiedBy>Abigail Stephenson</cp:lastModifiedBy>
  <cp:revision>8</cp:revision>
  <dcterms:created xsi:type="dcterms:W3CDTF">2018-09-09T12:57:07Z</dcterms:created>
  <dcterms:modified xsi:type="dcterms:W3CDTF">2018-09-10T08:38:05Z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
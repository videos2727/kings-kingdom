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73" r:id="rId3"/>
    <p:sldId id="276" r:id="rId4"/>
    <p:sldId id="279" r:id="rId5"/>
    <p:sldId id="280" r:id="rId6"/>
    <p:sldId id="282" r:id="rId7"/>
    <p:sldId id="278" r:id="rId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6368" autoAdjust="0"/>
  </p:normalViewPr>
  <p:slideViewPr>
    <p:cSldViewPr>
      <p:cViewPr>
        <p:scale>
          <a:sx n="66" d="100"/>
          <a:sy n="66" d="100"/>
        </p:scale>
        <p:origin x="1330" y="53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8/23/2018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8/23/2018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0909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235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3808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5183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Using the strips of paper students will write -1 and 1 at the ends and fold in half to mark the 0 point then half again for -1/2 and +1/2 then they will place the numbers on the line where they think they will go. </a:t>
            </a:r>
          </a:p>
          <a:p>
            <a:endParaRPr lang="en-AU" dirty="0"/>
          </a:p>
          <a:p>
            <a:r>
              <a:rPr lang="en-AU" dirty="0"/>
              <a:t>As a class do it on the board or as the warm up for the next lesson. </a:t>
            </a:r>
          </a:p>
          <a:p>
            <a:r>
              <a:rPr lang="en-AU" dirty="0"/>
              <a:t>Have the students glue them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4179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8/23/2018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8/23/2018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6469" y="2376538"/>
            <a:ext cx="10955886" cy="2104923"/>
          </a:xfrm>
        </p:spPr>
        <p:txBody>
          <a:bodyPr/>
          <a:lstStyle/>
          <a:p>
            <a:r>
              <a:rPr lang="en-US" sz="6000" dirty="0"/>
              <a:t>Topic: Negative Fractions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7828" y="4725144"/>
            <a:ext cx="11089232" cy="1066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How do we add and subtract negative fractions</a:t>
            </a:r>
            <a:r>
              <a:rPr lang="en-US" dirty="0"/>
              <a:t>? 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Negative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796" y="820824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we add and subtract negative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18342" y="1362607"/>
            <a:ext cx="1825014" cy="28623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Freeze Dry Example</a:t>
            </a:r>
          </a:p>
          <a:p>
            <a:endParaRPr lang="en-AU" dirty="0"/>
          </a:p>
          <a:p>
            <a:r>
              <a:rPr lang="en-AU" dirty="0"/>
              <a:t>(you </a:t>
            </a:r>
            <a:r>
              <a:rPr lang="en-AU" b="1" dirty="0"/>
              <a:t>don’t </a:t>
            </a:r>
            <a:r>
              <a:rPr lang="en-AU" dirty="0"/>
              <a:t>need to write this!)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887A1D-4093-4EFF-A6B2-A6A98153A613}"/>
              </a:ext>
            </a:extLst>
          </p:cNvPr>
          <p:cNvSpPr txBox="1"/>
          <p:nvPr/>
        </p:nvSpPr>
        <p:spPr>
          <a:xfrm>
            <a:off x="1989954" y="1175144"/>
            <a:ext cx="878497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rgbClr val="FF0000"/>
                </a:solidFill>
              </a:rPr>
              <a:t>Some people freeze dry food at home to keep it for longer. Freeze drying lowers the temperature of food to -40°C. </a:t>
            </a:r>
          </a:p>
          <a:p>
            <a:r>
              <a:rPr lang="en-AU" sz="2000" dirty="0">
                <a:solidFill>
                  <a:srgbClr val="FF0000"/>
                </a:solidFill>
              </a:rPr>
              <a:t>The temperature of some food is 25°C when placed in the freeze dryer. </a:t>
            </a:r>
            <a:endParaRPr lang="en-AU" sz="2000" dirty="0"/>
          </a:p>
          <a:p>
            <a:endParaRPr lang="en-AU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7EF5636-34F0-45AC-A5B2-D5874FDE1740}"/>
              </a:ext>
            </a:extLst>
          </p:cNvPr>
          <p:cNvSpPr txBox="1"/>
          <p:nvPr/>
        </p:nvSpPr>
        <p:spPr>
          <a:xfrm>
            <a:off x="2049589" y="2210521"/>
            <a:ext cx="8352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What is the temperature of the food if the temperature is lowered by 10°C?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068F411-F8EC-4F3A-8D58-683384499716}"/>
              </a:ext>
            </a:extLst>
          </p:cNvPr>
          <p:cNvSpPr txBox="1"/>
          <p:nvPr/>
        </p:nvSpPr>
        <p:spPr>
          <a:xfrm>
            <a:off x="9851273" y="2223224"/>
            <a:ext cx="2232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 °C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D66609-F819-4653-8098-F755AABC53F8}"/>
              </a:ext>
            </a:extLst>
          </p:cNvPr>
          <p:cNvSpPr txBox="1"/>
          <p:nvPr/>
        </p:nvSpPr>
        <p:spPr>
          <a:xfrm>
            <a:off x="2070554" y="2615150"/>
            <a:ext cx="8352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What is the temperature of the food if the temperature is lowered by 10°C?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647CA88-7F80-4F11-975F-D99D6F6FCE9A}"/>
                  </a:ext>
                </a:extLst>
              </p:cNvPr>
              <p:cNvSpPr txBox="1"/>
              <p:nvPr/>
            </p:nvSpPr>
            <p:spPr>
              <a:xfrm>
                <a:off x="2136331" y="3009953"/>
                <a:ext cx="8352923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solidFill>
                      <a:srgbClr val="FF0000"/>
                    </a:solidFill>
                  </a:rPr>
                  <a:t>What is the temperature of the food if the temperature is lowered by 5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srgbClr val="FF0000"/>
                    </a:solidFill>
                  </a:rPr>
                  <a:t>°C?</a:t>
                </a: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647CA88-7F80-4F11-975F-D99D6F6FC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331" y="3009953"/>
                <a:ext cx="8352923" cy="483466"/>
              </a:xfrm>
              <a:prstGeom prst="rect">
                <a:avLst/>
              </a:prstGeom>
              <a:blipFill>
                <a:blip r:embed="rId3"/>
                <a:stretch>
                  <a:fillRect l="-584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10ABA18-9BF1-48AB-9C44-A4C1A1A82D31}"/>
                  </a:ext>
                </a:extLst>
              </p:cNvPr>
              <p:cNvSpPr txBox="1"/>
              <p:nvPr/>
            </p:nvSpPr>
            <p:spPr>
              <a:xfrm>
                <a:off x="2198861" y="3515452"/>
                <a:ext cx="8352923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solidFill>
                      <a:srgbClr val="FF0000"/>
                    </a:solidFill>
                  </a:rPr>
                  <a:t>What is the temperature of the food if the temperature is lowered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srgbClr val="FF0000"/>
                    </a:solidFill>
                  </a:rPr>
                  <a:t>°C?</a:t>
                </a: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10ABA18-9BF1-48AB-9C44-A4C1A1A82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8861" y="3515452"/>
                <a:ext cx="8352923" cy="483466"/>
              </a:xfrm>
              <a:prstGeom prst="rect">
                <a:avLst/>
              </a:prstGeom>
              <a:blipFill>
                <a:blip r:embed="rId4"/>
                <a:stretch>
                  <a:fillRect l="-657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8316B89-3734-4BB5-A988-6AEF4967507C}"/>
                  </a:ext>
                </a:extLst>
              </p:cNvPr>
              <p:cNvSpPr txBox="1"/>
              <p:nvPr/>
            </p:nvSpPr>
            <p:spPr>
              <a:xfrm>
                <a:off x="2202421" y="4091592"/>
                <a:ext cx="8352923" cy="484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solidFill>
                      <a:srgbClr val="FF0000"/>
                    </a:solidFill>
                  </a:rPr>
                  <a:t>What is the temperature of the food if the temperature is lowered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srgbClr val="FF0000"/>
                    </a:solidFill>
                  </a:rPr>
                  <a:t>°C?</a:t>
                </a: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8316B89-3734-4BB5-A988-6AEF49675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421" y="4091592"/>
                <a:ext cx="8352923" cy="484043"/>
              </a:xfrm>
              <a:prstGeom prst="rect">
                <a:avLst/>
              </a:prstGeom>
              <a:blipFill>
                <a:blip r:embed="rId5"/>
                <a:stretch>
                  <a:fillRect l="-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73BA5D1A-9319-4B5C-920F-6CB5A4CFD70C}"/>
              </a:ext>
            </a:extLst>
          </p:cNvPr>
          <p:cNvSpPr txBox="1"/>
          <p:nvPr/>
        </p:nvSpPr>
        <p:spPr>
          <a:xfrm>
            <a:off x="9956579" y="2609102"/>
            <a:ext cx="2232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°C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5E5FF13-B356-4E2B-854C-0497C7F517AD}"/>
                  </a:ext>
                </a:extLst>
              </p:cNvPr>
              <p:cNvSpPr txBox="1"/>
              <p:nvPr/>
            </p:nvSpPr>
            <p:spPr>
              <a:xfrm>
                <a:off x="9889115" y="2924566"/>
                <a:ext cx="2232246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/>
                  <a:t> °C</a:t>
                </a: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5E5FF13-B356-4E2B-854C-0497C7F51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9115" y="2924566"/>
                <a:ext cx="2232246" cy="483466"/>
              </a:xfrm>
              <a:prstGeom prst="rect">
                <a:avLst/>
              </a:prstGeom>
              <a:blipFill>
                <a:blip r:embed="rId6"/>
                <a:stretch>
                  <a:fillRect l="-2186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0962A369-6091-456A-BCAB-8645DCBF2C99}"/>
              </a:ext>
            </a:extLst>
          </p:cNvPr>
          <p:cNvSpPr txBox="1"/>
          <p:nvPr/>
        </p:nvSpPr>
        <p:spPr>
          <a:xfrm>
            <a:off x="9875980" y="3553895"/>
            <a:ext cx="2232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-1 °C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C8D1F44-B86F-4B2B-A9B6-9A82A8A470F6}"/>
                  </a:ext>
                </a:extLst>
              </p:cNvPr>
              <p:cNvSpPr txBox="1"/>
              <p:nvPr/>
            </p:nvSpPr>
            <p:spPr>
              <a:xfrm>
                <a:off x="9889115" y="4058834"/>
                <a:ext cx="2232246" cy="484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-1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/>
                  <a:t>°C</a:t>
                </a: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C8D1F44-B86F-4B2B-A9B6-9A82A8A47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9115" y="4058834"/>
                <a:ext cx="2232246" cy="484043"/>
              </a:xfrm>
              <a:prstGeom prst="rect">
                <a:avLst/>
              </a:prstGeom>
              <a:blipFill>
                <a:blip r:embed="rId7"/>
                <a:stretch>
                  <a:fillRect l="-2186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2D34104-3FCE-4279-94F2-7A468816E778}"/>
                  </a:ext>
                </a:extLst>
              </p:cNvPr>
              <p:cNvSpPr txBox="1"/>
              <p:nvPr/>
            </p:nvSpPr>
            <p:spPr>
              <a:xfrm>
                <a:off x="2205981" y="4722368"/>
                <a:ext cx="8352923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solidFill>
                      <a:srgbClr val="FF0000"/>
                    </a:solidFill>
                  </a:rPr>
                  <a:t>What is the temperature of the food if the temperature is lowered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srgbClr val="FF0000"/>
                    </a:solidFill>
                  </a:rPr>
                  <a:t>°C?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2D34104-3FCE-4279-94F2-7A468816E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5981" y="4722368"/>
                <a:ext cx="8352923" cy="483466"/>
              </a:xfrm>
              <a:prstGeom prst="rect">
                <a:avLst/>
              </a:prstGeom>
              <a:blipFill>
                <a:blip r:embed="rId8"/>
                <a:stretch>
                  <a:fillRect l="-657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301C4FA6-0D37-498E-A11B-F69C740A3EC3}"/>
              </a:ext>
            </a:extLst>
          </p:cNvPr>
          <p:cNvSpPr txBox="1"/>
          <p:nvPr/>
        </p:nvSpPr>
        <p:spPr>
          <a:xfrm>
            <a:off x="2219116" y="6023353"/>
            <a:ext cx="83529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By how many degrees would the temperature need to be lowered by to bring the food to -40°C?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A6DBE6E-1A7D-4824-80A5-BE73DB731D7C}"/>
                  </a:ext>
                </a:extLst>
              </p:cNvPr>
              <p:cNvSpPr txBox="1"/>
              <p:nvPr/>
            </p:nvSpPr>
            <p:spPr>
              <a:xfrm>
                <a:off x="2230690" y="5383072"/>
                <a:ext cx="8352923" cy="485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solidFill>
                      <a:srgbClr val="FF0000"/>
                    </a:solidFill>
                  </a:rPr>
                  <a:t>What is the temperature of the food if the temperature is lowered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srgbClr val="FF0000"/>
                    </a:solidFill>
                  </a:rPr>
                  <a:t>°C?</a:t>
                </a: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A6DBE6E-1A7D-4824-80A5-BE73DB731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0690" y="5383072"/>
                <a:ext cx="8352923" cy="485326"/>
              </a:xfrm>
              <a:prstGeom prst="rect">
                <a:avLst/>
              </a:prstGeom>
              <a:blipFill>
                <a:blip r:embed="rId9"/>
                <a:stretch>
                  <a:fillRect l="-657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02C1A38-B36A-46FB-8971-E4E98FFE5E63}"/>
                  </a:ext>
                </a:extLst>
              </p:cNvPr>
              <p:cNvSpPr txBox="1"/>
              <p:nvPr/>
            </p:nvSpPr>
            <p:spPr>
              <a:xfrm>
                <a:off x="9906377" y="4732976"/>
                <a:ext cx="2232246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-2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/>
                  <a:t>°C</a:t>
                </a: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02C1A38-B36A-46FB-8971-E4E98FFE5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377" y="4732976"/>
                <a:ext cx="2232246" cy="483466"/>
              </a:xfrm>
              <a:prstGeom prst="rect">
                <a:avLst/>
              </a:prstGeom>
              <a:blipFill>
                <a:blip r:embed="rId10"/>
                <a:stretch>
                  <a:fillRect l="-2186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8474638-D45B-4C3B-A041-55713992B972}"/>
                  </a:ext>
                </a:extLst>
              </p:cNvPr>
              <p:cNvSpPr txBox="1"/>
              <p:nvPr/>
            </p:nvSpPr>
            <p:spPr>
              <a:xfrm>
                <a:off x="9889115" y="5394472"/>
                <a:ext cx="2232246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-2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AU" dirty="0"/>
                  <a:t>°C</a:t>
                </a:r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8474638-D45B-4C3B-A041-55713992B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9115" y="5394472"/>
                <a:ext cx="2232246" cy="483466"/>
              </a:xfrm>
              <a:prstGeom prst="rect">
                <a:avLst/>
              </a:prstGeom>
              <a:blipFill>
                <a:blip r:embed="rId11"/>
                <a:stretch>
                  <a:fillRect l="-2186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56E3D4E-A486-477B-AAB1-0BAF0F9C859E}"/>
                  </a:ext>
                </a:extLst>
              </p:cNvPr>
              <p:cNvSpPr txBox="1"/>
              <p:nvPr/>
            </p:nvSpPr>
            <p:spPr>
              <a:xfrm>
                <a:off x="10259518" y="6088027"/>
                <a:ext cx="2232246" cy="484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37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AU" dirty="0"/>
                  <a:t>°C</a:t>
                </a:r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56E3D4E-A486-477B-AAB1-0BAF0F9C8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9518" y="6088027"/>
                <a:ext cx="2232246" cy="484300"/>
              </a:xfrm>
              <a:prstGeom prst="rect">
                <a:avLst/>
              </a:prstGeom>
              <a:blipFill>
                <a:blip r:embed="rId12"/>
                <a:stretch>
                  <a:fillRect l="-2459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4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Negative Fractions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236950" y="2639589"/>
            <a:ext cx="1825014" cy="175432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2002E29-C9AD-4A36-9AAD-E312A5BE1110}"/>
              </a:ext>
            </a:extLst>
          </p:cNvPr>
          <p:cNvSpPr txBox="1"/>
          <p:nvPr/>
        </p:nvSpPr>
        <p:spPr>
          <a:xfrm>
            <a:off x="189756" y="1844824"/>
            <a:ext cx="1656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Locations on a number line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DAF6B2-FB6A-4638-81C0-56F3E92C97F9}"/>
              </a:ext>
            </a:extLst>
          </p:cNvPr>
          <p:cNvCxnSpPr>
            <a:cxnSpLocks/>
          </p:cNvCxnSpPr>
          <p:nvPr/>
        </p:nvCxnSpPr>
        <p:spPr>
          <a:xfrm>
            <a:off x="2349996" y="2276872"/>
            <a:ext cx="9505057" cy="0"/>
          </a:xfrm>
          <a:prstGeom prst="line">
            <a:avLst/>
          </a:prstGeom>
          <a:ln w="381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8176B1-E142-4F71-8C20-715F75F961C2}"/>
              </a:ext>
            </a:extLst>
          </p:cNvPr>
          <p:cNvCxnSpPr/>
          <p:nvPr/>
        </p:nvCxnSpPr>
        <p:spPr>
          <a:xfrm>
            <a:off x="10558908" y="1987501"/>
            <a:ext cx="0" cy="57874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23DB205-FD6D-4453-A524-5E726D1C67B2}"/>
              </a:ext>
            </a:extLst>
          </p:cNvPr>
          <p:cNvCxnSpPr/>
          <p:nvPr/>
        </p:nvCxnSpPr>
        <p:spPr>
          <a:xfrm>
            <a:off x="8974732" y="1993886"/>
            <a:ext cx="0" cy="57874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08B3D9D-0EF2-4548-87FB-A8B7684F2B22}"/>
              </a:ext>
            </a:extLst>
          </p:cNvPr>
          <p:cNvSpPr txBox="1"/>
          <p:nvPr/>
        </p:nvSpPr>
        <p:spPr>
          <a:xfrm>
            <a:off x="8902724" y="2768343"/>
            <a:ext cx="43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C11E05-64CF-403E-B850-09A9EC1BA6E9}"/>
              </a:ext>
            </a:extLst>
          </p:cNvPr>
          <p:cNvSpPr txBox="1"/>
          <p:nvPr/>
        </p:nvSpPr>
        <p:spPr>
          <a:xfrm>
            <a:off x="10414892" y="2768343"/>
            <a:ext cx="43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648307-543E-4E34-B6B3-65F7B3D01C65}"/>
                  </a:ext>
                </a:extLst>
              </p:cNvPr>
              <p:cNvSpPr txBox="1"/>
              <p:nvPr/>
            </p:nvSpPr>
            <p:spPr>
              <a:xfrm>
                <a:off x="3142084" y="3536317"/>
                <a:ext cx="4213615" cy="214545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Draw this and use a pencil to mark the other spots for where you think these would be:</a:t>
                </a:r>
              </a:p>
              <a:p>
                <a:endParaRPr lang="en-AU" dirty="0"/>
              </a:p>
              <a:p>
                <a:r>
                  <a:rPr lang="en-AU" dirty="0"/>
                  <a:t>-1</a:t>
                </a:r>
              </a:p>
              <a:p>
                <a:r>
                  <a:rPr lang="en-AU" dirty="0"/>
                  <a:t>and</a:t>
                </a:r>
              </a:p>
              <a:p>
                <a:r>
                  <a:rPr lang="en-AU" dirty="0"/>
                  <a:t>-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648307-543E-4E34-B6B3-65F7B3D01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084" y="3536317"/>
                <a:ext cx="4213615" cy="2145459"/>
              </a:xfrm>
              <a:prstGeom prst="rect">
                <a:avLst/>
              </a:prstGeom>
              <a:blipFill>
                <a:blip r:embed="rId3"/>
                <a:stretch>
                  <a:fillRect l="-1156" t="-1420" b="-11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4367CF1E-BD50-47C2-9D67-98CA3EC0A47C}"/>
              </a:ext>
            </a:extLst>
          </p:cNvPr>
          <p:cNvSpPr/>
          <p:nvPr/>
        </p:nvSpPr>
        <p:spPr>
          <a:xfrm>
            <a:off x="837828" y="780729"/>
            <a:ext cx="5577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EQ: How do we add and subtract negative fractions?</a:t>
            </a:r>
          </a:p>
        </p:txBody>
      </p:sp>
    </p:spTree>
    <p:extLst>
      <p:ext uri="{BB962C8B-B14F-4D97-AF65-F5344CB8AC3E}">
        <p14:creationId xmlns:p14="http://schemas.microsoft.com/office/powerpoint/2010/main" val="100023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Negative Fractions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236950" y="2639589"/>
            <a:ext cx="1825014" cy="175432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2205980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2002E29-C9AD-4A36-9AAD-E312A5BE1110}"/>
              </a:ext>
            </a:extLst>
          </p:cNvPr>
          <p:cNvSpPr txBox="1"/>
          <p:nvPr/>
        </p:nvSpPr>
        <p:spPr>
          <a:xfrm>
            <a:off x="189756" y="1844824"/>
            <a:ext cx="1656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Locations on a number line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DAF6B2-FB6A-4638-81C0-56F3E92C97F9}"/>
              </a:ext>
            </a:extLst>
          </p:cNvPr>
          <p:cNvCxnSpPr>
            <a:cxnSpLocks/>
          </p:cNvCxnSpPr>
          <p:nvPr/>
        </p:nvCxnSpPr>
        <p:spPr>
          <a:xfrm>
            <a:off x="2349996" y="2276872"/>
            <a:ext cx="9505057" cy="0"/>
          </a:xfrm>
          <a:prstGeom prst="line">
            <a:avLst/>
          </a:prstGeom>
          <a:ln w="381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8176B1-E142-4F71-8C20-715F75F961C2}"/>
              </a:ext>
            </a:extLst>
          </p:cNvPr>
          <p:cNvCxnSpPr/>
          <p:nvPr/>
        </p:nvCxnSpPr>
        <p:spPr>
          <a:xfrm>
            <a:off x="10558908" y="1987501"/>
            <a:ext cx="0" cy="57874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23DB205-FD6D-4453-A524-5E726D1C67B2}"/>
              </a:ext>
            </a:extLst>
          </p:cNvPr>
          <p:cNvCxnSpPr/>
          <p:nvPr/>
        </p:nvCxnSpPr>
        <p:spPr>
          <a:xfrm>
            <a:off x="8974732" y="1993886"/>
            <a:ext cx="0" cy="57874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08B3D9D-0EF2-4548-87FB-A8B7684F2B22}"/>
              </a:ext>
            </a:extLst>
          </p:cNvPr>
          <p:cNvSpPr txBox="1"/>
          <p:nvPr/>
        </p:nvSpPr>
        <p:spPr>
          <a:xfrm>
            <a:off x="3897173" y="2768343"/>
            <a:ext cx="43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C11E05-64CF-403E-B850-09A9EC1BA6E9}"/>
              </a:ext>
            </a:extLst>
          </p:cNvPr>
          <p:cNvSpPr txBox="1"/>
          <p:nvPr/>
        </p:nvSpPr>
        <p:spPr>
          <a:xfrm>
            <a:off x="10414892" y="2768343"/>
            <a:ext cx="43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648307-543E-4E34-B6B3-65F7B3D01C65}"/>
                  </a:ext>
                </a:extLst>
              </p:cNvPr>
              <p:cNvSpPr txBox="1"/>
              <p:nvPr/>
            </p:nvSpPr>
            <p:spPr>
              <a:xfrm>
                <a:off x="7857461" y="3321185"/>
                <a:ext cx="4213615" cy="214545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Draw this and use a pencil to mark the other spots for where you think these would be:</a:t>
                </a:r>
              </a:p>
              <a:p>
                <a:endParaRPr lang="en-AU" dirty="0"/>
              </a:p>
              <a:p>
                <a:r>
                  <a:rPr lang="en-AU" dirty="0"/>
                  <a:t>-1</a:t>
                </a:r>
              </a:p>
              <a:p>
                <a:r>
                  <a:rPr lang="en-AU" dirty="0"/>
                  <a:t>and</a:t>
                </a:r>
              </a:p>
              <a:p>
                <a:r>
                  <a:rPr lang="en-AU" dirty="0"/>
                  <a:t>-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648307-543E-4E34-B6B3-65F7B3D01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7461" y="3321185"/>
                <a:ext cx="4213615" cy="2145459"/>
              </a:xfrm>
              <a:prstGeom prst="rect">
                <a:avLst/>
              </a:prstGeom>
              <a:blipFill>
                <a:blip r:embed="rId3"/>
                <a:stretch>
                  <a:fillRect l="-1302" t="-1705" b="-11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C27DA16-C61F-4790-9991-A433D2DA76D1}"/>
              </a:ext>
            </a:extLst>
          </p:cNvPr>
          <p:cNvCxnSpPr/>
          <p:nvPr/>
        </p:nvCxnSpPr>
        <p:spPr>
          <a:xfrm>
            <a:off x="7327256" y="1993886"/>
            <a:ext cx="0" cy="57874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8BAA7FD-BE29-4A02-B555-5C16F1D99A06}"/>
              </a:ext>
            </a:extLst>
          </p:cNvPr>
          <p:cNvCxnSpPr/>
          <p:nvPr/>
        </p:nvCxnSpPr>
        <p:spPr>
          <a:xfrm>
            <a:off x="5675003" y="1993886"/>
            <a:ext cx="0" cy="57874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46959AD-1613-4003-8FC4-1D8F39CF14E4}"/>
              </a:ext>
            </a:extLst>
          </p:cNvPr>
          <p:cNvCxnSpPr/>
          <p:nvPr/>
        </p:nvCxnSpPr>
        <p:spPr>
          <a:xfrm>
            <a:off x="4078188" y="2060848"/>
            <a:ext cx="0" cy="57874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105549D-6FDC-47B0-BF49-0DCDC5852DC6}"/>
              </a:ext>
            </a:extLst>
          </p:cNvPr>
          <p:cNvSpPr txBox="1"/>
          <p:nvPr/>
        </p:nvSpPr>
        <p:spPr>
          <a:xfrm>
            <a:off x="7139675" y="2769163"/>
            <a:ext cx="43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D265D3-9D72-456D-9FC3-ACF87346CEC3}"/>
              </a:ext>
            </a:extLst>
          </p:cNvPr>
          <p:cNvSpPr txBox="1"/>
          <p:nvPr/>
        </p:nvSpPr>
        <p:spPr>
          <a:xfrm>
            <a:off x="5458979" y="2768343"/>
            <a:ext cx="43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0431A2-6F0C-4974-80FF-A4235BD4909E}"/>
              </a:ext>
            </a:extLst>
          </p:cNvPr>
          <p:cNvSpPr txBox="1"/>
          <p:nvPr/>
        </p:nvSpPr>
        <p:spPr>
          <a:xfrm>
            <a:off x="8853087" y="2788651"/>
            <a:ext cx="540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1B8A59-0D98-4729-9576-D9DF1E372BDB}"/>
              </a:ext>
            </a:extLst>
          </p:cNvPr>
          <p:cNvSpPr txBox="1"/>
          <p:nvPr/>
        </p:nvSpPr>
        <p:spPr>
          <a:xfrm>
            <a:off x="2299727" y="3364575"/>
            <a:ext cx="4946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Identifying where zero is helpful because </a:t>
            </a:r>
          </a:p>
          <a:p>
            <a:r>
              <a:rPr lang="en-AU" dirty="0"/>
              <a:t>the number line is symmetrical around zero.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BE6CCD5-37C0-4F2B-8E42-E6DE126EC8C3}"/>
                  </a:ext>
                </a:extLst>
              </p:cNvPr>
              <p:cNvSpPr txBox="1"/>
              <p:nvPr/>
            </p:nvSpPr>
            <p:spPr>
              <a:xfrm>
                <a:off x="185500" y="4542349"/>
                <a:ext cx="1876464" cy="14285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How many units are there between -</a:t>
                </a: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/>
                  <a:t> and </a:t>
                </a: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/>
                  <a:t>?</a:t>
                </a: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BE6CCD5-37C0-4F2B-8E42-E6DE126EC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00" y="4542349"/>
                <a:ext cx="1876464" cy="1428596"/>
              </a:xfrm>
              <a:prstGeom prst="rect">
                <a:avLst/>
              </a:prstGeom>
              <a:blipFill>
                <a:blip r:embed="rId4"/>
                <a:stretch>
                  <a:fillRect l="-2597" t="-2137" r="-5844" b="-213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B2279768-667E-47FC-B6A7-7AAAB9F4B00A}"/>
              </a:ext>
            </a:extLst>
          </p:cNvPr>
          <p:cNvSpPr txBox="1"/>
          <p:nvPr/>
        </p:nvSpPr>
        <p:spPr>
          <a:xfrm>
            <a:off x="2736988" y="5097312"/>
            <a:ext cx="1592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 units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C2E59C-B7A7-4FD6-96E0-5B4A6CEE2367}"/>
              </a:ext>
            </a:extLst>
          </p:cNvPr>
          <p:cNvSpPr/>
          <p:nvPr/>
        </p:nvSpPr>
        <p:spPr>
          <a:xfrm>
            <a:off x="611038" y="791874"/>
            <a:ext cx="5577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EQ: How do we add and subtract negative fractions?</a:t>
            </a:r>
          </a:p>
        </p:txBody>
      </p:sp>
    </p:spTree>
    <p:extLst>
      <p:ext uri="{BB962C8B-B14F-4D97-AF65-F5344CB8AC3E}">
        <p14:creationId xmlns:p14="http://schemas.microsoft.com/office/powerpoint/2010/main" val="420774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Negative Fractions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614154" y="2325486"/>
            <a:ext cx="182501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Strategy 1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2205980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2002E29-C9AD-4A36-9AAD-E312A5BE1110}"/>
              </a:ext>
            </a:extLst>
          </p:cNvPr>
          <p:cNvSpPr txBox="1"/>
          <p:nvPr/>
        </p:nvSpPr>
        <p:spPr>
          <a:xfrm>
            <a:off x="189756" y="1239015"/>
            <a:ext cx="2109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Comparing Fractions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1B8A59-0D98-4729-9576-D9DF1E372BDB}"/>
                  </a:ext>
                </a:extLst>
              </p:cNvPr>
              <p:cNvSpPr txBox="1"/>
              <p:nvPr/>
            </p:nvSpPr>
            <p:spPr>
              <a:xfrm>
                <a:off x="2299727" y="1300662"/>
                <a:ext cx="9555313" cy="17249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Which is larger?</a:t>
                </a:r>
              </a:p>
              <a:p>
                <a:endParaRPr lang="en-AU" dirty="0"/>
              </a:p>
              <a:p>
                <a:endParaRPr lang="en-AU" b="0" dirty="0"/>
              </a:p>
              <a:p>
                <a:r>
                  <a:rPr lang="en-AU" dirty="0"/>
                  <a:t>Comparing fractions with same denominators		</a:t>
                </a: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1B8A59-0D98-4729-9576-D9DF1E372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727" y="1300662"/>
                <a:ext cx="9555313" cy="1724959"/>
              </a:xfrm>
              <a:prstGeom prst="rect">
                <a:avLst/>
              </a:prstGeom>
              <a:blipFill>
                <a:blip r:embed="rId3"/>
                <a:stretch>
                  <a:fillRect l="-510" t="-17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7FC2E59C-B7A7-4FD6-96E0-5B4A6CEE2367}"/>
              </a:ext>
            </a:extLst>
          </p:cNvPr>
          <p:cNvSpPr/>
          <p:nvPr/>
        </p:nvSpPr>
        <p:spPr>
          <a:xfrm>
            <a:off x="611038" y="791874"/>
            <a:ext cx="5577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EQ: How do we add and subtract negative fractions?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BADE43-8B59-456C-92DF-2106F2992A60}"/>
              </a:ext>
            </a:extLst>
          </p:cNvPr>
          <p:cNvSpPr txBox="1"/>
          <p:nvPr/>
        </p:nvSpPr>
        <p:spPr>
          <a:xfrm>
            <a:off x="611038" y="2923772"/>
            <a:ext cx="182501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Strategy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CBCBF8D-E768-4ACC-8DE6-6799925539E6}"/>
                  </a:ext>
                </a:extLst>
              </p:cNvPr>
              <p:cNvSpPr txBox="1"/>
              <p:nvPr/>
            </p:nvSpPr>
            <p:spPr>
              <a:xfrm>
                <a:off x="2319208" y="2866799"/>
                <a:ext cx="9555313" cy="6165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Comparing fractions with same numerators			</a:t>
                </a: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CBCBF8D-E768-4ACC-8DE6-679992553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9208" y="2866799"/>
                <a:ext cx="9555313" cy="616579"/>
              </a:xfrm>
              <a:prstGeom prst="rect">
                <a:avLst/>
              </a:prstGeom>
              <a:blipFill>
                <a:blip r:embed="rId4"/>
                <a:stretch>
                  <a:fillRect l="-5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7467ED84-225E-4F3C-AFAD-177711DF3061}"/>
              </a:ext>
            </a:extLst>
          </p:cNvPr>
          <p:cNvSpPr txBox="1"/>
          <p:nvPr/>
        </p:nvSpPr>
        <p:spPr>
          <a:xfrm>
            <a:off x="564486" y="3734485"/>
            <a:ext cx="182501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Strategy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C251E3B-EC47-4BB8-B1DD-37A53E025095}"/>
                  </a:ext>
                </a:extLst>
              </p:cNvPr>
              <p:cNvSpPr txBox="1"/>
              <p:nvPr/>
            </p:nvSpPr>
            <p:spPr>
              <a:xfrm>
                <a:off x="2319208" y="3580184"/>
                <a:ext cx="9555313" cy="622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Comparing fractions by converting to equivalent fractions	</a:t>
                </a: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C251E3B-EC47-4BB8-B1DD-37A53E025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9208" y="3580184"/>
                <a:ext cx="9555313" cy="622414"/>
              </a:xfrm>
              <a:prstGeom prst="rect">
                <a:avLst/>
              </a:prstGeom>
              <a:blipFill>
                <a:blip r:embed="rId5"/>
                <a:stretch>
                  <a:fillRect l="-5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DCDA10F2-01FC-4CB3-ADA6-6717B7CDB901}"/>
              </a:ext>
            </a:extLst>
          </p:cNvPr>
          <p:cNvSpPr txBox="1"/>
          <p:nvPr/>
        </p:nvSpPr>
        <p:spPr>
          <a:xfrm>
            <a:off x="611038" y="4606926"/>
            <a:ext cx="182501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Strategy 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3FC4BE-35C1-4400-8237-B34E9AD2CA94}"/>
              </a:ext>
            </a:extLst>
          </p:cNvPr>
          <p:cNvSpPr txBox="1"/>
          <p:nvPr/>
        </p:nvSpPr>
        <p:spPr>
          <a:xfrm>
            <a:off x="564486" y="5546775"/>
            <a:ext cx="182501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Strategy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07048E3-A355-4F08-BF95-3B8FDD5FAD48}"/>
                  </a:ext>
                </a:extLst>
              </p:cNvPr>
              <p:cNvSpPr txBox="1"/>
              <p:nvPr/>
            </p:nvSpPr>
            <p:spPr>
              <a:xfrm>
                <a:off x="2234597" y="4480706"/>
                <a:ext cx="9555313" cy="621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Comparing both to one half (or negative)			</a:t>
                </a: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07048E3-A355-4F08-BF95-3B8FDD5FA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4597" y="4480706"/>
                <a:ext cx="9555313" cy="621773"/>
              </a:xfrm>
              <a:prstGeom prst="rect">
                <a:avLst/>
              </a:prstGeom>
              <a:blipFill>
                <a:blip r:embed="rId6"/>
                <a:stretch>
                  <a:fillRect l="-5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E8E8BA4-AB3B-4C6A-B82C-0AD40B156509}"/>
                  </a:ext>
                </a:extLst>
              </p:cNvPr>
              <p:cNvSpPr txBox="1"/>
              <p:nvPr/>
            </p:nvSpPr>
            <p:spPr>
              <a:xfrm>
                <a:off x="2299728" y="5358326"/>
                <a:ext cx="9555313" cy="622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Comparing both to 1 (or negative)				</a:t>
                </a: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E8E8BA4-AB3B-4C6A-B82C-0AD40B156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728" y="5358326"/>
                <a:ext cx="9555313" cy="622414"/>
              </a:xfrm>
              <a:prstGeom prst="rect">
                <a:avLst/>
              </a:prstGeom>
              <a:blipFill>
                <a:blip r:embed="rId7"/>
                <a:stretch>
                  <a:fillRect l="-5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C98AE063-C7DD-4C86-83D7-B66D3E72F5AA}"/>
              </a:ext>
            </a:extLst>
          </p:cNvPr>
          <p:cNvSpPr/>
          <p:nvPr/>
        </p:nvSpPr>
        <p:spPr>
          <a:xfrm>
            <a:off x="9694812" y="2049588"/>
            <a:ext cx="842392" cy="81721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D20FF9E-6825-46FD-85A4-69273405CB96}"/>
              </a:ext>
            </a:extLst>
          </p:cNvPr>
          <p:cNvSpPr/>
          <p:nvPr/>
        </p:nvSpPr>
        <p:spPr>
          <a:xfrm>
            <a:off x="8739193" y="2727282"/>
            <a:ext cx="842392" cy="81721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00E4665-D36B-4B9C-A413-62BC99A0C20A}"/>
              </a:ext>
            </a:extLst>
          </p:cNvPr>
          <p:cNvSpPr/>
          <p:nvPr/>
        </p:nvSpPr>
        <p:spPr>
          <a:xfrm>
            <a:off x="9735004" y="3510545"/>
            <a:ext cx="842392" cy="81721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6F2422F-BD5B-4F43-B36B-41B9D70B4AF4}"/>
              </a:ext>
            </a:extLst>
          </p:cNvPr>
          <p:cNvSpPr/>
          <p:nvPr/>
        </p:nvSpPr>
        <p:spPr>
          <a:xfrm>
            <a:off x="9742991" y="4413191"/>
            <a:ext cx="842392" cy="81721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83E7C10-8A3F-4F65-BF85-4EF37D99DDFC}"/>
              </a:ext>
            </a:extLst>
          </p:cNvPr>
          <p:cNvSpPr/>
          <p:nvPr/>
        </p:nvSpPr>
        <p:spPr>
          <a:xfrm>
            <a:off x="8614692" y="5276085"/>
            <a:ext cx="842392" cy="81721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9185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7" grpId="0" animBg="1"/>
      <p:bldP spid="29" grpId="0"/>
      <p:bldP spid="30" grpId="0" animBg="1"/>
      <p:bldP spid="31" grpId="0"/>
      <p:bldP spid="32" grpId="0" animBg="1"/>
      <p:bldP spid="33" grpId="0" animBg="1"/>
      <p:bldP spid="36" grpId="0"/>
      <p:bldP spid="37" grpId="0"/>
      <p:bldP spid="3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8F814-D81D-4E80-BC96-0934CC7E4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04" y="487459"/>
            <a:ext cx="10573818" cy="642835"/>
          </a:xfrm>
        </p:spPr>
        <p:txBody>
          <a:bodyPr/>
          <a:lstStyle/>
          <a:p>
            <a:r>
              <a:rPr lang="en-AU" dirty="0"/>
              <a:t>Using the strips of paper we will make a number 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24D0F-F701-4A38-A747-699F78A68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3561" y="1556792"/>
            <a:ext cx="4645152" cy="76200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AU" dirty="0"/>
              <a:t>Put -1 and 1 on the ends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7929B34-7AAF-4331-8C43-54E992E71DB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4254" y="2642117"/>
                <a:ext cx="7957520" cy="3352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AU" sz="3600" dirty="0"/>
                  <a:t>				</a:t>
                </a:r>
                <a:r>
                  <a:rPr lang="en-AU" sz="3600" b="1" dirty="0"/>
                  <a:t>Fold it!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AU" sz="2400" dirty="0"/>
                  <a:t>Then how can we find where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2400" dirty="0"/>
                  <a:t> are?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			</a:t>
                </a:r>
                <a:r>
                  <a:rPr lang="en-AU" sz="3200" b="1" dirty="0"/>
                  <a:t>Fold it again!</a:t>
                </a:r>
                <a:endParaRPr lang="en-AU" b="1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7929B34-7AAF-4331-8C43-54E992E71D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4254" y="2642117"/>
                <a:ext cx="7957520" cy="3352800"/>
              </a:xfrm>
              <a:blipFill>
                <a:blip r:embed="rId3"/>
                <a:stretch>
                  <a:fillRect l="-1073" t="-436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A3F460-3B55-41F8-8BDF-82127FA02F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652456" y="2046954"/>
            <a:ext cx="7272808" cy="762000"/>
          </a:xfrm>
        </p:spPr>
        <p:txBody>
          <a:bodyPr/>
          <a:lstStyle/>
          <a:p>
            <a:r>
              <a:rPr lang="en-AU" dirty="0"/>
              <a:t>How could we accurately find where zero is?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862EFE83-77E8-4F03-A027-F5F4E98AE3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8740409"/>
                  </p:ext>
                </p:extLst>
              </p:nvPr>
            </p:nvGraphicFramePr>
            <p:xfrm>
              <a:off x="7966620" y="3212976"/>
              <a:ext cx="4226668" cy="313986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056667">
                      <a:extLst>
                        <a:ext uri="{9D8B030D-6E8A-4147-A177-3AD203B41FA5}">
                          <a16:colId xmlns:a16="http://schemas.microsoft.com/office/drawing/2014/main" val="3336068371"/>
                        </a:ext>
                      </a:extLst>
                    </a:gridCol>
                    <a:gridCol w="1056667">
                      <a:extLst>
                        <a:ext uri="{9D8B030D-6E8A-4147-A177-3AD203B41FA5}">
                          <a16:colId xmlns:a16="http://schemas.microsoft.com/office/drawing/2014/main" val="1162189789"/>
                        </a:ext>
                      </a:extLst>
                    </a:gridCol>
                    <a:gridCol w="1056667">
                      <a:extLst>
                        <a:ext uri="{9D8B030D-6E8A-4147-A177-3AD203B41FA5}">
                          <a16:colId xmlns:a16="http://schemas.microsoft.com/office/drawing/2014/main" val="2377958489"/>
                        </a:ext>
                      </a:extLst>
                    </a:gridCol>
                    <a:gridCol w="1056667">
                      <a:extLst>
                        <a:ext uri="{9D8B030D-6E8A-4147-A177-3AD203B41FA5}">
                          <a16:colId xmlns:a16="http://schemas.microsoft.com/office/drawing/2014/main" val="3470069366"/>
                        </a:ext>
                      </a:extLst>
                    </a:gridCol>
                  </a:tblGrid>
                  <a:tr h="1046623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1" i="1" smtClean="0">
                                        <a:latin typeface="Cambria Math" panose="02040503050406030204" pitchFamily="18" charset="0"/>
                                      </a:rPr>
                                      <m:t>𝟏𝟖</m:t>
                                    </m:r>
                                  </m:num>
                                  <m:den>
                                    <m:r>
                                      <a:rPr lang="en-AU" b="1" i="1" smtClean="0">
                                        <a:latin typeface="Cambria Math" panose="02040503050406030204" pitchFamily="18" charset="0"/>
                                      </a:rPr>
                                      <m:t>𝟏𝟗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1" i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num>
                                  <m:den>
                                    <m:r>
                                      <a:rPr lang="en-AU" b="1" i="1" smtClean="0"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AU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44096158"/>
                      </a:ext>
                    </a:extLst>
                  </a:tr>
                  <a:tr h="1046623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1" i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num>
                                  <m:den>
                                    <m:r>
                                      <a:rPr lang="en-AU" b="1" i="1" smtClean="0"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  <a:p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1" i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num>
                                  <m:den>
                                    <m:r>
                                      <a:rPr lang="en-AU" b="1" i="1" smtClean="0"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  <a:p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1" i="1" smtClean="0">
                                        <a:latin typeface="Cambria Math" panose="02040503050406030204" pitchFamily="18" charset="0"/>
                                      </a:rPr>
                                      <m:t>𝟏𝟖</m:t>
                                    </m:r>
                                  </m:num>
                                  <m:den>
                                    <m:r>
                                      <a:rPr lang="en-AU" b="1" i="1" smtClean="0">
                                        <a:latin typeface="Cambria Math" panose="02040503050406030204" pitchFamily="18" charset="0"/>
                                      </a:rPr>
                                      <m:t>𝟏𝟗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  <a:p>
                          <a:endParaRPr lang="en-AU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3467415"/>
                      </a:ext>
                    </a:extLst>
                  </a:tr>
                  <a:tr h="104662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1" i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num>
                                  <m:den>
                                    <m:r>
                                      <a:rPr lang="en-AU" b="1" i="1" smtClean="0"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  <a:p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num>
                                  <m:den>
                                    <m:r>
                                      <a:rPr lang="en-AU" b="1" i="1" smtClean="0">
                                        <a:latin typeface="Cambria Math" panose="02040503050406030204" pitchFamily="18" charset="0"/>
                                      </a:rPr>
                                      <m:t>𝟏𝟓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  <a:p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b="1" i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  <a:p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num>
                                  <m:den>
                                    <m:r>
                                      <a:rPr lang="en-AU" b="1" i="1" smtClean="0">
                                        <a:latin typeface="Cambria Math" panose="02040503050406030204" pitchFamily="18" charset="0"/>
                                      </a:rPr>
                                      <m:t>𝟏𝟓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  <a:p>
                          <a:endParaRPr lang="en-AU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6505627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862EFE83-77E8-4F03-A027-F5F4E98AE3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8740409"/>
                  </p:ext>
                </p:extLst>
              </p:nvPr>
            </p:nvGraphicFramePr>
            <p:xfrm>
              <a:off x="7966620" y="3212976"/>
              <a:ext cx="4226668" cy="313986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056667">
                      <a:extLst>
                        <a:ext uri="{9D8B030D-6E8A-4147-A177-3AD203B41FA5}">
                          <a16:colId xmlns:a16="http://schemas.microsoft.com/office/drawing/2014/main" val="3336068371"/>
                        </a:ext>
                      </a:extLst>
                    </a:gridCol>
                    <a:gridCol w="1056667">
                      <a:extLst>
                        <a:ext uri="{9D8B030D-6E8A-4147-A177-3AD203B41FA5}">
                          <a16:colId xmlns:a16="http://schemas.microsoft.com/office/drawing/2014/main" val="1162189789"/>
                        </a:ext>
                      </a:extLst>
                    </a:gridCol>
                    <a:gridCol w="1056667">
                      <a:extLst>
                        <a:ext uri="{9D8B030D-6E8A-4147-A177-3AD203B41FA5}">
                          <a16:colId xmlns:a16="http://schemas.microsoft.com/office/drawing/2014/main" val="2377958489"/>
                        </a:ext>
                      </a:extLst>
                    </a:gridCol>
                    <a:gridCol w="1056667">
                      <a:extLst>
                        <a:ext uri="{9D8B030D-6E8A-4147-A177-3AD203B41FA5}">
                          <a16:colId xmlns:a16="http://schemas.microsoft.com/office/drawing/2014/main" val="3470069366"/>
                        </a:ext>
                      </a:extLst>
                    </a:gridCol>
                  </a:tblGrid>
                  <a:tr h="10466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75" t="-581" r="-301724" b="-2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575" t="-581" r="-201724" b="-2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1734" t="-581" r="-102890" b="-2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0000" t="-581" r="-2299" b="-20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4096158"/>
                      </a:ext>
                    </a:extLst>
                  </a:tr>
                  <a:tr h="10466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75" t="-100581" r="-301724" b="-1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575" t="-100581" r="-201724" b="-1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1734" t="-100581" r="-102890" b="-1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0000" t="-100581" r="-2299" b="-10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467415"/>
                      </a:ext>
                    </a:extLst>
                  </a:tr>
                  <a:tr h="10466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75" t="-200581" r="-301724" b="-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575" t="-200581" r="-201724" b="-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1734" t="-200581" r="-102890" b="-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0000" t="-200581" r="-2299" b="-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505627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89EBD17-977A-496D-9690-76ED9D85186D}"/>
              </a:ext>
            </a:extLst>
          </p:cNvPr>
          <p:cNvSpPr txBox="1"/>
          <p:nvPr/>
        </p:nvSpPr>
        <p:spPr>
          <a:xfrm>
            <a:off x="7076257" y="2843644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 the strategies to find where these should go!</a:t>
            </a:r>
          </a:p>
        </p:txBody>
      </p:sp>
    </p:spTree>
    <p:extLst>
      <p:ext uri="{BB962C8B-B14F-4D97-AF65-F5344CB8AC3E}">
        <p14:creationId xmlns:p14="http://schemas.microsoft.com/office/powerpoint/2010/main" val="1955920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4D50F-FB72-48C0-AC6D-C00ACD108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797" y="239688"/>
            <a:ext cx="4645152" cy="1245096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0070C0"/>
                </a:solidFill>
              </a:rPr>
              <a:t>Summary- Exit Pass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A96F3E1-D301-4296-9EE4-088E1ACB199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77788" y="1643844"/>
                <a:ext cx="11639028" cy="357031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AU" sz="2800" dirty="0"/>
                  <a:t>Which temperature is lower?</a:t>
                </a:r>
              </a:p>
              <a:p>
                <a:pPr marL="0" indent="0">
                  <a:buNone/>
                </a:pPr>
                <a:endParaRPr lang="en-AU" sz="2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800" i="1" smtClean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AU" sz="2800" dirty="0"/>
                  <a:t>C or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800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AU" sz="2800" dirty="0"/>
                  <a:t>C </a:t>
                </a:r>
              </a:p>
              <a:p>
                <a:pPr marL="0" indent="0">
                  <a:buNone/>
                </a:pPr>
                <a:endParaRPr lang="en-AU" sz="2800" dirty="0"/>
              </a:p>
              <a:p>
                <a:pPr marL="0" indent="0">
                  <a:buNone/>
                </a:pPr>
                <a:r>
                  <a:rPr lang="en-AU" sz="2800" dirty="0"/>
                  <a:t>How much lower is it?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A96F3E1-D301-4296-9EE4-088E1ACB19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77788" y="1643844"/>
                <a:ext cx="11639028" cy="3570312"/>
              </a:xfrm>
              <a:blipFill>
                <a:blip r:embed="rId2"/>
                <a:stretch>
                  <a:fillRect l="-1047" t="-32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383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Watercolor presentation (widescreen)</Template>
  <TotalTime>8933</TotalTime>
  <Words>612</Words>
  <Application>Microsoft Office PowerPoint</Application>
  <PresentationFormat>Custom</PresentationFormat>
  <Paragraphs>117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Cambria Math</vt:lpstr>
      <vt:lpstr>Palatino Linotype</vt:lpstr>
      <vt:lpstr>Wingdings</vt:lpstr>
      <vt:lpstr>Watercolor_16x9</vt:lpstr>
      <vt:lpstr>Topic: Negative Fractions</vt:lpstr>
      <vt:lpstr>Topic: Negative Fractions</vt:lpstr>
      <vt:lpstr>Topic: Negative Fractions</vt:lpstr>
      <vt:lpstr>Topic: Negative Fractions</vt:lpstr>
      <vt:lpstr>Topic: Negative Fractions</vt:lpstr>
      <vt:lpstr>Using the strips of paper we will make a number line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</dc:title>
  <dc:creator>LATHAM Alexandria [Baldivis Secondary College]</dc:creator>
  <cp:lastModifiedBy>LATHAM Alexandria [Baldivis Secondary College]</cp:lastModifiedBy>
  <cp:revision>40</cp:revision>
  <dcterms:created xsi:type="dcterms:W3CDTF">2018-07-29T09:37:46Z</dcterms:created>
  <dcterms:modified xsi:type="dcterms:W3CDTF">2018-08-28T04:20:09Z</dcterms:modified>
</cp:coreProperties>
</file>
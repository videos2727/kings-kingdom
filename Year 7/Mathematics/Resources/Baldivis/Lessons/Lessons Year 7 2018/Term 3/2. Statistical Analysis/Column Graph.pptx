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60" r:id="rId4"/>
  </p:sldMasterIdLst>
  <p:notesMasterIdLst>
    <p:notesMasterId r:id="rId18"/>
  </p:notesMasterIdLst>
  <p:handoutMasterIdLst>
    <p:handoutMasterId r:id="rId19"/>
  </p:handoutMasterIdLst>
  <p:sldIdLst>
    <p:sldId id="258" r:id="rId5"/>
    <p:sldId id="266" r:id="rId6"/>
    <p:sldId id="343" r:id="rId7"/>
    <p:sldId id="267" r:id="rId8"/>
    <p:sldId id="344" r:id="rId9"/>
    <p:sldId id="346" r:id="rId10"/>
    <p:sldId id="348" r:id="rId11"/>
    <p:sldId id="345" r:id="rId12"/>
    <p:sldId id="333" r:id="rId13"/>
    <p:sldId id="340" r:id="rId14"/>
    <p:sldId id="329" r:id="rId15"/>
    <p:sldId id="347" r:id="rId16"/>
    <p:sldId id="318" r:id="rId1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07" autoAdjust="0"/>
    <p:restoredTop sz="85430" autoAdjust="0"/>
  </p:normalViewPr>
  <p:slideViewPr>
    <p:cSldViewPr snapToGrid="0">
      <p:cViewPr varScale="1">
        <p:scale>
          <a:sx n="58" d="100"/>
          <a:sy n="58" d="100"/>
        </p:scale>
        <p:origin x="1428" y="44"/>
      </p:cViewPr>
      <p:guideLst/>
    </p:cSldViewPr>
  </p:slideViewPr>
  <p:notesTextViewPr>
    <p:cViewPr>
      <p:scale>
        <a:sx n="1" d="1"/>
        <a:sy n="1" d="1"/>
      </p:scale>
      <p:origin x="0" y="0"/>
    </p:cViewPr>
  </p:notesTextViewPr>
  <p:notesViewPr>
    <p:cSldViewPr snapToGrid="0">
      <p:cViewPr varScale="1">
        <p:scale>
          <a:sx n="65" d="100"/>
          <a:sy n="65" d="100"/>
        </p:scale>
        <p:origin x="2784" y="4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EEBDA6D-DC69-4DCE-BAF7-6763517D3376}" type="datetimeFigureOut">
              <a:rPr lang="en-US"/>
              <a:t>7/28/2018</a:t>
            </a:fld>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2977E94-A6AB-4E02-8E43-E89F9CF4757F}" type="slidenum">
              <a:rPr/>
              <a:t>‹#›</a:t>
            </a:fld>
            <a:endParaRPr/>
          </a:p>
        </p:txBody>
      </p:sp>
    </p:spTree>
    <p:extLst>
      <p:ext uri="{BB962C8B-B14F-4D97-AF65-F5344CB8AC3E}">
        <p14:creationId xmlns:p14="http://schemas.microsoft.com/office/powerpoint/2010/main" val="21542583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37F6C43-988E-4257-9A1C-C162EF036D58}" type="datetimeFigureOut">
              <a:rPr lang="en-US"/>
              <a:t>7/28/2018</a:t>
            </a:fld>
            <a:endParaRPr/>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D491D0-8E1B-49C7-849B-A28568D94497}" type="slidenum">
              <a:rPr/>
              <a:t>‹#›</a:t>
            </a:fld>
            <a:endParaRPr/>
          </a:p>
        </p:txBody>
      </p:sp>
    </p:spTree>
    <p:extLst>
      <p:ext uri="{BB962C8B-B14F-4D97-AF65-F5344CB8AC3E}">
        <p14:creationId xmlns:p14="http://schemas.microsoft.com/office/powerpoint/2010/main" val="17263258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r>
              <a:rPr lang="en-US" dirty="0"/>
              <a:t>Teacher notes: Students are creating a dot plot with a few </a:t>
            </a:r>
            <a:r>
              <a:rPr lang="en-US" dirty="0" err="1"/>
              <a:t>colours</a:t>
            </a:r>
            <a:r>
              <a:rPr lang="en-US" dirty="0"/>
              <a:t> and their class size. The question seeks to link from dot plot to column graph where it will be easier to represent larger numbers against each interval or category. </a:t>
            </a:r>
          </a:p>
          <a:p>
            <a:endParaRPr lang="en-US" baseline="0" dirty="0"/>
          </a:p>
          <a:p>
            <a:r>
              <a:rPr lang="en-US" baseline="0" dirty="0"/>
              <a:t>You might like to have them draw a box around the dots at some stage to convert it to a column graph.</a:t>
            </a:r>
          </a:p>
          <a:p>
            <a:endParaRPr lang="en-US" baseline="0" dirty="0"/>
          </a:p>
          <a:p>
            <a:r>
              <a:rPr lang="en-US" baseline="0" dirty="0"/>
              <a:t>http://www.scootle.edu.au/ec/viewing/S4681/index.html is a </a:t>
            </a:r>
            <a:r>
              <a:rPr lang="en-US" baseline="0" dirty="0" err="1"/>
              <a:t>Scootle</a:t>
            </a:r>
            <a:r>
              <a:rPr lang="en-US" baseline="0" dirty="0"/>
              <a:t> resource with an animation of constructing column graphs.</a:t>
            </a:r>
          </a:p>
          <a:p>
            <a:r>
              <a:rPr lang="en-US" baseline="0" dirty="0"/>
              <a:t>Another resource - http://education.abc.net.au/home#!/media/1477653/</a:t>
            </a:r>
          </a:p>
          <a:p>
            <a:endParaRPr lang="en-US" baseline="0" dirty="0"/>
          </a:p>
        </p:txBody>
      </p:sp>
      <p:sp>
        <p:nvSpPr>
          <p:cNvPr id="4" name="Slide Number Placeholder 3"/>
          <p:cNvSpPr>
            <a:spLocks noGrp="1"/>
          </p:cNvSpPr>
          <p:nvPr>
            <p:ph type="sldNum" sz="quarter" idx="10"/>
          </p:nvPr>
        </p:nvSpPr>
        <p:spPr/>
        <p:txBody>
          <a:bodyPr/>
          <a:lstStyle/>
          <a:p>
            <a:fld id="{DED491D0-8E1B-49C7-849B-A28568D94497}" type="slidenum">
              <a:rPr lang="uk-UA" smtClean="0"/>
              <a:t>3</a:t>
            </a:fld>
            <a:endParaRPr lang="uk-UA"/>
          </a:p>
        </p:txBody>
      </p:sp>
    </p:spTree>
    <p:extLst>
      <p:ext uri="{BB962C8B-B14F-4D97-AF65-F5344CB8AC3E}">
        <p14:creationId xmlns:p14="http://schemas.microsoft.com/office/powerpoint/2010/main" val="8157016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You might like to use this for a demonstration</a:t>
            </a:r>
          </a:p>
        </p:txBody>
      </p:sp>
      <p:sp>
        <p:nvSpPr>
          <p:cNvPr id="4" name="Slide Number Placeholder 3"/>
          <p:cNvSpPr>
            <a:spLocks noGrp="1"/>
          </p:cNvSpPr>
          <p:nvPr>
            <p:ph type="sldNum" sz="quarter" idx="10"/>
          </p:nvPr>
        </p:nvSpPr>
        <p:spPr/>
        <p:txBody>
          <a:bodyPr/>
          <a:lstStyle/>
          <a:p>
            <a:fld id="{DED491D0-8E1B-49C7-849B-A28568D94497}" type="slidenum">
              <a:rPr lang="en-AU" smtClean="0"/>
              <a:t>7</a:t>
            </a:fld>
            <a:endParaRPr lang="en-AU"/>
          </a:p>
        </p:txBody>
      </p:sp>
    </p:spTree>
    <p:extLst>
      <p:ext uri="{BB962C8B-B14F-4D97-AF65-F5344CB8AC3E}">
        <p14:creationId xmlns:p14="http://schemas.microsoft.com/office/powerpoint/2010/main" val="10425989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r>
              <a:rPr lang="en-US" dirty="0"/>
              <a:t>The Statistics Foldable</a:t>
            </a:r>
            <a:r>
              <a:rPr lang="en-US" baseline="0" dirty="0"/>
              <a:t> works with both dot plots and histograms, so may be good to start now and add on to once we get to histograms. Or just wait until histograms, your call, Teach.</a:t>
            </a:r>
            <a:endParaRPr lang="en-US" dirty="0"/>
          </a:p>
        </p:txBody>
      </p:sp>
      <p:sp>
        <p:nvSpPr>
          <p:cNvPr id="4" name="Slide Number Placeholder 3"/>
          <p:cNvSpPr>
            <a:spLocks noGrp="1"/>
          </p:cNvSpPr>
          <p:nvPr>
            <p:ph type="sldNum" sz="quarter" idx="10"/>
          </p:nvPr>
        </p:nvSpPr>
        <p:spPr/>
        <p:txBody>
          <a:bodyPr/>
          <a:lstStyle/>
          <a:p>
            <a:fld id="{DED491D0-8E1B-49C7-849B-A28568D94497}" type="slidenum">
              <a:rPr lang="uk-UA" smtClean="0"/>
              <a:t>10</a:t>
            </a:fld>
            <a:endParaRPr lang="uk-UA"/>
          </a:p>
        </p:txBody>
      </p:sp>
    </p:spTree>
    <p:extLst>
      <p:ext uri="{BB962C8B-B14F-4D97-AF65-F5344CB8AC3E}">
        <p14:creationId xmlns:p14="http://schemas.microsoft.com/office/powerpoint/2010/main" val="16096828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DED491D0-8E1B-49C7-849B-A28568D94497}" type="slidenum">
              <a:rPr lang="en-AU" smtClean="0"/>
              <a:t>11</a:t>
            </a:fld>
            <a:endParaRPr lang="en-AU"/>
          </a:p>
        </p:txBody>
      </p:sp>
    </p:spTree>
    <p:extLst>
      <p:ext uri="{BB962C8B-B14F-4D97-AF65-F5344CB8AC3E}">
        <p14:creationId xmlns:p14="http://schemas.microsoft.com/office/powerpoint/2010/main" val="30283613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4537668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79B85B-7795-421A-8D18-F98A53FCA607}"/>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AU"/>
          </a:p>
        </p:txBody>
      </p:sp>
      <p:sp>
        <p:nvSpPr>
          <p:cNvPr id="3" name="Subtitle 2">
            <a:extLst>
              <a:ext uri="{FF2B5EF4-FFF2-40B4-BE49-F238E27FC236}">
                <a16:creationId xmlns:a16="http://schemas.microsoft.com/office/drawing/2014/main" id="{E8CDDD43-758D-4D28-9DC9-DB96B1B1FCEF}"/>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09B478BA-8E0D-4993-8D17-1CEE9F799D2F}"/>
              </a:ext>
            </a:extLst>
          </p:cNvPr>
          <p:cNvSpPr>
            <a:spLocks noGrp="1"/>
          </p:cNvSpPr>
          <p:nvPr>
            <p:ph type="dt" sz="half" idx="10"/>
          </p:nvPr>
        </p:nvSpPr>
        <p:spPr/>
        <p:txBody>
          <a:bodyPr/>
          <a:lstStyle/>
          <a:p>
            <a:fld id="{2CCFE9AC-F15C-4FA0-A6F1-298829FA691D}" type="datetimeFigureOut">
              <a:rPr lang="en-US" smtClean="0"/>
              <a:t>7/28/2018</a:t>
            </a:fld>
            <a:endParaRPr lang="en-US"/>
          </a:p>
        </p:txBody>
      </p:sp>
      <p:sp>
        <p:nvSpPr>
          <p:cNvPr id="5" name="Footer Placeholder 4">
            <a:extLst>
              <a:ext uri="{FF2B5EF4-FFF2-40B4-BE49-F238E27FC236}">
                <a16:creationId xmlns:a16="http://schemas.microsoft.com/office/drawing/2014/main" id="{CC5B9E5A-7406-4EE2-AF2D-4CBA8E69D6C8}"/>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4CCE6EAE-E3F7-4E84-A447-1FC26FD66667}"/>
              </a:ext>
            </a:extLst>
          </p:cNvPr>
          <p:cNvSpPr>
            <a:spLocks noGrp="1"/>
          </p:cNvSpPr>
          <p:nvPr>
            <p:ph type="sldNum" sz="quarter" idx="12"/>
          </p:nvPr>
        </p:nvSpPr>
        <p:spPr/>
        <p:txBody>
          <a:bodyPr/>
          <a:lstStyle/>
          <a:p>
            <a:fld id="{BD266BE7-899D-4075-917F-DBDE33B6B692}" type="slidenum">
              <a:rPr lang="en-AU" smtClean="0"/>
              <a:t>‹#›</a:t>
            </a:fld>
            <a:endParaRPr lang="en-AU"/>
          </a:p>
        </p:txBody>
      </p:sp>
    </p:spTree>
    <p:extLst>
      <p:ext uri="{BB962C8B-B14F-4D97-AF65-F5344CB8AC3E}">
        <p14:creationId xmlns:p14="http://schemas.microsoft.com/office/powerpoint/2010/main" val="40439986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75681A-5714-4D8E-8041-882BD0F45E8D}"/>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A711E85E-D11A-420D-8454-7F6F3B847F73}"/>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7063660F-5C99-4836-B34A-64CA38311FF3}"/>
              </a:ext>
            </a:extLst>
          </p:cNvPr>
          <p:cNvSpPr>
            <a:spLocks noGrp="1"/>
          </p:cNvSpPr>
          <p:nvPr>
            <p:ph type="dt" sz="half" idx="10"/>
          </p:nvPr>
        </p:nvSpPr>
        <p:spPr/>
        <p:txBody>
          <a:bodyPr/>
          <a:lstStyle/>
          <a:p>
            <a:fld id="{2CCFE9AC-F15C-4FA0-A6F1-298829FA691D}" type="datetimeFigureOut">
              <a:rPr lang="en-US" smtClean="0"/>
              <a:t>7/28/2018</a:t>
            </a:fld>
            <a:endParaRPr lang="en-US"/>
          </a:p>
        </p:txBody>
      </p:sp>
      <p:sp>
        <p:nvSpPr>
          <p:cNvPr id="5" name="Footer Placeholder 4">
            <a:extLst>
              <a:ext uri="{FF2B5EF4-FFF2-40B4-BE49-F238E27FC236}">
                <a16:creationId xmlns:a16="http://schemas.microsoft.com/office/drawing/2014/main" id="{8BB19A94-4B3C-44A6-8FFD-2BD380B834D7}"/>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0157EB8C-28D1-429F-9FC0-A031B1D62881}"/>
              </a:ext>
            </a:extLst>
          </p:cNvPr>
          <p:cNvSpPr>
            <a:spLocks noGrp="1"/>
          </p:cNvSpPr>
          <p:nvPr>
            <p:ph type="sldNum" sz="quarter" idx="12"/>
          </p:nvPr>
        </p:nvSpPr>
        <p:spPr/>
        <p:txBody>
          <a:bodyPr/>
          <a:lstStyle/>
          <a:p>
            <a:fld id="{BD266BE7-899D-4075-917F-DBDE33B6B692}" type="slidenum">
              <a:rPr lang="en-AU" smtClean="0"/>
              <a:t>‹#›</a:t>
            </a:fld>
            <a:endParaRPr lang="en-AU"/>
          </a:p>
        </p:txBody>
      </p:sp>
    </p:spTree>
    <p:extLst>
      <p:ext uri="{BB962C8B-B14F-4D97-AF65-F5344CB8AC3E}">
        <p14:creationId xmlns:p14="http://schemas.microsoft.com/office/powerpoint/2010/main" val="20888732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D21C36-4A5B-4529-804A-E3F689C56E8A}"/>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B756F324-208A-4088-8E83-75DCA95CC694}"/>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9F3A25BE-8712-4899-A953-E83BD50367A6}"/>
              </a:ext>
            </a:extLst>
          </p:cNvPr>
          <p:cNvSpPr>
            <a:spLocks noGrp="1"/>
          </p:cNvSpPr>
          <p:nvPr>
            <p:ph type="dt" sz="half" idx="10"/>
          </p:nvPr>
        </p:nvSpPr>
        <p:spPr/>
        <p:txBody>
          <a:bodyPr/>
          <a:lstStyle/>
          <a:p>
            <a:fld id="{2CCFE9AC-F15C-4FA0-A6F1-298829FA691D}" type="datetimeFigureOut">
              <a:rPr lang="en-US" smtClean="0"/>
              <a:t>7/28/2018</a:t>
            </a:fld>
            <a:endParaRPr lang="en-US"/>
          </a:p>
        </p:txBody>
      </p:sp>
      <p:sp>
        <p:nvSpPr>
          <p:cNvPr id="5" name="Footer Placeholder 4">
            <a:extLst>
              <a:ext uri="{FF2B5EF4-FFF2-40B4-BE49-F238E27FC236}">
                <a16:creationId xmlns:a16="http://schemas.microsoft.com/office/drawing/2014/main" id="{9081E923-2C4E-44BC-8F12-B01596D3B810}"/>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C3D34247-A3E4-4FCA-94C1-18DC05913FDE}"/>
              </a:ext>
            </a:extLst>
          </p:cNvPr>
          <p:cNvSpPr>
            <a:spLocks noGrp="1"/>
          </p:cNvSpPr>
          <p:nvPr>
            <p:ph type="sldNum" sz="quarter" idx="12"/>
          </p:nvPr>
        </p:nvSpPr>
        <p:spPr/>
        <p:txBody>
          <a:bodyPr/>
          <a:lstStyle/>
          <a:p>
            <a:fld id="{BD266BE7-899D-4075-917F-DBDE33B6B692}" type="slidenum">
              <a:rPr lang="en-AU" smtClean="0"/>
              <a:t>‹#›</a:t>
            </a:fld>
            <a:endParaRPr lang="en-AU"/>
          </a:p>
        </p:txBody>
      </p:sp>
    </p:spTree>
    <p:extLst>
      <p:ext uri="{BB962C8B-B14F-4D97-AF65-F5344CB8AC3E}">
        <p14:creationId xmlns:p14="http://schemas.microsoft.com/office/powerpoint/2010/main" val="36812579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C5B556-6DA9-4433-8269-805C8D8E2BB6}"/>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83D47338-0968-48D7-8D40-67CC3E64A82D}"/>
              </a:ext>
            </a:extLst>
          </p:cNvPr>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835248EA-318D-49BC-96E8-FD80DC1FE43A}"/>
              </a:ext>
            </a:extLst>
          </p:cNvPr>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36DF81CE-8CBF-41BA-BAA7-FD5A84B74038}"/>
              </a:ext>
            </a:extLst>
          </p:cNvPr>
          <p:cNvSpPr>
            <a:spLocks noGrp="1"/>
          </p:cNvSpPr>
          <p:nvPr>
            <p:ph type="dt" sz="half" idx="10"/>
          </p:nvPr>
        </p:nvSpPr>
        <p:spPr/>
        <p:txBody>
          <a:bodyPr/>
          <a:lstStyle/>
          <a:p>
            <a:fld id="{2CCFE9AC-F15C-4FA0-A6F1-298829FA691D}" type="datetimeFigureOut">
              <a:rPr lang="en-US" smtClean="0"/>
              <a:t>7/28/2018</a:t>
            </a:fld>
            <a:endParaRPr lang="en-US"/>
          </a:p>
        </p:txBody>
      </p:sp>
      <p:sp>
        <p:nvSpPr>
          <p:cNvPr id="6" name="Footer Placeholder 5">
            <a:extLst>
              <a:ext uri="{FF2B5EF4-FFF2-40B4-BE49-F238E27FC236}">
                <a16:creationId xmlns:a16="http://schemas.microsoft.com/office/drawing/2014/main" id="{AE7F110E-7316-4E77-B668-226A536C42D6}"/>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D47C1D0C-258B-434D-8695-C9045A807A9C}"/>
              </a:ext>
            </a:extLst>
          </p:cNvPr>
          <p:cNvSpPr>
            <a:spLocks noGrp="1"/>
          </p:cNvSpPr>
          <p:nvPr>
            <p:ph type="sldNum" sz="quarter" idx="12"/>
          </p:nvPr>
        </p:nvSpPr>
        <p:spPr/>
        <p:txBody>
          <a:bodyPr/>
          <a:lstStyle/>
          <a:p>
            <a:fld id="{BD266BE7-899D-4075-917F-DBDE33B6B692}" type="slidenum">
              <a:rPr lang="en-AU" smtClean="0"/>
              <a:t>‹#›</a:t>
            </a:fld>
            <a:endParaRPr lang="en-AU"/>
          </a:p>
        </p:txBody>
      </p:sp>
    </p:spTree>
    <p:extLst>
      <p:ext uri="{BB962C8B-B14F-4D97-AF65-F5344CB8AC3E}">
        <p14:creationId xmlns:p14="http://schemas.microsoft.com/office/powerpoint/2010/main" val="32364759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9D8DF-7D5B-49AB-AA7D-FC7A206BCDAC}"/>
              </a:ext>
            </a:extLst>
          </p:cNvPr>
          <p:cNvSpPr>
            <a:spLocks noGrp="1"/>
          </p:cNvSpPr>
          <p:nvPr>
            <p:ph type="title"/>
          </p:nvPr>
        </p:nvSpPr>
        <p:spPr>
          <a:xfrm>
            <a:off x="629841" y="365126"/>
            <a:ext cx="78867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71DEA93A-2CC6-4900-80D5-A2F74946FB1A}"/>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a:extLst>
              <a:ext uri="{FF2B5EF4-FFF2-40B4-BE49-F238E27FC236}">
                <a16:creationId xmlns:a16="http://schemas.microsoft.com/office/drawing/2014/main" id="{62D706A5-76A2-4031-83F8-756B8B02AC1D}"/>
              </a:ext>
            </a:extLst>
          </p:cNvPr>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E9E94A30-CA05-4772-A4B8-A441E2645BA7}"/>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a:extLst>
              <a:ext uri="{FF2B5EF4-FFF2-40B4-BE49-F238E27FC236}">
                <a16:creationId xmlns:a16="http://schemas.microsoft.com/office/drawing/2014/main" id="{087167DD-E27C-4CD5-9A54-3204A94E7AF5}"/>
              </a:ext>
            </a:extLst>
          </p:cNvPr>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3286C963-B6CF-4E6D-9D71-F5E4AAC9F7AE}"/>
              </a:ext>
            </a:extLst>
          </p:cNvPr>
          <p:cNvSpPr>
            <a:spLocks noGrp="1"/>
          </p:cNvSpPr>
          <p:nvPr>
            <p:ph type="dt" sz="half" idx="10"/>
          </p:nvPr>
        </p:nvSpPr>
        <p:spPr/>
        <p:txBody>
          <a:bodyPr/>
          <a:lstStyle/>
          <a:p>
            <a:fld id="{2CCFE9AC-F15C-4FA0-A6F1-298829FA691D}" type="datetimeFigureOut">
              <a:rPr lang="en-US" smtClean="0"/>
              <a:t>7/28/2018</a:t>
            </a:fld>
            <a:endParaRPr lang="en-US"/>
          </a:p>
        </p:txBody>
      </p:sp>
      <p:sp>
        <p:nvSpPr>
          <p:cNvPr id="8" name="Footer Placeholder 7">
            <a:extLst>
              <a:ext uri="{FF2B5EF4-FFF2-40B4-BE49-F238E27FC236}">
                <a16:creationId xmlns:a16="http://schemas.microsoft.com/office/drawing/2014/main" id="{5ADEA515-74AE-4ACF-B59C-AE5A6F3E1E46}"/>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A4EB5636-6064-4E6C-B346-02F1E7347D7C}"/>
              </a:ext>
            </a:extLst>
          </p:cNvPr>
          <p:cNvSpPr>
            <a:spLocks noGrp="1"/>
          </p:cNvSpPr>
          <p:nvPr>
            <p:ph type="sldNum" sz="quarter" idx="12"/>
          </p:nvPr>
        </p:nvSpPr>
        <p:spPr/>
        <p:txBody>
          <a:bodyPr/>
          <a:lstStyle/>
          <a:p>
            <a:fld id="{BD266BE7-899D-4075-917F-DBDE33B6B692}" type="slidenum">
              <a:rPr lang="en-AU" smtClean="0"/>
              <a:t>‹#›</a:t>
            </a:fld>
            <a:endParaRPr lang="en-AU"/>
          </a:p>
        </p:txBody>
      </p:sp>
    </p:spTree>
    <p:extLst>
      <p:ext uri="{BB962C8B-B14F-4D97-AF65-F5344CB8AC3E}">
        <p14:creationId xmlns:p14="http://schemas.microsoft.com/office/powerpoint/2010/main" val="33273188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A7945-A39B-4CBE-AC8E-9459312E92D6}"/>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151B9C20-F399-4948-9C59-B38756967072}"/>
              </a:ext>
            </a:extLst>
          </p:cNvPr>
          <p:cNvSpPr>
            <a:spLocks noGrp="1"/>
          </p:cNvSpPr>
          <p:nvPr>
            <p:ph type="dt" sz="half" idx="10"/>
          </p:nvPr>
        </p:nvSpPr>
        <p:spPr/>
        <p:txBody>
          <a:bodyPr/>
          <a:lstStyle/>
          <a:p>
            <a:fld id="{2CCFE9AC-F15C-4FA0-A6F1-298829FA691D}" type="datetimeFigureOut">
              <a:rPr lang="en-US" smtClean="0"/>
              <a:t>7/28/2018</a:t>
            </a:fld>
            <a:endParaRPr lang="en-US"/>
          </a:p>
        </p:txBody>
      </p:sp>
      <p:sp>
        <p:nvSpPr>
          <p:cNvPr id="4" name="Footer Placeholder 3">
            <a:extLst>
              <a:ext uri="{FF2B5EF4-FFF2-40B4-BE49-F238E27FC236}">
                <a16:creationId xmlns:a16="http://schemas.microsoft.com/office/drawing/2014/main" id="{F15E0A60-44BF-4959-983B-81A3316835D7}"/>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D3B7D067-E06C-401C-876C-6B43911ADBD1}"/>
              </a:ext>
            </a:extLst>
          </p:cNvPr>
          <p:cNvSpPr>
            <a:spLocks noGrp="1"/>
          </p:cNvSpPr>
          <p:nvPr>
            <p:ph type="sldNum" sz="quarter" idx="12"/>
          </p:nvPr>
        </p:nvSpPr>
        <p:spPr/>
        <p:txBody>
          <a:bodyPr/>
          <a:lstStyle/>
          <a:p>
            <a:fld id="{BD266BE7-899D-4075-917F-DBDE33B6B692}" type="slidenum">
              <a:rPr lang="en-AU" smtClean="0"/>
              <a:t>‹#›</a:t>
            </a:fld>
            <a:endParaRPr lang="en-AU"/>
          </a:p>
        </p:txBody>
      </p:sp>
    </p:spTree>
    <p:extLst>
      <p:ext uri="{BB962C8B-B14F-4D97-AF65-F5344CB8AC3E}">
        <p14:creationId xmlns:p14="http://schemas.microsoft.com/office/powerpoint/2010/main" val="4011695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5F460A-2E4F-4DE0-A476-8C4998354D1A}"/>
              </a:ext>
            </a:extLst>
          </p:cNvPr>
          <p:cNvSpPr>
            <a:spLocks noGrp="1"/>
          </p:cNvSpPr>
          <p:nvPr>
            <p:ph type="dt" sz="half" idx="10"/>
          </p:nvPr>
        </p:nvSpPr>
        <p:spPr/>
        <p:txBody>
          <a:bodyPr/>
          <a:lstStyle/>
          <a:p>
            <a:fld id="{2CCFE9AC-F15C-4FA0-A6F1-298829FA691D}" type="datetimeFigureOut">
              <a:rPr lang="en-US" smtClean="0"/>
              <a:t>7/28/2018</a:t>
            </a:fld>
            <a:endParaRPr lang="en-US"/>
          </a:p>
        </p:txBody>
      </p:sp>
      <p:sp>
        <p:nvSpPr>
          <p:cNvPr id="3" name="Footer Placeholder 2">
            <a:extLst>
              <a:ext uri="{FF2B5EF4-FFF2-40B4-BE49-F238E27FC236}">
                <a16:creationId xmlns:a16="http://schemas.microsoft.com/office/drawing/2014/main" id="{103B7F67-B727-464A-AF53-A17B81845561}"/>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1ECB591F-E9AB-4B87-83CD-E3238188A57E}"/>
              </a:ext>
            </a:extLst>
          </p:cNvPr>
          <p:cNvSpPr>
            <a:spLocks noGrp="1"/>
          </p:cNvSpPr>
          <p:nvPr>
            <p:ph type="sldNum" sz="quarter" idx="12"/>
          </p:nvPr>
        </p:nvSpPr>
        <p:spPr/>
        <p:txBody>
          <a:bodyPr/>
          <a:lstStyle/>
          <a:p>
            <a:fld id="{BD266BE7-899D-4075-917F-DBDE33B6B692}" type="slidenum">
              <a:rPr lang="en-AU" smtClean="0"/>
              <a:t>‹#›</a:t>
            </a:fld>
            <a:endParaRPr lang="en-AU"/>
          </a:p>
        </p:txBody>
      </p:sp>
    </p:spTree>
    <p:extLst>
      <p:ext uri="{BB962C8B-B14F-4D97-AF65-F5344CB8AC3E}">
        <p14:creationId xmlns:p14="http://schemas.microsoft.com/office/powerpoint/2010/main" val="23612320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138DBF-A050-45BF-B7A5-A02EF893C429}"/>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43854C8C-F90E-48FF-A605-88A1C5DFD2F7}"/>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9FE21363-1262-4778-8778-35C45DC177B0}"/>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a:extLst>
              <a:ext uri="{FF2B5EF4-FFF2-40B4-BE49-F238E27FC236}">
                <a16:creationId xmlns:a16="http://schemas.microsoft.com/office/drawing/2014/main" id="{3BC20DEE-B785-4628-9C45-8E889BF80B5E}"/>
              </a:ext>
            </a:extLst>
          </p:cNvPr>
          <p:cNvSpPr>
            <a:spLocks noGrp="1"/>
          </p:cNvSpPr>
          <p:nvPr>
            <p:ph type="dt" sz="half" idx="10"/>
          </p:nvPr>
        </p:nvSpPr>
        <p:spPr/>
        <p:txBody>
          <a:bodyPr/>
          <a:lstStyle/>
          <a:p>
            <a:fld id="{2CCFE9AC-F15C-4FA0-A6F1-298829FA691D}" type="datetimeFigureOut">
              <a:rPr lang="en-US" smtClean="0"/>
              <a:t>7/28/2018</a:t>
            </a:fld>
            <a:endParaRPr lang="en-US"/>
          </a:p>
        </p:txBody>
      </p:sp>
      <p:sp>
        <p:nvSpPr>
          <p:cNvPr id="6" name="Footer Placeholder 5">
            <a:extLst>
              <a:ext uri="{FF2B5EF4-FFF2-40B4-BE49-F238E27FC236}">
                <a16:creationId xmlns:a16="http://schemas.microsoft.com/office/drawing/2014/main" id="{AD62352A-82C1-4BC1-9654-CB543B86486B}"/>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87F3AEB8-A93F-4A1E-9F24-86B9D179E207}"/>
              </a:ext>
            </a:extLst>
          </p:cNvPr>
          <p:cNvSpPr>
            <a:spLocks noGrp="1"/>
          </p:cNvSpPr>
          <p:nvPr>
            <p:ph type="sldNum" sz="quarter" idx="12"/>
          </p:nvPr>
        </p:nvSpPr>
        <p:spPr/>
        <p:txBody>
          <a:bodyPr/>
          <a:lstStyle/>
          <a:p>
            <a:fld id="{BD266BE7-899D-4075-917F-DBDE33B6B692}" type="slidenum">
              <a:rPr lang="en-AU" smtClean="0"/>
              <a:t>‹#›</a:t>
            </a:fld>
            <a:endParaRPr lang="en-AU"/>
          </a:p>
        </p:txBody>
      </p:sp>
    </p:spTree>
    <p:extLst>
      <p:ext uri="{BB962C8B-B14F-4D97-AF65-F5344CB8AC3E}">
        <p14:creationId xmlns:p14="http://schemas.microsoft.com/office/powerpoint/2010/main" val="8332289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B64EA2-D6D4-48E6-B446-2D366ED39525}"/>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AB124714-9DE4-41DF-B165-23B0C02B7DBF}"/>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AU"/>
          </a:p>
        </p:txBody>
      </p:sp>
      <p:sp>
        <p:nvSpPr>
          <p:cNvPr id="4" name="Text Placeholder 3">
            <a:extLst>
              <a:ext uri="{FF2B5EF4-FFF2-40B4-BE49-F238E27FC236}">
                <a16:creationId xmlns:a16="http://schemas.microsoft.com/office/drawing/2014/main" id="{A3216E92-74DE-44BC-A18E-1A15D43079FD}"/>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a:extLst>
              <a:ext uri="{FF2B5EF4-FFF2-40B4-BE49-F238E27FC236}">
                <a16:creationId xmlns:a16="http://schemas.microsoft.com/office/drawing/2014/main" id="{1864CEBF-0444-4484-A84F-55AFA26EC721}"/>
              </a:ext>
            </a:extLst>
          </p:cNvPr>
          <p:cNvSpPr>
            <a:spLocks noGrp="1"/>
          </p:cNvSpPr>
          <p:nvPr>
            <p:ph type="dt" sz="half" idx="10"/>
          </p:nvPr>
        </p:nvSpPr>
        <p:spPr/>
        <p:txBody>
          <a:bodyPr/>
          <a:lstStyle/>
          <a:p>
            <a:fld id="{2CCFE9AC-F15C-4FA0-A6F1-298829FA691D}" type="datetimeFigureOut">
              <a:rPr lang="en-US" smtClean="0"/>
              <a:t>7/28/2018</a:t>
            </a:fld>
            <a:endParaRPr lang="en-US"/>
          </a:p>
        </p:txBody>
      </p:sp>
      <p:sp>
        <p:nvSpPr>
          <p:cNvPr id="6" name="Footer Placeholder 5">
            <a:extLst>
              <a:ext uri="{FF2B5EF4-FFF2-40B4-BE49-F238E27FC236}">
                <a16:creationId xmlns:a16="http://schemas.microsoft.com/office/drawing/2014/main" id="{97D924E7-2F54-4380-9416-A51ABBBC9D05}"/>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FB8DE40F-4128-4AD4-9674-3EEC86029182}"/>
              </a:ext>
            </a:extLst>
          </p:cNvPr>
          <p:cNvSpPr>
            <a:spLocks noGrp="1"/>
          </p:cNvSpPr>
          <p:nvPr>
            <p:ph type="sldNum" sz="quarter" idx="12"/>
          </p:nvPr>
        </p:nvSpPr>
        <p:spPr/>
        <p:txBody>
          <a:bodyPr/>
          <a:lstStyle/>
          <a:p>
            <a:fld id="{BD266BE7-899D-4075-917F-DBDE33B6B692}" type="slidenum">
              <a:rPr lang="en-AU" smtClean="0"/>
              <a:t>‹#›</a:t>
            </a:fld>
            <a:endParaRPr lang="en-AU"/>
          </a:p>
        </p:txBody>
      </p:sp>
    </p:spTree>
    <p:extLst>
      <p:ext uri="{BB962C8B-B14F-4D97-AF65-F5344CB8AC3E}">
        <p14:creationId xmlns:p14="http://schemas.microsoft.com/office/powerpoint/2010/main" val="17610173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A91C15-181A-4005-B016-8A7683BC3E9C}"/>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D9763D73-BAD6-4D82-B518-01C1CF4AFFEE}"/>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0A54A8CC-238B-44B0-AF3F-EB31E2F4BAD2}"/>
              </a:ext>
            </a:extLst>
          </p:cNvPr>
          <p:cNvSpPr>
            <a:spLocks noGrp="1"/>
          </p:cNvSpPr>
          <p:nvPr>
            <p:ph type="dt" sz="half" idx="10"/>
          </p:nvPr>
        </p:nvSpPr>
        <p:spPr/>
        <p:txBody>
          <a:bodyPr/>
          <a:lstStyle/>
          <a:p>
            <a:fld id="{2CCFE9AC-F15C-4FA0-A6F1-298829FA691D}" type="datetimeFigureOut">
              <a:rPr lang="en-US" smtClean="0"/>
              <a:t>7/28/2018</a:t>
            </a:fld>
            <a:endParaRPr lang="en-US"/>
          </a:p>
        </p:txBody>
      </p:sp>
      <p:sp>
        <p:nvSpPr>
          <p:cNvPr id="5" name="Footer Placeholder 4">
            <a:extLst>
              <a:ext uri="{FF2B5EF4-FFF2-40B4-BE49-F238E27FC236}">
                <a16:creationId xmlns:a16="http://schemas.microsoft.com/office/drawing/2014/main" id="{42C3DC5E-A60C-4AE1-AB17-53A48D5DA09D}"/>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78B4E1EE-D79D-415B-8459-6401ADF3490D}"/>
              </a:ext>
            </a:extLst>
          </p:cNvPr>
          <p:cNvSpPr>
            <a:spLocks noGrp="1"/>
          </p:cNvSpPr>
          <p:nvPr>
            <p:ph type="sldNum" sz="quarter" idx="12"/>
          </p:nvPr>
        </p:nvSpPr>
        <p:spPr/>
        <p:txBody>
          <a:bodyPr/>
          <a:lstStyle/>
          <a:p>
            <a:fld id="{BD266BE7-899D-4075-917F-DBDE33B6B692}" type="slidenum">
              <a:rPr lang="en-AU" smtClean="0"/>
              <a:t>‹#›</a:t>
            </a:fld>
            <a:endParaRPr lang="en-AU"/>
          </a:p>
        </p:txBody>
      </p:sp>
    </p:spTree>
    <p:extLst>
      <p:ext uri="{BB962C8B-B14F-4D97-AF65-F5344CB8AC3E}">
        <p14:creationId xmlns:p14="http://schemas.microsoft.com/office/powerpoint/2010/main" val="33000627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5058B14-B804-4ED4-BEE7-F3602789BCC8}"/>
              </a:ext>
            </a:extLst>
          </p:cNvPr>
          <p:cNvSpPr>
            <a:spLocks noGrp="1"/>
          </p:cNvSpPr>
          <p:nvPr>
            <p:ph type="title" orient="vert"/>
          </p:nvPr>
        </p:nvSpPr>
        <p:spPr>
          <a:xfrm>
            <a:off x="6543675" y="365125"/>
            <a:ext cx="1971675"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68EAD7EA-F52E-4E0A-9C78-18F704F52DD5}"/>
              </a:ext>
            </a:extLst>
          </p:cNvPr>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C19CE13D-A299-431C-9167-5C669CB001E9}"/>
              </a:ext>
            </a:extLst>
          </p:cNvPr>
          <p:cNvSpPr>
            <a:spLocks noGrp="1"/>
          </p:cNvSpPr>
          <p:nvPr>
            <p:ph type="dt" sz="half" idx="10"/>
          </p:nvPr>
        </p:nvSpPr>
        <p:spPr/>
        <p:txBody>
          <a:bodyPr/>
          <a:lstStyle/>
          <a:p>
            <a:fld id="{2CCFE9AC-F15C-4FA0-A6F1-298829FA691D}" type="datetimeFigureOut">
              <a:rPr lang="en-US" smtClean="0"/>
              <a:t>7/28/2018</a:t>
            </a:fld>
            <a:endParaRPr lang="en-US"/>
          </a:p>
        </p:txBody>
      </p:sp>
      <p:sp>
        <p:nvSpPr>
          <p:cNvPr id="5" name="Footer Placeholder 4">
            <a:extLst>
              <a:ext uri="{FF2B5EF4-FFF2-40B4-BE49-F238E27FC236}">
                <a16:creationId xmlns:a16="http://schemas.microsoft.com/office/drawing/2014/main" id="{4BA1F2A5-8D3F-4544-AE92-050577896B88}"/>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613F8C22-22CF-49D1-8AB8-C86F3D6E49F7}"/>
              </a:ext>
            </a:extLst>
          </p:cNvPr>
          <p:cNvSpPr>
            <a:spLocks noGrp="1"/>
          </p:cNvSpPr>
          <p:nvPr>
            <p:ph type="sldNum" sz="quarter" idx="12"/>
          </p:nvPr>
        </p:nvSpPr>
        <p:spPr/>
        <p:txBody>
          <a:bodyPr/>
          <a:lstStyle/>
          <a:p>
            <a:fld id="{BD266BE7-899D-4075-917F-DBDE33B6B692}" type="slidenum">
              <a:rPr lang="en-AU" smtClean="0"/>
              <a:t>‹#›</a:t>
            </a:fld>
            <a:endParaRPr lang="en-AU"/>
          </a:p>
        </p:txBody>
      </p:sp>
    </p:spTree>
    <p:extLst>
      <p:ext uri="{BB962C8B-B14F-4D97-AF65-F5344CB8AC3E}">
        <p14:creationId xmlns:p14="http://schemas.microsoft.com/office/powerpoint/2010/main" val="28326003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0738315-3766-4089-972E-E62041BFB8E7}"/>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0C1E5CE4-FF61-4CA6-A2E3-37CD4043F680}"/>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0D90E9E0-1B83-44F4-B4DF-F28937465260}"/>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2CCFE9AC-F15C-4FA0-A6F1-298829FA691D}" type="datetimeFigureOut">
              <a:rPr lang="en-US" smtClean="0"/>
              <a:t>7/28/2018</a:t>
            </a:fld>
            <a:endParaRPr lang="en-US"/>
          </a:p>
        </p:txBody>
      </p:sp>
      <p:sp>
        <p:nvSpPr>
          <p:cNvPr id="5" name="Footer Placeholder 4">
            <a:extLst>
              <a:ext uri="{FF2B5EF4-FFF2-40B4-BE49-F238E27FC236}">
                <a16:creationId xmlns:a16="http://schemas.microsoft.com/office/drawing/2014/main" id="{B28E26F8-C16A-4A44-B9CE-7805D85A465B}"/>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AU"/>
          </a:p>
        </p:txBody>
      </p:sp>
      <p:sp>
        <p:nvSpPr>
          <p:cNvPr id="6" name="Slide Number Placeholder 5">
            <a:extLst>
              <a:ext uri="{FF2B5EF4-FFF2-40B4-BE49-F238E27FC236}">
                <a16:creationId xmlns:a16="http://schemas.microsoft.com/office/drawing/2014/main" id="{EDFA7FE9-9F69-41F2-8EF3-506B32B0348B}"/>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D266BE7-899D-4075-917F-DBDE33B6B692}" type="slidenum">
              <a:rPr lang="en-AU" smtClean="0"/>
              <a:t>‹#›</a:t>
            </a:fld>
            <a:endParaRPr lang="en-AU"/>
          </a:p>
        </p:txBody>
      </p:sp>
    </p:spTree>
    <p:extLst>
      <p:ext uri="{BB962C8B-B14F-4D97-AF65-F5344CB8AC3E}">
        <p14:creationId xmlns:p14="http://schemas.microsoft.com/office/powerpoint/2010/main" val="394939717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292774"/>
            <a:ext cx="6858000" cy="777272"/>
          </a:xfrm>
        </p:spPr>
        <p:txBody>
          <a:bodyPr>
            <a:normAutofit/>
          </a:bodyPr>
          <a:lstStyle/>
          <a:p>
            <a:r>
              <a:rPr lang="en-US" dirty="0"/>
              <a:t>Statistical Analysis</a:t>
            </a:r>
          </a:p>
        </p:txBody>
      </p:sp>
      <p:sp>
        <p:nvSpPr>
          <p:cNvPr id="3" name="Subtitle 2"/>
          <p:cNvSpPr>
            <a:spLocks noGrp="1"/>
          </p:cNvSpPr>
          <p:nvPr>
            <p:ph type="subTitle" idx="1"/>
          </p:nvPr>
        </p:nvSpPr>
        <p:spPr>
          <a:xfrm>
            <a:off x="683172" y="2675434"/>
            <a:ext cx="7882759" cy="2112521"/>
          </a:xfrm>
        </p:spPr>
        <p:txBody>
          <a:bodyPr>
            <a:noAutofit/>
          </a:bodyPr>
          <a:lstStyle/>
          <a:p>
            <a:r>
              <a:rPr lang="en-US" sz="2800" dirty="0"/>
              <a:t>Topic: Column Graph</a:t>
            </a:r>
          </a:p>
          <a:p>
            <a:endParaRPr lang="en-US" sz="2800" dirty="0"/>
          </a:p>
          <a:p>
            <a:r>
              <a:rPr lang="en-US" sz="2800" dirty="0"/>
              <a:t>EQ: What is a column graph and why do we use them to display data?</a:t>
            </a:r>
          </a:p>
        </p:txBody>
      </p:sp>
    </p:spTree>
    <p:extLst>
      <p:ext uri="{BB962C8B-B14F-4D97-AF65-F5344CB8AC3E}">
        <p14:creationId xmlns:p14="http://schemas.microsoft.com/office/powerpoint/2010/main" val="17326983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1207008"/>
            <a:ext cx="9067800" cy="707518"/>
          </a:xfrm>
        </p:spPr>
        <p:txBody>
          <a:bodyPr>
            <a:normAutofit fontScale="90000"/>
          </a:bodyPr>
          <a:lstStyle/>
          <a:p>
            <a:r>
              <a:rPr lang="en-US" dirty="0"/>
              <a:t>The Judging Standards for this unit (aka - How You will be Assessed!)</a:t>
            </a:r>
          </a:p>
        </p:txBody>
      </p:sp>
      <p:pic>
        <p:nvPicPr>
          <p:cNvPr id="11" name="Picture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246184"/>
            <a:ext cx="9144000" cy="414100"/>
          </a:xfrm>
          <a:prstGeom prst="rect">
            <a:avLst/>
          </a:prstGeom>
        </p:spPr>
      </p:pic>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563742"/>
            <a:ext cx="9144000" cy="1183142"/>
          </a:xfrm>
          <a:prstGeom prst="rect">
            <a:avLst/>
          </a:prstGeom>
        </p:spPr>
      </p:pic>
      <p:pic>
        <p:nvPicPr>
          <p:cNvPr id="13" name="Picture 1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2677618"/>
            <a:ext cx="9144000" cy="919461"/>
          </a:xfrm>
          <a:prstGeom prst="rect">
            <a:avLst/>
          </a:prstGeom>
        </p:spPr>
      </p:pic>
      <p:pic>
        <p:nvPicPr>
          <p:cNvPr id="14" name="Picture 1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4713547"/>
            <a:ext cx="9144000" cy="1056377"/>
          </a:xfrm>
          <a:prstGeom prst="rect">
            <a:avLst/>
          </a:prstGeom>
        </p:spPr>
      </p:pic>
    </p:spTree>
    <p:extLst>
      <p:ext uri="{BB962C8B-B14F-4D97-AF65-F5344CB8AC3E}">
        <p14:creationId xmlns:p14="http://schemas.microsoft.com/office/powerpoint/2010/main" val="29024663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161" y="380384"/>
            <a:ext cx="8423631" cy="996753"/>
          </a:xfrm>
        </p:spPr>
        <p:txBody>
          <a:bodyPr>
            <a:normAutofit/>
          </a:bodyPr>
          <a:lstStyle/>
          <a:p>
            <a:r>
              <a:rPr lang="en-US" sz="3200" dirty="0">
                <a:latin typeface="Arial" panose="020B0604020202020204" pitchFamily="34" charset="0"/>
                <a:cs typeface="Arial" panose="020B0604020202020204" pitchFamily="34" charset="0"/>
              </a:rPr>
              <a:t>Starter Activity </a:t>
            </a:r>
            <a:r>
              <a:rPr lang="mr-IN" sz="3200" dirty="0">
                <a:latin typeface="Arial" panose="020B0604020202020204" pitchFamily="34" charset="0"/>
              </a:rPr>
              <a:t>–</a:t>
            </a:r>
            <a:r>
              <a:rPr lang="en-US" sz="3200" dirty="0">
                <a:latin typeface="Arial" panose="020B0604020202020204" pitchFamily="34" charset="0"/>
                <a:cs typeface="Arial" panose="020B0604020202020204" pitchFamily="34" charset="0"/>
              </a:rPr>
              <a:t> </a:t>
            </a:r>
          </a:p>
        </p:txBody>
      </p:sp>
      <p:sp>
        <p:nvSpPr>
          <p:cNvPr id="3" name="TextBox 2"/>
          <p:cNvSpPr txBox="1"/>
          <p:nvPr/>
        </p:nvSpPr>
        <p:spPr>
          <a:xfrm>
            <a:off x="275991" y="1746162"/>
            <a:ext cx="8053969" cy="2308324"/>
          </a:xfrm>
          <a:prstGeom prst="rect">
            <a:avLst/>
          </a:prstGeom>
          <a:noFill/>
        </p:spPr>
        <p:txBody>
          <a:bodyPr wrap="square" rtlCol="0">
            <a:spAutoFit/>
          </a:bodyPr>
          <a:lstStyle/>
          <a:p>
            <a:pPr marL="214313" indent="-214313">
              <a:buFont typeface="Arial" charset="0"/>
              <a:buChar char="•"/>
            </a:pPr>
            <a:r>
              <a:rPr lang="en-AU" sz="2400" dirty="0"/>
              <a:t>Survey class for favourite colour</a:t>
            </a:r>
          </a:p>
          <a:p>
            <a:pPr marL="214313" indent="-214313">
              <a:buFont typeface="Arial" charset="0"/>
              <a:buChar char="•"/>
            </a:pPr>
            <a:r>
              <a:rPr lang="en-AU" sz="2400" dirty="0"/>
              <a:t>Have them tally the results and create a dot plot (revision from earlier lesson)</a:t>
            </a:r>
          </a:p>
          <a:p>
            <a:pPr marL="214313" indent="-214313">
              <a:buFont typeface="Arial" charset="0"/>
              <a:buChar char="•"/>
            </a:pPr>
            <a:r>
              <a:rPr lang="en-AU" sz="2400" dirty="0"/>
              <a:t>Pose the question – what if we had 100 students in our survey?</a:t>
            </a:r>
          </a:p>
          <a:p>
            <a:pPr marL="214313" indent="-214313">
              <a:buFont typeface="Arial" charset="0"/>
              <a:buChar char="•"/>
            </a:pPr>
            <a:endParaRPr lang="en-US" sz="2400" dirty="0"/>
          </a:p>
        </p:txBody>
      </p:sp>
    </p:spTree>
    <p:extLst>
      <p:ext uri="{BB962C8B-B14F-4D97-AF65-F5344CB8AC3E}">
        <p14:creationId xmlns:p14="http://schemas.microsoft.com/office/powerpoint/2010/main" val="8527979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a:t>24</a:t>
            </a:r>
          </a:p>
          <a:p>
            <a:r>
              <a:rPr lang="en-AU" sz="1600" dirty="0"/>
              <a:t>7</a:t>
            </a:r>
          </a:p>
          <a:p>
            <a:r>
              <a:rPr lang="en-AU" sz="1600" dirty="0"/>
              <a:t>30</a:t>
            </a:r>
          </a:p>
        </p:txBody>
      </p:sp>
      <p:sp>
        <p:nvSpPr>
          <p:cNvPr id="10" name="TextBox 9"/>
          <p:cNvSpPr txBox="1"/>
          <p:nvPr/>
        </p:nvSpPr>
        <p:spPr>
          <a:xfrm>
            <a:off x="686465" y="251357"/>
            <a:ext cx="2427909" cy="523220"/>
          </a:xfrm>
          <a:prstGeom prst="rect">
            <a:avLst/>
          </a:prstGeom>
          <a:noFill/>
        </p:spPr>
        <p:txBody>
          <a:bodyPr wrap="none" rtlCol="0">
            <a:spAutoFit/>
          </a:bodyPr>
          <a:lstStyle/>
          <a:p>
            <a:r>
              <a:rPr lang="en-AU" sz="2800" dirty="0"/>
              <a:t>Column Graphs</a:t>
            </a:r>
          </a:p>
        </p:txBody>
      </p:sp>
      <p:cxnSp>
        <p:nvCxnSpPr>
          <p:cNvPr id="13" name="Straight Connector 12"/>
          <p:cNvCxnSpPr>
            <a:cxnSpLocks/>
          </p:cNvCxnSpPr>
          <p:nvPr/>
        </p:nvCxnSpPr>
        <p:spPr>
          <a:xfrm>
            <a:off x="2267744" y="1916832"/>
            <a:ext cx="0" cy="3172961"/>
          </a:xfrm>
          <a:prstGeom prst="line">
            <a:avLst/>
          </a:prstGeom>
        </p:spPr>
        <p:style>
          <a:lnRef idx="1">
            <a:schemeClr val="accent2"/>
          </a:lnRef>
          <a:fillRef idx="0">
            <a:schemeClr val="accent2"/>
          </a:fillRef>
          <a:effectRef idx="0">
            <a:schemeClr val="accent2"/>
          </a:effectRef>
          <a:fontRef idx="minor">
            <a:schemeClr val="tx1"/>
          </a:fontRef>
        </p:style>
      </p:cxnSp>
      <p:sp>
        <p:nvSpPr>
          <p:cNvPr id="22" name="TextBox 21">
            <a:extLst>
              <a:ext uri="{FF2B5EF4-FFF2-40B4-BE49-F238E27FC236}">
                <a16:creationId xmlns:a16="http://schemas.microsoft.com/office/drawing/2014/main" id="{118B3318-A83E-4079-9FFB-0AB3DC6942FB}"/>
              </a:ext>
            </a:extLst>
          </p:cNvPr>
          <p:cNvSpPr txBox="1"/>
          <p:nvPr/>
        </p:nvSpPr>
        <p:spPr>
          <a:xfrm>
            <a:off x="7439175" y="206429"/>
            <a:ext cx="1584176" cy="461665"/>
          </a:xfrm>
          <a:prstGeom prst="rect">
            <a:avLst/>
          </a:prstGeom>
          <a:noFill/>
        </p:spPr>
        <p:txBody>
          <a:bodyPr wrap="square" rtlCol="0">
            <a:spAutoFit/>
          </a:bodyPr>
          <a:lstStyle/>
          <a:p>
            <a:r>
              <a:rPr lang="en-AU" sz="2400" dirty="0"/>
              <a:t>Date</a:t>
            </a:r>
          </a:p>
        </p:txBody>
      </p:sp>
      <p:sp>
        <p:nvSpPr>
          <p:cNvPr id="23" name="TextBox 22">
            <a:extLst>
              <a:ext uri="{FF2B5EF4-FFF2-40B4-BE49-F238E27FC236}">
                <a16:creationId xmlns:a16="http://schemas.microsoft.com/office/drawing/2014/main" id="{CC43BB08-15C1-461A-9A30-7797DDE0B81D}"/>
              </a:ext>
            </a:extLst>
          </p:cNvPr>
          <p:cNvSpPr txBox="1"/>
          <p:nvPr/>
        </p:nvSpPr>
        <p:spPr>
          <a:xfrm>
            <a:off x="80408" y="1144177"/>
            <a:ext cx="8929880" cy="461665"/>
          </a:xfrm>
          <a:prstGeom prst="rect">
            <a:avLst/>
          </a:prstGeom>
          <a:noFill/>
        </p:spPr>
        <p:txBody>
          <a:bodyPr wrap="square" rtlCol="0">
            <a:spAutoFit/>
          </a:bodyPr>
          <a:lstStyle/>
          <a:p>
            <a:r>
              <a:rPr lang="en-AU" sz="2400" dirty="0"/>
              <a:t>EQ: </a:t>
            </a:r>
            <a:r>
              <a:rPr lang="en-US" sz="2400" dirty="0"/>
              <a:t>What is a column graph and why do we use them to display data?</a:t>
            </a:r>
            <a:endParaRPr lang="en-AU" sz="2400" dirty="0"/>
          </a:p>
        </p:txBody>
      </p:sp>
      <p:cxnSp>
        <p:nvCxnSpPr>
          <p:cNvPr id="24" name="Straight Connector 23">
            <a:extLst>
              <a:ext uri="{FF2B5EF4-FFF2-40B4-BE49-F238E27FC236}">
                <a16:creationId xmlns:a16="http://schemas.microsoft.com/office/drawing/2014/main" id="{8260AA77-76C8-4593-BB13-859489211D69}"/>
              </a:ext>
            </a:extLst>
          </p:cNvPr>
          <p:cNvCxnSpPr>
            <a:cxnSpLocks/>
          </p:cNvCxnSpPr>
          <p:nvPr/>
        </p:nvCxnSpPr>
        <p:spPr>
          <a:xfrm>
            <a:off x="5796136" y="1916832"/>
            <a:ext cx="0" cy="3183978"/>
          </a:xfrm>
          <a:prstGeom prst="line">
            <a:avLst/>
          </a:prstGeom>
        </p:spPr>
        <p:style>
          <a:lnRef idx="1">
            <a:schemeClr val="accent2"/>
          </a:lnRef>
          <a:fillRef idx="0">
            <a:schemeClr val="accent2"/>
          </a:fillRef>
          <a:effectRef idx="0">
            <a:schemeClr val="accent2"/>
          </a:effectRef>
          <a:fontRef idx="minor">
            <a:schemeClr val="tx1"/>
          </a:fontRef>
        </p:style>
      </p:cxnSp>
      <p:sp>
        <p:nvSpPr>
          <p:cNvPr id="2" name="TextBox 1">
            <a:extLst>
              <a:ext uri="{FF2B5EF4-FFF2-40B4-BE49-F238E27FC236}">
                <a16:creationId xmlns:a16="http://schemas.microsoft.com/office/drawing/2014/main" id="{C530022D-68F2-48EC-A1E4-EC6B68AD9DDF}"/>
              </a:ext>
            </a:extLst>
          </p:cNvPr>
          <p:cNvSpPr txBox="1"/>
          <p:nvPr/>
        </p:nvSpPr>
        <p:spPr>
          <a:xfrm>
            <a:off x="28156" y="1938179"/>
            <a:ext cx="1127873" cy="369332"/>
          </a:xfrm>
          <a:prstGeom prst="rect">
            <a:avLst/>
          </a:prstGeom>
          <a:noFill/>
        </p:spPr>
        <p:txBody>
          <a:bodyPr wrap="none" rtlCol="0">
            <a:spAutoFit/>
          </a:bodyPr>
          <a:lstStyle/>
          <a:p>
            <a:r>
              <a:rPr lang="en-AU" dirty="0">
                <a:solidFill>
                  <a:schemeClr val="bg1">
                    <a:lumMod val="50000"/>
                  </a:schemeClr>
                </a:solidFill>
              </a:rPr>
              <a:t>Questions</a:t>
            </a:r>
          </a:p>
        </p:txBody>
      </p:sp>
      <p:sp>
        <p:nvSpPr>
          <p:cNvPr id="11" name="TextBox 10">
            <a:extLst>
              <a:ext uri="{FF2B5EF4-FFF2-40B4-BE49-F238E27FC236}">
                <a16:creationId xmlns:a16="http://schemas.microsoft.com/office/drawing/2014/main" id="{E7946A4A-3623-4079-93E1-CC9DE1F237F2}"/>
              </a:ext>
            </a:extLst>
          </p:cNvPr>
          <p:cNvSpPr txBox="1"/>
          <p:nvPr/>
        </p:nvSpPr>
        <p:spPr>
          <a:xfrm>
            <a:off x="2300795" y="1938179"/>
            <a:ext cx="735201" cy="369332"/>
          </a:xfrm>
          <a:prstGeom prst="rect">
            <a:avLst/>
          </a:prstGeom>
          <a:noFill/>
        </p:spPr>
        <p:txBody>
          <a:bodyPr wrap="none" rtlCol="0">
            <a:spAutoFit/>
          </a:bodyPr>
          <a:lstStyle/>
          <a:p>
            <a:r>
              <a:rPr lang="en-AU" dirty="0">
                <a:solidFill>
                  <a:schemeClr val="bg1">
                    <a:lumMod val="50000"/>
                  </a:schemeClr>
                </a:solidFill>
              </a:rPr>
              <a:t>Notes</a:t>
            </a:r>
          </a:p>
        </p:txBody>
      </p:sp>
      <p:sp>
        <p:nvSpPr>
          <p:cNvPr id="12" name="TextBox 11">
            <a:extLst>
              <a:ext uri="{FF2B5EF4-FFF2-40B4-BE49-F238E27FC236}">
                <a16:creationId xmlns:a16="http://schemas.microsoft.com/office/drawing/2014/main" id="{982FB79C-5235-460C-8519-045A52058720}"/>
              </a:ext>
            </a:extLst>
          </p:cNvPr>
          <p:cNvSpPr txBox="1"/>
          <p:nvPr/>
        </p:nvSpPr>
        <p:spPr>
          <a:xfrm>
            <a:off x="5827152" y="1938179"/>
            <a:ext cx="1375185" cy="369332"/>
          </a:xfrm>
          <a:prstGeom prst="rect">
            <a:avLst/>
          </a:prstGeom>
          <a:noFill/>
        </p:spPr>
        <p:txBody>
          <a:bodyPr wrap="none" rtlCol="0">
            <a:spAutoFit/>
          </a:bodyPr>
          <a:lstStyle/>
          <a:p>
            <a:r>
              <a:rPr lang="en-AU" dirty="0">
                <a:solidFill>
                  <a:schemeClr val="bg1">
                    <a:lumMod val="50000"/>
                  </a:schemeClr>
                </a:solidFill>
              </a:rPr>
              <a:t>Explanations</a:t>
            </a:r>
          </a:p>
        </p:txBody>
      </p:sp>
      <p:cxnSp>
        <p:nvCxnSpPr>
          <p:cNvPr id="19" name="Straight Connector 18">
            <a:extLst>
              <a:ext uri="{FF2B5EF4-FFF2-40B4-BE49-F238E27FC236}">
                <a16:creationId xmlns:a16="http://schemas.microsoft.com/office/drawing/2014/main" id="{FA96DB43-18D1-4C7B-AF43-333BDEE3DF7C}"/>
              </a:ext>
            </a:extLst>
          </p:cNvPr>
          <p:cNvCxnSpPr/>
          <p:nvPr/>
        </p:nvCxnSpPr>
        <p:spPr>
          <a:xfrm>
            <a:off x="5335" y="5100810"/>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20" name="TextBox 19">
            <a:extLst>
              <a:ext uri="{FF2B5EF4-FFF2-40B4-BE49-F238E27FC236}">
                <a16:creationId xmlns:a16="http://schemas.microsoft.com/office/drawing/2014/main" id="{6D78ABC5-28B8-4950-ABE6-481516658535}"/>
              </a:ext>
            </a:extLst>
          </p:cNvPr>
          <p:cNvSpPr txBox="1"/>
          <p:nvPr/>
        </p:nvSpPr>
        <p:spPr>
          <a:xfrm>
            <a:off x="122528" y="5100810"/>
            <a:ext cx="1077090" cy="369332"/>
          </a:xfrm>
          <a:prstGeom prst="rect">
            <a:avLst/>
          </a:prstGeom>
          <a:noFill/>
        </p:spPr>
        <p:txBody>
          <a:bodyPr wrap="none" rtlCol="0">
            <a:spAutoFit/>
          </a:bodyPr>
          <a:lstStyle/>
          <a:p>
            <a:r>
              <a:rPr lang="en-AU" dirty="0">
                <a:solidFill>
                  <a:schemeClr val="bg1">
                    <a:lumMod val="50000"/>
                  </a:schemeClr>
                </a:solidFill>
              </a:rPr>
              <a:t>Summary</a:t>
            </a:r>
          </a:p>
        </p:txBody>
      </p:sp>
    </p:spTree>
    <p:extLst>
      <p:ext uri="{BB962C8B-B14F-4D97-AF65-F5344CB8AC3E}">
        <p14:creationId xmlns:p14="http://schemas.microsoft.com/office/powerpoint/2010/main" val="35951162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a:t>24</a:t>
            </a:r>
          </a:p>
          <a:p>
            <a:r>
              <a:rPr lang="en-AU" sz="1600" dirty="0"/>
              <a:t>7</a:t>
            </a:r>
          </a:p>
          <a:p>
            <a:r>
              <a:rPr lang="en-AU" sz="1600" dirty="0"/>
              <a:t>30</a:t>
            </a:r>
          </a:p>
        </p:txBody>
      </p:sp>
      <p:sp>
        <p:nvSpPr>
          <p:cNvPr id="10" name="TextBox 9"/>
          <p:cNvSpPr txBox="1"/>
          <p:nvPr/>
        </p:nvSpPr>
        <p:spPr>
          <a:xfrm>
            <a:off x="686465" y="251357"/>
            <a:ext cx="2427909" cy="523220"/>
          </a:xfrm>
          <a:prstGeom prst="rect">
            <a:avLst/>
          </a:prstGeom>
          <a:noFill/>
        </p:spPr>
        <p:txBody>
          <a:bodyPr wrap="none" rtlCol="0">
            <a:spAutoFit/>
          </a:bodyPr>
          <a:lstStyle/>
          <a:p>
            <a:r>
              <a:rPr lang="en-AU" sz="2800" dirty="0"/>
              <a:t>Column Graphs</a:t>
            </a:r>
          </a:p>
        </p:txBody>
      </p:sp>
      <p:cxnSp>
        <p:nvCxnSpPr>
          <p:cNvPr id="13" name="Straight Connector 12"/>
          <p:cNvCxnSpPr>
            <a:cxnSpLocks/>
          </p:cNvCxnSpPr>
          <p:nvPr/>
        </p:nvCxnSpPr>
        <p:spPr>
          <a:xfrm>
            <a:off x="2267744" y="1916832"/>
            <a:ext cx="0" cy="4941168"/>
          </a:xfrm>
          <a:prstGeom prst="line">
            <a:avLst/>
          </a:prstGeom>
        </p:spPr>
        <p:style>
          <a:lnRef idx="1">
            <a:schemeClr val="accent2"/>
          </a:lnRef>
          <a:fillRef idx="0">
            <a:schemeClr val="accent2"/>
          </a:fillRef>
          <a:effectRef idx="0">
            <a:schemeClr val="accent2"/>
          </a:effectRef>
          <a:fontRef idx="minor">
            <a:schemeClr val="tx1"/>
          </a:fontRef>
        </p:style>
      </p:cxnSp>
      <p:sp>
        <p:nvSpPr>
          <p:cNvPr id="22" name="TextBox 21">
            <a:extLst>
              <a:ext uri="{FF2B5EF4-FFF2-40B4-BE49-F238E27FC236}">
                <a16:creationId xmlns:a16="http://schemas.microsoft.com/office/drawing/2014/main" id="{118B3318-A83E-4079-9FFB-0AB3DC6942FB}"/>
              </a:ext>
            </a:extLst>
          </p:cNvPr>
          <p:cNvSpPr txBox="1"/>
          <p:nvPr/>
        </p:nvSpPr>
        <p:spPr>
          <a:xfrm>
            <a:off x="7439175" y="206429"/>
            <a:ext cx="1584176" cy="461665"/>
          </a:xfrm>
          <a:prstGeom prst="rect">
            <a:avLst/>
          </a:prstGeom>
          <a:noFill/>
        </p:spPr>
        <p:txBody>
          <a:bodyPr wrap="square" rtlCol="0">
            <a:spAutoFit/>
          </a:bodyPr>
          <a:lstStyle/>
          <a:p>
            <a:r>
              <a:rPr lang="en-AU" sz="2400" dirty="0"/>
              <a:t>Date</a:t>
            </a:r>
          </a:p>
        </p:txBody>
      </p:sp>
      <p:sp>
        <p:nvSpPr>
          <p:cNvPr id="23" name="TextBox 22">
            <a:extLst>
              <a:ext uri="{FF2B5EF4-FFF2-40B4-BE49-F238E27FC236}">
                <a16:creationId xmlns:a16="http://schemas.microsoft.com/office/drawing/2014/main" id="{CC43BB08-15C1-461A-9A30-7797DDE0B81D}"/>
              </a:ext>
            </a:extLst>
          </p:cNvPr>
          <p:cNvSpPr txBox="1"/>
          <p:nvPr/>
        </p:nvSpPr>
        <p:spPr>
          <a:xfrm>
            <a:off x="80408" y="1144177"/>
            <a:ext cx="8929880" cy="461665"/>
          </a:xfrm>
          <a:prstGeom prst="rect">
            <a:avLst/>
          </a:prstGeom>
          <a:noFill/>
        </p:spPr>
        <p:txBody>
          <a:bodyPr wrap="square" rtlCol="0">
            <a:spAutoFit/>
          </a:bodyPr>
          <a:lstStyle/>
          <a:p>
            <a:r>
              <a:rPr lang="en-AU" sz="2400" dirty="0"/>
              <a:t>EQ: </a:t>
            </a:r>
            <a:r>
              <a:rPr lang="en-US" sz="2400" dirty="0"/>
              <a:t>What is a column graph and why do we use them to display data?</a:t>
            </a:r>
            <a:endParaRPr lang="en-AU" sz="2400" dirty="0"/>
          </a:p>
        </p:txBody>
      </p:sp>
      <p:cxnSp>
        <p:nvCxnSpPr>
          <p:cNvPr id="24" name="Straight Connector 23">
            <a:extLst>
              <a:ext uri="{FF2B5EF4-FFF2-40B4-BE49-F238E27FC236}">
                <a16:creationId xmlns:a16="http://schemas.microsoft.com/office/drawing/2014/main" id="{8260AA77-76C8-4593-BB13-859489211D69}"/>
              </a:ext>
            </a:extLst>
          </p:cNvPr>
          <p:cNvCxnSpPr>
            <a:cxnSpLocks/>
          </p:cNvCxnSpPr>
          <p:nvPr/>
        </p:nvCxnSpPr>
        <p:spPr>
          <a:xfrm>
            <a:off x="5796136" y="1916832"/>
            <a:ext cx="0" cy="4941168"/>
          </a:xfrm>
          <a:prstGeom prst="line">
            <a:avLst/>
          </a:prstGeom>
        </p:spPr>
        <p:style>
          <a:lnRef idx="1">
            <a:schemeClr val="accent2"/>
          </a:lnRef>
          <a:fillRef idx="0">
            <a:schemeClr val="accent2"/>
          </a:fillRef>
          <a:effectRef idx="0">
            <a:schemeClr val="accent2"/>
          </a:effectRef>
          <a:fontRef idx="minor">
            <a:schemeClr val="tx1"/>
          </a:fontRef>
        </p:style>
      </p:cxnSp>
      <p:sp>
        <p:nvSpPr>
          <p:cNvPr id="2" name="TextBox 1">
            <a:extLst>
              <a:ext uri="{FF2B5EF4-FFF2-40B4-BE49-F238E27FC236}">
                <a16:creationId xmlns:a16="http://schemas.microsoft.com/office/drawing/2014/main" id="{C530022D-68F2-48EC-A1E4-EC6B68AD9DDF}"/>
              </a:ext>
            </a:extLst>
          </p:cNvPr>
          <p:cNvSpPr txBox="1"/>
          <p:nvPr/>
        </p:nvSpPr>
        <p:spPr>
          <a:xfrm>
            <a:off x="28156" y="1938179"/>
            <a:ext cx="1127873" cy="369332"/>
          </a:xfrm>
          <a:prstGeom prst="rect">
            <a:avLst/>
          </a:prstGeom>
          <a:noFill/>
        </p:spPr>
        <p:txBody>
          <a:bodyPr wrap="none" rtlCol="0">
            <a:spAutoFit/>
          </a:bodyPr>
          <a:lstStyle/>
          <a:p>
            <a:r>
              <a:rPr lang="en-AU" dirty="0">
                <a:solidFill>
                  <a:schemeClr val="bg1">
                    <a:lumMod val="50000"/>
                  </a:schemeClr>
                </a:solidFill>
              </a:rPr>
              <a:t>Questions</a:t>
            </a:r>
          </a:p>
        </p:txBody>
      </p:sp>
      <p:sp>
        <p:nvSpPr>
          <p:cNvPr id="11" name="TextBox 10">
            <a:extLst>
              <a:ext uri="{FF2B5EF4-FFF2-40B4-BE49-F238E27FC236}">
                <a16:creationId xmlns:a16="http://schemas.microsoft.com/office/drawing/2014/main" id="{E7946A4A-3623-4079-93E1-CC9DE1F237F2}"/>
              </a:ext>
            </a:extLst>
          </p:cNvPr>
          <p:cNvSpPr txBox="1"/>
          <p:nvPr/>
        </p:nvSpPr>
        <p:spPr>
          <a:xfrm>
            <a:off x="2300795" y="1938179"/>
            <a:ext cx="735201" cy="369332"/>
          </a:xfrm>
          <a:prstGeom prst="rect">
            <a:avLst/>
          </a:prstGeom>
          <a:noFill/>
        </p:spPr>
        <p:txBody>
          <a:bodyPr wrap="none" rtlCol="0">
            <a:spAutoFit/>
          </a:bodyPr>
          <a:lstStyle/>
          <a:p>
            <a:r>
              <a:rPr lang="en-AU" dirty="0">
                <a:solidFill>
                  <a:schemeClr val="bg1">
                    <a:lumMod val="50000"/>
                  </a:schemeClr>
                </a:solidFill>
              </a:rPr>
              <a:t>Notes</a:t>
            </a:r>
          </a:p>
        </p:txBody>
      </p:sp>
      <p:sp>
        <p:nvSpPr>
          <p:cNvPr id="12" name="TextBox 11">
            <a:extLst>
              <a:ext uri="{FF2B5EF4-FFF2-40B4-BE49-F238E27FC236}">
                <a16:creationId xmlns:a16="http://schemas.microsoft.com/office/drawing/2014/main" id="{982FB79C-5235-460C-8519-045A52058720}"/>
              </a:ext>
            </a:extLst>
          </p:cNvPr>
          <p:cNvSpPr txBox="1"/>
          <p:nvPr/>
        </p:nvSpPr>
        <p:spPr>
          <a:xfrm>
            <a:off x="5827152" y="1938179"/>
            <a:ext cx="1375185" cy="369332"/>
          </a:xfrm>
          <a:prstGeom prst="rect">
            <a:avLst/>
          </a:prstGeom>
          <a:noFill/>
        </p:spPr>
        <p:txBody>
          <a:bodyPr wrap="none" rtlCol="0">
            <a:spAutoFit/>
          </a:bodyPr>
          <a:lstStyle/>
          <a:p>
            <a:r>
              <a:rPr lang="en-AU" dirty="0">
                <a:solidFill>
                  <a:schemeClr val="bg1">
                    <a:lumMod val="50000"/>
                  </a:schemeClr>
                </a:solidFill>
              </a:rPr>
              <a:t>Explanations</a:t>
            </a:r>
          </a:p>
        </p:txBody>
      </p:sp>
      <p:sp>
        <p:nvSpPr>
          <p:cNvPr id="3" name="TextBox 2">
            <a:extLst>
              <a:ext uri="{FF2B5EF4-FFF2-40B4-BE49-F238E27FC236}">
                <a16:creationId xmlns:a16="http://schemas.microsoft.com/office/drawing/2014/main" id="{E1911EFE-900E-4F7E-B814-F04BD904434E}"/>
              </a:ext>
            </a:extLst>
          </p:cNvPr>
          <p:cNvSpPr txBox="1"/>
          <p:nvPr/>
        </p:nvSpPr>
        <p:spPr>
          <a:xfrm>
            <a:off x="80408" y="2271852"/>
            <a:ext cx="2141218" cy="707886"/>
          </a:xfrm>
          <a:prstGeom prst="rect">
            <a:avLst/>
          </a:prstGeom>
          <a:noFill/>
        </p:spPr>
        <p:txBody>
          <a:bodyPr wrap="square" rtlCol="0">
            <a:spAutoFit/>
          </a:bodyPr>
          <a:lstStyle/>
          <a:p>
            <a:r>
              <a:rPr lang="en-AU" sz="2000" dirty="0"/>
              <a:t>What is a column graph?</a:t>
            </a:r>
          </a:p>
        </p:txBody>
      </p:sp>
      <p:sp>
        <p:nvSpPr>
          <p:cNvPr id="14" name="TextBox 13">
            <a:extLst>
              <a:ext uri="{FF2B5EF4-FFF2-40B4-BE49-F238E27FC236}">
                <a16:creationId xmlns:a16="http://schemas.microsoft.com/office/drawing/2014/main" id="{01177744-6673-4E57-87C5-4C31069968BE}"/>
              </a:ext>
            </a:extLst>
          </p:cNvPr>
          <p:cNvSpPr txBox="1"/>
          <p:nvPr/>
        </p:nvSpPr>
        <p:spPr>
          <a:xfrm>
            <a:off x="2348151" y="2271852"/>
            <a:ext cx="3416969" cy="707886"/>
          </a:xfrm>
          <a:prstGeom prst="rect">
            <a:avLst/>
          </a:prstGeom>
          <a:noFill/>
        </p:spPr>
        <p:txBody>
          <a:bodyPr wrap="square" rtlCol="0">
            <a:spAutoFit/>
          </a:bodyPr>
          <a:lstStyle/>
          <a:p>
            <a:r>
              <a:rPr lang="en-AU" sz="2000" dirty="0"/>
              <a:t>A column graph shows data in bars.</a:t>
            </a:r>
          </a:p>
        </p:txBody>
      </p:sp>
      <p:pic>
        <p:nvPicPr>
          <p:cNvPr id="18" name="Picture 17">
            <a:extLst>
              <a:ext uri="{FF2B5EF4-FFF2-40B4-BE49-F238E27FC236}">
                <a16:creationId xmlns:a16="http://schemas.microsoft.com/office/drawing/2014/main" id="{57219BCD-2C29-4465-B5F2-921884712B9A}"/>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5922606" y="2271852"/>
            <a:ext cx="2621491" cy="2936664"/>
          </a:xfrm>
          <a:prstGeom prst="rect">
            <a:avLst/>
          </a:prstGeom>
        </p:spPr>
      </p:pic>
    </p:spTree>
    <p:extLst>
      <p:ext uri="{BB962C8B-B14F-4D97-AF65-F5344CB8AC3E}">
        <p14:creationId xmlns:p14="http://schemas.microsoft.com/office/powerpoint/2010/main" val="1165809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a:t>24</a:t>
            </a:r>
          </a:p>
          <a:p>
            <a:r>
              <a:rPr lang="en-AU" sz="1600" dirty="0"/>
              <a:t>7</a:t>
            </a:r>
          </a:p>
          <a:p>
            <a:r>
              <a:rPr lang="en-AU" sz="1600" dirty="0"/>
              <a:t>30</a:t>
            </a:r>
          </a:p>
        </p:txBody>
      </p:sp>
      <p:sp>
        <p:nvSpPr>
          <p:cNvPr id="10" name="TextBox 9"/>
          <p:cNvSpPr txBox="1"/>
          <p:nvPr/>
        </p:nvSpPr>
        <p:spPr>
          <a:xfrm>
            <a:off x="686465" y="251357"/>
            <a:ext cx="2427909" cy="523220"/>
          </a:xfrm>
          <a:prstGeom prst="rect">
            <a:avLst/>
          </a:prstGeom>
          <a:noFill/>
        </p:spPr>
        <p:txBody>
          <a:bodyPr wrap="none" rtlCol="0">
            <a:spAutoFit/>
          </a:bodyPr>
          <a:lstStyle/>
          <a:p>
            <a:r>
              <a:rPr lang="en-AU" sz="2800" dirty="0"/>
              <a:t>Column Graphs</a:t>
            </a:r>
          </a:p>
        </p:txBody>
      </p:sp>
      <p:cxnSp>
        <p:nvCxnSpPr>
          <p:cNvPr id="13" name="Straight Connector 12"/>
          <p:cNvCxnSpPr>
            <a:cxnSpLocks/>
          </p:cNvCxnSpPr>
          <p:nvPr/>
        </p:nvCxnSpPr>
        <p:spPr>
          <a:xfrm>
            <a:off x="2267744" y="1916832"/>
            <a:ext cx="0" cy="4941168"/>
          </a:xfrm>
          <a:prstGeom prst="line">
            <a:avLst/>
          </a:prstGeom>
        </p:spPr>
        <p:style>
          <a:lnRef idx="1">
            <a:schemeClr val="accent2"/>
          </a:lnRef>
          <a:fillRef idx="0">
            <a:schemeClr val="accent2"/>
          </a:fillRef>
          <a:effectRef idx="0">
            <a:schemeClr val="accent2"/>
          </a:effectRef>
          <a:fontRef idx="minor">
            <a:schemeClr val="tx1"/>
          </a:fontRef>
        </p:style>
      </p:cxnSp>
      <p:sp>
        <p:nvSpPr>
          <p:cNvPr id="22" name="TextBox 21">
            <a:extLst>
              <a:ext uri="{FF2B5EF4-FFF2-40B4-BE49-F238E27FC236}">
                <a16:creationId xmlns:a16="http://schemas.microsoft.com/office/drawing/2014/main" id="{118B3318-A83E-4079-9FFB-0AB3DC6942FB}"/>
              </a:ext>
            </a:extLst>
          </p:cNvPr>
          <p:cNvSpPr txBox="1"/>
          <p:nvPr/>
        </p:nvSpPr>
        <p:spPr>
          <a:xfrm>
            <a:off x="7439175" y="206429"/>
            <a:ext cx="1584176" cy="461665"/>
          </a:xfrm>
          <a:prstGeom prst="rect">
            <a:avLst/>
          </a:prstGeom>
          <a:noFill/>
        </p:spPr>
        <p:txBody>
          <a:bodyPr wrap="square" rtlCol="0">
            <a:spAutoFit/>
          </a:bodyPr>
          <a:lstStyle/>
          <a:p>
            <a:r>
              <a:rPr lang="en-AU" sz="2400" dirty="0"/>
              <a:t>Date</a:t>
            </a:r>
          </a:p>
        </p:txBody>
      </p:sp>
      <p:sp>
        <p:nvSpPr>
          <p:cNvPr id="23" name="TextBox 22">
            <a:extLst>
              <a:ext uri="{FF2B5EF4-FFF2-40B4-BE49-F238E27FC236}">
                <a16:creationId xmlns:a16="http://schemas.microsoft.com/office/drawing/2014/main" id="{CC43BB08-15C1-461A-9A30-7797DDE0B81D}"/>
              </a:ext>
            </a:extLst>
          </p:cNvPr>
          <p:cNvSpPr txBox="1"/>
          <p:nvPr/>
        </p:nvSpPr>
        <p:spPr>
          <a:xfrm>
            <a:off x="80408" y="1144177"/>
            <a:ext cx="8929880" cy="461665"/>
          </a:xfrm>
          <a:prstGeom prst="rect">
            <a:avLst/>
          </a:prstGeom>
          <a:noFill/>
        </p:spPr>
        <p:txBody>
          <a:bodyPr wrap="square" rtlCol="0">
            <a:spAutoFit/>
          </a:bodyPr>
          <a:lstStyle/>
          <a:p>
            <a:r>
              <a:rPr lang="en-AU" sz="2400" dirty="0"/>
              <a:t>EQ: </a:t>
            </a:r>
            <a:r>
              <a:rPr lang="en-US" sz="2400" dirty="0"/>
              <a:t>What is a column graph and why do we use them to display data?</a:t>
            </a:r>
            <a:endParaRPr lang="en-AU" sz="2400" dirty="0"/>
          </a:p>
        </p:txBody>
      </p:sp>
      <p:cxnSp>
        <p:nvCxnSpPr>
          <p:cNvPr id="24" name="Straight Connector 23">
            <a:extLst>
              <a:ext uri="{FF2B5EF4-FFF2-40B4-BE49-F238E27FC236}">
                <a16:creationId xmlns:a16="http://schemas.microsoft.com/office/drawing/2014/main" id="{8260AA77-76C8-4593-BB13-859489211D69}"/>
              </a:ext>
            </a:extLst>
          </p:cNvPr>
          <p:cNvCxnSpPr>
            <a:cxnSpLocks/>
          </p:cNvCxnSpPr>
          <p:nvPr/>
        </p:nvCxnSpPr>
        <p:spPr>
          <a:xfrm>
            <a:off x="5796136" y="1916832"/>
            <a:ext cx="0" cy="4941168"/>
          </a:xfrm>
          <a:prstGeom prst="line">
            <a:avLst/>
          </a:prstGeom>
        </p:spPr>
        <p:style>
          <a:lnRef idx="1">
            <a:schemeClr val="accent2"/>
          </a:lnRef>
          <a:fillRef idx="0">
            <a:schemeClr val="accent2"/>
          </a:fillRef>
          <a:effectRef idx="0">
            <a:schemeClr val="accent2"/>
          </a:effectRef>
          <a:fontRef idx="minor">
            <a:schemeClr val="tx1"/>
          </a:fontRef>
        </p:style>
      </p:cxnSp>
      <p:sp>
        <p:nvSpPr>
          <p:cNvPr id="2" name="TextBox 1">
            <a:extLst>
              <a:ext uri="{FF2B5EF4-FFF2-40B4-BE49-F238E27FC236}">
                <a16:creationId xmlns:a16="http://schemas.microsoft.com/office/drawing/2014/main" id="{C530022D-68F2-48EC-A1E4-EC6B68AD9DDF}"/>
              </a:ext>
            </a:extLst>
          </p:cNvPr>
          <p:cNvSpPr txBox="1"/>
          <p:nvPr/>
        </p:nvSpPr>
        <p:spPr>
          <a:xfrm>
            <a:off x="28156" y="1938179"/>
            <a:ext cx="1127873" cy="369332"/>
          </a:xfrm>
          <a:prstGeom prst="rect">
            <a:avLst/>
          </a:prstGeom>
          <a:noFill/>
        </p:spPr>
        <p:txBody>
          <a:bodyPr wrap="none" rtlCol="0">
            <a:spAutoFit/>
          </a:bodyPr>
          <a:lstStyle/>
          <a:p>
            <a:r>
              <a:rPr lang="en-AU" dirty="0">
                <a:solidFill>
                  <a:schemeClr val="bg1">
                    <a:lumMod val="50000"/>
                  </a:schemeClr>
                </a:solidFill>
              </a:rPr>
              <a:t>Questions</a:t>
            </a:r>
          </a:p>
        </p:txBody>
      </p:sp>
      <p:sp>
        <p:nvSpPr>
          <p:cNvPr id="11" name="TextBox 10">
            <a:extLst>
              <a:ext uri="{FF2B5EF4-FFF2-40B4-BE49-F238E27FC236}">
                <a16:creationId xmlns:a16="http://schemas.microsoft.com/office/drawing/2014/main" id="{E7946A4A-3623-4079-93E1-CC9DE1F237F2}"/>
              </a:ext>
            </a:extLst>
          </p:cNvPr>
          <p:cNvSpPr txBox="1"/>
          <p:nvPr/>
        </p:nvSpPr>
        <p:spPr>
          <a:xfrm>
            <a:off x="2300795" y="1938179"/>
            <a:ext cx="735201" cy="369332"/>
          </a:xfrm>
          <a:prstGeom prst="rect">
            <a:avLst/>
          </a:prstGeom>
          <a:noFill/>
        </p:spPr>
        <p:txBody>
          <a:bodyPr wrap="none" rtlCol="0">
            <a:spAutoFit/>
          </a:bodyPr>
          <a:lstStyle/>
          <a:p>
            <a:r>
              <a:rPr lang="en-AU" dirty="0">
                <a:solidFill>
                  <a:schemeClr val="bg1">
                    <a:lumMod val="50000"/>
                  </a:schemeClr>
                </a:solidFill>
              </a:rPr>
              <a:t>Notes</a:t>
            </a:r>
          </a:p>
        </p:txBody>
      </p:sp>
      <p:sp>
        <p:nvSpPr>
          <p:cNvPr id="12" name="TextBox 11">
            <a:extLst>
              <a:ext uri="{FF2B5EF4-FFF2-40B4-BE49-F238E27FC236}">
                <a16:creationId xmlns:a16="http://schemas.microsoft.com/office/drawing/2014/main" id="{982FB79C-5235-460C-8519-045A52058720}"/>
              </a:ext>
            </a:extLst>
          </p:cNvPr>
          <p:cNvSpPr txBox="1"/>
          <p:nvPr/>
        </p:nvSpPr>
        <p:spPr>
          <a:xfrm>
            <a:off x="5827152" y="1866929"/>
            <a:ext cx="1375185" cy="369332"/>
          </a:xfrm>
          <a:prstGeom prst="rect">
            <a:avLst/>
          </a:prstGeom>
          <a:noFill/>
        </p:spPr>
        <p:txBody>
          <a:bodyPr wrap="none" rtlCol="0">
            <a:spAutoFit/>
          </a:bodyPr>
          <a:lstStyle/>
          <a:p>
            <a:r>
              <a:rPr lang="en-AU" dirty="0">
                <a:solidFill>
                  <a:schemeClr val="bg1">
                    <a:lumMod val="50000"/>
                  </a:schemeClr>
                </a:solidFill>
              </a:rPr>
              <a:t>Explanations</a:t>
            </a:r>
          </a:p>
        </p:txBody>
      </p:sp>
      <p:sp>
        <p:nvSpPr>
          <p:cNvPr id="16" name="TextBox 15">
            <a:extLst>
              <a:ext uri="{FF2B5EF4-FFF2-40B4-BE49-F238E27FC236}">
                <a16:creationId xmlns:a16="http://schemas.microsoft.com/office/drawing/2014/main" id="{9731E1F8-4D7D-48E3-BF0A-12385102A92E}"/>
              </a:ext>
            </a:extLst>
          </p:cNvPr>
          <p:cNvSpPr txBox="1"/>
          <p:nvPr/>
        </p:nvSpPr>
        <p:spPr>
          <a:xfrm>
            <a:off x="93471" y="2328857"/>
            <a:ext cx="2141218" cy="707886"/>
          </a:xfrm>
          <a:prstGeom prst="rect">
            <a:avLst/>
          </a:prstGeom>
          <a:noFill/>
        </p:spPr>
        <p:txBody>
          <a:bodyPr wrap="square" rtlCol="0">
            <a:spAutoFit/>
          </a:bodyPr>
          <a:lstStyle/>
          <a:p>
            <a:r>
              <a:rPr lang="en-AU" sz="2000" dirty="0"/>
              <a:t>How do we make a column graph?</a:t>
            </a:r>
          </a:p>
        </p:txBody>
      </p:sp>
      <p:sp>
        <p:nvSpPr>
          <p:cNvPr id="17" name="TextBox 16">
            <a:extLst>
              <a:ext uri="{FF2B5EF4-FFF2-40B4-BE49-F238E27FC236}">
                <a16:creationId xmlns:a16="http://schemas.microsoft.com/office/drawing/2014/main" id="{9BD7E055-B06B-48A9-90E8-081049857EB8}"/>
              </a:ext>
            </a:extLst>
          </p:cNvPr>
          <p:cNvSpPr txBox="1"/>
          <p:nvPr/>
        </p:nvSpPr>
        <p:spPr>
          <a:xfrm>
            <a:off x="2336389" y="2328857"/>
            <a:ext cx="3416969" cy="707886"/>
          </a:xfrm>
          <a:prstGeom prst="rect">
            <a:avLst/>
          </a:prstGeom>
          <a:noFill/>
        </p:spPr>
        <p:txBody>
          <a:bodyPr wrap="square" rtlCol="0">
            <a:spAutoFit/>
          </a:bodyPr>
          <a:lstStyle/>
          <a:p>
            <a:pPr marL="457200" indent="-457200">
              <a:buAutoNum type="arabicParenR"/>
            </a:pPr>
            <a:r>
              <a:rPr lang="en-AU" sz="2000" dirty="0"/>
              <a:t>Tally the data into the categories.</a:t>
            </a:r>
          </a:p>
        </p:txBody>
      </p:sp>
      <p:graphicFrame>
        <p:nvGraphicFramePr>
          <p:cNvPr id="8" name="Table 7">
            <a:extLst>
              <a:ext uri="{FF2B5EF4-FFF2-40B4-BE49-F238E27FC236}">
                <a16:creationId xmlns:a16="http://schemas.microsoft.com/office/drawing/2014/main" id="{E45EAB72-8D2F-4744-BC12-7AE7BB2BFC70}"/>
              </a:ext>
            </a:extLst>
          </p:cNvPr>
          <p:cNvGraphicFramePr>
            <a:graphicFrameLocks noGrp="1"/>
          </p:cNvGraphicFramePr>
          <p:nvPr>
            <p:extLst>
              <p:ext uri="{D42A27DB-BD31-4B8C-83A1-F6EECF244321}">
                <p14:modId xmlns:p14="http://schemas.microsoft.com/office/powerpoint/2010/main" val="3881147235"/>
              </p:ext>
            </p:extLst>
          </p:nvPr>
        </p:nvGraphicFramePr>
        <p:xfrm>
          <a:off x="5964752" y="2181197"/>
          <a:ext cx="2925074" cy="2011680"/>
        </p:xfrm>
        <a:graphic>
          <a:graphicData uri="http://schemas.openxmlformats.org/drawingml/2006/table">
            <a:tbl>
              <a:tblPr firstRow="1" bandRow="1">
                <a:tableStyleId>{3B4B98B0-60AC-42C2-AFA5-B58CD77FA1E5}</a:tableStyleId>
              </a:tblPr>
              <a:tblGrid>
                <a:gridCol w="1731703">
                  <a:extLst>
                    <a:ext uri="{9D8B030D-6E8A-4147-A177-3AD203B41FA5}">
                      <a16:colId xmlns:a16="http://schemas.microsoft.com/office/drawing/2014/main" val="4074574083"/>
                    </a:ext>
                  </a:extLst>
                </a:gridCol>
                <a:gridCol w="1193371">
                  <a:extLst>
                    <a:ext uri="{9D8B030D-6E8A-4147-A177-3AD203B41FA5}">
                      <a16:colId xmlns:a16="http://schemas.microsoft.com/office/drawing/2014/main" val="3160757041"/>
                    </a:ext>
                  </a:extLst>
                </a:gridCol>
              </a:tblGrid>
              <a:tr h="332365">
                <a:tc>
                  <a:txBody>
                    <a:bodyPr/>
                    <a:lstStyle/>
                    <a:p>
                      <a:r>
                        <a:rPr lang="en-AU" sz="1600" dirty="0"/>
                        <a:t>Favourite Colour</a:t>
                      </a:r>
                    </a:p>
                  </a:txBody>
                  <a:tcPr/>
                </a:tc>
                <a:tc>
                  <a:txBody>
                    <a:bodyPr/>
                    <a:lstStyle/>
                    <a:p>
                      <a:r>
                        <a:rPr lang="en-AU" sz="1600" dirty="0"/>
                        <a:t>Count</a:t>
                      </a:r>
                    </a:p>
                  </a:txBody>
                  <a:tcPr/>
                </a:tc>
                <a:extLst>
                  <a:ext uri="{0D108BD9-81ED-4DB2-BD59-A6C34878D82A}">
                    <a16:rowId xmlns:a16="http://schemas.microsoft.com/office/drawing/2014/main" val="1335479356"/>
                  </a:ext>
                </a:extLst>
              </a:tr>
              <a:tr h="332365">
                <a:tc>
                  <a:txBody>
                    <a:bodyPr/>
                    <a:lstStyle/>
                    <a:p>
                      <a:r>
                        <a:rPr lang="en-AU" sz="1600" dirty="0"/>
                        <a:t>Red</a:t>
                      </a:r>
                    </a:p>
                  </a:txBody>
                  <a:tcPr/>
                </a:tc>
                <a:tc>
                  <a:txBody>
                    <a:bodyPr/>
                    <a:lstStyle/>
                    <a:p>
                      <a:r>
                        <a:rPr lang="en-AU" sz="1600" dirty="0"/>
                        <a:t>10</a:t>
                      </a:r>
                    </a:p>
                  </a:txBody>
                  <a:tcPr/>
                </a:tc>
                <a:extLst>
                  <a:ext uri="{0D108BD9-81ED-4DB2-BD59-A6C34878D82A}">
                    <a16:rowId xmlns:a16="http://schemas.microsoft.com/office/drawing/2014/main" val="1724336339"/>
                  </a:ext>
                </a:extLst>
              </a:tr>
              <a:tr h="332365">
                <a:tc>
                  <a:txBody>
                    <a:bodyPr/>
                    <a:lstStyle/>
                    <a:p>
                      <a:r>
                        <a:rPr lang="en-AU" sz="1600" dirty="0"/>
                        <a:t>Green</a:t>
                      </a:r>
                    </a:p>
                  </a:txBody>
                  <a:tcPr/>
                </a:tc>
                <a:tc>
                  <a:txBody>
                    <a:bodyPr/>
                    <a:lstStyle/>
                    <a:p>
                      <a:r>
                        <a:rPr lang="en-AU" sz="1600" dirty="0"/>
                        <a:t>5</a:t>
                      </a:r>
                    </a:p>
                  </a:txBody>
                  <a:tcPr/>
                </a:tc>
                <a:extLst>
                  <a:ext uri="{0D108BD9-81ED-4DB2-BD59-A6C34878D82A}">
                    <a16:rowId xmlns:a16="http://schemas.microsoft.com/office/drawing/2014/main" val="2408170635"/>
                  </a:ext>
                </a:extLst>
              </a:tr>
              <a:tr h="332365">
                <a:tc>
                  <a:txBody>
                    <a:bodyPr/>
                    <a:lstStyle/>
                    <a:p>
                      <a:r>
                        <a:rPr lang="en-AU" sz="1600" dirty="0"/>
                        <a:t>yellow</a:t>
                      </a:r>
                    </a:p>
                  </a:txBody>
                  <a:tcPr/>
                </a:tc>
                <a:tc>
                  <a:txBody>
                    <a:bodyPr/>
                    <a:lstStyle/>
                    <a:p>
                      <a:r>
                        <a:rPr lang="en-AU" sz="1600" dirty="0"/>
                        <a:t>15</a:t>
                      </a:r>
                    </a:p>
                  </a:txBody>
                  <a:tcPr/>
                </a:tc>
                <a:extLst>
                  <a:ext uri="{0D108BD9-81ED-4DB2-BD59-A6C34878D82A}">
                    <a16:rowId xmlns:a16="http://schemas.microsoft.com/office/drawing/2014/main" val="385377915"/>
                  </a:ext>
                </a:extLst>
              </a:tr>
              <a:tr h="332365">
                <a:tc>
                  <a:txBody>
                    <a:bodyPr/>
                    <a:lstStyle/>
                    <a:p>
                      <a:r>
                        <a:rPr lang="en-AU" sz="1600" dirty="0"/>
                        <a:t>Blue</a:t>
                      </a:r>
                    </a:p>
                  </a:txBody>
                  <a:tcPr/>
                </a:tc>
                <a:tc>
                  <a:txBody>
                    <a:bodyPr/>
                    <a:lstStyle/>
                    <a:p>
                      <a:r>
                        <a:rPr lang="en-AU" sz="1600" dirty="0"/>
                        <a:t>6</a:t>
                      </a:r>
                    </a:p>
                  </a:txBody>
                  <a:tcPr/>
                </a:tc>
                <a:extLst>
                  <a:ext uri="{0D108BD9-81ED-4DB2-BD59-A6C34878D82A}">
                    <a16:rowId xmlns:a16="http://schemas.microsoft.com/office/drawing/2014/main" val="2762600246"/>
                  </a:ext>
                </a:extLst>
              </a:tr>
              <a:tr h="332365">
                <a:tc>
                  <a:txBody>
                    <a:bodyPr/>
                    <a:lstStyle/>
                    <a:p>
                      <a:r>
                        <a:rPr lang="en-AU" sz="1600" dirty="0"/>
                        <a:t>Pink</a:t>
                      </a:r>
                    </a:p>
                  </a:txBody>
                  <a:tcPr/>
                </a:tc>
                <a:tc>
                  <a:txBody>
                    <a:bodyPr/>
                    <a:lstStyle/>
                    <a:p>
                      <a:r>
                        <a:rPr lang="en-AU" sz="1600" dirty="0"/>
                        <a:t>4</a:t>
                      </a:r>
                    </a:p>
                  </a:txBody>
                  <a:tcPr/>
                </a:tc>
                <a:extLst>
                  <a:ext uri="{0D108BD9-81ED-4DB2-BD59-A6C34878D82A}">
                    <a16:rowId xmlns:a16="http://schemas.microsoft.com/office/drawing/2014/main" val="1687942280"/>
                  </a:ext>
                </a:extLst>
              </a:tr>
            </a:tbl>
          </a:graphicData>
        </a:graphic>
      </p:graphicFrame>
      <p:pic>
        <p:nvPicPr>
          <p:cNvPr id="19" name="Picture 18">
            <a:extLst>
              <a:ext uri="{FF2B5EF4-FFF2-40B4-BE49-F238E27FC236}">
                <a16:creationId xmlns:a16="http://schemas.microsoft.com/office/drawing/2014/main" id="{DBF614DF-1439-4E9E-BE95-7D506AD005F0}"/>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6350261" y="4428249"/>
            <a:ext cx="2089602" cy="2340828"/>
          </a:xfrm>
          <a:prstGeom prst="rect">
            <a:avLst/>
          </a:prstGeom>
        </p:spPr>
      </p:pic>
      <p:sp>
        <p:nvSpPr>
          <p:cNvPr id="18" name="TextBox 17">
            <a:extLst>
              <a:ext uri="{FF2B5EF4-FFF2-40B4-BE49-F238E27FC236}">
                <a16:creationId xmlns:a16="http://schemas.microsoft.com/office/drawing/2014/main" id="{56F09C7F-8A06-4A81-9CA0-9BDCD615292A}"/>
              </a:ext>
            </a:extLst>
          </p:cNvPr>
          <p:cNvSpPr txBox="1"/>
          <p:nvPr/>
        </p:nvSpPr>
        <p:spPr>
          <a:xfrm>
            <a:off x="2300795" y="4274563"/>
            <a:ext cx="3416969" cy="2246769"/>
          </a:xfrm>
          <a:prstGeom prst="rect">
            <a:avLst/>
          </a:prstGeom>
          <a:noFill/>
        </p:spPr>
        <p:txBody>
          <a:bodyPr wrap="square" rtlCol="0">
            <a:spAutoFit/>
          </a:bodyPr>
          <a:lstStyle/>
          <a:p>
            <a:pPr marL="457200" indent="-457200">
              <a:buFont typeface="+mj-lt"/>
              <a:buAutoNum type="arabicParenR" startAt="2"/>
            </a:pPr>
            <a:r>
              <a:rPr lang="en-AU" sz="2000" dirty="0"/>
              <a:t>Draw the axes to fit the data. Put the quantity on the y-axis and the categories on the x-axis.</a:t>
            </a:r>
          </a:p>
          <a:p>
            <a:pPr marL="457200" indent="-457200">
              <a:buAutoNum type="arabicParenR" startAt="2"/>
            </a:pPr>
            <a:r>
              <a:rPr lang="en-AU" sz="2000" dirty="0"/>
              <a:t>Draw the columns for each category to the height equal to the value.</a:t>
            </a:r>
          </a:p>
        </p:txBody>
      </p:sp>
    </p:spTree>
    <p:extLst>
      <p:ext uri="{BB962C8B-B14F-4D97-AF65-F5344CB8AC3E}">
        <p14:creationId xmlns:p14="http://schemas.microsoft.com/office/powerpoint/2010/main" val="4278637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E42791F9-9BD0-44F9-83EB-0807CF466435}"/>
              </a:ext>
            </a:extLst>
          </p:cNvPr>
          <p:cNvGraphicFramePr>
            <a:graphicFrameLocks noGrp="1"/>
          </p:cNvGraphicFramePr>
          <p:nvPr>
            <p:extLst>
              <p:ext uri="{D42A27DB-BD31-4B8C-83A1-F6EECF244321}">
                <p14:modId xmlns:p14="http://schemas.microsoft.com/office/powerpoint/2010/main" val="776298059"/>
              </p:ext>
            </p:extLst>
          </p:nvPr>
        </p:nvGraphicFramePr>
        <p:xfrm>
          <a:off x="5898651" y="635673"/>
          <a:ext cx="2925074" cy="2011680"/>
        </p:xfrm>
        <a:graphic>
          <a:graphicData uri="http://schemas.openxmlformats.org/drawingml/2006/table">
            <a:tbl>
              <a:tblPr firstRow="1" bandRow="1">
                <a:tableStyleId>{3B4B98B0-60AC-42C2-AFA5-B58CD77FA1E5}</a:tableStyleId>
              </a:tblPr>
              <a:tblGrid>
                <a:gridCol w="1731703">
                  <a:extLst>
                    <a:ext uri="{9D8B030D-6E8A-4147-A177-3AD203B41FA5}">
                      <a16:colId xmlns:a16="http://schemas.microsoft.com/office/drawing/2014/main" val="4074574083"/>
                    </a:ext>
                  </a:extLst>
                </a:gridCol>
                <a:gridCol w="1193371">
                  <a:extLst>
                    <a:ext uri="{9D8B030D-6E8A-4147-A177-3AD203B41FA5}">
                      <a16:colId xmlns:a16="http://schemas.microsoft.com/office/drawing/2014/main" val="3160757041"/>
                    </a:ext>
                  </a:extLst>
                </a:gridCol>
              </a:tblGrid>
              <a:tr h="332365">
                <a:tc>
                  <a:txBody>
                    <a:bodyPr/>
                    <a:lstStyle/>
                    <a:p>
                      <a:r>
                        <a:rPr lang="en-AU" sz="1600" dirty="0"/>
                        <a:t>Favourite Colour</a:t>
                      </a:r>
                    </a:p>
                  </a:txBody>
                  <a:tcPr/>
                </a:tc>
                <a:tc>
                  <a:txBody>
                    <a:bodyPr/>
                    <a:lstStyle/>
                    <a:p>
                      <a:r>
                        <a:rPr lang="en-AU" sz="1600" dirty="0"/>
                        <a:t>Count</a:t>
                      </a:r>
                    </a:p>
                  </a:txBody>
                  <a:tcPr/>
                </a:tc>
                <a:extLst>
                  <a:ext uri="{0D108BD9-81ED-4DB2-BD59-A6C34878D82A}">
                    <a16:rowId xmlns:a16="http://schemas.microsoft.com/office/drawing/2014/main" val="1335479356"/>
                  </a:ext>
                </a:extLst>
              </a:tr>
              <a:tr h="332365">
                <a:tc>
                  <a:txBody>
                    <a:bodyPr/>
                    <a:lstStyle/>
                    <a:p>
                      <a:r>
                        <a:rPr lang="en-AU" sz="1600" dirty="0"/>
                        <a:t>Red</a:t>
                      </a:r>
                    </a:p>
                  </a:txBody>
                  <a:tcPr/>
                </a:tc>
                <a:tc>
                  <a:txBody>
                    <a:bodyPr/>
                    <a:lstStyle/>
                    <a:p>
                      <a:r>
                        <a:rPr lang="en-AU" sz="1600" dirty="0"/>
                        <a:t>10</a:t>
                      </a:r>
                    </a:p>
                  </a:txBody>
                  <a:tcPr/>
                </a:tc>
                <a:extLst>
                  <a:ext uri="{0D108BD9-81ED-4DB2-BD59-A6C34878D82A}">
                    <a16:rowId xmlns:a16="http://schemas.microsoft.com/office/drawing/2014/main" val="1724336339"/>
                  </a:ext>
                </a:extLst>
              </a:tr>
              <a:tr h="332365">
                <a:tc>
                  <a:txBody>
                    <a:bodyPr/>
                    <a:lstStyle/>
                    <a:p>
                      <a:r>
                        <a:rPr lang="en-AU" sz="1600" dirty="0"/>
                        <a:t>Green</a:t>
                      </a:r>
                    </a:p>
                  </a:txBody>
                  <a:tcPr/>
                </a:tc>
                <a:tc>
                  <a:txBody>
                    <a:bodyPr/>
                    <a:lstStyle/>
                    <a:p>
                      <a:r>
                        <a:rPr lang="en-AU" sz="1600" dirty="0"/>
                        <a:t>5</a:t>
                      </a:r>
                    </a:p>
                  </a:txBody>
                  <a:tcPr/>
                </a:tc>
                <a:extLst>
                  <a:ext uri="{0D108BD9-81ED-4DB2-BD59-A6C34878D82A}">
                    <a16:rowId xmlns:a16="http://schemas.microsoft.com/office/drawing/2014/main" val="2408170635"/>
                  </a:ext>
                </a:extLst>
              </a:tr>
              <a:tr h="332365">
                <a:tc>
                  <a:txBody>
                    <a:bodyPr/>
                    <a:lstStyle/>
                    <a:p>
                      <a:r>
                        <a:rPr lang="en-AU" sz="1600" dirty="0"/>
                        <a:t>yellow</a:t>
                      </a:r>
                    </a:p>
                  </a:txBody>
                  <a:tcPr/>
                </a:tc>
                <a:tc>
                  <a:txBody>
                    <a:bodyPr/>
                    <a:lstStyle/>
                    <a:p>
                      <a:r>
                        <a:rPr lang="en-AU" sz="1600" dirty="0"/>
                        <a:t>15</a:t>
                      </a:r>
                    </a:p>
                  </a:txBody>
                  <a:tcPr/>
                </a:tc>
                <a:extLst>
                  <a:ext uri="{0D108BD9-81ED-4DB2-BD59-A6C34878D82A}">
                    <a16:rowId xmlns:a16="http://schemas.microsoft.com/office/drawing/2014/main" val="385377915"/>
                  </a:ext>
                </a:extLst>
              </a:tr>
              <a:tr h="332365">
                <a:tc>
                  <a:txBody>
                    <a:bodyPr/>
                    <a:lstStyle/>
                    <a:p>
                      <a:r>
                        <a:rPr lang="en-AU" sz="1600" dirty="0"/>
                        <a:t>Blue</a:t>
                      </a:r>
                    </a:p>
                  </a:txBody>
                  <a:tcPr/>
                </a:tc>
                <a:tc>
                  <a:txBody>
                    <a:bodyPr/>
                    <a:lstStyle/>
                    <a:p>
                      <a:r>
                        <a:rPr lang="en-AU" sz="1600" dirty="0"/>
                        <a:t>6</a:t>
                      </a:r>
                    </a:p>
                  </a:txBody>
                  <a:tcPr/>
                </a:tc>
                <a:extLst>
                  <a:ext uri="{0D108BD9-81ED-4DB2-BD59-A6C34878D82A}">
                    <a16:rowId xmlns:a16="http://schemas.microsoft.com/office/drawing/2014/main" val="2762600246"/>
                  </a:ext>
                </a:extLst>
              </a:tr>
              <a:tr h="332365">
                <a:tc>
                  <a:txBody>
                    <a:bodyPr/>
                    <a:lstStyle/>
                    <a:p>
                      <a:r>
                        <a:rPr lang="en-AU" sz="1600" dirty="0"/>
                        <a:t>Pink</a:t>
                      </a:r>
                    </a:p>
                  </a:txBody>
                  <a:tcPr/>
                </a:tc>
                <a:tc>
                  <a:txBody>
                    <a:bodyPr/>
                    <a:lstStyle/>
                    <a:p>
                      <a:r>
                        <a:rPr lang="en-AU" sz="1600" dirty="0"/>
                        <a:t>4</a:t>
                      </a:r>
                    </a:p>
                  </a:txBody>
                  <a:tcPr/>
                </a:tc>
                <a:extLst>
                  <a:ext uri="{0D108BD9-81ED-4DB2-BD59-A6C34878D82A}">
                    <a16:rowId xmlns:a16="http://schemas.microsoft.com/office/drawing/2014/main" val="1687942280"/>
                  </a:ext>
                </a:extLst>
              </a:tr>
            </a:tbl>
          </a:graphicData>
        </a:graphic>
      </p:graphicFrame>
      <p:pic>
        <p:nvPicPr>
          <p:cNvPr id="6" name="Picture 5">
            <a:extLst>
              <a:ext uri="{FF2B5EF4-FFF2-40B4-BE49-F238E27FC236}">
                <a16:creationId xmlns:a16="http://schemas.microsoft.com/office/drawing/2014/main" id="{4E998081-90ED-48CF-A8BD-6B45672BB557}"/>
              </a:ext>
            </a:extLst>
          </p:cNvPr>
          <p:cNvPicPr>
            <a:picLocks noChangeAspect="1"/>
          </p:cNvPicPr>
          <p:nvPr/>
        </p:nvPicPr>
        <p:blipFill>
          <a:blip r:embed="rId3"/>
          <a:stretch>
            <a:fillRect/>
          </a:stretch>
        </p:blipFill>
        <p:spPr>
          <a:xfrm>
            <a:off x="144963" y="1002534"/>
            <a:ext cx="5645552" cy="5602191"/>
          </a:xfrm>
          <a:prstGeom prst="rect">
            <a:avLst/>
          </a:prstGeom>
        </p:spPr>
      </p:pic>
      <p:sp>
        <p:nvSpPr>
          <p:cNvPr id="7" name="TextBox 6">
            <a:extLst>
              <a:ext uri="{FF2B5EF4-FFF2-40B4-BE49-F238E27FC236}">
                <a16:creationId xmlns:a16="http://schemas.microsoft.com/office/drawing/2014/main" id="{E034CFEF-EDC8-46B6-8978-75DB65AF4272}"/>
              </a:ext>
            </a:extLst>
          </p:cNvPr>
          <p:cNvSpPr txBox="1"/>
          <p:nvPr/>
        </p:nvSpPr>
        <p:spPr>
          <a:xfrm>
            <a:off x="144963" y="242145"/>
            <a:ext cx="2895408" cy="523220"/>
          </a:xfrm>
          <a:prstGeom prst="rect">
            <a:avLst/>
          </a:prstGeom>
          <a:noFill/>
        </p:spPr>
        <p:txBody>
          <a:bodyPr wrap="none" rtlCol="0">
            <a:spAutoFit/>
          </a:bodyPr>
          <a:lstStyle/>
          <a:p>
            <a:r>
              <a:rPr lang="en-AU" sz="2800" dirty="0"/>
              <a:t>How does it work?</a:t>
            </a:r>
          </a:p>
        </p:txBody>
      </p:sp>
    </p:spTree>
    <p:extLst>
      <p:ext uri="{BB962C8B-B14F-4D97-AF65-F5344CB8AC3E}">
        <p14:creationId xmlns:p14="http://schemas.microsoft.com/office/powerpoint/2010/main" val="22827861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a:t>24</a:t>
            </a:r>
          </a:p>
          <a:p>
            <a:r>
              <a:rPr lang="en-AU" sz="1600" dirty="0"/>
              <a:t>7</a:t>
            </a:r>
          </a:p>
          <a:p>
            <a:r>
              <a:rPr lang="en-AU" sz="1600" dirty="0"/>
              <a:t>30</a:t>
            </a:r>
          </a:p>
        </p:txBody>
      </p:sp>
      <p:sp>
        <p:nvSpPr>
          <p:cNvPr id="10" name="TextBox 9"/>
          <p:cNvSpPr txBox="1"/>
          <p:nvPr/>
        </p:nvSpPr>
        <p:spPr>
          <a:xfrm>
            <a:off x="686465" y="251357"/>
            <a:ext cx="2427909" cy="523220"/>
          </a:xfrm>
          <a:prstGeom prst="rect">
            <a:avLst/>
          </a:prstGeom>
          <a:noFill/>
        </p:spPr>
        <p:txBody>
          <a:bodyPr wrap="none" rtlCol="0">
            <a:spAutoFit/>
          </a:bodyPr>
          <a:lstStyle/>
          <a:p>
            <a:r>
              <a:rPr lang="en-AU" sz="2800" dirty="0"/>
              <a:t>Column Graphs</a:t>
            </a:r>
          </a:p>
        </p:txBody>
      </p:sp>
      <p:cxnSp>
        <p:nvCxnSpPr>
          <p:cNvPr id="13" name="Straight Connector 12"/>
          <p:cNvCxnSpPr>
            <a:cxnSpLocks/>
          </p:cNvCxnSpPr>
          <p:nvPr/>
        </p:nvCxnSpPr>
        <p:spPr>
          <a:xfrm>
            <a:off x="2267744" y="1916832"/>
            <a:ext cx="0" cy="4941168"/>
          </a:xfrm>
          <a:prstGeom prst="line">
            <a:avLst/>
          </a:prstGeom>
        </p:spPr>
        <p:style>
          <a:lnRef idx="1">
            <a:schemeClr val="accent2"/>
          </a:lnRef>
          <a:fillRef idx="0">
            <a:schemeClr val="accent2"/>
          </a:fillRef>
          <a:effectRef idx="0">
            <a:schemeClr val="accent2"/>
          </a:effectRef>
          <a:fontRef idx="minor">
            <a:schemeClr val="tx1"/>
          </a:fontRef>
        </p:style>
      </p:cxnSp>
      <p:sp>
        <p:nvSpPr>
          <p:cNvPr id="22" name="TextBox 21">
            <a:extLst>
              <a:ext uri="{FF2B5EF4-FFF2-40B4-BE49-F238E27FC236}">
                <a16:creationId xmlns:a16="http://schemas.microsoft.com/office/drawing/2014/main" id="{118B3318-A83E-4079-9FFB-0AB3DC6942FB}"/>
              </a:ext>
            </a:extLst>
          </p:cNvPr>
          <p:cNvSpPr txBox="1"/>
          <p:nvPr/>
        </p:nvSpPr>
        <p:spPr>
          <a:xfrm>
            <a:off x="7439175" y="206429"/>
            <a:ext cx="1584176" cy="461665"/>
          </a:xfrm>
          <a:prstGeom prst="rect">
            <a:avLst/>
          </a:prstGeom>
          <a:noFill/>
        </p:spPr>
        <p:txBody>
          <a:bodyPr wrap="square" rtlCol="0">
            <a:spAutoFit/>
          </a:bodyPr>
          <a:lstStyle/>
          <a:p>
            <a:r>
              <a:rPr lang="en-AU" sz="2400" dirty="0"/>
              <a:t>Date</a:t>
            </a:r>
          </a:p>
        </p:txBody>
      </p:sp>
      <p:sp>
        <p:nvSpPr>
          <p:cNvPr id="23" name="TextBox 22">
            <a:extLst>
              <a:ext uri="{FF2B5EF4-FFF2-40B4-BE49-F238E27FC236}">
                <a16:creationId xmlns:a16="http://schemas.microsoft.com/office/drawing/2014/main" id="{CC43BB08-15C1-461A-9A30-7797DDE0B81D}"/>
              </a:ext>
            </a:extLst>
          </p:cNvPr>
          <p:cNvSpPr txBox="1"/>
          <p:nvPr/>
        </p:nvSpPr>
        <p:spPr>
          <a:xfrm>
            <a:off x="80408" y="1144177"/>
            <a:ext cx="8929880" cy="461665"/>
          </a:xfrm>
          <a:prstGeom prst="rect">
            <a:avLst/>
          </a:prstGeom>
          <a:noFill/>
        </p:spPr>
        <p:txBody>
          <a:bodyPr wrap="square" rtlCol="0">
            <a:spAutoFit/>
          </a:bodyPr>
          <a:lstStyle/>
          <a:p>
            <a:r>
              <a:rPr lang="en-AU" sz="2400" dirty="0"/>
              <a:t>EQ: </a:t>
            </a:r>
            <a:r>
              <a:rPr lang="en-US" sz="2400" dirty="0"/>
              <a:t>What is a column graph and why do we use them to display data?</a:t>
            </a:r>
            <a:endParaRPr lang="en-AU" sz="2400" dirty="0"/>
          </a:p>
        </p:txBody>
      </p:sp>
      <p:cxnSp>
        <p:nvCxnSpPr>
          <p:cNvPr id="24" name="Straight Connector 23">
            <a:extLst>
              <a:ext uri="{FF2B5EF4-FFF2-40B4-BE49-F238E27FC236}">
                <a16:creationId xmlns:a16="http://schemas.microsoft.com/office/drawing/2014/main" id="{8260AA77-76C8-4593-BB13-859489211D69}"/>
              </a:ext>
            </a:extLst>
          </p:cNvPr>
          <p:cNvCxnSpPr>
            <a:cxnSpLocks/>
          </p:cNvCxnSpPr>
          <p:nvPr/>
        </p:nvCxnSpPr>
        <p:spPr>
          <a:xfrm>
            <a:off x="5796136" y="1916832"/>
            <a:ext cx="0" cy="4941168"/>
          </a:xfrm>
          <a:prstGeom prst="line">
            <a:avLst/>
          </a:prstGeom>
        </p:spPr>
        <p:style>
          <a:lnRef idx="1">
            <a:schemeClr val="accent2"/>
          </a:lnRef>
          <a:fillRef idx="0">
            <a:schemeClr val="accent2"/>
          </a:fillRef>
          <a:effectRef idx="0">
            <a:schemeClr val="accent2"/>
          </a:effectRef>
          <a:fontRef idx="minor">
            <a:schemeClr val="tx1"/>
          </a:fontRef>
        </p:style>
      </p:cxnSp>
      <p:sp>
        <p:nvSpPr>
          <p:cNvPr id="2" name="TextBox 1">
            <a:extLst>
              <a:ext uri="{FF2B5EF4-FFF2-40B4-BE49-F238E27FC236}">
                <a16:creationId xmlns:a16="http://schemas.microsoft.com/office/drawing/2014/main" id="{C530022D-68F2-48EC-A1E4-EC6B68AD9DDF}"/>
              </a:ext>
            </a:extLst>
          </p:cNvPr>
          <p:cNvSpPr txBox="1"/>
          <p:nvPr/>
        </p:nvSpPr>
        <p:spPr>
          <a:xfrm>
            <a:off x="28156" y="1938179"/>
            <a:ext cx="1127873" cy="369332"/>
          </a:xfrm>
          <a:prstGeom prst="rect">
            <a:avLst/>
          </a:prstGeom>
          <a:noFill/>
        </p:spPr>
        <p:txBody>
          <a:bodyPr wrap="none" rtlCol="0">
            <a:spAutoFit/>
          </a:bodyPr>
          <a:lstStyle/>
          <a:p>
            <a:r>
              <a:rPr lang="en-AU" dirty="0">
                <a:solidFill>
                  <a:schemeClr val="bg1">
                    <a:lumMod val="50000"/>
                  </a:schemeClr>
                </a:solidFill>
              </a:rPr>
              <a:t>Questions</a:t>
            </a:r>
          </a:p>
        </p:txBody>
      </p:sp>
      <p:sp>
        <p:nvSpPr>
          <p:cNvPr id="11" name="TextBox 10">
            <a:extLst>
              <a:ext uri="{FF2B5EF4-FFF2-40B4-BE49-F238E27FC236}">
                <a16:creationId xmlns:a16="http://schemas.microsoft.com/office/drawing/2014/main" id="{E7946A4A-3623-4079-93E1-CC9DE1F237F2}"/>
              </a:ext>
            </a:extLst>
          </p:cNvPr>
          <p:cNvSpPr txBox="1"/>
          <p:nvPr/>
        </p:nvSpPr>
        <p:spPr>
          <a:xfrm>
            <a:off x="2300795" y="1938179"/>
            <a:ext cx="735201" cy="369332"/>
          </a:xfrm>
          <a:prstGeom prst="rect">
            <a:avLst/>
          </a:prstGeom>
          <a:noFill/>
        </p:spPr>
        <p:txBody>
          <a:bodyPr wrap="none" rtlCol="0">
            <a:spAutoFit/>
          </a:bodyPr>
          <a:lstStyle/>
          <a:p>
            <a:r>
              <a:rPr lang="en-AU" dirty="0">
                <a:solidFill>
                  <a:schemeClr val="bg1">
                    <a:lumMod val="50000"/>
                  </a:schemeClr>
                </a:solidFill>
              </a:rPr>
              <a:t>Notes</a:t>
            </a:r>
          </a:p>
        </p:txBody>
      </p:sp>
      <p:sp>
        <p:nvSpPr>
          <p:cNvPr id="12" name="TextBox 11">
            <a:extLst>
              <a:ext uri="{FF2B5EF4-FFF2-40B4-BE49-F238E27FC236}">
                <a16:creationId xmlns:a16="http://schemas.microsoft.com/office/drawing/2014/main" id="{982FB79C-5235-460C-8519-045A52058720}"/>
              </a:ext>
            </a:extLst>
          </p:cNvPr>
          <p:cNvSpPr txBox="1"/>
          <p:nvPr/>
        </p:nvSpPr>
        <p:spPr>
          <a:xfrm>
            <a:off x="5827152" y="1938179"/>
            <a:ext cx="1375185" cy="369332"/>
          </a:xfrm>
          <a:prstGeom prst="rect">
            <a:avLst/>
          </a:prstGeom>
          <a:noFill/>
        </p:spPr>
        <p:txBody>
          <a:bodyPr wrap="none" rtlCol="0">
            <a:spAutoFit/>
          </a:bodyPr>
          <a:lstStyle/>
          <a:p>
            <a:r>
              <a:rPr lang="en-AU" dirty="0">
                <a:solidFill>
                  <a:schemeClr val="bg1">
                    <a:lumMod val="50000"/>
                  </a:schemeClr>
                </a:solidFill>
              </a:rPr>
              <a:t>Explanations</a:t>
            </a:r>
          </a:p>
        </p:txBody>
      </p:sp>
      <p:sp>
        <p:nvSpPr>
          <p:cNvPr id="3" name="TextBox 2">
            <a:extLst>
              <a:ext uri="{FF2B5EF4-FFF2-40B4-BE49-F238E27FC236}">
                <a16:creationId xmlns:a16="http://schemas.microsoft.com/office/drawing/2014/main" id="{E1911EFE-900E-4F7E-B814-F04BD904434E}"/>
              </a:ext>
            </a:extLst>
          </p:cNvPr>
          <p:cNvSpPr txBox="1"/>
          <p:nvPr/>
        </p:nvSpPr>
        <p:spPr>
          <a:xfrm>
            <a:off x="80408" y="2271852"/>
            <a:ext cx="2141218" cy="707886"/>
          </a:xfrm>
          <a:prstGeom prst="rect">
            <a:avLst/>
          </a:prstGeom>
          <a:noFill/>
        </p:spPr>
        <p:txBody>
          <a:bodyPr wrap="square" rtlCol="0">
            <a:spAutoFit/>
          </a:bodyPr>
          <a:lstStyle/>
          <a:p>
            <a:r>
              <a:rPr lang="en-AU" sz="2000" dirty="0"/>
              <a:t>How do we read a column graph?</a:t>
            </a:r>
          </a:p>
        </p:txBody>
      </p:sp>
      <p:sp>
        <p:nvSpPr>
          <p:cNvPr id="14" name="TextBox 13">
            <a:extLst>
              <a:ext uri="{FF2B5EF4-FFF2-40B4-BE49-F238E27FC236}">
                <a16:creationId xmlns:a16="http://schemas.microsoft.com/office/drawing/2014/main" id="{01177744-6673-4E57-87C5-4C31069968BE}"/>
              </a:ext>
            </a:extLst>
          </p:cNvPr>
          <p:cNvSpPr txBox="1"/>
          <p:nvPr/>
        </p:nvSpPr>
        <p:spPr>
          <a:xfrm>
            <a:off x="2348151" y="2271852"/>
            <a:ext cx="3416969" cy="4401205"/>
          </a:xfrm>
          <a:prstGeom prst="rect">
            <a:avLst/>
          </a:prstGeom>
          <a:noFill/>
        </p:spPr>
        <p:txBody>
          <a:bodyPr wrap="square" rtlCol="0">
            <a:spAutoFit/>
          </a:bodyPr>
          <a:lstStyle/>
          <a:p>
            <a:r>
              <a:rPr lang="en-AU" sz="2000" dirty="0"/>
              <a:t>Look at the category then read the value from the height.</a:t>
            </a:r>
          </a:p>
          <a:p>
            <a:endParaRPr lang="en-AU" sz="2000" dirty="0"/>
          </a:p>
          <a:p>
            <a:r>
              <a:rPr lang="en-AU" sz="2000" dirty="0"/>
              <a:t>How many students prefer red?   10</a:t>
            </a:r>
          </a:p>
          <a:p>
            <a:endParaRPr lang="en-AU" sz="2000" dirty="0"/>
          </a:p>
          <a:p>
            <a:r>
              <a:rPr lang="en-AU" sz="2000" dirty="0"/>
              <a:t>How many students prefer pink?   4</a:t>
            </a:r>
          </a:p>
          <a:p>
            <a:endParaRPr lang="en-AU" sz="2000" dirty="0"/>
          </a:p>
          <a:p>
            <a:r>
              <a:rPr lang="en-AU" sz="2000" dirty="0"/>
              <a:t>How many people were surveyed? </a:t>
            </a:r>
          </a:p>
          <a:p>
            <a:r>
              <a:rPr lang="en-AU" sz="2000" dirty="0"/>
              <a:t>10 + 5 + 15 + 6 + 4 = 40</a:t>
            </a:r>
          </a:p>
          <a:p>
            <a:endParaRPr lang="en-AU" sz="2000" dirty="0"/>
          </a:p>
          <a:p>
            <a:endParaRPr lang="en-AU" sz="2000" dirty="0"/>
          </a:p>
        </p:txBody>
      </p:sp>
      <p:pic>
        <p:nvPicPr>
          <p:cNvPr id="5" name="Picture 4">
            <a:extLst>
              <a:ext uri="{FF2B5EF4-FFF2-40B4-BE49-F238E27FC236}">
                <a16:creationId xmlns:a16="http://schemas.microsoft.com/office/drawing/2014/main" id="{D0BBB7A6-A461-47B6-A1F4-0D37CE905885}"/>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5934770" y="2541945"/>
            <a:ext cx="2621491" cy="2936664"/>
          </a:xfrm>
          <a:prstGeom prst="rect">
            <a:avLst/>
          </a:prstGeom>
        </p:spPr>
      </p:pic>
    </p:spTree>
    <p:extLst>
      <p:ext uri="{BB962C8B-B14F-4D97-AF65-F5344CB8AC3E}">
        <p14:creationId xmlns:p14="http://schemas.microsoft.com/office/powerpoint/2010/main" val="24502439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2E197F-33CC-4642-97AD-718C6BD5BD22}"/>
              </a:ext>
            </a:extLst>
          </p:cNvPr>
          <p:cNvSpPr>
            <a:spLocks noGrp="1"/>
          </p:cNvSpPr>
          <p:nvPr>
            <p:ph type="title"/>
          </p:nvPr>
        </p:nvSpPr>
        <p:spPr>
          <a:xfrm>
            <a:off x="228671" y="898944"/>
            <a:ext cx="7543800" cy="550637"/>
          </a:xfrm>
        </p:spPr>
        <p:txBody>
          <a:bodyPr/>
          <a:lstStyle/>
          <a:p>
            <a:r>
              <a:rPr lang="en-AU" dirty="0"/>
              <a:t>Independent Practice</a:t>
            </a:r>
          </a:p>
        </p:txBody>
      </p:sp>
      <p:sp>
        <p:nvSpPr>
          <p:cNvPr id="4" name="TextBox 3"/>
          <p:cNvSpPr txBox="1"/>
          <p:nvPr/>
        </p:nvSpPr>
        <p:spPr>
          <a:xfrm>
            <a:off x="510168" y="1568185"/>
            <a:ext cx="6376041" cy="1477328"/>
          </a:xfrm>
          <a:prstGeom prst="rect">
            <a:avLst/>
          </a:prstGeom>
          <a:noFill/>
        </p:spPr>
        <p:txBody>
          <a:bodyPr wrap="none" rtlCol="0">
            <a:spAutoFit/>
          </a:bodyPr>
          <a:lstStyle/>
          <a:p>
            <a:r>
              <a:rPr lang="en-US" dirty="0"/>
              <a:t>In small groups</a:t>
            </a:r>
          </a:p>
          <a:p>
            <a:pPr marL="214313" indent="-214313">
              <a:buFont typeface="Arial" charset="0"/>
              <a:buChar char="•"/>
            </a:pPr>
            <a:r>
              <a:rPr lang="en-US" dirty="0"/>
              <a:t>Roll two dice and add the scores together and write them down</a:t>
            </a:r>
          </a:p>
          <a:p>
            <a:pPr marL="214313" indent="-214313">
              <a:buFont typeface="Arial" charset="0"/>
              <a:buChar char="•"/>
            </a:pPr>
            <a:r>
              <a:rPr lang="en-US" dirty="0"/>
              <a:t>Do this 20 times</a:t>
            </a:r>
          </a:p>
          <a:p>
            <a:pPr marL="214313" indent="-214313">
              <a:buFont typeface="Arial" charset="0"/>
              <a:buChar char="•"/>
            </a:pPr>
            <a:r>
              <a:rPr lang="en-US" dirty="0"/>
              <a:t>Complete a frequency table and histogram of the results</a:t>
            </a:r>
          </a:p>
          <a:p>
            <a:pPr marL="214313" indent="-214313">
              <a:buFont typeface="Arial" charset="0"/>
              <a:buChar char="•"/>
            </a:pPr>
            <a:endParaRPr lang="en-US" dirty="0"/>
          </a:p>
        </p:txBody>
      </p:sp>
      <p:sp>
        <p:nvSpPr>
          <p:cNvPr id="5" name="TextBox 4"/>
          <p:cNvSpPr txBox="1"/>
          <p:nvPr/>
        </p:nvSpPr>
        <p:spPr>
          <a:xfrm>
            <a:off x="510168" y="3073824"/>
            <a:ext cx="7950786" cy="1477328"/>
          </a:xfrm>
          <a:prstGeom prst="rect">
            <a:avLst/>
          </a:prstGeom>
          <a:noFill/>
        </p:spPr>
        <p:txBody>
          <a:bodyPr wrap="square" rtlCol="0">
            <a:spAutoFit/>
          </a:bodyPr>
          <a:lstStyle/>
          <a:p>
            <a:r>
              <a:rPr lang="en-US" b="1" u="sng" dirty="0"/>
              <a:t>Application</a:t>
            </a:r>
            <a:r>
              <a:rPr lang="en-US" dirty="0"/>
              <a:t>: Once you’ve completed your frequency table and Dot plot, calculate the following for your sample space: </a:t>
            </a:r>
          </a:p>
          <a:p>
            <a:pPr marL="257175" indent="-257175">
              <a:buFont typeface="Arial" charset="0"/>
              <a:buChar char="•"/>
            </a:pPr>
            <a:r>
              <a:rPr lang="en-US" dirty="0"/>
              <a:t>The Median</a:t>
            </a:r>
          </a:p>
          <a:p>
            <a:pPr marL="257175" indent="-257175">
              <a:buFont typeface="Arial" charset="0"/>
              <a:buChar char="•"/>
            </a:pPr>
            <a:r>
              <a:rPr lang="en-US" dirty="0"/>
              <a:t>The Mode</a:t>
            </a:r>
          </a:p>
          <a:p>
            <a:pPr marL="257175" indent="-257175">
              <a:buFont typeface="Arial" charset="0"/>
              <a:buChar char="•"/>
            </a:pPr>
            <a:r>
              <a:rPr lang="en-US" dirty="0"/>
              <a:t>The Range</a:t>
            </a:r>
          </a:p>
        </p:txBody>
      </p:sp>
      <p:sp>
        <p:nvSpPr>
          <p:cNvPr id="6" name="TextBox 5"/>
          <p:cNvSpPr txBox="1"/>
          <p:nvPr/>
        </p:nvSpPr>
        <p:spPr>
          <a:xfrm>
            <a:off x="510168" y="4828150"/>
            <a:ext cx="8569824" cy="923330"/>
          </a:xfrm>
          <a:prstGeom prst="rect">
            <a:avLst/>
          </a:prstGeom>
          <a:noFill/>
        </p:spPr>
        <p:txBody>
          <a:bodyPr wrap="square" rtlCol="0">
            <a:spAutoFit/>
          </a:bodyPr>
          <a:lstStyle/>
          <a:p>
            <a:r>
              <a:rPr lang="en-US" b="1" u="sng" dirty="0"/>
              <a:t>Extension</a:t>
            </a:r>
            <a:r>
              <a:rPr lang="en-US" dirty="0"/>
              <a:t>: </a:t>
            </a:r>
          </a:p>
          <a:p>
            <a:pPr marL="257175" indent="-257175">
              <a:buFont typeface="Arial" charset="0"/>
              <a:buChar char="•"/>
            </a:pPr>
            <a:r>
              <a:rPr lang="en-US" dirty="0"/>
              <a:t>How many times did you roll a multiple of 2?</a:t>
            </a:r>
          </a:p>
          <a:p>
            <a:pPr marL="257175" indent="-257175">
              <a:buFont typeface="Arial" charset="0"/>
              <a:buChar char="•"/>
            </a:pPr>
            <a:r>
              <a:rPr lang="en-US" dirty="0"/>
              <a:t>What is the mean number you rolled?</a:t>
            </a:r>
          </a:p>
        </p:txBody>
      </p:sp>
    </p:spTree>
    <p:extLst>
      <p:ext uri="{BB962C8B-B14F-4D97-AF65-F5344CB8AC3E}">
        <p14:creationId xmlns:p14="http://schemas.microsoft.com/office/powerpoint/2010/main" val="2697498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heckerboard(across)">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checkerboard(across)">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Title 1"/>
          <p:cNvSpPr>
            <a:spLocks noGrp="1"/>
          </p:cNvSpPr>
          <p:nvPr>
            <p:ph type="title"/>
          </p:nvPr>
        </p:nvSpPr>
        <p:spPr>
          <a:xfrm>
            <a:off x="242371" y="479895"/>
            <a:ext cx="8460954" cy="993268"/>
          </a:xfrm>
        </p:spPr>
        <p:txBody>
          <a:bodyPr>
            <a:normAutofit/>
          </a:bodyPr>
          <a:lstStyle/>
          <a:p>
            <a:r>
              <a:rPr lang="en-US" dirty="0"/>
              <a:t>Class/Homework</a:t>
            </a:r>
            <a:endParaRPr lang="en-US" sz="2175" dirty="0"/>
          </a:p>
        </p:txBody>
      </p:sp>
      <p:sp>
        <p:nvSpPr>
          <p:cNvPr id="53" name="TextBox 52"/>
          <p:cNvSpPr txBox="1"/>
          <p:nvPr/>
        </p:nvSpPr>
        <p:spPr>
          <a:xfrm>
            <a:off x="7573978" y="5732115"/>
            <a:ext cx="474356" cy="369332"/>
          </a:xfrm>
          <a:prstGeom prst="rect">
            <a:avLst/>
          </a:prstGeom>
          <a:noFill/>
        </p:spPr>
        <p:txBody>
          <a:bodyPr wrap="square" rtlCol="0">
            <a:spAutoFit/>
          </a:bodyPr>
          <a:lstStyle/>
          <a:p>
            <a:r>
              <a:rPr lang="en-AU" dirty="0">
                <a:solidFill>
                  <a:prstClr val="black"/>
                </a:solidFill>
              </a:rPr>
              <a:t> </a:t>
            </a:r>
          </a:p>
        </p:txBody>
      </p:sp>
      <p:sp>
        <p:nvSpPr>
          <p:cNvPr id="4" name="TextBox 3"/>
          <p:cNvSpPr txBox="1"/>
          <p:nvPr/>
        </p:nvSpPr>
        <p:spPr>
          <a:xfrm>
            <a:off x="618047" y="2318747"/>
            <a:ext cx="8269986" cy="923330"/>
          </a:xfrm>
          <a:prstGeom prst="rect">
            <a:avLst/>
          </a:prstGeom>
          <a:noFill/>
        </p:spPr>
        <p:txBody>
          <a:bodyPr wrap="square" rtlCol="0">
            <a:spAutoFit/>
          </a:bodyPr>
          <a:lstStyle/>
          <a:p>
            <a:pPr marL="214313" indent="-214313">
              <a:buFont typeface="Arial" charset="0"/>
              <a:buChar char="•"/>
            </a:pPr>
            <a:r>
              <a:rPr lang="en-US" sz="2700" dirty="0"/>
              <a:t>Worksheet or Statistics Foldable</a:t>
            </a:r>
          </a:p>
          <a:p>
            <a:pPr marL="214313" indent="-214313">
              <a:buFont typeface="Arial" charset="0"/>
              <a:buChar char="•"/>
            </a:pPr>
            <a:endParaRPr lang="en-US" sz="2700" dirty="0"/>
          </a:p>
        </p:txBody>
      </p:sp>
    </p:spTree>
    <p:extLst>
      <p:ext uri="{BB962C8B-B14F-4D97-AF65-F5344CB8AC3E}">
        <p14:creationId xmlns:p14="http://schemas.microsoft.com/office/powerpoint/2010/main" val="16007336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600790" y="3642905"/>
            <a:ext cx="7376533" cy="2354491"/>
          </a:xfrm>
          <a:prstGeom prst="rect">
            <a:avLst/>
          </a:prstGeom>
          <a:noFill/>
        </p:spPr>
        <p:txBody>
          <a:bodyPr wrap="square" rtlCol="0">
            <a:spAutoFit/>
          </a:bodyPr>
          <a:lstStyle/>
          <a:p>
            <a:pPr marL="342900" indent="-342900">
              <a:buFont typeface="Arial" charset="0"/>
              <a:buChar char="•"/>
            </a:pPr>
            <a:r>
              <a:rPr lang="en-US" sz="2100" dirty="0"/>
              <a:t>On a piece of paper, create a column graph for above set of numbers.</a:t>
            </a:r>
          </a:p>
          <a:p>
            <a:pPr marL="342900" indent="-342900">
              <a:buFont typeface="Arial" charset="0"/>
              <a:buChar char="•"/>
            </a:pPr>
            <a:endParaRPr lang="en-US" sz="2100" dirty="0"/>
          </a:p>
          <a:p>
            <a:pPr marL="342900" indent="-342900">
              <a:buFont typeface="Arial" charset="0"/>
              <a:buChar char="•"/>
            </a:pPr>
            <a:r>
              <a:rPr lang="en-US" sz="2100" dirty="0"/>
              <a:t>Calculate the mean, median, mode and range for the above set of numbers</a:t>
            </a:r>
          </a:p>
          <a:p>
            <a:pPr marL="342900" indent="-342900">
              <a:buFont typeface="Arial" charset="0"/>
              <a:buChar char="•"/>
            </a:pPr>
            <a:endParaRPr lang="en-US" sz="2100" dirty="0"/>
          </a:p>
          <a:p>
            <a:pPr marL="342900" indent="-342900">
              <a:buFont typeface="Arial" charset="0"/>
              <a:buChar char="•"/>
            </a:pPr>
            <a:r>
              <a:rPr lang="en-US" sz="2100" dirty="0"/>
              <a:t>Hand in to me when done and complete summary</a:t>
            </a:r>
          </a:p>
        </p:txBody>
      </p:sp>
      <p:graphicFrame>
        <p:nvGraphicFramePr>
          <p:cNvPr id="2" name="Table 1">
            <a:extLst>
              <a:ext uri="{FF2B5EF4-FFF2-40B4-BE49-F238E27FC236}">
                <a16:creationId xmlns:a16="http://schemas.microsoft.com/office/drawing/2014/main" id="{954BB02E-AC4D-428A-8677-AA372049B413}"/>
              </a:ext>
            </a:extLst>
          </p:cNvPr>
          <p:cNvGraphicFramePr>
            <a:graphicFrameLocks noGrp="1"/>
          </p:cNvGraphicFramePr>
          <p:nvPr>
            <p:extLst>
              <p:ext uri="{D42A27DB-BD31-4B8C-83A1-F6EECF244321}">
                <p14:modId xmlns:p14="http://schemas.microsoft.com/office/powerpoint/2010/main" val="2697055164"/>
              </p:ext>
            </p:extLst>
          </p:nvPr>
        </p:nvGraphicFramePr>
        <p:xfrm>
          <a:off x="1347730" y="531296"/>
          <a:ext cx="6096000" cy="2966720"/>
        </p:xfrm>
        <a:graphic>
          <a:graphicData uri="http://schemas.openxmlformats.org/drawingml/2006/table">
            <a:tbl>
              <a:tblPr firstRow="1" bandRow="1">
                <a:tableStyleId>{3B4B98B0-60AC-42C2-AFA5-B58CD77FA1E5}</a:tableStyleId>
              </a:tblPr>
              <a:tblGrid>
                <a:gridCol w="3048000">
                  <a:extLst>
                    <a:ext uri="{9D8B030D-6E8A-4147-A177-3AD203B41FA5}">
                      <a16:colId xmlns:a16="http://schemas.microsoft.com/office/drawing/2014/main" val="2604911819"/>
                    </a:ext>
                  </a:extLst>
                </a:gridCol>
                <a:gridCol w="3048000">
                  <a:extLst>
                    <a:ext uri="{9D8B030D-6E8A-4147-A177-3AD203B41FA5}">
                      <a16:colId xmlns:a16="http://schemas.microsoft.com/office/drawing/2014/main" val="1305350474"/>
                    </a:ext>
                  </a:extLst>
                </a:gridCol>
              </a:tblGrid>
              <a:tr h="370840">
                <a:tc>
                  <a:txBody>
                    <a:bodyPr/>
                    <a:lstStyle/>
                    <a:p>
                      <a:r>
                        <a:rPr lang="en-AU" dirty="0"/>
                        <a:t>Player</a:t>
                      </a:r>
                    </a:p>
                  </a:txBody>
                  <a:tcPr/>
                </a:tc>
                <a:tc>
                  <a:txBody>
                    <a:bodyPr/>
                    <a:lstStyle/>
                    <a:p>
                      <a:r>
                        <a:rPr lang="en-AU" dirty="0"/>
                        <a:t>Goals to date</a:t>
                      </a:r>
                    </a:p>
                  </a:txBody>
                  <a:tcPr/>
                </a:tc>
                <a:extLst>
                  <a:ext uri="{0D108BD9-81ED-4DB2-BD59-A6C34878D82A}">
                    <a16:rowId xmlns:a16="http://schemas.microsoft.com/office/drawing/2014/main" val="958548663"/>
                  </a:ext>
                </a:extLst>
              </a:tr>
              <a:tr h="370840">
                <a:tc>
                  <a:txBody>
                    <a:bodyPr/>
                    <a:lstStyle/>
                    <a:p>
                      <a:r>
                        <a:rPr lang="en-AU" dirty="0"/>
                        <a:t>Lachie Neal</a:t>
                      </a:r>
                    </a:p>
                  </a:txBody>
                  <a:tcPr/>
                </a:tc>
                <a:tc>
                  <a:txBody>
                    <a:bodyPr/>
                    <a:lstStyle/>
                    <a:p>
                      <a:r>
                        <a:rPr lang="en-AU" dirty="0"/>
                        <a:t>7</a:t>
                      </a:r>
                    </a:p>
                  </a:txBody>
                  <a:tcPr/>
                </a:tc>
                <a:extLst>
                  <a:ext uri="{0D108BD9-81ED-4DB2-BD59-A6C34878D82A}">
                    <a16:rowId xmlns:a16="http://schemas.microsoft.com/office/drawing/2014/main" val="3245099930"/>
                  </a:ext>
                </a:extLst>
              </a:tr>
              <a:tr h="370840">
                <a:tc>
                  <a:txBody>
                    <a:bodyPr/>
                    <a:lstStyle/>
                    <a:p>
                      <a:r>
                        <a:rPr lang="en-AU" dirty="0"/>
                        <a:t>Nat Fyfe</a:t>
                      </a:r>
                    </a:p>
                  </a:txBody>
                  <a:tcPr/>
                </a:tc>
                <a:tc>
                  <a:txBody>
                    <a:bodyPr/>
                    <a:lstStyle/>
                    <a:p>
                      <a:r>
                        <a:rPr lang="en-AU" dirty="0"/>
                        <a:t>10</a:t>
                      </a:r>
                    </a:p>
                  </a:txBody>
                  <a:tcPr/>
                </a:tc>
                <a:extLst>
                  <a:ext uri="{0D108BD9-81ED-4DB2-BD59-A6C34878D82A}">
                    <a16:rowId xmlns:a16="http://schemas.microsoft.com/office/drawing/2014/main" val="2557081312"/>
                  </a:ext>
                </a:extLst>
              </a:tr>
              <a:tr h="370840">
                <a:tc>
                  <a:txBody>
                    <a:bodyPr/>
                    <a:lstStyle/>
                    <a:p>
                      <a:r>
                        <a:rPr lang="en-AU" dirty="0"/>
                        <a:t>David Mundy</a:t>
                      </a:r>
                    </a:p>
                  </a:txBody>
                  <a:tcPr/>
                </a:tc>
                <a:tc>
                  <a:txBody>
                    <a:bodyPr/>
                    <a:lstStyle/>
                    <a:p>
                      <a:r>
                        <a:rPr lang="en-AU" dirty="0"/>
                        <a:t>15</a:t>
                      </a:r>
                    </a:p>
                  </a:txBody>
                  <a:tcPr/>
                </a:tc>
                <a:extLst>
                  <a:ext uri="{0D108BD9-81ED-4DB2-BD59-A6C34878D82A}">
                    <a16:rowId xmlns:a16="http://schemas.microsoft.com/office/drawing/2014/main" val="245659445"/>
                  </a:ext>
                </a:extLst>
              </a:tr>
              <a:tr h="370840">
                <a:tc>
                  <a:txBody>
                    <a:bodyPr/>
                    <a:lstStyle/>
                    <a:p>
                      <a:r>
                        <a:rPr lang="en-AU" dirty="0"/>
                        <a:t>Ed Langdon</a:t>
                      </a:r>
                    </a:p>
                  </a:txBody>
                  <a:tcPr/>
                </a:tc>
                <a:tc>
                  <a:txBody>
                    <a:bodyPr/>
                    <a:lstStyle/>
                    <a:p>
                      <a:r>
                        <a:rPr lang="en-AU" dirty="0"/>
                        <a:t>8</a:t>
                      </a:r>
                    </a:p>
                  </a:txBody>
                  <a:tcPr/>
                </a:tc>
                <a:extLst>
                  <a:ext uri="{0D108BD9-81ED-4DB2-BD59-A6C34878D82A}">
                    <a16:rowId xmlns:a16="http://schemas.microsoft.com/office/drawing/2014/main" val="241214136"/>
                  </a:ext>
                </a:extLst>
              </a:tr>
              <a:tr h="370840">
                <a:tc>
                  <a:txBody>
                    <a:bodyPr/>
                    <a:lstStyle/>
                    <a:p>
                      <a:r>
                        <a:rPr lang="en-AU" dirty="0"/>
                        <a:t>Brandon Matera</a:t>
                      </a:r>
                    </a:p>
                  </a:txBody>
                  <a:tcPr/>
                </a:tc>
                <a:tc>
                  <a:txBody>
                    <a:bodyPr/>
                    <a:lstStyle/>
                    <a:p>
                      <a:r>
                        <a:rPr lang="en-AU" dirty="0"/>
                        <a:t>11</a:t>
                      </a:r>
                    </a:p>
                  </a:txBody>
                  <a:tcPr/>
                </a:tc>
                <a:extLst>
                  <a:ext uri="{0D108BD9-81ED-4DB2-BD59-A6C34878D82A}">
                    <a16:rowId xmlns:a16="http://schemas.microsoft.com/office/drawing/2014/main" val="1675379996"/>
                  </a:ext>
                </a:extLst>
              </a:tr>
              <a:tr h="370840">
                <a:tc>
                  <a:txBody>
                    <a:bodyPr/>
                    <a:lstStyle/>
                    <a:p>
                      <a:r>
                        <a:rPr lang="en-AU" dirty="0"/>
                        <a:t>Adam Cerra</a:t>
                      </a:r>
                    </a:p>
                  </a:txBody>
                  <a:tcPr/>
                </a:tc>
                <a:tc>
                  <a:txBody>
                    <a:bodyPr/>
                    <a:lstStyle/>
                    <a:p>
                      <a:r>
                        <a:rPr lang="en-AU" dirty="0"/>
                        <a:t>7</a:t>
                      </a:r>
                    </a:p>
                  </a:txBody>
                  <a:tcPr/>
                </a:tc>
                <a:extLst>
                  <a:ext uri="{0D108BD9-81ED-4DB2-BD59-A6C34878D82A}">
                    <a16:rowId xmlns:a16="http://schemas.microsoft.com/office/drawing/2014/main" val="1288729169"/>
                  </a:ext>
                </a:extLst>
              </a:tr>
              <a:tr h="370840">
                <a:tc>
                  <a:txBody>
                    <a:bodyPr/>
                    <a:lstStyle/>
                    <a:p>
                      <a:r>
                        <a:rPr lang="en-AU" dirty="0"/>
                        <a:t>Luke Ryan</a:t>
                      </a:r>
                    </a:p>
                  </a:txBody>
                  <a:tcPr/>
                </a:tc>
                <a:tc>
                  <a:txBody>
                    <a:bodyPr/>
                    <a:lstStyle/>
                    <a:p>
                      <a:r>
                        <a:rPr lang="en-AU" dirty="0"/>
                        <a:t>1</a:t>
                      </a:r>
                    </a:p>
                  </a:txBody>
                  <a:tcPr/>
                </a:tc>
                <a:extLst>
                  <a:ext uri="{0D108BD9-81ED-4DB2-BD59-A6C34878D82A}">
                    <a16:rowId xmlns:a16="http://schemas.microsoft.com/office/drawing/2014/main" val="1289285436"/>
                  </a:ext>
                </a:extLst>
              </a:tr>
            </a:tbl>
          </a:graphicData>
        </a:graphic>
      </p:graphicFrame>
    </p:spTree>
    <p:extLst>
      <p:ext uri="{BB962C8B-B14F-4D97-AF65-F5344CB8AC3E}">
        <p14:creationId xmlns:p14="http://schemas.microsoft.com/office/powerpoint/2010/main" val="1521723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a:t>24</a:t>
            </a:r>
          </a:p>
          <a:p>
            <a:r>
              <a:rPr lang="en-AU" sz="1600" dirty="0"/>
              <a:t>7</a:t>
            </a:r>
          </a:p>
          <a:p>
            <a:r>
              <a:rPr lang="en-AU" sz="1600" dirty="0"/>
              <a:t>30</a:t>
            </a:r>
          </a:p>
        </p:txBody>
      </p:sp>
      <p:sp>
        <p:nvSpPr>
          <p:cNvPr id="10" name="TextBox 9"/>
          <p:cNvSpPr txBox="1"/>
          <p:nvPr/>
        </p:nvSpPr>
        <p:spPr>
          <a:xfrm>
            <a:off x="686465" y="251357"/>
            <a:ext cx="2427909" cy="523220"/>
          </a:xfrm>
          <a:prstGeom prst="rect">
            <a:avLst/>
          </a:prstGeom>
          <a:noFill/>
        </p:spPr>
        <p:txBody>
          <a:bodyPr wrap="none" rtlCol="0">
            <a:spAutoFit/>
          </a:bodyPr>
          <a:lstStyle/>
          <a:p>
            <a:r>
              <a:rPr lang="en-AU" sz="2800" dirty="0"/>
              <a:t>Column Graphs</a:t>
            </a:r>
          </a:p>
        </p:txBody>
      </p:sp>
      <p:cxnSp>
        <p:nvCxnSpPr>
          <p:cNvPr id="13" name="Straight Connector 12"/>
          <p:cNvCxnSpPr>
            <a:cxnSpLocks/>
          </p:cNvCxnSpPr>
          <p:nvPr/>
        </p:nvCxnSpPr>
        <p:spPr>
          <a:xfrm>
            <a:off x="2267744" y="1916832"/>
            <a:ext cx="0" cy="3172961"/>
          </a:xfrm>
          <a:prstGeom prst="line">
            <a:avLst/>
          </a:prstGeom>
        </p:spPr>
        <p:style>
          <a:lnRef idx="1">
            <a:schemeClr val="accent2"/>
          </a:lnRef>
          <a:fillRef idx="0">
            <a:schemeClr val="accent2"/>
          </a:fillRef>
          <a:effectRef idx="0">
            <a:schemeClr val="accent2"/>
          </a:effectRef>
          <a:fontRef idx="minor">
            <a:schemeClr val="tx1"/>
          </a:fontRef>
        </p:style>
      </p:cxnSp>
      <p:sp>
        <p:nvSpPr>
          <p:cNvPr id="22" name="TextBox 21">
            <a:extLst>
              <a:ext uri="{FF2B5EF4-FFF2-40B4-BE49-F238E27FC236}">
                <a16:creationId xmlns:a16="http://schemas.microsoft.com/office/drawing/2014/main" id="{118B3318-A83E-4079-9FFB-0AB3DC6942FB}"/>
              </a:ext>
            </a:extLst>
          </p:cNvPr>
          <p:cNvSpPr txBox="1"/>
          <p:nvPr/>
        </p:nvSpPr>
        <p:spPr>
          <a:xfrm>
            <a:off x="7439175" y="206429"/>
            <a:ext cx="1584176" cy="461665"/>
          </a:xfrm>
          <a:prstGeom prst="rect">
            <a:avLst/>
          </a:prstGeom>
          <a:noFill/>
        </p:spPr>
        <p:txBody>
          <a:bodyPr wrap="square" rtlCol="0">
            <a:spAutoFit/>
          </a:bodyPr>
          <a:lstStyle/>
          <a:p>
            <a:r>
              <a:rPr lang="en-AU" sz="2400" dirty="0"/>
              <a:t>Date</a:t>
            </a:r>
          </a:p>
        </p:txBody>
      </p:sp>
      <p:sp>
        <p:nvSpPr>
          <p:cNvPr id="23" name="TextBox 22">
            <a:extLst>
              <a:ext uri="{FF2B5EF4-FFF2-40B4-BE49-F238E27FC236}">
                <a16:creationId xmlns:a16="http://schemas.microsoft.com/office/drawing/2014/main" id="{CC43BB08-15C1-461A-9A30-7797DDE0B81D}"/>
              </a:ext>
            </a:extLst>
          </p:cNvPr>
          <p:cNvSpPr txBox="1"/>
          <p:nvPr/>
        </p:nvSpPr>
        <p:spPr>
          <a:xfrm>
            <a:off x="80408" y="1144177"/>
            <a:ext cx="8929880" cy="461665"/>
          </a:xfrm>
          <a:prstGeom prst="rect">
            <a:avLst/>
          </a:prstGeom>
          <a:noFill/>
        </p:spPr>
        <p:txBody>
          <a:bodyPr wrap="square" rtlCol="0">
            <a:spAutoFit/>
          </a:bodyPr>
          <a:lstStyle/>
          <a:p>
            <a:r>
              <a:rPr lang="en-AU" sz="2400" dirty="0"/>
              <a:t>EQ: </a:t>
            </a:r>
            <a:r>
              <a:rPr lang="en-US" sz="2400" dirty="0"/>
              <a:t>What is a column graph and why do we use them to display data?</a:t>
            </a:r>
            <a:endParaRPr lang="en-AU" sz="2400" dirty="0"/>
          </a:p>
        </p:txBody>
      </p:sp>
      <p:cxnSp>
        <p:nvCxnSpPr>
          <p:cNvPr id="24" name="Straight Connector 23">
            <a:extLst>
              <a:ext uri="{FF2B5EF4-FFF2-40B4-BE49-F238E27FC236}">
                <a16:creationId xmlns:a16="http://schemas.microsoft.com/office/drawing/2014/main" id="{8260AA77-76C8-4593-BB13-859489211D69}"/>
              </a:ext>
            </a:extLst>
          </p:cNvPr>
          <p:cNvCxnSpPr>
            <a:cxnSpLocks/>
          </p:cNvCxnSpPr>
          <p:nvPr/>
        </p:nvCxnSpPr>
        <p:spPr>
          <a:xfrm>
            <a:off x="5796136" y="1916832"/>
            <a:ext cx="0" cy="3183978"/>
          </a:xfrm>
          <a:prstGeom prst="line">
            <a:avLst/>
          </a:prstGeom>
        </p:spPr>
        <p:style>
          <a:lnRef idx="1">
            <a:schemeClr val="accent2"/>
          </a:lnRef>
          <a:fillRef idx="0">
            <a:schemeClr val="accent2"/>
          </a:fillRef>
          <a:effectRef idx="0">
            <a:schemeClr val="accent2"/>
          </a:effectRef>
          <a:fontRef idx="minor">
            <a:schemeClr val="tx1"/>
          </a:fontRef>
        </p:style>
      </p:cxnSp>
      <p:sp>
        <p:nvSpPr>
          <p:cNvPr id="2" name="TextBox 1">
            <a:extLst>
              <a:ext uri="{FF2B5EF4-FFF2-40B4-BE49-F238E27FC236}">
                <a16:creationId xmlns:a16="http://schemas.microsoft.com/office/drawing/2014/main" id="{C530022D-68F2-48EC-A1E4-EC6B68AD9DDF}"/>
              </a:ext>
            </a:extLst>
          </p:cNvPr>
          <p:cNvSpPr txBox="1"/>
          <p:nvPr/>
        </p:nvSpPr>
        <p:spPr>
          <a:xfrm>
            <a:off x="28156" y="1938179"/>
            <a:ext cx="1127873" cy="369332"/>
          </a:xfrm>
          <a:prstGeom prst="rect">
            <a:avLst/>
          </a:prstGeom>
          <a:noFill/>
        </p:spPr>
        <p:txBody>
          <a:bodyPr wrap="none" rtlCol="0">
            <a:spAutoFit/>
          </a:bodyPr>
          <a:lstStyle/>
          <a:p>
            <a:r>
              <a:rPr lang="en-AU" dirty="0">
                <a:solidFill>
                  <a:schemeClr val="bg1">
                    <a:lumMod val="50000"/>
                  </a:schemeClr>
                </a:solidFill>
              </a:rPr>
              <a:t>Questions</a:t>
            </a:r>
          </a:p>
        </p:txBody>
      </p:sp>
      <p:sp>
        <p:nvSpPr>
          <p:cNvPr id="11" name="TextBox 10">
            <a:extLst>
              <a:ext uri="{FF2B5EF4-FFF2-40B4-BE49-F238E27FC236}">
                <a16:creationId xmlns:a16="http://schemas.microsoft.com/office/drawing/2014/main" id="{E7946A4A-3623-4079-93E1-CC9DE1F237F2}"/>
              </a:ext>
            </a:extLst>
          </p:cNvPr>
          <p:cNvSpPr txBox="1"/>
          <p:nvPr/>
        </p:nvSpPr>
        <p:spPr>
          <a:xfrm>
            <a:off x="2300795" y="1938179"/>
            <a:ext cx="735201" cy="369332"/>
          </a:xfrm>
          <a:prstGeom prst="rect">
            <a:avLst/>
          </a:prstGeom>
          <a:noFill/>
        </p:spPr>
        <p:txBody>
          <a:bodyPr wrap="none" rtlCol="0">
            <a:spAutoFit/>
          </a:bodyPr>
          <a:lstStyle/>
          <a:p>
            <a:r>
              <a:rPr lang="en-AU" dirty="0">
                <a:solidFill>
                  <a:schemeClr val="bg1">
                    <a:lumMod val="50000"/>
                  </a:schemeClr>
                </a:solidFill>
              </a:rPr>
              <a:t>Notes</a:t>
            </a:r>
          </a:p>
        </p:txBody>
      </p:sp>
      <p:sp>
        <p:nvSpPr>
          <p:cNvPr id="12" name="TextBox 11">
            <a:extLst>
              <a:ext uri="{FF2B5EF4-FFF2-40B4-BE49-F238E27FC236}">
                <a16:creationId xmlns:a16="http://schemas.microsoft.com/office/drawing/2014/main" id="{982FB79C-5235-460C-8519-045A52058720}"/>
              </a:ext>
            </a:extLst>
          </p:cNvPr>
          <p:cNvSpPr txBox="1"/>
          <p:nvPr/>
        </p:nvSpPr>
        <p:spPr>
          <a:xfrm>
            <a:off x="5827152" y="1938179"/>
            <a:ext cx="1375185" cy="369332"/>
          </a:xfrm>
          <a:prstGeom prst="rect">
            <a:avLst/>
          </a:prstGeom>
          <a:noFill/>
        </p:spPr>
        <p:txBody>
          <a:bodyPr wrap="none" rtlCol="0">
            <a:spAutoFit/>
          </a:bodyPr>
          <a:lstStyle/>
          <a:p>
            <a:r>
              <a:rPr lang="en-AU" dirty="0">
                <a:solidFill>
                  <a:schemeClr val="bg1">
                    <a:lumMod val="50000"/>
                  </a:schemeClr>
                </a:solidFill>
              </a:rPr>
              <a:t>Explanations</a:t>
            </a:r>
          </a:p>
        </p:txBody>
      </p:sp>
      <p:cxnSp>
        <p:nvCxnSpPr>
          <p:cNvPr id="19" name="Straight Connector 18">
            <a:extLst>
              <a:ext uri="{FF2B5EF4-FFF2-40B4-BE49-F238E27FC236}">
                <a16:creationId xmlns:a16="http://schemas.microsoft.com/office/drawing/2014/main" id="{FA96DB43-18D1-4C7B-AF43-333BDEE3DF7C}"/>
              </a:ext>
            </a:extLst>
          </p:cNvPr>
          <p:cNvCxnSpPr/>
          <p:nvPr/>
        </p:nvCxnSpPr>
        <p:spPr>
          <a:xfrm>
            <a:off x="5335" y="5100810"/>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20" name="TextBox 19">
            <a:extLst>
              <a:ext uri="{FF2B5EF4-FFF2-40B4-BE49-F238E27FC236}">
                <a16:creationId xmlns:a16="http://schemas.microsoft.com/office/drawing/2014/main" id="{6D78ABC5-28B8-4950-ABE6-481516658535}"/>
              </a:ext>
            </a:extLst>
          </p:cNvPr>
          <p:cNvSpPr txBox="1"/>
          <p:nvPr/>
        </p:nvSpPr>
        <p:spPr>
          <a:xfrm>
            <a:off x="122528" y="5100810"/>
            <a:ext cx="1077090" cy="369332"/>
          </a:xfrm>
          <a:prstGeom prst="rect">
            <a:avLst/>
          </a:prstGeom>
          <a:noFill/>
        </p:spPr>
        <p:txBody>
          <a:bodyPr wrap="none" rtlCol="0">
            <a:spAutoFit/>
          </a:bodyPr>
          <a:lstStyle/>
          <a:p>
            <a:r>
              <a:rPr lang="en-AU" dirty="0">
                <a:solidFill>
                  <a:schemeClr val="bg1">
                    <a:lumMod val="50000"/>
                  </a:schemeClr>
                </a:solidFill>
              </a:rPr>
              <a:t>Summary</a:t>
            </a:r>
          </a:p>
        </p:txBody>
      </p:sp>
      <p:sp>
        <p:nvSpPr>
          <p:cNvPr id="15" name="Right Arrow 6">
            <a:extLst>
              <a:ext uri="{FF2B5EF4-FFF2-40B4-BE49-F238E27FC236}">
                <a16:creationId xmlns:a16="http://schemas.microsoft.com/office/drawing/2014/main" id="{A992D856-BD46-4F2D-B9A7-E8717CDAC8DE}"/>
              </a:ext>
            </a:extLst>
          </p:cNvPr>
          <p:cNvSpPr/>
          <p:nvPr/>
        </p:nvSpPr>
        <p:spPr>
          <a:xfrm rot="8845994">
            <a:off x="1140158" y="4693200"/>
            <a:ext cx="735801" cy="39536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6" name="TextBox 15">
            <a:extLst>
              <a:ext uri="{FF2B5EF4-FFF2-40B4-BE49-F238E27FC236}">
                <a16:creationId xmlns:a16="http://schemas.microsoft.com/office/drawing/2014/main" id="{066B89BE-E470-405A-AC79-2930AA85790E}"/>
              </a:ext>
            </a:extLst>
          </p:cNvPr>
          <p:cNvSpPr txBox="1"/>
          <p:nvPr/>
        </p:nvSpPr>
        <p:spPr>
          <a:xfrm>
            <a:off x="1856233" y="4267962"/>
            <a:ext cx="4478727" cy="369332"/>
          </a:xfrm>
          <a:prstGeom prst="rect">
            <a:avLst/>
          </a:prstGeom>
          <a:noFill/>
        </p:spPr>
        <p:txBody>
          <a:bodyPr wrap="none" rtlCol="0">
            <a:spAutoFit/>
          </a:bodyPr>
          <a:lstStyle/>
          <a:p>
            <a:r>
              <a:rPr lang="en-US" dirty="0"/>
              <a:t>Complete your summary by answering the EQ</a:t>
            </a:r>
          </a:p>
        </p:txBody>
      </p:sp>
      <p:sp>
        <p:nvSpPr>
          <p:cNvPr id="17" name="TextBox 16">
            <a:extLst>
              <a:ext uri="{FF2B5EF4-FFF2-40B4-BE49-F238E27FC236}">
                <a16:creationId xmlns:a16="http://schemas.microsoft.com/office/drawing/2014/main" id="{FE0AE8A8-21E2-49D6-9979-AD3BC4F3960E}"/>
              </a:ext>
            </a:extLst>
          </p:cNvPr>
          <p:cNvSpPr txBox="1"/>
          <p:nvPr/>
        </p:nvSpPr>
        <p:spPr>
          <a:xfrm>
            <a:off x="122528" y="5564327"/>
            <a:ext cx="6553845" cy="646331"/>
          </a:xfrm>
          <a:prstGeom prst="rect">
            <a:avLst/>
          </a:prstGeom>
          <a:noFill/>
        </p:spPr>
        <p:txBody>
          <a:bodyPr wrap="none" rtlCol="0">
            <a:spAutoFit/>
          </a:bodyPr>
          <a:lstStyle/>
          <a:p>
            <a:r>
              <a:rPr lang="en-US" dirty="0"/>
              <a:t>Column graphs display __________ data in ___________________. </a:t>
            </a:r>
          </a:p>
          <a:p>
            <a:r>
              <a:rPr lang="en-US" dirty="0"/>
              <a:t>They show ______________________________________________</a:t>
            </a:r>
          </a:p>
        </p:txBody>
      </p:sp>
    </p:spTree>
    <p:extLst>
      <p:ext uri="{BB962C8B-B14F-4D97-AF65-F5344CB8AC3E}">
        <p14:creationId xmlns:p14="http://schemas.microsoft.com/office/powerpoint/2010/main" val="37408765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700" dirty="0"/>
              <a:t>Homework</a:t>
            </a:r>
          </a:p>
        </p:txBody>
      </p:sp>
      <p:sp>
        <p:nvSpPr>
          <p:cNvPr id="3" name="TextBox 2"/>
          <p:cNvSpPr txBox="1"/>
          <p:nvPr/>
        </p:nvSpPr>
        <p:spPr>
          <a:xfrm>
            <a:off x="512065" y="2622043"/>
            <a:ext cx="8269986" cy="2585323"/>
          </a:xfrm>
          <a:prstGeom prst="rect">
            <a:avLst/>
          </a:prstGeom>
          <a:noFill/>
        </p:spPr>
        <p:txBody>
          <a:bodyPr wrap="square" rtlCol="0">
            <a:spAutoFit/>
          </a:bodyPr>
          <a:lstStyle/>
          <a:p>
            <a:pPr marL="214313" indent="-214313">
              <a:buFont typeface="Arial" charset="0"/>
              <a:buChar char="•"/>
            </a:pPr>
            <a:r>
              <a:rPr lang="en-US" sz="2700" dirty="0"/>
              <a:t>Review Notes</a:t>
            </a:r>
          </a:p>
          <a:p>
            <a:pPr marL="214313" indent="-214313">
              <a:buFont typeface="Arial" charset="0"/>
              <a:buChar char="•"/>
            </a:pPr>
            <a:endParaRPr lang="en-US" sz="2700" dirty="0"/>
          </a:p>
          <a:p>
            <a:pPr marL="214313" indent="-214313">
              <a:buFont typeface="Arial" charset="0"/>
              <a:buChar char="•"/>
            </a:pPr>
            <a:r>
              <a:rPr lang="en-US" sz="2700" dirty="0"/>
              <a:t>List all new terms in glossary</a:t>
            </a:r>
          </a:p>
          <a:p>
            <a:pPr marL="214313" indent="-214313">
              <a:buFont typeface="Arial" charset="0"/>
              <a:buChar char="•"/>
            </a:pPr>
            <a:endParaRPr lang="en-US" sz="2700" dirty="0"/>
          </a:p>
          <a:p>
            <a:pPr marL="214313" indent="-214313">
              <a:buFont typeface="Arial" charset="0"/>
              <a:buChar char="•"/>
            </a:pPr>
            <a:r>
              <a:rPr lang="en-US" sz="2700" dirty="0"/>
              <a:t>Finish Dot Plot worksheet or Statistics Foldable</a:t>
            </a:r>
          </a:p>
          <a:p>
            <a:pPr marL="214313" indent="-214313">
              <a:buFont typeface="Arial" charset="0"/>
              <a:buChar char="•"/>
            </a:pPr>
            <a:endParaRPr lang="en-US" sz="2700" dirty="0"/>
          </a:p>
        </p:txBody>
      </p:sp>
    </p:spTree>
    <p:extLst>
      <p:ext uri="{BB962C8B-B14F-4D97-AF65-F5344CB8AC3E}">
        <p14:creationId xmlns:p14="http://schemas.microsoft.com/office/powerpoint/2010/main" val="15378910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Education">
      <a:dk1>
        <a:srgbClr val="3C4743"/>
      </a:dk1>
      <a:lt1>
        <a:srgbClr val="E5E6DA"/>
      </a:lt1>
      <a:dk2>
        <a:srgbClr val="000000"/>
      </a:dk2>
      <a:lt2>
        <a:srgbClr val="FFFFFF"/>
      </a:lt2>
      <a:accent1>
        <a:srgbClr val="DDC237"/>
      </a:accent1>
      <a:accent2>
        <a:srgbClr val="94A43E"/>
      </a:accent2>
      <a:accent3>
        <a:srgbClr val="6488A3"/>
      </a:accent3>
      <a:accent4>
        <a:srgbClr val="926E8F"/>
      </a:accent4>
      <a:accent5>
        <a:srgbClr val="96A1AA"/>
      </a:accent5>
      <a:accent6>
        <a:srgbClr val="A99E8A"/>
      </a:accent6>
      <a:hlink>
        <a:srgbClr val="6488A3"/>
      </a:hlink>
      <a:folHlink>
        <a:srgbClr val="926E8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Education">
      <a:dk1>
        <a:srgbClr val="3C4743"/>
      </a:dk1>
      <a:lt1>
        <a:srgbClr val="E5E6DA"/>
      </a:lt1>
      <a:dk2>
        <a:srgbClr val="000000"/>
      </a:dk2>
      <a:lt2>
        <a:srgbClr val="FFFFFF"/>
      </a:lt2>
      <a:accent1>
        <a:srgbClr val="DDC237"/>
      </a:accent1>
      <a:accent2>
        <a:srgbClr val="94A43E"/>
      </a:accent2>
      <a:accent3>
        <a:srgbClr val="6488A3"/>
      </a:accent3>
      <a:accent4>
        <a:srgbClr val="926E8F"/>
      </a:accent4>
      <a:accent5>
        <a:srgbClr val="96A1AA"/>
      </a:accent5>
      <a:accent6>
        <a:srgbClr val="A99E8A"/>
      </a:accent6>
      <a:hlink>
        <a:srgbClr val="6488A3"/>
      </a:hlink>
      <a:folHlink>
        <a:srgbClr val="926E8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C1D5F340F01F94FA2FD29A5E6DC872E" ma:contentTypeVersion="0" ma:contentTypeDescription="Create a new document." ma:contentTypeScope="" ma:versionID="141aba3b8f8cb7f331be6546df69db50">
  <xsd:schema xmlns:xsd="http://www.w3.org/2001/XMLSchema" xmlns:xs="http://www.w3.org/2001/XMLSchema" xmlns:p="http://schemas.microsoft.com/office/2006/metadata/properties" targetNamespace="http://schemas.microsoft.com/office/2006/metadata/properties" ma:root="true" ma:fieldsID="f8e4ef66d87525153bd8907774ed28f8">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F7A874A-6E55-415B-9061-8B2D43DC2F48}">
  <ds:schemaRefs>
    <ds:schemaRef ds:uri="http://schemas.microsoft.com/sharepoint/v3/contenttype/forms"/>
  </ds:schemaRefs>
</ds:datastoreItem>
</file>

<file path=customXml/itemProps2.xml><?xml version="1.0" encoding="utf-8"?>
<ds:datastoreItem xmlns:ds="http://schemas.openxmlformats.org/officeDocument/2006/customXml" ds:itemID="{91BC99BC-3A63-4255-9D4F-38C5B80A3193}">
  <ds:schemaRef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http://schemas.microsoft.com/office/2006/metadata/properties"/>
    <ds:schemaRef ds:uri="http://www.w3.org/XML/1998/namespace"/>
    <ds:schemaRef ds:uri="http://purl.org/dc/dcmitype/"/>
  </ds:schemaRefs>
</ds:datastoreItem>
</file>

<file path=customXml/itemProps3.xml><?xml version="1.0" encoding="utf-8"?>
<ds:datastoreItem xmlns:ds="http://schemas.openxmlformats.org/officeDocument/2006/customXml" ds:itemID="{9896FEF9-821E-45A6-82F2-0B1CE4CD8CF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
  <TotalTime>0</TotalTime>
  <Words>706</Words>
  <Application>Microsoft Office PowerPoint</Application>
  <PresentationFormat>On-screen Show (4:3)</PresentationFormat>
  <Paragraphs>153</Paragraphs>
  <Slides>13</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Calibri Light</vt:lpstr>
      <vt:lpstr>Mangal</vt:lpstr>
      <vt:lpstr>Office Theme</vt:lpstr>
      <vt:lpstr>Statistical Analysis</vt:lpstr>
      <vt:lpstr>The Judging Standards for this unit (aka - How You will be Assessed!)</vt:lpstr>
      <vt:lpstr>Starter Activity – </vt:lpstr>
      <vt:lpstr>PowerPoint Presentation</vt:lpstr>
      <vt:lpstr>PowerPoint Presentation</vt:lpstr>
      <vt:lpstr>PowerPoint Presentation</vt:lpstr>
      <vt:lpstr>PowerPoint Presentation</vt:lpstr>
      <vt:lpstr>PowerPoint Presentation</vt:lpstr>
      <vt:lpstr>Independent Practice</vt:lpstr>
      <vt:lpstr>Class/Homework</vt:lpstr>
      <vt:lpstr>PowerPoint Presentation</vt:lpstr>
      <vt:lpstr>PowerPoint Presentation</vt:lpstr>
      <vt:lpstr>Homework</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
  <cp:revision>1</cp:revision>
  <dcterms:created xsi:type="dcterms:W3CDTF">2012-09-21T18:31:34Z</dcterms:created>
  <dcterms:modified xsi:type="dcterms:W3CDTF">2018-07-28T13:01:09Z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0x0101007C1D5F340F01F94FA2FD29A5E6DC872E</vt:lpwstr>
  </property>
  <property fmtid="{D5CDD505-2E9C-101B-9397-08002B2CF9AE}" pid="3" name="InternalTags">
    <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
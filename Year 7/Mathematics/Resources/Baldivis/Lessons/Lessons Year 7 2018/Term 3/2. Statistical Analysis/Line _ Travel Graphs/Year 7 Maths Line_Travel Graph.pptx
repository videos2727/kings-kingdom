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4"/>
  </p:sldMasterIdLst>
  <p:notesMasterIdLst>
    <p:notesMasterId r:id="rId23"/>
  </p:notesMasterIdLst>
  <p:handoutMasterIdLst>
    <p:handoutMasterId r:id="rId24"/>
  </p:handoutMasterIdLst>
  <p:sldIdLst>
    <p:sldId id="258" r:id="rId5"/>
    <p:sldId id="266" r:id="rId6"/>
    <p:sldId id="267" r:id="rId7"/>
    <p:sldId id="358" r:id="rId8"/>
    <p:sldId id="344" r:id="rId9"/>
    <p:sldId id="346" r:id="rId10"/>
    <p:sldId id="348" r:id="rId11"/>
    <p:sldId id="345" r:id="rId12"/>
    <p:sldId id="355" r:id="rId13"/>
    <p:sldId id="333" r:id="rId14"/>
    <p:sldId id="350" r:id="rId15"/>
    <p:sldId id="351" r:id="rId16"/>
    <p:sldId id="349" r:id="rId17"/>
    <p:sldId id="356" r:id="rId18"/>
    <p:sldId id="353" r:id="rId19"/>
    <p:sldId id="357" r:id="rId20"/>
    <p:sldId id="354" r:id="rId21"/>
    <p:sldId id="34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7" autoAdjust="0"/>
    <p:restoredTop sz="75099" autoAdjust="0"/>
  </p:normalViewPr>
  <p:slideViewPr>
    <p:cSldViewPr snapToGrid="0">
      <p:cViewPr>
        <p:scale>
          <a:sx n="50" d="100"/>
          <a:sy n="50" d="100"/>
        </p:scale>
        <p:origin x="16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8/6/2018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8/6/2018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9710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An optional revision activity to get the students to brainstorm what they remember about column graphs – try popcorn or limit input to two per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9436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F838A638-3C49-4640-98E6-F54574FDD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Note usual time recording places data in order naturally. This is not always the case for all.</a:t>
            </a:r>
          </a:p>
          <a:p>
            <a:r>
              <a:rPr lang="en-AU" dirty="0"/>
              <a:t>You might also like to discuss dependent and independent variables as going on the y-axis and x-axis respectively. Students should have already done this in science.</a:t>
            </a:r>
          </a:p>
          <a:p>
            <a:r>
              <a:rPr lang="en-AU" dirty="0"/>
              <a:t>Important points – Numbers go on the gridlines (not like column graphs). The x-axis does not always start at zero. It will start with our data. The y-axis will start at zero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You might like to use this for a demonstration.</a:t>
            </a:r>
          </a:p>
          <a:p>
            <a:r>
              <a:rPr lang="en-AU" dirty="0"/>
              <a:t>Note that the data is not in order – age will go on the x-axis.</a:t>
            </a:r>
          </a:p>
          <a:p>
            <a:r>
              <a:rPr lang="en-AU" dirty="0"/>
              <a:t>You might like to print this page as two to a page to provide an A5 worksheet for the students to follow along with the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2598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Or you might try </a:t>
            </a:r>
            <a:r>
              <a:rPr lang="en-US" dirty="0"/>
              <a:t>Cambridge p407 – there are assorted questions there.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31292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6056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9A87BE1-12BE-4A9A-A282-A1D01C2C7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You might like to split this pack into two lessons here. That way students become familiar with the concept in the first lesson then explore a specific case in the second</a:t>
            </a:r>
          </a:p>
        </p:txBody>
      </p:sp>
    </p:spTree>
    <p:extLst>
      <p:ext uri="{BB962C8B-B14F-4D97-AF65-F5344CB8AC3E}">
        <p14:creationId xmlns:p14="http://schemas.microsoft.com/office/powerpoint/2010/main" val="3433764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9A87BE1-12BE-4A9A-A282-A1D01C2C7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450030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You might like to use this for a demonstration – Get them to create a story using the numbers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far was traveled in total? 30km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far was traveled in the first hour? 5km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happening in the fourth hour? He is stopped. Why might that be?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was the person travelling the fastest? Last hour. Why do you think that might be?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last hour, how far does the cyclist travel? 20km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41696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Worksheets are loaded on Connect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5962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This slide is hidden – the first question has been used in the worksheet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44615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3766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9B85B-7795-421A-8D18-F98A53FCA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DDD43-758D-4D28-9DC9-DB96B1B1F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478BA-8E0D-4993-8D17-1CEE9F79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B9E5A-7406-4EE2-AF2D-4CBA8E69D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E6EAE-E3F7-4E84-A447-1FC26FD66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3998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5681A-5714-4D8E-8041-882BD0F45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1E85E-D11A-420D-8454-7F6F3B847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3660F-5C99-4836-B34A-64CA3831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19A94-4B3C-44A6-8FFD-2BD380B83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7EB8C-28D1-429F-9FC0-A031B1D62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887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21C36-4A5B-4529-804A-E3F689C56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6F324-208A-4088-8E83-75DCA95CC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A25BE-8712-4899-A953-E83BD5036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1E923-2C4E-44BC-8F12-B01596D3B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34247-A3E4-4FCA-94C1-18DC05913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1257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5B556-6DA9-4433-8269-805C8D8E2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47338-0968-48D7-8D40-67CC3E64A8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5248EA-318D-49BC-96E8-FD80DC1FE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F81CE-8CBF-41BA-BAA7-FD5A84B74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F110E-7316-4E77-B668-226A536C4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C1D0C-258B-434D-8695-C9045A80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647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9D8DF-7D5B-49AB-AA7D-FC7A206BC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EA93A-2CC6-4900-80D5-A2F74946F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706A5-76A2-4031-83F8-756B8B02A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94A30-CA05-4772-A4B8-A441E2645B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7167DD-E27C-4CD5-9A54-3204A94E7A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86C963-B6CF-4E6D-9D71-F5E4AAC9F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DEA515-74AE-4ACF-B59C-AE5A6F3E1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EB5636-6064-4E6C-B346-02F1E7347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731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A7945-A39B-4CBE-AC8E-9459312E9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1B9C20-F399-4948-9C59-B38756967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5E0A60-44BF-4959-983B-81A331683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7D067-E06C-401C-876C-6B43911A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169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5F460A-2E4F-4DE0-A476-8C4998354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3B7F67-B727-464A-AF53-A17B81845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B591F-E9AB-4B87-83CD-E3238188A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123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38DBF-A050-45BF-B7A5-A02EF893C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54C8C-F90E-48FF-A605-88A1C5DFD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E21363-1262-4778-8778-35C45DC17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20DEE-B785-4628-9C45-8E889BF80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2352A-82C1-4BC1-9654-CB543B864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F3AEB8-A93F-4A1E-9F24-86B9D179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3228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64EA2-D6D4-48E6-B446-2D366ED39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124714-9DE4-41DF-B165-23B0C02B7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16E92-74DE-44BC-A18E-1A15D4307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4CEBF-0444-4484-A84F-55AFA26EC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924E7-2F54-4380-9416-A51ABBBC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8DE40F-4128-4AD4-9674-3EEC86029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101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91C15-181A-4005-B016-8A7683BC3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763D73-BAD6-4D82-B518-01C1CF4AF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4A8CC-238B-44B0-AF3F-EB31E2F4B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3DC5E-A60C-4AE1-AB17-53A48D5DA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4E1EE-D79D-415B-8459-6401ADF34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0062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58B14-B804-4ED4-BEE7-F3602789BC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AD7EA-F52E-4E0A-9C78-18F704F52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CE13D-A299-431C-9167-5C669CB0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1F2A5-8D3F-4544-AE92-050577896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F8C22-22CF-49D1-8AB8-C86F3D6E4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260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738315-3766-4089-972E-E62041BFB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E5CE4-FF61-4CA6-A2E3-37CD4043F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0E9E0-1B83-44F4-B4DF-F289374652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E26F8-C16A-4A44-B9CE-7805D85A46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A7FE9-9F69-41F2-8EF3-506B32B0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939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92774"/>
            <a:ext cx="6858000" cy="777272"/>
          </a:xfrm>
        </p:spPr>
        <p:txBody>
          <a:bodyPr>
            <a:normAutofit/>
          </a:bodyPr>
          <a:lstStyle/>
          <a:p>
            <a:r>
              <a:rPr lang="en-US" dirty="0"/>
              <a:t>Statistical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172" y="2675434"/>
            <a:ext cx="7882759" cy="2112521"/>
          </a:xfrm>
        </p:spPr>
        <p:txBody>
          <a:bodyPr>
            <a:noAutofit/>
          </a:bodyPr>
          <a:lstStyle/>
          <a:p>
            <a:r>
              <a:rPr lang="en-US" sz="2800" dirty="0"/>
              <a:t>Topic: Line/Travel Graph</a:t>
            </a:r>
          </a:p>
          <a:p>
            <a:endParaRPr lang="en-US" sz="2800" dirty="0"/>
          </a:p>
          <a:p>
            <a:r>
              <a:rPr lang="en-US" sz="2800" dirty="0"/>
              <a:t>EQ: What is a line graph and how do we use them to display data?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207008"/>
            <a:ext cx="9067800" cy="707518"/>
          </a:xfrm>
        </p:spPr>
        <p:txBody>
          <a:bodyPr>
            <a:normAutofit fontScale="90000"/>
          </a:bodyPr>
          <a:lstStyle/>
          <a:p>
            <a:r>
              <a:rPr lang="en-US" dirty="0"/>
              <a:t>The Judging Standards for this unit (aka - How You will be Assessed!)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6184"/>
            <a:ext cx="9144000" cy="4141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3742"/>
            <a:ext cx="9144000" cy="118314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77618"/>
            <a:ext cx="9144000" cy="91946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13547"/>
            <a:ext cx="9144000" cy="105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466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465" y="251357"/>
            <a:ext cx="1900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 Graphs</a:t>
            </a: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2267744" y="1916832"/>
            <a:ext cx="0" cy="31729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8B3318-A83E-4079-9FFB-0AB3DC6942FB}"/>
              </a:ext>
            </a:extLst>
          </p:cNvPr>
          <p:cNvSpPr txBox="1"/>
          <p:nvPr/>
        </p:nvSpPr>
        <p:spPr>
          <a:xfrm>
            <a:off x="7439175" y="20642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43BB08-15C1-461A-9A30-7797DDE0B81D}"/>
              </a:ext>
            </a:extLst>
          </p:cNvPr>
          <p:cNvSpPr txBox="1"/>
          <p:nvPr/>
        </p:nvSpPr>
        <p:spPr>
          <a:xfrm>
            <a:off x="80408" y="1144177"/>
            <a:ext cx="89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</a:t>
            </a:r>
            <a:r>
              <a:rPr lang="en-US" sz="2400" dirty="0"/>
              <a:t>What is a Line graph and how do we use them to display data?</a:t>
            </a:r>
            <a:endParaRPr lang="en-AU" sz="2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60AA77-76C8-4593-BB13-859489211D69}"/>
              </a:ext>
            </a:extLst>
          </p:cNvPr>
          <p:cNvCxnSpPr>
            <a:cxnSpLocks/>
          </p:cNvCxnSpPr>
          <p:nvPr/>
        </p:nvCxnSpPr>
        <p:spPr>
          <a:xfrm>
            <a:off x="5796136" y="1916832"/>
            <a:ext cx="0" cy="318397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30022D-68F2-48EC-A1E4-EC6B68AD9DDF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46A4A-3623-4079-93E1-CC9DE1F237F2}"/>
              </a:ext>
            </a:extLst>
          </p:cNvPr>
          <p:cNvSpPr txBox="1"/>
          <p:nvPr/>
        </p:nvSpPr>
        <p:spPr>
          <a:xfrm>
            <a:off x="2300795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2FB79C-5235-460C-8519-045A52058720}"/>
              </a:ext>
            </a:extLst>
          </p:cNvPr>
          <p:cNvSpPr txBox="1"/>
          <p:nvPr/>
        </p:nvSpPr>
        <p:spPr>
          <a:xfrm>
            <a:off x="5827152" y="1938179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96DB43-18D1-4C7B-AF43-333BDEE3DF7C}"/>
              </a:ext>
            </a:extLst>
          </p:cNvPr>
          <p:cNvCxnSpPr/>
          <p:nvPr/>
        </p:nvCxnSpPr>
        <p:spPr>
          <a:xfrm>
            <a:off x="5335" y="510081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D78ABC5-28B8-4950-ABE6-481516658535}"/>
              </a:ext>
            </a:extLst>
          </p:cNvPr>
          <p:cNvSpPr txBox="1"/>
          <p:nvPr/>
        </p:nvSpPr>
        <p:spPr>
          <a:xfrm>
            <a:off x="122528" y="5100810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59511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9057EC-F5F6-4D64-B73F-149B89CDE169}"/>
              </a:ext>
            </a:extLst>
          </p:cNvPr>
          <p:cNvSpPr txBox="1"/>
          <p:nvPr/>
        </p:nvSpPr>
        <p:spPr>
          <a:xfrm>
            <a:off x="457200" y="381000"/>
            <a:ext cx="1394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Revision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AEFC46-3E54-4FDF-AB79-EC8E1E2FADD1}"/>
              </a:ext>
            </a:extLst>
          </p:cNvPr>
          <p:cNvSpPr txBox="1"/>
          <p:nvPr/>
        </p:nvSpPr>
        <p:spPr>
          <a:xfrm>
            <a:off x="457200" y="1079500"/>
            <a:ext cx="17951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Brainstorm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C69743C-A4F0-44A9-8108-304E39E40836}"/>
              </a:ext>
            </a:extLst>
          </p:cNvPr>
          <p:cNvSpPr/>
          <p:nvPr/>
        </p:nvSpPr>
        <p:spPr>
          <a:xfrm>
            <a:off x="3327400" y="3429000"/>
            <a:ext cx="1930400" cy="952500"/>
          </a:xfrm>
          <a:prstGeom prst="ellips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400" dirty="0"/>
              <a:t>Column Graphs</a:t>
            </a:r>
          </a:p>
        </p:txBody>
      </p:sp>
    </p:spTree>
    <p:extLst>
      <p:ext uri="{BB962C8B-B14F-4D97-AF65-F5344CB8AC3E}">
        <p14:creationId xmlns:p14="http://schemas.microsoft.com/office/powerpoint/2010/main" val="216691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465" y="251357"/>
            <a:ext cx="1900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 Graphs</a:t>
            </a: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2267744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8B3318-A83E-4079-9FFB-0AB3DC6942FB}"/>
              </a:ext>
            </a:extLst>
          </p:cNvPr>
          <p:cNvSpPr txBox="1"/>
          <p:nvPr/>
        </p:nvSpPr>
        <p:spPr>
          <a:xfrm>
            <a:off x="7439175" y="20642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43BB08-15C1-461A-9A30-7797DDE0B81D}"/>
              </a:ext>
            </a:extLst>
          </p:cNvPr>
          <p:cNvSpPr txBox="1"/>
          <p:nvPr/>
        </p:nvSpPr>
        <p:spPr>
          <a:xfrm>
            <a:off x="80408" y="1144177"/>
            <a:ext cx="89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</a:t>
            </a:r>
            <a:r>
              <a:rPr lang="en-US" sz="2400" dirty="0"/>
              <a:t>What is a line graph and how do we use them to display data?</a:t>
            </a:r>
            <a:endParaRPr lang="en-AU" sz="2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60AA77-76C8-4593-BB13-859489211D69}"/>
              </a:ext>
            </a:extLst>
          </p:cNvPr>
          <p:cNvCxnSpPr>
            <a:cxnSpLocks/>
          </p:cNvCxnSpPr>
          <p:nvPr/>
        </p:nvCxnSpPr>
        <p:spPr>
          <a:xfrm>
            <a:off x="579613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30022D-68F2-48EC-A1E4-EC6B68AD9DDF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46A4A-3623-4079-93E1-CC9DE1F237F2}"/>
              </a:ext>
            </a:extLst>
          </p:cNvPr>
          <p:cNvSpPr txBox="1"/>
          <p:nvPr/>
        </p:nvSpPr>
        <p:spPr>
          <a:xfrm>
            <a:off x="2300795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2FB79C-5235-460C-8519-045A52058720}"/>
              </a:ext>
            </a:extLst>
          </p:cNvPr>
          <p:cNvSpPr txBox="1"/>
          <p:nvPr/>
        </p:nvSpPr>
        <p:spPr>
          <a:xfrm>
            <a:off x="5827152" y="1938179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911EFE-900E-4F7E-B814-F04BD904434E}"/>
              </a:ext>
            </a:extLst>
          </p:cNvPr>
          <p:cNvSpPr txBox="1"/>
          <p:nvPr/>
        </p:nvSpPr>
        <p:spPr>
          <a:xfrm>
            <a:off x="80408" y="2271852"/>
            <a:ext cx="21412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What is a line graph?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177744-6673-4E57-87C5-4C31069968BE}"/>
              </a:ext>
            </a:extLst>
          </p:cNvPr>
          <p:cNvSpPr txBox="1"/>
          <p:nvPr/>
        </p:nvSpPr>
        <p:spPr>
          <a:xfrm>
            <a:off x="2348151" y="2271852"/>
            <a:ext cx="341696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A line graph shows continuous data.</a:t>
            </a:r>
          </a:p>
          <a:p>
            <a:r>
              <a:rPr lang="en-AU" sz="2200" dirty="0"/>
              <a:t>For example – temperature through the day.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3A832-4D04-4780-8F96-11340AC05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771" y="3760544"/>
            <a:ext cx="3029907" cy="266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0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465" y="251357"/>
            <a:ext cx="1900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 Graphs</a:t>
            </a: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2267744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8B3318-A83E-4079-9FFB-0AB3DC6942FB}"/>
              </a:ext>
            </a:extLst>
          </p:cNvPr>
          <p:cNvSpPr txBox="1"/>
          <p:nvPr/>
        </p:nvSpPr>
        <p:spPr>
          <a:xfrm>
            <a:off x="7439175" y="20642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43BB08-15C1-461A-9A30-7797DDE0B81D}"/>
              </a:ext>
            </a:extLst>
          </p:cNvPr>
          <p:cNvSpPr txBox="1"/>
          <p:nvPr/>
        </p:nvSpPr>
        <p:spPr>
          <a:xfrm>
            <a:off x="80408" y="1144177"/>
            <a:ext cx="89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</a:t>
            </a:r>
            <a:r>
              <a:rPr lang="en-US" sz="2400" dirty="0"/>
              <a:t>What is a line graph and how do we use them to display data?</a:t>
            </a:r>
            <a:endParaRPr lang="en-AU" sz="2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60AA77-76C8-4593-BB13-859489211D69}"/>
              </a:ext>
            </a:extLst>
          </p:cNvPr>
          <p:cNvCxnSpPr>
            <a:cxnSpLocks/>
          </p:cNvCxnSpPr>
          <p:nvPr/>
        </p:nvCxnSpPr>
        <p:spPr>
          <a:xfrm>
            <a:off x="5763085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30022D-68F2-48EC-A1E4-EC6B68AD9DDF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46A4A-3623-4079-93E1-CC9DE1F237F2}"/>
              </a:ext>
            </a:extLst>
          </p:cNvPr>
          <p:cNvSpPr txBox="1"/>
          <p:nvPr/>
        </p:nvSpPr>
        <p:spPr>
          <a:xfrm>
            <a:off x="2300795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2FB79C-5235-460C-8519-045A52058720}"/>
              </a:ext>
            </a:extLst>
          </p:cNvPr>
          <p:cNvSpPr txBox="1"/>
          <p:nvPr/>
        </p:nvSpPr>
        <p:spPr>
          <a:xfrm>
            <a:off x="5827152" y="1866929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31E1F8-4D7D-48E3-BF0A-12385102A92E}"/>
              </a:ext>
            </a:extLst>
          </p:cNvPr>
          <p:cNvSpPr txBox="1"/>
          <p:nvPr/>
        </p:nvSpPr>
        <p:spPr>
          <a:xfrm>
            <a:off x="93471" y="2328857"/>
            <a:ext cx="21412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How do we make a line graph?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535713-0F77-478A-92A9-3C87568B6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125833"/>
              </p:ext>
            </p:extLst>
          </p:nvPr>
        </p:nvGraphicFramePr>
        <p:xfrm>
          <a:off x="3329425" y="2081589"/>
          <a:ext cx="2236906" cy="20116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933868">
                  <a:extLst>
                    <a:ext uri="{9D8B030D-6E8A-4147-A177-3AD203B41FA5}">
                      <a16:colId xmlns:a16="http://schemas.microsoft.com/office/drawing/2014/main" val="304238744"/>
                    </a:ext>
                  </a:extLst>
                </a:gridCol>
                <a:gridCol w="1303038">
                  <a:extLst>
                    <a:ext uri="{9D8B030D-6E8A-4147-A177-3AD203B41FA5}">
                      <a16:colId xmlns:a16="http://schemas.microsoft.com/office/drawing/2014/main" val="483519678"/>
                    </a:ext>
                  </a:extLst>
                </a:gridCol>
              </a:tblGrid>
              <a:tr h="324359">
                <a:tc>
                  <a:txBody>
                    <a:bodyPr/>
                    <a:lstStyle/>
                    <a:p>
                      <a:r>
                        <a:rPr lang="en-AU" sz="16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Temperature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772231"/>
                  </a:ext>
                </a:extLst>
              </a:tr>
              <a:tr h="324359">
                <a:tc>
                  <a:txBody>
                    <a:bodyPr/>
                    <a:lstStyle/>
                    <a:p>
                      <a:r>
                        <a:rPr lang="en-AU" sz="1600" dirty="0"/>
                        <a:t>9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909576"/>
                  </a:ext>
                </a:extLst>
              </a:tr>
              <a:tr h="324359">
                <a:tc>
                  <a:txBody>
                    <a:bodyPr/>
                    <a:lstStyle/>
                    <a:p>
                      <a:r>
                        <a:rPr lang="en-AU" sz="1600" dirty="0"/>
                        <a:t>10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157602"/>
                  </a:ext>
                </a:extLst>
              </a:tr>
              <a:tr h="324359">
                <a:tc>
                  <a:txBody>
                    <a:bodyPr/>
                    <a:lstStyle/>
                    <a:p>
                      <a:r>
                        <a:rPr lang="en-AU" sz="1600" dirty="0"/>
                        <a:t>11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516278"/>
                  </a:ext>
                </a:extLst>
              </a:tr>
              <a:tr h="324359">
                <a:tc>
                  <a:txBody>
                    <a:bodyPr/>
                    <a:lstStyle/>
                    <a:p>
                      <a:r>
                        <a:rPr lang="en-AU" sz="1600" dirty="0"/>
                        <a:t>12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889065"/>
                  </a:ext>
                </a:extLst>
              </a:tr>
              <a:tr h="324359">
                <a:tc>
                  <a:txBody>
                    <a:bodyPr/>
                    <a:lstStyle/>
                    <a:p>
                      <a:r>
                        <a:rPr lang="en-AU" sz="1600" dirty="0"/>
                        <a:t>1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4767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39034886-E77B-4B1D-B574-497B8B848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499" y="4168292"/>
            <a:ext cx="2971100" cy="261391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F38763B-3E2A-4C7C-8661-F4DC23991CB8}"/>
              </a:ext>
            </a:extLst>
          </p:cNvPr>
          <p:cNvSpPr txBox="1"/>
          <p:nvPr/>
        </p:nvSpPr>
        <p:spPr>
          <a:xfrm>
            <a:off x="5827152" y="2328857"/>
            <a:ext cx="33304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AU" sz="2200" dirty="0"/>
              <a:t>List the data points in order.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96B21E-0661-4943-AA2B-1518F360AD69}"/>
              </a:ext>
            </a:extLst>
          </p:cNvPr>
          <p:cNvSpPr txBox="1"/>
          <p:nvPr/>
        </p:nvSpPr>
        <p:spPr>
          <a:xfrm>
            <a:off x="5791558" y="4274563"/>
            <a:ext cx="333042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arenR" startAt="2"/>
            </a:pPr>
            <a:r>
              <a:rPr lang="en-AU" sz="2200" dirty="0"/>
              <a:t>Draw the axes to fit the data. </a:t>
            </a:r>
          </a:p>
          <a:p>
            <a:pPr marL="457200" indent="-457200">
              <a:buFont typeface="+mj-lt"/>
              <a:buAutoNum type="arabicParenR" startAt="2"/>
            </a:pPr>
            <a:r>
              <a:rPr lang="en-AU" sz="2200" dirty="0"/>
              <a:t>Plot the points and connect with straight lines.</a:t>
            </a:r>
          </a:p>
        </p:txBody>
      </p:sp>
    </p:spTree>
    <p:extLst>
      <p:ext uri="{BB962C8B-B14F-4D97-AF65-F5344CB8AC3E}">
        <p14:creationId xmlns:p14="http://schemas.microsoft.com/office/powerpoint/2010/main" val="42786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2791F9-9BD0-44F9-83EB-0807CF466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235123"/>
              </p:ext>
            </p:extLst>
          </p:nvPr>
        </p:nvGraphicFramePr>
        <p:xfrm>
          <a:off x="6103631" y="635673"/>
          <a:ext cx="2720094" cy="20116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99704">
                  <a:extLst>
                    <a:ext uri="{9D8B030D-6E8A-4147-A177-3AD203B41FA5}">
                      <a16:colId xmlns:a16="http://schemas.microsoft.com/office/drawing/2014/main" val="4074574083"/>
                    </a:ext>
                  </a:extLst>
                </a:gridCol>
                <a:gridCol w="1420390">
                  <a:extLst>
                    <a:ext uri="{9D8B030D-6E8A-4147-A177-3AD203B41FA5}">
                      <a16:colId xmlns:a16="http://schemas.microsoft.com/office/drawing/2014/main" val="3160757041"/>
                    </a:ext>
                  </a:extLst>
                </a:gridCol>
              </a:tblGrid>
              <a:tr h="332365">
                <a:tc>
                  <a:txBody>
                    <a:bodyPr/>
                    <a:lstStyle/>
                    <a:p>
                      <a:r>
                        <a:rPr lang="en-AU" sz="16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Height (cm)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479356"/>
                  </a:ext>
                </a:extLst>
              </a:tr>
              <a:tr h="332365">
                <a:tc>
                  <a:txBody>
                    <a:bodyPr/>
                    <a:lstStyle/>
                    <a:p>
                      <a:r>
                        <a:rPr lang="en-AU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336339"/>
                  </a:ext>
                </a:extLst>
              </a:tr>
              <a:tr h="332365">
                <a:tc>
                  <a:txBody>
                    <a:bodyPr/>
                    <a:lstStyle/>
                    <a:p>
                      <a:r>
                        <a:rPr lang="en-AU" sz="16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664488"/>
                  </a:ext>
                </a:extLst>
              </a:tr>
              <a:tr h="332365">
                <a:tc>
                  <a:txBody>
                    <a:bodyPr/>
                    <a:lstStyle/>
                    <a:p>
                      <a:r>
                        <a:rPr lang="en-AU" sz="16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170635"/>
                  </a:ext>
                </a:extLst>
              </a:tr>
              <a:tr h="332365">
                <a:tc>
                  <a:txBody>
                    <a:bodyPr/>
                    <a:lstStyle/>
                    <a:p>
                      <a:r>
                        <a:rPr lang="en-AU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77915"/>
                  </a:ext>
                </a:extLst>
              </a:tr>
              <a:tr h="332365">
                <a:tc>
                  <a:txBody>
                    <a:bodyPr/>
                    <a:lstStyle/>
                    <a:p>
                      <a:r>
                        <a:rPr lang="en-AU" sz="1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60024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E998081-90ED-48CF-A8BD-6B45672BB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" y="1002535"/>
            <a:ext cx="5162495" cy="51228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34CFEF-EDC8-46B6-8978-75DB65AF4272}"/>
              </a:ext>
            </a:extLst>
          </p:cNvPr>
          <p:cNvSpPr txBox="1"/>
          <p:nvPr/>
        </p:nvSpPr>
        <p:spPr>
          <a:xfrm>
            <a:off x="144963" y="242145"/>
            <a:ext cx="2895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How does it work?</a:t>
            </a:r>
          </a:p>
        </p:txBody>
      </p:sp>
    </p:spTree>
    <p:extLst>
      <p:ext uri="{BB962C8B-B14F-4D97-AF65-F5344CB8AC3E}">
        <p14:creationId xmlns:p14="http://schemas.microsoft.com/office/powerpoint/2010/main" val="2282786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465" y="251357"/>
            <a:ext cx="1900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 Graphs</a:t>
            </a: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2267744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8B3318-A83E-4079-9FFB-0AB3DC6942FB}"/>
              </a:ext>
            </a:extLst>
          </p:cNvPr>
          <p:cNvSpPr txBox="1"/>
          <p:nvPr/>
        </p:nvSpPr>
        <p:spPr>
          <a:xfrm>
            <a:off x="7439175" y="20642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43BB08-15C1-461A-9A30-7797DDE0B81D}"/>
              </a:ext>
            </a:extLst>
          </p:cNvPr>
          <p:cNvSpPr txBox="1"/>
          <p:nvPr/>
        </p:nvSpPr>
        <p:spPr>
          <a:xfrm>
            <a:off x="80408" y="1144177"/>
            <a:ext cx="89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</a:t>
            </a:r>
            <a:r>
              <a:rPr lang="en-US" sz="2400" dirty="0"/>
              <a:t>What is a line graph and how do we use them to display data?</a:t>
            </a:r>
            <a:endParaRPr lang="en-AU" sz="2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60AA77-76C8-4593-BB13-859489211D69}"/>
              </a:ext>
            </a:extLst>
          </p:cNvPr>
          <p:cNvCxnSpPr>
            <a:cxnSpLocks/>
          </p:cNvCxnSpPr>
          <p:nvPr/>
        </p:nvCxnSpPr>
        <p:spPr>
          <a:xfrm>
            <a:off x="5553765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30022D-68F2-48EC-A1E4-EC6B68AD9DDF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46A4A-3623-4079-93E1-CC9DE1F237F2}"/>
              </a:ext>
            </a:extLst>
          </p:cNvPr>
          <p:cNvSpPr txBox="1"/>
          <p:nvPr/>
        </p:nvSpPr>
        <p:spPr>
          <a:xfrm>
            <a:off x="2300795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2FB79C-5235-460C-8519-045A52058720}"/>
              </a:ext>
            </a:extLst>
          </p:cNvPr>
          <p:cNvSpPr txBox="1"/>
          <p:nvPr/>
        </p:nvSpPr>
        <p:spPr>
          <a:xfrm>
            <a:off x="5628846" y="1938179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911EFE-900E-4F7E-B814-F04BD904434E}"/>
              </a:ext>
            </a:extLst>
          </p:cNvPr>
          <p:cNvSpPr txBox="1"/>
          <p:nvPr/>
        </p:nvSpPr>
        <p:spPr>
          <a:xfrm>
            <a:off x="80408" y="2271852"/>
            <a:ext cx="21412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How do we read a line graph?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D5AE72-37BE-450F-8F86-E362885B6BEA}"/>
              </a:ext>
            </a:extLst>
          </p:cNvPr>
          <p:cNvSpPr txBox="1"/>
          <p:nvPr/>
        </p:nvSpPr>
        <p:spPr>
          <a:xfrm>
            <a:off x="5638478" y="2271851"/>
            <a:ext cx="328517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Work out what the question is asking.</a:t>
            </a:r>
          </a:p>
          <a:p>
            <a:endParaRPr lang="en-AU" sz="2200" dirty="0"/>
          </a:p>
          <a:p>
            <a:r>
              <a:rPr lang="en-AU" sz="2200" dirty="0"/>
              <a:t>Find the information that the question gives on the x- or y-axis. </a:t>
            </a:r>
          </a:p>
          <a:p>
            <a:endParaRPr lang="en-AU" sz="2200" dirty="0"/>
          </a:p>
          <a:p>
            <a:r>
              <a:rPr lang="en-AU" sz="2200" dirty="0"/>
              <a:t>Follow the gridline to the data line then follow the gridline to the other axis.</a:t>
            </a:r>
          </a:p>
          <a:p>
            <a:endParaRPr lang="en-AU" sz="2200" dirty="0"/>
          </a:p>
          <a:p>
            <a:r>
              <a:rPr lang="en-AU" sz="2200" dirty="0"/>
              <a:t>Read that value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9C5BE9-A1A6-4F62-9AD7-D34E1F949B69}"/>
              </a:ext>
            </a:extLst>
          </p:cNvPr>
          <p:cNvSpPr txBox="1"/>
          <p:nvPr/>
        </p:nvSpPr>
        <p:spPr>
          <a:xfrm>
            <a:off x="2408136" y="2283217"/>
            <a:ext cx="310327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e.g. In what month does Brisbane have an average rainfall of 140mm? </a:t>
            </a:r>
          </a:p>
          <a:p>
            <a:r>
              <a:rPr lang="en-AU" sz="2200" dirty="0"/>
              <a:t>March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F939A5-1297-49DA-B7DF-829DA8EC3EF6}"/>
              </a:ext>
            </a:extLst>
          </p:cNvPr>
          <p:cNvGrpSpPr/>
          <p:nvPr/>
        </p:nvGrpSpPr>
        <p:grpSpPr>
          <a:xfrm>
            <a:off x="753876" y="3816708"/>
            <a:ext cx="4669329" cy="2483560"/>
            <a:chOff x="799718" y="3625136"/>
            <a:chExt cx="4669329" cy="248356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A7D6E39-8D18-4090-9F20-1437A97D9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9718" y="3625136"/>
              <a:ext cx="4669329" cy="2483560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0F9F4EB-01AC-4179-9133-3B48884A5D5A}"/>
                </a:ext>
              </a:extLst>
            </p:cNvPr>
            <p:cNvCxnSpPr>
              <a:cxnSpLocks/>
            </p:cNvCxnSpPr>
            <p:nvPr/>
          </p:nvCxnSpPr>
          <p:spPr>
            <a:xfrm>
              <a:off x="1436149" y="4535428"/>
              <a:ext cx="824451" cy="1117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3393B9E-FB1B-4A22-A713-C6EF2127EA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628" y="4572000"/>
              <a:ext cx="13572" cy="11418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024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CB3C39-0C08-496D-811F-82EEB6AF2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06" y="2829081"/>
            <a:ext cx="7066504" cy="37585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55D835-B0E0-4E2C-A2DC-8BDB6957C9BC}"/>
              </a:ext>
            </a:extLst>
          </p:cNvPr>
          <p:cNvSpPr txBox="1"/>
          <p:nvPr/>
        </p:nvSpPr>
        <p:spPr>
          <a:xfrm>
            <a:off x="568185" y="459201"/>
            <a:ext cx="727582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Practice:</a:t>
            </a:r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What is the average June rainfall for Melbourne?</a:t>
            </a:r>
          </a:p>
          <a:p>
            <a:endParaRPr lang="en-AU" sz="2400" dirty="0"/>
          </a:p>
          <a:p>
            <a:r>
              <a:rPr lang="en-AU" sz="2400" dirty="0"/>
              <a:t>In what months does Brisbane have an average rainfall of 100mm?</a:t>
            </a:r>
          </a:p>
        </p:txBody>
      </p:sp>
    </p:spTree>
    <p:extLst>
      <p:ext uri="{BB962C8B-B14F-4D97-AF65-F5344CB8AC3E}">
        <p14:creationId xmlns:p14="http://schemas.microsoft.com/office/powerpoint/2010/main" val="120812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197F-33CC-4642-97AD-718C6BD5B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71" y="898944"/>
            <a:ext cx="7543800" cy="550637"/>
          </a:xfrm>
        </p:spPr>
        <p:txBody>
          <a:bodyPr/>
          <a:lstStyle/>
          <a:p>
            <a:r>
              <a:rPr lang="en-AU" dirty="0"/>
              <a:t>Independent Practice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437F2D-570B-48E5-8D03-B47054F3E3B1}"/>
              </a:ext>
            </a:extLst>
          </p:cNvPr>
          <p:cNvSpPr/>
          <p:nvPr/>
        </p:nvSpPr>
        <p:spPr>
          <a:xfrm>
            <a:off x="537129" y="1443841"/>
            <a:ext cx="8067044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/>
              <a:t>1. Make a line graph for each set of data below. Label both the x (horizontal) and y (vertical) axis properly. Give each graph a title. </a:t>
            </a:r>
          </a:p>
          <a:p>
            <a:endParaRPr lang="en-AU" sz="2200" dirty="0"/>
          </a:p>
          <a:p>
            <a:r>
              <a:rPr lang="en-AU" sz="2200" dirty="0"/>
              <a:t>Number of Weeks:  30   20   15   9   25   20    6    9   12    6 </a:t>
            </a:r>
          </a:p>
          <a:p>
            <a:r>
              <a:rPr lang="en-AU" sz="2200" dirty="0"/>
              <a:t>No. of Books Sales:  22   12    9    6   18   12    2    5     9    3 </a:t>
            </a:r>
          </a:p>
          <a:p>
            <a:r>
              <a:rPr lang="en-AU" sz="2200" dirty="0"/>
              <a:t> </a:t>
            </a:r>
          </a:p>
          <a:p>
            <a:r>
              <a:rPr lang="en-AU" sz="2200" dirty="0"/>
              <a:t>2. </a:t>
            </a:r>
            <a:r>
              <a:rPr lang="en-US" sz="2200" dirty="0"/>
              <a:t>Make a line graph for each set of data below. Label both the x (horizontal) and y (vertical) axis properly. Give each graph a title. </a:t>
            </a:r>
          </a:p>
          <a:p>
            <a:endParaRPr lang="en-US" sz="2200" dirty="0"/>
          </a:p>
          <a:p>
            <a:r>
              <a:rPr lang="en-US" sz="2200" dirty="0"/>
              <a:t>Number of Students:           30   22   18   16   10   20   18    8   12   15 </a:t>
            </a:r>
          </a:p>
          <a:p>
            <a:r>
              <a:rPr lang="en-US" sz="2200" dirty="0"/>
              <a:t>No. of Minutes Swimming: 20   25   30   20   25   30   20  25   30   20 </a:t>
            </a:r>
            <a:r>
              <a:rPr lang="en-AU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749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465" y="251357"/>
            <a:ext cx="1900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 Graphs</a:t>
            </a: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2267744" y="1916832"/>
            <a:ext cx="0" cy="31729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8B3318-A83E-4079-9FFB-0AB3DC6942FB}"/>
              </a:ext>
            </a:extLst>
          </p:cNvPr>
          <p:cNvSpPr txBox="1"/>
          <p:nvPr/>
        </p:nvSpPr>
        <p:spPr>
          <a:xfrm>
            <a:off x="7439175" y="20642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43BB08-15C1-461A-9A30-7797DDE0B81D}"/>
              </a:ext>
            </a:extLst>
          </p:cNvPr>
          <p:cNvSpPr txBox="1"/>
          <p:nvPr/>
        </p:nvSpPr>
        <p:spPr>
          <a:xfrm>
            <a:off x="80408" y="1144177"/>
            <a:ext cx="89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</a:t>
            </a:r>
            <a:r>
              <a:rPr lang="en-US" sz="2400" dirty="0"/>
              <a:t>What is a line graph and how do we use them to display data?</a:t>
            </a:r>
            <a:endParaRPr lang="en-AU" sz="2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60AA77-76C8-4593-BB13-859489211D69}"/>
              </a:ext>
            </a:extLst>
          </p:cNvPr>
          <p:cNvCxnSpPr>
            <a:cxnSpLocks/>
          </p:cNvCxnSpPr>
          <p:nvPr/>
        </p:nvCxnSpPr>
        <p:spPr>
          <a:xfrm>
            <a:off x="5796136" y="1916832"/>
            <a:ext cx="0" cy="318397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30022D-68F2-48EC-A1E4-EC6B68AD9DDF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46A4A-3623-4079-93E1-CC9DE1F237F2}"/>
              </a:ext>
            </a:extLst>
          </p:cNvPr>
          <p:cNvSpPr txBox="1"/>
          <p:nvPr/>
        </p:nvSpPr>
        <p:spPr>
          <a:xfrm>
            <a:off x="2300795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2FB79C-5235-460C-8519-045A52058720}"/>
              </a:ext>
            </a:extLst>
          </p:cNvPr>
          <p:cNvSpPr txBox="1"/>
          <p:nvPr/>
        </p:nvSpPr>
        <p:spPr>
          <a:xfrm>
            <a:off x="5827152" y="1938179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96DB43-18D1-4C7B-AF43-333BDEE3DF7C}"/>
              </a:ext>
            </a:extLst>
          </p:cNvPr>
          <p:cNvCxnSpPr/>
          <p:nvPr/>
        </p:nvCxnSpPr>
        <p:spPr>
          <a:xfrm>
            <a:off x="5335" y="510081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D78ABC5-28B8-4950-ABE6-481516658535}"/>
              </a:ext>
            </a:extLst>
          </p:cNvPr>
          <p:cNvSpPr txBox="1"/>
          <p:nvPr/>
        </p:nvSpPr>
        <p:spPr>
          <a:xfrm>
            <a:off x="122528" y="5100810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15" name="Right Arrow 6">
            <a:extLst>
              <a:ext uri="{FF2B5EF4-FFF2-40B4-BE49-F238E27FC236}">
                <a16:creationId xmlns:a16="http://schemas.microsoft.com/office/drawing/2014/main" id="{A992D856-BD46-4F2D-B9A7-E8717CDAC8DE}"/>
              </a:ext>
            </a:extLst>
          </p:cNvPr>
          <p:cNvSpPr/>
          <p:nvPr/>
        </p:nvSpPr>
        <p:spPr>
          <a:xfrm rot="8845994">
            <a:off x="1140158" y="4693200"/>
            <a:ext cx="735801" cy="395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6B89BE-E470-405A-AC79-2930AA85790E}"/>
              </a:ext>
            </a:extLst>
          </p:cNvPr>
          <p:cNvSpPr txBox="1"/>
          <p:nvPr/>
        </p:nvSpPr>
        <p:spPr>
          <a:xfrm>
            <a:off x="1856233" y="4267962"/>
            <a:ext cx="447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Complete your summary by answering the EQ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0AE8A8-21E2-49D6-9979-AD3BC4F3960E}"/>
              </a:ext>
            </a:extLst>
          </p:cNvPr>
          <p:cNvSpPr txBox="1"/>
          <p:nvPr/>
        </p:nvSpPr>
        <p:spPr>
          <a:xfrm>
            <a:off x="122528" y="5564327"/>
            <a:ext cx="65538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 graphs display __________ data in ___________________. </a:t>
            </a:r>
          </a:p>
          <a:p>
            <a:r>
              <a:rPr lang="en-US" dirty="0"/>
              <a:t>They show 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83383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635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465" y="251357"/>
            <a:ext cx="21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Travel Graphs</a:t>
            </a: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2267744" y="1916832"/>
            <a:ext cx="0" cy="37458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8B3318-A83E-4079-9FFB-0AB3DC6942FB}"/>
              </a:ext>
            </a:extLst>
          </p:cNvPr>
          <p:cNvSpPr txBox="1"/>
          <p:nvPr/>
        </p:nvSpPr>
        <p:spPr>
          <a:xfrm>
            <a:off x="7439175" y="20642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43BB08-15C1-461A-9A30-7797DDE0B81D}"/>
              </a:ext>
            </a:extLst>
          </p:cNvPr>
          <p:cNvSpPr txBox="1"/>
          <p:nvPr/>
        </p:nvSpPr>
        <p:spPr>
          <a:xfrm>
            <a:off x="80408" y="1144177"/>
            <a:ext cx="89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</a:t>
            </a:r>
            <a:r>
              <a:rPr lang="en-US" sz="2400" dirty="0"/>
              <a:t>What is a travel graph and how do we use them?</a:t>
            </a:r>
            <a:endParaRPr lang="en-AU" sz="2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60AA77-76C8-4593-BB13-859489211D69}"/>
              </a:ext>
            </a:extLst>
          </p:cNvPr>
          <p:cNvCxnSpPr>
            <a:cxnSpLocks/>
          </p:cNvCxnSpPr>
          <p:nvPr/>
        </p:nvCxnSpPr>
        <p:spPr>
          <a:xfrm>
            <a:off x="5796136" y="1916832"/>
            <a:ext cx="0" cy="37458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30022D-68F2-48EC-A1E4-EC6B68AD9DDF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46A4A-3623-4079-93E1-CC9DE1F237F2}"/>
              </a:ext>
            </a:extLst>
          </p:cNvPr>
          <p:cNvSpPr txBox="1"/>
          <p:nvPr/>
        </p:nvSpPr>
        <p:spPr>
          <a:xfrm>
            <a:off x="2300795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2FB79C-5235-460C-8519-045A52058720}"/>
              </a:ext>
            </a:extLst>
          </p:cNvPr>
          <p:cNvSpPr txBox="1"/>
          <p:nvPr/>
        </p:nvSpPr>
        <p:spPr>
          <a:xfrm>
            <a:off x="5827152" y="1938179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96DB43-18D1-4C7B-AF43-333BDEE3DF7C}"/>
              </a:ext>
            </a:extLst>
          </p:cNvPr>
          <p:cNvCxnSpPr/>
          <p:nvPr/>
        </p:nvCxnSpPr>
        <p:spPr>
          <a:xfrm>
            <a:off x="5335" y="566267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D78ABC5-28B8-4950-ABE6-481516658535}"/>
              </a:ext>
            </a:extLst>
          </p:cNvPr>
          <p:cNvSpPr txBox="1"/>
          <p:nvPr/>
        </p:nvSpPr>
        <p:spPr>
          <a:xfrm>
            <a:off x="122528" y="5662671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49DA00-582A-41CE-AAF7-169D301C138A}"/>
              </a:ext>
            </a:extLst>
          </p:cNvPr>
          <p:cNvSpPr txBox="1"/>
          <p:nvPr/>
        </p:nvSpPr>
        <p:spPr>
          <a:xfrm>
            <a:off x="80408" y="2258997"/>
            <a:ext cx="21412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is a travel graph?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B27555-F646-4FA6-85E6-902337F1EE9D}"/>
              </a:ext>
            </a:extLst>
          </p:cNvPr>
          <p:cNvSpPr txBox="1"/>
          <p:nvPr/>
        </p:nvSpPr>
        <p:spPr>
          <a:xfrm>
            <a:off x="2303983" y="2258997"/>
            <a:ext cx="34460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A travel graph is a special type of line graph.</a:t>
            </a:r>
          </a:p>
          <a:p>
            <a:r>
              <a:rPr lang="en-AU" sz="2000" dirty="0"/>
              <a:t>It shows the distance someone travels over time.</a:t>
            </a:r>
          </a:p>
          <a:p>
            <a:r>
              <a:rPr lang="en-AU" sz="2000" dirty="0"/>
              <a:t>Time on x-axis</a:t>
            </a:r>
          </a:p>
          <a:p>
            <a:r>
              <a:rPr lang="en-AU" sz="2000" dirty="0"/>
              <a:t>Distance travelled on y-axis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EF6F90-669C-429A-ACA3-387930C00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261" y="4179651"/>
            <a:ext cx="2503634" cy="25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56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465" y="251357"/>
            <a:ext cx="21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Travel Graphs</a:t>
            </a: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2267744" y="1916832"/>
            <a:ext cx="0" cy="37458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8B3318-A83E-4079-9FFB-0AB3DC6942FB}"/>
              </a:ext>
            </a:extLst>
          </p:cNvPr>
          <p:cNvSpPr txBox="1"/>
          <p:nvPr/>
        </p:nvSpPr>
        <p:spPr>
          <a:xfrm>
            <a:off x="7439175" y="20642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43BB08-15C1-461A-9A30-7797DDE0B81D}"/>
              </a:ext>
            </a:extLst>
          </p:cNvPr>
          <p:cNvSpPr txBox="1"/>
          <p:nvPr/>
        </p:nvSpPr>
        <p:spPr>
          <a:xfrm>
            <a:off x="80408" y="1144177"/>
            <a:ext cx="89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</a:t>
            </a:r>
            <a:r>
              <a:rPr lang="en-US" sz="2400" dirty="0"/>
              <a:t>What is a travel graph and how do we use them?</a:t>
            </a:r>
            <a:endParaRPr lang="en-AU" sz="2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60AA77-76C8-4593-BB13-859489211D69}"/>
              </a:ext>
            </a:extLst>
          </p:cNvPr>
          <p:cNvCxnSpPr>
            <a:cxnSpLocks/>
          </p:cNvCxnSpPr>
          <p:nvPr/>
        </p:nvCxnSpPr>
        <p:spPr>
          <a:xfrm>
            <a:off x="5796136" y="1916832"/>
            <a:ext cx="0" cy="37458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30022D-68F2-48EC-A1E4-EC6B68AD9DDF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46A4A-3623-4079-93E1-CC9DE1F237F2}"/>
              </a:ext>
            </a:extLst>
          </p:cNvPr>
          <p:cNvSpPr txBox="1"/>
          <p:nvPr/>
        </p:nvSpPr>
        <p:spPr>
          <a:xfrm>
            <a:off x="2300795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2FB79C-5235-460C-8519-045A52058720}"/>
              </a:ext>
            </a:extLst>
          </p:cNvPr>
          <p:cNvSpPr txBox="1"/>
          <p:nvPr/>
        </p:nvSpPr>
        <p:spPr>
          <a:xfrm>
            <a:off x="5827152" y="1938179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96DB43-18D1-4C7B-AF43-333BDEE3DF7C}"/>
              </a:ext>
            </a:extLst>
          </p:cNvPr>
          <p:cNvCxnSpPr/>
          <p:nvPr/>
        </p:nvCxnSpPr>
        <p:spPr>
          <a:xfrm>
            <a:off x="5335" y="566267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D78ABC5-28B8-4950-ABE6-481516658535}"/>
              </a:ext>
            </a:extLst>
          </p:cNvPr>
          <p:cNvSpPr txBox="1"/>
          <p:nvPr/>
        </p:nvSpPr>
        <p:spPr>
          <a:xfrm>
            <a:off x="122528" y="5662671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15B85D-D4F5-4C50-A2F8-F31E3B2E9089}"/>
              </a:ext>
            </a:extLst>
          </p:cNvPr>
          <p:cNvSpPr txBox="1"/>
          <p:nvPr/>
        </p:nvSpPr>
        <p:spPr>
          <a:xfrm>
            <a:off x="46316" y="2275103"/>
            <a:ext cx="21412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How do I read it?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C1FA4E-A11E-4534-8D8A-33FE440EBA12}"/>
              </a:ext>
            </a:extLst>
          </p:cNvPr>
          <p:cNvSpPr txBox="1"/>
          <p:nvPr/>
        </p:nvSpPr>
        <p:spPr>
          <a:xfrm>
            <a:off x="2267744" y="2253069"/>
            <a:ext cx="333162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Slope = moving</a:t>
            </a:r>
          </a:p>
          <a:p>
            <a:r>
              <a:rPr lang="en-AU" sz="2200" dirty="0"/>
              <a:t>Flat = stationary</a:t>
            </a:r>
          </a:p>
          <a:p>
            <a:r>
              <a:rPr lang="en-AU" sz="2200" dirty="0"/>
              <a:t>Higher slope = travelling faster</a:t>
            </a:r>
          </a:p>
          <a:p>
            <a:r>
              <a:rPr lang="en-AU" sz="2200" dirty="0"/>
              <a:t>Down = moving closer</a:t>
            </a:r>
          </a:p>
          <a:p>
            <a:endParaRPr lang="en-AU" sz="2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C339CC8-3CFC-4743-9BB0-F18F1AB09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261" y="4179651"/>
            <a:ext cx="2503634" cy="257107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1AA90D3-5531-4392-A3F2-3FC2B3EEA817}"/>
              </a:ext>
            </a:extLst>
          </p:cNvPr>
          <p:cNvSpPr txBox="1"/>
          <p:nvPr/>
        </p:nvSpPr>
        <p:spPr>
          <a:xfrm>
            <a:off x="5827152" y="2280731"/>
            <a:ext cx="3040996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Find the information you know then follow the gridlines to find the information you want.</a:t>
            </a:r>
          </a:p>
          <a:p>
            <a:endParaRPr lang="en-AU" sz="2200" dirty="0"/>
          </a:p>
          <a:p>
            <a:r>
              <a:rPr lang="en-AU" sz="2200" dirty="0"/>
              <a:t>e.g. How far had the cyclist travelled after 3 hours?</a:t>
            </a:r>
          </a:p>
          <a:p>
            <a:endParaRPr lang="en-AU" sz="2200" dirty="0"/>
          </a:p>
          <a:p>
            <a:r>
              <a:rPr lang="en-AU" sz="2200" dirty="0"/>
              <a:t>Follow the three gridline up to the line then across to read 20 km on the y-axis.</a:t>
            </a:r>
          </a:p>
        </p:txBody>
      </p:sp>
    </p:spTree>
    <p:extLst>
      <p:ext uri="{BB962C8B-B14F-4D97-AF65-F5344CB8AC3E}">
        <p14:creationId xmlns:p14="http://schemas.microsoft.com/office/powerpoint/2010/main" val="3778066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034CFEF-EDC8-46B6-8978-75DB65AF4272}"/>
              </a:ext>
            </a:extLst>
          </p:cNvPr>
          <p:cNvSpPr txBox="1"/>
          <p:nvPr/>
        </p:nvSpPr>
        <p:spPr>
          <a:xfrm>
            <a:off x="144963" y="242145"/>
            <a:ext cx="58980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How does it work and how do I read it?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BE08BEC-2C24-4A13-B0BB-EF0A6C61F944}"/>
              </a:ext>
            </a:extLst>
          </p:cNvPr>
          <p:cNvGrpSpPr/>
          <p:nvPr/>
        </p:nvGrpSpPr>
        <p:grpSpPr>
          <a:xfrm>
            <a:off x="970946" y="1244907"/>
            <a:ext cx="4746809" cy="4819992"/>
            <a:chOff x="596372" y="1189822"/>
            <a:chExt cx="5143415" cy="507338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E998081-90ED-48CF-A8BD-6B45672BB5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6833" r="56709"/>
            <a:stretch/>
          </p:blipFill>
          <p:spPr>
            <a:xfrm>
              <a:off x="596372" y="1522673"/>
              <a:ext cx="4790876" cy="4740529"/>
            </a:xfrm>
            <a:prstGeom prst="rect">
              <a:avLst/>
            </a:prstGeom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9018FC6E-9128-4C2C-804D-81AFA47A2778}"/>
                </a:ext>
              </a:extLst>
            </p:cNvPr>
            <p:cNvCxnSpPr/>
            <p:nvPr/>
          </p:nvCxnSpPr>
          <p:spPr>
            <a:xfrm flipV="1">
              <a:off x="749147" y="1189822"/>
              <a:ext cx="0" cy="32400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7375B50-B54E-4424-9244-D991430C232A}"/>
                </a:ext>
              </a:extLst>
            </p:cNvPr>
            <p:cNvCxnSpPr>
              <a:cxnSpLocks/>
            </p:cNvCxnSpPr>
            <p:nvPr/>
          </p:nvCxnSpPr>
          <p:spPr>
            <a:xfrm>
              <a:off x="5332163" y="6083986"/>
              <a:ext cx="407624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B5604D3-5F20-4A98-A0B8-53813F6BCD88}"/>
              </a:ext>
            </a:extLst>
          </p:cNvPr>
          <p:cNvSpPr txBox="1"/>
          <p:nvPr/>
        </p:nvSpPr>
        <p:spPr>
          <a:xfrm>
            <a:off x="2856904" y="6274291"/>
            <a:ext cx="113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Time (hrs)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351DE4-2EBA-4EF9-9779-16F117C79B25}"/>
              </a:ext>
            </a:extLst>
          </p:cNvPr>
          <p:cNvSpPr txBox="1"/>
          <p:nvPr/>
        </p:nvSpPr>
        <p:spPr>
          <a:xfrm>
            <a:off x="764071" y="52056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2987CF-9F07-44A7-A781-DA22D75B0ED1}"/>
              </a:ext>
            </a:extLst>
          </p:cNvPr>
          <p:cNvSpPr txBox="1"/>
          <p:nvPr/>
        </p:nvSpPr>
        <p:spPr>
          <a:xfrm>
            <a:off x="1966921" y="598784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9F4C90-1C66-4F12-9749-43B993525507}"/>
              </a:ext>
            </a:extLst>
          </p:cNvPr>
          <p:cNvSpPr txBox="1"/>
          <p:nvPr/>
        </p:nvSpPr>
        <p:spPr>
          <a:xfrm>
            <a:off x="2405120" y="59849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9B7958-003F-421D-A68B-24859E2320C1}"/>
              </a:ext>
            </a:extLst>
          </p:cNvPr>
          <p:cNvSpPr txBox="1"/>
          <p:nvPr/>
        </p:nvSpPr>
        <p:spPr>
          <a:xfrm>
            <a:off x="2946823" y="59849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3BF6-9319-4667-9BBA-9D633B615774}"/>
              </a:ext>
            </a:extLst>
          </p:cNvPr>
          <p:cNvSpPr txBox="1"/>
          <p:nvPr/>
        </p:nvSpPr>
        <p:spPr>
          <a:xfrm>
            <a:off x="3462831" y="59849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1629F5-1605-4262-BEF2-4DB139887D05}"/>
              </a:ext>
            </a:extLst>
          </p:cNvPr>
          <p:cNvSpPr txBox="1"/>
          <p:nvPr/>
        </p:nvSpPr>
        <p:spPr>
          <a:xfrm rot="16200000">
            <a:off x="-317746" y="3145500"/>
            <a:ext cx="1469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Distance (km)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0D65AF-F7BC-4614-853F-F9A21CE86A08}"/>
              </a:ext>
            </a:extLst>
          </p:cNvPr>
          <p:cNvSpPr txBox="1"/>
          <p:nvPr/>
        </p:nvSpPr>
        <p:spPr>
          <a:xfrm>
            <a:off x="647053" y="471041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919BDB-7024-4F89-8300-C454075A02B6}"/>
              </a:ext>
            </a:extLst>
          </p:cNvPr>
          <p:cNvSpPr txBox="1"/>
          <p:nvPr/>
        </p:nvSpPr>
        <p:spPr>
          <a:xfrm>
            <a:off x="647053" y="42151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D34F12-918B-46F9-B481-7049392BDB3D}"/>
              </a:ext>
            </a:extLst>
          </p:cNvPr>
          <p:cNvSpPr txBox="1"/>
          <p:nvPr/>
        </p:nvSpPr>
        <p:spPr>
          <a:xfrm>
            <a:off x="647053" y="371992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725C7B-76FA-4D66-BBD3-C3D48C552FE6}"/>
              </a:ext>
            </a:extLst>
          </p:cNvPr>
          <p:cNvSpPr txBox="1"/>
          <p:nvPr/>
        </p:nvSpPr>
        <p:spPr>
          <a:xfrm>
            <a:off x="647053" y="322091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5F2935-89CA-4324-8B65-ED42950314C3}"/>
              </a:ext>
            </a:extLst>
          </p:cNvPr>
          <p:cNvSpPr txBox="1"/>
          <p:nvPr/>
        </p:nvSpPr>
        <p:spPr>
          <a:xfrm>
            <a:off x="647053" y="27468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901450-DB72-4516-8F41-D86CF7756A03}"/>
              </a:ext>
            </a:extLst>
          </p:cNvPr>
          <p:cNvSpPr txBox="1"/>
          <p:nvPr/>
        </p:nvSpPr>
        <p:spPr>
          <a:xfrm>
            <a:off x="806302" y="58538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546F95-92E0-4E3E-AF71-0CA02BBA9B1D}"/>
              </a:ext>
            </a:extLst>
          </p:cNvPr>
          <p:cNvSpPr txBox="1"/>
          <p:nvPr/>
        </p:nvSpPr>
        <p:spPr>
          <a:xfrm>
            <a:off x="1477165" y="59849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F935C6-00EC-41C4-A9DB-5F3E7DE89F08}"/>
              </a:ext>
            </a:extLst>
          </p:cNvPr>
          <p:cNvSpPr txBox="1"/>
          <p:nvPr/>
        </p:nvSpPr>
        <p:spPr>
          <a:xfrm>
            <a:off x="3944494" y="59849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A2055F-A9CE-4567-9803-6ED358FAC61F}"/>
              </a:ext>
            </a:extLst>
          </p:cNvPr>
          <p:cNvCxnSpPr/>
          <p:nvPr/>
        </p:nvCxnSpPr>
        <p:spPr>
          <a:xfrm flipV="1">
            <a:off x="1141733" y="5355881"/>
            <a:ext cx="477747" cy="51063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2FCEC28-9E90-4B19-8AC9-E3030C40B107}"/>
              </a:ext>
            </a:extLst>
          </p:cNvPr>
          <p:cNvCxnSpPr>
            <a:cxnSpLocks/>
          </p:cNvCxnSpPr>
          <p:nvPr/>
        </p:nvCxnSpPr>
        <p:spPr>
          <a:xfrm flipV="1">
            <a:off x="1634358" y="4857750"/>
            <a:ext cx="969142" cy="49361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5230D9C-1026-4204-A24F-C9395FFE004F}"/>
              </a:ext>
            </a:extLst>
          </p:cNvPr>
          <p:cNvCxnSpPr>
            <a:cxnSpLocks/>
          </p:cNvCxnSpPr>
          <p:nvPr/>
        </p:nvCxnSpPr>
        <p:spPr>
          <a:xfrm flipV="1">
            <a:off x="2603500" y="4857753"/>
            <a:ext cx="1010174" cy="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73CC62-7911-49D6-ACF3-871C46CBE70C}"/>
              </a:ext>
            </a:extLst>
          </p:cNvPr>
          <p:cNvCxnSpPr>
            <a:cxnSpLocks/>
          </p:cNvCxnSpPr>
          <p:nvPr/>
        </p:nvCxnSpPr>
        <p:spPr>
          <a:xfrm flipV="1">
            <a:off x="3613674" y="2857501"/>
            <a:ext cx="481663" cy="199394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39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26982D-B7B9-419E-AAD1-8388E9657C6C}"/>
              </a:ext>
            </a:extLst>
          </p:cNvPr>
          <p:cNvSpPr txBox="1"/>
          <p:nvPr/>
        </p:nvSpPr>
        <p:spPr>
          <a:xfrm>
            <a:off x="342900" y="533400"/>
            <a:ext cx="241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758260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C7877D-FCFA-44E2-9D8F-7585D96A5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" y="871537"/>
            <a:ext cx="8324850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15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465" y="251357"/>
            <a:ext cx="21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Travel Graphs</a:t>
            </a: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2267744" y="1916832"/>
            <a:ext cx="0" cy="31729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8B3318-A83E-4079-9FFB-0AB3DC6942FB}"/>
              </a:ext>
            </a:extLst>
          </p:cNvPr>
          <p:cNvSpPr txBox="1"/>
          <p:nvPr/>
        </p:nvSpPr>
        <p:spPr>
          <a:xfrm>
            <a:off x="7439175" y="20642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43BB08-15C1-461A-9A30-7797DDE0B81D}"/>
              </a:ext>
            </a:extLst>
          </p:cNvPr>
          <p:cNvSpPr txBox="1"/>
          <p:nvPr/>
        </p:nvSpPr>
        <p:spPr>
          <a:xfrm>
            <a:off x="80408" y="1144177"/>
            <a:ext cx="89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</a:t>
            </a:r>
            <a:r>
              <a:rPr lang="en-US" sz="2400" dirty="0"/>
              <a:t>What is a travel graph and how do we use them?</a:t>
            </a:r>
            <a:endParaRPr lang="en-AU" sz="2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60AA77-76C8-4593-BB13-859489211D69}"/>
              </a:ext>
            </a:extLst>
          </p:cNvPr>
          <p:cNvCxnSpPr>
            <a:cxnSpLocks/>
          </p:cNvCxnSpPr>
          <p:nvPr/>
        </p:nvCxnSpPr>
        <p:spPr>
          <a:xfrm>
            <a:off x="5796136" y="1916832"/>
            <a:ext cx="0" cy="318397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30022D-68F2-48EC-A1E4-EC6B68AD9DDF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46A4A-3623-4079-93E1-CC9DE1F237F2}"/>
              </a:ext>
            </a:extLst>
          </p:cNvPr>
          <p:cNvSpPr txBox="1"/>
          <p:nvPr/>
        </p:nvSpPr>
        <p:spPr>
          <a:xfrm>
            <a:off x="2300795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2FB79C-5235-460C-8519-045A52058720}"/>
              </a:ext>
            </a:extLst>
          </p:cNvPr>
          <p:cNvSpPr txBox="1"/>
          <p:nvPr/>
        </p:nvSpPr>
        <p:spPr>
          <a:xfrm>
            <a:off x="5827152" y="1938179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96DB43-18D1-4C7B-AF43-333BDEE3DF7C}"/>
              </a:ext>
            </a:extLst>
          </p:cNvPr>
          <p:cNvCxnSpPr/>
          <p:nvPr/>
        </p:nvCxnSpPr>
        <p:spPr>
          <a:xfrm>
            <a:off x="5335" y="510081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D78ABC5-28B8-4950-ABE6-481516658535}"/>
              </a:ext>
            </a:extLst>
          </p:cNvPr>
          <p:cNvSpPr txBox="1"/>
          <p:nvPr/>
        </p:nvSpPr>
        <p:spPr>
          <a:xfrm>
            <a:off x="122528" y="5100810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15" name="Right Arrow 6">
            <a:extLst>
              <a:ext uri="{FF2B5EF4-FFF2-40B4-BE49-F238E27FC236}">
                <a16:creationId xmlns:a16="http://schemas.microsoft.com/office/drawing/2014/main" id="{A992D856-BD46-4F2D-B9A7-E8717CDAC8DE}"/>
              </a:ext>
            </a:extLst>
          </p:cNvPr>
          <p:cNvSpPr/>
          <p:nvPr/>
        </p:nvSpPr>
        <p:spPr>
          <a:xfrm rot="8845994">
            <a:off x="1140158" y="4693200"/>
            <a:ext cx="735801" cy="395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6B89BE-E470-405A-AC79-2930AA85790E}"/>
              </a:ext>
            </a:extLst>
          </p:cNvPr>
          <p:cNvSpPr txBox="1"/>
          <p:nvPr/>
        </p:nvSpPr>
        <p:spPr>
          <a:xfrm>
            <a:off x="1856233" y="4267962"/>
            <a:ext cx="4950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Complete your summary by answering the EQ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0AE8A8-21E2-49D6-9979-AD3BC4F3960E}"/>
              </a:ext>
            </a:extLst>
          </p:cNvPr>
          <p:cNvSpPr txBox="1"/>
          <p:nvPr/>
        </p:nvSpPr>
        <p:spPr>
          <a:xfrm>
            <a:off x="122528" y="5564327"/>
            <a:ext cx="79021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Travel graphs display the distance travelled over __________. </a:t>
            </a:r>
          </a:p>
        </p:txBody>
      </p:sp>
    </p:spTree>
    <p:extLst>
      <p:ext uri="{BB962C8B-B14F-4D97-AF65-F5344CB8AC3E}">
        <p14:creationId xmlns:p14="http://schemas.microsoft.com/office/powerpoint/2010/main" val="374087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BC99BC-3A63-4255-9D4F-38C5B80A3193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1049</Words>
  <Application>Microsoft Office PowerPoint</Application>
  <PresentationFormat>On-screen Show (4:3)</PresentationFormat>
  <Paragraphs>203</Paragraphs>
  <Slides>18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Statistical Analysis</vt:lpstr>
      <vt:lpstr>The Judging Standards for this unit (aka - How You will be Assessed!)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Independent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2012-09-21T18:31:34Z</dcterms:created>
  <dcterms:modified xsi:type="dcterms:W3CDTF">2018-08-06T12:34:50Z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
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4"/>
  </p:notesMasterIdLst>
  <p:sldIdLst>
    <p:sldId id="257" r:id="rId2"/>
    <p:sldId id="258" r:id="rId3"/>
    <p:sldId id="266" r:id="rId4"/>
    <p:sldId id="267" r:id="rId5"/>
    <p:sldId id="268" r:id="rId6"/>
    <p:sldId id="263" r:id="rId7"/>
    <p:sldId id="259" r:id="rId8"/>
    <p:sldId id="260" r:id="rId9"/>
    <p:sldId id="261" r:id="rId10"/>
    <p:sldId id="264" r:id="rId11"/>
    <p:sldId id="265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87713" autoAdjust="0"/>
  </p:normalViewPr>
  <p:slideViewPr>
    <p:cSldViewPr snapToGrid="0">
      <p:cViewPr varScale="1">
        <p:scale>
          <a:sx n="64" d="100"/>
          <a:sy n="64" d="100"/>
        </p:scale>
        <p:origin x="72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959EE1-024D-4357-BEEC-EA0ABC721EF7}" type="datetimeFigureOut">
              <a:rPr lang="en-AU" smtClean="0"/>
              <a:t>16/07/2018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D9682E-F265-422D-ABA9-141F8943D3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9316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5266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9719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Closure/ exit pass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23321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Closure/ exit pass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49033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2183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0654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200" b="1" dirty="0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Draw a table like the following in your book: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1857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8168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862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CD728EEF-AAC2-4185-A39B-EBE5323BEE7A}" type="datetimeFigureOut">
              <a:rPr lang="en-AU" smtClean="0"/>
              <a:t>16/07/2018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D76195DE-6B3F-45E8-916F-4844EED418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8423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28EEF-AAC2-4185-A39B-EBE5323BEE7A}" type="datetimeFigureOut">
              <a:rPr lang="en-AU" smtClean="0"/>
              <a:t>16/07/2018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195DE-6B3F-45E8-916F-4844EED418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69714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D728EEF-AAC2-4185-A39B-EBE5323BEE7A}" type="datetimeFigureOut">
              <a:rPr lang="en-AU" smtClean="0"/>
              <a:t>16/07/2018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76195DE-6B3F-45E8-916F-4844EED418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4696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28EEF-AAC2-4185-A39B-EBE5323BEE7A}" type="datetimeFigureOut">
              <a:rPr lang="en-AU" smtClean="0"/>
              <a:t>16/07/2018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195DE-6B3F-45E8-916F-4844EED418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1913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28EEF-AAC2-4185-A39B-EBE5323BEE7A}" type="datetimeFigureOut">
              <a:rPr lang="en-AU" smtClean="0"/>
              <a:t>16/07/2018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195DE-6B3F-45E8-916F-4844EED418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8534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28EEF-AAC2-4185-A39B-EBE5323BEE7A}" type="datetimeFigureOut">
              <a:rPr lang="en-AU" smtClean="0"/>
              <a:t>16/07/2018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195DE-6B3F-45E8-916F-4844EED418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5229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28EEF-AAC2-4185-A39B-EBE5323BEE7A}" type="datetimeFigureOut">
              <a:rPr lang="en-AU" smtClean="0"/>
              <a:t>16/07/2018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195DE-6B3F-45E8-916F-4844EED418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577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28EEF-AAC2-4185-A39B-EBE5323BEE7A}" type="datetimeFigureOut">
              <a:rPr lang="en-AU" smtClean="0"/>
              <a:t>16/07/2018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195DE-6B3F-45E8-916F-4844EED418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4094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28EEF-AAC2-4185-A39B-EBE5323BEE7A}" type="datetimeFigureOut">
              <a:rPr lang="en-AU" smtClean="0"/>
              <a:t>16/07/2018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195DE-6B3F-45E8-916F-4844EED418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30304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28EEF-AAC2-4185-A39B-EBE5323BEE7A}" type="datetimeFigureOut">
              <a:rPr lang="en-AU" smtClean="0"/>
              <a:t>16/07/2018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195DE-6B3F-45E8-916F-4844EED418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8107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D728EEF-AAC2-4185-A39B-EBE5323BEE7A}" type="datetimeFigureOut">
              <a:rPr lang="en-AU" smtClean="0"/>
              <a:t>16/07/2018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76195DE-6B3F-45E8-916F-4844EED418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67913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D728EEF-AAC2-4185-A39B-EBE5323BEE7A}" type="datetimeFigureOut">
              <a:rPr lang="en-AU" smtClean="0"/>
              <a:t>16/07/2018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76195DE-6B3F-45E8-916F-4844EED4188A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839860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D728EEF-AAC2-4185-A39B-EBE5323BEE7A}" type="datetimeFigureOut">
              <a:rPr lang="en-AU" smtClean="0"/>
              <a:t>16/07/2018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76195DE-6B3F-45E8-916F-4844EED418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72221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28EEF-AAC2-4185-A39B-EBE5323BEE7A}" type="datetimeFigureOut">
              <a:rPr lang="en-AU" smtClean="0"/>
              <a:t>16/07/2018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195DE-6B3F-45E8-916F-4844EED418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48862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28EEF-AAC2-4185-A39B-EBE5323BEE7A}" type="datetimeFigureOut">
              <a:rPr lang="en-AU" smtClean="0"/>
              <a:t>16/07/2018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195DE-6B3F-45E8-916F-4844EED418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37528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28EEF-AAC2-4185-A39B-EBE5323BEE7A}" type="datetimeFigureOut">
              <a:rPr lang="en-AU" smtClean="0"/>
              <a:t>16/07/2018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195DE-6B3F-45E8-916F-4844EED418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588684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D728EEF-AAC2-4185-A39B-EBE5323BEE7A}" type="datetimeFigureOut">
              <a:rPr lang="en-AU" smtClean="0"/>
              <a:t>16/07/2018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76195DE-6B3F-45E8-916F-4844EED418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6562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728EEF-AAC2-4185-A39B-EBE5323BEE7A}" type="datetimeFigureOut">
              <a:rPr lang="en-AU" smtClean="0"/>
              <a:t>16/07/2018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6195DE-6B3F-45E8-916F-4844EED418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6047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Quadrilaterals 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628501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Miss L</a:t>
            </a:r>
          </a:p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7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pPr marL="0" indent="0"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- </a:t>
            </a:r>
            <a:r>
              <a:rPr lang="en-AU" sz="4000" dirty="0">
                <a:latin typeface="Kiwi School Handwriting" panose="00000500000000000000" pitchFamily="2" charset="0"/>
              </a:rPr>
              <a:t>Label the different quadrilaterals </a:t>
            </a:r>
            <a:endParaRPr lang="en-AU" sz="4400" dirty="0"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042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1776" y="186439"/>
            <a:ext cx="8610600" cy="1293028"/>
          </a:xfrm>
        </p:spPr>
        <p:txBody>
          <a:bodyPr/>
          <a:lstStyle/>
          <a:p>
            <a:r>
              <a:rPr lang="en-AU" b="1" dirty="0"/>
              <a:t>Last Lesson Revision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0647" y="1844936"/>
            <a:ext cx="10820400" cy="440794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sz="2800" b="1" dirty="0"/>
              <a:t>Name the triangle</a:t>
            </a:r>
          </a:p>
          <a:p>
            <a:pPr marL="514350" indent="-514350">
              <a:buAutoNum type="arabicPeriod"/>
            </a:pPr>
            <a:r>
              <a:rPr lang="en-AU" sz="2800" dirty="0"/>
              <a:t>I have all side and angles equal</a:t>
            </a:r>
            <a:br>
              <a:rPr lang="en-AU" sz="2800" dirty="0"/>
            </a:br>
            <a:endParaRPr lang="en-AU" sz="2800" dirty="0"/>
          </a:p>
          <a:p>
            <a:pPr marL="514350" indent="-514350">
              <a:buAutoNum type="arabicPeriod"/>
            </a:pPr>
            <a:r>
              <a:rPr lang="en-AU" sz="2800" dirty="0"/>
              <a:t>I have two side of equal length</a:t>
            </a:r>
            <a:br>
              <a:rPr lang="en-AU" sz="2800" dirty="0"/>
            </a:br>
            <a:endParaRPr lang="en-AU" sz="2800" dirty="0"/>
          </a:p>
          <a:p>
            <a:pPr marL="514350" indent="-514350">
              <a:buAutoNum type="arabicPeriod"/>
            </a:pPr>
            <a:r>
              <a:rPr lang="en-AU" sz="2800" dirty="0"/>
              <a:t>All my angles are less than 90°</a:t>
            </a:r>
            <a:br>
              <a:rPr lang="en-AU" sz="2800" dirty="0"/>
            </a:br>
            <a:endParaRPr lang="en-AU" sz="2800" dirty="0"/>
          </a:p>
          <a:p>
            <a:pPr marL="514350" indent="-514350">
              <a:buAutoNum type="arabicPeriod"/>
            </a:pPr>
            <a:r>
              <a:rPr lang="en-AU" sz="2800" dirty="0"/>
              <a:t>I have 2 sides of equal length and I have an angle greater than 90°</a:t>
            </a:r>
            <a:br>
              <a:rPr lang="en-AU" sz="2800" dirty="0"/>
            </a:br>
            <a:endParaRPr lang="en-AU" sz="2800" dirty="0"/>
          </a:p>
        </p:txBody>
      </p:sp>
      <p:pic>
        <p:nvPicPr>
          <p:cNvPr id="4" name="Picture 2" descr="Related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2806" y="1988840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0540871" y="3559735"/>
            <a:ext cx="10518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b="1" dirty="0">
                <a:solidFill>
                  <a:srgbClr val="00B050"/>
                </a:solidFill>
              </a:rPr>
              <a:t>W</a:t>
            </a:r>
            <a:r>
              <a:rPr lang="en-AU" sz="2000" b="1" dirty="0"/>
              <a:t>ICOR</a:t>
            </a:r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3071" y="1952513"/>
            <a:ext cx="10820400" cy="4024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sz="2800" b="1" dirty="0"/>
              <a:t>Name the triangle</a:t>
            </a:r>
          </a:p>
          <a:p>
            <a:pPr marL="514350" indent="-514350">
              <a:buAutoNum type="arabicPeriod"/>
            </a:pPr>
            <a:r>
              <a:rPr lang="en-AU" sz="2800" dirty="0"/>
              <a:t>I have all side and angles equal</a:t>
            </a:r>
            <a:br>
              <a:rPr lang="en-AU" sz="2800" dirty="0"/>
            </a:br>
            <a:r>
              <a:rPr lang="en-AU" sz="2800" dirty="0">
                <a:solidFill>
                  <a:srgbClr val="FF0000"/>
                </a:solidFill>
              </a:rPr>
              <a:t>Equilateral Triangle</a:t>
            </a:r>
            <a:endParaRPr lang="en-AU" sz="2800" dirty="0"/>
          </a:p>
          <a:p>
            <a:pPr marL="514350" indent="-514350">
              <a:buAutoNum type="arabicPeriod"/>
            </a:pPr>
            <a:r>
              <a:rPr lang="en-AU" sz="2800" dirty="0"/>
              <a:t>I have two side of equal length</a:t>
            </a:r>
            <a:br>
              <a:rPr lang="en-AU" sz="2800" dirty="0"/>
            </a:br>
            <a:r>
              <a:rPr lang="en-AU" sz="2800" dirty="0">
                <a:solidFill>
                  <a:srgbClr val="FF0000"/>
                </a:solidFill>
              </a:rPr>
              <a:t>Isosceles Triangle</a:t>
            </a:r>
            <a:endParaRPr lang="en-AU" sz="2800" dirty="0"/>
          </a:p>
          <a:p>
            <a:pPr marL="514350" indent="-514350">
              <a:buAutoNum type="arabicPeriod"/>
            </a:pPr>
            <a:r>
              <a:rPr lang="en-AU" sz="2800" dirty="0"/>
              <a:t>All my angles are less than 90°</a:t>
            </a:r>
            <a:br>
              <a:rPr lang="en-AU" sz="2800" dirty="0"/>
            </a:br>
            <a:r>
              <a:rPr lang="en-AU" sz="2800" dirty="0">
                <a:solidFill>
                  <a:srgbClr val="FF0000"/>
                </a:solidFill>
              </a:rPr>
              <a:t>Acute Triangle</a:t>
            </a:r>
            <a:endParaRPr lang="en-AU" sz="2800" dirty="0"/>
          </a:p>
          <a:p>
            <a:pPr marL="514350" indent="-514350">
              <a:buFont typeface="Arial" pitchFamily="34" charset="0"/>
              <a:buAutoNum type="arabicPeriod"/>
            </a:pPr>
            <a:r>
              <a:rPr lang="en-AU" sz="2800" dirty="0"/>
              <a:t>I have 2 sides of equal length and I have an angle greater than 90°</a:t>
            </a:r>
            <a:br>
              <a:rPr lang="en-AU" sz="2800" dirty="0"/>
            </a:br>
            <a:r>
              <a:rPr lang="en-AU" sz="2800" dirty="0">
                <a:solidFill>
                  <a:srgbClr val="FF0000"/>
                </a:solidFill>
              </a:rPr>
              <a:t>Obtuse Isosceles Triangle</a:t>
            </a:r>
            <a:endParaRPr lang="en-AU" sz="2800" dirty="0"/>
          </a:p>
          <a:p>
            <a:pPr marL="0" indent="0">
              <a:buNone/>
            </a:pP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306711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41152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Quadrilaterals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classify quadrilaterals?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1345" y="1411971"/>
            <a:ext cx="9544926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</a:rPr>
              <a:t>From last lesson:</a:t>
            </a:r>
          </a:p>
          <a:p>
            <a:pPr defTabSz="914126"/>
            <a:endParaRPr lang="en-US" sz="2399" b="1" dirty="0">
              <a:solidFill>
                <a:prstClr val="black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Rectangle 3">
            <a:extLst>
              <a:ext uri="{FF2B5EF4-FFF2-40B4-BE49-F238E27FC236}">
                <a16:creationId xmlns:a16="http://schemas.microsoft.com/office/drawing/2014/main" id="{42E13613-326F-4F8A-B36B-1201FE71FC97}"/>
              </a:ext>
            </a:extLst>
          </p:cNvPr>
          <p:cNvSpPr txBox="1">
            <a:spLocks noChangeArrowheads="1"/>
          </p:cNvSpPr>
          <p:nvPr/>
        </p:nvSpPr>
        <p:spPr>
          <a:xfrm>
            <a:off x="6752943" y="1827341"/>
            <a:ext cx="5166834" cy="376810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en-US" sz="4000" b="1" i="1" dirty="0">
                <a:solidFill>
                  <a:srgbClr val="660066"/>
                </a:solidFill>
              </a:rPr>
              <a:t>aº + bº + cº = 180º</a:t>
            </a:r>
          </a:p>
          <a:p>
            <a:endParaRPr lang="en-US" altLang="en-US" sz="4000" i="1" dirty="0">
              <a:solidFill>
                <a:srgbClr val="660066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4000" b="1" dirty="0">
                <a:solidFill>
                  <a:srgbClr val="660066"/>
                </a:solidFill>
              </a:rPr>
              <a:t>c</a:t>
            </a:r>
            <a:r>
              <a:rPr lang="en-US" altLang="en-US" sz="4000" b="1" i="1" dirty="0">
                <a:solidFill>
                  <a:srgbClr val="660066"/>
                </a:solidFill>
              </a:rPr>
              <a:t>º + dº = 180º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n-US" sz="4000" b="1" i="1" dirty="0">
              <a:solidFill>
                <a:srgbClr val="660066"/>
              </a:solidFill>
            </a:endParaRPr>
          </a:p>
          <a:p>
            <a:pPr marL="0" indent="0">
              <a:buNone/>
            </a:pPr>
            <a:r>
              <a:rPr lang="en-US" altLang="en-US" sz="4000" b="1" i="1" dirty="0">
                <a:solidFill>
                  <a:srgbClr val="FF0000"/>
                </a:solidFill>
              </a:rPr>
              <a:t>aº + bº = dº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n-US" sz="4000" b="1" i="1" dirty="0">
              <a:solidFill>
                <a:srgbClr val="660066"/>
              </a:solidFill>
            </a:endParaRPr>
          </a:p>
        </p:txBody>
      </p:sp>
      <p:pic>
        <p:nvPicPr>
          <p:cNvPr id="15" name="Picture 5">
            <a:extLst>
              <a:ext uri="{FF2B5EF4-FFF2-40B4-BE49-F238E27FC236}">
                <a16:creationId xmlns:a16="http://schemas.microsoft.com/office/drawing/2014/main" id="{B4075F27-18D5-4535-8A04-887DF6CC3C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1987217"/>
            <a:ext cx="6533683" cy="3809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93923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88C7B59-8A1E-49F0-B360-9B24DB273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17" y="0"/>
            <a:ext cx="11349317" cy="684335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D040783-A076-492B-98F9-1D637C871E4A}"/>
              </a:ext>
            </a:extLst>
          </p:cNvPr>
          <p:cNvSpPr/>
          <p:nvPr/>
        </p:nvSpPr>
        <p:spPr>
          <a:xfrm>
            <a:off x="1707776" y="1089212"/>
            <a:ext cx="3186953" cy="24608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D2B8F1-926F-4D3C-B939-DA882E354803}"/>
              </a:ext>
            </a:extLst>
          </p:cNvPr>
          <p:cNvSpPr/>
          <p:nvPr/>
        </p:nvSpPr>
        <p:spPr>
          <a:xfrm>
            <a:off x="4993341" y="1089212"/>
            <a:ext cx="3186953" cy="24608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88CDBC-5FAC-4CD6-82FC-0A5691F262EC}"/>
              </a:ext>
            </a:extLst>
          </p:cNvPr>
          <p:cNvSpPr/>
          <p:nvPr/>
        </p:nvSpPr>
        <p:spPr>
          <a:xfrm>
            <a:off x="8278906" y="1089212"/>
            <a:ext cx="3186953" cy="24608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81C9B3-8A11-4E2A-9652-B75E3D087129}"/>
              </a:ext>
            </a:extLst>
          </p:cNvPr>
          <p:cNvSpPr/>
          <p:nvPr/>
        </p:nvSpPr>
        <p:spPr>
          <a:xfrm>
            <a:off x="1707776" y="4132729"/>
            <a:ext cx="3186953" cy="24608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CBCCC8-265A-4AEF-A805-C22024EF38CA}"/>
              </a:ext>
            </a:extLst>
          </p:cNvPr>
          <p:cNvSpPr/>
          <p:nvPr/>
        </p:nvSpPr>
        <p:spPr>
          <a:xfrm>
            <a:off x="4993340" y="4132729"/>
            <a:ext cx="3186953" cy="24608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82B8AB-3EBB-4E31-9EFB-306A3BB17A2C}"/>
              </a:ext>
            </a:extLst>
          </p:cNvPr>
          <p:cNvSpPr/>
          <p:nvPr/>
        </p:nvSpPr>
        <p:spPr>
          <a:xfrm>
            <a:off x="8278906" y="4132729"/>
            <a:ext cx="3186953" cy="24608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15023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2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7842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1152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Quadrilaterals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9" y="1596572"/>
            <a:ext cx="2176835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a quadrilateral?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classify quadrilaterals?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71006" y="1507608"/>
            <a:ext cx="9544926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</a:rPr>
              <a:t>A quadrilateral has four sides and four angles</a:t>
            </a:r>
          </a:p>
          <a:p>
            <a:pPr defTabSz="914126"/>
            <a:endParaRPr lang="en-AU" sz="2399" dirty="0">
              <a:solidFill>
                <a:prstClr val="black"/>
              </a:solidFill>
            </a:endParaRPr>
          </a:p>
          <a:p>
            <a:pPr defTabSz="914126"/>
            <a:r>
              <a:rPr lang="en-AU" sz="2399" b="1" dirty="0">
                <a:solidFill>
                  <a:prstClr val="black"/>
                </a:solidFill>
              </a:rPr>
              <a:t>All the angles add up to 360°</a:t>
            </a:r>
            <a:endParaRPr lang="en-US" sz="2399" b="1" dirty="0">
              <a:solidFill>
                <a:prstClr val="black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026" name="Picture 2" descr="Image result for quadrilaterals">
            <a:extLst>
              <a:ext uri="{FF2B5EF4-FFF2-40B4-BE49-F238E27FC236}">
                <a16:creationId xmlns:a16="http://schemas.microsoft.com/office/drawing/2014/main" id="{F2E60B9F-1F83-4B5C-810A-39CB486065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360" y="2079089"/>
            <a:ext cx="2519204" cy="2519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0A8604A-0BCB-4AA4-96E5-236F8F3CE0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1006" y="3217067"/>
            <a:ext cx="6269582" cy="3134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F276A7D-DBF1-4132-B90E-171AA2F86F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003" y="-4458"/>
            <a:ext cx="11108204" cy="686245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46648CF-EAD0-46FE-8B73-921A9BE66173}"/>
              </a:ext>
            </a:extLst>
          </p:cNvPr>
          <p:cNvSpPr/>
          <p:nvPr/>
        </p:nvSpPr>
        <p:spPr>
          <a:xfrm>
            <a:off x="860612" y="551329"/>
            <a:ext cx="3496235" cy="27835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04627F-E807-4BCA-993A-85D66C0E9789}"/>
              </a:ext>
            </a:extLst>
          </p:cNvPr>
          <p:cNvSpPr/>
          <p:nvPr/>
        </p:nvSpPr>
        <p:spPr>
          <a:xfrm>
            <a:off x="4500456" y="551329"/>
            <a:ext cx="3496235" cy="27835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8AEF27-335B-4765-BF7C-4E983228270F}"/>
              </a:ext>
            </a:extLst>
          </p:cNvPr>
          <p:cNvSpPr/>
          <p:nvPr/>
        </p:nvSpPr>
        <p:spPr>
          <a:xfrm>
            <a:off x="8140300" y="551329"/>
            <a:ext cx="3496235" cy="27835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EECBC8-FAEF-4573-BC20-E3C6CA0E0F43}"/>
              </a:ext>
            </a:extLst>
          </p:cNvPr>
          <p:cNvSpPr/>
          <p:nvPr/>
        </p:nvSpPr>
        <p:spPr>
          <a:xfrm>
            <a:off x="847165" y="3890658"/>
            <a:ext cx="3496235" cy="27835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F6C34D1-F1A8-4043-8B63-DE4E5928619E}"/>
              </a:ext>
            </a:extLst>
          </p:cNvPr>
          <p:cNvSpPr/>
          <p:nvPr/>
        </p:nvSpPr>
        <p:spPr>
          <a:xfrm>
            <a:off x="4473562" y="3890658"/>
            <a:ext cx="3496235" cy="27835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33682C-C600-48B9-9F96-298CD5CBEDEC}"/>
              </a:ext>
            </a:extLst>
          </p:cNvPr>
          <p:cNvSpPr/>
          <p:nvPr/>
        </p:nvSpPr>
        <p:spPr>
          <a:xfrm>
            <a:off x="8140299" y="3890658"/>
            <a:ext cx="3496235" cy="27835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88304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2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41152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Quadrilaterals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15435" y="1445989"/>
            <a:ext cx="5822143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Properties of a Parallelogram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classify quadrilaterals?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1808" y="2571373"/>
            <a:ext cx="6445852" cy="267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</a:rPr>
              <a:t>Opposite angles are equal</a:t>
            </a:r>
          </a:p>
          <a:p>
            <a:pPr defTabSz="914126"/>
            <a:endParaRPr lang="en-AU" sz="2399" dirty="0">
              <a:solidFill>
                <a:prstClr val="black"/>
              </a:solidFill>
            </a:endParaRPr>
          </a:p>
          <a:p>
            <a:pPr defTabSz="914126"/>
            <a:r>
              <a:rPr lang="en-AU" sz="2399" dirty="0">
                <a:solidFill>
                  <a:prstClr val="black"/>
                </a:solidFill>
              </a:rPr>
              <a:t>a + b = 180°</a:t>
            </a:r>
          </a:p>
          <a:p>
            <a:pPr defTabSz="914126"/>
            <a:endParaRPr lang="en-AU" sz="2399" dirty="0">
              <a:solidFill>
                <a:prstClr val="black"/>
              </a:solidFill>
            </a:endParaRPr>
          </a:p>
          <a:p>
            <a:pPr defTabSz="914126"/>
            <a:r>
              <a:rPr lang="en-AU" sz="2399" dirty="0">
                <a:solidFill>
                  <a:prstClr val="black"/>
                </a:solidFill>
              </a:rPr>
              <a:t>Alternate angles formed by diagonal line is the same size</a:t>
            </a:r>
          </a:p>
          <a:p>
            <a:pPr marL="342900" indent="-342900" defTabSz="914126">
              <a:buFontTx/>
              <a:buChar char="-"/>
            </a:pPr>
            <a:endParaRPr lang="en-US" sz="2399" dirty="0">
              <a:solidFill>
                <a:prstClr val="black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DE701CEF-4454-41C1-A4AC-FF6BE8E77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1960" y="2156268"/>
            <a:ext cx="3940508" cy="252330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84983CF-D81B-43CF-A743-725CEBC353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3694" y="4679576"/>
            <a:ext cx="3823247" cy="2041614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A07B33E-2EAA-48EA-8952-C44E34B21D41}"/>
              </a:ext>
            </a:extLst>
          </p:cNvPr>
          <p:cNvCxnSpPr/>
          <p:nvPr/>
        </p:nvCxnSpPr>
        <p:spPr>
          <a:xfrm flipV="1">
            <a:off x="3594734" y="5015753"/>
            <a:ext cx="3222926" cy="1304365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B112C020-A8B0-4C54-A8D4-3204F6E1C4F9}"/>
              </a:ext>
            </a:extLst>
          </p:cNvPr>
          <p:cNvSpPr/>
          <p:nvPr/>
        </p:nvSpPr>
        <p:spPr>
          <a:xfrm>
            <a:off x="5988424" y="5100213"/>
            <a:ext cx="215153" cy="13824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00345C5-5B53-4A3E-B246-CDD5534EF2A2}"/>
              </a:ext>
            </a:extLst>
          </p:cNvPr>
          <p:cNvSpPr/>
          <p:nvPr/>
        </p:nvSpPr>
        <p:spPr>
          <a:xfrm>
            <a:off x="4177554" y="6086331"/>
            <a:ext cx="215153" cy="13824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9128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5E02E4B-D0A7-415B-9543-8B1291FA726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936" b="17254"/>
          <a:stretch/>
        </p:blipFill>
        <p:spPr>
          <a:xfrm>
            <a:off x="3013506" y="3815516"/>
            <a:ext cx="3925177" cy="2504602"/>
          </a:xfrm>
          <a:prstGeom prst="rect">
            <a:avLst/>
          </a:prstGeom>
        </p:spPr>
      </p:pic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41152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Quadrilaterals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15435" y="1445989"/>
            <a:ext cx="5822143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Properties of a Rhombus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classify quadrilaterals?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1808" y="2182355"/>
            <a:ext cx="6445852" cy="1569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</a:rPr>
              <a:t>Opposite angles are equal</a:t>
            </a:r>
          </a:p>
          <a:p>
            <a:pPr defTabSz="914126"/>
            <a:endParaRPr lang="en-AU" sz="2399" dirty="0">
              <a:solidFill>
                <a:prstClr val="black"/>
              </a:solidFill>
            </a:endParaRPr>
          </a:p>
          <a:p>
            <a:pPr defTabSz="914126"/>
            <a:r>
              <a:rPr lang="en-AU" sz="2399" dirty="0">
                <a:solidFill>
                  <a:prstClr val="black"/>
                </a:solidFill>
              </a:rPr>
              <a:t>a + b = 180°</a:t>
            </a:r>
          </a:p>
          <a:p>
            <a:pPr defTabSz="914126"/>
            <a:endParaRPr lang="en-AU" sz="2399" dirty="0">
              <a:solidFill>
                <a:prstClr val="black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A07B33E-2EAA-48EA-8952-C44E34B21D41}"/>
              </a:ext>
            </a:extLst>
          </p:cNvPr>
          <p:cNvCxnSpPr>
            <a:cxnSpLocks/>
          </p:cNvCxnSpPr>
          <p:nvPr/>
        </p:nvCxnSpPr>
        <p:spPr>
          <a:xfrm flipV="1">
            <a:off x="3115435" y="3903094"/>
            <a:ext cx="3823248" cy="220808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B112C020-A8B0-4C54-A8D4-3204F6E1C4F9}"/>
              </a:ext>
            </a:extLst>
          </p:cNvPr>
          <p:cNvSpPr/>
          <p:nvPr/>
        </p:nvSpPr>
        <p:spPr>
          <a:xfrm flipV="1">
            <a:off x="4523814" y="4034115"/>
            <a:ext cx="244287" cy="25549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3C2272-6EC1-4B47-9CD5-878A999221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1527" y="2331417"/>
            <a:ext cx="3344676" cy="2840171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C687CA7-4439-438D-9198-42B14F011258}"/>
              </a:ext>
            </a:extLst>
          </p:cNvPr>
          <p:cNvCxnSpPr>
            <a:cxnSpLocks/>
          </p:cNvCxnSpPr>
          <p:nvPr/>
        </p:nvCxnSpPr>
        <p:spPr>
          <a:xfrm flipH="1" flipV="1">
            <a:off x="4294095" y="3903094"/>
            <a:ext cx="1313330" cy="22523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1699AEE9-33A1-45D5-83C0-E9E56AB784E2}"/>
              </a:ext>
            </a:extLst>
          </p:cNvPr>
          <p:cNvSpPr/>
          <p:nvPr/>
        </p:nvSpPr>
        <p:spPr>
          <a:xfrm flipV="1">
            <a:off x="4171951" y="4262714"/>
            <a:ext cx="244287" cy="25549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522E8A9-BAA6-40DA-BCD9-49CBA3EAAC10}"/>
              </a:ext>
            </a:extLst>
          </p:cNvPr>
          <p:cNvSpPr/>
          <p:nvPr/>
        </p:nvSpPr>
        <p:spPr>
          <a:xfrm flipV="1">
            <a:off x="5027059" y="5810271"/>
            <a:ext cx="244287" cy="25549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FD23EE2-8304-480F-BBF3-A5E699710A8D}"/>
              </a:ext>
            </a:extLst>
          </p:cNvPr>
          <p:cNvSpPr/>
          <p:nvPr/>
        </p:nvSpPr>
        <p:spPr>
          <a:xfrm flipV="1">
            <a:off x="5437094" y="5563146"/>
            <a:ext cx="244287" cy="25549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82995D6A-B73E-4FD1-91F3-13BF51B324D3}"/>
              </a:ext>
            </a:extLst>
          </p:cNvPr>
          <p:cNvSpPr/>
          <p:nvPr/>
        </p:nvSpPr>
        <p:spPr>
          <a:xfrm>
            <a:off x="3803274" y="5810271"/>
            <a:ext cx="325073" cy="231035"/>
          </a:xfrm>
          <a:prstGeom prst="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48EDDD65-A109-4F92-BB3B-41EE1E87F543}"/>
              </a:ext>
            </a:extLst>
          </p:cNvPr>
          <p:cNvSpPr/>
          <p:nvPr/>
        </p:nvSpPr>
        <p:spPr>
          <a:xfrm>
            <a:off x="3397522" y="5447628"/>
            <a:ext cx="325073" cy="231035"/>
          </a:xfrm>
          <a:prstGeom prst="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E656AFA5-EF4B-4312-9BAB-B0D3811EB2FD}"/>
              </a:ext>
            </a:extLst>
          </p:cNvPr>
          <p:cNvSpPr/>
          <p:nvPr/>
        </p:nvSpPr>
        <p:spPr>
          <a:xfrm>
            <a:off x="5830268" y="4021809"/>
            <a:ext cx="325073" cy="231035"/>
          </a:xfrm>
          <a:prstGeom prst="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CF761D73-B192-4FAD-B0F3-39E9F7123B74}"/>
              </a:ext>
            </a:extLst>
          </p:cNvPr>
          <p:cNvSpPr/>
          <p:nvPr/>
        </p:nvSpPr>
        <p:spPr>
          <a:xfrm>
            <a:off x="6118773" y="4402691"/>
            <a:ext cx="325073" cy="231035"/>
          </a:xfrm>
          <a:prstGeom prst="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1392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3" grpId="0" animBg="1"/>
      <p:bldP spid="24" grpId="0" animBg="1"/>
      <p:bldP spid="25" grpId="0" animBg="1"/>
      <p:bldP spid="21" grpId="0" animBg="1"/>
      <p:bldP spid="27" grpId="0" animBg="1"/>
      <p:bldP spid="28" grpId="0" animBg="1"/>
      <p:bldP spid="2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2">
            <a:extLst>
              <a:ext uri="{FF2B5EF4-FFF2-40B4-BE49-F238E27FC236}">
                <a16:creationId xmlns:a16="http://schemas.microsoft.com/office/drawing/2014/main" id="{13F5A9A9-5A80-46FF-A9B3-3BEEF7B50ECB}"/>
              </a:ext>
            </a:extLst>
          </p:cNvPr>
          <p:cNvSpPr txBox="1">
            <a:spLocks/>
          </p:cNvSpPr>
          <p:nvPr/>
        </p:nvSpPr>
        <p:spPr>
          <a:xfrm>
            <a:off x="2909047" y="522327"/>
            <a:ext cx="8610600" cy="1104768"/>
          </a:xfrm>
          <a:prstGeom prst="rect">
            <a:avLst/>
          </a:prstGeom>
        </p:spPr>
        <p:txBody>
          <a:bodyPr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Practice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71AA4F-0C68-4C96-BB35-4DD3066CAD0F}"/>
              </a:ext>
            </a:extLst>
          </p:cNvPr>
          <p:cNvSpPr txBox="1"/>
          <p:nvPr/>
        </p:nvSpPr>
        <p:spPr>
          <a:xfrm>
            <a:off x="371807" y="2182355"/>
            <a:ext cx="984795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3200" dirty="0">
                <a:solidFill>
                  <a:prstClr val="black"/>
                </a:solidFill>
              </a:rPr>
              <a:t>1. Complete the worksheet</a:t>
            </a:r>
          </a:p>
          <a:p>
            <a:pPr defTabSz="914126"/>
            <a:endParaRPr lang="en-AU" sz="3200" dirty="0">
              <a:solidFill>
                <a:prstClr val="black"/>
              </a:solidFill>
            </a:endParaRPr>
          </a:p>
          <a:p>
            <a:pPr defTabSz="914126"/>
            <a:endParaRPr lang="en-AU" sz="3200" dirty="0">
              <a:solidFill>
                <a:prstClr val="black"/>
              </a:solidFill>
            </a:endParaRPr>
          </a:p>
          <a:p>
            <a:pPr defTabSz="914126"/>
            <a:r>
              <a:rPr lang="en-AU" sz="3200" dirty="0">
                <a:solidFill>
                  <a:prstClr val="black"/>
                </a:solidFill>
              </a:rPr>
              <a:t>2. Complete your summary as your </a:t>
            </a:r>
            <a:r>
              <a:rPr lang="en-AU" sz="3200" b="1" dirty="0">
                <a:solidFill>
                  <a:schemeClr val="accent1"/>
                </a:solidFill>
              </a:rPr>
              <a:t>exit pass</a:t>
            </a:r>
          </a:p>
          <a:p>
            <a:pPr defTabSz="914126"/>
            <a:endParaRPr lang="en-AU" sz="3200" dirty="0">
              <a:solidFill>
                <a:prstClr val="black"/>
              </a:solidFill>
            </a:endParaRPr>
          </a:p>
        </p:txBody>
      </p:sp>
      <p:pic>
        <p:nvPicPr>
          <p:cNvPr id="6" name="Picture 2" descr="Related image">
            <a:extLst>
              <a:ext uri="{FF2B5EF4-FFF2-40B4-BE49-F238E27FC236}">
                <a16:creationId xmlns:a16="http://schemas.microsoft.com/office/drawing/2014/main" id="{C9D79AC2-1A0F-4007-ABCD-DE7D16D91C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0390" y="3002469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23EFBBC-CCA4-48C7-B821-4BE7FF972699}"/>
              </a:ext>
            </a:extLst>
          </p:cNvPr>
          <p:cNvSpPr txBox="1"/>
          <p:nvPr/>
        </p:nvSpPr>
        <p:spPr>
          <a:xfrm>
            <a:off x="10624750" y="4635157"/>
            <a:ext cx="12250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WICO</a:t>
            </a:r>
            <a:r>
              <a:rPr lang="en-AU" sz="2400" b="1" dirty="0">
                <a:solidFill>
                  <a:schemeClr val="accent1"/>
                </a:solidFill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4026190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61</TotalTime>
  <Words>228</Words>
  <Application>Microsoft Office PowerPoint</Application>
  <PresentationFormat>Widescreen</PresentationFormat>
  <Paragraphs>80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Century Gothic</vt:lpstr>
      <vt:lpstr>DJB Fancy Nancy</vt:lpstr>
      <vt:lpstr>Kiwi School Handwriting</vt:lpstr>
      <vt:lpstr>Vapor Trail</vt:lpstr>
      <vt:lpstr>Quadrilaterals </vt:lpstr>
      <vt:lpstr>Learning Intentions</vt:lpstr>
      <vt:lpstr>Last Lesson Revision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Quadrilaterals</dc:title>
  <dc:creator>Nine Labuschagne</dc:creator>
  <cp:lastModifiedBy>CRAIG Mason [Baldivis Secondary College]</cp:lastModifiedBy>
  <cp:revision>9</cp:revision>
  <dcterms:created xsi:type="dcterms:W3CDTF">2017-10-23T06:48:05Z</dcterms:created>
  <dcterms:modified xsi:type="dcterms:W3CDTF">2018-07-16T12:29:27Z</dcterms:modified>
</cp:coreProperties>
</file>
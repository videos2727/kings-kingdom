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56" r:id="rId2"/>
    <p:sldId id="258" r:id="rId3"/>
    <p:sldId id="386" r:id="rId4"/>
    <p:sldId id="387" r:id="rId5"/>
    <p:sldId id="380" r:id="rId6"/>
    <p:sldId id="330" r:id="rId7"/>
    <p:sldId id="414" r:id="rId8"/>
    <p:sldId id="401" r:id="rId9"/>
    <p:sldId id="415" r:id="rId10"/>
    <p:sldId id="416" r:id="rId11"/>
    <p:sldId id="285" r:id="rId12"/>
    <p:sldId id="420" r:id="rId13"/>
    <p:sldId id="422" r:id="rId14"/>
    <p:sldId id="424" r:id="rId15"/>
    <p:sldId id="398" r:id="rId16"/>
    <p:sldId id="413" r:id="rId17"/>
    <p:sldId id="38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407" autoAdjust="0"/>
    <p:restoredTop sz="94660"/>
  </p:normalViewPr>
  <p:slideViewPr>
    <p:cSldViewPr snapToGrid="0">
      <p:cViewPr>
        <p:scale>
          <a:sx n="92" d="100"/>
          <a:sy n="92" d="100"/>
        </p:scale>
        <p:origin x="14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37DE9-E843-4D08-A94A-BB5A10981DBE}" type="datetimeFigureOut">
              <a:rPr lang="en-AU" smtClean="0"/>
              <a:t>25/2/18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77AA-7CC8-43C9-8713-D5D8B1C37A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521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399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7343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15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90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68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1928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02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2340B6-225B-49BB-8988-BAB44A03D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7489C88-1697-4DDC-A559-7208A6C27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44CF110-B2A4-483A-ADA0-2141C99C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25/2/18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E4A8F45-1C76-435C-B753-7CA166E3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D96ABF9-0EE7-441D-AD83-19C48B97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752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79B018-4B84-4718-9142-DABDFE22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D569AE-B3C5-4BB2-9AA4-03357A19D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CF32225-FB2C-4C40-8F62-48D7FE59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25/2/18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8220E53-56EE-48EF-ABF0-59F5AEB7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DFBC6BC-CAA6-4FD9-928F-04D2DCB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0525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00749B-81AF-476E-8EEF-FE77A675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B5B3446-944A-448E-BCB8-4B747FF04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89EE5F3-D0AC-40B7-8786-16D46087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25/2/18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31122D2-1BA7-4131-A86D-B1A8BAFC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4BF178-CDE9-450D-8852-2511C3E5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4468BA-1A45-48DE-A696-66D3CB8D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803E659-E10D-48C1-B0C3-08FE9D4A9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06FBCD3-398D-4588-8CC0-C2B429CD5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EF1EFCE-7663-4CA3-88EB-786802A76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25/2/18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2CD65C5-0BED-470C-AA0D-6AE63730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9553F79-B6C7-40B6-9E04-29A6C35F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157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FACC35-708F-48A7-AC2B-D346EDD5F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3A8C90A-72C2-4AAA-AD90-9AE3EC08D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B27D173-ECD3-4DBB-8D7B-38F22B05E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400CA80-B5B3-4F7A-B3D9-07F3C8388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63E796C-57B7-45D1-AE36-E182E2AD2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89177FB-FF08-418F-9217-EA3F6C73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25/2/18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3661780-D977-4531-91F7-9B8DB63AE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BC2436E-E0F0-450D-9191-594FF163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422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1D83D4-2F53-4730-B63B-8C2E2E66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88E1F5F-59DF-4792-874D-A7B28CE7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25/2/18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424AF79-AF61-4264-848D-EEE3C0A0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52EF858-59AB-4742-BD96-AF33F5C2D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453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3B1E2E6-BC2C-4957-AB1D-9B08278F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25/2/18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FE6BF7F9-0E55-46E1-94EA-349999535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EE4FAB8-48BF-4C89-A71A-2048D0B3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166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A248BA-C20E-4F92-8CC2-2E8CE2F75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4DCCC6-F73C-48A2-9432-16E9D7E32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60D8BD0-A270-4EF5-9B04-2304872E3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F38046E-4A60-48C3-AC6F-E511609B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25/2/18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22538C3-5B19-4598-BFF7-AB7A9E9A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8B049C1-16E6-44A9-8838-EF4C500A7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3505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DE12B8-770C-4768-8AA8-9D74B6A6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9F4F4D2-6377-4EC6-BD22-E52F6C88A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D157770-25F4-457E-B556-4CE6A64E6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F6A36EA-DD80-4279-85D1-C40D129C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25/2/18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83B5086-F432-4B9A-8187-799F3547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8BFFCB0-54BE-41DF-93BB-17ECB4E4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056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FD31A7-17DD-41D2-87DC-65449493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26E4FA2-E59C-4308-96D1-AC91844D7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14FF240-EF90-4D4A-9CE8-F5C42210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25/2/18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DB9A025-0C68-42FF-B9EA-F7F771630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A5D0BB-E363-4F66-8543-8E3EE833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471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9C41EB6-B3C3-4059-9E19-8956A74BF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BFE6F54-857C-4234-ABA5-0A3C0472D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C02E581-0726-48E2-8477-37301DA78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25/2/18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DBE622A-3BA9-4606-BD67-CD715A10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C06DE7C-67AA-4711-86D5-3D7FCF37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9193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02294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4620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1D936E8-ABBC-4DA3-AB30-F850AFE75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D803025-19B6-4842-8DB1-6A818347C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A8802F2-F5D8-4B94-93DB-380A1AC06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6A46E-9B69-4DAE-8B8B-23D1D6F6BA1F}" type="datetimeFigureOut">
              <a:rPr lang="en-AU" smtClean="0"/>
              <a:t>25/2/18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1E83A1D-E167-43BA-BBCD-2A3015D32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A59E973-8FEE-46B5-BA55-3836D2C8E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388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4" Type="http://schemas.openxmlformats.org/officeDocument/2006/relationships/image" Target="http://www.mathgoodies.com/lessons/vol5/images/no_line10.gif" TargetMode="External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4" Type="http://schemas.openxmlformats.org/officeDocument/2006/relationships/image" Target="http://www.mathgoodies.com/lessons/vol5/images/no_line10.gif" TargetMode="External"/><Relationship Id="rId5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618509" y="142587"/>
            <a:ext cx="68506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latin typeface="Chalkduster" charset="0"/>
                <a:ea typeface="Chalkduster" charset="0"/>
                <a:cs typeface="Chalkduster" charset="0"/>
              </a:rPr>
              <a:t>NAPLAN Starter Questions</a:t>
            </a:r>
            <a:endParaRPr lang="en-US" sz="3600" dirty="0">
              <a:latin typeface="Chalkduster" charset="0"/>
              <a:ea typeface="Chalkduster" charset="0"/>
              <a:cs typeface="Chalkduster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73" y="1205709"/>
            <a:ext cx="4533900" cy="22479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18" y="4237182"/>
            <a:ext cx="4737100" cy="2032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601" y="1205709"/>
            <a:ext cx="4749800" cy="25908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601" y="4237182"/>
            <a:ext cx="4610100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794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Chalkduster" charset="0"/>
                <a:ea typeface="Chalkduster" charset="0"/>
                <a:cs typeface="Chalkduster" charset="0"/>
              </a:rPr>
              <a:t>My </a:t>
            </a:r>
            <a:r>
              <a:rPr lang="en-AU" dirty="0" smtClean="0">
                <a:latin typeface="Chalkduster" charset="0"/>
                <a:ea typeface="Chalkduster" charset="0"/>
                <a:cs typeface="Chalkduster" charset="0"/>
              </a:rPr>
              <a:t>Numbers and Operations </a:t>
            </a:r>
            <a:r>
              <a:rPr lang="en-AU" dirty="0">
                <a:latin typeface="Chalkduster" charset="0"/>
                <a:ea typeface="Chalkduster" charset="0"/>
                <a:cs typeface="Chalkduster" charset="0"/>
              </a:rPr>
              <a:t>Interactive Notebook</a:t>
            </a:r>
            <a:r>
              <a:rPr lang="en-AU" dirty="0"/>
              <a:t/>
            </a:r>
            <a:br>
              <a:rPr lang="en-AU" dirty="0"/>
            </a:br>
            <a:endParaRPr lang="en-AU" b="1" dirty="0">
              <a:latin typeface="Kiwi School Handwriting" panose="00000500000000000000" pitchFamily="2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135560" y="332657"/>
            <a:ext cx="7772400" cy="14700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 fontScale="97500"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 kern="1200">
                <a:solidFill>
                  <a:srgbClr val="7C7F91"/>
                </a:solidFill>
                <a:latin typeface="+mj-lt"/>
                <a:ea typeface="+mj-ea"/>
                <a:cs typeface="+mj-c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37684" y="311525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684" y="3115250"/>
                <a:ext cx="1368152" cy="144655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0591085" y="3380027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1085" y="3380027"/>
                <a:ext cx="1368152" cy="144655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411923" y="520289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8800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0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923" y="5202890"/>
                <a:ext cx="1368152" cy="144655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0" y="166870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68700"/>
                <a:ext cx="1368152" cy="144655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897823" y="-22247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7823" y="-222473"/>
                <a:ext cx="1368152" cy="144655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0414561" y="1344927"/>
            <a:ext cx="1368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600" dirty="0" smtClean="0">
                <a:solidFill>
                  <a:srgbClr val="FFFF00"/>
                </a:solidFill>
              </a:rPr>
              <a:t>-1</a:t>
            </a:r>
            <a:endParaRPr lang="en-AU" sz="66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916838" y="612270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66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23</m:t>
                      </m:r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38" y="612270"/>
                <a:ext cx="1368152" cy="110799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868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>
                              <a:solidFill>
                                <a:srgbClr val="002060"/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66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8308" y="3909817"/>
                <a:ext cx="1368152" cy="110799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0213747" y="537216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6600" b="0" i="1" smtClean="0">
                          <a:latin typeface="Cambria Math" charset="0"/>
                        </a:rPr>
                        <m:t>−10</m:t>
                      </m:r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3747" y="5372167"/>
                <a:ext cx="1368152" cy="1107996"/>
              </a:xfrm>
              <a:prstGeom prst="rect">
                <a:avLst/>
              </a:prstGeom>
              <a:blipFill rotWithShape="0">
                <a:blip r:embed="rId10"/>
                <a:stretch>
                  <a:fillRect r="-16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ubtitle 2"/>
          <p:cNvSpPr txBox="1">
            <a:spLocks/>
          </p:cNvSpPr>
          <p:nvPr/>
        </p:nvSpPr>
        <p:spPr>
          <a:xfrm>
            <a:off x="421910" y="3909817"/>
            <a:ext cx="4215502" cy="2599009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5100" dirty="0" smtClean="0">
                <a:latin typeface="Chalkduster" charset="0"/>
                <a:ea typeface="Chalkduster" charset="0"/>
                <a:cs typeface="Chalkduster" charset="0"/>
              </a:rPr>
              <a:t>Name:  </a:t>
            </a:r>
          </a:p>
          <a:p>
            <a:pPr marL="0" indent="0">
              <a:buNone/>
            </a:pPr>
            <a:r>
              <a:rPr lang="en-AU" sz="5100" dirty="0" smtClean="0">
                <a:latin typeface="Chalkduster" charset="0"/>
                <a:ea typeface="Chalkduster" charset="0"/>
                <a:cs typeface="Chalkduster" charset="0"/>
              </a:rPr>
              <a:t>Class: </a:t>
            </a:r>
          </a:p>
          <a:p>
            <a:pPr marL="0" indent="0">
              <a:buNone/>
            </a:pPr>
            <a:r>
              <a:rPr lang="en-AU" sz="5100" dirty="0" smtClean="0">
                <a:latin typeface="Chalkduster" charset="0"/>
                <a:ea typeface="Chalkduster" charset="0"/>
                <a:cs typeface="Chalkduster" charset="0"/>
              </a:rPr>
              <a:t>Teacher: </a:t>
            </a:r>
          </a:p>
          <a:p>
            <a:pPr marL="0" indent="0">
              <a:buNone/>
            </a:pPr>
            <a:r>
              <a:rPr lang="en-AU" sz="5100" dirty="0" smtClean="0">
                <a:latin typeface="Chalkduster" charset="0"/>
                <a:ea typeface="Chalkduster" charset="0"/>
                <a:cs typeface="Chalkduster" charset="0"/>
              </a:rPr>
              <a:t>Semester 1</a:t>
            </a:r>
          </a:p>
          <a:p>
            <a:pPr marL="0" indent="0">
              <a:buNone/>
            </a:pPr>
            <a:r>
              <a:rPr lang="en-AU" sz="5100" dirty="0" smtClean="0">
                <a:latin typeface="Chalkduster" charset="0"/>
                <a:ea typeface="Chalkduster" charset="0"/>
                <a:cs typeface="Chalkduster" charset="0"/>
              </a:rPr>
              <a:t>Term 1</a:t>
            </a:r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457634"/>
            <a:ext cx="7886700" cy="5177342"/>
          </a:xfrm>
        </p:spPr>
        <p:txBody>
          <a:bodyPr>
            <a:normAutofit/>
          </a:bodyPr>
          <a:lstStyle/>
          <a:p>
            <a:r>
              <a:rPr lang="en-US" dirty="0" smtClean="0"/>
              <a:t>Cover Page</a:t>
            </a:r>
          </a:p>
          <a:p>
            <a:r>
              <a:rPr lang="en-US" dirty="0" smtClean="0"/>
              <a:t>Contents Page</a:t>
            </a:r>
          </a:p>
          <a:p>
            <a:r>
              <a:rPr lang="en-US" dirty="0" smtClean="0"/>
              <a:t>Glossary</a:t>
            </a:r>
          </a:p>
          <a:p>
            <a:r>
              <a:rPr lang="en-US" dirty="0" smtClean="0"/>
              <a:t>24/7/30</a:t>
            </a:r>
          </a:p>
          <a:p>
            <a:r>
              <a:rPr lang="en-US" dirty="0" smtClean="0"/>
              <a:t>EQ</a:t>
            </a:r>
          </a:p>
          <a:p>
            <a:r>
              <a:rPr lang="en-US" dirty="0" smtClean="0"/>
              <a:t>Questions</a:t>
            </a:r>
          </a:p>
          <a:p>
            <a:r>
              <a:rPr lang="en-US" dirty="0" smtClean="0"/>
              <a:t>Notes</a:t>
            </a:r>
          </a:p>
          <a:p>
            <a:r>
              <a:rPr lang="en-US" dirty="0" smtClean="0"/>
              <a:t>Summaries</a:t>
            </a:r>
          </a:p>
          <a:p>
            <a:r>
              <a:rPr lang="en-US" dirty="0" smtClean="0"/>
              <a:t>Work page</a:t>
            </a:r>
          </a:p>
          <a:p>
            <a:r>
              <a:rPr lang="en-US" dirty="0" smtClean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218" y="1332741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5765911" y="4362736"/>
            <a:ext cx="475042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</a:p>
        </p:txBody>
      </p:sp>
    </p:spTree>
    <p:extLst>
      <p:ext uri="{BB962C8B-B14F-4D97-AF65-F5344CB8AC3E}">
        <p14:creationId xmlns:p14="http://schemas.microsoft.com/office/powerpoint/2010/main" val="504141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25" y="189365"/>
            <a:ext cx="10830194" cy="640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54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45827" cy="68439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06415" y="6363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0" y="1014689"/>
            <a:ext cx="6024082" cy="4433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1557648" y="503148"/>
            <a:ext cx="68663" cy="635485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613797" y="-12091"/>
            <a:ext cx="1304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825" y="503148"/>
            <a:ext cx="7800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3113628" y="528169"/>
            <a:ext cx="3645" cy="631583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057606" y="497443"/>
            <a:ext cx="771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8099" y="474429"/>
            <a:ext cx="1656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0135" y="66504"/>
            <a:ext cx="3472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Glossary or Formula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2912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73774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xmlns="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252" y="8118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xmlns="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16" y="441432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57112AE9-5545-418C-8488-4C5A364DCE26}"/>
              </a:ext>
            </a:extLst>
          </p:cNvPr>
          <p:cNvSpPr txBox="1"/>
          <p:nvPr/>
        </p:nvSpPr>
        <p:spPr>
          <a:xfrm>
            <a:off x="10468477" y="5987852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5510" y="1591767"/>
            <a:ext cx="1113798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200" dirty="0" smtClean="0"/>
              <a:t>To learn a bit about the history of number </a:t>
            </a:r>
            <a:r>
              <a:rPr lang="en-US" sz="3200" dirty="0" smtClean="0"/>
              <a:t>systems✓</a:t>
            </a:r>
            <a:endParaRPr lang="en-US" sz="3200" dirty="0" smtClean="0"/>
          </a:p>
          <a:p>
            <a:pPr marL="285750" indent="-285750">
              <a:buFont typeface="Arial" charset="0"/>
              <a:buChar char="•"/>
            </a:pPr>
            <a:endParaRPr lang="en-US" sz="3200" dirty="0" smtClean="0"/>
          </a:p>
          <a:p>
            <a:pPr marL="285750" indent="-285750">
              <a:buFont typeface="Arial" charset="0"/>
              <a:buChar char="•"/>
            </a:pPr>
            <a:r>
              <a:rPr lang="en-US" sz="3200" dirty="0" smtClean="0"/>
              <a:t>To further expand and solidify our mathematical </a:t>
            </a:r>
            <a:r>
              <a:rPr lang="en-US" sz="3200" dirty="0"/>
              <a:t>vocabulary✓</a:t>
            </a:r>
          </a:p>
          <a:p>
            <a:pPr marL="285750" indent="-285750">
              <a:buFont typeface="Arial" charset="0"/>
              <a:buChar char="•"/>
            </a:pPr>
            <a:endParaRPr lang="en-US" sz="3200" dirty="0" smtClean="0"/>
          </a:p>
          <a:p>
            <a:pPr marL="285750" indent="-285750">
              <a:buFont typeface="Arial" charset="0"/>
              <a:buChar char="•"/>
            </a:pPr>
            <a:r>
              <a:rPr lang="en-US" sz="3200" dirty="0" smtClean="0"/>
              <a:t>To further learn the value of the place system</a:t>
            </a:r>
          </a:p>
          <a:p>
            <a:pPr marL="285750" indent="-285750">
              <a:buFont typeface="Arial" charset="0"/>
              <a:buChar char="•"/>
            </a:pPr>
            <a:endParaRPr lang="en-US" sz="3200" dirty="0" smtClean="0"/>
          </a:p>
          <a:p>
            <a:pPr marL="285750" indent="-285750">
              <a:buFont typeface="Arial" charset="0"/>
              <a:buChar char="•"/>
            </a:pPr>
            <a:r>
              <a:rPr lang="en-US" sz="3200" dirty="0" smtClean="0"/>
              <a:t>To compare, order, add and subtract integers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24065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28731"/>
            <a:ext cx="12192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600" dirty="0" smtClean="0">
                <a:latin typeface="Chalkduster" charset="0"/>
                <a:ea typeface="Chalkduster" charset="0"/>
                <a:cs typeface="Chalkduster" charset="0"/>
              </a:rPr>
              <a:t>BIMDAS Dominos Competition</a:t>
            </a:r>
          </a:p>
          <a:p>
            <a:pPr algn="ctr"/>
            <a:r>
              <a:rPr lang="en-CA" sz="3600" dirty="0">
                <a:latin typeface="Chalkduster" charset="0"/>
                <a:ea typeface="Chalkduster" charset="0"/>
                <a:cs typeface="Chalkduster" charset="0"/>
              </a:rPr>
              <a:t>R</a:t>
            </a:r>
            <a:r>
              <a:rPr lang="en-CA" sz="3600" dirty="0" smtClean="0">
                <a:latin typeface="Chalkduster" charset="0"/>
                <a:ea typeface="Chalkduster" charset="0"/>
                <a:cs typeface="Chalkduster" charset="0"/>
              </a:rPr>
              <a:t>ULES:</a:t>
            </a:r>
          </a:p>
          <a:p>
            <a:pPr marL="571500" indent="-571500">
              <a:buFont typeface="Arial" charset="0"/>
              <a:buChar char="•"/>
            </a:pPr>
            <a:r>
              <a:rPr lang="en-CA" sz="3600" dirty="0" smtClean="0">
                <a:latin typeface="Chalkduster" charset="0"/>
                <a:ea typeface="Chalkduster" charset="0"/>
                <a:cs typeface="Chalkduster" charset="0"/>
              </a:rPr>
              <a:t>Get into groups of 4.</a:t>
            </a:r>
          </a:p>
          <a:p>
            <a:pPr marL="571500" indent="-571500">
              <a:buFont typeface="Arial" charset="0"/>
              <a:buChar char="•"/>
            </a:pPr>
            <a:r>
              <a:rPr lang="en-CA" sz="3600" dirty="0" smtClean="0">
                <a:latin typeface="Chalkduster" charset="0"/>
                <a:ea typeface="Chalkduster" charset="0"/>
                <a:cs typeface="Chalkduster" charset="0"/>
              </a:rPr>
              <a:t>Get a set of dominos</a:t>
            </a:r>
            <a:endParaRPr lang="en-CA" sz="3600" dirty="0">
              <a:latin typeface="Chalkduster" charset="0"/>
              <a:ea typeface="Chalkduster" charset="0"/>
              <a:cs typeface="Chalkduster" charset="0"/>
            </a:endParaRPr>
          </a:p>
          <a:p>
            <a:pPr marL="571500" indent="-571500">
              <a:buFont typeface="Arial" charset="0"/>
              <a:buChar char="•"/>
            </a:pPr>
            <a:r>
              <a:rPr lang="en-CA" sz="3600" dirty="0" smtClean="0">
                <a:latin typeface="Chalkduster" charset="0"/>
                <a:ea typeface="Chalkduster" charset="0"/>
                <a:cs typeface="Chalkduster" charset="0"/>
              </a:rPr>
              <a:t>You will be given a target number by me</a:t>
            </a:r>
            <a:endParaRPr lang="en-CA" sz="3600" dirty="0">
              <a:latin typeface="Chalkduster" charset="0"/>
              <a:ea typeface="Chalkduster" charset="0"/>
              <a:cs typeface="Chalkduster" charset="0"/>
            </a:endParaRPr>
          </a:p>
          <a:p>
            <a:pPr marL="571500" indent="-571500">
              <a:buFont typeface="Arial" charset="0"/>
              <a:buChar char="•"/>
            </a:pPr>
            <a:r>
              <a:rPr lang="en-CA" sz="3600" dirty="0" smtClean="0">
                <a:latin typeface="Chalkduster" charset="0"/>
                <a:ea typeface="Chalkduster" charset="0"/>
                <a:cs typeface="Chalkduster" charset="0"/>
              </a:rPr>
              <a:t>You will then </a:t>
            </a:r>
            <a:r>
              <a:rPr lang="en-CA" sz="3600" dirty="0">
                <a:latin typeface="Chalkduster" charset="0"/>
                <a:ea typeface="Chalkduster" charset="0"/>
                <a:cs typeface="Chalkduster" charset="0"/>
              </a:rPr>
              <a:t>pick 2 dominos and use BIMDAS to get to the target number. </a:t>
            </a:r>
            <a:r>
              <a:rPr lang="en-CA" sz="3600" dirty="0" smtClean="0">
                <a:latin typeface="Chalkduster" charset="0"/>
                <a:ea typeface="Chalkduster" charset="0"/>
                <a:cs typeface="Chalkduster" charset="0"/>
              </a:rPr>
              <a:t>You </a:t>
            </a:r>
            <a:r>
              <a:rPr lang="en-CA" sz="3600" dirty="0">
                <a:latin typeface="Chalkduster" charset="0"/>
                <a:ea typeface="Chalkduster" charset="0"/>
                <a:cs typeface="Chalkduster" charset="0"/>
              </a:rPr>
              <a:t>can pick and choose </a:t>
            </a:r>
            <a:r>
              <a:rPr lang="en-CA" sz="3600" dirty="0" smtClean="0">
                <a:latin typeface="Chalkduster" charset="0"/>
                <a:ea typeface="Chalkduster" charset="0"/>
                <a:cs typeface="Chalkduster" charset="0"/>
              </a:rPr>
              <a:t>your</a:t>
            </a:r>
            <a:r>
              <a:rPr lang="en-CA" sz="3600" dirty="0">
                <a:latin typeface="Chalkduster" charset="0"/>
                <a:ea typeface="Chalkduster" charset="0"/>
                <a:cs typeface="Chalkduster" charset="0"/>
              </a:rPr>
              <a:t> dominos to get to the target number. </a:t>
            </a:r>
          </a:p>
          <a:p>
            <a:pPr marL="571500" indent="-571500">
              <a:buFont typeface="Arial" charset="0"/>
              <a:buChar char="•"/>
            </a:pPr>
            <a:r>
              <a:rPr lang="en-CA" sz="3600" dirty="0" smtClean="0">
                <a:latin typeface="Chalkduster" charset="0"/>
                <a:ea typeface="Chalkduster" charset="0"/>
                <a:cs typeface="Chalkduster" charset="0"/>
              </a:rPr>
              <a:t>You must be prepared to show how you </a:t>
            </a:r>
            <a:r>
              <a:rPr lang="en-CA" sz="3600" dirty="0">
                <a:latin typeface="Chalkduster" charset="0"/>
                <a:ea typeface="Chalkduster" charset="0"/>
                <a:cs typeface="Chalkduster" charset="0"/>
              </a:rPr>
              <a:t>got </a:t>
            </a:r>
            <a:r>
              <a:rPr lang="en-CA" sz="3600" dirty="0" smtClean="0">
                <a:latin typeface="Chalkduster" charset="0"/>
                <a:ea typeface="Chalkduster" charset="0"/>
                <a:cs typeface="Chalkduster" charset="0"/>
              </a:rPr>
              <a:t>your answer on the board for the points (3 pts per correct answer)</a:t>
            </a:r>
            <a:endParaRPr lang="en-CA" sz="3600" dirty="0">
              <a:latin typeface="Chalkduster" charset="0"/>
              <a:ea typeface="Chalkduster" charset="0"/>
              <a:cs typeface="Chalkduster" charset="0"/>
            </a:endParaRPr>
          </a:p>
          <a:p>
            <a:pPr algn="ctr"/>
            <a:endParaRPr lang="en-US" sz="3600" dirty="0">
              <a:latin typeface="Chalkduster" charset="0"/>
              <a:ea typeface="Chalkduster" charset="0"/>
              <a:cs typeface="Chalkdus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14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025236" y="1451149"/>
            <a:ext cx="14155" cy="4585855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085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Number systems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directed numbers and how do they relate to integers?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0" y="6037004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91345" y="6083399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Summary: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02727" y="1648956"/>
            <a:ext cx="10779092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A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 few lessons ago we defined </a:t>
            </a:r>
            <a:r>
              <a:rPr lang="en-AU" sz="2399" b="1" i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integers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 as positive and negative whole numbers, including 0. </a:t>
            </a:r>
          </a:p>
        </p:txBody>
      </p:sp>
      <p:sp>
        <p:nvSpPr>
          <p:cNvPr id="2" name="Rectangle 1"/>
          <p:cNvSpPr/>
          <p:nvPr/>
        </p:nvSpPr>
        <p:spPr>
          <a:xfrm>
            <a:off x="1202727" y="2626777"/>
            <a:ext cx="103658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i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Positive integers</a:t>
            </a:r>
            <a:r>
              <a:rPr lang="en-AU" sz="2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 are all the whole numbers greater than zero {1,2,3,4,5,...}</a:t>
            </a:r>
            <a:endParaRPr lang="en-AU" sz="2400" b="1" i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02727" y="3207454"/>
            <a:ext cx="111667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i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Negative </a:t>
            </a:r>
            <a:r>
              <a:rPr lang="en-AU" sz="2400" b="1" i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integers</a:t>
            </a:r>
            <a:r>
              <a:rPr lang="en-AU" sz="2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 are all the opposites of those whole numbers {-1,-2,-3,-4,-5,...}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2727" y="3803583"/>
            <a:ext cx="51438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Zero is neither positive or negative.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2727" y="4399712"/>
            <a:ext cx="112789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-5 is the opposite of 5 and -243 is the opposite of 243. If an integers is greater than zero (&gt; 0), we say it’s sign is positive (+). If it’s less than zero (&lt; 0), we say it’s sign is negative (-)</a:t>
            </a:r>
          </a:p>
        </p:txBody>
      </p:sp>
    </p:spTree>
    <p:extLst>
      <p:ext uri="{BB962C8B-B14F-4D97-AF65-F5344CB8AC3E}">
        <p14:creationId xmlns:p14="http://schemas.microsoft.com/office/powerpoint/2010/main" val="42388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011382" y="1451149"/>
            <a:ext cx="28010" cy="540685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085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Number systems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directed numbers and how do they relate to integers?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02727" y="1648956"/>
            <a:ext cx="10779092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Positive and negative integers together are called </a:t>
            </a:r>
            <a:r>
              <a:rPr lang="en-AU" sz="2399" b="1" i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directed numbers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. Directed numbers show both </a:t>
            </a:r>
            <a:r>
              <a:rPr lang="en-AU" sz="2399" b="1" u="sng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direction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 and </a:t>
            </a:r>
            <a:r>
              <a:rPr lang="en-AU" sz="2399" b="1" u="sng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magnitude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 (size).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02727" y="2623226"/>
            <a:ext cx="107790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Ex: +7 or 7 means 7 units in the positive direction, while -3 means 3 units in the negative direction.</a:t>
            </a:r>
            <a:endParaRPr lang="en-AU" sz="2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11322" y="3603679"/>
            <a:ext cx="107790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AU" sz="28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**Can you think of some everyday examples of negative integers?**</a:t>
            </a:r>
            <a:endParaRPr lang="en-AU" sz="28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17" name="Picture 4" descr="[IMAGE]">
            <a:extLst>
              <a:ext uri="{FF2B5EF4-FFF2-40B4-BE49-F238E27FC236}">
                <a16:creationId xmlns:a16="http://schemas.microsoft.com/office/drawing/2014/main" xmlns="" id="{DBEB4237-A68E-4572-B897-6AE2A30E2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322" y="4745300"/>
            <a:ext cx="10200966" cy="1216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8587FB02-F7F9-4FA9-8511-BE11E6591130}"/>
              </a:ext>
            </a:extLst>
          </p:cNvPr>
          <p:cNvGrpSpPr/>
          <p:nvPr/>
        </p:nvGrpSpPr>
        <p:grpSpPr>
          <a:xfrm>
            <a:off x="2857974" y="5887549"/>
            <a:ext cx="7467600" cy="838200"/>
            <a:chOff x="4099618" y="3804560"/>
            <a:chExt cx="7467600" cy="838200"/>
          </a:xfrm>
        </p:grpSpPr>
        <p:sp>
          <p:nvSpPr>
            <p:cNvPr id="19" name="AutoShape 5">
              <a:extLst>
                <a:ext uri="{FF2B5EF4-FFF2-40B4-BE49-F238E27FC236}">
                  <a16:creationId xmlns:a16="http://schemas.microsoft.com/office/drawing/2014/main" xmlns="" id="{5CD95F65-7948-45BE-9035-354719C80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7218" y="3804560"/>
              <a:ext cx="3810000" cy="838200"/>
            </a:xfrm>
            <a:prstGeom prst="rightArrow">
              <a:avLst>
                <a:gd name="adj1" fmla="val 50000"/>
                <a:gd name="adj2" fmla="val 113636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xmlns="" id="{CB3DCF13-F1B9-4FED-9287-9D073F52A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9219" y="4033160"/>
              <a:ext cx="9103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Positive</a:t>
              </a:r>
            </a:p>
          </p:txBody>
        </p:sp>
        <p:sp>
          <p:nvSpPr>
            <p:cNvPr id="22" name="AutoShape 7">
              <a:extLst>
                <a:ext uri="{FF2B5EF4-FFF2-40B4-BE49-F238E27FC236}">
                  <a16:creationId xmlns:a16="http://schemas.microsoft.com/office/drawing/2014/main" xmlns="" id="{FAD68E2A-B69E-4B70-B96B-D561B11C6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618" y="3804560"/>
              <a:ext cx="3657600" cy="838200"/>
            </a:xfrm>
            <a:prstGeom prst="leftArrow">
              <a:avLst>
                <a:gd name="adj1" fmla="val 50000"/>
                <a:gd name="adj2" fmla="val 109091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xmlns="" id="{C7A82BA4-EED6-4426-BA85-81C99BE7A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018" y="4033160"/>
              <a:ext cx="10095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Negative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1226150" y="4329110"/>
            <a:ext cx="107790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AU" sz="28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Integers are represented by the </a:t>
            </a:r>
            <a:r>
              <a:rPr lang="en-AU" sz="2800" b="1" i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number line</a:t>
            </a:r>
            <a:endParaRPr lang="en-AU" sz="28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962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011382" y="1451149"/>
            <a:ext cx="28010" cy="540685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085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Number systems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directed numbers and how do they relate to integers?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4" descr="[IMAGE]">
            <a:extLst>
              <a:ext uri="{FF2B5EF4-FFF2-40B4-BE49-F238E27FC236}">
                <a16:creationId xmlns:a16="http://schemas.microsoft.com/office/drawing/2014/main" xmlns="" id="{DBEB4237-A68E-4572-B897-6AE2A30E2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213" y="1670827"/>
            <a:ext cx="10200966" cy="1216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226150" y="2777800"/>
            <a:ext cx="10779092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For any two different places on the number line, the integer on the right is greater than the integer on the left.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26150" y="3859483"/>
            <a:ext cx="7045014" cy="267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Ex: 8 is greater (or more) than 3.</a:t>
            </a:r>
          </a:p>
          <a:p>
            <a:pPr defTabSz="914126"/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This can be written as 8 &gt; 1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  <a:p>
            <a:pPr defTabSz="914126"/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Think of the &gt; and the &lt; signs as the jaws of a crocodile. </a:t>
            </a:r>
          </a:p>
          <a:p>
            <a:pPr defTabSz="914126"/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They always open towards the </a:t>
            </a:r>
            <a:r>
              <a:rPr lang="en-AU" sz="2399" b="1" i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bigger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 number and point to the </a:t>
            </a:r>
            <a:r>
              <a:rPr lang="en-AU" sz="2399" b="1" i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smaller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 number (the </a:t>
            </a:r>
            <a:r>
              <a:rPr lang="en-AU" sz="2399" b="1" i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smaller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 number eats the </a:t>
            </a:r>
            <a:r>
              <a:rPr lang="en-AU" sz="2399" b="1" i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bigger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 number).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674" y="3859483"/>
            <a:ext cx="3542145" cy="263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932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28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4" y="4845580"/>
            <a:ext cx="7264400" cy="546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4" y="5588530"/>
            <a:ext cx="10058400" cy="7140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37" y="530112"/>
            <a:ext cx="10058400" cy="13500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37" y="2286836"/>
            <a:ext cx="10058400" cy="126008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4" y="4015448"/>
            <a:ext cx="70612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79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8" y="308153"/>
            <a:ext cx="9144000" cy="1092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8" y="2689361"/>
            <a:ext cx="8547100" cy="749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8" y="1660984"/>
            <a:ext cx="8750300" cy="7239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8" y="3612821"/>
            <a:ext cx="9626600" cy="21336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8" y="5951505"/>
            <a:ext cx="89154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49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5896" y="516659"/>
            <a:ext cx="100346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600" dirty="0">
              <a:latin typeface="Chalkduster" charset="0"/>
              <a:ea typeface="Chalkduster" charset="0"/>
              <a:cs typeface="Chalkduster" charset="0"/>
            </a:endParaRPr>
          </a:p>
          <a:p>
            <a:pPr algn="ctr"/>
            <a:r>
              <a:rPr lang="en-US" sz="3600" dirty="0" smtClean="0">
                <a:latin typeface="Chalkduster" charset="0"/>
                <a:ea typeface="Chalkduster" charset="0"/>
                <a:cs typeface="Chalkduster" charset="0"/>
              </a:rPr>
              <a:t>Complete </a:t>
            </a:r>
            <a:r>
              <a:rPr lang="en-CA" sz="3600" dirty="0" smtClean="0">
                <a:latin typeface="Chalkduster" charset="0"/>
                <a:ea typeface="Chalkduster" charset="0"/>
                <a:cs typeface="Chalkduster" charset="0"/>
              </a:rPr>
              <a:t>Freefall Worksheet</a:t>
            </a:r>
            <a:r>
              <a:rPr lang="en-US" sz="3600" dirty="0" smtClean="0">
                <a:latin typeface="Chalkduster" charset="0"/>
                <a:ea typeface="Chalkduster" charset="0"/>
                <a:cs typeface="Chalkduster" charset="0"/>
              </a:rPr>
              <a:t>—</a:t>
            </a:r>
            <a:endParaRPr lang="en-CA" sz="3600" dirty="0" smtClean="0">
              <a:latin typeface="Chalkduster" charset="0"/>
              <a:ea typeface="Chalkduster" charset="0"/>
              <a:cs typeface="Chalkduster" charset="0"/>
            </a:endParaRPr>
          </a:p>
          <a:p>
            <a:pPr algn="ctr"/>
            <a:r>
              <a:rPr lang="en-CA" sz="3600" dirty="0" smtClean="0">
                <a:latin typeface="Chalkduster" charset="0"/>
                <a:ea typeface="Chalkduster" charset="0"/>
                <a:cs typeface="Chalkduster" charset="0"/>
              </a:rPr>
              <a:t>Directed Numbers/Number line and Magnitude</a:t>
            </a:r>
            <a:r>
              <a:rPr lang="en-CA" sz="3600" dirty="0" smtClean="0">
                <a:latin typeface="Chalkduster" charset="0"/>
                <a:ea typeface="Chalkduster" charset="0"/>
                <a:cs typeface="Chalkduster" charset="0"/>
              </a:rPr>
              <a:t> </a:t>
            </a:r>
            <a:endParaRPr lang="en-US" sz="3600" dirty="0">
              <a:latin typeface="Chalkduster" charset="0"/>
              <a:ea typeface="Chalkduster" charset="0"/>
              <a:cs typeface="Chalkdus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689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965896" y="516659"/>
            <a:ext cx="100346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latin typeface="Chalkduster" charset="0"/>
                <a:ea typeface="Chalkduster" charset="0"/>
                <a:cs typeface="Chalkduster" charset="0"/>
              </a:rPr>
              <a:t>Homework</a:t>
            </a:r>
          </a:p>
          <a:p>
            <a:pPr algn="ctr"/>
            <a:endParaRPr lang="en-US" sz="3600" dirty="0">
              <a:latin typeface="Chalkduster" charset="0"/>
              <a:ea typeface="Chalkduster" charset="0"/>
              <a:cs typeface="Chalkduster" charset="0"/>
            </a:endParaRPr>
          </a:p>
          <a:p>
            <a:pPr algn="ctr"/>
            <a:r>
              <a:rPr lang="en-US" sz="3600" dirty="0" smtClean="0">
                <a:latin typeface="Chalkduster" charset="0"/>
                <a:ea typeface="Chalkduster" charset="0"/>
                <a:cs typeface="Chalkduster" charset="0"/>
              </a:rPr>
              <a:t>Complete </a:t>
            </a:r>
            <a:r>
              <a:rPr lang="en-CA" sz="3600" dirty="0" smtClean="0">
                <a:latin typeface="Chalkduster" charset="0"/>
                <a:ea typeface="Chalkduster" charset="0"/>
                <a:cs typeface="Chalkduster" charset="0"/>
              </a:rPr>
              <a:t>Freefall Worksheet </a:t>
            </a:r>
            <a:endParaRPr lang="en-US" sz="3600" dirty="0">
              <a:latin typeface="Chalkduster" charset="0"/>
              <a:ea typeface="Chalkduster" charset="0"/>
              <a:cs typeface="Chalkdus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21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025236" y="1451149"/>
            <a:ext cx="14155" cy="4585855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085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Number systems</a:t>
            </a:r>
            <a:endParaRPr lang="en-AU" sz="32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0" y="6037004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91345" y="6083399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Summary: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46794" y="3738953"/>
            <a:ext cx="64351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Complete your Summary!!!</a:t>
            </a:r>
            <a:endParaRPr lang="en-US" sz="4400" dirty="0"/>
          </a:p>
        </p:txBody>
      </p:sp>
      <p:sp>
        <p:nvSpPr>
          <p:cNvPr id="21" name="Down Arrow 20"/>
          <p:cNvSpPr/>
          <p:nvPr/>
        </p:nvSpPr>
        <p:spPr>
          <a:xfrm>
            <a:off x="1598625" y="4783018"/>
            <a:ext cx="1164920" cy="10215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are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directed numbers and how do they relate to integers?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46794" y="1771418"/>
            <a:ext cx="846212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Add any new terms/symbols to your</a:t>
            </a:r>
          </a:p>
          <a:p>
            <a:r>
              <a:rPr lang="en-US" sz="4400" dirty="0" smtClean="0"/>
              <a:t>Glossary!!!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7706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428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8838</TotalTime>
  <Words>544</Words>
  <Application>Microsoft Macintosh PowerPoint</Application>
  <PresentationFormat>Widescreen</PresentationFormat>
  <Paragraphs>119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Calibri Light</vt:lpstr>
      <vt:lpstr>Cambria Math</vt:lpstr>
      <vt:lpstr>Chalkduster</vt:lpstr>
      <vt:lpstr>Kiwi School Handwriting</vt:lpstr>
      <vt:lpstr>Arial</vt:lpstr>
      <vt:lpstr>Calibri</vt:lpstr>
      <vt:lpstr>Office Theme</vt:lpstr>
      <vt:lpstr>PowerPoint Presentation</vt:lpstr>
      <vt:lpstr>My Numbers and Operations Interactive Notebook </vt:lpstr>
      <vt:lpstr>Interactive Notebooks!</vt:lpstr>
      <vt:lpstr>PowerPoint Presentation</vt:lpstr>
      <vt:lpstr>PowerPoint Presentation</vt:lpstr>
      <vt:lpstr>Learning Intentions</vt:lpstr>
      <vt:lpstr>PowerPoint Presentation</vt:lpstr>
      <vt:lpstr>PowerPoint Presentation</vt:lpstr>
      <vt:lpstr>PowerPoint Presentation</vt:lpstr>
      <vt:lpstr>PowerPoint Presentation</vt:lpstr>
      <vt:lpstr>Do you understand? Fists of Five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Converting Percent, Decimals and Fractions</dc:title>
  <dc:creator>Nine Labuschagne</dc:creator>
  <cp:lastModifiedBy>SUMMERS Brad [Baldivis Secondary College]</cp:lastModifiedBy>
  <cp:revision>182</cp:revision>
  <dcterms:created xsi:type="dcterms:W3CDTF">2018-02-06T06:15:13Z</dcterms:created>
  <dcterms:modified xsi:type="dcterms:W3CDTF">2018-02-26T12:52:17Z</dcterms:modified>
</cp:coreProperties>
</file>
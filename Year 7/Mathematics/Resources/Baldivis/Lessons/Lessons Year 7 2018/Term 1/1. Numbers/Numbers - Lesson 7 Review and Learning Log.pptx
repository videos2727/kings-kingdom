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9"/>
  </p:notesMasterIdLst>
  <p:sldIdLst>
    <p:sldId id="270" r:id="rId2"/>
    <p:sldId id="271" r:id="rId3"/>
    <p:sldId id="272" r:id="rId4"/>
    <p:sldId id="273" r:id="rId5"/>
    <p:sldId id="274" r:id="rId6"/>
    <p:sldId id="275" r:id="rId7"/>
    <p:sldId id="299" r:id="rId8"/>
    <p:sldId id="301" r:id="rId9"/>
    <p:sldId id="277" r:id="rId10"/>
    <p:sldId id="302" r:id="rId11"/>
    <p:sldId id="303" r:id="rId12"/>
    <p:sldId id="304" r:id="rId13"/>
    <p:sldId id="300" r:id="rId14"/>
    <p:sldId id="307" r:id="rId15"/>
    <p:sldId id="305" r:id="rId16"/>
    <p:sldId id="309" r:id="rId17"/>
    <p:sldId id="289" r:id="rId1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8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1FEFF-F9E6-2D4A-AF0D-81B63DEC761E}" type="datetimeFigureOut">
              <a:rPr lang="en-US" smtClean="0"/>
              <a:t>3/5/18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8E885-E6A0-2748-AE96-A7F5F98C7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4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079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107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18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89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6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1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61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2639500" y="2213139"/>
            <a:ext cx="3864900" cy="128866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48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035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890300" y="228861"/>
            <a:ext cx="7363500" cy="95266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890300" y="1333500"/>
            <a:ext cx="3360600" cy="3511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55591">
              <a:spcBef>
                <a:spcPts val="6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1pPr>
            <a:lvl2pPr marL="914378" lvl="1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2pPr>
            <a:lvl3pPr marL="1371566" lvl="2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3pPr>
            <a:lvl4pPr marL="1828754" lvl="3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4pPr>
            <a:lvl5pPr marL="2285943" lvl="4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5pPr>
            <a:lvl6pPr marL="2743132" lvl="5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6pPr>
            <a:lvl7pPr marL="3200320" lvl="6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7pPr>
            <a:lvl8pPr marL="3657509" lvl="7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8pPr>
            <a:lvl9pPr marL="4114697" lvl="8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4893212" y="1333500"/>
            <a:ext cx="3360600" cy="35113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55591">
              <a:spcBef>
                <a:spcPts val="6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1pPr>
            <a:lvl2pPr marL="914378" lvl="1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2pPr>
            <a:lvl3pPr marL="1371566" lvl="2" indent="-35559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000"/>
            </a:lvl3pPr>
            <a:lvl4pPr marL="1828754" lvl="3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4pPr>
            <a:lvl5pPr marL="2285943" lvl="4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5pPr>
            <a:lvl6pPr marL="2743132" lvl="5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6pPr>
            <a:lvl7pPr marL="3200320" lvl="6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7pPr>
            <a:lvl8pPr marL="3657509" lvl="7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8pPr>
            <a:lvl9pPr marL="4114697" lvl="8" indent="-35559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0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5023611"/>
            <a:ext cx="9144000" cy="437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619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5/3/18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859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4" Type="http://schemas.openxmlformats.org/officeDocument/2006/relationships/image" Target="NULL"/><Relationship Id="rId5" Type="http://schemas.openxmlformats.org/officeDocument/2006/relationships/image" Target="NULL"/><Relationship Id="rId6" Type="http://schemas.openxmlformats.org/officeDocument/2006/relationships/image" Target="NULL"/><Relationship Id="rId7" Type="http://schemas.openxmlformats.org/officeDocument/2006/relationships/image" Target="NULL"/><Relationship Id="rId8" Type="http://schemas.openxmlformats.org/officeDocument/2006/relationships/image" Target="NULL"/><Relationship Id="rId9" Type="http://schemas.openxmlformats.org/officeDocument/2006/relationships/image" Target="NULL"/><Relationship Id="rId10" Type="http://schemas.openxmlformats.org/officeDocument/2006/relationships/image" Target="NUL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4" Type="http://schemas.openxmlformats.org/officeDocument/2006/relationships/image" Target="http://www.mathgoodies.com/lessons/vol5/images/no_line10.gif" TargetMode="External"/><Relationship Id="rId5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D866605-74C0-44BB-9088-2F682D488325}"/>
              </a:ext>
            </a:extLst>
          </p:cNvPr>
          <p:cNvSpPr txBox="1"/>
          <p:nvPr/>
        </p:nvSpPr>
        <p:spPr>
          <a:xfrm>
            <a:off x="1954306" y="63236"/>
            <a:ext cx="4495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err="1" smtClean="0">
                <a:latin typeface="Chalkduster" charset="0"/>
                <a:ea typeface="Chalkduster" charset="0"/>
                <a:cs typeface="Chalkduster" charset="0"/>
              </a:rPr>
              <a:t>Naplan</a:t>
            </a:r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 Starter Questions</a:t>
            </a:r>
            <a:endParaRPr lang="en-AU" sz="2400" dirty="0">
              <a:latin typeface="Chalkduster" charset="0"/>
              <a:ea typeface="Chalkduster" charset="0"/>
              <a:cs typeface="Chalkduster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57" y="524901"/>
            <a:ext cx="6605524" cy="514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0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9623" y="1160393"/>
            <a:ext cx="7084754" cy="2163707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My </a:t>
            </a:r>
            <a:r>
              <a:rPr lang="en-AU" dirty="0" smtClean="0">
                <a:latin typeface="Chalkduster" charset="0"/>
                <a:ea typeface="Chalkduster" charset="0"/>
                <a:cs typeface="Chalkduster" charset="0"/>
              </a:rPr>
              <a:t>Numbers and Operations </a:t>
            </a:r>
            <a:r>
              <a:rPr lang="en-AU" dirty="0">
                <a:latin typeface="Chalkduster" charset="0"/>
                <a:ea typeface="Chalkduster" charset="0"/>
                <a:cs typeface="Chalkduster" charset="0"/>
              </a:rPr>
              <a:t>Interactive Notebook</a:t>
            </a:r>
            <a:r>
              <a:rPr lang="en-AU" dirty="0"/>
              <a:t/>
            </a:r>
            <a:br>
              <a:rPr lang="en-AU" dirty="0"/>
            </a:br>
            <a:endParaRPr lang="en-AU" b="1" dirty="0">
              <a:latin typeface="Kiwi School Handwriting" panose="00000500000000000000" pitchFamily="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01670" y="535243"/>
            <a:ext cx="5829300" cy="1102519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b" anchorCtr="0">
            <a:normAutofit fontScale="97500"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 kern="1200">
                <a:solidFill>
                  <a:srgbClr val="7C7F9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 lang="en-AU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03263" y="2622188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6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684" y="3115250"/>
                <a:ext cx="1368152" cy="14465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43314" y="2820770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66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1085" y="3380027"/>
                <a:ext cx="1368152" cy="14465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058942" y="4187918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600" i="1">
                          <a:solidFill>
                            <a:srgbClr val="FF0000"/>
                          </a:solidFill>
                          <a:latin typeface="Cambria Math" charset="0"/>
                        </a:rPr>
                        <m:t>0</m:t>
                      </m:r>
                    </m:oMath>
                  </m:oMathPara>
                </a14:m>
                <a:endParaRPr lang="en-AU" sz="6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923" y="5202890"/>
                <a:ext cx="1368152" cy="144655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0" y="1537275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6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68700"/>
                <a:ext cx="1368152" cy="144655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173367" y="118895"/>
                <a:ext cx="102611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600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6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823" y="-222473"/>
                <a:ext cx="1368152" cy="144655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810921" y="1294445"/>
            <a:ext cx="1026114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950" dirty="0">
                <a:solidFill>
                  <a:srgbClr val="FFFF00"/>
                </a:solidFill>
              </a:rPr>
              <a:t>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87629" y="744953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950" i="1">
                          <a:solidFill>
                            <a:srgbClr val="C00000"/>
                          </a:solidFill>
                          <a:latin typeface="Cambria Math" charset="0"/>
                        </a:rPr>
                        <m:t>23</m:t>
                      </m:r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38" y="612270"/>
                <a:ext cx="1368152" cy="110799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651231" y="3218113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950" i="1">
                              <a:solidFill>
                                <a:srgbClr val="00206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sz="495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495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308" y="3909817"/>
                <a:ext cx="1368152" cy="11079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660310" y="4314875"/>
                <a:ext cx="1026114" cy="854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950" i="1">
                          <a:latin typeface="Cambria Math" charset="0"/>
                        </a:rPr>
                        <m:t>−10</m:t>
                      </m:r>
                    </m:oMath>
                  </m:oMathPara>
                </a14:m>
                <a:endParaRPr lang="en-AU" sz="495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747" y="5372167"/>
                <a:ext cx="1368152" cy="1107996"/>
              </a:xfrm>
              <a:prstGeom prst="rect">
                <a:avLst/>
              </a:prstGeom>
              <a:blipFill rotWithShape="0">
                <a:blip r:embed="rId10"/>
                <a:stretch>
                  <a:fillRect r="-16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ubtitle 2"/>
          <p:cNvSpPr txBox="1">
            <a:spLocks/>
          </p:cNvSpPr>
          <p:nvPr/>
        </p:nvSpPr>
        <p:spPr>
          <a:xfrm>
            <a:off x="316432" y="3218113"/>
            <a:ext cx="3161627" cy="1949257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Name: 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Class: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Teacher: 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Semester 1</a:t>
            </a:r>
          </a:p>
          <a:p>
            <a:pPr marL="0" indent="0">
              <a:buNone/>
            </a:pPr>
            <a:r>
              <a:rPr lang="en-AU" sz="3825" dirty="0">
                <a:latin typeface="Chalkduster" charset="0"/>
                <a:ea typeface="Chalkduster" charset="0"/>
                <a:cs typeface="Chalkduster" charset="0"/>
              </a:rPr>
              <a:t>Term 1</a:t>
            </a:r>
          </a:p>
          <a:p>
            <a:endParaRPr lang="en-AU" sz="2100" dirty="0"/>
          </a:p>
        </p:txBody>
      </p:sp>
    </p:spTree>
    <p:extLst>
      <p:ext uri="{BB962C8B-B14F-4D97-AF65-F5344CB8AC3E}">
        <p14:creationId xmlns:p14="http://schemas.microsoft.com/office/powerpoint/2010/main" val="72773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4488" y="1378975"/>
            <a:ext cx="5915025" cy="388300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14" y="1285306"/>
            <a:ext cx="2542479" cy="320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324434" y="3557802"/>
            <a:ext cx="3562819" cy="131574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US" sz="40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208345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079" y="914400"/>
            <a:ext cx="5215128" cy="371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6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285751"/>
            <a:ext cx="34370" cy="5132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4811" y="5058651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dirty="0"/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1046767"/>
            <a:ext cx="4518062" cy="332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168237" y="663111"/>
            <a:ext cx="51497" cy="47661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60348" y="276682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119" y="663111"/>
            <a:ext cx="631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2335221" y="681877"/>
            <a:ext cx="2734" cy="47368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43205" y="658832"/>
            <a:ext cx="62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074" y="641573"/>
            <a:ext cx="1478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0102" y="335628"/>
            <a:ext cx="26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Glossary or Formula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2184" y="5141750"/>
            <a:ext cx="2728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/>
              <a:t>3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42989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=""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439" y="346635"/>
            <a:ext cx="6457950" cy="969771"/>
          </a:xfrm>
        </p:spPr>
        <p:txBody>
          <a:bodyPr>
            <a:normAutofit/>
          </a:bodyPr>
          <a:lstStyle/>
          <a:p>
            <a:pPr algn="r"/>
            <a:r>
              <a:rPr lang="en-US" sz="405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=""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087" y="3596497"/>
            <a:ext cx="1075302" cy="107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7851358" y="4776639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WICOR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632" y="1479575"/>
            <a:ext cx="83534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charset="0"/>
              <a:buChar char="•"/>
            </a:pPr>
            <a:r>
              <a:rPr lang="en-US" sz="2400" dirty="0"/>
              <a:t>To learn a bit about the history of number systems✓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further expand and solidify our mathematical vocabulary✓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further learn the value of the place </a:t>
            </a:r>
            <a:r>
              <a:rPr lang="en-US" sz="2400" dirty="0" smtClean="0"/>
              <a:t>system</a:t>
            </a:r>
            <a:r>
              <a:rPr lang="en-US" sz="2400" dirty="0"/>
              <a:t> 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  <a:p>
            <a:pPr marL="214313" indent="-214313">
              <a:buFont typeface="Arial" charset="0"/>
              <a:buChar char="•"/>
            </a:pPr>
            <a:r>
              <a:rPr lang="en-US" sz="2400" dirty="0"/>
              <a:t>To compare, order, add and subtract </a:t>
            </a:r>
            <a:r>
              <a:rPr lang="en-US" sz="2400" dirty="0"/>
              <a:t>integers✓</a:t>
            </a:r>
          </a:p>
          <a:p>
            <a:pPr marL="214313" indent="-214313">
              <a:buFont typeface="Arial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14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40080" y="1103122"/>
            <a:ext cx="18289" cy="4081526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Unit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have we learned over the past two weeks?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91" y="5216850"/>
            <a:ext cx="116924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Summary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5184648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252" y="1149098"/>
            <a:ext cx="1624332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Integers are: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33620" y="1149098"/>
            <a:ext cx="6121512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Positive and negative whole numbers, including zero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5" name="Picture 4" descr="[IMAGE]">
            <a:extLst>
              <a:ext uri="{FF2B5EF4-FFF2-40B4-BE49-F238E27FC236}">
                <a16:creationId xmlns=""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41" y="2012219"/>
            <a:ext cx="7147149" cy="85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62252" y="1557646"/>
            <a:ext cx="480644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We use a number line to visually </a:t>
            </a:r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order integers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4670" y="2866775"/>
            <a:ext cx="8329330" cy="738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For any two different places on the number line, the integer on the right is greater than the integer on the left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.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747" y="3556234"/>
            <a:ext cx="2057638" cy="153045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4670" y="3783553"/>
            <a:ext cx="5915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Mathematically, we show </a:t>
            </a:r>
            <a:r>
              <a:rPr lang="en-AU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greater than</a:t>
            </a:r>
            <a:r>
              <a:rPr lang="en-AU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and </a:t>
            </a:r>
            <a:r>
              <a:rPr lang="en-AU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less than</a:t>
            </a:r>
            <a:r>
              <a:rPr lang="en-AU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</a:t>
            </a:r>
            <a:r>
              <a:rPr lang="en-AU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using</a:t>
            </a:r>
          </a:p>
          <a:p>
            <a:pPr defTabSz="914126"/>
            <a:r>
              <a:rPr lang="en-AU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the &gt; and &lt; symbols. The smaller number always eats</a:t>
            </a:r>
          </a:p>
          <a:p>
            <a:pPr defTabSz="914126"/>
            <a:r>
              <a:rPr lang="en-AU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the bigger number. Ex: 8 &gt; 3</a:t>
            </a:r>
          </a:p>
        </p:txBody>
      </p:sp>
    </p:spTree>
    <p:extLst>
      <p:ext uri="{BB962C8B-B14F-4D97-AF65-F5344CB8AC3E}">
        <p14:creationId xmlns:p14="http://schemas.microsoft.com/office/powerpoint/2010/main" val="165969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8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74" y="3493532"/>
            <a:ext cx="6867538" cy="7660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74" y="2371798"/>
            <a:ext cx="7999326" cy="7566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5740" y="131182"/>
            <a:ext cx="3262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36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Quick Revision</a:t>
            </a:r>
            <a:endParaRPr lang="en-AU" sz="36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33556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1.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0" y="350723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r>
              <a:rPr lang="en-US" smtClean="0"/>
              <a:t>.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237179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74" y="1366200"/>
            <a:ext cx="7342632" cy="67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7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21792" y="1103122"/>
            <a:ext cx="36578" cy="461187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Unit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have we learned over the past two weeks?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2252" y="1251457"/>
            <a:ext cx="752896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The following mental strategies help us </a:t>
            </a:r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solve calculations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in </a:t>
            </a:r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our heads: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7262" y="1882464"/>
            <a:ext cx="8084319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Strategy 1 </a:t>
            </a:r>
            <a:r>
              <a:rPr lang="mr-IN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–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Make easy numbers.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Use the </a:t>
            </a:r>
            <a:r>
              <a:rPr lang="en-AU" sz="17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commutative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and </a:t>
            </a:r>
            <a:r>
              <a:rPr lang="en-AU" sz="17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associative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laws to shuffle numbers in ADDITION AND MULTIPLICATION problems to make easy numbers</a:t>
            </a:r>
            <a:endParaRPr lang="en-AU" sz="1799" b="1" dirty="0" smtClean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7262" y="3270025"/>
            <a:ext cx="8406738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Strategy 2 </a:t>
            </a:r>
            <a:r>
              <a:rPr lang="mr-IN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–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Use the </a:t>
            </a:r>
            <a:r>
              <a:rPr lang="en-AU" sz="1799" b="1" i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distributive law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. This law allows us to multiply a large number by splitting it into 10s and 1s (or 100s, 10s, 1s)</a:t>
            </a:r>
            <a:endParaRPr lang="en-AU" sz="1799" b="1" i="1" dirty="0" smtClean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2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5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21792" y="1103122"/>
            <a:ext cx="36578" cy="461187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Unit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have we learned over the past two weeks?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0207" y="1177227"/>
            <a:ext cx="80843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Strategy 1 </a:t>
            </a:r>
            <a:r>
              <a:rPr lang="mr-IN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–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Ex:</a:t>
            </a:r>
            <a:endParaRPr lang="en-AU" sz="1799" b="1" dirty="0" smtClean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90" y="1552781"/>
            <a:ext cx="5198698" cy="5991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90" y="2332939"/>
            <a:ext cx="3462893" cy="15936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963" y="2334735"/>
            <a:ext cx="1935050" cy="1526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90" y="4038474"/>
            <a:ext cx="2994994" cy="13117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103" y="3926559"/>
            <a:ext cx="2482887" cy="167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6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21792" y="1103122"/>
            <a:ext cx="36578" cy="461187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Unit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have we learned over the past two weeks?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0207" y="1177227"/>
            <a:ext cx="806204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Strategy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2 </a:t>
            </a:r>
            <a:r>
              <a:rPr lang="mr-IN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–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Ex:</a:t>
            </a:r>
            <a:endParaRPr lang="en-AU" sz="1799" b="1" dirty="0" smtClean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936" y="2137896"/>
            <a:ext cx="2324759" cy="18478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07" y="4007714"/>
            <a:ext cx="2731053" cy="15067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190" y="3987022"/>
            <a:ext cx="1974831" cy="172797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07" y="1556718"/>
            <a:ext cx="4733625" cy="5871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07" y="2163771"/>
            <a:ext cx="2928584" cy="182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7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5468" y="387214"/>
            <a:ext cx="3262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36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Quick Revision</a:t>
            </a:r>
            <a:endParaRPr lang="en-AU" sz="36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1" y="1691641"/>
            <a:ext cx="847331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73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21792" y="1103122"/>
            <a:ext cx="36578" cy="461187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Unit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have we learned over the past two weeks?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253" y="1251457"/>
            <a:ext cx="3206244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Order of Operations/BIMDAS 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26" y="1762364"/>
            <a:ext cx="7603660" cy="176631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80" y="3814670"/>
            <a:ext cx="3643884" cy="17631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5145" y="4234590"/>
            <a:ext cx="2536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smtClean="0">
                <a:latin typeface="Chalkboard"/>
                <a:cs typeface="Chalkboard"/>
              </a:rPr>
              <a:t>aka BIMDAS</a:t>
            </a:r>
            <a:endParaRPr lang="en-AU" sz="2400" b="1" dirty="0">
              <a:latin typeface="Chalkboard"/>
              <a:cs typeface="Chalkboard"/>
            </a:endParaRPr>
          </a:p>
        </p:txBody>
      </p:sp>
    </p:spTree>
    <p:extLst>
      <p:ext uri="{BB962C8B-B14F-4D97-AF65-F5344CB8AC3E}">
        <p14:creationId xmlns:p14="http://schemas.microsoft.com/office/powerpoint/2010/main" val="178586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1186" y="460366"/>
            <a:ext cx="3262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36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Quick Revision</a:t>
            </a:r>
            <a:endParaRPr lang="en-AU" sz="36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71" y="1804902"/>
            <a:ext cx="7854881" cy="10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6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621792" y="1103122"/>
            <a:ext cx="36578" cy="461187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2381" y="694572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48241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27" y="143461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Unit Review</a:t>
            </a:r>
            <a:endParaRPr lang="en-AU" sz="2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91221" y="161692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8" y="733918"/>
            <a:ext cx="8842856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What have we learned over the past two weeks?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2381" y="1109753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252" y="1251457"/>
            <a:ext cx="5318507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Adding </a:t>
            </a:r>
            <a:r>
              <a:rPr lang="en-AU" sz="1799" b="1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and Subtracting Integers</a:t>
            </a:r>
            <a:endParaRPr lang="en-AU" sz="17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90" y="1794697"/>
            <a:ext cx="7265599" cy="220115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90" y="4200584"/>
            <a:ext cx="7519525" cy="13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4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5740" y="131183"/>
            <a:ext cx="3435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3600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Quick Revision</a:t>
            </a:r>
            <a:endParaRPr lang="en-AU" sz="36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" y="845404"/>
            <a:ext cx="7196328" cy="9664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" y="1990264"/>
            <a:ext cx="3034229" cy="9778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00" y="2284103"/>
            <a:ext cx="3154172" cy="6491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7" y="4730159"/>
            <a:ext cx="5392420" cy="9186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16" y="3098511"/>
            <a:ext cx="6227826" cy="6838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7" y="3947676"/>
            <a:ext cx="6069076" cy="61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D866605-74C0-44BB-9088-2F682D488325}"/>
              </a:ext>
            </a:extLst>
          </p:cNvPr>
          <p:cNvSpPr txBox="1"/>
          <p:nvPr/>
        </p:nvSpPr>
        <p:spPr>
          <a:xfrm>
            <a:off x="1081837" y="543420"/>
            <a:ext cx="689173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Homework</a:t>
            </a:r>
          </a:p>
          <a:p>
            <a:pPr algn="ctr"/>
            <a:endParaRPr lang="en-AU" sz="24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marL="457200" indent="-457200" algn="ctr">
              <a:buFont typeface="+mj-lt"/>
              <a:buAutoNum type="arabicPeriod"/>
            </a:pPr>
            <a:r>
              <a:rPr lang="en-AU" sz="2400" dirty="0" err="1" smtClean="0">
                <a:latin typeface="Chalkduster" charset="0"/>
                <a:ea typeface="Chalkduster" charset="0"/>
                <a:cs typeface="Chalkduster" charset="0"/>
              </a:rPr>
              <a:t>Mathspace</a:t>
            </a:r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 Mini-Test Review task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AU" sz="2400" dirty="0" smtClean="0">
                <a:latin typeface="Chalkduster" charset="0"/>
                <a:ea typeface="Chalkduster" charset="0"/>
                <a:cs typeface="Chalkduster" charset="0"/>
              </a:rPr>
              <a:t>The first page of your Learning Log (you will submit your writing task after your mini-test</a:t>
            </a:r>
            <a:endParaRPr lang="en-AU" sz="2400" dirty="0" smtClean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endParaRPr lang="en-AU" sz="2400" dirty="0">
              <a:latin typeface="Chalkduster" charset="0"/>
              <a:ea typeface="Chalkduster" charset="0"/>
              <a:cs typeface="Chalkduster" charset="0"/>
            </a:endParaRPr>
          </a:p>
          <a:p>
            <a:pPr algn="ctr"/>
            <a:endParaRPr lang="en-AU" sz="24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64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1502</TotalTime>
  <Words>423</Words>
  <Application>Microsoft Macintosh PowerPoint</Application>
  <PresentationFormat>On-screen Show (16:10)</PresentationFormat>
  <Paragraphs>113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Calibri</vt:lpstr>
      <vt:lpstr>Calibri Light</vt:lpstr>
      <vt:lpstr>Cambria Math</vt:lpstr>
      <vt:lpstr>Chalkboard</vt:lpstr>
      <vt:lpstr>Chalkduster</vt:lpstr>
      <vt:lpstr>Kiwi School Handwriting</vt:lpstr>
      <vt:lpstr>Mangal</vt:lpstr>
      <vt:lpstr>Arial</vt:lpstr>
      <vt:lpstr>Office Theme</vt:lpstr>
      <vt:lpstr>PowerPoint Presentation</vt:lpstr>
      <vt:lpstr>My Numbers and Operations Interactive Notebook </vt:lpstr>
      <vt:lpstr>Interactive Notebooks!</vt:lpstr>
      <vt:lpstr>PowerPoint Presentation</vt:lpstr>
      <vt:lpstr>PowerPoint Presentation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SUMMERS Brad [Baldivis Secondary College]</cp:lastModifiedBy>
  <cp:revision>76</cp:revision>
  <dcterms:created xsi:type="dcterms:W3CDTF">2017-06-08T21:35:48Z</dcterms:created>
  <dcterms:modified xsi:type="dcterms:W3CDTF">2018-03-05T12:02:15Z</dcterms:modified>
</cp:coreProperties>
</file>
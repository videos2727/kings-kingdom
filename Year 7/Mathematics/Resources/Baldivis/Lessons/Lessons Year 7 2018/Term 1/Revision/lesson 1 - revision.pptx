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5CE68-A6F2-4B8E-A36B-14AFBED507CF}" type="datetimeFigureOut">
              <a:rPr lang="en-AU" smtClean="0"/>
              <a:t>3/04/2018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479FD-BDC1-403A-9BB5-D607BE0C9C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50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0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40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3D6B-CF28-43CA-A9D8-E080FC84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7767F-8ACC-410C-B07D-9C8ACBF12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3760C-1DDD-4014-8CBA-8BE91102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8A8E7-D300-435A-B2A9-5BECAF0D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A14EF-436A-4E3E-8668-D7BE79E2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15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029F-AE2D-43E8-86D0-0DDC1A1C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51A2-5447-4B45-BF80-1A150C98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E495E-1F89-44E0-874F-0E794EB2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5EF0-FB5B-4561-884D-73A38F6E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B34C1-7969-4CAC-A2F6-976047BB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231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1F63-4BC3-4CBB-80AA-AF7B6D8D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C1B4E-3945-4A9E-A89C-4A6EA0FEF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C906-4954-44E8-AF18-4A0100E0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0BE28-1FD0-4F30-AC98-04E56ACF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4B50-7C34-419A-A5E3-84775E505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62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8912-EBE3-4545-B341-5D05D98D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A126-21B5-4060-B21E-C594A254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2F63C-44A9-4584-A358-D383CE793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13EFA-8C59-4A51-B88A-B071575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4/3/2018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F8B5-2B1A-4315-8600-E80DA91C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317CB-4479-4E3E-96FF-3B600C4F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037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4FA3-5B5B-4813-97A4-EC9F832D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A952-25CB-4C04-9731-A57380341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266F9-C505-44BC-986F-AA9E74724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F6CBF-2DF8-4FA8-AA2F-F7CB23F7C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4BB60-EE4E-43D9-B42C-114D3DD09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2B242-BCB3-4DE3-8D9E-18947AA9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26492-3E8D-45F5-93C2-0CDCEE16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C4AC5-480D-4BBD-8900-ADCD90B4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035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C0E0-1634-4B30-AA14-B6097A74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18C3E-C332-4999-A0B3-44E99AED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041EF-7DD2-4A86-B18C-287E6E7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41DA-84BB-4028-B347-BB4D39AC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725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C8AE7-93D6-4ED3-969D-DB06FA8C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80AA5-F450-4F34-BC3B-84851BDF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30140-EFBB-4A12-9C5D-D3723F7A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643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E88A-5310-42A9-A820-BBFB0688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A60A7-B7D9-4ECF-B001-B237A5B32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CB9DB-51AB-42AE-9F09-9D7515023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2849D-941A-4B1B-B862-3332D6D4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444D9-C0F1-44F3-BEF0-AFB50AE8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70EAA-44BF-4952-BFBA-BECBEEF6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8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1073-3244-4BF1-8916-964E395E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675D6-E92A-4BA7-BB9D-AD62CF93D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BBEC2-5AE3-4E26-82AD-2263E78D0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BCDF5-190E-40B9-95DB-ED2B63CA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579B-E43C-4C02-BC1B-AEF9A381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BC39A-FF12-49EF-86AF-CA84E7AD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935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25AD-B64A-4747-A871-5B114B40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3E865-85BD-4E9F-8D78-3FD3246C3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03070-A166-494C-A182-CB24EDDA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F01E7-F124-4397-8CE8-9984AEAE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3FF6-673C-44FC-B198-239740CF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23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DB7E5-F568-40E4-8358-31333E3B8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C7181-E294-4938-A60B-21124845F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68194-B474-4746-9590-3AC9F5A5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57D4-ECB1-450B-92F8-33A3D497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2ACF-9E8E-4197-8CB1-BD2573A1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45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7286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F974E-538A-4590-BDF9-260D40C8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DC24F-46A8-4754-8D87-DA2A5636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4780E-B550-47B4-924D-70AE106EB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32466-47C1-4C4F-B1FD-5FEAFB00B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D512B-1CCC-4CB1-A07C-BE99AC640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97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://www.mathgoodies.com/lessons/vol5/images/no_line10.gif" TargetMode="Externa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B084-F9F4-4E4A-B29F-7A59FC37E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Revision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B3FE-6F26-4B9E-BEEF-35C4E1E144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Term 1</a:t>
            </a:r>
          </a:p>
        </p:txBody>
      </p:sp>
    </p:spTree>
    <p:extLst>
      <p:ext uri="{BB962C8B-B14F-4D97-AF65-F5344CB8AC3E}">
        <p14:creationId xmlns:p14="http://schemas.microsoft.com/office/powerpoint/2010/main" val="40947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E12F37-57D9-42A8-9D32-B13E79C482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2"/>
          <a:stretch/>
        </p:blipFill>
        <p:spPr>
          <a:xfrm>
            <a:off x="4524866" y="610829"/>
            <a:ext cx="6796726" cy="2654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13C4A2-B2D9-4333-BF42-206D685B5F6B}"/>
              </a:ext>
            </a:extLst>
          </p:cNvPr>
          <p:cNvSpPr txBox="1"/>
          <p:nvPr/>
        </p:nvSpPr>
        <p:spPr>
          <a:xfrm>
            <a:off x="4694548" y="1131216"/>
            <a:ext cx="599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            5        3       2     0        9       4     1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40E2F-6A61-4ADB-952D-B17637AD407D}"/>
              </a:ext>
            </a:extLst>
          </p:cNvPr>
          <p:cNvSpPr txBox="1"/>
          <p:nvPr/>
        </p:nvSpPr>
        <p:spPr>
          <a:xfrm>
            <a:off x="527900" y="610829"/>
            <a:ext cx="3535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Value = how much it is worth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Place value = its place the house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E95B50-0774-4DD2-9FDE-56ED404559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51234" y="3623120"/>
          <a:ext cx="7602195" cy="2334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065">
                  <a:extLst>
                    <a:ext uri="{9D8B030D-6E8A-4147-A177-3AD203B41FA5}">
                      <a16:colId xmlns:a16="http://schemas.microsoft.com/office/drawing/2014/main" val="1559900484"/>
                    </a:ext>
                  </a:extLst>
                </a:gridCol>
                <a:gridCol w="2534065">
                  <a:extLst>
                    <a:ext uri="{9D8B030D-6E8A-4147-A177-3AD203B41FA5}">
                      <a16:colId xmlns:a16="http://schemas.microsoft.com/office/drawing/2014/main" val="1883646965"/>
                    </a:ext>
                  </a:extLst>
                </a:gridCol>
                <a:gridCol w="2534065">
                  <a:extLst>
                    <a:ext uri="{9D8B030D-6E8A-4147-A177-3AD203B41FA5}">
                      <a16:colId xmlns:a16="http://schemas.microsoft.com/office/drawing/2014/main" val="2654527639"/>
                    </a:ext>
                  </a:extLst>
                </a:gridCol>
              </a:tblGrid>
              <a:tr h="778206">
                <a:tc>
                  <a:txBody>
                    <a:bodyPr/>
                    <a:lstStyle/>
                    <a:p>
                      <a:r>
                        <a:rPr lang="en-AU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Place 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831593"/>
                  </a:ext>
                </a:extLst>
              </a:tr>
              <a:tr h="778206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1819"/>
                  </a:ext>
                </a:extLst>
              </a:tr>
              <a:tr h="778206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665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47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575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207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The laws of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commutative law and associative law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3898" y="2083776"/>
            <a:ext cx="195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commutative law?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135560" y="2730107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×7=</m:t>
                      </m:r>
                      <m:r>
                        <a:rPr lang="en-AU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730107"/>
                <a:ext cx="4572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391175" y="2729007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 panose="02040503050406030204" pitchFamily="18" charset="0"/>
                        </a:rPr>
                        <m:t>6+9=15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 panose="02040503050406030204" pitchFamily="18" charset="0"/>
                        </a:rPr>
                        <m:t>9+6=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175" y="2729007"/>
                <a:ext cx="4572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585492" y="1921326"/>
            <a:ext cx="683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order in which you multiply or add any two numbers does not change the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1589" y="3860953"/>
            <a:ext cx="195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associative law?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183" y="3698503"/>
            <a:ext cx="683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order in which three or more numbers are added or the order in which three or more numbers are multiplied is not important.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683183" y="4473117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×3)×2=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×(3×2)=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183" y="4473117"/>
                <a:ext cx="4572000" cy="646331"/>
              </a:xfrm>
              <a:prstGeom prst="rect">
                <a:avLst/>
              </a:prstGeom>
              <a:blipFill>
                <a:blip r:embed="rId5"/>
                <a:stretch>
                  <a:fillRect l="-400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5303912" y="4447255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6+5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 panose="02040503050406030204" pitchFamily="18" charset="0"/>
                        </a:rPr>
                        <m:t>6+(5+2)=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4447255"/>
                <a:ext cx="4572000" cy="646331"/>
              </a:xfrm>
              <a:prstGeom prst="rect">
                <a:avLst/>
              </a:prstGeom>
              <a:blipFill>
                <a:blip r:embed="rId6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616280" y="4470591"/>
            <a:ext cx="1800201" cy="120032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These laws do not apply to subtraction and division</a:t>
            </a:r>
          </a:p>
        </p:txBody>
      </p:sp>
    </p:spTree>
    <p:extLst>
      <p:ext uri="{BB962C8B-B14F-4D97-AF65-F5344CB8AC3E}">
        <p14:creationId xmlns:p14="http://schemas.microsoft.com/office/powerpoint/2010/main" val="210916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Calculate the following without a calculator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7+32+13</m:t>
                    </m:r>
                  </m:oMath>
                </a14:m>
                <a:endParaRPr lang="en-AU" b="0" dirty="0"/>
              </a:p>
              <a:p>
                <a:pPr marL="0" indent="0">
                  <a:buNone/>
                </a:pPr>
                <a:endParaRPr lang="en-AU" b="0" dirty="0"/>
              </a:p>
              <a:p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17×5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293+568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66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575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distributive law.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3898" y="2083776"/>
            <a:ext cx="195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distributive law?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7729" y="2123899"/>
            <a:ext cx="676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distributive law allows us to multiply large numbers by splitting it up into tens and ones, then multiplying each part separately.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31423" y="2996264"/>
                <a:ext cx="1927131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     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×16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10+6</m:t>
                          </m:r>
                        </m:e>
                      </m:d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×10+7×6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=70+42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=112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423" y="2996264"/>
                <a:ext cx="1927131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660056" y="3029135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31423" y="4650090"/>
                <a:ext cx="1927131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     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30−2</m:t>
                          </m:r>
                        </m:e>
                      </m:d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×30−7×2</m:t>
                      </m:r>
                    </m:oMath>
                  </m:oMathPara>
                </a14:m>
                <a:endParaRPr lang="en-AU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=210</m:t>
                      </m:r>
                      <m:r>
                        <a:rPr lang="en-AU">
                          <a:latin typeface="Cambria Math" panose="02040503050406030204" pitchFamily="18" charset="0"/>
                        </a:rPr>
                        <m:t>−14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=196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423" y="4650090"/>
                <a:ext cx="1927131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67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81200" y="1196753"/>
                <a:ext cx="1506374" cy="2932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</m:oMath>
                </a14:m>
                <a:endParaRPr lang="en-AU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96753"/>
                <a:ext cx="1506374" cy="29320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031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4B3BF-68BC-480A-A382-8DBE2C57E1A7}"/>
              </a:ext>
            </a:extLst>
          </p:cNvPr>
          <p:cNvCxnSpPr>
            <a:cxnSpLocks/>
          </p:cNvCxnSpPr>
          <p:nvPr/>
        </p:nvCxnSpPr>
        <p:spPr>
          <a:xfrm flipV="1">
            <a:off x="0" y="965591"/>
            <a:ext cx="12292553" cy="528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B60F74-49E9-4463-890D-F751C5B0EB1C}"/>
              </a:ext>
            </a:extLst>
          </p:cNvPr>
          <p:cNvCxnSpPr>
            <a:cxnSpLocks/>
          </p:cNvCxnSpPr>
          <p:nvPr/>
        </p:nvCxnSpPr>
        <p:spPr>
          <a:xfrm>
            <a:off x="0" y="1954539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4490B7-B502-4C7F-8919-8C30A1AE3920}"/>
              </a:ext>
            </a:extLst>
          </p:cNvPr>
          <p:cNvSpPr txBox="1"/>
          <p:nvPr/>
        </p:nvSpPr>
        <p:spPr>
          <a:xfrm>
            <a:off x="93471" y="18743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AEDE1E-E11E-4403-AFB2-B471DA71F007}"/>
              </a:ext>
            </a:extLst>
          </p:cNvPr>
          <p:cNvCxnSpPr/>
          <p:nvPr/>
        </p:nvCxnSpPr>
        <p:spPr>
          <a:xfrm>
            <a:off x="2915816" y="195453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7F7AE-A6D7-47F0-AF14-6739D8BC176C}"/>
              </a:ext>
            </a:extLst>
          </p:cNvPr>
          <p:cNvSpPr txBox="1"/>
          <p:nvPr/>
        </p:nvSpPr>
        <p:spPr>
          <a:xfrm>
            <a:off x="1115616" y="442371"/>
            <a:ext cx="3225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Directed Numbers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75DFD1-AA06-44F7-AEF9-29BF40146B34}"/>
              </a:ext>
            </a:extLst>
          </p:cNvPr>
          <p:cNvSpPr txBox="1"/>
          <p:nvPr/>
        </p:nvSpPr>
        <p:spPr>
          <a:xfrm>
            <a:off x="9990153" y="14127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2FFE-7F77-4A7F-9D2B-D26BEC45715D}"/>
              </a:ext>
            </a:extLst>
          </p:cNvPr>
          <p:cNvSpPr txBox="1"/>
          <p:nvPr/>
        </p:nvSpPr>
        <p:spPr>
          <a:xfrm>
            <a:off x="93470" y="1079074"/>
            <a:ext cx="1092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directed numbers and how do they relate to integers?</a:t>
            </a:r>
            <a:endParaRPr lang="en-AU" sz="2400" dirty="0"/>
          </a:p>
        </p:txBody>
      </p:sp>
      <p:pic>
        <p:nvPicPr>
          <p:cNvPr id="11" name="Picture 4" descr="[IMAGE]">
            <a:extLst>
              <a:ext uri="{FF2B5EF4-FFF2-40B4-BE49-F238E27FC236}">
                <a16:creationId xmlns:a16="http://schemas.microsoft.com/office/drawing/2014/main" id="{308FCEDE-F549-472D-8A8B-AF38CA5E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43" y="2584465"/>
            <a:ext cx="8694212" cy="1036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A44E1ED-2CFC-4937-A325-EBFA792E675E}"/>
              </a:ext>
            </a:extLst>
          </p:cNvPr>
          <p:cNvGrpSpPr/>
          <p:nvPr/>
        </p:nvGrpSpPr>
        <p:grpSpPr>
          <a:xfrm>
            <a:off x="3951483" y="3346891"/>
            <a:ext cx="7467600" cy="838200"/>
            <a:chOff x="4099618" y="3804560"/>
            <a:chExt cx="7467600" cy="838200"/>
          </a:xfrm>
        </p:grpSpPr>
        <p:sp>
          <p:nvSpPr>
            <p:cNvPr id="13" name="AutoShape 5">
              <a:extLst>
                <a:ext uri="{FF2B5EF4-FFF2-40B4-BE49-F238E27FC236}">
                  <a16:creationId xmlns:a16="http://schemas.microsoft.com/office/drawing/2014/main" id="{B4F45F09-B178-4EFB-9C74-057FBA01C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6BB41E-C0ED-4B6C-AD79-06C54FCF1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46C77A6C-AFC7-4B50-BF6E-531E42F97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30E31C-F49A-40F0-BFD1-21C062E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F373652-33C7-4112-8640-87A55C195671}"/>
              </a:ext>
            </a:extLst>
          </p:cNvPr>
          <p:cNvSpPr/>
          <p:nvPr/>
        </p:nvSpPr>
        <p:spPr>
          <a:xfrm>
            <a:off x="3478490" y="1887568"/>
            <a:ext cx="10308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009B09-23CD-4831-ACEA-CB2D1F8FF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367" y="4562567"/>
            <a:ext cx="2330716" cy="17335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D6CB5B-0426-41E2-B93D-43B358BBF1FD}"/>
              </a:ext>
            </a:extLst>
          </p:cNvPr>
          <p:cNvSpPr/>
          <p:nvPr/>
        </p:nvSpPr>
        <p:spPr>
          <a:xfrm>
            <a:off x="3214843" y="441369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The closer to the right the BIGGER the number</a:t>
            </a:r>
          </a:p>
          <a:p>
            <a:endParaRPr lang="en-AU" dirty="0"/>
          </a:p>
          <a:p>
            <a:r>
              <a:rPr lang="en-AU" dirty="0"/>
              <a:t>-4 		1</a:t>
            </a:r>
          </a:p>
          <a:p>
            <a:endParaRPr lang="en-AU" dirty="0"/>
          </a:p>
          <a:p>
            <a:r>
              <a:rPr lang="en-AU" dirty="0"/>
              <a:t>-1 		8</a:t>
            </a:r>
          </a:p>
          <a:p>
            <a:endParaRPr lang="en-AU" dirty="0"/>
          </a:p>
          <a:p>
            <a:r>
              <a:rPr lang="en-AU" dirty="0"/>
              <a:t>3 		-10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2582E8-85E5-464B-A788-C9E47C9778CA}"/>
              </a:ext>
            </a:extLst>
          </p:cNvPr>
          <p:cNvSpPr/>
          <p:nvPr/>
        </p:nvSpPr>
        <p:spPr>
          <a:xfrm>
            <a:off x="3695307" y="5024487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76DC42-604A-455C-B8A7-418492A8F1D8}"/>
              </a:ext>
            </a:extLst>
          </p:cNvPr>
          <p:cNvSpPr/>
          <p:nvPr/>
        </p:nvSpPr>
        <p:spPr>
          <a:xfrm>
            <a:off x="3695306" y="5588635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02F2EB-6959-4E49-ABAF-393A42E964C2}"/>
              </a:ext>
            </a:extLst>
          </p:cNvPr>
          <p:cNvSpPr/>
          <p:nvPr/>
        </p:nvSpPr>
        <p:spPr>
          <a:xfrm>
            <a:off x="3695306" y="6016825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335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28A4D-14AA-4068-97D2-9FCCCDC8B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7" t="40166"/>
          <a:stretch/>
        </p:blipFill>
        <p:spPr>
          <a:xfrm>
            <a:off x="0" y="1719618"/>
            <a:ext cx="12162712" cy="12282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DD0A5-B3DC-45F3-91F4-91F0E4841A3B}"/>
              </a:ext>
            </a:extLst>
          </p:cNvPr>
          <p:cNvSpPr/>
          <p:nvPr/>
        </p:nvSpPr>
        <p:spPr>
          <a:xfrm>
            <a:off x="458268" y="3163771"/>
            <a:ext cx="4086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defTabSz="914126">
              <a:buAutoNum type="arabicPeriod"/>
            </a:pPr>
            <a:r>
              <a:rPr lang="en-AU" sz="3200" dirty="0"/>
              <a:t>4 + (-6) =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711C7D63-B3CC-4750-BC05-104BF9A2000B}"/>
              </a:ext>
            </a:extLst>
          </p:cNvPr>
          <p:cNvSpPr/>
          <p:nvPr/>
        </p:nvSpPr>
        <p:spPr>
          <a:xfrm>
            <a:off x="11109278" y="575714"/>
            <a:ext cx="928048" cy="928048"/>
          </a:xfrm>
          <a:prstGeom prst="plus">
            <a:avLst>
              <a:gd name="adj" fmla="val 3382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83924-23D1-4FC7-89C7-613A26B3FA76}"/>
              </a:ext>
            </a:extLst>
          </p:cNvPr>
          <p:cNvSpPr/>
          <p:nvPr/>
        </p:nvSpPr>
        <p:spPr>
          <a:xfrm>
            <a:off x="272955" y="1037230"/>
            <a:ext cx="1392072" cy="3275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48E27-B339-4B1C-9C81-1FFA86AF1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15" y="813547"/>
            <a:ext cx="1078174" cy="11024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681B55-07C8-4D0D-8AC8-EF74B772AFA0}"/>
              </a:ext>
            </a:extLst>
          </p:cNvPr>
          <p:cNvSpPr/>
          <p:nvPr/>
        </p:nvSpPr>
        <p:spPr>
          <a:xfrm>
            <a:off x="2616889" y="3136612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-2</a:t>
            </a:r>
            <a:endParaRPr lang="en-AU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78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-0.26472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28A4D-14AA-4068-97D2-9FCCCDC8B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7" t="40166"/>
          <a:stretch/>
        </p:blipFill>
        <p:spPr>
          <a:xfrm>
            <a:off x="0" y="1719618"/>
            <a:ext cx="12162712" cy="12282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DD0A5-B3DC-45F3-91F4-91F0E4841A3B}"/>
              </a:ext>
            </a:extLst>
          </p:cNvPr>
          <p:cNvSpPr/>
          <p:nvPr/>
        </p:nvSpPr>
        <p:spPr>
          <a:xfrm>
            <a:off x="458268" y="3163771"/>
            <a:ext cx="40864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defTabSz="914126">
              <a:buAutoNum type="arabicPeriod"/>
            </a:pPr>
            <a:r>
              <a:rPr lang="en-AU" sz="3200" dirty="0"/>
              <a:t>4 + (-6)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- 6 – (- 10) =   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711C7D63-B3CC-4750-BC05-104BF9A2000B}"/>
              </a:ext>
            </a:extLst>
          </p:cNvPr>
          <p:cNvSpPr/>
          <p:nvPr/>
        </p:nvSpPr>
        <p:spPr>
          <a:xfrm>
            <a:off x="11109278" y="575714"/>
            <a:ext cx="928048" cy="928048"/>
          </a:xfrm>
          <a:prstGeom prst="plus">
            <a:avLst>
              <a:gd name="adj" fmla="val 3382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83924-23D1-4FC7-89C7-613A26B3FA76}"/>
              </a:ext>
            </a:extLst>
          </p:cNvPr>
          <p:cNvSpPr/>
          <p:nvPr/>
        </p:nvSpPr>
        <p:spPr>
          <a:xfrm>
            <a:off x="272955" y="1037230"/>
            <a:ext cx="1392072" cy="3275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61760-BAB1-4125-90FF-222A45A75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120" y="815160"/>
            <a:ext cx="1078174" cy="10992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681B55-07C8-4D0D-8AC8-EF74B772AFA0}"/>
              </a:ext>
            </a:extLst>
          </p:cNvPr>
          <p:cNvSpPr/>
          <p:nvPr/>
        </p:nvSpPr>
        <p:spPr>
          <a:xfrm>
            <a:off x="2616889" y="3136612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-2</a:t>
            </a:r>
            <a:endParaRPr lang="en-AU" sz="3200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5D4E0D-D875-4D92-8B94-708D3CA627C9}"/>
              </a:ext>
            </a:extLst>
          </p:cNvPr>
          <p:cNvSpPr/>
          <p:nvPr/>
        </p:nvSpPr>
        <p:spPr>
          <a:xfrm>
            <a:off x="3217993" y="4148656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70C0"/>
                </a:solidFill>
              </a:rPr>
              <a:t>4</a:t>
            </a:r>
            <a:endParaRPr lang="en-AU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57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43489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28A4D-14AA-4068-97D2-9FCCCDC8B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7" t="40166"/>
          <a:stretch/>
        </p:blipFill>
        <p:spPr>
          <a:xfrm>
            <a:off x="0" y="1719618"/>
            <a:ext cx="12162712" cy="12282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DD0A5-B3DC-45F3-91F4-91F0E4841A3B}"/>
              </a:ext>
            </a:extLst>
          </p:cNvPr>
          <p:cNvSpPr/>
          <p:nvPr/>
        </p:nvSpPr>
        <p:spPr>
          <a:xfrm>
            <a:off x="458268" y="3163771"/>
            <a:ext cx="408643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defTabSz="914126">
              <a:buAutoNum type="arabicPeriod"/>
            </a:pPr>
            <a:r>
              <a:rPr lang="en-AU" sz="3200" dirty="0"/>
              <a:t>4 + (-6)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- 6 – (- 10)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- 1 – 8 =    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711C7D63-B3CC-4750-BC05-104BF9A2000B}"/>
              </a:ext>
            </a:extLst>
          </p:cNvPr>
          <p:cNvSpPr/>
          <p:nvPr/>
        </p:nvSpPr>
        <p:spPr>
          <a:xfrm>
            <a:off x="11109278" y="575714"/>
            <a:ext cx="928048" cy="928048"/>
          </a:xfrm>
          <a:prstGeom prst="plus">
            <a:avLst>
              <a:gd name="adj" fmla="val 3382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83924-23D1-4FC7-89C7-613A26B3FA76}"/>
              </a:ext>
            </a:extLst>
          </p:cNvPr>
          <p:cNvSpPr/>
          <p:nvPr/>
        </p:nvSpPr>
        <p:spPr>
          <a:xfrm>
            <a:off x="272955" y="1037230"/>
            <a:ext cx="1392072" cy="3275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61760-BAB1-4125-90FF-222A45A75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182" y="742733"/>
            <a:ext cx="1078174" cy="10992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681B55-07C8-4D0D-8AC8-EF74B772AFA0}"/>
              </a:ext>
            </a:extLst>
          </p:cNvPr>
          <p:cNvSpPr/>
          <p:nvPr/>
        </p:nvSpPr>
        <p:spPr>
          <a:xfrm>
            <a:off x="2616889" y="3136612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- 2</a:t>
            </a:r>
            <a:endParaRPr lang="en-AU" sz="3200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5D4E0D-D875-4D92-8B94-708D3CA627C9}"/>
              </a:ext>
            </a:extLst>
          </p:cNvPr>
          <p:cNvSpPr/>
          <p:nvPr/>
        </p:nvSpPr>
        <p:spPr>
          <a:xfrm>
            <a:off x="3217993" y="4148656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70C0"/>
                </a:solidFill>
              </a:rPr>
              <a:t>4</a:t>
            </a:r>
            <a:endParaRPr lang="en-AU" sz="3200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995519-9F2F-4840-9FFE-241B88C2F07C}"/>
              </a:ext>
            </a:extLst>
          </p:cNvPr>
          <p:cNvSpPr/>
          <p:nvPr/>
        </p:nvSpPr>
        <p:spPr>
          <a:xfrm>
            <a:off x="2554638" y="5133541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- 9</a:t>
            </a:r>
            <a:endParaRPr lang="en-AU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40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07407E-6 L -0.34935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28A4D-14AA-4068-97D2-9FCCCDC8B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7" t="40166"/>
          <a:stretch/>
        </p:blipFill>
        <p:spPr>
          <a:xfrm>
            <a:off x="0" y="1719618"/>
            <a:ext cx="12162712" cy="12282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DD0A5-B3DC-45F3-91F4-91F0E4841A3B}"/>
              </a:ext>
            </a:extLst>
          </p:cNvPr>
          <p:cNvSpPr/>
          <p:nvPr/>
        </p:nvSpPr>
        <p:spPr>
          <a:xfrm>
            <a:off x="458268" y="3163771"/>
            <a:ext cx="40864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defTabSz="914126">
              <a:buAutoNum type="arabicPeriod"/>
            </a:pPr>
            <a:r>
              <a:rPr lang="en-AU" sz="3200" dirty="0"/>
              <a:t>4 + (-6)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- 6 – (- 10)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- 1 – 8 =</a:t>
            </a:r>
          </a:p>
          <a:p>
            <a:pPr marL="514350" indent="-514350" defTabSz="914126">
              <a:buAutoNum type="arabicPeriod"/>
            </a:pPr>
            <a:endParaRPr lang="en-AU" sz="3200" dirty="0"/>
          </a:p>
          <a:p>
            <a:pPr marL="514350" indent="-514350" defTabSz="914126">
              <a:buAutoNum type="arabicPeriod"/>
            </a:pPr>
            <a:r>
              <a:rPr lang="en-AU" sz="3200" dirty="0"/>
              <a:t>- 5 + 7 =     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711C7D63-B3CC-4750-BC05-104BF9A2000B}"/>
              </a:ext>
            </a:extLst>
          </p:cNvPr>
          <p:cNvSpPr/>
          <p:nvPr/>
        </p:nvSpPr>
        <p:spPr>
          <a:xfrm>
            <a:off x="11109278" y="575714"/>
            <a:ext cx="928048" cy="928048"/>
          </a:xfrm>
          <a:prstGeom prst="plus">
            <a:avLst>
              <a:gd name="adj" fmla="val 3382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83924-23D1-4FC7-89C7-613A26B3FA76}"/>
              </a:ext>
            </a:extLst>
          </p:cNvPr>
          <p:cNvSpPr/>
          <p:nvPr/>
        </p:nvSpPr>
        <p:spPr>
          <a:xfrm>
            <a:off x="272955" y="1037230"/>
            <a:ext cx="1392072" cy="3275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81B55-07C8-4D0D-8AC8-EF74B772AFA0}"/>
              </a:ext>
            </a:extLst>
          </p:cNvPr>
          <p:cNvSpPr/>
          <p:nvPr/>
        </p:nvSpPr>
        <p:spPr>
          <a:xfrm>
            <a:off x="2616889" y="3136612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- 2</a:t>
            </a:r>
            <a:endParaRPr lang="en-AU" sz="3200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5D4E0D-D875-4D92-8B94-708D3CA627C9}"/>
              </a:ext>
            </a:extLst>
          </p:cNvPr>
          <p:cNvSpPr/>
          <p:nvPr/>
        </p:nvSpPr>
        <p:spPr>
          <a:xfrm>
            <a:off x="3217993" y="4148656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70C0"/>
                </a:solidFill>
              </a:rPr>
              <a:t>4</a:t>
            </a:r>
            <a:endParaRPr lang="en-AU" sz="3200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995519-9F2F-4840-9FFE-241B88C2F07C}"/>
              </a:ext>
            </a:extLst>
          </p:cNvPr>
          <p:cNvSpPr/>
          <p:nvPr/>
        </p:nvSpPr>
        <p:spPr>
          <a:xfrm>
            <a:off x="2554638" y="5133541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B050"/>
                </a:solidFill>
              </a:rPr>
              <a:t>- 9</a:t>
            </a:r>
            <a:endParaRPr lang="en-AU" sz="3200" dirty="0">
              <a:solidFill>
                <a:srgbClr val="00B05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F3948F-B2B9-4FEB-8062-E4FD216EF8C7}"/>
              </a:ext>
            </a:extLst>
          </p:cNvPr>
          <p:cNvSpPr/>
          <p:nvPr/>
        </p:nvSpPr>
        <p:spPr>
          <a:xfrm>
            <a:off x="2616889" y="6082696"/>
            <a:ext cx="2653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3200" b="1" dirty="0">
                <a:solidFill>
                  <a:srgbClr val="0070C0"/>
                </a:solidFill>
              </a:rPr>
              <a:t>2</a:t>
            </a:r>
            <a:endParaRPr lang="en-AU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7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916F34-E157-4DB4-9E39-D586C21E5773}"/>
              </a:ext>
            </a:extLst>
          </p:cNvPr>
          <p:cNvCxnSpPr/>
          <p:nvPr/>
        </p:nvCxnSpPr>
        <p:spPr>
          <a:xfrm>
            <a:off x="623758" y="1227947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79AB9C-B10D-42CB-9709-4FE641C1DEF7}"/>
              </a:ext>
            </a:extLst>
          </p:cNvPr>
          <p:cNvCxnSpPr/>
          <p:nvPr/>
        </p:nvCxnSpPr>
        <p:spPr>
          <a:xfrm>
            <a:off x="603976" y="1905496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9A14CC-AB98-4123-A94A-F30150869E8C}"/>
              </a:ext>
            </a:extLst>
          </p:cNvPr>
          <p:cNvSpPr txBox="1"/>
          <p:nvPr/>
        </p:nvSpPr>
        <p:spPr>
          <a:xfrm>
            <a:off x="603976" y="37218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4F27BF-7AC3-4580-AF4E-966E10AE1A9E}"/>
              </a:ext>
            </a:extLst>
          </p:cNvPr>
          <p:cNvCxnSpPr/>
          <p:nvPr/>
        </p:nvCxnSpPr>
        <p:spPr>
          <a:xfrm>
            <a:off x="2963770" y="1905496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6090DE-A23D-489A-B520-F4098D8AFCF5}"/>
              </a:ext>
            </a:extLst>
          </p:cNvPr>
          <p:cNvSpPr txBox="1"/>
          <p:nvPr/>
        </p:nvSpPr>
        <p:spPr>
          <a:xfrm>
            <a:off x="1180040" y="524345"/>
            <a:ext cx="1367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>
                <a:solidFill>
                  <a:prstClr val="black"/>
                </a:solidFill>
              </a:rPr>
              <a:t>BIMDAS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285C9-9DF6-451E-B636-D2606F95B86D}"/>
              </a:ext>
            </a:extLst>
          </p:cNvPr>
          <p:cNvSpPr txBox="1"/>
          <p:nvPr/>
        </p:nvSpPr>
        <p:spPr>
          <a:xfrm>
            <a:off x="10377433" y="39628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7A728-55E7-4077-98F5-0871CEE87663}"/>
              </a:ext>
            </a:extLst>
          </p:cNvPr>
          <p:cNvSpPr txBox="1"/>
          <p:nvPr/>
        </p:nvSpPr>
        <p:spPr>
          <a:xfrm>
            <a:off x="623757" y="133153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– What is BIMDAS and how do we use it?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65D959-C4F2-4958-90D0-C48DABF2F464}"/>
              </a:ext>
            </a:extLst>
          </p:cNvPr>
          <p:cNvSpPr txBox="1"/>
          <p:nvPr/>
        </p:nvSpPr>
        <p:spPr>
          <a:xfrm>
            <a:off x="520905" y="2146145"/>
            <a:ext cx="154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of BIMDAS?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46FB84-9404-4BE0-B2C8-9AAB12A0BEC4}"/>
              </a:ext>
            </a:extLst>
          </p:cNvPr>
          <p:cNvSpPr txBox="1"/>
          <p:nvPr/>
        </p:nvSpPr>
        <p:spPr>
          <a:xfrm>
            <a:off x="3600927" y="2146145"/>
            <a:ext cx="6444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Order of Operations / BIMDAS</a:t>
            </a:r>
          </a:p>
          <a:p>
            <a:endParaRPr lang="en-AU" sz="2400" dirty="0"/>
          </a:p>
          <a:p>
            <a:r>
              <a:rPr lang="en-AU" sz="2400" dirty="0"/>
              <a:t>1. </a:t>
            </a:r>
            <a:r>
              <a:rPr lang="en-AU" sz="2400" b="1" u="sng" dirty="0"/>
              <a:t>B</a:t>
            </a:r>
            <a:r>
              <a:rPr lang="en-AU" sz="2400" dirty="0"/>
              <a:t>rackets First</a:t>
            </a:r>
          </a:p>
          <a:p>
            <a:endParaRPr lang="en-AU" sz="2400" dirty="0"/>
          </a:p>
          <a:p>
            <a:r>
              <a:rPr lang="en-AU" sz="2400" dirty="0"/>
              <a:t>2. </a:t>
            </a:r>
            <a:r>
              <a:rPr lang="en-AU" sz="2400" b="1" u="sng" dirty="0" err="1"/>
              <a:t>I</a:t>
            </a:r>
            <a:r>
              <a:rPr lang="en-AU" sz="2400" dirty="0" err="1"/>
              <a:t>ndicies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3. </a:t>
            </a:r>
            <a:r>
              <a:rPr lang="en-AU" sz="2400" b="1" u="sng" dirty="0"/>
              <a:t>M</a:t>
            </a:r>
            <a:r>
              <a:rPr lang="en-AU" sz="2400" dirty="0"/>
              <a:t>ultiply and/or </a:t>
            </a:r>
            <a:r>
              <a:rPr lang="en-AU" sz="2400" b="1" u="sng" dirty="0"/>
              <a:t>D</a:t>
            </a:r>
            <a:r>
              <a:rPr lang="en-AU" sz="2400" dirty="0"/>
              <a:t>ivide </a:t>
            </a:r>
          </a:p>
          <a:p>
            <a:r>
              <a:rPr lang="en-AU" sz="2400" dirty="0"/>
              <a:t>                   (from left to right)</a:t>
            </a:r>
          </a:p>
          <a:p>
            <a:endParaRPr lang="en-AU" sz="2400" b="1" u="sng" dirty="0"/>
          </a:p>
          <a:p>
            <a:r>
              <a:rPr lang="en-AU" sz="2400" dirty="0"/>
              <a:t>4. </a:t>
            </a:r>
            <a:r>
              <a:rPr lang="en-AU" sz="2400" b="1" u="sng" dirty="0"/>
              <a:t>A</a:t>
            </a:r>
            <a:r>
              <a:rPr lang="en-AU" sz="2400" dirty="0"/>
              <a:t>dd or </a:t>
            </a:r>
            <a:r>
              <a:rPr lang="en-AU" sz="2400" b="1" u="sng" dirty="0"/>
              <a:t>S</a:t>
            </a:r>
            <a:r>
              <a:rPr lang="en-AU" sz="2400" dirty="0"/>
              <a:t>ubtract </a:t>
            </a:r>
          </a:p>
          <a:p>
            <a:r>
              <a:rPr lang="en-AU" sz="2400" dirty="0"/>
              <a:t>                    (from left to right)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BE4F31-0DEA-4800-9060-3AB5592B0A0F}"/>
                  </a:ext>
                </a:extLst>
              </p:cNvPr>
              <p:cNvSpPr txBox="1"/>
              <p:nvPr/>
            </p:nvSpPr>
            <p:spPr>
              <a:xfrm>
                <a:off x="8393866" y="2255167"/>
                <a:ext cx="3132855" cy="3323987"/>
              </a:xfrm>
              <a:prstGeom prst="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/>
                  <a:t>Let’s Try…</a:t>
                </a:r>
              </a:p>
              <a:p>
                <a:pPr algn="ctr"/>
                <a:endParaRPr lang="en-AU" sz="2400" dirty="0"/>
              </a:p>
              <a:p>
                <a:pPr algn="ctr"/>
                <a:r>
                  <a:rPr lang="en-AU" sz="2400" b="0" dirty="0"/>
                  <a:t>2 +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8 − 2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 algn="ctr"/>
                <a:endParaRPr lang="en-AU" sz="2400" dirty="0"/>
              </a:p>
              <a:p>
                <a:pPr algn="ctr"/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pPr algn="ctr"/>
                <a:endParaRPr lang="en-AU" sz="2400" dirty="0"/>
              </a:p>
              <a:p>
                <a:pPr algn="ctr"/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pPr algn="ctr"/>
                <a:endParaRPr lang="en-AU" sz="24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400" dirty="0">
                    <a:ea typeface="Cambria Math" panose="02040503050406030204" pitchFamily="18" charset="0"/>
                  </a:rPr>
                  <a:t>32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BE4F31-0DEA-4800-9060-3AB5592B0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866" y="2255167"/>
                <a:ext cx="3132855" cy="3323987"/>
              </a:xfrm>
              <a:prstGeom prst="rect">
                <a:avLst/>
              </a:prstGeom>
              <a:blipFill>
                <a:blip r:embed="rId2"/>
                <a:stretch>
                  <a:fillRect t="-361" b="-2347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74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81" y="1003479"/>
            <a:ext cx="6742786" cy="3291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3" y="1736076"/>
            <a:ext cx="3338074" cy="25448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3529" y="11058"/>
            <a:ext cx="31517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714"/>
            <a:r>
              <a:rPr lang="en-AU" sz="432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342176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 err="1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HCF of two numbers?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81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factor?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2729" y="2067988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671370" y="2668152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factors of a 15?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63009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dirty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>
                  <a:solidFill>
                    <a:srgbClr val="00B0F0"/>
                  </a:solidFill>
                </a:endParaRPr>
              </a:p>
              <a:p>
                <a:r>
                  <a:rPr lang="en-AU" dirty="0"/>
                  <a:t>Then list. The factors of 15 are </a:t>
                </a:r>
                <a:r>
                  <a:rPr lang="en-AU" dirty="0">
                    <a:solidFill>
                      <a:srgbClr val="00B0F0"/>
                    </a:solidFill>
                  </a:rPr>
                  <a:t>1,3,5,15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009" y="2660015"/>
                <a:ext cx="4230389" cy="1754326"/>
              </a:xfrm>
              <a:prstGeom prst="rect">
                <a:avLst/>
              </a:prstGeom>
              <a:blipFill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3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the </a:t>
            </a:r>
            <a:r>
              <a:rPr lang="en-AU" dirty="0">
                <a:solidFill>
                  <a:srgbClr val="92D050"/>
                </a:solidFill>
              </a:rPr>
              <a:t>HCF</a:t>
            </a:r>
            <a:r>
              <a:rPr lang="en-AU" dirty="0"/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4583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92D050"/>
                </a:solidFill>
              </a:rPr>
              <a:t>Highest Common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3274" y="4715853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HCF of two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3833" y="4715852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List the factors of both numbers. </a:t>
            </a:r>
          </a:p>
          <a:p>
            <a:r>
              <a:rPr lang="en-AU" dirty="0"/>
              <a:t>Then find the highest number in both lists.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4940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3832" y="5410091"/>
            <a:ext cx="299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HCF of 8 and 20</a:t>
            </a:r>
          </a:p>
          <a:p>
            <a:r>
              <a:rPr lang="en-AU" dirty="0"/>
              <a:t>Factors of </a:t>
            </a:r>
            <a:r>
              <a:rPr lang="en-AU" dirty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/>
              <a:t>Factors of </a:t>
            </a:r>
            <a:r>
              <a:rPr lang="en-AU" dirty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</a:p>
          <a:p>
            <a:r>
              <a:rPr lang="en-AU" dirty="0"/>
              <a:t>So the HCF of 8 and 20 is 4</a:t>
            </a:r>
          </a:p>
        </p:txBody>
      </p:sp>
      <p:sp>
        <p:nvSpPr>
          <p:cNvPr id="21" name="Oval 20"/>
          <p:cNvSpPr/>
          <p:nvPr/>
        </p:nvSpPr>
        <p:spPr>
          <a:xfrm>
            <a:off x="6384032" y="5733256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6384032" y="6045388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4156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1504" y="1556792"/>
            <a:ext cx="50122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AU" sz="2400" dirty="0"/>
              <a:t>      a) Write down the factors of 12</a:t>
            </a:r>
          </a:p>
          <a:p>
            <a:pPr lvl="1"/>
            <a:endParaRPr lang="en-AU" sz="2400" dirty="0"/>
          </a:p>
          <a:p>
            <a:r>
              <a:rPr lang="en-AU" sz="2400" dirty="0"/>
              <a:t>	b) Write down the factors of 18</a:t>
            </a:r>
          </a:p>
          <a:p>
            <a:endParaRPr lang="en-AU" sz="2400" dirty="0"/>
          </a:p>
          <a:p>
            <a:r>
              <a:rPr lang="en-AU" sz="2400" dirty="0"/>
              <a:t>	c) Find the HCF off 12 and 18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97494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Prime 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a factor tree to write 540 as a product of prime factors.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6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540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500156" y="272135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960096" y="2735254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00057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4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270</a:t>
            </a:r>
          </a:p>
        </p:txBody>
      </p:sp>
      <p:sp>
        <p:nvSpPr>
          <p:cNvPr id="22" name="Oval 21"/>
          <p:cNvSpPr/>
          <p:nvPr/>
        </p:nvSpPr>
        <p:spPr>
          <a:xfrm>
            <a:off x="6691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5840716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8166230" y="3498034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716180" y="3488796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60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8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135</a:t>
            </a:r>
          </a:p>
        </p:txBody>
      </p:sp>
      <p:sp>
        <p:nvSpPr>
          <p:cNvPr id="18" name="Oval 17"/>
          <p:cNvSpPr/>
          <p:nvPr/>
        </p:nvSpPr>
        <p:spPr>
          <a:xfrm>
            <a:off x="7500157" y="3869161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6796986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8780244" y="4152317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8259160" y="4157467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39263" y="4524866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8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4391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32" name="Oval 31"/>
          <p:cNvSpPr/>
          <p:nvPr/>
        </p:nvSpPr>
        <p:spPr>
          <a:xfrm>
            <a:off x="9120336" y="4560900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8262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7926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27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1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0923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0" name="Oval 39"/>
          <p:cNvSpPr/>
          <p:nvPr/>
        </p:nvSpPr>
        <p:spPr>
          <a:xfrm>
            <a:off x="7696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8651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8368442" y="5410131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74582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7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0007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3700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6" name="Oval 45"/>
          <p:cNvSpPr/>
          <p:nvPr/>
        </p:nvSpPr>
        <p:spPr>
          <a:xfrm>
            <a:off x="8132417" y="5764711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8817354" y="5773196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511826" y="6026664"/>
                <a:ext cx="3066363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540 = 2  x  2  x  5  x  3  x  3  x  3</a:t>
                </a:r>
              </a:p>
              <a:p>
                <a:r>
                  <a:rPr lang="en-AU" dirty="0"/>
                  <a:t>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x 5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6" y="6026664"/>
                <a:ext cx="3066363" cy="669992"/>
              </a:xfrm>
              <a:prstGeom prst="rect">
                <a:avLst/>
              </a:prstGeom>
              <a:blipFill>
                <a:blip r:embed="rId2"/>
                <a:stretch>
                  <a:fillRect l="-1590" t="-5455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8736930" y="2345105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Find 2 numbers x to give 540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7876" y="2735254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Circle any primes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5631" y="3140969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Continue dividing until all factors are prime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3063" y="1973831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prime factors?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5412" y="5379013"/>
            <a:ext cx="20556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Write the primes in ascending order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write numbers as a product of prime factors?</a:t>
            </a:r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Let’s work through another example together.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Write 84 as a product of prime factors </a:t>
            </a:r>
          </a:p>
        </p:txBody>
      </p:sp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758</Words>
  <Application>Microsoft Office PowerPoint</Application>
  <PresentationFormat>Widescreen</PresentationFormat>
  <Paragraphs>236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Garamond</vt:lpstr>
      <vt:lpstr>Kiwi School Handwriting</vt:lpstr>
      <vt:lpstr>Wingdings</vt:lpstr>
      <vt:lpstr>Organic</vt:lpstr>
      <vt:lpstr>Office Theme</vt:lpstr>
      <vt:lpstr>Revision </vt:lpstr>
      <vt:lpstr>PowerPoint Presentation</vt:lpstr>
      <vt:lpstr>PowerPoint Presentation</vt:lpstr>
      <vt:lpstr>Calculate the following without a calculator</vt:lpstr>
      <vt:lpstr>PowerPoint Presentation</vt:lpstr>
      <vt:lpstr>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Calculate the following</vt:lpstr>
      <vt:lpstr>Calculate the following</vt:lpstr>
      <vt:lpstr>PowerPoint Presentation</vt:lpstr>
      <vt:lpstr>Your turn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</dc:title>
  <dc:creator>Jillian D'SOUZA</dc:creator>
  <cp:lastModifiedBy>D'SOUZA Jillian [Baldivis Secondary College]</cp:lastModifiedBy>
  <cp:revision>3</cp:revision>
  <dcterms:created xsi:type="dcterms:W3CDTF">2018-04-03T13:02:48Z</dcterms:created>
  <dcterms:modified xsi:type="dcterms:W3CDTF">2018-04-03T13:12:22Z</dcterms:modified>
</cp:coreProperties>
</file>
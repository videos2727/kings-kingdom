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89" r:id="rId5"/>
    <p:sldId id="392" r:id="rId6"/>
    <p:sldId id="258" r:id="rId7"/>
    <p:sldId id="398" r:id="rId8"/>
    <p:sldId id="384" r:id="rId9"/>
    <p:sldId id="3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85" autoAdjust="0"/>
    <p:restoredTop sz="94715"/>
  </p:normalViewPr>
  <p:slideViewPr>
    <p:cSldViewPr snapToGrid="0">
      <p:cViewPr varScale="1">
        <p:scale>
          <a:sx n="95" d="100"/>
          <a:sy n="95" d="100"/>
        </p:scale>
        <p:origin x="192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11/25/18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11/25/18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8293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89330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01439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/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11/25/18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11/25/18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11/25/18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11/25/18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11/25/18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11/25/18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11/25/18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11/25/18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11/25/18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11/25/18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11/25/18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rPr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  <a:p>
            <a:pPr lvl="5"/>
            <a:r>
              <a:rPr/>
              <a:t>Sixth</a:t>
            </a:r>
          </a:p>
          <a:p>
            <a:pPr lvl="6"/>
            <a:r>
              <a:rPr/>
              <a:t>Seventh</a:t>
            </a:r>
          </a:p>
          <a:p>
            <a:pPr lvl="7"/>
            <a:r>
              <a:rPr/>
              <a:t>Eighth</a:t>
            </a:r>
          </a:p>
          <a:p>
            <a:pPr lvl="8"/>
            <a:r>
              <a:rPr/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11/25/18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youtube.com/watch?v=_Dj1yQt_yas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2248" y="66314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b="1" dirty="0" smtClean="0">
                <a:solidFill>
                  <a:schemeClr val="bg2"/>
                </a:solidFill>
              </a:rPr>
              <a:t>Mental maths</a:t>
            </a:r>
            <a:endParaRPr lang="en-US" sz="4000" b="1" dirty="0">
              <a:solidFill>
                <a:schemeClr val="bg2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54" y="2026024"/>
            <a:ext cx="10058400" cy="463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244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2248" y="66314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bg2"/>
                </a:solidFill>
              </a:rPr>
              <a:t>Review from last class </a:t>
            </a:r>
            <a:r>
              <a:rPr lang="mr-IN" sz="4000" b="1" dirty="0" smtClean="0">
                <a:solidFill>
                  <a:schemeClr val="bg2"/>
                </a:solidFill>
              </a:rPr>
              <a:t>–</a:t>
            </a:r>
            <a:r>
              <a:rPr lang="en-US" sz="4000" b="1" dirty="0" smtClean="0">
                <a:solidFill>
                  <a:schemeClr val="bg2"/>
                </a:solidFill>
              </a:rPr>
              <a:t> Work with a partner</a:t>
            </a:r>
            <a:endParaRPr lang="en-US" sz="4000" b="1" dirty="0">
              <a:solidFill>
                <a:schemeClr val="bg2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24" y="2003613"/>
            <a:ext cx="11051155" cy="443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177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Topic: Probability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EQ: What </a:t>
            </a:r>
            <a:r>
              <a:rPr lang="en-US" dirty="0" smtClean="0"/>
              <a:t>is the difference between </a:t>
            </a:r>
            <a:r>
              <a:rPr lang="en-US" dirty="0"/>
              <a:t>theoretical and experimental probability</a:t>
            </a:r>
            <a:r>
              <a:rPr lang="en-US" dirty="0" smtClean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600" dirty="0" smtClean="0"/>
              <a:t>Activity</a:t>
            </a:r>
            <a:endParaRPr lang="en-AU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0658" y="2015938"/>
            <a:ext cx="9948134" cy="425039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CA" sz="2800" dirty="0" smtClean="0"/>
              <a:t>Theoretical vs Experimental Probability Hands On Activity</a:t>
            </a:r>
          </a:p>
          <a:p>
            <a:pPr marL="0" indent="0" algn="ctr">
              <a:buNone/>
            </a:pPr>
            <a:r>
              <a:rPr lang="en-CA" sz="2800" dirty="0" smtClean="0"/>
              <a:t>You will need:</a:t>
            </a:r>
          </a:p>
          <a:p>
            <a:pPr algn="ctr"/>
            <a:r>
              <a:rPr lang="en-CA" sz="2800" dirty="0" smtClean="0"/>
              <a:t>A partner (no more than groups of 3)</a:t>
            </a:r>
          </a:p>
          <a:p>
            <a:pPr algn="ctr"/>
            <a:r>
              <a:rPr lang="en-CA" sz="2800" dirty="0"/>
              <a:t>A</a:t>
            </a:r>
            <a:r>
              <a:rPr lang="en-CA" sz="2800" dirty="0" smtClean="0"/>
              <a:t> paper clip</a:t>
            </a:r>
          </a:p>
          <a:p>
            <a:pPr algn="ctr"/>
            <a:r>
              <a:rPr lang="en-CA" sz="2800" dirty="0" smtClean="0"/>
              <a:t>A sharp pencil or push pin (see video)</a:t>
            </a:r>
          </a:p>
          <a:p>
            <a:pPr algn="ctr"/>
            <a:r>
              <a:rPr lang="en-CA" sz="2800" dirty="0" smtClean="0"/>
              <a:t>Coloured pencils if you’d like to colour spinner</a:t>
            </a:r>
          </a:p>
          <a:p>
            <a:pPr marL="0" indent="0" algn="ctr">
              <a:buNone/>
            </a:pP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00607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ntent Placeholder 2"/>
          <p:cNvSpPr>
            <a:spLocks noGrp="1"/>
          </p:cNvSpPr>
          <p:nvPr>
            <p:ph idx="1"/>
          </p:nvPr>
        </p:nvSpPr>
        <p:spPr>
          <a:xfrm>
            <a:off x="960658" y="2015938"/>
            <a:ext cx="10442448" cy="9827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CA" sz="3600" dirty="0" smtClean="0"/>
              <a:t>Paper clip spinner How-to Video</a:t>
            </a:r>
          </a:p>
          <a:p>
            <a:pPr marL="0" indent="0" algn="ctr">
              <a:buNone/>
            </a:pPr>
            <a:endParaRPr lang="en-AU" sz="2800" dirty="0"/>
          </a:p>
        </p:txBody>
      </p:sp>
      <p:sp>
        <p:nvSpPr>
          <p:cNvPr id="26" name="Content Placeholder 2"/>
          <p:cNvSpPr txBox="1">
            <a:spLocks/>
          </p:cNvSpPr>
          <p:nvPr/>
        </p:nvSpPr>
        <p:spPr>
          <a:xfrm>
            <a:off x="960658" y="3755091"/>
            <a:ext cx="10442448" cy="982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2800" dirty="0">
                <a:hlinkClick r:id="rId3"/>
              </a:rPr>
              <a:t>https://</a:t>
            </a:r>
            <a:r>
              <a:rPr lang="en-AU" sz="2800" dirty="0" err="1">
                <a:hlinkClick r:id="rId3"/>
              </a:rPr>
              <a:t>www.youtube.com</a:t>
            </a:r>
            <a:r>
              <a:rPr lang="en-AU" sz="2800" dirty="0">
                <a:hlinkClick r:id="rId3"/>
              </a:rPr>
              <a:t>/</a:t>
            </a:r>
            <a:r>
              <a:rPr lang="en-AU" sz="2800" dirty="0" err="1">
                <a:hlinkClick r:id="rId3"/>
              </a:rPr>
              <a:t>watch?v</a:t>
            </a:r>
            <a:r>
              <a:rPr lang="en-AU" sz="2800" dirty="0">
                <a:hlinkClick r:id="rId3"/>
              </a:rPr>
              <a:t>=_Dj1yQt_yas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21832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Class/Homework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6844" y="2647949"/>
            <a:ext cx="7880874" cy="177613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CA" sz="3200" dirty="0" smtClean="0"/>
              <a:t>Essentials Mathematics Gold 7</a:t>
            </a:r>
          </a:p>
          <a:p>
            <a:pPr marL="0" indent="0" algn="ctr">
              <a:buNone/>
            </a:pPr>
            <a:r>
              <a:rPr lang="en-CA" sz="3200" dirty="0" smtClean="0"/>
              <a:t>Chapter 8: Statistics and Probability </a:t>
            </a:r>
          </a:p>
          <a:p>
            <a:pPr marL="0" indent="0" algn="ctr">
              <a:buNone/>
            </a:pPr>
            <a:r>
              <a:rPr lang="en-CA" sz="3200" dirty="0" smtClean="0"/>
              <a:t>Monopoly Investigation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902310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BC99BC-3A63-4255-9D4F-38C5B80A319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97</Words>
  <Application>Microsoft Macintosh PowerPoint</Application>
  <PresentationFormat>Widescreen</PresentationFormat>
  <Paragraphs>21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Mangal</vt:lpstr>
      <vt:lpstr>Wingdings</vt:lpstr>
      <vt:lpstr>Education 16x9</vt:lpstr>
      <vt:lpstr>PowerPoint Presentation</vt:lpstr>
      <vt:lpstr>PowerPoint Presentation</vt:lpstr>
      <vt:lpstr>Topic: Probability</vt:lpstr>
      <vt:lpstr>Activity</vt:lpstr>
      <vt:lpstr>PowerPoint Presentation</vt:lpstr>
      <vt:lpstr>Class/Homework</vt:lpstr>
    </vt:vector>
  </TitlesOfParts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2012-09-21T18:31:34Z</dcterms:created>
  <dcterms:modified xsi:type="dcterms:W3CDTF">2018-11-25T14:13:28Z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
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19"/>
  </p:notesMasterIdLst>
  <p:sldIdLst>
    <p:sldId id="257" r:id="rId2"/>
    <p:sldId id="258" r:id="rId3"/>
    <p:sldId id="270" r:id="rId4"/>
    <p:sldId id="259" r:id="rId5"/>
    <p:sldId id="260" r:id="rId6"/>
    <p:sldId id="261" r:id="rId7"/>
    <p:sldId id="262" r:id="rId8"/>
    <p:sldId id="268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4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9" autoAdjust="0"/>
    <p:restoredTop sz="79426" autoAdjust="0"/>
  </p:normalViewPr>
  <p:slideViewPr>
    <p:cSldViewPr snapToGrid="0">
      <p:cViewPr varScale="1">
        <p:scale>
          <a:sx n="76" d="100"/>
          <a:sy n="76" d="100"/>
        </p:scale>
        <p:origin x="9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50AE6-6846-4C49-A11A-76359CE42ADE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129FF-FEF9-44C6-8A1D-533138F5C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22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49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40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9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these questions. </a:t>
            </a:r>
          </a:p>
          <a:p>
            <a:r>
              <a:rPr lang="en-AU" dirty="0"/>
              <a:t>The goal is to have 80% of the students okay with level 1 and level 2.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90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46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1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54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95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14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789B-B74F-4D5C-AD3E-5CF7DA9123CA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27552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789B-B74F-4D5C-AD3E-5CF7DA9123CA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1377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7643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725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1947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05944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4736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5143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7599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9609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6713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901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4005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351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224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5520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94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</p:sldLayoutIdLst>
  <p:transition>
    <p:fade thruBlk="1"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10219765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rates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Simply rates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Use rates to solve real-world problems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Rates </a:t>
            </a:r>
            <a:r>
              <a:rPr lang="en-AU" dirty="0" err="1" smtClean="0"/>
              <a:t>Quickwrite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What do you know about rates?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List as many examples of rates that you know. One example is km/h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You have 2 </a:t>
            </a:r>
            <a:r>
              <a:rPr lang="en-AU" dirty="0" err="1" smtClean="0"/>
              <a:t>mins</a:t>
            </a:r>
            <a:endParaRPr lang="en-AU" dirty="0"/>
          </a:p>
          <a:p>
            <a:pPr marL="0" indent="0">
              <a:buNone/>
            </a:pPr>
            <a:r>
              <a:rPr lang="en-AU" dirty="0" smtClean="0"/>
              <a:t>BE PREPARED TO SHARE</a:t>
            </a:r>
          </a:p>
        </p:txBody>
      </p:sp>
    </p:spTree>
    <p:extLst>
      <p:ext uri="{BB962C8B-B14F-4D97-AF65-F5344CB8AC3E}">
        <p14:creationId xmlns:p14="http://schemas.microsoft.com/office/powerpoint/2010/main" val="403203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rates?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40B5869-B4C9-42CB-81AC-80698F206A83}"/>
              </a:ext>
            </a:extLst>
          </p:cNvPr>
          <p:cNvSpPr/>
          <p:nvPr/>
        </p:nvSpPr>
        <p:spPr>
          <a:xfrm>
            <a:off x="392513" y="1536731"/>
            <a:ext cx="1920919" cy="804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What is a rate?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88857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4C5BB-C4DA-4F3F-985F-C7B3CCB6B770}"/>
              </a:ext>
            </a:extLst>
          </p:cNvPr>
          <p:cNvSpPr txBox="1"/>
          <p:nvPr/>
        </p:nvSpPr>
        <p:spPr>
          <a:xfrm>
            <a:off x="3172968" y="1627632"/>
            <a:ext cx="8074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comparison of quantities of different 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292EE-032F-4F78-BEF2-1EDA0B8A1631}"/>
              </a:ext>
            </a:extLst>
          </p:cNvPr>
          <p:cNvSpPr txBox="1"/>
          <p:nvPr/>
        </p:nvSpPr>
        <p:spPr>
          <a:xfrm>
            <a:off x="3172968" y="2340865"/>
            <a:ext cx="8513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Example:         </a:t>
            </a:r>
            <a:r>
              <a:rPr lang="en-AU" sz="3200" b="1" dirty="0">
                <a:solidFill>
                  <a:schemeClr val="accent5">
                    <a:lumMod val="50000"/>
                  </a:schemeClr>
                </a:solidFill>
              </a:rPr>
              <a:t>Rent is $350 per week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F9AE9E0-FB9F-4083-A032-CA850223C277}"/>
              </a:ext>
            </a:extLst>
          </p:cNvPr>
          <p:cNvGrpSpPr/>
          <p:nvPr/>
        </p:nvGrpSpPr>
        <p:grpSpPr>
          <a:xfrm>
            <a:off x="5988858" y="2875260"/>
            <a:ext cx="2331720" cy="988168"/>
            <a:chOff x="6044184" y="2925640"/>
            <a:chExt cx="2331720" cy="988168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67ED388-00D3-47E6-8731-F2FF2E69CE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544" y="2925640"/>
              <a:ext cx="109728" cy="84124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91937E-1E44-4848-BC40-591C8A35E8AA}"/>
                </a:ext>
              </a:extLst>
            </p:cNvPr>
            <p:cNvSpPr txBox="1"/>
            <p:nvPr/>
          </p:nvSpPr>
          <p:spPr>
            <a:xfrm>
              <a:off x="6044184" y="3544476"/>
              <a:ext cx="233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dollars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000DED-8BFE-4581-ACBB-2DA045D85FD4}"/>
              </a:ext>
            </a:extLst>
          </p:cNvPr>
          <p:cNvGrpSpPr/>
          <p:nvPr/>
        </p:nvGrpSpPr>
        <p:grpSpPr>
          <a:xfrm>
            <a:off x="9068725" y="2925640"/>
            <a:ext cx="2901696" cy="1117882"/>
            <a:chOff x="9058656" y="2925640"/>
            <a:chExt cx="2901696" cy="111788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F991CA9-D7A2-4B23-B3BF-0CA495B1C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8656" y="2925640"/>
              <a:ext cx="569976" cy="88740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A8CB60-1D42-44F1-AC3D-F63B5F923F2E}"/>
                </a:ext>
              </a:extLst>
            </p:cNvPr>
            <p:cNvSpPr txBox="1"/>
            <p:nvPr/>
          </p:nvSpPr>
          <p:spPr>
            <a:xfrm>
              <a:off x="9628632" y="3674190"/>
              <a:ext cx="233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time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46FEEC7-B1B3-4E5B-B6A6-194BE648F1A0}"/>
              </a:ext>
            </a:extLst>
          </p:cNvPr>
          <p:cNvSpPr txBox="1"/>
          <p:nvPr/>
        </p:nvSpPr>
        <p:spPr>
          <a:xfrm>
            <a:off x="4112208" y="3915632"/>
            <a:ext cx="7573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In this example we are comparing money and amount of time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254FE9-0439-49E9-B807-ACCA3C752E02}"/>
              </a:ext>
            </a:extLst>
          </p:cNvPr>
          <p:cNvSpPr txBox="1"/>
          <p:nvPr/>
        </p:nvSpPr>
        <p:spPr>
          <a:xfrm>
            <a:off x="392513" y="4736592"/>
            <a:ext cx="2211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simplifying a rate?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A315DB-213E-4EAE-A73E-AAF436745578}"/>
              </a:ext>
            </a:extLst>
          </p:cNvPr>
          <p:cNvSpPr txBox="1"/>
          <p:nvPr/>
        </p:nvSpPr>
        <p:spPr>
          <a:xfrm>
            <a:off x="2954709" y="4664723"/>
            <a:ext cx="92372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Rates need to be simplified (divided) so that one quantity is 1 </a:t>
            </a:r>
          </a:p>
          <a:p>
            <a:r>
              <a:rPr lang="en-AU" dirty="0"/>
              <a:t>(and we write this as </a:t>
            </a:r>
            <a:r>
              <a:rPr lang="en-AU" i="1" dirty="0"/>
              <a:t>per</a:t>
            </a:r>
            <a:r>
              <a:rPr lang="en-AU" dirty="0"/>
              <a:t>)</a:t>
            </a:r>
          </a:p>
          <a:p>
            <a:endParaRPr lang="en-AU" dirty="0"/>
          </a:p>
          <a:p>
            <a:r>
              <a:rPr lang="en-AU" dirty="0"/>
              <a:t>per week is 1 week</a:t>
            </a:r>
          </a:p>
          <a:p>
            <a:r>
              <a:rPr lang="en-AU" dirty="0"/>
              <a:t>per hour is 1 hour</a:t>
            </a:r>
          </a:p>
          <a:p>
            <a:r>
              <a:rPr lang="en-AU" dirty="0"/>
              <a:t>per kg is 1 kg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Guided 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2F14F-4AC9-45C1-A6E4-0F3591BA9C84}"/>
              </a:ext>
            </a:extLst>
          </p:cNvPr>
          <p:cNvSpPr txBox="1"/>
          <p:nvPr/>
        </p:nvSpPr>
        <p:spPr>
          <a:xfrm>
            <a:off x="594360" y="1697692"/>
            <a:ext cx="2405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Level 1 </a:t>
            </a:r>
          </a:p>
          <a:p>
            <a:endParaRPr lang="en-AU" dirty="0"/>
          </a:p>
          <a:p>
            <a:r>
              <a:rPr lang="en-AU" dirty="0"/>
              <a:t>$10 for 2 apples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AEA27-2EA5-4193-8E51-2FD80691FB64}"/>
              </a:ext>
            </a:extLst>
          </p:cNvPr>
          <p:cNvSpPr txBox="1"/>
          <p:nvPr/>
        </p:nvSpPr>
        <p:spPr>
          <a:xfrm>
            <a:off x="4102608" y="2782780"/>
            <a:ext cx="2405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Level 2 </a:t>
            </a:r>
          </a:p>
          <a:p>
            <a:endParaRPr lang="en-AU" dirty="0"/>
          </a:p>
          <a:p>
            <a:r>
              <a:rPr lang="en-AU" dirty="0"/>
              <a:t>$40 for 20 L of fuel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ADDA9-E39A-4CCE-B41E-E48B5C459A07}"/>
              </a:ext>
            </a:extLst>
          </p:cNvPr>
          <p:cNvSpPr txBox="1"/>
          <p:nvPr/>
        </p:nvSpPr>
        <p:spPr>
          <a:xfrm>
            <a:off x="8894064" y="3916636"/>
            <a:ext cx="3002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Level 3</a:t>
            </a:r>
          </a:p>
          <a:p>
            <a:endParaRPr lang="en-AU" dirty="0"/>
          </a:p>
          <a:p>
            <a:r>
              <a:rPr lang="en-AU" dirty="0"/>
              <a:t>220 ml or rain in 4 months</a:t>
            </a:r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5D3D4-211C-49CB-93BA-8F7051F0A14E}"/>
              </a:ext>
            </a:extLst>
          </p:cNvPr>
          <p:cNvSpPr txBox="1"/>
          <p:nvPr/>
        </p:nvSpPr>
        <p:spPr>
          <a:xfrm>
            <a:off x="663789" y="1465887"/>
            <a:ext cx="10944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5">
                    <a:lumMod val="50000"/>
                  </a:schemeClr>
                </a:solidFill>
              </a:rPr>
              <a:t>Level 1  									Level 2 							Level 3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60E60-6632-4B05-B1B1-A5498BF8EC2E}"/>
              </a:ext>
            </a:extLst>
          </p:cNvPr>
          <p:cNvSpPr txBox="1"/>
          <p:nvPr/>
        </p:nvSpPr>
        <p:spPr>
          <a:xfrm>
            <a:off x="470768" y="2128837"/>
            <a:ext cx="368689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AU" sz="2000" dirty="0"/>
              <a:t>100 m in 10 seconds</a:t>
            </a:r>
          </a:p>
          <a:p>
            <a:pPr marL="342900" indent="-342900">
              <a:buAutoNum type="alphaLcPeriod"/>
            </a:pPr>
            <a:endParaRPr lang="en-AU" sz="2000" dirty="0"/>
          </a:p>
          <a:p>
            <a:r>
              <a:rPr lang="en-AU" sz="2000" dirty="0"/>
              <a:t>	________m per second</a:t>
            </a:r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b. 	25 min for 5 pizzas</a:t>
            </a:r>
          </a:p>
          <a:p>
            <a:endParaRPr lang="en-AU" sz="2000" dirty="0"/>
          </a:p>
          <a:p>
            <a:r>
              <a:rPr lang="en-AU" sz="2000" dirty="0"/>
              <a:t>	_______ min per pizza</a:t>
            </a:r>
          </a:p>
          <a:p>
            <a:endParaRPr lang="en-AU" sz="2000" dirty="0"/>
          </a:p>
          <a:p>
            <a:pPr marL="342900" indent="-342900">
              <a:buAutoNum type="alphaLcPeriod" startAt="3"/>
            </a:pPr>
            <a:r>
              <a:rPr lang="en-AU" sz="2000" dirty="0"/>
              <a:t>20 L in 2 minutes</a:t>
            </a:r>
          </a:p>
          <a:p>
            <a:endParaRPr lang="en-AU" sz="2000" dirty="0"/>
          </a:p>
          <a:p>
            <a:r>
              <a:rPr lang="en-AU" sz="2000" dirty="0"/>
              <a:t>	_________ L per minute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FFBBA-AFE1-4260-A1A6-23880A297393}"/>
              </a:ext>
            </a:extLst>
          </p:cNvPr>
          <p:cNvSpPr txBox="1"/>
          <p:nvPr/>
        </p:nvSpPr>
        <p:spPr>
          <a:xfrm>
            <a:off x="4533181" y="2395537"/>
            <a:ext cx="377262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AU" sz="2000" b="1" dirty="0">
                <a:solidFill>
                  <a:schemeClr val="accent6">
                    <a:lumMod val="75000"/>
                  </a:schemeClr>
                </a:solidFill>
              </a:rPr>
              <a:t>40 points in 5 games</a:t>
            </a:r>
          </a:p>
          <a:p>
            <a:endParaRPr lang="en-AU" sz="20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sz="20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sz="2000" b="1" dirty="0">
                <a:solidFill>
                  <a:schemeClr val="accent6">
                    <a:lumMod val="75000"/>
                  </a:schemeClr>
                </a:solidFill>
              </a:rPr>
              <a:t>b. 	120 litres in 60 seconds</a:t>
            </a:r>
          </a:p>
          <a:p>
            <a:endParaRPr lang="en-AU" sz="20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sz="2000" b="1" dirty="0">
                <a:solidFill>
                  <a:schemeClr val="accent6">
                    <a:lumMod val="75000"/>
                  </a:schemeClr>
                </a:solidFill>
              </a:rPr>
              <a:t>	</a:t>
            </a:r>
          </a:p>
          <a:p>
            <a:pPr marL="342900" indent="-342900">
              <a:buAutoNum type="alphaLcPeriod" startAt="3"/>
            </a:pPr>
            <a:r>
              <a:rPr lang="en-AU" sz="2000" b="1" dirty="0">
                <a:solidFill>
                  <a:schemeClr val="accent6">
                    <a:lumMod val="75000"/>
                  </a:schemeClr>
                </a:solidFill>
              </a:rPr>
              <a:t>250 apples in 50 bags</a:t>
            </a:r>
          </a:p>
          <a:p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sz="2400" dirty="0">
                <a:solidFill>
                  <a:schemeClr val="accent6">
                    <a:lumMod val="75000"/>
                  </a:schemeClr>
                </a:solidFill>
              </a:rPr>
              <a:t>	</a:t>
            </a:r>
          </a:p>
          <a:p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3C1189-8D3E-42A3-B384-3AD9B0A0E5CC}"/>
              </a:ext>
            </a:extLst>
          </p:cNvPr>
          <p:cNvSpPr txBox="1"/>
          <p:nvPr/>
        </p:nvSpPr>
        <p:spPr>
          <a:xfrm>
            <a:off x="8485336" y="2233954"/>
            <a:ext cx="377262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AU" sz="2000" b="1" dirty="0"/>
              <a:t>240 beats in 4 minutes</a:t>
            </a:r>
          </a:p>
          <a:p>
            <a:endParaRPr lang="en-AU" sz="2000" b="1" dirty="0"/>
          </a:p>
          <a:p>
            <a:endParaRPr lang="en-AU" sz="2000" b="1" dirty="0"/>
          </a:p>
          <a:p>
            <a:r>
              <a:rPr lang="en-AU" sz="2000" b="1" dirty="0"/>
              <a:t>b. 	275 marks in 5 tests</a:t>
            </a:r>
          </a:p>
          <a:p>
            <a:endParaRPr lang="en-AU" sz="2000" b="1" dirty="0"/>
          </a:p>
          <a:p>
            <a:r>
              <a:rPr lang="en-AU" sz="2000" b="1" dirty="0"/>
              <a:t>	</a:t>
            </a:r>
          </a:p>
          <a:p>
            <a:pPr marL="342900" indent="-342900">
              <a:buAutoNum type="alphaLcPeriod" startAt="3"/>
            </a:pPr>
            <a:r>
              <a:rPr lang="en-AU" sz="2000" b="1" dirty="0"/>
              <a:t>7000 people in 200 buses</a:t>
            </a:r>
          </a:p>
          <a:p>
            <a:endParaRPr lang="en-AU" sz="2400" dirty="0"/>
          </a:p>
          <a:p>
            <a:r>
              <a:rPr lang="en-AU" sz="2400" dirty="0"/>
              <a:t>	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53AF8-AA63-47D7-B095-6314B5D95D5A}"/>
              </a:ext>
            </a:extLst>
          </p:cNvPr>
          <p:cNvSpPr txBox="1"/>
          <p:nvPr/>
        </p:nvSpPr>
        <p:spPr>
          <a:xfrm>
            <a:off x="4976454" y="6073466"/>
            <a:ext cx="7034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Everyone start with Level 1 and see how far you can get in 5-7 minutes! If you finish early, help someone next to you!</a:t>
            </a:r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rates?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40B5869-B4C9-42CB-81AC-80698F206A83}"/>
              </a:ext>
            </a:extLst>
          </p:cNvPr>
          <p:cNvSpPr/>
          <p:nvPr/>
        </p:nvSpPr>
        <p:spPr>
          <a:xfrm>
            <a:off x="392513" y="1536730"/>
            <a:ext cx="2410208" cy="19573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How can we use rates to solve problems?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88857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4C5BB-C4DA-4F3F-985F-C7B3CCB6B770}"/>
              </a:ext>
            </a:extLst>
          </p:cNvPr>
          <p:cNvSpPr txBox="1"/>
          <p:nvPr/>
        </p:nvSpPr>
        <p:spPr>
          <a:xfrm>
            <a:off x="3172968" y="1627632"/>
            <a:ext cx="8074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Once a rate is written as </a:t>
            </a:r>
            <a:r>
              <a:rPr lang="en-AU" i="1" dirty="0"/>
              <a:t>per</a:t>
            </a:r>
            <a:r>
              <a:rPr lang="en-AU" dirty="0"/>
              <a:t> something we can then use multiplication for different scenarios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292EE-032F-4F78-BEF2-1EDA0B8A1631}"/>
              </a:ext>
            </a:extLst>
          </p:cNvPr>
          <p:cNvSpPr txBox="1"/>
          <p:nvPr/>
        </p:nvSpPr>
        <p:spPr>
          <a:xfrm>
            <a:off x="2898186" y="2456735"/>
            <a:ext cx="8513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Original Example:         </a:t>
            </a:r>
            <a:r>
              <a:rPr lang="en-AU" sz="3200" b="1" dirty="0">
                <a:solidFill>
                  <a:schemeClr val="accent5">
                    <a:lumMod val="50000"/>
                  </a:schemeClr>
                </a:solidFill>
              </a:rPr>
              <a:t>Rent is $350 per week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F9AE9E0-FB9F-4083-A032-CA850223C277}"/>
              </a:ext>
            </a:extLst>
          </p:cNvPr>
          <p:cNvGrpSpPr/>
          <p:nvPr/>
        </p:nvGrpSpPr>
        <p:grpSpPr>
          <a:xfrm>
            <a:off x="5988858" y="2875260"/>
            <a:ext cx="2331720" cy="988168"/>
            <a:chOff x="6044184" y="2925640"/>
            <a:chExt cx="2331720" cy="988168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67ED388-00D3-47E6-8731-F2FF2E69CE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9544" y="2925640"/>
              <a:ext cx="109728" cy="84124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91937E-1E44-4848-BC40-591C8A35E8AA}"/>
                </a:ext>
              </a:extLst>
            </p:cNvPr>
            <p:cNvSpPr txBox="1"/>
            <p:nvPr/>
          </p:nvSpPr>
          <p:spPr>
            <a:xfrm>
              <a:off x="6044184" y="3544476"/>
              <a:ext cx="233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dollars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000DED-8BFE-4581-ACBB-2DA045D85FD4}"/>
              </a:ext>
            </a:extLst>
          </p:cNvPr>
          <p:cNvGrpSpPr/>
          <p:nvPr/>
        </p:nvGrpSpPr>
        <p:grpSpPr>
          <a:xfrm>
            <a:off x="9068725" y="2925640"/>
            <a:ext cx="2901696" cy="1117882"/>
            <a:chOff x="9058656" y="2925640"/>
            <a:chExt cx="2901696" cy="111788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F991CA9-D7A2-4B23-B3BF-0CA495B1C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8656" y="2925640"/>
              <a:ext cx="569976" cy="88740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A8CB60-1D42-44F1-AC3D-F63B5F923F2E}"/>
                </a:ext>
              </a:extLst>
            </p:cNvPr>
            <p:cNvSpPr txBox="1"/>
            <p:nvPr/>
          </p:nvSpPr>
          <p:spPr>
            <a:xfrm>
              <a:off x="9628632" y="3674190"/>
              <a:ext cx="233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time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4A315DB-213E-4EAE-A73E-AAF436745578}"/>
              </a:ext>
            </a:extLst>
          </p:cNvPr>
          <p:cNvSpPr txBox="1"/>
          <p:nvPr/>
        </p:nvSpPr>
        <p:spPr>
          <a:xfrm>
            <a:off x="2954709" y="4664723"/>
            <a:ext cx="9237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if we wanted to know how much it would cost for </a:t>
            </a:r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AU" dirty="0"/>
              <a:t> weeks?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1DD49F-A7A4-4581-847A-8774E3DE8761}"/>
              </a:ext>
            </a:extLst>
          </p:cNvPr>
          <p:cNvSpPr txBox="1"/>
          <p:nvPr/>
        </p:nvSpPr>
        <p:spPr>
          <a:xfrm>
            <a:off x="5860270" y="3984428"/>
            <a:ext cx="466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We know how much rent is for 1 week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2CBC6-20B4-41A2-A920-02E56236E146}"/>
              </a:ext>
            </a:extLst>
          </p:cNvPr>
          <p:cNvSpPr txBox="1"/>
          <p:nvPr/>
        </p:nvSpPr>
        <p:spPr>
          <a:xfrm>
            <a:off x="5400675" y="5257800"/>
            <a:ext cx="512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$350 </a:t>
            </a:r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× 2</a:t>
            </a:r>
            <a:r>
              <a:rPr lang="en-AU" dirty="0"/>
              <a:t> = $700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96C6B6-83FA-437B-8849-2AFD2E22B3F6}"/>
              </a:ext>
            </a:extLst>
          </p:cNvPr>
          <p:cNvSpPr txBox="1"/>
          <p:nvPr/>
        </p:nvSpPr>
        <p:spPr>
          <a:xfrm>
            <a:off x="5287268" y="6181130"/>
            <a:ext cx="512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$350 </a:t>
            </a:r>
            <a:r>
              <a:rPr lang="en-AU" b="1" dirty="0">
                <a:solidFill>
                  <a:srgbClr val="00B050"/>
                </a:solidFill>
              </a:rPr>
              <a:t>× 5 </a:t>
            </a:r>
            <a:r>
              <a:rPr lang="en-AU" dirty="0"/>
              <a:t>= $1,750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5AB07F-4CCE-4B1E-9602-A729BCCE880A}"/>
              </a:ext>
            </a:extLst>
          </p:cNvPr>
          <p:cNvSpPr txBox="1"/>
          <p:nvPr/>
        </p:nvSpPr>
        <p:spPr>
          <a:xfrm>
            <a:off x="2974436" y="5726910"/>
            <a:ext cx="9237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if we wanted to know how much it would cost for </a:t>
            </a:r>
            <a:r>
              <a:rPr lang="en-AU" b="1" dirty="0">
                <a:solidFill>
                  <a:srgbClr val="00B050"/>
                </a:solidFill>
              </a:rPr>
              <a:t>5 </a:t>
            </a:r>
            <a:r>
              <a:rPr lang="en-AU" dirty="0"/>
              <a:t>weeks?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481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1427-72D3-459C-8E39-E6D4FB58E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FA476-216B-48CA-AB7A-B4C155DEF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54" t="57119" r="22130" b="16873"/>
          <a:stretch/>
        </p:blipFill>
        <p:spPr>
          <a:xfrm>
            <a:off x="324090" y="2724265"/>
            <a:ext cx="11773553" cy="300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4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Summary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A rate is a ____________ of two ____________</a:t>
            </a:r>
          </a:p>
          <a:p>
            <a:pPr marL="0" indent="0">
              <a:buNone/>
            </a:pPr>
            <a:r>
              <a:rPr lang="en-AU" dirty="0" smtClean="0"/>
              <a:t>We use rates to solve problem such as _____________________</a:t>
            </a:r>
          </a:p>
          <a:p>
            <a:pPr marL="0" indent="0">
              <a:buNone/>
            </a:pPr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3281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10219765" cy="1825096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Kiwi School Handwriting" panose="00000500000000000000" pitchFamily="2" charset="0"/>
              </a:rPr>
              <a:t>Lesson </a:t>
            </a:r>
            <a:r>
              <a:rPr lang="en-US" b="1" dirty="0" smtClean="0">
                <a:solidFill>
                  <a:srgbClr val="0070C0"/>
                </a:solidFill>
                <a:latin typeface="Kiwi School Handwriting" panose="00000500000000000000" pitchFamily="2" charset="0"/>
              </a:rPr>
              <a:t>2 </a:t>
            </a:r>
            <a:br>
              <a:rPr lang="en-US" b="1" dirty="0" smtClean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r>
              <a:rPr lang="en-US" b="1" dirty="0" smtClean="0">
                <a:solidFill>
                  <a:srgbClr val="0070C0"/>
                </a:solidFill>
                <a:latin typeface="Kiwi School Handwriting" panose="00000500000000000000" pitchFamily="2" charset="0"/>
              </a:rPr>
              <a:t>rates</a:t>
            </a:r>
            <a:br>
              <a:rPr lang="en-US" b="1" dirty="0" smtClean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r>
              <a:rPr lang="en-US" b="1" dirty="0" smtClean="0">
                <a:solidFill>
                  <a:srgbClr val="0070C0"/>
                </a:solidFill>
                <a:latin typeface="Kiwi School Handwriting" panose="00000500000000000000" pitchFamily="2" charset="0"/>
              </a:rPr>
              <a:t>unitary method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430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 smtClean="0">
                <a:latin typeface="Kiwi School Handwriting" panose="00000500000000000000" pitchFamily="2" charset="0"/>
              </a:rPr>
              <a:t>Apply the unitary method</a:t>
            </a:r>
            <a:endParaRPr lang="en-AU" sz="3600" dirty="0">
              <a:latin typeface="Kiwi School Handwriting" panose="00000500000000000000" pitchFamily="2" charset="0"/>
            </a:endParaRPr>
          </a:p>
          <a:p>
            <a:r>
              <a:rPr lang="en-AU" sz="3600" dirty="0">
                <a:latin typeface="Kiwi School Handwriting" panose="00000500000000000000" pitchFamily="2" charset="0"/>
              </a:rPr>
              <a:t>Use rates to solve real-world problems</a:t>
            </a:r>
          </a:p>
        </p:txBody>
      </p:sp>
    </p:spTree>
    <p:extLst>
      <p:ext uri="{BB962C8B-B14F-4D97-AF65-F5344CB8AC3E}">
        <p14:creationId xmlns:p14="http://schemas.microsoft.com/office/powerpoint/2010/main" val="283767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Simplify these rates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accent4"/>
                </a:solidFill>
              </a:rPr>
              <a:t>30m in 3 </a:t>
            </a:r>
            <a:r>
              <a:rPr lang="en-AU" dirty="0" err="1" smtClean="0">
                <a:solidFill>
                  <a:schemeClr val="accent4"/>
                </a:solidFill>
              </a:rPr>
              <a:t>mins</a:t>
            </a:r>
            <a:r>
              <a:rPr lang="en-AU" dirty="0" smtClean="0">
                <a:solidFill>
                  <a:schemeClr val="accent4"/>
                </a:solidFill>
              </a:rPr>
              <a:t>  becomes 10m </a:t>
            </a:r>
            <a:r>
              <a:rPr lang="en-AU" dirty="0">
                <a:solidFill>
                  <a:schemeClr val="accent4"/>
                </a:solidFill>
              </a:rPr>
              <a:t>p</a:t>
            </a:r>
            <a:r>
              <a:rPr lang="en-AU" dirty="0" smtClean="0">
                <a:solidFill>
                  <a:schemeClr val="accent4"/>
                </a:solidFill>
              </a:rPr>
              <a:t>er minute</a:t>
            </a:r>
          </a:p>
          <a:p>
            <a:pPr marL="0" indent="0">
              <a:buNone/>
            </a:pPr>
            <a:endParaRPr lang="en-AU" dirty="0" smtClean="0">
              <a:solidFill>
                <a:schemeClr val="accent4"/>
              </a:solidFill>
            </a:endParaRPr>
          </a:p>
          <a:p>
            <a:endParaRPr lang="en-AU" dirty="0" smtClean="0"/>
          </a:p>
          <a:p>
            <a:endParaRPr lang="en-AU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24" y="3033509"/>
            <a:ext cx="8241221" cy="13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6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209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</a:t>
            </a:r>
            <a:r>
              <a:rPr lang="en-AU" sz="2000" b="1" dirty="0" smtClean="0">
                <a:solidFill>
                  <a:prstClr val="black"/>
                </a:solidFill>
                <a:latin typeface="Kiwi School Handwriting" panose="00000500000000000000" pitchFamily="2" charset="0"/>
              </a:rPr>
              <a:t>use the unitary method to solve rate questions? </a:t>
            </a:r>
            <a:endParaRPr lang="en-AU" sz="20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802721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7682547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588" y="1581248"/>
            <a:ext cx="2611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unitary method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367700" y="1637881"/>
            <a:ext cx="363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Writing a rate as a quantity per one unit of another quantity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7878866" y="1637881"/>
            <a:ext cx="3725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is useful for comparing prices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89546" y="2900854"/>
            <a:ext cx="2432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use the unitary method?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547120" y="2808521"/>
            <a:ext cx="298350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dirty="0" smtClean="0"/>
              <a:t>Which is the best buy?</a:t>
            </a:r>
          </a:p>
          <a:p>
            <a:pPr algn="ctr"/>
            <a:endParaRPr lang="en-AU" dirty="0"/>
          </a:p>
          <a:p>
            <a:pPr algn="ctr"/>
            <a:r>
              <a:rPr lang="en-AU" dirty="0" smtClean="0"/>
              <a:t>$4.80 for 2 kg of potatoes</a:t>
            </a:r>
          </a:p>
          <a:p>
            <a:pPr algn="ctr"/>
            <a:r>
              <a:rPr lang="en-AU" dirty="0" smtClean="0"/>
              <a:t>Or</a:t>
            </a:r>
          </a:p>
          <a:p>
            <a:pPr algn="ctr"/>
            <a:r>
              <a:rPr lang="en-AU" dirty="0" smtClean="0"/>
              <a:t>$10.20 for 5 kg of potatoes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2883263" y="4912468"/>
            <a:ext cx="47676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$4.80 per 2kg becomes $2.80 per 1kg</a:t>
            </a:r>
          </a:p>
          <a:p>
            <a:endParaRPr lang="en-AU" dirty="0"/>
          </a:p>
          <a:p>
            <a:r>
              <a:rPr lang="en-AU" dirty="0" smtClean="0"/>
              <a:t>$10.20 per 5kg becomes $2.04 per 1kg</a:t>
            </a:r>
          </a:p>
          <a:p>
            <a:endParaRPr lang="en-AU" dirty="0"/>
          </a:p>
          <a:p>
            <a:r>
              <a:rPr lang="en-AU" dirty="0" smtClean="0"/>
              <a:t>Therefore the $10.20 for 5kg is the best buy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0915" y="3420062"/>
            <a:ext cx="36177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Steps: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Write each rate as a rate per one unit (simplify the units)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r>
              <a:rPr lang="en-AU" dirty="0" smtClean="0"/>
              <a:t>2. See which one is cheaper (the best buy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280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3285" y="126859"/>
            <a:ext cx="70663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Some more examples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66" y="1315665"/>
            <a:ext cx="4445093" cy="24975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44" y="1193663"/>
            <a:ext cx="5397484" cy="27415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24" y="4876798"/>
            <a:ext cx="8348364" cy="15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2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3582" y="3803515"/>
            <a:ext cx="8938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 smtClean="0"/>
              <a:t>Dwyer text book page 54 Question 3 and 4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53714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1524" y="321412"/>
            <a:ext cx="31726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Summary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983" y="2028514"/>
            <a:ext cx="80788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We can use the _________________ to compare rates. This can be useful when comparing ________________. </a:t>
            </a:r>
          </a:p>
          <a:p>
            <a:endParaRPr lang="en-AU" sz="2400" dirty="0"/>
          </a:p>
          <a:p>
            <a:r>
              <a:rPr lang="en-AU" sz="2400" dirty="0" smtClean="0"/>
              <a:t>To use the unitary method we first write ___________as the amount per __________ and then see which is __________.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8089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161</TotalTime>
  <Words>584</Words>
  <Application>Microsoft Office PowerPoint</Application>
  <PresentationFormat>Widescreen</PresentationFormat>
  <Paragraphs>153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DJB Fancy Nancy</vt:lpstr>
      <vt:lpstr>Kiwi School Handwriting</vt:lpstr>
      <vt:lpstr>Trebuchet MS</vt:lpstr>
      <vt:lpstr>Wingdings 3</vt:lpstr>
      <vt:lpstr>Facet</vt:lpstr>
      <vt:lpstr>rates</vt:lpstr>
      <vt:lpstr>Learning Intentions</vt:lpstr>
      <vt:lpstr>Rates Quickwrite</vt:lpstr>
      <vt:lpstr>PowerPoint Presentation</vt:lpstr>
      <vt:lpstr>PowerPoint Presentation</vt:lpstr>
      <vt:lpstr>Guided Practice</vt:lpstr>
      <vt:lpstr>Task</vt:lpstr>
      <vt:lpstr>PowerPoint Presentation</vt:lpstr>
      <vt:lpstr>Task </vt:lpstr>
      <vt:lpstr>Summary</vt:lpstr>
      <vt:lpstr>Lesson 2  rates unitary method</vt:lpstr>
      <vt:lpstr>Learning Intentions</vt:lpstr>
      <vt:lpstr>Simplify these rates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 of a number</dc:title>
  <dc:creator>Nine Labuschagne</dc:creator>
  <cp:lastModifiedBy>MORGAN Adam [Baldivis Secondary College]</cp:lastModifiedBy>
  <cp:revision>20</cp:revision>
  <dcterms:created xsi:type="dcterms:W3CDTF">2017-11-05T07:56:06Z</dcterms:created>
  <dcterms:modified xsi:type="dcterms:W3CDTF">2018-10-14T09:57:47Z</dcterms:modified>
</cp:coreProperties>
</file>
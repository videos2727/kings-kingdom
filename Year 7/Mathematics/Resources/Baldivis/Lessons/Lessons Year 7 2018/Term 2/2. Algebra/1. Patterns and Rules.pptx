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6" r:id="rId6"/>
    <p:sldId id="267" r:id="rId7"/>
    <p:sldId id="268" r:id="rId8"/>
    <p:sldId id="269" r:id="rId9"/>
    <p:sldId id="270" r:id="rId10"/>
    <p:sldId id="261" r:id="rId11"/>
    <p:sldId id="271" r:id="rId12"/>
    <p:sldId id="262" r:id="rId13"/>
    <p:sldId id="272" r:id="rId14"/>
    <p:sldId id="264" r:id="rId15"/>
    <p:sldId id="263" r:id="rId16"/>
    <p:sldId id="273" r:id="rId17"/>
    <p:sldId id="275" r:id="rId18"/>
    <p:sldId id="276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FD00E-DD4E-4E86-9433-75DD02BCF64C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827E9-E448-4956-899E-2EE1DBEB75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00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593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81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763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557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3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99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293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223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4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42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8D51-80E0-442B-B380-35708F05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A3EDD-A31C-49FB-A800-66FD64478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5B15-69AA-4433-8351-9D0877F4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287A-A66C-42C6-9395-65766AA9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86F55-3BF2-4B49-A35C-15F7BA1B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484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A7E2-78F3-48DB-AD59-69153AF9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26AA9-438D-4829-942B-8EAB58D3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0CD33-50CB-464C-A117-F851A338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C43E-C688-4CDB-819F-0385903F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6F92-E0AE-4D72-B930-39FCE14C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60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CA0E-7948-4387-BA07-1CD4CAC8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2380E-7FC5-4E7F-B904-D69D6C1A0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8B83-119B-441F-9F17-D2183015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842C4-6187-491D-93BD-81809C2C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540-1EED-49A1-A566-87D00E2A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54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D402-C33F-4ACC-B939-DF25B19C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4E6D-C8A2-4357-BA05-8C10C2744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6320B-6916-4F94-BCD8-7AF36529B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B6150-F293-4420-A1D7-EECB2200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C236D-D376-4F0B-B6C8-5B1069E0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7419-4A26-4E58-A835-1E8368C6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61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78F5-A790-4216-AB07-5A1E1C5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4897-B277-4982-AA24-A57CB131E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82C83-BFED-4B14-8069-12DE00AA2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A5577-857D-4CDA-835E-882331FCA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51271-8435-49E0-9176-0B362303F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E6CDC-E20F-496E-8DE5-FF438173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914D7-5E6B-4EC2-982B-8DED3933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94340-0F78-4A15-9BE7-94141F02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83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18AE-1FF5-44C1-892A-AED89588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27417-F053-41C3-BD8F-8D6E15B1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7A42D-F862-43FD-88D0-3CC9B360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98AF4-8694-4009-AC41-436580E6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74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CA1D9-E02E-40BE-A798-317AB7D0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1EC03-C8A7-4E41-A0AE-B7685559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5EF3D-7CE2-4420-9B5D-BF3001BD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73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036C-A88F-48B4-8EAD-B38E9DA8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A559-66F7-4F1C-8A41-B5D357B5C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26BF7-8E40-442E-A4E0-EEA55FEFF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6F030-94D3-42DA-A144-28FD43E9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45C14-B43E-4FA9-B7E9-A33FEE6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5E724-76A8-4F41-BD5D-9C52BFE0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74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372B-15D6-405B-A199-869CE027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F6EF6-A4B2-471A-A338-F1D6DF329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1138D-B266-44D2-A52A-B7305FBB4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34E67-7146-46D3-B7F8-A33B8664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82045-F29C-44DF-9A0C-0D693A37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6276D-9698-4349-8B2C-CB6764EF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43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D2B3-7817-4A4B-A967-64344E9E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9F40E-4FF5-4FA7-A25D-58F0401A4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C7A8-6C63-407A-975E-A16F8CFF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7ADCC-6D62-4ED2-A062-24E7B322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C97B-CC8A-420E-A0ED-B98B950B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68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10CFA-EB12-45BC-8898-2F1A707FE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2655A-3AB0-4E3D-ABB8-A11A1E4B2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1103C-D098-4FCD-9B3A-7942EA04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90A4-8002-4F24-987F-6ECF79FA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1683-DE79-4905-8816-93B7E6F0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40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78005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551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3004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96874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950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DAA67-E1AD-4042-AF99-C7EC86DD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15632-5CFD-4ACD-80AB-C988F9AEE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778D1-640A-4D4B-84B7-BFB6C3449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C1583-4CF0-4BCD-A8CF-A8015109E765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F2B1F-DEBF-4BD9-A3AA-94BDD119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2595E-C7A4-4493-87DB-79361C885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84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45E9-8BD8-4079-9DCE-8EA186422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NEW TOPIC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E85C0-0656-4A56-BFB8-1D2E86C02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47263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Pattern’s and Rules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DF72AC-23EA-4488-B3F1-93B9066EA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1129440"/>
            <a:ext cx="11141916" cy="465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9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E64D2-EECE-45DB-B592-C55242D9F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473" y="117987"/>
            <a:ext cx="7685570" cy="66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255A8E-9AC3-4EF1-8A40-3E5FB3FF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350" y="129785"/>
            <a:ext cx="5085255" cy="65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3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D069-BE1D-479F-B954-394E336BEC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684-06B3-475D-862B-4A08E309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26" y="0"/>
            <a:ext cx="10180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B345-FEA0-4722-9F68-3F5220E3F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0E9C0-3257-4E36-86F0-FDF8F41A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64" y="0"/>
            <a:ext cx="10505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Find the volume of the following: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135464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E9060B-143A-4A46-B4C5-BDD2A2478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58" y="3167154"/>
            <a:ext cx="3321368" cy="299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53" y="278490"/>
            <a:ext cx="10465948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is this special pattern called?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1EB0E3-BE62-4D93-8761-E32B759C33C9}"/>
              </a:ext>
            </a:extLst>
          </p:cNvPr>
          <p:cNvSpPr/>
          <p:nvPr/>
        </p:nvSpPr>
        <p:spPr>
          <a:xfrm>
            <a:off x="2562548" y="2306258"/>
            <a:ext cx="63610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400" b="1" dirty="0"/>
              <a:t>0, 1, 1, 2, 3, 5, 8, 13, 21, 34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4773DE-CD88-45A8-BE1F-20006C815FB7}"/>
              </a:ext>
            </a:extLst>
          </p:cNvPr>
          <p:cNvSpPr/>
          <p:nvPr/>
        </p:nvSpPr>
        <p:spPr>
          <a:xfrm>
            <a:off x="559849" y="5698465"/>
            <a:ext cx="4395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b="0" i="0" u="none" strike="noStrike" dirty="0">
                <a:solidFill>
                  <a:srgbClr val="5B5B5B"/>
                </a:solidFill>
                <a:effectLst/>
                <a:latin typeface="Open Sans"/>
              </a:rPr>
              <a:t>The rule: </a:t>
            </a:r>
            <a:r>
              <a:rPr lang="en-AU" sz="3200" b="0" i="0" u="none" strike="noStrike" dirty="0" err="1">
                <a:solidFill>
                  <a:srgbClr val="5B5B5B"/>
                </a:solidFill>
                <a:effectLst/>
                <a:latin typeface="Open Sans"/>
              </a:rPr>
              <a:t>x</a:t>
            </a:r>
            <a:r>
              <a:rPr lang="en-AU" sz="3200" b="0" i="0" u="none" strike="noStrike" baseline="-25000" dirty="0" err="1">
                <a:solidFill>
                  <a:srgbClr val="5B5B5B"/>
                </a:solidFill>
                <a:effectLst/>
                <a:latin typeface="&amp;quot"/>
              </a:rPr>
              <a:t>n</a:t>
            </a:r>
            <a:r>
              <a:rPr lang="en-AU" sz="3200" b="0" i="0" u="none" strike="noStrike" dirty="0">
                <a:solidFill>
                  <a:srgbClr val="5B5B5B"/>
                </a:solidFill>
                <a:effectLst/>
                <a:latin typeface="Open Sans"/>
              </a:rPr>
              <a:t> = x</a:t>
            </a:r>
            <a:r>
              <a:rPr lang="en-AU" sz="3200" b="0" i="0" u="none" strike="noStrike" baseline="-25000" dirty="0">
                <a:solidFill>
                  <a:srgbClr val="5B5B5B"/>
                </a:solidFill>
                <a:effectLst/>
                <a:latin typeface="&amp;quot"/>
              </a:rPr>
              <a:t>n-1</a:t>
            </a:r>
            <a:r>
              <a:rPr lang="en-AU" sz="3200" b="0" i="0" u="none" strike="noStrike" dirty="0">
                <a:solidFill>
                  <a:srgbClr val="5B5B5B"/>
                </a:solidFill>
                <a:effectLst/>
                <a:latin typeface="Open Sans"/>
              </a:rPr>
              <a:t> + x</a:t>
            </a:r>
            <a:r>
              <a:rPr lang="en-AU" sz="3200" b="0" i="0" u="none" strike="noStrike" baseline="-25000" dirty="0">
                <a:solidFill>
                  <a:srgbClr val="5B5B5B"/>
                </a:solidFill>
                <a:effectLst/>
                <a:latin typeface="&amp;quot"/>
              </a:rPr>
              <a:t>n-2</a:t>
            </a:r>
            <a:r>
              <a:rPr lang="en-AU" sz="3200" b="0" i="0" u="none" strike="noStrike" dirty="0">
                <a:solidFill>
                  <a:srgbClr val="5B5B5B"/>
                </a:solidFill>
                <a:effectLst/>
                <a:latin typeface="Open Sans"/>
              </a:rPr>
              <a:t>.</a:t>
            </a:r>
            <a:endParaRPr lang="en-AU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1253D-F1A8-46C8-8117-444F06402410}"/>
              </a:ext>
            </a:extLst>
          </p:cNvPr>
          <p:cNvSpPr/>
          <p:nvPr/>
        </p:nvSpPr>
        <p:spPr>
          <a:xfrm>
            <a:off x="3348821" y="3651002"/>
            <a:ext cx="4788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b="1" i="0" u="none" strike="noStrike" dirty="0">
                <a:solidFill>
                  <a:srgbClr val="5B5B5B"/>
                </a:solidFill>
                <a:effectLst/>
                <a:latin typeface="Open Sans"/>
              </a:rPr>
              <a:t>The Fibonacci Sequence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32065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Using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Math can be used to describe relationships in the word around us.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9B8031-BEBE-4272-A1FC-DC4B67934F40}"/>
              </a:ext>
            </a:extLst>
          </p:cNvPr>
          <p:cNvSpPr txBox="1"/>
          <p:nvPr/>
        </p:nvSpPr>
        <p:spPr>
          <a:xfrm>
            <a:off x="0" y="2499446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Sequence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Term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5F6CE-28AB-4606-8A31-F8BFE1BE4A19}"/>
              </a:ext>
            </a:extLst>
          </p:cNvPr>
          <p:cNvSpPr txBox="1"/>
          <p:nvPr/>
        </p:nvSpPr>
        <p:spPr>
          <a:xfrm>
            <a:off x="2087662" y="2499446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number pattern can be called a </a:t>
            </a:r>
            <a:r>
              <a:rPr lang="en-AU" sz="2399" b="1" dirty="0">
                <a:solidFill>
                  <a:srgbClr val="7030A0"/>
                </a:solidFill>
                <a:latin typeface="Calibri" panose="020F0502020204030204"/>
              </a:rPr>
              <a:t>sequence</a:t>
            </a: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Each number in the sequence is called a </a:t>
            </a:r>
            <a:r>
              <a:rPr lang="en-AU" sz="2399" b="1" dirty="0">
                <a:solidFill>
                  <a:srgbClr val="00B050"/>
                </a:solidFill>
                <a:latin typeface="Calibri" panose="020F0502020204030204"/>
              </a:rPr>
              <a:t>term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US" sz="2399" dirty="0">
                <a:latin typeface="Calibri" panose="020F0502020204030204"/>
              </a:rPr>
              <a:t>A sequence has a </a:t>
            </a:r>
            <a:r>
              <a:rPr lang="en-US" sz="2399" b="1" dirty="0">
                <a:solidFill>
                  <a:srgbClr val="FFC000"/>
                </a:solidFill>
                <a:latin typeface="Calibri" panose="020F0502020204030204"/>
              </a:rPr>
              <a:t>rule</a:t>
            </a:r>
            <a:r>
              <a:rPr lang="en-US" sz="2399" dirty="0">
                <a:latin typeface="Calibri" panose="020F0502020204030204"/>
              </a:rPr>
              <a:t> that describes the pattern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970A8-6C4E-4AED-B1E4-0793FADD1828}"/>
              </a:ext>
            </a:extLst>
          </p:cNvPr>
          <p:cNvSpPr/>
          <p:nvPr/>
        </p:nvSpPr>
        <p:spPr>
          <a:xfrm>
            <a:off x="5195737" y="5126149"/>
            <a:ext cx="63610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400" b="1" dirty="0"/>
              <a:t>0, 1, 1, 2, 3, 5, 8, 13, 21, 34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35449-1289-474B-8965-2393599BD117}"/>
              </a:ext>
            </a:extLst>
          </p:cNvPr>
          <p:cNvSpPr/>
          <p:nvPr/>
        </p:nvSpPr>
        <p:spPr>
          <a:xfrm>
            <a:off x="6282223" y="6084599"/>
            <a:ext cx="4395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b="0" i="0" u="none" strike="noStrike" dirty="0">
                <a:effectLst/>
                <a:latin typeface="Open Sans"/>
              </a:rPr>
              <a:t>The rule: </a:t>
            </a:r>
            <a:r>
              <a:rPr lang="en-AU" sz="3200" b="0" i="0" u="none" strike="noStrike" dirty="0" err="1">
                <a:effectLst/>
                <a:latin typeface="Open Sans"/>
              </a:rPr>
              <a:t>x</a:t>
            </a:r>
            <a:r>
              <a:rPr lang="en-AU" sz="3200" b="0" i="0" u="none" strike="noStrike" baseline="-25000" dirty="0" err="1">
                <a:effectLst/>
                <a:latin typeface="&amp;quot"/>
              </a:rPr>
              <a:t>n</a:t>
            </a:r>
            <a:r>
              <a:rPr lang="en-AU" sz="3200" b="0" i="0" u="none" strike="noStrike" dirty="0">
                <a:effectLst/>
                <a:latin typeface="Open Sans"/>
              </a:rPr>
              <a:t> = x</a:t>
            </a:r>
            <a:r>
              <a:rPr lang="en-AU" sz="3200" b="0" i="0" u="none" strike="noStrike" baseline="-25000" dirty="0">
                <a:effectLst/>
                <a:latin typeface="&amp;quot"/>
              </a:rPr>
              <a:t>n-1</a:t>
            </a:r>
            <a:r>
              <a:rPr lang="en-AU" sz="3200" b="0" i="0" u="none" strike="noStrike" dirty="0">
                <a:effectLst/>
                <a:latin typeface="Open Sans"/>
              </a:rPr>
              <a:t> + x</a:t>
            </a:r>
            <a:r>
              <a:rPr lang="en-AU" sz="3200" b="0" i="0" u="none" strike="noStrike" baseline="-25000" dirty="0">
                <a:effectLst/>
                <a:latin typeface="&amp;quot"/>
              </a:rPr>
              <a:t>n-2</a:t>
            </a:r>
            <a:r>
              <a:rPr lang="en-AU" sz="3200" b="0" i="0" u="none" strike="noStrike" dirty="0">
                <a:effectLst/>
                <a:latin typeface="Open Sans"/>
              </a:rPr>
              <a:t>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106D046-CDDB-4206-9E55-8BA860F8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85640"/>
            <a:ext cx="12192000" cy="39961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289545" y="3551411"/>
            <a:ext cx="6536009" cy="1197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E8165-A8B3-404D-A706-A78E0FB6B257}"/>
              </a:ext>
            </a:extLst>
          </p:cNvPr>
          <p:cNvSpPr/>
          <p:nvPr/>
        </p:nvSpPr>
        <p:spPr>
          <a:xfrm>
            <a:off x="7008434" y="3551412"/>
            <a:ext cx="5022732" cy="737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CA3D4B-2F91-4032-AC28-33F7F52B3A77}"/>
              </a:ext>
            </a:extLst>
          </p:cNvPr>
          <p:cNvSpPr/>
          <p:nvPr/>
        </p:nvSpPr>
        <p:spPr>
          <a:xfrm>
            <a:off x="234990" y="4713047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3B75C-6F8B-4380-BCC4-4C866494E30C}"/>
              </a:ext>
            </a:extLst>
          </p:cNvPr>
          <p:cNvSpPr/>
          <p:nvPr/>
        </p:nvSpPr>
        <p:spPr>
          <a:xfrm>
            <a:off x="6695014" y="4748980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25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12F244-AE21-43A3-A983-C47711E30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9788"/>
            <a:ext cx="12192000" cy="128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Input and Output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D3B19D7-6175-47BF-A1F6-5757F1D17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94" t="16144" r="3663"/>
          <a:stretch/>
        </p:blipFill>
        <p:spPr>
          <a:xfrm>
            <a:off x="1939805" y="1423915"/>
            <a:ext cx="10190333" cy="39621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D6BFB4-F03D-4425-AC62-E3685B0953E4}"/>
              </a:ext>
            </a:extLst>
          </p:cNvPr>
          <p:cNvSpPr/>
          <p:nvPr/>
        </p:nvSpPr>
        <p:spPr>
          <a:xfrm>
            <a:off x="1938214" y="1881894"/>
            <a:ext cx="10161363" cy="2318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93B72-26A5-4146-8D85-80149F007B17}"/>
              </a:ext>
            </a:extLst>
          </p:cNvPr>
          <p:cNvSpPr/>
          <p:nvPr/>
        </p:nvSpPr>
        <p:spPr>
          <a:xfrm>
            <a:off x="1938214" y="4349827"/>
            <a:ext cx="10161353" cy="1225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1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E0D10-BBEF-44E1-AF63-9CA0E3601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23916"/>
            <a:ext cx="12192000" cy="530961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77168" y="2489528"/>
            <a:ext cx="5202755" cy="38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4E661-C636-4838-A036-036F3041502C}"/>
              </a:ext>
            </a:extLst>
          </p:cNvPr>
          <p:cNvSpPr/>
          <p:nvPr/>
        </p:nvSpPr>
        <p:spPr>
          <a:xfrm>
            <a:off x="1588" y="3597623"/>
            <a:ext cx="8245710" cy="856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7597E-21FF-4E65-A12B-59925C21D59B}"/>
              </a:ext>
            </a:extLst>
          </p:cNvPr>
          <p:cNvSpPr/>
          <p:nvPr/>
        </p:nvSpPr>
        <p:spPr>
          <a:xfrm>
            <a:off x="360465" y="4454012"/>
            <a:ext cx="8352882" cy="1008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C9A07-6C60-4F1C-98B7-02C9CF25DC09}"/>
              </a:ext>
            </a:extLst>
          </p:cNvPr>
          <p:cNvSpPr/>
          <p:nvPr/>
        </p:nvSpPr>
        <p:spPr>
          <a:xfrm>
            <a:off x="418476" y="5579714"/>
            <a:ext cx="11771938" cy="1092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6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B4332-46EE-4E8F-BA3E-DB560852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64"/>
            <a:ext cx="12192000" cy="32963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7EFBC-8ED6-43F3-90F0-2F022CCD5340}"/>
              </a:ext>
            </a:extLst>
          </p:cNvPr>
          <p:cNvSpPr/>
          <p:nvPr/>
        </p:nvSpPr>
        <p:spPr>
          <a:xfrm>
            <a:off x="90077" y="2187677"/>
            <a:ext cx="10157101" cy="1440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ED232-49EB-4D5A-BAD8-862F9876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5763"/>
            <a:ext cx="12192000" cy="22266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5EED34-7A37-4CBC-BC24-A791160F1F43}"/>
              </a:ext>
            </a:extLst>
          </p:cNvPr>
          <p:cNvSpPr/>
          <p:nvPr/>
        </p:nvSpPr>
        <p:spPr>
          <a:xfrm>
            <a:off x="90076" y="4185762"/>
            <a:ext cx="10670347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52E8A-DA54-4BFE-91E0-4D138B3C14A6}"/>
              </a:ext>
            </a:extLst>
          </p:cNvPr>
          <p:cNvSpPr/>
          <p:nvPr/>
        </p:nvSpPr>
        <p:spPr>
          <a:xfrm>
            <a:off x="90075" y="5273927"/>
            <a:ext cx="11980005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7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E644B1-C790-4116-B200-5EF58D5B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3350"/>
            <a:ext cx="6235455" cy="4181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C508AC-7226-485E-BB5A-0A9AB1E6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810" y="1"/>
            <a:ext cx="6021189" cy="44245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381F1F-54B1-4C8E-A01E-4FE5B1BCA46C}"/>
              </a:ext>
            </a:extLst>
          </p:cNvPr>
          <p:cNvSpPr/>
          <p:nvPr/>
        </p:nvSpPr>
        <p:spPr>
          <a:xfrm>
            <a:off x="1718549" y="5633337"/>
            <a:ext cx="8651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Complete Summary and Exit Pass once done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256</Words>
  <Application>Microsoft Office PowerPoint</Application>
  <PresentationFormat>Widescreen</PresentationFormat>
  <Paragraphs>82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&amp;quot</vt:lpstr>
      <vt:lpstr>Arial</vt:lpstr>
      <vt:lpstr>Calibri</vt:lpstr>
      <vt:lpstr>Calibri Light</vt:lpstr>
      <vt:lpstr>Fragment Core</vt:lpstr>
      <vt:lpstr>Kiwi School Handwriting</vt:lpstr>
      <vt:lpstr>Open Sans</vt:lpstr>
      <vt:lpstr>Office Theme</vt:lpstr>
      <vt:lpstr>NEW TOPIC</vt:lpstr>
      <vt:lpstr>PowerPoint Presentation</vt:lpstr>
      <vt:lpstr>PowerPoint Presentation</vt:lpstr>
      <vt:lpstr>Pattern’s and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From Last Lesson</vt:lpstr>
      <vt:lpstr>What is this special pattern called?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</dc:title>
  <dc:creator>Nine LABUSCHAGNE</dc:creator>
  <cp:lastModifiedBy>LABUSCHAGNE Nine [Baldivis Secondary College]</cp:lastModifiedBy>
  <cp:revision>13</cp:revision>
  <dcterms:created xsi:type="dcterms:W3CDTF">2018-04-23T08:11:50Z</dcterms:created>
  <dcterms:modified xsi:type="dcterms:W3CDTF">2018-04-23T09:16:24Z</dcterms:modified>
</cp:coreProperties>
</file>
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76" r:id="rId3"/>
    <p:sldMasterId id="2147483683" r:id="rId4"/>
  </p:sldMasterIdLst>
  <p:notesMasterIdLst>
    <p:notesMasterId r:id="rId20"/>
  </p:notesMasterIdLst>
  <p:sldIdLst>
    <p:sldId id="256" r:id="rId5"/>
    <p:sldId id="259" r:id="rId6"/>
    <p:sldId id="257" r:id="rId7"/>
    <p:sldId id="274" r:id="rId8"/>
    <p:sldId id="260" r:id="rId9"/>
    <p:sldId id="268" r:id="rId10"/>
    <p:sldId id="269" r:id="rId11"/>
    <p:sldId id="272" r:id="rId12"/>
    <p:sldId id="273" r:id="rId13"/>
    <p:sldId id="264" r:id="rId14"/>
    <p:sldId id="276" r:id="rId15"/>
    <p:sldId id="262" r:id="rId16"/>
    <p:sldId id="275" r:id="rId17"/>
    <p:sldId id="277" r:id="rId18"/>
    <p:sldId id="278" r:id="rId1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562"/>
    <p:restoredTop sz="94595"/>
  </p:normalViewPr>
  <p:slideViewPr>
    <p:cSldViewPr>
      <p:cViewPr varScale="1">
        <p:scale>
          <a:sx n="76" d="100"/>
          <a:sy n="76" d="100"/>
        </p:scale>
        <p:origin x="200" y="6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FC7FB-E879-7646-AAC5-321B9D9D1CD7}" type="datetimeFigureOut">
              <a:rPr lang="en-US" smtClean="0"/>
              <a:t>6/3/18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FCB157-6B69-0840-99A3-BD643DD10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916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41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6778"/>
            <a:ext cx="9144000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 smtClean="0"/>
              <a:t> Free PPT _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67544" y="2276872"/>
            <a:ext cx="8229600" cy="3600400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401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 smtClean="0"/>
              <a:t>Free PPT _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123728" y="1268760"/>
            <a:ext cx="6563072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2134072" y="1844824"/>
            <a:ext cx="6563072" cy="4147865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6818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7CEADFD-91F4-4207-BFAF-E95A14A19A93}" type="datetimeFigureOut">
              <a:rPr lang="en-GB" smtClean="0"/>
              <a:t>03/06/2018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9769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7CEADFD-91F4-4207-BFAF-E95A14A19A93}" type="datetimeFigureOut">
              <a:rPr lang="en-GB" smtClean="0"/>
              <a:t>03/06/2018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255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86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86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33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90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11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19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1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8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35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7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572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/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6778"/>
            <a:ext cx="9144000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 smtClean="0"/>
              <a:t> Free PPT _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67544" y="2276872"/>
            <a:ext cx="8229600" cy="3600400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  <p:extLst/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 smtClean="0"/>
              <a:t>Free PPT _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123728" y="1268760"/>
            <a:ext cx="6563072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2134072" y="1844824"/>
            <a:ext cx="6563072" cy="4147865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  <p:extLst/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7CEADFD-91F4-4207-BFAF-E95A14A19A93}" type="datetimeFigureOut">
              <a:rPr lang="en-GB" smtClean="0"/>
              <a:t>03/06/2018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45718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theme" Target="../theme/theme3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1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33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73" r:id="rId4"/>
    <p:sldLayoutId id="2147483675" r:id="rId5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5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6666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2" r:id="rId4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77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www.free-powerpoint-templates-design.com/free-powerpoint-templates-desig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74178" y="4060535"/>
            <a:ext cx="44999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Year 7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Mrs</a:t>
            </a:r>
            <a:r>
              <a:rPr lang="en-US" altLang="ko-KR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F</a:t>
            </a:r>
            <a:endParaRPr kumimoji="0" lang="en-US" altLang="ko-KR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4256914" y="2585096"/>
            <a:ext cx="527418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3600" b="1" smtClean="0">
                <a:solidFill>
                  <a:schemeClr val="bg1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Translation Continued</a:t>
            </a:r>
            <a:endParaRPr lang="en-US" altLang="ko-KR" sz="3600" b="1" dirty="0" smtClean="0">
              <a:solidFill>
                <a:schemeClr val="bg1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0" y="6597932"/>
            <a:ext cx="9144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ALLPPT.com _ Free PowerPoint Templates, Diagrams and Charts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256914" y="3384371"/>
            <a:ext cx="5472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Translation </a:t>
            </a:r>
            <a:r>
              <a:rPr lang="en-US" sz="2800" smtClean="0"/>
              <a:t>using coordinates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41221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95027" y="83830"/>
            <a:ext cx="7524328" cy="1069514"/>
          </a:xfrm>
        </p:spPr>
        <p:txBody>
          <a:bodyPr/>
          <a:lstStyle/>
          <a:p>
            <a:r>
              <a:rPr lang="en-US" altLang="ko-KR" dirty="0" smtClean="0"/>
              <a:t> Opener</a:t>
            </a:r>
            <a:endParaRPr lang="ko-KR" alt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altLang="ko-KR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674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Transformation</a:t>
            </a:r>
            <a:endParaRPr lang="ko-KR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195736" y="1986166"/>
            <a:ext cx="6768752" cy="866770"/>
          </a:xfrm>
        </p:spPr>
        <p:txBody>
          <a:bodyPr wrap="none" anchor="t" anchorCtr="0"/>
          <a:lstStyle/>
          <a:p>
            <a:r>
              <a:rPr lang="en-US" sz="1800" dirty="0" smtClean="0">
                <a:latin typeface="+mj-lt"/>
              </a:rPr>
              <a:t>A Transformation is the re-positioning of a shape </a:t>
            </a:r>
            <a:r>
              <a:rPr lang="en-US" sz="1800" dirty="0">
                <a:latin typeface="+mj-lt"/>
              </a:rPr>
              <a:t>without </a:t>
            </a:r>
            <a:endParaRPr lang="en-US" sz="1800" dirty="0" smtClean="0">
              <a:latin typeface="+mj-lt"/>
            </a:endParaRPr>
          </a:p>
          <a:p>
            <a:r>
              <a:rPr lang="en-US" sz="1800" dirty="0" smtClean="0">
                <a:latin typeface="+mj-lt"/>
              </a:rPr>
              <a:t>changing </a:t>
            </a:r>
            <a:r>
              <a:rPr lang="en-US" sz="1800" dirty="0">
                <a:latin typeface="+mj-lt"/>
              </a:rPr>
              <a:t>a</a:t>
            </a:r>
            <a:r>
              <a:rPr lang="en-US" sz="1800" dirty="0" smtClean="0">
                <a:latin typeface="+mj-lt"/>
              </a:rPr>
              <a:t>ny </a:t>
            </a:r>
            <a:r>
              <a:rPr lang="en-US" sz="1800" dirty="0">
                <a:latin typeface="+mj-lt"/>
              </a:rPr>
              <a:t>of </a:t>
            </a:r>
            <a:r>
              <a:rPr lang="en-US" sz="1800" dirty="0" smtClean="0">
                <a:latin typeface="+mj-lt"/>
              </a:rPr>
              <a:t>it’s </a:t>
            </a:r>
            <a:r>
              <a:rPr lang="en-US" sz="1800" dirty="0">
                <a:latin typeface="+mj-lt"/>
              </a:rPr>
              <a:t>dimensions. </a:t>
            </a:r>
            <a:r>
              <a:rPr lang="en-US" sz="1800" dirty="0" smtClean="0">
                <a:latin typeface="+mj-lt"/>
              </a:rPr>
              <a:t>: </a:t>
            </a:r>
            <a:endParaRPr lang="en-US" sz="1800" dirty="0">
              <a:latin typeface="+mj-lt"/>
            </a:endParaRPr>
          </a:p>
          <a:p>
            <a:pPr lvl="0"/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922" y="1986166"/>
            <a:ext cx="1979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a </a:t>
            </a:r>
          </a:p>
          <a:p>
            <a:r>
              <a:rPr lang="en-US" dirty="0" smtClean="0"/>
              <a:t>Transformation?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34076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0" y="17728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123728" y="1986166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94992" y="3066285"/>
            <a:ext cx="5073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 are three main </a:t>
            </a:r>
            <a:r>
              <a:rPr lang="en-US" dirty="0" smtClean="0"/>
              <a:t>types of Transformations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231956" y="3730530"/>
            <a:ext cx="3717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Reflections - often called a </a:t>
            </a:r>
            <a:r>
              <a:rPr lang="en-US" b="1" smtClean="0"/>
              <a:t>Flip 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212639" y="4709438"/>
            <a:ext cx="3960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Translations - often called a Slide 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208886" y="5890609"/>
            <a:ext cx="3652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Rotations - often called a Turn 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143" y="134076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we draw and describe Transformations?</a:t>
            </a:r>
            <a:endParaRPr lang="en-AU" sz="24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4220" y="2990139"/>
            <a:ext cx="1410268" cy="148078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8406" y="4149046"/>
            <a:ext cx="1403313" cy="1490116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5838" y="5098357"/>
            <a:ext cx="1428650" cy="158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76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3" grpId="0"/>
      <p:bldP spid="13" grpId="0"/>
      <p:bldP spid="14" grpId="0"/>
      <p:bldP spid="15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Transformation</a:t>
            </a:r>
            <a:endParaRPr lang="ko-KR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264039" y="1905403"/>
            <a:ext cx="6768752" cy="1222223"/>
          </a:xfrm>
        </p:spPr>
        <p:txBody>
          <a:bodyPr wrap="none" anchor="t" anchorCtr="0"/>
          <a:lstStyle/>
          <a:p>
            <a:r>
              <a:rPr lang="en-US" b="1" u="sng" dirty="0" smtClean="0"/>
              <a:t>Reflections</a:t>
            </a:r>
            <a:r>
              <a:rPr lang="en-US" b="1" dirty="0" smtClean="0"/>
              <a:t> </a:t>
            </a:r>
            <a:r>
              <a:rPr lang="en-US" dirty="0" smtClean="0"/>
              <a:t>is the </a:t>
            </a:r>
            <a:r>
              <a:rPr lang="en-US" b="1" u="sng" dirty="0" smtClean="0"/>
              <a:t>Flip</a:t>
            </a:r>
            <a:r>
              <a:rPr lang="en-US" b="1" dirty="0" smtClean="0"/>
              <a:t> </a:t>
            </a:r>
            <a:r>
              <a:rPr lang="en-US" dirty="0" smtClean="0"/>
              <a:t>of an object or shape.</a:t>
            </a:r>
            <a:endParaRPr lang="en-US" dirty="0"/>
          </a:p>
          <a:p>
            <a:r>
              <a:rPr lang="en-US" dirty="0" smtClean="0"/>
              <a:t>Reflecting </a:t>
            </a:r>
            <a:r>
              <a:rPr lang="en-US" dirty="0"/>
              <a:t>an object about a </a:t>
            </a:r>
            <a:r>
              <a:rPr lang="en-US" dirty="0" smtClean="0"/>
              <a:t>fixed </a:t>
            </a:r>
            <a:r>
              <a:rPr lang="en-US" dirty="0"/>
              <a:t>line called the axis of </a:t>
            </a:r>
            <a:endParaRPr lang="en-US" dirty="0" smtClean="0"/>
          </a:p>
          <a:p>
            <a:r>
              <a:rPr lang="en-US" dirty="0" smtClean="0"/>
              <a:t>reflection</a:t>
            </a:r>
            <a:r>
              <a:rPr lang="en-US" dirty="0"/>
              <a:t>. </a:t>
            </a:r>
          </a:p>
          <a:p>
            <a:pPr lvl="0"/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922" y="1986166"/>
            <a:ext cx="1979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a </a:t>
            </a:r>
          </a:p>
          <a:p>
            <a:r>
              <a:rPr lang="en-US" dirty="0" smtClean="0"/>
              <a:t>Reflection?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34076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0" y="17728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123728" y="1986166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43" y="134076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we draw and describe Transformations?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240" y="3230597"/>
            <a:ext cx="1878146" cy="19720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4093" y="3210682"/>
            <a:ext cx="1892037" cy="1976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102" y="3208389"/>
            <a:ext cx="2015695" cy="19614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63638" y="55899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3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Transformation</a:t>
            </a:r>
            <a:endParaRPr lang="ko-KR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195736" y="1986166"/>
            <a:ext cx="6768752" cy="1010786"/>
          </a:xfrm>
        </p:spPr>
        <p:txBody>
          <a:bodyPr wrap="none" anchor="t" anchorCtr="0"/>
          <a:lstStyle/>
          <a:p>
            <a:r>
              <a:rPr lang="en-GB" dirty="0"/>
              <a:t>When reflecting images in a mirror line, each point must </a:t>
            </a:r>
            <a:r>
              <a:rPr lang="en-GB" dirty="0" smtClean="0"/>
              <a:t>be</a:t>
            </a:r>
          </a:p>
          <a:p>
            <a:r>
              <a:rPr lang="en-GB" dirty="0" smtClean="0"/>
              <a:t> </a:t>
            </a:r>
            <a:r>
              <a:rPr lang="en-GB" dirty="0"/>
              <a:t>the same distance away from the mirror line on each side</a:t>
            </a:r>
          </a:p>
          <a:p>
            <a:pPr lvl="0"/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922" y="1986166"/>
            <a:ext cx="1979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a </a:t>
            </a:r>
          </a:p>
          <a:p>
            <a:r>
              <a:rPr lang="en-US" dirty="0" smtClean="0"/>
              <a:t>Reflection?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34076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0" y="17728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123728" y="1986166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43" y="134076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we draw and describe Transformations?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43823" y="2887135"/>
            <a:ext cx="54394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Points are reflect at right angles to the mirror line</a:t>
            </a:r>
          </a:p>
          <a:p>
            <a:endParaRPr lang="en-US" dirty="0"/>
          </a:p>
        </p:txBody>
      </p:sp>
      <p:pic>
        <p:nvPicPr>
          <p:cNvPr id="19" name="table">
            <a:extLst>
              <a:ext uri="{FF2B5EF4-FFF2-40B4-BE49-F238E27FC236}">
                <a16:creationId xmlns:a16="http://schemas.microsoft.com/office/drawing/2014/main" xmlns="" id="{20C142C9-2960-4A62-919D-A45807570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155" y="3901844"/>
            <a:ext cx="2763770" cy="2499161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BB100C5B-F881-41EE-AB05-DCD59DC3F34D}"/>
              </a:ext>
            </a:extLst>
          </p:cNvPr>
          <p:cNvCxnSpPr/>
          <p:nvPr/>
        </p:nvCxnSpPr>
        <p:spPr>
          <a:xfrm>
            <a:off x="3849040" y="3533466"/>
            <a:ext cx="0" cy="3068960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xmlns="" id="{CC9F184F-8C71-44B3-B86D-D9C4C7881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270560"/>
              </p:ext>
            </p:extLst>
          </p:nvPr>
        </p:nvGraphicFramePr>
        <p:xfrm>
          <a:off x="5950981" y="3497556"/>
          <a:ext cx="2672584" cy="29261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407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715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509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3407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3407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33407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33407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3407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28353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353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353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353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8353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353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8353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83539"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4" marR="91434" marT="45724" marB="45724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0529C24C-50A0-4ACC-9803-16B0C12574C0}"/>
              </a:ext>
            </a:extLst>
          </p:cNvPr>
          <p:cNvCxnSpPr>
            <a:cxnSpLocks/>
          </p:cNvCxnSpPr>
          <p:nvPr/>
        </p:nvCxnSpPr>
        <p:spPr>
          <a:xfrm flipV="1">
            <a:off x="7295980" y="5000041"/>
            <a:ext cx="317455" cy="302768"/>
          </a:xfrm>
          <a:prstGeom prst="straightConnector1">
            <a:avLst/>
          </a:prstGeom>
          <a:ln>
            <a:solidFill>
              <a:srgbClr val="FFFF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14230E86-25B6-409A-8DFE-37D4FA31C686}"/>
              </a:ext>
            </a:extLst>
          </p:cNvPr>
          <p:cNvCxnSpPr>
            <a:cxnSpLocks/>
          </p:cNvCxnSpPr>
          <p:nvPr/>
        </p:nvCxnSpPr>
        <p:spPr>
          <a:xfrm>
            <a:off x="5833376" y="3391959"/>
            <a:ext cx="2900855" cy="3137338"/>
          </a:xfrm>
          <a:prstGeom prst="lin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056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3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3">
            <a:extLst>
              <a:ext uri="{FF2B5EF4-FFF2-40B4-BE49-F238E27FC236}">
                <a16:creationId xmlns:a16="http://schemas.microsoft.com/office/drawing/2014/main" xmlns="" id="{D497C8A1-2662-4C58-A3E4-8D0AF677C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92150"/>
            <a:ext cx="334803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dirty="0"/>
              <a:t>What letter would you get if you reflected each shape in its corresponding mirror line?</a:t>
            </a:r>
          </a:p>
          <a:p>
            <a:pPr>
              <a:spcBef>
                <a:spcPct val="50000"/>
              </a:spcBef>
            </a:pPr>
            <a:endParaRPr lang="en-GB" altLang="en-US" dirty="0"/>
          </a:p>
          <a:p>
            <a:pPr>
              <a:spcBef>
                <a:spcPct val="50000"/>
              </a:spcBef>
            </a:pPr>
            <a:endParaRPr lang="en-US" altLang="en-US" dirty="0"/>
          </a:p>
        </p:txBody>
      </p:sp>
      <p:grpSp>
        <p:nvGrpSpPr>
          <p:cNvPr id="3084" name="Group 12">
            <a:extLst>
              <a:ext uri="{FF2B5EF4-FFF2-40B4-BE49-F238E27FC236}">
                <a16:creationId xmlns:a16="http://schemas.microsoft.com/office/drawing/2014/main" xmlns="" id="{4068D14B-1AF3-4BBD-9E62-963F812AE54C}"/>
              </a:ext>
            </a:extLst>
          </p:cNvPr>
          <p:cNvGrpSpPr>
            <a:grpSpLocks/>
          </p:cNvGrpSpPr>
          <p:nvPr/>
        </p:nvGrpSpPr>
        <p:grpSpPr bwMode="auto">
          <a:xfrm>
            <a:off x="3492500" y="765175"/>
            <a:ext cx="5400675" cy="5400675"/>
            <a:chOff x="2200" y="482"/>
            <a:chExt cx="3402" cy="3402"/>
          </a:xfrm>
        </p:grpSpPr>
        <p:pic>
          <p:nvPicPr>
            <p:cNvPr id="3082" name="Picture 10" descr="t reflect copy">
              <a:extLst>
                <a:ext uri="{FF2B5EF4-FFF2-40B4-BE49-F238E27FC236}">
                  <a16:creationId xmlns:a16="http://schemas.microsoft.com/office/drawing/2014/main" xmlns="" id="{F6910729-6208-4D82-9346-F994DC2630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482"/>
              <a:ext cx="3402" cy="34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83" name="Rectangle 11">
              <a:extLst>
                <a:ext uri="{FF2B5EF4-FFF2-40B4-BE49-F238E27FC236}">
                  <a16:creationId xmlns:a16="http://schemas.microsoft.com/office/drawing/2014/main" xmlns="" id="{07F2BCC8-862C-4C49-892D-377B34C2F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2750"/>
              <a:ext cx="454" cy="907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63532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2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20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>
            <a:extLst>
              <a:ext uri="{FF2B5EF4-FFF2-40B4-BE49-F238E27FC236}">
                <a16:creationId xmlns:a16="http://schemas.microsoft.com/office/drawing/2014/main" xmlns="" id="{9654E9A2-0DE1-4FC4-A1C9-F59BA7E9B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92150"/>
            <a:ext cx="334803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dirty="0"/>
              <a:t>What letter would you get if you reflected each shape in its corresponding mirror line?</a:t>
            </a:r>
          </a:p>
          <a:p>
            <a:pPr>
              <a:spcBef>
                <a:spcPct val="50000"/>
              </a:spcBef>
            </a:pPr>
            <a:endParaRPr lang="en-GB" altLang="en-US" dirty="0"/>
          </a:p>
          <a:p>
            <a:pPr>
              <a:spcBef>
                <a:spcPct val="50000"/>
              </a:spcBef>
            </a:pPr>
            <a:endParaRPr lang="en-US" altLang="en-US" dirty="0"/>
          </a:p>
        </p:txBody>
      </p:sp>
      <p:grpSp>
        <p:nvGrpSpPr>
          <p:cNvPr id="4115" name="Group 19">
            <a:extLst>
              <a:ext uri="{FF2B5EF4-FFF2-40B4-BE49-F238E27FC236}">
                <a16:creationId xmlns:a16="http://schemas.microsoft.com/office/drawing/2014/main" xmlns="" id="{4914D3DB-7D9C-4141-8AA4-8D15872D1F9B}"/>
              </a:ext>
            </a:extLst>
          </p:cNvPr>
          <p:cNvGrpSpPr>
            <a:grpSpLocks/>
          </p:cNvGrpSpPr>
          <p:nvPr/>
        </p:nvGrpSpPr>
        <p:grpSpPr bwMode="auto">
          <a:xfrm>
            <a:off x="3494088" y="752475"/>
            <a:ext cx="5400675" cy="5400675"/>
            <a:chOff x="2200" y="482"/>
            <a:chExt cx="3402" cy="3402"/>
          </a:xfrm>
        </p:grpSpPr>
        <p:pic>
          <p:nvPicPr>
            <p:cNvPr id="4101" name="Picture 5" descr="t reflect copy">
              <a:extLst>
                <a:ext uri="{FF2B5EF4-FFF2-40B4-BE49-F238E27FC236}">
                  <a16:creationId xmlns:a16="http://schemas.microsoft.com/office/drawing/2014/main" xmlns="" id="{3A891D53-14B6-4054-BB18-37458485D2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0" y="482"/>
              <a:ext cx="3402" cy="34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02" name="Rectangle 6">
              <a:extLst>
                <a:ext uri="{FF2B5EF4-FFF2-40B4-BE49-F238E27FC236}">
                  <a16:creationId xmlns:a16="http://schemas.microsoft.com/office/drawing/2014/main" xmlns="" id="{540F0B2A-8C63-4B8F-A467-7402494D5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2750"/>
              <a:ext cx="454" cy="907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</p:grpSp>
      <p:sp>
        <p:nvSpPr>
          <p:cNvPr id="4103" name="Line 7">
            <a:extLst>
              <a:ext uri="{FF2B5EF4-FFF2-40B4-BE49-F238E27FC236}">
                <a16:creationId xmlns:a16="http://schemas.microsoft.com/office/drawing/2014/main" xmlns="" id="{DFB664CE-7E47-41FA-8B39-0BE6385DD8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2205038"/>
            <a:ext cx="0" cy="7191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04" name="Line 8">
            <a:extLst>
              <a:ext uri="{FF2B5EF4-FFF2-40B4-BE49-F238E27FC236}">
                <a16:creationId xmlns:a16="http://schemas.microsoft.com/office/drawing/2014/main" xmlns="" id="{F3EC8B9D-4B79-4ACE-91B1-37FBE33B23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2225" y="2205038"/>
            <a:ext cx="0" cy="7191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07" name="Line 11">
            <a:extLst>
              <a:ext uri="{FF2B5EF4-FFF2-40B4-BE49-F238E27FC236}">
                <a16:creationId xmlns:a16="http://schemas.microsoft.com/office/drawing/2014/main" xmlns="" id="{B6C9ED50-1EBD-4A0F-8DDC-F40FDC50CB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2924175"/>
            <a:ext cx="0" cy="719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08" name="Line 12">
            <a:extLst>
              <a:ext uri="{FF2B5EF4-FFF2-40B4-BE49-F238E27FC236}">
                <a16:creationId xmlns:a16="http://schemas.microsoft.com/office/drawing/2014/main" xmlns="" id="{84F2C750-A4AB-4ED1-BBAA-A0C78E3EC9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3338" y="2952750"/>
            <a:ext cx="0" cy="719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xmlns="" id="{26EEFCD4-27EF-4B73-AE1F-D4541F190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75" y="3657600"/>
            <a:ext cx="2182813" cy="70961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110" name="Line 14">
            <a:extLst>
              <a:ext uri="{FF2B5EF4-FFF2-40B4-BE49-F238E27FC236}">
                <a16:creationId xmlns:a16="http://schemas.microsoft.com/office/drawing/2014/main" xmlns="" id="{69E1B925-E610-4713-BB86-45BDEE3ADC2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5288" y="4367213"/>
            <a:ext cx="1054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11" name="Line 15">
            <a:extLst>
              <a:ext uri="{FF2B5EF4-FFF2-40B4-BE49-F238E27FC236}">
                <a16:creationId xmlns:a16="http://schemas.microsoft.com/office/drawing/2014/main" xmlns="" id="{AA0C74EE-B3BC-4E8B-928B-24A124FBDD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5288" y="5788025"/>
            <a:ext cx="1054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12" name="Line 16">
            <a:extLst>
              <a:ext uri="{FF2B5EF4-FFF2-40B4-BE49-F238E27FC236}">
                <a16:creationId xmlns:a16="http://schemas.microsoft.com/office/drawing/2014/main" xmlns="" id="{FF072D40-E52B-4FE2-8863-7DB95FD11E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0075" y="4378325"/>
            <a:ext cx="1054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13" name="Line 17">
            <a:extLst>
              <a:ext uri="{FF2B5EF4-FFF2-40B4-BE49-F238E27FC236}">
                <a16:creationId xmlns:a16="http://schemas.microsoft.com/office/drawing/2014/main" xmlns="" id="{96DA7CB1-E160-43D8-8C00-322AC997B6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8963" y="5788025"/>
            <a:ext cx="1054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114" name="Rectangle 18">
            <a:extLst>
              <a:ext uri="{FF2B5EF4-FFF2-40B4-BE49-F238E27FC236}">
                <a16:creationId xmlns:a16="http://schemas.microsoft.com/office/drawing/2014/main" xmlns="" id="{5EEB0D23-D95A-4FA1-AD23-3E6C16D1D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4367213"/>
            <a:ext cx="731838" cy="1420812"/>
          </a:xfrm>
          <a:prstGeom prst="rect">
            <a:avLst/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2179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0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20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0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20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20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20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20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20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2" presetID="49" presetClass="exit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4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4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xmlns="" id="{E13A5E59-233C-4BCD-86A5-F6CC78526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92150"/>
            <a:ext cx="334803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dirty="0"/>
              <a:t>What letter would you get if you reflected each shape in its corresponding mirror line?</a:t>
            </a:r>
          </a:p>
          <a:p>
            <a:pPr>
              <a:spcBef>
                <a:spcPct val="50000"/>
              </a:spcBef>
            </a:pPr>
            <a:endParaRPr lang="en-GB" altLang="en-US" dirty="0"/>
          </a:p>
          <a:p>
            <a:pPr>
              <a:spcBef>
                <a:spcPct val="50000"/>
              </a:spcBef>
            </a:pPr>
            <a:endParaRPr lang="en-US" altLang="en-US" dirty="0"/>
          </a:p>
        </p:txBody>
      </p:sp>
      <p:pic>
        <p:nvPicPr>
          <p:cNvPr id="7175" name="Picture 7" descr="u reflect copy">
            <a:extLst>
              <a:ext uri="{FF2B5EF4-FFF2-40B4-BE49-F238E27FC236}">
                <a16:creationId xmlns:a16="http://schemas.microsoft.com/office/drawing/2014/main" xmlns="" id="{9A70E930-37FE-430C-BD18-F86FE533E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438" y="1557338"/>
            <a:ext cx="5400675" cy="432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360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2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2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xmlns="" id="{837DCD4B-C6FD-489D-8130-F3742F108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92150"/>
            <a:ext cx="334803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dirty="0"/>
              <a:t>What letter would you get if you reflected each shape in its corresponding mirror line?</a:t>
            </a:r>
          </a:p>
          <a:p>
            <a:pPr>
              <a:spcBef>
                <a:spcPct val="50000"/>
              </a:spcBef>
            </a:pPr>
            <a:endParaRPr lang="en-GB" altLang="en-US" dirty="0"/>
          </a:p>
          <a:p>
            <a:pPr>
              <a:spcBef>
                <a:spcPct val="50000"/>
              </a:spcBef>
            </a:pPr>
            <a:endParaRPr lang="en-US" altLang="en-US" dirty="0"/>
          </a:p>
        </p:txBody>
      </p:sp>
      <p:pic>
        <p:nvPicPr>
          <p:cNvPr id="8195" name="Picture 3" descr="u reflect copy">
            <a:extLst>
              <a:ext uri="{FF2B5EF4-FFF2-40B4-BE49-F238E27FC236}">
                <a16:creationId xmlns:a16="http://schemas.microsoft.com/office/drawing/2014/main" xmlns="" id="{BB3DDCC1-77AE-4E06-95DE-5A0CCCF74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438" y="1557338"/>
            <a:ext cx="5400675" cy="432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6" name="Line 4">
            <a:extLst>
              <a:ext uri="{FF2B5EF4-FFF2-40B4-BE49-F238E27FC236}">
                <a16:creationId xmlns:a16="http://schemas.microsoft.com/office/drawing/2014/main" xmlns="" id="{155B1B7C-9F4E-4950-85D2-13C97595420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6650" y="2270125"/>
            <a:ext cx="2698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197" name="Line 5">
            <a:extLst>
              <a:ext uri="{FF2B5EF4-FFF2-40B4-BE49-F238E27FC236}">
                <a16:creationId xmlns:a16="http://schemas.microsoft.com/office/drawing/2014/main" xmlns="" id="{324F5BAE-5FA8-4986-B700-35C3EA69DA8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32638" y="2270125"/>
            <a:ext cx="2698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xmlns="" id="{86798BF0-8C21-4AE1-BE9D-88F80D470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2425" y="2270125"/>
            <a:ext cx="396875" cy="182880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8199" name="Line 7">
            <a:extLst>
              <a:ext uri="{FF2B5EF4-FFF2-40B4-BE49-F238E27FC236}">
                <a16:creationId xmlns:a16="http://schemas.microsoft.com/office/drawing/2014/main" xmlns="" id="{8D392F82-0113-4F5A-AA36-C9E1431C84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9488" y="3389313"/>
            <a:ext cx="1000125" cy="1000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200" name="Line 8">
            <a:extLst>
              <a:ext uri="{FF2B5EF4-FFF2-40B4-BE49-F238E27FC236}">
                <a16:creationId xmlns:a16="http://schemas.microsoft.com/office/drawing/2014/main" xmlns="" id="{EFAE7780-7791-4E16-A9AC-17ADAB9703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06925" y="2303463"/>
            <a:ext cx="1000125" cy="1000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201" name="Line 9">
            <a:extLst>
              <a:ext uri="{FF2B5EF4-FFF2-40B4-BE49-F238E27FC236}">
                <a16:creationId xmlns:a16="http://schemas.microsoft.com/office/drawing/2014/main" xmlns="" id="{EEFB6ABF-C3E5-4223-9630-2DDD651F3B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8763" y="4852988"/>
            <a:ext cx="635000" cy="63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202" name="Line 10">
            <a:extLst>
              <a:ext uri="{FF2B5EF4-FFF2-40B4-BE49-F238E27FC236}">
                <a16:creationId xmlns:a16="http://schemas.microsoft.com/office/drawing/2014/main" xmlns="" id="{473D4451-B1ED-4743-BE13-6BD492C90B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48375" y="4122738"/>
            <a:ext cx="635000" cy="63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203" name="Line 11">
            <a:extLst>
              <a:ext uri="{FF2B5EF4-FFF2-40B4-BE49-F238E27FC236}">
                <a16:creationId xmlns:a16="http://schemas.microsoft.com/office/drawing/2014/main" xmlns="" id="{22883F74-85A3-43CD-827B-AB329F42EA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94263" y="4292600"/>
            <a:ext cx="527050" cy="527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grpSp>
        <p:nvGrpSpPr>
          <p:cNvPr id="8207" name="Group 15">
            <a:extLst>
              <a:ext uri="{FF2B5EF4-FFF2-40B4-BE49-F238E27FC236}">
                <a16:creationId xmlns:a16="http://schemas.microsoft.com/office/drawing/2014/main" xmlns="" id="{69EEADEF-8E39-44D8-87EF-7E7D696A2A51}"/>
              </a:ext>
            </a:extLst>
          </p:cNvPr>
          <p:cNvGrpSpPr>
            <a:grpSpLocks/>
          </p:cNvGrpSpPr>
          <p:nvPr/>
        </p:nvGrpSpPr>
        <p:grpSpPr bwMode="auto">
          <a:xfrm>
            <a:off x="5637213" y="2259013"/>
            <a:ext cx="1076325" cy="1839912"/>
            <a:chOff x="3551" y="1423"/>
            <a:chExt cx="678" cy="1159"/>
          </a:xfrm>
        </p:grpSpPr>
        <p:sp>
          <p:nvSpPr>
            <p:cNvPr id="8205" name="Rectangle 13">
              <a:extLst>
                <a:ext uri="{FF2B5EF4-FFF2-40B4-BE49-F238E27FC236}">
                  <a16:creationId xmlns:a16="http://schemas.microsoft.com/office/drawing/2014/main" xmlns="" id="{CD3BD900-BC59-41F5-BDC4-3B082003A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1" y="1423"/>
              <a:ext cx="230" cy="115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8206" name="Rectangle 14">
              <a:extLst>
                <a:ext uri="{FF2B5EF4-FFF2-40B4-BE49-F238E27FC236}">
                  <a16:creationId xmlns:a16="http://schemas.microsoft.com/office/drawing/2014/main" xmlns="" id="{36BE7167-1A25-432F-98C7-4DB97E52A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4" y="2345"/>
              <a:ext cx="515" cy="23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</p:grpSp>
      <p:sp>
        <p:nvSpPr>
          <p:cNvPr id="8204" name="Line 12">
            <a:extLst>
              <a:ext uri="{FF2B5EF4-FFF2-40B4-BE49-F238E27FC236}">
                <a16:creationId xmlns:a16="http://schemas.microsoft.com/office/drawing/2014/main" xmlns="" id="{59819FCB-C72F-4AC9-87D7-B99EA1E5AD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75288" y="3711575"/>
            <a:ext cx="527050" cy="527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9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20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20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20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20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20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20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20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49" presetClass="exit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Transformation</a:t>
            </a:r>
            <a:endParaRPr lang="ko-KR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195736" y="1986166"/>
            <a:ext cx="6768752" cy="1226810"/>
          </a:xfrm>
        </p:spPr>
        <p:txBody>
          <a:bodyPr wrap="none" anchor="t" anchorCtr="0"/>
          <a:lstStyle/>
          <a:p>
            <a:r>
              <a:rPr lang="en-US" b="1" u="sng" dirty="0" smtClean="0"/>
              <a:t>Translations </a:t>
            </a:r>
            <a:r>
              <a:rPr lang="en-US" dirty="0" smtClean="0"/>
              <a:t>is the </a:t>
            </a:r>
            <a:r>
              <a:rPr lang="en-US" b="1" u="sng" dirty="0" smtClean="0"/>
              <a:t>Slide</a:t>
            </a:r>
            <a:r>
              <a:rPr lang="en-US" b="1" dirty="0" smtClean="0"/>
              <a:t> </a:t>
            </a:r>
            <a:r>
              <a:rPr lang="en-US" dirty="0" smtClean="0"/>
              <a:t>of an object or a shape.</a:t>
            </a:r>
          </a:p>
          <a:p>
            <a:r>
              <a:rPr lang="en-US" dirty="0" smtClean="0"/>
              <a:t>This transformation </a:t>
            </a:r>
            <a:r>
              <a:rPr lang="en-US" dirty="0"/>
              <a:t>involves sliding </a:t>
            </a:r>
            <a:r>
              <a:rPr lang="en-US" dirty="0" smtClean="0"/>
              <a:t>an </a:t>
            </a:r>
            <a:r>
              <a:rPr lang="en-US" dirty="0"/>
              <a:t>object either </a:t>
            </a:r>
            <a:endParaRPr lang="en-US" dirty="0" smtClean="0"/>
          </a:p>
          <a:p>
            <a:r>
              <a:rPr lang="en-US" dirty="0" smtClean="0"/>
              <a:t>horizontally</a:t>
            </a:r>
            <a:r>
              <a:rPr lang="en-US" dirty="0"/>
              <a:t>, </a:t>
            </a:r>
            <a:r>
              <a:rPr lang="en-US" dirty="0" smtClean="0"/>
              <a:t>vertically </a:t>
            </a:r>
            <a:r>
              <a:rPr lang="en-US" dirty="0"/>
              <a:t>or both. </a:t>
            </a:r>
          </a:p>
          <a:p>
            <a:pPr lvl="0"/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922" y="1986166"/>
            <a:ext cx="1979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a </a:t>
            </a:r>
          </a:p>
          <a:p>
            <a:r>
              <a:rPr lang="en-US" dirty="0" smtClean="0"/>
              <a:t>Translation?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34076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0" y="17728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907704" y="1802433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43" y="134076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we draw and describe Transformations?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21248" y="3212976"/>
            <a:ext cx="58387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 part of the object is moved the same distance. </a:t>
            </a:r>
          </a:p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431" y="3763363"/>
            <a:ext cx="2412460" cy="213735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739917"/>
            <a:ext cx="2328910" cy="21373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750" y="3739917"/>
            <a:ext cx="1993738" cy="213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33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Transformation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3922" y="1986166"/>
            <a:ext cx="1979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a </a:t>
            </a:r>
          </a:p>
          <a:p>
            <a:r>
              <a:rPr lang="en-US" dirty="0" smtClean="0"/>
              <a:t>Translation?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34076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0" y="17728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19672" y="1772816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43" y="134076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we draw and describe Transformations?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 flipH="1">
            <a:off x="2003634" y="1911314"/>
            <a:ext cx="6290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translation is a SLIDE transformation, where every point is moved the each same distance either left, right, up or down.</a:t>
            </a:r>
            <a:endParaRPr lang="en-AU" dirty="0"/>
          </a:p>
        </p:txBody>
      </p:sp>
      <p:sp>
        <p:nvSpPr>
          <p:cNvPr id="16" name="Isosceles Triangle 7"/>
          <p:cNvSpPr/>
          <p:nvPr/>
        </p:nvSpPr>
        <p:spPr>
          <a:xfrm>
            <a:off x="2124791" y="3720402"/>
            <a:ext cx="1440160" cy="130836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Isosceles Triangle 15"/>
          <p:cNvSpPr/>
          <p:nvPr/>
        </p:nvSpPr>
        <p:spPr>
          <a:xfrm>
            <a:off x="4429047" y="3720402"/>
            <a:ext cx="1440160" cy="130836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844871" y="3720402"/>
            <a:ext cx="230425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869943" y="5442307"/>
            <a:ext cx="64343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translation right 3cm.</a:t>
            </a:r>
          </a:p>
          <a:p>
            <a:endParaRPr lang="en-AU" dirty="0"/>
          </a:p>
          <a:p>
            <a:r>
              <a:rPr lang="en-AU" dirty="0" smtClean="0"/>
              <a:t>Every point on the triangle needs to move exactly 3 cm to the right</a:t>
            </a:r>
            <a:endParaRPr lang="en-AU" dirty="0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2124791" y="5016621"/>
            <a:ext cx="230425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281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17" grpId="0" animBg="1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 txBox="1">
            <a:spLocks noGrp="1"/>
          </p:cNvSpPr>
          <p:nvPr>
            <p:ph type="title"/>
          </p:nvPr>
        </p:nvSpPr>
        <p:spPr>
          <a:xfrm>
            <a:off x="204227" y="13297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/>
              <a:t>Describing a translation</a:t>
            </a:r>
            <a:endParaRPr lang="en-AU" sz="44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197" y="1340768"/>
            <a:ext cx="6087393" cy="2348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46" y="4350205"/>
            <a:ext cx="6762527" cy="2401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787946" y="3835224"/>
            <a:ext cx="952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You Try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790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Transformation</a:t>
            </a:r>
            <a:endParaRPr lang="ko-KR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195736" y="1986166"/>
            <a:ext cx="6768752" cy="1226810"/>
          </a:xfrm>
        </p:spPr>
        <p:txBody>
          <a:bodyPr wrap="none" anchor="t" anchorCtr="0"/>
          <a:lstStyle/>
          <a:p>
            <a:r>
              <a:rPr lang="en-US" b="1" dirty="0" smtClean="0"/>
              <a:t>Rotations is the </a:t>
            </a:r>
            <a:r>
              <a:rPr lang="en-US" b="1" u="sng" dirty="0" smtClean="0"/>
              <a:t>turn </a:t>
            </a:r>
            <a:r>
              <a:rPr lang="en-US" b="1" dirty="0" smtClean="0"/>
              <a:t>of an object or a shape</a:t>
            </a:r>
          </a:p>
          <a:p>
            <a:r>
              <a:rPr lang="en-US" dirty="0" smtClean="0">
                <a:latin typeface="Calibri" charset="0"/>
              </a:rPr>
              <a:t>A </a:t>
            </a:r>
            <a:r>
              <a:rPr lang="en-US" dirty="0">
                <a:latin typeface="Calibri" charset="0"/>
              </a:rPr>
              <a:t>transformation of turning an object about a fixed point </a:t>
            </a:r>
            <a:r>
              <a:rPr lang="en-US" dirty="0" smtClean="0">
                <a:latin typeface="Calibri" charset="0"/>
              </a:rPr>
              <a:t>either</a:t>
            </a:r>
          </a:p>
          <a:p>
            <a:r>
              <a:rPr lang="en-US" dirty="0" smtClean="0">
                <a:latin typeface="Calibri" charset="0"/>
              </a:rPr>
              <a:t> </a:t>
            </a:r>
            <a:r>
              <a:rPr lang="en-US" b="1" dirty="0" smtClean="0">
                <a:latin typeface="Calibri" charset="0"/>
              </a:rPr>
              <a:t>clockwise </a:t>
            </a:r>
            <a:r>
              <a:rPr lang="en-US" dirty="0" smtClean="0">
                <a:latin typeface="Calibri" charset="0"/>
              </a:rPr>
              <a:t>or </a:t>
            </a:r>
            <a:r>
              <a:rPr lang="en-US" b="1" dirty="0" smtClean="0">
                <a:latin typeface="Calibri" charset="0"/>
              </a:rPr>
              <a:t>anti clockwise</a:t>
            </a:r>
            <a:r>
              <a:rPr lang="en-US" dirty="0">
                <a:latin typeface="Calibri" charset="0"/>
              </a:rPr>
              <a:t>. </a:t>
            </a:r>
            <a:endParaRPr lang="en-US" dirty="0"/>
          </a:p>
          <a:p>
            <a:r>
              <a:rPr lang="en-AU" dirty="0"/>
              <a:t>It is when a shape is rotated without reflecting, translating </a:t>
            </a:r>
            <a:endParaRPr lang="en-AU" dirty="0" smtClean="0"/>
          </a:p>
          <a:p>
            <a:r>
              <a:rPr lang="en-AU" dirty="0" smtClean="0"/>
              <a:t>or </a:t>
            </a:r>
            <a:r>
              <a:rPr lang="en-AU" dirty="0"/>
              <a:t>changing it’s size</a:t>
            </a:r>
          </a:p>
          <a:p>
            <a:endParaRPr lang="en-US" b="1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23922" y="1986166"/>
            <a:ext cx="1979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a </a:t>
            </a:r>
          </a:p>
          <a:p>
            <a:r>
              <a:rPr lang="en-US" dirty="0" smtClean="0"/>
              <a:t>Rotation?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34076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0" y="17728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403648" y="1772816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43" y="134076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we draw and describe Transformations?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3831280"/>
            <a:ext cx="2259131" cy="27332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3805434"/>
            <a:ext cx="4464495" cy="275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5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777"/>
            <a:ext cx="9144000" cy="1069514"/>
          </a:xfrm>
        </p:spPr>
        <p:txBody>
          <a:bodyPr/>
          <a:lstStyle/>
          <a:p>
            <a:r>
              <a:rPr lang="en-US" dirty="0" smtClean="0"/>
              <a:t>Try These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640201"/>
            <a:ext cx="7086600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783" y="3578037"/>
            <a:ext cx="66198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6860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Your turn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sz="2800" dirty="0" smtClean="0"/>
              <a:t>My Transformation Booklet</a:t>
            </a:r>
          </a:p>
        </p:txBody>
      </p:sp>
    </p:spTree>
    <p:extLst>
      <p:ext uri="{BB962C8B-B14F-4D97-AF65-F5344CB8AC3E}">
        <p14:creationId xmlns:p14="http://schemas.microsoft.com/office/powerpoint/2010/main" val="1045304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hool-children-students-little-boy-and-girl-kids-PowerPoint-Templates-Standard" id="{E921ACDF-A95A-EF4C-83B5-0738232F1269}" vid="{02EEBE43-7A07-CD49-AD62-BAF144CE842F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hool-children-students-little-boy-and-girl-kids-PowerPoint-Templates-Standard" id="{E921ACDF-A95A-EF4C-83B5-0738232F1269}" vid="{F3BEF7F4-9112-B645-8A7D-4BB675DD0331}"/>
    </a:ext>
  </a:extLst>
</a:theme>
</file>

<file path=ppt/theme/theme3.xml><?xml version="1.0" encoding="utf-8"?>
<a:theme xmlns:a="http://schemas.openxmlformats.org/drawingml/2006/main" name="School-children-students-little-boy-and-girl-kids-PowerPoint-Templates-Standar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hool-children-students-little-boy-and-girl-kids-PowerPoint-Templates-Standard" id="{E921ACDF-A95A-EF4C-83B5-0738232F1269}" vid="{02EEBE43-7A07-CD49-AD62-BAF144CE842F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hool-children-students-little-boy-and-girl-kids-PowerPoint-Templates-Standard" id="{E921ACDF-A95A-EF4C-83B5-0738232F1269}" vid="{F3BEF7F4-9112-B645-8A7D-4BB675DD0331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School-children-students-little-boy-and-girl-kids-PowerPoint-Templates-Standard</Template>
  <TotalTime>3138</TotalTime>
  <Words>417</Words>
  <Application>Microsoft Macintosh PowerPoint</Application>
  <PresentationFormat>On-screen Show (4:3)</PresentationFormat>
  <Paragraphs>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Calibri</vt:lpstr>
      <vt:lpstr>맑은 고딕</vt:lpstr>
      <vt:lpstr>Arial</vt:lpstr>
      <vt:lpstr>Office Theme</vt:lpstr>
      <vt:lpstr>Custom Design</vt:lpstr>
      <vt:lpstr>School-children-students-little-boy-and-girl-kids-PowerPoint-Templates-Standard</vt:lpstr>
      <vt:lpstr>1_Custom Design</vt:lpstr>
      <vt:lpstr>PowerPoint Presentation</vt:lpstr>
      <vt:lpstr> Opener</vt:lpstr>
      <vt:lpstr> Transformation</vt:lpstr>
      <vt:lpstr> Transformation</vt:lpstr>
      <vt:lpstr> Transformation</vt:lpstr>
      <vt:lpstr>PowerPoint Presentation</vt:lpstr>
      <vt:lpstr>PowerPoint Presentation</vt:lpstr>
      <vt:lpstr>PowerPoint Presentation</vt:lpstr>
      <vt:lpstr>PowerPoint Presentation</vt:lpstr>
      <vt:lpstr> Transformation</vt:lpstr>
      <vt:lpstr> Transformation</vt:lpstr>
      <vt:lpstr>Describing a translation</vt:lpstr>
      <vt:lpstr> Transformation</vt:lpstr>
      <vt:lpstr>Try These</vt:lpstr>
      <vt:lpstr>Your turn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 Farmer</dc:creator>
  <cp:lastModifiedBy>Kath Farmer</cp:lastModifiedBy>
  <cp:revision>15</cp:revision>
  <dcterms:created xsi:type="dcterms:W3CDTF">2018-06-01T00:04:46Z</dcterms:created>
  <dcterms:modified xsi:type="dcterms:W3CDTF">2018-06-03T07:09:34Z</dcterms:modified>
</cp:coreProperties>
</file>
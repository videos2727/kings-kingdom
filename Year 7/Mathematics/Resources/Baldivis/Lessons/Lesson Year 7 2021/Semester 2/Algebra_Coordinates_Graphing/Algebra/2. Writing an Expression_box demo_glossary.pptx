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0" r:id="rId2"/>
    <p:sldId id="266" r:id="rId3"/>
    <p:sldId id="267" r:id="rId4"/>
    <p:sldId id="268" r:id="rId5"/>
    <p:sldId id="269" r:id="rId6"/>
    <p:sldId id="261" r:id="rId7"/>
    <p:sldId id="284" r:id="rId8"/>
    <p:sldId id="263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62" r:id="rId20"/>
    <p:sldId id="280" r:id="rId21"/>
    <p:sldId id="283" r:id="rId22"/>
    <p:sldId id="264" r:id="rId23"/>
    <p:sldId id="265" r:id="rId24"/>
    <p:sldId id="28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BBC67-49DE-43DF-9DCF-3A31788E3861}" type="datetimeFigureOut">
              <a:rPr lang="en-AU" smtClean="0"/>
              <a:t>23/07/2021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3507A-984A-4007-98FA-2D5D65E0E4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39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6750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4438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9154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40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92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80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08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982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50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96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25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23375-3DDF-4597-8D86-AADD2B16C1A3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1655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2225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7317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A1DF7-65EA-42FD-9C4E-F4A917128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D39A7-685F-4516-8963-6DA3F8910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5726A-723A-4350-B5A6-E39C3BF1E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23/07/2021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1DF78-A1AB-425C-837D-57CDA8515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5CE48-903A-45A4-A2D6-CAF765FB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744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6031-C482-4655-B600-D4BEE27C7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5C1E5-F956-42E6-A286-33B7EDD51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9CE26-837D-4A4F-BA00-CBB974664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23/07/2021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48B8F-D64F-4203-907F-8D9A164F6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CC5EE-DC88-4A9C-8E2F-090E3758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14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91498-7D6F-4726-BF99-A7A44EFE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DAB4F-0CB1-4AB6-A2ED-734DF23D0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CCAB1-4CA7-42D4-BD2E-F5819FDA8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23/07/2021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EC992-B397-4A79-B054-8064B22DF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BA326-1524-4403-93AB-D7619DCE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066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D4B0-E254-475D-A65C-06FA03447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4228A-51D9-4407-ABA9-7A0D1AD8AA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999B5-44D3-471C-91F5-793BD8A3A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14318-5B38-4B21-9C50-86B7F3E30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23/07/2021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FE23A-F395-4491-B646-024FEF65E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4C198-C316-48D3-BB89-5ACA5A3F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8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F9C3-14E4-4901-BA26-FE4F0DBD8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8B985-EAEC-4208-BB78-4A6B26DA9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66341-8919-4E42-B44A-122B36733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0601F0-F71D-4CB1-AD15-B65AD6EDE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0908E-29F1-4239-AFBD-B4B6AEAD6A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A8E691-AF22-4395-A143-7001DE31A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23/07/2021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DF02DC-E179-4E08-9715-396680DA2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D6AABB-7223-4978-94DB-0F54D12A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187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AB93F-D30E-46BC-9B1C-529F6D74B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BB8FF4-0467-491B-950E-C20D64ACF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23/07/2021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88981-716A-4581-B006-8073C3F1C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2F127-30C1-4D45-9022-FA68B3F0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5730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7C51E-106C-4710-898C-CF4FA2B64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23/07/2021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5B3AD-13E1-4ABD-990A-3815DD0E7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2D287-63AA-4344-A3DF-6F6723FDA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829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CD7F-71DD-4159-96FD-AF4AC461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7F928-0FFF-48A5-B39D-A5A073CC4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69817-6C5C-45FD-8F71-84A751B78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CCDE3-AF04-444D-9399-C179C10A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23/07/2021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37183-B952-4A4B-932C-63935D0CE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92788-DD19-4548-90AC-F75D90BC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0673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BF14-1BD0-4A5C-8BDF-191ADDF7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EE85D-E787-43AF-BB4E-F7D31D8BB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DE282-63D9-4FC7-9C70-68494C690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0367E-FF45-40F0-BE70-A673B2717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23/07/2021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A6A9D-F2F3-4E7C-93AE-991846C3A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DC0D5-06C4-4B1B-8F76-22C40544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99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41256-5C72-446B-844F-EA057E21F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B6B80-590C-479E-B203-95DE45A94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B377C-24C9-400E-80B7-DD0C526B3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23/07/2021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40FBB-FFAF-4A8F-86D1-EEC7EAE6F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630D9-56B5-4827-A144-2F341CBB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87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D09723-82C2-4712-9A6E-728DC30AD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8558B-07D1-45C5-BA47-447E629AC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1E2F6-4053-4585-A05A-8BD208837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23/07/2021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E8FA9-82C3-471B-8CAF-195F09CC9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66F37-C29E-4108-A6C9-AEDF7D19B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7217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95706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93123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18894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87026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7622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F4082-D74A-4B38-8355-27D19EC3B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5F3BE-3FD3-4A5B-BD1B-3604F109D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5BEFE-E621-4DED-B4C4-615E11F45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89B5E-BCF1-4763-BECE-6503FB349E91}" type="datetimeFigureOut">
              <a:rPr lang="en-AU" smtClean="0"/>
              <a:t>23/07/2021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0D39F-0679-4881-BCF0-4A09AEB71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8384D-8CA2-4950-9F97-054845600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584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0734543" y="5826785"/>
            <a:ext cx="1579377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 smtClean="0">
                <a:solidFill>
                  <a:srgbClr val="7C7F91"/>
                </a:solidFill>
                <a:latin typeface="Fragment Core" panose="02000504040000020003" pitchFamily="50" charset="0"/>
              </a:rPr>
              <a:t>Originally written by Mrs. Stretch Updated by Mrs. McLeod</a:t>
            </a:r>
            <a:endParaRPr lang="en-US" sz="1600" b="1" dirty="0">
              <a:solidFill>
                <a:srgbClr val="7C7F91"/>
              </a:solidFill>
              <a:latin typeface="Fragment Core" panose="02000504040000020003" pitchFamily="50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Finding a Formula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AA431B-9988-43CF-9C8C-523D4E41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40056" cy="39702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04130-FA9B-42A5-A1C3-961645F4C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948" y="1988083"/>
            <a:ext cx="5240687" cy="465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3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0EFF38-42CF-49FA-A5E5-18BC908CA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8" y="65999"/>
            <a:ext cx="7866882" cy="3910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8D1A95-4D63-45DB-99E5-2F8754C07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432" y="4098730"/>
            <a:ext cx="690562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2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63FC52-4AA4-4D61-88C8-BA9698E9C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1" y="-1"/>
            <a:ext cx="7640506" cy="68137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3FDD1E-3364-4D68-98D6-A778B3672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228" y="1083734"/>
            <a:ext cx="5840237" cy="322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49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91C1C-14B1-41BF-B456-2722F173B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1" y="12259"/>
            <a:ext cx="8387071" cy="36815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5C8355-059D-4373-9404-53652A8E0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385" y="2483627"/>
            <a:ext cx="6235196" cy="425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0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1A278-712E-4DAE-A5E9-29A28F380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608" y="2157382"/>
            <a:ext cx="81534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879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332" y="1660666"/>
            <a:ext cx="6801134" cy="5191742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sz="3200" dirty="0"/>
              <a:t>How many blocks are there in the box?</a:t>
            </a:r>
          </a:p>
          <a:p>
            <a:pPr lvl="2"/>
            <a:r>
              <a:rPr lang="en-AU" sz="2800" dirty="0">
                <a:solidFill>
                  <a:srgbClr val="0070C0"/>
                </a:solidFill>
              </a:rPr>
              <a:t>We don’t know……..</a:t>
            </a:r>
          </a:p>
          <a:p>
            <a:pPr lvl="2"/>
            <a:endParaRPr lang="en-AU" sz="3200" dirty="0"/>
          </a:p>
          <a:p>
            <a:pPr marL="457200" indent="-457200">
              <a:buAutoNum type="arabicPeriod"/>
            </a:pPr>
            <a:r>
              <a:rPr lang="en-AU" sz="3200" dirty="0"/>
              <a:t>Lets label the </a:t>
            </a:r>
            <a:r>
              <a:rPr lang="en-AU" sz="3200" dirty="0" smtClean="0"/>
              <a:t>mystery number of blocks in the box …… </a:t>
            </a:r>
            <a:r>
              <a:rPr lang="en-AU" sz="3600" b="1" dirty="0"/>
              <a:t>m</a:t>
            </a:r>
          </a:p>
          <a:p>
            <a:pPr marL="457200" indent="-457200">
              <a:buAutoNum type="arabicPeriod"/>
            </a:pPr>
            <a:endParaRPr lang="en-AU" sz="3600" b="1" dirty="0"/>
          </a:p>
          <a:p>
            <a:pPr marL="914400" lvl="2" indent="0">
              <a:buNone/>
            </a:pPr>
            <a:r>
              <a:rPr lang="en-AU" sz="2800" b="1" dirty="0">
                <a:solidFill>
                  <a:srgbClr val="7030A0"/>
                </a:solidFill>
              </a:rPr>
              <a:t>m </a:t>
            </a:r>
            <a:r>
              <a:rPr lang="en-AU" sz="2800" dirty="0">
                <a:solidFill>
                  <a:srgbClr val="7030A0"/>
                </a:solidFill>
              </a:rPr>
              <a:t>= number of blocks in the box</a:t>
            </a:r>
          </a:p>
          <a:p>
            <a:pPr marL="0" indent="0">
              <a:buNone/>
            </a:pP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E35F49-69E7-486B-B86E-637EE0CEA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91" y="1671079"/>
            <a:ext cx="4653602" cy="48954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B40EE3-778B-4D59-B663-6FF1F69D2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292" y="3440551"/>
            <a:ext cx="1568640" cy="156864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7E1F32-70F9-4EC8-8E5C-9157420003CC}"/>
              </a:ext>
            </a:extLst>
          </p:cNvPr>
          <p:cNvSpPr txBox="1">
            <a:spLocks/>
          </p:cNvSpPr>
          <p:nvPr/>
        </p:nvSpPr>
        <p:spPr>
          <a:xfrm>
            <a:off x="3131454" y="3812854"/>
            <a:ext cx="1050024" cy="824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800" b="1" dirty="0"/>
              <a:t>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4400" b="1" dirty="0"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9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370" y="1262090"/>
            <a:ext cx="6801134" cy="549355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sz="3200" dirty="0"/>
              <a:t>Lets say we add 2 more blocks into the box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3200" b="1" dirty="0">
                <a:solidFill>
                  <a:srgbClr val="0070C0"/>
                </a:solidFill>
                <a:cs typeface="Calibri" panose="020F0502020204030204" pitchFamily="34" charset="0"/>
              </a:rPr>
              <a:t>m + 2 </a:t>
            </a:r>
            <a:r>
              <a:rPr lang="en-AU" sz="3200" b="1" dirty="0" smtClean="0">
                <a:solidFill>
                  <a:srgbClr val="0070C0"/>
                </a:solidFill>
                <a:cs typeface="Calibri" panose="020F0502020204030204" pitchFamily="34" charset="0"/>
              </a:rPr>
              <a:t>is the </a:t>
            </a:r>
            <a:r>
              <a:rPr lang="en-AU" sz="3200" b="1" dirty="0" smtClean="0">
                <a:solidFill>
                  <a:srgbClr val="0070C0"/>
                </a:solidFill>
                <a:cs typeface="Calibri" panose="020F0502020204030204" pitchFamily="34" charset="0"/>
              </a:rPr>
              <a:t>number </a:t>
            </a:r>
            <a:r>
              <a:rPr lang="en-AU" sz="3200" b="1" dirty="0">
                <a:solidFill>
                  <a:srgbClr val="0070C0"/>
                </a:solidFill>
                <a:cs typeface="Calibri" panose="020F0502020204030204" pitchFamily="34" charset="0"/>
              </a:rPr>
              <a:t>of blocks in the box</a:t>
            </a:r>
          </a:p>
          <a:p>
            <a:pPr marL="514350" indent="-514350">
              <a:buFont typeface="+mj-lt"/>
              <a:buAutoNum type="arabicPeriod"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800" dirty="0"/>
              <a:t>m + 2 is the </a:t>
            </a:r>
            <a:r>
              <a:rPr lang="en-US" sz="2800" b="1" dirty="0"/>
              <a:t>expression</a:t>
            </a:r>
          </a:p>
          <a:p>
            <a:pPr marL="0" indent="0">
              <a:buNone/>
            </a:pPr>
            <a:endParaRPr lang="en-US" sz="2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2870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7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370" y="1333228"/>
            <a:ext cx="6801134" cy="55247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Lets go back to just </a:t>
            </a:r>
            <a:r>
              <a:rPr lang="en-AU" sz="3200" b="1" dirty="0">
                <a:cs typeface="Calibri" panose="020F0502020204030204" pitchFamily="34" charset="0"/>
              </a:rPr>
              <a:t>m</a:t>
            </a:r>
            <a:r>
              <a:rPr lang="en-AU" sz="3200" dirty="0">
                <a:cs typeface="Calibri" panose="020F0502020204030204" pitchFamily="34" charset="0"/>
              </a:rPr>
              <a:t> number of blocks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What happens if I take 6 blocks out of the box?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3200" b="1" dirty="0">
                <a:solidFill>
                  <a:srgbClr val="0070C0"/>
                </a:solidFill>
                <a:cs typeface="Calibri" panose="020F0502020204030204" pitchFamily="34" charset="0"/>
              </a:rPr>
              <a:t>m – 6 </a:t>
            </a:r>
            <a:r>
              <a:rPr lang="en-AU" sz="3200" b="1" dirty="0" smtClean="0">
                <a:solidFill>
                  <a:srgbClr val="0070C0"/>
                </a:solidFill>
                <a:cs typeface="Calibri" panose="020F0502020204030204" pitchFamily="34" charset="0"/>
              </a:rPr>
              <a:t>is the </a:t>
            </a:r>
            <a:r>
              <a:rPr lang="en-AU" sz="3200" b="1" dirty="0">
                <a:solidFill>
                  <a:srgbClr val="0070C0"/>
                </a:solidFill>
                <a:cs typeface="Calibri" panose="020F0502020204030204" pitchFamily="34" charset="0"/>
              </a:rPr>
              <a:t>number of blocks in the box</a:t>
            </a:r>
          </a:p>
          <a:p>
            <a:pPr marL="914400" lvl="2" indent="0">
              <a:buNone/>
            </a:pPr>
            <a:endParaRPr lang="en-AU" sz="3200" b="1" dirty="0">
              <a:solidFill>
                <a:srgbClr val="0070C0"/>
              </a:solidFill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– 6 is the </a:t>
            </a:r>
            <a:r>
              <a:rPr lang="en-AU" sz="3200" b="1" dirty="0">
                <a:cs typeface="Calibri" panose="020F0502020204030204" pitchFamily="34" charset="0"/>
              </a:rPr>
              <a:t>expression</a:t>
            </a:r>
          </a:p>
          <a:p>
            <a:pPr marL="0" indent="0">
              <a:buNone/>
            </a:pPr>
            <a:endParaRPr lang="en-AU" sz="3200" b="1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9268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33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2932" y="47050"/>
            <a:ext cx="7074140" cy="1293028"/>
          </a:xfrm>
        </p:spPr>
        <p:txBody>
          <a:bodyPr>
            <a:normAutofit fontScale="90000"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2582" y="1281795"/>
            <a:ext cx="6801134" cy="5544775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AU" sz="3200" dirty="0"/>
              <a:t>What happens if I get another </a:t>
            </a:r>
            <a:r>
              <a:rPr lang="en-AU" sz="3200" dirty="0" smtClean="0"/>
              <a:t>box with the exact same amount of blocks</a:t>
            </a:r>
            <a:endParaRPr lang="en-AU" sz="3200" dirty="0"/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many </a:t>
            </a:r>
            <a:r>
              <a:rPr lang="en-AU" sz="3200" dirty="0" smtClean="0">
                <a:cs typeface="Calibri" panose="020F0502020204030204" pitchFamily="34" charset="0"/>
              </a:rPr>
              <a:t>blocks </a:t>
            </a:r>
            <a:r>
              <a:rPr lang="en-AU" sz="3200" dirty="0">
                <a:cs typeface="Calibri" panose="020F0502020204030204" pitchFamily="34" charset="0"/>
              </a:rPr>
              <a:t>do I have then? 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m + m = number of blocks in the boxes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else can a mathematician write it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2 x m = number of blocks in the boxes</a:t>
            </a:r>
          </a:p>
          <a:p>
            <a:pPr marL="914400" lvl="2" indent="0">
              <a:buNone/>
            </a:pPr>
            <a:r>
              <a:rPr lang="en-AU" sz="2800" dirty="0">
                <a:cs typeface="Calibri" panose="020F0502020204030204" pitchFamily="34" charset="0"/>
              </a:rPr>
              <a:t>Or 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2m = number of blocks in the boxes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310432" y="229929"/>
            <a:ext cx="3606475" cy="3032980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77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5788124-CF5C-458A-868B-ECE6CEB034CA}"/>
              </a:ext>
            </a:extLst>
          </p:cNvPr>
          <p:cNvGrpSpPr/>
          <p:nvPr/>
        </p:nvGrpSpPr>
        <p:grpSpPr>
          <a:xfrm>
            <a:off x="368651" y="3571541"/>
            <a:ext cx="3383208" cy="3181091"/>
            <a:chOff x="368491" y="1671079"/>
            <a:chExt cx="4653602" cy="489549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95DEBD7-4B9D-4215-A312-5F2424501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A0478AF-58F7-4185-8A46-44E255FC8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B5CDB6D3-CC69-49D4-8032-F67EC69F19E4}"/>
                </a:ext>
              </a:extLst>
            </p:cNvPr>
            <p:cNvSpPr txBox="1">
              <a:spLocks/>
            </p:cNvSpPr>
            <p:nvPr/>
          </p:nvSpPr>
          <p:spPr>
            <a:xfrm>
              <a:off x="3067978" y="3875863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3250834" y="2822861"/>
            <a:ext cx="1698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These are</a:t>
            </a:r>
            <a:r>
              <a:rPr lang="en-AU" sz="2400" dirty="0" smtClean="0">
                <a:solidFill>
                  <a:srgbClr val="7030A0"/>
                </a:solidFill>
              </a:rPr>
              <a:t> LIKE TERMS</a:t>
            </a:r>
            <a:endParaRPr lang="en-AU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04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86" y="64893"/>
            <a:ext cx="720167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8302" y="864678"/>
            <a:ext cx="7018202" cy="55247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Lets go back to just </a:t>
            </a:r>
            <a:r>
              <a:rPr lang="en-AU" sz="3200" b="1" dirty="0">
                <a:cs typeface="Calibri" panose="020F0502020204030204" pitchFamily="34" charset="0"/>
              </a:rPr>
              <a:t>m</a:t>
            </a:r>
            <a:r>
              <a:rPr lang="en-AU" sz="3200" dirty="0">
                <a:cs typeface="Calibri" panose="020F0502020204030204" pitchFamily="34" charset="0"/>
              </a:rPr>
              <a:t> number of blocks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I add 3 blocks to the box.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What if I told you there is a total of 10 blocks in the box.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 = 10</a:t>
            </a:r>
          </a:p>
          <a:p>
            <a:pPr marL="514350" indent="-514350">
              <a:buFont typeface="+mj-lt"/>
              <a:buAutoNum type="arabicPeriod"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4886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20167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8302" y="1392072"/>
            <a:ext cx="7018202" cy="4997378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AU" sz="36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 = 10</a:t>
            </a:r>
          </a:p>
          <a:p>
            <a:pPr marL="0" indent="0">
              <a:buNone/>
            </a:pPr>
            <a:endParaRPr lang="en-AU" sz="3600" b="1" dirty="0">
              <a:solidFill>
                <a:schemeClr val="accent5">
                  <a:lumMod val="50000"/>
                </a:schemeClr>
              </a:solidFill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+ 3 and 10 are the expressions</a:t>
            </a:r>
          </a:p>
          <a:p>
            <a:pPr marL="0" indent="0">
              <a:buNone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+ 3 = 10 is the equation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How would we work out what </a:t>
            </a:r>
            <a:r>
              <a:rPr lang="en-US" sz="3200" b="1" dirty="0">
                <a:solidFill>
                  <a:srgbClr val="FF0000"/>
                </a:solidFill>
              </a:rPr>
              <a:t>m</a:t>
            </a:r>
            <a:r>
              <a:rPr lang="en-US" sz="3200" dirty="0">
                <a:solidFill>
                  <a:srgbClr val="FF0000"/>
                </a:solidFill>
              </a:rPr>
              <a:t> is?</a:t>
            </a: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7898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F0FC07-8402-4E80-BC34-C424B2483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76" y="498477"/>
            <a:ext cx="7609517" cy="6156489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C23801-CF96-40F3-932D-E6A223D9636C}"/>
              </a:ext>
            </a:extLst>
          </p:cNvPr>
          <p:cNvSpPr txBox="1">
            <a:spLocks/>
          </p:cNvSpPr>
          <p:nvPr/>
        </p:nvSpPr>
        <p:spPr>
          <a:xfrm>
            <a:off x="806895" y="4907372"/>
            <a:ext cx="1683608" cy="7161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85D072-9E95-4E93-AC9B-857A87AD7BA3}"/>
              </a:ext>
            </a:extLst>
          </p:cNvPr>
          <p:cNvSpPr txBox="1">
            <a:spLocks/>
          </p:cNvSpPr>
          <p:nvPr/>
        </p:nvSpPr>
        <p:spPr>
          <a:xfrm>
            <a:off x="6071828" y="4968454"/>
            <a:ext cx="1448089" cy="6550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77C101-C9B6-463F-A75C-278319F53386}"/>
              </a:ext>
            </a:extLst>
          </p:cNvPr>
          <p:cNvSpPr txBox="1">
            <a:spLocks/>
          </p:cNvSpPr>
          <p:nvPr/>
        </p:nvSpPr>
        <p:spPr>
          <a:xfrm>
            <a:off x="7315200" y="166718"/>
            <a:ext cx="4681182" cy="18531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Your equation has to be balanced on each side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314DB4-22C7-4730-A6F6-CA6D59C6CCDA}"/>
              </a:ext>
            </a:extLst>
          </p:cNvPr>
          <p:cNvSpPr txBox="1">
            <a:spLocks/>
          </p:cNvSpPr>
          <p:nvPr/>
        </p:nvSpPr>
        <p:spPr>
          <a:xfrm>
            <a:off x="7970293" y="2909788"/>
            <a:ext cx="3807725" cy="6669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So m is = 7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CEBA4E-9689-4A3B-940F-549055FEB58A}"/>
              </a:ext>
            </a:extLst>
          </p:cNvPr>
          <p:cNvSpPr txBox="1">
            <a:spLocks/>
          </p:cNvSpPr>
          <p:nvPr/>
        </p:nvSpPr>
        <p:spPr>
          <a:xfrm>
            <a:off x="806895" y="4907372"/>
            <a:ext cx="1683608" cy="7161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7 + 3</a:t>
            </a:r>
          </a:p>
        </p:txBody>
      </p:sp>
    </p:spTree>
    <p:extLst>
      <p:ext uri="{BB962C8B-B14F-4D97-AF65-F5344CB8AC3E}">
        <p14:creationId xmlns:p14="http://schemas.microsoft.com/office/powerpoint/2010/main" val="96163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1181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Algebra: Finding a Formula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41827"/>
            <a:ext cx="1845938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Algebra?</a:t>
            </a: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Formula?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find a formula?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3189" y="1485640"/>
            <a:ext cx="9544926" cy="452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126">
              <a:buFontTx/>
              <a:buChar char="-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Algebra can be used to write a rule in a simple way</a:t>
            </a: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We can use a letter or symbol in place of a number</a:t>
            </a: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When a rule is written using a letter or symbol, its called a </a:t>
            </a:r>
            <a:r>
              <a:rPr lang="en-US" sz="2399" b="1" dirty="0">
                <a:solidFill>
                  <a:srgbClr val="00B050"/>
                </a:solidFill>
                <a:latin typeface="Calibri" panose="020F0502020204030204"/>
              </a:rPr>
              <a:t>formula</a:t>
            </a:r>
          </a:p>
          <a:p>
            <a:pPr marL="342900" indent="-342900" defTabSz="914126">
              <a:buFontTx/>
              <a:buChar char="-"/>
            </a:pPr>
            <a:endParaRPr lang="en-US" sz="2399" b="1" dirty="0">
              <a:solidFill>
                <a:srgbClr val="00B050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US" sz="2399" dirty="0">
                <a:latin typeface="Calibri" panose="020F0502020204030204"/>
              </a:rPr>
              <a:t>A letter or symbol in a formula is called a </a:t>
            </a:r>
            <a:r>
              <a:rPr lang="en-US" sz="2399" b="1" dirty="0">
                <a:solidFill>
                  <a:srgbClr val="0070C0"/>
                </a:solidFill>
                <a:latin typeface="Calibri" panose="020F0502020204030204"/>
              </a:rPr>
              <a:t>variable</a:t>
            </a:r>
            <a:r>
              <a:rPr lang="en-US" sz="2399" dirty="0">
                <a:latin typeface="Calibri" panose="020F0502020204030204"/>
              </a:rPr>
              <a:t> because its value can change</a:t>
            </a:r>
          </a:p>
          <a:p>
            <a:pPr marL="342900" indent="-342900" defTabSz="914126">
              <a:buFontTx/>
              <a:buChar char="-"/>
            </a:pPr>
            <a:endParaRPr lang="en-US" sz="2399" dirty="0"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US" sz="2399" dirty="0">
                <a:latin typeface="Calibri" panose="020F0502020204030204"/>
              </a:rPr>
              <a:t>When multiplying numbers and variables, we do not need to show the multiplication sign. </a:t>
            </a:r>
            <a:endParaRPr lang="en-AU" sz="2399" dirty="0"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BD2887C-572E-4BE3-ADE3-CE810797C9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14" t="86406" r="16536" b="5658"/>
          <a:stretch/>
        </p:blipFill>
        <p:spPr>
          <a:xfrm>
            <a:off x="5026250" y="5855034"/>
            <a:ext cx="5682157" cy="5516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785569-44FD-4ED1-8F2F-0A8D7DD367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010" y="805857"/>
            <a:ext cx="3379013" cy="243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975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Word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631668"/>
            <a:ext cx="184752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to write an equation?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EQ – How do we correctly write mathematical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1674" y="1588900"/>
            <a:ext cx="9962822" cy="4891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1 . What is the worded equation?</a:t>
            </a:r>
          </a:p>
          <a:p>
            <a:pPr defTabSz="914126"/>
            <a:endParaRPr lang="en-AU" sz="2399" i="1" dirty="0">
              <a:solidFill>
                <a:prstClr val="black"/>
              </a:solidFill>
            </a:endParaRPr>
          </a:p>
          <a:p>
            <a:pPr defTabSz="914126"/>
            <a:r>
              <a:rPr lang="en-AU" sz="2399" i="1" dirty="0">
                <a:solidFill>
                  <a:prstClr val="black"/>
                </a:solidFill>
                <a:highlight>
                  <a:srgbClr val="C0C0C0"/>
                </a:highlight>
              </a:rPr>
              <a:t>When a number is added to five the answer is 9</a:t>
            </a:r>
          </a:p>
          <a:p>
            <a:pPr defTabSz="914126"/>
            <a:endParaRPr lang="en-AU" sz="2399" i="1" dirty="0">
              <a:solidFill>
                <a:prstClr val="black"/>
              </a:solidFill>
              <a:highlight>
                <a:srgbClr val="C0C0C0"/>
              </a:highlight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2. How would a mathematician write that down?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number = x                                 </a:t>
            </a:r>
            <a:r>
              <a:rPr lang="en-US" sz="2399" dirty="0">
                <a:solidFill>
                  <a:prstClr val="black"/>
                </a:solidFill>
                <a:highlight>
                  <a:srgbClr val="C0C0C0"/>
                </a:highlight>
              </a:rPr>
              <a:t>x + 5 = 9</a:t>
            </a:r>
          </a:p>
          <a:p>
            <a:pPr defTabSz="914126"/>
            <a:endParaRPr lang="en-US" sz="2399" dirty="0">
              <a:solidFill>
                <a:prstClr val="black"/>
              </a:solidFill>
              <a:highlight>
                <a:srgbClr val="C0C0C0"/>
              </a:highlight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3. The two expressions has to be 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balanced so what does x equal?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 x = 4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399" b="1" dirty="0">
                <a:solidFill>
                  <a:srgbClr val="FF0000"/>
                </a:solidFill>
              </a:rPr>
              <a:t>4 + 5 = 9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B6094D3-B8F6-4EC0-B72A-C2BABBDC2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200" y="4244834"/>
            <a:ext cx="358140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73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3B9E-67B8-42B7-B71F-D57DC4765FAB}"/>
              </a:ext>
            </a:extLst>
          </p:cNvPr>
          <p:cNvSpPr txBox="1">
            <a:spLocks/>
          </p:cNvSpPr>
          <p:nvPr/>
        </p:nvSpPr>
        <p:spPr>
          <a:xfrm>
            <a:off x="3409089" y="693953"/>
            <a:ext cx="8608358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37BEBC-2A50-47A3-B82C-2E39FD0C5C72}"/>
              </a:ext>
            </a:extLst>
          </p:cNvPr>
          <p:cNvSpPr txBox="1"/>
          <p:nvPr/>
        </p:nvSpPr>
        <p:spPr>
          <a:xfrm>
            <a:off x="5036069" y="509727"/>
            <a:ext cx="489950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Complete the following:</a:t>
            </a:r>
          </a:p>
          <a:p>
            <a:pPr defTabSz="914126"/>
            <a:r>
              <a:rPr lang="en-AU" sz="2399" b="1" i="1" dirty="0">
                <a:solidFill>
                  <a:prstClr val="black"/>
                </a:solidFill>
              </a:rPr>
              <a:t>Don’t forget your summery!!</a:t>
            </a:r>
            <a:endParaRPr lang="en-US" sz="2399" b="1" i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786FC0-6182-4F87-A9F7-9DAF5A597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82" y="2167008"/>
            <a:ext cx="9583289" cy="18424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1AFAF4-9AD4-4D35-BA4D-3E33C0962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95" y="4655970"/>
            <a:ext cx="10126971" cy="103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74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6F35D7-5BD2-4A96-898C-35A21AC01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00" y="1873504"/>
            <a:ext cx="9105088" cy="6430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9C04A0-3B7A-4764-9800-F59D8AFA3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01" y="4204616"/>
            <a:ext cx="9426978" cy="54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B6A32-8EA9-4800-B194-B055096BBA56}"/>
              </a:ext>
            </a:extLst>
          </p:cNvPr>
          <p:cNvSpPr txBox="1"/>
          <p:nvPr/>
        </p:nvSpPr>
        <p:spPr>
          <a:xfrm>
            <a:off x="5036069" y="509727"/>
            <a:ext cx="489950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Complete the following:</a:t>
            </a:r>
          </a:p>
          <a:p>
            <a:pPr defTabSz="914126"/>
            <a:r>
              <a:rPr lang="en-AU" sz="2399" b="1" i="1" dirty="0">
                <a:solidFill>
                  <a:prstClr val="black"/>
                </a:solidFill>
              </a:rPr>
              <a:t>Don’t forget your summery!!</a:t>
            </a:r>
            <a:endParaRPr lang="en-US" sz="2399" b="1" i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8B59B-C96D-4354-9C05-E1DF5BC43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82" y="2167008"/>
            <a:ext cx="9583289" cy="18424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5C6A27-1FC0-46A3-B4CF-273CD9011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95" y="4655970"/>
            <a:ext cx="10126971" cy="103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Glossary Words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Expression</a:t>
            </a:r>
          </a:p>
          <a:p>
            <a:r>
              <a:rPr lang="en-AU" dirty="0" smtClean="0"/>
              <a:t>Equation</a:t>
            </a:r>
          </a:p>
          <a:p>
            <a:r>
              <a:rPr lang="en-AU" dirty="0" smtClean="0"/>
              <a:t>Variable</a:t>
            </a:r>
          </a:p>
          <a:p>
            <a:r>
              <a:rPr lang="en-AU" dirty="0" smtClean="0"/>
              <a:t>Formula</a:t>
            </a:r>
          </a:p>
          <a:p>
            <a:r>
              <a:rPr lang="en-AU" dirty="0" smtClean="0"/>
              <a:t>Like terms</a:t>
            </a:r>
          </a:p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AU" dirty="0" smtClean="0"/>
              <a:t>Do you have definitions down for each of these?</a:t>
            </a:r>
            <a:endParaRPr lang="en-AU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8207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692</Words>
  <Application>Microsoft Office PowerPoint</Application>
  <PresentationFormat>Widescreen</PresentationFormat>
  <Paragraphs>137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Fragment Core</vt:lpstr>
      <vt:lpstr>Kiwi School Handwriting</vt:lpstr>
      <vt:lpstr>Office Theme</vt:lpstr>
      <vt:lpstr>Finding a Formula</vt:lpstr>
      <vt:lpstr>PowerPoint Presentation</vt:lpstr>
      <vt:lpstr>PowerPoint Presentation</vt:lpstr>
      <vt:lpstr>PowerPoint Presentation</vt:lpstr>
      <vt:lpstr>PowerPoint Presentation</vt:lpstr>
      <vt:lpstr>From Last Lesson</vt:lpstr>
      <vt:lpstr>PowerPoint Presentation</vt:lpstr>
      <vt:lpstr>PowerPoint Presentation</vt:lpstr>
      <vt:lpstr>Box demonstration</vt:lpstr>
      <vt:lpstr>PowerPoint Presentation</vt:lpstr>
      <vt:lpstr>Box demonstration</vt:lpstr>
      <vt:lpstr>PowerPoint Presentation</vt:lpstr>
      <vt:lpstr>Box demonstration</vt:lpstr>
      <vt:lpstr>PowerPoint Presentation</vt:lpstr>
      <vt:lpstr>Box demonstration</vt:lpstr>
      <vt:lpstr>Box demonstration</vt:lpstr>
      <vt:lpstr>Box demonstration</vt:lpstr>
      <vt:lpstr>PowerPoint Presentation</vt:lpstr>
      <vt:lpstr>PowerPoint Presentation</vt:lpstr>
      <vt:lpstr>PowerPoint Presentation</vt:lpstr>
      <vt:lpstr>PowerPoint Presentation</vt:lpstr>
      <vt:lpstr>Practice</vt:lpstr>
      <vt:lpstr>Task</vt:lpstr>
      <vt:lpstr>Glossary Words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a Formula</dc:title>
  <dc:creator>LABUSCHAGNE Nine [Baldivis Secondary College]</dc:creator>
  <cp:lastModifiedBy>MCLEOD Alexandria [Baldivis Secondary College]</cp:lastModifiedBy>
  <cp:revision>13</cp:revision>
  <dcterms:created xsi:type="dcterms:W3CDTF">2018-04-23T09:17:25Z</dcterms:created>
  <dcterms:modified xsi:type="dcterms:W3CDTF">2021-07-22T23:50:24Z</dcterms:modified>
</cp:coreProperties>
</file>
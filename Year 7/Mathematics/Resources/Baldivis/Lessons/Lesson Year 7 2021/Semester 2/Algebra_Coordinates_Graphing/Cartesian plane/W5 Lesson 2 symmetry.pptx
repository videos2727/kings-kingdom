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2" r:id="rId2"/>
    <p:sldId id="273" r:id="rId3"/>
    <p:sldId id="274" r:id="rId4"/>
    <p:sldId id="271" r:id="rId5"/>
    <p:sldId id="267" r:id="rId6"/>
    <p:sldId id="268" r:id="rId7"/>
    <p:sldId id="269" r:id="rId8"/>
    <p:sldId id="270" r:id="rId9"/>
    <p:sldId id="27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FFCCFF"/>
    <a:srgbClr val="800000"/>
    <a:srgbClr val="FF8080"/>
    <a:srgbClr val="FFCCCC"/>
    <a:srgbClr val="FF9999"/>
    <a:srgbClr val="993300"/>
    <a:srgbClr val="FFFF66"/>
    <a:srgbClr val="A50021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7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90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EDAA1920-2E30-4DD9-9BAC-D7177C152A95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059E380D-8ED9-4568-B1A9-F667EAD9B61E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35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15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08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25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53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298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91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3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84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590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7962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436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413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622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312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22/08/2021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08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B06B6-AFC6-4DF6-AF13-447355A9C5F3}" type="datetimeFigureOut">
              <a:rPr lang="en-GB" smtClean="0"/>
              <a:pPr/>
              <a:t>22/08/2021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57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773578" y="764704"/>
            <a:ext cx="7596844" cy="4644516"/>
          </a:xfrm>
          <a:prstGeom prst="roundRect">
            <a:avLst>
              <a:gd name="adj" fmla="val 15239"/>
            </a:avLst>
          </a:prstGeom>
          <a:gradFill flip="none" rotWithShape="1">
            <a:gsLst>
              <a:gs pos="0">
                <a:srgbClr val="800080">
                  <a:tint val="66000"/>
                  <a:satMod val="160000"/>
                </a:srgbClr>
              </a:gs>
              <a:gs pos="50000">
                <a:srgbClr val="800080">
                  <a:tint val="44500"/>
                  <a:satMod val="160000"/>
                </a:srgbClr>
              </a:gs>
              <a:gs pos="100000">
                <a:srgbClr val="80008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016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3588" y="1271082"/>
            <a:ext cx="7416824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500" b="1" dirty="0">
                <a:latin typeface="Arial" pitchFamily="34" charset="0"/>
                <a:cs typeface="Arial" pitchFamily="34" charset="0"/>
              </a:rPr>
              <a:t>Topic: Symmetry</a:t>
            </a:r>
          </a:p>
          <a:p>
            <a:pPr algn="ctr"/>
            <a:r>
              <a:rPr lang="en-GB" sz="2000" b="1" dirty="0">
                <a:latin typeface="Arial" pitchFamily="34" charset="0"/>
                <a:cs typeface="Arial" pitchFamily="34" charset="0"/>
              </a:rPr>
              <a:t>EQ: How can I tell how many lines of symmetry a shape has?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86313" y="1175657"/>
            <a:ext cx="8571375" cy="501778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1540" y="747538"/>
            <a:ext cx="872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We can draw all the lines of symmetry on a shape.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Line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59991" y="1188459"/>
            <a:ext cx="8203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1:  </a:t>
            </a:r>
            <a:r>
              <a:rPr lang="en-GB" sz="1600" b="1" dirty="0">
                <a:latin typeface="Arial" pitchFamily="34" charset="0"/>
              </a:rPr>
              <a:t>Draw all the lines of symmetry on each of these shapes.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214" y="1852552"/>
            <a:ext cx="1151905" cy="1151905"/>
          </a:xfrm>
          <a:prstGeom prst="rect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005127" y="1852552"/>
            <a:ext cx="1747652" cy="975754"/>
          </a:xfrm>
          <a:prstGeom prst="rect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9" name="Parallelogram 78"/>
          <p:cNvSpPr/>
          <p:nvPr/>
        </p:nvSpPr>
        <p:spPr>
          <a:xfrm>
            <a:off x="702621" y="4160786"/>
            <a:ext cx="1995055" cy="878773"/>
          </a:xfrm>
          <a:prstGeom prst="parallelogram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80" name="Group 151"/>
          <p:cNvGrpSpPr/>
          <p:nvPr/>
        </p:nvGrpSpPr>
        <p:grpSpPr>
          <a:xfrm>
            <a:off x="2149434" y="3114384"/>
            <a:ext cx="2256726" cy="546268"/>
            <a:chOff x="613470" y="2047905"/>
            <a:chExt cx="3244155" cy="660885"/>
          </a:xfrm>
        </p:grpSpPr>
        <p:sp>
          <p:nvSpPr>
            <p:cNvPr id="81" name="Rounded Rectangle 80"/>
            <p:cNvSpPr/>
            <p:nvPr/>
          </p:nvSpPr>
          <p:spPr>
            <a:xfrm>
              <a:off x="613470" y="2047905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09395" y="2099083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Square ALWAYS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4 lines of symmetry</a:t>
              </a:r>
            </a:p>
          </p:txBody>
        </p:sp>
      </p:grpSp>
      <p:grpSp>
        <p:nvGrpSpPr>
          <p:cNvPr id="83" name="Group 151"/>
          <p:cNvGrpSpPr/>
          <p:nvPr/>
        </p:nvGrpSpPr>
        <p:grpSpPr>
          <a:xfrm>
            <a:off x="6386946" y="3114384"/>
            <a:ext cx="2256726" cy="546268"/>
            <a:chOff x="613470" y="2047904"/>
            <a:chExt cx="3244155" cy="660885"/>
          </a:xfrm>
        </p:grpSpPr>
        <p:sp>
          <p:nvSpPr>
            <p:cNvPr id="84" name="Rounded Rectangle 83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Rectangle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2 lines of symmetry</a:t>
              </a:r>
            </a:p>
          </p:txBody>
        </p:sp>
      </p:grpSp>
      <p:grpSp>
        <p:nvGrpSpPr>
          <p:cNvPr id="86" name="Group 151"/>
          <p:cNvGrpSpPr/>
          <p:nvPr/>
        </p:nvGrpSpPr>
        <p:grpSpPr>
          <a:xfrm>
            <a:off x="2149434" y="5451836"/>
            <a:ext cx="2256726" cy="546268"/>
            <a:chOff x="613470" y="2047904"/>
            <a:chExt cx="3244155" cy="660885"/>
          </a:xfrm>
        </p:grpSpPr>
        <p:sp>
          <p:nvSpPr>
            <p:cNvPr id="87" name="Rounded Rectangle 86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Parallelogram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NO lines of symmetry</a:t>
              </a: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429077" y="1599211"/>
            <a:ext cx="8285846" cy="4467094"/>
            <a:chOff x="429077" y="1599211"/>
            <a:chExt cx="8285846" cy="4467094"/>
          </a:xfrm>
        </p:grpSpPr>
        <p:sp>
          <p:nvSpPr>
            <p:cNvPr id="89" name="Rounded Rectangle 88"/>
            <p:cNvSpPr/>
            <p:nvPr/>
          </p:nvSpPr>
          <p:spPr>
            <a:xfrm>
              <a:off x="429077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4666589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429077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4666589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129" name="Group 151"/>
          <p:cNvGrpSpPr/>
          <p:nvPr/>
        </p:nvGrpSpPr>
        <p:grpSpPr>
          <a:xfrm>
            <a:off x="6386946" y="5451836"/>
            <a:ext cx="2256726" cy="546268"/>
            <a:chOff x="613470" y="2047904"/>
            <a:chExt cx="3244155" cy="660885"/>
          </a:xfrm>
        </p:grpSpPr>
        <p:sp>
          <p:nvSpPr>
            <p:cNvPr id="130" name="Rounded Rectangle 129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 Rhombus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2 lines of symmetry</a:t>
              </a:r>
            </a:p>
          </p:txBody>
        </p:sp>
      </p:grpSp>
      <p:sp>
        <p:nvSpPr>
          <p:cNvPr id="134" name="Parallelogram 133"/>
          <p:cNvSpPr/>
          <p:nvPr/>
        </p:nvSpPr>
        <p:spPr>
          <a:xfrm>
            <a:off x="5050455" y="4160786"/>
            <a:ext cx="1173728" cy="882502"/>
          </a:xfrm>
          <a:prstGeom prst="parallelogram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139" name="Straight Connector 138"/>
          <p:cNvCxnSpPr/>
          <p:nvPr/>
        </p:nvCxnSpPr>
        <p:spPr>
          <a:xfrm>
            <a:off x="1322166" y="1775637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>
            <a:off x="5878953" y="1704753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rot="5400000">
            <a:off x="1325704" y="1779918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flipH="1">
            <a:off x="662735" y="1807535"/>
            <a:ext cx="1294532" cy="129453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rot="5400000" flipH="1">
            <a:off x="665699" y="1771361"/>
            <a:ext cx="1294532" cy="1294531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4874392" y="2340429"/>
            <a:ext cx="206428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flipH="1">
            <a:off x="4944863" y="4092606"/>
            <a:ext cx="1373079" cy="1035728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H="1" flipV="1">
            <a:off x="5178642" y="4063015"/>
            <a:ext cx="911440" cy="108011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73" grpId="0"/>
      <p:bldP spid="41" grpId="0"/>
      <p:bldP spid="77" grpId="0" animBg="1"/>
      <p:bldP spid="78" grpId="0" animBg="1"/>
      <p:bldP spid="79" grpId="0" animBg="1"/>
      <p:bldP spid="1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86313" y="1175657"/>
            <a:ext cx="8571375" cy="501778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1540" y="747538"/>
            <a:ext cx="872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We can draw all the lines of symmetry on a shape.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Line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59991" y="1188459"/>
            <a:ext cx="8203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2:  </a:t>
            </a:r>
            <a:r>
              <a:rPr lang="en-GB" sz="1600" b="1" dirty="0">
                <a:latin typeface="Arial" pitchFamily="34" charset="0"/>
              </a:rPr>
              <a:t>Draw all the lines of symmetry on each of these shapes.</a:t>
            </a:r>
          </a:p>
        </p:txBody>
      </p:sp>
      <p:grpSp>
        <p:nvGrpSpPr>
          <p:cNvPr id="3" name="Group 151"/>
          <p:cNvGrpSpPr/>
          <p:nvPr/>
        </p:nvGrpSpPr>
        <p:grpSpPr>
          <a:xfrm>
            <a:off x="1543051" y="3114384"/>
            <a:ext cx="2863110" cy="546268"/>
            <a:chOff x="613470" y="2047905"/>
            <a:chExt cx="3244155" cy="660885"/>
          </a:xfrm>
        </p:grpSpPr>
        <p:sp>
          <p:nvSpPr>
            <p:cNvPr id="81" name="Rounded Rectangle 80"/>
            <p:cNvSpPr/>
            <p:nvPr/>
          </p:nvSpPr>
          <p:spPr>
            <a:xfrm>
              <a:off x="613470" y="2047905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09394" y="2099083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An Equilateral Triangle ALWAYS has 3 lines of symmetry</a:t>
              </a:r>
            </a:p>
          </p:txBody>
        </p:sp>
      </p:grpSp>
      <p:grpSp>
        <p:nvGrpSpPr>
          <p:cNvPr id="4" name="Group 151"/>
          <p:cNvGrpSpPr/>
          <p:nvPr/>
        </p:nvGrpSpPr>
        <p:grpSpPr>
          <a:xfrm>
            <a:off x="6386946" y="3114384"/>
            <a:ext cx="2256726" cy="546268"/>
            <a:chOff x="613470" y="2047904"/>
            <a:chExt cx="3244155" cy="660885"/>
          </a:xfrm>
        </p:grpSpPr>
        <p:sp>
          <p:nvSpPr>
            <p:cNvPr id="84" name="Rounded Rectangle 83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This shape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4 lines of symmetry</a:t>
              </a:r>
            </a:p>
          </p:txBody>
        </p:sp>
      </p:grpSp>
      <p:grpSp>
        <p:nvGrpSpPr>
          <p:cNvPr id="6" name="Group 151"/>
          <p:cNvGrpSpPr/>
          <p:nvPr/>
        </p:nvGrpSpPr>
        <p:grpSpPr>
          <a:xfrm>
            <a:off x="2149434" y="5451836"/>
            <a:ext cx="2256726" cy="546268"/>
            <a:chOff x="613470" y="2047904"/>
            <a:chExt cx="3244155" cy="660885"/>
          </a:xfrm>
        </p:grpSpPr>
        <p:sp>
          <p:nvSpPr>
            <p:cNvPr id="87" name="Rounded Rectangle 86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This shape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1 line of symmetry</a:t>
              </a:r>
            </a:p>
          </p:txBody>
        </p:sp>
      </p:grpSp>
      <p:grpSp>
        <p:nvGrpSpPr>
          <p:cNvPr id="7" name="Group 134"/>
          <p:cNvGrpSpPr/>
          <p:nvPr/>
        </p:nvGrpSpPr>
        <p:grpSpPr>
          <a:xfrm>
            <a:off x="429077" y="1599211"/>
            <a:ext cx="8285846" cy="4467094"/>
            <a:chOff x="429077" y="1599211"/>
            <a:chExt cx="8285846" cy="4467094"/>
          </a:xfrm>
        </p:grpSpPr>
        <p:sp>
          <p:nvSpPr>
            <p:cNvPr id="89" name="Rounded Rectangle 88"/>
            <p:cNvSpPr/>
            <p:nvPr/>
          </p:nvSpPr>
          <p:spPr>
            <a:xfrm>
              <a:off x="429077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4666589" y="1599211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429077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4666589" y="3936663"/>
              <a:ext cx="4048334" cy="2129642"/>
            </a:xfrm>
            <a:prstGeom prst="roundRect">
              <a:avLst>
                <a:gd name="adj" fmla="val 11913"/>
              </a:avLst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9" name="Group 151"/>
          <p:cNvGrpSpPr/>
          <p:nvPr/>
        </p:nvGrpSpPr>
        <p:grpSpPr>
          <a:xfrm>
            <a:off x="6386946" y="5451836"/>
            <a:ext cx="2256726" cy="546268"/>
            <a:chOff x="613470" y="2047904"/>
            <a:chExt cx="3244155" cy="660885"/>
          </a:xfrm>
        </p:grpSpPr>
        <p:sp>
          <p:nvSpPr>
            <p:cNvPr id="130" name="Rounded Rectangle 129"/>
            <p:cNvSpPr/>
            <p:nvPr/>
          </p:nvSpPr>
          <p:spPr>
            <a:xfrm>
              <a:off x="613470" y="2047904"/>
              <a:ext cx="3244155" cy="660885"/>
            </a:xfrm>
            <a:prstGeom prst="roundRect">
              <a:avLst>
                <a:gd name="adj" fmla="val 48024"/>
              </a:avLst>
            </a:prstGeom>
            <a:gradFill flip="none" rotWithShape="1">
              <a:gsLst>
                <a:gs pos="100000">
                  <a:srgbClr val="FF8080"/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latin typeface="Arial" pitchFamily="34" charset="0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09395" y="2099082"/>
              <a:ext cx="2852303" cy="558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latin typeface="Arial" pitchFamily="34" charset="0"/>
                </a:rPr>
                <a:t>This shape has</a:t>
              </a:r>
            </a:p>
            <a:p>
              <a:pPr algn="ctr"/>
              <a:r>
                <a:rPr lang="en-GB" sz="1200" b="1" dirty="0">
                  <a:latin typeface="Arial" pitchFamily="34" charset="0"/>
                </a:rPr>
                <a:t>NO lines of symmetry</a:t>
              </a:r>
            </a:p>
          </p:txBody>
        </p:sp>
      </p:grpSp>
      <p:sp>
        <p:nvSpPr>
          <p:cNvPr id="42" name="Isosceles Triangle 41"/>
          <p:cNvSpPr/>
          <p:nvPr/>
        </p:nvSpPr>
        <p:spPr>
          <a:xfrm>
            <a:off x="685800" y="1762125"/>
            <a:ext cx="1325880" cy="1143000"/>
          </a:xfrm>
          <a:prstGeom prst="triangle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139" name="Straight Connector 138"/>
          <p:cNvCxnSpPr/>
          <p:nvPr/>
        </p:nvCxnSpPr>
        <p:spPr>
          <a:xfrm>
            <a:off x="1348740" y="1670862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67973" y="2193964"/>
            <a:ext cx="1339961" cy="77362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rot="3600000" flipH="1">
            <a:off x="767997" y="2184439"/>
            <a:ext cx="1339961" cy="77362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/>
          <p:cNvSpPr/>
          <p:nvPr/>
        </p:nvSpPr>
        <p:spPr>
          <a:xfrm>
            <a:off x="5075622" y="1815177"/>
            <a:ext cx="1076325" cy="1076325"/>
          </a:xfrm>
          <a:prstGeom prst="plus">
            <a:avLst>
              <a:gd name="adj" fmla="val 33850"/>
            </a:avLst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140" name="Straight Connector 139"/>
          <p:cNvCxnSpPr/>
          <p:nvPr/>
        </p:nvCxnSpPr>
        <p:spPr>
          <a:xfrm>
            <a:off x="5613784" y="1704753"/>
            <a:ext cx="0" cy="129717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4874393" y="2353339"/>
            <a:ext cx="1478782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5054251" y="1793806"/>
            <a:ext cx="1119067" cy="1119066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5084621" y="1824176"/>
            <a:ext cx="1058326" cy="1058326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Moon 54"/>
          <p:cNvSpPr/>
          <p:nvPr/>
        </p:nvSpPr>
        <p:spPr>
          <a:xfrm>
            <a:off x="876300" y="4162425"/>
            <a:ext cx="1552575" cy="847725"/>
          </a:xfrm>
          <a:prstGeom prst="moon">
            <a:avLst>
              <a:gd name="adj" fmla="val 56749"/>
            </a:avLst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702443" y="4586287"/>
            <a:ext cx="2021707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Lightning Bolt 58"/>
          <p:cNvSpPr/>
          <p:nvPr/>
        </p:nvSpPr>
        <p:spPr>
          <a:xfrm>
            <a:off x="5057774" y="4114799"/>
            <a:ext cx="1895475" cy="1028701"/>
          </a:xfrm>
          <a:prstGeom prst="lightningBolt">
            <a:avLst/>
          </a:prstGeom>
          <a:solidFill>
            <a:srgbClr val="FFCCFF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7" grpId="0" animBg="1"/>
      <p:bldP spid="55" grpId="0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6264" y="1547446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1540" y="747538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8590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6777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1:  </a:t>
            </a:r>
            <a:r>
              <a:rPr lang="en-GB" sz="1600" b="1" dirty="0">
                <a:latin typeface="Arial" pitchFamily="34" charset="0"/>
              </a:rPr>
              <a:t>Give the order of rotational symmetry of this regular pentagon.</a:t>
            </a:r>
          </a:p>
        </p:txBody>
      </p:sp>
      <p:sp>
        <p:nvSpPr>
          <p:cNvPr id="23" name="Regular Pentagon 22"/>
          <p:cNvSpPr/>
          <p:nvPr/>
        </p:nvSpPr>
        <p:spPr>
          <a:xfrm>
            <a:off x="2292940" y="2937114"/>
            <a:ext cx="1868993" cy="1779994"/>
          </a:xfrm>
          <a:prstGeom prst="pentagon">
            <a:avLst/>
          </a:prstGeom>
          <a:gradFill flip="none" rotWithShape="1">
            <a:gsLst>
              <a:gs pos="0">
                <a:srgbClr val="800080">
                  <a:tint val="66000"/>
                  <a:satMod val="160000"/>
                </a:srgbClr>
              </a:gs>
              <a:gs pos="50000">
                <a:srgbClr val="800080">
                  <a:tint val="44500"/>
                  <a:satMod val="160000"/>
                </a:srgbClr>
              </a:gs>
              <a:gs pos="100000">
                <a:srgbClr val="80008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3" name="Group 85"/>
          <p:cNvGrpSpPr/>
          <p:nvPr/>
        </p:nvGrpSpPr>
        <p:grpSpPr>
          <a:xfrm>
            <a:off x="605417" y="5403893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</p:grpSp>
      <p:grpSp>
        <p:nvGrpSpPr>
          <p:cNvPr id="4" name="Group 35"/>
          <p:cNvGrpSpPr/>
          <p:nvPr/>
        </p:nvGrpSpPr>
        <p:grpSpPr>
          <a:xfrm>
            <a:off x="1790522" y="2485292"/>
            <a:ext cx="2873828" cy="2873828"/>
            <a:chOff x="2580752" y="2485292"/>
            <a:chExt cx="2873828" cy="2873828"/>
          </a:xfrm>
        </p:grpSpPr>
        <p:grpSp>
          <p:nvGrpSpPr>
            <p:cNvPr id="6" name="Group 44"/>
            <p:cNvGrpSpPr/>
            <p:nvPr/>
          </p:nvGrpSpPr>
          <p:grpSpPr>
            <a:xfrm>
              <a:off x="258075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06481"/>
                <a:ext cx="10995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  <p:sp>
          <p:nvSpPr>
            <p:cNvPr id="48" name="Regular Pentagon 47"/>
            <p:cNvSpPr/>
            <p:nvPr/>
          </p:nvSpPr>
          <p:spPr>
            <a:xfrm>
              <a:off x="3083170" y="2937114"/>
              <a:ext cx="1868993" cy="1779994"/>
            </a:xfrm>
            <a:prstGeom prst="pentagon">
              <a:avLst/>
            </a:prstGeom>
            <a:gradFill flip="none" rotWithShape="1">
              <a:gsLst>
                <a:gs pos="0">
                  <a:srgbClr val="800080">
                    <a:tint val="66000"/>
                    <a:satMod val="160000"/>
                  </a:srgbClr>
                </a:gs>
                <a:gs pos="50000">
                  <a:srgbClr val="800080">
                    <a:tint val="44500"/>
                    <a:satMod val="160000"/>
                  </a:srgbClr>
                </a:gs>
                <a:gs pos="100000">
                  <a:srgbClr val="80008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6549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120958" y="1987634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6876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5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7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2663 L -4.16667E-6 0.19167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">
                                      <p:cBhvr>
                                        <p:cTn id="8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9167 L -4.16667E-6 0.25487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73" grpId="0"/>
      <p:bldP spid="55" grpId="0" animBg="1"/>
      <p:bldP spid="41" grpId="0"/>
      <p:bldP spid="23" grpId="0" animBg="1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6264" y="1547446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1540" y="747538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8590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6777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2:  </a:t>
            </a:r>
            <a:r>
              <a:rPr lang="en-GB" sz="1600" b="1" dirty="0">
                <a:latin typeface="Arial" pitchFamily="34" charset="0"/>
              </a:rPr>
              <a:t>Give the order of rotational symmetry of this rhombus.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605417" y="5403893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6549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120958" y="1987634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6876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sp>
        <p:nvSpPr>
          <p:cNvPr id="49" name="Diamond 48"/>
          <p:cNvSpPr/>
          <p:nvPr/>
        </p:nvSpPr>
        <p:spPr>
          <a:xfrm>
            <a:off x="2606547" y="2962651"/>
            <a:ext cx="1241778" cy="1919111"/>
          </a:xfrm>
          <a:prstGeom prst="diamond">
            <a:avLst/>
          </a:prstGeom>
          <a:gradFill flip="none" rotWithShape="1">
            <a:gsLst>
              <a:gs pos="0">
                <a:srgbClr val="800080">
                  <a:shade val="30000"/>
                  <a:satMod val="115000"/>
                </a:srgbClr>
              </a:gs>
              <a:gs pos="50000">
                <a:srgbClr val="800080">
                  <a:shade val="67500"/>
                  <a:satMod val="115000"/>
                </a:srgbClr>
              </a:gs>
              <a:gs pos="100000">
                <a:srgbClr val="80008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790522" y="2485292"/>
            <a:ext cx="2873828" cy="2873828"/>
            <a:chOff x="1790522" y="2485292"/>
            <a:chExt cx="2873828" cy="2873828"/>
          </a:xfrm>
        </p:grpSpPr>
        <p:sp>
          <p:nvSpPr>
            <p:cNvPr id="27" name="TextBox 26"/>
            <p:cNvSpPr txBox="1"/>
            <p:nvPr/>
          </p:nvSpPr>
          <p:spPr>
            <a:xfrm>
              <a:off x="2677650" y="4829803"/>
              <a:ext cx="109957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C00000"/>
                  </a:solidFill>
                  <a:latin typeface="Arial" pitchFamily="34" charset="0"/>
                </a:rPr>
                <a:t>Base</a:t>
              </a:r>
            </a:p>
          </p:txBody>
        </p:sp>
        <p:sp>
          <p:nvSpPr>
            <p:cNvPr id="50" name="Diamond 49"/>
            <p:cNvSpPr/>
            <p:nvPr/>
          </p:nvSpPr>
          <p:spPr>
            <a:xfrm>
              <a:off x="2606547" y="2962651"/>
              <a:ext cx="1241778" cy="1919111"/>
            </a:xfrm>
            <a:prstGeom prst="diamond">
              <a:avLst/>
            </a:prstGeom>
            <a:gradFill flip="none" rotWithShape="1">
              <a:gsLst>
                <a:gs pos="0">
                  <a:srgbClr val="800080">
                    <a:shade val="30000"/>
                    <a:satMod val="115000"/>
                  </a:srgbClr>
                </a:gs>
                <a:gs pos="50000">
                  <a:srgbClr val="800080">
                    <a:shade val="67500"/>
                    <a:satMod val="115000"/>
                  </a:srgbClr>
                </a:gs>
                <a:gs pos="100000">
                  <a:srgbClr val="80008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1790522" y="2485292"/>
              <a:ext cx="2873828" cy="287382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4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6264" y="1547446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1540" y="747538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8590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6777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3:  </a:t>
            </a:r>
            <a:r>
              <a:rPr lang="en-GB" sz="1600" b="1" dirty="0">
                <a:latin typeface="Arial" pitchFamily="34" charset="0"/>
              </a:rPr>
              <a:t>Give the order of rotational symmetry of this square.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605417" y="5403893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6549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120958" y="1987634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6876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sp>
        <p:nvSpPr>
          <p:cNvPr id="54" name="Rectangle 53"/>
          <p:cNvSpPr/>
          <p:nvPr/>
        </p:nvSpPr>
        <p:spPr>
          <a:xfrm>
            <a:off x="2483718" y="3178488"/>
            <a:ext cx="1478844" cy="1478844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1790522" y="2485292"/>
            <a:ext cx="2873828" cy="2873828"/>
            <a:chOff x="1790522" y="2485292"/>
            <a:chExt cx="2873828" cy="2873828"/>
          </a:xfrm>
        </p:grpSpPr>
        <p:grpSp>
          <p:nvGrpSpPr>
            <p:cNvPr id="6" name="Group 44"/>
            <p:cNvGrpSpPr/>
            <p:nvPr/>
          </p:nvGrpSpPr>
          <p:grpSpPr>
            <a:xfrm>
              <a:off x="179052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85993"/>
                <a:ext cx="10995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  <p:sp>
          <p:nvSpPr>
            <p:cNvPr id="49" name="Rectangle 48"/>
            <p:cNvSpPr/>
            <p:nvPr/>
          </p:nvSpPr>
          <p:spPr>
            <a:xfrm>
              <a:off x="2488014" y="3182784"/>
              <a:ext cx="1478844" cy="1478844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3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5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2663 L -4.16667E-6 0.19167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  <p:bldP spid="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6264" y="1547446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1540" y="747538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8590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6777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4:  </a:t>
            </a:r>
            <a:r>
              <a:rPr lang="en-GB" sz="1600" b="1" dirty="0">
                <a:latin typeface="Arial" pitchFamily="34" charset="0"/>
              </a:rPr>
              <a:t>Give the order of rotational symmetry of this star.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605417" y="5403893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6549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120958" y="1987634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9" name="Group 53"/>
          <p:cNvGrpSpPr/>
          <p:nvPr/>
        </p:nvGrpSpPr>
        <p:grpSpPr>
          <a:xfrm>
            <a:off x="6876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sp>
        <p:nvSpPr>
          <p:cNvPr id="49" name="8-Point Star 48"/>
          <p:cNvSpPr/>
          <p:nvPr/>
        </p:nvSpPr>
        <p:spPr>
          <a:xfrm>
            <a:off x="2352793" y="3047563"/>
            <a:ext cx="1749286" cy="1749286"/>
          </a:xfrm>
          <a:prstGeom prst="star8">
            <a:avLst>
              <a:gd name="adj" fmla="val 23473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1790522" y="2485292"/>
            <a:ext cx="2873828" cy="2873828"/>
            <a:chOff x="1790522" y="2485292"/>
            <a:chExt cx="2873828" cy="2873828"/>
          </a:xfrm>
        </p:grpSpPr>
        <p:sp>
          <p:nvSpPr>
            <p:cNvPr id="50" name="8-Point Star 49"/>
            <p:cNvSpPr/>
            <p:nvPr/>
          </p:nvSpPr>
          <p:spPr>
            <a:xfrm>
              <a:off x="2352793" y="3047563"/>
              <a:ext cx="1749286" cy="1749286"/>
            </a:xfrm>
            <a:prstGeom prst="star8">
              <a:avLst>
                <a:gd name="adj" fmla="val 23473"/>
              </a:avLst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6" name="Group 44"/>
            <p:cNvGrpSpPr/>
            <p:nvPr/>
          </p:nvGrpSpPr>
          <p:grpSpPr>
            <a:xfrm>
              <a:off x="179052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06481"/>
                <a:ext cx="10995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3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4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5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60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2663 L -4.16667E-6 0.19167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6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9167 L -4.16667E-6 0.25487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7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25487 L -4.16667E-6 0.32061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8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32061 L -4.16667E-6 0.38357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8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38357 L -4.16667E-6 0.44769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6264" y="1547446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1540" y="747538"/>
            <a:ext cx="872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The order of rotational symmetry of a shape is the number of times</a:t>
            </a:r>
          </a:p>
          <a:p>
            <a:pPr algn="ctr"/>
            <a:r>
              <a:rPr lang="en-GB" b="1" dirty="0">
                <a:latin typeface="Arial" pitchFamily="34" charset="0"/>
              </a:rPr>
              <a:t>that the shape lands on itself in a 360˚ rotation.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8590" y="2150666"/>
            <a:ext cx="2190749" cy="3781044"/>
          </a:xfrm>
          <a:prstGeom prst="roundRect">
            <a:avLst>
              <a:gd name="adj" fmla="val 11227"/>
            </a:avLst>
          </a:prstGeom>
          <a:gradFill>
            <a:gsLst>
              <a:gs pos="0">
                <a:schemeClr val="bg1"/>
              </a:gs>
              <a:gs pos="50000">
                <a:schemeClr val="bg1"/>
              </a:gs>
              <a:gs pos="100000">
                <a:srgbClr val="FFCCCC"/>
              </a:gs>
            </a:gsLst>
            <a:path path="circle">
              <a:fillToRect l="50000" t="50000" r="50000" b="50000"/>
            </a:path>
          </a:gra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Rotational Symmetry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6777" y="1627834"/>
            <a:ext cx="8010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rial" pitchFamily="34" charset="0"/>
              </a:rPr>
              <a:t>Example 5:  </a:t>
            </a:r>
            <a:r>
              <a:rPr lang="en-GB" sz="1600" b="1" dirty="0">
                <a:latin typeface="Arial" pitchFamily="34" charset="0"/>
              </a:rPr>
              <a:t>Give the order of rotational symmetry of this shape.</a:t>
            </a:r>
          </a:p>
        </p:txBody>
      </p:sp>
      <p:grpSp>
        <p:nvGrpSpPr>
          <p:cNvPr id="3" name="Group 85"/>
          <p:cNvGrpSpPr/>
          <p:nvPr/>
        </p:nvGrpSpPr>
        <p:grpSpPr>
          <a:xfrm>
            <a:off x="605417" y="5403893"/>
            <a:ext cx="5253124" cy="527817"/>
            <a:chOff x="605417" y="5298870"/>
            <a:chExt cx="5253124" cy="527817"/>
          </a:xfrm>
        </p:grpSpPr>
        <p:sp>
          <p:nvSpPr>
            <p:cNvPr id="24" name="Rounded Rectangle 23"/>
            <p:cNvSpPr/>
            <p:nvPr/>
          </p:nvSpPr>
          <p:spPr>
            <a:xfrm>
              <a:off x="605417" y="5298870"/>
              <a:ext cx="5253124" cy="527817"/>
            </a:xfrm>
            <a:prstGeom prst="roundRect">
              <a:avLst>
                <a:gd name="adj" fmla="val 43591"/>
              </a:avLst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0085" y="5331946"/>
              <a:ext cx="4923788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dirty="0">
                  <a:latin typeface="Arial" pitchFamily="34" charset="0"/>
                </a:rPr>
                <a:t>Order of rotational symmetry  </a:t>
              </a:r>
              <a:r>
                <a:rPr lang="en-GB" sz="2400" b="1" dirty="0">
                  <a:latin typeface="Arial" pitchFamily="34" charset="0"/>
                </a:rPr>
                <a:t>=  </a:t>
              </a:r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</p:grpSp>
      <p:grpSp>
        <p:nvGrpSpPr>
          <p:cNvPr id="4" name="Group 48"/>
          <p:cNvGrpSpPr/>
          <p:nvPr/>
        </p:nvGrpSpPr>
        <p:grpSpPr>
          <a:xfrm>
            <a:off x="6549405" y="2294366"/>
            <a:ext cx="1809118" cy="416688"/>
            <a:chOff x="5924550" y="2205038"/>
            <a:chExt cx="1809118" cy="416688"/>
          </a:xfrm>
        </p:grpSpPr>
        <p:sp>
          <p:nvSpPr>
            <p:cNvPr id="45" name="Right Arrow 44"/>
            <p:cNvSpPr/>
            <p:nvPr/>
          </p:nvSpPr>
          <p:spPr>
            <a:xfrm>
              <a:off x="5924550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6" name="Right Arrow 45"/>
            <p:cNvSpPr/>
            <p:nvPr/>
          </p:nvSpPr>
          <p:spPr>
            <a:xfrm rot="10800000">
              <a:off x="7217751" y="2205038"/>
              <a:ext cx="515917" cy="416688"/>
            </a:xfrm>
            <a:prstGeom prst="rightArrow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495734" y="2208595"/>
              <a:ext cx="666750" cy="40957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FFCCFF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120958" y="1987634"/>
            <a:ext cx="422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i="1" dirty="0">
                <a:solidFill>
                  <a:srgbClr val="FF0000"/>
                </a:solidFill>
                <a:latin typeface="Arial" pitchFamily="34" charset="0"/>
              </a:rPr>
              <a:t>We need to see how many times the shape lands on itself in a full turn:</a:t>
            </a:r>
          </a:p>
        </p:txBody>
      </p:sp>
      <p:grpSp>
        <p:nvGrpSpPr>
          <p:cNvPr id="6" name="Group 53"/>
          <p:cNvGrpSpPr/>
          <p:nvPr/>
        </p:nvGrpSpPr>
        <p:grpSpPr>
          <a:xfrm>
            <a:off x="6876184" y="2276557"/>
            <a:ext cx="1155560" cy="3515736"/>
            <a:chOff x="7086914" y="2317022"/>
            <a:chExt cx="1155560" cy="3515736"/>
          </a:xfrm>
        </p:grpSpPr>
        <p:sp>
          <p:nvSpPr>
            <p:cNvPr id="37" name="TextBox 36"/>
            <p:cNvSpPr txBox="1"/>
            <p:nvPr/>
          </p:nvSpPr>
          <p:spPr>
            <a:xfrm>
              <a:off x="7086914" y="231702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086914" y="275331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86914" y="3189614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86914" y="3625910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86914" y="4062206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86914" y="4498502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6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86914" y="4934798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86914" y="5371093"/>
              <a:ext cx="1155560" cy="4616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  <a:latin typeface="Arial" pitchFamily="34" charset="0"/>
                </a:rPr>
                <a:t>8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418230" y="3430291"/>
            <a:ext cx="1513436" cy="1313882"/>
            <a:chOff x="3474921" y="3088228"/>
            <a:chExt cx="1709129" cy="1483772"/>
          </a:xfrm>
          <a:solidFill>
            <a:srgbClr val="FFC000"/>
          </a:solidFill>
        </p:grpSpPr>
        <p:sp>
          <p:nvSpPr>
            <p:cNvPr id="48" name="L-Shape 47"/>
            <p:cNvSpPr/>
            <p:nvPr/>
          </p:nvSpPr>
          <p:spPr>
            <a:xfrm>
              <a:off x="4274288" y="3710763"/>
              <a:ext cx="445889" cy="861237"/>
            </a:xfrm>
            <a:prstGeom prst="corne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0" name="L-Shape 49"/>
            <p:cNvSpPr/>
            <p:nvPr/>
          </p:nvSpPr>
          <p:spPr>
            <a:xfrm rot="7200000">
              <a:off x="3682595" y="3071190"/>
              <a:ext cx="445889" cy="861237"/>
            </a:xfrm>
            <a:prstGeom prst="corne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6" name="L-Shape 55"/>
            <p:cNvSpPr/>
            <p:nvPr/>
          </p:nvSpPr>
          <p:spPr>
            <a:xfrm rot="14400000">
              <a:off x="4530487" y="2880555"/>
              <a:ext cx="445889" cy="861236"/>
            </a:xfrm>
            <a:prstGeom prst="corne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7" name="Isosceles Triangle 56"/>
            <p:cNvSpPr/>
            <p:nvPr/>
          </p:nvSpPr>
          <p:spPr>
            <a:xfrm>
              <a:off x="4272461" y="3520160"/>
              <a:ext cx="226290" cy="19507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790522" y="2485292"/>
            <a:ext cx="2873828" cy="2873828"/>
            <a:chOff x="1790522" y="2485292"/>
            <a:chExt cx="2873828" cy="2873828"/>
          </a:xfrm>
        </p:grpSpPr>
        <p:grpSp>
          <p:nvGrpSpPr>
            <p:cNvPr id="9" name="Group 44"/>
            <p:cNvGrpSpPr/>
            <p:nvPr/>
          </p:nvGrpSpPr>
          <p:grpSpPr>
            <a:xfrm>
              <a:off x="1790522" y="2485292"/>
              <a:ext cx="2873828" cy="2873828"/>
              <a:chOff x="1778559" y="2552282"/>
              <a:chExt cx="2873828" cy="2873828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2665687" y="4885993"/>
                <a:ext cx="109957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>
                    <a:solidFill>
                      <a:srgbClr val="C00000"/>
                    </a:solidFill>
                    <a:latin typeface="Arial" pitchFamily="34" charset="0"/>
                  </a:rPr>
                  <a:t>Base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778559" y="2552282"/>
                <a:ext cx="2873828" cy="287382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2417493" y="3430270"/>
              <a:ext cx="1513436" cy="1313882"/>
              <a:chOff x="3474921" y="3088228"/>
              <a:chExt cx="1709129" cy="1483772"/>
            </a:xfrm>
          </p:grpSpPr>
          <p:sp>
            <p:nvSpPr>
              <p:cNvPr id="60" name="L-Shape 59"/>
              <p:cNvSpPr/>
              <p:nvPr/>
            </p:nvSpPr>
            <p:spPr>
              <a:xfrm>
                <a:off x="4274288" y="3710763"/>
                <a:ext cx="445889" cy="861237"/>
              </a:xfrm>
              <a:prstGeom prst="corne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1" name="L-Shape 60"/>
              <p:cNvSpPr/>
              <p:nvPr/>
            </p:nvSpPr>
            <p:spPr>
              <a:xfrm rot="7200000">
                <a:off x="3682595" y="3071190"/>
                <a:ext cx="445889" cy="861237"/>
              </a:xfrm>
              <a:prstGeom prst="corne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2" name="L-Shape 61"/>
              <p:cNvSpPr/>
              <p:nvPr/>
            </p:nvSpPr>
            <p:spPr>
              <a:xfrm rot="14400000">
                <a:off x="4530487" y="2880555"/>
                <a:ext cx="445889" cy="861236"/>
              </a:xfrm>
              <a:prstGeom prst="corner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>
                <a:off x="4272461" y="3520160"/>
                <a:ext cx="226290" cy="195077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39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4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4.81481E-6 L 0.00035 0.06343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7200000">
                                      <p:cBhvr>
                                        <p:cTn id="54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6297 L -4.16667E-6 0.12663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1" grpId="0"/>
      <p:bldP spid="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6264" y="1547446"/>
            <a:ext cx="8571375" cy="4645993"/>
          </a:xfrm>
          <a:prstGeom prst="roundRect">
            <a:avLst>
              <a:gd name="adj" fmla="val 6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00050" y="208911"/>
            <a:ext cx="8343900" cy="504056"/>
            <a:chOff x="395536" y="1409582"/>
            <a:chExt cx="5544616" cy="504056"/>
          </a:xfrm>
        </p:grpSpPr>
        <p:sp>
          <p:nvSpPr>
            <p:cNvPr id="15" name="Rounded Rectangle 1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Symmetry task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86CFF15-B2D4-4F62-A0E5-E2CFCE1C62BA}"/>
              </a:ext>
            </a:extLst>
          </p:cNvPr>
          <p:cNvSpPr txBox="1"/>
          <p:nvPr/>
        </p:nvSpPr>
        <p:spPr>
          <a:xfrm>
            <a:off x="1116454" y="1669124"/>
            <a:ext cx="689099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Do Dwyer 18.8 Q1-7 and 18.9 Q1-8 (pages 251, 252)</a:t>
            </a:r>
          </a:p>
          <a:p>
            <a:endParaRPr lang="en-AU" sz="2400" dirty="0"/>
          </a:p>
          <a:p>
            <a:r>
              <a:rPr lang="en-AU" sz="2400" dirty="0"/>
              <a:t>Check your answers with a shoulder partner</a:t>
            </a:r>
          </a:p>
          <a:p>
            <a:endParaRPr lang="en-AU" sz="2400" dirty="0"/>
          </a:p>
          <a:p>
            <a:r>
              <a:rPr lang="en-AU" sz="2400" dirty="0"/>
              <a:t>You will then need to share your answers with the group / table</a:t>
            </a:r>
          </a:p>
          <a:p>
            <a:endParaRPr lang="en-AU" sz="2400" dirty="0"/>
          </a:p>
          <a:p>
            <a:r>
              <a:rPr lang="en-AU" sz="2400" dirty="0"/>
              <a:t>The teacher will then call on someone at random from each group to answer a question, so everyone needs to have all of the answers. </a:t>
            </a:r>
          </a:p>
        </p:txBody>
      </p:sp>
    </p:spTree>
    <p:extLst>
      <p:ext uri="{BB962C8B-B14F-4D97-AF65-F5344CB8AC3E}">
        <p14:creationId xmlns:p14="http://schemas.microsoft.com/office/powerpoint/2010/main" val="4241284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2756</TotalTime>
  <Words>558</Words>
  <Application>Microsoft Office PowerPoint</Application>
  <PresentationFormat>On-screen Show (4:3)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</dc:creator>
  <cp:lastModifiedBy>Hamilton Stott</cp:lastModifiedBy>
  <cp:revision>350</cp:revision>
  <dcterms:created xsi:type="dcterms:W3CDTF">2010-11-29T19:11:46Z</dcterms:created>
  <dcterms:modified xsi:type="dcterms:W3CDTF">2021-08-22T12:03:01Z</dcterms:modified>
</cp:coreProperties>
</file>
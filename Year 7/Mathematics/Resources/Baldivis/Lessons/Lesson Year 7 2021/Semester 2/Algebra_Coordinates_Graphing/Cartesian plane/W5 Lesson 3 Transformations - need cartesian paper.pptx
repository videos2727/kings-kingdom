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8" r:id="rId2"/>
    <p:sldId id="272" r:id="rId3"/>
    <p:sldId id="273" r:id="rId4"/>
    <p:sldId id="277" r:id="rId5"/>
    <p:sldId id="278" r:id="rId6"/>
    <p:sldId id="281" r:id="rId7"/>
    <p:sldId id="282" r:id="rId8"/>
    <p:sldId id="283" r:id="rId9"/>
    <p:sldId id="284" r:id="rId10"/>
    <p:sldId id="28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80"/>
    <a:srgbClr val="990033"/>
    <a:srgbClr val="FFCCFF"/>
    <a:srgbClr val="FF7C80"/>
    <a:srgbClr val="A50021"/>
    <a:srgbClr val="FFCCCC"/>
    <a:srgbClr val="FF9999"/>
    <a:srgbClr val="6699FF"/>
    <a:srgbClr val="3366F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23" autoAdjust="0"/>
    <p:restoredTop sz="76952" autoAdjust="0"/>
  </p:normalViewPr>
  <p:slideViewPr>
    <p:cSldViewPr snapToGrid="0">
      <p:cViewPr varScale="1">
        <p:scale>
          <a:sx n="66" d="100"/>
          <a:sy n="66" d="100"/>
        </p:scale>
        <p:origin x="2386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7B30B8-0C22-40E7-B2D6-0F874C8B23B2}" type="datetimeFigureOut">
              <a:rPr lang="en-AU" smtClean="0"/>
              <a:t>22/08/2021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4EB2B8-E17A-4886-8E15-63DD18968D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8708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 next slide on combination safety and accountability to get summaries written, and </a:t>
            </a:r>
            <a:r>
              <a:rPr lang="en-AU" dirty="0" err="1"/>
              <a:t>wiCor</a:t>
            </a:r>
            <a:r>
              <a:rPr lang="en-AU" dirty="0"/>
              <a:t> Collaboration – working together to improve each </a:t>
            </a:r>
            <a:r>
              <a:rPr lang="en-AU"/>
              <a:t>others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4EB2B8-E17A-4886-8E15-63DD18968D32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6023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3037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3762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1919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8665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6313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9231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3093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2333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268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1915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8931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8058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5101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59428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47711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8038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B06B6-AFC6-4DF6-AF13-447355A9C5F3}" type="datetimeFigureOut">
              <a:rPr lang="en-GB" smtClean="0"/>
              <a:pPr/>
              <a:t>22/08/2021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9696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85546" y="980728"/>
            <a:ext cx="8172908" cy="4730452"/>
          </a:xfrm>
          <a:prstGeom prst="roundRect">
            <a:avLst>
              <a:gd name="adj" fmla="val 8107"/>
            </a:avLst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57554" y="260648"/>
            <a:ext cx="80288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itchFamily="34" charset="0"/>
              </a:rPr>
              <a:t>Topic: Transformations</a:t>
            </a:r>
          </a:p>
          <a:p>
            <a:pPr algn="ctr"/>
            <a:r>
              <a:rPr lang="en-GB" sz="2000" b="1" dirty="0">
                <a:latin typeface="Arial" pitchFamily="34" charset="0"/>
              </a:rPr>
              <a:t>EQ: What is the difference between a rotation and a reflection?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554" y="1196752"/>
            <a:ext cx="80288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Arial" pitchFamily="34" charset="0"/>
              </a:rPr>
              <a:t>The 3 </a:t>
            </a:r>
            <a:r>
              <a:rPr lang="en-GB" sz="2400" b="1" dirty="0">
                <a:solidFill>
                  <a:srgbClr val="FF0000"/>
                </a:solidFill>
                <a:latin typeface="Arial" pitchFamily="34" charset="0"/>
              </a:rPr>
              <a:t>transformations </a:t>
            </a:r>
            <a:r>
              <a:rPr lang="en-GB" sz="2400" b="1" dirty="0">
                <a:latin typeface="Arial" pitchFamily="34" charset="0"/>
              </a:rPr>
              <a:t>we need to know about are:</a:t>
            </a: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2270988" y="1952836"/>
            <a:ext cx="460202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solidFill>
                  <a:srgbClr val="C00000"/>
                </a:solidFill>
                <a:latin typeface="Arial" pitchFamily="34" charset="0"/>
              </a:rPr>
              <a:t>TRANSLATIONS</a:t>
            </a: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2817238" y="2870744"/>
            <a:ext cx="350952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solidFill>
                  <a:srgbClr val="C00000"/>
                </a:solidFill>
                <a:latin typeface="Arial" pitchFamily="34" charset="0"/>
              </a:rPr>
              <a:t>ROTATIONS</a:t>
            </a:r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2550528" y="3788652"/>
            <a:ext cx="404294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solidFill>
                  <a:srgbClr val="C00000"/>
                </a:solidFill>
                <a:latin typeface="Arial" pitchFamily="34" charset="0"/>
              </a:rPr>
              <a:t>REFLECTIONS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3" grpId="0"/>
      <p:bldP spid="9" grpId="0"/>
      <p:bldP spid="16" grpId="0"/>
      <p:bldP spid="17" grpId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65022" y="872716"/>
            <a:ext cx="8613957" cy="5292588"/>
          </a:xfrm>
          <a:prstGeom prst="roundRect">
            <a:avLst>
              <a:gd name="adj" fmla="val 5211"/>
            </a:avLst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7554" y="871992"/>
            <a:ext cx="80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A Translation is a movement in a straight 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526" y="1270655"/>
            <a:ext cx="8532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Arial" pitchFamily="34" charset="0"/>
              </a:rPr>
              <a:t>We describe this as a </a:t>
            </a:r>
            <a:r>
              <a:rPr lang="en-GB" sz="1600" b="1" dirty="0">
                <a:solidFill>
                  <a:srgbClr val="A50021"/>
                </a:solidFill>
                <a:latin typeface="Arial" pitchFamily="34" charset="0"/>
              </a:rPr>
              <a:t>HORIZONTAL</a:t>
            </a:r>
            <a:r>
              <a:rPr lang="en-GB" sz="1600" b="1" dirty="0">
                <a:latin typeface="Arial" pitchFamily="34" charset="0"/>
              </a:rPr>
              <a:t> movement followed by a </a:t>
            </a:r>
            <a:r>
              <a:rPr lang="en-GB" sz="1600" b="1" dirty="0">
                <a:solidFill>
                  <a:srgbClr val="A50021"/>
                </a:solidFill>
                <a:latin typeface="Arial" pitchFamily="34" charset="0"/>
              </a:rPr>
              <a:t>VERTICAL</a:t>
            </a:r>
            <a:r>
              <a:rPr lang="en-GB" sz="1600" b="1" dirty="0">
                <a:latin typeface="Arial" pitchFamily="34" charset="0"/>
              </a:rPr>
              <a:t> movement.</a:t>
            </a:r>
          </a:p>
        </p:txBody>
      </p:sp>
      <p:sp>
        <p:nvSpPr>
          <p:cNvPr id="49" name="Rectangle 192"/>
          <p:cNvSpPr>
            <a:spLocks noChangeArrowheads="1"/>
          </p:cNvSpPr>
          <p:nvPr/>
        </p:nvSpPr>
        <p:spPr bwMode="auto">
          <a:xfrm>
            <a:off x="687691" y="2173450"/>
            <a:ext cx="32289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latin typeface="Arial" pitchFamily="34" charset="0"/>
              </a:rPr>
              <a:t>The triangle moved:</a:t>
            </a:r>
          </a:p>
        </p:txBody>
      </p:sp>
      <p:sp>
        <p:nvSpPr>
          <p:cNvPr id="50" name="Rectangle 193"/>
          <p:cNvSpPr>
            <a:spLocks noChangeArrowheads="1"/>
          </p:cNvSpPr>
          <p:nvPr/>
        </p:nvSpPr>
        <p:spPr bwMode="auto">
          <a:xfrm>
            <a:off x="687691" y="2469266"/>
            <a:ext cx="32289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A50021"/>
                </a:solidFill>
                <a:latin typeface="Arial" pitchFamily="34" charset="0"/>
              </a:rPr>
              <a:t>5 squares to the right</a:t>
            </a:r>
          </a:p>
        </p:txBody>
      </p:sp>
      <p:sp>
        <p:nvSpPr>
          <p:cNvPr id="51" name="Rectangle 194"/>
          <p:cNvSpPr>
            <a:spLocks noChangeArrowheads="1"/>
          </p:cNvSpPr>
          <p:nvPr/>
        </p:nvSpPr>
        <p:spPr bwMode="auto">
          <a:xfrm>
            <a:off x="687691" y="3197424"/>
            <a:ext cx="32289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A50021"/>
                </a:solidFill>
                <a:latin typeface="Arial" pitchFamily="34" charset="0"/>
              </a:rPr>
              <a:t>7 squares down</a:t>
            </a:r>
          </a:p>
        </p:txBody>
      </p:sp>
      <p:sp>
        <p:nvSpPr>
          <p:cNvPr id="65" name="Rectangle 194"/>
          <p:cNvSpPr>
            <a:spLocks noChangeArrowheads="1"/>
          </p:cNvSpPr>
          <p:nvPr/>
        </p:nvSpPr>
        <p:spPr bwMode="auto">
          <a:xfrm>
            <a:off x="687691" y="2898373"/>
            <a:ext cx="126699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latin typeface="Arial" pitchFamily="34" charset="0"/>
              </a:rPr>
              <a:t>Then</a:t>
            </a:r>
            <a:endParaRPr lang="en-GB" sz="2400" b="1" dirty="0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66" name="Rectangle 192"/>
          <p:cNvSpPr>
            <a:spLocks noChangeArrowheads="1"/>
          </p:cNvSpPr>
          <p:nvPr/>
        </p:nvSpPr>
        <p:spPr bwMode="auto">
          <a:xfrm>
            <a:off x="687691" y="1821194"/>
            <a:ext cx="144016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1600" i="1" dirty="0">
                <a:latin typeface="Arial" pitchFamily="34" charset="0"/>
              </a:rPr>
              <a:t>Example 2:</a:t>
            </a:r>
          </a:p>
        </p:txBody>
      </p:sp>
      <p:grpSp>
        <p:nvGrpSpPr>
          <p:cNvPr id="59" name="Group 8"/>
          <p:cNvGrpSpPr>
            <a:grpSpLocks/>
          </p:cNvGrpSpPr>
          <p:nvPr/>
        </p:nvGrpSpPr>
        <p:grpSpPr bwMode="auto">
          <a:xfrm>
            <a:off x="4644008" y="2024844"/>
            <a:ext cx="3887788" cy="3887787"/>
            <a:chOff x="3198" y="1729"/>
            <a:chExt cx="2449" cy="2449"/>
          </a:xfrm>
        </p:grpSpPr>
        <p:sp>
          <p:nvSpPr>
            <p:cNvPr id="62" name="Rectangle 9"/>
            <p:cNvSpPr>
              <a:spLocks noChangeArrowheads="1"/>
            </p:cNvSpPr>
            <p:nvPr/>
          </p:nvSpPr>
          <p:spPr bwMode="auto">
            <a:xfrm>
              <a:off x="3198" y="1729"/>
              <a:ext cx="2449" cy="24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dirty="0">
                <a:latin typeface="Arial" pitchFamily="34" charset="0"/>
              </a:endParaRPr>
            </a:p>
          </p:txBody>
        </p:sp>
        <p:grpSp>
          <p:nvGrpSpPr>
            <p:cNvPr id="67" name="Group 10"/>
            <p:cNvGrpSpPr>
              <a:grpSpLocks/>
            </p:cNvGrpSpPr>
            <p:nvPr/>
          </p:nvGrpSpPr>
          <p:grpSpPr bwMode="auto">
            <a:xfrm>
              <a:off x="3243" y="1942"/>
              <a:ext cx="2359" cy="2021"/>
              <a:chOff x="3243" y="1942"/>
              <a:chExt cx="2359" cy="2021"/>
            </a:xfrm>
          </p:grpSpPr>
          <p:sp>
            <p:nvSpPr>
              <p:cNvPr id="80" name="Line 11"/>
              <p:cNvSpPr>
                <a:spLocks noChangeShapeType="1"/>
              </p:cNvSpPr>
              <p:nvPr/>
            </p:nvSpPr>
            <p:spPr bwMode="auto">
              <a:xfrm>
                <a:off x="3243" y="2548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1" name="Line 12"/>
              <p:cNvSpPr>
                <a:spLocks noChangeShapeType="1"/>
              </p:cNvSpPr>
              <p:nvPr/>
            </p:nvSpPr>
            <p:spPr bwMode="auto">
              <a:xfrm>
                <a:off x="3243" y="2750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2" name="Line 13"/>
              <p:cNvSpPr>
                <a:spLocks noChangeShapeType="1"/>
              </p:cNvSpPr>
              <p:nvPr/>
            </p:nvSpPr>
            <p:spPr bwMode="auto">
              <a:xfrm>
                <a:off x="3243" y="2952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3" name="Line 14"/>
              <p:cNvSpPr>
                <a:spLocks noChangeShapeType="1"/>
              </p:cNvSpPr>
              <p:nvPr/>
            </p:nvSpPr>
            <p:spPr bwMode="auto">
              <a:xfrm>
                <a:off x="3243" y="31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4" name="Line 15"/>
              <p:cNvSpPr>
                <a:spLocks noChangeShapeType="1"/>
              </p:cNvSpPr>
              <p:nvPr/>
            </p:nvSpPr>
            <p:spPr bwMode="auto">
              <a:xfrm>
                <a:off x="3243" y="3356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5" name="Line 16"/>
              <p:cNvSpPr>
                <a:spLocks noChangeShapeType="1"/>
              </p:cNvSpPr>
              <p:nvPr/>
            </p:nvSpPr>
            <p:spPr bwMode="auto">
              <a:xfrm>
                <a:off x="3243" y="3558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6" name="Line 17"/>
              <p:cNvSpPr>
                <a:spLocks noChangeShapeType="1"/>
              </p:cNvSpPr>
              <p:nvPr/>
            </p:nvSpPr>
            <p:spPr bwMode="auto">
              <a:xfrm>
                <a:off x="3243" y="3760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7" name="Line 18"/>
              <p:cNvSpPr>
                <a:spLocks noChangeShapeType="1"/>
              </p:cNvSpPr>
              <p:nvPr/>
            </p:nvSpPr>
            <p:spPr bwMode="auto">
              <a:xfrm>
                <a:off x="3243" y="3963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8" name="Line 19"/>
              <p:cNvSpPr>
                <a:spLocks noChangeShapeType="1"/>
              </p:cNvSpPr>
              <p:nvPr/>
            </p:nvSpPr>
            <p:spPr bwMode="auto">
              <a:xfrm>
                <a:off x="3243" y="1942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9" name="Line 20"/>
              <p:cNvSpPr>
                <a:spLocks noChangeShapeType="1"/>
              </p:cNvSpPr>
              <p:nvPr/>
            </p:nvSpPr>
            <p:spPr bwMode="auto">
              <a:xfrm>
                <a:off x="3243" y="214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90" name="Line 21"/>
              <p:cNvSpPr>
                <a:spLocks noChangeShapeType="1"/>
              </p:cNvSpPr>
              <p:nvPr/>
            </p:nvSpPr>
            <p:spPr bwMode="auto">
              <a:xfrm>
                <a:off x="3243" y="2346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</p:grpSp>
        <p:grpSp>
          <p:nvGrpSpPr>
            <p:cNvPr id="68" name="Group 22"/>
            <p:cNvGrpSpPr>
              <a:grpSpLocks/>
            </p:cNvGrpSpPr>
            <p:nvPr/>
          </p:nvGrpSpPr>
          <p:grpSpPr bwMode="auto">
            <a:xfrm>
              <a:off x="3413" y="1774"/>
              <a:ext cx="2021" cy="2359"/>
              <a:chOff x="3413" y="1774"/>
              <a:chExt cx="2021" cy="2359"/>
            </a:xfrm>
          </p:grpSpPr>
          <p:sp>
            <p:nvSpPr>
              <p:cNvPr id="69" name="Line 23"/>
              <p:cNvSpPr>
                <a:spLocks noChangeShapeType="1"/>
              </p:cNvSpPr>
              <p:nvPr/>
            </p:nvSpPr>
            <p:spPr bwMode="auto">
              <a:xfrm rot="16200000">
                <a:off x="2637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0" name="Line 24"/>
              <p:cNvSpPr>
                <a:spLocks noChangeShapeType="1"/>
              </p:cNvSpPr>
              <p:nvPr/>
            </p:nvSpPr>
            <p:spPr bwMode="auto">
              <a:xfrm rot="16200000">
                <a:off x="2839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1" name="Line 25"/>
              <p:cNvSpPr>
                <a:spLocks noChangeShapeType="1"/>
              </p:cNvSpPr>
              <p:nvPr/>
            </p:nvSpPr>
            <p:spPr bwMode="auto">
              <a:xfrm rot="16200000">
                <a:off x="3041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2" name="Line 26"/>
              <p:cNvSpPr>
                <a:spLocks noChangeShapeType="1"/>
              </p:cNvSpPr>
              <p:nvPr/>
            </p:nvSpPr>
            <p:spPr bwMode="auto">
              <a:xfrm rot="16200000">
                <a:off x="3237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3" name="Line 27"/>
              <p:cNvSpPr>
                <a:spLocks noChangeShapeType="1"/>
              </p:cNvSpPr>
              <p:nvPr/>
            </p:nvSpPr>
            <p:spPr bwMode="auto">
              <a:xfrm rot="16200000">
                <a:off x="3445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4" name="Line 28"/>
              <p:cNvSpPr>
                <a:spLocks noChangeShapeType="1"/>
              </p:cNvSpPr>
              <p:nvPr/>
            </p:nvSpPr>
            <p:spPr bwMode="auto">
              <a:xfrm rot="16200000">
                <a:off x="3647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5" name="Line 29"/>
              <p:cNvSpPr>
                <a:spLocks noChangeShapeType="1"/>
              </p:cNvSpPr>
              <p:nvPr/>
            </p:nvSpPr>
            <p:spPr bwMode="auto">
              <a:xfrm rot="16200000">
                <a:off x="3849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6" name="Line 30"/>
              <p:cNvSpPr>
                <a:spLocks noChangeShapeType="1"/>
              </p:cNvSpPr>
              <p:nvPr/>
            </p:nvSpPr>
            <p:spPr bwMode="auto">
              <a:xfrm rot="16200000">
                <a:off x="4051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7" name="Line 31"/>
              <p:cNvSpPr>
                <a:spLocks noChangeShapeType="1"/>
              </p:cNvSpPr>
              <p:nvPr/>
            </p:nvSpPr>
            <p:spPr bwMode="auto">
              <a:xfrm rot="16200000">
                <a:off x="4254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8" name="Line 32"/>
              <p:cNvSpPr>
                <a:spLocks noChangeShapeType="1"/>
              </p:cNvSpPr>
              <p:nvPr/>
            </p:nvSpPr>
            <p:spPr bwMode="auto">
              <a:xfrm rot="16200000">
                <a:off x="2233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9" name="Line 33"/>
              <p:cNvSpPr>
                <a:spLocks noChangeShapeType="1"/>
              </p:cNvSpPr>
              <p:nvPr/>
            </p:nvSpPr>
            <p:spPr bwMode="auto">
              <a:xfrm rot="16200000">
                <a:off x="2435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</p:grpSp>
      </p:grpSp>
      <p:sp>
        <p:nvSpPr>
          <p:cNvPr id="91" name="AutoShape 34"/>
          <p:cNvSpPr>
            <a:spLocks noChangeArrowheads="1"/>
          </p:cNvSpPr>
          <p:nvPr/>
        </p:nvSpPr>
        <p:spPr bwMode="auto">
          <a:xfrm>
            <a:off x="4990642" y="2364569"/>
            <a:ext cx="636003" cy="960437"/>
          </a:xfrm>
          <a:prstGeom prst="rtTriangle">
            <a:avLst/>
          </a:prstGeom>
          <a:gradFill flip="none" rotWithShape="1">
            <a:gsLst>
              <a:gs pos="0">
                <a:srgbClr val="A50021">
                  <a:shade val="30000"/>
                  <a:satMod val="115000"/>
                </a:srgbClr>
              </a:gs>
              <a:gs pos="50000">
                <a:srgbClr val="A50021">
                  <a:shade val="67500"/>
                  <a:satMod val="115000"/>
                </a:srgbClr>
              </a:gs>
              <a:gs pos="100000">
                <a:srgbClr val="A5002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>
              <a:latin typeface="Arial" pitchFamily="34" charset="0"/>
            </a:endParaRPr>
          </a:p>
        </p:txBody>
      </p:sp>
      <p:sp>
        <p:nvSpPr>
          <p:cNvPr id="92" name="AutoShape 35"/>
          <p:cNvSpPr>
            <a:spLocks noChangeArrowheads="1"/>
          </p:cNvSpPr>
          <p:nvPr/>
        </p:nvSpPr>
        <p:spPr bwMode="auto">
          <a:xfrm>
            <a:off x="4995541" y="2366156"/>
            <a:ext cx="656349" cy="960438"/>
          </a:xfrm>
          <a:prstGeom prst="rtTriangle">
            <a:avLst/>
          </a:prstGeom>
          <a:gradFill flip="none" rotWithShape="1">
            <a:gsLst>
              <a:gs pos="0">
                <a:srgbClr val="A50021">
                  <a:shade val="30000"/>
                  <a:satMod val="115000"/>
                </a:srgbClr>
              </a:gs>
              <a:gs pos="50000">
                <a:srgbClr val="A50021">
                  <a:shade val="67500"/>
                  <a:satMod val="115000"/>
                </a:srgbClr>
              </a:gs>
              <a:gs pos="100000">
                <a:srgbClr val="A5002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>
              <a:latin typeface="Arial" pitchFamily="34" charset="0"/>
            </a:endParaRPr>
          </a:p>
        </p:txBody>
      </p:sp>
      <p:sp>
        <p:nvSpPr>
          <p:cNvPr id="93" name="Line 44"/>
          <p:cNvSpPr>
            <a:spLocks noChangeShapeType="1"/>
          </p:cNvSpPr>
          <p:nvPr/>
        </p:nvSpPr>
        <p:spPr bwMode="auto">
          <a:xfrm>
            <a:off x="5645721" y="3310719"/>
            <a:ext cx="1595437" cy="0"/>
          </a:xfrm>
          <a:prstGeom prst="line">
            <a:avLst/>
          </a:prstGeom>
          <a:noFill/>
          <a:ln w="76200">
            <a:solidFill>
              <a:srgbClr val="9900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dirty="0">
              <a:latin typeface="Arial" pitchFamily="34" charset="0"/>
            </a:endParaRPr>
          </a:p>
        </p:txBody>
      </p:sp>
      <p:sp>
        <p:nvSpPr>
          <p:cNvPr id="94" name="Line 45"/>
          <p:cNvSpPr>
            <a:spLocks noChangeShapeType="1"/>
          </p:cNvSpPr>
          <p:nvPr/>
        </p:nvSpPr>
        <p:spPr bwMode="auto">
          <a:xfrm>
            <a:off x="7226871" y="3331356"/>
            <a:ext cx="0" cy="2235200"/>
          </a:xfrm>
          <a:prstGeom prst="line">
            <a:avLst/>
          </a:prstGeom>
          <a:noFill/>
          <a:ln w="76200">
            <a:solidFill>
              <a:srgbClr val="9900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dirty="0">
              <a:latin typeface="Arial" pitchFamily="34" charset="0"/>
            </a:endParaRPr>
          </a:p>
        </p:txBody>
      </p:sp>
      <p:grpSp>
        <p:nvGrpSpPr>
          <p:cNvPr id="58" name="Group 15"/>
          <p:cNvGrpSpPr/>
          <p:nvPr/>
        </p:nvGrpSpPr>
        <p:grpSpPr>
          <a:xfrm>
            <a:off x="400050" y="208911"/>
            <a:ext cx="8343900" cy="504056"/>
            <a:chOff x="395536" y="1409582"/>
            <a:chExt cx="5544616" cy="504056"/>
          </a:xfrm>
        </p:grpSpPr>
        <p:sp>
          <p:nvSpPr>
            <p:cNvPr id="95" name="Rounded Rectangle 94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(1)  Translations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3.64162E-6 L 0.17292 3.64162E-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4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292 3.64162E-6 L 0.17292 0.3278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65" grpId="0"/>
      <p:bldP spid="66" grpId="0"/>
      <p:bldP spid="91" grpId="0" animBg="1"/>
      <p:bldP spid="92" grpId="0" animBg="1"/>
      <p:bldP spid="92" grpId="1" animBg="1"/>
      <p:bldP spid="92" grpId="2" animBg="1"/>
      <p:bldP spid="93" grpId="0" animBg="1"/>
      <p:bldP spid="9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65022" y="872716"/>
            <a:ext cx="8613957" cy="5292588"/>
          </a:xfrm>
          <a:prstGeom prst="roundRect">
            <a:avLst>
              <a:gd name="adj" fmla="val 5211"/>
            </a:avLst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51520" y="6273316"/>
            <a:ext cx="8568952" cy="404664"/>
          </a:xfrm>
          <a:prstGeom prst="roundRect">
            <a:avLst>
              <a:gd name="adj" fmla="val 50000"/>
            </a:avLst>
          </a:prstGeom>
          <a:solidFill>
            <a:srgbClr val="FF9999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7564" y="6309320"/>
            <a:ext cx="80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Translations</a:t>
            </a:r>
          </a:p>
        </p:txBody>
      </p:sp>
      <p:sp>
        <p:nvSpPr>
          <p:cNvPr id="8" name="Oval 7"/>
          <p:cNvSpPr/>
          <p:nvPr/>
        </p:nvSpPr>
        <p:spPr>
          <a:xfrm>
            <a:off x="287524" y="6306784"/>
            <a:ext cx="337728" cy="337728"/>
          </a:xfrm>
          <a:prstGeom prst="ellipse">
            <a:avLst/>
          </a:prstGeom>
          <a:solidFill>
            <a:srgbClr val="FF7C80"/>
          </a:solidFill>
          <a:ln w="635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0374" y="6321760"/>
            <a:ext cx="252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A50021"/>
                </a:solidFill>
                <a:latin typeface="Arial" pitchFamily="34" charset="0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554" y="871992"/>
            <a:ext cx="80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A Translation is a movement in a straight 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526" y="1270655"/>
            <a:ext cx="8532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Arial" pitchFamily="34" charset="0"/>
              </a:rPr>
              <a:t>We describe this as a </a:t>
            </a:r>
            <a:r>
              <a:rPr lang="en-GB" sz="1600" b="1" dirty="0">
                <a:solidFill>
                  <a:srgbClr val="A50021"/>
                </a:solidFill>
                <a:latin typeface="Arial" pitchFamily="34" charset="0"/>
              </a:rPr>
              <a:t>HORIZONTAL</a:t>
            </a:r>
            <a:r>
              <a:rPr lang="en-GB" sz="1600" b="1" dirty="0">
                <a:latin typeface="Arial" pitchFamily="34" charset="0"/>
              </a:rPr>
              <a:t> movement followed by a </a:t>
            </a:r>
            <a:r>
              <a:rPr lang="en-GB" sz="1600" b="1" dirty="0">
                <a:solidFill>
                  <a:srgbClr val="A50021"/>
                </a:solidFill>
                <a:latin typeface="Arial" pitchFamily="34" charset="0"/>
              </a:rPr>
              <a:t>VERTICAL</a:t>
            </a:r>
            <a:r>
              <a:rPr lang="en-GB" sz="1600" b="1" dirty="0">
                <a:latin typeface="Arial" pitchFamily="34" charset="0"/>
              </a:rPr>
              <a:t> movement.</a:t>
            </a:r>
          </a:p>
        </p:txBody>
      </p:sp>
      <p:sp>
        <p:nvSpPr>
          <p:cNvPr id="49" name="Rectangle 192"/>
          <p:cNvSpPr>
            <a:spLocks noChangeArrowheads="1"/>
          </p:cNvSpPr>
          <p:nvPr/>
        </p:nvSpPr>
        <p:spPr bwMode="auto">
          <a:xfrm>
            <a:off x="687691" y="2173450"/>
            <a:ext cx="32289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latin typeface="Arial" pitchFamily="34" charset="0"/>
              </a:rPr>
              <a:t>The rhombus moved:</a:t>
            </a:r>
          </a:p>
        </p:txBody>
      </p:sp>
      <p:sp>
        <p:nvSpPr>
          <p:cNvPr id="50" name="Rectangle 193"/>
          <p:cNvSpPr>
            <a:spLocks noChangeArrowheads="1"/>
          </p:cNvSpPr>
          <p:nvPr/>
        </p:nvSpPr>
        <p:spPr bwMode="auto">
          <a:xfrm>
            <a:off x="687691" y="2469266"/>
            <a:ext cx="32289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A50021"/>
                </a:solidFill>
                <a:latin typeface="Arial" pitchFamily="34" charset="0"/>
              </a:rPr>
              <a:t>8 squares to the left</a:t>
            </a:r>
          </a:p>
        </p:txBody>
      </p:sp>
      <p:sp>
        <p:nvSpPr>
          <p:cNvPr id="51" name="Rectangle 194"/>
          <p:cNvSpPr>
            <a:spLocks noChangeArrowheads="1"/>
          </p:cNvSpPr>
          <p:nvPr/>
        </p:nvSpPr>
        <p:spPr bwMode="auto">
          <a:xfrm>
            <a:off x="687691" y="3197424"/>
            <a:ext cx="32289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A50021"/>
                </a:solidFill>
                <a:latin typeface="Arial" pitchFamily="34" charset="0"/>
              </a:rPr>
              <a:t>3 squares down</a:t>
            </a:r>
          </a:p>
        </p:txBody>
      </p:sp>
      <p:sp>
        <p:nvSpPr>
          <p:cNvPr id="65" name="Rectangle 194"/>
          <p:cNvSpPr>
            <a:spLocks noChangeArrowheads="1"/>
          </p:cNvSpPr>
          <p:nvPr/>
        </p:nvSpPr>
        <p:spPr bwMode="auto">
          <a:xfrm>
            <a:off x="687691" y="2898373"/>
            <a:ext cx="126699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latin typeface="Arial" pitchFamily="34" charset="0"/>
              </a:rPr>
              <a:t>Then</a:t>
            </a:r>
            <a:endParaRPr lang="en-GB" sz="2400" b="1" dirty="0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66" name="Rectangle 192"/>
          <p:cNvSpPr>
            <a:spLocks noChangeArrowheads="1"/>
          </p:cNvSpPr>
          <p:nvPr/>
        </p:nvSpPr>
        <p:spPr bwMode="auto">
          <a:xfrm>
            <a:off x="687691" y="1821194"/>
            <a:ext cx="144016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1600" i="1" dirty="0">
                <a:latin typeface="Arial" pitchFamily="34" charset="0"/>
              </a:rPr>
              <a:t>Example 3:</a:t>
            </a:r>
          </a:p>
        </p:txBody>
      </p:sp>
      <p:grpSp>
        <p:nvGrpSpPr>
          <p:cNvPr id="59" name="Group 8"/>
          <p:cNvGrpSpPr>
            <a:grpSpLocks/>
          </p:cNvGrpSpPr>
          <p:nvPr/>
        </p:nvGrpSpPr>
        <p:grpSpPr bwMode="auto">
          <a:xfrm>
            <a:off x="4644008" y="1988840"/>
            <a:ext cx="3887788" cy="3887787"/>
            <a:chOff x="3198" y="1729"/>
            <a:chExt cx="2449" cy="2449"/>
          </a:xfrm>
        </p:grpSpPr>
        <p:sp>
          <p:nvSpPr>
            <p:cNvPr id="62" name="Rectangle 9"/>
            <p:cNvSpPr>
              <a:spLocks noChangeArrowheads="1"/>
            </p:cNvSpPr>
            <p:nvPr/>
          </p:nvSpPr>
          <p:spPr bwMode="auto">
            <a:xfrm>
              <a:off x="3198" y="1729"/>
              <a:ext cx="2449" cy="24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dirty="0">
                <a:latin typeface="Arial" pitchFamily="34" charset="0"/>
              </a:endParaRPr>
            </a:p>
          </p:txBody>
        </p:sp>
        <p:grpSp>
          <p:nvGrpSpPr>
            <p:cNvPr id="67" name="Group 10"/>
            <p:cNvGrpSpPr>
              <a:grpSpLocks/>
            </p:cNvGrpSpPr>
            <p:nvPr/>
          </p:nvGrpSpPr>
          <p:grpSpPr bwMode="auto">
            <a:xfrm>
              <a:off x="3243" y="1942"/>
              <a:ext cx="2359" cy="2021"/>
              <a:chOff x="3243" y="1942"/>
              <a:chExt cx="2359" cy="2021"/>
            </a:xfrm>
          </p:grpSpPr>
          <p:sp>
            <p:nvSpPr>
              <p:cNvPr id="80" name="Line 11"/>
              <p:cNvSpPr>
                <a:spLocks noChangeShapeType="1"/>
              </p:cNvSpPr>
              <p:nvPr/>
            </p:nvSpPr>
            <p:spPr bwMode="auto">
              <a:xfrm>
                <a:off x="3243" y="2548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1" name="Line 12"/>
              <p:cNvSpPr>
                <a:spLocks noChangeShapeType="1"/>
              </p:cNvSpPr>
              <p:nvPr/>
            </p:nvSpPr>
            <p:spPr bwMode="auto">
              <a:xfrm>
                <a:off x="3243" y="2750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2" name="Line 13"/>
              <p:cNvSpPr>
                <a:spLocks noChangeShapeType="1"/>
              </p:cNvSpPr>
              <p:nvPr/>
            </p:nvSpPr>
            <p:spPr bwMode="auto">
              <a:xfrm>
                <a:off x="3243" y="2952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3" name="Line 14"/>
              <p:cNvSpPr>
                <a:spLocks noChangeShapeType="1"/>
              </p:cNvSpPr>
              <p:nvPr/>
            </p:nvSpPr>
            <p:spPr bwMode="auto">
              <a:xfrm>
                <a:off x="3243" y="31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4" name="Line 15"/>
              <p:cNvSpPr>
                <a:spLocks noChangeShapeType="1"/>
              </p:cNvSpPr>
              <p:nvPr/>
            </p:nvSpPr>
            <p:spPr bwMode="auto">
              <a:xfrm>
                <a:off x="3243" y="3356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5" name="Line 16"/>
              <p:cNvSpPr>
                <a:spLocks noChangeShapeType="1"/>
              </p:cNvSpPr>
              <p:nvPr/>
            </p:nvSpPr>
            <p:spPr bwMode="auto">
              <a:xfrm>
                <a:off x="3243" y="3558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6" name="Line 17"/>
              <p:cNvSpPr>
                <a:spLocks noChangeShapeType="1"/>
              </p:cNvSpPr>
              <p:nvPr/>
            </p:nvSpPr>
            <p:spPr bwMode="auto">
              <a:xfrm>
                <a:off x="3243" y="3760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7" name="Line 18"/>
              <p:cNvSpPr>
                <a:spLocks noChangeShapeType="1"/>
              </p:cNvSpPr>
              <p:nvPr/>
            </p:nvSpPr>
            <p:spPr bwMode="auto">
              <a:xfrm>
                <a:off x="3243" y="3963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8" name="Line 19"/>
              <p:cNvSpPr>
                <a:spLocks noChangeShapeType="1"/>
              </p:cNvSpPr>
              <p:nvPr/>
            </p:nvSpPr>
            <p:spPr bwMode="auto">
              <a:xfrm>
                <a:off x="3243" y="1942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9" name="Line 20"/>
              <p:cNvSpPr>
                <a:spLocks noChangeShapeType="1"/>
              </p:cNvSpPr>
              <p:nvPr/>
            </p:nvSpPr>
            <p:spPr bwMode="auto">
              <a:xfrm>
                <a:off x="3243" y="214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90" name="Line 21"/>
              <p:cNvSpPr>
                <a:spLocks noChangeShapeType="1"/>
              </p:cNvSpPr>
              <p:nvPr/>
            </p:nvSpPr>
            <p:spPr bwMode="auto">
              <a:xfrm>
                <a:off x="3243" y="2346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</p:grpSp>
        <p:grpSp>
          <p:nvGrpSpPr>
            <p:cNvPr id="68" name="Group 22"/>
            <p:cNvGrpSpPr>
              <a:grpSpLocks/>
            </p:cNvGrpSpPr>
            <p:nvPr/>
          </p:nvGrpSpPr>
          <p:grpSpPr bwMode="auto">
            <a:xfrm>
              <a:off x="3413" y="1774"/>
              <a:ext cx="2021" cy="2359"/>
              <a:chOff x="3413" y="1774"/>
              <a:chExt cx="2021" cy="2359"/>
            </a:xfrm>
          </p:grpSpPr>
          <p:sp>
            <p:nvSpPr>
              <p:cNvPr id="69" name="Line 23"/>
              <p:cNvSpPr>
                <a:spLocks noChangeShapeType="1"/>
              </p:cNvSpPr>
              <p:nvPr/>
            </p:nvSpPr>
            <p:spPr bwMode="auto">
              <a:xfrm rot="16200000">
                <a:off x="2637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0" name="Line 24"/>
              <p:cNvSpPr>
                <a:spLocks noChangeShapeType="1"/>
              </p:cNvSpPr>
              <p:nvPr/>
            </p:nvSpPr>
            <p:spPr bwMode="auto">
              <a:xfrm rot="16200000">
                <a:off x="2839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1" name="Line 25"/>
              <p:cNvSpPr>
                <a:spLocks noChangeShapeType="1"/>
              </p:cNvSpPr>
              <p:nvPr/>
            </p:nvSpPr>
            <p:spPr bwMode="auto">
              <a:xfrm rot="16200000">
                <a:off x="3041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2" name="Line 26"/>
              <p:cNvSpPr>
                <a:spLocks noChangeShapeType="1"/>
              </p:cNvSpPr>
              <p:nvPr/>
            </p:nvSpPr>
            <p:spPr bwMode="auto">
              <a:xfrm rot="16200000">
                <a:off x="3243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3" name="Line 27"/>
              <p:cNvSpPr>
                <a:spLocks noChangeShapeType="1"/>
              </p:cNvSpPr>
              <p:nvPr/>
            </p:nvSpPr>
            <p:spPr bwMode="auto">
              <a:xfrm rot="16200000">
                <a:off x="3445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4" name="Line 28"/>
              <p:cNvSpPr>
                <a:spLocks noChangeShapeType="1"/>
              </p:cNvSpPr>
              <p:nvPr/>
            </p:nvSpPr>
            <p:spPr bwMode="auto">
              <a:xfrm rot="16200000">
                <a:off x="3647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5" name="Line 29"/>
              <p:cNvSpPr>
                <a:spLocks noChangeShapeType="1"/>
              </p:cNvSpPr>
              <p:nvPr/>
            </p:nvSpPr>
            <p:spPr bwMode="auto">
              <a:xfrm rot="16200000">
                <a:off x="3849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6" name="Line 30"/>
              <p:cNvSpPr>
                <a:spLocks noChangeShapeType="1"/>
              </p:cNvSpPr>
              <p:nvPr/>
            </p:nvSpPr>
            <p:spPr bwMode="auto">
              <a:xfrm rot="16200000">
                <a:off x="4051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7" name="Line 31"/>
              <p:cNvSpPr>
                <a:spLocks noChangeShapeType="1"/>
              </p:cNvSpPr>
              <p:nvPr/>
            </p:nvSpPr>
            <p:spPr bwMode="auto">
              <a:xfrm rot="16200000">
                <a:off x="4254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8" name="Line 32"/>
              <p:cNvSpPr>
                <a:spLocks noChangeShapeType="1"/>
              </p:cNvSpPr>
              <p:nvPr/>
            </p:nvSpPr>
            <p:spPr bwMode="auto">
              <a:xfrm rot="16200000">
                <a:off x="2233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9" name="Line 33"/>
              <p:cNvSpPr>
                <a:spLocks noChangeShapeType="1"/>
              </p:cNvSpPr>
              <p:nvPr/>
            </p:nvSpPr>
            <p:spPr bwMode="auto">
              <a:xfrm rot="16200000">
                <a:off x="2435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</p:grpSp>
      </p:grpSp>
      <p:sp>
        <p:nvSpPr>
          <p:cNvPr id="91" name="AutoShape 34"/>
          <p:cNvSpPr>
            <a:spLocks noChangeArrowheads="1"/>
          </p:cNvSpPr>
          <p:nvPr/>
        </p:nvSpPr>
        <p:spPr bwMode="auto">
          <a:xfrm>
            <a:off x="7565008" y="2674640"/>
            <a:ext cx="612775" cy="960437"/>
          </a:xfrm>
          <a:prstGeom prst="diamond">
            <a:avLst/>
          </a:prstGeom>
          <a:gradFill flip="none" rotWithShape="1">
            <a:gsLst>
              <a:gs pos="0">
                <a:srgbClr val="A50021">
                  <a:shade val="30000"/>
                  <a:satMod val="115000"/>
                </a:srgbClr>
              </a:gs>
              <a:gs pos="50000">
                <a:srgbClr val="A50021">
                  <a:shade val="67500"/>
                  <a:satMod val="115000"/>
                </a:srgbClr>
              </a:gs>
              <a:gs pos="100000">
                <a:srgbClr val="A5002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>
              <a:latin typeface="Arial" pitchFamily="34" charset="0"/>
            </a:endParaRPr>
          </a:p>
        </p:txBody>
      </p:sp>
      <p:sp>
        <p:nvSpPr>
          <p:cNvPr id="92" name="AutoShape 35"/>
          <p:cNvSpPr>
            <a:spLocks noChangeArrowheads="1"/>
          </p:cNvSpPr>
          <p:nvPr/>
        </p:nvSpPr>
        <p:spPr bwMode="auto">
          <a:xfrm>
            <a:off x="7566596" y="2673052"/>
            <a:ext cx="612775" cy="960438"/>
          </a:xfrm>
          <a:prstGeom prst="diamond">
            <a:avLst/>
          </a:prstGeom>
          <a:gradFill flip="none" rotWithShape="1">
            <a:gsLst>
              <a:gs pos="0">
                <a:srgbClr val="A50021">
                  <a:shade val="30000"/>
                  <a:satMod val="115000"/>
                </a:srgbClr>
              </a:gs>
              <a:gs pos="50000">
                <a:srgbClr val="A50021">
                  <a:shade val="67500"/>
                  <a:satMod val="115000"/>
                </a:srgbClr>
              </a:gs>
              <a:gs pos="100000">
                <a:srgbClr val="A5002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>
              <a:latin typeface="Arial" pitchFamily="34" charset="0"/>
            </a:endParaRPr>
          </a:p>
        </p:txBody>
      </p:sp>
      <p:sp>
        <p:nvSpPr>
          <p:cNvPr id="93" name="Line 44"/>
          <p:cNvSpPr>
            <a:spLocks noChangeShapeType="1"/>
          </p:cNvSpPr>
          <p:nvPr/>
        </p:nvSpPr>
        <p:spPr bwMode="auto">
          <a:xfrm flipH="1">
            <a:off x="5307583" y="2652415"/>
            <a:ext cx="2573338" cy="0"/>
          </a:xfrm>
          <a:prstGeom prst="line">
            <a:avLst/>
          </a:prstGeom>
          <a:noFill/>
          <a:ln w="76200">
            <a:solidFill>
              <a:srgbClr val="9900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dirty="0">
              <a:latin typeface="Arial" pitchFamily="34" charset="0"/>
            </a:endParaRPr>
          </a:p>
        </p:txBody>
      </p:sp>
      <p:sp>
        <p:nvSpPr>
          <p:cNvPr id="94" name="Line 45"/>
          <p:cNvSpPr>
            <a:spLocks noChangeShapeType="1"/>
          </p:cNvSpPr>
          <p:nvPr/>
        </p:nvSpPr>
        <p:spPr bwMode="auto">
          <a:xfrm>
            <a:off x="5304408" y="2654002"/>
            <a:ext cx="0" cy="973138"/>
          </a:xfrm>
          <a:prstGeom prst="line">
            <a:avLst/>
          </a:prstGeom>
          <a:noFill/>
          <a:ln w="76200">
            <a:solidFill>
              <a:srgbClr val="9900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dirty="0">
              <a:latin typeface="Arial" pitchFamily="34" charset="0"/>
            </a:endParaRPr>
          </a:p>
        </p:txBody>
      </p:sp>
      <p:grpSp>
        <p:nvGrpSpPr>
          <p:cNvPr id="58" name="Group 15"/>
          <p:cNvGrpSpPr/>
          <p:nvPr/>
        </p:nvGrpSpPr>
        <p:grpSpPr>
          <a:xfrm>
            <a:off x="400050" y="208911"/>
            <a:ext cx="8343900" cy="504056"/>
            <a:chOff x="395536" y="1409582"/>
            <a:chExt cx="5544616" cy="504056"/>
          </a:xfrm>
        </p:grpSpPr>
        <p:sp>
          <p:nvSpPr>
            <p:cNvPr id="95" name="Rounded Rectangle 94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(1)  Translations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2.59259E-6 L -0.28107 2.59259E-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4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8108 2.59259E-6 L -0.28108 0.13657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65" grpId="0"/>
      <p:bldP spid="66" grpId="0"/>
      <p:bldP spid="91" grpId="0" animBg="1"/>
      <p:bldP spid="92" grpId="0" animBg="1"/>
      <p:bldP spid="92" grpId="1" animBg="1"/>
      <p:bldP spid="92" grpId="2" animBg="1"/>
      <p:bldP spid="93" grpId="0" animBg="1"/>
      <p:bldP spid="9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65022" y="872716"/>
            <a:ext cx="8613957" cy="5292588"/>
          </a:xfrm>
          <a:prstGeom prst="roundRect">
            <a:avLst>
              <a:gd name="adj" fmla="val 5211"/>
            </a:avLst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167" name="Group 166"/>
          <p:cNvGrpSpPr/>
          <p:nvPr/>
        </p:nvGrpSpPr>
        <p:grpSpPr>
          <a:xfrm>
            <a:off x="4630043" y="1983029"/>
            <a:ext cx="3934768" cy="3929602"/>
            <a:chOff x="4630043" y="1983029"/>
            <a:chExt cx="3934768" cy="3929602"/>
          </a:xfrm>
        </p:grpSpPr>
        <p:grpSp>
          <p:nvGrpSpPr>
            <p:cNvPr id="2" name="Group 188"/>
            <p:cNvGrpSpPr>
              <a:grpSpLocks/>
            </p:cNvGrpSpPr>
            <p:nvPr/>
          </p:nvGrpSpPr>
          <p:grpSpPr bwMode="auto">
            <a:xfrm>
              <a:off x="4677023" y="2024844"/>
              <a:ext cx="3887788" cy="3887787"/>
              <a:chOff x="3198" y="1729"/>
              <a:chExt cx="2449" cy="2449"/>
            </a:xfrm>
          </p:grpSpPr>
          <p:sp>
            <p:nvSpPr>
              <p:cNvPr id="22" name="Rectangle 184"/>
              <p:cNvSpPr>
                <a:spLocks noChangeArrowheads="1"/>
              </p:cNvSpPr>
              <p:nvPr/>
            </p:nvSpPr>
            <p:spPr bwMode="auto">
              <a:xfrm>
                <a:off x="3198" y="1729"/>
                <a:ext cx="2449" cy="244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grpSp>
            <p:nvGrpSpPr>
              <p:cNvPr id="3" name="Group 186"/>
              <p:cNvGrpSpPr>
                <a:grpSpLocks/>
              </p:cNvGrpSpPr>
              <p:nvPr/>
            </p:nvGrpSpPr>
            <p:grpSpPr bwMode="auto">
              <a:xfrm>
                <a:off x="3243" y="1942"/>
                <a:ext cx="2359" cy="2021"/>
                <a:chOff x="3243" y="1942"/>
                <a:chExt cx="2359" cy="2021"/>
              </a:xfrm>
            </p:grpSpPr>
            <p:sp>
              <p:nvSpPr>
                <p:cNvPr id="36" name="Line 155"/>
                <p:cNvSpPr>
                  <a:spLocks noChangeShapeType="1"/>
                </p:cNvSpPr>
                <p:nvPr/>
              </p:nvSpPr>
              <p:spPr bwMode="auto">
                <a:xfrm>
                  <a:off x="3243" y="2548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7" name="Line 156"/>
                <p:cNvSpPr>
                  <a:spLocks noChangeShapeType="1"/>
                </p:cNvSpPr>
                <p:nvPr/>
              </p:nvSpPr>
              <p:spPr bwMode="auto">
                <a:xfrm>
                  <a:off x="3243" y="2750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8" name="Line 157"/>
                <p:cNvSpPr>
                  <a:spLocks noChangeShapeType="1"/>
                </p:cNvSpPr>
                <p:nvPr/>
              </p:nvSpPr>
              <p:spPr bwMode="auto">
                <a:xfrm>
                  <a:off x="3243" y="2952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9" name="Line 158"/>
                <p:cNvSpPr>
                  <a:spLocks noChangeShapeType="1"/>
                </p:cNvSpPr>
                <p:nvPr/>
              </p:nvSpPr>
              <p:spPr bwMode="auto">
                <a:xfrm>
                  <a:off x="3243" y="31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0" name="Line 160"/>
                <p:cNvSpPr>
                  <a:spLocks noChangeShapeType="1"/>
                </p:cNvSpPr>
                <p:nvPr/>
              </p:nvSpPr>
              <p:spPr bwMode="auto">
                <a:xfrm>
                  <a:off x="3243" y="3356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1" name="Line 161"/>
                <p:cNvSpPr>
                  <a:spLocks noChangeShapeType="1"/>
                </p:cNvSpPr>
                <p:nvPr/>
              </p:nvSpPr>
              <p:spPr bwMode="auto">
                <a:xfrm>
                  <a:off x="3243" y="3558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2" name="Line 162"/>
                <p:cNvSpPr>
                  <a:spLocks noChangeShapeType="1"/>
                </p:cNvSpPr>
                <p:nvPr/>
              </p:nvSpPr>
              <p:spPr bwMode="auto">
                <a:xfrm>
                  <a:off x="3243" y="3760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3" name="Line 164"/>
                <p:cNvSpPr>
                  <a:spLocks noChangeShapeType="1"/>
                </p:cNvSpPr>
                <p:nvPr/>
              </p:nvSpPr>
              <p:spPr bwMode="auto">
                <a:xfrm>
                  <a:off x="3243" y="3963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4" name="Line 165"/>
                <p:cNvSpPr>
                  <a:spLocks noChangeShapeType="1"/>
                </p:cNvSpPr>
                <p:nvPr/>
              </p:nvSpPr>
              <p:spPr bwMode="auto">
                <a:xfrm>
                  <a:off x="3243" y="1942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5" name="Line 166"/>
                <p:cNvSpPr>
                  <a:spLocks noChangeShapeType="1"/>
                </p:cNvSpPr>
                <p:nvPr/>
              </p:nvSpPr>
              <p:spPr bwMode="auto">
                <a:xfrm>
                  <a:off x="3243" y="214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6" name="Line 167"/>
                <p:cNvSpPr>
                  <a:spLocks noChangeShapeType="1"/>
                </p:cNvSpPr>
                <p:nvPr/>
              </p:nvSpPr>
              <p:spPr bwMode="auto">
                <a:xfrm>
                  <a:off x="3243" y="2346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4" name="Group 187"/>
              <p:cNvGrpSpPr>
                <a:grpSpLocks/>
              </p:cNvGrpSpPr>
              <p:nvPr/>
            </p:nvGrpSpPr>
            <p:grpSpPr bwMode="auto">
              <a:xfrm>
                <a:off x="3413" y="1774"/>
                <a:ext cx="2021" cy="2359"/>
                <a:chOff x="3413" y="1774"/>
                <a:chExt cx="2021" cy="2359"/>
              </a:xfrm>
            </p:grpSpPr>
            <p:sp>
              <p:nvSpPr>
                <p:cNvPr id="25" name="Line 171"/>
                <p:cNvSpPr>
                  <a:spLocks noChangeShapeType="1"/>
                </p:cNvSpPr>
                <p:nvPr/>
              </p:nvSpPr>
              <p:spPr bwMode="auto">
                <a:xfrm rot="16200000">
                  <a:off x="2637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6" name="Line 172"/>
                <p:cNvSpPr>
                  <a:spLocks noChangeShapeType="1"/>
                </p:cNvSpPr>
                <p:nvPr/>
              </p:nvSpPr>
              <p:spPr bwMode="auto">
                <a:xfrm rot="16200000">
                  <a:off x="2839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7" name="Line 173"/>
                <p:cNvSpPr>
                  <a:spLocks noChangeShapeType="1"/>
                </p:cNvSpPr>
                <p:nvPr/>
              </p:nvSpPr>
              <p:spPr bwMode="auto">
                <a:xfrm rot="16200000">
                  <a:off x="3041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8" name="Line 174"/>
                <p:cNvSpPr>
                  <a:spLocks noChangeShapeType="1"/>
                </p:cNvSpPr>
                <p:nvPr/>
              </p:nvSpPr>
              <p:spPr bwMode="auto">
                <a:xfrm rot="16200000">
                  <a:off x="3243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9" name="Line 175"/>
                <p:cNvSpPr>
                  <a:spLocks noChangeShapeType="1"/>
                </p:cNvSpPr>
                <p:nvPr/>
              </p:nvSpPr>
              <p:spPr bwMode="auto">
                <a:xfrm rot="16200000">
                  <a:off x="3445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0" name="Line 176"/>
                <p:cNvSpPr>
                  <a:spLocks noChangeShapeType="1"/>
                </p:cNvSpPr>
                <p:nvPr/>
              </p:nvSpPr>
              <p:spPr bwMode="auto">
                <a:xfrm rot="16200000">
                  <a:off x="3647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1" name="Line 177"/>
                <p:cNvSpPr>
                  <a:spLocks noChangeShapeType="1"/>
                </p:cNvSpPr>
                <p:nvPr/>
              </p:nvSpPr>
              <p:spPr bwMode="auto">
                <a:xfrm rot="16200000">
                  <a:off x="3849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2" name="Line 178"/>
                <p:cNvSpPr>
                  <a:spLocks noChangeShapeType="1"/>
                </p:cNvSpPr>
                <p:nvPr/>
              </p:nvSpPr>
              <p:spPr bwMode="auto">
                <a:xfrm rot="16200000">
                  <a:off x="4051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3" name="Line 179"/>
                <p:cNvSpPr>
                  <a:spLocks noChangeShapeType="1"/>
                </p:cNvSpPr>
                <p:nvPr/>
              </p:nvSpPr>
              <p:spPr bwMode="auto">
                <a:xfrm rot="16200000">
                  <a:off x="4254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4" name="Line 180"/>
                <p:cNvSpPr>
                  <a:spLocks noChangeShapeType="1"/>
                </p:cNvSpPr>
                <p:nvPr/>
              </p:nvSpPr>
              <p:spPr bwMode="auto">
                <a:xfrm rot="16200000">
                  <a:off x="2233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5" name="Line 182"/>
                <p:cNvSpPr>
                  <a:spLocks noChangeShapeType="1"/>
                </p:cNvSpPr>
                <p:nvPr/>
              </p:nvSpPr>
              <p:spPr bwMode="auto">
                <a:xfrm rot="16200000">
                  <a:off x="2435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</p:grpSp>
        </p:grpSp>
        <p:sp>
          <p:nvSpPr>
            <p:cNvPr id="59" name="Line 201"/>
            <p:cNvSpPr>
              <a:spLocks noChangeShapeType="1"/>
            </p:cNvSpPr>
            <p:nvPr/>
          </p:nvSpPr>
          <p:spPr bwMode="auto">
            <a:xfrm flipV="1">
              <a:off x="5020634" y="2156346"/>
              <a:ext cx="0" cy="341194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dirty="0">
                <a:latin typeface="Arial" pitchFamily="34" charset="0"/>
              </a:endParaRPr>
            </a:p>
          </p:txBody>
        </p:sp>
        <p:sp>
          <p:nvSpPr>
            <p:cNvPr id="62" name="Line 201"/>
            <p:cNvSpPr>
              <a:spLocks noChangeShapeType="1"/>
            </p:cNvSpPr>
            <p:nvPr/>
          </p:nvSpPr>
          <p:spPr bwMode="auto">
            <a:xfrm rot="5400000" flipV="1">
              <a:off x="6699771" y="3864591"/>
              <a:ext cx="0" cy="341194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dirty="0">
                <a:latin typeface="Arial" pitchFamily="34" charset="0"/>
              </a:endParaRPr>
            </a:p>
          </p:txBody>
        </p:sp>
        <p:grpSp>
          <p:nvGrpSpPr>
            <p:cNvPr id="71" name="Group 70"/>
            <p:cNvGrpSpPr/>
            <p:nvPr/>
          </p:nvGrpSpPr>
          <p:grpSpPr>
            <a:xfrm>
              <a:off x="4668143" y="5438875"/>
              <a:ext cx="342945" cy="261610"/>
              <a:chOff x="4398160" y="5470166"/>
              <a:chExt cx="342945" cy="26161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Rectangle 6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6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0</a:t>
                </a:r>
              </a:p>
            </p:txBody>
          </p:sp>
        </p:grpSp>
        <p:grpSp>
          <p:nvGrpSpPr>
            <p:cNvPr id="74" name="Group 73"/>
            <p:cNvGrpSpPr/>
            <p:nvPr/>
          </p:nvGrpSpPr>
          <p:grpSpPr>
            <a:xfrm>
              <a:off x="4668143" y="5118059"/>
              <a:ext cx="342945" cy="261610"/>
              <a:chOff x="4398160" y="5470166"/>
              <a:chExt cx="342945" cy="261610"/>
            </a:xfrm>
          </p:grpSpPr>
          <p:cxnSp>
            <p:nvCxnSpPr>
              <p:cNvPr id="75" name="Straight Connector 74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Rectangle 75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1</a:t>
                </a:r>
              </a:p>
            </p:txBody>
          </p:sp>
        </p:grpSp>
        <p:grpSp>
          <p:nvGrpSpPr>
            <p:cNvPr id="78" name="Group 77"/>
            <p:cNvGrpSpPr/>
            <p:nvPr/>
          </p:nvGrpSpPr>
          <p:grpSpPr>
            <a:xfrm>
              <a:off x="4668143" y="4797239"/>
              <a:ext cx="342945" cy="261610"/>
              <a:chOff x="4398160" y="5470166"/>
              <a:chExt cx="342945" cy="261610"/>
            </a:xfrm>
          </p:grpSpPr>
          <p:cxnSp>
            <p:nvCxnSpPr>
              <p:cNvPr id="79" name="Straight Connector 7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Rectangle 7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1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2</a:t>
                </a:r>
              </a:p>
            </p:txBody>
          </p:sp>
        </p:grpSp>
        <p:grpSp>
          <p:nvGrpSpPr>
            <p:cNvPr id="82" name="Group 81"/>
            <p:cNvGrpSpPr/>
            <p:nvPr/>
          </p:nvGrpSpPr>
          <p:grpSpPr>
            <a:xfrm>
              <a:off x="4668143" y="4476419"/>
              <a:ext cx="342945" cy="261610"/>
              <a:chOff x="4398160" y="5470166"/>
              <a:chExt cx="342945" cy="261610"/>
            </a:xfrm>
          </p:grpSpPr>
          <p:cxnSp>
            <p:nvCxnSpPr>
              <p:cNvPr id="83" name="Straight Connector 82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Rectangle 83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5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3</a:t>
                </a:r>
              </a:p>
            </p:txBody>
          </p:sp>
        </p:grpSp>
        <p:grpSp>
          <p:nvGrpSpPr>
            <p:cNvPr id="86" name="Group 85"/>
            <p:cNvGrpSpPr/>
            <p:nvPr/>
          </p:nvGrpSpPr>
          <p:grpSpPr>
            <a:xfrm>
              <a:off x="4668143" y="4155599"/>
              <a:ext cx="342945" cy="261610"/>
              <a:chOff x="4398160" y="5470166"/>
              <a:chExt cx="342945" cy="261610"/>
            </a:xfrm>
          </p:grpSpPr>
          <p:cxnSp>
            <p:nvCxnSpPr>
              <p:cNvPr id="87" name="Straight Connector 86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Rectangle 87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9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4</a:t>
                </a:r>
              </a:p>
            </p:txBody>
          </p:sp>
        </p:grpSp>
        <p:grpSp>
          <p:nvGrpSpPr>
            <p:cNvPr id="90" name="Group 89"/>
            <p:cNvGrpSpPr/>
            <p:nvPr/>
          </p:nvGrpSpPr>
          <p:grpSpPr>
            <a:xfrm>
              <a:off x="4668143" y="3834779"/>
              <a:ext cx="342945" cy="261610"/>
              <a:chOff x="4398160" y="5470166"/>
              <a:chExt cx="342945" cy="261610"/>
            </a:xfrm>
          </p:grpSpPr>
          <p:cxnSp>
            <p:nvCxnSpPr>
              <p:cNvPr id="91" name="Straight Connector 90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ectangle 91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93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5</a:t>
                </a:r>
              </a:p>
            </p:txBody>
          </p:sp>
        </p:grpSp>
        <p:grpSp>
          <p:nvGrpSpPr>
            <p:cNvPr id="94" name="Group 93"/>
            <p:cNvGrpSpPr/>
            <p:nvPr/>
          </p:nvGrpSpPr>
          <p:grpSpPr>
            <a:xfrm>
              <a:off x="4668143" y="3513959"/>
              <a:ext cx="342945" cy="261610"/>
              <a:chOff x="4398160" y="5470166"/>
              <a:chExt cx="342945" cy="261610"/>
            </a:xfrm>
          </p:grpSpPr>
          <p:cxnSp>
            <p:nvCxnSpPr>
              <p:cNvPr id="95" name="Straight Connector 94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Rectangle 95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9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6</a:t>
                </a:r>
              </a:p>
            </p:txBody>
          </p:sp>
        </p:grpSp>
        <p:grpSp>
          <p:nvGrpSpPr>
            <p:cNvPr id="98" name="Group 97"/>
            <p:cNvGrpSpPr/>
            <p:nvPr/>
          </p:nvGrpSpPr>
          <p:grpSpPr>
            <a:xfrm>
              <a:off x="4668143" y="3193139"/>
              <a:ext cx="342945" cy="261610"/>
              <a:chOff x="4398160" y="5470166"/>
              <a:chExt cx="342945" cy="261610"/>
            </a:xfrm>
          </p:grpSpPr>
          <p:cxnSp>
            <p:nvCxnSpPr>
              <p:cNvPr id="99" name="Straight Connector 9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Rectangle 9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1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7</a:t>
                </a:r>
              </a:p>
            </p:txBody>
          </p:sp>
        </p:grpSp>
        <p:grpSp>
          <p:nvGrpSpPr>
            <p:cNvPr id="102" name="Group 101"/>
            <p:cNvGrpSpPr/>
            <p:nvPr/>
          </p:nvGrpSpPr>
          <p:grpSpPr>
            <a:xfrm>
              <a:off x="4668143" y="2872319"/>
              <a:ext cx="342945" cy="261610"/>
              <a:chOff x="4398160" y="5470166"/>
              <a:chExt cx="342945" cy="261610"/>
            </a:xfrm>
          </p:grpSpPr>
          <p:cxnSp>
            <p:nvCxnSpPr>
              <p:cNvPr id="103" name="Straight Connector 102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Rectangle 103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5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8</a:t>
                </a:r>
              </a:p>
            </p:txBody>
          </p:sp>
        </p:grpSp>
        <p:grpSp>
          <p:nvGrpSpPr>
            <p:cNvPr id="106" name="Group 105"/>
            <p:cNvGrpSpPr/>
            <p:nvPr/>
          </p:nvGrpSpPr>
          <p:grpSpPr>
            <a:xfrm>
              <a:off x="4668143" y="2551499"/>
              <a:ext cx="342945" cy="261610"/>
              <a:chOff x="4398160" y="5470166"/>
              <a:chExt cx="342945" cy="261610"/>
            </a:xfrm>
          </p:grpSpPr>
          <p:cxnSp>
            <p:nvCxnSpPr>
              <p:cNvPr id="107" name="Straight Connector 106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Rectangle 107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9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9</a:t>
                </a:r>
              </a:p>
            </p:txBody>
          </p:sp>
        </p:grpSp>
        <p:grpSp>
          <p:nvGrpSpPr>
            <p:cNvPr id="110" name="Group 109"/>
            <p:cNvGrpSpPr/>
            <p:nvPr/>
          </p:nvGrpSpPr>
          <p:grpSpPr>
            <a:xfrm>
              <a:off x="4668143" y="2230679"/>
              <a:ext cx="342945" cy="261610"/>
              <a:chOff x="4398160" y="5470166"/>
              <a:chExt cx="342945" cy="261610"/>
            </a:xfrm>
          </p:grpSpPr>
          <p:cxnSp>
            <p:nvCxnSpPr>
              <p:cNvPr id="111" name="Straight Connector 110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Rectangle 111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13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10</a:t>
                </a:r>
              </a:p>
            </p:txBody>
          </p:sp>
        </p:grpSp>
        <p:sp>
          <p:nvSpPr>
            <p:cNvPr id="117" name="Rectangle 192"/>
            <p:cNvSpPr>
              <a:spLocks noChangeArrowheads="1"/>
            </p:cNvSpPr>
            <p:nvPr/>
          </p:nvSpPr>
          <p:spPr bwMode="auto">
            <a:xfrm>
              <a:off x="4630043" y="1983029"/>
              <a:ext cx="342945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/>
              <a:r>
                <a:rPr lang="en-GB" sz="1100" b="1" i="1" dirty="0">
                  <a:latin typeface="Arial" pitchFamily="34" charset="0"/>
                </a:rPr>
                <a:t>y</a:t>
              </a:r>
            </a:p>
          </p:txBody>
        </p:sp>
        <p:sp>
          <p:nvSpPr>
            <p:cNvPr id="118" name="Rectangle 192"/>
            <p:cNvSpPr>
              <a:spLocks noChangeArrowheads="1"/>
            </p:cNvSpPr>
            <p:nvPr/>
          </p:nvSpPr>
          <p:spPr bwMode="auto">
            <a:xfrm>
              <a:off x="8217793" y="5602529"/>
              <a:ext cx="342945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/>
              <a:r>
                <a:rPr lang="en-GB" sz="1100" b="1" i="1" dirty="0">
                  <a:latin typeface="Arial" pitchFamily="34" charset="0"/>
                </a:rPr>
                <a:t>x</a:t>
              </a:r>
            </a:p>
          </p:txBody>
        </p:sp>
        <p:grpSp>
          <p:nvGrpSpPr>
            <p:cNvPr id="119" name="Group 118"/>
            <p:cNvGrpSpPr/>
            <p:nvPr/>
          </p:nvGrpSpPr>
          <p:grpSpPr>
            <a:xfrm>
              <a:off x="4844605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0" name="Straight Connector 11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Rectangle 12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2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0</a:t>
                </a:r>
              </a:p>
            </p:txBody>
          </p:sp>
        </p:grpSp>
        <p:grpSp>
          <p:nvGrpSpPr>
            <p:cNvPr id="123" name="Group 122"/>
            <p:cNvGrpSpPr/>
            <p:nvPr/>
          </p:nvGrpSpPr>
          <p:grpSpPr>
            <a:xfrm>
              <a:off x="5165681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4" name="Straight Connector 123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Rectangle 124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26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1</a:t>
                </a:r>
              </a:p>
            </p:txBody>
          </p:sp>
        </p:grpSp>
        <p:grpSp>
          <p:nvGrpSpPr>
            <p:cNvPr id="127" name="Group 126"/>
            <p:cNvGrpSpPr/>
            <p:nvPr/>
          </p:nvGrpSpPr>
          <p:grpSpPr>
            <a:xfrm>
              <a:off x="5486757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8" name="Straight Connector 127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Rectangle 128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0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2</a:t>
                </a:r>
              </a:p>
            </p:txBody>
          </p:sp>
        </p:grpSp>
        <p:grpSp>
          <p:nvGrpSpPr>
            <p:cNvPr id="131" name="Group 130"/>
            <p:cNvGrpSpPr/>
            <p:nvPr/>
          </p:nvGrpSpPr>
          <p:grpSpPr>
            <a:xfrm>
              <a:off x="5807833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32" name="Straight Connector 131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Rectangle 132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4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3</a:t>
                </a:r>
              </a:p>
            </p:txBody>
          </p:sp>
        </p:grpSp>
        <p:grpSp>
          <p:nvGrpSpPr>
            <p:cNvPr id="135" name="Group 134"/>
            <p:cNvGrpSpPr/>
            <p:nvPr/>
          </p:nvGrpSpPr>
          <p:grpSpPr>
            <a:xfrm>
              <a:off x="6128909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36" name="Straight Connector 135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Rectangle 136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8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4</a:t>
                </a:r>
              </a:p>
            </p:txBody>
          </p:sp>
        </p:grpSp>
        <p:grpSp>
          <p:nvGrpSpPr>
            <p:cNvPr id="139" name="Group 138"/>
            <p:cNvGrpSpPr/>
            <p:nvPr/>
          </p:nvGrpSpPr>
          <p:grpSpPr>
            <a:xfrm>
              <a:off x="6449985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0" name="Straight Connector 13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Rectangle 14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4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5</a:t>
                </a:r>
              </a:p>
            </p:txBody>
          </p:sp>
        </p:grpSp>
        <p:grpSp>
          <p:nvGrpSpPr>
            <p:cNvPr id="143" name="Group 142"/>
            <p:cNvGrpSpPr/>
            <p:nvPr/>
          </p:nvGrpSpPr>
          <p:grpSpPr>
            <a:xfrm>
              <a:off x="6771061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4" name="Straight Connector 143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Rectangle 144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46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6</a:t>
                </a:r>
              </a:p>
            </p:txBody>
          </p:sp>
        </p:grpSp>
        <p:grpSp>
          <p:nvGrpSpPr>
            <p:cNvPr id="147" name="Group 146"/>
            <p:cNvGrpSpPr/>
            <p:nvPr/>
          </p:nvGrpSpPr>
          <p:grpSpPr>
            <a:xfrm>
              <a:off x="7092137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8" name="Straight Connector 147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Rectangle 148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0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7</a:t>
                </a:r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7413213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52" name="Straight Connector 151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Rectangle 152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4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8</a:t>
                </a:r>
              </a:p>
            </p:txBody>
          </p:sp>
        </p:grpSp>
        <p:grpSp>
          <p:nvGrpSpPr>
            <p:cNvPr id="155" name="Group 154"/>
            <p:cNvGrpSpPr/>
            <p:nvPr/>
          </p:nvGrpSpPr>
          <p:grpSpPr>
            <a:xfrm>
              <a:off x="7734289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56" name="Straight Connector 155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Rectangle 156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8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9</a:t>
                </a:r>
              </a:p>
            </p:txBody>
          </p:sp>
        </p:grpSp>
        <p:grpSp>
          <p:nvGrpSpPr>
            <p:cNvPr id="159" name="Group 158"/>
            <p:cNvGrpSpPr/>
            <p:nvPr/>
          </p:nvGrpSpPr>
          <p:grpSpPr>
            <a:xfrm>
              <a:off x="8055362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60" name="Straight Connector 15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Rectangle 16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6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10</a:t>
                </a:r>
              </a:p>
            </p:txBody>
          </p:sp>
        </p:grpSp>
      </p:grpSp>
      <p:sp>
        <p:nvSpPr>
          <p:cNvPr id="15" name="TextBox 14"/>
          <p:cNvSpPr txBox="1"/>
          <p:nvPr/>
        </p:nvSpPr>
        <p:spPr>
          <a:xfrm>
            <a:off x="305526" y="1270655"/>
            <a:ext cx="8532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Arial" pitchFamily="34" charset="0"/>
              </a:rPr>
              <a:t>We describe a rotation by giving the </a:t>
            </a:r>
            <a:r>
              <a:rPr lang="en-GB" sz="1600" b="1" dirty="0">
                <a:solidFill>
                  <a:srgbClr val="990033"/>
                </a:solidFill>
                <a:latin typeface="Arial" pitchFamily="34" charset="0"/>
              </a:rPr>
              <a:t>ANGLE</a:t>
            </a:r>
            <a:r>
              <a:rPr lang="en-GB" sz="1600" b="1" dirty="0">
                <a:latin typeface="Arial" pitchFamily="34" charset="0"/>
              </a:rPr>
              <a:t>, </a:t>
            </a:r>
            <a:r>
              <a:rPr lang="en-GB" sz="1600" b="1" dirty="0">
                <a:solidFill>
                  <a:srgbClr val="990033"/>
                </a:solidFill>
                <a:latin typeface="Arial" pitchFamily="34" charset="0"/>
              </a:rPr>
              <a:t>DIRECTION</a:t>
            </a:r>
            <a:r>
              <a:rPr lang="en-GB" sz="1600" b="1" dirty="0">
                <a:latin typeface="Arial" pitchFamily="34" charset="0"/>
              </a:rPr>
              <a:t> and </a:t>
            </a:r>
            <a:r>
              <a:rPr lang="en-GB" sz="1600" b="1" dirty="0">
                <a:solidFill>
                  <a:srgbClr val="990033"/>
                </a:solidFill>
                <a:latin typeface="Arial" pitchFamily="34" charset="0"/>
              </a:rPr>
              <a:t>CENTER OF ROTATION</a:t>
            </a:r>
            <a:r>
              <a:rPr lang="en-GB" sz="1600" b="1" dirty="0">
                <a:latin typeface="Arial" pitchFamily="34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609" y="871992"/>
            <a:ext cx="8338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A Rotation turns a shape through a given angle, about a given point.</a:t>
            </a:r>
          </a:p>
        </p:txBody>
      </p:sp>
      <p:sp>
        <p:nvSpPr>
          <p:cNvPr id="47" name="AutoShape 189"/>
          <p:cNvSpPr>
            <a:spLocks noChangeArrowheads="1"/>
          </p:cNvSpPr>
          <p:nvPr/>
        </p:nvSpPr>
        <p:spPr bwMode="auto">
          <a:xfrm>
            <a:off x="6630193" y="3334085"/>
            <a:ext cx="612775" cy="960438"/>
          </a:xfrm>
          <a:prstGeom prst="triangle">
            <a:avLst>
              <a:gd name="adj" fmla="val 50000"/>
            </a:avLst>
          </a:prstGeom>
          <a:gradFill flip="none" rotWithShape="1">
            <a:gsLst>
              <a:gs pos="0">
                <a:srgbClr val="A50021">
                  <a:shade val="30000"/>
                  <a:satMod val="115000"/>
                </a:srgbClr>
              </a:gs>
              <a:gs pos="50000">
                <a:srgbClr val="A50021">
                  <a:shade val="67500"/>
                  <a:satMod val="115000"/>
                </a:srgbClr>
              </a:gs>
              <a:gs pos="100000">
                <a:srgbClr val="A5002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>
              <a:latin typeface="Arial" pitchFamily="34" charset="0"/>
            </a:endParaRPr>
          </a:p>
        </p:txBody>
      </p:sp>
      <p:sp>
        <p:nvSpPr>
          <p:cNvPr id="49" name="Rectangle 192"/>
          <p:cNvSpPr>
            <a:spLocks noChangeArrowheads="1"/>
          </p:cNvSpPr>
          <p:nvPr/>
        </p:nvSpPr>
        <p:spPr bwMode="auto">
          <a:xfrm>
            <a:off x="687691" y="2173450"/>
            <a:ext cx="32289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latin typeface="Arial" pitchFamily="34" charset="0"/>
              </a:rPr>
              <a:t>The triangle was rotated:</a:t>
            </a:r>
          </a:p>
        </p:txBody>
      </p:sp>
      <p:sp>
        <p:nvSpPr>
          <p:cNvPr id="50" name="Rectangle 193"/>
          <p:cNvSpPr>
            <a:spLocks noChangeArrowheads="1"/>
          </p:cNvSpPr>
          <p:nvPr/>
        </p:nvSpPr>
        <p:spPr bwMode="auto">
          <a:xfrm>
            <a:off x="687691" y="2469266"/>
            <a:ext cx="32289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A50021"/>
                </a:solidFill>
                <a:latin typeface="Arial" pitchFamily="34" charset="0"/>
              </a:rPr>
              <a:t>90˚ Clockwise</a:t>
            </a:r>
          </a:p>
        </p:txBody>
      </p:sp>
      <p:sp>
        <p:nvSpPr>
          <p:cNvPr id="51" name="Rectangle 194"/>
          <p:cNvSpPr>
            <a:spLocks noChangeArrowheads="1"/>
          </p:cNvSpPr>
          <p:nvPr/>
        </p:nvSpPr>
        <p:spPr bwMode="auto">
          <a:xfrm>
            <a:off x="687691" y="3197424"/>
            <a:ext cx="32289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A50021"/>
                </a:solidFill>
                <a:latin typeface="Arial" pitchFamily="34" charset="0"/>
              </a:rPr>
              <a:t>(5, 4)</a:t>
            </a:r>
          </a:p>
        </p:txBody>
      </p:sp>
      <p:sp>
        <p:nvSpPr>
          <p:cNvPr id="65" name="Rectangle 194"/>
          <p:cNvSpPr>
            <a:spLocks noChangeArrowheads="1"/>
          </p:cNvSpPr>
          <p:nvPr/>
        </p:nvSpPr>
        <p:spPr bwMode="auto">
          <a:xfrm>
            <a:off x="687691" y="2898373"/>
            <a:ext cx="331904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latin typeface="Arial" pitchFamily="34" charset="0"/>
              </a:rPr>
              <a:t>With centre of rotation</a:t>
            </a:r>
            <a:endParaRPr lang="en-GB" sz="2400" b="1" dirty="0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66" name="Rectangle 192"/>
          <p:cNvSpPr>
            <a:spLocks noChangeArrowheads="1"/>
          </p:cNvSpPr>
          <p:nvPr/>
        </p:nvSpPr>
        <p:spPr bwMode="auto">
          <a:xfrm>
            <a:off x="687691" y="1821194"/>
            <a:ext cx="144016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1600" i="1" dirty="0">
                <a:latin typeface="Arial" pitchFamily="34" charset="0"/>
              </a:rPr>
              <a:t>Example 1:</a:t>
            </a:r>
          </a:p>
        </p:txBody>
      </p:sp>
      <p:grpSp>
        <p:nvGrpSpPr>
          <p:cNvPr id="169" name="Group 168"/>
          <p:cNvGrpSpPr/>
          <p:nvPr/>
        </p:nvGrpSpPr>
        <p:grpSpPr>
          <a:xfrm>
            <a:off x="6016986" y="3334085"/>
            <a:ext cx="1225982" cy="1921076"/>
            <a:chOff x="6981447" y="3000022"/>
            <a:chExt cx="1225982" cy="1921076"/>
          </a:xfrm>
          <a:solidFill>
            <a:srgbClr val="FF0000"/>
          </a:solidFill>
        </p:grpSpPr>
        <p:sp>
          <p:nvSpPr>
            <p:cNvPr id="48" name="AutoShape 191"/>
            <p:cNvSpPr>
              <a:spLocks noChangeArrowheads="1"/>
            </p:cNvSpPr>
            <p:nvPr/>
          </p:nvSpPr>
          <p:spPr bwMode="auto">
            <a:xfrm>
              <a:off x="7594654" y="3000022"/>
              <a:ext cx="612775" cy="960437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dirty="0">
                <a:latin typeface="Arial" pitchFamily="34" charset="0"/>
              </a:endParaRPr>
            </a:p>
          </p:txBody>
        </p:sp>
        <p:sp>
          <p:nvSpPr>
            <p:cNvPr id="168" name="AutoShape 191"/>
            <p:cNvSpPr>
              <a:spLocks noChangeArrowheads="1"/>
            </p:cNvSpPr>
            <p:nvPr/>
          </p:nvSpPr>
          <p:spPr bwMode="auto">
            <a:xfrm flipV="1">
              <a:off x="6981447" y="3960661"/>
              <a:ext cx="612775" cy="960437"/>
            </a:xfrm>
            <a:prstGeom prst="triangle">
              <a:avLst>
                <a:gd name="adj" fmla="val 50000"/>
              </a:avLst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dirty="0">
                <a:latin typeface="Arial" pitchFamily="34" charset="0"/>
              </a:endParaRPr>
            </a:p>
          </p:txBody>
        </p:sp>
      </p:grpSp>
      <p:sp>
        <p:nvSpPr>
          <p:cNvPr id="170" name="Oval 169"/>
          <p:cNvSpPr/>
          <p:nvPr/>
        </p:nvSpPr>
        <p:spPr>
          <a:xfrm>
            <a:off x="6567936" y="4235460"/>
            <a:ext cx="101714" cy="101714"/>
          </a:xfrm>
          <a:prstGeom prst="ellipse">
            <a:avLst/>
          </a:prstGeom>
          <a:solidFill>
            <a:srgbClr val="FF0000"/>
          </a:solidFill>
          <a:ln w="6350">
            <a:solidFill>
              <a:srgbClr val="99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172" name="Group 171"/>
          <p:cNvGrpSpPr/>
          <p:nvPr/>
        </p:nvGrpSpPr>
        <p:grpSpPr>
          <a:xfrm>
            <a:off x="582989" y="4055728"/>
            <a:ext cx="3301340" cy="1834438"/>
            <a:chOff x="866899" y="4245728"/>
            <a:chExt cx="3301340" cy="1834438"/>
          </a:xfrm>
        </p:grpSpPr>
        <p:sp>
          <p:nvSpPr>
            <p:cNvPr id="171" name="Rounded Rectangle 170"/>
            <p:cNvSpPr/>
            <p:nvPr/>
          </p:nvSpPr>
          <p:spPr>
            <a:xfrm>
              <a:off x="866899" y="4245728"/>
              <a:ext cx="3301340" cy="1834438"/>
            </a:xfrm>
            <a:prstGeom prst="roundRect">
              <a:avLst>
                <a:gd name="adj" fmla="val 16985"/>
              </a:avLst>
            </a:prstGeom>
            <a:gradFill flip="none" rotWithShape="1">
              <a:gsLst>
                <a:gs pos="0">
                  <a:schemeClr val="bg1"/>
                </a:gs>
                <a:gs pos="50000">
                  <a:schemeClr val="bg1"/>
                </a:gs>
                <a:gs pos="100000">
                  <a:srgbClr val="FFCCCC"/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52" name="Rectangle 195"/>
            <p:cNvSpPr>
              <a:spLocks noChangeArrowheads="1"/>
            </p:cNvSpPr>
            <p:nvPr/>
          </p:nvSpPr>
          <p:spPr bwMode="auto">
            <a:xfrm>
              <a:off x="1043941" y="4378117"/>
              <a:ext cx="2947256" cy="15696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GB" sz="1600" b="1" dirty="0">
                  <a:latin typeface="Arial" pitchFamily="34" charset="0"/>
                </a:rPr>
                <a:t>If you imagine the shape to be traced on a sheet of tracing paper, then the</a:t>
              </a:r>
            </a:p>
            <a:p>
              <a:pPr algn="ctr"/>
              <a:r>
                <a:rPr lang="en-GB" sz="1600" b="1" dirty="0">
                  <a:solidFill>
                    <a:srgbClr val="990033"/>
                  </a:solidFill>
                  <a:latin typeface="Arial" pitchFamily="34" charset="0"/>
                </a:rPr>
                <a:t>Centre of Rotation</a:t>
              </a:r>
            </a:p>
            <a:p>
              <a:pPr algn="ctr"/>
              <a:r>
                <a:rPr lang="en-GB" sz="1600" b="1" dirty="0">
                  <a:latin typeface="Arial" pitchFamily="34" charset="0"/>
                </a:rPr>
                <a:t>is the point which remains in the same position.</a:t>
              </a:r>
              <a:endParaRPr lang="en-GB" sz="1600" b="1" i="1" dirty="0">
                <a:solidFill>
                  <a:srgbClr val="A50021"/>
                </a:solidFill>
                <a:latin typeface="Arial" pitchFamily="34" charset="0"/>
              </a:endParaRPr>
            </a:p>
          </p:txBody>
        </p:sp>
      </p:grpSp>
      <p:grpSp>
        <p:nvGrpSpPr>
          <p:cNvPr id="163" name="Group 15"/>
          <p:cNvGrpSpPr/>
          <p:nvPr/>
        </p:nvGrpSpPr>
        <p:grpSpPr>
          <a:xfrm>
            <a:off x="400050" y="208911"/>
            <a:ext cx="8343900" cy="504056"/>
            <a:chOff x="395536" y="1409582"/>
            <a:chExt cx="5544616" cy="504056"/>
          </a:xfrm>
        </p:grpSpPr>
        <p:sp>
          <p:nvSpPr>
            <p:cNvPr id="164" name="Rounded Rectangle 163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(2)  Rotations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45" dur="2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5" grpId="0"/>
      <p:bldP spid="9" grpId="0"/>
      <p:bldP spid="47" grpId="1" animBg="1"/>
      <p:bldP spid="49" grpId="0"/>
      <p:bldP spid="50" grpId="0"/>
      <p:bldP spid="51" grpId="0"/>
      <p:bldP spid="65" grpId="0"/>
      <p:bldP spid="66" grpId="0"/>
      <p:bldP spid="17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65022" y="872716"/>
            <a:ext cx="8613957" cy="5292588"/>
          </a:xfrm>
          <a:prstGeom prst="roundRect">
            <a:avLst>
              <a:gd name="adj" fmla="val 5211"/>
            </a:avLst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2" name="Group 166"/>
          <p:cNvGrpSpPr/>
          <p:nvPr/>
        </p:nvGrpSpPr>
        <p:grpSpPr>
          <a:xfrm>
            <a:off x="4630043" y="1983029"/>
            <a:ext cx="3934768" cy="3929602"/>
            <a:chOff x="4630043" y="1983029"/>
            <a:chExt cx="3934768" cy="3929602"/>
          </a:xfrm>
        </p:grpSpPr>
        <p:grpSp>
          <p:nvGrpSpPr>
            <p:cNvPr id="3" name="Group 188"/>
            <p:cNvGrpSpPr>
              <a:grpSpLocks/>
            </p:cNvGrpSpPr>
            <p:nvPr/>
          </p:nvGrpSpPr>
          <p:grpSpPr bwMode="auto">
            <a:xfrm>
              <a:off x="4677023" y="2024844"/>
              <a:ext cx="3887788" cy="3887787"/>
              <a:chOff x="3198" y="1729"/>
              <a:chExt cx="2449" cy="2449"/>
            </a:xfrm>
          </p:grpSpPr>
          <p:sp>
            <p:nvSpPr>
              <p:cNvPr id="22" name="Rectangle 184"/>
              <p:cNvSpPr>
                <a:spLocks noChangeArrowheads="1"/>
              </p:cNvSpPr>
              <p:nvPr/>
            </p:nvSpPr>
            <p:spPr bwMode="auto">
              <a:xfrm>
                <a:off x="3198" y="1729"/>
                <a:ext cx="2449" cy="244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grpSp>
            <p:nvGrpSpPr>
              <p:cNvPr id="4" name="Group 186"/>
              <p:cNvGrpSpPr>
                <a:grpSpLocks/>
              </p:cNvGrpSpPr>
              <p:nvPr/>
            </p:nvGrpSpPr>
            <p:grpSpPr bwMode="auto">
              <a:xfrm>
                <a:off x="3243" y="1942"/>
                <a:ext cx="2359" cy="2021"/>
                <a:chOff x="3243" y="1942"/>
                <a:chExt cx="2359" cy="2021"/>
              </a:xfrm>
            </p:grpSpPr>
            <p:sp>
              <p:nvSpPr>
                <p:cNvPr id="36" name="Line 155"/>
                <p:cNvSpPr>
                  <a:spLocks noChangeShapeType="1"/>
                </p:cNvSpPr>
                <p:nvPr/>
              </p:nvSpPr>
              <p:spPr bwMode="auto">
                <a:xfrm>
                  <a:off x="3243" y="2548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7" name="Line 156"/>
                <p:cNvSpPr>
                  <a:spLocks noChangeShapeType="1"/>
                </p:cNvSpPr>
                <p:nvPr/>
              </p:nvSpPr>
              <p:spPr bwMode="auto">
                <a:xfrm>
                  <a:off x="3243" y="2750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8" name="Line 157"/>
                <p:cNvSpPr>
                  <a:spLocks noChangeShapeType="1"/>
                </p:cNvSpPr>
                <p:nvPr/>
              </p:nvSpPr>
              <p:spPr bwMode="auto">
                <a:xfrm>
                  <a:off x="3243" y="2952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9" name="Line 158"/>
                <p:cNvSpPr>
                  <a:spLocks noChangeShapeType="1"/>
                </p:cNvSpPr>
                <p:nvPr/>
              </p:nvSpPr>
              <p:spPr bwMode="auto">
                <a:xfrm>
                  <a:off x="3243" y="31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0" name="Line 160"/>
                <p:cNvSpPr>
                  <a:spLocks noChangeShapeType="1"/>
                </p:cNvSpPr>
                <p:nvPr/>
              </p:nvSpPr>
              <p:spPr bwMode="auto">
                <a:xfrm>
                  <a:off x="3243" y="3356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1" name="Line 161"/>
                <p:cNvSpPr>
                  <a:spLocks noChangeShapeType="1"/>
                </p:cNvSpPr>
                <p:nvPr/>
              </p:nvSpPr>
              <p:spPr bwMode="auto">
                <a:xfrm>
                  <a:off x="3243" y="3558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2" name="Line 162"/>
                <p:cNvSpPr>
                  <a:spLocks noChangeShapeType="1"/>
                </p:cNvSpPr>
                <p:nvPr/>
              </p:nvSpPr>
              <p:spPr bwMode="auto">
                <a:xfrm>
                  <a:off x="3243" y="3760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3" name="Line 164"/>
                <p:cNvSpPr>
                  <a:spLocks noChangeShapeType="1"/>
                </p:cNvSpPr>
                <p:nvPr/>
              </p:nvSpPr>
              <p:spPr bwMode="auto">
                <a:xfrm>
                  <a:off x="3243" y="3963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4" name="Line 165"/>
                <p:cNvSpPr>
                  <a:spLocks noChangeShapeType="1"/>
                </p:cNvSpPr>
                <p:nvPr/>
              </p:nvSpPr>
              <p:spPr bwMode="auto">
                <a:xfrm>
                  <a:off x="3243" y="1942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5" name="Line 166"/>
                <p:cNvSpPr>
                  <a:spLocks noChangeShapeType="1"/>
                </p:cNvSpPr>
                <p:nvPr/>
              </p:nvSpPr>
              <p:spPr bwMode="auto">
                <a:xfrm>
                  <a:off x="3243" y="214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6" name="Line 167"/>
                <p:cNvSpPr>
                  <a:spLocks noChangeShapeType="1"/>
                </p:cNvSpPr>
                <p:nvPr/>
              </p:nvSpPr>
              <p:spPr bwMode="auto">
                <a:xfrm>
                  <a:off x="3243" y="2346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6" name="Group 187"/>
              <p:cNvGrpSpPr>
                <a:grpSpLocks/>
              </p:cNvGrpSpPr>
              <p:nvPr/>
            </p:nvGrpSpPr>
            <p:grpSpPr bwMode="auto">
              <a:xfrm>
                <a:off x="3413" y="1774"/>
                <a:ext cx="2021" cy="2359"/>
                <a:chOff x="3413" y="1774"/>
                <a:chExt cx="2021" cy="2359"/>
              </a:xfrm>
            </p:grpSpPr>
            <p:sp>
              <p:nvSpPr>
                <p:cNvPr id="25" name="Line 171"/>
                <p:cNvSpPr>
                  <a:spLocks noChangeShapeType="1"/>
                </p:cNvSpPr>
                <p:nvPr/>
              </p:nvSpPr>
              <p:spPr bwMode="auto">
                <a:xfrm rot="16200000">
                  <a:off x="2637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6" name="Line 172"/>
                <p:cNvSpPr>
                  <a:spLocks noChangeShapeType="1"/>
                </p:cNvSpPr>
                <p:nvPr/>
              </p:nvSpPr>
              <p:spPr bwMode="auto">
                <a:xfrm rot="16200000">
                  <a:off x="2839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7" name="Line 173"/>
                <p:cNvSpPr>
                  <a:spLocks noChangeShapeType="1"/>
                </p:cNvSpPr>
                <p:nvPr/>
              </p:nvSpPr>
              <p:spPr bwMode="auto">
                <a:xfrm rot="16200000">
                  <a:off x="3041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8" name="Line 174"/>
                <p:cNvSpPr>
                  <a:spLocks noChangeShapeType="1"/>
                </p:cNvSpPr>
                <p:nvPr/>
              </p:nvSpPr>
              <p:spPr bwMode="auto">
                <a:xfrm rot="16200000">
                  <a:off x="3243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9" name="Line 175"/>
                <p:cNvSpPr>
                  <a:spLocks noChangeShapeType="1"/>
                </p:cNvSpPr>
                <p:nvPr/>
              </p:nvSpPr>
              <p:spPr bwMode="auto">
                <a:xfrm rot="16200000">
                  <a:off x="3445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0" name="Line 176"/>
                <p:cNvSpPr>
                  <a:spLocks noChangeShapeType="1"/>
                </p:cNvSpPr>
                <p:nvPr/>
              </p:nvSpPr>
              <p:spPr bwMode="auto">
                <a:xfrm rot="16200000">
                  <a:off x="3647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1" name="Line 177"/>
                <p:cNvSpPr>
                  <a:spLocks noChangeShapeType="1"/>
                </p:cNvSpPr>
                <p:nvPr/>
              </p:nvSpPr>
              <p:spPr bwMode="auto">
                <a:xfrm rot="16200000">
                  <a:off x="3849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2" name="Line 178"/>
                <p:cNvSpPr>
                  <a:spLocks noChangeShapeType="1"/>
                </p:cNvSpPr>
                <p:nvPr/>
              </p:nvSpPr>
              <p:spPr bwMode="auto">
                <a:xfrm rot="16200000">
                  <a:off x="4051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3" name="Line 179"/>
                <p:cNvSpPr>
                  <a:spLocks noChangeShapeType="1"/>
                </p:cNvSpPr>
                <p:nvPr/>
              </p:nvSpPr>
              <p:spPr bwMode="auto">
                <a:xfrm rot="16200000">
                  <a:off x="4254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4" name="Line 180"/>
                <p:cNvSpPr>
                  <a:spLocks noChangeShapeType="1"/>
                </p:cNvSpPr>
                <p:nvPr/>
              </p:nvSpPr>
              <p:spPr bwMode="auto">
                <a:xfrm rot="16200000">
                  <a:off x="2233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5" name="Line 182"/>
                <p:cNvSpPr>
                  <a:spLocks noChangeShapeType="1"/>
                </p:cNvSpPr>
                <p:nvPr/>
              </p:nvSpPr>
              <p:spPr bwMode="auto">
                <a:xfrm rot="16200000">
                  <a:off x="2435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</p:grpSp>
        </p:grpSp>
        <p:sp>
          <p:nvSpPr>
            <p:cNvPr id="59" name="Line 201"/>
            <p:cNvSpPr>
              <a:spLocks noChangeShapeType="1"/>
            </p:cNvSpPr>
            <p:nvPr/>
          </p:nvSpPr>
          <p:spPr bwMode="auto">
            <a:xfrm flipV="1">
              <a:off x="5020634" y="2156346"/>
              <a:ext cx="0" cy="341194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dirty="0">
                <a:latin typeface="Arial" pitchFamily="34" charset="0"/>
              </a:endParaRPr>
            </a:p>
          </p:txBody>
        </p:sp>
        <p:sp>
          <p:nvSpPr>
            <p:cNvPr id="62" name="Line 201"/>
            <p:cNvSpPr>
              <a:spLocks noChangeShapeType="1"/>
            </p:cNvSpPr>
            <p:nvPr/>
          </p:nvSpPr>
          <p:spPr bwMode="auto">
            <a:xfrm rot="5400000" flipV="1">
              <a:off x="6699771" y="3864591"/>
              <a:ext cx="0" cy="341194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dirty="0">
                <a:latin typeface="Arial" pitchFamily="34" charset="0"/>
              </a:endParaRPr>
            </a:p>
          </p:txBody>
        </p:sp>
        <p:grpSp>
          <p:nvGrpSpPr>
            <p:cNvPr id="7" name="Group 70"/>
            <p:cNvGrpSpPr/>
            <p:nvPr/>
          </p:nvGrpSpPr>
          <p:grpSpPr>
            <a:xfrm>
              <a:off x="4668143" y="5438875"/>
              <a:ext cx="342945" cy="261610"/>
              <a:chOff x="4398160" y="5470166"/>
              <a:chExt cx="342945" cy="26161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Rectangle 6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6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0</a:t>
                </a:r>
              </a:p>
            </p:txBody>
          </p:sp>
        </p:grpSp>
        <p:grpSp>
          <p:nvGrpSpPr>
            <p:cNvPr id="16" name="Group 73"/>
            <p:cNvGrpSpPr/>
            <p:nvPr/>
          </p:nvGrpSpPr>
          <p:grpSpPr>
            <a:xfrm>
              <a:off x="4668143" y="5118059"/>
              <a:ext cx="342945" cy="261610"/>
              <a:chOff x="4398160" y="5470166"/>
              <a:chExt cx="342945" cy="261610"/>
            </a:xfrm>
          </p:grpSpPr>
          <p:cxnSp>
            <p:nvCxnSpPr>
              <p:cNvPr id="75" name="Straight Connector 74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Rectangle 75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1</a:t>
                </a:r>
              </a:p>
            </p:txBody>
          </p:sp>
        </p:grpSp>
        <p:grpSp>
          <p:nvGrpSpPr>
            <p:cNvPr id="17" name="Group 77"/>
            <p:cNvGrpSpPr/>
            <p:nvPr/>
          </p:nvGrpSpPr>
          <p:grpSpPr>
            <a:xfrm>
              <a:off x="4668143" y="4797239"/>
              <a:ext cx="342945" cy="261610"/>
              <a:chOff x="4398160" y="5470166"/>
              <a:chExt cx="342945" cy="261610"/>
            </a:xfrm>
          </p:grpSpPr>
          <p:cxnSp>
            <p:nvCxnSpPr>
              <p:cNvPr id="79" name="Straight Connector 7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Rectangle 7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1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2</a:t>
                </a:r>
              </a:p>
            </p:txBody>
          </p:sp>
        </p:grpSp>
        <p:grpSp>
          <p:nvGrpSpPr>
            <p:cNvPr id="18" name="Group 81"/>
            <p:cNvGrpSpPr/>
            <p:nvPr/>
          </p:nvGrpSpPr>
          <p:grpSpPr>
            <a:xfrm>
              <a:off x="4668143" y="4476419"/>
              <a:ext cx="342945" cy="261610"/>
              <a:chOff x="4398160" y="5470166"/>
              <a:chExt cx="342945" cy="261610"/>
            </a:xfrm>
          </p:grpSpPr>
          <p:cxnSp>
            <p:nvCxnSpPr>
              <p:cNvPr id="83" name="Straight Connector 82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Rectangle 83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5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3</a:t>
                </a:r>
              </a:p>
            </p:txBody>
          </p:sp>
        </p:grpSp>
        <p:grpSp>
          <p:nvGrpSpPr>
            <p:cNvPr id="19" name="Group 85"/>
            <p:cNvGrpSpPr/>
            <p:nvPr/>
          </p:nvGrpSpPr>
          <p:grpSpPr>
            <a:xfrm>
              <a:off x="4668143" y="4155599"/>
              <a:ext cx="342945" cy="261610"/>
              <a:chOff x="4398160" y="5470166"/>
              <a:chExt cx="342945" cy="261610"/>
            </a:xfrm>
          </p:grpSpPr>
          <p:cxnSp>
            <p:nvCxnSpPr>
              <p:cNvPr id="87" name="Straight Connector 86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Rectangle 87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9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4</a:t>
                </a:r>
              </a:p>
            </p:txBody>
          </p:sp>
        </p:grpSp>
        <p:grpSp>
          <p:nvGrpSpPr>
            <p:cNvPr id="21" name="Group 89"/>
            <p:cNvGrpSpPr/>
            <p:nvPr/>
          </p:nvGrpSpPr>
          <p:grpSpPr>
            <a:xfrm>
              <a:off x="4668143" y="3834779"/>
              <a:ext cx="342945" cy="261610"/>
              <a:chOff x="4398160" y="5470166"/>
              <a:chExt cx="342945" cy="261610"/>
            </a:xfrm>
          </p:grpSpPr>
          <p:cxnSp>
            <p:nvCxnSpPr>
              <p:cNvPr id="91" name="Straight Connector 90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ectangle 91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93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5</a:t>
                </a:r>
              </a:p>
            </p:txBody>
          </p:sp>
        </p:grpSp>
        <p:grpSp>
          <p:nvGrpSpPr>
            <p:cNvPr id="23" name="Group 93"/>
            <p:cNvGrpSpPr/>
            <p:nvPr/>
          </p:nvGrpSpPr>
          <p:grpSpPr>
            <a:xfrm>
              <a:off x="4668143" y="3513959"/>
              <a:ext cx="342945" cy="261610"/>
              <a:chOff x="4398160" y="5470166"/>
              <a:chExt cx="342945" cy="261610"/>
            </a:xfrm>
          </p:grpSpPr>
          <p:cxnSp>
            <p:nvCxnSpPr>
              <p:cNvPr id="95" name="Straight Connector 94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Rectangle 95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9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6</a:t>
                </a:r>
              </a:p>
            </p:txBody>
          </p:sp>
        </p:grpSp>
        <p:grpSp>
          <p:nvGrpSpPr>
            <p:cNvPr id="24" name="Group 97"/>
            <p:cNvGrpSpPr/>
            <p:nvPr/>
          </p:nvGrpSpPr>
          <p:grpSpPr>
            <a:xfrm>
              <a:off x="4668143" y="3193139"/>
              <a:ext cx="342945" cy="261610"/>
              <a:chOff x="4398160" y="5470166"/>
              <a:chExt cx="342945" cy="261610"/>
            </a:xfrm>
          </p:grpSpPr>
          <p:cxnSp>
            <p:nvCxnSpPr>
              <p:cNvPr id="99" name="Straight Connector 9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Rectangle 9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1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7</a:t>
                </a:r>
              </a:p>
            </p:txBody>
          </p:sp>
        </p:grpSp>
        <p:grpSp>
          <p:nvGrpSpPr>
            <p:cNvPr id="53" name="Group 101"/>
            <p:cNvGrpSpPr/>
            <p:nvPr/>
          </p:nvGrpSpPr>
          <p:grpSpPr>
            <a:xfrm>
              <a:off x="4668143" y="2872319"/>
              <a:ext cx="342945" cy="261610"/>
              <a:chOff x="4398160" y="5470166"/>
              <a:chExt cx="342945" cy="261610"/>
            </a:xfrm>
          </p:grpSpPr>
          <p:cxnSp>
            <p:nvCxnSpPr>
              <p:cNvPr id="103" name="Straight Connector 102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Rectangle 103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5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8</a:t>
                </a:r>
              </a:p>
            </p:txBody>
          </p:sp>
        </p:grpSp>
        <p:grpSp>
          <p:nvGrpSpPr>
            <p:cNvPr id="54" name="Group 105"/>
            <p:cNvGrpSpPr/>
            <p:nvPr/>
          </p:nvGrpSpPr>
          <p:grpSpPr>
            <a:xfrm>
              <a:off x="4668143" y="2551499"/>
              <a:ext cx="342945" cy="261610"/>
              <a:chOff x="4398160" y="5470166"/>
              <a:chExt cx="342945" cy="261610"/>
            </a:xfrm>
          </p:grpSpPr>
          <p:cxnSp>
            <p:nvCxnSpPr>
              <p:cNvPr id="107" name="Straight Connector 106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Rectangle 107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9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9</a:t>
                </a:r>
              </a:p>
            </p:txBody>
          </p:sp>
        </p:grpSp>
        <p:grpSp>
          <p:nvGrpSpPr>
            <p:cNvPr id="55" name="Group 109"/>
            <p:cNvGrpSpPr/>
            <p:nvPr/>
          </p:nvGrpSpPr>
          <p:grpSpPr>
            <a:xfrm>
              <a:off x="4668143" y="2230679"/>
              <a:ext cx="342945" cy="261610"/>
              <a:chOff x="4398160" y="5470166"/>
              <a:chExt cx="342945" cy="261610"/>
            </a:xfrm>
          </p:grpSpPr>
          <p:cxnSp>
            <p:nvCxnSpPr>
              <p:cNvPr id="111" name="Straight Connector 110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Rectangle 111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13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10</a:t>
                </a:r>
              </a:p>
            </p:txBody>
          </p:sp>
        </p:grpSp>
        <p:sp>
          <p:nvSpPr>
            <p:cNvPr id="117" name="Rectangle 192"/>
            <p:cNvSpPr>
              <a:spLocks noChangeArrowheads="1"/>
            </p:cNvSpPr>
            <p:nvPr/>
          </p:nvSpPr>
          <p:spPr bwMode="auto">
            <a:xfrm>
              <a:off x="4630043" y="1983029"/>
              <a:ext cx="342945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/>
              <a:r>
                <a:rPr lang="en-GB" sz="1100" b="1" i="1" dirty="0">
                  <a:latin typeface="Arial" pitchFamily="34" charset="0"/>
                </a:rPr>
                <a:t>y</a:t>
              </a:r>
            </a:p>
          </p:txBody>
        </p:sp>
        <p:sp>
          <p:nvSpPr>
            <p:cNvPr id="118" name="Rectangle 192"/>
            <p:cNvSpPr>
              <a:spLocks noChangeArrowheads="1"/>
            </p:cNvSpPr>
            <p:nvPr/>
          </p:nvSpPr>
          <p:spPr bwMode="auto">
            <a:xfrm>
              <a:off x="8217793" y="5602529"/>
              <a:ext cx="342945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/>
              <a:r>
                <a:rPr lang="en-GB" sz="1100" b="1" i="1" dirty="0">
                  <a:latin typeface="Arial" pitchFamily="34" charset="0"/>
                </a:rPr>
                <a:t>x</a:t>
              </a:r>
            </a:p>
          </p:txBody>
        </p:sp>
        <p:grpSp>
          <p:nvGrpSpPr>
            <p:cNvPr id="56" name="Group 118"/>
            <p:cNvGrpSpPr/>
            <p:nvPr/>
          </p:nvGrpSpPr>
          <p:grpSpPr>
            <a:xfrm>
              <a:off x="4844605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0" name="Straight Connector 11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Rectangle 12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2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0</a:t>
                </a:r>
              </a:p>
            </p:txBody>
          </p:sp>
        </p:grpSp>
        <p:grpSp>
          <p:nvGrpSpPr>
            <p:cNvPr id="57" name="Group 122"/>
            <p:cNvGrpSpPr/>
            <p:nvPr/>
          </p:nvGrpSpPr>
          <p:grpSpPr>
            <a:xfrm>
              <a:off x="5165681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4" name="Straight Connector 123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Rectangle 124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26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1</a:t>
                </a:r>
              </a:p>
            </p:txBody>
          </p:sp>
        </p:grpSp>
        <p:grpSp>
          <p:nvGrpSpPr>
            <p:cNvPr id="58" name="Group 126"/>
            <p:cNvGrpSpPr/>
            <p:nvPr/>
          </p:nvGrpSpPr>
          <p:grpSpPr>
            <a:xfrm>
              <a:off x="5486757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8" name="Straight Connector 127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Rectangle 128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0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2</a:t>
                </a:r>
              </a:p>
            </p:txBody>
          </p:sp>
        </p:grpSp>
        <p:grpSp>
          <p:nvGrpSpPr>
            <p:cNvPr id="60" name="Group 130"/>
            <p:cNvGrpSpPr/>
            <p:nvPr/>
          </p:nvGrpSpPr>
          <p:grpSpPr>
            <a:xfrm>
              <a:off x="5807833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32" name="Straight Connector 131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Rectangle 132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4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3</a:t>
                </a:r>
              </a:p>
            </p:txBody>
          </p:sp>
        </p:grpSp>
        <p:grpSp>
          <p:nvGrpSpPr>
            <p:cNvPr id="61" name="Group 134"/>
            <p:cNvGrpSpPr/>
            <p:nvPr/>
          </p:nvGrpSpPr>
          <p:grpSpPr>
            <a:xfrm>
              <a:off x="6128909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36" name="Straight Connector 135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Rectangle 136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8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4</a:t>
                </a:r>
              </a:p>
            </p:txBody>
          </p:sp>
        </p:grpSp>
        <p:grpSp>
          <p:nvGrpSpPr>
            <p:cNvPr id="63" name="Group 138"/>
            <p:cNvGrpSpPr/>
            <p:nvPr/>
          </p:nvGrpSpPr>
          <p:grpSpPr>
            <a:xfrm>
              <a:off x="6449985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0" name="Straight Connector 13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Rectangle 14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4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5</a:t>
                </a:r>
              </a:p>
            </p:txBody>
          </p:sp>
        </p:grpSp>
        <p:grpSp>
          <p:nvGrpSpPr>
            <p:cNvPr id="64" name="Group 142"/>
            <p:cNvGrpSpPr/>
            <p:nvPr/>
          </p:nvGrpSpPr>
          <p:grpSpPr>
            <a:xfrm>
              <a:off x="6771061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4" name="Straight Connector 143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Rectangle 144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46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6</a:t>
                </a:r>
              </a:p>
            </p:txBody>
          </p:sp>
        </p:grpSp>
        <p:grpSp>
          <p:nvGrpSpPr>
            <p:cNvPr id="68" name="Group 146"/>
            <p:cNvGrpSpPr/>
            <p:nvPr/>
          </p:nvGrpSpPr>
          <p:grpSpPr>
            <a:xfrm>
              <a:off x="7092137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8" name="Straight Connector 147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Rectangle 148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0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7</a:t>
                </a:r>
              </a:p>
            </p:txBody>
          </p:sp>
        </p:grpSp>
        <p:grpSp>
          <p:nvGrpSpPr>
            <p:cNvPr id="71" name="Group 150"/>
            <p:cNvGrpSpPr/>
            <p:nvPr/>
          </p:nvGrpSpPr>
          <p:grpSpPr>
            <a:xfrm>
              <a:off x="7413213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52" name="Straight Connector 151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Rectangle 152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4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8</a:t>
                </a:r>
              </a:p>
            </p:txBody>
          </p:sp>
        </p:grpSp>
        <p:grpSp>
          <p:nvGrpSpPr>
            <p:cNvPr id="72" name="Group 154"/>
            <p:cNvGrpSpPr/>
            <p:nvPr/>
          </p:nvGrpSpPr>
          <p:grpSpPr>
            <a:xfrm>
              <a:off x="7734289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56" name="Straight Connector 155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Rectangle 156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8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9</a:t>
                </a:r>
              </a:p>
            </p:txBody>
          </p:sp>
        </p:grpSp>
        <p:grpSp>
          <p:nvGrpSpPr>
            <p:cNvPr id="73" name="Group 158"/>
            <p:cNvGrpSpPr/>
            <p:nvPr/>
          </p:nvGrpSpPr>
          <p:grpSpPr>
            <a:xfrm>
              <a:off x="8055362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60" name="Straight Connector 15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Rectangle 16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6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10</a:t>
                </a:r>
              </a:p>
            </p:txBody>
          </p:sp>
        </p:grpSp>
      </p:grpSp>
      <p:sp>
        <p:nvSpPr>
          <p:cNvPr id="15" name="TextBox 14"/>
          <p:cNvSpPr txBox="1"/>
          <p:nvPr/>
        </p:nvSpPr>
        <p:spPr>
          <a:xfrm>
            <a:off x="305526" y="1270655"/>
            <a:ext cx="8532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Arial" pitchFamily="34" charset="0"/>
              </a:rPr>
              <a:t>We describe a rotation by giving the </a:t>
            </a:r>
            <a:r>
              <a:rPr lang="en-GB" sz="1600" b="1" dirty="0">
                <a:solidFill>
                  <a:srgbClr val="990033"/>
                </a:solidFill>
                <a:latin typeface="Arial" pitchFamily="34" charset="0"/>
              </a:rPr>
              <a:t>ANGLE</a:t>
            </a:r>
            <a:r>
              <a:rPr lang="en-GB" sz="1600" b="1" dirty="0">
                <a:latin typeface="Arial" pitchFamily="34" charset="0"/>
              </a:rPr>
              <a:t>, </a:t>
            </a:r>
            <a:r>
              <a:rPr lang="en-GB" sz="1600" b="1" dirty="0">
                <a:solidFill>
                  <a:srgbClr val="990033"/>
                </a:solidFill>
                <a:latin typeface="Arial" pitchFamily="34" charset="0"/>
              </a:rPr>
              <a:t>DIRECTION</a:t>
            </a:r>
            <a:r>
              <a:rPr lang="en-GB" sz="1600" b="1" dirty="0">
                <a:latin typeface="Arial" pitchFamily="34" charset="0"/>
              </a:rPr>
              <a:t> and </a:t>
            </a:r>
            <a:r>
              <a:rPr lang="en-GB" sz="1600" b="1" dirty="0">
                <a:solidFill>
                  <a:srgbClr val="990033"/>
                </a:solidFill>
                <a:latin typeface="Arial" pitchFamily="34" charset="0"/>
              </a:rPr>
              <a:t>CENTER OF ROTATION</a:t>
            </a:r>
            <a:r>
              <a:rPr lang="en-GB" sz="1600" b="1" dirty="0">
                <a:latin typeface="Arial" pitchFamily="34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609" y="871992"/>
            <a:ext cx="8338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A Rotation turns a shape through a given angle, about a given point.</a:t>
            </a:r>
          </a:p>
        </p:txBody>
      </p:sp>
      <p:sp>
        <p:nvSpPr>
          <p:cNvPr id="47" name="AutoShape 189"/>
          <p:cNvSpPr>
            <a:spLocks noChangeArrowheads="1"/>
          </p:cNvSpPr>
          <p:nvPr/>
        </p:nvSpPr>
        <p:spPr bwMode="auto">
          <a:xfrm>
            <a:off x="6000818" y="2680960"/>
            <a:ext cx="612775" cy="960438"/>
          </a:xfrm>
          <a:prstGeom prst="triangle">
            <a:avLst>
              <a:gd name="adj" fmla="val 50000"/>
            </a:avLst>
          </a:prstGeom>
          <a:gradFill flip="none" rotWithShape="1">
            <a:gsLst>
              <a:gs pos="0">
                <a:srgbClr val="A50021">
                  <a:shade val="30000"/>
                  <a:satMod val="115000"/>
                </a:srgbClr>
              </a:gs>
              <a:gs pos="50000">
                <a:srgbClr val="A50021">
                  <a:shade val="67500"/>
                  <a:satMod val="115000"/>
                </a:srgbClr>
              </a:gs>
              <a:gs pos="100000">
                <a:srgbClr val="A5002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>
              <a:latin typeface="Arial" pitchFamily="34" charset="0"/>
            </a:endParaRPr>
          </a:p>
        </p:txBody>
      </p:sp>
      <p:sp>
        <p:nvSpPr>
          <p:cNvPr id="49" name="Rectangle 192"/>
          <p:cNvSpPr>
            <a:spLocks noChangeArrowheads="1"/>
          </p:cNvSpPr>
          <p:nvPr/>
        </p:nvSpPr>
        <p:spPr bwMode="auto">
          <a:xfrm>
            <a:off x="687691" y="2173450"/>
            <a:ext cx="32289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latin typeface="Arial" pitchFamily="34" charset="0"/>
              </a:rPr>
              <a:t>The triangle was rotated:</a:t>
            </a:r>
          </a:p>
        </p:txBody>
      </p:sp>
      <p:sp>
        <p:nvSpPr>
          <p:cNvPr id="50" name="Rectangle 193"/>
          <p:cNvSpPr>
            <a:spLocks noChangeArrowheads="1"/>
          </p:cNvSpPr>
          <p:nvPr/>
        </p:nvSpPr>
        <p:spPr bwMode="auto">
          <a:xfrm>
            <a:off x="687691" y="2469266"/>
            <a:ext cx="32289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A50021"/>
                </a:solidFill>
                <a:latin typeface="Arial" pitchFamily="34" charset="0"/>
              </a:rPr>
              <a:t>90˚ Anticlockwise</a:t>
            </a:r>
          </a:p>
        </p:txBody>
      </p:sp>
      <p:sp>
        <p:nvSpPr>
          <p:cNvPr id="51" name="Rectangle 194"/>
          <p:cNvSpPr>
            <a:spLocks noChangeArrowheads="1"/>
          </p:cNvSpPr>
          <p:nvPr/>
        </p:nvSpPr>
        <p:spPr bwMode="auto">
          <a:xfrm>
            <a:off x="687691" y="3197424"/>
            <a:ext cx="32289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A50021"/>
                </a:solidFill>
                <a:latin typeface="Arial" pitchFamily="34" charset="0"/>
              </a:rPr>
              <a:t>(3, 6)</a:t>
            </a:r>
          </a:p>
        </p:txBody>
      </p:sp>
      <p:sp>
        <p:nvSpPr>
          <p:cNvPr id="65" name="Rectangle 194"/>
          <p:cNvSpPr>
            <a:spLocks noChangeArrowheads="1"/>
          </p:cNvSpPr>
          <p:nvPr/>
        </p:nvSpPr>
        <p:spPr bwMode="auto">
          <a:xfrm>
            <a:off x="687691" y="2898373"/>
            <a:ext cx="331904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latin typeface="Arial" pitchFamily="34" charset="0"/>
              </a:rPr>
              <a:t>With centre of rotation</a:t>
            </a:r>
            <a:endParaRPr lang="en-GB" sz="2400" b="1" dirty="0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66" name="Rectangle 192"/>
          <p:cNvSpPr>
            <a:spLocks noChangeArrowheads="1"/>
          </p:cNvSpPr>
          <p:nvPr/>
        </p:nvSpPr>
        <p:spPr bwMode="auto">
          <a:xfrm>
            <a:off x="687691" y="1821194"/>
            <a:ext cx="144016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1600" i="1" dirty="0">
                <a:latin typeface="Arial" pitchFamily="34" charset="0"/>
              </a:rPr>
              <a:t>Example 2:</a:t>
            </a:r>
          </a:p>
        </p:txBody>
      </p:sp>
      <p:grpSp>
        <p:nvGrpSpPr>
          <p:cNvPr id="74" name="Group 168"/>
          <p:cNvGrpSpPr/>
          <p:nvPr/>
        </p:nvGrpSpPr>
        <p:grpSpPr>
          <a:xfrm>
            <a:off x="5387611" y="2680960"/>
            <a:ext cx="1225982" cy="1921076"/>
            <a:chOff x="6981447" y="3000022"/>
            <a:chExt cx="1225982" cy="1921076"/>
          </a:xfrm>
          <a:solidFill>
            <a:srgbClr val="FF0000"/>
          </a:solidFill>
        </p:grpSpPr>
        <p:sp>
          <p:nvSpPr>
            <p:cNvPr id="48" name="AutoShape 191"/>
            <p:cNvSpPr>
              <a:spLocks noChangeArrowheads="1"/>
            </p:cNvSpPr>
            <p:nvPr/>
          </p:nvSpPr>
          <p:spPr bwMode="auto">
            <a:xfrm>
              <a:off x="7594654" y="3000022"/>
              <a:ext cx="612775" cy="960437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dirty="0">
                <a:latin typeface="Arial" pitchFamily="34" charset="0"/>
              </a:endParaRPr>
            </a:p>
          </p:txBody>
        </p:sp>
        <p:sp>
          <p:nvSpPr>
            <p:cNvPr id="168" name="AutoShape 191"/>
            <p:cNvSpPr>
              <a:spLocks noChangeArrowheads="1"/>
            </p:cNvSpPr>
            <p:nvPr/>
          </p:nvSpPr>
          <p:spPr bwMode="auto">
            <a:xfrm flipV="1">
              <a:off x="6981447" y="3960661"/>
              <a:ext cx="612775" cy="960437"/>
            </a:xfrm>
            <a:prstGeom prst="triangle">
              <a:avLst>
                <a:gd name="adj" fmla="val 50000"/>
              </a:avLst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dirty="0">
                <a:latin typeface="Arial" pitchFamily="34" charset="0"/>
              </a:endParaRPr>
            </a:p>
          </p:txBody>
        </p:sp>
      </p:grpSp>
      <p:sp>
        <p:nvSpPr>
          <p:cNvPr id="170" name="Oval 169"/>
          <p:cNvSpPr/>
          <p:nvPr/>
        </p:nvSpPr>
        <p:spPr>
          <a:xfrm>
            <a:off x="5938561" y="3582335"/>
            <a:ext cx="101714" cy="101714"/>
          </a:xfrm>
          <a:prstGeom prst="ellipse">
            <a:avLst/>
          </a:prstGeom>
          <a:solidFill>
            <a:srgbClr val="FF0000"/>
          </a:solidFill>
          <a:ln w="6350">
            <a:solidFill>
              <a:srgbClr val="99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78" name="Group 171"/>
          <p:cNvGrpSpPr/>
          <p:nvPr/>
        </p:nvGrpSpPr>
        <p:grpSpPr>
          <a:xfrm>
            <a:off x="582989" y="4055728"/>
            <a:ext cx="3301340" cy="1834438"/>
            <a:chOff x="866899" y="4245728"/>
            <a:chExt cx="3301340" cy="1834438"/>
          </a:xfrm>
        </p:grpSpPr>
        <p:sp>
          <p:nvSpPr>
            <p:cNvPr id="171" name="Rounded Rectangle 170"/>
            <p:cNvSpPr/>
            <p:nvPr/>
          </p:nvSpPr>
          <p:spPr>
            <a:xfrm>
              <a:off x="866899" y="4245728"/>
              <a:ext cx="3301340" cy="1834438"/>
            </a:xfrm>
            <a:prstGeom prst="roundRect">
              <a:avLst>
                <a:gd name="adj" fmla="val 16985"/>
              </a:avLst>
            </a:prstGeom>
            <a:gradFill flip="none" rotWithShape="1">
              <a:gsLst>
                <a:gs pos="0">
                  <a:schemeClr val="bg1"/>
                </a:gs>
                <a:gs pos="50000">
                  <a:schemeClr val="bg1"/>
                </a:gs>
                <a:gs pos="100000">
                  <a:srgbClr val="FFCCCC"/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52" name="Rectangle 195"/>
            <p:cNvSpPr>
              <a:spLocks noChangeArrowheads="1"/>
            </p:cNvSpPr>
            <p:nvPr/>
          </p:nvSpPr>
          <p:spPr bwMode="auto">
            <a:xfrm>
              <a:off x="1043941" y="4378117"/>
              <a:ext cx="2947256" cy="15696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GB" sz="1600" b="1" dirty="0">
                  <a:latin typeface="Arial" pitchFamily="34" charset="0"/>
                </a:rPr>
                <a:t>If you imagine the shape to be traced on a sheet of tracing paper, then the</a:t>
              </a:r>
            </a:p>
            <a:p>
              <a:pPr algn="ctr"/>
              <a:r>
                <a:rPr lang="en-GB" sz="1600" b="1" dirty="0">
                  <a:solidFill>
                    <a:srgbClr val="990033"/>
                  </a:solidFill>
                  <a:latin typeface="Arial" pitchFamily="34" charset="0"/>
                </a:rPr>
                <a:t>Centre of Rotation</a:t>
              </a:r>
            </a:p>
            <a:p>
              <a:pPr algn="ctr"/>
              <a:r>
                <a:rPr lang="en-GB" sz="1600" b="1" dirty="0">
                  <a:latin typeface="Arial" pitchFamily="34" charset="0"/>
                </a:rPr>
                <a:t>is the point which remains in the same position.</a:t>
              </a:r>
              <a:endParaRPr lang="en-GB" sz="1600" b="1" i="1" dirty="0">
                <a:solidFill>
                  <a:srgbClr val="A50021"/>
                </a:solidFill>
                <a:latin typeface="Arial" pitchFamily="34" charset="0"/>
              </a:endParaRPr>
            </a:p>
          </p:txBody>
        </p:sp>
      </p:grpSp>
      <p:sp>
        <p:nvSpPr>
          <p:cNvPr id="147" name="Rounded Rectangle 146"/>
          <p:cNvSpPr/>
          <p:nvPr/>
        </p:nvSpPr>
        <p:spPr>
          <a:xfrm>
            <a:off x="400050" y="208911"/>
            <a:ext cx="8343900" cy="50405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A50021">
                  <a:tint val="66000"/>
                  <a:satMod val="160000"/>
                </a:srgbClr>
              </a:gs>
              <a:gs pos="50000">
                <a:srgbClr val="A50021">
                  <a:tint val="44500"/>
                  <a:satMod val="160000"/>
                </a:srgbClr>
              </a:gs>
              <a:gs pos="100000">
                <a:srgbClr val="A50021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616775" y="230107"/>
            <a:ext cx="7910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Arial" pitchFamily="34" charset="0"/>
              </a:rPr>
              <a:t>(2)  Rotations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21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9" grpId="0"/>
      <p:bldP spid="50" grpId="0"/>
      <p:bldP spid="51" grpId="0"/>
      <p:bldP spid="65" grpId="0"/>
      <p:bldP spid="66" grpId="0"/>
      <p:bldP spid="17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65022" y="872716"/>
            <a:ext cx="8613957" cy="5292588"/>
          </a:xfrm>
          <a:prstGeom prst="roundRect">
            <a:avLst>
              <a:gd name="adj" fmla="val 5211"/>
            </a:avLst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2" name="Group 166"/>
          <p:cNvGrpSpPr/>
          <p:nvPr/>
        </p:nvGrpSpPr>
        <p:grpSpPr>
          <a:xfrm>
            <a:off x="4630043" y="1983029"/>
            <a:ext cx="3934768" cy="3929602"/>
            <a:chOff x="4630043" y="1983029"/>
            <a:chExt cx="3934768" cy="3929602"/>
          </a:xfrm>
        </p:grpSpPr>
        <p:grpSp>
          <p:nvGrpSpPr>
            <p:cNvPr id="3" name="Group 188"/>
            <p:cNvGrpSpPr>
              <a:grpSpLocks/>
            </p:cNvGrpSpPr>
            <p:nvPr/>
          </p:nvGrpSpPr>
          <p:grpSpPr bwMode="auto">
            <a:xfrm>
              <a:off x="4677023" y="2024844"/>
              <a:ext cx="3887788" cy="3887787"/>
              <a:chOff x="3198" y="1729"/>
              <a:chExt cx="2449" cy="2449"/>
            </a:xfrm>
          </p:grpSpPr>
          <p:sp>
            <p:nvSpPr>
              <p:cNvPr id="22" name="Rectangle 184"/>
              <p:cNvSpPr>
                <a:spLocks noChangeArrowheads="1"/>
              </p:cNvSpPr>
              <p:nvPr/>
            </p:nvSpPr>
            <p:spPr bwMode="auto">
              <a:xfrm>
                <a:off x="3198" y="1729"/>
                <a:ext cx="2449" cy="244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grpSp>
            <p:nvGrpSpPr>
              <p:cNvPr id="4" name="Group 186"/>
              <p:cNvGrpSpPr>
                <a:grpSpLocks/>
              </p:cNvGrpSpPr>
              <p:nvPr/>
            </p:nvGrpSpPr>
            <p:grpSpPr bwMode="auto">
              <a:xfrm>
                <a:off x="3243" y="1942"/>
                <a:ext cx="2359" cy="2021"/>
                <a:chOff x="3243" y="1942"/>
                <a:chExt cx="2359" cy="2021"/>
              </a:xfrm>
            </p:grpSpPr>
            <p:sp>
              <p:nvSpPr>
                <p:cNvPr id="36" name="Line 155"/>
                <p:cNvSpPr>
                  <a:spLocks noChangeShapeType="1"/>
                </p:cNvSpPr>
                <p:nvPr/>
              </p:nvSpPr>
              <p:spPr bwMode="auto">
                <a:xfrm>
                  <a:off x="3243" y="2548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7" name="Line 156"/>
                <p:cNvSpPr>
                  <a:spLocks noChangeShapeType="1"/>
                </p:cNvSpPr>
                <p:nvPr/>
              </p:nvSpPr>
              <p:spPr bwMode="auto">
                <a:xfrm>
                  <a:off x="3243" y="2750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8" name="Line 157"/>
                <p:cNvSpPr>
                  <a:spLocks noChangeShapeType="1"/>
                </p:cNvSpPr>
                <p:nvPr/>
              </p:nvSpPr>
              <p:spPr bwMode="auto">
                <a:xfrm>
                  <a:off x="3243" y="2952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9" name="Line 158"/>
                <p:cNvSpPr>
                  <a:spLocks noChangeShapeType="1"/>
                </p:cNvSpPr>
                <p:nvPr/>
              </p:nvSpPr>
              <p:spPr bwMode="auto">
                <a:xfrm>
                  <a:off x="3243" y="31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0" name="Line 160"/>
                <p:cNvSpPr>
                  <a:spLocks noChangeShapeType="1"/>
                </p:cNvSpPr>
                <p:nvPr/>
              </p:nvSpPr>
              <p:spPr bwMode="auto">
                <a:xfrm>
                  <a:off x="3243" y="3356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1" name="Line 161"/>
                <p:cNvSpPr>
                  <a:spLocks noChangeShapeType="1"/>
                </p:cNvSpPr>
                <p:nvPr/>
              </p:nvSpPr>
              <p:spPr bwMode="auto">
                <a:xfrm>
                  <a:off x="3243" y="3558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2" name="Line 162"/>
                <p:cNvSpPr>
                  <a:spLocks noChangeShapeType="1"/>
                </p:cNvSpPr>
                <p:nvPr/>
              </p:nvSpPr>
              <p:spPr bwMode="auto">
                <a:xfrm>
                  <a:off x="3243" y="3760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3" name="Line 164"/>
                <p:cNvSpPr>
                  <a:spLocks noChangeShapeType="1"/>
                </p:cNvSpPr>
                <p:nvPr/>
              </p:nvSpPr>
              <p:spPr bwMode="auto">
                <a:xfrm>
                  <a:off x="3243" y="3963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4" name="Line 165"/>
                <p:cNvSpPr>
                  <a:spLocks noChangeShapeType="1"/>
                </p:cNvSpPr>
                <p:nvPr/>
              </p:nvSpPr>
              <p:spPr bwMode="auto">
                <a:xfrm>
                  <a:off x="3243" y="1942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5" name="Line 166"/>
                <p:cNvSpPr>
                  <a:spLocks noChangeShapeType="1"/>
                </p:cNvSpPr>
                <p:nvPr/>
              </p:nvSpPr>
              <p:spPr bwMode="auto">
                <a:xfrm>
                  <a:off x="3243" y="214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6" name="Line 167"/>
                <p:cNvSpPr>
                  <a:spLocks noChangeShapeType="1"/>
                </p:cNvSpPr>
                <p:nvPr/>
              </p:nvSpPr>
              <p:spPr bwMode="auto">
                <a:xfrm>
                  <a:off x="3243" y="2346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6" name="Group 187"/>
              <p:cNvGrpSpPr>
                <a:grpSpLocks/>
              </p:cNvGrpSpPr>
              <p:nvPr/>
            </p:nvGrpSpPr>
            <p:grpSpPr bwMode="auto">
              <a:xfrm>
                <a:off x="3413" y="1774"/>
                <a:ext cx="2021" cy="2359"/>
                <a:chOff x="3413" y="1774"/>
                <a:chExt cx="2021" cy="2359"/>
              </a:xfrm>
            </p:grpSpPr>
            <p:sp>
              <p:nvSpPr>
                <p:cNvPr id="25" name="Line 171"/>
                <p:cNvSpPr>
                  <a:spLocks noChangeShapeType="1"/>
                </p:cNvSpPr>
                <p:nvPr/>
              </p:nvSpPr>
              <p:spPr bwMode="auto">
                <a:xfrm rot="16200000">
                  <a:off x="2637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6" name="Line 172"/>
                <p:cNvSpPr>
                  <a:spLocks noChangeShapeType="1"/>
                </p:cNvSpPr>
                <p:nvPr/>
              </p:nvSpPr>
              <p:spPr bwMode="auto">
                <a:xfrm rot="16200000">
                  <a:off x="2839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7" name="Line 173"/>
                <p:cNvSpPr>
                  <a:spLocks noChangeShapeType="1"/>
                </p:cNvSpPr>
                <p:nvPr/>
              </p:nvSpPr>
              <p:spPr bwMode="auto">
                <a:xfrm rot="16200000">
                  <a:off x="3041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8" name="Line 174"/>
                <p:cNvSpPr>
                  <a:spLocks noChangeShapeType="1"/>
                </p:cNvSpPr>
                <p:nvPr/>
              </p:nvSpPr>
              <p:spPr bwMode="auto">
                <a:xfrm rot="16200000">
                  <a:off x="3243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9" name="Line 175"/>
                <p:cNvSpPr>
                  <a:spLocks noChangeShapeType="1"/>
                </p:cNvSpPr>
                <p:nvPr/>
              </p:nvSpPr>
              <p:spPr bwMode="auto">
                <a:xfrm rot="16200000">
                  <a:off x="3445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0" name="Line 176"/>
                <p:cNvSpPr>
                  <a:spLocks noChangeShapeType="1"/>
                </p:cNvSpPr>
                <p:nvPr/>
              </p:nvSpPr>
              <p:spPr bwMode="auto">
                <a:xfrm rot="16200000">
                  <a:off x="3647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1" name="Line 177"/>
                <p:cNvSpPr>
                  <a:spLocks noChangeShapeType="1"/>
                </p:cNvSpPr>
                <p:nvPr/>
              </p:nvSpPr>
              <p:spPr bwMode="auto">
                <a:xfrm rot="16200000">
                  <a:off x="3849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2" name="Line 178"/>
                <p:cNvSpPr>
                  <a:spLocks noChangeShapeType="1"/>
                </p:cNvSpPr>
                <p:nvPr/>
              </p:nvSpPr>
              <p:spPr bwMode="auto">
                <a:xfrm rot="16200000">
                  <a:off x="4051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3" name="Line 179"/>
                <p:cNvSpPr>
                  <a:spLocks noChangeShapeType="1"/>
                </p:cNvSpPr>
                <p:nvPr/>
              </p:nvSpPr>
              <p:spPr bwMode="auto">
                <a:xfrm rot="16200000">
                  <a:off x="4254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4" name="Line 180"/>
                <p:cNvSpPr>
                  <a:spLocks noChangeShapeType="1"/>
                </p:cNvSpPr>
                <p:nvPr/>
              </p:nvSpPr>
              <p:spPr bwMode="auto">
                <a:xfrm rot="16200000">
                  <a:off x="2233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5" name="Line 182"/>
                <p:cNvSpPr>
                  <a:spLocks noChangeShapeType="1"/>
                </p:cNvSpPr>
                <p:nvPr/>
              </p:nvSpPr>
              <p:spPr bwMode="auto">
                <a:xfrm rot="16200000">
                  <a:off x="2435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</p:grpSp>
        </p:grpSp>
        <p:sp>
          <p:nvSpPr>
            <p:cNvPr id="59" name="Line 201"/>
            <p:cNvSpPr>
              <a:spLocks noChangeShapeType="1"/>
            </p:cNvSpPr>
            <p:nvPr/>
          </p:nvSpPr>
          <p:spPr bwMode="auto">
            <a:xfrm flipV="1">
              <a:off x="5020634" y="2156346"/>
              <a:ext cx="0" cy="341194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dirty="0">
                <a:latin typeface="Arial" pitchFamily="34" charset="0"/>
              </a:endParaRPr>
            </a:p>
          </p:txBody>
        </p:sp>
        <p:sp>
          <p:nvSpPr>
            <p:cNvPr id="62" name="Line 201"/>
            <p:cNvSpPr>
              <a:spLocks noChangeShapeType="1"/>
            </p:cNvSpPr>
            <p:nvPr/>
          </p:nvSpPr>
          <p:spPr bwMode="auto">
            <a:xfrm rot="5400000" flipV="1">
              <a:off x="6699771" y="3864591"/>
              <a:ext cx="0" cy="341194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dirty="0">
                <a:latin typeface="Arial" pitchFamily="34" charset="0"/>
              </a:endParaRPr>
            </a:p>
          </p:txBody>
        </p:sp>
        <p:grpSp>
          <p:nvGrpSpPr>
            <p:cNvPr id="7" name="Group 70"/>
            <p:cNvGrpSpPr/>
            <p:nvPr/>
          </p:nvGrpSpPr>
          <p:grpSpPr>
            <a:xfrm>
              <a:off x="4668143" y="5438875"/>
              <a:ext cx="342945" cy="261610"/>
              <a:chOff x="4398160" y="5470166"/>
              <a:chExt cx="342945" cy="26161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Rectangle 6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6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0</a:t>
                </a:r>
              </a:p>
            </p:txBody>
          </p:sp>
        </p:grpSp>
        <p:grpSp>
          <p:nvGrpSpPr>
            <p:cNvPr id="16" name="Group 73"/>
            <p:cNvGrpSpPr/>
            <p:nvPr/>
          </p:nvGrpSpPr>
          <p:grpSpPr>
            <a:xfrm>
              <a:off x="4668143" y="5118059"/>
              <a:ext cx="342945" cy="261610"/>
              <a:chOff x="4398160" y="5470166"/>
              <a:chExt cx="342945" cy="261610"/>
            </a:xfrm>
          </p:grpSpPr>
          <p:cxnSp>
            <p:nvCxnSpPr>
              <p:cNvPr id="75" name="Straight Connector 74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Rectangle 75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1</a:t>
                </a:r>
              </a:p>
            </p:txBody>
          </p:sp>
        </p:grpSp>
        <p:grpSp>
          <p:nvGrpSpPr>
            <p:cNvPr id="17" name="Group 77"/>
            <p:cNvGrpSpPr/>
            <p:nvPr/>
          </p:nvGrpSpPr>
          <p:grpSpPr>
            <a:xfrm>
              <a:off x="4668143" y="4797239"/>
              <a:ext cx="342945" cy="261610"/>
              <a:chOff x="4398160" y="5470166"/>
              <a:chExt cx="342945" cy="261610"/>
            </a:xfrm>
          </p:grpSpPr>
          <p:cxnSp>
            <p:nvCxnSpPr>
              <p:cNvPr id="79" name="Straight Connector 7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Rectangle 7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1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2</a:t>
                </a:r>
              </a:p>
            </p:txBody>
          </p:sp>
        </p:grpSp>
        <p:grpSp>
          <p:nvGrpSpPr>
            <p:cNvPr id="18" name="Group 81"/>
            <p:cNvGrpSpPr/>
            <p:nvPr/>
          </p:nvGrpSpPr>
          <p:grpSpPr>
            <a:xfrm>
              <a:off x="4668143" y="4476419"/>
              <a:ext cx="342945" cy="261610"/>
              <a:chOff x="4398160" y="5470166"/>
              <a:chExt cx="342945" cy="261610"/>
            </a:xfrm>
          </p:grpSpPr>
          <p:cxnSp>
            <p:nvCxnSpPr>
              <p:cNvPr id="83" name="Straight Connector 82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Rectangle 83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5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3</a:t>
                </a:r>
              </a:p>
            </p:txBody>
          </p:sp>
        </p:grpSp>
        <p:grpSp>
          <p:nvGrpSpPr>
            <p:cNvPr id="19" name="Group 85"/>
            <p:cNvGrpSpPr/>
            <p:nvPr/>
          </p:nvGrpSpPr>
          <p:grpSpPr>
            <a:xfrm>
              <a:off x="4668143" y="4155599"/>
              <a:ext cx="342945" cy="261610"/>
              <a:chOff x="4398160" y="5470166"/>
              <a:chExt cx="342945" cy="261610"/>
            </a:xfrm>
          </p:grpSpPr>
          <p:cxnSp>
            <p:nvCxnSpPr>
              <p:cNvPr id="87" name="Straight Connector 86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Rectangle 87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9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4</a:t>
                </a:r>
              </a:p>
            </p:txBody>
          </p:sp>
        </p:grpSp>
        <p:grpSp>
          <p:nvGrpSpPr>
            <p:cNvPr id="21" name="Group 89"/>
            <p:cNvGrpSpPr/>
            <p:nvPr/>
          </p:nvGrpSpPr>
          <p:grpSpPr>
            <a:xfrm>
              <a:off x="4668143" y="3834779"/>
              <a:ext cx="342945" cy="261610"/>
              <a:chOff x="4398160" y="5470166"/>
              <a:chExt cx="342945" cy="261610"/>
            </a:xfrm>
          </p:grpSpPr>
          <p:cxnSp>
            <p:nvCxnSpPr>
              <p:cNvPr id="91" name="Straight Connector 90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ectangle 91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93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5</a:t>
                </a:r>
              </a:p>
            </p:txBody>
          </p:sp>
        </p:grpSp>
        <p:grpSp>
          <p:nvGrpSpPr>
            <p:cNvPr id="23" name="Group 93"/>
            <p:cNvGrpSpPr/>
            <p:nvPr/>
          </p:nvGrpSpPr>
          <p:grpSpPr>
            <a:xfrm>
              <a:off x="4668143" y="3513959"/>
              <a:ext cx="342945" cy="261610"/>
              <a:chOff x="4398160" y="5470166"/>
              <a:chExt cx="342945" cy="261610"/>
            </a:xfrm>
          </p:grpSpPr>
          <p:cxnSp>
            <p:nvCxnSpPr>
              <p:cNvPr id="95" name="Straight Connector 94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Rectangle 95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9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6</a:t>
                </a:r>
              </a:p>
            </p:txBody>
          </p:sp>
        </p:grpSp>
        <p:grpSp>
          <p:nvGrpSpPr>
            <p:cNvPr id="24" name="Group 97"/>
            <p:cNvGrpSpPr/>
            <p:nvPr/>
          </p:nvGrpSpPr>
          <p:grpSpPr>
            <a:xfrm>
              <a:off x="4668143" y="3193139"/>
              <a:ext cx="342945" cy="261610"/>
              <a:chOff x="4398160" y="5470166"/>
              <a:chExt cx="342945" cy="261610"/>
            </a:xfrm>
          </p:grpSpPr>
          <p:cxnSp>
            <p:nvCxnSpPr>
              <p:cNvPr id="99" name="Straight Connector 9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Rectangle 9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1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7</a:t>
                </a:r>
              </a:p>
            </p:txBody>
          </p:sp>
        </p:grpSp>
        <p:grpSp>
          <p:nvGrpSpPr>
            <p:cNvPr id="53" name="Group 101"/>
            <p:cNvGrpSpPr/>
            <p:nvPr/>
          </p:nvGrpSpPr>
          <p:grpSpPr>
            <a:xfrm>
              <a:off x="4668143" y="2872319"/>
              <a:ext cx="342945" cy="261610"/>
              <a:chOff x="4398160" y="5470166"/>
              <a:chExt cx="342945" cy="261610"/>
            </a:xfrm>
          </p:grpSpPr>
          <p:cxnSp>
            <p:nvCxnSpPr>
              <p:cNvPr id="103" name="Straight Connector 102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Rectangle 103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5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8</a:t>
                </a:r>
              </a:p>
            </p:txBody>
          </p:sp>
        </p:grpSp>
        <p:grpSp>
          <p:nvGrpSpPr>
            <p:cNvPr id="54" name="Group 105"/>
            <p:cNvGrpSpPr/>
            <p:nvPr/>
          </p:nvGrpSpPr>
          <p:grpSpPr>
            <a:xfrm>
              <a:off x="4668143" y="2551499"/>
              <a:ext cx="342945" cy="261610"/>
              <a:chOff x="4398160" y="5470166"/>
              <a:chExt cx="342945" cy="261610"/>
            </a:xfrm>
          </p:grpSpPr>
          <p:cxnSp>
            <p:nvCxnSpPr>
              <p:cNvPr id="107" name="Straight Connector 106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Rectangle 107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9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9</a:t>
                </a:r>
              </a:p>
            </p:txBody>
          </p:sp>
        </p:grpSp>
        <p:grpSp>
          <p:nvGrpSpPr>
            <p:cNvPr id="55" name="Group 109"/>
            <p:cNvGrpSpPr/>
            <p:nvPr/>
          </p:nvGrpSpPr>
          <p:grpSpPr>
            <a:xfrm>
              <a:off x="4668143" y="2230679"/>
              <a:ext cx="342945" cy="261610"/>
              <a:chOff x="4398160" y="5470166"/>
              <a:chExt cx="342945" cy="261610"/>
            </a:xfrm>
          </p:grpSpPr>
          <p:cxnSp>
            <p:nvCxnSpPr>
              <p:cNvPr id="111" name="Straight Connector 110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Rectangle 111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13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10</a:t>
                </a:r>
              </a:p>
            </p:txBody>
          </p:sp>
        </p:grpSp>
        <p:sp>
          <p:nvSpPr>
            <p:cNvPr id="117" name="Rectangle 192"/>
            <p:cNvSpPr>
              <a:spLocks noChangeArrowheads="1"/>
            </p:cNvSpPr>
            <p:nvPr/>
          </p:nvSpPr>
          <p:spPr bwMode="auto">
            <a:xfrm>
              <a:off x="4630043" y="1983029"/>
              <a:ext cx="342945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/>
              <a:r>
                <a:rPr lang="en-GB" sz="1100" b="1" i="1" dirty="0">
                  <a:latin typeface="Arial" pitchFamily="34" charset="0"/>
                </a:rPr>
                <a:t>y</a:t>
              </a:r>
            </a:p>
          </p:txBody>
        </p:sp>
        <p:sp>
          <p:nvSpPr>
            <p:cNvPr id="118" name="Rectangle 192"/>
            <p:cNvSpPr>
              <a:spLocks noChangeArrowheads="1"/>
            </p:cNvSpPr>
            <p:nvPr/>
          </p:nvSpPr>
          <p:spPr bwMode="auto">
            <a:xfrm>
              <a:off x="8217793" y="5602529"/>
              <a:ext cx="342945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/>
              <a:r>
                <a:rPr lang="en-GB" sz="1100" b="1" i="1" dirty="0">
                  <a:latin typeface="Arial" pitchFamily="34" charset="0"/>
                </a:rPr>
                <a:t>x</a:t>
              </a:r>
            </a:p>
          </p:txBody>
        </p:sp>
        <p:grpSp>
          <p:nvGrpSpPr>
            <p:cNvPr id="56" name="Group 118"/>
            <p:cNvGrpSpPr/>
            <p:nvPr/>
          </p:nvGrpSpPr>
          <p:grpSpPr>
            <a:xfrm>
              <a:off x="4844605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0" name="Straight Connector 11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Rectangle 12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2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0</a:t>
                </a:r>
              </a:p>
            </p:txBody>
          </p:sp>
        </p:grpSp>
        <p:grpSp>
          <p:nvGrpSpPr>
            <p:cNvPr id="57" name="Group 122"/>
            <p:cNvGrpSpPr/>
            <p:nvPr/>
          </p:nvGrpSpPr>
          <p:grpSpPr>
            <a:xfrm>
              <a:off x="5165681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4" name="Straight Connector 123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Rectangle 124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26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1</a:t>
                </a:r>
              </a:p>
            </p:txBody>
          </p:sp>
        </p:grpSp>
        <p:grpSp>
          <p:nvGrpSpPr>
            <p:cNvPr id="58" name="Group 126"/>
            <p:cNvGrpSpPr/>
            <p:nvPr/>
          </p:nvGrpSpPr>
          <p:grpSpPr>
            <a:xfrm>
              <a:off x="5486757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8" name="Straight Connector 127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Rectangle 128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0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2</a:t>
                </a:r>
              </a:p>
            </p:txBody>
          </p:sp>
        </p:grpSp>
        <p:grpSp>
          <p:nvGrpSpPr>
            <p:cNvPr id="60" name="Group 130"/>
            <p:cNvGrpSpPr/>
            <p:nvPr/>
          </p:nvGrpSpPr>
          <p:grpSpPr>
            <a:xfrm>
              <a:off x="5807833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32" name="Straight Connector 131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Rectangle 132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4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3</a:t>
                </a:r>
              </a:p>
            </p:txBody>
          </p:sp>
        </p:grpSp>
        <p:grpSp>
          <p:nvGrpSpPr>
            <p:cNvPr id="61" name="Group 134"/>
            <p:cNvGrpSpPr/>
            <p:nvPr/>
          </p:nvGrpSpPr>
          <p:grpSpPr>
            <a:xfrm>
              <a:off x="6128909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36" name="Straight Connector 135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Rectangle 136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8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4</a:t>
                </a:r>
              </a:p>
            </p:txBody>
          </p:sp>
        </p:grpSp>
        <p:grpSp>
          <p:nvGrpSpPr>
            <p:cNvPr id="63" name="Group 138"/>
            <p:cNvGrpSpPr/>
            <p:nvPr/>
          </p:nvGrpSpPr>
          <p:grpSpPr>
            <a:xfrm>
              <a:off x="6449985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0" name="Straight Connector 13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Rectangle 14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4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5</a:t>
                </a:r>
              </a:p>
            </p:txBody>
          </p:sp>
        </p:grpSp>
        <p:grpSp>
          <p:nvGrpSpPr>
            <p:cNvPr id="64" name="Group 142"/>
            <p:cNvGrpSpPr/>
            <p:nvPr/>
          </p:nvGrpSpPr>
          <p:grpSpPr>
            <a:xfrm>
              <a:off x="6771061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4" name="Straight Connector 143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Rectangle 144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46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6</a:t>
                </a:r>
              </a:p>
            </p:txBody>
          </p:sp>
        </p:grpSp>
        <p:grpSp>
          <p:nvGrpSpPr>
            <p:cNvPr id="68" name="Group 146"/>
            <p:cNvGrpSpPr/>
            <p:nvPr/>
          </p:nvGrpSpPr>
          <p:grpSpPr>
            <a:xfrm>
              <a:off x="7092137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8" name="Straight Connector 147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Rectangle 148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0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7</a:t>
                </a:r>
              </a:p>
            </p:txBody>
          </p:sp>
        </p:grpSp>
        <p:grpSp>
          <p:nvGrpSpPr>
            <p:cNvPr id="71" name="Group 150"/>
            <p:cNvGrpSpPr/>
            <p:nvPr/>
          </p:nvGrpSpPr>
          <p:grpSpPr>
            <a:xfrm>
              <a:off x="7413213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52" name="Straight Connector 151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Rectangle 152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4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8</a:t>
                </a:r>
              </a:p>
            </p:txBody>
          </p:sp>
        </p:grpSp>
        <p:grpSp>
          <p:nvGrpSpPr>
            <p:cNvPr id="72" name="Group 154"/>
            <p:cNvGrpSpPr/>
            <p:nvPr/>
          </p:nvGrpSpPr>
          <p:grpSpPr>
            <a:xfrm>
              <a:off x="7734289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56" name="Straight Connector 155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Rectangle 156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8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9</a:t>
                </a:r>
              </a:p>
            </p:txBody>
          </p:sp>
        </p:grpSp>
        <p:grpSp>
          <p:nvGrpSpPr>
            <p:cNvPr id="73" name="Group 158"/>
            <p:cNvGrpSpPr/>
            <p:nvPr/>
          </p:nvGrpSpPr>
          <p:grpSpPr>
            <a:xfrm>
              <a:off x="8055362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60" name="Straight Connector 15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Rectangle 16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6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10</a:t>
                </a:r>
              </a:p>
            </p:txBody>
          </p:sp>
        </p:grpSp>
      </p:grpSp>
      <p:sp>
        <p:nvSpPr>
          <p:cNvPr id="15" name="TextBox 14"/>
          <p:cNvSpPr txBox="1"/>
          <p:nvPr/>
        </p:nvSpPr>
        <p:spPr>
          <a:xfrm>
            <a:off x="305526" y="1270655"/>
            <a:ext cx="8532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Arial" pitchFamily="34" charset="0"/>
              </a:rPr>
              <a:t>We describe a reflection by giving the </a:t>
            </a:r>
            <a:r>
              <a:rPr lang="en-GB" sz="1600" b="1" dirty="0">
                <a:solidFill>
                  <a:srgbClr val="990033"/>
                </a:solidFill>
                <a:latin typeface="Arial" pitchFamily="34" charset="0"/>
              </a:rPr>
              <a:t>MIRROR LINE.</a:t>
            </a:r>
            <a:endParaRPr lang="en-GB" sz="1600" b="1" dirty="0">
              <a:latin typeface="Arial" pitchFamily="34" charset="0"/>
            </a:endParaRPr>
          </a:p>
          <a:p>
            <a:pPr algn="ctr"/>
            <a:r>
              <a:rPr lang="en-GB" sz="1600" b="1" dirty="0">
                <a:latin typeface="Arial" pitchFamily="34" charset="0"/>
              </a:rPr>
              <a:t>(This could mean giving the equation of the line).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609" y="871992"/>
            <a:ext cx="8338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A Reflection reflects a shape in a mirror line.</a:t>
            </a:r>
          </a:p>
        </p:txBody>
      </p:sp>
      <p:sp>
        <p:nvSpPr>
          <p:cNvPr id="49" name="Rectangle 192"/>
          <p:cNvSpPr>
            <a:spLocks noChangeArrowheads="1"/>
          </p:cNvSpPr>
          <p:nvPr/>
        </p:nvSpPr>
        <p:spPr bwMode="auto">
          <a:xfrm>
            <a:off x="687691" y="3491611"/>
            <a:ext cx="32289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b="1" dirty="0">
                <a:latin typeface="Arial" pitchFamily="34" charset="0"/>
              </a:rPr>
              <a:t>The shape A was reflected:</a:t>
            </a:r>
          </a:p>
        </p:txBody>
      </p:sp>
      <p:sp>
        <p:nvSpPr>
          <p:cNvPr id="50" name="Rectangle 193"/>
          <p:cNvSpPr>
            <a:spLocks noChangeArrowheads="1"/>
          </p:cNvSpPr>
          <p:nvPr/>
        </p:nvSpPr>
        <p:spPr bwMode="auto">
          <a:xfrm>
            <a:off x="687691" y="3787427"/>
            <a:ext cx="322898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A50021"/>
                </a:solidFill>
                <a:latin typeface="Arial" pitchFamily="34" charset="0"/>
              </a:rPr>
              <a:t>In the vertical mirror line  </a:t>
            </a:r>
            <a:r>
              <a:rPr lang="en-GB" sz="2000" b="1" i="1" dirty="0">
                <a:solidFill>
                  <a:srgbClr val="A50021"/>
                </a:solidFill>
                <a:latin typeface="Arial" pitchFamily="34" charset="0"/>
              </a:rPr>
              <a:t>x  =  4  </a:t>
            </a:r>
          </a:p>
        </p:txBody>
      </p:sp>
      <p:sp>
        <p:nvSpPr>
          <p:cNvPr id="66" name="Rectangle 192"/>
          <p:cNvSpPr>
            <a:spLocks noChangeArrowheads="1"/>
          </p:cNvSpPr>
          <p:nvPr/>
        </p:nvSpPr>
        <p:spPr bwMode="auto">
          <a:xfrm>
            <a:off x="687691" y="3139355"/>
            <a:ext cx="144016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1600" i="1" dirty="0">
                <a:latin typeface="Arial" pitchFamily="34" charset="0"/>
              </a:rPr>
              <a:t>Example 1:</a:t>
            </a:r>
          </a:p>
        </p:txBody>
      </p:sp>
      <p:grpSp>
        <p:nvGrpSpPr>
          <p:cNvPr id="155" name="Group 154"/>
          <p:cNvGrpSpPr/>
          <p:nvPr/>
        </p:nvGrpSpPr>
        <p:grpSpPr>
          <a:xfrm>
            <a:off x="439390" y="2013170"/>
            <a:ext cx="3942607" cy="955659"/>
            <a:chOff x="546265" y="1930045"/>
            <a:chExt cx="3942607" cy="955659"/>
          </a:xfrm>
        </p:grpSpPr>
        <p:sp>
          <p:nvSpPr>
            <p:cNvPr id="151" name="Rounded Rectangle 150"/>
            <p:cNvSpPr/>
            <p:nvPr/>
          </p:nvSpPr>
          <p:spPr>
            <a:xfrm>
              <a:off x="546265" y="1930045"/>
              <a:ext cx="3942607" cy="955659"/>
            </a:xfrm>
            <a:prstGeom prst="roundRect">
              <a:avLst>
                <a:gd name="adj" fmla="val 22636"/>
              </a:avLst>
            </a:prstGeom>
            <a:gradFill flip="none" rotWithShape="1">
              <a:gsLst>
                <a:gs pos="0">
                  <a:schemeClr val="bg1"/>
                </a:gs>
                <a:gs pos="50000">
                  <a:schemeClr val="bg1"/>
                </a:gs>
                <a:gs pos="100000">
                  <a:srgbClr val="FFCCCC"/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620848" y="2038542"/>
              <a:ext cx="379344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Arial" pitchFamily="34" charset="0"/>
                </a:rPr>
                <a:t>Each point in the mirror image is the same distance from the mirror as the corresponding point in the original shape.</a:t>
              </a:r>
            </a:p>
          </p:txBody>
        </p:sp>
      </p:grpSp>
      <p:sp>
        <p:nvSpPr>
          <p:cNvPr id="163" name="Half Frame 162"/>
          <p:cNvSpPr/>
          <p:nvPr/>
        </p:nvSpPr>
        <p:spPr>
          <a:xfrm>
            <a:off x="5347764" y="3342095"/>
            <a:ext cx="624672" cy="1251304"/>
          </a:xfrm>
          <a:prstGeom prst="halfFrame">
            <a:avLst>
              <a:gd name="adj1" fmla="val 46868"/>
              <a:gd name="adj2" fmla="val 47369"/>
            </a:avLst>
          </a:prstGeom>
          <a:solidFill>
            <a:srgbClr val="A50021"/>
          </a:solidFill>
          <a:ln w="28575">
            <a:solidFill>
              <a:srgbClr val="99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  <a:latin typeface="Arial" pitchFamily="34" charset="0"/>
            </a:endParaRPr>
          </a:p>
        </p:txBody>
      </p:sp>
      <p:cxnSp>
        <p:nvCxnSpPr>
          <p:cNvPr id="165" name="Straight Connector 164"/>
          <p:cNvCxnSpPr/>
          <p:nvPr/>
        </p:nvCxnSpPr>
        <p:spPr>
          <a:xfrm>
            <a:off x="6294834" y="2390775"/>
            <a:ext cx="1" cy="320929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ectangle 193"/>
          <p:cNvSpPr>
            <a:spLocks noChangeArrowheads="1"/>
          </p:cNvSpPr>
          <p:nvPr/>
        </p:nvSpPr>
        <p:spPr bwMode="auto">
          <a:xfrm>
            <a:off x="5743575" y="1996727"/>
            <a:ext cx="11335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b="1" i="1" dirty="0">
                <a:solidFill>
                  <a:srgbClr val="A50021"/>
                </a:solidFill>
                <a:latin typeface="Arial" pitchFamily="34" charset="0"/>
              </a:rPr>
              <a:t>x  =  4  </a:t>
            </a:r>
          </a:p>
        </p:txBody>
      </p:sp>
      <p:sp>
        <p:nvSpPr>
          <p:cNvPr id="172" name="Rectangle 192"/>
          <p:cNvSpPr>
            <a:spLocks noChangeArrowheads="1"/>
          </p:cNvSpPr>
          <p:nvPr/>
        </p:nvSpPr>
        <p:spPr bwMode="auto">
          <a:xfrm>
            <a:off x="687691" y="4511272"/>
            <a:ext cx="32289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b="1" dirty="0">
                <a:latin typeface="Arial" pitchFamily="34" charset="0"/>
              </a:rPr>
              <a:t>To give Shape B</a:t>
            </a:r>
          </a:p>
        </p:txBody>
      </p:sp>
      <p:sp>
        <p:nvSpPr>
          <p:cNvPr id="173" name="Rectangle 192"/>
          <p:cNvSpPr>
            <a:spLocks noChangeArrowheads="1"/>
          </p:cNvSpPr>
          <p:nvPr/>
        </p:nvSpPr>
        <p:spPr bwMode="auto">
          <a:xfrm>
            <a:off x="5346700" y="3320161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</a:rPr>
              <a:t>A</a:t>
            </a:r>
          </a:p>
        </p:txBody>
      </p:sp>
      <p:sp>
        <p:nvSpPr>
          <p:cNvPr id="174" name="Half Frame 173"/>
          <p:cNvSpPr/>
          <p:nvPr/>
        </p:nvSpPr>
        <p:spPr>
          <a:xfrm flipH="1">
            <a:off x="6624114" y="3342095"/>
            <a:ext cx="624672" cy="1251304"/>
          </a:xfrm>
          <a:prstGeom prst="halfFrame">
            <a:avLst>
              <a:gd name="adj1" fmla="val 46868"/>
              <a:gd name="adj2" fmla="val 47369"/>
            </a:avLst>
          </a:prstGeom>
          <a:solidFill>
            <a:srgbClr val="A50021"/>
          </a:solidFill>
          <a:ln w="28575">
            <a:solidFill>
              <a:srgbClr val="99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75" name="Rectangle 192"/>
          <p:cNvSpPr>
            <a:spLocks noChangeArrowheads="1"/>
          </p:cNvSpPr>
          <p:nvPr/>
        </p:nvSpPr>
        <p:spPr bwMode="auto">
          <a:xfrm>
            <a:off x="6855086" y="3320161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</a:rPr>
              <a:t>B</a:t>
            </a:r>
          </a:p>
        </p:txBody>
      </p:sp>
      <p:grpSp>
        <p:nvGrpSpPr>
          <p:cNvPr id="159" name="Group 15"/>
          <p:cNvGrpSpPr/>
          <p:nvPr/>
        </p:nvGrpSpPr>
        <p:grpSpPr>
          <a:xfrm>
            <a:off x="400050" y="208911"/>
            <a:ext cx="8343900" cy="504056"/>
            <a:chOff x="395536" y="1409582"/>
            <a:chExt cx="5544616" cy="504056"/>
          </a:xfrm>
        </p:grpSpPr>
        <p:sp>
          <p:nvSpPr>
            <p:cNvPr id="164" name="Rounded Rectangle 163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(3)  Reflections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5" grpId="0"/>
      <p:bldP spid="9" grpId="0"/>
      <p:bldP spid="49" grpId="0"/>
      <p:bldP spid="50" grpId="0"/>
      <p:bldP spid="66" grpId="0"/>
      <p:bldP spid="163" grpId="0" animBg="1"/>
      <p:bldP spid="166" grpId="1"/>
      <p:bldP spid="172" grpId="0"/>
      <p:bldP spid="173" grpId="1"/>
      <p:bldP spid="174" grpId="0" animBg="1"/>
      <p:bldP spid="17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65022" y="872716"/>
            <a:ext cx="8613957" cy="5292588"/>
          </a:xfrm>
          <a:prstGeom prst="roundRect">
            <a:avLst>
              <a:gd name="adj" fmla="val 5211"/>
            </a:avLst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2" name="Group 166"/>
          <p:cNvGrpSpPr/>
          <p:nvPr/>
        </p:nvGrpSpPr>
        <p:grpSpPr>
          <a:xfrm>
            <a:off x="4630043" y="1983029"/>
            <a:ext cx="3934768" cy="3929602"/>
            <a:chOff x="4630043" y="1983029"/>
            <a:chExt cx="3934768" cy="3929602"/>
          </a:xfrm>
        </p:grpSpPr>
        <p:grpSp>
          <p:nvGrpSpPr>
            <p:cNvPr id="3" name="Group 188"/>
            <p:cNvGrpSpPr>
              <a:grpSpLocks/>
            </p:cNvGrpSpPr>
            <p:nvPr/>
          </p:nvGrpSpPr>
          <p:grpSpPr bwMode="auto">
            <a:xfrm>
              <a:off x="4677023" y="2024844"/>
              <a:ext cx="3887788" cy="3887787"/>
              <a:chOff x="3198" y="1729"/>
              <a:chExt cx="2449" cy="2449"/>
            </a:xfrm>
          </p:grpSpPr>
          <p:sp>
            <p:nvSpPr>
              <p:cNvPr id="22" name="Rectangle 184"/>
              <p:cNvSpPr>
                <a:spLocks noChangeArrowheads="1"/>
              </p:cNvSpPr>
              <p:nvPr/>
            </p:nvSpPr>
            <p:spPr bwMode="auto">
              <a:xfrm>
                <a:off x="3198" y="1729"/>
                <a:ext cx="2449" cy="244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grpSp>
            <p:nvGrpSpPr>
              <p:cNvPr id="4" name="Group 186"/>
              <p:cNvGrpSpPr>
                <a:grpSpLocks/>
              </p:cNvGrpSpPr>
              <p:nvPr/>
            </p:nvGrpSpPr>
            <p:grpSpPr bwMode="auto">
              <a:xfrm>
                <a:off x="3243" y="1942"/>
                <a:ext cx="2359" cy="2021"/>
                <a:chOff x="3243" y="1942"/>
                <a:chExt cx="2359" cy="2021"/>
              </a:xfrm>
            </p:grpSpPr>
            <p:sp>
              <p:nvSpPr>
                <p:cNvPr id="36" name="Line 155"/>
                <p:cNvSpPr>
                  <a:spLocks noChangeShapeType="1"/>
                </p:cNvSpPr>
                <p:nvPr/>
              </p:nvSpPr>
              <p:spPr bwMode="auto">
                <a:xfrm>
                  <a:off x="3243" y="2548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7" name="Line 156"/>
                <p:cNvSpPr>
                  <a:spLocks noChangeShapeType="1"/>
                </p:cNvSpPr>
                <p:nvPr/>
              </p:nvSpPr>
              <p:spPr bwMode="auto">
                <a:xfrm>
                  <a:off x="3243" y="2750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8" name="Line 157"/>
                <p:cNvSpPr>
                  <a:spLocks noChangeShapeType="1"/>
                </p:cNvSpPr>
                <p:nvPr/>
              </p:nvSpPr>
              <p:spPr bwMode="auto">
                <a:xfrm>
                  <a:off x="3243" y="2952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9" name="Line 158"/>
                <p:cNvSpPr>
                  <a:spLocks noChangeShapeType="1"/>
                </p:cNvSpPr>
                <p:nvPr/>
              </p:nvSpPr>
              <p:spPr bwMode="auto">
                <a:xfrm>
                  <a:off x="3243" y="31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0" name="Line 160"/>
                <p:cNvSpPr>
                  <a:spLocks noChangeShapeType="1"/>
                </p:cNvSpPr>
                <p:nvPr/>
              </p:nvSpPr>
              <p:spPr bwMode="auto">
                <a:xfrm>
                  <a:off x="3243" y="3356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1" name="Line 161"/>
                <p:cNvSpPr>
                  <a:spLocks noChangeShapeType="1"/>
                </p:cNvSpPr>
                <p:nvPr/>
              </p:nvSpPr>
              <p:spPr bwMode="auto">
                <a:xfrm>
                  <a:off x="3243" y="3558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2" name="Line 162"/>
                <p:cNvSpPr>
                  <a:spLocks noChangeShapeType="1"/>
                </p:cNvSpPr>
                <p:nvPr/>
              </p:nvSpPr>
              <p:spPr bwMode="auto">
                <a:xfrm>
                  <a:off x="3243" y="3760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3" name="Line 164"/>
                <p:cNvSpPr>
                  <a:spLocks noChangeShapeType="1"/>
                </p:cNvSpPr>
                <p:nvPr/>
              </p:nvSpPr>
              <p:spPr bwMode="auto">
                <a:xfrm>
                  <a:off x="3243" y="3963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4" name="Line 165"/>
                <p:cNvSpPr>
                  <a:spLocks noChangeShapeType="1"/>
                </p:cNvSpPr>
                <p:nvPr/>
              </p:nvSpPr>
              <p:spPr bwMode="auto">
                <a:xfrm>
                  <a:off x="3243" y="1942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5" name="Line 166"/>
                <p:cNvSpPr>
                  <a:spLocks noChangeShapeType="1"/>
                </p:cNvSpPr>
                <p:nvPr/>
              </p:nvSpPr>
              <p:spPr bwMode="auto">
                <a:xfrm>
                  <a:off x="3243" y="214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6" name="Line 167"/>
                <p:cNvSpPr>
                  <a:spLocks noChangeShapeType="1"/>
                </p:cNvSpPr>
                <p:nvPr/>
              </p:nvSpPr>
              <p:spPr bwMode="auto">
                <a:xfrm>
                  <a:off x="3243" y="2346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6" name="Group 187"/>
              <p:cNvGrpSpPr>
                <a:grpSpLocks/>
              </p:cNvGrpSpPr>
              <p:nvPr/>
            </p:nvGrpSpPr>
            <p:grpSpPr bwMode="auto">
              <a:xfrm>
                <a:off x="3413" y="1774"/>
                <a:ext cx="2021" cy="2359"/>
                <a:chOff x="3413" y="1774"/>
                <a:chExt cx="2021" cy="2359"/>
              </a:xfrm>
            </p:grpSpPr>
            <p:sp>
              <p:nvSpPr>
                <p:cNvPr id="25" name="Line 171"/>
                <p:cNvSpPr>
                  <a:spLocks noChangeShapeType="1"/>
                </p:cNvSpPr>
                <p:nvPr/>
              </p:nvSpPr>
              <p:spPr bwMode="auto">
                <a:xfrm rot="16200000">
                  <a:off x="2637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6" name="Line 172"/>
                <p:cNvSpPr>
                  <a:spLocks noChangeShapeType="1"/>
                </p:cNvSpPr>
                <p:nvPr/>
              </p:nvSpPr>
              <p:spPr bwMode="auto">
                <a:xfrm rot="16200000">
                  <a:off x="2839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7" name="Line 173"/>
                <p:cNvSpPr>
                  <a:spLocks noChangeShapeType="1"/>
                </p:cNvSpPr>
                <p:nvPr/>
              </p:nvSpPr>
              <p:spPr bwMode="auto">
                <a:xfrm rot="16200000">
                  <a:off x="3041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8" name="Line 174"/>
                <p:cNvSpPr>
                  <a:spLocks noChangeShapeType="1"/>
                </p:cNvSpPr>
                <p:nvPr/>
              </p:nvSpPr>
              <p:spPr bwMode="auto">
                <a:xfrm rot="16200000">
                  <a:off x="3243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9" name="Line 175"/>
                <p:cNvSpPr>
                  <a:spLocks noChangeShapeType="1"/>
                </p:cNvSpPr>
                <p:nvPr/>
              </p:nvSpPr>
              <p:spPr bwMode="auto">
                <a:xfrm rot="16200000">
                  <a:off x="3445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0" name="Line 176"/>
                <p:cNvSpPr>
                  <a:spLocks noChangeShapeType="1"/>
                </p:cNvSpPr>
                <p:nvPr/>
              </p:nvSpPr>
              <p:spPr bwMode="auto">
                <a:xfrm rot="16200000">
                  <a:off x="3647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1" name="Line 177"/>
                <p:cNvSpPr>
                  <a:spLocks noChangeShapeType="1"/>
                </p:cNvSpPr>
                <p:nvPr/>
              </p:nvSpPr>
              <p:spPr bwMode="auto">
                <a:xfrm rot="16200000">
                  <a:off x="3849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2" name="Line 178"/>
                <p:cNvSpPr>
                  <a:spLocks noChangeShapeType="1"/>
                </p:cNvSpPr>
                <p:nvPr/>
              </p:nvSpPr>
              <p:spPr bwMode="auto">
                <a:xfrm rot="16200000">
                  <a:off x="4051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3" name="Line 179"/>
                <p:cNvSpPr>
                  <a:spLocks noChangeShapeType="1"/>
                </p:cNvSpPr>
                <p:nvPr/>
              </p:nvSpPr>
              <p:spPr bwMode="auto">
                <a:xfrm rot="16200000">
                  <a:off x="4254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4" name="Line 180"/>
                <p:cNvSpPr>
                  <a:spLocks noChangeShapeType="1"/>
                </p:cNvSpPr>
                <p:nvPr/>
              </p:nvSpPr>
              <p:spPr bwMode="auto">
                <a:xfrm rot="16200000">
                  <a:off x="2233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5" name="Line 182"/>
                <p:cNvSpPr>
                  <a:spLocks noChangeShapeType="1"/>
                </p:cNvSpPr>
                <p:nvPr/>
              </p:nvSpPr>
              <p:spPr bwMode="auto">
                <a:xfrm rot="16200000">
                  <a:off x="2435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</p:grpSp>
        </p:grpSp>
        <p:sp>
          <p:nvSpPr>
            <p:cNvPr id="59" name="Line 201"/>
            <p:cNvSpPr>
              <a:spLocks noChangeShapeType="1"/>
            </p:cNvSpPr>
            <p:nvPr/>
          </p:nvSpPr>
          <p:spPr bwMode="auto">
            <a:xfrm flipV="1">
              <a:off x="5020634" y="2156346"/>
              <a:ext cx="0" cy="341194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dirty="0">
                <a:latin typeface="Arial" pitchFamily="34" charset="0"/>
              </a:endParaRPr>
            </a:p>
          </p:txBody>
        </p:sp>
        <p:sp>
          <p:nvSpPr>
            <p:cNvPr id="62" name="Line 201"/>
            <p:cNvSpPr>
              <a:spLocks noChangeShapeType="1"/>
            </p:cNvSpPr>
            <p:nvPr/>
          </p:nvSpPr>
          <p:spPr bwMode="auto">
            <a:xfrm rot="5400000" flipV="1">
              <a:off x="6699771" y="3864591"/>
              <a:ext cx="0" cy="341194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dirty="0">
                <a:latin typeface="Arial" pitchFamily="34" charset="0"/>
              </a:endParaRPr>
            </a:p>
          </p:txBody>
        </p:sp>
        <p:grpSp>
          <p:nvGrpSpPr>
            <p:cNvPr id="7" name="Group 70"/>
            <p:cNvGrpSpPr/>
            <p:nvPr/>
          </p:nvGrpSpPr>
          <p:grpSpPr>
            <a:xfrm>
              <a:off x="4668143" y="5438875"/>
              <a:ext cx="342945" cy="261610"/>
              <a:chOff x="4398160" y="5470166"/>
              <a:chExt cx="342945" cy="26161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Rectangle 6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6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0</a:t>
                </a:r>
              </a:p>
            </p:txBody>
          </p:sp>
        </p:grpSp>
        <p:grpSp>
          <p:nvGrpSpPr>
            <p:cNvPr id="16" name="Group 73"/>
            <p:cNvGrpSpPr/>
            <p:nvPr/>
          </p:nvGrpSpPr>
          <p:grpSpPr>
            <a:xfrm>
              <a:off x="4668143" y="5118059"/>
              <a:ext cx="342945" cy="261610"/>
              <a:chOff x="4398160" y="5470166"/>
              <a:chExt cx="342945" cy="261610"/>
            </a:xfrm>
          </p:grpSpPr>
          <p:cxnSp>
            <p:nvCxnSpPr>
              <p:cNvPr id="75" name="Straight Connector 74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Rectangle 75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1</a:t>
                </a:r>
              </a:p>
            </p:txBody>
          </p:sp>
        </p:grpSp>
        <p:grpSp>
          <p:nvGrpSpPr>
            <p:cNvPr id="17" name="Group 77"/>
            <p:cNvGrpSpPr/>
            <p:nvPr/>
          </p:nvGrpSpPr>
          <p:grpSpPr>
            <a:xfrm>
              <a:off x="4668143" y="4797239"/>
              <a:ext cx="342945" cy="261610"/>
              <a:chOff x="4398160" y="5470166"/>
              <a:chExt cx="342945" cy="261610"/>
            </a:xfrm>
          </p:grpSpPr>
          <p:cxnSp>
            <p:nvCxnSpPr>
              <p:cNvPr id="79" name="Straight Connector 7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Rectangle 7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1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2</a:t>
                </a:r>
              </a:p>
            </p:txBody>
          </p:sp>
        </p:grpSp>
        <p:grpSp>
          <p:nvGrpSpPr>
            <p:cNvPr id="18" name="Group 81"/>
            <p:cNvGrpSpPr/>
            <p:nvPr/>
          </p:nvGrpSpPr>
          <p:grpSpPr>
            <a:xfrm>
              <a:off x="4668143" y="4476419"/>
              <a:ext cx="342945" cy="261610"/>
              <a:chOff x="4398160" y="5470166"/>
              <a:chExt cx="342945" cy="261610"/>
            </a:xfrm>
          </p:grpSpPr>
          <p:cxnSp>
            <p:nvCxnSpPr>
              <p:cNvPr id="83" name="Straight Connector 82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Rectangle 83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5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3</a:t>
                </a:r>
              </a:p>
            </p:txBody>
          </p:sp>
        </p:grpSp>
        <p:grpSp>
          <p:nvGrpSpPr>
            <p:cNvPr id="19" name="Group 85"/>
            <p:cNvGrpSpPr/>
            <p:nvPr/>
          </p:nvGrpSpPr>
          <p:grpSpPr>
            <a:xfrm>
              <a:off x="4668143" y="4155599"/>
              <a:ext cx="342945" cy="261610"/>
              <a:chOff x="4398160" y="5470166"/>
              <a:chExt cx="342945" cy="261610"/>
            </a:xfrm>
          </p:grpSpPr>
          <p:cxnSp>
            <p:nvCxnSpPr>
              <p:cNvPr id="87" name="Straight Connector 86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Rectangle 87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9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4</a:t>
                </a:r>
              </a:p>
            </p:txBody>
          </p:sp>
        </p:grpSp>
        <p:grpSp>
          <p:nvGrpSpPr>
            <p:cNvPr id="21" name="Group 89"/>
            <p:cNvGrpSpPr/>
            <p:nvPr/>
          </p:nvGrpSpPr>
          <p:grpSpPr>
            <a:xfrm>
              <a:off x="4668143" y="3834779"/>
              <a:ext cx="342945" cy="261610"/>
              <a:chOff x="4398160" y="5470166"/>
              <a:chExt cx="342945" cy="261610"/>
            </a:xfrm>
          </p:grpSpPr>
          <p:cxnSp>
            <p:nvCxnSpPr>
              <p:cNvPr id="91" name="Straight Connector 90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ectangle 91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93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5</a:t>
                </a:r>
              </a:p>
            </p:txBody>
          </p:sp>
        </p:grpSp>
        <p:grpSp>
          <p:nvGrpSpPr>
            <p:cNvPr id="23" name="Group 93"/>
            <p:cNvGrpSpPr/>
            <p:nvPr/>
          </p:nvGrpSpPr>
          <p:grpSpPr>
            <a:xfrm>
              <a:off x="4668143" y="3513959"/>
              <a:ext cx="342945" cy="261610"/>
              <a:chOff x="4398160" y="5470166"/>
              <a:chExt cx="342945" cy="261610"/>
            </a:xfrm>
          </p:grpSpPr>
          <p:cxnSp>
            <p:nvCxnSpPr>
              <p:cNvPr id="95" name="Straight Connector 94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Rectangle 95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9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6</a:t>
                </a:r>
              </a:p>
            </p:txBody>
          </p:sp>
        </p:grpSp>
        <p:grpSp>
          <p:nvGrpSpPr>
            <p:cNvPr id="24" name="Group 97"/>
            <p:cNvGrpSpPr/>
            <p:nvPr/>
          </p:nvGrpSpPr>
          <p:grpSpPr>
            <a:xfrm>
              <a:off x="4668143" y="3193139"/>
              <a:ext cx="342945" cy="261610"/>
              <a:chOff x="4398160" y="5470166"/>
              <a:chExt cx="342945" cy="261610"/>
            </a:xfrm>
          </p:grpSpPr>
          <p:cxnSp>
            <p:nvCxnSpPr>
              <p:cNvPr id="99" name="Straight Connector 9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Rectangle 9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1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7</a:t>
                </a:r>
              </a:p>
            </p:txBody>
          </p:sp>
        </p:grpSp>
        <p:grpSp>
          <p:nvGrpSpPr>
            <p:cNvPr id="47" name="Group 101"/>
            <p:cNvGrpSpPr/>
            <p:nvPr/>
          </p:nvGrpSpPr>
          <p:grpSpPr>
            <a:xfrm>
              <a:off x="4668143" y="2872319"/>
              <a:ext cx="342945" cy="261610"/>
              <a:chOff x="4398160" y="5470166"/>
              <a:chExt cx="342945" cy="261610"/>
            </a:xfrm>
          </p:grpSpPr>
          <p:cxnSp>
            <p:nvCxnSpPr>
              <p:cNvPr id="103" name="Straight Connector 102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Rectangle 103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5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8</a:t>
                </a:r>
              </a:p>
            </p:txBody>
          </p:sp>
        </p:grpSp>
        <p:grpSp>
          <p:nvGrpSpPr>
            <p:cNvPr id="48" name="Group 105"/>
            <p:cNvGrpSpPr/>
            <p:nvPr/>
          </p:nvGrpSpPr>
          <p:grpSpPr>
            <a:xfrm>
              <a:off x="4668143" y="2551499"/>
              <a:ext cx="342945" cy="261610"/>
              <a:chOff x="4398160" y="5470166"/>
              <a:chExt cx="342945" cy="261610"/>
            </a:xfrm>
          </p:grpSpPr>
          <p:cxnSp>
            <p:nvCxnSpPr>
              <p:cNvPr id="107" name="Straight Connector 106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Rectangle 107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9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9</a:t>
                </a:r>
              </a:p>
            </p:txBody>
          </p:sp>
        </p:grpSp>
        <p:grpSp>
          <p:nvGrpSpPr>
            <p:cNvPr id="51" name="Group 109"/>
            <p:cNvGrpSpPr/>
            <p:nvPr/>
          </p:nvGrpSpPr>
          <p:grpSpPr>
            <a:xfrm>
              <a:off x="4668143" y="2230679"/>
              <a:ext cx="342945" cy="261610"/>
              <a:chOff x="4398160" y="5470166"/>
              <a:chExt cx="342945" cy="261610"/>
            </a:xfrm>
          </p:grpSpPr>
          <p:cxnSp>
            <p:nvCxnSpPr>
              <p:cNvPr id="111" name="Straight Connector 110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Rectangle 111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13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10</a:t>
                </a:r>
              </a:p>
            </p:txBody>
          </p:sp>
        </p:grpSp>
        <p:sp>
          <p:nvSpPr>
            <p:cNvPr id="117" name="Rectangle 192"/>
            <p:cNvSpPr>
              <a:spLocks noChangeArrowheads="1"/>
            </p:cNvSpPr>
            <p:nvPr/>
          </p:nvSpPr>
          <p:spPr bwMode="auto">
            <a:xfrm>
              <a:off x="4630043" y="1983029"/>
              <a:ext cx="342945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/>
              <a:r>
                <a:rPr lang="en-GB" sz="1100" b="1" i="1" dirty="0">
                  <a:latin typeface="Arial" pitchFamily="34" charset="0"/>
                </a:rPr>
                <a:t>y</a:t>
              </a:r>
            </a:p>
          </p:txBody>
        </p:sp>
        <p:sp>
          <p:nvSpPr>
            <p:cNvPr id="118" name="Rectangle 192"/>
            <p:cNvSpPr>
              <a:spLocks noChangeArrowheads="1"/>
            </p:cNvSpPr>
            <p:nvPr/>
          </p:nvSpPr>
          <p:spPr bwMode="auto">
            <a:xfrm>
              <a:off x="8217793" y="5602529"/>
              <a:ext cx="342945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/>
              <a:r>
                <a:rPr lang="en-GB" sz="1100" b="1" i="1" dirty="0">
                  <a:latin typeface="Arial" pitchFamily="34" charset="0"/>
                </a:rPr>
                <a:t>x</a:t>
              </a:r>
            </a:p>
          </p:txBody>
        </p:sp>
        <p:grpSp>
          <p:nvGrpSpPr>
            <p:cNvPr id="52" name="Group 118"/>
            <p:cNvGrpSpPr/>
            <p:nvPr/>
          </p:nvGrpSpPr>
          <p:grpSpPr>
            <a:xfrm>
              <a:off x="4844605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0" name="Straight Connector 11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Rectangle 12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2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0</a:t>
                </a:r>
              </a:p>
            </p:txBody>
          </p:sp>
        </p:grpSp>
        <p:grpSp>
          <p:nvGrpSpPr>
            <p:cNvPr id="53" name="Group 122"/>
            <p:cNvGrpSpPr/>
            <p:nvPr/>
          </p:nvGrpSpPr>
          <p:grpSpPr>
            <a:xfrm>
              <a:off x="5165681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4" name="Straight Connector 123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Rectangle 124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26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1</a:t>
                </a:r>
              </a:p>
            </p:txBody>
          </p:sp>
        </p:grpSp>
        <p:grpSp>
          <p:nvGrpSpPr>
            <p:cNvPr id="54" name="Group 126"/>
            <p:cNvGrpSpPr/>
            <p:nvPr/>
          </p:nvGrpSpPr>
          <p:grpSpPr>
            <a:xfrm>
              <a:off x="5486757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8" name="Straight Connector 127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Rectangle 128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0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2</a:t>
                </a:r>
              </a:p>
            </p:txBody>
          </p:sp>
        </p:grpSp>
        <p:grpSp>
          <p:nvGrpSpPr>
            <p:cNvPr id="55" name="Group 130"/>
            <p:cNvGrpSpPr/>
            <p:nvPr/>
          </p:nvGrpSpPr>
          <p:grpSpPr>
            <a:xfrm>
              <a:off x="5807833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32" name="Straight Connector 131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Rectangle 132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4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3</a:t>
                </a:r>
              </a:p>
            </p:txBody>
          </p:sp>
        </p:grpSp>
        <p:grpSp>
          <p:nvGrpSpPr>
            <p:cNvPr id="56" name="Group 134"/>
            <p:cNvGrpSpPr/>
            <p:nvPr/>
          </p:nvGrpSpPr>
          <p:grpSpPr>
            <a:xfrm>
              <a:off x="6128909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36" name="Straight Connector 135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Rectangle 136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8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4</a:t>
                </a:r>
              </a:p>
            </p:txBody>
          </p:sp>
        </p:grpSp>
        <p:grpSp>
          <p:nvGrpSpPr>
            <p:cNvPr id="57" name="Group 138"/>
            <p:cNvGrpSpPr/>
            <p:nvPr/>
          </p:nvGrpSpPr>
          <p:grpSpPr>
            <a:xfrm>
              <a:off x="6449985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0" name="Straight Connector 13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Rectangle 14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4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5</a:t>
                </a:r>
              </a:p>
            </p:txBody>
          </p:sp>
        </p:grpSp>
        <p:grpSp>
          <p:nvGrpSpPr>
            <p:cNvPr id="58" name="Group 142"/>
            <p:cNvGrpSpPr/>
            <p:nvPr/>
          </p:nvGrpSpPr>
          <p:grpSpPr>
            <a:xfrm>
              <a:off x="6771061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4" name="Straight Connector 143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Rectangle 144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46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6</a:t>
                </a:r>
              </a:p>
            </p:txBody>
          </p:sp>
        </p:grpSp>
        <p:grpSp>
          <p:nvGrpSpPr>
            <p:cNvPr id="60" name="Group 146"/>
            <p:cNvGrpSpPr/>
            <p:nvPr/>
          </p:nvGrpSpPr>
          <p:grpSpPr>
            <a:xfrm>
              <a:off x="7092137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8" name="Straight Connector 147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Rectangle 148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0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7</a:t>
                </a:r>
              </a:p>
            </p:txBody>
          </p:sp>
        </p:grpSp>
        <p:grpSp>
          <p:nvGrpSpPr>
            <p:cNvPr id="61" name="Group 150"/>
            <p:cNvGrpSpPr/>
            <p:nvPr/>
          </p:nvGrpSpPr>
          <p:grpSpPr>
            <a:xfrm>
              <a:off x="7413213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52" name="Straight Connector 151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Rectangle 152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4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8</a:t>
                </a:r>
              </a:p>
            </p:txBody>
          </p:sp>
        </p:grpSp>
        <p:grpSp>
          <p:nvGrpSpPr>
            <p:cNvPr id="63" name="Group 154"/>
            <p:cNvGrpSpPr/>
            <p:nvPr/>
          </p:nvGrpSpPr>
          <p:grpSpPr>
            <a:xfrm>
              <a:off x="7734289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56" name="Straight Connector 155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Rectangle 156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8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9</a:t>
                </a:r>
              </a:p>
            </p:txBody>
          </p:sp>
        </p:grpSp>
        <p:grpSp>
          <p:nvGrpSpPr>
            <p:cNvPr id="64" name="Group 158"/>
            <p:cNvGrpSpPr/>
            <p:nvPr/>
          </p:nvGrpSpPr>
          <p:grpSpPr>
            <a:xfrm>
              <a:off x="8055362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60" name="Straight Connector 15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Rectangle 16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6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10</a:t>
                </a:r>
              </a:p>
            </p:txBody>
          </p:sp>
        </p:grpSp>
      </p:grpSp>
      <p:sp>
        <p:nvSpPr>
          <p:cNvPr id="15" name="TextBox 14"/>
          <p:cNvSpPr txBox="1"/>
          <p:nvPr/>
        </p:nvSpPr>
        <p:spPr>
          <a:xfrm>
            <a:off x="305526" y="1270655"/>
            <a:ext cx="8532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Arial" pitchFamily="34" charset="0"/>
              </a:rPr>
              <a:t>We describe a reflection by giving the </a:t>
            </a:r>
            <a:r>
              <a:rPr lang="en-GB" sz="1600" b="1" dirty="0">
                <a:solidFill>
                  <a:srgbClr val="990033"/>
                </a:solidFill>
                <a:latin typeface="Arial" pitchFamily="34" charset="0"/>
              </a:rPr>
              <a:t>MIRROR LINE.</a:t>
            </a:r>
            <a:endParaRPr lang="en-GB" sz="1600" b="1" dirty="0">
              <a:latin typeface="Arial" pitchFamily="34" charset="0"/>
            </a:endParaRPr>
          </a:p>
          <a:p>
            <a:pPr algn="ctr"/>
            <a:r>
              <a:rPr lang="en-GB" sz="1600" b="1" dirty="0">
                <a:latin typeface="Arial" pitchFamily="34" charset="0"/>
              </a:rPr>
              <a:t>(This could mean giving the equation of the line).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609" y="871992"/>
            <a:ext cx="8338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A Reflection reflects a shape in a mirror line.</a:t>
            </a:r>
          </a:p>
        </p:txBody>
      </p:sp>
      <p:sp>
        <p:nvSpPr>
          <p:cNvPr id="49" name="Rectangle 192"/>
          <p:cNvSpPr>
            <a:spLocks noChangeArrowheads="1"/>
          </p:cNvSpPr>
          <p:nvPr/>
        </p:nvSpPr>
        <p:spPr bwMode="auto">
          <a:xfrm>
            <a:off x="687691" y="3491611"/>
            <a:ext cx="32289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b="1" dirty="0">
                <a:latin typeface="Arial" pitchFamily="34" charset="0"/>
              </a:rPr>
              <a:t>The shape A was reflected:</a:t>
            </a:r>
          </a:p>
        </p:txBody>
      </p:sp>
      <p:sp>
        <p:nvSpPr>
          <p:cNvPr id="50" name="Rectangle 193"/>
          <p:cNvSpPr>
            <a:spLocks noChangeArrowheads="1"/>
          </p:cNvSpPr>
          <p:nvPr/>
        </p:nvSpPr>
        <p:spPr bwMode="auto">
          <a:xfrm>
            <a:off x="687691" y="3787427"/>
            <a:ext cx="322898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A50021"/>
                </a:solidFill>
                <a:latin typeface="Arial" pitchFamily="34" charset="0"/>
              </a:rPr>
              <a:t>In the horizontal mirror line  </a:t>
            </a:r>
            <a:r>
              <a:rPr lang="en-GB" sz="2000" b="1" i="1" dirty="0">
                <a:solidFill>
                  <a:srgbClr val="A50021"/>
                </a:solidFill>
                <a:latin typeface="Arial" pitchFamily="34" charset="0"/>
              </a:rPr>
              <a:t>y  =  6  </a:t>
            </a:r>
          </a:p>
        </p:txBody>
      </p:sp>
      <p:sp>
        <p:nvSpPr>
          <p:cNvPr id="66" name="Rectangle 192"/>
          <p:cNvSpPr>
            <a:spLocks noChangeArrowheads="1"/>
          </p:cNvSpPr>
          <p:nvPr/>
        </p:nvSpPr>
        <p:spPr bwMode="auto">
          <a:xfrm>
            <a:off x="687691" y="3139355"/>
            <a:ext cx="144016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1600" i="1" dirty="0">
                <a:latin typeface="Arial" pitchFamily="34" charset="0"/>
              </a:rPr>
              <a:t>Example 2:</a:t>
            </a:r>
          </a:p>
        </p:txBody>
      </p:sp>
      <p:grpSp>
        <p:nvGrpSpPr>
          <p:cNvPr id="65" name="Group 154"/>
          <p:cNvGrpSpPr/>
          <p:nvPr/>
        </p:nvGrpSpPr>
        <p:grpSpPr>
          <a:xfrm>
            <a:off x="439390" y="2013170"/>
            <a:ext cx="3942607" cy="955659"/>
            <a:chOff x="546265" y="1930045"/>
            <a:chExt cx="3942607" cy="955659"/>
          </a:xfrm>
        </p:grpSpPr>
        <p:sp>
          <p:nvSpPr>
            <p:cNvPr id="151" name="Rounded Rectangle 150"/>
            <p:cNvSpPr/>
            <p:nvPr/>
          </p:nvSpPr>
          <p:spPr>
            <a:xfrm>
              <a:off x="546265" y="1930045"/>
              <a:ext cx="3942607" cy="955659"/>
            </a:xfrm>
            <a:prstGeom prst="roundRect">
              <a:avLst>
                <a:gd name="adj" fmla="val 22636"/>
              </a:avLst>
            </a:prstGeom>
            <a:gradFill flip="none" rotWithShape="1">
              <a:gsLst>
                <a:gs pos="0">
                  <a:schemeClr val="bg1"/>
                </a:gs>
                <a:gs pos="50000">
                  <a:schemeClr val="bg1"/>
                </a:gs>
                <a:gs pos="100000">
                  <a:srgbClr val="FFCCCC"/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620848" y="2038542"/>
              <a:ext cx="379344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Arial" pitchFamily="34" charset="0"/>
                </a:rPr>
                <a:t>Each point in the mirror image is the same distance from the mirror as the corresponding point in the original shape.</a:t>
              </a:r>
            </a:p>
          </p:txBody>
        </p:sp>
      </p:grpSp>
      <p:cxnSp>
        <p:nvCxnSpPr>
          <p:cNvPr id="165" name="Straight Connector 164"/>
          <p:cNvCxnSpPr/>
          <p:nvPr/>
        </p:nvCxnSpPr>
        <p:spPr>
          <a:xfrm rot="5400000">
            <a:off x="6595085" y="2049823"/>
            <a:ext cx="1" cy="320929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ectangle 193"/>
          <p:cNvSpPr>
            <a:spLocks noChangeArrowheads="1"/>
          </p:cNvSpPr>
          <p:nvPr/>
        </p:nvSpPr>
        <p:spPr bwMode="auto">
          <a:xfrm>
            <a:off x="8082956" y="3445965"/>
            <a:ext cx="9316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b="1" i="1" dirty="0">
                <a:solidFill>
                  <a:srgbClr val="A50021"/>
                </a:solidFill>
                <a:latin typeface="Arial" pitchFamily="34" charset="0"/>
              </a:rPr>
              <a:t>y  =  6  </a:t>
            </a:r>
          </a:p>
        </p:txBody>
      </p:sp>
      <p:sp>
        <p:nvSpPr>
          <p:cNvPr id="172" name="Rectangle 192"/>
          <p:cNvSpPr>
            <a:spLocks noChangeArrowheads="1"/>
          </p:cNvSpPr>
          <p:nvPr/>
        </p:nvSpPr>
        <p:spPr bwMode="auto">
          <a:xfrm>
            <a:off x="687691" y="4465371"/>
            <a:ext cx="32289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b="1" dirty="0">
                <a:latin typeface="Arial" pitchFamily="34" charset="0"/>
              </a:rPr>
              <a:t>To give Shape B</a:t>
            </a:r>
          </a:p>
        </p:txBody>
      </p:sp>
      <p:sp>
        <p:nvSpPr>
          <p:cNvPr id="164" name="Pentagon 163"/>
          <p:cNvSpPr/>
          <p:nvPr/>
        </p:nvSpPr>
        <p:spPr>
          <a:xfrm rot="16200000">
            <a:off x="6152764" y="3820518"/>
            <a:ext cx="935261" cy="1244697"/>
          </a:xfrm>
          <a:prstGeom prst="homePlate">
            <a:avLst>
              <a:gd name="adj" fmla="val 68526"/>
            </a:avLst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167" name="Pentagon 166"/>
          <p:cNvSpPr/>
          <p:nvPr/>
        </p:nvSpPr>
        <p:spPr>
          <a:xfrm rot="5400000">
            <a:off x="6152764" y="2221755"/>
            <a:ext cx="935261" cy="1244697"/>
          </a:xfrm>
          <a:prstGeom prst="homePlate">
            <a:avLst>
              <a:gd name="adj" fmla="val 68526"/>
            </a:avLst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173" name="Rectangle 192"/>
          <p:cNvSpPr>
            <a:spLocks noChangeArrowheads="1"/>
          </p:cNvSpPr>
          <p:nvPr/>
        </p:nvSpPr>
        <p:spPr bwMode="auto">
          <a:xfrm>
            <a:off x="6423544" y="2586924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</a:rPr>
              <a:t>B</a:t>
            </a:r>
          </a:p>
        </p:txBody>
      </p:sp>
      <p:sp>
        <p:nvSpPr>
          <p:cNvPr id="175" name="Rectangle 192"/>
          <p:cNvSpPr>
            <a:spLocks noChangeArrowheads="1"/>
          </p:cNvSpPr>
          <p:nvPr/>
        </p:nvSpPr>
        <p:spPr bwMode="auto">
          <a:xfrm>
            <a:off x="6423544" y="4286319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</a:rPr>
              <a:t>A</a:t>
            </a:r>
          </a:p>
        </p:txBody>
      </p:sp>
      <p:grpSp>
        <p:nvGrpSpPr>
          <p:cNvPr id="155" name="Group 15"/>
          <p:cNvGrpSpPr/>
          <p:nvPr/>
        </p:nvGrpSpPr>
        <p:grpSpPr>
          <a:xfrm>
            <a:off x="400050" y="208911"/>
            <a:ext cx="8343900" cy="504056"/>
            <a:chOff x="395536" y="1409582"/>
            <a:chExt cx="5544616" cy="504056"/>
          </a:xfrm>
        </p:grpSpPr>
        <p:sp>
          <p:nvSpPr>
            <p:cNvPr id="159" name="Rounded Rectangle 158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(3)  Reflections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66" grpId="0"/>
      <p:bldP spid="166" grpId="0"/>
      <p:bldP spid="172" grpId="0"/>
      <p:bldP spid="164" grpId="0" animBg="1"/>
      <p:bldP spid="167" grpId="0" animBg="1"/>
      <p:bldP spid="173" grpId="0"/>
      <p:bldP spid="17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65021" y="872071"/>
            <a:ext cx="8613957" cy="5292588"/>
          </a:xfrm>
          <a:prstGeom prst="roundRect">
            <a:avLst>
              <a:gd name="adj" fmla="val 5211"/>
            </a:avLst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2" name="Group 166"/>
          <p:cNvGrpSpPr/>
          <p:nvPr/>
        </p:nvGrpSpPr>
        <p:grpSpPr>
          <a:xfrm>
            <a:off x="4630043" y="1983029"/>
            <a:ext cx="3934768" cy="3929602"/>
            <a:chOff x="4630043" y="1983029"/>
            <a:chExt cx="3934768" cy="3929602"/>
          </a:xfrm>
        </p:grpSpPr>
        <p:grpSp>
          <p:nvGrpSpPr>
            <p:cNvPr id="3" name="Group 188"/>
            <p:cNvGrpSpPr>
              <a:grpSpLocks/>
            </p:cNvGrpSpPr>
            <p:nvPr/>
          </p:nvGrpSpPr>
          <p:grpSpPr bwMode="auto">
            <a:xfrm>
              <a:off x="4677023" y="2024844"/>
              <a:ext cx="3887788" cy="3887787"/>
              <a:chOff x="3198" y="1729"/>
              <a:chExt cx="2449" cy="2449"/>
            </a:xfrm>
          </p:grpSpPr>
          <p:sp>
            <p:nvSpPr>
              <p:cNvPr id="22" name="Rectangle 184"/>
              <p:cNvSpPr>
                <a:spLocks noChangeArrowheads="1"/>
              </p:cNvSpPr>
              <p:nvPr/>
            </p:nvSpPr>
            <p:spPr bwMode="auto">
              <a:xfrm>
                <a:off x="3198" y="1729"/>
                <a:ext cx="2449" cy="244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grpSp>
            <p:nvGrpSpPr>
              <p:cNvPr id="4" name="Group 186"/>
              <p:cNvGrpSpPr>
                <a:grpSpLocks/>
              </p:cNvGrpSpPr>
              <p:nvPr/>
            </p:nvGrpSpPr>
            <p:grpSpPr bwMode="auto">
              <a:xfrm>
                <a:off x="3243" y="1942"/>
                <a:ext cx="2359" cy="2021"/>
                <a:chOff x="3243" y="1942"/>
                <a:chExt cx="2359" cy="2021"/>
              </a:xfrm>
            </p:grpSpPr>
            <p:sp>
              <p:nvSpPr>
                <p:cNvPr id="36" name="Line 155"/>
                <p:cNvSpPr>
                  <a:spLocks noChangeShapeType="1"/>
                </p:cNvSpPr>
                <p:nvPr/>
              </p:nvSpPr>
              <p:spPr bwMode="auto">
                <a:xfrm>
                  <a:off x="3243" y="2548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7" name="Line 156"/>
                <p:cNvSpPr>
                  <a:spLocks noChangeShapeType="1"/>
                </p:cNvSpPr>
                <p:nvPr/>
              </p:nvSpPr>
              <p:spPr bwMode="auto">
                <a:xfrm>
                  <a:off x="3243" y="2750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8" name="Line 157"/>
                <p:cNvSpPr>
                  <a:spLocks noChangeShapeType="1"/>
                </p:cNvSpPr>
                <p:nvPr/>
              </p:nvSpPr>
              <p:spPr bwMode="auto">
                <a:xfrm>
                  <a:off x="3243" y="2952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9" name="Line 158"/>
                <p:cNvSpPr>
                  <a:spLocks noChangeShapeType="1"/>
                </p:cNvSpPr>
                <p:nvPr/>
              </p:nvSpPr>
              <p:spPr bwMode="auto">
                <a:xfrm>
                  <a:off x="3243" y="31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0" name="Line 160"/>
                <p:cNvSpPr>
                  <a:spLocks noChangeShapeType="1"/>
                </p:cNvSpPr>
                <p:nvPr/>
              </p:nvSpPr>
              <p:spPr bwMode="auto">
                <a:xfrm>
                  <a:off x="3243" y="3356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1" name="Line 161"/>
                <p:cNvSpPr>
                  <a:spLocks noChangeShapeType="1"/>
                </p:cNvSpPr>
                <p:nvPr/>
              </p:nvSpPr>
              <p:spPr bwMode="auto">
                <a:xfrm>
                  <a:off x="3243" y="3558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2" name="Line 162"/>
                <p:cNvSpPr>
                  <a:spLocks noChangeShapeType="1"/>
                </p:cNvSpPr>
                <p:nvPr/>
              </p:nvSpPr>
              <p:spPr bwMode="auto">
                <a:xfrm>
                  <a:off x="3243" y="3760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3" name="Line 164"/>
                <p:cNvSpPr>
                  <a:spLocks noChangeShapeType="1"/>
                </p:cNvSpPr>
                <p:nvPr/>
              </p:nvSpPr>
              <p:spPr bwMode="auto">
                <a:xfrm>
                  <a:off x="3243" y="3963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4" name="Line 165"/>
                <p:cNvSpPr>
                  <a:spLocks noChangeShapeType="1"/>
                </p:cNvSpPr>
                <p:nvPr/>
              </p:nvSpPr>
              <p:spPr bwMode="auto">
                <a:xfrm>
                  <a:off x="3243" y="1942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5" name="Line 166"/>
                <p:cNvSpPr>
                  <a:spLocks noChangeShapeType="1"/>
                </p:cNvSpPr>
                <p:nvPr/>
              </p:nvSpPr>
              <p:spPr bwMode="auto">
                <a:xfrm>
                  <a:off x="3243" y="214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6" name="Line 167"/>
                <p:cNvSpPr>
                  <a:spLocks noChangeShapeType="1"/>
                </p:cNvSpPr>
                <p:nvPr/>
              </p:nvSpPr>
              <p:spPr bwMode="auto">
                <a:xfrm>
                  <a:off x="3243" y="2346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6" name="Group 187"/>
              <p:cNvGrpSpPr>
                <a:grpSpLocks/>
              </p:cNvGrpSpPr>
              <p:nvPr/>
            </p:nvGrpSpPr>
            <p:grpSpPr bwMode="auto">
              <a:xfrm>
                <a:off x="3413" y="1774"/>
                <a:ext cx="2021" cy="2359"/>
                <a:chOff x="3413" y="1774"/>
                <a:chExt cx="2021" cy="2359"/>
              </a:xfrm>
            </p:grpSpPr>
            <p:sp>
              <p:nvSpPr>
                <p:cNvPr id="25" name="Line 171"/>
                <p:cNvSpPr>
                  <a:spLocks noChangeShapeType="1"/>
                </p:cNvSpPr>
                <p:nvPr/>
              </p:nvSpPr>
              <p:spPr bwMode="auto">
                <a:xfrm rot="16200000">
                  <a:off x="2637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6" name="Line 172"/>
                <p:cNvSpPr>
                  <a:spLocks noChangeShapeType="1"/>
                </p:cNvSpPr>
                <p:nvPr/>
              </p:nvSpPr>
              <p:spPr bwMode="auto">
                <a:xfrm rot="16200000">
                  <a:off x="2839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7" name="Line 173"/>
                <p:cNvSpPr>
                  <a:spLocks noChangeShapeType="1"/>
                </p:cNvSpPr>
                <p:nvPr/>
              </p:nvSpPr>
              <p:spPr bwMode="auto">
                <a:xfrm rot="16200000">
                  <a:off x="3041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8" name="Line 174"/>
                <p:cNvSpPr>
                  <a:spLocks noChangeShapeType="1"/>
                </p:cNvSpPr>
                <p:nvPr/>
              </p:nvSpPr>
              <p:spPr bwMode="auto">
                <a:xfrm rot="16200000">
                  <a:off x="3243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9" name="Line 175"/>
                <p:cNvSpPr>
                  <a:spLocks noChangeShapeType="1"/>
                </p:cNvSpPr>
                <p:nvPr/>
              </p:nvSpPr>
              <p:spPr bwMode="auto">
                <a:xfrm rot="16200000">
                  <a:off x="3445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0" name="Line 176"/>
                <p:cNvSpPr>
                  <a:spLocks noChangeShapeType="1"/>
                </p:cNvSpPr>
                <p:nvPr/>
              </p:nvSpPr>
              <p:spPr bwMode="auto">
                <a:xfrm rot="16200000">
                  <a:off x="3647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1" name="Line 177"/>
                <p:cNvSpPr>
                  <a:spLocks noChangeShapeType="1"/>
                </p:cNvSpPr>
                <p:nvPr/>
              </p:nvSpPr>
              <p:spPr bwMode="auto">
                <a:xfrm rot="16200000">
                  <a:off x="3849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2" name="Line 178"/>
                <p:cNvSpPr>
                  <a:spLocks noChangeShapeType="1"/>
                </p:cNvSpPr>
                <p:nvPr/>
              </p:nvSpPr>
              <p:spPr bwMode="auto">
                <a:xfrm rot="16200000">
                  <a:off x="4051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3" name="Line 179"/>
                <p:cNvSpPr>
                  <a:spLocks noChangeShapeType="1"/>
                </p:cNvSpPr>
                <p:nvPr/>
              </p:nvSpPr>
              <p:spPr bwMode="auto">
                <a:xfrm rot="16200000">
                  <a:off x="4254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4" name="Line 180"/>
                <p:cNvSpPr>
                  <a:spLocks noChangeShapeType="1"/>
                </p:cNvSpPr>
                <p:nvPr/>
              </p:nvSpPr>
              <p:spPr bwMode="auto">
                <a:xfrm rot="16200000">
                  <a:off x="2233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5" name="Line 182"/>
                <p:cNvSpPr>
                  <a:spLocks noChangeShapeType="1"/>
                </p:cNvSpPr>
                <p:nvPr/>
              </p:nvSpPr>
              <p:spPr bwMode="auto">
                <a:xfrm rot="16200000">
                  <a:off x="2435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</p:grpSp>
        </p:grpSp>
        <p:sp>
          <p:nvSpPr>
            <p:cNvPr id="59" name="Line 201"/>
            <p:cNvSpPr>
              <a:spLocks noChangeShapeType="1"/>
            </p:cNvSpPr>
            <p:nvPr/>
          </p:nvSpPr>
          <p:spPr bwMode="auto">
            <a:xfrm flipV="1">
              <a:off x="5020634" y="2156346"/>
              <a:ext cx="0" cy="341194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dirty="0">
                <a:latin typeface="Arial" pitchFamily="34" charset="0"/>
              </a:endParaRPr>
            </a:p>
          </p:txBody>
        </p:sp>
        <p:sp>
          <p:nvSpPr>
            <p:cNvPr id="62" name="Line 201"/>
            <p:cNvSpPr>
              <a:spLocks noChangeShapeType="1"/>
            </p:cNvSpPr>
            <p:nvPr/>
          </p:nvSpPr>
          <p:spPr bwMode="auto">
            <a:xfrm rot="5400000" flipV="1">
              <a:off x="6699771" y="3864591"/>
              <a:ext cx="0" cy="341194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dirty="0">
                <a:latin typeface="Arial" pitchFamily="34" charset="0"/>
              </a:endParaRPr>
            </a:p>
          </p:txBody>
        </p:sp>
        <p:grpSp>
          <p:nvGrpSpPr>
            <p:cNvPr id="7" name="Group 70"/>
            <p:cNvGrpSpPr/>
            <p:nvPr/>
          </p:nvGrpSpPr>
          <p:grpSpPr>
            <a:xfrm>
              <a:off x="4668143" y="5438875"/>
              <a:ext cx="342945" cy="261610"/>
              <a:chOff x="4398160" y="5470166"/>
              <a:chExt cx="342945" cy="26161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Rectangle 6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6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0</a:t>
                </a:r>
              </a:p>
            </p:txBody>
          </p:sp>
        </p:grpSp>
        <p:grpSp>
          <p:nvGrpSpPr>
            <p:cNvPr id="16" name="Group 73"/>
            <p:cNvGrpSpPr/>
            <p:nvPr/>
          </p:nvGrpSpPr>
          <p:grpSpPr>
            <a:xfrm>
              <a:off x="4668143" y="5118059"/>
              <a:ext cx="342945" cy="261610"/>
              <a:chOff x="4398160" y="5470166"/>
              <a:chExt cx="342945" cy="261610"/>
            </a:xfrm>
          </p:grpSpPr>
          <p:cxnSp>
            <p:nvCxnSpPr>
              <p:cNvPr id="75" name="Straight Connector 74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Rectangle 75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1</a:t>
                </a:r>
              </a:p>
            </p:txBody>
          </p:sp>
        </p:grpSp>
        <p:grpSp>
          <p:nvGrpSpPr>
            <p:cNvPr id="17" name="Group 77"/>
            <p:cNvGrpSpPr/>
            <p:nvPr/>
          </p:nvGrpSpPr>
          <p:grpSpPr>
            <a:xfrm>
              <a:off x="4668143" y="4797239"/>
              <a:ext cx="342945" cy="261610"/>
              <a:chOff x="4398160" y="5470166"/>
              <a:chExt cx="342945" cy="261610"/>
            </a:xfrm>
          </p:grpSpPr>
          <p:cxnSp>
            <p:nvCxnSpPr>
              <p:cNvPr id="79" name="Straight Connector 7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Rectangle 7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1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2</a:t>
                </a:r>
              </a:p>
            </p:txBody>
          </p:sp>
        </p:grpSp>
        <p:grpSp>
          <p:nvGrpSpPr>
            <p:cNvPr id="18" name="Group 81"/>
            <p:cNvGrpSpPr/>
            <p:nvPr/>
          </p:nvGrpSpPr>
          <p:grpSpPr>
            <a:xfrm>
              <a:off x="4668143" y="4476419"/>
              <a:ext cx="342945" cy="261610"/>
              <a:chOff x="4398160" y="5470166"/>
              <a:chExt cx="342945" cy="261610"/>
            </a:xfrm>
          </p:grpSpPr>
          <p:cxnSp>
            <p:nvCxnSpPr>
              <p:cNvPr id="83" name="Straight Connector 82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Rectangle 83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5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3</a:t>
                </a:r>
              </a:p>
            </p:txBody>
          </p:sp>
        </p:grpSp>
        <p:grpSp>
          <p:nvGrpSpPr>
            <p:cNvPr id="19" name="Group 85"/>
            <p:cNvGrpSpPr/>
            <p:nvPr/>
          </p:nvGrpSpPr>
          <p:grpSpPr>
            <a:xfrm>
              <a:off x="4668143" y="4155599"/>
              <a:ext cx="342945" cy="261610"/>
              <a:chOff x="4398160" y="5470166"/>
              <a:chExt cx="342945" cy="261610"/>
            </a:xfrm>
          </p:grpSpPr>
          <p:cxnSp>
            <p:nvCxnSpPr>
              <p:cNvPr id="87" name="Straight Connector 86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Rectangle 87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9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4</a:t>
                </a:r>
              </a:p>
            </p:txBody>
          </p:sp>
        </p:grpSp>
        <p:grpSp>
          <p:nvGrpSpPr>
            <p:cNvPr id="21" name="Group 89"/>
            <p:cNvGrpSpPr/>
            <p:nvPr/>
          </p:nvGrpSpPr>
          <p:grpSpPr>
            <a:xfrm>
              <a:off x="4668143" y="3834779"/>
              <a:ext cx="342945" cy="261610"/>
              <a:chOff x="4398160" y="5470166"/>
              <a:chExt cx="342945" cy="261610"/>
            </a:xfrm>
          </p:grpSpPr>
          <p:cxnSp>
            <p:nvCxnSpPr>
              <p:cNvPr id="91" name="Straight Connector 90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ectangle 91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93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5</a:t>
                </a:r>
              </a:p>
            </p:txBody>
          </p:sp>
        </p:grpSp>
        <p:grpSp>
          <p:nvGrpSpPr>
            <p:cNvPr id="23" name="Group 93"/>
            <p:cNvGrpSpPr/>
            <p:nvPr/>
          </p:nvGrpSpPr>
          <p:grpSpPr>
            <a:xfrm>
              <a:off x="4668143" y="3513959"/>
              <a:ext cx="342945" cy="261610"/>
              <a:chOff x="4398160" y="5470166"/>
              <a:chExt cx="342945" cy="261610"/>
            </a:xfrm>
          </p:grpSpPr>
          <p:cxnSp>
            <p:nvCxnSpPr>
              <p:cNvPr id="95" name="Straight Connector 94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Rectangle 95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9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6</a:t>
                </a:r>
              </a:p>
            </p:txBody>
          </p:sp>
        </p:grpSp>
        <p:grpSp>
          <p:nvGrpSpPr>
            <p:cNvPr id="24" name="Group 97"/>
            <p:cNvGrpSpPr/>
            <p:nvPr/>
          </p:nvGrpSpPr>
          <p:grpSpPr>
            <a:xfrm>
              <a:off x="4668143" y="3193139"/>
              <a:ext cx="342945" cy="261610"/>
              <a:chOff x="4398160" y="5470166"/>
              <a:chExt cx="342945" cy="261610"/>
            </a:xfrm>
          </p:grpSpPr>
          <p:cxnSp>
            <p:nvCxnSpPr>
              <p:cNvPr id="99" name="Straight Connector 9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Rectangle 9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1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7</a:t>
                </a:r>
              </a:p>
            </p:txBody>
          </p:sp>
        </p:grpSp>
        <p:grpSp>
          <p:nvGrpSpPr>
            <p:cNvPr id="47" name="Group 101"/>
            <p:cNvGrpSpPr/>
            <p:nvPr/>
          </p:nvGrpSpPr>
          <p:grpSpPr>
            <a:xfrm>
              <a:off x="4668143" y="2872319"/>
              <a:ext cx="342945" cy="261610"/>
              <a:chOff x="4398160" y="5470166"/>
              <a:chExt cx="342945" cy="261610"/>
            </a:xfrm>
          </p:grpSpPr>
          <p:cxnSp>
            <p:nvCxnSpPr>
              <p:cNvPr id="103" name="Straight Connector 102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Rectangle 103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5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8</a:t>
                </a:r>
              </a:p>
            </p:txBody>
          </p:sp>
        </p:grpSp>
        <p:grpSp>
          <p:nvGrpSpPr>
            <p:cNvPr id="48" name="Group 105"/>
            <p:cNvGrpSpPr/>
            <p:nvPr/>
          </p:nvGrpSpPr>
          <p:grpSpPr>
            <a:xfrm>
              <a:off x="4668143" y="2551499"/>
              <a:ext cx="342945" cy="261610"/>
              <a:chOff x="4398160" y="5470166"/>
              <a:chExt cx="342945" cy="261610"/>
            </a:xfrm>
          </p:grpSpPr>
          <p:cxnSp>
            <p:nvCxnSpPr>
              <p:cNvPr id="107" name="Straight Connector 106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Rectangle 107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9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9</a:t>
                </a:r>
              </a:p>
            </p:txBody>
          </p:sp>
        </p:grpSp>
        <p:grpSp>
          <p:nvGrpSpPr>
            <p:cNvPr id="51" name="Group 109"/>
            <p:cNvGrpSpPr/>
            <p:nvPr/>
          </p:nvGrpSpPr>
          <p:grpSpPr>
            <a:xfrm>
              <a:off x="4668143" y="2230679"/>
              <a:ext cx="342945" cy="261610"/>
              <a:chOff x="4398160" y="5470166"/>
              <a:chExt cx="342945" cy="261610"/>
            </a:xfrm>
          </p:grpSpPr>
          <p:cxnSp>
            <p:nvCxnSpPr>
              <p:cNvPr id="111" name="Straight Connector 110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Rectangle 111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13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10</a:t>
                </a:r>
              </a:p>
            </p:txBody>
          </p:sp>
        </p:grpSp>
        <p:sp>
          <p:nvSpPr>
            <p:cNvPr id="117" name="Rectangle 192"/>
            <p:cNvSpPr>
              <a:spLocks noChangeArrowheads="1"/>
            </p:cNvSpPr>
            <p:nvPr/>
          </p:nvSpPr>
          <p:spPr bwMode="auto">
            <a:xfrm>
              <a:off x="4630043" y="1983029"/>
              <a:ext cx="342945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/>
              <a:r>
                <a:rPr lang="en-GB" sz="1100" b="1" i="1" dirty="0">
                  <a:latin typeface="Arial" pitchFamily="34" charset="0"/>
                </a:rPr>
                <a:t>y</a:t>
              </a:r>
            </a:p>
          </p:txBody>
        </p:sp>
        <p:sp>
          <p:nvSpPr>
            <p:cNvPr id="118" name="Rectangle 192"/>
            <p:cNvSpPr>
              <a:spLocks noChangeArrowheads="1"/>
            </p:cNvSpPr>
            <p:nvPr/>
          </p:nvSpPr>
          <p:spPr bwMode="auto">
            <a:xfrm>
              <a:off x="8217793" y="5602529"/>
              <a:ext cx="342945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/>
              <a:r>
                <a:rPr lang="en-GB" sz="1100" b="1" i="1" dirty="0">
                  <a:latin typeface="Arial" pitchFamily="34" charset="0"/>
                </a:rPr>
                <a:t>x</a:t>
              </a:r>
            </a:p>
          </p:txBody>
        </p:sp>
        <p:grpSp>
          <p:nvGrpSpPr>
            <p:cNvPr id="52" name="Group 118"/>
            <p:cNvGrpSpPr/>
            <p:nvPr/>
          </p:nvGrpSpPr>
          <p:grpSpPr>
            <a:xfrm>
              <a:off x="4844605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0" name="Straight Connector 11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Rectangle 12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2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0</a:t>
                </a:r>
              </a:p>
            </p:txBody>
          </p:sp>
        </p:grpSp>
        <p:grpSp>
          <p:nvGrpSpPr>
            <p:cNvPr id="53" name="Group 122"/>
            <p:cNvGrpSpPr/>
            <p:nvPr/>
          </p:nvGrpSpPr>
          <p:grpSpPr>
            <a:xfrm>
              <a:off x="5165681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4" name="Straight Connector 123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Rectangle 124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26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1</a:t>
                </a:r>
              </a:p>
            </p:txBody>
          </p:sp>
        </p:grpSp>
        <p:grpSp>
          <p:nvGrpSpPr>
            <p:cNvPr id="54" name="Group 126"/>
            <p:cNvGrpSpPr/>
            <p:nvPr/>
          </p:nvGrpSpPr>
          <p:grpSpPr>
            <a:xfrm>
              <a:off x="5486757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8" name="Straight Connector 127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Rectangle 128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0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2</a:t>
                </a:r>
              </a:p>
            </p:txBody>
          </p:sp>
        </p:grpSp>
        <p:grpSp>
          <p:nvGrpSpPr>
            <p:cNvPr id="55" name="Group 130"/>
            <p:cNvGrpSpPr/>
            <p:nvPr/>
          </p:nvGrpSpPr>
          <p:grpSpPr>
            <a:xfrm>
              <a:off x="5807833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32" name="Straight Connector 131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Rectangle 132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4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3</a:t>
                </a:r>
              </a:p>
            </p:txBody>
          </p:sp>
        </p:grpSp>
        <p:grpSp>
          <p:nvGrpSpPr>
            <p:cNvPr id="56" name="Group 134"/>
            <p:cNvGrpSpPr/>
            <p:nvPr/>
          </p:nvGrpSpPr>
          <p:grpSpPr>
            <a:xfrm>
              <a:off x="6128909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36" name="Straight Connector 135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Rectangle 136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8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4</a:t>
                </a:r>
              </a:p>
            </p:txBody>
          </p:sp>
        </p:grpSp>
        <p:grpSp>
          <p:nvGrpSpPr>
            <p:cNvPr id="57" name="Group 138"/>
            <p:cNvGrpSpPr/>
            <p:nvPr/>
          </p:nvGrpSpPr>
          <p:grpSpPr>
            <a:xfrm>
              <a:off x="6449985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0" name="Straight Connector 13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Rectangle 14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4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5</a:t>
                </a:r>
              </a:p>
            </p:txBody>
          </p:sp>
        </p:grpSp>
        <p:grpSp>
          <p:nvGrpSpPr>
            <p:cNvPr id="58" name="Group 142"/>
            <p:cNvGrpSpPr/>
            <p:nvPr/>
          </p:nvGrpSpPr>
          <p:grpSpPr>
            <a:xfrm>
              <a:off x="6771061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4" name="Straight Connector 143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Rectangle 144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46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6</a:t>
                </a:r>
              </a:p>
            </p:txBody>
          </p:sp>
        </p:grpSp>
        <p:grpSp>
          <p:nvGrpSpPr>
            <p:cNvPr id="60" name="Group 146"/>
            <p:cNvGrpSpPr/>
            <p:nvPr/>
          </p:nvGrpSpPr>
          <p:grpSpPr>
            <a:xfrm>
              <a:off x="7092137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8" name="Straight Connector 147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Rectangle 148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0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7</a:t>
                </a:r>
              </a:p>
            </p:txBody>
          </p:sp>
        </p:grpSp>
        <p:grpSp>
          <p:nvGrpSpPr>
            <p:cNvPr id="61" name="Group 150"/>
            <p:cNvGrpSpPr/>
            <p:nvPr/>
          </p:nvGrpSpPr>
          <p:grpSpPr>
            <a:xfrm>
              <a:off x="7413213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52" name="Straight Connector 151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Rectangle 152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4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8</a:t>
                </a:r>
              </a:p>
            </p:txBody>
          </p:sp>
        </p:grpSp>
        <p:grpSp>
          <p:nvGrpSpPr>
            <p:cNvPr id="63" name="Group 154"/>
            <p:cNvGrpSpPr/>
            <p:nvPr/>
          </p:nvGrpSpPr>
          <p:grpSpPr>
            <a:xfrm>
              <a:off x="7734289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56" name="Straight Connector 155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Rectangle 156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8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9</a:t>
                </a:r>
              </a:p>
            </p:txBody>
          </p:sp>
        </p:grpSp>
        <p:grpSp>
          <p:nvGrpSpPr>
            <p:cNvPr id="64" name="Group 158"/>
            <p:cNvGrpSpPr/>
            <p:nvPr/>
          </p:nvGrpSpPr>
          <p:grpSpPr>
            <a:xfrm>
              <a:off x="8055362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60" name="Straight Connector 15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Rectangle 16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6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10</a:t>
                </a:r>
              </a:p>
            </p:txBody>
          </p:sp>
        </p:grpSp>
      </p:grpSp>
      <p:sp>
        <p:nvSpPr>
          <p:cNvPr id="15" name="TextBox 14"/>
          <p:cNvSpPr txBox="1"/>
          <p:nvPr/>
        </p:nvSpPr>
        <p:spPr>
          <a:xfrm>
            <a:off x="305526" y="1270655"/>
            <a:ext cx="8532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Arial" pitchFamily="34" charset="0"/>
              </a:rPr>
              <a:t>We describe a reflection by giving the </a:t>
            </a:r>
            <a:r>
              <a:rPr lang="en-GB" sz="1600" b="1" dirty="0">
                <a:solidFill>
                  <a:srgbClr val="990033"/>
                </a:solidFill>
                <a:latin typeface="Arial" pitchFamily="34" charset="0"/>
              </a:rPr>
              <a:t>MIRROR LINE.</a:t>
            </a:r>
            <a:endParaRPr lang="en-GB" sz="1600" b="1" dirty="0">
              <a:latin typeface="Arial" pitchFamily="34" charset="0"/>
            </a:endParaRPr>
          </a:p>
          <a:p>
            <a:pPr algn="ctr"/>
            <a:r>
              <a:rPr lang="en-GB" sz="1600" b="1" dirty="0">
                <a:latin typeface="Arial" pitchFamily="34" charset="0"/>
              </a:rPr>
              <a:t>(This could mean giving the equation of the line).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609" y="871992"/>
            <a:ext cx="8338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A Reflection reflects a shape in a mirror line.</a:t>
            </a:r>
          </a:p>
        </p:txBody>
      </p:sp>
      <p:sp>
        <p:nvSpPr>
          <p:cNvPr id="49" name="Rectangle 192"/>
          <p:cNvSpPr>
            <a:spLocks noChangeArrowheads="1"/>
          </p:cNvSpPr>
          <p:nvPr/>
        </p:nvSpPr>
        <p:spPr bwMode="auto">
          <a:xfrm>
            <a:off x="687691" y="3491611"/>
            <a:ext cx="32289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b="1" dirty="0">
                <a:latin typeface="Arial" pitchFamily="34" charset="0"/>
              </a:rPr>
              <a:t>The shape A was reflected:</a:t>
            </a:r>
          </a:p>
        </p:txBody>
      </p:sp>
      <p:sp>
        <p:nvSpPr>
          <p:cNvPr id="50" name="Rectangle 193"/>
          <p:cNvSpPr>
            <a:spLocks noChangeArrowheads="1"/>
          </p:cNvSpPr>
          <p:nvPr/>
        </p:nvSpPr>
        <p:spPr bwMode="auto">
          <a:xfrm>
            <a:off x="687691" y="3787427"/>
            <a:ext cx="322898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A50021"/>
                </a:solidFill>
                <a:latin typeface="Arial" pitchFamily="34" charset="0"/>
              </a:rPr>
              <a:t>In the diagonal mirror line  </a:t>
            </a:r>
            <a:r>
              <a:rPr lang="en-GB" sz="2000" b="1" i="1" dirty="0">
                <a:solidFill>
                  <a:srgbClr val="A50021"/>
                </a:solidFill>
                <a:latin typeface="Arial" pitchFamily="34" charset="0"/>
              </a:rPr>
              <a:t>y  =  x  </a:t>
            </a:r>
          </a:p>
        </p:txBody>
      </p:sp>
      <p:sp>
        <p:nvSpPr>
          <p:cNvPr id="66" name="Rectangle 192"/>
          <p:cNvSpPr>
            <a:spLocks noChangeArrowheads="1"/>
          </p:cNvSpPr>
          <p:nvPr/>
        </p:nvSpPr>
        <p:spPr bwMode="auto">
          <a:xfrm>
            <a:off x="687691" y="3139355"/>
            <a:ext cx="144016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1600" i="1" dirty="0">
                <a:latin typeface="Arial" pitchFamily="34" charset="0"/>
              </a:rPr>
              <a:t>Example 3:</a:t>
            </a:r>
          </a:p>
        </p:txBody>
      </p:sp>
      <p:grpSp>
        <p:nvGrpSpPr>
          <p:cNvPr id="65" name="Group 154"/>
          <p:cNvGrpSpPr/>
          <p:nvPr/>
        </p:nvGrpSpPr>
        <p:grpSpPr>
          <a:xfrm>
            <a:off x="439390" y="2013170"/>
            <a:ext cx="3942607" cy="955659"/>
            <a:chOff x="546265" y="1930045"/>
            <a:chExt cx="3942607" cy="955659"/>
          </a:xfrm>
        </p:grpSpPr>
        <p:sp>
          <p:nvSpPr>
            <p:cNvPr id="151" name="Rounded Rectangle 150"/>
            <p:cNvSpPr/>
            <p:nvPr/>
          </p:nvSpPr>
          <p:spPr>
            <a:xfrm>
              <a:off x="546265" y="1930045"/>
              <a:ext cx="3942607" cy="955659"/>
            </a:xfrm>
            <a:prstGeom prst="roundRect">
              <a:avLst>
                <a:gd name="adj" fmla="val 22636"/>
              </a:avLst>
            </a:prstGeom>
            <a:gradFill flip="none" rotWithShape="1">
              <a:gsLst>
                <a:gs pos="0">
                  <a:schemeClr val="bg1"/>
                </a:gs>
                <a:gs pos="50000">
                  <a:schemeClr val="bg1"/>
                </a:gs>
                <a:gs pos="100000">
                  <a:srgbClr val="FFCCCC"/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620848" y="2038542"/>
              <a:ext cx="379344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Arial" pitchFamily="34" charset="0"/>
                </a:rPr>
                <a:t>Each point in the mirror image is the same distance from the mirror as the corresponding point in the original shape.</a:t>
              </a:r>
            </a:p>
          </p:txBody>
        </p:sp>
      </p:grpSp>
      <p:cxnSp>
        <p:nvCxnSpPr>
          <p:cNvPr id="165" name="Straight Connector 164"/>
          <p:cNvCxnSpPr/>
          <p:nvPr/>
        </p:nvCxnSpPr>
        <p:spPr>
          <a:xfrm flipH="1">
            <a:off x="5019399" y="2664663"/>
            <a:ext cx="2900532" cy="2900532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ectangle 193"/>
          <p:cNvSpPr>
            <a:spLocks noChangeArrowheads="1"/>
          </p:cNvSpPr>
          <p:nvPr/>
        </p:nvSpPr>
        <p:spPr bwMode="auto">
          <a:xfrm>
            <a:off x="7785634" y="2301562"/>
            <a:ext cx="9316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b="1" i="1" dirty="0">
                <a:solidFill>
                  <a:srgbClr val="A50021"/>
                </a:solidFill>
                <a:latin typeface="Arial" pitchFamily="34" charset="0"/>
              </a:rPr>
              <a:t>y  =  x  </a:t>
            </a:r>
          </a:p>
        </p:txBody>
      </p:sp>
      <p:sp>
        <p:nvSpPr>
          <p:cNvPr id="172" name="Rectangle 192"/>
          <p:cNvSpPr>
            <a:spLocks noChangeArrowheads="1"/>
          </p:cNvSpPr>
          <p:nvPr/>
        </p:nvSpPr>
        <p:spPr bwMode="auto">
          <a:xfrm>
            <a:off x="674716" y="4638694"/>
            <a:ext cx="32289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b="1" dirty="0">
                <a:latin typeface="Arial" pitchFamily="34" charset="0"/>
              </a:rPr>
              <a:t>To give Shape B</a:t>
            </a:r>
          </a:p>
        </p:txBody>
      </p:sp>
      <p:sp>
        <p:nvSpPr>
          <p:cNvPr id="163" name="L-Shape 162"/>
          <p:cNvSpPr/>
          <p:nvPr/>
        </p:nvSpPr>
        <p:spPr>
          <a:xfrm>
            <a:off x="5674213" y="3020919"/>
            <a:ext cx="938254" cy="609104"/>
          </a:xfrm>
          <a:prstGeom prst="corner">
            <a:avLst>
              <a:gd name="adj1" fmla="val 48025"/>
              <a:gd name="adj2" fmla="val 47366"/>
            </a:avLst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168" name="L-Shape 167"/>
          <p:cNvSpPr/>
          <p:nvPr/>
        </p:nvSpPr>
        <p:spPr>
          <a:xfrm rot="16200000" flipV="1">
            <a:off x="6795604" y="4135486"/>
            <a:ext cx="938254" cy="609104"/>
          </a:xfrm>
          <a:prstGeom prst="corner">
            <a:avLst>
              <a:gd name="adj1" fmla="val 48025"/>
              <a:gd name="adj2" fmla="val 47366"/>
            </a:avLst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173" name="Rectangle 192"/>
          <p:cNvSpPr>
            <a:spLocks noChangeArrowheads="1"/>
          </p:cNvSpPr>
          <p:nvPr/>
        </p:nvSpPr>
        <p:spPr bwMode="auto">
          <a:xfrm>
            <a:off x="6894391" y="4565850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</a:rPr>
              <a:t>B</a:t>
            </a:r>
          </a:p>
        </p:txBody>
      </p:sp>
      <p:sp>
        <p:nvSpPr>
          <p:cNvPr id="175" name="Rectangle 192"/>
          <p:cNvSpPr>
            <a:spLocks noChangeArrowheads="1"/>
          </p:cNvSpPr>
          <p:nvPr/>
        </p:nvSpPr>
        <p:spPr bwMode="auto">
          <a:xfrm>
            <a:off x="5625150" y="3269561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</a:rPr>
              <a:t>A</a:t>
            </a:r>
          </a:p>
        </p:txBody>
      </p:sp>
      <p:grpSp>
        <p:nvGrpSpPr>
          <p:cNvPr id="155" name="Group 15"/>
          <p:cNvGrpSpPr/>
          <p:nvPr/>
        </p:nvGrpSpPr>
        <p:grpSpPr>
          <a:xfrm>
            <a:off x="400050" y="208911"/>
            <a:ext cx="8343900" cy="504056"/>
            <a:chOff x="395536" y="1409582"/>
            <a:chExt cx="5544616" cy="504056"/>
          </a:xfrm>
        </p:grpSpPr>
        <p:sp>
          <p:nvSpPr>
            <p:cNvPr id="159" name="Rounded Rectangle 158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(3)  Reflections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66" grpId="0"/>
      <p:bldP spid="166" grpId="0"/>
      <p:bldP spid="172" grpId="0"/>
      <p:bldP spid="163" grpId="0" animBg="1"/>
      <p:bldP spid="168" grpId="0" animBg="1"/>
      <p:bldP spid="173" grpId="0"/>
      <p:bldP spid="17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65021" y="872071"/>
            <a:ext cx="8613957" cy="5292588"/>
          </a:xfrm>
          <a:prstGeom prst="roundRect">
            <a:avLst>
              <a:gd name="adj" fmla="val 5211"/>
            </a:avLst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155" name="Group 15"/>
          <p:cNvGrpSpPr/>
          <p:nvPr/>
        </p:nvGrpSpPr>
        <p:grpSpPr>
          <a:xfrm>
            <a:off x="400050" y="199485"/>
            <a:ext cx="8343900" cy="504056"/>
            <a:chOff x="395536" y="1409582"/>
            <a:chExt cx="5544616" cy="504056"/>
          </a:xfrm>
        </p:grpSpPr>
        <p:sp>
          <p:nvSpPr>
            <p:cNvPr id="159" name="Rounded Rectangle 158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Translations, rotations and reflections task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88FA3D3-A219-4110-95B5-53B105ADC02C}"/>
              </a:ext>
            </a:extLst>
          </p:cNvPr>
          <p:cNvSpPr txBox="1"/>
          <p:nvPr/>
        </p:nvSpPr>
        <p:spPr>
          <a:xfrm>
            <a:off x="616775" y="1404594"/>
            <a:ext cx="783906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Allow time for summaries before commencing If time in class allows then do Dwyer 18.1, 18.3, 18.5. If these are not done in class they are homework!</a:t>
            </a:r>
          </a:p>
          <a:p>
            <a:endParaRPr lang="en-AU" sz="2400" dirty="0"/>
          </a:p>
          <a:p>
            <a:r>
              <a:rPr lang="en-AU" sz="2400" dirty="0"/>
              <a:t>Extension: 18.2, 18.4, 18.6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14260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65021" y="872071"/>
            <a:ext cx="8613957" cy="5292588"/>
          </a:xfrm>
          <a:prstGeom prst="roundRect">
            <a:avLst>
              <a:gd name="adj" fmla="val 5211"/>
            </a:avLst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155" name="Group 15"/>
          <p:cNvGrpSpPr/>
          <p:nvPr/>
        </p:nvGrpSpPr>
        <p:grpSpPr>
          <a:xfrm>
            <a:off x="400050" y="199485"/>
            <a:ext cx="8343900" cy="504056"/>
            <a:chOff x="395536" y="1409582"/>
            <a:chExt cx="5544616" cy="504056"/>
          </a:xfrm>
        </p:grpSpPr>
        <p:sp>
          <p:nvSpPr>
            <p:cNvPr id="159" name="Rounded Rectangle 158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Translations, rotations and reflections task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88FA3D3-A219-4110-95B5-53B105ADC02C}"/>
              </a:ext>
            </a:extLst>
          </p:cNvPr>
          <p:cNvSpPr txBox="1"/>
          <p:nvPr/>
        </p:nvSpPr>
        <p:spPr>
          <a:xfrm>
            <a:off x="616775" y="1404594"/>
            <a:ext cx="783906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Write your summary to the EQ:</a:t>
            </a:r>
            <a:r>
              <a:rPr lang="en-GB" sz="2400" b="1" dirty="0">
                <a:latin typeface="Arial" pitchFamily="34" charset="0"/>
              </a:rPr>
              <a:t> What is the difference between a rotation and a reflection?</a:t>
            </a:r>
            <a:endParaRPr lang="en-AU" sz="2400" dirty="0"/>
          </a:p>
          <a:p>
            <a:endParaRPr lang="en-AU" sz="2400" dirty="0"/>
          </a:p>
          <a:p>
            <a:r>
              <a:rPr lang="en-AU" sz="2400" dirty="0"/>
              <a:t>Share your summary with your shoulder partner</a:t>
            </a:r>
          </a:p>
          <a:p>
            <a:endParaRPr lang="en-AU" sz="2400" dirty="0"/>
          </a:p>
          <a:p>
            <a:r>
              <a:rPr lang="en-AU" sz="2400" dirty="0"/>
              <a:t>Find something from your shoulder partners summary that you want to add to yours, so that you have a final summary</a:t>
            </a:r>
          </a:p>
          <a:p>
            <a:endParaRPr lang="en-AU" sz="2400" dirty="0"/>
          </a:p>
          <a:p>
            <a:r>
              <a:rPr lang="en-AU" sz="2400" dirty="0"/>
              <a:t>The teacher will then call at random to read your combined summary to the class, so everyone needs to have a summary written down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3169127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1459</TotalTime>
  <Words>802</Words>
  <Application>Microsoft Office PowerPoint</Application>
  <PresentationFormat>On-screen Show (4:3)</PresentationFormat>
  <Paragraphs>216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Brian</dc:creator>
  <cp:lastModifiedBy>Hamilton Stott</cp:lastModifiedBy>
  <cp:revision>177</cp:revision>
  <dcterms:created xsi:type="dcterms:W3CDTF">2010-11-29T19:11:46Z</dcterms:created>
  <dcterms:modified xsi:type="dcterms:W3CDTF">2021-08-22T12:10:17Z</dcterms:modified>
</cp:coreProperties>
</file>
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0"/>
  </p:notesMasterIdLst>
  <p:sldIdLst>
    <p:sldId id="256" r:id="rId2"/>
    <p:sldId id="310" r:id="rId3"/>
    <p:sldId id="311" r:id="rId4"/>
    <p:sldId id="307" r:id="rId5"/>
    <p:sldId id="312" r:id="rId6"/>
    <p:sldId id="262" r:id="rId7"/>
    <p:sldId id="313" r:id="rId8"/>
    <p:sldId id="314" r:id="rId9"/>
  </p:sldIdLst>
  <p:sldSz cx="9144000" cy="5143500" type="screen16x9"/>
  <p:notesSz cx="6858000" cy="9144000"/>
  <p:embeddedFontLst>
    <p:embeddedFont>
      <p:font typeface="Abel" panose="020B0604020202020204" charset="0"/>
      <p:regular r:id="rId11"/>
    </p:embeddedFont>
    <p:embeddedFont>
      <p:font typeface="Fredoka One" panose="020B060402020202020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03" autoAdjust="0"/>
  </p:normalViewPr>
  <p:slideViewPr>
    <p:cSldViewPr snapToGrid="0">
      <p:cViewPr varScale="1">
        <p:scale>
          <a:sx n="109" d="100"/>
          <a:sy n="109" d="100"/>
        </p:scale>
        <p:origin x="149" y="86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2823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8339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241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5085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6651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/>
              <a:t>Little bit</a:t>
            </a:r>
            <a:r>
              <a:rPr lang="en-AU" baseline="0" dirty="0" smtClean="0"/>
              <a:t> of substitution here – will be doing this next lesson though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6195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6201800" y="38522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280300" y="560050"/>
            <a:ext cx="1784100" cy="178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7343600" y="3538750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443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817475" y="1898986"/>
            <a:ext cx="4438500" cy="22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8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8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731818" y="1690255"/>
            <a:ext cx="5915891" cy="16348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rgbClr val="FFFFFF"/>
                </a:solidFill>
              </a:rPr>
              <a:t>Topic</a:t>
            </a:r>
            <a:r>
              <a:rPr lang="en" dirty="0" smtClean="0">
                <a:solidFill>
                  <a:srgbClr val="FFFFFF"/>
                </a:solidFill>
              </a:rPr>
              <a:t>: </a:t>
            </a:r>
            <a:r>
              <a:rPr lang="en-AU" dirty="0" smtClean="0">
                <a:solidFill>
                  <a:srgbClr val="FFFFFF"/>
                </a:solidFill>
              </a:rPr>
              <a:t>Finding a Formula From a Table</a:t>
            </a:r>
            <a:r>
              <a:rPr lang="en" dirty="0" smtClean="0">
                <a:solidFill>
                  <a:srgbClr val="FFFFFF"/>
                </a:solidFill>
              </a:rPr>
              <a:t/>
            </a:r>
            <a:br>
              <a:rPr lang="en" dirty="0" smtClean="0">
                <a:solidFill>
                  <a:srgbClr val="FFFFFF"/>
                </a:solidFill>
              </a:rPr>
            </a:br>
            <a:r>
              <a:rPr lang="en" sz="2000" dirty="0" smtClean="0">
                <a:solidFill>
                  <a:srgbClr val="FFFFFF"/>
                </a:solidFill>
              </a:rPr>
              <a:t>EQ</a:t>
            </a:r>
            <a:r>
              <a:rPr lang="en" sz="2000" dirty="0" smtClean="0">
                <a:solidFill>
                  <a:srgbClr val="FFFFFF"/>
                </a:solidFill>
              </a:rPr>
              <a:t>: How can we build a formula from a table?</a:t>
            </a:r>
            <a:endParaRPr sz="2000" dirty="0"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61410" t="21741" r="22821" b="29814"/>
          <a:stretch/>
        </p:blipFill>
        <p:spPr>
          <a:xfrm>
            <a:off x="7647709" y="2697480"/>
            <a:ext cx="1336108" cy="23088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63FC52-4AA4-4D61-88C8-BA9698E9C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28" y="0"/>
            <a:ext cx="5730380" cy="5110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3FDD1E-3364-4D68-98D6-A778B3672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3822" y="982376"/>
            <a:ext cx="4380178" cy="24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6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35268" y="1898986"/>
            <a:ext cx="8321051" cy="2892470"/>
          </a:xfrm>
          <a:solidFill>
            <a:schemeClr val="bg1"/>
          </a:solidFill>
        </p:spPr>
        <p:txBody>
          <a:bodyPr/>
          <a:lstStyle/>
          <a:p>
            <a:endParaRPr lang="en-AU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85432" y="281270"/>
            <a:ext cx="7521853" cy="572700"/>
          </a:xfrm>
        </p:spPr>
        <p:txBody>
          <a:bodyPr/>
          <a:lstStyle/>
          <a:p>
            <a:r>
              <a:rPr lang="en-AU" dirty="0" smtClean="0"/>
              <a:t>How would a mathematician write this?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75A0FE-5E57-41FA-956D-96CB56A12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68" y="1221789"/>
            <a:ext cx="8321051" cy="78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9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43149" y="57512"/>
            <a:ext cx="8700654" cy="50258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03055" y="166255"/>
            <a:ext cx="3753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Finding a Formula From a Table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27555" y="486145"/>
            <a:ext cx="34772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1"/>
                </a:solidFill>
              </a:rPr>
              <a:t>How can we build a formula from a table?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382" y="2073245"/>
            <a:ext cx="1329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find the rule</a:t>
            </a:r>
            <a:endParaRPr lang="en-AU" dirty="0"/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62153"/>
              </p:ext>
            </p:extLst>
          </p:nvPr>
        </p:nvGraphicFramePr>
        <p:xfrm>
          <a:off x="2295130" y="1101417"/>
          <a:ext cx="4718145" cy="741680"/>
        </p:xfrm>
        <a:graphic>
          <a:graphicData uri="http://schemas.openxmlformats.org/drawingml/2006/table">
            <a:tbl>
              <a:tblPr firstRow="1" bandRow="1">
                <a:tableStyleId>{42CA31A5-7132-4A5F-A072-0CB39D90A84B}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622223616"/>
                    </a:ext>
                  </a:extLst>
                </a:gridCol>
                <a:gridCol w="781625">
                  <a:extLst>
                    <a:ext uri="{9D8B030D-6E8A-4147-A177-3AD203B41FA5}">
                      <a16:colId xmlns:a16="http://schemas.microsoft.com/office/drawing/2014/main" val="2302812295"/>
                    </a:ext>
                  </a:extLst>
                </a:gridCol>
                <a:gridCol w="948905">
                  <a:extLst>
                    <a:ext uri="{9D8B030D-6E8A-4147-A177-3AD203B41FA5}">
                      <a16:colId xmlns:a16="http://schemas.microsoft.com/office/drawing/2014/main" val="1939180800"/>
                    </a:ext>
                  </a:extLst>
                </a:gridCol>
                <a:gridCol w="836763">
                  <a:extLst>
                    <a:ext uri="{9D8B030D-6E8A-4147-A177-3AD203B41FA5}">
                      <a16:colId xmlns:a16="http://schemas.microsoft.com/office/drawing/2014/main" val="1138188876"/>
                    </a:ext>
                  </a:extLst>
                </a:gridCol>
                <a:gridCol w="931652">
                  <a:extLst>
                    <a:ext uri="{9D8B030D-6E8A-4147-A177-3AD203B41FA5}">
                      <a16:colId xmlns:a16="http://schemas.microsoft.com/office/drawing/2014/main" val="4135619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X (input)</a:t>
                      </a:r>
                      <a:endParaRPr lang="en-AU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848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Y (output)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15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20</a:t>
                      </a:r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15665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132797" y="2168775"/>
            <a:ext cx="3001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Find the difference for each step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2442288" y="2489301"/>
            <a:ext cx="5850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If the difference is the same for each step then it is the same as multiplying by that number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4070672" y="1855846"/>
            <a:ext cx="668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+5</a:t>
            </a:r>
            <a:endParaRPr lang="en-AU" dirty="0"/>
          </a:p>
        </p:txBody>
      </p:sp>
      <p:sp>
        <p:nvSpPr>
          <p:cNvPr id="35" name="TextBox 34"/>
          <p:cNvSpPr txBox="1"/>
          <p:nvPr/>
        </p:nvSpPr>
        <p:spPr>
          <a:xfrm>
            <a:off x="5033157" y="1860997"/>
            <a:ext cx="668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+5</a:t>
            </a:r>
            <a:endParaRPr lang="en-AU" dirty="0"/>
          </a:p>
        </p:txBody>
      </p:sp>
      <p:sp>
        <p:nvSpPr>
          <p:cNvPr id="36" name="TextBox 35"/>
          <p:cNvSpPr txBox="1"/>
          <p:nvPr/>
        </p:nvSpPr>
        <p:spPr>
          <a:xfrm>
            <a:off x="5873366" y="1869586"/>
            <a:ext cx="668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+5</a:t>
            </a:r>
            <a:endParaRPr lang="en-AU" dirty="0"/>
          </a:p>
        </p:txBody>
      </p:sp>
      <p:sp>
        <p:nvSpPr>
          <p:cNvPr id="37" name="TextBox 36"/>
          <p:cNvSpPr txBox="1"/>
          <p:nvPr/>
        </p:nvSpPr>
        <p:spPr>
          <a:xfrm>
            <a:off x="2258939" y="3784718"/>
            <a:ext cx="3948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(output) = </a:t>
            </a:r>
            <a:r>
              <a:rPr lang="en-AU" dirty="0"/>
              <a:t>(input) × 5 </a:t>
            </a:r>
            <a:endParaRPr lang="en-AU" dirty="0" smtClean="0"/>
          </a:p>
          <a:p>
            <a:r>
              <a:rPr lang="en-AU" dirty="0" smtClean="0"/>
              <a:t>but since we are calling (input) x and (output) y we can write the formula as</a:t>
            </a:r>
          </a:p>
          <a:p>
            <a:r>
              <a:rPr lang="en-AU" dirty="0" smtClean="0"/>
              <a:t>y = x × 5       or     y = 5x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73670" y="3949327"/>
            <a:ext cx="1329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Writing the formula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2217305" y="3046054"/>
            <a:ext cx="13293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>
                <a:solidFill>
                  <a:srgbClr val="FF0000"/>
                </a:solidFill>
              </a:rPr>
              <a:t>1 </a:t>
            </a:r>
            <a:r>
              <a:rPr lang="en-AU" dirty="0" smtClean="0"/>
              <a:t>× 5 = 5 </a:t>
            </a:r>
          </a:p>
          <a:p>
            <a:r>
              <a:rPr lang="en-AU" dirty="0"/>
              <a:t> </a:t>
            </a:r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dirty="0" smtClean="0"/>
              <a:t> × </a:t>
            </a:r>
            <a:r>
              <a:rPr lang="en-AU" dirty="0"/>
              <a:t>5 = </a:t>
            </a:r>
            <a:r>
              <a:rPr lang="en-AU" dirty="0" smtClean="0"/>
              <a:t>10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 3 </a:t>
            </a:r>
            <a:r>
              <a:rPr lang="en-AU" dirty="0"/>
              <a:t>× 5 = </a:t>
            </a:r>
            <a:r>
              <a:rPr lang="en-AU" dirty="0" smtClean="0"/>
              <a:t>15</a:t>
            </a:r>
            <a:endParaRPr lang="en-AU" dirty="0"/>
          </a:p>
        </p:txBody>
      </p:sp>
      <p:sp>
        <p:nvSpPr>
          <p:cNvPr id="40" name="TextBox 39"/>
          <p:cNvSpPr txBox="1"/>
          <p:nvPr/>
        </p:nvSpPr>
        <p:spPr>
          <a:xfrm>
            <a:off x="630382" y="3079926"/>
            <a:ext cx="1329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Check it</a:t>
            </a:r>
            <a:endParaRPr lang="en-AU" dirty="0"/>
          </a:p>
        </p:txBody>
      </p:sp>
      <p:sp>
        <p:nvSpPr>
          <p:cNvPr id="41" name="TextBox 40"/>
          <p:cNvSpPr txBox="1"/>
          <p:nvPr/>
        </p:nvSpPr>
        <p:spPr>
          <a:xfrm>
            <a:off x="755967" y="1178231"/>
            <a:ext cx="1329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3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3" grpId="0"/>
      <p:bldP spid="31" grpId="0"/>
      <p:bldP spid="35" grpId="0"/>
      <p:bldP spid="36" grpId="0"/>
      <p:bldP spid="38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43149" y="57512"/>
            <a:ext cx="8700654" cy="50258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5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EQ: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03055" y="166255"/>
            <a:ext cx="3753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Finding a Formula From a Table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27555" y="486145"/>
            <a:ext cx="34772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1"/>
                </a:solidFill>
              </a:rPr>
              <a:t>How can we build a formula from a table?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382" y="2073245"/>
            <a:ext cx="1329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2060"/>
                </a:solidFill>
              </a:rPr>
              <a:t>How to find the rule</a:t>
            </a:r>
            <a:endParaRPr lang="en-AU" dirty="0">
              <a:solidFill>
                <a:srgbClr val="002060"/>
              </a:solidFill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720064"/>
              </p:ext>
            </p:extLst>
          </p:nvPr>
        </p:nvGraphicFramePr>
        <p:xfrm>
          <a:off x="2295130" y="1101417"/>
          <a:ext cx="4718145" cy="741680"/>
        </p:xfrm>
        <a:graphic>
          <a:graphicData uri="http://schemas.openxmlformats.org/drawingml/2006/table">
            <a:tbl>
              <a:tblPr firstRow="1" bandRow="1">
                <a:tableStyleId>{42CA31A5-7132-4A5F-A072-0CB39D90A84B}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622223616"/>
                    </a:ext>
                  </a:extLst>
                </a:gridCol>
                <a:gridCol w="781625">
                  <a:extLst>
                    <a:ext uri="{9D8B030D-6E8A-4147-A177-3AD203B41FA5}">
                      <a16:colId xmlns:a16="http://schemas.microsoft.com/office/drawing/2014/main" val="2302812295"/>
                    </a:ext>
                  </a:extLst>
                </a:gridCol>
                <a:gridCol w="948905">
                  <a:extLst>
                    <a:ext uri="{9D8B030D-6E8A-4147-A177-3AD203B41FA5}">
                      <a16:colId xmlns:a16="http://schemas.microsoft.com/office/drawing/2014/main" val="1939180800"/>
                    </a:ext>
                  </a:extLst>
                </a:gridCol>
                <a:gridCol w="836763">
                  <a:extLst>
                    <a:ext uri="{9D8B030D-6E8A-4147-A177-3AD203B41FA5}">
                      <a16:colId xmlns:a16="http://schemas.microsoft.com/office/drawing/2014/main" val="1138188876"/>
                    </a:ext>
                  </a:extLst>
                </a:gridCol>
                <a:gridCol w="931652">
                  <a:extLst>
                    <a:ext uri="{9D8B030D-6E8A-4147-A177-3AD203B41FA5}">
                      <a16:colId xmlns:a16="http://schemas.microsoft.com/office/drawing/2014/main" val="4135619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X (input)</a:t>
                      </a:r>
                      <a:endParaRPr lang="en-AU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AU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848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Y (output)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7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12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17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22</a:t>
                      </a:r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15665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132797" y="2168775"/>
            <a:ext cx="3001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002060"/>
                </a:solidFill>
              </a:rPr>
              <a:t>Find the difference for each step</a:t>
            </a:r>
            <a:endParaRPr lang="en-AU" sz="1200" dirty="0">
              <a:solidFill>
                <a:srgbClr val="00206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42288" y="2384218"/>
            <a:ext cx="5850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solidFill>
                  <a:srgbClr val="002060"/>
                </a:solidFill>
              </a:rPr>
              <a:t>If the difference is the same for each step then it is the same as multiplying by that number</a:t>
            </a:r>
            <a:endParaRPr lang="en-AU" sz="1200" dirty="0">
              <a:solidFill>
                <a:srgbClr val="00206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070672" y="1855846"/>
            <a:ext cx="668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+5</a:t>
            </a:r>
            <a:endParaRPr lang="en-AU" dirty="0"/>
          </a:p>
        </p:txBody>
      </p:sp>
      <p:sp>
        <p:nvSpPr>
          <p:cNvPr id="35" name="TextBox 34"/>
          <p:cNvSpPr txBox="1"/>
          <p:nvPr/>
        </p:nvSpPr>
        <p:spPr>
          <a:xfrm>
            <a:off x="5033157" y="1860997"/>
            <a:ext cx="668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+5</a:t>
            </a:r>
            <a:endParaRPr lang="en-AU" dirty="0"/>
          </a:p>
        </p:txBody>
      </p:sp>
      <p:sp>
        <p:nvSpPr>
          <p:cNvPr id="36" name="TextBox 35"/>
          <p:cNvSpPr txBox="1"/>
          <p:nvPr/>
        </p:nvSpPr>
        <p:spPr>
          <a:xfrm>
            <a:off x="5873366" y="1869586"/>
            <a:ext cx="668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+5</a:t>
            </a:r>
            <a:endParaRPr lang="en-AU" dirty="0"/>
          </a:p>
        </p:txBody>
      </p:sp>
      <p:sp>
        <p:nvSpPr>
          <p:cNvPr id="37" name="TextBox 36"/>
          <p:cNvSpPr txBox="1"/>
          <p:nvPr/>
        </p:nvSpPr>
        <p:spPr>
          <a:xfrm>
            <a:off x="2194692" y="4069847"/>
            <a:ext cx="3948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(output) = </a:t>
            </a:r>
            <a:r>
              <a:rPr lang="en-AU" dirty="0"/>
              <a:t>(input) × 5 </a:t>
            </a:r>
            <a:r>
              <a:rPr lang="en-AU" dirty="0" smtClean="0"/>
              <a:t>+ 2</a:t>
            </a:r>
          </a:p>
          <a:p>
            <a:r>
              <a:rPr lang="en-AU" dirty="0" smtClean="0"/>
              <a:t>but since we are calling (input) x and (output) y we can write the formula as</a:t>
            </a:r>
          </a:p>
          <a:p>
            <a:r>
              <a:rPr lang="en-AU" dirty="0" smtClean="0"/>
              <a:t>y = x × 5 + 2      or     y = 5x+2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73670" y="4069847"/>
            <a:ext cx="1329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Writing the formula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2194692" y="2840848"/>
            <a:ext cx="43248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>
                <a:solidFill>
                  <a:srgbClr val="FF0000"/>
                </a:solidFill>
              </a:rPr>
              <a:t>1</a:t>
            </a:r>
            <a:r>
              <a:rPr lang="en-AU" dirty="0" smtClean="0"/>
              <a:t> × 5 = 5   this doesn’t equal 7  </a:t>
            </a:r>
          </a:p>
          <a:p>
            <a:r>
              <a:rPr lang="en-AU" dirty="0" smtClean="0"/>
              <a:t>What do we need to do to 5 to get to 7?       +2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dirty="0" smtClean="0"/>
              <a:t> </a:t>
            </a:r>
            <a:r>
              <a:rPr lang="en-AU" dirty="0"/>
              <a:t>× 5 </a:t>
            </a:r>
            <a:r>
              <a:rPr lang="en-AU" dirty="0" smtClean="0"/>
              <a:t>+ 2 = 12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3</a:t>
            </a:r>
            <a:r>
              <a:rPr lang="en-AU" dirty="0" smtClean="0"/>
              <a:t> × 5 + 2 = 17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4</a:t>
            </a:r>
            <a:r>
              <a:rPr lang="en-AU" dirty="0" smtClean="0"/>
              <a:t> × 5 + 2 = 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026" y="2809655"/>
            <a:ext cx="1329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Check it</a:t>
            </a:r>
            <a:endParaRPr lang="en-AU" dirty="0"/>
          </a:p>
        </p:txBody>
      </p:sp>
      <p:sp>
        <p:nvSpPr>
          <p:cNvPr id="41" name="TextBox 40"/>
          <p:cNvSpPr txBox="1"/>
          <p:nvPr/>
        </p:nvSpPr>
        <p:spPr>
          <a:xfrm>
            <a:off x="755967" y="1178231"/>
            <a:ext cx="1329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 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023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3" grpId="0"/>
      <p:bldP spid="31" grpId="0"/>
      <p:bldP spid="35" grpId="0"/>
      <p:bldP spid="36" grpId="0"/>
      <p:bldP spid="38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22F3F5-75A9-4562-A219-0D27E159A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28" y="440699"/>
            <a:ext cx="8449839" cy="893072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38562" y="1333771"/>
            <a:ext cx="8449839" cy="2209500"/>
          </a:xfrm>
          <a:solidFill>
            <a:schemeClr val="bg1"/>
          </a:solidFill>
        </p:spPr>
        <p:txBody>
          <a:bodyPr/>
          <a:lstStyle/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F85DDD-26C0-4EE7-A88C-0F2AAE5723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7260" b="25401"/>
          <a:stretch/>
        </p:blipFill>
        <p:spPr>
          <a:xfrm>
            <a:off x="2413111" y="400507"/>
            <a:ext cx="3769096" cy="933264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38562" y="1333771"/>
            <a:ext cx="8449839" cy="3153562"/>
          </a:xfrm>
          <a:solidFill>
            <a:schemeClr val="bg1"/>
          </a:solidFill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54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38562" y="182880"/>
            <a:ext cx="8531118" cy="4490821"/>
          </a:xfrm>
          <a:solidFill>
            <a:schemeClr val="bg1"/>
          </a:solidFill>
        </p:spPr>
        <p:txBody>
          <a:bodyPr/>
          <a:lstStyle/>
          <a:p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8167" t="16852" r="30750" b="38407"/>
          <a:stretch/>
        </p:blipFill>
        <p:spPr>
          <a:xfrm>
            <a:off x="338562" y="182880"/>
            <a:ext cx="5577840" cy="341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9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</TotalTime>
  <Words>361</Words>
  <Application>Microsoft Office PowerPoint</Application>
  <PresentationFormat>On-screen Show (16:9)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Chalkboard</vt:lpstr>
      <vt:lpstr>Abel</vt:lpstr>
      <vt:lpstr>Fredoka One</vt:lpstr>
      <vt:lpstr>Arial</vt:lpstr>
      <vt:lpstr>Rainbow Background by Slidesgo</vt:lpstr>
      <vt:lpstr>Topic: Finding a Formula From a Table EQ: How can we build a formula from a table?</vt:lpstr>
      <vt:lpstr>PowerPoint Presentation</vt:lpstr>
      <vt:lpstr>How would a mathematician write this?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Rainbow Background</dc:title>
  <dc:creator>MCLEOD Alexandria</dc:creator>
  <cp:lastModifiedBy>MCLEOD Alexandria [Baldivis Secondary College]</cp:lastModifiedBy>
  <cp:revision>18</cp:revision>
  <dcterms:modified xsi:type="dcterms:W3CDTF">2021-08-02T13:32:41Z</dcterms:modified>
</cp:coreProperties>
</file>
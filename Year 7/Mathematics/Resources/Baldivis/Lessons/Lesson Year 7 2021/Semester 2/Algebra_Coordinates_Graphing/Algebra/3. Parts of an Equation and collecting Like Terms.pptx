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8"/>
  </p:notesMasterIdLst>
  <p:sldIdLst>
    <p:sldId id="256" r:id="rId2"/>
    <p:sldId id="309" r:id="rId3"/>
    <p:sldId id="307" r:id="rId4"/>
    <p:sldId id="259" r:id="rId5"/>
    <p:sldId id="262" r:id="rId6"/>
    <p:sldId id="308" r:id="rId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Abel" panose="020B0604020202020204" charset="0"/>
      <p:regular r:id="rId13"/>
    </p:embeddedFont>
    <p:embeddedFont>
      <p:font typeface="Fredoka One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>
        <p:scale>
          <a:sx n="50" d="100"/>
          <a:sy n="50" d="100"/>
        </p:scale>
        <p:origin x="2386" y="1142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Could print out</a:t>
            </a:r>
            <a:r>
              <a:rPr lang="en-AU" baseline="0" dirty="0" smtClean="0"/>
              <a:t> the fill in the blank graphic organizer for them to glue 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41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Worksheet</a:t>
            </a:r>
            <a:r>
              <a:rPr lang="en-AU" baseline="0" dirty="0" smtClean="0"/>
              <a:t> – Collecting Like Terms 2 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Have Sum Fun – 100 Why Shouldn’t you tell riddles while ice skating?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Go through the first 4 questions together then let</a:t>
            </a:r>
            <a:r>
              <a:rPr lang="en-AU" baseline="0" dirty="0" smtClean="0"/>
              <a:t> them work independently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6700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731818" y="1690255"/>
            <a:ext cx="5915891" cy="16348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FFFFFF"/>
                </a:solidFill>
              </a:rPr>
              <a:t>Topic: Parts of an Equation and Li</a:t>
            </a:r>
            <a:r>
              <a:rPr lang="en-AU" dirty="0" err="1" smtClean="0">
                <a:solidFill>
                  <a:srgbClr val="FFFFFF"/>
                </a:solidFill>
              </a:rPr>
              <a:t>ke</a:t>
            </a:r>
            <a:r>
              <a:rPr lang="en" dirty="0" smtClean="0">
                <a:solidFill>
                  <a:srgbClr val="FFFFFF"/>
                </a:solidFill>
              </a:rPr>
              <a:t> Terms </a:t>
            </a:r>
            <a:br>
              <a:rPr lang="en" dirty="0" smtClean="0">
                <a:solidFill>
                  <a:srgbClr val="FFFFFF"/>
                </a:solidFill>
              </a:rPr>
            </a:br>
            <a:r>
              <a:rPr lang="en" sz="2000" dirty="0" smtClean="0">
                <a:solidFill>
                  <a:srgbClr val="FFFFFF"/>
                </a:solidFill>
              </a:rPr>
              <a:t>EQ: What are the key parts of an equation and how do we collect like terms?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000" t="73000" r="24750" b="9222"/>
          <a:stretch/>
        </p:blipFill>
        <p:spPr>
          <a:xfrm>
            <a:off x="708660" y="509321"/>
            <a:ext cx="7726680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4750" t="19815" r="24167" b="56037"/>
          <a:stretch/>
        </p:blipFill>
        <p:spPr>
          <a:xfrm>
            <a:off x="708660" y="2303099"/>
            <a:ext cx="7726680" cy="205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7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9143" y="36961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Parts of a Equation and Like Terms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5795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tx1"/>
                </a:solidFill>
              </a:rPr>
              <a:t>What are the key parts of a </a:t>
            </a:r>
            <a:r>
              <a:rPr lang="en" dirty="0" smtClean="0">
                <a:solidFill>
                  <a:schemeClr val="tx1"/>
                </a:solidFill>
              </a:rPr>
              <a:t>equation </a:t>
            </a:r>
            <a:r>
              <a:rPr lang="en" dirty="0">
                <a:solidFill>
                  <a:schemeClr val="tx1"/>
                </a:solidFill>
              </a:rPr>
              <a:t>and how do we collect like terms?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13590" t="33393" r="29615" b="5256"/>
          <a:stretch/>
        </p:blipFill>
        <p:spPr>
          <a:xfrm>
            <a:off x="2052535" y="999641"/>
            <a:ext cx="5421238" cy="32940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06678" y="999641"/>
            <a:ext cx="1517308" cy="181588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Add to glossary: </a:t>
            </a:r>
          </a:p>
          <a:p>
            <a:r>
              <a:rPr lang="en-AU" dirty="0" smtClean="0"/>
              <a:t>Coefficient</a:t>
            </a:r>
          </a:p>
          <a:p>
            <a:r>
              <a:rPr lang="en-AU" dirty="0" smtClean="0"/>
              <a:t>Variable</a:t>
            </a:r>
          </a:p>
          <a:p>
            <a:r>
              <a:rPr lang="en-AU" dirty="0" smtClean="0"/>
              <a:t>Operation</a:t>
            </a:r>
          </a:p>
          <a:p>
            <a:r>
              <a:rPr lang="en-AU" dirty="0" smtClean="0"/>
              <a:t>Constant</a:t>
            </a:r>
          </a:p>
          <a:p>
            <a:r>
              <a:rPr lang="en-AU" dirty="0" smtClean="0"/>
              <a:t>Term</a:t>
            </a:r>
          </a:p>
          <a:p>
            <a:r>
              <a:rPr lang="en-AU" dirty="0" smtClean="0"/>
              <a:t>Expression</a:t>
            </a:r>
          </a:p>
          <a:p>
            <a:r>
              <a:rPr lang="en-AU" dirty="0" smtClean="0"/>
              <a:t>Equation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821410" y="1907582"/>
            <a:ext cx="1053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Parts of an Equation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3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3077" y="50430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3605" y="1270104"/>
            <a:ext cx="114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like term?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248228" y="909396"/>
            <a:ext cx="5184735" cy="30777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err="1" smtClean="0">
                <a:solidFill>
                  <a:srgbClr val="002060"/>
                </a:solidFill>
              </a:rPr>
              <a:t>QuickWrite</a:t>
            </a:r>
            <a:r>
              <a:rPr lang="en-AU" dirty="0" smtClean="0">
                <a:solidFill>
                  <a:srgbClr val="002060"/>
                </a:solidFill>
              </a:rPr>
              <a:t>! 60 seconds what do you think this could mean?</a:t>
            </a:r>
            <a:endParaRPr lang="en-AU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19629" y="1270104"/>
            <a:ext cx="5916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Terms that have the same variables to the same powers (we will not be working with powers in year 7 though)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Parts of an Equation and Like Terms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5894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tx1"/>
                </a:solidFill>
              </a:rPr>
              <a:t>What are the key parts of </a:t>
            </a:r>
            <a:r>
              <a:rPr lang="en" dirty="0" smtClean="0">
                <a:solidFill>
                  <a:schemeClr val="tx1"/>
                </a:solidFill>
              </a:rPr>
              <a:t>an equation </a:t>
            </a:r>
            <a:r>
              <a:rPr lang="en" dirty="0">
                <a:solidFill>
                  <a:schemeClr val="tx1"/>
                </a:solidFill>
              </a:rPr>
              <a:t>and how do we collect like terms?</a:t>
            </a:r>
            <a:endParaRPr lang="en-AU" dirty="0">
              <a:solidFill>
                <a:schemeClr val="tx1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077239" y="2663839"/>
            <a:ext cx="1624117" cy="1392018"/>
            <a:chOff x="368491" y="1671079"/>
            <a:chExt cx="4653602" cy="489549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440551"/>
              <a:ext cx="1568640" cy="1568640"/>
            </a:xfrm>
            <a:prstGeom prst="rect">
              <a:avLst/>
            </a:prstGeom>
          </p:spPr>
        </p:pic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2811049" y="3812853"/>
              <a:ext cx="1103671" cy="11963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17716" y="2692503"/>
            <a:ext cx="1649885" cy="1360710"/>
            <a:chOff x="368491" y="1671079"/>
            <a:chExt cx="4653602" cy="489549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440551"/>
              <a:ext cx="1568640" cy="1568640"/>
            </a:xfrm>
            <a:prstGeom prst="rect">
              <a:avLst/>
            </a:prstGeom>
          </p:spPr>
        </p:pic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2811049" y="3812853"/>
              <a:ext cx="1103671" cy="11963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647831" y="2476487"/>
            <a:ext cx="34762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We’ve got 2 lots of “m” number of blocks</a:t>
            </a:r>
          </a:p>
          <a:p>
            <a:endParaRPr lang="en-AU" dirty="0"/>
          </a:p>
          <a:p>
            <a:r>
              <a:rPr lang="en-AU" dirty="0"/>
              <a:t> </a:t>
            </a:r>
            <a:r>
              <a:rPr lang="en-AU" dirty="0" err="1" smtClean="0"/>
              <a:t>m+m</a:t>
            </a:r>
            <a:r>
              <a:rPr lang="en-AU" dirty="0" smtClean="0"/>
              <a:t> is one way we could write this </a:t>
            </a:r>
          </a:p>
          <a:p>
            <a:endParaRPr lang="en-AU" dirty="0" smtClean="0"/>
          </a:p>
          <a:p>
            <a:r>
              <a:rPr lang="en-AU" dirty="0" smtClean="0"/>
              <a:t>But these are LIKE TERMS so we can combine with a coefficient of 2</a:t>
            </a:r>
          </a:p>
          <a:p>
            <a:endParaRPr lang="en-AU" dirty="0"/>
          </a:p>
          <a:p>
            <a:r>
              <a:rPr lang="en-AU" dirty="0" smtClean="0"/>
              <a:t>2m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2046926" y="1872275"/>
            <a:ext cx="5916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can be simplified by collecting them together and writing the variable and a coefficient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51123" y="133119"/>
            <a:ext cx="67456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FFFFFF"/>
                </a:solidFill>
              </a:rPr>
              <a:t>Collecting Like Terms Practice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11" name="Google Shape;411;p43"/>
          <p:cNvSpPr txBox="1">
            <a:spLocks noGrp="1"/>
          </p:cNvSpPr>
          <p:nvPr>
            <p:ph type="body" idx="1"/>
          </p:nvPr>
        </p:nvSpPr>
        <p:spPr>
          <a:xfrm>
            <a:off x="460340" y="871783"/>
            <a:ext cx="2103956" cy="3875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I do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sz="2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1) </a:t>
            </a:r>
            <a:r>
              <a:rPr lang="en-AU" sz="2800" dirty="0" err="1" smtClean="0">
                <a:solidFill>
                  <a:schemeClr val="tx1"/>
                </a:solidFill>
              </a:rPr>
              <a:t>b+b+b</a:t>
            </a:r>
            <a:endParaRPr lang="en-AU" sz="2800"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sz="2800"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2) 2a + 4a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sz="2800"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3) 10c-4c -2e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Google Shape;411;p43"/>
          <p:cNvSpPr txBox="1">
            <a:spLocks/>
          </p:cNvSpPr>
          <p:nvPr/>
        </p:nvSpPr>
        <p:spPr>
          <a:xfrm>
            <a:off x="3245681" y="871784"/>
            <a:ext cx="2418950" cy="3875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>
              <a:buFont typeface="Abel"/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We </a:t>
            </a:r>
            <a:r>
              <a:rPr lang="pl-PL" sz="2800" dirty="0" smtClean="0">
                <a:solidFill>
                  <a:schemeClr val="tx1"/>
                </a:solidFill>
              </a:rPr>
              <a:t>do </a:t>
            </a:r>
          </a:p>
          <a:p>
            <a:pPr marL="0" indent="0">
              <a:buFont typeface="Abel"/>
              <a:buNone/>
            </a:pP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1)</a:t>
            </a:r>
            <a:r>
              <a:rPr lang="en-AU" sz="2800" dirty="0" smtClean="0">
                <a:solidFill>
                  <a:schemeClr val="tx1"/>
                </a:solidFill>
              </a:rPr>
              <a:t> </a:t>
            </a:r>
            <a:r>
              <a:rPr lang="en-AU" sz="2800" dirty="0" err="1" smtClean="0">
                <a:solidFill>
                  <a:schemeClr val="tx1"/>
                </a:solidFill>
              </a:rPr>
              <a:t>c+c+c+c+c</a:t>
            </a:r>
            <a:endParaRPr lang="en-AU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2)</a:t>
            </a:r>
            <a:r>
              <a:rPr lang="en-AU" sz="2800" dirty="0" smtClean="0">
                <a:solidFill>
                  <a:schemeClr val="tx1"/>
                </a:solidFill>
              </a:rPr>
              <a:t> e + 4e</a:t>
            </a:r>
          </a:p>
          <a:p>
            <a:pPr marL="0" indent="0">
              <a:buFont typeface="Abel"/>
              <a:buNone/>
            </a:pP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3)</a:t>
            </a:r>
            <a:r>
              <a:rPr lang="en-AU" sz="2800" dirty="0" smtClean="0">
                <a:solidFill>
                  <a:schemeClr val="tx1"/>
                </a:solidFill>
              </a:rPr>
              <a:t> 2a+a+b</a:t>
            </a: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endParaRPr lang="pl-PL" sz="2800" dirty="0">
              <a:solidFill>
                <a:srgbClr val="FFFFFF"/>
              </a:solidFill>
            </a:endParaRPr>
          </a:p>
        </p:txBody>
      </p:sp>
      <p:sp>
        <p:nvSpPr>
          <p:cNvPr id="6" name="Google Shape;411;p43"/>
          <p:cNvSpPr txBox="1">
            <a:spLocks/>
          </p:cNvSpPr>
          <p:nvPr/>
        </p:nvSpPr>
        <p:spPr>
          <a:xfrm>
            <a:off x="6239300" y="871783"/>
            <a:ext cx="2734012" cy="3875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●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Char char="○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Abel"/>
              <a:buChar char="■"/>
              <a:defRPr sz="1100" b="0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>
              <a:buFont typeface="Abel"/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You</a:t>
            </a:r>
            <a:r>
              <a:rPr lang="pl-PL" sz="2800" dirty="0" smtClean="0">
                <a:solidFill>
                  <a:schemeClr val="tx1"/>
                </a:solidFill>
              </a:rPr>
              <a:t> do </a:t>
            </a:r>
          </a:p>
          <a:p>
            <a:pPr marL="0" indent="0">
              <a:buFont typeface="Abel"/>
              <a:buNone/>
            </a:pP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1)</a:t>
            </a:r>
            <a:r>
              <a:rPr lang="en-AU" sz="2800" dirty="0" smtClean="0">
                <a:solidFill>
                  <a:schemeClr val="tx1"/>
                </a:solidFill>
              </a:rPr>
              <a:t>5f + 2f</a:t>
            </a:r>
          </a:p>
          <a:p>
            <a:pPr marL="0" indent="0">
              <a:buFont typeface="Abel"/>
              <a:buNone/>
            </a:pP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2)</a:t>
            </a:r>
            <a:r>
              <a:rPr lang="en-AU" sz="2800" dirty="0">
                <a:solidFill>
                  <a:schemeClr val="tx1"/>
                </a:solidFill>
              </a:rPr>
              <a:t> </a:t>
            </a:r>
            <a:r>
              <a:rPr lang="en-AU" sz="2800" dirty="0" smtClean="0">
                <a:solidFill>
                  <a:schemeClr val="tx1"/>
                </a:solidFill>
              </a:rPr>
              <a:t>3a – a</a:t>
            </a:r>
          </a:p>
          <a:p>
            <a:pPr marL="0" indent="0">
              <a:buFont typeface="Abel"/>
              <a:buNone/>
            </a:pP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r>
              <a:rPr lang="pl-PL" sz="2800" dirty="0" smtClean="0">
                <a:solidFill>
                  <a:schemeClr val="tx1"/>
                </a:solidFill>
              </a:rPr>
              <a:t>3)</a:t>
            </a:r>
            <a:r>
              <a:rPr lang="en-AU" sz="2800" dirty="0" smtClean="0">
                <a:solidFill>
                  <a:schemeClr val="tx1"/>
                </a:solidFill>
              </a:rPr>
              <a:t> 6h + 2h +4r</a:t>
            </a:r>
            <a:endParaRPr lang="pl-PL" sz="2800" dirty="0" smtClean="0">
              <a:solidFill>
                <a:schemeClr val="tx1"/>
              </a:solidFill>
            </a:endParaRPr>
          </a:p>
          <a:p>
            <a:pPr marL="0" indent="0">
              <a:buFont typeface="Abel"/>
              <a:buNone/>
            </a:pPr>
            <a:endParaRPr lang="pl-PL" sz="2800" dirty="0">
              <a:solidFill>
                <a:srgbClr val="FFFF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64631" y="59940"/>
            <a:ext cx="3308681" cy="7386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Ask yourself:</a:t>
            </a:r>
          </a:p>
          <a:p>
            <a:r>
              <a:rPr lang="en-AU" dirty="0" smtClean="0"/>
              <a:t>Are they like terms?</a:t>
            </a:r>
          </a:p>
          <a:p>
            <a:r>
              <a:rPr lang="en-AU" dirty="0" smtClean="0"/>
              <a:t>Do they have the exact same variable?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16237" y="4805691"/>
            <a:ext cx="3773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Worksheet – Collecting Like Terms 2 </a:t>
            </a:r>
          </a:p>
          <a:p>
            <a:endParaRPr lang="en-A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36961"/>
            <a:ext cx="8700654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3605" y="1270104"/>
            <a:ext cx="1385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simplify with multiplication or division?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084283" y="1116216"/>
            <a:ext cx="6082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Mathematicians simplify without multiplication symbols AND write variables in alphabetical order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103830" y="886691"/>
            <a:ext cx="491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Parts of an Equation and Like Terms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5894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tx1"/>
                </a:solidFill>
              </a:rPr>
              <a:t>What are the key parts of </a:t>
            </a:r>
            <a:r>
              <a:rPr lang="en" dirty="0" smtClean="0">
                <a:solidFill>
                  <a:schemeClr val="tx1"/>
                </a:solidFill>
              </a:rPr>
              <a:t>an equation </a:t>
            </a:r>
            <a:r>
              <a:rPr lang="en" dirty="0">
                <a:solidFill>
                  <a:schemeClr val="tx1"/>
                </a:solidFill>
              </a:rPr>
              <a:t>and how do we collect like terms?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49711" y="1777635"/>
            <a:ext cx="132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 × a × 2      =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084283" y="2271809"/>
            <a:ext cx="633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can combine the numbers (by multiplying or dividing) to make one coefficient in front of the variable, then list the variables in alphabetical order  </a:t>
            </a:r>
            <a:endParaRPr lang="en-AU" dirty="0"/>
          </a:p>
        </p:txBody>
      </p:sp>
      <p:sp>
        <p:nvSpPr>
          <p:cNvPr id="29" name="TextBox 28"/>
          <p:cNvSpPr txBox="1"/>
          <p:nvPr/>
        </p:nvSpPr>
        <p:spPr>
          <a:xfrm>
            <a:off x="3943352" y="1777635"/>
            <a:ext cx="1442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 × 2 </a:t>
            </a:r>
            <a:r>
              <a:rPr lang="en-AU" dirty="0"/>
              <a:t>× </a:t>
            </a:r>
            <a:r>
              <a:rPr lang="en-AU" dirty="0" smtClean="0"/>
              <a:t>a      =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5385409" y="1777635"/>
            <a:ext cx="1120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  <a:r>
              <a:rPr lang="en-AU" dirty="0" smtClean="0"/>
              <a:t> </a:t>
            </a:r>
            <a:r>
              <a:rPr lang="en-AU" dirty="0"/>
              <a:t>× </a:t>
            </a:r>
            <a:r>
              <a:rPr lang="en-AU" dirty="0" smtClean="0"/>
              <a:t>a      =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6827466" y="1774668"/>
            <a:ext cx="966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6a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262084" y="2899461"/>
            <a:ext cx="149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 × f × 4 × t    =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3879809" y="2899567"/>
            <a:ext cx="1442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 × </a:t>
            </a:r>
            <a:r>
              <a:rPr lang="en-AU" dirty="0" smtClean="0"/>
              <a:t>4 </a:t>
            </a:r>
            <a:r>
              <a:rPr lang="en-AU" dirty="0"/>
              <a:t>× </a:t>
            </a:r>
            <a:r>
              <a:rPr lang="en-AU" dirty="0" smtClean="0"/>
              <a:t>f </a:t>
            </a:r>
            <a:r>
              <a:rPr lang="en-AU" dirty="0"/>
              <a:t>× t </a:t>
            </a:r>
            <a:r>
              <a:rPr lang="en-AU" dirty="0" smtClean="0"/>
              <a:t>=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5442406" y="2898377"/>
            <a:ext cx="1385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8 </a:t>
            </a:r>
            <a:r>
              <a:rPr lang="en-AU" dirty="0"/>
              <a:t>× </a:t>
            </a:r>
            <a:r>
              <a:rPr lang="en-AU" dirty="0" smtClean="0"/>
              <a:t>f × </a:t>
            </a:r>
            <a:r>
              <a:rPr lang="en-AU" dirty="0"/>
              <a:t>t</a:t>
            </a:r>
            <a:r>
              <a:rPr lang="en-AU" dirty="0" smtClean="0"/>
              <a:t>     =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6827466" y="2898377"/>
            <a:ext cx="966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8ft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216325" y="2898377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 1.</a:t>
            </a:r>
            <a:endParaRPr lang="en-AU" dirty="0"/>
          </a:p>
        </p:txBody>
      </p:sp>
      <p:sp>
        <p:nvSpPr>
          <p:cNvPr id="37" name="TextBox 36"/>
          <p:cNvSpPr txBox="1"/>
          <p:nvPr/>
        </p:nvSpPr>
        <p:spPr>
          <a:xfrm>
            <a:off x="1211489" y="3489642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 2.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1211489" y="4122357"/>
            <a:ext cx="70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 3.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2103050" y="3565870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 × 10 × b × 2 × c    =</a:t>
            </a:r>
            <a:endParaRPr lang="en-AU" dirty="0"/>
          </a:p>
        </p:txBody>
      </p:sp>
      <p:sp>
        <p:nvSpPr>
          <p:cNvPr id="40" name="TextBox 39"/>
          <p:cNvSpPr txBox="1"/>
          <p:nvPr/>
        </p:nvSpPr>
        <p:spPr>
          <a:xfrm>
            <a:off x="4155693" y="3555961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 × 10 × 2 × b × c    =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6067546" y="3569489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100 × b × c    =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574798" y="3546129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100bc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2207703" y="4122357"/>
            <a:ext cx="149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</a:t>
            </a:r>
            <a:r>
              <a:rPr lang="en-AU" dirty="0" smtClean="0"/>
              <a:t> × m ÷ 2      =</a:t>
            </a:r>
            <a:endParaRPr lang="en-AU" dirty="0"/>
          </a:p>
        </p:txBody>
      </p:sp>
      <p:sp>
        <p:nvSpPr>
          <p:cNvPr id="45" name="TextBox 44"/>
          <p:cNvSpPr txBox="1"/>
          <p:nvPr/>
        </p:nvSpPr>
        <p:spPr>
          <a:xfrm>
            <a:off x="4048622" y="4098704"/>
            <a:ext cx="149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</a:t>
            </a:r>
            <a:r>
              <a:rPr lang="en-AU" dirty="0" smtClean="0"/>
              <a:t> ÷ 2 </a:t>
            </a:r>
            <a:r>
              <a:rPr lang="en-AU" dirty="0"/>
              <a:t>× m</a:t>
            </a:r>
            <a:r>
              <a:rPr lang="en-AU" dirty="0" smtClean="0"/>
              <a:t>     =</a:t>
            </a:r>
            <a:endParaRPr lang="en-AU" dirty="0"/>
          </a:p>
        </p:txBody>
      </p:sp>
      <p:sp>
        <p:nvSpPr>
          <p:cNvPr id="46" name="TextBox 45"/>
          <p:cNvSpPr txBox="1"/>
          <p:nvPr/>
        </p:nvSpPr>
        <p:spPr>
          <a:xfrm>
            <a:off x="5923415" y="4098703"/>
            <a:ext cx="149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</a:t>
            </a:r>
            <a:r>
              <a:rPr lang="en-AU" dirty="0" smtClean="0"/>
              <a:t> </a:t>
            </a:r>
            <a:r>
              <a:rPr lang="en-AU" dirty="0"/>
              <a:t>× m</a:t>
            </a:r>
            <a:r>
              <a:rPr lang="en-AU" dirty="0" smtClean="0"/>
              <a:t>     =</a:t>
            </a:r>
            <a:endParaRPr lang="en-AU" dirty="0"/>
          </a:p>
        </p:txBody>
      </p:sp>
      <p:sp>
        <p:nvSpPr>
          <p:cNvPr id="47" name="TextBox 46"/>
          <p:cNvSpPr txBox="1"/>
          <p:nvPr/>
        </p:nvSpPr>
        <p:spPr>
          <a:xfrm>
            <a:off x="7313902" y="4075455"/>
            <a:ext cx="2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4m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145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19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</TotalTime>
  <Words>499</Words>
  <Application>Microsoft Office PowerPoint</Application>
  <PresentationFormat>On-screen Show (16:9)</PresentationFormat>
  <Paragraphs>105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Chalkboard</vt:lpstr>
      <vt:lpstr>Abel</vt:lpstr>
      <vt:lpstr>Fredoka One</vt:lpstr>
      <vt:lpstr>Arial</vt:lpstr>
      <vt:lpstr>Rainbow Background by Slidesgo</vt:lpstr>
      <vt:lpstr>Topic: Parts of an Equation and Like Terms  EQ: What are the key parts of an equation and how do we collect like terms?</vt:lpstr>
      <vt:lpstr>PowerPoint Presentation</vt:lpstr>
      <vt:lpstr>PowerPoint Presentation</vt:lpstr>
      <vt:lpstr>PowerPoint Presentation</vt:lpstr>
      <vt:lpstr>Collecting Like Terms 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Rainbow Background</dc:title>
  <dc:creator>MCLEOD Alexandria</dc:creator>
  <cp:lastModifiedBy>MCLEOD Alexandria [Baldivis Secondary College]</cp:lastModifiedBy>
  <cp:revision>13</cp:revision>
  <dcterms:modified xsi:type="dcterms:W3CDTF">2021-08-02T13:19:41Z</dcterms:modified>
</cp:coreProperties>
</file>
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3" r:id="rId5"/>
    <p:sldId id="266" r:id="rId6"/>
    <p:sldId id="267" r:id="rId7"/>
    <p:sldId id="259" r:id="rId8"/>
    <p:sldId id="261" r:id="rId9"/>
    <p:sldId id="268" r:id="rId10"/>
    <p:sldId id="269" r:id="rId11"/>
    <p:sldId id="270" r:id="rId12"/>
    <p:sldId id="271" r:id="rId13"/>
    <p:sldId id="275" r:id="rId14"/>
    <p:sldId id="273" r:id="rId15"/>
    <p:sldId id="276" r:id="rId16"/>
    <p:sldId id="277" r:id="rId17"/>
    <p:sldId id="278" r:id="rId18"/>
    <p:sldId id="279" r:id="rId19"/>
    <p:sldId id="280" r:id="rId20"/>
    <p:sldId id="274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>
        <p:scale>
          <a:sx n="78" d="100"/>
          <a:sy n="78" d="100"/>
        </p:scale>
        <p:origin x="102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253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884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096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00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028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993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149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324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32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58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3447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172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9398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8133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3617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03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A21CD-B3C0-41A9-B166-BBD3EC8B76B3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EE17A5-036C-42A1-8732-23A3C33560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576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514C-201C-454A-8D01-43DB4C3F03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Solving linear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06EF5-48C7-4D18-A1CE-2C8492689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Year 7</a:t>
            </a:r>
          </a:p>
          <a:p>
            <a:r>
              <a:rPr lang="en-AU" dirty="0"/>
              <a:t>Week 6</a:t>
            </a:r>
          </a:p>
          <a:p>
            <a:r>
              <a:rPr lang="en-AU" dirty="0"/>
              <a:t>Lesson 1</a:t>
            </a:r>
          </a:p>
        </p:txBody>
      </p:sp>
    </p:spTree>
    <p:extLst>
      <p:ext uri="{BB962C8B-B14F-4D97-AF65-F5344CB8AC3E}">
        <p14:creationId xmlns:p14="http://schemas.microsoft.com/office/powerpoint/2010/main" val="417198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2DEF-61F6-4447-9E75-7032A518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First 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09C90-0C07-4C1D-92E8-03ADD0598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( 4 + 5 ) x ( 2 – 1 ) =</a:t>
            </a:r>
          </a:p>
          <a:p>
            <a:endParaRPr lang="en-AU" dirty="0"/>
          </a:p>
          <a:p>
            <a:r>
              <a:rPr lang="en-AU" dirty="0"/>
              <a:t>What is the mean for the following: 3, 1, 5, 4, 7, 9</a:t>
            </a:r>
          </a:p>
          <a:p>
            <a:endParaRPr lang="en-AU" dirty="0"/>
          </a:p>
          <a:p>
            <a:r>
              <a:rPr lang="en-AU" dirty="0"/>
              <a:t>Simplify the following ratio, 9: 99 =</a:t>
            </a:r>
          </a:p>
          <a:p>
            <a:endParaRPr lang="en-AU" dirty="0"/>
          </a:p>
          <a:p>
            <a:r>
              <a:rPr lang="en-AU" dirty="0"/>
              <a:t>What is 25% of $40</a:t>
            </a:r>
          </a:p>
          <a:p>
            <a:endParaRPr lang="en-AU" dirty="0"/>
          </a:p>
          <a:p>
            <a:r>
              <a:rPr lang="en-AU" dirty="0"/>
              <a:t>X + 2 = 5, state what the expression is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046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(demonstration)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8596668" cy="3880773"/>
          </a:xfrm>
        </p:spPr>
        <p:txBody>
          <a:bodyPr/>
          <a:lstStyle/>
          <a:p>
            <a:r>
              <a:rPr lang="en-AU" dirty="0"/>
              <a:t>Using the following rule, Y = 2x + 1, complete the below table.</a:t>
            </a:r>
          </a:p>
          <a:p>
            <a:r>
              <a:rPr lang="en-AU" dirty="0"/>
              <a:t>Once completed plot it on the cartesian plane.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you graph a linear equation on the cartesian plane?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46C58C4-DD3A-439E-8B28-9BBE7B518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178338"/>
              </p:ext>
            </p:extLst>
          </p:nvPr>
        </p:nvGraphicFramePr>
        <p:xfrm>
          <a:off x="2121123" y="2094967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6218572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446335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39555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42252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914912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8116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5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184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1DF4C11-8CCB-4ACB-92BB-1B0416FD9BB7}"/>
              </a:ext>
            </a:extLst>
          </p:cNvPr>
          <p:cNvSpPr txBox="1"/>
          <p:nvPr/>
        </p:nvSpPr>
        <p:spPr>
          <a:xfrm>
            <a:off x="247035" y="1473213"/>
            <a:ext cx="1742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graph points from a table?</a:t>
            </a:r>
            <a:endParaRPr lang="en-AU" dirty="0"/>
          </a:p>
        </p:txBody>
      </p:sp>
      <p:pic>
        <p:nvPicPr>
          <p:cNvPr id="12" name="Picture 11" descr="Chart&#10;&#10;Description automatically generated">
            <a:extLst>
              <a:ext uri="{FF2B5EF4-FFF2-40B4-BE49-F238E27FC236}">
                <a16:creationId xmlns:a16="http://schemas.microsoft.com/office/drawing/2014/main" id="{EFD7E162-7819-4EC5-BE46-1946B8060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123" y="3019425"/>
            <a:ext cx="3771900" cy="3838575"/>
          </a:xfrm>
          <a:prstGeom prst="rect">
            <a:avLst/>
          </a:prstGeom>
        </p:spPr>
      </p:pic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B898C1AC-A498-41A9-A597-C37A0A950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473" y="3109912"/>
            <a:ext cx="33909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5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(demonstration)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8596668" cy="3880773"/>
          </a:xfrm>
        </p:spPr>
        <p:txBody>
          <a:bodyPr/>
          <a:lstStyle/>
          <a:p>
            <a:r>
              <a:rPr lang="en-AU" dirty="0"/>
              <a:t>Using the following rule, Y = 3x + 5, complete the below table.</a:t>
            </a:r>
          </a:p>
          <a:p>
            <a:r>
              <a:rPr lang="en-AU" dirty="0"/>
              <a:t>Once completed plot it on the cartesian plane.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you graph a linear equation on the cartesian plane?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46C58C4-DD3A-439E-8B28-9BBE7B518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44071"/>
              </p:ext>
            </p:extLst>
          </p:nvPr>
        </p:nvGraphicFramePr>
        <p:xfrm>
          <a:off x="2121123" y="2094967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6218572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446335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39555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42252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914912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8116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5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18447"/>
                  </a:ext>
                </a:extLst>
              </a:tr>
            </a:tbl>
          </a:graphicData>
        </a:graphic>
      </p:graphicFrame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FEF22E1D-CFCE-4DC6-9C9A-313CA9FD6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125" y="3039840"/>
            <a:ext cx="3734244" cy="3818160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DA311C37-DFE7-409D-8E59-FE7B24644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991" y="3081453"/>
            <a:ext cx="2729178" cy="381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9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(your turn)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8596668" cy="3880773"/>
          </a:xfrm>
        </p:spPr>
        <p:txBody>
          <a:bodyPr/>
          <a:lstStyle/>
          <a:p>
            <a:r>
              <a:rPr lang="en-AU" dirty="0"/>
              <a:t>Using the following rule, Y = 4x + 1, complete the below table.</a:t>
            </a:r>
          </a:p>
          <a:p>
            <a:r>
              <a:rPr lang="en-AU" dirty="0"/>
              <a:t>Once completed plot it on the cartesian plane.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you graph a linear equation on the cartesian plane?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46C58C4-DD3A-439E-8B28-9BBE7B518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48361"/>
              </p:ext>
            </p:extLst>
          </p:nvPr>
        </p:nvGraphicFramePr>
        <p:xfrm>
          <a:off x="2121123" y="2094967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6218572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446335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39555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42252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914912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8116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5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18447"/>
                  </a:ext>
                </a:extLst>
              </a:tr>
            </a:tbl>
          </a:graphicData>
        </a:graphic>
      </p:graphicFrame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FEF22E1D-CFCE-4DC6-9C9A-313CA9FD6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125" y="3039840"/>
            <a:ext cx="3734244" cy="3818160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D90B3E87-14D0-48CC-B2B8-C3C606E0E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347" y="3039840"/>
            <a:ext cx="2062655" cy="350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(your turn)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8596668" cy="3880773"/>
          </a:xfrm>
        </p:spPr>
        <p:txBody>
          <a:bodyPr/>
          <a:lstStyle/>
          <a:p>
            <a:r>
              <a:rPr lang="en-AU" dirty="0"/>
              <a:t>Using the following rule, Y = 1.5x + 3, complete the below table.</a:t>
            </a:r>
          </a:p>
          <a:p>
            <a:r>
              <a:rPr lang="en-AU" dirty="0"/>
              <a:t>Once completed plot it on the cartesian plane.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you graph a linear equation on the cartesian plane?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46C58C4-DD3A-439E-8B28-9BBE7B518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339598"/>
              </p:ext>
            </p:extLst>
          </p:nvPr>
        </p:nvGraphicFramePr>
        <p:xfrm>
          <a:off x="2121123" y="2094967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6218572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446335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39555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42252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914912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8116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5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18447"/>
                  </a:ext>
                </a:extLst>
              </a:tr>
            </a:tbl>
          </a:graphicData>
        </a:graphic>
      </p:graphicFrame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FEF22E1D-CFCE-4DC6-9C9A-313CA9FD6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125" y="3039840"/>
            <a:ext cx="3734244" cy="3818160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9BAB667-CC45-43ED-A8BC-499535158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743" y="3218659"/>
            <a:ext cx="3135730" cy="318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the following rules and graph them on the worksheets provided</a:t>
            </a:r>
          </a:p>
          <a:p>
            <a:pPr lvl="1"/>
            <a:r>
              <a:rPr lang="en-AU" dirty="0"/>
              <a:t>Qn.1	Y = 2x – 2 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Qn.2	Y = -x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Qn.3 	Y = 0.5x – 1 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Qn.4 	Y = 3x + 2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NOTE: create the table first.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734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128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514C-201C-454A-8D01-43DB4C3F03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Solving worded </a:t>
            </a:r>
            <a:br>
              <a:rPr lang="en-AU" dirty="0"/>
            </a:br>
            <a:r>
              <a:rPr lang="en-AU" dirty="0"/>
              <a:t>linear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06EF5-48C7-4D18-A1CE-2C8492689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Year 7</a:t>
            </a:r>
          </a:p>
          <a:p>
            <a:r>
              <a:rPr lang="en-AU" dirty="0"/>
              <a:t>Week 6</a:t>
            </a:r>
          </a:p>
          <a:p>
            <a:r>
              <a:rPr lang="en-AU" dirty="0"/>
              <a:t>Lesson 2</a:t>
            </a:r>
          </a:p>
        </p:txBody>
      </p:sp>
    </p:spTree>
    <p:extLst>
      <p:ext uri="{BB962C8B-B14F-4D97-AF65-F5344CB8AC3E}">
        <p14:creationId xmlns:p14="http://schemas.microsoft.com/office/powerpoint/2010/main" val="312425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2DEF-61F6-4447-9E75-7032A518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First 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09C90-0C07-4C1D-92E8-03ADD0598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( 93 – ( 1 + 8 ) ) x 2 =</a:t>
            </a:r>
          </a:p>
          <a:p>
            <a:endParaRPr lang="en-AU" dirty="0"/>
          </a:p>
          <a:p>
            <a:r>
              <a:rPr lang="en-AU" dirty="0"/>
              <a:t>What is the mean and mode for the following: 3, 1, 2, 7, 4, 7, 9</a:t>
            </a:r>
          </a:p>
          <a:p>
            <a:endParaRPr lang="en-AU" dirty="0"/>
          </a:p>
          <a:p>
            <a:r>
              <a:rPr lang="en-AU" dirty="0"/>
              <a:t>Simplify the following ratio, 12: 144 =</a:t>
            </a:r>
          </a:p>
          <a:p>
            <a:endParaRPr lang="en-AU" dirty="0"/>
          </a:p>
          <a:p>
            <a:r>
              <a:rPr lang="en-AU" dirty="0"/>
              <a:t>What is 30% of $80</a:t>
            </a:r>
          </a:p>
          <a:p>
            <a:endParaRPr lang="en-AU" dirty="0"/>
          </a:p>
          <a:p>
            <a:r>
              <a:rPr lang="en-AU" dirty="0"/>
              <a:t>X + 2 = 5, state what the terms are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8088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(demonstration)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8596668" cy="5579727"/>
          </a:xfrm>
        </p:spPr>
        <p:txBody>
          <a:bodyPr/>
          <a:lstStyle/>
          <a:p>
            <a:pPr fontAlgn="base"/>
            <a:r>
              <a:rPr lang="en-AU" dirty="0"/>
              <a:t>Ever since Renata moved to her new home, she's been keeping track of the height of the tree outside her window.</a:t>
            </a:r>
            <a:r>
              <a:rPr lang="en-AU" i="1" dirty="0"/>
              <a:t> </a:t>
            </a:r>
          </a:p>
          <a:p>
            <a:pPr fontAlgn="base"/>
            <a:r>
              <a:rPr lang="en-AU" dirty="0"/>
              <a:t>Y represents the height of the tree (in cm), X</a:t>
            </a:r>
            <a:r>
              <a:rPr lang="en-AU" i="1" dirty="0"/>
              <a:t> </a:t>
            </a:r>
            <a:r>
              <a:rPr lang="en-AU" dirty="0"/>
              <a:t>represents years since Renata moved in.</a:t>
            </a:r>
          </a:p>
          <a:p>
            <a:pPr fontAlgn="base"/>
            <a:r>
              <a:rPr lang="en-AU" dirty="0"/>
              <a:t>Y = 5 + 3</a:t>
            </a:r>
            <a:r>
              <a:rPr lang="en-AU" i="1" dirty="0"/>
              <a:t>X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fast does the tree grow per year?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Answer = 3cm per year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you graph a linear equation from worded question?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46C58C4-DD3A-439E-8B28-9BBE7B518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887961"/>
              </p:ext>
            </p:extLst>
          </p:nvPr>
        </p:nvGraphicFramePr>
        <p:xfrm>
          <a:off x="2121124" y="3058160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6218572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446335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39555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42252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914912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8116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5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184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1DF4C11-8CCB-4ACB-92BB-1B0416FD9BB7}"/>
              </a:ext>
            </a:extLst>
          </p:cNvPr>
          <p:cNvSpPr txBox="1"/>
          <p:nvPr/>
        </p:nvSpPr>
        <p:spPr>
          <a:xfrm>
            <a:off x="247035" y="1473213"/>
            <a:ext cx="1742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graph a linear equation from a worded question?</a:t>
            </a:r>
            <a:endParaRPr lang="en-AU" dirty="0"/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E1F48B6C-D57D-46C9-8BB6-650B468D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914" y="3838900"/>
            <a:ext cx="2760093" cy="305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6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(demonstration)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8596668" cy="5579727"/>
          </a:xfrm>
        </p:spPr>
        <p:txBody>
          <a:bodyPr/>
          <a:lstStyle/>
          <a:p>
            <a:pPr fontAlgn="base"/>
            <a:r>
              <a:rPr lang="en-AU" b="0" i="0" dirty="0">
                <a:solidFill>
                  <a:srgbClr val="444444"/>
                </a:solidFill>
                <a:effectLst/>
                <a:latin typeface="Lato"/>
              </a:rPr>
              <a:t>A young sumo wrestler decided to go on a special diet to gain weight rapidly.</a:t>
            </a:r>
          </a:p>
          <a:p>
            <a:pPr fontAlgn="base"/>
            <a:r>
              <a:rPr lang="en-AU" b="0" i="0" dirty="0">
                <a:solidFill>
                  <a:srgbClr val="444444"/>
                </a:solidFill>
                <a:effectLst/>
                <a:latin typeface="Lato"/>
              </a:rPr>
              <a:t>Y represents the wrestler's weight (in kilograms) and X represents the time (in months).</a:t>
            </a:r>
          </a:p>
          <a:p>
            <a:pPr fontAlgn="base"/>
            <a:r>
              <a:rPr lang="en-AU" dirty="0"/>
              <a:t>Y = 5x + 30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weight does the wrestler gain every 2 months?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Answer = 10kg per 2 months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you graph a linear equation from worded question?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46C58C4-DD3A-439E-8B28-9BBE7B518975}"/>
              </a:ext>
            </a:extLst>
          </p:cNvPr>
          <p:cNvGraphicFramePr>
            <a:graphicFrameLocks noGrp="1"/>
          </p:cNvGraphicFramePr>
          <p:nvPr/>
        </p:nvGraphicFramePr>
        <p:xfrm>
          <a:off x="2121124" y="3058160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6218572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446335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39555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42252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914912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8116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5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18447"/>
                  </a:ext>
                </a:extLst>
              </a:tr>
            </a:tbl>
          </a:graphicData>
        </a:graphic>
      </p:graphicFrame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2E22967-275F-4D37-8BCA-33D09491E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983" y="3690938"/>
            <a:ext cx="2424112" cy="31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0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questions - worksheet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Answer the questions on the provided worksheets </a:t>
            </a:r>
          </a:p>
          <a:p>
            <a:endParaRPr lang="en-AU" dirty="0"/>
          </a:p>
          <a:p>
            <a:r>
              <a:rPr lang="en-AU" dirty="0"/>
              <a:t>We will go through them together before the end of the lesson.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4274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044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514C-201C-454A-8D01-43DB4C3F03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Balancing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06EF5-48C7-4D18-A1CE-2C8492689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Year 7</a:t>
            </a:r>
          </a:p>
          <a:p>
            <a:r>
              <a:rPr lang="en-AU" dirty="0"/>
              <a:t>Week 6</a:t>
            </a:r>
          </a:p>
          <a:p>
            <a:r>
              <a:rPr lang="en-AU" dirty="0"/>
              <a:t>Lesson 3</a:t>
            </a:r>
          </a:p>
        </p:txBody>
      </p:sp>
    </p:spTree>
    <p:extLst>
      <p:ext uri="{BB962C8B-B14F-4D97-AF65-F5344CB8AC3E}">
        <p14:creationId xmlns:p14="http://schemas.microsoft.com/office/powerpoint/2010/main" val="874372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2DEF-61F6-4447-9E75-7032A518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First 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09C90-0C07-4C1D-92E8-03ADD0598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( 4 + 5 ) x ( 5 – 2 ) =</a:t>
            </a:r>
          </a:p>
          <a:p>
            <a:endParaRPr lang="en-AU" dirty="0"/>
          </a:p>
          <a:p>
            <a:r>
              <a:rPr lang="en-AU" dirty="0"/>
              <a:t>What is the mean and median for the following: 3, 2, 1, 5, 13, 4, 7, 9, 11</a:t>
            </a:r>
          </a:p>
          <a:p>
            <a:endParaRPr lang="en-AU" dirty="0"/>
          </a:p>
          <a:p>
            <a:r>
              <a:rPr lang="en-AU" dirty="0"/>
              <a:t>Simplify the following ratio, 5 : 35 =</a:t>
            </a:r>
          </a:p>
          <a:p>
            <a:endParaRPr lang="en-AU" dirty="0"/>
          </a:p>
          <a:p>
            <a:r>
              <a:rPr lang="en-AU" dirty="0"/>
              <a:t>What is 75% of $28</a:t>
            </a:r>
          </a:p>
          <a:p>
            <a:endParaRPr lang="en-AU" dirty="0"/>
          </a:p>
          <a:p>
            <a:r>
              <a:rPr lang="en-AU" dirty="0"/>
              <a:t>3x + 2 = 5, state the coefficient </a:t>
            </a:r>
            <a:r>
              <a:rPr lang="en-AU"/>
              <a:t>and variable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534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(demonstration)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7744766" cy="5579727"/>
          </a:xfrm>
        </p:spPr>
        <p:txBody>
          <a:bodyPr/>
          <a:lstStyle/>
          <a:p>
            <a:pPr fontAlgn="base"/>
            <a:r>
              <a:rPr lang="en-AU" dirty="0"/>
              <a:t>When we try to balance an equation, we make sure both sides of the scale are balanced, for example, when tackling the below question..</a:t>
            </a:r>
          </a:p>
          <a:p>
            <a:pPr marL="0" indent="0" fontAlgn="base">
              <a:buNone/>
            </a:pPr>
            <a:r>
              <a:rPr lang="en-AU" dirty="0"/>
              <a:t>                         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we balance equations?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F4C11-8CCB-4ACB-92BB-1B0416FD9BB7}"/>
              </a:ext>
            </a:extLst>
          </p:cNvPr>
          <p:cNvSpPr txBox="1"/>
          <p:nvPr/>
        </p:nvSpPr>
        <p:spPr>
          <a:xfrm>
            <a:off x="247035" y="1473213"/>
            <a:ext cx="1742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approach balancing equations?</a:t>
            </a:r>
            <a:endParaRPr lang="en-AU" dirty="0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A338537B-38E6-46C4-A8A0-75D37A105979}"/>
              </a:ext>
            </a:extLst>
          </p:cNvPr>
          <p:cNvSpPr/>
          <p:nvPr/>
        </p:nvSpPr>
        <p:spPr>
          <a:xfrm>
            <a:off x="5857202" y="3484585"/>
            <a:ext cx="1167028" cy="309666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ACF8023-EBAC-4E23-B6D9-016126159911}"/>
              </a:ext>
            </a:extLst>
          </p:cNvPr>
          <p:cNvGrpSpPr/>
          <p:nvPr/>
        </p:nvGrpSpPr>
        <p:grpSpPr>
          <a:xfrm>
            <a:off x="7877245" y="3412946"/>
            <a:ext cx="1112672" cy="1945019"/>
            <a:chOff x="566547" y="1590541"/>
            <a:chExt cx="1661375" cy="2343955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5CE283B-D223-416A-8917-42945D931A19}"/>
                </a:ext>
              </a:extLst>
            </p:cNvPr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E403A86-EC59-43C8-BA88-D24E9573BFC2}"/>
                </a:ext>
              </a:extLst>
            </p:cNvPr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278C065-3C80-4772-819E-9513A110FD27}"/>
                </a:ext>
              </a:extLst>
            </p:cNvPr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D3C0481D-E679-4D33-91FC-98E54964B1D7}"/>
              </a:ext>
            </a:extLst>
          </p:cNvPr>
          <p:cNvSpPr/>
          <p:nvPr/>
        </p:nvSpPr>
        <p:spPr>
          <a:xfrm>
            <a:off x="5051976" y="6462776"/>
            <a:ext cx="2863621" cy="118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BD961B2-49F7-47D8-88D0-36EA5A1481E5}"/>
              </a:ext>
            </a:extLst>
          </p:cNvPr>
          <p:cNvGrpSpPr/>
          <p:nvPr/>
        </p:nvGrpSpPr>
        <p:grpSpPr>
          <a:xfrm>
            <a:off x="4452569" y="3067927"/>
            <a:ext cx="3976293" cy="422346"/>
            <a:chOff x="1397235" y="1324303"/>
            <a:chExt cx="5937161" cy="630621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6766064-313A-420E-8AFE-39C1EF110959}"/>
                </a:ext>
              </a:extLst>
            </p:cNvPr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1BD2F18-3591-43EC-949A-041978C25758}"/>
                </a:ext>
              </a:extLst>
            </p:cNvPr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9973BB9-EB61-47F1-BB4A-9B69317ABB7F}"/>
              </a:ext>
            </a:extLst>
          </p:cNvPr>
          <p:cNvGrpSpPr/>
          <p:nvPr/>
        </p:nvGrpSpPr>
        <p:grpSpPr>
          <a:xfrm>
            <a:off x="3916244" y="3386688"/>
            <a:ext cx="1112672" cy="1945019"/>
            <a:chOff x="566547" y="1590541"/>
            <a:chExt cx="1661375" cy="234395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D71DBE1-593F-42D7-8625-CCC9E2FD19A4}"/>
                </a:ext>
              </a:extLst>
            </p:cNvPr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E5A97E6-A099-46AE-AD4E-2C32A8C78626}"/>
                </a:ext>
              </a:extLst>
            </p:cNvPr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7BE46E3-1A77-4515-8CC6-1232FA3528B4}"/>
                </a:ext>
              </a:extLst>
            </p:cNvPr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A64D7ABC-289F-4400-81A9-B6B071B0DED6}"/>
              </a:ext>
            </a:extLst>
          </p:cNvPr>
          <p:cNvSpPr/>
          <p:nvPr/>
        </p:nvSpPr>
        <p:spPr>
          <a:xfrm>
            <a:off x="4163657" y="4904855"/>
            <a:ext cx="274832" cy="30798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1B12AADB-86A6-4E2B-8B14-C80AE4267FDE}"/>
              </a:ext>
            </a:extLst>
          </p:cNvPr>
          <p:cNvSpPr/>
          <p:nvPr/>
        </p:nvSpPr>
        <p:spPr>
          <a:xfrm>
            <a:off x="4570099" y="4904186"/>
            <a:ext cx="274832" cy="30798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FC134B-C988-459C-BA2F-ADAE574AA2C0}"/>
              </a:ext>
            </a:extLst>
          </p:cNvPr>
          <p:cNvSpPr txBox="1"/>
          <p:nvPr/>
        </p:nvSpPr>
        <p:spPr>
          <a:xfrm>
            <a:off x="3200040" y="1843106"/>
            <a:ext cx="6124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x + 2 = 4</a:t>
            </a:r>
          </a:p>
        </p:txBody>
      </p:sp>
      <p:sp>
        <p:nvSpPr>
          <p:cNvPr id="79" name="Regular Pentagon 26">
            <a:extLst>
              <a:ext uri="{FF2B5EF4-FFF2-40B4-BE49-F238E27FC236}">
                <a16:creationId xmlns:a16="http://schemas.microsoft.com/office/drawing/2014/main" id="{C355851C-11BE-431E-8584-D6AE2A7B8FFA}"/>
              </a:ext>
            </a:extLst>
          </p:cNvPr>
          <p:cNvSpPr/>
          <p:nvPr/>
        </p:nvSpPr>
        <p:spPr>
          <a:xfrm>
            <a:off x="3576475" y="4822556"/>
            <a:ext cx="399573" cy="394242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5774A1EF-B2B6-49D9-AD2B-6E13E504AFBE}"/>
              </a:ext>
            </a:extLst>
          </p:cNvPr>
          <p:cNvSpPr/>
          <p:nvPr/>
        </p:nvSpPr>
        <p:spPr>
          <a:xfrm>
            <a:off x="8296461" y="4922960"/>
            <a:ext cx="274832" cy="30798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BA4D0394-1CE9-486C-AA06-E896C43D5E0C}"/>
              </a:ext>
            </a:extLst>
          </p:cNvPr>
          <p:cNvSpPr/>
          <p:nvPr/>
        </p:nvSpPr>
        <p:spPr>
          <a:xfrm>
            <a:off x="7855736" y="4927077"/>
            <a:ext cx="274832" cy="30798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5A047AE3-E1FA-4A2B-A850-DDD7C3DF1DB0}"/>
              </a:ext>
            </a:extLst>
          </p:cNvPr>
          <p:cNvSpPr/>
          <p:nvPr/>
        </p:nvSpPr>
        <p:spPr>
          <a:xfrm>
            <a:off x="8733066" y="4927079"/>
            <a:ext cx="274832" cy="30798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C739F245-21FD-4C5E-8975-102461E6815E}"/>
              </a:ext>
            </a:extLst>
          </p:cNvPr>
          <p:cNvSpPr/>
          <p:nvPr/>
        </p:nvSpPr>
        <p:spPr>
          <a:xfrm>
            <a:off x="7423249" y="4927079"/>
            <a:ext cx="274832" cy="30798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847305-AD3D-46E2-94C7-C94938BEB62C}"/>
              </a:ext>
            </a:extLst>
          </p:cNvPr>
          <p:cNvSpPr txBox="1"/>
          <p:nvPr/>
        </p:nvSpPr>
        <p:spPr>
          <a:xfrm>
            <a:off x="5916302" y="2344222"/>
            <a:ext cx="75519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C00000"/>
                </a:solidFill>
              </a:rPr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277879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125E-6 1.85185E-6 L 3.125E-6 -0.07732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-1.85185E-6 L 3.33333E-6 0.07084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600000">
                                      <p:cBhvr>
                                        <p:cTn id="2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375E-6 -4.44444E-6 L 4.375E-6 -0.07731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2.22222E-6 L 3.33333E-6 0.0708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04167E-6 -2.22222E-6 L 1.04167E-6 0.07084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95833E-6 -2.22222E-6 L -3.95833E-6 0.07084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08333E-6 -2.22222E-6 L -2.08333E-6 0.07084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(demonstration)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7744766" cy="5579727"/>
          </a:xfrm>
        </p:spPr>
        <p:txBody>
          <a:bodyPr/>
          <a:lstStyle/>
          <a:p>
            <a:pPr fontAlgn="base"/>
            <a:r>
              <a:rPr lang="en-AU" dirty="0"/>
              <a:t>When we try to balance an equation, we make sure both sides of the scale are balanced, for example, when tackling the below question.</a:t>
            </a:r>
          </a:p>
          <a:p>
            <a:pPr marL="0" indent="0" fontAlgn="base">
              <a:buNone/>
            </a:pPr>
            <a:r>
              <a:rPr lang="en-AU" dirty="0"/>
              <a:t>                         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we balance equations?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F4C11-8CCB-4ACB-92BB-1B0416FD9BB7}"/>
              </a:ext>
            </a:extLst>
          </p:cNvPr>
          <p:cNvSpPr txBox="1"/>
          <p:nvPr/>
        </p:nvSpPr>
        <p:spPr>
          <a:xfrm>
            <a:off x="247035" y="1473213"/>
            <a:ext cx="1742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approach balancing equations?</a:t>
            </a:r>
            <a:endParaRPr lang="en-AU" dirty="0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D9F9B5EC-4694-46D0-A9E3-2202C02AD6D2}"/>
              </a:ext>
            </a:extLst>
          </p:cNvPr>
          <p:cNvSpPr/>
          <p:nvPr/>
        </p:nvSpPr>
        <p:spPr>
          <a:xfrm>
            <a:off x="5749624" y="3508247"/>
            <a:ext cx="1215790" cy="3226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E9B8A5-B827-44AC-B4B8-712D13B992B9}"/>
              </a:ext>
            </a:extLst>
          </p:cNvPr>
          <p:cNvSpPr/>
          <p:nvPr/>
        </p:nvSpPr>
        <p:spPr>
          <a:xfrm>
            <a:off x="4827235" y="6659303"/>
            <a:ext cx="2983271" cy="123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ECE4118-0FA3-439D-A802-2600B1B45699}"/>
              </a:ext>
            </a:extLst>
          </p:cNvPr>
          <p:cNvGrpSpPr/>
          <p:nvPr/>
        </p:nvGrpSpPr>
        <p:grpSpPr>
          <a:xfrm rot="600000">
            <a:off x="4342898" y="3201091"/>
            <a:ext cx="4142434" cy="439992"/>
            <a:chOff x="1397235" y="1324303"/>
            <a:chExt cx="5937161" cy="63062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8CA9383-06B7-4CBB-85C8-A31B6AC944CF}"/>
                </a:ext>
              </a:extLst>
            </p:cNvPr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6BB50EF-8499-4D08-9E68-DA173A8361A6}"/>
                </a:ext>
              </a:extLst>
            </p:cNvPr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992E703-82C4-4024-8F77-DD8899A9063C}"/>
              </a:ext>
            </a:extLst>
          </p:cNvPr>
          <p:cNvGrpSpPr/>
          <p:nvPr/>
        </p:nvGrpSpPr>
        <p:grpSpPr>
          <a:xfrm>
            <a:off x="3797217" y="3131895"/>
            <a:ext cx="1159163" cy="2026288"/>
            <a:chOff x="566547" y="1590541"/>
            <a:chExt cx="1661375" cy="2343955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66FFDEF-E962-4902-BD91-B93D1ED043CD}"/>
                </a:ext>
              </a:extLst>
            </p:cNvPr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0E8FB15-0CDD-4B3F-A8D4-07250711E966}"/>
                </a:ext>
              </a:extLst>
            </p:cNvPr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523A41C-AFEB-4A0E-A461-98EC20D8BEA6}"/>
                </a:ext>
              </a:extLst>
            </p:cNvPr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D05E099-61F9-4822-834E-615A2471191C}"/>
              </a:ext>
            </a:extLst>
          </p:cNvPr>
          <p:cNvGrpSpPr/>
          <p:nvPr/>
        </p:nvGrpSpPr>
        <p:grpSpPr>
          <a:xfrm>
            <a:off x="7887803" y="3896067"/>
            <a:ext cx="1159163" cy="2026288"/>
            <a:chOff x="566547" y="1590541"/>
            <a:chExt cx="1661375" cy="2343955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25C281C-97B1-4D11-A418-723717100091}"/>
                </a:ext>
              </a:extLst>
            </p:cNvPr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3118236-6317-4288-95A8-ECFA52211590}"/>
                </a:ext>
              </a:extLst>
            </p:cNvPr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578C386-3787-4069-9B00-5CB6B124515F}"/>
                </a:ext>
              </a:extLst>
            </p:cNvPr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050218FD-FE3F-4C73-860C-050121C749F0}"/>
              </a:ext>
            </a:extLst>
          </p:cNvPr>
          <p:cNvSpPr/>
          <p:nvPr/>
        </p:nvSpPr>
        <p:spPr>
          <a:xfrm>
            <a:off x="7464263" y="5471713"/>
            <a:ext cx="286316" cy="32085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E883F004-4014-4975-817B-E57208D3BD96}"/>
              </a:ext>
            </a:extLst>
          </p:cNvPr>
          <p:cNvSpPr/>
          <p:nvPr/>
        </p:nvSpPr>
        <p:spPr>
          <a:xfrm>
            <a:off x="8774994" y="5471713"/>
            <a:ext cx="286316" cy="32085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EA0040C-58E7-4E91-92B4-2A5A91FCDACD}"/>
              </a:ext>
            </a:extLst>
          </p:cNvPr>
          <p:cNvSpPr txBox="1"/>
          <p:nvPr/>
        </p:nvSpPr>
        <p:spPr>
          <a:xfrm>
            <a:off x="3129260" y="1869984"/>
            <a:ext cx="6379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x + </a:t>
            </a:r>
            <a:r>
              <a:rPr lang="en-GB" sz="3200" dirty="0">
                <a:solidFill>
                  <a:schemeClr val="bg1"/>
                </a:solidFill>
              </a:rPr>
              <a:t>+ 2</a:t>
            </a:r>
            <a:r>
              <a:rPr lang="en-GB" sz="3200" dirty="0"/>
              <a:t> =</a:t>
            </a:r>
            <a:r>
              <a:rPr lang="en-GB" sz="32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92" name="Regular Pentagon 22">
            <a:extLst>
              <a:ext uri="{FF2B5EF4-FFF2-40B4-BE49-F238E27FC236}">
                <a16:creationId xmlns:a16="http://schemas.microsoft.com/office/drawing/2014/main" id="{1BD8557D-49D6-4BA5-9E77-C4272CE9C400}"/>
              </a:ext>
            </a:extLst>
          </p:cNvPr>
          <p:cNvSpPr/>
          <p:nvPr/>
        </p:nvSpPr>
        <p:spPr>
          <a:xfrm>
            <a:off x="3801467" y="4587190"/>
            <a:ext cx="416268" cy="410714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387D0DFA-9466-47E4-B5F0-90E154CC571C}"/>
              </a:ext>
            </a:extLst>
          </p:cNvPr>
          <p:cNvSpPr/>
          <p:nvPr/>
        </p:nvSpPr>
        <p:spPr>
          <a:xfrm>
            <a:off x="8342021" y="5466172"/>
            <a:ext cx="286316" cy="32085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AA05701F-1861-4AAD-B77F-D675361E289D}"/>
              </a:ext>
            </a:extLst>
          </p:cNvPr>
          <p:cNvSpPr/>
          <p:nvPr/>
        </p:nvSpPr>
        <p:spPr>
          <a:xfrm>
            <a:off x="7901296" y="5470291"/>
            <a:ext cx="286316" cy="32085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8E2FDB5-A48B-4885-8275-EFBCE44CB599}"/>
              </a:ext>
            </a:extLst>
          </p:cNvPr>
          <p:cNvSpPr txBox="1"/>
          <p:nvPr/>
        </p:nvSpPr>
        <p:spPr>
          <a:xfrm>
            <a:off x="5706167" y="2353276"/>
            <a:ext cx="84849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C00000"/>
                </a:solidFill>
              </a:rPr>
              <a:t>-2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ED1B6D8-401F-40BD-BC66-B6E8EB56DBBC}"/>
              </a:ext>
            </a:extLst>
          </p:cNvPr>
          <p:cNvSpPr txBox="1"/>
          <p:nvPr/>
        </p:nvSpPr>
        <p:spPr>
          <a:xfrm>
            <a:off x="6678613" y="2436058"/>
            <a:ext cx="8189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C00000"/>
                </a:solidFill>
              </a:rPr>
              <a:t>-2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3770DFB-3F77-4683-A0D1-D983EE7CFD4D}"/>
              </a:ext>
            </a:extLst>
          </p:cNvPr>
          <p:cNvSpPr/>
          <p:nvPr/>
        </p:nvSpPr>
        <p:spPr>
          <a:xfrm>
            <a:off x="6907477" y="1838238"/>
            <a:ext cx="2742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4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6B0C410-EF00-440C-8137-E599242F91DC}"/>
              </a:ext>
            </a:extLst>
          </p:cNvPr>
          <p:cNvSpPr/>
          <p:nvPr/>
        </p:nvSpPr>
        <p:spPr>
          <a:xfrm>
            <a:off x="6938197" y="1835410"/>
            <a:ext cx="1323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850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600000">
                                      <p:cBhvr>
                                        <p:cTn id="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1.85185E-6 L -4.375E-6 0.07083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25E-6 -7.40741E-7 L -1.25E-6 -0.0773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75E-6 -2.59259E-6 L 3.75E-6 0.07084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54167E-6 -3.7037E-7 L -3.54167E-6 -0.07731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375E-6 -4.81481E-6 L 4.375E-6 -0.07731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2" grpId="0" animBg="1"/>
      <p:bldP spid="93" grpId="0" animBg="1"/>
      <p:bldP spid="94" grpId="0" animBg="1"/>
      <p:bldP spid="96" grpId="0" animBg="1"/>
      <p:bldP spid="97" grpId="0"/>
      <p:bldP spid="9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28">
            <a:extLst>
              <a:ext uri="{FF2B5EF4-FFF2-40B4-BE49-F238E27FC236}">
                <a16:creationId xmlns:a16="http://schemas.microsoft.com/office/drawing/2014/main" id="{B7BCC078-8994-44C4-9C82-729A28741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773" y="2038418"/>
            <a:ext cx="2348490" cy="4819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4EA158-11FA-4ED4-9115-F9E2E1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64701"/>
          </a:xfrm>
        </p:spPr>
        <p:txBody>
          <a:bodyPr/>
          <a:lstStyle/>
          <a:p>
            <a:r>
              <a:rPr lang="en-AU" dirty="0"/>
              <a:t>Graphing (demonstration)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7EDC-9B2B-4528-AECF-6AA71BB5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124" y="1278273"/>
            <a:ext cx="7744766" cy="5579727"/>
          </a:xfrm>
        </p:spPr>
        <p:txBody>
          <a:bodyPr/>
          <a:lstStyle/>
          <a:p>
            <a:pPr fontAlgn="base"/>
            <a:r>
              <a:rPr lang="en-AU" dirty="0"/>
              <a:t>When showing working, make sure to show what you are doing on both sides of the equation, as shown below.</a:t>
            </a:r>
          </a:p>
          <a:p>
            <a:pPr marL="0" indent="0" fontAlgn="base">
              <a:buNone/>
            </a:pPr>
            <a:r>
              <a:rPr lang="en-AU" dirty="0"/>
              <a:t>                         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A48DFD-099B-45EF-88F5-D56A8A533BE8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123FF2-A72A-4766-A298-F4C65D277C4A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70C60-2ECA-4EA2-ACE3-ABE95FA8CB0F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4E69646-EADD-4CBB-BA56-02F7A10FB207}"/>
              </a:ext>
            </a:extLst>
          </p:cNvPr>
          <p:cNvSpPr txBox="1">
            <a:spLocks/>
          </p:cNvSpPr>
          <p:nvPr/>
        </p:nvSpPr>
        <p:spPr>
          <a:xfrm>
            <a:off x="621804" y="808666"/>
            <a:ext cx="9505056" cy="316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EQ: How do we balance equations?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F4C11-8CCB-4ACB-92BB-1B0416FD9BB7}"/>
              </a:ext>
            </a:extLst>
          </p:cNvPr>
          <p:cNvSpPr txBox="1"/>
          <p:nvPr/>
        </p:nvSpPr>
        <p:spPr>
          <a:xfrm>
            <a:off x="247035" y="1473213"/>
            <a:ext cx="174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32" name="Picture 2" descr="j0344103">
            <a:extLst>
              <a:ext uri="{FF2B5EF4-FFF2-40B4-BE49-F238E27FC236}">
                <a16:creationId xmlns:a16="http://schemas.microsoft.com/office/drawing/2014/main" id="{3D68F4F3-73D5-4247-B8AA-27B6CB82E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192" y="3303335"/>
            <a:ext cx="4880882" cy="352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6">
            <a:extLst>
              <a:ext uri="{FF2B5EF4-FFF2-40B4-BE49-F238E27FC236}">
                <a16:creationId xmlns:a16="http://schemas.microsoft.com/office/drawing/2014/main" id="{3DF292B7-50A4-45DF-922B-9F4FF14608D4}"/>
              </a:ext>
            </a:extLst>
          </p:cNvPr>
          <p:cNvGrpSpPr>
            <a:grpSpLocks/>
          </p:cNvGrpSpPr>
          <p:nvPr/>
        </p:nvGrpSpPr>
        <p:grpSpPr bwMode="auto">
          <a:xfrm>
            <a:off x="7619488" y="4971143"/>
            <a:ext cx="618454" cy="679754"/>
            <a:chOff x="204" y="3212"/>
            <a:chExt cx="726" cy="807"/>
          </a:xfrm>
        </p:grpSpPr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CD59CFFD-B474-42EB-8CED-678072C541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5" name="Oval 8">
              <a:extLst>
                <a:ext uri="{FF2B5EF4-FFF2-40B4-BE49-F238E27FC236}">
                  <a16:creationId xmlns:a16="http://schemas.microsoft.com/office/drawing/2014/main" id="{035CE104-8237-4010-B89D-B5C4290E1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6" name="Group 9">
            <a:extLst>
              <a:ext uri="{FF2B5EF4-FFF2-40B4-BE49-F238E27FC236}">
                <a16:creationId xmlns:a16="http://schemas.microsoft.com/office/drawing/2014/main" id="{116D73A0-EEFC-469F-ACF5-C022E2E636A0}"/>
              </a:ext>
            </a:extLst>
          </p:cNvPr>
          <p:cNvGrpSpPr>
            <a:grpSpLocks/>
          </p:cNvGrpSpPr>
          <p:nvPr/>
        </p:nvGrpSpPr>
        <p:grpSpPr bwMode="auto">
          <a:xfrm>
            <a:off x="7259126" y="5115605"/>
            <a:ext cx="618454" cy="679755"/>
            <a:chOff x="204" y="3212"/>
            <a:chExt cx="726" cy="807"/>
          </a:xfrm>
        </p:grpSpPr>
        <p:sp>
          <p:nvSpPr>
            <p:cNvPr id="37" name="AutoShape 10">
              <a:extLst>
                <a:ext uri="{FF2B5EF4-FFF2-40B4-BE49-F238E27FC236}">
                  <a16:creationId xmlns:a16="http://schemas.microsoft.com/office/drawing/2014/main" id="{1D8D16E8-E2D6-4F7A-A5B0-DAA4014506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D3E0F6FB-C721-4548-B56D-53A4C879B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9" name="Group 13">
            <a:extLst>
              <a:ext uri="{FF2B5EF4-FFF2-40B4-BE49-F238E27FC236}">
                <a16:creationId xmlns:a16="http://schemas.microsoft.com/office/drawing/2014/main" id="{FFFA3DA1-D57F-4B27-A087-078C7DD9249D}"/>
              </a:ext>
            </a:extLst>
          </p:cNvPr>
          <p:cNvGrpSpPr>
            <a:grpSpLocks/>
          </p:cNvGrpSpPr>
          <p:nvPr/>
        </p:nvGrpSpPr>
        <p:grpSpPr bwMode="auto">
          <a:xfrm>
            <a:off x="7979851" y="5115605"/>
            <a:ext cx="618454" cy="679755"/>
            <a:chOff x="204" y="3212"/>
            <a:chExt cx="726" cy="807"/>
          </a:xfrm>
        </p:grpSpPr>
        <p:sp>
          <p:nvSpPr>
            <p:cNvPr id="40" name="AutoShape 14">
              <a:extLst>
                <a:ext uri="{FF2B5EF4-FFF2-40B4-BE49-F238E27FC236}">
                  <a16:creationId xmlns:a16="http://schemas.microsoft.com/office/drawing/2014/main" id="{AAB5A3DD-9136-4FBD-B36D-229A302FC6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1" name="Oval 15">
              <a:extLst>
                <a:ext uri="{FF2B5EF4-FFF2-40B4-BE49-F238E27FC236}">
                  <a16:creationId xmlns:a16="http://schemas.microsoft.com/office/drawing/2014/main" id="{0AFE17CB-D8DF-4CE4-9E21-A9831CC2D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42" name="WordArt 17">
            <a:extLst>
              <a:ext uri="{FF2B5EF4-FFF2-40B4-BE49-F238E27FC236}">
                <a16:creationId xmlns:a16="http://schemas.microsoft.com/office/drawing/2014/main" id="{F938ED9B-7BAC-44BD-8912-867E56DAA0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17677" y="2327845"/>
            <a:ext cx="370527" cy="37189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43" name="WordArt 18">
            <a:extLst>
              <a:ext uri="{FF2B5EF4-FFF2-40B4-BE49-F238E27FC236}">
                <a16:creationId xmlns:a16="http://schemas.microsoft.com/office/drawing/2014/main" id="{2A14BECF-3834-4F4E-B624-0EEC0DD4EA4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78264" y="2327619"/>
            <a:ext cx="370528" cy="37052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44" name="WordArt 19">
            <a:extLst>
              <a:ext uri="{FF2B5EF4-FFF2-40B4-BE49-F238E27FC236}">
                <a16:creationId xmlns:a16="http://schemas.microsoft.com/office/drawing/2014/main" id="{EEA7B52C-0433-460F-8D66-07792E34FBD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588852" y="2337757"/>
            <a:ext cx="433190" cy="43182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5</a:t>
            </a:r>
          </a:p>
        </p:txBody>
      </p:sp>
      <p:sp>
        <p:nvSpPr>
          <p:cNvPr id="45" name="WordArt 20">
            <a:extLst>
              <a:ext uri="{FF2B5EF4-FFF2-40B4-BE49-F238E27FC236}">
                <a16:creationId xmlns:a16="http://schemas.microsoft.com/office/drawing/2014/main" id="{9E07C4E1-3355-4A21-9E32-79A823DFFB7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32865" y="2327845"/>
            <a:ext cx="433190" cy="37189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46" name="WordArt 21">
            <a:extLst>
              <a:ext uri="{FF2B5EF4-FFF2-40B4-BE49-F238E27FC236}">
                <a16:creationId xmlns:a16="http://schemas.microsoft.com/office/drawing/2014/main" id="{B8ED39D2-3EA0-4FE7-B8EF-164F11F373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59840" y="2327845"/>
            <a:ext cx="307865" cy="37189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grpSp>
        <p:nvGrpSpPr>
          <p:cNvPr id="47" name="Group 25">
            <a:extLst>
              <a:ext uri="{FF2B5EF4-FFF2-40B4-BE49-F238E27FC236}">
                <a16:creationId xmlns:a16="http://schemas.microsoft.com/office/drawing/2014/main" id="{4A5B4A5D-9F32-46FA-A59C-08C12F1EE848}"/>
              </a:ext>
            </a:extLst>
          </p:cNvPr>
          <p:cNvGrpSpPr>
            <a:grpSpLocks/>
          </p:cNvGrpSpPr>
          <p:nvPr/>
        </p:nvGrpSpPr>
        <p:grpSpPr bwMode="auto">
          <a:xfrm>
            <a:off x="3874576" y="5115605"/>
            <a:ext cx="618454" cy="679755"/>
            <a:chOff x="204" y="3212"/>
            <a:chExt cx="726" cy="807"/>
          </a:xfrm>
        </p:grpSpPr>
        <p:sp>
          <p:nvSpPr>
            <p:cNvPr id="48" name="AutoShape 26">
              <a:extLst>
                <a:ext uri="{FF2B5EF4-FFF2-40B4-BE49-F238E27FC236}">
                  <a16:creationId xmlns:a16="http://schemas.microsoft.com/office/drawing/2014/main" id="{27348F21-FA16-43A6-B0FC-3BD62E09D6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9" name="Oval 27">
              <a:extLst>
                <a:ext uri="{FF2B5EF4-FFF2-40B4-BE49-F238E27FC236}">
                  <a16:creationId xmlns:a16="http://schemas.microsoft.com/office/drawing/2014/main" id="{3EFA09B3-2142-47E1-9BA4-00A67A6AB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1" name="Text Box 31">
            <a:extLst>
              <a:ext uri="{FF2B5EF4-FFF2-40B4-BE49-F238E27FC236}">
                <a16:creationId xmlns:a16="http://schemas.microsoft.com/office/drawing/2014/main" id="{500377DB-DC8B-45D7-893A-724D7C885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0071" y="2997075"/>
            <a:ext cx="5892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-3</a:t>
            </a:r>
          </a:p>
        </p:txBody>
      </p:sp>
      <p:grpSp>
        <p:nvGrpSpPr>
          <p:cNvPr id="52" name="Group 37">
            <a:extLst>
              <a:ext uri="{FF2B5EF4-FFF2-40B4-BE49-F238E27FC236}">
                <a16:creationId xmlns:a16="http://schemas.microsoft.com/office/drawing/2014/main" id="{862CD759-C78B-4A00-9DAE-F94EEECB56E8}"/>
              </a:ext>
            </a:extLst>
          </p:cNvPr>
          <p:cNvGrpSpPr>
            <a:grpSpLocks/>
          </p:cNvGrpSpPr>
          <p:nvPr/>
        </p:nvGrpSpPr>
        <p:grpSpPr bwMode="auto">
          <a:xfrm>
            <a:off x="4748870" y="5112769"/>
            <a:ext cx="618454" cy="679755"/>
            <a:chOff x="204" y="3212"/>
            <a:chExt cx="726" cy="807"/>
          </a:xfrm>
        </p:grpSpPr>
        <p:sp>
          <p:nvSpPr>
            <p:cNvPr id="53" name="AutoShape 38">
              <a:extLst>
                <a:ext uri="{FF2B5EF4-FFF2-40B4-BE49-F238E27FC236}">
                  <a16:creationId xmlns:a16="http://schemas.microsoft.com/office/drawing/2014/main" id="{3E6131C1-B8B1-4655-B020-03D32722A2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3" name="Oval 39">
              <a:extLst>
                <a:ext uri="{FF2B5EF4-FFF2-40B4-BE49-F238E27FC236}">
                  <a16:creationId xmlns:a16="http://schemas.microsoft.com/office/drawing/2014/main" id="{A173CB61-C7C3-4730-8B81-C2C478641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64" name="Group 34">
            <a:extLst>
              <a:ext uri="{FF2B5EF4-FFF2-40B4-BE49-F238E27FC236}">
                <a16:creationId xmlns:a16="http://schemas.microsoft.com/office/drawing/2014/main" id="{ABD1760B-0C39-41D7-A860-B5AFC0993E30}"/>
              </a:ext>
            </a:extLst>
          </p:cNvPr>
          <p:cNvGrpSpPr>
            <a:grpSpLocks/>
          </p:cNvGrpSpPr>
          <p:nvPr/>
        </p:nvGrpSpPr>
        <p:grpSpPr bwMode="auto">
          <a:xfrm>
            <a:off x="4234938" y="5114018"/>
            <a:ext cx="618454" cy="679754"/>
            <a:chOff x="204" y="3212"/>
            <a:chExt cx="726" cy="807"/>
          </a:xfrm>
        </p:grpSpPr>
        <p:sp>
          <p:nvSpPr>
            <p:cNvPr id="65" name="AutoShape 35">
              <a:extLst>
                <a:ext uri="{FF2B5EF4-FFF2-40B4-BE49-F238E27FC236}">
                  <a16:creationId xmlns:a16="http://schemas.microsoft.com/office/drawing/2014/main" id="{8B91AAF5-DB8D-4182-BB70-EA9CC48DBF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6" name="Oval 36">
              <a:extLst>
                <a:ext uri="{FF2B5EF4-FFF2-40B4-BE49-F238E27FC236}">
                  <a16:creationId xmlns:a16="http://schemas.microsoft.com/office/drawing/2014/main" id="{CC75C9CB-1D2B-4999-B6E7-4166D4BD3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67" name="Group 3">
            <a:extLst>
              <a:ext uri="{FF2B5EF4-FFF2-40B4-BE49-F238E27FC236}">
                <a16:creationId xmlns:a16="http://schemas.microsoft.com/office/drawing/2014/main" id="{9CACFC3F-619B-46A2-A258-B931674D394D}"/>
              </a:ext>
            </a:extLst>
          </p:cNvPr>
          <p:cNvGrpSpPr>
            <a:grpSpLocks/>
          </p:cNvGrpSpPr>
          <p:nvPr/>
        </p:nvGrpSpPr>
        <p:grpSpPr bwMode="auto">
          <a:xfrm>
            <a:off x="4468399" y="5076744"/>
            <a:ext cx="742417" cy="903362"/>
            <a:chOff x="1603" y="3928"/>
            <a:chExt cx="726" cy="787"/>
          </a:xfrm>
        </p:grpSpPr>
        <p:sp>
          <p:nvSpPr>
            <p:cNvPr id="68" name="AutoShape 4">
              <a:extLst>
                <a:ext uri="{FF2B5EF4-FFF2-40B4-BE49-F238E27FC236}">
                  <a16:creationId xmlns:a16="http://schemas.microsoft.com/office/drawing/2014/main" id="{90F1C0EF-48F4-4A2A-84BF-539C6C5EFF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603" y="4126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69" name="Oval 5">
              <a:extLst>
                <a:ext uri="{FF2B5EF4-FFF2-40B4-BE49-F238E27FC236}">
                  <a16:creationId xmlns:a16="http://schemas.microsoft.com/office/drawing/2014/main" id="{7C0DB9FB-67CC-4539-A2BC-771E5F4E1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3928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0" name="Group 46">
            <a:extLst>
              <a:ext uri="{FF2B5EF4-FFF2-40B4-BE49-F238E27FC236}">
                <a16:creationId xmlns:a16="http://schemas.microsoft.com/office/drawing/2014/main" id="{C569B9FD-B6FD-4A42-889C-178E6E01A8B1}"/>
              </a:ext>
            </a:extLst>
          </p:cNvPr>
          <p:cNvGrpSpPr>
            <a:grpSpLocks/>
          </p:cNvGrpSpPr>
          <p:nvPr/>
        </p:nvGrpSpPr>
        <p:grpSpPr bwMode="auto">
          <a:xfrm>
            <a:off x="7908413" y="5115605"/>
            <a:ext cx="618454" cy="679755"/>
            <a:chOff x="204" y="3212"/>
            <a:chExt cx="726" cy="807"/>
          </a:xfrm>
        </p:grpSpPr>
        <p:sp>
          <p:nvSpPr>
            <p:cNvPr id="71" name="AutoShape 47">
              <a:extLst>
                <a:ext uri="{FF2B5EF4-FFF2-40B4-BE49-F238E27FC236}">
                  <a16:creationId xmlns:a16="http://schemas.microsoft.com/office/drawing/2014/main" id="{62CCA9B0-58BC-4347-AF0B-941F8D7782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2" name="Oval 48">
              <a:extLst>
                <a:ext uri="{FF2B5EF4-FFF2-40B4-BE49-F238E27FC236}">
                  <a16:creationId xmlns:a16="http://schemas.microsoft.com/office/drawing/2014/main" id="{1C384314-E460-44E3-9ABF-FA19A1E78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3" name="Group 49">
            <a:extLst>
              <a:ext uri="{FF2B5EF4-FFF2-40B4-BE49-F238E27FC236}">
                <a16:creationId xmlns:a16="http://schemas.microsoft.com/office/drawing/2014/main" id="{F610ECA4-F21F-41AF-8D04-B96A2FA66281}"/>
              </a:ext>
            </a:extLst>
          </p:cNvPr>
          <p:cNvGrpSpPr>
            <a:grpSpLocks/>
          </p:cNvGrpSpPr>
          <p:nvPr/>
        </p:nvGrpSpPr>
        <p:grpSpPr bwMode="auto">
          <a:xfrm>
            <a:off x="7475026" y="5115605"/>
            <a:ext cx="618454" cy="679755"/>
            <a:chOff x="204" y="3212"/>
            <a:chExt cx="726" cy="807"/>
          </a:xfrm>
        </p:grpSpPr>
        <p:sp>
          <p:nvSpPr>
            <p:cNvPr id="74" name="AutoShape 50">
              <a:extLst>
                <a:ext uri="{FF2B5EF4-FFF2-40B4-BE49-F238E27FC236}">
                  <a16:creationId xmlns:a16="http://schemas.microsoft.com/office/drawing/2014/main" id="{45BE603A-2445-464B-A3EA-416C09ED61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Oval 51">
              <a:extLst>
                <a:ext uri="{FF2B5EF4-FFF2-40B4-BE49-F238E27FC236}">
                  <a16:creationId xmlns:a16="http://schemas.microsoft.com/office/drawing/2014/main" id="{7AA6185B-6DC4-41F2-BAFF-B3F6D98A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76" name="Text Box 31">
            <a:extLst>
              <a:ext uri="{FF2B5EF4-FFF2-40B4-BE49-F238E27FC236}">
                <a16:creationId xmlns:a16="http://schemas.microsoft.com/office/drawing/2014/main" id="{037087FF-7404-4751-BEB9-2A680AFA0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8375" y="2953661"/>
            <a:ext cx="5892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-3</a:t>
            </a:r>
          </a:p>
        </p:txBody>
      </p:sp>
      <p:sp>
        <p:nvSpPr>
          <p:cNvPr id="77" name="Text Box 29">
            <a:extLst>
              <a:ext uri="{FF2B5EF4-FFF2-40B4-BE49-F238E27FC236}">
                <a16:creationId xmlns:a16="http://schemas.microsoft.com/office/drawing/2014/main" id="{88525FFF-8CB0-4BEA-9B45-B391569C6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9423" y="2488988"/>
            <a:ext cx="2049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latin typeface="Bradley Hand ITC" panose="03070402050302030203" pitchFamily="66" charset="0"/>
              </a:rPr>
              <a:t> x + 3 = 5</a:t>
            </a:r>
          </a:p>
        </p:txBody>
      </p:sp>
      <p:sp>
        <p:nvSpPr>
          <p:cNvPr id="78" name="Text Box 30">
            <a:extLst>
              <a:ext uri="{FF2B5EF4-FFF2-40B4-BE49-F238E27FC236}">
                <a16:creationId xmlns:a16="http://schemas.microsoft.com/office/drawing/2014/main" id="{0E01838B-ACDB-4564-B1D3-86216C42C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452" y="3872177"/>
            <a:ext cx="20495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 dirty="0">
                <a:latin typeface="Bradley Hand ITC" panose="03070402050302030203" pitchFamily="66" charset="0"/>
              </a:rPr>
              <a:t> </a:t>
            </a:r>
            <a:r>
              <a:rPr lang="en-GB" altLang="en-US" sz="2800" b="1" dirty="0">
                <a:latin typeface="Bradley Hand ITC" panose="03070402050302030203" pitchFamily="66" charset="0"/>
              </a:rPr>
              <a:t>x        = 2</a:t>
            </a:r>
            <a:endParaRPr lang="en-GB" altLang="en-US" sz="3600" b="1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38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76" grpId="0"/>
      <p:bldP spid="77" grpId="0"/>
      <p:bldP spid="7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 descr="j0344103">
            <a:extLst>
              <a:ext uri="{FF2B5EF4-FFF2-40B4-BE49-F238E27FC236}">
                <a16:creationId xmlns:a16="http://schemas.microsoft.com/office/drawing/2014/main" id="{FA908BE6-EAA5-42ED-BFF7-99AF7D27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5688012" cy="41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15">
            <a:extLst>
              <a:ext uri="{FF2B5EF4-FFF2-40B4-BE49-F238E27FC236}">
                <a16:creationId xmlns:a16="http://schemas.microsoft.com/office/drawing/2014/main" id="{F722DD5F-3A5B-4986-997C-48210E8D8DE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573463"/>
            <a:ext cx="865187" cy="1079500"/>
            <a:chOff x="204" y="3212"/>
            <a:chExt cx="726" cy="807"/>
          </a:xfrm>
        </p:grpSpPr>
        <p:sp>
          <p:nvSpPr>
            <p:cNvPr id="4" name="AutoShape 12">
              <a:extLst>
                <a:ext uri="{FF2B5EF4-FFF2-40B4-BE49-F238E27FC236}">
                  <a16:creationId xmlns:a16="http://schemas.microsoft.com/office/drawing/2014/main" id="{57A6B09C-DE3A-4CED-AA7A-EAB7E9124D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5" name="Oval 13">
              <a:extLst>
                <a:ext uri="{FF2B5EF4-FFF2-40B4-BE49-F238E27FC236}">
                  <a16:creationId xmlns:a16="http://schemas.microsoft.com/office/drawing/2014/main" id="{28C8DC05-2E30-45E0-B7C5-3A9AA4A32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6" name="Group 38">
            <a:extLst>
              <a:ext uri="{FF2B5EF4-FFF2-40B4-BE49-F238E27FC236}">
                <a16:creationId xmlns:a16="http://schemas.microsoft.com/office/drawing/2014/main" id="{6C048722-EDA9-431B-8AE5-14F6245E2DAA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789363"/>
            <a:ext cx="720725" cy="792162"/>
            <a:chOff x="204" y="3212"/>
            <a:chExt cx="726" cy="807"/>
          </a:xfrm>
        </p:grpSpPr>
        <p:sp>
          <p:nvSpPr>
            <p:cNvPr id="7" name="AutoShape 39">
              <a:extLst>
                <a:ext uri="{FF2B5EF4-FFF2-40B4-BE49-F238E27FC236}">
                  <a16:creationId xmlns:a16="http://schemas.microsoft.com/office/drawing/2014/main" id="{97D9FCC8-FDCA-4FB7-80B7-CF0795F697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Oval 40">
              <a:extLst>
                <a:ext uri="{FF2B5EF4-FFF2-40B4-BE49-F238E27FC236}">
                  <a16:creationId xmlns:a16="http://schemas.microsoft.com/office/drawing/2014/main" id="{6DF90FF9-7AD8-44C9-A0B8-2CA906801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9" name="Group 32">
            <a:extLst>
              <a:ext uri="{FF2B5EF4-FFF2-40B4-BE49-F238E27FC236}">
                <a16:creationId xmlns:a16="http://schemas.microsoft.com/office/drawing/2014/main" id="{03ACDEFB-AAE7-4859-91D4-FA2881271D8C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3933825"/>
            <a:ext cx="720725" cy="792163"/>
            <a:chOff x="204" y="3212"/>
            <a:chExt cx="726" cy="807"/>
          </a:xfrm>
        </p:grpSpPr>
        <p:sp>
          <p:nvSpPr>
            <p:cNvPr id="10" name="AutoShape 33">
              <a:extLst>
                <a:ext uri="{FF2B5EF4-FFF2-40B4-BE49-F238E27FC236}">
                  <a16:creationId xmlns:a16="http://schemas.microsoft.com/office/drawing/2014/main" id="{909BD9B9-6D2C-45B4-9BDA-43B7F1149C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1" name="Oval 34">
              <a:extLst>
                <a:ext uri="{FF2B5EF4-FFF2-40B4-BE49-F238E27FC236}">
                  <a16:creationId xmlns:a16="http://schemas.microsoft.com/office/drawing/2014/main" id="{DDAEF9FD-0249-4963-BA77-DBD6E05F6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50BDE84B-88D0-40CD-A0F1-81DE4E35D727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3933825"/>
            <a:ext cx="720725" cy="792163"/>
            <a:chOff x="204" y="3212"/>
            <a:chExt cx="726" cy="807"/>
          </a:xfrm>
        </p:grpSpPr>
        <p:sp>
          <p:nvSpPr>
            <p:cNvPr id="13" name="AutoShape 36">
              <a:extLst>
                <a:ext uri="{FF2B5EF4-FFF2-40B4-BE49-F238E27FC236}">
                  <a16:creationId xmlns:a16="http://schemas.microsoft.com/office/drawing/2014/main" id="{9BE38EEB-BB55-4555-AEAD-EA061BA887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4" name="Oval 37">
              <a:extLst>
                <a:ext uri="{FF2B5EF4-FFF2-40B4-BE49-F238E27FC236}">
                  <a16:creationId xmlns:a16="http://schemas.microsoft.com/office/drawing/2014/main" id="{13E13D27-7147-4FAA-9A84-F82E90F2A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5" name="WordArt 41">
            <a:extLst>
              <a:ext uri="{FF2B5EF4-FFF2-40B4-BE49-F238E27FC236}">
                <a16:creationId xmlns:a16="http://schemas.microsoft.com/office/drawing/2014/main" id="{2631615F-1F41-4D39-8DEB-BFFEA77D10C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3850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16" name="WordArt 42">
            <a:extLst>
              <a:ext uri="{FF2B5EF4-FFF2-40B4-BE49-F238E27FC236}">
                <a16:creationId xmlns:a16="http://schemas.microsoft.com/office/drawing/2014/main" id="{4ECB2629-8677-40E0-AB01-66FDB333A04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27088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17" name="WordArt 43">
            <a:extLst>
              <a:ext uri="{FF2B5EF4-FFF2-40B4-BE49-F238E27FC236}">
                <a16:creationId xmlns:a16="http://schemas.microsoft.com/office/drawing/2014/main" id="{C8F24779-D633-40B5-9876-1A1609861BB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87675" y="1196975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18" name="WordArt 44">
            <a:extLst>
              <a:ext uri="{FF2B5EF4-FFF2-40B4-BE49-F238E27FC236}">
                <a16:creationId xmlns:a16="http://schemas.microsoft.com/office/drawing/2014/main" id="{46D2B763-F56B-46B8-9FF5-142582DD55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87900" y="1196975"/>
            <a:ext cx="5048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19" name="WordArt 45">
            <a:extLst>
              <a:ext uri="{FF2B5EF4-FFF2-40B4-BE49-F238E27FC236}">
                <a16:creationId xmlns:a16="http://schemas.microsoft.com/office/drawing/2014/main" id="{69191CCC-E63B-4562-8601-FA5F8B49851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31913" y="1196975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20" name="WordArt 46">
            <a:extLst>
              <a:ext uri="{FF2B5EF4-FFF2-40B4-BE49-F238E27FC236}">
                <a16:creationId xmlns:a16="http://schemas.microsoft.com/office/drawing/2014/main" id="{DDB0214E-F200-482B-86EB-8E678153B08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1196975"/>
            <a:ext cx="35877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</a:t>
            </a:r>
          </a:p>
        </p:txBody>
      </p:sp>
      <p:grpSp>
        <p:nvGrpSpPr>
          <p:cNvPr id="21" name="Group 47">
            <a:extLst>
              <a:ext uri="{FF2B5EF4-FFF2-40B4-BE49-F238E27FC236}">
                <a16:creationId xmlns:a16="http://schemas.microsoft.com/office/drawing/2014/main" id="{0B7F7839-EACF-46A1-B294-0655DE04F7F6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573463"/>
            <a:ext cx="865187" cy="1079500"/>
            <a:chOff x="204" y="3212"/>
            <a:chExt cx="726" cy="807"/>
          </a:xfrm>
        </p:grpSpPr>
        <p:sp>
          <p:nvSpPr>
            <p:cNvPr id="22" name="AutoShape 48">
              <a:extLst>
                <a:ext uri="{FF2B5EF4-FFF2-40B4-BE49-F238E27FC236}">
                  <a16:creationId xmlns:a16="http://schemas.microsoft.com/office/drawing/2014/main" id="{FF1E9201-79CE-42EB-9FBF-1C749917C9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3" name="Oval 49">
              <a:extLst>
                <a:ext uri="{FF2B5EF4-FFF2-40B4-BE49-F238E27FC236}">
                  <a16:creationId xmlns:a16="http://schemas.microsoft.com/office/drawing/2014/main" id="{CBA27CEB-ACFF-4992-BC8A-9DB3D6D15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4" name="Group 19">
            <a:extLst>
              <a:ext uri="{FF2B5EF4-FFF2-40B4-BE49-F238E27FC236}">
                <a16:creationId xmlns:a16="http://schemas.microsoft.com/office/drawing/2014/main" id="{70D7F463-E840-4786-8897-5E9EA7DC8DB2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933825"/>
            <a:ext cx="720725" cy="792163"/>
            <a:chOff x="204" y="3212"/>
            <a:chExt cx="726" cy="807"/>
          </a:xfrm>
        </p:grpSpPr>
        <p:sp>
          <p:nvSpPr>
            <p:cNvPr id="25" name="AutoShape 20">
              <a:extLst>
                <a:ext uri="{FF2B5EF4-FFF2-40B4-BE49-F238E27FC236}">
                  <a16:creationId xmlns:a16="http://schemas.microsoft.com/office/drawing/2014/main" id="{9CAFED50-4C2B-4C7D-82EE-C388300964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6" name="Oval 21">
              <a:extLst>
                <a:ext uri="{FF2B5EF4-FFF2-40B4-BE49-F238E27FC236}">
                  <a16:creationId xmlns:a16="http://schemas.microsoft.com/office/drawing/2014/main" id="{70BE254A-718A-4B0C-83C9-782A63541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7" name="Picture 50">
            <a:extLst>
              <a:ext uri="{FF2B5EF4-FFF2-40B4-BE49-F238E27FC236}">
                <a16:creationId xmlns:a16="http://schemas.microsoft.com/office/drawing/2014/main" id="{3446598A-1E0C-4AF5-9E82-55BF78C71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836613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 Box 51">
            <a:extLst>
              <a:ext uri="{FF2B5EF4-FFF2-40B4-BE49-F238E27FC236}">
                <a16:creationId xmlns:a16="http://schemas.microsoft.com/office/drawing/2014/main" id="{2D3D6569-6817-46D0-886E-0BB12A086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2x + 1 = 3</a:t>
            </a:r>
          </a:p>
        </p:txBody>
      </p:sp>
      <p:sp>
        <p:nvSpPr>
          <p:cNvPr id="29" name="Text Box 52">
            <a:extLst>
              <a:ext uri="{FF2B5EF4-FFF2-40B4-BE49-F238E27FC236}">
                <a16:creationId xmlns:a16="http://schemas.microsoft.com/office/drawing/2014/main" id="{D2BC4951-AAC5-433D-B094-667C6B69C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2x        = 2</a:t>
            </a:r>
          </a:p>
        </p:txBody>
      </p:sp>
      <p:sp>
        <p:nvSpPr>
          <p:cNvPr id="30" name="Text Box 53">
            <a:extLst>
              <a:ext uri="{FF2B5EF4-FFF2-40B4-BE49-F238E27FC236}">
                <a16:creationId xmlns:a16="http://schemas.microsoft.com/office/drawing/2014/main" id="{C989B926-7C31-49E9-B518-E3CBC73D2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693" y="1656398"/>
            <a:ext cx="5545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-1</a:t>
            </a:r>
          </a:p>
        </p:txBody>
      </p:sp>
      <p:sp>
        <p:nvSpPr>
          <p:cNvPr id="31" name="Text Box 54">
            <a:extLst>
              <a:ext uri="{FF2B5EF4-FFF2-40B4-BE49-F238E27FC236}">
                <a16:creationId xmlns:a16="http://schemas.microsoft.com/office/drawing/2014/main" id="{D631D42E-B164-46E9-A7B6-B4D68648A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614" y="2900363"/>
            <a:ext cx="65908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÷2</a:t>
            </a:r>
          </a:p>
        </p:txBody>
      </p:sp>
      <p:sp>
        <p:nvSpPr>
          <p:cNvPr id="32" name="Text Box 55">
            <a:extLst>
              <a:ext uri="{FF2B5EF4-FFF2-40B4-BE49-F238E27FC236}">
                <a16:creationId xmlns:a16="http://schemas.microsoft.com/office/drawing/2014/main" id="{4584F6FA-A79E-41A0-B0F5-3AACBEE0D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357563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 x        = 1</a:t>
            </a:r>
          </a:p>
        </p:txBody>
      </p:sp>
      <p:sp>
        <p:nvSpPr>
          <p:cNvPr id="33" name="Text Box 57">
            <a:extLst>
              <a:ext uri="{FF2B5EF4-FFF2-40B4-BE49-F238E27FC236}">
                <a16:creationId xmlns:a16="http://schemas.microsoft.com/office/drawing/2014/main" id="{3EF2C1D0-1C63-4BD5-94D2-A3AEEF682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latin typeface="Comic Sans MS" panose="030F0702030302020204" pitchFamily="66" charset="0"/>
              </a:rPr>
              <a:t>Equations – Keep it balanced…</a:t>
            </a:r>
          </a:p>
        </p:txBody>
      </p:sp>
      <p:sp>
        <p:nvSpPr>
          <p:cNvPr id="34" name="Text Box 53">
            <a:extLst>
              <a:ext uri="{FF2B5EF4-FFF2-40B4-BE49-F238E27FC236}">
                <a16:creationId xmlns:a16="http://schemas.microsoft.com/office/drawing/2014/main" id="{D414A83D-8201-4F06-8217-20BB7DC5B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5064" y="1691234"/>
            <a:ext cx="558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-1</a:t>
            </a:r>
          </a:p>
        </p:txBody>
      </p:sp>
      <p:sp>
        <p:nvSpPr>
          <p:cNvPr id="35" name="Text Box 54">
            <a:extLst>
              <a:ext uri="{FF2B5EF4-FFF2-40B4-BE49-F238E27FC236}">
                <a16:creationId xmlns:a16="http://schemas.microsoft.com/office/drawing/2014/main" id="{CB66B00D-ADAA-4066-86DA-5AFF766EA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8494" y="2896008"/>
            <a:ext cx="65908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÷2</a:t>
            </a:r>
          </a:p>
        </p:txBody>
      </p:sp>
    </p:spTree>
    <p:extLst>
      <p:ext uri="{BB962C8B-B14F-4D97-AF65-F5344CB8AC3E}">
        <p14:creationId xmlns:p14="http://schemas.microsoft.com/office/powerpoint/2010/main" val="276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4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j0344103">
            <a:extLst>
              <a:ext uri="{FF2B5EF4-FFF2-40B4-BE49-F238E27FC236}">
                <a16:creationId xmlns:a16="http://schemas.microsoft.com/office/drawing/2014/main" id="{E8DE16BD-3EC0-4796-B783-A4169C389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5688012" cy="41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6">
            <a:extLst>
              <a:ext uri="{FF2B5EF4-FFF2-40B4-BE49-F238E27FC236}">
                <a16:creationId xmlns:a16="http://schemas.microsoft.com/office/drawing/2014/main" id="{E1030EF0-DECB-44B7-B67E-5D6EFB6498D6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933825"/>
            <a:ext cx="720725" cy="792163"/>
            <a:chOff x="204" y="3212"/>
            <a:chExt cx="726" cy="807"/>
          </a:xfrm>
        </p:grpSpPr>
        <p:sp>
          <p:nvSpPr>
            <p:cNvPr id="6" name="AutoShape 47">
              <a:extLst>
                <a:ext uri="{FF2B5EF4-FFF2-40B4-BE49-F238E27FC236}">
                  <a16:creationId xmlns:a16="http://schemas.microsoft.com/office/drawing/2014/main" id="{BF32495F-C7BF-416B-8551-4D33C5A519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" name="Oval 48">
              <a:extLst>
                <a:ext uri="{FF2B5EF4-FFF2-40B4-BE49-F238E27FC236}">
                  <a16:creationId xmlns:a16="http://schemas.microsoft.com/office/drawing/2014/main" id="{22D85527-8F3C-45A9-A445-68218E442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8" name="Group 52">
            <a:extLst>
              <a:ext uri="{FF2B5EF4-FFF2-40B4-BE49-F238E27FC236}">
                <a16:creationId xmlns:a16="http://schemas.microsoft.com/office/drawing/2014/main" id="{409BDF65-E3C2-4716-8A31-C745D22BB02F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3933825"/>
            <a:ext cx="720725" cy="792163"/>
            <a:chOff x="204" y="3212"/>
            <a:chExt cx="726" cy="807"/>
          </a:xfrm>
        </p:grpSpPr>
        <p:sp>
          <p:nvSpPr>
            <p:cNvPr id="9" name="AutoShape 53">
              <a:extLst>
                <a:ext uri="{FF2B5EF4-FFF2-40B4-BE49-F238E27FC236}">
                  <a16:creationId xmlns:a16="http://schemas.microsoft.com/office/drawing/2014/main" id="{CCD8C800-26FF-49B8-A6BB-424B9915DE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Oval 54">
              <a:extLst>
                <a:ext uri="{FF2B5EF4-FFF2-40B4-BE49-F238E27FC236}">
                  <a16:creationId xmlns:a16="http://schemas.microsoft.com/office/drawing/2014/main" id="{43E34AE8-4EC4-4316-A80F-A2E8EA368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1" name="Group 34">
            <a:extLst>
              <a:ext uri="{FF2B5EF4-FFF2-40B4-BE49-F238E27FC236}">
                <a16:creationId xmlns:a16="http://schemas.microsoft.com/office/drawing/2014/main" id="{76D76D70-8BD0-4CB0-B244-87C3EB2EBD80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3213100"/>
            <a:ext cx="865187" cy="1079500"/>
            <a:chOff x="204" y="3212"/>
            <a:chExt cx="726" cy="807"/>
          </a:xfrm>
        </p:grpSpPr>
        <p:sp>
          <p:nvSpPr>
            <p:cNvPr id="12" name="AutoShape 35">
              <a:extLst>
                <a:ext uri="{FF2B5EF4-FFF2-40B4-BE49-F238E27FC236}">
                  <a16:creationId xmlns:a16="http://schemas.microsoft.com/office/drawing/2014/main" id="{8EF190D4-BD7E-4614-84B0-AD4726DC99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3" name="Oval 36">
              <a:extLst>
                <a:ext uri="{FF2B5EF4-FFF2-40B4-BE49-F238E27FC236}">
                  <a16:creationId xmlns:a16="http://schemas.microsoft.com/office/drawing/2014/main" id="{0FF21FEF-32EA-4E37-B185-56E41A666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4" name="Group 3">
            <a:extLst>
              <a:ext uri="{FF2B5EF4-FFF2-40B4-BE49-F238E27FC236}">
                <a16:creationId xmlns:a16="http://schemas.microsoft.com/office/drawing/2014/main" id="{0671CDE9-BE8F-4C5B-AD86-476C0440DDC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573463"/>
            <a:ext cx="865187" cy="1079500"/>
            <a:chOff x="204" y="3212"/>
            <a:chExt cx="726" cy="807"/>
          </a:xfrm>
        </p:grpSpPr>
        <p:sp>
          <p:nvSpPr>
            <p:cNvPr id="15" name="AutoShape 4">
              <a:extLst>
                <a:ext uri="{FF2B5EF4-FFF2-40B4-BE49-F238E27FC236}">
                  <a16:creationId xmlns:a16="http://schemas.microsoft.com/office/drawing/2014/main" id="{95AC34F0-525C-4049-A469-EA02452774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6" name="Oval 5">
              <a:extLst>
                <a:ext uri="{FF2B5EF4-FFF2-40B4-BE49-F238E27FC236}">
                  <a16:creationId xmlns:a16="http://schemas.microsoft.com/office/drawing/2014/main" id="{D8F30F54-DC63-495B-9D5F-A0463C5EE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7" name="Group 6">
            <a:extLst>
              <a:ext uri="{FF2B5EF4-FFF2-40B4-BE49-F238E27FC236}">
                <a16:creationId xmlns:a16="http://schemas.microsoft.com/office/drawing/2014/main" id="{E2B9CBF1-1E05-4972-905F-50B55F458022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3284538"/>
            <a:ext cx="720725" cy="792162"/>
            <a:chOff x="204" y="3212"/>
            <a:chExt cx="726" cy="807"/>
          </a:xfrm>
        </p:grpSpPr>
        <p:sp>
          <p:nvSpPr>
            <p:cNvPr id="18" name="AutoShape 7">
              <a:extLst>
                <a:ext uri="{FF2B5EF4-FFF2-40B4-BE49-F238E27FC236}">
                  <a16:creationId xmlns:a16="http://schemas.microsoft.com/office/drawing/2014/main" id="{6E151E2B-9951-45CB-85FD-287DCAA5C1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9" name="Oval 8">
              <a:extLst>
                <a:ext uri="{FF2B5EF4-FFF2-40B4-BE49-F238E27FC236}">
                  <a16:creationId xmlns:a16="http://schemas.microsoft.com/office/drawing/2014/main" id="{CB40BE7D-D0CB-477A-8F78-268A62724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" name="Group 9">
            <a:extLst>
              <a:ext uri="{FF2B5EF4-FFF2-40B4-BE49-F238E27FC236}">
                <a16:creationId xmlns:a16="http://schemas.microsoft.com/office/drawing/2014/main" id="{A74566CF-A5DA-4C3F-9EDF-55C5427D246B}"/>
              </a:ext>
            </a:extLst>
          </p:cNvPr>
          <p:cNvGrpSpPr>
            <a:grpSpLocks/>
          </p:cNvGrpSpPr>
          <p:nvPr/>
        </p:nvGrpSpPr>
        <p:grpSpPr bwMode="auto">
          <a:xfrm>
            <a:off x="4284663" y="3860800"/>
            <a:ext cx="720725" cy="792163"/>
            <a:chOff x="204" y="3212"/>
            <a:chExt cx="726" cy="807"/>
          </a:xfrm>
        </p:grpSpPr>
        <p:sp>
          <p:nvSpPr>
            <p:cNvPr id="21" name="AutoShape 10">
              <a:extLst>
                <a:ext uri="{FF2B5EF4-FFF2-40B4-BE49-F238E27FC236}">
                  <a16:creationId xmlns:a16="http://schemas.microsoft.com/office/drawing/2014/main" id="{0785DC2A-5EB5-45CD-A543-0BB42DA483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2" name="Oval 11">
              <a:extLst>
                <a:ext uri="{FF2B5EF4-FFF2-40B4-BE49-F238E27FC236}">
                  <a16:creationId xmlns:a16="http://schemas.microsoft.com/office/drawing/2014/main" id="{3C972176-9B4E-4158-B524-195E2B133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3" name="Group 13">
            <a:extLst>
              <a:ext uri="{FF2B5EF4-FFF2-40B4-BE49-F238E27FC236}">
                <a16:creationId xmlns:a16="http://schemas.microsoft.com/office/drawing/2014/main" id="{CF5F4370-98DB-4024-99CE-2DAE0B497B75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933825"/>
            <a:ext cx="720725" cy="792163"/>
            <a:chOff x="204" y="3212"/>
            <a:chExt cx="726" cy="807"/>
          </a:xfrm>
        </p:grpSpPr>
        <p:sp>
          <p:nvSpPr>
            <p:cNvPr id="24" name="AutoShape 14">
              <a:extLst>
                <a:ext uri="{FF2B5EF4-FFF2-40B4-BE49-F238E27FC236}">
                  <a16:creationId xmlns:a16="http://schemas.microsoft.com/office/drawing/2014/main" id="{914423E2-D2E4-45FD-8676-B9593848FC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5" name="Oval 15">
              <a:extLst>
                <a:ext uri="{FF2B5EF4-FFF2-40B4-BE49-F238E27FC236}">
                  <a16:creationId xmlns:a16="http://schemas.microsoft.com/office/drawing/2014/main" id="{463E5FBE-518A-4D95-BEED-9C49DA930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6" name="WordArt 16">
            <a:extLst>
              <a:ext uri="{FF2B5EF4-FFF2-40B4-BE49-F238E27FC236}">
                <a16:creationId xmlns:a16="http://schemas.microsoft.com/office/drawing/2014/main" id="{06C2F8E2-42E6-4895-A009-EB9A13B2FB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3850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27" name="WordArt 17">
            <a:extLst>
              <a:ext uri="{FF2B5EF4-FFF2-40B4-BE49-F238E27FC236}">
                <a16:creationId xmlns:a16="http://schemas.microsoft.com/office/drawing/2014/main" id="{18D14587-21DD-409B-8868-7ACF67D76E8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27088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28" name="WordArt 18">
            <a:extLst>
              <a:ext uri="{FF2B5EF4-FFF2-40B4-BE49-F238E27FC236}">
                <a16:creationId xmlns:a16="http://schemas.microsoft.com/office/drawing/2014/main" id="{91E5F906-640B-44A8-90FD-44CC36EF42F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87675" y="1196975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29" name="WordArt 19">
            <a:extLst>
              <a:ext uri="{FF2B5EF4-FFF2-40B4-BE49-F238E27FC236}">
                <a16:creationId xmlns:a16="http://schemas.microsoft.com/office/drawing/2014/main" id="{083F0EA5-04BF-45E6-B078-AAD9D54478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87900" y="1196975"/>
            <a:ext cx="5048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8</a:t>
            </a:r>
          </a:p>
        </p:txBody>
      </p:sp>
      <p:sp>
        <p:nvSpPr>
          <p:cNvPr id="30" name="WordArt 20">
            <a:extLst>
              <a:ext uri="{FF2B5EF4-FFF2-40B4-BE49-F238E27FC236}">
                <a16:creationId xmlns:a16="http://schemas.microsoft.com/office/drawing/2014/main" id="{2C6155BD-7CE6-4E3E-B85A-3BA4A636A2D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31913" y="1196975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31" name="WordArt 21">
            <a:extLst>
              <a:ext uri="{FF2B5EF4-FFF2-40B4-BE49-F238E27FC236}">
                <a16:creationId xmlns:a16="http://schemas.microsoft.com/office/drawing/2014/main" id="{9D2113D7-5979-4842-A453-240D07095F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1196975"/>
            <a:ext cx="35877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grpSp>
        <p:nvGrpSpPr>
          <p:cNvPr id="32" name="Group 22">
            <a:extLst>
              <a:ext uri="{FF2B5EF4-FFF2-40B4-BE49-F238E27FC236}">
                <a16:creationId xmlns:a16="http://schemas.microsoft.com/office/drawing/2014/main" id="{A42F82D3-1C04-4BEA-8B48-821A4F450822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573463"/>
            <a:ext cx="865187" cy="1079500"/>
            <a:chOff x="204" y="3212"/>
            <a:chExt cx="726" cy="807"/>
          </a:xfrm>
        </p:grpSpPr>
        <p:sp>
          <p:nvSpPr>
            <p:cNvPr id="33" name="AutoShape 23">
              <a:extLst>
                <a:ext uri="{FF2B5EF4-FFF2-40B4-BE49-F238E27FC236}">
                  <a16:creationId xmlns:a16="http://schemas.microsoft.com/office/drawing/2014/main" id="{2E75419E-BD89-47ED-8382-1A99EA86BB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9FF59031-18B0-48C1-B72C-461941816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5" name="Group 25">
            <a:extLst>
              <a:ext uri="{FF2B5EF4-FFF2-40B4-BE49-F238E27FC236}">
                <a16:creationId xmlns:a16="http://schemas.microsoft.com/office/drawing/2014/main" id="{AE500351-1E7A-408D-837C-F5CEB4B863C0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860800"/>
            <a:ext cx="720725" cy="792163"/>
            <a:chOff x="204" y="3212"/>
            <a:chExt cx="726" cy="807"/>
          </a:xfrm>
        </p:grpSpPr>
        <p:sp>
          <p:nvSpPr>
            <p:cNvPr id="36" name="AutoShape 26">
              <a:extLst>
                <a:ext uri="{FF2B5EF4-FFF2-40B4-BE49-F238E27FC236}">
                  <a16:creationId xmlns:a16="http://schemas.microsoft.com/office/drawing/2014/main" id="{0ED2A8BF-9621-49BA-A1D9-0F83868D60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7" name="Oval 27">
              <a:extLst>
                <a:ext uri="{FF2B5EF4-FFF2-40B4-BE49-F238E27FC236}">
                  <a16:creationId xmlns:a16="http://schemas.microsoft.com/office/drawing/2014/main" id="{4A0D0065-6AB1-4996-8760-35002F21C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38" name="Picture 28">
            <a:extLst>
              <a:ext uri="{FF2B5EF4-FFF2-40B4-BE49-F238E27FC236}">
                <a16:creationId xmlns:a16="http://schemas.microsoft.com/office/drawing/2014/main" id="{DC63B816-5D6D-4BA2-B590-D38C3EC17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836613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Text Box 29">
            <a:extLst>
              <a:ext uri="{FF2B5EF4-FFF2-40B4-BE49-F238E27FC236}">
                <a16:creationId xmlns:a16="http://schemas.microsoft.com/office/drawing/2014/main" id="{07357782-D609-47E6-8BE3-B50139903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3x + 2 = 8</a:t>
            </a:r>
          </a:p>
        </p:txBody>
      </p:sp>
      <p:sp>
        <p:nvSpPr>
          <p:cNvPr id="40" name="Text Box 30">
            <a:extLst>
              <a:ext uri="{FF2B5EF4-FFF2-40B4-BE49-F238E27FC236}">
                <a16:creationId xmlns:a16="http://schemas.microsoft.com/office/drawing/2014/main" id="{8C4EB2A6-2D70-4A43-B92B-D517EB19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3x        = 6</a:t>
            </a:r>
          </a:p>
        </p:txBody>
      </p:sp>
      <p:sp>
        <p:nvSpPr>
          <p:cNvPr id="41" name="Text Box 31">
            <a:extLst>
              <a:ext uri="{FF2B5EF4-FFF2-40B4-BE49-F238E27FC236}">
                <a16:creationId xmlns:a16="http://schemas.microsoft.com/office/drawing/2014/main" id="{E6F25C36-49C1-4198-8532-898CA5801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3523" y="1707924"/>
            <a:ext cx="51112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-2</a:t>
            </a:r>
          </a:p>
        </p:txBody>
      </p:sp>
      <p:sp>
        <p:nvSpPr>
          <p:cNvPr id="42" name="Text Box 32">
            <a:extLst>
              <a:ext uri="{FF2B5EF4-FFF2-40B4-BE49-F238E27FC236}">
                <a16:creationId xmlns:a16="http://schemas.microsoft.com/office/drawing/2014/main" id="{C6F033C5-3091-4CCF-B9E3-8DC33F813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614" y="2908436"/>
            <a:ext cx="685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÷3</a:t>
            </a:r>
          </a:p>
        </p:txBody>
      </p:sp>
      <p:sp>
        <p:nvSpPr>
          <p:cNvPr id="43" name="Text Box 33">
            <a:extLst>
              <a:ext uri="{FF2B5EF4-FFF2-40B4-BE49-F238E27FC236}">
                <a16:creationId xmlns:a16="http://schemas.microsoft.com/office/drawing/2014/main" id="{798C5F90-C2FE-4CC1-A304-6648DD7A8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651250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 x        = 2</a:t>
            </a:r>
          </a:p>
        </p:txBody>
      </p:sp>
      <p:grpSp>
        <p:nvGrpSpPr>
          <p:cNvPr id="44" name="Group 37">
            <a:extLst>
              <a:ext uri="{FF2B5EF4-FFF2-40B4-BE49-F238E27FC236}">
                <a16:creationId xmlns:a16="http://schemas.microsoft.com/office/drawing/2014/main" id="{5F1D180F-3A48-46A2-B0C0-E2FD25A5596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860800"/>
            <a:ext cx="720725" cy="792163"/>
            <a:chOff x="204" y="3212"/>
            <a:chExt cx="726" cy="807"/>
          </a:xfrm>
        </p:grpSpPr>
        <p:sp>
          <p:nvSpPr>
            <p:cNvPr id="45" name="AutoShape 38">
              <a:extLst>
                <a:ext uri="{FF2B5EF4-FFF2-40B4-BE49-F238E27FC236}">
                  <a16:creationId xmlns:a16="http://schemas.microsoft.com/office/drawing/2014/main" id="{828B8633-34D4-4F2B-9465-6FC7E07EE7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6" name="Oval 39">
              <a:extLst>
                <a:ext uri="{FF2B5EF4-FFF2-40B4-BE49-F238E27FC236}">
                  <a16:creationId xmlns:a16="http://schemas.microsoft.com/office/drawing/2014/main" id="{179F8C5F-1C21-4DBF-BDEB-963FFBAC9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47" name="Group 40">
            <a:extLst>
              <a:ext uri="{FF2B5EF4-FFF2-40B4-BE49-F238E27FC236}">
                <a16:creationId xmlns:a16="http://schemas.microsoft.com/office/drawing/2014/main" id="{6751209F-B2AD-40F9-AF7E-F093AA8A0F33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3933825"/>
            <a:ext cx="720725" cy="792163"/>
            <a:chOff x="204" y="3212"/>
            <a:chExt cx="726" cy="807"/>
          </a:xfrm>
        </p:grpSpPr>
        <p:sp>
          <p:nvSpPr>
            <p:cNvPr id="48" name="AutoShape 41">
              <a:extLst>
                <a:ext uri="{FF2B5EF4-FFF2-40B4-BE49-F238E27FC236}">
                  <a16:creationId xmlns:a16="http://schemas.microsoft.com/office/drawing/2014/main" id="{3EFBD07F-BD6D-4588-AC80-4E658FED6D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9" name="Oval 42">
              <a:extLst>
                <a:ext uri="{FF2B5EF4-FFF2-40B4-BE49-F238E27FC236}">
                  <a16:creationId xmlns:a16="http://schemas.microsoft.com/office/drawing/2014/main" id="{5CF3586C-41D4-45D1-B807-F8A8C8144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0" name="Group 43">
            <a:extLst>
              <a:ext uri="{FF2B5EF4-FFF2-40B4-BE49-F238E27FC236}">
                <a16:creationId xmlns:a16="http://schemas.microsoft.com/office/drawing/2014/main" id="{124383FF-610B-4AF1-A731-0A9B22200634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284538"/>
            <a:ext cx="720725" cy="792162"/>
            <a:chOff x="204" y="3212"/>
            <a:chExt cx="726" cy="807"/>
          </a:xfrm>
        </p:grpSpPr>
        <p:sp>
          <p:nvSpPr>
            <p:cNvPr id="51" name="AutoShape 44">
              <a:extLst>
                <a:ext uri="{FF2B5EF4-FFF2-40B4-BE49-F238E27FC236}">
                  <a16:creationId xmlns:a16="http://schemas.microsoft.com/office/drawing/2014/main" id="{D67F503E-3232-4759-95ED-CF62CED001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2" name="Oval 45">
              <a:extLst>
                <a:ext uri="{FF2B5EF4-FFF2-40B4-BE49-F238E27FC236}">
                  <a16:creationId xmlns:a16="http://schemas.microsoft.com/office/drawing/2014/main" id="{91EB6908-D7AD-485E-AAAA-C4B84890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3" name="Group 49">
            <a:extLst>
              <a:ext uri="{FF2B5EF4-FFF2-40B4-BE49-F238E27FC236}">
                <a16:creationId xmlns:a16="http://schemas.microsoft.com/office/drawing/2014/main" id="{2EAEF062-8596-448D-AFA7-09D213B55E1B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933825"/>
            <a:ext cx="720725" cy="792163"/>
            <a:chOff x="204" y="3212"/>
            <a:chExt cx="726" cy="807"/>
          </a:xfrm>
        </p:grpSpPr>
        <p:sp>
          <p:nvSpPr>
            <p:cNvPr id="54" name="AutoShape 50">
              <a:extLst>
                <a:ext uri="{FF2B5EF4-FFF2-40B4-BE49-F238E27FC236}">
                  <a16:creationId xmlns:a16="http://schemas.microsoft.com/office/drawing/2014/main" id="{E2769A13-E9F1-4D67-8FB5-6A30149908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5" name="Oval 51">
              <a:extLst>
                <a:ext uri="{FF2B5EF4-FFF2-40B4-BE49-F238E27FC236}">
                  <a16:creationId xmlns:a16="http://schemas.microsoft.com/office/drawing/2014/main" id="{AC57490E-C1FD-4FF4-8C2B-A3E778003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6" name="Text Box 55">
            <a:extLst>
              <a:ext uri="{FF2B5EF4-FFF2-40B4-BE49-F238E27FC236}">
                <a16:creationId xmlns:a16="http://schemas.microsoft.com/office/drawing/2014/main" id="{A95288DB-5AB4-47D4-9F82-30A64817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latin typeface="Comic Sans MS" panose="030F0702030302020204" pitchFamily="66" charset="0"/>
              </a:rPr>
              <a:t>Equations – Keep it balanced…</a:t>
            </a:r>
          </a:p>
        </p:txBody>
      </p:sp>
      <p:sp>
        <p:nvSpPr>
          <p:cNvPr id="57" name="Text Box 31">
            <a:extLst>
              <a:ext uri="{FF2B5EF4-FFF2-40B4-BE49-F238E27FC236}">
                <a16:creationId xmlns:a16="http://schemas.microsoft.com/office/drawing/2014/main" id="{B293A434-4DCF-4A82-8665-C28990993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2871" y="1716632"/>
            <a:ext cx="51112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-2</a:t>
            </a:r>
          </a:p>
        </p:txBody>
      </p:sp>
      <p:sp>
        <p:nvSpPr>
          <p:cNvPr id="58" name="Text Box 32">
            <a:extLst>
              <a:ext uri="{FF2B5EF4-FFF2-40B4-BE49-F238E27FC236}">
                <a16:creationId xmlns:a16="http://schemas.microsoft.com/office/drawing/2014/main" id="{01762EF9-603E-4D82-8704-A50D5BAF6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1557" y="2930208"/>
            <a:ext cx="685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÷3</a:t>
            </a:r>
          </a:p>
        </p:txBody>
      </p:sp>
    </p:spTree>
    <p:extLst>
      <p:ext uri="{BB962C8B-B14F-4D97-AF65-F5344CB8AC3E}">
        <p14:creationId xmlns:p14="http://schemas.microsoft.com/office/powerpoint/2010/main" val="345200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57" grpId="0"/>
      <p:bldP spid="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dArt 2">
            <a:extLst>
              <a:ext uri="{FF2B5EF4-FFF2-40B4-BE49-F238E27FC236}">
                <a16:creationId xmlns:a16="http://schemas.microsoft.com/office/drawing/2014/main" id="{70A3C1A9-DA7D-4CB1-B231-95441341909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47813" y="333375"/>
            <a:ext cx="5876925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5400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Comic Sans MS" panose="030F0702030302020204" pitchFamily="66" charset="0"/>
              </a:rPr>
              <a:t>Solving Equations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1C07067-FAD5-4D7F-B392-6F20874DD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1438"/>
            <a:ext cx="90249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In your books, find what the x value is for the following</a:t>
            </a:r>
            <a:endParaRPr lang="en-GB" altLang="en-US" dirty="0">
              <a:latin typeface="Comic Sans MS" panose="030F0702030302020204" pitchFamily="66" charset="0"/>
            </a:endParaRPr>
          </a:p>
        </p:txBody>
      </p:sp>
      <p:sp>
        <p:nvSpPr>
          <p:cNvPr id="6" name="WordArt 5">
            <a:extLst>
              <a:ext uri="{FF2B5EF4-FFF2-40B4-BE49-F238E27FC236}">
                <a16:creationId xmlns:a16="http://schemas.microsoft.com/office/drawing/2014/main" id="{B96C5E23-392B-4D93-AFAA-98835A841C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08175" y="202406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7" name="WordArt 6">
            <a:extLst>
              <a:ext uri="{FF2B5EF4-FFF2-40B4-BE49-F238E27FC236}">
                <a16:creationId xmlns:a16="http://schemas.microsoft.com/office/drawing/2014/main" id="{8A38BAAA-DFDB-49D9-BEF8-D5A02A7462E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11413" y="202406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8" name="WordArt 7">
            <a:extLst>
              <a:ext uri="{FF2B5EF4-FFF2-40B4-BE49-F238E27FC236}">
                <a16:creationId xmlns:a16="http://schemas.microsoft.com/office/drawing/2014/main" id="{002AAE32-2CEE-453A-84B9-267A8986021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87900" y="2024063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9" name="WordArt 8">
            <a:extLst>
              <a:ext uri="{FF2B5EF4-FFF2-40B4-BE49-F238E27FC236}">
                <a16:creationId xmlns:a16="http://schemas.microsoft.com/office/drawing/2014/main" id="{4847DEF6-A801-4FAE-82CC-B6521B811C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22938" y="1989138"/>
            <a:ext cx="720725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18</a:t>
            </a:r>
          </a:p>
        </p:txBody>
      </p:sp>
      <p:sp>
        <p:nvSpPr>
          <p:cNvPr id="10" name="WordArt 9">
            <a:extLst>
              <a:ext uri="{FF2B5EF4-FFF2-40B4-BE49-F238E27FC236}">
                <a16:creationId xmlns:a16="http://schemas.microsoft.com/office/drawing/2014/main" id="{FA244F46-E31B-4864-8809-F0461D9DB92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16238" y="2024063"/>
            <a:ext cx="50482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11" name="WordArt 10">
            <a:extLst>
              <a:ext uri="{FF2B5EF4-FFF2-40B4-BE49-F238E27FC236}">
                <a16:creationId xmlns:a16="http://schemas.microsoft.com/office/drawing/2014/main" id="{8073FD3F-12C4-4013-A0CA-6D4F8CC0704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63938" y="2024063"/>
            <a:ext cx="79057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10</a:t>
            </a:r>
          </a:p>
        </p:txBody>
      </p:sp>
      <p:sp>
        <p:nvSpPr>
          <p:cNvPr id="12" name="WordArt 11">
            <a:extLst>
              <a:ext uri="{FF2B5EF4-FFF2-40B4-BE49-F238E27FC236}">
                <a16:creationId xmlns:a16="http://schemas.microsoft.com/office/drawing/2014/main" id="{14E7AB06-3BF6-4D37-A9AC-AB77E6832DB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08175" y="285273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13" name="WordArt 12">
            <a:extLst>
              <a:ext uri="{FF2B5EF4-FFF2-40B4-BE49-F238E27FC236}">
                <a16:creationId xmlns:a16="http://schemas.microsoft.com/office/drawing/2014/main" id="{5E50D79B-E6FD-44B7-A5F9-2FF418FAAD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11413" y="285273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14" name="WordArt 13">
            <a:extLst>
              <a:ext uri="{FF2B5EF4-FFF2-40B4-BE49-F238E27FC236}">
                <a16:creationId xmlns:a16="http://schemas.microsoft.com/office/drawing/2014/main" id="{14B970C2-D4DB-41F3-8667-4CAB9983C5B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87900" y="2852738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15" name="WordArt 14">
            <a:extLst>
              <a:ext uri="{FF2B5EF4-FFF2-40B4-BE49-F238E27FC236}">
                <a16:creationId xmlns:a16="http://schemas.microsoft.com/office/drawing/2014/main" id="{56D8A52A-6188-4863-B107-08686F15CF6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22938" y="2817813"/>
            <a:ext cx="720725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19</a:t>
            </a:r>
          </a:p>
        </p:txBody>
      </p:sp>
      <p:sp>
        <p:nvSpPr>
          <p:cNvPr id="16" name="WordArt 15">
            <a:extLst>
              <a:ext uri="{FF2B5EF4-FFF2-40B4-BE49-F238E27FC236}">
                <a16:creationId xmlns:a16="http://schemas.microsoft.com/office/drawing/2014/main" id="{B5671171-6182-4D34-A8C4-2B73A3BEC6E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16238" y="2852738"/>
            <a:ext cx="50482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17" name="WordArt 16">
            <a:extLst>
              <a:ext uri="{FF2B5EF4-FFF2-40B4-BE49-F238E27FC236}">
                <a16:creationId xmlns:a16="http://schemas.microsoft.com/office/drawing/2014/main" id="{F5C384A8-5050-4B0E-BD83-9F48F4ADF69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63938" y="285273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9</a:t>
            </a:r>
          </a:p>
        </p:txBody>
      </p:sp>
      <p:sp>
        <p:nvSpPr>
          <p:cNvPr id="18" name="WordArt 18">
            <a:extLst>
              <a:ext uri="{FF2B5EF4-FFF2-40B4-BE49-F238E27FC236}">
                <a16:creationId xmlns:a16="http://schemas.microsoft.com/office/drawing/2014/main" id="{C9A7E53D-8170-4CED-AF15-A60C5D08137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11413" y="368141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19" name="WordArt 19">
            <a:extLst>
              <a:ext uri="{FF2B5EF4-FFF2-40B4-BE49-F238E27FC236}">
                <a16:creationId xmlns:a16="http://schemas.microsoft.com/office/drawing/2014/main" id="{28B763B7-146D-441E-A54D-85386E26527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87900" y="3681413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20" name="WordArt 20">
            <a:extLst>
              <a:ext uri="{FF2B5EF4-FFF2-40B4-BE49-F238E27FC236}">
                <a16:creationId xmlns:a16="http://schemas.microsoft.com/office/drawing/2014/main" id="{08DC09BE-0B1C-4952-8073-D60A4DAA53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22938" y="3646488"/>
            <a:ext cx="720725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50</a:t>
            </a:r>
          </a:p>
        </p:txBody>
      </p:sp>
      <p:sp>
        <p:nvSpPr>
          <p:cNvPr id="21" name="WordArt 21">
            <a:extLst>
              <a:ext uri="{FF2B5EF4-FFF2-40B4-BE49-F238E27FC236}">
                <a16:creationId xmlns:a16="http://schemas.microsoft.com/office/drawing/2014/main" id="{977D9F80-04D4-4D06-AC6A-9A39AFAD18B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16238" y="3681413"/>
            <a:ext cx="50482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22" name="WordArt 22">
            <a:extLst>
              <a:ext uri="{FF2B5EF4-FFF2-40B4-BE49-F238E27FC236}">
                <a16:creationId xmlns:a16="http://schemas.microsoft.com/office/drawing/2014/main" id="{7811BF85-F461-4824-AF72-4D69AE86472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63938" y="3681413"/>
            <a:ext cx="72072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22</a:t>
            </a:r>
          </a:p>
        </p:txBody>
      </p:sp>
      <p:sp>
        <p:nvSpPr>
          <p:cNvPr id="23" name="WordArt 23">
            <a:extLst>
              <a:ext uri="{FF2B5EF4-FFF2-40B4-BE49-F238E27FC236}">
                <a16:creationId xmlns:a16="http://schemas.microsoft.com/office/drawing/2014/main" id="{E3256AAD-6AB4-4CF0-AFAA-D0EDABE2618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4508500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24" name="WordArt 24">
            <a:extLst>
              <a:ext uri="{FF2B5EF4-FFF2-40B4-BE49-F238E27FC236}">
                <a16:creationId xmlns:a16="http://schemas.microsoft.com/office/drawing/2014/main" id="{A8C2066F-8FE8-4625-B0DD-8736D702594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82850" y="4508500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25" name="WordArt 25">
            <a:extLst>
              <a:ext uri="{FF2B5EF4-FFF2-40B4-BE49-F238E27FC236}">
                <a16:creationId xmlns:a16="http://schemas.microsoft.com/office/drawing/2014/main" id="{4EA331B8-259B-414A-AB6C-961CE983E6C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859338" y="4508500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26" name="WordArt 26">
            <a:extLst>
              <a:ext uri="{FF2B5EF4-FFF2-40B4-BE49-F238E27FC236}">
                <a16:creationId xmlns:a16="http://schemas.microsoft.com/office/drawing/2014/main" id="{E3B5A81A-20D2-4860-B27F-1D97B19FFCF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94375" y="4473575"/>
            <a:ext cx="7207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19</a:t>
            </a:r>
          </a:p>
        </p:txBody>
      </p:sp>
      <p:sp>
        <p:nvSpPr>
          <p:cNvPr id="27" name="WordArt 27">
            <a:extLst>
              <a:ext uri="{FF2B5EF4-FFF2-40B4-BE49-F238E27FC236}">
                <a16:creationId xmlns:a16="http://schemas.microsoft.com/office/drawing/2014/main" id="{3E499DE3-DE26-4798-9639-BCFE8B2274F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87675" y="4508500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28" name="WordArt 28">
            <a:extLst>
              <a:ext uri="{FF2B5EF4-FFF2-40B4-BE49-F238E27FC236}">
                <a16:creationId xmlns:a16="http://schemas.microsoft.com/office/drawing/2014/main" id="{29CA8E1B-2793-4D4F-856E-6893C9BE7A5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35375" y="4508500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29" name="WordArt 29">
            <a:extLst>
              <a:ext uri="{FF2B5EF4-FFF2-40B4-BE49-F238E27FC236}">
                <a16:creationId xmlns:a16="http://schemas.microsoft.com/office/drawing/2014/main" id="{9FBCF66E-4DD8-4E6F-AFC1-FF34A307CFA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537368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30" name="WordArt 30">
            <a:extLst>
              <a:ext uri="{FF2B5EF4-FFF2-40B4-BE49-F238E27FC236}">
                <a16:creationId xmlns:a16="http://schemas.microsoft.com/office/drawing/2014/main" id="{6CBA14FB-24E3-4C7D-8AD7-ABA4B53D6A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82850" y="537368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31" name="WordArt 31">
            <a:extLst>
              <a:ext uri="{FF2B5EF4-FFF2-40B4-BE49-F238E27FC236}">
                <a16:creationId xmlns:a16="http://schemas.microsoft.com/office/drawing/2014/main" id="{03BEFBE2-8DA2-4E25-9945-D43B98240F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859338" y="5373688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32" name="WordArt 32">
            <a:extLst>
              <a:ext uri="{FF2B5EF4-FFF2-40B4-BE49-F238E27FC236}">
                <a16:creationId xmlns:a16="http://schemas.microsoft.com/office/drawing/2014/main" id="{F5A910FD-8431-4888-BCE4-E0A4B885024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94375" y="5338763"/>
            <a:ext cx="361950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</a:t>
            </a:r>
          </a:p>
        </p:txBody>
      </p:sp>
      <p:sp>
        <p:nvSpPr>
          <p:cNvPr id="33" name="WordArt 33">
            <a:extLst>
              <a:ext uri="{FF2B5EF4-FFF2-40B4-BE49-F238E27FC236}">
                <a16:creationId xmlns:a16="http://schemas.microsoft.com/office/drawing/2014/main" id="{CDCEF89C-F46B-491A-85FC-4E880D44276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87675" y="5373688"/>
            <a:ext cx="50482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34" name="WordArt 34">
            <a:extLst>
              <a:ext uri="{FF2B5EF4-FFF2-40B4-BE49-F238E27FC236}">
                <a16:creationId xmlns:a16="http://schemas.microsoft.com/office/drawing/2014/main" id="{DE35EF5C-1FF4-4EAE-86F8-ED6CC338E9E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35375" y="537368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6F686F2F-9513-4C29-B935-1C5A2C758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300663"/>
            <a:ext cx="576262" cy="504825"/>
          </a:xfrm>
          <a:prstGeom prst="star5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911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5">
            <a:extLst>
              <a:ext uri="{FF2B5EF4-FFF2-40B4-BE49-F238E27FC236}">
                <a16:creationId xmlns:a16="http://schemas.microsoft.com/office/drawing/2014/main" id="{121C05E7-4166-4FF7-BB00-3F6E1E50AE8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08175" y="202406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6" name="WordArt 6">
            <a:extLst>
              <a:ext uri="{FF2B5EF4-FFF2-40B4-BE49-F238E27FC236}">
                <a16:creationId xmlns:a16="http://schemas.microsoft.com/office/drawing/2014/main" id="{085B2A02-AE99-4DC1-A33A-2E4BC2717B4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11413" y="202406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7" name="WordArt 7">
            <a:extLst>
              <a:ext uri="{FF2B5EF4-FFF2-40B4-BE49-F238E27FC236}">
                <a16:creationId xmlns:a16="http://schemas.microsoft.com/office/drawing/2014/main" id="{5885E850-BA3F-4006-9CB3-51870E80F03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87900" y="2024063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8" name="WordArt 8">
            <a:extLst>
              <a:ext uri="{FF2B5EF4-FFF2-40B4-BE49-F238E27FC236}">
                <a16:creationId xmlns:a16="http://schemas.microsoft.com/office/drawing/2014/main" id="{46482EC2-A44A-49C2-8830-75815B5199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22938" y="1989138"/>
            <a:ext cx="720725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18</a:t>
            </a:r>
          </a:p>
        </p:txBody>
      </p:sp>
      <p:sp>
        <p:nvSpPr>
          <p:cNvPr id="9" name="WordArt 9">
            <a:extLst>
              <a:ext uri="{FF2B5EF4-FFF2-40B4-BE49-F238E27FC236}">
                <a16:creationId xmlns:a16="http://schemas.microsoft.com/office/drawing/2014/main" id="{B0BD2A03-EE69-46A5-94AE-4D7885BD6A4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87675" y="2168525"/>
            <a:ext cx="431800" cy="1809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10" name="WordArt 10">
            <a:extLst>
              <a:ext uri="{FF2B5EF4-FFF2-40B4-BE49-F238E27FC236}">
                <a16:creationId xmlns:a16="http://schemas.microsoft.com/office/drawing/2014/main" id="{E56426F1-E589-4F89-8E8D-FF9F5FB0C8C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63938" y="2024063"/>
            <a:ext cx="79057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12</a:t>
            </a:r>
          </a:p>
        </p:txBody>
      </p:sp>
      <p:sp>
        <p:nvSpPr>
          <p:cNvPr id="11" name="WordArt 11">
            <a:extLst>
              <a:ext uri="{FF2B5EF4-FFF2-40B4-BE49-F238E27FC236}">
                <a16:creationId xmlns:a16="http://schemas.microsoft.com/office/drawing/2014/main" id="{6E89A3EA-AA37-43AB-98F5-978FCFF293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08175" y="285273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12" name="WordArt 12">
            <a:extLst>
              <a:ext uri="{FF2B5EF4-FFF2-40B4-BE49-F238E27FC236}">
                <a16:creationId xmlns:a16="http://schemas.microsoft.com/office/drawing/2014/main" id="{0C783E33-69B7-4763-B432-B9E4F5A405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11413" y="285273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13" name="WordArt 13">
            <a:extLst>
              <a:ext uri="{FF2B5EF4-FFF2-40B4-BE49-F238E27FC236}">
                <a16:creationId xmlns:a16="http://schemas.microsoft.com/office/drawing/2014/main" id="{D3AA427A-2C8F-43B1-AB92-4FE8A9FA71E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87900" y="2852738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14" name="WordArt 14">
            <a:extLst>
              <a:ext uri="{FF2B5EF4-FFF2-40B4-BE49-F238E27FC236}">
                <a16:creationId xmlns:a16="http://schemas.microsoft.com/office/drawing/2014/main" id="{F5B5F6E0-9BF1-4D88-81CA-7942A543BDE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22938" y="2817813"/>
            <a:ext cx="433387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7</a:t>
            </a:r>
          </a:p>
        </p:txBody>
      </p:sp>
      <p:sp>
        <p:nvSpPr>
          <p:cNvPr id="15" name="WordArt 16">
            <a:extLst>
              <a:ext uri="{FF2B5EF4-FFF2-40B4-BE49-F238E27FC236}">
                <a16:creationId xmlns:a16="http://schemas.microsoft.com/office/drawing/2014/main" id="{CCD40F92-E721-48CB-8731-432F64642E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708400" y="285273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9</a:t>
            </a:r>
          </a:p>
        </p:txBody>
      </p:sp>
      <p:sp>
        <p:nvSpPr>
          <p:cNvPr id="16" name="WordArt 17">
            <a:extLst>
              <a:ext uri="{FF2B5EF4-FFF2-40B4-BE49-F238E27FC236}">
                <a16:creationId xmlns:a16="http://schemas.microsoft.com/office/drawing/2014/main" id="{1CBA3E7A-4E65-4673-987C-9D890FB1AA8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11413" y="368141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17" name="WordArt 18">
            <a:extLst>
              <a:ext uri="{FF2B5EF4-FFF2-40B4-BE49-F238E27FC236}">
                <a16:creationId xmlns:a16="http://schemas.microsoft.com/office/drawing/2014/main" id="{7FBBD24F-6E72-4061-9BAF-DAB97A9ED8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87900" y="3681413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18" name="WordArt 19">
            <a:extLst>
              <a:ext uri="{FF2B5EF4-FFF2-40B4-BE49-F238E27FC236}">
                <a16:creationId xmlns:a16="http://schemas.microsoft.com/office/drawing/2014/main" id="{44AFD478-36DA-4658-A3BA-CD070C805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22938" y="3646488"/>
            <a:ext cx="720725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10</a:t>
            </a:r>
          </a:p>
        </p:txBody>
      </p:sp>
      <p:sp>
        <p:nvSpPr>
          <p:cNvPr id="19" name="WordArt 21">
            <a:extLst>
              <a:ext uri="{FF2B5EF4-FFF2-40B4-BE49-F238E27FC236}">
                <a16:creationId xmlns:a16="http://schemas.microsoft.com/office/drawing/2014/main" id="{2EED1149-70C9-4994-8DD7-387F573CCA6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708400" y="3644900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8</a:t>
            </a:r>
          </a:p>
        </p:txBody>
      </p:sp>
      <p:sp>
        <p:nvSpPr>
          <p:cNvPr id="20" name="WordArt 22">
            <a:extLst>
              <a:ext uri="{FF2B5EF4-FFF2-40B4-BE49-F238E27FC236}">
                <a16:creationId xmlns:a16="http://schemas.microsoft.com/office/drawing/2014/main" id="{5792E6CF-21F9-4574-A3A7-4930B625986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4508500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21" name="WordArt 23">
            <a:extLst>
              <a:ext uri="{FF2B5EF4-FFF2-40B4-BE49-F238E27FC236}">
                <a16:creationId xmlns:a16="http://schemas.microsoft.com/office/drawing/2014/main" id="{CBF11D17-B332-484A-93D2-1EA8B731C6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82850" y="4508500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22" name="WordArt 24">
            <a:extLst>
              <a:ext uri="{FF2B5EF4-FFF2-40B4-BE49-F238E27FC236}">
                <a16:creationId xmlns:a16="http://schemas.microsoft.com/office/drawing/2014/main" id="{98883DB6-CDF1-438D-A2C6-EDE5952F7B2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859338" y="4508500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23" name="WordArt 25">
            <a:extLst>
              <a:ext uri="{FF2B5EF4-FFF2-40B4-BE49-F238E27FC236}">
                <a16:creationId xmlns:a16="http://schemas.microsoft.com/office/drawing/2014/main" id="{2898948E-688E-4260-B704-947E5526D5D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94375" y="4473575"/>
            <a:ext cx="7207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17</a:t>
            </a:r>
          </a:p>
        </p:txBody>
      </p:sp>
      <p:sp>
        <p:nvSpPr>
          <p:cNvPr id="24" name="WordArt 27">
            <a:extLst>
              <a:ext uri="{FF2B5EF4-FFF2-40B4-BE49-F238E27FC236}">
                <a16:creationId xmlns:a16="http://schemas.microsoft.com/office/drawing/2014/main" id="{C12DD91E-61E5-4F9F-9B35-12D3B367D66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708400" y="4508500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25" name="WordArt 28">
            <a:extLst>
              <a:ext uri="{FF2B5EF4-FFF2-40B4-BE49-F238E27FC236}">
                <a16:creationId xmlns:a16="http://schemas.microsoft.com/office/drawing/2014/main" id="{20CF1197-962D-44EF-90B0-F2CE4227B3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537368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26" name="WordArt 29">
            <a:extLst>
              <a:ext uri="{FF2B5EF4-FFF2-40B4-BE49-F238E27FC236}">
                <a16:creationId xmlns:a16="http://schemas.microsoft.com/office/drawing/2014/main" id="{8BD0EDBE-0796-4C75-823A-BB49370E4C8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82850" y="537368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27" name="WordArt 30">
            <a:extLst>
              <a:ext uri="{FF2B5EF4-FFF2-40B4-BE49-F238E27FC236}">
                <a16:creationId xmlns:a16="http://schemas.microsoft.com/office/drawing/2014/main" id="{4BD03B78-E512-4FCD-BC9A-4E3891518D7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859338" y="5373688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28" name="WordArt 31">
            <a:extLst>
              <a:ext uri="{FF2B5EF4-FFF2-40B4-BE49-F238E27FC236}">
                <a16:creationId xmlns:a16="http://schemas.microsoft.com/office/drawing/2014/main" id="{0DE50AFB-75E5-442E-9637-390C623E67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94375" y="5338763"/>
            <a:ext cx="865188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-12</a:t>
            </a:r>
          </a:p>
        </p:txBody>
      </p:sp>
      <p:sp>
        <p:nvSpPr>
          <p:cNvPr id="29" name="WordArt 33">
            <a:extLst>
              <a:ext uri="{FF2B5EF4-FFF2-40B4-BE49-F238E27FC236}">
                <a16:creationId xmlns:a16="http://schemas.microsoft.com/office/drawing/2014/main" id="{D8E19CDF-2E30-4AE4-A217-12EC9AF6ED1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708400" y="5373688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30" name="AutoShape 34">
            <a:extLst>
              <a:ext uri="{FF2B5EF4-FFF2-40B4-BE49-F238E27FC236}">
                <a16:creationId xmlns:a16="http://schemas.microsoft.com/office/drawing/2014/main" id="{B6FEE39B-BDBB-44E9-A334-ED8007193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300663"/>
            <a:ext cx="576262" cy="504825"/>
          </a:xfrm>
          <a:prstGeom prst="star5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" name="WordArt 35">
            <a:extLst>
              <a:ext uri="{FF2B5EF4-FFF2-40B4-BE49-F238E27FC236}">
                <a16:creationId xmlns:a16="http://schemas.microsoft.com/office/drawing/2014/main" id="{D833C9B9-7E00-4140-AB4E-1EA9DAE6333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59113" y="2997200"/>
            <a:ext cx="431800" cy="1809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32" name="WordArt 36">
            <a:extLst>
              <a:ext uri="{FF2B5EF4-FFF2-40B4-BE49-F238E27FC236}">
                <a16:creationId xmlns:a16="http://schemas.microsoft.com/office/drawing/2014/main" id="{1AE78621-3F02-4CD5-9921-FEFF968B2FC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59113" y="3789363"/>
            <a:ext cx="431800" cy="1809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33" name="WordArt 37">
            <a:extLst>
              <a:ext uri="{FF2B5EF4-FFF2-40B4-BE49-F238E27FC236}">
                <a16:creationId xmlns:a16="http://schemas.microsoft.com/office/drawing/2014/main" id="{3515939B-E1FB-4876-B92C-912D92FB01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132138" y="4616450"/>
            <a:ext cx="431800" cy="1809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34" name="WordArt 38">
            <a:extLst>
              <a:ext uri="{FF2B5EF4-FFF2-40B4-BE49-F238E27FC236}">
                <a16:creationId xmlns:a16="http://schemas.microsoft.com/office/drawing/2014/main" id="{AB7C4F6F-B0C1-4913-9C72-228539EA1DA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132138" y="5516563"/>
            <a:ext cx="431800" cy="1809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35" name="WordArt 39">
            <a:extLst>
              <a:ext uri="{FF2B5EF4-FFF2-40B4-BE49-F238E27FC236}">
                <a16:creationId xmlns:a16="http://schemas.microsoft.com/office/drawing/2014/main" id="{27D57B2F-6C04-40B5-8828-95E58968BFE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47813" y="333375"/>
            <a:ext cx="5876925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5400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Comic Sans MS" panose="030F0702030302020204" pitchFamily="66" charset="0"/>
              </a:rPr>
              <a:t>Solving Equations</a:t>
            </a:r>
          </a:p>
        </p:txBody>
      </p:sp>
      <p:sp>
        <p:nvSpPr>
          <p:cNvPr id="36" name="Text Box 3">
            <a:extLst>
              <a:ext uri="{FF2B5EF4-FFF2-40B4-BE49-F238E27FC236}">
                <a16:creationId xmlns:a16="http://schemas.microsoft.com/office/drawing/2014/main" id="{7C9D9BC2-255D-4721-B595-1EBE57BF8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1438"/>
            <a:ext cx="90249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In your books, find what the x value is for the following</a:t>
            </a:r>
            <a:endParaRPr lang="en-GB" altLang="en-US" dirty="0">
              <a:latin typeface="Comic Sans MS" panose="030F0702030302020204" pitchFamily="66" charset="0"/>
            </a:endParaRPr>
          </a:p>
        </p:txBody>
      </p:sp>
      <p:sp>
        <p:nvSpPr>
          <p:cNvPr id="37" name="Text Box 3">
            <a:extLst>
              <a:ext uri="{FF2B5EF4-FFF2-40B4-BE49-F238E27FC236}">
                <a16:creationId xmlns:a16="http://schemas.microsoft.com/office/drawing/2014/main" id="{0E27A841-F153-44B6-964A-A22C8676B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69" y="6021388"/>
            <a:ext cx="90249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When finished, complete your summary.</a:t>
            </a:r>
            <a:endParaRPr lang="en-GB" alt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8928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143</TotalTime>
  <Words>1060</Words>
  <Application>Microsoft Office PowerPoint</Application>
  <PresentationFormat>Widescreen</PresentationFormat>
  <Paragraphs>313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Bradley Hand ITC</vt:lpstr>
      <vt:lpstr>Comic Sans MS</vt:lpstr>
      <vt:lpstr>Cooper Black</vt:lpstr>
      <vt:lpstr>Lato</vt:lpstr>
      <vt:lpstr>Trebuchet MS</vt:lpstr>
      <vt:lpstr>Wingdings 3</vt:lpstr>
      <vt:lpstr>Facet</vt:lpstr>
      <vt:lpstr>Solving linear equations</vt:lpstr>
      <vt:lpstr>First 5 questions</vt:lpstr>
      <vt:lpstr>Graphing (demonstration)</vt:lpstr>
      <vt:lpstr>Graphing (demonstration)</vt:lpstr>
      <vt:lpstr>Graphing (your turn)</vt:lpstr>
      <vt:lpstr>Graphing (your turn)</vt:lpstr>
      <vt:lpstr>Practice questions</vt:lpstr>
      <vt:lpstr>PowerPoint Presentation</vt:lpstr>
      <vt:lpstr>Solving worded  linear equations</vt:lpstr>
      <vt:lpstr>First 5 questions</vt:lpstr>
      <vt:lpstr>Graphing (demonstration)</vt:lpstr>
      <vt:lpstr>Graphing (demonstration)</vt:lpstr>
      <vt:lpstr>Practice questions - worksheet</vt:lpstr>
      <vt:lpstr>PowerPoint Presentation</vt:lpstr>
      <vt:lpstr>Balancing equations</vt:lpstr>
      <vt:lpstr>First 5 questions</vt:lpstr>
      <vt:lpstr>Graphing (demonstration)</vt:lpstr>
      <vt:lpstr>Graphing (demonstration)</vt:lpstr>
      <vt:lpstr>Graphing (demonstration)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linear equations</dc:title>
  <dc:creator>Umberto Gargaro</dc:creator>
  <cp:lastModifiedBy>Umberto Gargaro</cp:lastModifiedBy>
  <cp:revision>3</cp:revision>
  <dcterms:created xsi:type="dcterms:W3CDTF">2021-08-20T14:22:53Z</dcterms:created>
  <dcterms:modified xsi:type="dcterms:W3CDTF">2021-08-20T16:51:17Z</dcterms:modified>
</cp:coreProperties>
</file>
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5" r:id="rId4"/>
    <p:sldId id="266" r:id="rId5"/>
    <p:sldId id="267" r:id="rId6"/>
    <p:sldId id="268" r:id="rId7"/>
    <p:sldId id="269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D59603-9BF8-4802-A13A-E55D581EA155}" v="1" dt="2021-08-24T10:34:56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72" y="3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52D59603-9BF8-4802-A13A-E55D581EA155}"/>
    <pc:docChg chg="custSel delSld modSld">
      <pc:chgData name="Sarah James" userId="e5e3e68366f0feb3" providerId="LiveId" clId="{52D59603-9BF8-4802-A13A-E55D581EA155}" dt="2021-08-24T10:35:02.211" v="17" actId="20577"/>
      <pc:docMkLst>
        <pc:docMk/>
      </pc:docMkLst>
      <pc:sldChg chg="addSp modSp mod">
        <pc:chgData name="Sarah James" userId="e5e3e68366f0feb3" providerId="LiveId" clId="{52D59603-9BF8-4802-A13A-E55D581EA155}" dt="2021-08-24T10:35:02.211" v="17" actId="20577"/>
        <pc:sldMkLst>
          <pc:docMk/>
          <pc:sldMk cId="296232331" sldId="257"/>
        </pc:sldMkLst>
        <pc:spChg chg="add mod">
          <ac:chgData name="Sarah James" userId="e5e3e68366f0feb3" providerId="LiveId" clId="{52D59603-9BF8-4802-A13A-E55D581EA155}" dt="2021-08-24T10:35:02.211" v="17" actId="20577"/>
          <ac:spMkLst>
            <pc:docMk/>
            <pc:sldMk cId="296232331" sldId="257"/>
            <ac:spMk id="2" creationId="{E7A10D22-06E6-4B73-AFB5-84EF98765469}"/>
          </ac:spMkLst>
        </pc:spChg>
      </pc:sldChg>
      <pc:sldChg chg="del">
        <pc:chgData name="Sarah James" userId="e5e3e68366f0feb3" providerId="LiveId" clId="{52D59603-9BF8-4802-A13A-E55D581EA155}" dt="2021-08-24T10:22:38.259" v="0" actId="47"/>
        <pc:sldMkLst>
          <pc:docMk/>
          <pc:sldMk cId="3650118053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9946B-D1F5-4B6F-954C-0FEC1FA555F8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6BAC5-9988-4C61-A151-0EB2366D08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745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70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Go back to the NLVM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31573-92E8-43F9-9E4D-72B00DCA889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9846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teacher example page to move the manipulatives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31573-92E8-43F9-9E4D-72B00DCA8892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4902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EEBF-4AF6-4097-AC01-A5042CE70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8264B0-B9A9-4C98-BE47-3430B91F2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556D6-7555-4E3C-B071-439F05F2A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938D-5B15-4851-9C11-A507CC8C305F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0E8FA-6D1D-4993-980B-18AF6C19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725BA-558C-4F19-A4A0-9FE61FD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0A3C8-2BD8-4D25-9014-085254A63A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889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729EF-829C-46BE-8101-71C48B7B4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0D7C0-3E00-4746-9618-8C269CDF0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22783-4D85-48F6-B969-7BF55F67D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938D-5B15-4851-9C11-A507CC8C305F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CA7AA-C7D5-45CD-9746-C423B340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56133-2313-4C5B-8281-C44BBB36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0A3C8-2BD8-4D25-9014-085254A63A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5619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7900-6D31-486E-ADE5-11FEC4430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AAE44-5013-4C43-82C1-AE4D0D967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54D03-B9A8-4E3D-9991-81BB16EE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938D-5B15-4851-9C11-A507CC8C305F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97474-0EA4-4905-9916-596E31183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B236F-E18C-4B96-929C-CCB63B8C0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0A3C8-2BD8-4D25-9014-085254A63A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6666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DB19-CE50-4401-8AC1-07A24EE83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445A1-B0F2-4E13-B63F-B2272F5B15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756DC-0633-452D-9E57-FC5AA5484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D9F67-FD1B-4D36-B202-5E3A6B62E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938D-5B15-4851-9C11-A507CC8C305F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AA10A-73BE-4240-ACEF-7C56F1BF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3E2D6-41DB-47FA-BA07-95964E103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0A3C8-2BD8-4D25-9014-085254A63A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493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4F15B-AA79-4041-8556-DFC285B2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DB49F-BE7E-441C-8205-0D1A921A8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C9148-6876-4F07-B50E-A4247EE77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82567-470A-4A21-A7BA-9DF16D799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928132-0995-4775-9850-2E4E64244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5BE202-6272-45E5-B5FF-C09AC160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938D-5B15-4851-9C11-A507CC8C305F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C69BA7-7D6D-43A2-88DD-92B78A637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6E30C4-17EA-4C9E-8452-D5FABEB44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0A3C8-2BD8-4D25-9014-085254A63A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6260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4C32-7F12-49FF-83A4-9C397FA6F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C18E9F-2ABA-43F5-AB56-9422DAB7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938D-5B15-4851-9C11-A507CC8C305F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FB681-1CC5-4183-B354-1A1E0FF1E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8A826-F7E2-4E46-8D0B-F1CA6BECC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0A3C8-2BD8-4D25-9014-085254A63A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8462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AEE2C6-A165-4814-BD00-E61D6653C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938D-5B15-4851-9C11-A507CC8C305F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1E955C-90A4-443C-913C-11CE2BD16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508D7-36E0-4A18-8A4E-DAB9BC17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0A3C8-2BD8-4D25-9014-085254A63A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600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2E14B-2435-4A63-95A3-E133957F9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862FB-2EA8-4D37-AE34-C09945A93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E4788-4975-4ECC-9EB6-2A3FE10AF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8AD08-32B5-4A93-AE7A-4970D872D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938D-5B15-4851-9C11-A507CC8C305F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73BEA-080D-4ECE-8951-FA6EE630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A8978-EF45-406E-8798-35646BB8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0A3C8-2BD8-4D25-9014-085254A63A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327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E33BE-E125-4CFF-A9E4-FCB1AC60B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5B69DB-8CE4-4C44-90A7-E182496E8A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EE181-2630-4B0C-B2B3-057DF3174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CED28-7CFD-43E6-B315-5A6178B2F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938D-5B15-4851-9C11-A507CC8C305F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9F58A-C5B1-4DD6-95C9-AB2E81597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1501C-7FB3-4C3F-9992-2BD15378A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0A3C8-2BD8-4D25-9014-085254A63A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8601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DEFF-D772-4754-B215-309207107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E3CDF-EE9E-42C4-B9C5-0E3D7979D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9332A-31DD-429F-AC30-AA6D1BB5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938D-5B15-4851-9C11-A507CC8C305F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F9F21-0CF3-4C14-9413-2EF30CE9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1095A-2FBF-484C-96E2-03E75C56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0A3C8-2BD8-4D25-9014-085254A63A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4755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6C3EEA-730B-42FD-B036-E6993A7F7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267CF-C000-43B2-A166-F96126A07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57E10-DF12-4138-A2BE-F7DB7E240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938D-5B15-4851-9C11-A507CC8C305F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E9DE2-15EE-4D48-A639-CB8145575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43E5-52FC-4DFF-8E02-3563629BD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0A3C8-2BD8-4D25-9014-085254A63A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93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EA746D-DC24-4199-B7B4-0E16E11E2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BC66F-2B9E-47F3-B2F7-01457C48A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AF5F4-A275-48D8-B519-E7811E6798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C938D-5B15-4851-9C11-A507CC8C305F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DBD9D-DCBF-4B4D-B0E7-BB565005C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D0843-C8BC-41F8-BC26-003F3A686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0A3C8-2BD8-4D25-9014-085254A63A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6076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0E94D3F-258D-4DCB-A72C-E28DEF7645AB}"/>
              </a:ext>
            </a:extLst>
          </p:cNvPr>
          <p:cNvSpPr txBox="1">
            <a:spLocks/>
          </p:cNvSpPr>
          <p:nvPr/>
        </p:nvSpPr>
        <p:spPr>
          <a:xfrm>
            <a:off x="1372830" y="306207"/>
            <a:ext cx="9446339" cy="1119144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Solving Equations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and why do we balance equations?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A10D22-06E6-4B73-AFB5-84EF98765469}"/>
              </a:ext>
            </a:extLst>
          </p:cNvPr>
          <p:cNvSpPr txBox="1"/>
          <p:nvPr/>
        </p:nvSpPr>
        <p:spPr>
          <a:xfrm>
            <a:off x="1248310" y="1828800"/>
            <a:ext cx="2229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Get your VIVO’s</a:t>
            </a:r>
          </a:p>
        </p:txBody>
      </p:sp>
    </p:spTree>
    <p:extLst>
      <p:ext uri="{BB962C8B-B14F-4D97-AF65-F5344CB8AC3E}">
        <p14:creationId xmlns:p14="http://schemas.microsoft.com/office/powerpoint/2010/main" val="296232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2740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Solving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700" y="92736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 How and why do we balance equations?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07700" y="1595005"/>
            <a:ext cx="2106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Why do we solve equations?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DD0C10-B2E4-47CC-9964-EBBF1581C6F1}"/>
              </a:ext>
            </a:extLst>
          </p:cNvPr>
          <p:cNvSpPr txBox="1"/>
          <p:nvPr/>
        </p:nvSpPr>
        <p:spPr>
          <a:xfrm>
            <a:off x="3662632" y="1595005"/>
            <a:ext cx="57832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To find the value of the unknown, which is represented by a variable.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52511F-7193-45B5-8605-905C7F967B2E}"/>
              </a:ext>
            </a:extLst>
          </p:cNvPr>
          <p:cNvSpPr txBox="1"/>
          <p:nvPr/>
        </p:nvSpPr>
        <p:spPr>
          <a:xfrm>
            <a:off x="407700" y="2892329"/>
            <a:ext cx="2220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is balancing equations?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FEE151-130F-4AF1-B274-77D84B29B16C}"/>
              </a:ext>
            </a:extLst>
          </p:cNvPr>
          <p:cNvSpPr txBox="1"/>
          <p:nvPr/>
        </p:nvSpPr>
        <p:spPr>
          <a:xfrm>
            <a:off x="3359696" y="2916747"/>
            <a:ext cx="7779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Because the expressions are equal, we MUST do the same to both sides.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9F9F5C-89BD-4EA8-B215-31DDAD5F87FA}"/>
              </a:ext>
            </a:extLst>
          </p:cNvPr>
          <p:cNvSpPr txBox="1"/>
          <p:nvPr/>
        </p:nvSpPr>
        <p:spPr>
          <a:xfrm>
            <a:off x="421307" y="4284514"/>
            <a:ext cx="2498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are our opposite operations?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EB8E49-1022-4F52-8DBB-E13979CF0777}"/>
              </a:ext>
            </a:extLst>
          </p:cNvPr>
          <p:cNvSpPr txBox="1"/>
          <p:nvPr/>
        </p:nvSpPr>
        <p:spPr>
          <a:xfrm>
            <a:off x="3701499" y="3664608"/>
            <a:ext cx="242998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rgbClr val="0070C0"/>
                </a:solidFill>
              </a:rPr>
              <a:t>Opposite of :</a:t>
            </a:r>
          </a:p>
          <a:p>
            <a:endParaRPr lang="en-AU" sz="2000" dirty="0">
              <a:solidFill>
                <a:srgbClr val="0070C0"/>
              </a:solidFill>
            </a:endParaRPr>
          </a:p>
          <a:p>
            <a:r>
              <a:rPr lang="en-AU" sz="2400" dirty="0"/>
              <a:t>Addition +</a:t>
            </a:r>
          </a:p>
          <a:p>
            <a:r>
              <a:rPr lang="en-AU" sz="2400" dirty="0"/>
              <a:t>Subtraction -</a:t>
            </a:r>
          </a:p>
          <a:p>
            <a:r>
              <a:rPr lang="en-AU" sz="2400" dirty="0"/>
              <a:t>Multiplication ×</a:t>
            </a:r>
          </a:p>
          <a:p>
            <a:r>
              <a:rPr lang="en-AU" sz="2400" dirty="0"/>
              <a:t>Division ÷</a:t>
            </a:r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9F3D9-1BBB-44C5-AA10-6C361522F11E}"/>
              </a:ext>
            </a:extLst>
          </p:cNvPr>
          <p:cNvSpPr txBox="1"/>
          <p:nvPr/>
        </p:nvSpPr>
        <p:spPr>
          <a:xfrm>
            <a:off x="6145915" y="3961348"/>
            <a:ext cx="26289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FF0000"/>
                </a:solidFill>
              </a:rPr>
              <a:t>-</a:t>
            </a:r>
          </a:p>
          <a:p>
            <a:r>
              <a:rPr lang="en-AU" sz="3200" dirty="0">
                <a:solidFill>
                  <a:srgbClr val="FF0000"/>
                </a:solidFill>
              </a:rPr>
              <a:t>+</a:t>
            </a:r>
          </a:p>
          <a:p>
            <a:r>
              <a:rPr lang="en-AU" sz="3200" dirty="0">
                <a:solidFill>
                  <a:srgbClr val="FF0000"/>
                </a:solidFill>
              </a:rPr>
              <a:t>÷</a:t>
            </a:r>
          </a:p>
          <a:p>
            <a:r>
              <a:rPr lang="en-AU" sz="3200" dirty="0">
                <a:solidFill>
                  <a:srgbClr val="FF0000"/>
                </a:solidFill>
              </a:rPr>
              <a:t>×</a:t>
            </a:r>
            <a:endParaRPr lang="en-AU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  <p:bldP spid="22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BC1F08-7EC3-415E-B689-0754EC02E888}"/>
              </a:ext>
            </a:extLst>
          </p:cNvPr>
          <p:cNvSpPr txBox="1"/>
          <p:nvPr/>
        </p:nvSpPr>
        <p:spPr>
          <a:xfrm>
            <a:off x="-3501736" y="111793"/>
            <a:ext cx="10120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Pairs Practice!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9DF64A-E949-4C24-8DB2-AB9D985843D5}"/>
              </a:ext>
            </a:extLst>
          </p:cNvPr>
          <p:cNvSpPr txBox="1"/>
          <p:nvPr/>
        </p:nvSpPr>
        <p:spPr>
          <a:xfrm>
            <a:off x="3013362" y="129553"/>
            <a:ext cx="85413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highlight>
                  <a:srgbClr val="FFFF00"/>
                </a:highlight>
              </a:rPr>
              <a:t>You will need: 1 white board, 1 whiteboard marker, 15 counters, sticky notes and a tissue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22FE5-826F-498A-81B7-429BD8C39791}"/>
              </a:ext>
            </a:extLst>
          </p:cNvPr>
          <p:cNvSpPr/>
          <p:nvPr/>
        </p:nvSpPr>
        <p:spPr>
          <a:xfrm>
            <a:off x="904009" y="2514600"/>
            <a:ext cx="4634345" cy="3314700"/>
          </a:xfrm>
          <a:prstGeom prst="rect">
            <a:avLst/>
          </a:prstGeom>
          <a:solidFill>
            <a:srgbClr val="9A75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4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FF2646-33A6-4C94-963C-E685F0C48C68}"/>
              </a:ext>
            </a:extLst>
          </p:cNvPr>
          <p:cNvSpPr/>
          <p:nvPr/>
        </p:nvSpPr>
        <p:spPr>
          <a:xfrm>
            <a:off x="6276109" y="2514600"/>
            <a:ext cx="4634345" cy="3314700"/>
          </a:xfrm>
          <a:prstGeom prst="rect">
            <a:avLst/>
          </a:prstGeom>
          <a:solidFill>
            <a:srgbClr val="9A75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19EF8-D91C-4605-B568-CEAC2E620963}"/>
              </a:ext>
            </a:extLst>
          </p:cNvPr>
          <p:cNvSpPr txBox="1"/>
          <p:nvPr/>
        </p:nvSpPr>
        <p:spPr>
          <a:xfrm>
            <a:off x="5517573" y="3382241"/>
            <a:ext cx="20158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0" dirty="0"/>
              <a:t>=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6864757-AD2D-4E0A-AAD6-8EA1AB63D773}"/>
              </a:ext>
            </a:extLst>
          </p:cNvPr>
          <p:cNvGrpSpPr/>
          <p:nvPr/>
        </p:nvGrpSpPr>
        <p:grpSpPr>
          <a:xfrm>
            <a:off x="4852555" y="1298864"/>
            <a:ext cx="3740727" cy="2628899"/>
            <a:chOff x="4852555" y="1298864"/>
            <a:chExt cx="3740727" cy="262889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21F48A-4D28-4C0B-B38F-69B5938A881A}"/>
                </a:ext>
              </a:extLst>
            </p:cNvPr>
            <p:cNvSpPr txBox="1"/>
            <p:nvPr/>
          </p:nvSpPr>
          <p:spPr>
            <a:xfrm>
              <a:off x="4852555" y="1298864"/>
              <a:ext cx="3740727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2000" dirty="0"/>
                <a:t>Imagine that the gap between the desks is the equal symbol!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4F637C2-DDC0-4B48-91CF-54799A0FCA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1254" y="2100268"/>
              <a:ext cx="0" cy="182749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EA4586-321B-4E38-A8B4-7BA88DFF7731}"/>
                  </a:ext>
                </a:extLst>
              </p:cNvPr>
              <p:cNvSpPr txBox="1"/>
              <p:nvPr/>
            </p:nvSpPr>
            <p:spPr>
              <a:xfrm>
                <a:off x="1433945" y="1101436"/>
                <a:ext cx="325235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3200" dirty="0">
                    <a:solidFill>
                      <a:srgbClr val="FF0000"/>
                    </a:solidFill>
                  </a:rPr>
                  <a:t>+5=9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EA4586-321B-4E38-A8B4-7BA88DFF7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945" y="1101436"/>
                <a:ext cx="3252355" cy="584775"/>
              </a:xfrm>
              <a:prstGeom prst="rect">
                <a:avLst/>
              </a:prstGeom>
              <a:blipFill>
                <a:blip r:embed="rId2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6B7A316-C49F-4355-AEEF-069420FE3CA1}"/>
                  </a:ext>
                </a:extLst>
              </p:cNvPr>
              <p:cNvSpPr/>
              <p:nvPr/>
            </p:nvSpPr>
            <p:spPr>
              <a:xfrm>
                <a:off x="1589809" y="3034145"/>
                <a:ext cx="914400" cy="8936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6B7A316-C49F-4355-AEEF-069420FE3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809" y="3034145"/>
                <a:ext cx="914400" cy="8936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6315AEF-FAF9-460D-8C92-8BF48B8E5689}"/>
              </a:ext>
            </a:extLst>
          </p:cNvPr>
          <p:cNvSpPr txBox="1"/>
          <p:nvPr/>
        </p:nvSpPr>
        <p:spPr>
          <a:xfrm>
            <a:off x="2738004" y="3157788"/>
            <a:ext cx="904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+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AB13FB5-E809-487D-82D1-A291695DE61A}"/>
              </a:ext>
            </a:extLst>
          </p:cNvPr>
          <p:cNvGrpSpPr/>
          <p:nvPr/>
        </p:nvGrpSpPr>
        <p:grpSpPr>
          <a:xfrm>
            <a:off x="3642013" y="2874391"/>
            <a:ext cx="6215929" cy="954658"/>
            <a:chOff x="3642014" y="2860277"/>
            <a:chExt cx="6215928" cy="968772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86BA4AF-F2CD-454C-9BD2-02E5A25EFF16}"/>
                </a:ext>
              </a:extLst>
            </p:cNvPr>
            <p:cNvGrpSpPr/>
            <p:nvPr/>
          </p:nvGrpSpPr>
          <p:grpSpPr>
            <a:xfrm>
              <a:off x="3642014" y="2860277"/>
              <a:ext cx="1590675" cy="968772"/>
              <a:chOff x="3642014" y="2860277"/>
              <a:chExt cx="1590675" cy="96877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573EC12-93AE-4279-97C7-F3296493416B}"/>
                  </a:ext>
                </a:extLst>
              </p:cNvPr>
              <p:cNvSpPr/>
              <p:nvPr/>
            </p:nvSpPr>
            <p:spPr>
              <a:xfrm>
                <a:off x="3642014" y="3146891"/>
                <a:ext cx="368876" cy="348096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5CE342B-8C9D-41FA-B248-C5DA62300B64}"/>
                  </a:ext>
                </a:extLst>
              </p:cNvPr>
              <p:cNvSpPr/>
              <p:nvPr/>
            </p:nvSpPr>
            <p:spPr>
              <a:xfrm>
                <a:off x="4169352" y="3480953"/>
                <a:ext cx="368876" cy="348096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3888319-D2DB-4C84-B231-13BA1A0B8BD1}"/>
                  </a:ext>
                </a:extLst>
              </p:cNvPr>
              <p:cNvSpPr/>
              <p:nvPr/>
            </p:nvSpPr>
            <p:spPr>
              <a:xfrm>
                <a:off x="4169352" y="2888028"/>
                <a:ext cx="368876" cy="348096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6EF6EBF-E6AD-4DED-A3EE-9AE71A4DEEF6}"/>
                  </a:ext>
                </a:extLst>
              </p:cNvPr>
              <p:cNvSpPr/>
              <p:nvPr/>
            </p:nvSpPr>
            <p:spPr>
              <a:xfrm>
                <a:off x="4863813" y="3456023"/>
                <a:ext cx="368876" cy="348096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4EBA9B2-1276-4A2E-B7C1-E4E3940E06DD}"/>
                  </a:ext>
                </a:extLst>
              </p:cNvPr>
              <p:cNvSpPr/>
              <p:nvPr/>
            </p:nvSpPr>
            <p:spPr>
              <a:xfrm>
                <a:off x="4863813" y="2860277"/>
                <a:ext cx="368876" cy="348096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CC00580-9CC0-4EF3-9CD2-973219387A1C}"/>
                </a:ext>
              </a:extLst>
            </p:cNvPr>
            <p:cNvSpPr/>
            <p:nvPr/>
          </p:nvSpPr>
          <p:spPr>
            <a:xfrm>
              <a:off x="7019059" y="2874391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DC75E0A-D4A5-441A-977B-B58BE4B48624}"/>
                </a:ext>
              </a:extLst>
            </p:cNvPr>
            <p:cNvSpPr/>
            <p:nvPr/>
          </p:nvSpPr>
          <p:spPr>
            <a:xfrm>
              <a:off x="7533409" y="2881745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7904580-C619-467B-878C-53DAEB334C67}"/>
                </a:ext>
              </a:extLst>
            </p:cNvPr>
            <p:cNvSpPr/>
            <p:nvPr/>
          </p:nvSpPr>
          <p:spPr>
            <a:xfrm>
              <a:off x="7007153" y="3445451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FA42CF1-BCA1-464F-A3A7-3A009617B4E7}"/>
                </a:ext>
              </a:extLst>
            </p:cNvPr>
            <p:cNvSpPr/>
            <p:nvPr/>
          </p:nvSpPr>
          <p:spPr>
            <a:xfrm>
              <a:off x="7533409" y="3445451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F2FCC5-BED6-48AB-AD45-739DF18E8FE3}"/>
                </a:ext>
              </a:extLst>
            </p:cNvPr>
            <p:cNvSpPr/>
            <p:nvPr/>
          </p:nvSpPr>
          <p:spPr>
            <a:xfrm>
              <a:off x="9489066" y="3166447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DA77125-6D02-4CC8-B6E2-C4489601C739}"/>
                </a:ext>
              </a:extLst>
            </p:cNvPr>
            <p:cNvSpPr/>
            <p:nvPr/>
          </p:nvSpPr>
          <p:spPr>
            <a:xfrm>
              <a:off x="8143878" y="3429000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14961D4-D182-4DEC-97DE-866F60E03763}"/>
                </a:ext>
              </a:extLst>
            </p:cNvPr>
            <p:cNvSpPr/>
            <p:nvPr/>
          </p:nvSpPr>
          <p:spPr>
            <a:xfrm>
              <a:off x="8805430" y="3422938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77D0A76-FBD3-471E-82DF-FA05D8D597B1}"/>
                </a:ext>
              </a:extLst>
            </p:cNvPr>
            <p:cNvSpPr/>
            <p:nvPr/>
          </p:nvSpPr>
          <p:spPr>
            <a:xfrm>
              <a:off x="8790709" y="2881745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A0A86B8-B219-45B7-B07D-60B0EBBD5BEE}"/>
                </a:ext>
              </a:extLst>
            </p:cNvPr>
            <p:cNvSpPr/>
            <p:nvPr/>
          </p:nvSpPr>
          <p:spPr>
            <a:xfrm>
              <a:off x="8136082" y="2879587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41E7979-2DEE-467B-978A-12E9B30A56B7}"/>
              </a:ext>
            </a:extLst>
          </p:cNvPr>
          <p:cNvSpPr txBox="1"/>
          <p:nvPr/>
        </p:nvSpPr>
        <p:spPr>
          <a:xfrm>
            <a:off x="10446327" y="3655001"/>
            <a:ext cx="1651507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Subtract 5 from both sides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17D2C4-650B-4C44-9219-14B062B0840D}"/>
              </a:ext>
            </a:extLst>
          </p:cNvPr>
          <p:cNvSpPr txBox="1"/>
          <p:nvPr/>
        </p:nvSpPr>
        <p:spPr>
          <a:xfrm>
            <a:off x="1055218" y="4004588"/>
            <a:ext cx="1500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- 5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559B0C-AE76-434C-8F5B-8E50EE6926B7}"/>
              </a:ext>
            </a:extLst>
          </p:cNvPr>
          <p:cNvSpPr txBox="1"/>
          <p:nvPr/>
        </p:nvSpPr>
        <p:spPr>
          <a:xfrm>
            <a:off x="9857942" y="4123354"/>
            <a:ext cx="1500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- 5 </a:t>
            </a:r>
          </a:p>
        </p:txBody>
      </p:sp>
    </p:spTree>
    <p:extLst>
      <p:ext uri="{BB962C8B-B14F-4D97-AF65-F5344CB8AC3E}">
        <p14:creationId xmlns:p14="http://schemas.microsoft.com/office/powerpoint/2010/main" val="415081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 animBg="1"/>
      <p:bldP spid="14" grpId="0"/>
      <p:bldP spid="29" grpId="0" animBg="1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BC1F08-7EC3-415E-B689-0754EC02E888}"/>
              </a:ext>
            </a:extLst>
          </p:cNvPr>
          <p:cNvSpPr txBox="1"/>
          <p:nvPr/>
        </p:nvSpPr>
        <p:spPr>
          <a:xfrm>
            <a:off x="-3501736" y="111793"/>
            <a:ext cx="10120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Pairs Practice!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22FE5-826F-498A-81B7-429BD8C39791}"/>
              </a:ext>
            </a:extLst>
          </p:cNvPr>
          <p:cNvSpPr/>
          <p:nvPr/>
        </p:nvSpPr>
        <p:spPr>
          <a:xfrm>
            <a:off x="904009" y="2514600"/>
            <a:ext cx="4634345" cy="3314700"/>
          </a:xfrm>
          <a:prstGeom prst="rect">
            <a:avLst/>
          </a:prstGeom>
          <a:solidFill>
            <a:srgbClr val="9A75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4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FF2646-33A6-4C94-963C-E685F0C48C68}"/>
              </a:ext>
            </a:extLst>
          </p:cNvPr>
          <p:cNvSpPr/>
          <p:nvPr/>
        </p:nvSpPr>
        <p:spPr>
          <a:xfrm>
            <a:off x="6264328" y="2466004"/>
            <a:ext cx="4634345" cy="3314700"/>
          </a:xfrm>
          <a:prstGeom prst="rect">
            <a:avLst/>
          </a:prstGeom>
          <a:solidFill>
            <a:srgbClr val="9A75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14075-3BC5-4C16-A89A-2AD8B244E3B3}"/>
              </a:ext>
            </a:extLst>
          </p:cNvPr>
          <p:cNvSpPr txBox="1"/>
          <p:nvPr/>
        </p:nvSpPr>
        <p:spPr>
          <a:xfrm>
            <a:off x="3751117" y="595355"/>
            <a:ext cx="442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what you will be doing on your desks!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21F48A-4D28-4C0B-B38F-69B5938A881A}"/>
              </a:ext>
            </a:extLst>
          </p:cNvPr>
          <p:cNvSpPr txBox="1"/>
          <p:nvPr/>
        </p:nvSpPr>
        <p:spPr>
          <a:xfrm>
            <a:off x="4852555" y="1298864"/>
            <a:ext cx="3740727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dirty="0"/>
              <a:t>Imagine that the gap between the desks is the equal symbol!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19EF8-D91C-4605-B568-CEAC2E620963}"/>
              </a:ext>
            </a:extLst>
          </p:cNvPr>
          <p:cNvSpPr txBox="1"/>
          <p:nvPr/>
        </p:nvSpPr>
        <p:spPr>
          <a:xfrm>
            <a:off x="5517573" y="3382241"/>
            <a:ext cx="20158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0" dirty="0"/>
              <a:t>=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F637C2-DDC0-4B48-91CF-54799A0FCAC7}"/>
              </a:ext>
            </a:extLst>
          </p:cNvPr>
          <p:cNvCxnSpPr>
            <a:cxnSpLocks/>
          </p:cNvCxnSpPr>
          <p:nvPr/>
        </p:nvCxnSpPr>
        <p:spPr>
          <a:xfrm flipV="1">
            <a:off x="5881254" y="2100268"/>
            <a:ext cx="0" cy="18274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EA4586-321B-4E38-A8B4-7BA88DFF7731}"/>
                  </a:ext>
                </a:extLst>
              </p:cNvPr>
              <p:cNvSpPr txBox="1"/>
              <p:nvPr/>
            </p:nvSpPr>
            <p:spPr>
              <a:xfrm>
                <a:off x="1433945" y="1101436"/>
                <a:ext cx="325235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3200" dirty="0">
                    <a:solidFill>
                      <a:srgbClr val="FF0000"/>
                    </a:solidFill>
                  </a:rPr>
                  <a:t>+5=9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EA4586-321B-4E38-A8B4-7BA88DFF7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945" y="1101436"/>
                <a:ext cx="3252355" cy="584775"/>
              </a:xfrm>
              <a:prstGeom prst="rect">
                <a:avLst/>
              </a:prstGeom>
              <a:blipFill>
                <a:blip r:embed="rId2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6B7A316-C49F-4355-AEEF-069420FE3CA1}"/>
                  </a:ext>
                </a:extLst>
              </p:cNvPr>
              <p:cNvSpPr/>
              <p:nvPr/>
            </p:nvSpPr>
            <p:spPr>
              <a:xfrm>
                <a:off x="1589809" y="3034145"/>
                <a:ext cx="914400" cy="8936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6B7A316-C49F-4355-AEEF-069420FE3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809" y="3034145"/>
                <a:ext cx="914400" cy="8936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6315AEF-FAF9-460D-8C92-8BF48B8E5689}"/>
              </a:ext>
            </a:extLst>
          </p:cNvPr>
          <p:cNvSpPr txBox="1"/>
          <p:nvPr/>
        </p:nvSpPr>
        <p:spPr>
          <a:xfrm>
            <a:off x="2738004" y="3157788"/>
            <a:ext cx="904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+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73EC12-93AE-4279-97C7-F3296493416B}"/>
              </a:ext>
            </a:extLst>
          </p:cNvPr>
          <p:cNvSpPr/>
          <p:nvPr/>
        </p:nvSpPr>
        <p:spPr>
          <a:xfrm>
            <a:off x="3642014" y="3146891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CE342B-8C9D-41FA-B248-C5DA62300B64}"/>
              </a:ext>
            </a:extLst>
          </p:cNvPr>
          <p:cNvSpPr/>
          <p:nvPr/>
        </p:nvSpPr>
        <p:spPr>
          <a:xfrm>
            <a:off x="4169352" y="3480953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888319-D2DB-4C84-B231-13BA1A0B8BD1}"/>
              </a:ext>
            </a:extLst>
          </p:cNvPr>
          <p:cNvSpPr/>
          <p:nvPr/>
        </p:nvSpPr>
        <p:spPr>
          <a:xfrm>
            <a:off x="4169352" y="2888028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EF6EBF-E6AD-4DED-A3EE-9AE71A4DEEF6}"/>
              </a:ext>
            </a:extLst>
          </p:cNvPr>
          <p:cNvSpPr/>
          <p:nvPr/>
        </p:nvSpPr>
        <p:spPr>
          <a:xfrm>
            <a:off x="4863813" y="3456023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EBA9B2-1276-4A2E-B7C1-E4E3940E06DD}"/>
              </a:ext>
            </a:extLst>
          </p:cNvPr>
          <p:cNvSpPr/>
          <p:nvPr/>
        </p:nvSpPr>
        <p:spPr>
          <a:xfrm>
            <a:off x="4863813" y="2860277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C00580-9CC0-4EF3-9CD2-973219387A1C}"/>
              </a:ext>
            </a:extLst>
          </p:cNvPr>
          <p:cNvSpPr/>
          <p:nvPr/>
        </p:nvSpPr>
        <p:spPr>
          <a:xfrm>
            <a:off x="7019059" y="2874391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75E0A-D4A5-441A-977B-B58BE4B48624}"/>
              </a:ext>
            </a:extLst>
          </p:cNvPr>
          <p:cNvSpPr/>
          <p:nvPr/>
        </p:nvSpPr>
        <p:spPr>
          <a:xfrm>
            <a:off x="7533409" y="2881745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904580-C619-467B-878C-53DAEB334C67}"/>
              </a:ext>
            </a:extLst>
          </p:cNvPr>
          <p:cNvSpPr/>
          <p:nvPr/>
        </p:nvSpPr>
        <p:spPr>
          <a:xfrm>
            <a:off x="7007153" y="3445451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A42CF1-BCA1-464F-A3A7-3A009617B4E7}"/>
              </a:ext>
            </a:extLst>
          </p:cNvPr>
          <p:cNvSpPr/>
          <p:nvPr/>
        </p:nvSpPr>
        <p:spPr>
          <a:xfrm>
            <a:off x="7533409" y="3445451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F2FCC5-BED6-48AB-AD45-739DF18E8FE3}"/>
              </a:ext>
            </a:extLst>
          </p:cNvPr>
          <p:cNvSpPr/>
          <p:nvPr/>
        </p:nvSpPr>
        <p:spPr>
          <a:xfrm>
            <a:off x="9489066" y="3166447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A77125-6D02-4CC8-B6E2-C4489601C739}"/>
              </a:ext>
            </a:extLst>
          </p:cNvPr>
          <p:cNvSpPr/>
          <p:nvPr/>
        </p:nvSpPr>
        <p:spPr>
          <a:xfrm>
            <a:off x="8143878" y="3429000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4961D4-D182-4DEC-97DE-866F60E03763}"/>
              </a:ext>
            </a:extLst>
          </p:cNvPr>
          <p:cNvSpPr/>
          <p:nvPr/>
        </p:nvSpPr>
        <p:spPr>
          <a:xfrm>
            <a:off x="8805430" y="3422938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7D0A76-FBD3-471E-82DF-FA05D8D597B1}"/>
              </a:ext>
            </a:extLst>
          </p:cNvPr>
          <p:cNvSpPr/>
          <p:nvPr/>
        </p:nvSpPr>
        <p:spPr>
          <a:xfrm>
            <a:off x="8790709" y="2881745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0A86B8-B219-45B7-B07D-60B0EBBD5BEE}"/>
              </a:ext>
            </a:extLst>
          </p:cNvPr>
          <p:cNvSpPr/>
          <p:nvPr/>
        </p:nvSpPr>
        <p:spPr>
          <a:xfrm>
            <a:off x="8136082" y="2879587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1E7979-2DEE-467B-978A-12E9B30A56B7}"/>
              </a:ext>
            </a:extLst>
          </p:cNvPr>
          <p:cNvSpPr txBox="1"/>
          <p:nvPr/>
        </p:nvSpPr>
        <p:spPr>
          <a:xfrm>
            <a:off x="10446327" y="3655001"/>
            <a:ext cx="1651507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Subtract 5 from both sides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17D2C4-650B-4C44-9219-14B062B0840D}"/>
              </a:ext>
            </a:extLst>
          </p:cNvPr>
          <p:cNvSpPr txBox="1"/>
          <p:nvPr/>
        </p:nvSpPr>
        <p:spPr>
          <a:xfrm>
            <a:off x="1055218" y="4004588"/>
            <a:ext cx="1500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- 5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559B0C-AE76-434C-8F5B-8E50EE6926B7}"/>
              </a:ext>
            </a:extLst>
          </p:cNvPr>
          <p:cNvSpPr txBox="1"/>
          <p:nvPr/>
        </p:nvSpPr>
        <p:spPr>
          <a:xfrm>
            <a:off x="9857942" y="4123354"/>
            <a:ext cx="1500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- 5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3820DD-811D-42F5-BA05-396AB1307793}"/>
              </a:ext>
            </a:extLst>
          </p:cNvPr>
          <p:cNvGrpSpPr/>
          <p:nvPr/>
        </p:nvGrpSpPr>
        <p:grpSpPr>
          <a:xfrm>
            <a:off x="3618794" y="3101341"/>
            <a:ext cx="431062" cy="457558"/>
            <a:chOff x="3618794" y="3101341"/>
            <a:chExt cx="431062" cy="45755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45F7238-37C6-45FC-8D4D-D99801864D0E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95CCE90-0E67-4312-8201-ECC163D73E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C23573-2E32-40EB-9710-81698B123C32}"/>
              </a:ext>
            </a:extLst>
          </p:cNvPr>
          <p:cNvGrpSpPr/>
          <p:nvPr/>
        </p:nvGrpSpPr>
        <p:grpSpPr>
          <a:xfrm>
            <a:off x="4134603" y="2837980"/>
            <a:ext cx="431062" cy="457558"/>
            <a:chOff x="3618794" y="3101341"/>
            <a:chExt cx="431062" cy="45755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01B3CD7-3C86-4324-AE56-B3F6CDC1CAB8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C327625-6A92-474A-B629-6B3D96054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02EDAD5-B069-478B-8175-4A42D136C754}"/>
              </a:ext>
            </a:extLst>
          </p:cNvPr>
          <p:cNvGrpSpPr/>
          <p:nvPr/>
        </p:nvGrpSpPr>
        <p:grpSpPr>
          <a:xfrm>
            <a:off x="4824847" y="2813050"/>
            <a:ext cx="431062" cy="457558"/>
            <a:chOff x="3618794" y="3101341"/>
            <a:chExt cx="431062" cy="457558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7437F0D-53FD-41A7-912B-D37D5E1661B3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C0A682C-DF97-4AAB-9A49-32234EB60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1DA64C3-6A6F-4A17-9FD9-AA6530C46391}"/>
              </a:ext>
            </a:extLst>
          </p:cNvPr>
          <p:cNvGrpSpPr/>
          <p:nvPr/>
        </p:nvGrpSpPr>
        <p:grpSpPr>
          <a:xfrm>
            <a:off x="4132004" y="3426222"/>
            <a:ext cx="431062" cy="457558"/>
            <a:chOff x="3618794" y="3101341"/>
            <a:chExt cx="431062" cy="457558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624EDEA-8C6B-4A26-AD01-FDC715EE2EBD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0B889B1-0711-4BEB-97EB-654A160C2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8CE89A3-6FE5-4134-B931-BBB1DCB2DF90}"/>
              </a:ext>
            </a:extLst>
          </p:cNvPr>
          <p:cNvGrpSpPr/>
          <p:nvPr/>
        </p:nvGrpSpPr>
        <p:grpSpPr>
          <a:xfrm>
            <a:off x="4807389" y="3406027"/>
            <a:ext cx="431062" cy="457558"/>
            <a:chOff x="3618794" y="3101341"/>
            <a:chExt cx="431062" cy="457558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5FADB65-BB1A-4899-9C9B-C5A8A09C907B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34C009D-8045-4D82-8C9D-4CBA4559F1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E4AFD12-53DE-4881-B2BA-240805AE175B}"/>
              </a:ext>
            </a:extLst>
          </p:cNvPr>
          <p:cNvGrpSpPr/>
          <p:nvPr/>
        </p:nvGrpSpPr>
        <p:grpSpPr>
          <a:xfrm>
            <a:off x="6965558" y="2819660"/>
            <a:ext cx="431062" cy="457558"/>
            <a:chOff x="3618794" y="3101341"/>
            <a:chExt cx="431062" cy="457558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72AB30F-AB7E-445E-B076-2883885418ED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0FF8B2B-37F1-404E-A96A-7796E8E4D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8F267A4-653C-4FD8-A202-14D444B2C042}"/>
              </a:ext>
            </a:extLst>
          </p:cNvPr>
          <p:cNvGrpSpPr/>
          <p:nvPr/>
        </p:nvGrpSpPr>
        <p:grpSpPr>
          <a:xfrm>
            <a:off x="7510570" y="2824856"/>
            <a:ext cx="431062" cy="457558"/>
            <a:chOff x="3618794" y="3101341"/>
            <a:chExt cx="431062" cy="457558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65650C5-9184-4883-9203-A3154F7F905E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74A107F-7A19-456F-B7FD-094DB0F23B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798A2BF-9F19-4785-91FB-F4B6D341001B}"/>
              </a:ext>
            </a:extLst>
          </p:cNvPr>
          <p:cNvGrpSpPr/>
          <p:nvPr/>
        </p:nvGrpSpPr>
        <p:grpSpPr>
          <a:xfrm>
            <a:off x="6983604" y="3401292"/>
            <a:ext cx="431062" cy="457558"/>
            <a:chOff x="3618794" y="3101341"/>
            <a:chExt cx="431062" cy="457558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E604FDC-8F8F-4FAA-8261-DB69DBB5F850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97F6527-CC7A-4DC3-B00F-23F22B7A88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0D31161-64BD-4916-82C1-7510855CA9A9}"/>
              </a:ext>
            </a:extLst>
          </p:cNvPr>
          <p:cNvGrpSpPr/>
          <p:nvPr/>
        </p:nvGrpSpPr>
        <p:grpSpPr>
          <a:xfrm>
            <a:off x="7490566" y="3386666"/>
            <a:ext cx="431062" cy="457558"/>
            <a:chOff x="3618794" y="3101341"/>
            <a:chExt cx="431062" cy="457558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76C92D6-EF94-4D34-B064-AE7BC9174AAA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F622BDE-5FBC-47AF-9572-E8532B80CD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2C1F80B-4C99-42A2-8F4B-C694380D3050}"/>
              </a:ext>
            </a:extLst>
          </p:cNvPr>
          <p:cNvGrpSpPr/>
          <p:nvPr/>
        </p:nvGrpSpPr>
        <p:grpSpPr>
          <a:xfrm>
            <a:off x="8146768" y="3387430"/>
            <a:ext cx="431062" cy="457558"/>
            <a:chOff x="3618794" y="3101341"/>
            <a:chExt cx="431062" cy="457558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ED8E87C-7DC7-4BE5-9D40-C8AD99EEB01E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76E8E42-BD4F-4164-9F12-21CD372B90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632C891F-3E91-4834-B68E-ADCA94574AB0}"/>
                  </a:ext>
                </a:extLst>
              </p:cNvPr>
              <p:cNvSpPr/>
              <p:nvPr/>
            </p:nvSpPr>
            <p:spPr>
              <a:xfrm>
                <a:off x="4260273" y="4499623"/>
                <a:ext cx="914400" cy="8936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632C891F-3E91-4834-B68E-ADCA94574A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273" y="4499623"/>
                <a:ext cx="914400" cy="8936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3426A845-AA6D-4F9D-858D-9C991E3E7C17}"/>
              </a:ext>
            </a:extLst>
          </p:cNvPr>
          <p:cNvGrpSpPr/>
          <p:nvPr/>
        </p:nvGrpSpPr>
        <p:grpSpPr>
          <a:xfrm>
            <a:off x="6495402" y="4646574"/>
            <a:ext cx="973061" cy="963677"/>
            <a:chOff x="6495402" y="4646574"/>
            <a:chExt cx="973061" cy="963677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1F01C08-FC83-4427-AA61-7CCF616B5B9B}"/>
                </a:ext>
              </a:extLst>
            </p:cNvPr>
            <p:cNvSpPr/>
            <p:nvPr/>
          </p:nvSpPr>
          <p:spPr>
            <a:xfrm>
              <a:off x="6495402" y="4646574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EBB9FA9-E81B-4822-82F6-222D4DB56DE9}"/>
                </a:ext>
              </a:extLst>
            </p:cNvPr>
            <p:cNvSpPr/>
            <p:nvPr/>
          </p:nvSpPr>
          <p:spPr>
            <a:xfrm>
              <a:off x="6495402" y="5237937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E92B7C0-F332-4115-B772-7C5133D170F0}"/>
                </a:ext>
              </a:extLst>
            </p:cNvPr>
            <p:cNvSpPr/>
            <p:nvPr/>
          </p:nvSpPr>
          <p:spPr>
            <a:xfrm>
              <a:off x="7099587" y="4646574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220CDF6-1594-4395-8E45-DC5D312370FD}"/>
                </a:ext>
              </a:extLst>
            </p:cNvPr>
            <p:cNvSpPr/>
            <p:nvPr/>
          </p:nvSpPr>
          <p:spPr>
            <a:xfrm>
              <a:off x="7092358" y="5262155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B6650CB-6FCE-4294-B9CA-71BF4B30AC0B}"/>
              </a:ext>
            </a:extLst>
          </p:cNvPr>
          <p:cNvSpPr txBox="1"/>
          <p:nvPr/>
        </p:nvSpPr>
        <p:spPr>
          <a:xfrm>
            <a:off x="3387652" y="594135"/>
            <a:ext cx="6953251" cy="1754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numCol="2" rtlCol="0">
            <a:spAutoFit/>
          </a:bodyPr>
          <a:lstStyle/>
          <a:p>
            <a:r>
              <a:rPr lang="en-AU" dirty="0"/>
              <a:t>Try these : </a:t>
            </a:r>
          </a:p>
          <a:p>
            <a:pPr marL="342900" indent="-342900">
              <a:buAutoNum type="arabicPeriod"/>
            </a:pPr>
            <a:r>
              <a:rPr lang="en-AU" dirty="0"/>
              <a:t>y + 4 = 6</a:t>
            </a:r>
          </a:p>
          <a:p>
            <a:pPr marL="342900" indent="-342900">
              <a:buAutoNum type="arabicPeriod"/>
            </a:pPr>
            <a:r>
              <a:rPr lang="en-AU" dirty="0"/>
              <a:t>b – 2 =8</a:t>
            </a:r>
          </a:p>
          <a:p>
            <a:pPr marL="342900" indent="-342900">
              <a:buAutoNum type="arabicPeriod"/>
            </a:pPr>
            <a:r>
              <a:rPr lang="en-AU" dirty="0"/>
              <a:t>a + 7 = 10</a:t>
            </a:r>
          </a:p>
          <a:p>
            <a:pPr marL="342900" indent="-342900">
              <a:buAutoNum type="arabicPeriod"/>
            </a:pPr>
            <a:r>
              <a:rPr lang="en-AU" dirty="0"/>
              <a:t>x + 6=9</a:t>
            </a:r>
          </a:p>
          <a:p>
            <a:pPr marL="342900" indent="-342900">
              <a:buAutoNum type="arabicPeriod"/>
            </a:pPr>
            <a:r>
              <a:rPr lang="en-AU" dirty="0"/>
              <a:t>y – 4 = 7</a:t>
            </a:r>
          </a:p>
          <a:p>
            <a:r>
              <a:rPr lang="en-AU" dirty="0"/>
              <a:t>Extension: </a:t>
            </a:r>
          </a:p>
          <a:p>
            <a:r>
              <a:rPr lang="en-AU" dirty="0"/>
              <a:t>Think about how you would solve these: </a:t>
            </a:r>
          </a:p>
          <a:p>
            <a:r>
              <a:rPr lang="en-AU" dirty="0"/>
              <a:t> 3x = 9 </a:t>
            </a:r>
          </a:p>
          <a:p>
            <a:r>
              <a:rPr lang="en-AU" dirty="0"/>
              <a:t>2x = 6 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73462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BC1F08-7EC3-415E-B689-0754EC02E888}"/>
              </a:ext>
            </a:extLst>
          </p:cNvPr>
          <p:cNvSpPr txBox="1"/>
          <p:nvPr/>
        </p:nvSpPr>
        <p:spPr>
          <a:xfrm>
            <a:off x="-3501736" y="111793"/>
            <a:ext cx="10120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Pairs Practice!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22FE5-826F-498A-81B7-429BD8C39791}"/>
              </a:ext>
            </a:extLst>
          </p:cNvPr>
          <p:cNvSpPr/>
          <p:nvPr/>
        </p:nvSpPr>
        <p:spPr>
          <a:xfrm>
            <a:off x="904009" y="2514600"/>
            <a:ext cx="4634345" cy="3314700"/>
          </a:xfrm>
          <a:prstGeom prst="rect">
            <a:avLst/>
          </a:prstGeom>
          <a:solidFill>
            <a:srgbClr val="9A75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4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FF2646-33A6-4C94-963C-E685F0C48C68}"/>
              </a:ext>
            </a:extLst>
          </p:cNvPr>
          <p:cNvSpPr/>
          <p:nvPr/>
        </p:nvSpPr>
        <p:spPr>
          <a:xfrm>
            <a:off x="6264328" y="2466004"/>
            <a:ext cx="4634345" cy="3314700"/>
          </a:xfrm>
          <a:prstGeom prst="rect">
            <a:avLst/>
          </a:prstGeom>
          <a:solidFill>
            <a:srgbClr val="9A75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14075-3BC5-4C16-A89A-2AD8B244E3B3}"/>
              </a:ext>
            </a:extLst>
          </p:cNvPr>
          <p:cNvSpPr txBox="1"/>
          <p:nvPr/>
        </p:nvSpPr>
        <p:spPr>
          <a:xfrm>
            <a:off x="3751117" y="595355"/>
            <a:ext cx="442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what you will be doing on your desks!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21F48A-4D28-4C0B-B38F-69B5938A881A}"/>
              </a:ext>
            </a:extLst>
          </p:cNvPr>
          <p:cNvSpPr txBox="1"/>
          <p:nvPr/>
        </p:nvSpPr>
        <p:spPr>
          <a:xfrm>
            <a:off x="4852555" y="1298864"/>
            <a:ext cx="3740727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dirty="0"/>
              <a:t>Imagine that the gap between the desks is the equal symbol!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19EF8-D91C-4605-B568-CEAC2E620963}"/>
              </a:ext>
            </a:extLst>
          </p:cNvPr>
          <p:cNvSpPr txBox="1"/>
          <p:nvPr/>
        </p:nvSpPr>
        <p:spPr>
          <a:xfrm>
            <a:off x="5517573" y="3382241"/>
            <a:ext cx="20158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0" dirty="0"/>
              <a:t>=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F637C2-DDC0-4B48-91CF-54799A0FCAC7}"/>
              </a:ext>
            </a:extLst>
          </p:cNvPr>
          <p:cNvCxnSpPr>
            <a:cxnSpLocks/>
          </p:cNvCxnSpPr>
          <p:nvPr/>
        </p:nvCxnSpPr>
        <p:spPr>
          <a:xfrm flipV="1">
            <a:off x="5881254" y="2100268"/>
            <a:ext cx="0" cy="18274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EA4586-321B-4E38-A8B4-7BA88DFF7731}"/>
                  </a:ext>
                </a:extLst>
              </p:cNvPr>
              <p:cNvSpPr txBox="1"/>
              <p:nvPr/>
            </p:nvSpPr>
            <p:spPr>
              <a:xfrm>
                <a:off x="1433945" y="1101436"/>
                <a:ext cx="325235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3200" dirty="0">
                    <a:solidFill>
                      <a:srgbClr val="FF0000"/>
                    </a:solidFill>
                  </a:rPr>
                  <a:t>+5=9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EA4586-321B-4E38-A8B4-7BA88DFF7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945" y="1101436"/>
                <a:ext cx="3252355" cy="584775"/>
              </a:xfrm>
              <a:prstGeom prst="rect">
                <a:avLst/>
              </a:prstGeom>
              <a:blipFill>
                <a:blip r:embed="rId2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6B7A316-C49F-4355-AEEF-069420FE3CA1}"/>
                  </a:ext>
                </a:extLst>
              </p:cNvPr>
              <p:cNvSpPr/>
              <p:nvPr/>
            </p:nvSpPr>
            <p:spPr>
              <a:xfrm>
                <a:off x="1589809" y="3034145"/>
                <a:ext cx="914400" cy="8936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6B7A316-C49F-4355-AEEF-069420FE3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809" y="3034145"/>
                <a:ext cx="914400" cy="8936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6315AEF-FAF9-460D-8C92-8BF48B8E5689}"/>
              </a:ext>
            </a:extLst>
          </p:cNvPr>
          <p:cNvSpPr txBox="1"/>
          <p:nvPr/>
        </p:nvSpPr>
        <p:spPr>
          <a:xfrm>
            <a:off x="2738004" y="3157788"/>
            <a:ext cx="904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+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73EC12-93AE-4279-97C7-F3296493416B}"/>
              </a:ext>
            </a:extLst>
          </p:cNvPr>
          <p:cNvSpPr/>
          <p:nvPr/>
        </p:nvSpPr>
        <p:spPr>
          <a:xfrm>
            <a:off x="3642014" y="3146891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CE342B-8C9D-41FA-B248-C5DA62300B64}"/>
              </a:ext>
            </a:extLst>
          </p:cNvPr>
          <p:cNvSpPr/>
          <p:nvPr/>
        </p:nvSpPr>
        <p:spPr>
          <a:xfrm>
            <a:off x="4169352" y="3480953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888319-D2DB-4C84-B231-13BA1A0B8BD1}"/>
              </a:ext>
            </a:extLst>
          </p:cNvPr>
          <p:cNvSpPr/>
          <p:nvPr/>
        </p:nvSpPr>
        <p:spPr>
          <a:xfrm>
            <a:off x="4169352" y="2888028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EF6EBF-E6AD-4DED-A3EE-9AE71A4DEEF6}"/>
              </a:ext>
            </a:extLst>
          </p:cNvPr>
          <p:cNvSpPr/>
          <p:nvPr/>
        </p:nvSpPr>
        <p:spPr>
          <a:xfrm>
            <a:off x="4863813" y="3456023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EBA9B2-1276-4A2E-B7C1-E4E3940E06DD}"/>
              </a:ext>
            </a:extLst>
          </p:cNvPr>
          <p:cNvSpPr/>
          <p:nvPr/>
        </p:nvSpPr>
        <p:spPr>
          <a:xfrm>
            <a:off x="4863813" y="2860277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C00580-9CC0-4EF3-9CD2-973219387A1C}"/>
              </a:ext>
            </a:extLst>
          </p:cNvPr>
          <p:cNvSpPr/>
          <p:nvPr/>
        </p:nvSpPr>
        <p:spPr>
          <a:xfrm>
            <a:off x="7019059" y="2874391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75E0A-D4A5-441A-977B-B58BE4B48624}"/>
              </a:ext>
            </a:extLst>
          </p:cNvPr>
          <p:cNvSpPr/>
          <p:nvPr/>
        </p:nvSpPr>
        <p:spPr>
          <a:xfrm>
            <a:off x="7533409" y="2881745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904580-C619-467B-878C-53DAEB334C67}"/>
              </a:ext>
            </a:extLst>
          </p:cNvPr>
          <p:cNvSpPr/>
          <p:nvPr/>
        </p:nvSpPr>
        <p:spPr>
          <a:xfrm>
            <a:off x="7007153" y="3445451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A42CF1-BCA1-464F-A3A7-3A009617B4E7}"/>
              </a:ext>
            </a:extLst>
          </p:cNvPr>
          <p:cNvSpPr/>
          <p:nvPr/>
        </p:nvSpPr>
        <p:spPr>
          <a:xfrm>
            <a:off x="7533409" y="3445451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F2FCC5-BED6-48AB-AD45-739DF18E8FE3}"/>
              </a:ext>
            </a:extLst>
          </p:cNvPr>
          <p:cNvSpPr/>
          <p:nvPr/>
        </p:nvSpPr>
        <p:spPr>
          <a:xfrm>
            <a:off x="9489066" y="3166447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A77125-6D02-4CC8-B6E2-C4489601C739}"/>
              </a:ext>
            </a:extLst>
          </p:cNvPr>
          <p:cNvSpPr/>
          <p:nvPr/>
        </p:nvSpPr>
        <p:spPr>
          <a:xfrm>
            <a:off x="8143878" y="3429000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4961D4-D182-4DEC-97DE-866F60E03763}"/>
              </a:ext>
            </a:extLst>
          </p:cNvPr>
          <p:cNvSpPr/>
          <p:nvPr/>
        </p:nvSpPr>
        <p:spPr>
          <a:xfrm>
            <a:off x="8805430" y="3422938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7D0A76-FBD3-471E-82DF-FA05D8D597B1}"/>
              </a:ext>
            </a:extLst>
          </p:cNvPr>
          <p:cNvSpPr/>
          <p:nvPr/>
        </p:nvSpPr>
        <p:spPr>
          <a:xfrm>
            <a:off x="8790709" y="2881745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0A86B8-B219-45B7-B07D-60B0EBBD5BEE}"/>
              </a:ext>
            </a:extLst>
          </p:cNvPr>
          <p:cNvSpPr/>
          <p:nvPr/>
        </p:nvSpPr>
        <p:spPr>
          <a:xfrm>
            <a:off x="8136082" y="2879587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1E7979-2DEE-467B-978A-12E9B30A56B7}"/>
              </a:ext>
            </a:extLst>
          </p:cNvPr>
          <p:cNvSpPr txBox="1"/>
          <p:nvPr/>
        </p:nvSpPr>
        <p:spPr>
          <a:xfrm>
            <a:off x="10446327" y="3655001"/>
            <a:ext cx="1651507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Subtract 5 from both sides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17D2C4-650B-4C44-9219-14B062B0840D}"/>
              </a:ext>
            </a:extLst>
          </p:cNvPr>
          <p:cNvSpPr txBox="1"/>
          <p:nvPr/>
        </p:nvSpPr>
        <p:spPr>
          <a:xfrm>
            <a:off x="1055218" y="4004588"/>
            <a:ext cx="1500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- 5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559B0C-AE76-434C-8F5B-8E50EE6926B7}"/>
              </a:ext>
            </a:extLst>
          </p:cNvPr>
          <p:cNvSpPr txBox="1"/>
          <p:nvPr/>
        </p:nvSpPr>
        <p:spPr>
          <a:xfrm>
            <a:off x="9857942" y="4123354"/>
            <a:ext cx="1500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- 5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3820DD-811D-42F5-BA05-396AB1307793}"/>
              </a:ext>
            </a:extLst>
          </p:cNvPr>
          <p:cNvGrpSpPr/>
          <p:nvPr/>
        </p:nvGrpSpPr>
        <p:grpSpPr>
          <a:xfrm>
            <a:off x="3618794" y="3101341"/>
            <a:ext cx="431062" cy="457558"/>
            <a:chOff x="3618794" y="3101341"/>
            <a:chExt cx="431062" cy="45755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45F7238-37C6-45FC-8D4D-D99801864D0E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95CCE90-0E67-4312-8201-ECC163D73E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C23573-2E32-40EB-9710-81698B123C32}"/>
              </a:ext>
            </a:extLst>
          </p:cNvPr>
          <p:cNvGrpSpPr/>
          <p:nvPr/>
        </p:nvGrpSpPr>
        <p:grpSpPr>
          <a:xfrm>
            <a:off x="4134603" y="2837980"/>
            <a:ext cx="431062" cy="457558"/>
            <a:chOff x="3618794" y="3101341"/>
            <a:chExt cx="431062" cy="45755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01B3CD7-3C86-4324-AE56-B3F6CDC1CAB8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C327625-6A92-474A-B629-6B3D96054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02EDAD5-B069-478B-8175-4A42D136C754}"/>
              </a:ext>
            </a:extLst>
          </p:cNvPr>
          <p:cNvGrpSpPr/>
          <p:nvPr/>
        </p:nvGrpSpPr>
        <p:grpSpPr>
          <a:xfrm>
            <a:off x="4824847" y="2813050"/>
            <a:ext cx="431062" cy="457558"/>
            <a:chOff x="3618794" y="3101341"/>
            <a:chExt cx="431062" cy="457558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7437F0D-53FD-41A7-912B-D37D5E1661B3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C0A682C-DF97-4AAB-9A49-32234EB60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1DA64C3-6A6F-4A17-9FD9-AA6530C46391}"/>
              </a:ext>
            </a:extLst>
          </p:cNvPr>
          <p:cNvGrpSpPr/>
          <p:nvPr/>
        </p:nvGrpSpPr>
        <p:grpSpPr>
          <a:xfrm>
            <a:off x="4132004" y="3426222"/>
            <a:ext cx="431062" cy="457558"/>
            <a:chOff x="3618794" y="3101341"/>
            <a:chExt cx="431062" cy="457558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624EDEA-8C6B-4A26-AD01-FDC715EE2EBD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0B889B1-0711-4BEB-97EB-654A160C2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8CE89A3-6FE5-4134-B931-BBB1DCB2DF90}"/>
              </a:ext>
            </a:extLst>
          </p:cNvPr>
          <p:cNvGrpSpPr/>
          <p:nvPr/>
        </p:nvGrpSpPr>
        <p:grpSpPr>
          <a:xfrm>
            <a:off x="4807389" y="3406027"/>
            <a:ext cx="431062" cy="457558"/>
            <a:chOff x="3618794" y="3101341"/>
            <a:chExt cx="431062" cy="457558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5FADB65-BB1A-4899-9C9B-C5A8A09C907B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34C009D-8045-4D82-8C9D-4CBA4559F1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E4AFD12-53DE-4881-B2BA-240805AE175B}"/>
              </a:ext>
            </a:extLst>
          </p:cNvPr>
          <p:cNvGrpSpPr/>
          <p:nvPr/>
        </p:nvGrpSpPr>
        <p:grpSpPr>
          <a:xfrm>
            <a:off x="6965558" y="2819660"/>
            <a:ext cx="431062" cy="457558"/>
            <a:chOff x="3618794" y="3101341"/>
            <a:chExt cx="431062" cy="457558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72AB30F-AB7E-445E-B076-2883885418ED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0FF8B2B-37F1-404E-A96A-7796E8E4D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8F267A4-653C-4FD8-A202-14D444B2C042}"/>
              </a:ext>
            </a:extLst>
          </p:cNvPr>
          <p:cNvGrpSpPr/>
          <p:nvPr/>
        </p:nvGrpSpPr>
        <p:grpSpPr>
          <a:xfrm>
            <a:off x="7510570" y="2824856"/>
            <a:ext cx="431062" cy="457558"/>
            <a:chOff x="3618794" y="3101341"/>
            <a:chExt cx="431062" cy="457558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65650C5-9184-4883-9203-A3154F7F905E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74A107F-7A19-456F-B7FD-094DB0F23B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798A2BF-9F19-4785-91FB-F4B6D341001B}"/>
              </a:ext>
            </a:extLst>
          </p:cNvPr>
          <p:cNvGrpSpPr/>
          <p:nvPr/>
        </p:nvGrpSpPr>
        <p:grpSpPr>
          <a:xfrm>
            <a:off x="6983604" y="3401292"/>
            <a:ext cx="431062" cy="457558"/>
            <a:chOff x="3618794" y="3101341"/>
            <a:chExt cx="431062" cy="457558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E604FDC-8F8F-4FAA-8261-DB69DBB5F850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97F6527-CC7A-4DC3-B00F-23F22B7A88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0D31161-64BD-4916-82C1-7510855CA9A9}"/>
              </a:ext>
            </a:extLst>
          </p:cNvPr>
          <p:cNvGrpSpPr/>
          <p:nvPr/>
        </p:nvGrpSpPr>
        <p:grpSpPr>
          <a:xfrm>
            <a:off x="7490566" y="3386666"/>
            <a:ext cx="431062" cy="457558"/>
            <a:chOff x="3618794" y="3101341"/>
            <a:chExt cx="431062" cy="457558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76C92D6-EF94-4D34-B064-AE7BC9174AAA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F622BDE-5FBC-47AF-9572-E8532B80CD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2C1F80B-4C99-42A2-8F4B-C694380D3050}"/>
              </a:ext>
            </a:extLst>
          </p:cNvPr>
          <p:cNvGrpSpPr/>
          <p:nvPr/>
        </p:nvGrpSpPr>
        <p:grpSpPr>
          <a:xfrm>
            <a:off x="8146768" y="3387430"/>
            <a:ext cx="431062" cy="457558"/>
            <a:chOff x="3618794" y="3101341"/>
            <a:chExt cx="431062" cy="457558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ED8E87C-7DC7-4BE5-9D40-C8AD99EEB01E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76E8E42-BD4F-4164-9F12-21CD372B90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632C891F-3E91-4834-B68E-ADCA94574AB0}"/>
                  </a:ext>
                </a:extLst>
              </p:cNvPr>
              <p:cNvSpPr/>
              <p:nvPr/>
            </p:nvSpPr>
            <p:spPr>
              <a:xfrm>
                <a:off x="4261356" y="4497968"/>
                <a:ext cx="914400" cy="8936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632C891F-3E91-4834-B68E-ADCA94574A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356" y="4497968"/>
                <a:ext cx="914400" cy="8936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3426A845-AA6D-4F9D-858D-9C991E3E7C17}"/>
              </a:ext>
            </a:extLst>
          </p:cNvPr>
          <p:cNvGrpSpPr/>
          <p:nvPr/>
        </p:nvGrpSpPr>
        <p:grpSpPr>
          <a:xfrm>
            <a:off x="6495402" y="4646574"/>
            <a:ext cx="973061" cy="963677"/>
            <a:chOff x="6495402" y="4646574"/>
            <a:chExt cx="973061" cy="963677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1F01C08-FC83-4427-AA61-7CCF616B5B9B}"/>
                </a:ext>
              </a:extLst>
            </p:cNvPr>
            <p:cNvSpPr/>
            <p:nvPr/>
          </p:nvSpPr>
          <p:spPr>
            <a:xfrm>
              <a:off x="6495402" y="4646574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EBB9FA9-E81B-4822-82F6-222D4DB56DE9}"/>
                </a:ext>
              </a:extLst>
            </p:cNvPr>
            <p:cNvSpPr/>
            <p:nvPr/>
          </p:nvSpPr>
          <p:spPr>
            <a:xfrm>
              <a:off x="6495402" y="5237937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E92B7C0-F332-4115-B772-7C5133D170F0}"/>
                </a:ext>
              </a:extLst>
            </p:cNvPr>
            <p:cNvSpPr/>
            <p:nvPr/>
          </p:nvSpPr>
          <p:spPr>
            <a:xfrm>
              <a:off x="7099587" y="4646574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220CDF6-1594-4395-8E45-DC5D312370FD}"/>
                </a:ext>
              </a:extLst>
            </p:cNvPr>
            <p:cNvSpPr/>
            <p:nvPr/>
          </p:nvSpPr>
          <p:spPr>
            <a:xfrm>
              <a:off x="7092358" y="5262155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B6650CB-6FCE-4294-B9CA-71BF4B30AC0B}"/>
              </a:ext>
            </a:extLst>
          </p:cNvPr>
          <p:cNvSpPr txBox="1"/>
          <p:nvPr/>
        </p:nvSpPr>
        <p:spPr>
          <a:xfrm>
            <a:off x="3387652" y="594135"/>
            <a:ext cx="6953251" cy="1754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numCol="2" rtlCol="0">
            <a:spAutoFit/>
          </a:bodyPr>
          <a:lstStyle/>
          <a:p>
            <a:r>
              <a:rPr lang="en-AU" dirty="0"/>
              <a:t>Try these : </a:t>
            </a:r>
          </a:p>
          <a:p>
            <a:pPr marL="342900" indent="-342900">
              <a:buAutoNum type="arabicPeriod"/>
            </a:pPr>
            <a:r>
              <a:rPr lang="en-AU" dirty="0"/>
              <a:t>y + 4 = 6   </a:t>
            </a:r>
            <a:r>
              <a:rPr lang="en-AU" b="1" dirty="0">
                <a:solidFill>
                  <a:srgbClr val="FF0000"/>
                </a:solidFill>
              </a:rPr>
              <a:t>y= 2</a:t>
            </a:r>
          </a:p>
          <a:p>
            <a:pPr marL="342900" indent="-342900">
              <a:buAutoNum type="arabicPeriod"/>
            </a:pPr>
            <a:r>
              <a:rPr lang="en-AU" dirty="0"/>
              <a:t>b – 2 =8     </a:t>
            </a:r>
            <a:r>
              <a:rPr lang="en-AU" b="1" dirty="0">
                <a:solidFill>
                  <a:srgbClr val="FF0000"/>
                </a:solidFill>
              </a:rPr>
              <a:t>b = 10</a:t>
            </a:r>
          </a:p>
          <a:p>
            <a:pPr marL="342900" indent="-342900">
              <a:buAutoNum type="arabicPeriod"/>
            </a:pPr>
            <a:r>
              <a:rPr lang="en-AU" dirty="0"/>
              <a:t>a + 7 = 10    </a:t>
            </a:r>
            <a:r>
              <a:rPr lang="en-AU" b="1" dirty="0">
                <a:solidFill>
                  <a:srgbClr val="FF0000"/>
                </a:solidFill>
              </a:rPr>
              <a:t>a = 3</a:t>
            </a:r>
          </a:p>
          <a:p>
            <a:pPr marL="342900" indent="-342900">
              <a:buAutoNum type="arabicPeriod"/>
            </a:pPr>
            <a:r>
              <a:rPr lang="en-AU" dirty="0"/>
              <a:t>x + 6 = 9     </a:t>
            </a:r>
            <a:r>
              <a:rPr lang="en-AU" b="1" dirty="0">
                <a:solidFill>
                  <a:srgbClr val="FF0000"/>
                </a:solidFill>
              </a:rPr>
              <a:t>x = 3</a:t>
            </a:r>
          </a:p>
          <a:p>
            <a:pPr marL="342900" indent="-342900">
              <a:buAutoNum type="arabicPeriod"/>
            </a:pPr>
            <a:r>
              <a:rPr lang="en-AU" dirty="0"/>
              <a:t>y – 4 = 7   </a:t>
            </a:r>
            <a:r>
              <a:rPr lang="en-AU" b="1" dirty="0">
                <a:solidFill>
                  <a:srgbClr val="FF0000"/>
                </a:solidFill>
              </a:rPr>
              <a:t>y = 11</a:t>
            </a:r>
          </a:p>
          <a:p>
            <a:r>
              <a:rPr lang="en-AU" dirty="0"/>
              <a:t>Extension: </a:t>
            </a:r>
          </a:p>
          <a:p>
            <a:r>
              <a:rPr lang="en-AU" dirty="0"/>
              <a:t>Think about how you would solve these: </a:t>
            </a:r>
          </a:p>
          <a:p>
            <a:r>
              <a:rPr lang="en-AU" dirty="0"/>
              <a:t> 3x = 9 </a:t>
            </a:r>
          </a:p>
          <a:p>
            <a:r>
              <a:rPr lang="en-AU" dirty="0"/>
              <a:t>2x = 6 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39789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7854C4-3CFC-412C-A4B9-590EE6A6B4C4}"/>
              </a:ext>
            </a:extLst>
          </p:cNvPr>
          <p:cNvSpPr txBox="1"/>
          <p:nvPr/>
        </p:nvSpPr>
        <p:spPr>
          <a:xfrm>
            <a:off x="2036617" y="852055"/>
            <a:ext cx="785552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What about multiplication?</a:t>
            </a:r>
          </a:p>
          <a:p>
            <a:endParaRPr lang="en-AU" sz="3200" dirty="0"/>
          </a:p>
          <a:p>
            <a:r>
              <a:rPr lang="en-AU" sz="3200" dirty="0"/>
              <a:t>How would we solve these?  </a:t>
            </a:r>
          </a:p>
          <a:p>
            <a:r>
              <a:rPr lang="en-AU" sz="3200" dirty="0"/>
              <a:t> 3x = 9 </a:t>
            </a:r>
          </a:p>
          <a:p>
            <a:r>
              <a:rPr lang="en-AU" sz="3200" dirty="0"/>
              <a:t>2x = 6 </a:t>
            </a:r>
          </a:p>
          <a:p>
            <a:endParaRPr lang="en-AU" sz="3200" dirty="0"/>
          </a:p>
          <a:p>
            <a:r>
              <a:rPr lang="en-AU" sz="3200" dirty="0"/>
              <a:t>What undoes multiplication?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6185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BC1F08-7EC3-415E-B689-0754EC02E888}"/>
              </a:ext>
            </a:extLst>
          </p:cNvPr>
          <p:cNvSpPr txBox="1"/>
          <p:nvPr/>
        </p:nvSpPr>
        <p:spPr>
          <a:xfrm>
            <a:off x="-3501736" y="111793"/>
            <a:ext cx="10120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Pairs Practice!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22FE5-826F-498A-81B7-429BD8C39791}"/>
              </a:ext>
            </a:extLst>
          </p:cNvPr>
          <p:cNvSpPr/>
          <p:nvPr/>
        </p:nvSpPr>
        <p:spPr>
          <a:xfrm>
            <a:off x="904009" y="2514600"/>
            <a:ext cx="4634345" cy="3314700"/>
          </a:xfrm>
          <a:prstGeom prst="rect">
            <a:avLst/>
          </a:prstGeom>
          <a:solidFill>
            <a:srgbClr val="9A75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4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FF2646-33A6-4C94-963C-E685F0C48C68}"/>
              </a:ext>
            </a:extLst>
          </p:cNvPr>
          <p:cNvSpPr/>
          <p:nvPr/>
        </p:nvSpPr>
        <p:spPr>
          <a:xfrm>
            <a:off x="6180848" y="2514600"/>
            <a:ext cx="4634345" cy="3314700"/>
          </a:xfrm>
          <a:prstGeom prst="rect">
            <a:avLst/>
          </a:prstGeom>
          <a:solidFill>
            <a:srgbClr val="9A75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19EF8-D91C-4605-B568-CEAC2E620963}"/>
              </a:ext>
            </a:extLst>
          </p:cNvPr>
          <p:cNvSpPr txBox="1"/>
          <p:nvPr/>
        </p:nvSpPr>
        <p:spPr>
          <a:xfrm>
            <a:off x="5517573" y="3382241"/>
            <a:ext cx="20158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0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EA4586-321B-4E38-A8B4-7BA88DFF7731}"/>
                  </a:ext>
                </a:extLst>
              </p:cNvPr>
              <p:cNvSpPr txBox="1"/>
              <p:nvPr/>
            </p:nvSpPr>
            <p:spPr>
              <a:xfrm>
                <a:off x="1433945" y="1101436"/>
                <a:ext cx="325235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dirty="0">
                    <a:solidFill>
                      <a:srgbClr val="FF0000"/>
                    </a:solidFill>
                  </a:rPr>
                  <a:t>3</a:t>
                </a:r>
                <a14:m>
                  <m:oMath xmlns:m="http://schemas.openxmlformats.org/officeDocument/2006/math">
                    <m:r>
                      <a:rPr lang="en-AU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3200" dirty="0">
                    <a:solidFill>
                      <a:srgbClr val="FF0000"/>
                    </a:solidFill>
                  </a:rPr>
                  <a:t>=9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EA4586-321B-4E38-A8B4-7BA88DFF7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945" y="1101436"/>
                <a:ext cx="3252355" cy="584775"/>
              </a:xfrm>
              <a:prstGeom prst="rect">
                <a:avLst/>
              </a:prstGeom>
              <a:blipFill>
                <a:blip r:embed="rId2"/>
                <a:stretch>
                  <a:fillRect l="-4682" t="-12500" b="-34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6B7A316-C49F-4355-AEEF-069420FE3CA1}"/>
                  </a:ext>
                </a:extLst>
              </p:cNvPr>
              <p:cNvSpPr/>
              <p:nvPr/>
            </p:nvSpPr>
            <p:spPr>
              <a:xfrm>
                <a:off x="1858669" y="3000909"/>
                <a:ext cx="914400" cy="8936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6B7A316-C49F-4355-AEEF-069420FE3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669" y="3000909"/>
                <a:ext cx="914400" cy="8936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BCC00580-9CC0-4EF3-9CD2-973219387A1C}"/>
              </a:ext>
            </a:extLst>
          </p:cNvPr>
          <p:cNvSpPr/>
          <p:nvPr/>
        </p:nvSpPr>
        <p:spPr>
          <a:xfrm>
            <a:off x="7128163" y="2884977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75E0A-D4A5-441A-977B-B58BE4B48624}"/>
              </a:ext>
            </a:extLst>
          </p:cNvPr>
          <p:cNvSpPr/>
          <p:nvPr/>
        </p:nvSpPr>
        <p:spPr>
          <a:xfrm>
            <a:off x="7642513" y="2892224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904580-C619-467B-878C-53DAEB334C67}"/>
              </a:ext>
            </a:extLst>
          </p:cNvPr>
          <p:cNvSpPr/>
          <p:nvPr/>
        </p:nvSpPr>
        <p:spPr>
          <a:xfrm>
            <a:off x="7116257" y="344771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A42CF1-BCA1-464F-A3A7-3A009617B4E7}"/>
              </a:ext>
            </a:extLst>
          </p:cNvPr>
          <p:cNvSpPr/>
          <p:nvPr/>
        </p:nvSpPr>
        <p:spPr>
          <a:xfrm>
            <a:off x="7642513" y="344771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F2FCC5-BED6-48AB-AD45-739DF18E8FE3}"/>
              </a:ext>
            </a:extLst>
          </p:cNvPr>
          <p:cNvSpPr/>
          <p:nvPr/>
        </p:nvSpPr>
        <p:spPr>
          <a:xfrm>
            <a:off x="9598170" y="317277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A77125-6D02-4CC8-B6E2-C4489601C739}"/>
              </a:ext>
            </a:extLst>
          </p:cNvPr>
          <p:cNvSpPr/>
          <p:nvPr/>
        </p:nvSpPr>
        <p:spPr>
          <a:xfrm>
            <a:off x="8252982" y="3431506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4961D4-D182-4DEC-97DE-866F60E03763}"/>
              </a:ext>
            </a:extLst>
          </p:cNvPr>
          <p:cNvSpPr/>
          <p:nvPr/>
        </p:nvSpPr>
        <p:spPr>
          <a:xfrm>
            <a:off x="8914534" y="3425533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7D0A76-FBD3-471E-82DF-FA05D8D597B1}"/>
              </a:ext>
            </a:extLst>
          </p:cNvPr>
          <p:cNvSpPr/>
          <p:nvPr/>
        </p:nvSpPr>
        <p:spPr>
          <a:xfrm>
            <a:off x="8899813" y="2892224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0A86B8-B219-45B7-B07D-60B0EBBD5BEE}"/>
              </a:ext>
            </a:extLst>
          </p:cNvPr>
          <p:cNvSpPr/>
          <p:nvPr/>
        </p:nvSpPr>
        <p:spPr>
          <a:xfrm>
            <a:off x="8245186" y="289009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1E7979-2DEE-467B-978A-12E9B30A56B7}"/>
              </a:ext>
            </a:extLst>
          </p:cNvPr>
          <p:cNvSpPr txBox="1"/>
          <p:nvPr/>
        </p:nvSpPr>
        <p:spPr>
          <a:xfrm>
            <a:off x="9598170" y="1920359"/>
            <a:ext cx="2276695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We have to share the 9 cubes between the 3 x’s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CAB32752-9288-45DD-979E-E00D6A5F40C0}"/>
                  </a:ext>
                </a:extLst>
              </p:cNvPr>
              <p:cNvSpPr/>
              <p:nvPr/>
            </p:nvSpPr>
            <p:spPr>
              <a:xfrm>
                <a:off x="3132855" y="3000909"/>
                <a:ext cx="914400" cy="8936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CAB32752-9288-45DD-979E-E00D6A5F40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855" y="3000909"/>
                <a:ext cx="914400" cy="8936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6FA8EC5-CC90-44FA-889F-F0AE8E9BB487}"/>
                  </a:ext>
                </a:extLst>
              </p:cNvPr>
              <p:cNvSpPr/>
              <p:nvPr/>
            </p:nvSpPr>
            <p:spPr>
              <a:xfrm>
                <a:off x="4293175" y="3000909"/>
                <a:ext cx="914400" cy="8936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6FA8EC5-CC90-44FA-889F-F0AE8E9BB4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175" y="3000909"/>
                <a:ext cx="914400" cy="8936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9736512-2B7E-4F0C-A1AF-9F645BF451F2}"/>
              </a:ext>
            </a:extLst>
          </p:cNvPr>
          <p:cNvSpPr txBox="1"/>
          <p:nvPr/>
        </p:nvSpPr>
        <p:spPr>
          <a:xfrm>
            <a:off x="8759536" y="964687"/>
            <a:ext cx="324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operation is </a:t>
            </a:r>
            <a:r>
              <a:rPr lang="en-AU" b="1" dirty="0"/>
              <a:t>sharing</a:t>
            </a:r>
            <a:r>
              <a:rPr lang="en-AU" dirty="0"/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CA4CD-2914-40D3-B4E0-0DE46F7FD91F}"/>
              </a:ext>
            </a:extLst>
          </p:cNvPr>
          <p:cNvSpPr txBox="1"/>
          <p:nvPr/>
        </p:nvSpPr>
        <p:spPr>
          <a:xfrm>
            <a:off x="11481410" y="778270"/>
            <a:ext cx="769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÷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69A4D5-7009-454F-8EA9-90C44DB3ED49}"/>
              </a:ext>
            </a:extLst>
          </p:cNvPr>
          <p:cNvSpPr txBox="1"/>
          <p:nvPr/>
        </p:nvSpPr>
        <p:spPr>
          <a:xfrm>
            <a:off x="9598170" y="4043960"/>
            <a:ext cx="1138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÷ 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062643-84B5-4CAD-B05D-5003BEF77D4A}"/>
              </a:ext>
            </a:extLst>
          </p:cNvPr>
          <p:cNvSpPr txBox="1"/>
          <p:nvPr/>
        </p:nvSpPr>
        <p:spPr>
          <a:xfrm>
            <a:off x="1190077" y="4011504"/>
            <a:ext cx="1138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÷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85AED6A-EC0D-4058-8D4A-EAFE8CC8BF67}"/>
                  </a:ext>
                </a:extLst>
              </p:cNvPr>
              <p:cNvSpPr/>
              <p:nvPr/>
            </p:nvSpPr>
            <p:spPr>
              <a:xfrm>
                <a:off x="4151596" y="4722916"/>
                <a:ext cx="914400" cy="8936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85AED6A-EC0D-4058-8D4A-EAFE8CC8BF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596" y="4722916"/>
                <a:ext cx="914400" cy="8936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1298292F-A93B-4EC3-825E-62B5C1C72969}"/>
              </a:ext>
            </a:extLst>
          </p:cNvPr>
          <p:cNvSpPr/>
          <p:nvPr/>
        </p:nvSpPr>
        <p:spPr>
          <a:xfrm>
            <a:off x="6602567" y="5046546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F1316BC-80EA-4BE8-8D81-820EFCD749A1}"/>
              </a:ext>
            </a:extLst>
          </p:cNvPr>
          <p:cNvSpPr/>
          <p:nvPr/>
        </p:nvSpPr>
        <p:spPr>
          <a:xfrm>
            <a:off x="7181418" y="5040507"/>
            <a:ext cx="368876" cy="344864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35EB293-870F-420D-B2C3-74863EB849D9}"/>
              </a:ext>
            </a:extLst>
          </p:cNvPr>
          <p:cNvSpPr/>
          <p:nvPr/>
        </p:nvSpPr>
        <p:spPr>
          <a:xfrm>
            <a:off x="7711254" y="5040507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220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6" grpId="0" animBg="1"/>
      <p:bldP spid="37" grpId="0" animBg="1"/>
      <p:bldP spid="9" grpId="0"/>
      <p:bldP spid="11" grpId="0"/>
      <p:bldP spid="32" grpId="0"/>
      <p:bldP spid="38" grpId="0"/>
      <p:bldP spid="39" grpId="0" animBg="1"/>
      <p:bldP spid="40" grpId="0" animBg="1"/>
      <p:bldP spid="41" grpId="0" animBg="1"/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BC1F08-7EC3-415E-B689-0754EC02E888}"/>
              </a:ext>
            </a:extLst>
          </p:cNvPr>
          <p:cNvSpPr txBox="1"/>
          <p:nvPr/>
        </p:nvSpPr>
        <p:spPr>
          <a:xfrm>
            <a:off x="-3501736" y="111793"/>
            <a:ext cx="10120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Pairs Practice!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22FE5-826F-498A-81B7-429BD8C39791}"/>
              </a:ext>
            </a:extLst>
          </p:cNvPr>
          <p:cNvSpPr/>
          <p:nvPr/>
        </p:nvSpPr>
        <p:spPr>
          <a:xfrm>
            <a:off x="947314" y="2629971"/>
            <a:ext cx="4634345" cy="3314700"/>
          </a:xfrm>
          <a:prstGeom prst="rect">
            <a:avLst/>
          </a:prstGeom>
          <a:solidFill>
            <a:srgbClr val="9A75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4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FF2646-33A6-4C94-963C-E685F0C48C68}"/>
              </a:ext>
            </a:extLst>
          </p:cNvPr>
          <p:cNvSpPr/>
          <p:nvPr/>
        </p:nvSpPr>
        <p:spPr>
          <a:xfrm>
            <a:off x="6180848" y="2514600"/>
            <a:ext cx="4634345" cy="3314700"/>
          </a:xfrm>
          <a:prstGeom prst="rect">
            <a:avLst/>
          </a:prstGeom>
          <a:solidFill>
            <a:srgbClr val="9A75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14075-3BC5-4C16-A89A-2AD8B244E3B3}"/>
              </a:ext>
            </a:extLst>
          </p:cNvPr>
          <p:cNvSpPr txBox="1"/>
          <p:nvPr/>
        </p:nvSpPr>
        <p:spPr>
          <a:xfrm>
            <a:off x="3751117" y="595355"/>
            <a:ext cx="442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what you will be doing on your desks!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19EF8-D91C-4605-B568-CEAC2E620963}"/>
              </a:ext>
            </a:extLst>
          </p:cNvPr>
          <p:cNvSpPr txBox="1"/>
          <p:nvPr/>
        </p:nvSpPr>
        <p:spPr>
          <a:xfrm>
            <a:off x="5517573" y="3382241"/>
            <a:ext cx="20158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0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6B7A316-C49F-4355-AEEF-069420FE3CA1}"/>
                  </a:ext>
                </a:extLst>
              </p:cNvPr>
              <p:cNvSpPr/>
              <p:nvPr/>
            </p:nvSpPr>
            <p:spPr>
              <a:xfrm>
                <a:off x="52594" y="2622185"/>
                <a:ext cx="914400" cy="8936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6B7A316-C49F-4355-AEEF-069420FE3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4" y="2622185"/>
                <a:ext cx="914400" cy="8936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BCC00580-9CC0-4EF3-9CD2-973219387A1C}"/>
              </a:ext>
            </a:extLst>
          </p:cNvPr>
          <p:cNvSpPr/>
          <p:nvPr/>
        </p:nvSpPr>
        <p:spPr>
          <a:xfrm>
            <a:off x="11013928" y="1178330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75E0A-D4A5-441A-977B-B58BE4B48624}"/>
              </a:ext>
            </a:extLst>
          </p:cNvPr>
          <p:cNvSpPr/>
          <p:nvPr/>
        </p:nvSpPr>
        <p:spPr>
          <a:xfrm>
            <a:off x="11554689" y="1373082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904580-C619-467B-878C-53DAEB334C67}"/>
              </a:ext>
            </a:extLst>
          </p:cNvPr>
          <p:cNvSpPr/>
          <p:nvPr/>
        </p:nvSpPr>
        <p:spPr>
          <a:xfrm>
            <a:off x="10369749" y="947727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A42CF1-BCA1-464F-A3A7-3A009617B4E7}"/>
              </a:ext>
            </a:extLst>
          </p:cNvPr>
          <p:cNvSpPr/>
          <p:nvPr/>
        </p:nvSpPr>
        <p:spPr>
          <a:xfrm>
            <a:off x="9943723" y="813617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F2FCC5-BED6-48AB-AD45-739DF18E8FE3}"/>
              </a:ext>
            </a:extLst>
          </p:cNvPr>
          <p:cNvSpPr/>
          <p:nvPr/>
        </p:nvSpPr>
        <p:spPr>
          <a:xfrm>
            <a:off x="10316017" y="1796652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A77125-6D02-4CC8-B6E2-C4489601C739}"/>
              </a:ext>
            </a:extLst>
          </p:cNvPr>
          <p:cNvSpPr/>
          <p:nvPr/>
        </p:nvSpPr>
        <p:spPr>
          <a:xfrm>
            <a:off x="10169379" y="1903569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4961D4-D182-4DEC-97DE-866F60E03763}"/>
              </a:ext>
            </a:extLst>
          </p:cNvPr>
          <p:cNvSpPr/>
          <p:nvPr/>
        </p:nvSpPr>
        <p:spPr>
          <a:xfrm>
            <a:off x="11045506" y="2243461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7D0A76-FBD3-471E-82DF-FA05D8D597B1}"/>
              </a:ext>
            </a:extLst>
          </p:cNvPr>
          <p:cNvSpPr/>
          <p:nvPr/>
        </p:nvSpPr>
        <p:spPr>
          <a:xfrm>
            <a:off x="9283410" y="171610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0A86B8-B219-45B7-B07D-60B0EBBD5BEE}"/>
              </a:ext>
            </a:extLst>
          </p:cNvPr>
          <p:cNvSpPr/>
          <p:nvPr/>
        </p:nvSpPr>
        <p:spPr>
          <a:xfrm>
            <a:off x="9833019" y="1544595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CAB32752-9288-45DD-979E-E00D6A5F40C0}"/>
                  </a:ext>
                </a:extLst>
              </p:cNvPr>
              <p:cNvSpPr/>
              <p:nvPr/>
            </p:nvSpPr>
            <p:spPr>
              <a:xfrm>
                <a:off x="-10391" y="1796652"/>
                <a:ext cx="914400" cy="8936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CAB32752-9288-45DD-979E-E00D6A5F40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91" y="1796652"/>
                <a:ext cx="914400" cy="8936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6FA8EC5-CC90-44FA-889F-F0AE8E9BB487}"/>
                  </a:ext>
                </a:extLst>
              </p:cNvPr>
              <p:cNvSpPr/>
              <p:nvPr/>
            </p:nvSpPr>
            <p:spPr>
              <a:xfrm>
                <a:off x="809196" y="1349843"/>
                <a:ext cx="914400" cy="8936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6FA8EC5-CC90-44FA-889F-F0AE8E9BB4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96" y="1349843"/>
                <a:ext cx="914400" cy="8936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85AED6A-EC0D-4058-8D4A-EAFE8CC8BF67}"/>
                  </a:ext>
                </a:extLst>
              </p:cNvPr>
              <p:cNvSpPr/>
              <p:nvPr/>
            </p:nvSpPr>
            <p:spPr>
              <a:xfrm>
                <a:off x="153694" y="4780359"/>
                <a:ext cx="914400" cy="8936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85AED6A-EC0D-4058-8D4A-EAFE8CC8BF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94" y="4780359"/>
                <a:ext cx="914400" cy="8936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1298292F-A93B-4EC3-825E-62B5C1C72969}"/>
              </a:ext>
            </a:extLst>
          </p:cNvPr>
          <p:cNvSpPr/>
          <p:nvPr/>
        </p:nvSpPr>
        <p:spPr>
          <a:xfrm>
            <a:off x="9333259" y="54448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F1316BC-80EA-4BE8-8D81-820EFCD749A1}"/>
              </a:ext>
            </a:extLst>
          </p:cNvPr>
          <p:cNvSpPr/>
          <p:nvPr/>
        </p:nvSpPr>
        <p:spPr>
          <a:xfrm>
            <a:off x="9572653" y="1012270"/>
            <a:ext cx="368876" cy="344864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35EB293-870F-420D-B2C3-74863EB849D9}"/>
              </a:ext>
            </a:extLst>
          </p:cNvPr>
          <p:cNvSpPr/>
          <p:nvPr/>
        </p:nvSpPr>
        <p:spPr>
          <a:xfrm>
            <a:off x="9302272" y="1163157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31E393-9208-405A-89F8-1FD4E160DFEE}"/>
              </a:ext>
            </a:extLst>
          </p:cNvPr>
          <p:cNvSpPr txBox="1"/>
          <p:nvPr/>
        </p:nvSpPr>
        <p:spPr>
          <a:xfrm>
            <a:off x="2913782" y="544488"/>
            <a:ext cx="5689889" cy="1754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numCol="2" rtlCol="0">
            <a:spAutoFit/>
          </a:bodyPr>
          <a:lstStyle/>
          <a:p>
            <a:r>
              <a:rPr lang="en-AU" dirty="0"/>
              <a:t>Try these : </a:t>
            </a:r>
          </a:p>
          <a:p>
            <a:pPr marL="342900" indent="-342900">
              <a:buAutoNum type="arabicPeriod"/>
            </a:pPr>
            <a:r>
              <a:rPr lang="en-AU" dirty="0"/>
              <a:t>4x = 12</a:t>
            </a:r>
          </a:p>
          <a:p>
            <a:pPr marL="342900" indent="-342900">
              <a:buAutoNum type="arabicPeriod"/>
            </a:pPr>
            <a:r>
              <a:rPr lang="en-AU" dirty="0"/>
              <a:t>3y = 15</a:t>
            </a:r>
          </a:p>
          <a:p>
            <a:pPr marL="342900" indent="-342900">
              <a:buAutoNum type="arabicPeriod"/>
            </a:pPr>
            <a:r>
              <a:rPr lang="en-AU" dirty="0"/>
              <a:t>2a = 14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Extension: </a:t>
            </a:r>
          </a:p>
          <a:p>
            <a:r>
              <a:rPr lang="en-AU" dirty="0"/>
              <a:t>(you wont be able to do these with your counters)</a:t>
            </a:r>
          </a:p>
          <a:p>
            <a:r>
              <a:rPr lang="en-AU" dirty="0"/>
              <a:t> 8x = 20  </a:t>
            </a:r>
          </a:p>
          <a:p>
            <a:r>
              <a:rPr lang="en-AU" sz="1600" dirty="0"/>
              <a:t>4x = 24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BA5C261-0CCF-4994-B374-1B8DD3958D7C}"/>
                  </a:ext>
                </a:extLst>
              </p:cNvPr>
              <p:cNvSpPr/>
              <p:nvPr/>
            </p:nvSpPr>
            <p:spPr>
              <a:xfrm>
                <a:off x="153694" y="3894527"/>
                <a:ext cx="914400" cy="8936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BA5C261-0CCF-4994-B374-1B8DD3958D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94" y="3894527"/>
                <a:ext cx="914400" cy="8936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9F138F0B-4BF2-459F-8AF5-07DF03FFE2E2}"/>
              </a:ext>
            </a:extLst>
          </p:cNvPr>
          <p:cNvSpPr/>
          <p:nvPr/>
        </p:nvSpPr>
        <p:spPr>
          <a:xfrm>
            <a:off x="10861068" y="521070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5D1CCF-F30E-4781-B0EC-95514FA8776B}"/>
              </a:ext>
            </a:extLst>
          </p:cNvPr>
          <p:cNvSpPr/>
          <p:nvPr/>
        </p:nvSpPr>
        <p:spPr>
          <a:xfrm>
            <a:off x="11552757" y="2139677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802FF7-844F-4FFE-AECA-CC88E1BF716C}"/>
              </a:ext>
            </a:extLst>
          </p:cNvPr>
          <p:cNvSpPr/>
          <p:nvPr/>
        </p:nvSpPr>
        <p:spPr>
          <a:xfrm>
            <a:off x="11045761" y="1627719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3409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459</Words>
  <Application>Microsoft Office PowerPoint</Application>
  <PresentationFormat>Widescreen</PresentationFormat>
  <Paragraphs>119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Fragment Core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Sarah [Baldivis Secondary College]</dc:creator>
  <cp:lastModifiedBy>JAMES Sarah [Baldivis Secondary College]</cp:lastModifiedBy>
  <cp:revision>1</cp:revision>
  <dcterms:created xsi:type="dcterms:W3CDTF">2021-08-24T10:16:10Z</dcterms:created>
  <dcterms:modified xsi:type="dcterms:W3CDTF">2021-08-24T10:35:12Z</dcterms:modified>
</cp:coreProperties>
</file>
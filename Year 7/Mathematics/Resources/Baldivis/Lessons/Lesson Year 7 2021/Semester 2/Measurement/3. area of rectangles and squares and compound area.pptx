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2" r:id="rId1"/>
    <p:sldMasterId id="2147483684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307" r:id="rId7"/>
    <p:sldId id="262" r:id="rId8"/>
    <p:sldId id="308" r:id="rId9"/>
    <p:sldId id="309" r:id="rId10"/>
    <p:sldId id="310" r:id="rId11"/>
    <p:sldId id="311" r:id="rId12"/>
    <p:sldId id="312" r:id="rId13"/>
    <p:sldId id="313" r:id="rId14"/>
    <p:sldId id="314" r:id="rId15"/>
    <p:sldId id="315" r:id="rId16"/>
    <p:sldId id="316" r:id="rId17"/>
    <p:sldId id="317" r:id="rId18"/>
    <p:sldId id="318" r:id="rId19"/>
    <p:sldId id="319" r:id="rId20"/>
    <p:sldId id="320" r:id="rId21"/>
    <p:sldId id="321" r:id="rId22"/>
  </p:sldIdLst>
  <p:sldSz cx="9144000" cy="5143500" type="screen16x9"/>
  <p:notesSz cx="6858000" cy="9144000"/>
  <p:embeddedFontLst>
    <p:embeddedFont>
      <p:font typeface="Fredoka One" panose="020B0604020202020204" charset="0"/>
      <p:regular r:id="rId24"/>
    </p:embeddedFont>
    <p:embeddedFont>
      <p:font typeface="ＭＳ Ｐゴシック" panose="020B0600070205080204" pitchFamily="34" charset="-128"/>
      <p:regular r:id="rId25"/>
    </p:embeddedFont>
    <p:embeddedFont>
      <p:font typeface="Abel" panose="020B0604020202020204" charset="0"/>
      <p:regular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068">
          <p15:clr>
            <a:srgbClr val="9AA0A6"/>
          </p15:clr>
        </p15:guide>
        <p15:guide id="2" pos="2880">
          <p15:clr>
            <a:srgbClr val="9AA0A6"/>
          </p15:clr>
        </p15:guide>
        <p15:guide id="3" orient="horz" pos="253">
          <p15:clr>
            <a:srgbClr val="9AA0A6"/>
          </p15:clr>
        </p15:guide>
        <p15:guide id="4" orient="horz" pos="841">
          <p15:clr>
            <a:srgbClr val="9AA0A6"/>
          </p15:clr>
        </p15:guide>
        <p15:guide id="5" pos="576">
          <p15:clr>
            <a:srgbClr val="9AA0A6"/>
          </p15:clr>
        </p15:guide>
        <p15:guide id="6" orient="horz" pos="547">
          <p15:clr>
            <a:srgbClr val="9AA0A6"/>
          </p15:clr>
        </p15:guide>
        <p15:guide id="7" orient="horz" pos="216">
          <p15:clr>
            <a:srgbClr val="9AA0A6"/>
          </p15:clr>
        </p15:guide>
        <p15:guide id="8" pos="4787">
          <p15:clr>
            <a:srgbClr val="9AA0A6"/>
          </p15:clr>
        </p15:guide>
        <p15:guide id="9" pos="3942">
          <p15:clr>
            <a:srgbClr val="9AA0A6"/>
          </p15:clr>
        </p15:guide>
        <p15:guide id="10" pos="1293">
          <p15:clr>
            <a:srgbClr val="9AA0A6"/>
          </p15:clr>
        </p15:guide>
        <p15:guide id="11" orient="horz" pos="120">
          <p15:clr>
            <a:srgbClr val="9AA0A6"/>
          </p15:clr>
        </p15:guide>
        <p15:guide id="12" orient="horz" pos="144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4AD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2CA31A5-7132-4A5F-A072-0CB39D90A84B}">
  <a:tblStyle styleId="{42CA31A5-7132-4A5F-A072-0CB39D90A8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5381" autoAdjust="0"/>
  </p:normalViewPr>
  <p:slideViewPr>
    <p:cSldViewPr snapToGrid="0">
      <p:cViewPr>
        <p:scale>
          <a:sx n="125" d="100"/>
          <a:sy n="125" d="100"/>
        </p:scale>
        <p:origin x="86" y="-787"/>
      </p:cViewPr>
      <p:guideLst>
        <p:guide orient="horz" pos="3068"/>
        <p:guide pos="2880"/>
        <p:guide orient="horz" pos="253"/>
        <p:guide orient="horz" pos="841"/>
        <p:guide pos="576"/>
        <p:guide orient="horz" pos="547"/>
        <p:guide orient="horz" pos="216"/>
        <p:guide pos="4787"/>
        <p:guide pos="3942"/>
        <p:guide pos="1293"/>
        <p:guide orient="horz" pos="120"/>
        <p:guide orient="horz" pos="14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61b46b06b8_0_87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61b46b06b8_0_87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g615da441d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4" name="Google Shape;364;g615da441d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/>
              <a:t>Looking for: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/>
              <a:t>All 90 degree</a:t>
            </a:r>
            <a:r>
              <a:rPr lang="en-AU" baseline="0" dirty="0" smtClean="0"/>
              <a:t> angles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aseline="0" dirty="0" smtClean="0"/>
              <a:t>Opposite sides parallel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aseline="0" dirty="0" smtClean="0"/>
              <a:t>Opposite sides equal (rectangles)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baseline="0" dirty="0" smtClean="0"/>
              <a:t>All sides equal (squares)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0991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188479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0452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457705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67004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615da441d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615da441d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64669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615da441d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615da441d6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/>
              <a:t>Print</a:t>
            </a:r>
            <a:r>
              <a:rPr lang="en-AU" baseline="0" dirty="0" smtClean="0"/>
              <a:t> off activity sheet (compound area)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7477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596875" y="623625"/>
            <a:ext cx="1663500" cy="16635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63225" y="2799325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6812375" y="3945250"/>
            <a:ext cx="994800" cy="994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7807175" y="345622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7151375" y="-150575"/>
            <a:ext cx="1094100" cy="109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745150" y="789414"/>
            <a:ext cx="3501300" cy="3501300"/>
          </a:xfrm>
          <a:prstGeom prst="donut">
            <a:avLst>
              <a:gd name="adj" fmla="val 1554"/>
            </a:avLst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2416350" y="1897688"/>
            <a:ext cx="43113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sz="3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2416350" y="2929313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_1_1_2_1_1_1_2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5715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Google Shape;22;p3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17475" y="1494350"/>
            <a:ext cx="6595200" cy="24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4" name="Google Shape;24;p3"/>
          <p:cNvSpPr/>
          <p:nvPr/>
        </p:nvSpPr>
        <p:spPr>
          <a:xfrm rot="-5400000">
            <a:off x="7847449" y="1972496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8099600" y="3125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7266150" y="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ctrTitle"/>
          </p:nvPr>
        </p:nvSpPr>
        <p:spPr>
          <a:xfrm>
            <a:off x="1558650" y="1890375"/>
            <a:ext cx="6026700" cy="9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ubTitle" idx="1"/>
          </p:nvPr>
        </p:nvSpPr>
        <p:spPr>
          <a:xfrm>
            <a:off x="3197100" y="2833525"/>
            <a:ext cx="27498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1" name="Google Shape;31;p4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4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" name="Google Shape;33;p4"/>
          <p:cNvSpPr/>
          <p:nvPr/>
        </p:nvSpPr>
        <p:spPr>
          <a:xfrm rot="5400000">
            <a:off x="-2021575" y="191075"/>
            <a:ext cx="4006800" cy="4006800"/>
          </a:xfrm>
          <a:prstGeom prst="blockArc">
            <a:avLst>
              <a:gd name="adj1" fmla="val 10800000"/>
              <a:gd name="adj2" fmla="val 21599869"/>
              <a:gd name="adj3" fmla="val 923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4"/>
          <p:cNvSpPr/>
          <p:nvPr/>
        </p:nvSpPr>
        <p:spPr>
          <a:xfrm rot="10800000">
            <a:off x="5727299" y="-1385229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6341824" y="3954921"/>
            <a:ext cx="2701200" cy="2701200"/>
          </a:xfrm>
          <a:prstGeom prst="blockArc">
            <a:avLst>
              <a:gd name="adj1" fmla="val 10800000"/>
              <a:gd name="adj2" fmla="val 21571275"/>
              <a:gd name="adj3" fmla="val 1374"/>
            </a:avLst>
          </a:prstGeom>
          <a:solidFill>
            <a:srgbClr val="FFFFFF">
              <a:alpha val="3929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ctrTitle"/>
          </p:nvPr>
        </p:nvSpPr>
        <p:spPr>
          <a:xfrm>
            <a:off x="2416350" y="2976855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bel"/>
              <a:buNone/>
              <a:defRPr sz="1100" b="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1"/>
          </p:nvPr>
        </p:nvSpPr>
        <p:spPr>
          <a:xfrm>
            <a:off x="2296350" y="1850150"/>
            <a:ext cx="455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Fredoka One"/>
              <a:buNone/>
              <a:defRPr>
                <a:solidFill>
                  <a:schemeClr val="lt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0" name="Google Shape;40;p5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" name="Google Shape;41;p5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2" name="Google Shape;42;p5"/>
          <p:cNvSpPr/>
          <p:nvPr/>
        </p:nvSpPr>
        <p:spPr>
          <a:xfrm>
            <a:off x="621700" y="775500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2462950" y="35573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5660300" y="195075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BODY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6201800" y="3852275"/>
            <a:ext cx="655800" cy="6558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8"/>
          <p:cNvSpPr/>
          <p:nvPr/>
        </p:nvSpPr>
        <p:spPr>
          <a:xfrm>
            <a:off x="280300" y="560050"/>
            <a:ext cx="1784100" cy="17841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8"/>
          <p:cNvSpPr/>
          <p:nvPr/>
        </p:nvSpPr>
        <p:spPr>
          <a:xfrm>
            <a:off x="7343600" y="3538750"/>
            <a:ext cx="393600" cy="393600"/>
          </a:xfrm>
          <a:prstGeom prst="ellipse">
            <a:avLst/>
          </a:prstGeom>
          <a:solidFill>
            <a:srgbClr val="FFFFFF">
              <a:alpha val="151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title"/>
          </p:nvPr>
        </p:nvSpPr>
        <p:spPr>
          <a:xfrm>
            <a:off x="817475" y="69857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body" idx="1"/>
          </p:nvPr>
        </p:nvSpPr>
        <p:spPr>
          <a:xfrm>
            <a:off x="817475" y="1898986"/>
            <a:ext cx="4438500" cy="22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3" name="Google Shape;83;p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1pPr>
            <a:lvl2pPr lvl="1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buNone/>
              <a:defRPr sz="1300"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8"/>
          <p:cNvCxnSpPr/>
          <p:nvPr/>
        </p:nvCxnSpPr>
        <p:spPr>
          <a:xfrm>
            <a:off x="35542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5" name="Google Shape;85;p8"/>
          <p:cNvCxnSpPr/>
          <p:nvPr/>
        </p:nvCxnSpPr>
        <p:spPr>
          <a:xfrm>
            <a:off x="4846358" y="4868401"/>
            <a:ext cx="743400" cy="420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Content Placeholder 11"/>
          <p:cNvSpPr>
            <a:spLocks noGrp="1"/>
          </p:cNvSpPr>
          <p:nvPr>
            <p:ph idx="1"/>
          </p:nvPr>
        </p:nvSpPr>
        <p:spPr>
          <a:xfrm>
            <a:off x="755651" y="1135460"/>
            <a:ext cx="7632700" cy="3434160"/>
          </a:xfr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r>
              <a:rPr lang="en-GB" dirty="0" smtClean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708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418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Content Placeholder 11"/>
          <p:cNvSpPr>
            <a:spLocks noGrp="1"/>
          </p:cNvSpPr>
          <p:nvPr>
            <p:ph idx="1"/>
          </p:nvPr>
        </p:nvSpPr>
        <p:spPr>
          <a:xfrm>
            <a:off x="755651" y="1135460"/>
            <a:ext cx="7632700" cy="3434160"/>
          </a:xfrm>
        </p:spPr>
        <p:txBody>
          <a:bodyPr lIns="0" tIns="0" rIns="0" bIns="0"/>
          <a:lstStyle>
            <a:lvl1pPr marL="0" indent="0">
              <a:buNone/>
              <a:defRPr baseline="0"/>
            </a:lvl1pPr>
          </a:lstStyle>
          <a:p>
            <a:r>
              <a:rPr lang="en-GB" dirty="0" smtClean="0"/>
              <a:t>Click to edit Master text styles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9808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5" name="Rectangle 4"/>
          <p:cNvSpPr/>
          <p:nvPr userDrawn="1"/>
        </p:nvSpPr>
        <p:spPr>
          <a:xfrm>
            <a:off x="457201" y="1135857"/>
            <a:ext cx="8220075" cy="36611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135459"/>
            <a:ext cx="8220075" cy="3661570"/>
          </a:xfrm>
          <a:prstGeom prst="roundRect">
            <a:avLst>
              <a:gd name="adj" fmla="val 1874"/>
            </a:avLst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678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1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10" name="Rectangle 9"/>
          <p:cNvSpPr/>
          <p:nvPr userDrawn="1"/>
        </p:nvSpPr>
        <p:spPr>
          <a:xfrm>
            <a:off x="755650" y="1135856"/>
            <a:ext cx="7632700" cy="34337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>
              <a:solidFill>
                <a:srgbClr val="FFFFFF"/>
              </a:solidFill>
            </a:endParaRPr>
          </a:p>
        </p:txBody>
      </p:sp>
      <p:grpSp>
        <p:nvGrpSpPr>
          <p:cNvPr id="11" name="Group 5"/>
          <p:cNvGrpSpPr>
            <a:grpSpLocks/>
          </p:cNvGrpSpPr>
          <p:nvPr userDrawn="1"/>
        </p:nvGrpSpPr>
        <p:grpSpPr bwMode="auto">
          <a:xfrm>
            <a:off x="4002088" y="1303735"/>
            <a:ext cx="4189412" cy="3096815"/>
            <a:chOff x="4002736" y="1755885"/>
            <a:chExt cx="4189074" cy="4129086"/>
          </a:xfrm>
        </p:grpSpPr>
        <p:sp>
          <p:nvSpPr>
            <p:cNvPr id="12" name="Oval 11"/>
            <p:cNvSpPr/>
            <p:nvPr userDrawn="1"/>
          </p:nvSpPr>
          <p:spPr bwMode="auto">
            <a:xfrm>
              <a:off x="4002736" y="1755885"/>
              <a:ext cx="1998501" cy="1997075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Oval 12"/>
            <p:cNvSpPr/>
            <p:nvPr userDrawn="1"/>
          </p:nvSpPr>
          <p:spPr bwMode="auto">
            <a:xfrm>
              <a:off x="6193309" y="1755885"/>
              <a:ext cx="1998501" cy="1997075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Oval 15"/>
            <p:cNvSpPr/>
            <p:nvPr userDrawn="1"/>
          </p:nvSpPr>
          <p:spPr bwMode="auto">
            <a:xfrm>
              <a:off x="6193309" y="3886309"/>
              <a:ext cx="1996914" cy="1998662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5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7" name="Oval 16"/>
            <p:cNvSpPr/>
            <p:nvPr userDrawn="1"/>
          </p:nvSpPr>
          <p:spPr bwMode="auto">
            <a:xfrm>
              <a:off x="4002736" y="3886309"/>
              <a:ext cx="1998501" cy="1998662"/>
            </a:xfrm>
            <a:prstGeom prst="ellipse">
              <a:avLst/>
            </a:prstGeom>
            <a:solidFill>
              <a:srgbClr val="FDFE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05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755650" y="1135458"/>
            <a:ext cx="3048958" cy="3434162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4012773" y="1302544"/>
            <a:ext cx="1980159" cy="149780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1"/>
          </p:nvPr>
        </p:nvSpPr>
        <p:spPr>
          <a:xfrm>
            <a:off x="6197376" y="1302544"/>
            <a:ext cx="1980159" cy="149780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2"/>
          </p:nvPr>
        </p:nvSpPr>
        <p:spPr>
          <a:xfrm>
            <a:off x="4012773" y="2901453"/>
            <a:ext cx="1980159" cy="149780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3"/>
          </p:nvPr>
        </p:nvSpPr>
        <p:spPr>
          <a:xfrm>
            <a:off x="6197376" y="2901453"/>
            <a:ext cx="1980159" cy="149780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1221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2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4660900" y="1135856"/>
            <a:ext cx="3690938" cy="3433763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 bwMode="auto">
          <a:xfrm>
            <a:off x="750888" y="1135856"/>
            <a:ext cx="3821112" cy="814388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 bwMode="auto">
          <a:xfrm>
            <a:off x="750888" y="2008585"/>
            <a:ext cx="3821112" cy="814388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 bwMode="auto">
          <a:xfrm>
            <a:off x="750888" y="2881312"/>
            <a:ext cx="3821112" cy="815579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 bwMode="auto">
          <a:xfrm>
            <a:off x="750888" y="3755231"/>
            <a:ext cx="3821112" cy="814388"/>
          </a:xfrm>
          <a:prstGeom prst="rect">
            <a:avLst/>
          </a:prstGeom>
          <a:solidFill>
            <a:schemeClr val="accent3">
              <a:lumMod val="60000"/>
              <a:lumOff val="40000"/>
              <a:alpha val="7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4660233" y="1135459"/>
            <a:ext cx="3691606" cy="3434159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1"/>
          </p:nvPr>
        </p:nvSpPr>
        <p:spPr>
          <a:xfrm>
            <a:off x="754588" y="1135460"/>
            <a:ext cx="3821115" cy="814512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2"/>
          </p:nvPr>
        </p:nvSpPr>
        <p:spPr>
          <a:xfrm>
            <a:off x="754588" y="2008675"/>
            <a:ext cx="3821115" cy="814512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9" name="Content Placeholder 2"/>
          <p:cNvSpPr>
            <a:spLocks noGrp="1"/>
          </p:cNvSpPr>
          <p:nvPr>
            <p:ph idx="13"/>
          </p:nvPr>
        </p:nvSpPr>
        <p:spPr>
          <a:xfrm>
            <a:off x="754588" y="2881890"/>
            <a:ext cx="3821115" cy="814512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0" name="Content Placeholder 2"/>
          <p:cNvSpPr>
            <a:spLocks noGrp="1"/>
          </p:cNvSpPr>
          <p:nvPr>
            <p:ph idx="14"/>
          </p:nvPr>
        </p:nvSpPr>
        <p:spPr>
          <a:xfrm>
            <a:off x="754588" y="3755106"/>
            <a:ext cx="3821115" cy="814512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6187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3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7" name="Rectangle 6"/>
          <p:cNvSpPr/>
          <p:nvPr userDrawn="1"/>
        </p:nvSpPr>
        <p:spPr>
          <a:xfrm>
            <a:off x="2895600" y="1135856"/>
            <a:ext cx="5492750" cy="21586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755650" y="3361135"/>
            <a:ext cx="7632700" cy="120848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755651" y="1135856"/>
            <a:ext cx="2036763" cy="215860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1"/>
          </p:nvPr>
        </p:nvSpPr>
        <p:spPr>
          <a:xfrm>
            <a:off x="750884" y="1135459"/>
            <a:ext cx="2041529" cy="2159501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2"/>
          </p:nvPr>
        </p:nvSpPr>
        <p:spPr>
          <a:xfrm>
            <a:off x="2895600" y="1135459"/>
            <a:ext cx="5492750" cy="2159501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>
            <a:off x="750884" y="3361134"/>
            <a:ext cx="7637466" cy="1208484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977212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4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755650" y="1135856"/>
            <a:ext cx="2852738" cy="343376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3" name="Rectangle 12"/>
          <p:cNvSpPr/>
          <p:nvPr userDrawn="1"/>
        </p:nvSpPr>
        <p:spPr>
          <a:xfrm>
            <a:off x="3683000" y="3461147"/>
            <a:ext cx="4705350" cy="11084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3683000" y="1139428"/>
            <a:ext cx="4705350" cy="11084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3683000" y="2300288"/>
            <a:ext cx="4705350" cy="11084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3683000" y="1135459"/>
            <a:ext cx="4705349" cy="1112849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3683000" y="2296115"/>
            <a:ext cx="4705349" cy="1112849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4"/>
          </p:nvPr>
        </p:nvSpPr>
        <p:spPr>
          <a:xfrm>
            <a:off x="3683000" y="3456770"/>
            <a:ext cx="4705349" cy="1112849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>
            <a:off x="755651" y="1135460"/>
            <a:ext cx="2852738" cy="3434159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87317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5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9" name="Rectangle 8"/>
          <p:cNvSpPr/>
          <p:nvPr userDrawn="1"/>
        </p:nvSpPr>
        <p:spPr>
          <a:xfrm>
            <a:off x="4611688" y="1135856"/>
            <a:ext cx="3776662" cy="211097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755650" y="3313510"/>
            <a:ext cx="7632700" cy="125610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755650" y="1135856"/>
            <a:ext cx="1835150" cy="21109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2684463" y="1135856"/>
            <a:ext cx="1835150" cy="211097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10" name="Content Placeholder 2"/>
          <p:cNvSpPr>
            <a:spLocks noGrp="1"/>
          </p:cNvSpPr>
          <p:nvPr>
            <p:ph idx="12"/>
          </p:nvPr>
        </p:nvSpPr>
        <p:spPr>
          <a:xfrm>
            <a:off x="4612105" y="1135459"/>
            <a:ext cx="3776245" cy="211187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 flipH="1">
            <a:off x="755652" y="1135459"/>
            <a:ext cx="1835149" cy="211187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4"/>
          </p:nvPr>
        </p:nvSpPr>
        <p:spPr>
          <a:xfrm>
            <a:off x="755651" y="3313509"/>
            <a:ext cx="7632699" cy="1256109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 flipH="1">
            <a:off x="2683878" y="1135459"/>
            <a:ext cx="1835149" cy="2111876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896041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6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9" name="Rectangle 8"/>
          <p:cNvSpPr/>
          <p:nvPr userDrawn="1"/>
        </p:nvSpPr>
        <p:spPr>
          <a:xfrm>
            <a:off x="503239" y="1876425"/>
            <a:ext cx="8137525" cy="19407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755651" y="1125008"/>
            <a:ext cx="7623167" cy="725489"/>
          </a:xfrm>
          <a:prstGeom prst="roundRect">
            <a:avLst>
              <a:gd name="adj" fmla="val 1874"/>
            </a:avLst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760417" y="3844130"/>
            <a:ext cx="7623167" cy="725489"/>
          </a:xfrm>
          <a:prstGeom prst="roundRect">
            <a:avLst>
              <a:gd name="adj" fmla="val 1874"/>
            </a:avLst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3"/>
          </p:nvPr>
        </p:nvSpPr>
        <p:spPr>
          <a:xfrm flipH="1">
            <a:off x="503236" y="1876953"/>
            <a:ext cx="8137526" cy="194072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373004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7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11" name="Rounded Rectangle 10"/>
          <p:cNvSpPr/>
          <p:nvPr userDrawn="1"/>
        </p:nvSpPr>
        <p:spPr>
          <a:xfrm>
            <a:off x="760413" y="3255169"/>
            <a:ext cx="2468562" cy="131445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8" name="Rounded Rectangle 17"/>
          <p:cNvSpPr/>
          <p:nvPr userDrawn="1"/>
        </p:nvSpPr>
        <p:spPr>
          <a:xfrm>
            <a:off x="3336925" y="3255169"/>
            <a:ext cx="2470150" cy="131445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 userDrawn="1"/>
        </p:nvSpPr>
        <p:spPr>
          <a:xfrm>
            <a:off x="5915026" y="3255169"/>
            <a:ext cx="2468563" cy="131445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20" name="Rounded Rectangle 19"/>
          <p:cNvSpPr/>
          <p:nvPr userDrawn="1"/>
        </p:nvSpPr>
        <p:spPr>
          <a:xfrm>
            <a:off x="755651" y="1870472"/>
            <a:ext cx="2468563" cy="131445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22" name="Rounded Rectangle 21"/>
          <p:cNvSpPr/>
          <p:nvPr userDrawn="1"/>
        </p:nvSpPr>
        <p:spPr>
          <a:xfrm>
            <a:off x="3332163" y="1870472"/>
            <a:ext cx="2470150" cy="131445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23" name="Rounded Rectangle 22"/>
          <p:cNvSpPr/>
          <p:nvPr userDrawn="1"/>
        </p:nvSpPr>
        <p:spPr>
          <a:xfrm>
            <a:off x="5910263" y="1870472"/>
            <a:ext cx="2468562" cy="1314450"/>
          </a:xfrm>
          <a:prstGeom prst="roundRect">
            <a:avLst>
              <a:gd name="adj" fmla="val 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chemeClr val="tx1"/>
              </a:solidFill>
            </a:endParaRP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15" name="Content Placeholder 2"/>
          <p:cNvSpPr>
            <a:spLocks noGrp="1"/>
          </p:cNvSpPr>
          <p:nvPr>
            <p:ph idx="1"/>
          </p:nvPr>
        </p:nvSpPr>
        <p:spPr>
          <a:xfrm>
            <a:off x="755651" y="1125008"/>
            <a:ext cx="7623167" cy="725489"/>
          </a:xfrm>
          <a:prstGeom prst="roundRect">
            <a:avLst>
              <a:gd name="adj" fmla="val 1874"/>
            </a:avLst>
          </a:prstGeom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Content Placeholder 2"/>
          <p:cNvSpPr>
            <a:spLocks noGrp="1"/>
          </p:cNvSpPr>
          <p:nvPr>
            <p:ph idx="13"/>
          </p:nvPr>
        </p:nvSpPr>
        <p:spPr>
          <a:xfrm flipH="1">
            <a:off x="755649" y="1870604"/>
            <a:ext cx="2468893" cy="131445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4"/>
          </p:nvPr>
        </p:nvSpPr>
        <p:spPr>
          <a:xfrm flipH="1">
            <a:off x="3337553" y="1870604"/>
            <a:ext cx="2464127" cy="131445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5"/>
          </p:nvPr>
        </p:nvSpPr>
        <p:spPr>
          <a:xfrm flipH="1">
            <a:off x="5909924" y="1861211"/>
            <a:ext cx="2468893" cy="131445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6"/>
          </p:nvPr>
        </p:nvSpPr>
        <p:spPr>
          <a:xfrm flipH="1">
            <a:off x="755647" y="3255169"/>
            <a:ext cx="2468893" cy="131445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>
          <a:xfrm flipH="1">
            <a:off x="3337554" y="3255169"/>
            <a:ext cx="2468893" cy="131445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1" name="Content Placeholder 2"/>
          <p:cNvSpPr>
            <a:spLocks noGrp="1"/>
          </p:cNvSpPr>
          <p:nvPr>
            <p:ph idx="18"/>
          </p:nvPr>
        </p:nvSpPr>
        <p:spPr>
          <a:xfrm flipH="1">
            <a:off x="5909925" y="3255169"/>
            <a:ext cx="2468893" cy="131445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3135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8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 userDrawn="1"/>
        </p:nvSpPr>
        <p:spPr bwMode="auto">
          <a:xfrm>
            <a:off x="457201" y="328613"/>
            <a:ext cx="8220075" cy="4468416"/>
          </a:xfrm>
          <a:prstGeom prst="roundRect">
            <a:avLst>
              <a:gd name="adj" fmla="val 2649"/>
            </a:avLst>
          </a:prstGeom>
          <a:solidFill>
            <a:schemeClr val="bg1">
              <a:alpha val="90000"/>
            </a:schemeClr>
          </a:solidFill>
          <a:ln w="25400" cap="rnd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3752850" y="3462337"/>
            <a:ext cx="2274888" cy="110013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3752850" y="2300288"/>
            <a:ext cx="2274888" cy="10953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rgbClr val="FFFFFF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3752850" y="1135857"/>
            <a:ext cx="2274888" cy="1097756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6119814" y="3462337"/>
            <a:ext cx="2274887" cy="11001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6119814" y="2300288"/>
            <a:ext cx="2274887" cy="1095375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 dirty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 userDrawn="1"/>
        </p:nvSpPr>
        <p:spPr>
          <a:xfrm>
            <a:off x="6119814" y="1135857"/>
            <a:ext cx="2274887" cy="109775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GB" sz="1050">
              <a:solidFill>
                <a:srgbClr val="FFFFFF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5650" y="1135459"/>
            <a:ext cx="2997201" cy="3427016"/>
          </a:xfrm>
          <a:prstGeom prst="roundRect">
            <a:avLst>
              <a:gd name="adj" fmla="val 1874"/>
            </a:avLst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8" name="Title 5"/>
          <p:cNvSpPr>
            <a:spLocks noGrp="1"/>
          </p:cNvSpPr>
          <p:nvPr>
            <p:ph type="title"/>
          </p:nvPr>
        </p:nvSpPr>
        <p:spPr>
          <a:xfrm>
            <a:off x="457199" y="359171"/>
            <a:ext cx="8220075" cy="745730"/>
          </a:xfrm>
        </p:spPr>
        <p:txBody>
          <a:bodyPr>
            <a:noAutofit/>
          </a:bodyPr>
          <a:lstStyle/>
          <a:p>
            <a:endParaRPr lang="en-GB" dirty="0"/>
          </a:p>
        </p:txBody>
      </p:sp>
      <p:sp>
        <p:nvSpPr>
          <p:cNvPr id="13" name="Content Placeholder 2"/>
          <p:cNvSpPr>
            <a:spLocks noGrp="1"/>
          </p:cNvSpPr>
          <p:nvPr>
            <p:ph idx="13"/>
          </p:nvPr>
        </p:nvSpPr>
        <p:spPr>
          <a:xfrm flipH="1">
            <a:off x="3752849" y="1135459"/>
            <a:ext cx="2275416" cy="109757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4"/>
          </p:nvPr>
        </p:nvSpPr>
        <p:spPr>
          <a:xfrm flipH="1">
            <a:off x="6117162" y="1135458"/>
            <a:ext cx="2275416" cy="109757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5"/>
          </p:nvPr>
        </p:nvSpPr>
        <p:spPr>
          <a:xfrm flipH="1">
            <a:off x="3765547" y="2294314"/>
            <a:ext cx="2275416" cy="109757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6"/>
          </p:nvPr>
        </p:nvSpPr>
        <p:spPr>
          <a:xfrm flipH="1">
            <a:off x="6117162" y="2297248"/>
            <a:ext cx="2275416" cy="109757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7" name="Content Placeholder 2"/>
          <p:cNvSpPr>
            <a:spLocks noGrp="1"/>
          </p:cNvSpPr>
          <p:nvPr>
            <p:ph idx="17"/>
          </p:nvPr>
        </p:nvSpPr>
        <p:spPr>
          <a:xfrm flipH="1">
            <a:off x="3752849" y="3459037"/>
            <a:ext cx="2275416" cy="109757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8" name="Content Placeholder 2"/>
          <p:cNvSpPr>
            <a:spLocks noGrp="1"/>
          </p:cNvSpPr>
          <p:nvPr>
            <p:ph idx="18"/>
          </p:nvPr>
        </p:nvSpPr>
        <p:spPr>
          <a:xfrm flipH="1">
            <a:off x="6117162" y="3462421"/>
            <a:ext cx="2275416" cy="1097570"/>
          </a:xfrm>
          <a:prstGeom prst="roundRect">
            <a:avLst>
              <a:gd name="adj" fmla="val 1874"/>
            </a:avLst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350">
                <a:latin typeface="Sassoon Infant Rg" panose="02000503030000020003" pitchFamily="50" charset="0"/>
                <a:ea typeface="Sassoon Infant Rg" panose="02000503030000020003" pitchFamily="50" charset="0"/>
              </a:defRPr>
            </a:lvl1pPr>
            <a:lvl2pPr>
              <a:defRPr sz="1200">
                <a:latin typeface="Sassoon Infant Rg" panose="02000503030000020003" pitchFamily="50" charset="0"/>
                <a:ea typeface="Sassoon Infant Rg" panose="02000503030000020003" pitchFamily="50" charset="0"/>
              </a:defRPr>
            </a:lvl2pPr>
            <a:lvl3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3pPr>
            <a:lvl4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4pPr>
            <a:lvl5pPr>
              <a:defRPr sz="1050">
                <a:latin typeface="Sassoon Infant Rg" panose="02000503030000020003" pitchFamily="50" charset="0"/>
                <a:ea typeface="Sassoon Infant Rg" panose="02000503030000020003" pitchFamily="50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385102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ms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 userDrawn="1"/>
        </p:nvSpPr>
        <p:spPr bwMode="auto">
          <a:xfrm>
            <a:off x="503239" y="2197894"/>
            <a:ext cx="8137525" cy="2561035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4" name="Rounded Rectangle 3"/>
          <p:cNvSpPr/>
          <p:nvPr userDrawn="1"/>
        </p:nvSpPr>
        <p:spPr bwMode="auto">
          <a:xfrm>
            <a:off x="503239" y="384573"/>
            <a:ext cx="8137525" cy="1644253"/>
          </a:xfrm>
          <a:prstGeom prst="roundRect">
            <a:avLst>
              <a:gd name="adj" fmla="val 6409"/>
            </a:avLst>
          </a:prstGeom>
          <a:solidFill>
            <a:srgbClr val="FFF9E7"/>
          </a:solidFill>
          <a:ln w="25400" cap="rnd">
            <a:solidFill>
              <a:srgbClr val="FEFB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1013" dirty="0"/>
              <a:t> </a:t>
            </a:r>
            <a:endParaRPr lang="en-GB" sz="1013" dirty="0"/>
          </a:p>
        </p:txBody>
      </p:sp>
      <p:sp>
        <p:nvSpPr>
          <p:cNvPr id="5" name="Title 1"/>
          <p:cNvSpPr txBox="1">
            <a:spLocks/>
          </p:cNvSpPr>
          <p:nvPr userDrawn="1"/>
        </p:nvSpPr>
        <p:spPr>
          <a:xfrm>
            <a:off x="628650" y="2303860"/>
            <a:ext cx="7886700" cy="404813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2700" dirty="0" smtClean="0"/>
              <a:t>Success Criteria</a:t>
            </a:r>
            <a:endParaRPr lang="en-US" sz="2700" dirty="0"/>
          </a:p>
        </p:txBody>
      </p:sp>
      <p:sp>
        <p:nvSpPr>
          <p:cNvPr id="6" name="Title 1"/>
          <p:cNvSpPr txBox="1">
            <a:spLocks/>
          </p:cNvSpPr>
          <p:nvPr userDrawn="1"/>
        </p:nvSpPr>
        <p:spPr>
          <a:xfrm>
            <a:off x="628650" y="551260"/>
            <a:ext cx="7886700" cy="404813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Sassoon Infant Md" panose="02000603050000020003" pitchFamily="50" charset="0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sz="2700" dirty="0" smtClean="0"/>
              <a:t>Aim</a:t>
            </a:r>
            <a:endParaRPr lang="en-US" sz="2700" dirty="0"/>
          </a:p>
        </p:txBody>
      </p:sp>
      <p:sp>
        <p:nvSpPr>
          <p:cNvPr id="7" name="Content Placeholder 15"/>
          <p:cNvSpPr txBox="1">
            <a:spLocks/>
          </p:cNvSpPr>
          <p:nvPr userDrawn="1"/>
        </p:nvSpPr>
        <p:spPr>
          <a:xfrm>
            <a:off x="628650" y="2600325"/>
            <a:ext cx="7886700" cy="1057275"/>
          </a:xfrm>
          <a:prstGeom prst="rect">
            <a:avLst/>
          </a:prstGeom>
          <a:noFill/>
          <a:ln w="25400">
            <a:noFill/>
          </a:ln>
        </p:spPr>
        <p:txBody>
          <a:bodyPr lIns="135000" tIns="189000" rIns="189000" bIns="13500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1C1C1C"/>
                </a:solidFill>
                <a:latin typeface="Sassoon Infant Rg" panose="02000503030000020003" pitchFamily="50" charset="0"/>
                <a:ea typeface="Sassoon Infant Rg" panose="02000503030000020003" pitchFamily="50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defRPr/>
            </a:pPr>
            <a:r>
              <a:rPr lang="en-GB" sz="1350" dirty="0"/>
              <a:t>Statement 1 Lorem ipsum </a:t>
            </a:r>
            <a:r>
              <a:rPr lang="en-GB" sz="1350" dirty="0" err="1"/>
              <a:t>dolor</a:t>
            </a:r>
            <a:r>
              <a:rPr lang="en-GB" sz="1350" dirty="0"/>
              <a:t> sit </a:t>
            </a:r>
            <a:r>
              <a:rPr lang="en-GB" sz="1350" dirty="0" err="1"/>
              <a:t>amet</a:t>
            </a:r>
            <a:r>
              <a:rPr lang="en-GB" sz="1350" dirty="0"/>
              <a:t>, </a:t>
            </a:r>
            <a:r>
              <a:rPr lang="en-GB" sz="1350" dirty="0" err="1"/>
              <a:t>consectetur</a:t>
            </a:r>
            <a:r>
              <a:rPr lang="en-GB" sz="1350" dirty="0"/>
              <a:t> </a:t>
            </a:r>
            <a:r>
              <a:rPr lang="en-GB" sz="1350" dirty="0" err="1"/>
              <a:t>adipiscing</a:t>
            </a:r>
            <a:r>
              <a:rPr lang="en-GB" sz="1350" dirty="0"/>
              <a:t> </a:t>
            </a:r>
            <a:r>
              <a:rPr lang="en-GB" sz="1350" dirty="0" err="1"/>
              <a:t>elit</a:t>
            </a:r>
            <a:r>
              <a:rPr lang="en-GB" sz="1350" dirty="0"/>
              <a:t>.</a:t>
            </a:r>
            <a:endParaRPr lang="en-GB" sz="1350" dirty="0" smtClean="0"/>
          </a:p>
          <a:p>
            <a:pPr fontAlgn="auto">
              <a:spcAft>
                <a:spcPts val="0"/>
              </a:spcAft>
              <a:defRPr/>
            </a:pPr>
            <a:r>
              <a:rPr lang="en-GB" sz="1350" dirty="0" smtClean="0"/>
              <a:t>Statement 2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GB" sz="1200" dirty="0" smtClean="0"/>
              <a:t>Sub statement</a:t>
            </a:r>
            <a:endParaRPr lang="en-GB" sz="1200" dirty="0"/>
          </a:p>
        </p:txBody>
      </p:sp>
      <p:sp>
        <p:nvSpPr>
          <p:cNvPr id="11" name="Content Placeholder 15"/>
          <p:cNvSpPr>
            <a:spLocks noGrp="1"/>
          </p:cNvSpPr>
          <p:nvPr>
            <p:ph idx="1"/>
          </p:nvPr>
        </p:nvSpPr>
        <p:spPr>
          <a:xfrm>
            <a:off x="628650" y="845820"/>
            <a:ext cx="7886700" cy="1057275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Statement 1 Lorem ipsum </a:t>
            </a:r>
            <a:r>
              <a:rPr lang="en-GB" dirty="0" err="1"/>
              <a:t>dolor</a:t>
            </a:r>
            <a:r>
              <a:rPr lang="en-GB" dirty="0"/>
              <a:t> sit </a:t>
            </a:r>
            <a:r>
              <a:rPr lang="en-GB" dirty="0" err="1"/>
              <a:t>amet</a:t>
            </a:r>
            <a:r>
              <a:rPr lang="en-GB" dirty="0"/>
              <a:t>, </a:t>
            </a:r>
            <a:r>
              <a:rPr lang="en-GB" dirty="0" err="1"/>
              <a:t>consectetur</a:t>
            </a:r>
            <a:r>
              <a:rPr lang="en-GB" dirty="0"/>
              <a:t> </a:t>
            </a:r>
            <a:r>
              <a:rPr lang="en-GB" dirty="0" err="1"/>
              <a:t>adipiscing</a:t>
            </a:r>
            <a:r>
              <a:rPr lang="en-GB" dirty="0"/>
              <a:t> </a:t>
            </a:r>
            <a:r>
              <a:rPr lang="en-GB" dirty="0" err="1"/>
              <a:t>elit</a:t>
            </a:r>
            <a:r>
              <a:rPr lang="en-GB" dirty="0"/>
              <a:t>.</a:t>
            </a:r>
            <a:endParaRPr lang="en-GB" dirty="0" smtClean="0"/>
          </a:p>
          <a:p>
            <a:r>
              <a:rPr lang="en-GB" dirty="0" smtClean="0"/>
              <a:t>Statement 2</a:t>
            </a:r>
          </a:p>
          <a:p>
            <a:pPr lvl="1"/>
            <a:r>
              <a:rPr lang="en-GB" dirty="0" smtClean="0"/>
              <a:t>Sub statement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69264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1141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9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8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redoka One"/>
              <a:buNone/>
              <a:defRPr sz="2800" b="1">
                <a:solidFill>
                  <a:schemeClr val="dk1"/>
                </a:solidFill>
                <a:latin typeface="Fredoka One"/>
                <a:ea typeface="Fredoka One"/>
                <a:cs typeface="Fredoka One"/>
                <a:sym typeface="Fredoka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5284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bel"/>
              <a:buChar char="●"/>
              <a:defRPr sz="1800">
                <a:latin typeface="Abel"/>
                <a:ea typeface="Abel"/>
                <a:cs typeface="Abel"/>
                <a:sym typeface="Abel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●"/>
              <a:defRPr>
                <a:latin typeface="Abel"/>
                <a:ea typeface="Abel"/>
                <a:cs typeface="Abel"/>
                <a:sym typeface="Abel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Abel"/>
              <a:buChar char="○"/>
              <a:defRPr>
                <a:latin typeface="Abel"/>
                <a:ea typeface="Abel"/>
                <a:cs typeface="Abel"/>
                <a:sym typeface="Abel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Abel"/>
              <a:buChar char="■"/>
              <a:defRPr>
                <a:latin typeface="Abel"/>
                <a:ea typeface="Abel"/>
                <a:cs typeface="Abel"/>
                <a:sym typeface="Abe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1pPr>
            <a:lvl2pPr lvl="1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>
              <a:buNone/>
              <a:defRPr sz="1300">
                <a:solidFill>
                  <a:schemeClr val="lt1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4" r:id="rId5"/>
    <p:sldLayoutId id="2147483683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DnDiag">
          <a:fgClr>
            <a:srgbClr val="23A7F9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90539" y="521494"/>
            <a:ext cx="8162925" cy="863204"/>
          </a:xfrm>
          <a:prstGeom prst="roundRect">
            <a:avLst>
              <a:gd name="adj" fmla="val 9639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52000" tIns="252000" rIns="252000" bIns="25200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90539" y="1468041"/>
            <a:ext cx="8162925" cy="3290888"/>
          </a:xfrm>
          <a:prstGeom prst="roundRect">
            <a:avLst>
              <a:gd name="adj" fmla="val 2583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252000" tIns="252000" rIns="252000" bIns="252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3456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</p:sldLayoutIdLst>
  <p:timing>
    <p:tnLst>
      <p:par>
        <p:cTn id="1" dur="indefinite" restart="never" nodeType="tmRoot"/>
      </p:par>
    </p:tnLst>
  </p:timing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kern="1200">
          <a:solidFill>
            <a:srgbClr val="1C1C1C"/>
          </a:solidFill>
          <a:latin typeface="Sassoon Infant Md" panose="02000603050000020003" pitchFamily="50" charset="0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1C1C1C"/>
          </a:solidFill>
          <a:latin typeface="Sassoon Infant Md" pitchFamily="50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1C1C1C"/>
          </a:solidFill>
          <a:latin typeface="Sassoon Infant Md" pitchFamily="50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1C1C1C"/>
          </a:solidFill>
          <a:latin typeface="Sassoon Infant Md" pitchFamily="50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1C1C1C"/>
          </a:solidFill>
          <a:latin typeface="Sassoon Infant Md" pitchFamily="50" charset="0"/>
        </a:defRPr>
      </a:lvl5pPr>
      <a:lvl6pPr marL="3429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1C1C1C"/>
          </a:solidFill>
          <a:latin typeface="Sassoon Infant Md" pitchFamily="50" charset="0"/>
        </a:defRPr>
      </a:lvl6pPr>
      <a:lvl7pPr marL="6858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1C1C1C"/>
          </a:solidFill>
          <a:latin typeface="Sassoon Infant Md" pitchFamily="50" charset="0"/>
        </a:defRPr>
      </a:lvl7pPr>
      <a:lvl8pPr marL="10287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1C1C1C"/>
          </a:solidFill>
          <a:latin typeface="Sassoon Infant Md" pitchFamily="50" charset="0"/>
        </a:defRPr>
      </a:lvl8pPr>
      <a:lvl9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>
          <a:solidFill>
            <a:srgbClr val="1C1C1C"/>
          </a:solidFill>
          <a:latin typeface="Sassoon Infant Md" pitchFamily="50" charset="0"/>
        </a:defRPr>
      </a:lvl9pPr>
    </p:titleStyle>
    <p:bodyStyle>
      <a:lvl1pPr marL="171450" indent="-171450" algn="l" rtl="0" fontAlgn="base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itchFamily="50" charset="0"/>
        </a:defRPr>
      </a:lvl1pPr>
      <a:lvl2pPr marL="5143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itchFamily="50" charset="0"/>
        </a:defRPr>
      </a:lvl2pPr>
      <a:lvl3pPr marL="8572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05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itchFamily="50" charset="0"/>
        </a:defRPr>
      </a:lvl3pPr>
      <a:lvl4pPr marL="12001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05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itchFamily="50" charset="0"/>
        </a:defRPr>
      </a:lvl4pPr>
      <a:lvl5pPr marL="1543050" indent="-171450" algn="l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050" kern="1200">
          <a:solidFill>
            <a:srgbClr val="1C1C1C"/>
          </a:solidFill>
          <a:latin typeface="Sassoon Infant Rg" panose="02000503030000020003" pitchFamily="50" charset="0"/>
          <a:ea typeface="Sassoon Infant Rg" panose="02000503030000020003" pitchFamily="50" charset="0"/>
          <a:cs typeface="Sassoon Infant Rg" pitchFamily="50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5.jp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7"/>
          <p:cNvSpPr txBox="1">
            <a:spLocks noGrp="1"/>
          </p:cNvSpPr>
          <p:nvPr>
            <p:ph type="ctrTitle"/>
          </p:nvPr>
        </p:nvSpPr>
        <p:spPr>
          <a:xfrm>
            <a:off x="1367560" y="1207625"/>
            <a:ext cx="6587719" cy="275798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Topic</a:t>
            </a:r>
            <a:r>
              <a:rPr lang="en" sz="32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Area of Rectangles/ Squares/Composite shapes</a:t>
            </a:r>
            <a:br>
              <a:rPr lang="en" sz="32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" sz="32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/>
            </a:r>
            <a:br>
              <a:rPr lang="en" sz="32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" sz="32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</a:t>
            </a:r>
            <a:r>
              <a:rPr lang="en" sz="32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 How can we find the area of rectangles and squares?</a:t>
            </a:r>
            <a:endParaRPr sz="32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3" name="Google Shape;353;p37"/>
          <p:cNvSpPr txBox="1">
            <a:spLocks noGrp="1"/>
          </p:cNvSpPr>
          <p:nvPr>
            <p:ph type="subTitle" idx="1"/>
          </p:nvPr>
        </p:nvSpPr>
        <p:spPr>
          <a:xfrm>
            <a:off x="-1366064" y="4751186"/>
            <a:ext cx="4311300" cy="31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AU" dirty="0" smtClean="0">
                <a:solidFill>
                  <a:srgbClr val="FFFFFF"/>
                </a:solidFill>
              </a:rPr>
              <a:t>Mrs. McLeod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8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2" name="Rounded Rectangle 1"/>
          <p:cNvSpPr/>
          <p:nvPr/>
        </p:nvSpPr>
        <p:spPr>
          <a:xfrm>
            <a:off x="152409" y="136862"/>
            <a:ext cx="8839200" cy="473363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04302" y="258308"/>
            <a:ext cx="7134418" cy="572700"/>
          </a:xfrm>
        </p:spPr>
        <p:txBody>
          <a:bodyPr/>
          <a:lstStyle/>
          <a:p>
            <a:r>
              <a:rPr lang="en-AU" dirty="0" smtClean="0"/>
              <a:t>Perimeter Warm Up Questions</a:t>
            </a:r>
            <a:br>
              <a:rPr lang="en-AU" dirty="0" smtClean="0"/>
            </a:br>
            <a:r>
              <a:rPr lang="en-AU" dirty="0" smtClean="0"/>
              <a:t>Find the perimeter of these shapes</a:t>
            </a:r>
            <a:endParaRPr lang="en-AU" dirty="0"/>
          </a:p>
        </p:txBody>
      </p:sp>
      <p:sp>
        <p:nvSpPr>
          <p:cNvPr id="6" name="Rectangle 5"/>
          <p:cNvSpPr/>
          <p:nvPr/>
        </p:nvSpPr>
        <p:spPr>
          <a:xfrm>
            <a:off x="1004125" y="1860215"/>
            <a:ext cx="1901635" cy="1993812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/>
          <p:cNvGrpSpPr/>
          <p:nvPr/>
        </p:nvGrpSpPr>
        <p:grpSpPr>
          <a:xfrm>
            <a:off x="4184205" y="2050943"/>
            <a:ext cx="4551723" cy="1506132"/>
            <a:chOff x="4170658" y="1938109"/>
            <a:chExt cx="4551723" cy="1506132"/>
          </a:xfrm>
        </p:grpSpPr>
        <p:sp>
          <p:nvSpPr>
            <p:cNvPr id="8" name="Rectangle 7"/>
            <p:cNvSpPr/>
            <p:nvPr/>
          </p:nvSpPr>
          <p:spPr>
            <a:xfrm>
              <a:off x="4170658" y="1938109"/>
              <a:ext cx="1901635" cy="1506132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072293" y="2364828"/>
              <a:ext cx="2650088" cy="107941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442720" y="1544320"/>
            <a:ext cx="59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4 cm</a:t>
            </a:r>
            <a:endParaRPr lang="en-AU" dirty="0"/>
          </a:p>
        </p:txBody>
      </p:sp>
      <p:sp>
        <p:nvSpPr>
          <p:cNvPr id="13" name="TextBox 12"/>
          <p:cNvSpPr txBox="1"/>
          <p:nvPr/>
        </p:nvSpPr>
        <p:spPr>
          <a:xfrm>
            <a:off x="408072" y="2596757"/>
            <a:ext cx="59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7 cm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704080" y="1587420"/>
            <a:ext cx="59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12 m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3501813" y="2503681"/>
            <a:ext cx="59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10 m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5940213" y="3829905"/>
            <a:ext cx="59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30 m</a:t>
            </a:r>
            <a:endParaRPr lang="en-AU" dirty="0"/>
          </a:p>
        </p:txBody>
      </p:sp>
      <p:cxnSp>
        <p:nvCxnSpPr>
          <p:cNvPr id="17" name="Straight Arrow Connector 16"/>
          <p:cNvCxnSpPr/>
          <p:nvPr/>
        </p:nvCxnSpPr>
        <p:spPr>
          <a:xfrm>
            <a:off x="4233333" y="3829905"/>
            <a:ext cx="443653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69867" y="2904534"/>
            <a:ext cx="59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8 m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1534160" y="3983793"/>
            <a:ext cx="5960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4 cm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869;p65"/>
          <p:cNvSpPr/>
          <p:nvPr/>
        </p:nvSpPr>
        <p:spPr>
          <a:xfrm>
            <a:off x="714269" y="1030460"/>
            <a:ext cx="7824486" cy="4130095"/>
          </a:xfrm>
          <a:prstGeom prst="ellipse">
            <a:avLst/>
          </a:prstGeom>
          <a:solidFill>
            <a:srgbClr val="FFFFFF">
              <a:alpha val="54902"/>
            </a:srgbClr>
          </a:solidFill>
          <a:ln>
            <a:noFill/>
          </a:ln>
          <a:effectLst>
            <a:outerShdw blurRad="57150" dist="76200" dir="792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39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1498" y="-292223"/>
            <a:ext cx="8570028" cy="1749063"/>
          </a:xfrm>
        </p:spPr>
        <p:txBody>
          <a:bodyPr/>
          <a:lstStyle/>
          <a:p>
            <a:r>
              <a:rPr lang="en-AU" sz="3600" dirty="0" smtClean="0"/>
              <a:t>Explain how each group of shapes is different and how they are alike</a:t>
            </a:r>
            <a:endParaRPr lang="en-AU" sz="3600" dirty="0"/>
          </a:p>
        </p:txBody>
      </p:sp>
      <p:sp>
        <p:nvSpPr>
          <p:cNvPr id="6" name="Google Shape;1869;p65"/>
          <p:cNvSpPr/>
          <p:nvPr/>
        </p:nvSpPr>
        <p:spPr>
          <a:xfrm>
            <a:off x="979816" y="1511147"/>
            <a:ext cx="3515046" cy="3485120"/>
          </a:xfrm>
          <a:prstGeom prst="ellipse">
            <a:avLst/>
          </a:prstGeom>
          <a:solidFill>
            <a:srgbClr val="FFFFFF">
              <a:alpha val="54902"/>
            </a:srgbClr>
          </a:solidFill>
          <a:ln>
            <a:noFill/>
          </a:ln>
          <a:effectLst>
            <a:outerShdw blurRad="57150" dist="76200" dir="792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869;p65"/>
          <p:cNvSpPr/>
          <p:nvPr/>
        </p:nvSpPr>
        <p:spPr>
          <a:xfrm>
            <a:off x="4936227" y="1511147"/>
            <a:ext cx="3382958" cy="3485120"/>
          </a:xfrm>
          <a:prstGeom prst="ellipse">
            <a:avLst/>
          </a:prstGeom>
          <a:solidFill>
            <a:srgbClr val="FFFFFF">
              <a:alpha val="54902"/>
            </a:srgbClr>
          </a:solidFill>
          <a:ln>
            <a:noFill/>
          </a:ln>
          <a:effectLst>
            <a:outerShdw blurRad="57150" dist="76200" dir="792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Rectangle 3"/>
          <p:cNvSpPr/>
          <p:nvPr/>
        </p:nvSpPr>
        <p:spPr>
          <a:xfrm rot="1517144">
            <a:off x="2110572" y="2159428"/>
            <a:ext cx="1595206" cy="4726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/>
          <p:cNvSpPr/>
          <p:nvPr/>
        </p:nvSpPr>
        <p:spPr>
          <a:xfrm>
            <a:off x="1356102" y="2758698"/>
            <a:ext cx="1015139" cy="141809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2781946" y="3071570"/>
            <a:ext cx="1053885" cy="69451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6131905" y="1734750"/>
            <a:ext cx="900000" cy="900000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5607004" y="3095508"/>
            <a:ext cx="1440000" cy="144000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7337820" y="2475943"/>
            <a:ext cx="540000" cy="54000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TextBox 9"/>
          <p:cNvSpPr txBox="1"/>
          <p:nvPr/>
        </p:nvSpPr>
        <p:spPr>
          <a:xfrm>
            <a:off x="2183425" y="4524413"/>
            <a:ext cx="57769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b="1" u="sng" dirty="0" smtClean="0"/>
              <a:t>They are all rectangles: </a:t>
            </a:r>
            <a:r>
              <a:rPr lang="en-AU" dirty="0" smtClean="0"/>
              <a:t>squares are a special type of rectangle that have one more rule that ALL sides are equal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6" grpId="0" animBg="1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07827" y="55436"/>
            <a:ext cx="8728363" cy="5025890"/>
          </a:xfrm>
          <a:prstGeom prst="rect">
            <a:avLst/>
          </a:prstGeom>
          <a:solidFill>
            <a:srgbClr val="24ADBD">
              <a:alpha val="7607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4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046" y="437890"/>
            <a:ext cx="828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 smtClean="0">
                <a:latin typeface="Chalkboard"/>
                <a:cs typeface="Chalkboard"/>
              </a:rPr>
              <a:t>: How can we find the area of rectangles/squares/composite shapes?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91" y="60284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</a:t>
            </a:r>
            <a:r>
              <a:rPr lang="en-AU" sz="1800" b="1" dirty="0" smtClean="0">
                <a:latin typeface="Chalkboard"/>
                <a:cs typeface="Chalkboard"/>
              </a:rPr>
              <a:t>: Area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713688" y="836553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300131" y="1190101"/>
            <a:ext cx="14135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area?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1870654" y="1190100"/>
            <a:ext cx="49076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amount of space inside a flat shape.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7659" t="42812" r="55770" b="27897"/>
          <a:stretch/>
        </p:blipFill>
        <p:spPr>
          <a:xfrm>
            <a:off x="5441498" y="1785584"/>
            <a:ext cx="1568902" cy="155991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86088" y="893868"/>
            <a:ext cx="2712759" cy="738664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When calculating perimeter we counted the length of the distance AROUND the shape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3143820" y="2164872"/>
            <a:ext cx="1831799" cy="52322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How many squares inside this shape?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003055" y="1717040"/>
            <a:ext cx="29725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We measure area in ‘square’ units</a:t>
            </a:r>
          </a:p>
          <a:p>
            <a:r>
              <a:rPr lang="en-AU" dirty="0" smtClean="0"/>
              <a:t>cm² , m² , km²</a:t>
            </a:r>
            <a:endParaRPr lang="en-AU" dirty="0"/>
          </a:p>
        </p:txBody>
      </p:sp>
      <p:sp>
        <p:nvSpPr>
          <p:cNvPr id="19" name="TextBox 18"/>
          <p:cNvSpPr txBox="1"/>
          <p:nvPr/>
        </p:nvSpPr>
        <p:spPr>
          <a:xfrm>
            <a:off x="308418" y="2945737"/>
            <a:ext cx="1413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we find the area of a square?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1792616" y="2822280"/>
            <a:ext cx="3610644" cy="52322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We can’t always count up the squares, and most of the time the squares are not drawn 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870654" y="3443818"/>
            <a:ext cx="54399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Consider this square. It has a length of 3 cm.</a:t>
            </a:r>
          </a:p>
          <a:p>
            <a:endParaRPr lang="en-AU" dirty="0"/>
          </a:p>
          <a:p>
            <a:r>
              <a:rPr lang="en-AU" dirty="0"/>
              <a:t>It contains 3 rows of 3 squares.</a:t>
            </a:r>
          </a:p>
          <a:p>
            <a:endParaRPr lang="en-AU" dirty="0"/>
          </a:p>
          <a:p>
            <a:r>
              <a:rPr lang="en-AU" dirty="0"/>
              <a:t>The area of the square would be 3 cm x 3 cm = </a:t>
            </a:r>
            <a:r>
              <a:rPr lang="en-AU" dirty="0" smtClean="0"/>
              <a:t>9cm²</a:t>
            </a:r>
            <a:endParaRPr lang="en-A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6" grpId="0" animBg="1"/>
      <p:bldP spid="14" grpId="0"/>
      <p:bldP spid="19" grpId="0"/>
      <p:bldP spid="20" grpId="0" animBg="1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72145" y="60284"/>
            <a:ext cx="8728363" cy="5025890"/>
          </a:xfrm>
          <a:prstGeom prst="rect">
            <a:avLst/>
          </a:prstGeom>
          <a:solidFill>
            <a:srgbClr val="24ADBD">
              <a:alpha val="7607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5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046" y="437890"/>
            <a:ext cx="828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 smtClean="0">
                <a:latin typeface="Chalkboard"/>
                <a:cs typeface="Chalkboard"/>
              </a:rPr>
              <a:t>: How can we find the area of rectangles/squares/composite shapes?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91" y="60284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</a:t>
            </a:r>
            <a:r>
              <a:rPr lang="en-AU" sz="1800" b="1" dirty="0" smtClean="0">
                <a:latin typeface="Chalkboard"/>
                <a:cs typeface="Chalkboard"/>
              </a:rPr>
              <a:t>: Area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713688" y="836553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27659" t="42812" r="55770" b="27897"/>
          <a:stretch/>
        </p:blipFill>
        <p:spPr>
          <a:xfrm>
            <a:off x="6169241" y="1100908"/>
            <a:ext cx="1568902" cy="1559916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6706" y="1551998"/>
            <a:ext cx="1413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we find the area of a square?</a:t>
            </a:r>
            <a:endParaRPr lang="en-AU" dirty="0"/>
          </a:p>
        </p:txBody>
      </p:sp>
      <p:sp>
        <p:nvSpPr>
          <p:cNvPr id="20" name="TextBox 19"/>
          <p:cNvSpPr txBox="1"/>
          <p:nvPr/>
        </p:nvSpPr>
        <p:spPr>
          <a:xfrm>
            <a:off x="1846427" y="1018987"/>
            <a:ext cx="3610644" cy="523220"/>
          </a:xfrm>
          <a:prstGeom prst="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We can’t always count up the squares, and most of the time the squares are not drawn 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87394" y="1810017"/>
            <a:ext cx="54399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Consider this square. It has a length of 3 cm.</a:t>
            </a:r>
          </a:p>
          <a:p>
            <a:endParaRPr lang="en-AU" dirty="0"/>
          </a:p>
          <a:p>
            <a:r>
              <a:rPr lang="en-AU" dirty="0"/>
              <a:t>It contains 3 rows of 3 squares.</a:t>
            </a:r>
          </a:p>
          <a:p>
            <a:endParaRPr lang="en-AU" dirty="0"/>
          </a:p>
          <a:p>
            <a:r>
              <a:rPr lang="en-AU" dirty="0"/>
              <a:t>The area of the square would be 3 cm x 3 cm = </a:t>
            </a:r>
            <a:r>
              <a:rPr lang="en-AU" dirty="0" smtClean="0"/>
              <a:t>9cm²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387928" y="3168490"/>
            <a:ext cx="1413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would a mathematician write this?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003055" y="3383933"/>
            <a:ext cx="37942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Area of a square = length × length</a:t>
            </a:r>
          </a:p>
          <a:p>
            <a:endParaRPr lang="en-AU" dirty="0"/>
          </a:p>
          <a:p>
            <a:r>
              <a:rPr lang="en-AU" dirty="0" smtClean="0"/>
              <a:t>Or       A = L × L</a:t>
            </a:r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Or       A = L²</a:t>
            </a:r>
            <a:endParaRPr lang="en-AU" dirty="0"/>
          </a:p>
        </p:txBody>
      </p:sp>
      <p:grpSp>
        <p:nvGrpSpPr>
          <p:cNvPr id="24" name="Group 23"/>
          <p:cNvGrpSpPr/>
          <p:nvPr/>
        </p:nvGrpSpPr>
        <p:grpSpPr>
          <a:xfrm>
            <a:off x="5855777" y="3247378"/>
            <a:ext cx="2956170" cy="1761773"/>
            <a:chOff x="5855777" y="3247378"/>
            <a:chExt cx="2956170" cy="1761773"/>
          </a:xfrm>
        </p:grpSpPr>
        <p:sp>
          <p:nvSpPr>
            <p:cNvPr id="13" name="Rectangle 12"/>
            <p:cNvSpPr/>
            <p:nvPr/>
          </p:nvSpPr>
          <p:spPr>
            <a:xfrm>
              <a:off x="7263300" y="3728416"/>
              <a:ext cx="972000" cy="972000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5885867" y="3247378"/>
              <a:ext cx="292608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 smtClean="0"/>
                <a:t>Find the area of a square with a side length 5cm</a:t>
              </a:r>
              <a:endParaRPr lang="en-AU" dirty="0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5855777" y="3247378"/>
              <a:ext cx="2956170" cy="1761773"/>
            </a:xfrm>
            <a:prstGeom prst="rect">
              <a:avLst/>
            </a:prstGeom>
            <a:noFill/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627777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817475" y="37345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>
                <a:solidFill>
                  <a:srgbClr val="FFFFFF"/>
                </a:solidFill>
              </a:rPr>
              <a:t>Practice</a:t>
            </a:r>
            <a:endParaRPr sz="4000" dirty="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6240" y="1127760"/>
            <a:ext cx="3667760" cy="366776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D7A0C6-D3CC-40A6-836C-0B7493D66E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1" y="1282219"/>
            <a:ext cx="2069308" cy="2090901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46359" y="1127760"/>
            <a:ext cx="3667760" cy="366776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B016790-D8B8-44E4-ADF2-786B662BA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4375" y="1282219"/>
            <a:ext cx="2140505" cy="23531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3165" y="16475"/>
            <a:ext cx="8728363" cy="5025890"/>
          </a:xfrm>
          <a:prstGeom prst="rect">
            <a:avLst/>
          </a:prstGeom>
          <a:solidFill>
            <a:srgbClr val="24ADBD">
              <a:alpha val="7607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7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046" y="437890"/>
            <a:ext cx="828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 smtClean="0">
                <a:latin typeface="Chalkboard"/>
                <a:cs typeface="Chalkboard"/>
              </a:rPr>
              <a:t>: How can we find the area of rectangles/squares/composite shapes?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91" y="60284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</a:t>
            </a:r>
            <a:r>
              <a:rPr lang="en-AU" sz="1800" b="1" dirty="0" smtClean="0">
                <a:latin typeface="Chalkboard"/>
                <a:cs typeface="Chalkboard"/>
              </a:rPr>
              <a:t>: Area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713688" y="836553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l="33025" t="43385" r="33623" b="27494"/>
          <a:stretch/>
        </p:blipFill>
        <p:spPr>
          <a:xfrm>
            <a:off x="5618020" y="2393064"/>
            <a:ext cx="3157640" cy="155085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42049" y="1003488"/>
            <a:ext cx="1413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we find the area of a rectangle?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56934" y="1179569"/>
            <a:ext cx="543990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Consider this </a:t>
            </a:r>
            <a:r>
              <a:rPr lang="en-AU" dirty="0" smtClean="0"/>
              <a:t>rectangle. </a:t>
            </a:r>
            <a:r>
              <a:rPr lang="en-AU" dirty="0"/>
              <a:t>It has a length of </a:t>
            </a:r>
            <a:r>
              <a:rPr lang="en-AU" dirty="0" smtClean="0"/>
              <a:t>6 cm and a width of 3 cm</a:t>
            </a:r>
            <a:endParaRPr lang="en-AU" dirty="0"/>
          </a:p>
          <a:p>
            <a:endParaRPr lang="en-AU" dirty="0"/>
          </a:p>
          <a:p>
            <a:r>
              <a:rPr lang="en-AU" dirty="0"/>
              <a:t>It contains </a:t>
            </a:r>
            <a:r>
              <a:rPr lang="en-AU" dirty="0" smtClean="0"/>
              <a:t>3 </a:t>
            </a:r>
            <a:r>
              <a:rPr lang="en-AU" dirty="0"/>
              <a:t>rows of </a:t>
            </a:r>
            <a:r>
              <a:rPr lang="en-AU" dirty="0" smtClean="0"/>
              <a:t>6 squares</a:t>
            </a:r>
            <a:r>
              <a:rPr lang="en-AU" dirty="0"/>
              <a:t>.</a:t>
            </a:r>
          </a:p>
          <a:p>
            <a:endParaRPr lang="en-AU" dirty="0"/>
          </a:p>
          <a:p>
            <a:r>
              <a:rPr lang="en-AU" dirty="0"/>
              <a:t>The area of the </a:t>
            </a:r>
            <a:r>
              <a:rPr lang="en-AU" dirty="0" smtClean="0"/>
              <a:t>rectangle would </a:t>
            </a:r>
            <a:r>
              <a:rPr lang="en-AU" dirty="0"/>
              <a:t>be 3 cm x </a:t>
            </a:r>
            <a:r>
              <a:rPr lang="en-AU" dirty="0" smtClean="0"/>
              <a:t>6 </a:t>
            </a:r>
            <a:r>
              <a:rPr lang="en-AU" dirty="0"/>
              <a:t>cm = </a:t>
            </a:r>
            <a:r>
              <a:rPr lang="en-AU" dirty="0" smtClean="0"/>
              <a:t>18 cm²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387928" y="3168490"/>
            <a:ext cx="1413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would a mathematician write this?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003055" y="3383933"/>
            <a:ext cx="37942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Area of a rectangle = length × width </a:t>
            </a:r>
            <a:endParaRPr lang="en-AU" dirty="0"/>
          </a:p>
          <a:p>
            <a:endParaRPr lang="en-AU" dirty="0" smtClean="0"/>
          </a:p>
          <a:p>
            <a:r>
              <a:rPr lang="en-AU" dirty="0" smtClean="0"/>
              <a:t>Or       A = L × W</a:t>
            </a:r>
          </a:p>
        </p:txBody>
      </p:sp>
    </p:spTree>
    <p:extLst>
      <p:ext uri="{BB962C8B-B14F-4D97-AF65-F5344CB8AC3E}">
        <p14:creationId xmlns:p14="http://schemas.microsoft.com/office/powerpoint/2010/main" val="345483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817475" y="37345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>
                <a:solidFill>
                  <a:srgbClr val="FFFFFF"/>
                </a:solidFill>
              </a:rPr>
              <a:t>Practice</a:t>
            </a:r>
            <a:endParaRPr sz="4000" dirty="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6240" y="1127760"/>
            <a:ext cx="3667760" cy="366776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4846359" y="1127760"/>
            <a:ext cx="3667760" cy="3667760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D51106-2AA7-43BF-997B-4BD82B53EE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770" y="1262082"/>
            <a:ext cx="3301778" cy="11051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F0EA60-3C50-4E76-A3FD-ABB41C6FC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799" y="1324916"/>
            <a:ext cx="3332879" cy="2084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323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817475" y="373455"/>
            <a:ext cx="4438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>
                <a:solidFill>
                  <a:srgbClr val="FFFFFF"/>
                </a:solidFill>
              </a:rPr>
              <a:t>Practice</a:t>
            </a:r>
            <a:endParaRPr sz="4000" dirty="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396239" y="373455"/>
            <a:ext cx="8457935" cy="4422065"/>
          </a:xfrm>
          <a:prstGeom prst="rect">
            <a:avLst/>
          </a:prstGeom>
          <a:solidFill>
            <a:srgbClr val="FFFF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E7CD7D0-4C06-4FEA-AC20-F19831882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705" y="693708"/>
            <a:ext cx="1855869" cy="15123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5FDD29F-6929-4304-A88F-570DF90D5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367" y="659804"/>
            <a:ext cx="1621585" cy="166069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7810836-FDC1-4540-B8C3-0B9DE2E1D3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7455" y="735730"/>
            <a:ext cx="1530385" cy="15611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60F4A5E-4B1D-42F2-99ED-55A4178F90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751" y="2684381"/>
            <a:ext cx="2302194" cy="102560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EB8384-F703-452D-879A-BFC0C80C82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8009" y="2518719"/>
            <a:ext cx="2254393" cy="14961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4B050E2-B7BB-4269-976A-B1FC9F3019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74155" y="2518719"/>
            <a:ext cx="2756984" cy="1734103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665751" y="735730"/>
            <a:ext cx="625464" cy="6715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7478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869;p65"/>
          <p:cNvSpPr/>
          <p:nvPr/>
        </p:nvSpPr>
        <p:spPr>
          <a:xfrm>
            <a:off x="431174" y="0"/>
            <a:ext cx="5441305" cy="4643120"/>
          </a:xfrm>
          <a:prstGeom prst="ellipse">
            <a:avLst/>
          </a:prstGeom>
          <a:solidFill>
            <a:srgbClr val="FFFFFF">
              <a:alpha val="54902"/>
            </a:srgbClr>
          </a:solidFill>
          <a:ln>
            <a:noFill/>
          </a:ln>
          <a:effectLst>
            <a:outerShdw blurRad="57150" dist="76200" dir="792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1091794" y="993214"/>
            <a:ext cx="4587645" cy="299966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</a:rPr>
              <a:t>W</a:t>
            </a:r>
            <a:r>
              <a:rPr lang="en-AU" sz="40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</a:rPr>
              <a:t>h</a:t>
            </a:r>
            <a:r>
              <a:rPr lang="en" sz="40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</a:rPr>
              <a:t>at do we do if the shape isn’t just a rectangle or a square?</a:t>
            </a:r>
            <a:br>
              <a:rPr lang="en" sz="4000" dirty="0" smtClean="0">
                <a:ln>
                  <a:solidFill>
                    <a:sysClr val="windowText" lastClr="000000"/>
                  </a:solidFill>
                </a:ln>
                <a:solidFill>
                  <a:srgbClr val="FFFFFF"/>
                </a:solidFill>
              </a:rPr>
            </a:br>
            <a:endParaRPr sz="4000" dirty="0">
              <a:ln>
                <a:solidFill>
                  <a:sysClr val="windowText" lastClr="000000"/>
                </a:solidFill>
              </a:ln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grpSp>
        <p:nvGrpSpPr>
          <p:cNvPr id="5" name="Group 4"/>
          <p:cNvGrpSpPr/>
          <p:nvPr/>
        </p:nvGrpSpPr>
        <p:grpSpPr>
          <a:xfrm>
            <a:off x="6248400" y="1310640"/>
            <a:ext cx="2743200" cy="2235200"/>
            <a:chOff x="6248400" y="1310640"/>
            <a:chExt cx="2743200" cy="2235200"/>
          </a:xfrm>
        </p:grpSpPr>
        <p:sp>
          <p:nvSpPr>
            <p:cNvPr id="4" name="Rectangle 3"/>
            <p:cNvSpPr/>
            <p:nvPr/>
          </p:nvSpPr>
          <p:spPr>
            <a:xfrm>
              <a:off x="6248400" y="1310640"/>
              <a:ext cx="1320800" cy="2235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8" name="Rectangle 17"/>
            <p:cNvSpPr/>
            <p:nvPr/>
          </p:nvSpPr>
          <p:spPr>
            <a:xfrm rot="5400000">
              <a:off x="7787640" y="2341880"/>
              <a:ext cx="985520" cy="1422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200859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3165" y="16475"/>
            <a:ext cx="8728363" cy="5025890"/>
          </a:xfrm>
          <a:prstGeom prst="rect">
            <a:avLst/>
          </a:prstGeom>
          <a:solidFill>
            <a:srgbClr val="24ADBD">
              <a:alpha val="7607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375" name="Google Shape;375;p40"/>
          <p:cNvSpPr txBox="1">
            <a:spLocks noGrp="1"/>
          </p:cNvSpPr>
          <p:nvPr>
            <p:ph type="sldNum" idx="12"/>
          </p:nvPr>
        </p:nvSpPr>
        <p:spPr>
          <a:xfrm>
            <a:off x="4297659" y="4669251"/>
            <a:ext cx="548700" cy="393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rgbClr val="FFFFFF"/>
                </a:solidFill>
              </a:rPr>
              <a:t>11</a:t>
            </a:fld>
            <a:endParaRPr>
              <a:solidFill>
                <a:srgbClr val="FFFFFF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1078347" y="45877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1105643" y="818502"/>
            <a:ext cx="6858000" cy="0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45474" y="36961"/>
            <a:ext cx="484908" cy="473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825" dirty="0">
                <a:latin typeface="Chalkboard"/>
                <a:cs typeface="Chalkboard"/>
              </a:rPr>
              <a:t>24</a:t>
            </a:r>
          </a:p>
          <a:p>
            <a:r>
              <a:rPr lang="en-AU" sz="825" dirty="0">
                <a:latin typeface="Chalkboard"/>
                <a:cs typeface="Chalkboard"/>
              </a:rPr>
              <a:t>7</a:t>
            </a:r>
          </a:p>
          <a:p>
            <a:r>
              <a:rPr lang="en-AU" sz="825" dirty="0">
                <a:latin typeface="Chalkboard"/>
                <a:cs typeface="Chalkboard"/>
              </a:rPr>
              <a:t>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0560" y="60284"/>
            <a:ext cx="62578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500" dirty="0">
                <a:latin typeface="Chalkboard"/>
                <a:cs typeface="Chalkboard"/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3046" y="437890"/>
            <a:ext cx="8289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800" b="1" dirty="0" smtClean="0">
                <a:latin typeface="Chalkboard"/>
                <a:cs typeface="Chalkboard"/>
              </a:rPr>
              <a:t>EQ</a:t>
            </a:r>
            <a:r>
              <a:rPr lang="en-AU" sz="1800" b="1" dirty="0" smtClean="0">
                <a:latin typeface="Chalkboard"/>
                <a:cs typeface="Chalkboard"/>
              </a:rPr>
              <a:t>: How can we find the area of rectangles/squares/composite shapes?</a:t>
            </a:r>
            <a:endParaRPr lang="en-AU" sz="1800" b="1" dirty="0">
              <a:latin typeface="Chalkboard"/>
              <a:cs typeface="Chalkboar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4691" y="60284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800" b="1" dirty="0">
                <a:latin typeface="Chalkboard"/>
                <a:cs typeface="Chalkboard"/>
              </a:rPr>
              <a:t>Topic</a:t>
            </a:r>
            <a:r>
              <a:rPr lang="en-AU" sz="1800" b="1" dirty="0" smtClean="0">
                <a:latin typeface="Chalkboard"/>
                <a:cs typeface="Chalkboard"/>
              </a:rPr>
              <a:t>: Area </a:t>
            </a:r>
            <a:endParaRPr lang="en-AU" sz="1800" dirty="0">
              <a:latin typeface="Chalkboard"/>
              <a:cs typeface="Chalkboard"/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713688" y="836553"/>
            <a:ext cx="16575" cy="4172598"/>
          </a:xfrm>
          <a:prstGeom prst="line">
            <a:avLst/>
          </a:prstGeom>
          <a:ln w="12700" cmpd="sng">
            <a:solidFill>
              <a:srgbClr val="63252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42049" y="1003488"/>
            <a:ext cx="14135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a compound shape?</a:t>
            </a:r>
            <a:endParaRPr lang="en-AU" dirty="0"/>
          </a:p>
        </p:txBody>
      </p:sp>
      <p:sp>
        <p:nvSpPr>
          <p:cNvPr id="15" name="TextBox 14"/>
          <p:cNvSpPr txBox="1"/>
          <p:nvPr/>
        </p:nvSpPr>
        <p:spPr>
          <a:xfrm>
            <a:off x="1756934" y="1179569"/>
            <a:ext cx="5439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A shape made up of other shapes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300131" y="1938418"/>
            <a:ext cx="14135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can we find the area?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1781914" y="1974672"/>
            <a:ext cx="37942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1. Split the shape into shapes we can easily find the area of (label these with letters)</a:t>
            </a:r>
          </a:p>
          <a:p>
            <a:endParaRPr lang="en-AU" dirty="0"/>
          </a:p>
          <a:p>
            <a:r>
              <a:rPr lang="en-AU" dirty="0" smtClean="0"/>
              <a:t>2. Find each individual area</a:t>
            </a:r>
          </a:p>
          <a:p>
            <a:endParaRPr lang="en-AU" dirty="0"/>
          </a:p>
          <a:p>
            <a:r>
              <a:rPr lang="en-AU" dirty="0" smtClean="0"/>
              <a:t>3. Add together to find the total shapes area</a:t>
            </a:r>
            <a:endParaRPr lang="en-AU" dirty="0"/>
          </a:p>
        </p:txBody>
      </p:sp>
      <p:grpSp>
        <p:nvGrpSpPr>
          <p:cNvPr id="16" name="Group 15"/>
          <p:cNvGrpSpPr/>
          <p:nvPr/>
        </p:nvGrpSpPr>
        <p:grpSpPr>
          <a:xfrm>
            <a:off x="5851911" y="1179569"/>
            <a:ext cx="2743200" cy="2235200"/>
            <a:chOff x="6248400" y="1310640"/>
            <a:chExt cx="2743200" cy="2235200"/>
          </a:xfrm>
        </p:grpSpPr>
        <p:sp>
          <p:nvSpPr>
            <p:cNvPr id="17" name="Rectangle 16"/>
            <p:cNvSpPr/>
            <p:nvPr/>
          </p:nvSpPr>
          <p:spPr>
            <a:xfrm>
              <a:off x="6248400" y="1310640"/>
              <a:ext cx="1320800" cy="22352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2000" b="1" dirty="0">
                <a:solidFill>
                  <a:srgbClr val="FF0000"/>
                </a:solidFill>
              </a:endParaRPr>
            </a:p>
          </p:txBody>
        </p:sp>
        <p:sp>
          <p:nvSpPr>
            <p:cNvPr id="20" name="Rectangle 19"/>
            <p:cNvSpPr/>
            <p:nvPr/>
          </p:nvSpPr>
          <p:spPr>
            <a:xfrm rot="5400000">
              <a:off x="7787640" y="2341880"/>
              <a:ext cx="985520" cy="14224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  <p:cxnSp>
        <p:nvCxnSpPr>
          <p:cNvPr id="3" name="Straight Connector 2"/>
          <p:cNvCxnSpPr/>
          <p:nvPr/>
        </p:nvCxnSpPr>
        <p:spPr>
          <a:xfrm>
            <a:off x="7172711" y="2429249"/>
            <a:ext cx="0" cy="1065791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550967" y="2709553"/>
            <a:ext cx="351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800" b="1" dirty="0" smtClean="0">
                <a:solidFill>
                  <a:srgbClr val="FF0000"/>
                </a:solidFill>
              </a:rPr>
              <a:t>B</a:t>
            </a:r>
            <a:endParaRPr lang="en-AU" sz="1800" b="1" dirty="0">
              <a:solidFill>
                <a:srgbClr val="FF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90878" y="2226680"/>
            <a:ext cx="3513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AU" sz="1800" b="1" dirty="0" smtClean="0">
                <a:solidFill>
                  <a:srgbClr val="FF0000"/>
                </a:solidFill>
              </a:rPr>
              <a:t>A</a:t>
            </a:r>
            <a:endParaRPr lang="en-AU" sz="1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5370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 txBox="1">
            <a:spLocks noGrp="1"/>
          </p:cNvSpPr>
          <p:nvPr>
            <p:ph type="title"/>
          </p:nvPr>
        </p:nvSpPr>
        <p:spPr>
          <a:xfrm>
            <a:off x="2047076" y="1772050"/>
            <a:ext cx="7538884" cy="23732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 smtClean="0">
                <a:solidFill>
                  <a:srgbClr val="FFFFFF"/>
                </a:solidFill>
              </a:rPr>
              <a:t>Let’s try together!</a:t>
            </a:r>
            <a:endParaRPr sz="4800" dirty="0">
              <a:solidFill>
                <a:srgbClr val="FFFFFF"/>
              </a:solidFill>
            </a:endParaRPr>
          </a:p>
        </p:txBody>
      </p:sp>
      <p:sp>
        <p:nvSpPr>
          <p:cNvPr id="412" name="Google Shape;412;p43"/>
          <p:cNvSpPr txBox="1">
            <a:spLocks noGrp="1"/>
          </p:cNvSpPr>
          <p:nvPr>
            <p:ph type="sldNum" idx="12"/>
          </p:nvPr>
        </p:nvSpPr>
        <p:spPr>
          <a:xfrm>
            <a:off x="4297659" y="467370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060192" y="2791968"/>
            <a:ext cx="3767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the activity sheet to follow along and solve as we do some together!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2579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20"/>
          <p:cNvSpPr>
            <a:spLocks noGrp="1"/>
          </p:cNvSpPr>
          <p:nvPr>
            <p:ph type="title"/>
          </p:nvPr>
        </p:nvSpPr>
        <p:spPr>
          <a:xfrm>
            <a:off x="1485901" y="359569"/>
            <a:ext cx="6165056" cy="745331"/>
          </a:xfrm>
        </p:spPr>
        <p:txBody>
          <a:bodyPr/>
          <a:lstStyle/>
          <a:p>
            <a:r>
              <a:rPr lang="en-GB" altLang="en-US" b="1" smtClean="0"/>
              <a:t>Compound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9738" y="1066800"/>
            <a:ext cx="572452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050" dirty="0">
                <a:solidFill>
                  <a:schemeClr val="tx1"/>
                </a:solidFill>
                <a:ea typeface="ＭＳ Ｐゴシック" charset="0"/>
                <a:cs typeface="Sassoon Infant Rg" charset="0"/>
              </a:rPr>
              <a:t>Calculate the area of this compound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916091" y="1921669"/>
            <a:ext cx="923925" cy="2390775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8" name="Rectangle 7"/>
          <p:cNvSpPr/>
          <p:nvPr/>
        </p:nvSpPr>
        <p:spPr>
          <a:xfrm rot="5400000">
            <a:off x="3331965" y="2728318"/>
            <a:ext cx="1098947" cy="2069306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576638" y="2913460"/>
            <a:ext cx="6084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6cm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2238375" y="3612357"/>
            <a:ext cx="6084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4cm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073254" y="1619250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3cm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840016" y="2967038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7cm</a:t>
            </a:r>
          </a:p>
        </p:txBody>
      </p:sp>
    </p:spTree>
    <p:extLst>
      <p:ext uri="{BB962C8B-B14F-4D97-AF65-F5344CB8AC3E}">
        <p14:creationId xmlns:p14="http://schemas.microsoft.com/office/powerpoint/2010/main" val="3981215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1.48148E-6 L 0.04428 1.48148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05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1.48148E-6 L 0.04445 -1.48148E-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0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1.48148E-6 L 0.04444 1.48148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22" y="0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85185E-6 L -0.04427 0.00023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2" y="0"/>
                                    </p:animMotion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-1.48148E-6 L -0.04427 0.0004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2" y="23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-1.48148E-6 L -0.04427 -0.00092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2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20"/>
          <p:cNvSpPr>
            <a:spLocks noGrp="1"/>
          </p:cNvSpPr>
          <p:nvPr>
            <p:ph type="title"/>
          </p:nvPr>
        </p:nvSpPr>
        <p:spPr>
          <a:xfrm>
            <a:off x="1485901" y="359569"/>
            <a:ext cx="6165056" cy="745331"/>
          </a:xfrm>
        </p:spPr>
        <p:txBody>
          <a:bodyPr/>
          <a:lstStyle/>
          <a:p>
            <a:r>
              <a:rPr lang="en-GB" altLang="en-US" b="1" smtClean="0"/>
              <a:t>Compound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9738" y="1066800"/>
            <a:ext cx="572452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ClrTx/>
              <a:defRPr/>
            </a:pPr>
            <a:r>
              <a:rPr lang="en-GB" sz="1350" kern="1200" dirty="0">
                <a:solidFill>
                  <a:srgbClr val="1C1C1C"/>
                </a:solidFill>
                <a:latin typeface="Sassoon Infant Rg"/>
                <a:ea typeface="ＭＳ Ｐゴシック" charset="0"/>
                <a:cs typeface="Sassoon Infant Rg" charset="0"/>
              </a:rPr>
              <a:t>Calculate the area of this compound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822031" y="1946673"/>
            <a:ext cx="706041" cy="1826419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Sassoon Infant Rg"/>
            </a:endParaRPr>
          </a:p>
        </p:txBody>
      </p:sp>
      <p:sp>
        <p:nvSpPr>
          <p:cNvPr id="8" name="Rectangle 7"/>
          <p:cNvSpPr/>
          <p:nvPr/>
        </p:nvSpPr>
        <p:spPr>
          <a:xfrm rot="5400000">
            <a:off x="3581995" y="2654499"/>
            <a:ext cx="776288" cy="1460897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85800">
              <a:buClrTx/>
              <a:defRPr/>
            </a:pPr>
            <a:endParaRPr lang="en-GB" sz="1350" kern="1200">
              <a:solidFill>
                <a:prstClr val="white"/>
              </a:solidFill>
              <a:latin typeface="Sassoon Infant Rg"/>
            </a:endParaRPr>
          </a:p>
        </p:txBody>
      </p:sp>
      <p:sp>
        <p:nvSpPr>
          <p:cNvPr id="19462" name="TextBox 9"/>
          <p:cNvSpPr txBox="1">
            <a:spLocks noChangeArrowheads="1"/>
          </p:cNvSpPr>
          <p:nvPr/>
        </p:nvSpPr>
        <p:spPr bwMode="auto">
          <a:xfrm>
            <a:off x="3665935" y="2696766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1500" kern="1200">
                <a:solidFill>
                  <a:srgbClr val="1C1C1C"/>
                </a:solidFill>
                <a:ea typeface="+mn-ea"/>
                <a:cs typeface="+mn-cs"/>
              </a:rPr>
              <a:t>6cm</a:t>
            </a:r>
          </a:p>
        </p:txBody>
      </p:sp>
      <p:sp>
        <p:nvSpPr>
          <p:cNvPr id="19463" name="TextBox 10"/>
          <p:cNvSpPr txBox="1">
            <a:spLocks noChangeArrowheads="1"/>
          </p:cNvSpPr>
          <p:nvPr/>
        </p:nvSpPr>
        <p:spPr bwMode="auto">
          <a:xfrm>
            <a:off x="2631282" y="3234929"/>
            <a:ext cx="6084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1500" kern="1200">
                <a:solidFill>
                  <a:srgbClr val="1C1C1C"/>
                </a:solidFill>
                <a:ea typeface="+mn-ea"/>
                <a:cs typeface="+mn-cs"/>
              </a:rPr>
              <a:t>4cm</a:t>
            </a:r>
          </a:p>
        </p:txBody>
      </p:sp>
      <p:sp>
        <p:nvSpPr>
          <p:cNvPr id="19464" name="TextBox 11"/>
          <p:cNvSpPr txBox="1">
            <a:spLocks noChangeArrowheads="1"/>
          </p:cNvSpPr>
          <p:nvPr/>
        </p:nvSpPr>
        <p:spPr bwMode="auto">
          <a:xfrm>
            <a:off x="4870847" y="1619250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1500" kern="1200">
                <a:solidFill>
                  <a:srgbClr val="1C1C1C"/>
                </a:solidFill>
                <a:ea typeface="+mn-ea"/>
                <a:cs typeface="+mn-cs"/>
              </a:rPr>
              <a:t>3cm</a:t>
            </a:r>
          </a:p>
        </p:txBody>
      </p:sp>
      <p:sp>
        <p:nvSpPr>
          <p:cNvPr id="19465" name="TextBox 12"/>
          <p:cNvSpPr txBox="1">
            <a:spLocks noChangeArrowheads="1"/>
          </p:cNvSpPr>
          <p:nvPr/>
        </p:nvSpPr>
        <p:spPr bwMode="auto">
          <a:xfrm>
            <a:off x="5528072" y="2696766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defTabSz="685800" fontAlgn="base">
              <a:spcBef>
                <a:spcPct val="0"/>
              </a:spcBef>
              <a:spcAft>
                <a:spcPct val="0"/>
              </a:spcAft>
              <a:buClrTx/>
            </a:pPr>
            <a:r>
              <a:rPr lang="en-GB" altLang="en-US" sz="1500" kern="1200">
                <a:solidFill>
                  <a:srgbClr val="1C1C1C"/>
                </a:solidFill>
                <a:ea typeface="+mn-ea"/>
                <a:cs typeface="+mn-cs"/>
              </a:rPr>
              <a:t>7cm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06191" y="4017169"/>
            <a:ext cx="3223022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85800">
              <a:buClrTx/>
              <a:defRPr/>
            </a:pPr>
            <a:r>
              <a:rPr lang="en-GB" sz="1500" kern="1200" dirty="0">
                <a:solidFill>
                  <a:srgbClr val="1C1C1C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Area = (4cm x 6cm) + (3cm x 7cm) =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95863" y="4013598"/>
            <a:ext cx="169754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85800">
              <a:buClrTx/>
              <a:defRPr/>
            </a:pPr>
            <a:r>
              <a:rPr lang="en-GB" sz="1500" kern="1200" dirty="0">
                <a:solidFill>
                  <a:srgbClr val="1C1C1C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24cm² + 21cm² =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13910" y="4017169"/>
            <a:ext cx="831770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defTabSz="685800">
              <a:buClrTx/>
              <a:defRPr/>
            </a:pPr>
            <a:r>
              <a:rPr lang="en-GB" sz="1500" kern="1200" dirty="0">
                <a:solidFill>
                  <a:srgbClr val="1C1C1C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45cm²</a:t>
            </a:r>
          </a:p>
        </p:txBody>
      </p:sp>
    </p:spTree>
    <p:extLst>
      <p:ext uri="{BB962C8B-B14F-4D97-AF65-F5344CB8AC3E}">
        <p14:creationId xmlns:p14="http://schemas.microsoft.com/office/powerpoint/2010/main" val="2405543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20"/>
          <p:cNvSpPr>
            <a:spLocks noGrp="1"/>
          </p:cNvSpPr>
          <p:nvPr>
            <p:ph type="title"/>
          </p:nvPr>
        </p:nvSpPr>
        <p:spPr>
          <a:xfrm>
            <a:off x="1485901" y="359569"/>
            <a:ext cx="6165056" cy="745331"/>
          </a:xfrm>
        </p:spPr>
        <p:txBody>
          <a:bodyPr/>
          <a:lstStyle/>
          <a:p>
            <a:r>
              <a:rPr lang="en-GB" altLang="en-US" b="1" smtClean="0"/>
              <a:t>Compound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9738" y="1066800"/>
            <a:ext cx="572452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050" dirty="0">
                <a:solidFill>
                  <a:schemeClr val="tx1"/>
                </a:solidFill>
                <a:ea typeface="ＭＳ Ｐゴシック" charset="0"/>
                <a:cs typeface="Sassoon Infant Rg" charset="0"/>
              </a:rPr>
              <a:t>Calculate the area of this compound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5863" y="1894285"/>
            <a:ext cx="812006" cy="1622822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8" name="Rectangle 7"/>
          <p:cNvSpPr/>
          <p:nvPr/>
        </p:nvSpPr>
        <p:spPr>
          <a:xfrm rot="5400000">
            <a:off x="3714155" y="2235399"/>
            <a:ext cx="548878" cy="2014538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21510" name="TextBox 9"/>
          <p:cNvSpPr txBox="1">
            <a:spLocks noChangeArrowheads="1"/>
          </p:cNvSpPr>
          <p:nvPr/>
        </p:nvSpPr>
        <p:spPr bwMode="auto">
          <a:xfrm>
            <a:off x="3684985" y="2663429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8cm</a:t>
            </a:r>
          </a:p>
        </p:txBody>
      </p:sp>
      <p:sp>
        <p:nvSpPr>
          <p:cNvPr id="21511" name="TextBox 10"/>
          <p:cNvSpPr txBox="1">
            <a:spLocks noChangeArrowheads="1"/>
          </p:cNvSpPr>
          <p:nvPr/>
        </p:nvSpPr>
        <p:spPr bwMode="auto">
          <a:xfrm>
            <a:off x="2372916" y="3092054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2cm</a:t>
            </a:r>
          </a:p>
        </p:txBody>
      </p:sp>
      <p:sp>
        <p:nvSpPr>
          <p:cNvPr id="21512" name="TextBox 11"/>
          <p:cNvSpPr txBox="1">
            <a:spLocks noChangeArrowheads="1"/>
          </p:cNvSpPr>
          <p:nvPr/>
        </p:nvSpPr>
        <p:spPr bwMode="auto">
          <a:xfrm>
            <a:off x="5097066" y="1585913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3cm</a:t>
            </a:r>
          </a:p>
        </p:txBody>
      </p:sp>
      <p:sp>
        <p:nvSpPr>
          <p:cNvPr id="21513" name="TextBox 12"/>
          <p:cNvSpPr txBox="1">
            <a:spLocks noChangeArrowheads="1"/>
          </p:cNvSpPr>
          <p:nvPr/>
        </p:nvSpPr>
        <p:spPr bwMode="auto">
          <a:xfrm>
            <a:off x="5807869" y="2522935"/>
            <a:ext cx="60721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6cm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06191" y="4017169"/>
            <a:ext cx="3223022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Area =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(2cm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8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(3cm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6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95863" y="4013598"/>
            <a:ext cx="175850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16cm²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18cm² 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13910" y="4017169"/>
            <a:ext cx="920353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 smtClean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34 cm²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0133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20"/>
          <p:cNvSpPr>
            <a:spLocks noGrp="1"/>
          </p:cNvSpPr>
          <p:nvPr>
            <p:ph type="title"/>
          </p:nvPr>
        </p:nvSpPr>
        <p:spPr>
          <a:xfrm>
            <a:off x="1485901" y="359569"/>
            <a:ext cx="6165056" cy="745331"/>
          </a:xfrm>
        </p:spPr>
        <p:txBody>
          <a:bodyPr/>
          <a:lstStyle/>
          <a:p>
            <a:r>
              <a:rPr lang="en-GB" altLang="en-US" b="1" smtClean="0"/>
              <a:t>Compound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9738" y="1066800"/>
            <a:ext cx="572452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050" dirty="0">
                <a:solidFill>
                  <a:schemeClr val="tx1"/>
                </a:solidFill>
                <a:ea typeface="ＭＳ Ｐゴシック" charset="0"/>
                <a:cs typeface="Sassoon Infant Rg" charset="0"/>
              </a:rPr>
              <a:t>Calculate the area of this compound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995863" y="2018110"/>
            <a:ext cx="1518047" cy="1498997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8" name="Rectangle 7"/>
          <p:cNvSpPr/>
          <p:nvPr/>
        </p:nvSpPr>
        <p:spPr>
          <a:xfrm rot="5400000">
            <a:off x="3386138" y="1907381"/>
            <a:ext cx="838200" cy="2381250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22534" name="TextBox 9"/>
          <p:cNvSpPr txBox="1">
            <a:spLocks noChangeArrowheads="1"/>
          </p:cNvSpPr>
          <p:nvPr/>
        </p:nvSpPr>
        <p:spPr bwMode="auto">
          <a:xfrm>
            <a:off x="3501629" y="2372916"/>
            <a:ext cx="885825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 dirty="0"/>
              <a:t>10cm</a:t>
            </a:r>
          </a:p>
        </p:txBody>
      </p:sp>
      <p:sp>
        <p:nvSpPr>
          <p:cNvPr id="22535" name="TextBox 10"/>
          <p:cNvSpPr txBox="1">
            <a:spLocks noChangeArrowheads="1"/>
          </p:cNvSpPr>
          <p:nvPr/>
        </p:nvSpPr>
        <p:spPr bwMode="auto">
          <a:xfrm>
            <a:off x="2006204" y="2947988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4cm</a:t>
            </a:r>
          </a:p>
        </p:txBody>
      </p:sp>
      <p:sp>
        <p:nvSpPr>
          <p:cNvPr id="22536" name="TextBox 11"/>
          <p:cNvSpPr txBox="1">
            <a:spLocks noChangeArrowheads="1"/>
          </p:cNvSpPr>
          <p:nvPr/>
        </p:nvSpPr>
        <p:spPr bwMode="auto">
          <a:xfrm>
            <a:off x="5450682" y="1718073"/>
            <a:ext cx="6084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5cm</a:t>
            </a:r>
          </a:p>
        </p:txBody>
      </p:sp>
      <p:sp>
        <p:nvSpPr>
          <p:cNvPr id="22537" name="TextBox 12"/>
          <p:cNvSpPr txBox="1">
            <a:spLocks noChangeArrowheads="1"/>
          </p:cNvSpPr>
          <p:nvPr/>
        </p:nvSpPr>
        <p:spPr bwMode="auto">
          <a:xfrm>
            <a:off x="6513910" y="2615804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5cm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50232" y="4017169"/>
            <a:ext cx="3361848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Area =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(4cm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10cm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(5cm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5cm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10151" y="4013598"/>
            <a:ext cx="1744217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40cm²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25cm² 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28198" y="4017169"/>
            <a:ext cx="835770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65cm²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50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20"/>
          <p:cNvSpPr>
            <a:spLocks noGrp="1"/>
          </p:cNvSpPr>
          <p:nvPr>
            <p:ph type="title"/>
          </p:nvPr>
        </p:nvSpPr>
        <p:spPr>
          <a:xfrm>
            <a:off x="1485901" y="359569"/>
            <a:ext cx="6165056" cy="745331"/>
          </a:xfrm>
        </p:spPr>
        <p:txBody>
          <a:bodyPr/>
          <a:lstStyle/>
          <a:p>
            <a:r>
              <a:rPr lang="en-GB" altLang="en-US" b="1" smtClean="0"/>
              <a:t>Compound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9738" y="1066800"/>
            <a:ext cx="572452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050" dirty="0">
                <a:solidFill>
                  <a:schemeClr val="tx1"/>
                </a:solidFill>
                <a:ea typeface="ＭＳ Ｐゴシック" charset="0"/>
                <a:cs typeface="Sassoon Infant Rg" charset="0"/>
              </a:rPr>
              <a:t>Calculate the area of this compound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9216" y="2380060"/>
            <a:ext cx="1760934" cy="1498997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8" name="Rectangle 7"/>
          <p:cNvSpPr/>
          <p:nvPr/>
        </p:nvSpPr>
        <p:spPr>
          <a:xfrm rot="5400000">
            <a:off x="4420196" y="2402086"/>
            <a:ext cx="2066925" cy="887016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23558" name="TextBox 9"/>
          <p:cNvSpPr txBox="1">
            <a:spLocks noChangeArrowheads="1"/>
          </p:cNvSpPr>
          <p:nvPr/>
        </p:nvSpPr>
        <p:spPr bwMode="auto">
          <a:xfrm>
            <a:off x="5149454" y="1512094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3cm</a:t>
            </a:r>
          </a:p>
        </p:txBody>
      </p:sp>
      <p:sp>
        <p:nvSpPr>
          <p:cNvPr id="23559" name="TextBox 10"/>
          <p:cNvSpPr txBox="1">
            <a:spLocks noChangeArrowheads="1"/>
          </p:cNvSpPr>
          <p:nvPr/>
        </p:nvSpPr>
        <p:spPr bwMode="auto">
          <a:xfrm>
            <a:off x="5897166" y="2695575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8cm</a:t>
            </a:r>
          </a:p>
        </p:txBody>
      </p:sp>
      <p:sp>
        <p:nvSpPr>
          <p:cNvPr id="23560" name="TextBox 11"/>
          <p:cNvSpPr txBox="1">
            <a:spLocks noChangeArrowheads="1"/>
          </p:cNvSpPr>
          <p:nvPr/>
        </p:nvSpPr>
        <p:spPr bwMode="auto">
          <a:xfrm>
            <a:off x="3825479" y="2080023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7cm</a:t>
            </a:r>
          </a:p>
        </p:txBody>
      </p:sp>
      <p:sp>
        <p:nvSpPr>
          <p:cNvPr id="23561" name="TextBox 12"/>
          <p:cNvSpPr txBox="1">
            <a:spLocks noChangeArrowheads="1"/>
          </p:cNvSpPr>
          <p:nvPr/>
        </p:nvSpPr>
        <p:spPr bwMode="auto">
          <a:xfrm>
            <a:off x="2645569" y="2980135"/>
            <a:ext cx="6084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6cm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21668" y="4017169"/>
            <a:ext cx="3503771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Area =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(8cm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3cm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(7cm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6cm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10151" y="4013598"/>
            <a:ext cx="1878329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24cm²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42cm² 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28198" y="4017169"/>
            <a:ext cx="90606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66cm²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8713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20"/>
          <p:cNvSpPr>
            <a:spLocks noGrp="1"/>
          </p:cNvSpPr>
          <p:nvPr>
            <p:ph type="title"/>
          </p:nvPr>
        </p:nvSpPr>
        <p:spPr>
          <a:xfrm>
            <a:off x="1485901" y="359569"/>
            <a:ext cx="6165056" cy="745331"/>
          </a:xfrm>
        </p:spPr>
        <p:txBody>
          <a:bodyPr/>
          <a:lstStyle/>
          <a:p>
            <a:r>
              <a:rPr lang="en-GB" altLang="en-US" b="1" smtClean="0"/>
              <a:t>Compound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9738" y="1066800"/>
            <a:ext cx="572452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050" dirty="0">
                <a:solidFill>
                  <a:schemeClr val="tx1"/>
                </a:solidFill>
                <a:ea typeface="ＭＳ Ｐゴシック" charset="0"/>
                <a:cs typeface="Sassoon Infant Rg" charset="0"/>
              </a:rPr>
              <a:t>Calculate the area of this compound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3904060" y="2315766"/>
            <a:ext cx="3225403" cy="959644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8" name="Rectangle 7"/>
          <p:cNvSpPr/>
          <p:nvPr/>
        </p:nvSpPr>
        <p:spPr>
          <a:xfrm rot="5400000">
            <a:off x="2387204" y="1758554"/>
            <a:ext cx="1197769" cy="1835944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25606" name="TextBox 9"/>
          <p:cNvSpPr txBox="1">
            <a:spLocks noChangeArrowheads="1"/>
          </p:cNvSpPr>
          <p:nvPr/>
        </p:nvSpPr>
        <p:spPr bwMode="auto">
          <a:xfrm>
            <a:off x="2763441" y="1764507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9cm</a:t>
            </a:r>
          </a:p>
        </p:txBody>
      </p:sp>
      <p:sp>
        <p:nvSpPr>
          <p:cNvPr id="25607" name="TextBox 10"/>
          <p:cNvSpPr txBox="1">
            <a:spLocks noChangeArrowheads="1"/>
          </p:cNvSpPr>
          <p:nvPr/>
        </p:nvSpPr>
        <p:spPr bwMode="auto">
          <a:xfrm>
            <a:off x="1485900" y="2586038"/>
            <a:ext cx="6084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7cm</a:t>
            </a:r>
          </a:p>
        </p:txBody>
      </p:sp>
      <p:sp>
        <p:nvSpPr>
          <p:cNvPr id="25608" name="TextBox 11"/>
          <p:cNvSpPr txBox="1">
            <a:spLocks noChangeArrowheads="1"/>
          </p:cNvSpPr>
          <p:nvPr/>
        </p:nvSpPr>
        <p:spPr bwMode="auto">
          <a:xfrm>
            <a:off x="7066360" y="2658666"/>
            <a:ext cx="60721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6cm</a:t>
            </a:r>
          </a:p>
        </p:txBody>
      </p:sp>
      <p:sp>
        <p:nvSpPr>
          <p:cNvPr id="25609" name="TextBox 12"/>
          <p:cNvSpPr txBox="1">
            <a:spLocks noChangeArrowheads="1"/>
          </p:cNvSpPr>
          <p:nvPr/>
        </p:nvSpPr>
        <p:spPr bwMode="auto">
          <a:xfrm>
            <a:off x="5212556" y="2008585"/>
            <a:ext cx="67008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 dirty="0"/>
              <a:t>15cm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43088" y="3731419"/>
            <a:ext cx="3369469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Area =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(7cm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9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(15cm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6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10151" y="3727848"/>
            <a:ext cx="1756409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63cm²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90cm² 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28198" y="3731419"/>
            <a:ext cx="1024746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153cm²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4535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20"/>
          <p:cNvSpPr>
            <a:spLocks noGrp="1"/>
          </p:cNvSpPr>
          <p:nvPr>
            <p:ph type="title"/>
          </p:nvPr>
        </p:nvSpPr>
        <p:spPr>
          <a:xfrm>
            <a:off x="1485901" y="359569"/>
            <a:ext cx="6165056" cy="745331"/>
          </a:xfrm>
        </p:spPr>
        <p:txBody>
          <a:bodyPr/>
          <a:lstStyle/>
          <a:p>
            <a:r>
              <a:rPr lang="en-GB" altLang="en-US" b="1" smtClean="0"/>
              <a:t>Compound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9738" y="1066800"/>
            <a:ext cx="572452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050" dirty="0">
                <a:solidFill>
                  <a:schemeClr val="tx1"/>
                </a:solidFill>
                <a:ea typeface="ＭＳ Ｐゴシック" charset="0"/>
                <a:cs typeface="Sassoon Infant Rg" charset="0"/>
              </a:rPr>
              <a:t>Calculate the area of this compound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2765822" y="2755107"/>
            <a:ext cx="3075384" cy="959644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8" name="Rectangle 7"/>
          <p:cNvSpPr/>
          <p:nvPr/>
        </p:nvSpPr>
        <p:spPr>
          <a:xfrm rot="5400000">
            <a:off x="4177904" y="559594"/>
            <a:ext cx="788194" cy="3612356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26630" name="TextBox 9"/>
          <p:cNvSpPr txBox="1">
            <a:spLocks noChangeArrowheads="1"/>
          </p:cNvSpPr>
          <p:nvPr/>
        </p:nvSpPr>
        <p:spPr bwMode="auto">
          <a:xfrm>
            <a:off x="4185047" y="1658541"/>
            <a:ext cx="73747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 dirty="0"/>
              <a:t>16cm</a:t>
            </a:r>
          </a:p>
        </p:txBody>
      </p:sp>
      <p:sp>
        <p:nvSpPr>
          <p:cNvPr id="26631" name="TextBox 10"/>
          <p:cNvSpPr txBox="1">
            <a:spLocks noChangeArrowheads="1"/>
          </p:cNvSpPr>
          <p:nvPr/>
        </p:nvSpPr>
        <p:spPr bwMode="auto">
          <a:xfrm>
            <a:off x="6378179" y="2301479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4cm</a:t>
            </a:r>
          </a:p>
        </p:txBody>
      </p:sp>
      <p:sp>
        <p:nvSpPr>
          <p:cNvPr id="26632" name="TextBox 11"/>
          <p:cNvSpPr txBox="1">
            <a:spLocks noChangeArrowheads="1"/>
          </p:cNvSpPr>
          <p:nvPr/>
        </p:nvSpPr>
        <p:spPr bwMode="auto">
          <a:xfrm>
            <a:off x="3880247" y="3721894"/>
            <a:ext cx="691753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 dirty="0"/>
              <a:t>13cm</a:t>
            </a:r>
          </a:p>
        </p:txBody>
      </p:sp>
      <p:sp>
        <p:nvSpPr>
          <p:cNvPr id="26633" name="TextBox 12"/>
          <p:cNvSpPr txBox="1">
            <a:spLocks noChangeArrowheads="1"/>
          </p:cNvSpPr>
          <p:nvPr/>
        </p:nvSpPr>
        <p:spPr bwMode="auto">
          <a:xfrm>
            <a:off x="5828110" y="3084910"/>
            <a:ext cx="608409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5cm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66888" y="4175017"/>
            <a:ext cx="3643312" cy="394602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Area =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(16cm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4cm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(13cm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5cm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67301" y="4175017"/>
            <a:ext cx="1775459" cy="39103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64cm²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65cm² 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5348" y="4181475"/>
            <a:ext cx="1324212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129cm²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316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20"/>
          <p:cNvSpPr>
            <a:spLocks noGrp="1"/>
          </p:cNvSpPr>
          <p:nvPr>
            <p:ph type="title"/>
          </p:nvPr>
        </p:nvSpPr>
        <p:spPr>
          <a:xfrm>
            <a:off x="1485901" y="359569"/>
            <a:ext cx="6165056" cy="745331"/>
          </a:xfrm>
        </p:spPr>
        <p:txBody>
          <a:bodyPr/>
          <a:lstStyle/>
          <a:p>
            <a:r>
              <a:rPr lang="en-GB" altLang="en-US" b="1" smtClean="0"/>
              <a:t>Compound 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09738" y="995363"/>
            <a:ext cx="572452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GB" sz="1050" dirty="0">
                <a:solidFill>
                  <a:schemeClr val="tx1"/>
                </a:solidFill>
                <a:ea typeface="ＭＳ Ｐゴシック" charset="0"/>
                <a:cs typeface="Sassoon Infant Rg" charset="0"/>
              </a:rPr>
              <a:t>Calculate the area of this compound shape: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6256" y="2119313"/>
            <a:ext cx="2657475" cy="1801416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8" name="Rectangle 7"/>
          <p:cNvSpPr/>
          <p:nvPr/>
        </p:nvSpPr>
        <p:spPr>
          <a:xfrm rot="5400000">
            <a:off x="4554141" y="-291703"/>
            <a:ext cx="485775" cy="4393406"/>
          </a:xfrm>
          <a:prstGeom prst="rect">
            <a:avLst/>
          </a:prstGeom>
          <a:solidFill>
            <a:srgbClr val="FED0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 sz="1050"/>
          </a:p>
        </p:txBody>
      </p:sp>
      <p:sp>
        <p:nvSpPr>
          <p:cNvPr id="27654" name="TextBox 9"/>
          <p:cNvSpPr txBox="1">
            <a:spLocks noChangeArrowheads="1"/>
          </p:cNvSpPr>
          <p:nvPr/>
        </p:nvSpPr>
        <p:spPr bwMode="auto">
          <a:xfrm>
            <a:off x="4493418" y="1357313"/>
            <a:ext cx="755237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 dirty="0"/>
              <a:t>32cm</a:t>
            </a:r>
          </a:p>
        </p:txBody>
      </p:sp>
      <p:sp>
        <p:nvSpPr>
          <p:cNvPr id="27655" name="TextBox 10"/>
          <p:cNvSpPr txBox="1">
            <a:spLocks noChangeArrowheads="1"/>
          </p:cNvSpPr>
          <p:nvPr/>
        </p:nvSpPr>
        <p:spPr bwMode="auto">
          <a:xfrm>
            <a:off x="1995488" y="1754982"/>
            <a:ext cx="60841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/>
              <a:t>6cm</a:t>
            </a:r>
          </a:p>
        </p:txBody>
      </p:sp>
      <p:sp>
        <p:nvSpPr>
          <p:cNvPr id="27656" name="TextBox 11"/>
          <p:cNvSpPr txBox="1">
            <a:spLocks noChangeArrowheads="1"/>
          </p:cNvSpPr>
          <p:nvPr/>
        </p:nvSpPr>
        <p:spPr bwMode="auto">
          <a:xfrm>
            <a:off x="3727847" y="2884885"/>
            <a:ext cx="765572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 dirty="0"/>
              <a:t>20cm</a:t>
            </a:r>
          </a:p>
        </p:txBody>
      </p:sp>
      <p:sp>
        <p:nvSpPr>
          <p:cNvPr id="27657" name="TextBox 12"/>
          <p:cNvSpPr txBox="1">
            <a:spLocks noChangeArrowheads="1"/>
          </p:cNvSpPr>
          <p:nvPr/>
        </p:nvSpPr>
        <p:spPr bwMode="auto">
          <a:xfrm>
            <a:off x="5420916" y="3921919"/>
            <a:ext cx="772620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Sassoon Infant Rg" pitchFamily="50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Sassoon Infant Rg" pitchFamily="50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Sassoon Infant Rg" pitchFamily="50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Sassoon Infant Rg" pitchFamily="50" charset="0"/>
              </a:defRPr>
            </a:lvl9pPr>
          </a:lstStyle>
          <a:p>
            <a:pPr algn="ctr" eaLnBrk="1" hangingPunct="1"/>
            <a:r>
              <a:rPr lang="en-GB" altLang="en-US" sz="1500" dirty="0"/>
              <a:t>24cm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09725" y="4181475"/>
            <a:ext cx="3569494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Area =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(6cm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32cm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(20cm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x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24cm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)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974432" y="4177904"/>
            <a:ext cx="1975008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192cm²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+ </a:t>
            </a: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480cm² =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06792" y="4181475"/>
            <a:ext cx="848915" cy="388144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GB" sz="1500" dirty="0">
                <a:solidFill>
                  <a:schemeClr val="tx1"/>
                </a:solidFill>
                <a:latin typeface="Sassoon Infant Md" panose="02000603050000020003" pitchFamily="50" charset="0"/>
                <a:ea typeface="ＭＳ Ｐゴシック" charset="0"/>
                <a:cs typeface="Sassoon Infant Rg" charset="0"/>
              </a:rPr>
              <a:t>672cm²</a:t>
            </a:r>
            <a:endParaRPr lang="en-GB" sz="1500" dirty="0">
              <a:solidFill>
                <a:schemeClr val="tx1"/>
              </a:solidFill>
              <a:latin typeface="Sassoon Infant Md" panose="02000603050000020003" pitchFamily="50" charset="0"/>
              <a:ea typeface="ＭＳ Ｐゴシック" charset="0"/>
              <a:cs typeface="Sassoon Infant Rg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0614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</p:bldLst>
  </p:timing>
</p:sld>
</file>

<file path=ppt/theme/theme1.xml><?xml version="1.0" encoding="utf-8"?>
<a:theme xmlns:a="http://schemas.openxmlformats.org/drawingml/2006/main" name="Rainbow Background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24ADBD"/>
      </a:accent1>
      <a:accent2>
        <a:srgbClr val="A2D242"/>
      </a:accent2>
      <a:accent3>
        <a:srgbClr val="FCE243"/>
      </a:accent3>
      <a:accent4>
        <a:srgbClr val="EF6B20"/>
      </a:accent4>
      <a:accent5>
        <a:srgbClr val="AD242B"/>
      </a:accent5>
      <a:accent6>
        <a:srgbClr val="AE2D5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ainbow Background by Slidesgo" id="{46D7DCF1-5261-4805-AE31-BEDD5E59F30E}" vid="{99090F41-B61B-4833-A699-F16AB6F86A01}"/>
    </a:ext>
  </a:extLst>
</a:theme>
</file>

<file path=ppt/theme/theme2.xml><?xml version="1.0" encoding="utf-8"?>
<a:theme xmlns:a="http://schemas.openxmlformats.org/drawingml/2006/main" name="Office Theme">
  <a:themeElements>
    <a:clrScheme name="Twinkl Template">
      <a:dk1>
        <a:srgbClr val="1C1C1C"/>
      </a:dk1>
      <a:lt1>
        <a:sysClr val="window" lastClr="FFFFFF"/>
      </a:lt1>
      <a:dk2>
        <a:srgbClr val="4A4A4A"/>
      </a:dk2>
      <a:lt2>
        <a:srgbClr val="F4F2F2"/>
      </a:lt2>
      <a:accent1>
        <a:srgbClr val="E34192"/>
      </a:accent1>
      <a:accent2>
        <a:srgbClr val="EB8634"/>
      </a:accent2>
      <a:accent3>
        <a:srgbClr val="E6C734"/>
      </a:accent3>
      <a:accent4>
        <a:srgbClr val="79AD42"/>
      </a:accent4>
      <a:accent5>
        <a:srgbClr val="23A7F9"/>
      </a:accent5>
      <a:accent6>
        <a:srgbClr val="954EBE"/>
      </a:accent6>
      <a:hlink>
        <a:srgbClr val="23A7F9"/>
      </a:hlink>
      <a:folHlink>
        <a:srgbClr val="757070"/>
      </a:folHlink>
    </a:clrScheme>
    <a:fontScheme name="Twinkl Planit">
      <a:majorFont>
        <a:latin typeface="Sassoon Infant Md"/>
        <a:ea typeface=""/>
        <a:cs typeface=""/>
      </a:majorFont>
      <a:minorFont>
        <a:latin typeface="Sassoon Infant Rg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Cornell Notes</Template>
  <TotalTime>4959</TotalTime>
  <Words>824</Words>
  <Application>Microsoft Office PowerPoint</Application>
  <PresentationFormat>On-screen Show (16:9)</PresentationFormat>
  <Paragraphs>176</Paragraphs>
  <Slides>20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Fredoka One</vt:lpstr>
      <vt:lpstr>Sassoon Infant Md</vt:lpstr>
      <vt:lpstr>Arial</vt:lpstr>
      <vt:lpstr>Chalkboard</vt:lpstr>
      <vt:lpstr>ＭＳ Ｐゴシック</vt:lpstr>
      <vt:lpstr>Sassoon Infant Rg</vt:lpstr>
      <vt:lpstr>Abel</vt:lpstr>
      <vt:lpstr>Calibri</vt:lpstr>
      <vt:lpstr>Rainbow Background by Slidesgo</vt:lpstr>
      <vt:lpstr>Office Theme</vt:lpstr>
      <vt:lpstr>Topic: Area of Rectangles/ Squares/Composite shapes  EQ: How can we find the area of rectangles and squares?</vt:lpstr>
      <vt:lpstr>Perimeter Warm Up Questions Find the perimeter of these shapes</vt:lpstr>
      <vt:lpstr>Explain how each group of shapes is different and how they are alike</vt:lpstr>
      <vt:lpstr>PowerPoint Presentation</vt:lpstr>
      <vt:lpstr>PowerPoint Presentation</vt:lpstr>
      <vt:lpstr>Practice</vt:lpstr>
      <vt:lpstr>PowerPoint Presentation</vt:lpstr>
      <vt:lpstr>Practice</vt:lpstr>
      <vt:lpstr>Practice</vt:lpstr>
      <vt:lpstr>What do we do if the shape isn’t just a rectangle or a square? </vt:lpstr>
      <vt:lpstr>PowerPoint Presentation</vt:lpstr>
      <vt:lpstr>Let’s try together!</vt:lpstr>
      <vt:lpstr>Compound Area</vt:lpstr>
      <vt:lpstr>Compound Area</vt:lpstr>
      <vt:lpstr>Compound Area</vt:lpstr>
      <vt:lpstr>Compound Area</vt:lpstr>
      <vt:lpstr>Compound Area</vt:lpstr>
      <vt:lpstr>Compound Area</vt:lpstr>
      <vt:lpstr>Compound Area</vt:lpstr>
      <vt:lpstr>Compound Area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Composite Shapes  EQ: How can we find the area of composite shapes?</dc:title>
  <dc:creator>MCLEOD Alexandria [Baldivis Secondary College]</dc:creator>
  <cp:lastModifiedBy>MCLEOD Alexandria [Baldivis Secondary College]</cp:lastModifiedBy>
  <cp:revision>14</cp:revision>
  <dcterms:created xsi:type="dcterms:W3CDTF">2021-09-29T01:28:52Z</dcterms:created>
  <dcterms:modified xsi:type="dcterms:W3CDTF">2021-10-02T12:08:17Z</dcterms:modified>
</cp:coreProperties>
</file>
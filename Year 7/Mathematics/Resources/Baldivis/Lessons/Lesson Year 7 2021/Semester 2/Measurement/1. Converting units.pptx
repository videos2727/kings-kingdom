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2" r:id="rId2"/>
    <p:sldId id="284" r:id="rId3"/>
    <p:sldId id="265" r:id="rId4"/>
    <p:sldId id="283" r:id="rId5"/>
    <p:sldId id="285" r:id="rId6"/>
    <p:sldId id="28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6C607-CA38-4F82-94D5-E223692440CD}" v="3" dt="2021-08-24T10:58:32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3" autoAdjust="0"/>
    <p:restoredTop sz="77584" autoAdjust="0"/>
  </p:normalViewPr>
  <p:slideViewPr>
    <p:cSldViewPr snapToGrid="0">
      <p:cViewPr varScale="1">
        <p:scale>
          <a:sx n="82" d="100"/>
          <a:sy n="82" d="100"/>
        </p:scale>
        <p:origin x="4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6106C607-CA38-4F82-94D5-E223692440CD}"/>
    <pc:docChg chg="modSld">
      <pc:chgData name="Sarah James" userId="e5e3e68366f0feb3" providerId="LiveId" clId="{6106C607-CA38-4F82-94D5-E223692440CD}" dt="2021-08-24T10:59:03.125" v="52" actId="20577"/>
      <pc:docMkLst>
        <pc:docMk/>
      </pc:docMkLst>
      <pc:sldChg chg="modSp">
        <pc:chgData name="Sarah James" userId="e5e3e68366f0feb3" providerId="LiveId" clId="{6106C607-CA38-4F82-94D5-E223692440CD}" dt="2021-08-24T10:58:25.629" v="0" actId="313"/>
        <pc:sldMkLst>
          <pc:docMk/>
          <pc:sldMk cId="2207670266" sldId="265"/>
        </pc:sldMkLst>
        <pc:spChg chg="mod">
          <ac:chgData name="Sarah James" userId="e5e3e68366f0feb3" providerId="LiveId" clId="{6106C607-CA38-4F82-94D5-E223692440CD}" dt="2021-08-24T10:58:25.629" v="0" actId="313"/>
          <ac:spMkLst>
            <pc:docMk/>
            <pc:sldMk cId="2207670266" sldId="265"/>
            <ac:spMk id="17" creationId="{EC05745E-D2A7-4A30-B812-5738EFA91614}"/>
          </ac:spMkLst>
        </pc:spChg>
      </pc:sldChg>
      <pc:sldChg chg="modSp">
        <pc:chgData name="Sarah James" userId="e5e3e68366f0feb3" providerId="LiveId" clId="{6106C607-CA38-4F82-94D5-E223692440CD}" dt="2021-08-24T10:58:28.918" v="1" actId="313"/>
        <pc:sldMkLst>
          <pc:docMk/>
          <pc:sldMk cId="837590506" sldId="283"/>
        </pc:sldMkLst>
        <pc:spChg chg="mod">
          <ac:chgData name="Sarah James" userId="e5e3e68366f0feb3" providerId="LiveId" clId="{6106C607-CA38-4F82-94D5-E223692440CD}" dt="2021-08-24T10:58:28.918" v="1" actId="313"/>
          <ac:spMkLst>
            <pc:docMk/>
            <pc:sldMk cId="837590506" sldId="283"/>
            <ac:spMk id="17" creationId="{EC05745E-D2A7-4A30-B812-5738EFA91614}"/>
          </ac:spMkLst>
        </pc:spChg>
      </pc:sldChg>
      <pc:sldChg chg="modSp modNotesTx">
        <pc:chgData name="Sarah James" userId="e5e3e68366f0feb3" providerId="LiveId" clId="{6106C607-CA38-4F82-94D5-E223692440CD}" dt="2021-08-24T10:59:03.125" v="52" actId="20577"/>
        <pc:sldMkLst>
          <pc:docMk/>
          <pc:sldMk cId="2983260454" sldId="285"/>
        </pc:sldMkLst>
        <pc:spChg chg="mod">
          <ac:chgData name="Sarah James" userId="e5e3e68366f0feb3" providerId="LiveId" clId="{6106C607-CA38-4F82-94D5-E223692440CD}" dt="2021-08-24T10:58:32.905" v="2" actId="313"/>
          <ac:spMkLst>
            <pc:docMk/>
            <pc:sldMk cId="2983260454" sldId="285"/>
            <ac:spMk id="17" creationId="{EC05745E-D2A7-4A30-B812-5738EFA916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63FF3-C38C-4931-968C-5D06E989386F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485CF-55A3-40E7-9953-9BD855752A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6461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Print this slide off for students to brainstorm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485CF-55A3-40E7-9953-9BD855752AD2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5499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5205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8851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Students need to practice developing the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2800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5CA49-1634-4460-A267-D4862F4D1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225AC-AF16-4289-A712-8DA9B1557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D93C9-1D43-4EA9-9F47-A9861CD0A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45BFA-22AA-4206-8F68-9E3CBBD0C625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8AB5D-A761-4E6A-9DDC-069457FDA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DE56F-54D1-4EF7-A407-E42D18E0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4D09-87DC-4A8E-ACE3-2BA81AAC09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127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A4F5-5CE0-423F-97B3-EAD6E3A6D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5095-CF18-4B58-BAA5-3965E49D5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3A9A9-3C50-4A8A-B384-73E6D2BB0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45BFA-22AA-4206-8F68-9E3CBBD0C625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783F5-12DA-4CBE-8103-D856E7624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4DA7C-A830-44F8-9241-6D8BDD098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4D09-87DC-4A8E-ACE3-2BA81AAC09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43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E29FB-0543-4F2A-BB6C-807E5C2B1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BDF85-8F60-4727-B38F-49FF3265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C5B3F-512E-4516-AEFA-1FBB21417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45BFA-22AA-4206-8F68-9E3CBBD0C625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DEC51-FB75-4681-9EE5-F1E75D3DB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49E4A-7435-4A91-8B85-1F4E6CEE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4D09-87DC-4A8E-ACE3-2BA81AAC09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014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BD9C7-4FD1-4A00-B25D-3A7F395C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34DB6-7A4F-426C-83DD-BEFEE0DD0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BCA34B-93EC-43C2-8762-9A5C2A1FC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82B08-C6F5-4871-942E-FC100D9A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45BFA-22AA-4206-8F68-9E3CBBD0C625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F9A6B0-26A0-4ED4-9FAD-742F87EE6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5399B-64F8-49F7-9B0E-E7EEE1ED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4D09-87DC-4A8E-ACE3-2BA81AAC09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0147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F5DE3-982E-4DC0-AC9B-28022DD8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7AF4F-7AF6-485C-A758-7692B2547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73FA3-F498-4005-B02F-53EF6DAE2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2C7CA9-66B1-4D0A-93EF-635DCBB7C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CA206-280B-4347-8AB8-D7A2D621D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5E92C1-44E1-4B0A-88A0-ED81047CD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45BFA-22AA-4206-8F68-9E3CBBD0C625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DD95C6-F167-405B-8D95-6FCA06B66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D08A8-AF28-490A-BA68-B5E0660F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4D09-87DC-4A8E-ACE3-2BA81AAC09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2809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A7DB0-FD70-4BCE-BEDA-D68B5757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1BBE34-84B7-4E36-ACCD-B3428A07E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45BFA-22AA-4206-8F68-9E3CBBD0C625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29793-7CFE-4578-96C5-C1386474D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B7433-C645-4AEB-B14C-9003B595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4D09-87DC-4A8E-ACE3-2BA81AAC09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204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E03349-D009-4731-828E-DEB98669D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45BFA-22AA-4206-8F68-9E3CBBD0C625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7DE70A-34CD-4BC0-9051-05DFB3228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57D88-68C4-4A2E-B8EC-5D35D37A9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4D09-87DC-4A8E-ACE3-2BA81AAC09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3413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0022C-5367-4944-BDDB-4B40CC0C0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2BD89-42BB-42A6-BB08-3F143E5CB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0D140-67F7-43D5-A269-708C0105C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F78A8-B249-4975-A053-39E00DBA2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45BFA-22AA-4206-8F68-9E3CBBD0C625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050F4-6414-40B2-BEE8-35EB19B4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B6AD5-4AD1-4E33-AA9F-759C4285C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4D09-87DC-4A8E-ACE3-2BA81AAC09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0116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207E-4EDB-48C8-B1D4-FEE8D2D5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FD4225-A1D7-40DA-9898-D6C05342B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C7E429-1D7F-4509-B949-62DAFE1C2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BF84B-45C1-4939-845B-371B447A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45BFA-22AA-4206-8F68-9E3CBBD0C625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DB2C1-0E1A-4265-A11F-B5AD60223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3CD38-9E99-4554-94B0-02F3B71F6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4D09-87DC-4A8E-ACE3-2BA81AAC09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903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425E-7CDD-4C02-8AF0-F851C16E1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7ABF5A-D3AD-4F39-9B4D-2AC7B9CE6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6E796-3122-46AA-AF8D-76104AA19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45BFA-22AA-4206-8F68-9E3CBBD0C625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F6DDB-A87E-4C55-9F72-0E257075B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53102-E9B2-4DF9-8409-8F7177A6B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4D09-87DC-4A8E-ACE3-2BA81AAC09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2710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6696B5-68EA-4B27-BFC6-D617443535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52842C-AEF8-42B7-98B4-E43CEADD3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E93EA-963D-4EC3-8511-2B067EDE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45BFA-22AA-4206-8F68-9E3CBBD0C625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F558E-1FEC-43A0-99C0-F242C0666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B7259-3E2E-4FEF-8423-8A76D5DA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04D09-87DC-4A8E-ACE3-2BA81AAC09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7649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EC45EF-9E97-49AA-9B26-ECA4B621F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62F05-80B9-4EDA-B98F-F0AFCD530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3FBBF-D1F9-409B-AC5A-8C132008B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45BFA-22AA-4206-8F68-9E3CBBD0C625}" type="datetimeFigureOut">
              <a:rPr lang="en-AU" smtClean="0"/>
              <a:t>24/08/2021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7CEA4-251B-450A-9B0A-2EC877670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E305B-8271-4B1D-8A40-C33A34D98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4D09-87DC-4A8E-ACE3-2BA81AAC094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436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50E94D3F-258D-4DCB-A72C-E28DEF7645AB}"/>
              </a:ext>
            </a:extLst>
          </p:cNvPr>
          <p:cNvSpPr txBox="1">
            <a:spLocks/>
          </p:cNvSpPr>
          <p:nvPr/>
        </p:nvSpPr>
        <p:spPr>
          <a:xfrm>
            <a:off x="1372830" y="306207"/>
            <a:ext cx="9446339" cy="1119144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Measurement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I convert length measurement?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A10D22-06E6-4B73-AFB5-84EF98765469}"/>
              </a:ext>
            </a:extLst>
          </p:cNvPr>
          <p:cNvSpPr txBox="1"/>
          <p:nvPr/>
        </p:nvSpPr>
        <p:spPr>
          <a:xfrm>
            <a:off x="1248310" y="1828800"/>
            <a:ext cx="2229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Get your VIVO’s</a:t>
            </a:r>
          </a:p>
        </p:txBody>
      </p:sp>
    </p:spTree>
    <p:extLst>
      <p:ext uri="{BB962C8B-B14F-4D97-AF65-F5344CB8AC3E}">
        <p14:creationId xmlns:p14="http://schemas.microsoft.com/office/powerpoint/2010/main" val="29623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imeline&#10;&#10;Description automatically generated">
            <a:extLst>
              <a:ext uri="{FF2B5EF4-FFF2-40B4-BE49-F238E27FC236}">
                <a16:creationId xmlns:a16="http://schemas.microsoft.com/office/drawing/2014/main" id="{90D41A66-D5D9-4D27-BC00-4EEFA8FBB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75" y="303087"/>
            <a:ext cx="10592715" cy="625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45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convert length measurement?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F148D6-B5A2-4A5F-BAAF-41A09AE77A56}"/>
              </a:ext>
            </a:extLst>
          </p:cNvPr>
          <p:cNvSpPr txBox="1"/>
          <p:nvPr/>
        </p:nvSpPr>
        <p:spPr>
          <a:xfrm>
            <a:off x="3420348" y="5404568"/>
            <a:ext cx="2300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4EDFD6-0EDC-40C4-B0DE-B4E97CC40A5A}"/>
              </a:ext>
            </a:extLst>
          </p:cNvPr>
          <p:cNvSpPr txBox="1"/>
          <p:nvPr/>
        </p:nvSpPr>
        <p:spPr>
          <a:xfrm>
            <a:off x="2681555" y="1458930"/>
            <a:ext cx="236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Start thinking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AE6D09-5E7C-42F4-9E4B-13779E5B4590}"/>
              </a:ext>
            </a:extLst>
          </p:cNvPr>
          <p:cNvSpPr txBox="1"/>
          <p:nvPr/>
        </p:nvSpPr>
        <p:spPr>
          <a:xfrm>
            <a:off x="2449102" y="1888952"/>
            <a:ext cx="960762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sz="1600" dirty="0"/>
              <a:t>Look around the room. Find an object that has a length dimension (length, width or height) of 1 mm.</a:t>
            </a:r>
          </a:p>
          <a:p>
            <a:r>
              <a:rPr lang="en-GB" sz="1600" dirty="0"/>
              <a:t> </a:t>
            </a:r>
          </a:p>
          <a:p>
            <a:r>
              <a:rPr lang="en-GB" sz="1600" dirty="0"/>
              <a:t>2. Look for an object that has a length of 1 cm and another that has a length of 1 m. </a:t>
            </a:r>
          </a:p>
          <a:p>
            <a:endParaRPr lang="en-GB" sz="1600" dirty="0"/>
          </a:p>
          <a:p>
            <a:pPr algn="ctr"/>
            <a:r>
              <a:rPr lang="en-GB" sz="1600" dirty="0">
                <a:solidFill>
                  <a:srgbClr val="FF0000"/>
                </a:solidFill>
              </a:rPr>
              <a:t>Visualising these unit lengths will help you estimate the length of things.</a:t>
            </a:r>
          </a:p>
          <a:p>
            <a:pPr algn="ctr"/>
            <a:endParaRPr lang="en-GB" sz="1600" dirty="0"/>
          </a:p>
          <a:p>
            <a:r>
              <a:rPr lang="en-GB" sz="1600" dirty="0"/>
              <a:t>3. Look at your ruler. How many millimetres are equivalent to 1 cm?</a:t>
            </a:r>
            <a:endParaRPr lang="en-AU" sz="1600" dirty="0"/>
          </a:p>
        </p:txBody>
      </p:sp>
      <p:pic>
        <p:nvPicPr>
          <p:cNvPr id="6" name="Picture 5" descr="A picture containing text, measuring stick, different, plant&#10;&#10;Description automatically generated">
            <a:extLst>
              <a:ext uri="{FF2B5EF4-FFF2-40B4-BE49-F238E27FC236}">
                <a16:creationId xmlns:a16="http://schemas.microsoft.com/office/drawing/2014/main" id="{45559BB0-F1F8-43E5-8B41-E99CD0CB7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651" y="3633426"/>
            <a:ext cx="6819900" cy="13335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2689A56-D1CB-4131-ACB0-85EA07D81CEB}"/>
              </a:ext>
            </a:extLst>
          </p:cNvPr>
          <p:cNvSpPr txBox="1"/>
          <p:nvPr/>
        </p:nvSpPr>
        <p:spPr>
          <a:xfrm>
            <a:off x="2543172" y="5016931"/>
            <a:ext cx="95135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4. Look at a tape measure or metre ruler. </a:t>
            </a:r>
          </a:p>
          <a:p>
            <a:pPr marL="342900" indent="-342900">
              <a:buAutoNum type="alphaLcParenR"/>
            </a:pPr>
            <a:r>
              <a:rPr lang="en-GB" dirty="0"/>
              <a:t>How many centimetres are equivalent to 1 m? </a:t>
            </a:r>
          </a:p>
          <a:p>
            <a:pPr marL="342900" indent="-342900">
              <a:buAutoNum type="alphaLcParenR"/>
            </a:pPr>
            <a:r>
              <a:rPr lang="en-GB" dirty="0"/>
              <a:t>How many millimetres are equivalent to 1 m? </a:t>
            </a:r>
          </a:p>
          <a:p>
            <a:endParaRPr lang="en-GB" dirty="0"/>
          </a:p>
          <a:p>
            <a:r>
              <a:rPr lang="en-GB" dirty="0"/>
              <a:t>5. How many metres are equivalent to 1 km? (Think about the prefix ‘kilo’. What does ‘kilo’ mean?) </a:t>
            </a:r>
          </a:p>
        </p:txBody>
      </p:sp>
    </p:spTree>
    <p:extLst>
      <p:ext uri="{BB962C8B-B14F-4D97-AF65-F5344CB8AC3E}">
        <p14:creationId xmlns:p14="http://schemas.microsoft.com/office/powerpoint/2010/main" val="220767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convert length measurement?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F148D6-B5A2-4A5F-BAAF-41A09AE77A56}"/>
              </a:ext>
            </a:extLst>
          </p:cNvPr>
          <p:cNvSpPr txBox="1"/>
          <p:nvPr/>
        </p:nvSpPr>
        <p:spPr>
          <a:xfrm>
            <a:off x="3420348" y="5404568"/>
            <a:ext cx="2300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4EDFD6-0EDC-40C4-B0DE-B4E97CC40A5A}"/>
              </a:ext>
            </a:extLst>
          </p:cNvPr>
          <p:cNvSpPr txBox="1"/>
          <p:nvPr/>
        </p:nvSpPr>
        <p:spPr>
          <a:xfrm>
            <a:off x="2681555" y="1458930"/>
            <a:ext cx="236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Start thinking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1CAB49-38E8-45FB-8C96-22FA4AB9B00F}"/>
              </a:ext>
            </a:extLst>
          </p:cNvPr>
          <p:cNvSpPr txBox="1"/>
          <p:nvPr/>
        </p:nvSpPr>
        <p:spPr>
          <a:xfrm>
            <a:off x="2476076" y="1830006"/>
            <a:ext cx="933406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dirty="0"/>
              <a:t>5. How many metres are equivalent to 1 km? (Think about the </a:t>
            </a:r>
            <a:r>
              <a:rPr lang="en-GB" dirty="0" err="1"/>
              <a:t>prefi</a:t>
            </a:r>
            <a:r>
              <a:rPr lang="en-GB" dirty="0"/>
              <a:t> x ‘kilo’. What does ‘kilo’ mean?) </a:t>
            </a:r>
          </a:p>
          <a:p>
            <a:endParaRPr lang="en-GB" dirty="0"/>
          </a:p>
          <a:p>
            <a:r>
              <a:rPr lang="en-GB" dirty="0"/>
              <a:t>6. Complete these statements.</a:t>
            </a:r>
          </a:p>
          <a:p>
            <a:pPr marL="342900" indent="-342900">
              <a:buAutoNum type="alphaLcParenR"/>
            </a:pPr>
            <a:r>
              <a:rPr lang="en-GB" dirty="0"/>
              <a:t>____mm = 1 cm</a:t>
            </a:r>
          </a:p>
          <a:p>
            <a:pPr marL="342900" indent="-342900">
              <a:buAutoNum type="alphaLcParenR"/>
            </a:pPr>
            <a:r>
              <a:rPr lang="en-GB" dirty="0"/>
              <a:t>____cm = 1 m</a:t>
            </a:r>
          </a:p>
          <a:p>
            <a:pPr marL="342900" indent="-342900">
              <a:buAutoNum type="alphaLcParenR"/>
            </a:pPr>
            <a:r>
              <a:rPr lang="en-GB" dirty="0"/>
              <a:t>____m = 1 km </a:t>
            </a:r>
          </a:p>
          <a:p>
            <a:endParaRPr lang="en-GB" dirty="0"/>
          </a:p>
          <a:p>
            <a:r>
              <a:rPr lang="en-GB" dirty="0"/>
              <a:t>7. Discuss with a partner how to convert a length measurement from centimetres to millimetres. How is this different from converting millimetres to centimetres? Would this method work for other units?</a:t>
            </a:r>
          </a:p>
          <a:p>
            <a:endParaRPr lang="en-GB" dirty="0"/>
          </a:p>
          <a:p>
            <a:r>
              <a:rPr lang="en-GB" dirty="0"/>
              <a:t>8. Explain how to convert a length measurement to: </a:t>
            </a:r>
          </a:p>
          <a:p>
            <a:r>
              <a:rPr lang="en-GB" dirty="0"/>
              <a:t> a )a smaller unit 					b) a larger unit.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7590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56333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do I convert length measurement?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F148D6-B5A2-4A5F-BAAF-41A09AE77A56}"/>
              </a:ext>
            </a:extLst>
          </p:cNvPr>
          <p:cNvSpPr txBox="1"/>
          <p:nvPr/>
        </p:nvSpPr>
        <p:spPr>
          <a:xfrm>
            <a:off x="3420348" y="5404568"/>
            <a:ext cx="23006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                            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9CC46B-790A-4A5C-B557-4E23E3F27DD7}"/>
              </a:ext>
            </a:extLst>
          </p:cNvPr>
          <p:cNvSpPr txBox="1"/>
          <p:nvPr/>
        </p:nvSpPr>
        <p:spPr>
          <a:xfrm>
            <a:off x="2451991" y="1662911"/>
            <a:ext cx="92335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Metric units of length are millimetres (mm), centimetres (cm), metres (m) and kilometres (km). </a:t>
            </a:r>
          </a:p>
          <a:p>
            <a:endParaRPr lang="en-GB" dirty="0"/>
          </a:p>
          <a:p>
            <a:r>
              <a:rPr lang="en-GB" dirty="0"/>
              <a:t>A unit of length can be converted to another unit of length by multiplying or dividing by the conversion factor.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________________ by the conversion factor to convert to a smaller unit. </a:t>
            </a:r>
          </a:p>
          <a:p>
            <a:endParaRPr lang="en-GB" dirty="0"/>
          </a:p>
          <a:p>
            <a:r>
              <a:rPr lang="en-GB" dirty="0"/>
              <a:t>________________ by the conversion factor to convert to a larger unit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F011E-4CD5-40A7-AEE5-7430E59BA5AE}"/>
              </a:ext>
            </a:extLst>
          </p:cNvPr>
          <p:cNvSpPr txBox="1"/>
          <p:nvPr/>
        </p:nvSpPr>
        <p:spPr>
          <a:xfrm>
            <a:off x="271907" y="1718140"/>
            <a:ext cx="17374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______________________________________?</a:t>
            </a:r>
          </a:p>
        </p:txBody>
      </p:sp>
      <p:pic>
        <p:nvPicPr>
          <p:cNvPr id="7" name="Picture 6" descr="Diagram, shape&#10;&#10;Description automatically generated with medium confidence">
            <a:extLst>
              <a:ext uri="{FF2B5EF4-FFF2-40B4-BE49-F238E27FC236}">
                <a16:creationId xmlns:a16="http://schemas.microsoft.com/office/drawing/2014/main" id="{A0742155-96AB-4A96-8CBD-022360BE2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987" y="2927087"/>
            <a:ext cx="6296025" cy="19240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036BB95-DFDA-4393-B068-AF77C0E03580}"/>
              </a:ext>
            </a:extLst>
          </p:cNvPr>
          <p:cNvSpPr txBox="1"/>
          <p:nvPr/>
        </p:nvSpPr>
        <p:spPr>
          <a:xfrm>
            <a:off x="458462" y="5263896"/>
            <a:ext cx="17374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______________________________________?</a:t>
            </a:r>
          </a:p>
        </p:txBody>
      </p:sp>
    </p:spTree>
    <p:extLst>
      <p:ext uri="{BB962C8B-B14F-4D97-AF65-F5344CB8AC3E}">
        <p14:creationId xmlns:p14="http://schemas.microsoft.com/office/powerpoint/2010/main" val="2983260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91EA03D-50C5-4AB2-AD9D-D5D9A6612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312" y="714375"/>
            <a:ext cx="9896475" cy="1885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7D00F1-46FB-48D0-986D-B8973DF91556}"/>
              </a:ext>
            </a:extLst>
          </p:cNvPr>
          <p:cNvSpPr txBox="1"/>
          <p:nvPr/>
        </p:nvSpPr>
        <p:spPr>
          <a:xfrm>
            <a:off x="849312" y="3084381"/>
            <a:ext cx="72724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The length of a swimming pool is 50 m. </a:t>
            </a:r>
          </a:p>
          <a:p>
            <a:pPr marL="342900" indent="-342900">
              <a:buAutoNum type="alphaLcParenR"/>
            </a:pPr>
            <a:r>
              <a:rPr lang="en-GB" dirty="0"/>
              <a:t>How far would you swim if you completed 25 laps?</a:t>
            </a:r>
          </a:p>
          <a:p>
            <a:pPr marL="342900" indent="-342900">
              <a:buAutoNum type="alphaLcParenR"/>
            </a:pPr>
            <a:r>
              <a:rPr lang="en-GB" dirty="0"/>
              <a:t>Would this distance be more or less than 1 km?</a:t>
            </a:r>
          </a:p>
          <a:p>
            <a:pPr marL="342900" indent="-342900">
              <a:buAutoNum type="alphaLcParenR"/>
            </a:pPr>
            <a:r>
              <a:rPr lang="en-GB" dirty="0"/>
              <a:t>How many laps would you swim to complete a distance of 2 km?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977B6-CB4C-478A-AFCC-E97294B307FF}"/>
              </a:ext>
            </a:extLst>
          </p:cNvPr>
          <p:cNvSpPr txBox="1"/>
          <p:nvPr/>
        </p:nvSpPr>
        <p:spPr>
          <a:xfrm>
            <a:off x="751322" y="372749"/>
            <a:ext cx="237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Practice Question 1: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862E0C-FDFD-4F0E-85AC-611536D461ED}"/>
              </a:ext>
            </a:extLst>
          </p:cNvPr>
          <p:cNvSpPr txBox="1"/>
          <p:nvPr/>
        </p:nvSpPr>
        <p:spPr>
          <a:xfrm>
            <a:off x="802719" y="2715049"/>
            <a:ext cx="237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Practice Question 2: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401C0-65F1-4AED-A29B-C494FC2EC637}"/>
              </a:ext>
            </a:extLst>
          </p:cNvPr>
          <p:cNvSpPr txBox="1"/>
          <p:nvPr/>
        </p:nvSpPr>
        <p:spPr>
          <a:xfrm>
            <a:off x="849311" y="5215199"/>
            <a:ext cx="106767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Some students made errors when they were converting some length measurements. Explain the error in each case and give the correct answer. </a:t>
            </a:r>
          </a:p>
          <a:p>
            <a:r>
              <a:rPr lang="en-GB" dirty="0"/>
              <a:t>a)55 cm = 5.5 mm</a:t>
            </a:r>
          </a:p>
          <a:p>
            <a:r>
              <a:rPr lang="en-GB" dirty="0"/>
              <a:t>b)24 km = 2400 m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E97B46-B5AD-4623-BBD8-3C06A7CDE032}"/>
              </a:ext>
            </a:extLst>
          </p:cNvPr>
          <p:cNvSpPr txBox="1"/>
          <p:nvPr/>
        </p:nvSpPr>
        <p:spPr>
          <a:xfrm>
            <a:off x="802719" y="4688017"/>
            <a:ext cx="6095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Practice Question 3:</a:t>
            </a:r>
          </a:p>
        </p:txBody>
      </p:sp>
    </p:spTree>
    <p:extLst>
      <p:ext uri="{BB962C8B-B14F-4D97-AF65-F5344CB8AC3E}">
        <p14:creationId xmlns:p14="http://schemas.microsoft.com/office/powerpoint/2010/main" val="1041031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493</Words>
  <Application>Microsoft Office PowerPoint</Application>
  <PresentationFormat>Widescreen</PresentationFormat>
  <Paragraphs>80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Fragment Core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1</cp:revision>
  <dcterms:created xsi:type="dcterms:W3CDTF">2021-08-24T10:34:07Z</dcterms:created>
  <dcterms:modified xsi:type="dcterms:W3CDTF">2021-08-24T10:59:19Z</dcterms:modified>
</cp:coreProperties>
</file>
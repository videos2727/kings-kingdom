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316" r:id="rId3"/>
    <p:sldId id="265" r:id="rId4"/>
    <p:sldId id="266" r:id="rId5"/>
    <p:sldId id="264" r:id="rId6"/>
    <p:sldId id="267" r:id="rId7"/>
    <p:sldId id="273" r:id="rId8"/>
    <p:sldId id="272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2022" autoAdjust="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21309-769B-4512-A89B-60ADECC54DEF}" type="datetimeFigureOut">
              <a:rPr lang="en-AU" smtClean="0"/>
              <a:t>17/10/2021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38A7F-CAB7-47B6-AB6A-22C696B5F8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16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20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994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40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812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www.flickr.com/photos/themuuj/2224917035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undabergnow.com/2020/05/06/australia-post-expands-to-meet-parcel-demand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-sa/3.0/" TargetMode="External"/><Relationship Id="rId9" Type="http://schemas.openxmlformats.org/officeDocument/2006/relationships/hyperlink" Target="https://www.pexels.com/photo/nature-sky-sunny-clouds-125457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8388-EB7C-4C1E-BA44-7AE9F528F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Measurement</a:t>
            </a:r>
            <a:br>
              <a:rPr lang="en-AU" dirty="0"/>
            </a:br>
            <a:r>
              <a:rPr lang="en-AU" dirty="0"/>
              <a:t>EQ: How do I Calculate the Volume of rectangular Prisms?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81FEA-7078-48D3-88DE-DAB29B8C9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</p:txBody>
      </p:sp>
    </p:spTree>
    <p:extLst>
      <p:ext uri="{BB962C8B-B14F-4D97-AF65-F5344CB8AC3E}">
        <p14:creationId xmlns:p14="http://schemas.microsoft.com/office/powerpoint/2010/main" val="177363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471" y="589128"/>
            <a:ext cx="9720072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1965" y="1832758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24 hours ago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 days ago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30 days or more ago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×3×10=</m:t>
                    </m:r>
                  </m:oMath>
                </a14:m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rectangular parking lot has a perimeter of 80m. The shorter sides are 10m. What is the </a:t>
                </a:r>
                <a:r>
                  <a:rPr lang="en-AU" sz="2800">
                    <a:latin typeface="Calibri" panose="020F0502020204030204" pitchFamily="34" charset="0"/>
                    <a:cs typeface="Calibri" panose="020F0502020204030204" pitchFamily="34" charset="0"/>
                  </a:rPr>
                  <a:t>length of the </a:t>
                </a: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longer sides?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1965" y="1832758"/>
                <a:ext cx="10970958" cy="4522940"/>
              </a:xfrm>
              <a:blipFill>
                <a:blip r:embed="rId3"/>
                <a:stretch>
                  <a:fillRect l="-1612" t="-2426" r="-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5517222" y="14747"/>
            <a:ext cx="6674778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volume of rectangular prisms?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9069468" y="1073580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volume of rectangular prisms?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76D0C-B95A-4803-AC5B-1B0FC94F4396}"/>
              </a:ext>
            </a:extLst>
          </p:cNvPr>
          <p:cNvSpPr txBox="1"/>
          <p:nvPr/>
        </p:nvSpPr>
        <p:spPr>
          <a:xfrm>
            <a:off x="9095109" y="164926"/>
            <a:ext cx="299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55C2E-A3D5-40A4-B545-677764690797}"/>
              </a:ext>
            </a:extLst>
          </p:cNvPr>
          <p:cNvSpPr txBox="1"/>
          <p:nvPr/>
        </p:nvSpPr>
        <p:spPr>
          <a:xfrm>
            <a:off x="376457" y="1294223"/>
            <a:ext cx="1543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846D36-A072-4FF0-A5F8-F4A2C30E84FD}"/>
              </a:ext>
            </a:extLst>
          </p:cNvPr>
          <p:cNvSpPr txBox="1"/>
          <p:nvPr/>
        </p:nvSpPr>
        <p:spPr>
          <a:xfrm>
            <a:off x="2325754" y="1294223"/>
            <a:ext cx="9277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the amount of space that is occupied in three dimensions.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measured in km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m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cm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and mm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F1EC23-7AAA-4A0C-9CED-C5A85EA7C894}"/>
              </a:ext>
            </a:extLst>
          </p:cNvPr>
          <p:cNvSpPr txBox="1"/>
          <p:nvPr/>
        </p:nvSpPr>
        <p:spPr>
          <a:xfrm>
            <a:off x="2325754" y="2021863"/>
            <a:ext cx="1816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A8A415-8FD1-4C27-9316-B8777402BC5F}"/>
              </a:ext>
            </a:extLst>
          </p:cNvPr>
          <p:cNvSpPr txBox="1"/>
          <p:nvPr/>
        </p:nvSpPr>
        <p:spPr>
          <a:xfrm>
            <a:off x="5865737" y="5125639"/>
            <a:ext cx="2197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Moving house (m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5A8EC0-E3CC-4A83-B7EA-2ECF71E61042}"/>
              </a:ext>
            </a:extLst>
          </p:cNvPr>
          <p:cNvSpPr txBox="1"/>
          <p:nvPr/>
        </p:nvSpPr>
        <p:spPr>
          <a:xfrm>
            <a:off x="2981580" y="4335179"/>
            <a:ext cx="2053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Parcel Post (cm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116A2B-B0DD-42BC-B15F-EAAAB31BD8D4}"/>
              </a:ext>
            </a:extLst>
          </p:cNvPr>
          <p:cNvSpPr txBox="1"/>
          <p:nvPr/>
        </p:nvSpPr>
        <p:spPr>
          <a:xfrm>
            <a:off x="1524000" y="6987050"/>
            <a:ext cx="3039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s://www.flickr.com/photos/themuuj/2224917035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-sa/3.0/"/>
              </a:rPr>
              <a:t>CC BY-SA</a:t>
            </a:r>
            <a:endParaRPr lang="en-AU" sz="900"/>
          </a:p>
        </p:txBody>
      </p:sp>
      <p:pic>
        <p:nvPicPr>
          <p:cNvPr id="50" name="Picture 49" descr="A picture containing text, indoor, preparing, working&#10;&#10;Description automatically generated">
            <a:extLst>
              <a:ext uri="{FF2B5EF4-FFF2-40B4-BE49-F238E27FC236}">
                <a16:creationId xmlns:a16="http://schemas.microsoft.com/office/drawing/2014/main" id="{F94E085C-E839-4CA5-B251-1E7866F9D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488514" y="2533077"/>
            <a:ext cx="3039978" cy="1860404"/>
          </a:xfrm>
          <a:prstGeom prst="rect">
            <a:avLst/>
          </a:prstGeom>
        </p:spPr>
      </p:pic>
      <p:pic>
        <p:nvPicPr>
          <p:cNvPr id="41" name="Picture 40" descr="A truck full of boxes&#10;&#10;Description automatically generated with low confidence">
            <a:extLst>
              <a:ext uri="{FF2B5EF4-FFF2-40B4-BE49-F238E27FC236}">
                <a16:creationId xmlns:a16="http://schemas.microsoft.com/office/drawing/2014/main" id="{4845914E-719A-4131-89B2-5E8DE960D5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10086" y="2731191"/>
            <a:ext cx="3207551" cy="2405663"/>
          </a:xfrm>
          <a:prstGeom prst="rect">
            <a:avLst/>
          </a:prstGeom>
        </p:spPr>
      </p:pic>
      <p:pic>
        <p:nvPicPr>
          <p:cNvPr id="53" name="Picture 52" descr="A picture containing sky, outdoor, nature, cloud&#10;&#10;Description automatically generated">
            <a:extLst>
              <a:ext uri="{FF2B5EF4-FFF2-40B4-BE49-F238E27FC236}">
                <a16:creationId xmlns:a16="http://schemas.microsoft.com/office/drawing/2014/main" id="{FF21CD30-2797-4ED4-B87E-707792E833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448221" y="3267144"/>
            <a:ext cx="3552693" cy="236846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4D8D834-1F26-4507-9D3E-342C6DB46D34}"/>
              </a:ext>
            </a:extLst>
          </p:cNvPr>
          <p:cNvSpPr txBox="1"/>
          <p:nvPr/>
        </p:nvSpPr>
        <p:spPr>
          <a:xfrm>
            <a:off x="9322811" y="5635606"/>
            <a:ext cx="2197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Atmosphere (km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767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4" grpId="0"/>
      <p:bldP spid="36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volume of rectangular prisms?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76D0C-B95A-4803-AC5B-1B0FC94F4396}"/>
              </a:ext>
            </a:extLst>
          </p:cNvPr>
          <p:cNvSpPr txBox="1"/>
          <p:nvPr/>
        </p:nvSpPr>
        <p:spPr>
          <a:xfrm>
            <a:off x="9095109" y="164926"/>
            <a:ext cx="299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5E1D8B-FA8C-4ADD-813B-FA010EDA3F66}"/>
              </a:ext>
            </a:extLst>
          </p:cNvPr>
          <p:cNvSpPr txBox="1"/>
          <p:nvPr/>
        </p:nvSpPr>
        <p:spPr>
          <a:xfrm>
            <a:off x="74645" y="1305978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do I find the volume?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BE5CE1-BEC9-45BF-A854-6B01CA98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66" y="3128693"/>
            <a:ext cx="3932234" cy="32337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FCF162-2E29-4C7F-A737-4ECD7F02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959" y="1728690"/>
            <a:ext cx="3126918" cy="37631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A18BD4-9FA4-428F-8DC3-66B916610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085" y="2850163"/>
            <a:ext cx="3233735" cy="37908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0288F32-3E46-49C1-A880-E387F49FCB1D}"/>
              </a:ext>
            </a:extLst>
          </p:cNvPr>
          <p:cNvSpPr txBox="1"/>
          <p:nvPr/>
        </p:nvSpPr>
        <p:spPr>
          <a:xfrm>
            <a:off x="2609243" y="1294223"/>
            <a:ext cx="8588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would I find the volume of the following three shapes?</a:t>
            </a:r>
          </a:p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method is to count all the blocks.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11049-BEA1-498F-9EBF-3F4679A0AC21}"/>
              </a:ext>
            </a:extLst>
          </p:cNvPr>
          <p:cNvSpPr/>
          <p:nvPr/>
        </p:nvSpPr>
        <p:spPr>
          <a:xfrm>
            <a:off x="4000795" y="571763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6355E3-8362-48DC-AA69-00EE7792D695}"/>
              </a:ext>
            </a:extLst>
          </p:cNvPr>
          <p:cNvSpPr/>
          <p:nvPr/>
        </p:nvSpPr>
        <p:spPr>
          <a:xfrm>
            <a:off x="7765141" y="479430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3A187B-610F-47DF-BF97-0E761EE9817C}"/>
              </a:ext>
            </a:extLst>
          </p:cNvPr>
          <p:cNvSpPr/>
          <p:nvPr/>
        </p:nvSpPr>
        <p:spPr>
          <a:xfrm>
            <a:off x="10682159" y="54391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45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311"/>
            <a:ext cx="6666231" cy="3421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10" y="2702257"/>
            <a:ext cx="6091090" cy="415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257" y="5246741"/>
            <a:ext cx="6291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the volume of the following blocks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5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volume of rectangular prisms?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76D0C-B95A-4803-AC5B-1B0FC94F4396}"/>
              </a:ext>
            </a:extLst>
          </p:cNvPr>
          <p:cNvSpPr txBox="1"/>
          <p:nvPr/>
        </p:nvSpPr>
        <p:spPr>
          <a:xfrm>
            <a:off x="9095109" y="164926"/>
            <a:ext cx="299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3674E-4B9C-4302-AB06-EC98CB759558}"/>
              </a:ext>
            </a:extLst>
          </p:cNvPr>
          <p:cNvSpPr txBox="1"/>
          <p:nvPr/>
        </p:nvSpPr>
        <p:spPr>
          <a:xfrm>
            <a:off x="74646" y="1218314"/>
            <a:ext cx="2081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How do I calculate volume?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A99B6-DEB7-43A4-866E-47ABED63ED77}"/>
              </a:ext>
            </a:extLst>
          </p:cNvPr>
          <p:cNvSpPr txBox="1"/>
          <p:nvPr/>
        </p:nvSpPr>
        <p:spPr>
          <a:xfrm>
            <a:off x="2487488" y="1279705"/>
            <a:ext cx="9540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Is there an easier way than just counting blocks? 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Imagine counting all these blocks.</a:t>
            </a:r>
            <a:endParaRPr lang="en-US" sz="28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B48F42-A408-4BDC-ADDB-A837DC077B32}"/>
              </a:ext>
            </a:extLst>
          </p:cNvPr>
          <p:cNvGrpSpPr/>
          <p:nvPr/>
        </p:nvGrpSpPr>
        <p:grpSpPr>
          <a:xfrm>
            <a:off x="2509506" y="2424899"/>
            <a:ext cx="4656011" cy="3990004"/>
            <a:chOff x="6602430" y="2260671"/>
            <a:chExt cx="4656011" cy="399000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CE21EBE-01C4-4D0A-A221-C933B38B56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842" t="-329" b="13511"/>
            <a:stretch/>
          </p:blipFill>
          <p:spPr>
            <a:xfrm>
              <a:off x="7397087" y="2260671"/>
              <a:ext cx="3861354" cy="3990004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72CC0-30C7-42E0-A70C-61DAE1553C9B}"/>
                </a:ext>
              </a:extLst>
            </p:cNvPr>
            <p:cNvSpPr/>
            <p:nvPr/>
          </p:nvSpPr>
          <p:spPr>
            <a:xfrm rot="8462310">
              <a:off x="6602430" y="2705917"/>
              <a:ext cx="1685076" cy="760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B189FE45-614D-40FA-A177-38A4F3E94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961" y="2424899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4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volume of rectangular prisms?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76D0C-B95A-4803-AC5B-1B0FC94F4396}"/>
              </a:ext>
            </a:extLst>
          </p:cNvPr>
          <p:cNvSpPr txBox="1"/>
          <p:nvPr/>
        </p:nvSpPr>
        <p:spPr>
          <a:xfrm>
            <a:off x="9095109" y="164926"/>
            <a:ext cx="299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576F7-063C-48CB-9EE8-8F708EA92F2A}"/>
              </a:ext>
            </a:extLst>
          </p:cNvPr>
          <p:cNvSpPr txBox="1"/>
          <p:nvPr/>
        </p:nvSpPr>
        <p:spPr>
          <a:xfrm>
            <a:off x="60832" y="1272134"/>
            <a:ext cx="23930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I calculate the volume of a rectangular prism or cube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611CBA-CA4D-46E8-BC4D-91547DB9D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87" y="1307964"/>
            <a:ext cx="3279514" cy="218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E0AF85-A53E-4454-B5B4-36CFA2CA1D2C}"/>
                  </a:ext>
                </a:extLst>
              </p:cNvPr>
              <p:cNvSpPr txBox="1"/>
              <p:nvPr/>
            </p:nvSpPr>
            <p:spPr>
              <a:xfrm>
                <a:off x="2453859" y="1285002"/>
                <a:ext cx="58949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𝑽𝒐𝒍𝒖𝒎𝒆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𝑳𝒆𝒏𝒈𝒕𝒉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𝑾𝒊𝒅𝒕𝒉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𝑯𝒆𝒊𝒈𝒉𝒕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E0AF85-A53E-4454-B5B4-36CFA2CA1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859" y="1285002"/>
                <a:ext cx="5894962" cy="461665"/>
              </a:xfrm>
              <a:prstGeom prst="rect">
                <a:avLst/>
              </a:prstGeom>
              <a:blipFill>
                <a:blip r:embed="rId4"/>
                <a:stretch>
                  <a:fillRect l="-103" r="-620"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2CF220-88CC-450D-ABFF-1C3A48BF4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735" y="4498833"/>
            <a:ext cx="3477110" cy="15813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AFF1C0-389E-4DF3-9DBA-8E6148E8BBA6}"/>
              </a:ext>
            </a:extLst>
          </p:cNvPr>
          <p:cNvSpPr txBox="1"/>
          <p:nvPr/>
        </p:nvSpPr>
        <p:spPr>
          <a:xfrm>
            <a:off x="4468469" y="5895538"/>
            <a:ext cx="6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6 cm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629F2-C60F-4050-86D9-E4712EAA945E}"/>
              </a:ext>
            </a:extLst>
          </p:cNvPr>
          <p:cNvSpPr txBox="1"/>
          <p:nvPr/>
        </p:nvSpPr>
        <p:spPr>
          <a:xfrm>
            <a:off x="6448627" y="5594992"/>
            <a:ext cx="6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2 cm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494B57-5F1B-436F-B4D6-6FDC365A5AAE}"/>
              </a:ext>
            </a:extLst>
          </p:cNvPr>
          <p:cNvSpPr txBox="1"/>
          <p:nvPr/>
        </p:nvSpPr>
        <p:spPr>
          <a:xfrm>
            <a:off x="6639736" y="4932004"/>
            <a:ext cx="6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2 cm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004DC5-6856-457C-BED3-EC117643A196}"/>
              </a:ext>
            </a:extLst>
          </p:cNvPr>
          <p:cNvSpPr txBox="1"/>
          <p:nvPr/>
        </p:nvSpPr>
        <p:spPr>
          <a:xfrm>
            <a:off x="2453859" y="3772117"/>
            <a:ext cx="5638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Example: Calculate the volume of this rectangular prism. Each cube is 1 cm</a:t>
            </a:r>
            <a:r>
              <a:rPr lang="en-AU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96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" y="1121404"/>
            <a:ext cx="3549561" cy="2779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95653" y="1049268"/>
                <a:ext cx="700633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𝑽𝒐𝒍𝒖𝒎𝒆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𝑳𝒆𝒏𝒈𝒕𝒉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𝑾𝒊𝒅𝒕𝒉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𝑯𝒆𝒊𝒈𝒉𝒕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653" y="1049268"/>
                <a:ext cx="70063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161" y="1707146"/>
            <a:ext cx="3279514" cy="218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11" y="4107975"/>
            <a:ext cx="2973364" cy="26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3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71348"/>
            <a:ext cx="9785445" cy="5659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85727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200</TotalTime>
  <Words>359</Words>
  <Application>Microsoft Office PowerPoint</Application>
  <PresentationFormat>Widescreen</PresentationFormat>
  <Paragraphs>67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Chalkboard</vt:lpstr>
      <vt:lpstr>Calibri</vt:lpstr>
      <vt:lpstr>Cambria Math</vt:lpstr>
      <vt:lpstr>Tw Cen MT</vt:lpstr>
      <vt:lpstr>Tw Cen MT Condensed</vt:lpstr>
      <vt:lpstr>Wingdings 3</vt:lpstr>
      <vt:lpstr>Integral</vt:lpstr>
      <vt:lpstr>Topic: Measurement EQ: How do I Calculate the Volume of rectangular Prisms?</vt:lpstr>
      <vt:lpstr>Five Questions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 EQ: How do I Calculate the Volume of rectangular Prisms?</dc:title>
  <dc:creator>PARLEVLIET Magdeline [Baldivis Secondary College]</dc:creator>
  <cp:lastModifiedBy>PARLEVLIET Magdeline [Baldivis Secondary College]</cp:lastModifiedBy>
  <cp:revision>3</cp:revision>
  <dcterms:created xsi:type="dcterms:W3CDTF">2021-10-17T10:33:07Z</dcterms:created>
  <dcterms:modified xsi:type="dcterms:W3CDTF">2021-10-17T14:22:38Z</dcterms:modified>
</cp:coreProperties>
</file>
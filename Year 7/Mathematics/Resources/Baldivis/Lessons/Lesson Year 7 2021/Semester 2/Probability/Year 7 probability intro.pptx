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9"/>
  </p:notesMasterIdLst>
  <p:sldIdLst>
    <p:sldId id="346" r:id="rId2"/>
    <p:sldId id="355" r:id="rId3"/>
    <p:sldId id="354" r:id="rId4"/>
    <p:sldId id="358" r:id="rId5"/>
    <p:sldId id="356" r:id="rId6"/>
    <p:sldId id="357" r:id="rId7"/>
    <p:sldId id="360" r:id="rId8"/>
    <p:sldId id="343" r:id="rId9"/>
    <p:sldId id="345" r:id="rId10"/>
    <p:sldId id="330" r:id="rId11"/>
    <p:sldId id="331" r:id="rId12"/>
    <p:sldId id="353" r:id="rId13"/>
    <p:sldId id="347" r:id="rId14"/>
    <p:sldId id="335" r:id="rId15"/>
    <p:sldId id="336" r:id="rId16"/>
    <p:sldId id="337" r:id="rId17"/>
    <p:sldId id="33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5" autoAdjust="0"/>
    <p:restoredTop sz="89727" autoAdjust="0"/>
  </p:normalViewPr>
  <p:slideViewPr>
    <p:cSldViewPr>
      <p:cViewPr>
        <p:scale>
          <a:sx n="100" d="100"/>
          <a:sy n="100" d="100"/>
        </p:scale>
        <p:origin x="223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EB80B-3BD5-1D4B-BCC4-58E6C6891D44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863DB-D6CF-B846-BDA4-E5D59C01E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3EFA930-4247-4269-962D-5B8BAFBDDD1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425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58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EE24-60F3-4FDE-B378-9B85D06C778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99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84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315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9BB69-71BC-4223-8486-19F6F50CCF9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694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F8B-590D-429C-9665-FD3D9BF8352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727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866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5A97A-B792-4732-BF16-E182907779F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924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191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235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2678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4272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2399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3944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2945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89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83E6-28CB-46A9-B5EE-F7A16AF1564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4637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371600"/>
            <a:ext cx="6172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b="1" dirty="0">
                <a:latin typeface="Geneva"/>
                <a:cs typeface="Geneva"/>
              </a:rPr>
              <a:t>Introduction to Probability</a:t>
            </a:r>
          </a:p>
          <a:p>
            <a:pPr algn="ctr"/>
            <a:endParaRPr lang="en-AU" sz="6000" dirty="0">
              <a:latin typeface="Franklin Gothic Book"/>
              <a:cs typeface="Franklin Gothic Book"/>
            </a:endParaRPr>
          </a:p>
          <a:p>
            <a:pPr algn="ctr"/>
            <a:r>
              <a:rPr lang="en-AU" dirty="0"/>
              <a:t>Year 7</a:t>
            </a:r>
          </a:p>
          <a:p>
            <a:pPr algn="ctr"/>
            <a:r>
              <a:rPr lang="en-AU" dirty="0"/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126116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E6699-96F3-4F85-89E7-9C2CB4CB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50" y="685800"/>
            <a:ext cx="1638300" cy="1038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892F97-F873-491B-A96E-F5CC93406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0" y="1981199"/>
            <a:ext cx="1562100" cy="981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F02D5D-9F5D-4C21-9EDE-0E092BB1213E}"/>
              </a:ext>
            </a:extLst>
          </p:cNvPr>
          <p:cNvSpPr txBox="1"/>
          <p:nvPr/>
        </p:nvSpPr>
        <p:spPr>
          <a:xfrm>
            <a:off x="609600" y="302191"/>
            <a:ext cx="6463225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Review questions</a:t>
            </a: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1. Find the volume of the following image </a:t>
            </a: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2. Find the volume of the following image</a:t>
            </a: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3. Convert 1.75km to mm</a:t>
            </a: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4. Find the value of  x,  2x + 2 = 12</a:t>
            </a: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	5.  find the area of this triangle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06E9E1-EE68-4E66-9B74-A30BF35A4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931890"/>
            <a:ext cx="1745176" cy="131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7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E4968C-FBD2-4276-B2E4-7314546DBBD2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08B85-0025-445A-80B1-FD8667F974A1}"/>
              </a:ext>
            </a:extLst>
          </p:cNvPr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4E3800-9BA9-40EA-B519-E997512E6067}"/>
              </a:ext>
            </a:extLst>
          </p:cNvPr>
          <p:cNvSpPr txBox="1"/>
          <p:nvPr/>
        </p:nvSpPr>
        <p:spPr>
          <a:xfrm>
            <a:off x="49400" y="1461197"/>
            <a:ext cx="2335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What is probability?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7F978-23BF-4C77-98A7-FF9EB4098973}"/>
              </a:ext>
            </a:extLst>
          </p:cNvPr>
          <p:cNvSpPr txBox="1"/>
          <p:nvPr/>
        </p:nvSpPr>
        <p:spPr>
          <a:xfrm>
            <a:off x="1305910" y="750887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EQ – What is probability, and how do we use it?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B49E3-F28C-47F6-AE61-EE60ADBD8B7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C8BA02-81C7-47A4-9338-429A03AC0E35}"/>
              </a:ext>
            </a:extLst>
          </p:cNvPr>
          <p:cNvSpPr txBox="1"/>
          <p:nvPr/>
        </p:nvSpPr>
        <p:spPr>
          <a:xfrm>
            <a:off x="2589409" y="1516991"/>
            <a:ext cx="6463225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Probability relates to the chance of something happening.</a:t>
            </a: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Some examples can include;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The chance of rain,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 the chance of getting tail after flipping a coin,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The chance of getting 7 when rolling dice,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The chance a year 7 student will arrive on time.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142CD-BDDF-4CD8-A8E4-E40B12B79BB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Probability</a:t>
            </a:r>
            <a:endParaRPr lang="en-AU" sz="18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362333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E4968C-FBD2-4276-B2E4-7314546DBBD2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08B85-0025-445A-80B1-FD8667F974A1}"/>
              </a:ext>
            </a:extLst>
          </p:cNvPr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4E3800-9BA9-40EA-B519-E997512E6067}"/>
              </a:ext>
            </a:extLst>
          </p:cNvPr>
          <p:cNvSpPr txBox="1"/>
          <p:nvPr/>
        </p:nvSpPr>
        <p:spPr>
          <a:xfrm>
            <a:off x="49400" y="1461197"/>
            <a:ext cx="23352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What are some key words relating to probability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7F978-23BF-4C77-98A7-FF9EB4098973}"/>
              </a:ext>
            </a:extLst>
          </p:cNvPr>
          <p:cNvSpPr txBox="1"/>
          <p:nvPr/>
        </p:nvSpPr>
        <p:spPr>
          <a:xfrm>
            <a:off x="1305910" y="750887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EQ – What is probability, and how do we use it?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B49E3-F28C-47F6-AE61-EE60ADBD8B7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C8BA02-81C7-47A4-9338-429A03AC0E35}"/>
              </a:ext>
            </a:extLst>
          </p:cNvPr>
          <p:cNvSpPr txBox="1"/>
          <p:nvPr/>
        </p:nvSpPr>
        <p:spPr>
          <a:xfrm>
            <a:off x="2589409" y="1516991"/>
            <a:ext cx="6463225" cy="597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Event -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Something that may or may not happen,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Outcomes - 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Possible results of an event,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Chance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possibility or likelihood,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Predictions -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When you use the probability of an event to make an educated guess,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Certain -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Some events are certain and  know that they must happen.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Impossible -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Some events are impossible, and  you know that they can never happen,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Equally Likely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Outcomes that have the same chance of occurring.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More Likely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Greater chance that an event will happen.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Less Likely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- Smaller chance that an event will happen.</a:t>
            </a:r>
          </a:p>
          <a:p>
            <a:pPr algn="ctr"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6800"/>
              </a:lnSpc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142CD-BDDF-4CD8-A8E4-E40B12B79BB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Probability</a:t>
            </a:r>
            <a:endParaRPr lang="en-AU" sz="18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57570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E4968C-FBD2-4276-B2E4-7314546DBBD2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08B85-0025-445A-80B1-FD8667F974A1}"/>
              </a:ext>
            </a:extLst>
          </p:cNvPr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4E3800-9BA9-40EA-B519-E997512E6067}"/>
              </a:ext>
            </a:extLst>
          </p:cNvPr>
          <p:cNvSpPr txBox="1"/>
          <p:nvPr/>
        </p:nvSpPr>
        <p:spPr>
          <a:xfrm>
            <a:off x="49400" y="1461197"/>
            <a:ext cx="23352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How do we judge probability?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7F978-23BF-4C77-98A7-FF9EB4098973}"/>
              </a:ext>
            </a:extLst>
          </p:cNvPr>
          <p:cNvSpPr txBox="1"/>
          <p:nvPr/>
        </p:nvSpPr>
        <p:spPr>
          <a:xfrm>
            <a:off x="1305910" y="750887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EQ – What is probability, and how do we use it?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B49E3-F28C-47F6-AE61-EE60ADBD8B7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C8BA02-81C7-47A4-9338-429A03AC0E35}"/>
              </a:ext>
            </a:extLst>
          </p:cNvPr>
          <p:cNvSpPr txBox="1"/>
          <p:nvPr/>
        </p:nvSpPr>
        <p:spPr>
          <a:xfrm>
            <a:off x="2589409" y="1516991"/>
            <a:ext cx="6463225" cy="5261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When judging probability, we use a probability scale, like the one shown below.</a:t>
            </a: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When something is impossible it has no ‘chance’ of occurring, while if something is certain, it will definitely happen.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142CD-BDDF-4CD8-A8E4-E40B12B79BB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Probability</a:t>
            </a:r>
            <a:endParaRPr lang="en-AU" sz="1800" dirty="0">
              <a:latin typeface="Chalkboard"/>
              <a:cs typeface="Chalkboar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4A1114-5CFC-449C-B26A-99609EE0C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438400"/>
            <a:ext cx="5714999" cy="241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7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E4968C-FBD2-4276-B2E4-7314546DBBD2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08B85-0025-445A-80B1-FD8667F974A1}"/>
              </a:ext>
            </a:extLst>
          </p:cNvPr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4E3800-9BA9-40EA-B519-E997512E6067}"/>
              </a:ext>
            </a:extLst>
          </p:cNvPr>
          <p:cNvSpPr txBox="1"/>
          <p:nvPr/>
        </p:nvSpPr>
        <p:spPr>
          <a:xfrm>
            <a:off x="49400" y="1461197"/>
            <a:ext cx="23352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How do we judge probability?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7F978-23BF-4C77-98A7-FF9EB4098973}"/>
              </a:ext>
            </a:extLst>
          </p:cNvPr>
          <p:cNvSpPr txBox="1"/>
          <p:nvPr/>
        </p:nvSpPr>
        <p:spPr>
          <a:xfrm>
            <a:off x="1305910" y="750887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EQ – What is probability, and how do we use it?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B49E3-F28C-47F6-AE61-EE60ADBD8B7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C8BA02-81C7-47A4-9338-429A03AC0E35}"/>
              </a:ext>
            </a:extLst>
          </p:cNvPr>
          <p:cNvSpPr txBox="1"/>
          <p:nvPr/>
        </p:nvSpPr>
        <p:spPr>
          <a:xfrm>
            <a:off x="2589409" y="1516991"/>
            <a:ext cx="6463225" cy="4153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chemeClr val="tx1">
                    <a:lumMod val="95000"/>
                  </a:schemeClr>
                </a:solidFill>
                <a:latin typeface="Calibri" panose="020F0502020204030204"/>
              </a:rPr>
              <a:t>Using the below scale and the examples, choose when you think the events would be place on the below image</a:t>
            </a: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  <a:p>
            <a:pPr defTabSz="914126"/>
            <a:endParaRPr lang="en-US" sz="2399" dirty="0">
              <a:solidFill>
                <a:schemeClr val="tx1">
                  <a:lumMod val="95000"/>
                </a:schemeClr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142CD-BDDF-4CD8-A8E4-E40B12B79BB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Probability</a:t>
            </a:r>
            <a:endParaRPr lang="en-AU" sz="1800" dirty="0">
              <a:latin typeface="Chalkboard"/>
              <a:cs typeface="Chalkboar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4A1114-5CFC-449C-B26A-99609EE0C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743200"/>
            <a:ext cx="5714999" cy="2411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11AE0D-60AC-4699-B238-B58CC4360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1" y="5135165"/>
            <a:ext cx="5714998" cy="17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7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E4968C-FBD2-4276-B2E4-7314546DBBD2}"/>
              </a:ext>
            </a:extLst>
          </p:cNvPr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08B85-0025-445A-80B1-FD8667F974A1}"/>
              </a:ext>
            </a:extLst>
          </p:cNvPr>
          <p:cNvCxnSpPr>
            <a:cxnSpLocks/>
          </p:cNvCxnSpPr>
          <p:nvPr/>
        </p:nvCxnSpPr>
        <p:spPr>
          <a:xfrm>
            <a:off x="2487010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4E3800-9BA9-40EA-B519-E997512E6067}"/>
              </a:ext>
            </a:extLst>
          </p:cNvPr>
          <p:cNvSpPr txBox="1"/>
          <p:nvPr/>
        </p:nvSpPr>
        <p:spPr>
          <a:xfrm>
            <a:off x="49400" y="1461197"/>
            <a:ext cx="2335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Additional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7F978-23BF-4C77-98A7-FF9EB4098973}"/>
              </a:ext>
            </a:extLst>
          </p:cNvPr>
          <p:cNvSpPr txBox="1"/>
          <p:nvPr/>
        </p:nvSpPr>
        <p:spPr>
          <a:xfrm>
            <a:off x="1305910" y="750887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tx1">
                    <a:lumMod val="95000"/>
                  </a:schemeClr>
                </a:solidFill>
                <a:latin typeface="Fragment Core" panose="02000504040000020003" pitchFamily="50" charset="0"/>
              </a:rPr>
              <a:t>EQ – What is probability, and how do we use it?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9B49E3-F28C-47F6-AE61-EE60ADBD8B7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8142CD-BDDF-4CD8-A8E4-E40B12B79BB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Probability</a:t>
            </a:r>
            <a:endParaRPr lang="en-AU" sz="1800" dirty="0">
              <a:latin typeface="Chalkboard"/>
              <a:cs typeface="Chalkbo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D6E3A-4AAB-4E8B-8742-E25124D7B566}"/>
              </a:ext>
            </a:extLst>
          </p:cNvPr>
          <p:cNvSpPr txBox="1"/>
          <p:nvPr/>
        </p:nvSpPr>
        <p:spPr>
          <a:xfrm>
            <a:off x="2544361" y="1323217"/>
            <a:ext cx="6675839" cy="5673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endParaRPr lang="en-AU" sz="1600" b="1" baseline="30000" dirty="0"/>
          </a:p>
          <a:p>
            <a:r>
              <a:rPr lang="en-AU" sz="2400" dirty="0"/>
              <a:t>Where would the following fit on the above probability</a:t>
            </a:r>
            <a:endParaRPr lang="en-AU" sz="2400" b="1" baseline="30000" dirty="0"/>
          </a:p>
          <a:p>
            <a:endParaRPr lang="en-AU" sz="1200" b="1" baseline="30000" dirty="0"/>
          </a:p>
          <a:p>
            <a:r>
              <a:rPr lang="en-AU" sz="2400" b="1" baseline="30000" dirty="0"/>
              <a:t>a) </a:t>
            </a:r>
            <a:r>
              <a:rPr lang="en-AU" sz="2400" baseline="30000" dirty="0"/>
              <a:t>The day after Monday will be Tuesday.</a:t>
            </a:r>
          </a:p>
          <a:p>
            <a:r>
              <a:rPr lang="en-AU" sz="2400" b="1" baseline="30000" dirty="0"/>
              <a:t>b) </a:t>
            </a:r>
            <a:r>
              <a:rPr lang="en-AU" sz="2400" baseline="30000" dirty="0"/>
              <a:t>Next year will have 390 days.</a:t>
            </a:r>
          </a:p>
          <a:p>
            <a:r>
              <a:rPr lang="en-AU" sz="2400" b="1" baseline="30000" dirty="0"/>
              <a:t>c) </a:t>
            </a:r>
            <a:r>
              <a:rPr lang="en-AU" sz="2400" baseline="30000" dirty="0"/>
              <a:t>We will have a new Maths teacher next week.</a:t>
            </a:r>
          </a:p>
          <a:p>
            <a:r>
              <a:rPr lang="en-AU" sz="2400" b="1" baseline="30000" dirty="0"/>
              <a:t>d) </a:t>
            </a:r>
            <a:r>
              <a:rPr lang="en-AU" sz="2400" baseline="30000" dirty="0"/>
              <a:t>I will watch TV tonight.</a:t>
            </a:r>
          </a:p>
          <a:p>
            <a:r>
              <a:rPr lang="en-AU" sz="2400" b="1" baseline="30000" dirty="0"/>
              <a:t>e) </a:t>
            </a:r>
            <a:r>
              <a:rPr lang="en-AU" sz="2400" baseline="30000" dirty="0"/>
              <a:t>I will become the Prime Minister.</a:t>
            </a:r>
          </a:p>
          <a:p>
            <a:r>
              <a:rPr lang="en-AU" sz="2400" b="1" baseline="30000" dirty="0"/>
              <a:t>f) </a:t>
            </a:r>
            <a:r>
              <a:rPr lang="en-AU" sz="2400" baseline="30000" dirty="0"/>
              <a:t>I will drink some milk today.</a:t>
            </a:r>
          </a:p>
          <a:p>
            <a:r>
              <a:rPr lang="en-AU" sz="2400" b="1" baseline="30000" dirty="0"/>
              <a:t>g) </a:t>
            </a:r>
            <a:r>
              <a:rPr lang="en-AU" sz="2400" baseline="30000" dirty="0"/>
              <a:t>It will rain tomorrow.</a:t>
            </a:r>
          </a:p>
          <a:p>
            <a:r>
              <a:rPr lang="en-AU" sz="2400" b="1" baseline="30000" dirty="0"/>
              <a:t>h) </a:t>
            </a:r>
            <a:r>
              <a:rPr lang="en-AU" sz="2400" baseline="30000" dirty="0"/>
              <a:t>I will get my driver's licence before I am 21.</a:t>
            </a:r>
          </a:p>
          <a:p>
            <a:r>
              <a:rPr lang="en-AU" sz="2400" b="1" baseline="30000" dirty="0" err="1"/>
              <a:t>i</a:t>
            </a:r>
            <a:r>
              <a:rPr lang="en-AU" sz="2400" b="1" baseline="30000" dirty="0"/>
              <a:t>) </a:t>
            </a:r>
            <a:r>
              <a:rPr lang="en-AU" sz="2400" baseline="30000" dirty="0"/>
              <a:t>When a coin is thrown it will land tails up.</a:t>
            </a:r>
          </a:p>
          <a:p>
            <a:r>
              <a:rPr lang="en-AU" sz="2400" b="1" baseline="30000" dirty="0"/>
              <a:t>j) </a:t>
            </a:r>
            <a:r>
              <a:rPr lang="en-AU" sz="2400" baseline="30000" dirty="0"/>
              <a:t>I will send a text message today.</a:t>
            </a:r>
          </a:p>
          <a:p>
            <a:r>
              <a:rPr lang="en-AU" sz="2400" b="1" baseline="30000" dirty="0"/>
              <a:t>k) </a:t>
            </a:r>
            <a:r>
              <a:rPr lang="en-AU" sz="2400" baseline="30000" dirty="0"/>
              <a:t>The next movie I watch will be an action movie.</a:t>
            </a:r>
          </a:p>
          <a:p>
            <a:r>
              <a:rPr lang="en-AU" sz="2400" b="1" baseline="30000" dirty="0"/>
              <a:t>l) </a:t>
            </a:r>
            <a:r>
              <a:rPr lang="en-AU" sz="2400" baseline="30000" dirty="0"/>
              <a:t>The next person to walk through the door will be a girl.</a:t>
            </a:r>
            <a:endParaRPr lang="en-AU" sz="2400" dirty="0"/>
          </a:p>
        </p:txBody>
      </p:sp>
      <p:pic>
        <p:nvPicPr>
          <p:cNvPr id="12" name="Picture 11" descr="Screen Shot 2016-02-02 at 7.40.17 pm.png">
            <a:extLst>
              <a:ext uri="{FF2B5EF4-FFF2-40B4-BE49-F238E27FC236}">
                <a16:creationId xmlns:a16="http://schemas.microsoft.com/office/drawing/2014/main" id="{CE2511B2-ED18-4AC4-BC92-660554698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52676"/>
            <a:ext cx="6287891" cy="148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6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21250740">
            <a:off x="1456566" y="1007951"/>
            <a:ext cx="6607816" cy="501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baseline="30000" dirty="0"/>
              <a:t>a) </a:t>
            </a:r>
            <a:r>
              <a:rPr lang="en-AU" sz="3200" baseline="30000" dirty="0"/>
              <a:t>List 3 events in your everyday life that will be certain.</a:t>
            </a:r>
          </a:p>
          <a:p>
            <a:r>
              <a:rPr lang="en-AU" sz="3200" b="1" baseline="30000" dirty="0"/>
              <a:t>b) </a:t>
            </a:r>
            <a:r>
              <a:rPr lang="en-AU" sz="3200" baseline="30000" dirty="0"/>
              <a:t>List 3 events in your everyday life that will be impossible.</a:t>
            </a:r>
          </a:p>
          <a:p>
            <a:r>
              <a:rPr lang="en-AU" sz="3200" b="1" baseline="30000" dirty="0"/>
              <a:t>c) </a:t>
            </a:r>
            <a:r>
              <a:rPr lang="en-AU" sz="3200" baseline="30000" dirty="0"/>
              <a:t>List 3 events in your everyday life that will be approximately fifty-fifty.</a:t>
            </a:r>
          </a:p>
          <a:p>
            <a:r>
              <a:rPr lang="en-AU" sz="3200" b="1" baseline="30000" dirty="0"/>
              <a:t>d) </a:t>
            </a:r>
            <a:r>
              <a:rPr lang="en-AU" sz="3200" baseline="30000" dirty="0"/>
              <a:t>The probability of tossing a coin and getting a head is fifty-fifty, or 0.5 or 1⁄2. If a coin is tossed 100 times, will the number of heads be 50?</a:t>
            </a:r>
          </a:p>
          <a:p>
            <a:r>
              <a:rPr lang="en-AU" sz="3200" b="1" baseline="30000" dirty="0"/>
              <a:t>e) </a:t>
            </a:r>
            <a:r>
              <a:rPr lang="en-AU" sz="3200" baseline="30000" dirty="0"/>
              <a:t>The probability of rolling a die and getting a 6 is one-sixth, or 0.17, or 1/6. If a die is rolled 60 times, will the number of 6s be 10?</a:t>
            </a:r>
          </a:p>
          <a:p>
            <a:r>
              <a:rPr lang="en-AU" sz="3200" b="1" baseline="30000" dirty="0"/>
              <a:t>f) </a:t>
            </a:r>
            <a:r>
              <a:rPr lang="en-AU" sz="3200" baseline="30000" dirty="0"/>
              <a:t>Almost every gambling game involving money is unfair.</a:t>
            </a:r>
          </a:p>
          <a:p>
            <a:r>
              <a:rPr lang="en-AU" sz="3200" b="1" baseline="30000" dirty="0"/>
              <a:t>g) </a:t>
            </a:r>
            <a:r>
              <a:rPr lang="en-AU" sz="3200" baseline="30000" dirty="0"/>
              <a:t>We have Buckley's chance of winning the match.</a:t>
            </a:r>
            <a:endParaRPr lang="en-A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75FD7-7C1D-4FAC-9617-4878DDA7A56E}"/>
              </a:ext>
            </a:extLst>
          </p:cNvPr>
          <p:cNvSpPr txBox="1"/>
          <p:nvPr/>
        </p:nvSpPr>
        <p:spPr>
          <a:xfrm>
            <a:off x="1305910" y="2629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Student questions</a:t>
            </a:r>
            <a:endParaRPr lang="en-AU" sz="18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3965358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278281">
            <a:off x="1418139" y="1281997"/>
            <a:ext cx="4815643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baseline="30000" dirty="0"/>
              <a:t>The Sample Space for spinning the spinner.</a:t>
            </a:r>
          </a:p>
          <a:p>
            <a:r>
              <a:rPr lang="en-AU" sz="4400" baseline="30000" dirty="0"/>
              <a:t>S = {Green, Blue, Red, Yellow}</a:t>
            </a:r>
          </a:p>
          <a:p>
            <a:r>
              <a:rPr lang="en-AU" sz="2800" dirty="0"/>
              <a:t>The Sample Space for throwing a die. </a:t>
            </a:r>
          </a:p>
          <a:p>
            <a:r>
              <a:rPr lang="en-AU" sz="2800" dirty="0"/>
              <a:t>S = {1,2,3,4,5,6}</a:t>
            </a:r>
          </a:p>
          <a:p>
            <a:r>
              <a:rPr lang="en-AU" sz="2800" dirty="0"/>
              <a:t>The Sample Space for tossing a coin. </a:t>
            </a:r>
          </a:p>
          <a:p>
            <a:r>
              <a:rPr lang="en-AU" sz="2800" dirty="0"/>
              <a:t>S = {H,T}</a:t>
            </a:r>
          </a:p>
        </p:txBody>
      </p:sp>
      <p:pic>
        <p:nvPicPr>
          <p:cNvPr id="3" name="Picture 2" descr="Screen Shot 2016-02-02 at 8.11.48 pm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CBEBFB"/>
              </a:clrFrom>
              <a:clrTo>
                <a:srgbClr val="CBE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3151">
            <a:off x="5806522" y="956922"/>
            <a:ext cx="1574800" cy="1262812"/>
          </a:xfrm>
          <a:prstGeom prst="rect">
            <a:avLst/>
          </a:prstGeom>
        </p:spPr>
      </p:pic>
      <p:pic>
        <p:nvPicPr>
          <p:cNvPr id="4" name="Picture 3" descr="Screen Shot 2016-02-02 at 8.17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67000"/>
            <a:ext cx="1206500" cy="1143000"/>
          </a:xfrm>
          <a:prstGeom prst="rect">
            <a:avLst/>
          </a:prstGeom>
        </p:spPr>
      </p:pic>
      <p:pic>
        <p:nvPicPr>
          <p:cNvPr id="6" name="Picture 5" descr="Screen Shot 2016-02-02 at 8.21.47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4267200"/>
            <a:ext cx="990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6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990600"/>
            <a:ext cx="640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Theoretical Probability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</a:t>
            </a:r>
          </a:p>
          <a:p>
            <a:pPr algn="ctr"/>
            <a:r>
              <a:rPr lang="en-US" sz="4000" dirty="0"/>
              <a:t>The probability of an event</a:t>
            </a:r>
            <a:br>
              <a:rPr lang="en-US" sz="4000" dirty="0"/>
            </a:br>
            <a:r>
              <a:rPr lang="en-US" sz="4000" dirty="0"/>
              <a:t>is the number of </a:t>
            </a:r>
            <a:r>
              <a:rPr lang="en-US" sz="4000" dirty="0" err="1"/>
              <a:t>favourable</a:t>
            </a:r>
            <a:r>
              <a:rPr lang="en-US" sz="4000" dirty="0"/>
              <a:t> outcomes divided by the number of possible outcomes. </a:t>
            </a:r>
          </a:p>
          <a:p>
            <a:pPr algn="ctr"/>
            <a:endParaRPr lang="en-US" sz="2400" dirty="0"/>
          </a:p>
          <a:p>
            <a:pPr algn="ctr"/>
            <a:endParaRPr lang="en-US" sz="2400" dirty="0">
              <a:latin typeface="Happy Sans" panose="02000500000000000000" pitchFamily="2" charset="0"/>
            </a:endParaRPr>
          </a:p>
        </p:txBody>
      </p:sp>
      <p:pic>
        <p:nvPicPr>
          <p:cNvPr id="3" name="Picture 2" descr="Screen Shot 2016-02-02 at 8.33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15814">
            <a:off x="1480510" y="4770822"/>
            <a:ext cx="6705600" cy="106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295400"/>
            <a:ext cx="6553200" cy="4192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Experimental</a:t>
            </a:r>
            <a:r>
              <a:rPr lang="en-US" sz="3600" b="1" dirty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Probability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 </a:t>
            </a:r>
            <a:r>
              <a:rPr lang="en-US" sz="3200" dirty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probability based on the results of repeated trials of an experiment.</a:t>
            </a:r>
          </a:p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/>
              <a:t>If the experiment is fair then with a large number of trials, the experimental probability and the theoretical probability should be similar. </a:t>
            </a:r>
          </a:p>
          <a:p>
            <a:pPr marL="0" marR="0"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endParaRPr lang="en-US" sz="3200" dirty="0">
              <a:latin typeface="Happy Sans" panose="02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 Shot 2016-02-02 at 8.45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69254">
            <a:off x="1412016" y="4951448"/>
            <a:ext cx="6280514" cy="114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800" y="3048000"/>
            <a:ext cx="2672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Review quiz</a:t>
            </a:r>
          </a:p>
        </p:txBody>
      </p:sp>
    </p:spTree>
    <p:extLst>
      <p:ext uri="{BB962C8B-B14F-4D97-AF65-F5344CB8AC3E}">
        <p14:creationId xmlns:p14="http://schemas.microsoft.com/office/powerpoint/2010/main" val="1978341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295400" y="685800"/>
            <a:ext cx="6096000" cy="6397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Fractions 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295400" y="1676400"/>
            <a:ext cx="4131203" cy="5334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kern="0" dirty="0">
                <a:latin typeface="Happy Sans" panose="02000500000000000000" pitchFamily="2" charset="0"/>
              </a:rPr>
              <a:t>Remember when writing a fraction.  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kern="0" dirty="0">
                <a:latin typeface="Happy Sans" panose="02000500000000000000" pitchFamily="2" charset="0"/>
              </a:rPr>
              <a:t>The denominator is the top number, and the numerator is the bottom number.</a:t>
            </a:r>
          </a:p>
          <a:p>
            <a:pPr marL="0" indent="0">
              <a:lnSpc>
                <a:spcPts val="432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800" kern="0" dirty="0">
              <a:latin typeface="Happy Sans" panose="02000500000000000000" pitchFamily="2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90561" y="4266026"/>
            <a:ext cx="3677626" cy="762001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Happy Sans" panose="02000500000000000000" pitchFamily="2" charset="0"/>
              </a:rPr>
              <a:t>Bottom Number</a:t>
            </a:r>
          </a:p>
          <a:p>
            <a:pPr marL="0" indent="0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lang="en-US" sz="3600" b="1" dirty="0">
              <a:solidFill>
                <a:schemeClr val="tx1">
                  <a:lumMod val="95000"/>
                </a:schemeClr>
              </a:solidFill>
              <a:latin typeface="Happy Sans" panose="02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397246" y="3743859"/>
            <a:ext cx="335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lang="en-US" sz="3600" b="1" u="sng" dirty="0">
                <a:solidFill>
                  <a:schemeClr val="tx1">
                    <a:lumMod val="95000"/>
                  </a:schemeClr>
                </a:solidFill>
                <a:latin typeface="Happy Sans" panose="02000500000000000000" pitchFamily="2" charset="0"/>
              </a:rPr>
              <a:t>Top Number 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447800"/>
            <a:ext cx="2494065" cy="42910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977072" y="3962400"/>
            <a:ext cx="760077" cy="739534"/>
          </a:xfrm>
          <a:prstGeom prst="ellipse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6522728" y="3553134"/>
            <a:ext cx="739535" cy="719547"/>
          </a:xfrm>
          <a:prstGeom prst="ellipse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831697" y="3351071"/>
            <a:ext cx="739535" cy="719547"/>
          </a:xfrm>
          <a:prstGeom prst="ellipse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6338339" y="2885329"/>
            <a:ext cx="760077" cy="739534"/>
          </a:xfrm>
          <a:prstGeom prst="ellipse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325312" y="3743859"/>
            <a:ext cx="760077" cy="739534"/>
          </a:xfrm>
          <a:prstGeom prst="ellipse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346681" y="2895600"/>
            <a:ext cx="738964" cy="718992"/>
          </a:xfrm>
          <a:prstGeom prst="ellipse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668103" y="4035053"/>
            <a:ext cx="760077" cy="739534"/>
          </a:xfrm>
          <a:prstGeom prst="ellipse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810572" y="3191620"/>
            <a:ext cx="760077" cy="739534"/>
          </a:xfrm>
          <a:prstGeom prst="ellipse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514547" y="4310890"/>
            <a:ext cx="739535" cy="719547"/>
          </a:xfrm>
          <a:prstGeom prst="ellipse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886201" y="4922084"/>
            <a:ext cx="738964" cy="718992"/>
          </a:xfrm>
          <a:prstGeom prst="ellipse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248400" y="4495800"/>
            <a:ext cx="738964" cy="718992"/>
          </a:xfrm>
          <a:prstGeom prst="ellipse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296307" y="4798187"/>
            <a:ext cx="738964" cy="718992"/>
          </a:xfrm>
          <a:prstGeom prst="ellipse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768500" y="4777645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759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>
                <a:latin typeface="Happy Sans" panose="02000500000000000000" pitchFamily="2" charset="0"/>
              </a:rPr>
              <a:t>What is the probability of choosing a red marble?</a:t>
            </a:r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1080054" y="4953000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98" y="1421815"/>
            <a:ext cx="2494065" cy="429101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55258" y="2943030"/>
            <a:ext cx="760077" cy="739534"/>
          </a:xfrm>
          <a:prstGeom prst="ellipse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5782670" y="3696376"/>
            <a:ext cx="739535" cy="719547"/>
          </a:xfrm>
          <a:prstGeom prst="ellipse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2922069"/>
            <a:ext cx="739535" cy="719547"/>
          </a:xfrm>
          <a:prstGeom prst="ellipse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5122359" y="3532714"/>
            <a:ext cx="760077" cy="739534"/>
          </a:xfrm>
          <a:prstGeom prst="ellipse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003972" y="4798362"/>
            <a:ext cx="760077" cy="739534"/>
          </a:xfrm>
          <a:prstGeom prst="ellipse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73950" y="4426113"/>
            <a:ext cx="760077" cy="739534"/>
          </a:xfrm>
          <a:prstGeom prst="ellipse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452062" y="2900117"/>
            <a:ext cx="760077" cy="739534"/>
          </a:xfrm>
          <a:prstGeom prst="ellipse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4169975"/>
            <a:ext cx="739535" cy="719547"/>
          </a:xfrm>
          <a:prstGeom prst="ellipse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574099" y="4896099"/>
            <a:ext cx="738964" cy="718992"/>
          </a:xfrm>
          <a:prstGeom prst="ellipse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452062" y="4170530"/>
            <a:ext cx="738964" cy="718992"/>
          </a:xfrm>
          <a:prstGeom prst="ellipse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393930" y="3548624"/>
            <a:ext cx="738964" cy="718992"/>
          </a:xfrm>
          <a:prstGeom prst="ellipse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456398" y="4751660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4415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869498" y="1421815"/>
            <a:ext cx="2494065" cy="4291013"/>
            <a:chOff x="4869498" y="1421815"/>
            <a:chExt cx="2494065" cy="429101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498" y="1421815"/>
              <a:ext cx="2494065" cy="4291013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804318" y="2930012"/>
              <a:ext cx="760077" cy="739534"/>
            </a:xfrm>
            <a:prstGeom prst="ellipse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31" t="11335" r="11670" b="49746"/>
            <a:stretch/>
          </p:blipFill>
          <p:spPr>
            <a:xfrm flipV="1">
              <a:off x="5782670" y="3696376"/>
              <a:ext cx="739535" cy="719547"/>
            </a:xfrm>
            <a:prstGeom prst="ellipse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6" t="53557" r="43335" b="7524"/>
            <a:stretch/>
          </p:blipFill>
          <p:spPr>
            <a:xfrm flipV="1">
              <a:off x="5153051" y="2922069"/>
              <a:ext cx="739535" cy="719547"/>
            </a:xfrm>
            <a:prstGeom prst="ellipse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6" t="10000" r="62500" b="50000"/>
            <a:stretch/>
          </p:blipFill>
          <p:spPr>
            <a:xfrm flipV="1">
              <a:off x="5122359" y="3532714"/>
              <a:ext cx="760077" cy="739534"/>
            </a:xfrm>
            <a:prstGeom prst="ellipse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003972" y="4798362"/>
              <a:ext cx="760077" cy="739534"/>
            </a:xfrm>
            <a:prstGeom prst="ellipse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773950" y="4426113"/>
              <a:ext cx="760077" cy="739534"/>
            </a:xfrm>
            <a:prstGeom prst="ellipse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6452062" y="2900117"/>
              <a:ext cx="760077" cy="739534"/>
            </a:xfrm>
            <a:prstGeom prst="ellipse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66" t="53557" r="43335" b="7524"/>
            <a:stretch/>
          </p:blipFill>
          <p:spPr>
            <a:xfrm flipV="1">
              <a:off x="5153051" y="4169975"/>
              <a:ext cx="739535" cy="719547"/>
            </a:xfrm>
            <a:prstGeom prst="ellipse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452062" y="4170530"/>
              <a:ext cx="738964" cy="718992"/>
            </a:xfrm>
            <a:prstGeom prst="ellipse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393930" y="3548624"/>
              <a:ext cx="738964" cy="718992"/>
            </a:xfrm>
            <a:prstGeom prst="ellipse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456398" y="4751660"/>
              <a:ext cx="760077" cy="739534"/>
            </a:xfrm>
            <a:prstGeom prst="ellipse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582756" y="4882893"/>
              <a:ext cx="760077" cy="739534"/>
            </a:xfrm>
            <a:prstGeom prst="ellipse">
              <a:avLst/>
            </a:prstGeom>
          </p:spPr>
        </p:pic>
      </p:grpSp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>
                <a:latin typeface="Happy Sans" panose="02000500000000000000" pitchFamily="2" charset="0"/>
              </a:rPr>
              <a:t>What is the probability of choosing a blue marble?</a:t>
            </a:r>
          </a:p>
        </p:txBody>
      </p:sp>
      <p:sp>
        <p:nvSpPr>
          <p:cNvPr id="46" name="TextBox 5"/>
          <p:cNvSpPr txBox="1">
            <a:spLocks noChangeArrowheads="1"/>
          </p:cNvSpPr>
          <p:nvPr/>
        </p:nvSpPr>
        <p:spPr bwMode="auto">
          <a:xfrm>
            <a:off x="1109994" y="4857553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</a:p>
        </p:txBody>
      </p:sp>
      <p:sp>
        <p:nvSpPr>
          <p:cNvPr id="53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</a:p>
        </p:txBody>
      </p:sp>
    </p:spTree>
    <p:extLst>
      <p:ext uri="{BB962C8B-B14F-4D97-AF65-F5344CB8AC3E}">
        <p14:creationId xmlns:p14="http://schemas.microsoft.com/office/powerpoint/2010/main" val="251209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>
                <a:latin typeface="Happy Sans" panose="02000500000000000000" pitchFamily="2" charset="0"/>
              </a:rPr>
              <a:t>What is the probability of choosing a orange marble?</a:t>
            </a: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109994" y="4857553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</a:p>
        </p:txBody>
      </p:sp>
      <p:sp>
        <p:nvSpPr>
          <p:cNvPr id="6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69498" y="1421815"/>
            <a:ext cx="2494065" cy="4291013"/>
            <a:chOff x="4869498" y="1421815"/>
            <a:chExt cx="2494065" cy="4291013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498" y="1421815"/>
              <a:ext cx="2494065" cy="4291013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6" t="10000" r="62500" b="50000"/>
            <a:stretch/>
          </p:blipFill>
          <p:spPr>
            <a:xfrm flipV="1">
              <a:off x="5035590" y="3529486"/>
              <a:ext cx="760077" cy="739534"/>
            </a:xfrm>
            <a:prstGeom prst="ellipse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003972" y="4798362"/>
              <a:ext cx="760077" cy="739534"/>
            </a:xfrm>
            <a:prstGeom prst="ellipse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10001" r="62500" b="49999"/>
            <a:stretch/>
          </p:blipFill>
          <p:spPr>
            <a:xfrm flipV="1">
              <a:off x="5773950" y="4426113"/>
              <a:ext cx="760077" cy="739534"/>
            </a:xfrm>
            <a:prstGeom prst="ellipse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521197" y="3987805"/>
              <a:ext cx="738964" cy="718992"/>
            </a:xfrm>
            <a:prstGeom prst="ellipse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21" t="53333" r="43201" b="7778"/>
            <a:stretch/>
          </p:blipFill>
          <p:spPr>
            <a:xfrm flipV="1">
              <a:off x="6477511" y="3445798"/>
              <a:ext cx="738964" cy="718992"/>
            </a:xfrm>
            <a:prstGeom prst="ellipse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511646" y="4567241"/>
              <a:ext cx="760077" cy="739534"/>
            </a:xfrm>
            <a:prstGeom prst="ellipse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887416" y="4872784"/>
              <a:ext cx="760077" cy="739534"/>
            </a:xfrm>
            <a:prstGeom prst="ellipse">
              <a:avLst/>
            </a:prstGeom>
          </p:spPr>
        </p:pic>
        <p:pic>
          <p:nvPicPr>
            <p:cNvPr id="74" name="Picture 7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164161" y="4100566"/>
              <a:ext cx="760077" cy="739534"/>
            </a:xfrm>
            <a:prstGeom prst="ellipse">
              <a:avLst/>
            </a:prstGeom>
          </p:spPr>
        </p:pic>
        <p:pic>
          <p:nvPicPr>
            <p:cNvPr id="75" name="Picture 7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817801" y="3721159"/>
              <a:ext cx="760077" cy="739534"/>
            </a:xfrm>
            <a:prstGeom prst="ellipse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6242209" y="2824532"/>
              <a:ext cx="760077" cy="739534"/>
            </a:xfrm>
            <a:prstGeom prst="ellipse">
              <a:avLst/>
            </a:prstGeom>
          </p:spPr>
        </p:pic>
        <p:pic>
          <p:nvPicPr>
            <p:cNvPr id="77" name="Picture 7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4998068" y="2920708"/>
              <a:ext cx="760077" cy="739534"/>
            </a:xfrm>
            <a:prstGeom prst="ellipse">
              <a:avLst/>
            </a:prstGeom>
          </p:spPr>
        </p:pic>
        <p:pic>
          <p:nvPicPr>
            <p:cNvPr id="78" name="Picture 7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501" t="10000" r="11665" b="50000"/>
            <a:stretch/>
          </p:blipFill>
          <p:spPr>
            <a:xfrm flipV="1">
              <a:off x="5584897" y="3083482"/>
              <a:ext cx="760077" cy="739534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927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80054" y="1423796"/>
            <a:ext cx="3259014" cy="233954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en-US" sz="3600" dirty="0">
                <a:latin typeface="Happy Sans" panose="02000500000000000000" pitchFamily="2" charset="0"/>
              </a:rPr>
              <a:t>What is the probability of choosing a black marble?</a:t>
            </a:r>
          </a:p>
        </p:txBody>
      </p:sp>
      <p:sp>
        <p:nvSpPr>
          <p:cNvPr id="15366" name="TextBox 5"/>
          <p:cNvSpPr txBox="1">
            <a:spLocks noChangeArrowheads="1"/>
          </p:cNvSpPr>
          <p:nvPr/>
        </p:nvSpPr>
        <p:spPr bwMode="auto">
          <a:xfrm>
            <a:off x="1080054" y="4953000"/>
            <a:ext cx="3962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Remember to simplify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Happy Sans" panose="02000500000000000000" pitchFamily="2" charset="0"/>
              </a:rPr>
              <a:t>all fractions</a:t>
            </a:r>
          </a:p>
        </p:txBody>
      </p:sp>
      <p:sp>
        <p:nvSpPr>
          <p:cNvPr id="40" name="Title 1"/>
          <p:cNvSpPr txBox="1">
            <a:spLocks/>
          </p:cNvSpPr>
          <p:nvPr/>
        </p:nvSpPr>
        <p:spPr>
          <a:xfrm>
            <a:off x="4402030" y="683321"/>
            <a:ext cx="3429000" cy="563562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48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</a:rPr>
              <a:t>Probability 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98" y="1421815"/>
            <a:ext cx="2494065" cy="4291013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55258" y="2943030"/>
            <a:ext cx="760077" cy="739534"/>
          </a:xfrm>
          <a:prstGeom prst="ellipse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1" t="11335" r="11670" b="49746"/>
          <a:stretch/>
        </p:blipFill>
        <p:spPr>
          <a:xfrm flipV="1">
            <a:off x="5782670" y="3696376"/>
            <a:ext cx="739535" cy="719547"/>
          </a:xfrm>
          <a:prstGeom prst="ellipse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2922069"/>
            <a:ext cx="739535" cy="719547"/>
          </a:xfrm>
          <a:prstGeom prst="ellipse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0000" r="62500" b="50000"/>
          <a:stretch/>
        </p:blipFill>
        <p:spPr>
          <a:xfrm flipV="1">
            <a:off x="5122359" y="3532714"/>
            <a:ext cx="760077" cy="739534"/>
          </a:xfrm>
          <a:prstGeom prst="ellipse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5003972" y="4798362"/>
            <a:ext cx="760077" cy="739534"/>
          </a:xfrm>
          <a:prstGeom prst="ellipse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5773950" y="4426113"/>
            <a:ext cx="760077" cy="739534"/>
          </a:xfrm>
          <a:prstGeom prst="ellipse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0001" r="62500" b="49999"/>
          <a:stretch/>
        </p:blipFill>
        <p:spPr>
          <a:xfrm flipV="1">
            <a:off x="6452062" y="2900117"/>
            <a:ext cx="760077" cy="739534"/>
          </a:xfrm>
          <a:prstGeom prst="ellipse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6" t="53557" r="43335" b="7524"/>
          <a:stretch/>
        </p:blipFill>
        <p:spPr>
          <a:xfrm flipV="1">
            <a:off x="5153051" y="4169975"/>
            <a:ext cx="739535" cy="719547"/>
          </a:xfrm>
          <a:prstGeom prst="ellipse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5574099" y="4896099"/>
            <a:ext cx="738964" cy="718992"/>
          </a:xfrm>
          <a:prstGeom prst="ellipse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452062" y="4170530"/>
            <a:ext cx="738964" cy="718992"/>
          </a:xfrm>
          <a:prstGeom prst="ellipse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1" t="53333" r="43201" b="7778"/>
          <a:stretch/>
        </p:blipFill>
        <p:spPr>
          <a:xfrm flipV="1">
            <a:off x="6393930" y="3548624"/>
            <a:ext cx="738964" cy="718992"/>
          </a:xfrm>
          <a:prstGeom prst="ellipse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0000" r="11665" b="50000"/>
          <a:stretch/>
        </p:blipFill>
        <p:spPr>
          <a:xfrm flipV="1">
            <a:off x="6456398" y="4751660"/>
            <a:ext cx="760077" cy="7395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5368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1389</TotalTime>
  <Words>862</Words>
  <Application>Microsoft Office PowerPoint</Application>
  <PresentationFormat>On-screen Show (4:3)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Chalkboard</vt:lpstr>
      <vt:lpstr>Fragment Core</vt:lpstr>
      <vt:lpstr>Franklin Gothic Book</vt:lpstr>
      <vt:lpstr>Geneva</vt:lpstr>
      <vt:lpstr>Happy Sans</vt:lpstr>
      <vt:lpstr>Tw Cen MT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Amy Mailloux;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Amy Mailloux</dc:creator>
  <cp:lastModifiedBy>Umberto Gargaro</cp:lastModifiedBy>
  <cp:revision>47</cp:revision>
  <dcterms:created xsi:type="dcterms:W3CDTF">2013-01-13T22:01:10Z</dcterms:created>
  <dcterms:modified xsi:type="dcterms:W3CDTF">2021-11-19T04:23:42Z</dcterms:modified>
</cp:coreProperties>
</file>
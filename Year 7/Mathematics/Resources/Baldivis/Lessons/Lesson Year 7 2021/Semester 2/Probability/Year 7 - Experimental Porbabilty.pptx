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39387-69DD-1448-9F35-E7FAAF82243E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15BE9-1550-BA42-A36C-A6CAFE1A3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2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Share with students what they are learning or will be able to do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Why the lesson is important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7CFEC14-1EC7-334A-B2DD-63AE84B1EC29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3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3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3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0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63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8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3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0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266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3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785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81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47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3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08A0D0-1162-FA4F-A6D8-8634BF1570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9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41CB761-73BB-8648-860F-03A98DC534A3}" type="datetimeFigureOut">
              <a:rPr lang="en-US" smtClean="0"/>
              <a:t>11/19/2021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5F60874-BF5B-DE48-9122-8C2668969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24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83762"/>
            <a:ext cx="7772400" cy="2033378"/>
          </a:xfrm>
        </p:spPr>
        <p:txBody>
          <a:bodyPr>
            <a:normAutofit fontScale="90000"/>
          </a:bodyPr>
          <a:lstStyle/>
          <a:p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  <a:t>Experimental Probability</a:t>
            </a:r>
            <a:b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</a:br>
            <a:b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</a:b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effectLst>
                  <a:reflection blurRad="12700" stA="28000" endPos="45000" dist="1000" dir="5400000" sy="-100000" algn="bl" rotWithShape="0"/>
                </a:effectLst>
                <a:latin typeface="Chalkboard"/>
                <a:cs typeface="Chalkboard"/>
              </a:rPr>
              <a:t>Year 7 </a:t>
            </a:r>
          </a:p>
        </p:txBody>
      </p:sp>
    </p:spTree>
    <p:extLst>
      <p:ext uri="{BB962C8B-B14F-4D97-AF65-F5344CB8AC3E}">
        <p14:creationId xmlns:p14="http://schemas.microsoft.com/office/powerpoint/2010/main" val="276478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18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experimental probability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4691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Experimental Probability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16424"/>
            <a:ext cx="218922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Experimental Probability?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0528" y="1593332"/>
            <a:ext cx="6506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the number of times an event happens over the total number of trials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Experimental Probability =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number of times the event occurred</a:t>
            </a:r>
          </a:p>
          <a:p>
            <a:pPr algn="ctr"/>
            <a:r>
              <a:rPr lang="en-US" sz="2400" dirty="0"/>
              <a:t>------------------------------------------------</a:t>
            </a:r>
          </a:p>
          <a:p>
            <a:pPr algn="ctr"/>
            <a:r>
              <a:rPr lang="en-US" sz="2400" dirty="0"/>
              <a:t>number of trials</a:t>
            </a:r>
          </a:p>
        </p:txBody>
      </p:sp>
    </p:spTree>
    <p:extLst>
      <p:ext uri="{BB962C8B-B14F-4D97-AF65-F5344CB8AC3E}">
        <p14:creationId xmlns:p14="http://schemas.microsoft.com/office/powerpoint/2010/main" val="393420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1109729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we find the experimental probability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4691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Experimental Probability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16424"/>
            <a:ext cx="2189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Difference between Theoretical and Experimental Probability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674489"/>
            <a:ext cx="65207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Theoretical probability </a:t>
            </a:r>
            <a:r>
              <a:rPr lang="en-US" sz="2400" dirty="0"/>
              <a:t>is what we</a:t>
            </a:r>
            <a:r>
              <a:rPr lang="en-US" sz="2400" u="sng" dirty="0"/>
              <a:t> expect </a:t>
            </a:r>
            <a:r>
              <a:rPr lang="en-US" sz="2400" dirty="0"/>
              <a:t>to happen</a:t>
            </a:r>
          </a:p>
          <a:p>
            <a:endParaRPr lang="en-US" sz="2400" dirty="0"/>
          </a:p>
          <a:p>
            <a:r>
              <a:rPr lang="en-US" sz="2400" b="1" dirty="0"/>
              <a:t>Experimental probability </a:t>
            </a:r>
            <a:r>
              <a:rPr lang="en-US" sz="2400" dirty="0"/>
              <a:t>is what </a:t>
            </a:r>
            <a:r>
              <a:rPr lang="en-US" sz="2400" u="sng" dirty="0"/>
              <a:t>actually</a:t>
            </a:r>
            <a:r>
              <a:rPr lang="en-US" sz="2400" dirty="0"/>
              <a:t> happens when we try it out.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867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65" y="206725"/>
            <a:ext cx="8851735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mpd="sng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p:pic>
        <p:nvPicPr>
          <p:cNvPr id="3" name="Picture 2" descr="Screen Shot 2017-03-21 at 8.56.3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8052"/>
            <a:ext cx="9144000" cy="52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7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4"/>
          <p:cNvSpPr txBox="1">
            <a:spLocks noChangeArrowheads="1"/>
          </p:cNvSpPr>
          <p:nvPr/>
        </p:nvSpPr>
        <p:spPr bwMode="auto">
          <a:xfrm>
            <a:off x="0" y="76200"/>
            <a:ext cx="9144000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>
                <a:latin typeface="Lucida Sans" charset="0"/>
              </a:rPr>
              <a:t>M&amp;M Experiment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3200" b="1">
                <a:latin typeface="Lucida Sans" charset="0"/>
              </a:rPr>
              <a:t>Which color are you most likely to get?</a:t>
            </a:r>
          </a:p>
        </p:txBody>
      </p:sp>
      <p:pic>
        <p:nvPicPr>
          <p:cNvPr id="2051" name="Picture 6" descr="280px-Plain-M%26Ms-P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8988"/>
            <a:ext cx="5029200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478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"/>
          <p:cNvSpPr txBox="1">
            <a:spLocks noChangeArrowheads="1"/>
          </p:cNvSpPr>
          <p:nvPr/>
        </p:nvSpPr>
        <p:spPr bwMode="auto">
          <a:xfrm>
            <a:off x="0" y="76200"/>
            <a:ext cx="9144000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>
                <a:latin typeface="Lucida Sans" charset="0"/>
              </a:rPr>
              <a:t>Step 1</a:t>
            </a:r>
          </a:p>
          <a:p>
            <a:pPr algn="ctr" eaLnBrk="1" hangingPunct="1">
              <a:spcBef>
                <a:spcPct val="50000"/>
              </a:spcBef>
            </a:pPr>
            <a:endParaRPr lang="en-US" sz="6600" b="1">
              <a:latin typeface="Lucida Sans" charset="0"/>
            </a:endParaRPr>
          </a:p>
        </p:txBody>
      </p:sp>
      <p:pic>
        <p:nvPicPr>
          <p:cNvPr id="3075" name="Picture 6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8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69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70" descr="colormyworld_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57800"/>
            <a:ext cx="2133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7678" y="1590605"/>
            <a:ext cx="871382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Glue the table into your book on the task page</a:t>
            </a: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Count the number of all M&amp;Ms in your packet</a:t>
            </a:r>
          </a:p>
          <a:p>
            <a:pPr lvl="0"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Count the number of </a:t>
            </a:r>
            <a:r>
              <a:rPr lang="en-US" sz="2000" dirty="0"/>
              <a:t>M&amp;Ms</a:t>
            </a:r>
            <a:r>
              <a:rPr lang="en-US" sz="2000" dirty="0">
                <a:latin typeface="+mj-lt"/>
              </a:rPr>
              <a:t> for each color. </a:t>
            </a: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endParaRPr lang="en-US" sz="2000" dirty="0">
              <a:latin typeface="+mj-lt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Fill in your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8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533400" y="76200"/>
            <a:ext cx="8077200" cy="714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600" b="1" dirty="0">
                <a:latin typeface="Lucida Sans" charset="0"/>
              </a:rPr>
              <a:t>Step 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2000" b="1" dirty="0">
                <a:latin typeface="Lucida Sans" charset="0"/>
              </a:rPr>
              <a:t>Analyze your results by responding to the following questions.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According to your results, which color is most likely? Which color is least likely?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What is the sample space for picking an M&amp;M in your package?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Is picking a blue or orange candy more likely? Why?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Do you have any colors that have equally likely outcomes? Explain!</a:t>
            </a:r>
          </a:p>
          <a:p>
            <a:pPr marL="457200" indent="-457200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+mj-lt"/>
              </a:rPr>
              <a:t>What is the probability of: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+mj-lt"/>
              </a:rPr>
              <a:t>picking an orange M&amp;M?               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+mj-lt"/>
              </a:rPr>
              <a:t>picking an orange or a yellow M&amp;M? 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+mj-lt"/>
              </a:rPr>
              <a:t>not picking an orange M&amp;M? 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+mj-lt"/>
              </a:rPr>
              <a:t>not picking an orange or a yellow M&amp;M?</a:t>
            </a:r>
          </a:p>
          <a:p>
            <a:pPr marL="857250" lvl="1" indent="-457200" eaLnBrk="1" hangingPunct="1">
              <a:spcAft>
                <a:spcPts val="600"/>
              </a:spcAft>
              <a:buFont typeface="+mj-lt"/>
              <a:buAutoNum type="alphaLcPeriod"/>
            </a:pPr>
            <a:endParaRPr lang="en-US" sz="2000" dirty="0">
              <a:latin typeface="+mj-lt"/>
            </a:endParaRPr>
          </a:p>
          <a:p>
            <a:pPr marL="0" indent="0" eaLnBrk="1" hangingPunct="1">
              <a:spcAft>
                <a:spcPts val="600"/>
              </a:spcAft>
            </a:pPr>
            <a:r>
              <a:rPr lang="en-US" sz="2000" dirty="0">
                <a:latin typeface="+mj-lt"/>
              </a:rPr>
              <a:t>Did we calculate and examine theoretical or experimental probability? How do you know? Elaborate!!!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endParaRPr lang="en-US" b="1" dirty="0">
              <a:latin typeface="Lucida Sans" charset="0"/>
            </a:endParaRPr>
          </a:p>
        </p:txBody>
      </p:sp>
      <p:pic>
        <p:nvPicPr>
          <p:cNvPr id="5123" name="Picture 6" descr="mm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0"/>
            <a:ext cx="1371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7" descr="mm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1371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242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533400" y="304800"/>
            <a:ext cx="8153400" cy="630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 b="1" dirty="0">
                <a:latin typeface="Lucida Sans" charset="0"/>
              </a:rPr>
              <a:t>Step 3</a:t>
            </a:r>
          </a:p>
          <a:p>
            <a:r>
              <a:rPr lang="en-US" sz="2400" b="1" dirty="0">
                <a:latin typeface="Lucida Sans" charset="0"/>
              </a:rPr>
              <a:t>According to the M&amp;M website, each package of milk chocolate M&amp;M contains…</a:t>
            </a:r>
          </a:p>
          <a:p>
            <a:endParaRPr lang="en-US" sz="2400" b="1" dirty="0">
              <a:latin typeface="Lucida Sans" charset="0"/>
            </a:endParaRPr>
          </a:p>
          <a:p>
            <a:endParaRPr lang="en-US" sz="2400" b="1" dirty="0">
              <a:latin typeface="Lucida Sans" charset="0"/>
            </a:endParaRP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24% Blue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14% Brown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16% Green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20% Orange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13% Red</a:t>
            </a:r>
          </a:p>
          <a:p>
            <a:pPr lvl="1">
              <a:buFontTx/>
              <a:buChar char="•"/>
            </a:pPr>
            <a:r>
              <a:rPr lang="en-US" sz="2400" b="1" dirty="0">
                <a:latin typeface="Lucida Sans" charset="0"/>
              </a:rPr>
              <a:t>14% Yellow</a:t>
            </a:r>
          </a:p>
          <a:p>
            <a:pPr lvl="1">
              <a:buFontTx/>
              <a:buChar char="•"/>
            </a:pPr>
            <a:endParaRPr lang="en-US" sz="2400" b="1" dirty="0">
              <a:latin typeface="Lucida Sans" charset="0"/>
            </a:endParaRPr>
          </a:p>
          <a:p>
            <a:pPr lvl="1">
              <a:buFontTx/>
              <a:buChar char="•"/>
            </a:pPr>
            <a:endParaRPr lang="en-US" sz="2400" b="1" dirty="0">
              <a:latin typeface="Lucida Sans" charset="0"/>
            </a:endParaRPr>
          </a:p>
          <a:p>
            <a:r>
              <a:rPr lang="en-US" sz="2400" b="1" dirty="0">
                <a:latin typeface="Lucida Sans" charset="0"/>
              </a:rPr>
              <a:t>How does your M&amp;M data compare to the theoretical data?</a:t>
            </a:r>
          </a:p>
          <a:p>
            <a:pPr algn="ctr"/>
            <a:r>
              <a:rPr lang="en-US" sz="2400" b="1" dirty="0">
                <a:solidFill>
                  <a:srgbClr val="953735"/>
                </a:solidFill>
                <a:latin typeface="Lucida Sans" charset="0"/>
              </a:rPr>
              <a:t>You can now EAT your M&amp;Ms</a:t>
            </a:r>
          </a:p>
        </p:txBody>
      </p:sp>
      <p:pic>
        <p:nvPicPr>
          <p:cNvPr id="6147" name="Picture 6" descr="M-and-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057400"/>
            <a:ext cx="4267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300513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</TotalTime>
  <Words>380</Words>
  <Application>Microsoft Office PowerPoint</Application>
  <PresentationFormat>On-screen Show (4:3)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Chalkboard</vt:lpstr>
      <vt:lpstr>Lucida Sans</vt:lpstr>
      <vt:lpstr>Wingdings 3</vt:lpstr>
      <vt:lpstr>Slice</vt:lpstr>
      <vt:lpstr>Experimental Probability  Year 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Umberto Gargaro</cp:lastModifiedBy>
  <cp:revision>2</cp:revision>
  <dcterms:created xsi:type="dcterms:W3CDTF">2017-03-21T01:31:55Z</dcterms:created>
  <dcterms:modified xsi:type="dcterms:W3CDTF">2021-11-19T04:30:00Z</dcterms:modified>
</cp:coreProperties>
</file>
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57" r:id="rId2"/>
    <p:sldId id="258" r:id="rId3"/>
    <p:sldId id="263" r:id="rId4"/>
    <p:sldId id="273" r:id="rId5"/>
    <p:sldId id="274" r:id="rId6"/>
    <p:sldId id="277" r:id="rId7"/>
    <p:sldId id="287" r:id="rId8"/>
    <p:sldId id="280" r:id="rId9"/>
    <p:sldId id="281" r:id="rId10"/>
    <p:sldId id="282" r:id="rId11"/>
    <p:sldId id="283" r:id="rId12"/>
    <p:sldId id="284" r:id="rId13"/>
    <p:sldId id="285" r:id="rId14"/>
    <p:sldId id="276" r:id="rId15"/>
    <p:sldId id="28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0" autoAdjust="0"/>
    <p:restoredTop sz="91567" autoAdjust="0"/>
  </p:normalViewPr>
  <p:slideViewPr>
    <p:cSldViewPr snapToGrid="0">
      <p:cViewPr varScale="1">
        <p:scale>
          <a:sx n="81" d="100"/>
          <a:sy n="81" d="100"/>
        </p:scale>
        <p:origin x="3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2E2BD-18D9-4AC8-A425-BFF3B2EE283D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3360F-154F-4D2E-8DE3-FEB4531B9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00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06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30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Assign a section for each group/pair to discuss with their partners then go up to the board to fill in the blanks. Make sure the WHOLE class agrees before moving 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93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2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92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77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45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16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44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764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71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959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08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Draw 3-4 angles on the board going through each step.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C3360F-154F-4D2E-8DE3-FEB4531B9E32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582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106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583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19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063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89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426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149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904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183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124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106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271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7965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36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931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691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476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534CC-4EA5-46B9-971F-0F4E8A526976}" type="datetimeFigureOut">
              <a:rPr lang="en-AU" smtClean="0"/>
              <a:t>13/06/2018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92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nmsutopia.wikispaces.com/9KatieK's+Tale+of+Utopia" TargetMode="Externa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7875" y="1706423"/>
            <a:ext cx="9448800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Drawing angles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Ms. Latham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Practise using the protractor</a:t>
            </a:r>
          </a:p>
          <a:p>
            <a:r>
              <a:rPr lang="en-AU" sz="3600" dirty="0"/>
              <a:t>Draw angles to accuracy of 3 degrees</a:t>
            </a:r>
          </a:p>
          <a:p>
            <a:r>
              <a:rPr lang="en-AU" sz="3600" dirty="0"/>
              <a:t>Read angels with an accuracy of 3 degrees 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Review!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49" y="1390650"/>
            <a:ext cx="11839575" cy="4946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>
                <a:cs typeface="Calibri" panose="020F0502020204030204" pitchFamily="34" charset="0"/>
              </a:rPr>
              <a:t>Students will be called on to fill in the table so be ready!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3BCE3B-BD74-459E-B30F-0EA77A741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268451"/>
              </p:ext>
            </p:extLst>
          </p:nvPr>
        </p:nvGraphicFramePr>
        <p:xfrm>
          <a:off x="247649" y="2217425"/>
          <a:ext cx="11001585" cy="3909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351">
                  <a:extLst>
                    <a:ext uri="{9D8B030D-6E8A-4147-A177-3AD203B41FA5}">
                      <a16:colId xmlns:a16="http://schemas.microsoft.com/office/drawing/2014/main" val="1863184381"/>
                    </a:ext>
                  </a:extLst>
                </a:gridCol>
                <a:gridCol w="1157869">
                  <a:extLst>
                    <a:ext uri="{9D8B030D-6E8A-4147-A177-3AD203B41FA5}">
                      <a16:colId xmlns:a16="http://schemas.microsoft.com/office/drawing/2014/main" val="1923536255"/>
                    </a:ext>
                  </a:extLst>
                </a:gridCol>
                <a:gridCol w="1659695">
                  <a:extLst>
                    <a:ext uri="{9D8B030D-6E8A-4147-A177-3AD203B41FA5}">
                      <a16:colId xmlns:a16="http://schemas.microsoft.com/office/drawing/2014/main" val="3668406331"/>
                    </a:ext>
                  </a:extLst>
                </a:gridCol>
                <a:gridCol w="1675502">
                  <a:extLst>
                    <a:ext uri="{9D8B030D-6E8A-4147-A177-3AD203B41FA5}">
                      <a16:colId xmlns:a16="http://schemas.microsoft.com/office/drawing/2014/main" val="620352370"/>
                    </a:ext>
                  </a:extLst>
                </a:gridCol>
                <a:gridCol w="1454209">
                  <a:extLst>
                    <a:ext uri="{9D8B030D-6E8A-4147-A177-3AD203B41FA5}">
                      <a16:colId xmlns:a16="http://schemas.microsoft.com/office/drawing/2014/main" val="2814262901"/>
                    </a:ext>
                  </a:extLst>
                </a:gridCol>
                <a:gridCol w="1493726">
                  <a:extLst>
                    <a:ext uri="{9D8B030D-6E8A-4147-A177-3AD203B41FA5}">
                      <a16:colId xmlns:a16="http://schemas.microsoft.com/office/drawing/2014/main" val="266123796"/>
                    </a:ext>
                  </a:extLst>
                </a:gridCol>
                <a:gridCol w="2284233">
                  <a:extLst>
                    <a:ext uri="{9D8B030D-6E8A-4147-A177-3AD203B41FA5}">
                      <a16:colId xmlns:a16="http://schemas.microsoft.com/office/drawing/2014/main" val="3210468124"/>
                    </a:ext>
                  </a:extLst>
                </a:gridCol>
              </a:tblGrid>
              <a:tr h="946572">
                <a:tc>
                  <a:txBody>
                    <a:bodyPr/>
                    <a:lstStyle/>
                    <a:p>
                      <a:r>
                        <a:rPr lang="en-AU" sz="2000" dirty="0"/>
                        <a:t>Angle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3200" dirty="0"/>
                        <a:t>Right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3200" dirty="0"/>
                        <a:t>Obtuse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3200" dirty="0"/>
                        <a:t>Straight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3200" dirty="0"/>
                        <a:t>Acute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3200" dirty="0"/>
                        <a:t>Reflex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3200" dirty="0"/>
                        <a:t>Revolution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6172119"/>
                  </a:ext>
                </a:extLst>
              </a:tr>
              <a:tr h="1481393">
                <a:tc>
                  <a:txBody>
                    <a:bodyPr/>
                    <a:lstStyle/>
                    <a:p>
                      <a:r>
                        <a:rPr lang="en-AU" sz="1800" dirty="0"/>
                        <a:t>Definition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609240"/>
                  </a:ext>
                </a:extLst>
              </a:tr>
              <a:tr h="1481393">
                <a:tc>
                  <a:txBody>
                    <a:bodyPr/>
                    <a:lstStyle/>
                    <a:p>
                      <a:r>
                        <a:rPr lang="en-AU" dirty="0"/>
                        <a:t>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801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93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4525857"/>
            <a:ext cx="4355956" cy="2259106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–How do I draw angles?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1" y="1477612"/>
            <a:ext cx="1639614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1: Line up the bottom of the angle with the straight line of the protractor.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019" y="2440507"/>
            <a:ext cx="4068215" cy="237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5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14583 L 0.00026 0.14629 C 0.00065 0.12361 0.00091 0.10115 0.00143 0.07893 C 0.00169 0.0699 0.00247 0.06134 0.00247 0.05231 C 0.00247 0.00046 0.00351 0.01111 0.00026 -0.01412 C -0.00222 -0.07084 0.00117 -0.01135 -0.00287 -0.05232 C -0.00339 -0.05787 -0.00352 -0.06389 -0.00391 -0.06945 C -0.0043 -0.07361 -0.00469 -0.07732 -0.00508 -0.08125 C -0.00547 -0.08588 -0.00573 -0.09121 -0.00612 -0.09584 C -0.0069 -0.10348 -0.00833 -0.11898 -0.00833 -0.11852 C -0.01016 -0.1588 -0.00781 -0.12848 -0.01159 -0.15394 C -0.01237 -0.15973 -0.0138 -0.17153 -0.0138 -0.17107 C -0.01458 -0.18588 -0.01458 -0.19098 -0.01602 -0.20348 C -0.01667 -0.20926 -0.01823 -0.22084 -0.01823 -0.2206 C -0.01849 -0.22685 -0.01875 -0.23264 -0.01914 -0.23843 C -0.0194 -0.24121 -0.02005 -0.24398 -0.02018 -0.24699 C -0.0207 -0.25278 -0.02083 -0.2588 -0.02136 -0.26459 C -0.02201 -0.27246 -0.02214 -0.28079 -0.02357 -0.28797 C -0.02435 -0.29167 -0.02513 -0.29537 -0.02578 -0.29954 C -0.02682 -0.30672 -0.02669 -0.31297 -0.028 -0.31991 C -0.02839 -0.32292 -0.0293 -0.3257 -0.03008 -0.32848 L -0.03229 -0.34584 C -0.03255 -0.34908 -0.03281 -0.35209 -0.03333 -0.35486 C -0.03516 -0.36412 -0.03659 -0.37246 -0.03867 -0.38102 C -0.03932 -0.3831 -0.04024 -0.38473 -0.04089 -0.38681 C -0.05091 -0.41713 -0.0418 -0.3919 -0.05182 -0.41875 C -0.05781 -0.4507 -0.04987 -0.41158 -0.05716 -0.43912 C -0.0582 -0.44283 -0.05847 -0.44723 -0.05938 -0.4507 C -0.06068 -0.4551 -0.0625 -0.45834 -0.0638 -0.46227 C -0.06458 -0.46505 -0.06511 -0.46852 -0.06589 -0.4713 C -0.06732 -0.47547 -0.06901 -0.47848 -0.07031 -0.48264 C -0.07149 -0.48681 -0.07487 -0.50324 -0.07565 -0.50903 C -0.07656 -0.51459 -0.07682 -0.52107 -0.07787 -0.52616 C -0.07943 -0.53403 -0.08047 -0.54236 -0.08229 -0.54954 C -0.08294 -0.55278 -0.08386 -0.55533 -0.08438 -0.55857 C -0.08529 -0.56297 -0.0862 -0.57477 -0.08659 -0.57871 C -0.08737 -0.58565 -0.08815 -0.59213 -0.0888 -0.59908 C -0.08919 -0.60324 -0.08945 -0.60695 -0.08998 -0.61065 C -0.09063 -0.61667 -0.09193 -0.62824 -0.09193 -0.62801 C -0.09024 -0.64861 -0.09271 -0.63449 -0.08438 -0.64584 C -0.07643 -0.65648 -0.08386 -0.64792 -0.07461 -0.6544 C -0.07253 -0.65602 -0.07031 -0.6588 -0.0681 -0.66019 C -0.06667 -0.66111 -0.06511 -0.66181 -0.0638 -0.6632 C -0.06159 -0.66505 -0.05951 -0.66806 -0.05716 -0.66922 L -0.05078 -0.67176 C -0.04323 -0.67871 -0.04258 -0.68033 -0.03333 -0.68033 C -0.03008 -0.68033 -0.02682 -0.67871 -0.02357 -0.67778 C -0.02279 -0.6757 -0.02227 -0.67361 -0.02136 -0.67176 C -0.01745 -0.66459 -0.01706 -0.66667 -0.01263 -0.6632 C -0.01042 -0.66158 -0.00847 -0.6588 -0.00612 -0.65741 L 0.00247 -0.65162 C 0.01042 -0.63033 -0.00065 -0.6581 0.01458 -0.63102 C 0.01562 -0.62917 0.01667 -0.62685 0.01771 -0.62547 C 0.01979 -0.62269 0.02213 -0.62176 0.02435 -0.61968 C 0.03542 -0.60857 0.02448 -0.61898 0.03411 -0.60787 C 0.04036 -0.6007 0.03437 -0.61042 0.04062 -0.59908 C 0.04127 -0.5963 0.04206 -0.59329 0.04284 -0.59051 C 0.04388 -0.58635 0.04505 -0.58287 0.04596 -0.57871 C 0.05078 -0.55857 0.04544 -0.5757 0.05039 -0.54954 L 0.0526 -0.53797 C 0.05573 -0.50348 0.05091 -0.5581 0.05469 -0.50602 C 0.05547 -0.4956 0.05599 -0.48218 0.05911 -0.47408 C 0.06002 -0.47153 0.06133 -0.47037 0.06237 -0.46829 C 0.06419 -0.45348 0.06211 -0.46435 0.06667 -0.45371 C 0.07187 -0.44167 0.07135 -0.44213 0.07422 -0.43033 C 0.07487 -0.42246 0.07604 -0.40463 0.0776 -0.39838 C 0.07903 -0.3926 0.08008 -0.38588 0.0819 -0.38102 C 0.08385 -0.37547 0.08489 -0.37385 0.08633 -0.36644 C 0.08685 -0.36389 0.08698 -0.36065 0.08737 -0.35764 C 0.08776 -0.35 0.08815 -0.34213 0.08854 -0.33426 C 0.08893 -0.3257 0.08906 -0.31667 0.08958 -0.3081 C 0.09062 -0.28889 0.09062 -0.30579 0.09062 -0.29653 L 0.09062 -0.29607 " pathEditMode="relative" rAng="0" ptsTypes="AAAAAAAAAAAAAAAAAAAAAAAAAAAAAAAAAAAAAAAAAAAAAAAAAAAAAAAAAAAAAAAAAAAAAAAAA">
                                      <p:cBhvr>
                                        <p:cTn id="1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41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041" y="2453103"/>
            <a:ext cx="4355956" cy="2259106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9099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2: Measure from the bottom arm to the top arm of the angle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i="1" dirty="0">
                <a:latin typeface="Century Gothic" panose="020B0502020202020204" pitchFamily="34" charset="0"/>
              </a:rPr>
              <a:t>Make sure the vertex is lined up with the middle of the protractor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019" y="2440507"/>
            <a:ext cx="4068215" cy="2370819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1BBAE57-962C-4036-994B-B98429263B86}"/>
              </a:ext>
            </a:extLst>
          </p:cNvPr>
          <p:cNvSpPr/>
          <p:nvPr/>
        </p:nvSpPr>
        <p:spPr>
          <a:xfrm>
            <a:off x="6917635" y="3498574"/>
            <a:ext cx="304800" cy="1099930"/>
          </a:xfrm>
          <a:custGeom>
            <a:avLst/>
            <a:gdLst>
              <a:gd name="connsiteX0" fmla="*/ 304800 w 304800"/>
              <a:gd name="connsiteY0" fmla="*/ 1099930 h 1099930"/>
              <a:gd name="connsiteX1" fmla="*/ 291548 w 304800"/>
              <a:gd name="connsiteY1" fmla="*/ 927652 h 1099930"/>
              <a:gd name="connsiteX2" fmla="*/ 278295 w 304800"/>
              <a:gd name="connsiteY2" fmla="*/ 887896 h 1099930"/>
              <a:gd name="connsiteX3" fmla="*/ 265043 w 304800"/>
              <a:gd name="connsiteY3" fmla="*/ 821635 h 1099930"/>
              <a:gd name="connsiteX4" fmla="*/ 238539 w 304800"/>
              <a:gd name="connsiteY4" fmla="*/ 636104 h 1099930"/>
              <a:gd name="connsiteX5" fmla="*/ 225287 w 304800"/>
              <a:gd name="connsiteY5" fmla="*/ 596348 h 1099930"/>
              <a:gd name="connsiteX6" fmla="*/ 212035 w 304800"/>
              <a:gd name="connsiteY6" fmla="*/ 543339 h 1099930"/>
              <a:gd name="connsiteX7" fmla="*/ 198782 w 304800"/>
              <a:gd name="connsiteY7" fmla="*/ 503583 h 1099930"/>
              <a:gd name="connsiteX8" fmla="*/ 172278 w 304800"/>
              <a:gd name="connsiteY8" fmla="*/ 397565 h 1099930"/>
              <a:gd name="connsiteX9" fmla="*/ 159026 w 304800"/>
              <a:gd name="connsiteY9" fmla="*/ 344556 h 1099930"/>
              <a:gd name="connsiteX10" fmla="*/ 132522 w 304800"/>
              <a:gd name="connsiteY10" fmla="*/ 265043 h 1099930"/>
              <a:gd name="connsiteX11" fmla="*/ 119269 w 304800"/>
              <a:gd name="connsiteY11" fmla="*/ 225287 h 1099930"/>
              <a:gd name="connsiteX12" fmla="*/ 92765 w 304800"/>
              <a:gd name="connsiteY12" fmla="*/ 185530 h 1099930"/>
              <a:gd name="connsiteX13" fmla="*/ 53008 w 304800"/>
              <a:gd name="connsiteY13" fmla="*/ 106017 h 1099930"/>
              <a:gd name="connsiteX14" fmla="*/ 0 w 304800"/>
              <a:gd name="connsiteY14" fmla="*/ 0 h 1099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04800" h="1099930">
                <a:moveTo>
                  <a:pt x="304800" y="1099930"/>
                </a:moveTo>
                <a:cubicBezTo>
                  <a:pt x="300383" y="1042504"/>
                  <a:pt x="298692" y="984803"/>
                  <a:pt x="291548" y="927652"/>
                </a:cubicBezTo>
                <a:cubicBezTo>
                  <a:pt x="289815" y="913791"/>
                  <a:pt x="281683" y="901448"/>
                  <a:pt x="278295" y="887896"/>
                </a:cubicBezTo>
                <a:cubicBezTo>
                  <a:pt x="272832" y="866044"/>
                  <a:pt x="268228" y="843933"/>
                  <a:pt x="265043" y="821635"/>
                </a:cubicBezTo>
                <a:cubicBezTo>
                  <a:pt x="251300" y="725430"/>
                  <a:pt x="258512" y="715996"/>
                  <a:pt x="238539" y="636104"/>
                </a:cubicBezTo>
                <a:cubicBezTo>
                  <a:pt x="235151" y="622552"/>
                  <a:pt x="229124" y="609779"/>
                  <a:pt x="225287" y="596348"/>
                </a:cubicBezTo>
                <a:cubicBezTo>
                  <a:pt x="220283" y="578835"/>
                  <a:pt x="217039" y="560852"/>
                  <a:pt x="212035" y="543339"/>
                </a:cubicBezTo>
                <a:cubicBezTo>
                  <a:pt x="208197" y="529908"/>
                  <a:pt x="202458" y="517060"/>
                  <a:pt x="198782" y="503583"/>
                </a:cubicBezTo>
                <a:cubicBezTo>
                  <a:pt x="189197" y="468440"/>
                  <a:pt x="181113" y="432904"/>
                  <a:pt x="172278" y="397565"/>
                </a:cubicBezTo>
                <a:cubicBezTo>
                  <a:pt x="167861" y="379895"/>
                  <a:pt x="164786" y="361835"/>
                  <a:pt x="159026" y="344556"/>
                </a:cubicBezTo>
                <a:lnTo>
                  <a:pt x="132522" y="265043"/>
                </a:lnTo>
                <a:cubicBezTo>
                  <a:pt x="128105" y="251791"/>
                  <a:pt x="127017" y="236910"/>
                  <a:pt x="119269" y="225287"/>
                </a:cubicBezTo>
                <a:cubicBezTo>
                  <a:pt x="110434" y="212035"/>
                  <a:pt x="99888" y="199776"/>
                  <a:pt x="92765" y="185530"/>
                </a:cubicBezTo>
                <a:cubicBezTo>
                  <a:pt x="37903" y="75805"/>
                  <a:pt x="128963" y="219948"/>
                  <a:pt x="53008" y="106017"/>
                </a:cubicBezTo>
                <a:cubicBezTo>
                  <a:pt x="22553" y="14651"/>
                  <a:pt x="46259" y="46259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672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431" y="2319130"/>
            <a:ext cx="5570029" cy="288875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3: Read the protractor = 31°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4982CF-2A97-4DB5-B043-1F526956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843" y="2077584"/>
            <a:ext cx="5551233" cy="32350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0A0E15-7E15-4CB6-A316-01DB3D4EE840}"/>
              </a:ext>
            </a:extLst>
          </p:cNvPr>
          <p:cNvSpPr txBox="1"/>
          <p:nvPr/>
        </p:nvSpPr>
        <p:spPr>
          <a:xfrm>
            <a:off x="2534319" y="5770179"/>
            <a:ext cx="753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We are going to do a similar process for drawing angles!</a:t>
            </a:r>
          </a:p>
        </p:txBody>
      </p:sp>
    </p:spTree>
    <p:extLst>
      <p:ext uri="{BB962C8B-B14F-4D97-AF65-F5344CB8AC3E}">
        <p14:creationId xmlns:p14="http://schemas.microsoft.com/office/powerpoint/2010/main" val="161871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Type of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angles and how do I measure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72000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measure reflex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Step 1: </a:t>
            </a:r>
            <a:r>
              <a:rPr lang="en-AU" sz="2800" dirty="0">
                <a:latin typeface="Century Gothic" panose="020B0502020202020204" pitchFamily="34" charset="0"/>
              </a:rPr>
              <a:t>Measure the inside angle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Inside angle = 100°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Step 2: </a:t>
            </a:r>
            <a:r>
              <a:rPr lang="en-AU" sz="2800" dirty="0">
                <a:latin typeface="Century Gothic" panose="020B0502020202020204" pitchFamily="34" charset="0"/>
              </a:rPr>
              <a:t>Reflex angle = 360 – 100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			        </a:t>
            </a:r>
            <a:r>
              <a:rPr lang="en-AU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= 260°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59984D-EAB3-4F24-8674-F18F9603B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052" y="1389371"/>
            <a:ext cx="3114675" cy="290512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C9EF7D-1A70-4984-92DF-3932E74E83E0}"/>
              </a:ext>
            </a:extLst>
          </p:cNvPr>
          <p:cNvCxnSpPr>
            <a:cxnSpLocks/>
          </p:cNvCxnSpPr>
          <p:nvPr/>
        </p:nvCxnSpPr>
        <p:spPr>
          <a:xfrm flipH="1">
            <a:off x="9474379" y="2703028"/>
            <a:ext cx="601011" cy="6204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4014865-F225-4D49-B85F-392A11955A88}"/>
              </a:ext>
            </a:extLst>
          </p:cNvPr>
          <p:cNvSpPr txBox="1"/>
          <p:nvPr/>
        </p:nvSpPr>
        <p:spPr>
          <a:xfrm>
            <a:off x="9386282" y="2166496"/>
            <a:ext cx="2507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Inside acute angle</a:t>
            </a:r>
          </a:p>
        </p:txBody>
      </p:sp>
    </p:spTree>
    <p:extLst>
      <p:ext uri="{BB962C8B-B14F-4D97-AF65-F5344CB8AC3E}">
        <p14:creationId xmlns:p14="http://schemas.microsoft.com/office/powerpoint/2010/main" val="131399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142" y="2609529"/>
            <a:ext cx="5570029" cy="288875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1: Draw a straight line (you can use a ruler or the bottom of your protractor) </a:t>
            </a: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32E4BA-E9AA-4921-8E16-171732433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015260" y="3386329"/>
            <a:ext cx="2111954" cy="211195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5498283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21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77 0.03587 L -0.39414 0.0405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68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2: Choose where the vertex will be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208968" y="5025318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497AF98-D237-4453-A15D-28803EF45E0F}"/>
              </a:ext>
            </a:extLst>
          </p:cNvPr>
          <p:cNvSpPr txBox="1"/>
          <p:nvPr/>
        </p:nvSpPr>
        <p:spPr>
          <a:xfrm>
            <a:off x="4007661" y="5209152"/>
            <a:ext cx="58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048E92-0A7C-4790-AB52-B96C646405DD}"/>
              </a:ext>
            </a:extLst>
          </p:cNvPr>
          <p:cNvSpPr txBox="1"/>
          <p:nvPr/>
        </p:nvSpPr>
        <p:spPr>
          <a:xfrm>
            <a:off x="7865527" y="5209152"/>
            <a:ext cx="58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7C2C3FD-0F16-4D87-B56C-766D81EA1918}"/>
              </a:ext>
            </a:extLst>
          </p:cNvPr>
          <p:cNvSpPr/>
          <p:nvPr/>
        </p:nvSpPr>
        <p:spPr>
          <a:xfrm>
            <a:off x="3880137" y="5127341"/>
            <a:ext cx="650900" cy="54738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477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1057">
            <a:off x="1563026" y="3409692"/>
            <a:ext cx="5570029" cy="288875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3: </a:t>
            </a:r>
            <a:r>
              <a:rPr lang="en-AU" sz="2400" b="1" dirty="0">
                <a:latin typeface="Century Gothic" panose="020B0502020202020204" pitchFamily="34" charset="0"/>
                <a:cs typeface="Calibri" panose="020F0502020204030204" pitchFamily="34" charset="0"/>
              </a:rPr>
              <a:t>Dot to dot - line up the centre of the protractor with the vertex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6170945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594E223C-A507-45C0-BAB9-586109F6AFC0}"/>
              </a:ext>
            </a:extLst>
          </p:cNvPr>
          <p:cNvSpPr/>
          <p:nvPr/>
        </p:nvSpPr>
        <p:spPr>
          <a:xfrm>
            <a:off x="4384424" y="5959366"/>
            <a:ext cx="213426" cy="21157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661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1057">
            <a:off x="1563026" y="3409692"/>
            <a:ext cx="5570029" cy="288875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4: </a:t>
            </a:r>
            <a:r>
              <a:rPr lang="en-AU" sz="2800" b="1" dirty="0">
                <a:latin typeface="Century Gothic" panose="020B0502020202020204" pitchFamily="34" charset="0"/>
                <a:cs typeface="Calibri" panose="020F0502020204030204" pitchFamily="34" charset="0"/>
              </a:rPr>
              <a:t>Line to line - line up the straight line with the 0°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A4BA58-382B-47D2-82FD-01EC8E1D6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361" y="3409692"/>
            <a:ext cx="5570029" cy="288875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6170945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5695E0-E172-4262-A317-40937E37870D}"/>
              </a:ext>
            </a:extLst>
          </p:cNvPr>
          <p:cNvCxnSpPr>
            <a:cxnSpLocks/>
          </p:cNvCxnSpPr>
          <p:nvPr/>
        </p:nvCxnSpPr>
        <p:spPr>
          <a:xfrm>
            <a:off x="6870614" y="4078331"/>
            <a:ext cx="564628" cy="1577079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916955E-673C-4F93-B194-4F916A2750D6}"/>
              </a:ext>
            </a:extLst>
          </p:cNvPr>
          <p:cNvSpPr/>
          <p:nvPr/>
        </p:nvSpPr>
        <p:spPr>
          <a:xfrm>
            <a:off x="6261797" y="6065155"/>
            <a:ext cx="213426" cy="21157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522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5: You read the numbers starting from 0° (where the straight line is) and moving away from 0° until you reach the degree you want and mark with a small dot.</a:t>
            </a: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A4BA58-382B-47D2-82FD-01EC8E1D6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361" y="3409692"/>
            <a:ext cx="5570029" cy="288875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6170945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916955E-673C-4F93-B194-4F916A2750D6}"/>
              </a:ext>
            </a:extLst>
          </p:cNvPr>
          <p:cNvSpPr/>
          <p:nvPr/>
        </p:nvSpPr>
        <p:spPr>
          <a:xfrm>
            <a:off x="6763901" y="4612556"/>
            <a:ext cx="213426" cy="21157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5695E0-E172-4262-A317-40937E37870D}"/>
              </a:ext>
            </a:extLst>
          </p:cNvPr>
          <p:cNvCxnSpPr>
            <a:cxnSpLocks/>
          </p:cNvCxnSpPr>
          <p:nvPr/>
        </p:nvCxnSpPr>
        <p:spPr>
          <a:xfrm flipH="1" flipV="1">
            <a:off x="6870614" y="4740166"/>
            <a:ext cx="670853" cy="1430778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E756F4A-7332-48F4-89FF-86A2D6641EBA}"/>
              </a:ext>
            </a:extLst>
          </p:cNvPr>
          <p:cNvSpPr txBox="1"/>
          <p:nvPr/>
        </p:nvSpPr>
        <p:spPr>
          <a:xfrm>
            <a:off x="7635302" y="5128951"/>
            <a:ext cx="258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30°</a:t>
            </a:r>
          </a:p>
        </p:txBody>
      </p:sp>
    </p:spTree>
    <p:extLst>
      <p:ext uri="{BB962C8B-B14F-4D97-AF65-F5344CB8AC3E}">
        <p14:creationId xmlns:p14="http://schemas.microsoft.com/office/powerpoint/2010/main" val="340117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6: Connect the vertex to the dot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7: Put arrows at the end of the lines </a:t>
            </a: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6170945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916955E-673C-4F93-B194-4F916A2750D6}"/>
              </a:ext>
            </a:extLst>
          </p:cNvPr>
          <p:cNvSpPr/>
          <p:nvPr/>
        </p:nvSpPr>
        <p:spPr>
          <a:xfrm>
            <a:off x="6763901" y="4612556"/>
            <a:ext cx="213426" cy="21157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56F4A-7332-48F4-89FF-86A2D6641EBA}"/>
              </a:ext>
            </a:extLst>
          </p:cNvPr>
          <p:cNvSpPr txBox="1"/>
          <p:nvPr/>
        </p:nvSpPr>
        <p:spPr>
          <a:xfrm>
            <a:off x="7635302" y="5128951"/>
            <a:ext cx="258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30°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668745-A9C9-4247-B200-3FBA7EB179A9}"/>
              </a:ext>
            </a:extLst>
          </p:cNvPr>
          <p:cNvCxnSpPr>
            <a:cxnSpLocks/>
            <a:endCxn id="23" idx="3"/>
          </p:cNvCxnSpPr>
          <p:nvPr/>
        </p:nvCxnSpPr>
        <p:spPr>
          <a:xfrm flipV="1">
            <a:off x="4491137" y="4793150"/>
            <a:ext cx="2304020" cy="137779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40361E-B0DC-435B-9D18-42B91538B1B4}"/>
              </a:ext>
            </a:extLst>
          </p:cNvPr>
          <p:cNvGrpSpPr/>
          <p:nvPr/>
        </p:nvGrpSpPr>
        <p:grpSpPr>
          <a:xfrm>
            <a:off x="6744048" y="4666346"/>
            <a:ext cx="1713184" cy="1631164"/>
            <a:chOff x="6744048" y="4666346"/>
            <a:chExt cx="1713184" cy="1631164"/>
          </a:xfrm>
        </p:grpSpPr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66E6C723-EE74-42EC-ABA9-70F57F46BD6D}"/>
                </a:ext>
              </a:extLst>
            </p:cNvPr>
            <p:cNvSpPr/>
            <p:nvPr/>
          </p:nvSpPr>
          <p:spPr>
            <a:xfrm rot="2648579">
              <a:off x="6744048" y="4666346"/>
              <a:ext cx="253131" cy="171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B384EDA0-AF40-42E5-8F19-32F8FA06DDA2}"/>
                </a:ext>
              </a:extLst>
            </p:cNvPr>
            <p:cNvSpPr/>
            <p:nvPr/>
          </p:nvSpPr>
          <p:spPr>
            <a:xfrm rot="5213542">
              <a:off x="8244691" y="6084969"/>
              <a:ext cx="253131" cy="171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74927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9F3DFF-CAC0-4E06-AE24-FA6BEA55DB9E}"/>
              </a:ext>
            </a:extLst>
          </p:cNvPr>
          <p:cNvSpPr txBox="1"/>
          <p:nvPr/>
        </p:nvSpPr>
        <p:spPr>
          <a:xfrm>
            <a:off x="105103" y="3069021"/>
            <a:ext cx="30985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Everyone needs a protractor and a piece of coloured paper. </a:t>
            </a:r>
          </a:p>
          <a:p>
            <a:r>
              <a:rPr lang="en-AU" dirty="0"/>
              <a:t>Send </a:t>
            </a:r>
            <a:r>
              <a:rPr lang="en-AU" b="1" dirty="0"/>
              <a:t>ONE</a:t>
            </a:r>
            <a:r>
              <a:rPr lang="en-AU" dirty="0"/>
              <a:t> person from each group up to collect the materials.</a:t>
            </a:r>
          </a:p>
        </p:txBody>
      </p:sp>
    </p:spTree>
    <p:extLst>
      <p:ext uri="{BB962C8B-B14F-4D97-AF65-F5344CB8AC3E}">
        <p14:creationId xmlns:p14="http://schemas.microsoft.com/office/powerpoint/2010/main" val="3208116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6E8B51-390F-48E0-9189-4FF0A8B6FBAD}"/>
              </a:ext>
            </a:extLst>
          </p:cNvPr>
          <p:cNvSpPr txBox="1"/>
          <p:nvPr/>
        </p:nvSpPr>
        <p:spPr>
          <a:xfrm>
            <a:off x="6484882" y="283778"/>
            <a:ext cx="7861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Guided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F5DDF-FB2E-4B58-B990-11B4BAF8323B}"/>
              </a:ext>
            </a:extLst>
          </p:cNvPr>
          <p:cNvSpPr txBox="1"/>
          <p:nvPr/>
        </p:nvSpPr>
        <p:spPr>
          <a:xfrm>
            <a:off x="7046259" y="914400"/>
            <a:ext cx="5873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Draw these on your left hand side!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62918C-2598-4BE2-A65D-D130700E9321}"/>
              </a:ext>
            </a:extLst>
          </p:cNvPr>
          <p:cNvSpPr txBox="1"/>
          <p:nvPr/>
        </p:nvSpPr>
        <p:spPr>
          <a:xfrm>
            <a:off x="6484882" y="1283732"/>
            <a:ext cx="5572461" cy="224676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/>
              <a:t>Step 1: Draw a straight line</a:t>
            </a:r>
          </a:p>
          <a:p>
            <a:r>
              <a:rPr lang="en-AU" sz="2000" b="1" dirty="0"/>
              <a:t>Step 2 : choose where the vertex will be</a:t>
            </a:r>
          </a:p>
          <a:p>
            <a:r>
              <a:rPr lang="en-AU" sz="2000" b="1" dirty="0"/>
              <a:t>Step 3: dot to dot</a:t>
            </a:r>
          </a:p>
          <a:p>
            <a:r>
              <a:rPr lang="en-AU" sz="2000" b="1" dirty="0"/>
              <a:t>Step 4: line to line</a:t>
            </a:r>
          </a:p>
          <a:p>
            <a:r>
              <a:rPr lang="en-AU" sz="2000" b="1" dirty="0"/>
              <a:t>Step 5: Place a dot on the degree </a:t>
            </a:r>
          </a:p>
          <a:p>
            <a:r>
              <a:rPr lang="en-AU" sz="2000" b="1" dirty="0"/>
              <a:t>Step 6: Connect the vertex to the dot</a:t>
            </a:r>
          </a:p>
          <a:p>
            <a:r>
              <a:rPr lang="en-AU" sz="2000" b="1" dirty="0"/>
              <a:t>Step 7: Put arrows on the end</a:t>
            </a:r>
          </a:p>
        </p:txBody>
      </p:sp>
    </p:spTree>
    <p:extLst>
      <p:ext uri="{BB962C8B-B14F-4D97-AF65-F5344CB8AC3E}">
        <p14:creationId xmlns:p14="http://schemas.microsoft.com/office/powerpoint/2010/main" val="193886567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342</TotalTime>
  <Words>653</Words>
  <Application>Microsoft Office PowerPoint</Application>
  <PresentationFormat>Widescreen</PresentationFormat>
  <Paragraphs>147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DJB Fancy Nancy</vt:lpstr>
      <vt:lpstr>Kiwi School Handwriting</vt:lpstr>
      <vt:lpstr>Vapor Trail</vt:lpstr>
      <vt:lpstr>Drawing angles</vt:lpstr>
      <vt:lpstr>Learning Intentions</vt:lpstr>
      <vt:lpstr>Review!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Nine LABUSCHAGNE</cp:lastModifiedBy>
  <cp:revision>28</cp:revision>
  <dcterms:created xsi:type="dcterms:W3CDTF">2017-10-04T08:09:40Z</dcterms:created>
  <dcterms:modified xsi:type="dcterms:W3CDTF">2018-06-13T01:09:54Z</dcterms:modified>
</cp:coreProperties>
</file>
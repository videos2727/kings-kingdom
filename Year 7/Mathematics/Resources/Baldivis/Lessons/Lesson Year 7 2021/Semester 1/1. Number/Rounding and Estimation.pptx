
<file path=[Content_Types].xml><?xml version="1.0" encoding="utf-8"?>
<Types xmlns="http://schemas.openxmlformats.org/package/2006/content-types">
  <Default Extension="png" ContentType="image/png"/>
  <Default Extension="jpeg" ContentType="image/jpeg"/>
  <Default Extension="m4a" ContentType="audio/mp4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notesMasterIdLst>
    <p:notesMasterId r:id="rId16"/>
  </p:notesMasterIdLst>
  <p:sldIdLst>
    <p:sldId id="256" r:id="rId2"/>
    <p:sldId id="279" r:id="rId3"/>
    <p:sldId id="278" r:id="rId4"/>
    <p:sldId id="257" r:id="rId5"/>
    <p:sldId id="259" r:id="rId6"/>
    <p:sldId id="267" r:id="rId7"/>
    <p:sldId id="268" r:id="rId8"/>
    <p:sldId id="269" r:id="rId9"/>
    <p:sldId id="280" r:id="rId10"/>
    <p:sldId id="282" r:id="rId11"/>
    <p:sldId id="281" r:id="rId12"/>
    <p:sldId id="283" r:id="rId13"/>
    <p:sldId id="284" r:id="rId14"/>
    <p:sldId id="285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0066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97" autoAdjust="0"/>
    <p:restoredTop sz="94660"/>
  </p:normalViewPr>
  <p:slideViewPr>
    <p:cSldViewPr>
      <p:cViewPr varScale="1">
        <p:scale>
          <a:sx n="83" d="100"/>
          <a:sy n="83" d="100"/>
        </p:scale>
        <p:origin x="1416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6C5A2A-14F4-48BA-91EA-BAE624AB886F}" type="datetimeFigureOut">
              <a:rPr lang="en-US" smtClean="0"/>
              <a:t>2/25/2021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CFCCF1-3136-445B-ADBD-C14BD50CCE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922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CFCCF1-3136-445B-ADBD-C14BD50CCE2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3066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020" y="1769541"/>
            <a:ext cx="7080026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020" y="3598339"/>
            <a:ext cx="7080026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55E51-1CE4-456F-B200-B7CC21BA3F36}" type="slidenum">
              <a:rPr lang="en-GB" altLang="en-US" smtClean="0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338257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C43B7-1DF4-4DFB-9EBF-CCAA4A5960B8}" type="slidenum">
              <a:rPr lang="en-GB" altLang="en-US" smtClean="0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087630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1761068"/>
            <a:ext cx="7192913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589879"/>
            <a:ext cx="7192913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3C1A2-C0FA-4BAB-BFF3-C092CE2EA77B}" type="slidenum">
              <a:rPr lang="en-GB" altLang="en-US" smtClean="0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853778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7" y="1732449"/>
            <a:ext cx="3795373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2169" y="1732450"/>
            <a:ext cx="3798499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84E5D-410E-4D12-8510-CDF173972A55}" type="slidenum">
              <a:rPr lang="en-GB" altLang="en-US" smtClean="0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969980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45" y="1770323"/>
            <a:ext cx="3787423" cy="4112953"/>
          </a:xfrm>
          <a:prstGeom prst="rect">
            <a:avLst/>
          </a:prstGeom>
        </p:spPr>
      </p:pic>
      <p:pic>
        <p:nvPicPr>
          <p:cNvPr id="14" name="Picture 13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3245" y="1770323"/>
            <a:ext cx="3787423" cy="41129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404" y="1835254"/>
            <a:ext cx="3657258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404" y="2380138"/>
            <a:ext cx="365725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21225" y="1835255"/>
            <a:ext cx="3671498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21225" y="2380138"/>
            <a:ext cx="367149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E7313-C9AD-47F4-BA49-F6DD32637AB7}" type="slidenum">
              <a:rPr lang="en-GB" altLang="en-US" smtClean="0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4202154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2BACD-327E-4399-B38C-67D01D2F53B6}" type="slidenum">
              <a:rPr lang="en-GB" altLang="en-US" smtClean="0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56450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2EDE6-4E6E-47E3-AC7E-ABEA7017410F}" type="slidenum">
              <a:rPr lang="en-GB" altLang="en-US" smtClean="0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669858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0"/>
            <a:ext cx="2780167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1725" y="609600"/>
            <a:ext cx="4808943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1518"/>
            <a:ext cx="2780167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132E9-1DC3-408D-8BCB-9C36571EF5AA}" type="slidenum">
              <a:rPr lang="en-GB" altLang="en-US" smtClean="0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7055979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late-V2-S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4987" y="609923"/>
            <a:ext cx="3428146" cy="520547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923"/>
            <a:ext cx="3924676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976728" y="743989"/>
            <a:ext cx="3165375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9261"/>
            <a:ext cx="3924676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58109-8281-45AB-92B9-77D58AB05D5D}" type="slidenum">
              <a:rPr lang="en-GB" altLang="en-US" smtClean="0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329291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late-V2-S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95" y="540085"/>
            <a:ext cx="7656010" cy="383437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4" y="4565255"/>
            <a:ext cx="7766495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26217" y="695010"/>
            <a:ext cx="7285600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6532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25/02/2021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394374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8437"/>
            <a:ext cx="776532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295180"/>
            <a:ext cx="7765322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25/02/2021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050829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3"/>
            <a:ext cx="6564224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304353"/>
            <a:ext cx="7765322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25/02/2021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1" name="TextBox 10"/>
          <p:cNvSpPr txBox="1"/>
          <p:nvPr/>
        </p:nvSpPr>
        <p:spPr>
          <a:xfrm>
            <a:off x="627459" y="87391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28359" y="2933245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997237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2126943"/>
            <a:ext cx="7765322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9" y="4650556"/>
            <a:ext cx="776414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25/02/2021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220849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5033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7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4929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4929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25/02/2021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3490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239" y="1826045"/>
            <a:ext cx="2529046" cy="1833558"/>
          </a:xfrm>
          <a:prstGeom prst="rect">
            <a:avLst/>
          </a:prstGeom>
        </p:spPr>
      </p:pic>
      <p:pic>
        <p:nvPicPr>
          <p:cNvPr id="28" name="Picture 27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3813" y="1826045"/>
            <a:ext cx="2529046" cy="1833558"/>
          </a:xfrm>
          <a:prstGeom prst="rect">
            <a:avLst/>
          </a:prstGeom>
        </p:spPr>
      </p:pic>
      <p:pic>
        <p:nvPicPr>
          <p:cNvPr id="29" name="Picture 28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1715" y="1826045"/>
            <a:ext cx="2529046" cy="1833558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6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763577" y="1938918"/>
            <a:ext cx="2319276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6" y="4480369"/>
            <a:ext cx="2475738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91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09307" y="1939094"/>
            <a:ext cx="2319276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75" y="4480368"/>
            <a:ext cx="2476753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5023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056774" y="1934432"/>
            <a:ext cx="2319276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4929" y="4480366"/>
            <a:ext cx="2475738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25/02/2021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850320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CC0E9-559A-4394-A8C1-E3130FC2DE2D}" type="slidenum">
              <a:rPr lang="en-GB" altLang="en-US" smtClean="0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0126208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37302" y="609600"/>
            <a:ext cx="1713365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7" y="609600"/>
            <a:ext cx="5937654" cy="5181601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82499-FE6B-4885-941C-2D27A843C597}" type="slidenum">
              <a:rPr lang="en-GB" altLang="en-US" smtClean="0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5552798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1732450"/>
            <a:ext cx="776532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03B91B3-E50F-4EFF-8D5F-21DA810ECD9F}" type="datetimeFigureOut">
              <a:rPr lang="en-AU" smtClean="0"/>
              <a:t>25/02/2021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7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824913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6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emf"/><Relationship Id="rId3" Type="http://schemas.openxmlformats.org/officeDocument/2006/relationships/image" Target="../media/image10.emf"/><Relationship Id="rId7" Type="http://schemas.openxmlformats.org/officeDocument/2006/relationships/image" Target="../media/image14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emf"/><Relationship Id="rId11" Type="http://schemas.openxmlformats.org/officeDocument/2006/relationships/image" Target="../media/image18.emf"/><Relationship Id="rId5" Type="http://schemas.openxmlformats.org/officeDocument/2006/relationships/image" Target="../media/image12.emf"/><Relationship Id="rId10" Type="http://schemas.openxmlformats.org/officeDocument/2006/relationships/image" Target="../media/image17.emf"/><Relationship Id="rId4" Type="http://schemas.openxmlformats.org/officeDocument/2006/relationships/image" Target="../media/image11.emf"/><Relationship Id="rId9" Type="http://schemas.openxmlformats.org/officeDocument/2006/relationships/image" Target="../media/image16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6.jp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20688"/>
            <a:ext cx="7772400" cy="1250315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pPr eaLnBrk="1" hangingPunct="1"/>
            <a:r>
              <a:rPr lang="en-GB" altLang="en-US" dirty="0">
                <a:solidFill>
                  <a:schemeClr val="bg1"/>
                </a:solidFill>
              </a:rPr>
              <a:t>Rounding Numbers and Estimation </a:t>
            </a:r>
          </a:p>
        </p:txBody>
      </p:sp>
      <p:grpSp>
        <p:nvGrpSpPr>
          <p:cNvPr id="13314" name="Group 39"/>
          <p:cNvGrpSpPr>
            <a:grpSpLocks/>
          </p:cNvGrpSpPr>
          <p:nvPr/>
        </p:nvGrpSpPr>
        <p:grpSpPr bwMode="auto">
          <a:xfrm>
            <a:off x="685800" y="2286000"/>
            <a:ext cx="6629400" cy="1676400"/>
            <a:chOff x="432" y="1440"/>
            <a:chExt cx="4176" cy="1056"/>
          </a:xfrm>
        </p:grpSpPr>
        <p:grpSp>
          <p:nvGrpSpPr>
            <p:cNvPr id="13319" name="Group 3"/>
            <p:cNvGrpSpPr>
              <a:grpSpLocks/>
            </p:cNvGrpSpPr>
            <p:nvPr/>
          </p:nvGrpSpPr>
          <p:grpSpPr bwMode="auto">
            <a:xfrm>
              <a:off x="432" y="1440"/>
              <a:ext cx="4176" cy="672"/>
              <a:chOff x="192" y="3120"/>
              <a:chExt cx="4176" cy="672"/>
            </a:xfrm>
          </p:grpSpPr>
          <p:grpSp>
            <p:nvGrpSpPr>
              <p:cNvPr id="13329" name="Group 4"/>
              <p:cNvGrpSpPr>
                <a:grpSpLocks/>
              </p:cNvGrpSpPr>
              <p:nvPr/>
            </p:nvGrpSpPr>
            <p:grpSpPr bwMode="auto">
              <a:xfrm>
                <a:off x="288" y="3120"/>
                <a:ext cx="4080" cy="336"/>
                <a:chOff x="288" y="3120"/>
                <a:chExt cx="4080" cy="336"/>
              </a:xfrm>
            </p:grpSpPr>
            <p:sp>
              <p:nvSpPr>
                <p:cNvPr id="13333" name="Line 5"/>
                <p:cNvSpPr>
                  <a:spLocks noChangeShapeType="1"/>
                </p:cNvSpPr>
                <p:nvPr/>
              </p:nvSpPr>
              <p:spPr bwMode="auto">
                <a:xfrm>
                  <a:off x="288" y="3120"/>
                  <a:ext cx="408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334" name="Line 6"/>
                <p:cNvSpPr>
                  <a:spLocks noChangeShapeType="1"/>
                </p:cNvSpPr>
                <p:nvPr/>
              </p:nvSpPr>
              <p:spPr bwMode="auto">
                <a:xfrm>
                  <a:off x="288" y="3120"/>
                  <a:ext cx="0" cy="336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335" name="Line 7"/>
                <p:cNvSpPr>
                  <a:spLocks noChangeShapeType="1"/>
                </p:cNvSpPr>
                <p:nvPr/>
              </p:nvSpPr>
              <p:spPr bwMode="auto">
                <a:xfrm>
                  <a:off x="480" y="3120"/>
                  <a:ext cx="0" cy="192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336" name="Line 8"/>
                <p:cNvSpPr>
                  <a:spLocks noChangeShapeType="1"/>
                </p:cNvSpPr>
                <p:nvPr/>
              </p:nvSpPr>
              <p:spPr bwMode="auto">
                <a:xfrm>
                  <a:off x="672" y="3120"/>
                  <a:ext cx="0" cy="192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337" name="Line 9"/>
                <p:cNvSpPr>
                  <a:spLocks noChangeShapeType="1"/>
                </p:cNvSpPr>
                <p:nvPr/>
              </p:nvSpPr>
              <p:spPr bwMode="auto">
                <a:xfrm>
                  <a:off x="864" y="3120"/>
                  <a:ext cx="0" cy="192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338" name="Line 10"/>
                <p:cNvSpPr>
                  <a:spLocks noChangeShapeType="1"/>
                </p:cNvSpPr>
                <p:nvPr/>
              </p:nvSpPr>
              <p:spPr bwMode="auto">
                <a:xfrm>
                  <a:off x="1056" y="3120"/>
                  <a:ext cx="0" cy="192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339" name="Line 11"/>
                <p:cNvSpPr>
                  <a:spLocks noChangeShapeType="1"/>
                </p:cNvSpPr>
                <p:nvPr/>
              </p:nvSpPr>
              <p:spPr bwMode="auto">
                <a:xfrm>
                  <a:off x="1248" y="3120"/>
                  <a:ext cx="0" cy="192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340" name="Line 12"/>
                <p:cNvSpPr>
                  <a:spLocks noChangeShapeType="1"/>
                </p:cNvSpPr>
                <p:nvPr/>
              </p:nvSpPr>
              <p:spPr bwMode="auto">
                <a:xfrm>
                  <a:off x="1440" y="3120"/>
                  <a:ext cx="0" cy="192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341" name="Line 13"/>
                <p:cNvSpPr>
                  <a:spLocks noChangeShapeType="1"/>
                </p:cNvSpPr>
                <p:nvPr/>
              </p:nvSpPr>
              <p:spPr bwMode="auto">
                <a:xfrm>
                  <a:off x="1632" y="3120"/>
                  <a:ext cx="0" cy="192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342" name="Line 14"/>
                <p:cNvSpPr>
                  <a:spLocks noChangeShapeType="1"/>
                </p:cNvSpPr>
                <p:nvPr/>
              </p:nvSpPr>
              <p:spPr bwMode="auto">
                <a:xfrm>
                  <a:off x="1824" y="3120"/>
                  <a:ext cx="0" cy="192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343" name="Line 15"/>
                <p:cNvSpPr>
                  <a:spLocks noChangeShapeType="1"/>
                </p:cNvSpPr>
                <p:nvPr/>
              </p:nvSpPr>
              <p:spPr bwMode="auto">
                <a:xfrm>
                  <a:off x="2016" y="3120"/>
                  <a:ext cx="0" cy="192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344" name="Line 16"/>
                <p:cNvSpPr>
                  <a:spLocks noChangeShapeType="1"/>
                </p:cNvSpPr>
                <p:nvPr/>
              </p:nvSpPr>
              <p:spPr bwMode="auto">
                <a:xfrm>
                  <a:off x="2208" y="3120"/>
                  <a:ext cx="0" cy="336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345" name="Line 17"/>
                <p:cNvSpPr>
                  <a:spLocks noChangeShapeType="1"/>
                </p:cNvSpPr>
                <p:nvPr/>
              </p:nvSpPr>
              <p:spPr bwMode="auto">
                <a:xfrm>
                  <a:off x="2400" y="3120"/>
                  <a:ext cx="0" cy="192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346" name="Line 18"/>
                <p:cNvSpPr>
                  <a:spLocks noChangeShapeType="1"/>
                </p:cNvSpPr>
                <p:nvPr/>
              </p:nvSpPr>
              <p:spPr bwMode="auto">
                <a:xfrm>
                  <a:off x="2592" y="3120"/>
                  <a:ext cx="0" cy="192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347" name="Line 19"/>
                <p:cNvSpPr>
                  <a:spLocks noChangeShapeType="1"/>
                </p:cNvSpPr>
                <p:nvPr/>
              </p:nvSpPr>
              <p:spPr bwMode="auto">
                <a:xfrm>
                  <a:off x="2784" y="3120"/>
                  <a:ext cx="0" cy="192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348" name="Line 20"/>
                <p:cNvSpPr>
                  <a:spLocks noChangeShapeType="1"/>
                </p:cNvSpPr>
                <p:nvPr/>
              </p:nvSpPr>
              <p:spPr bwMode="auto">
                <a:xfrm>
                  <a:off x="2976" y="3120"/>
                  <a:ext cx="0" cy="192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349" name="Line 21"/>
                <p:cNvSpPr>
                  <a:spLocks noChangeShapeType="1"/>
                </p:cNvSpPr>
                <p:nvPr/>
              </p:nvSpPr>
              <p:spPr bwMode="auto">
                <a:xfrm>
                  <a:off x="3168" y="3120"/>
                  <a:ext cx="0" cy="192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350" name="Line 22"/>
                <p:cNvSpPr>
                  <a:spLocks noChangeShapeType="1"/>
                </p:cNvSpPr>
                <p:nvPr/>
              </p:nvSpPr>
              <p:spPr bwMode="auto">
                <a:xfrm>
                  <a:off x="3360" y="3120"/>
                  <a:ext cx="0" cy="192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351" name="Line 23"/>
                <p:cNvSpPr>
                  <a:spLocks noChangeShapeType="1"/>
                </p:cNvSpPr>
                <p:nvPr/>
              </p:nvSpPr>
              <p:spPr bwMode="auto">
                <a:xfrm>
                  <a:off x="3552" y="3120"/>
                  <a:ext cx="0" cy="192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352" name="Line 24"/>
                <p:cNvSpPr>
                  <a:spLocks noChangeShapeType="1"/>
                </p:cNvSpPr>
                <p:nvPr/>
              </p:nvSpPr>
              <p:spPr bwMode="auto">
                <a:xfrm>
                  <a:off x="3744" y="3120"/>
                  <a:ext cx="0" cy="192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353" name="Line 25"/>
                <p:cNvSpPr>
                  <a:spLocks noChangeShapeType="1"/>
                </p:cNvSpPr>
                <p:nvPr/>
              </p:nvSpPr>
              <p:spPr bwMode="auto">
                <a:xfrm>
                  <a:off x="3936" y="3120"/>
                  <a:ext cx="0" cy="192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354" name="Line 26"/>
                <p:cNvSpPr>
                  <a:spLocks noChangeShapeType="1"/>
                </p:cNvSpPr>
                <p:nvPr/>
              </p:nvSpPr>
              <p:spPr bwMode="auto">
                <a:xfrm>
                  <a:off x="4128" y="3120"/>
                  <a:ext cx="0" cy="336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3330" name="Text Box 27"/>
              <p:cNvSpPr txBox="1">
                <a:spLocks noChangeArrowheads="1"/>
              </p:cNvSpPr>
              <p:nvPr/>
            </p:nvSpPr>
            <p:spPr bwMode="auto">
              <a:xfrm>
                <a:off x="192" y="3456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/>
                  <a:t>6</a:t>
                </a:r>
              </a:p>
            </p:txBody>
          </p:sp>
          <p:sp>
            <p:nvSpPr>
              <p:cNvPr id="13331" name="Text Box 28"/>
              <p:cNvSpPr txBox="1">
                <a:spLocks noChangeArrowheads="1"/>
              </p:cNvSpPr>
              <p:nvPr/>
            </p:nvSpPr>
            <p:spPr bwMode="auto">
              <a:xfrm>
                <a:off x="2112" y="3504"/>
                <a:ext cx="38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/>
                  <a:t>7</a:t>
                </a:r>
              </a:p>
            </p:txBody>
          </p:sp>
          <p:sp>
            <p:nvSpPr>
              <p:cNvPr id="13332" name="Text Box 29"/>
              <p:cNvSpPr txBox="1">
                <a:spLocks noChangeArrowheads="1"/>
              </p:cNvSpPr>
              <p:nvPr/>
            </p:nvSpPr>
            <p:spPr bwMode="auto">
              <a:xfrm>
                <a:off x="4032" y="3456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/>
                  <a:t>8</a:t>
                </a:r>
              </a:p>
            </p:txBody>
          </p:sp>
        </p:grpSp>
        <p:sp>
          <p:nvSpPr>
            <p:cNvPr id="13320" name="Text Box 30"/>
            <p:cNvSpPr txBox="1">
              <a:spLocks noChangeArrowheads="1"/>
            </p:cNvSpPr>
            <p:nvPr/>
          </p:nvSpPr>
          <p:spPr bwMode="auto">
            <a:xfrm>
              <a:off x="864" y="2160"/>
              <a:ext cx="52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6.3</a:t>
              </a:r>
            </a:p>
          </p:txBody>
        </p:sp>
        <p:sp>
          <p:nvSpPr>
            <p:cNvPr id="13321" name="Line 31"/>
            <p:cNvSpPr>
              <a:spLocks noChangeShapeType="1"/>
            </p:cNvSpPr>
            <p:nvPr/>
          </p:nvSpPr>
          <p:spPr bwMode="auto">
            <a:xfrm>
              <a:off x="1104" y="1680"/>
              <a:ext cx="0" cy="43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22" name="Line 32"/>
            <p:cNvSpPr>
              <a:spLocks noChangeShapeType="1"/>
            </p:cNvSpPr>
            <p:nvPr/>
          </p:nvSpPr>
          <p:spPr bwMode="auto">
            <a:xfrm flipH="1" flipV="1">
              <a:off x="672" y="1872"/>
              <a:ext cx="336" cy="240"/>
            </a:xfrm>
            <a:prstGeom prst="line">
              <a:avLst/>
            </a:prstGeom>
            <a:noFill/>
            <a:ln w="57150">
              <a:solidFill>
                <a:srgbClr val="FF00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23" name="Text Box 33"/>
            <p:cNvSpPr txBox="1">
              <a:spLocks noChangeArrowheads="1"/>
            </p:cNvSpPr>
            <p:nvPr/>
          </p:nvSpPr>
          <p:spPr bwMode="auto">
            <a:xfrm>
              <a:off x="2640" y="2112"/>
              <a:ext cx="57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7.2</a:t>
              </a:r>
            </a:p>
          </p:txBody>
        </p:sp>
        <p:sp>
          <p:nvSpPr>
            <p:cNvPr id="13324" name="Line 34"/>
            <p:cNvSpPr>
              <a:spLocks noChangeShapeType="1"/>
            </p:cNvSpPr>
            <p:nvPr/>
          </p:nvSpPr>
          <p:spPr bwMode="auto">
            <a:xfrm>
              <a:off x="2832" y="1632"/>
              <a:ext cx="0" cy="48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25" name="Line 35"/>
            <p:cNvSpPr>
              <a:spLocks noChangeShapeType="1"/>
            </p:cNvSpPr>
            <p:nvPr/>
          </p:nvSpPr>
          <p:spPr bwMode="auto">
            <a:xfrm flipH="1" flipV="1">
              <a:off x="2544" y="1872"/>
              <a:ext cx="144" cy="240"/>
            </a:xfrm>
            <a:prstGeom prst="line">
              <a:avLst/>
            </a:prstGeom>
            <a:noFill/>
            <a:ln w="57150">
              <a:solidFill>
                <a:srgbClr val="FF00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26" name="Text Box 36"/>
            <p:cNvSpPr txBox="1">
              <a:spLocks noChangeArrowheads="1"/>
            </p:cNvSpPr>
            <p:nvPr/>
          </p:nvSpPr>
          <p:spPr bwMode="auto">
            <a:xfrm>
              <a:off x="3792" y="2208"/>
              <a:ext cx="57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7.8</a:t>
              </a:r>
            </a:p>
          </p:txBody>
        </p:sp>
        <p:sp>
          <p:nvSpPr>
            <p:cNvPr id="13327" name="Line 37"/>
            <p:cNvSpPr>
              <a:spLocks noChangeShapeType="1"/>
            </p:cNvSpPr>
            <p:nvPr/>
          </p:nvSpPr>
          <p:spPr bwMode="auto">
            <a:xfrm>
              <a:off x="3984" y="1680"/>
              <a:ext cx="0" cy="528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28" name="Line 38"/>
            <p:cNvSpPr>
              <a:spLocks noChangeShapeType="1"/>
            </p:cNvSpPr>
            <p:nvPr/>
          </p:nvSpPr>
          <p:spPr bwMode="auto">
            <a:xfrm flipV="1">
              <a:off x="4080" y="2016"/>
              <a:ext cx="192" cy="192"/>
            </a:xfrm>
            <a:prstGeom prst="line">
              <a:avLst/>
            </a:prstGeom>
            <a:noFill/>
            <a:ln w="57150">
              <a:solidFill>
                <a:srgbClr val="FF00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315" name="Text Box 40"/>
          <p:cNvSpPr txBox="1">
            <a:spLocks noChangeArrowheads="1"/>
          </p:cNvSpPr>
          <p:nvPr/>
        </p:nvSpPr>
        <p:spPr bwMode="auto">
          <a:xfrm>
            <a:off x="1066800" y="4495800"/>
            <a:ext cx="198120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dirty="0">
                <a:solidFill>
                  <a:schemeClr val="bg1"/>
                </a:solidFill>
              </a:rPr>
              <a:t>2035 ≈ 2040 </a:t>
            </a:r>
          </a:p>
        </p:txBody>
      </p:sp>
      <p:sp>
        <p:nvSpPr>
          <p:cNvPr id="13316" name="Text Box 41"/>
          <p:cNvSpPr txBox="1">
            <a:spLocks noChangeArrowheads="1"/>
          </p:cNvSpPr>
          <p:nvPr/>
        </p:nvSpPr>
        <p:spPr bwMode="auto">
          <a:xfrm>
            <a:off x="4419600" y="5410199"/>
            <a:ext cx="1905000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dirty="0">
                <a:solidFill>
                  <a:schemeClr val="bg1"/>
                </a:solidFill>
              </a:rPr>
              <a:t>8985 ≈ 9000</a:t>
            </a:r>
          </a:p>
        </p:txBody>
      </p:sp>
      <p:sp>
        <p:nvSpPr>
          <p:cNvPr id="13317" name="Text Box 42"/>
          <p:cNvSpPr txBox="1">
            <a:spLocks noChangeArrowheads="1"/>
          </p:cNvSpPr>
          <p:nvPr/>
        </p:nvSpPr>
        <p:spPr bwMode="auto">
          <a:xfrm>
            <a:off x="1524000" y="5657557"/>
            <a:ext cx="1676400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dirty="0">
                <a:solidFill>
                  <a:schemeClr val="bg1"/>
                </a:solidFill>
              </a:rPr>
              <a:t>6.89 ≈ 6.9</a:t>
            </a:r>
          </a:p>
        </p:txBody>
      </p:sp>
      <p:sp>
        <p:nvSpPr>
          <p:cNvPr id="13318" name="Text Box 43"/>
          <p:cNvSpPr txBox="1">
            <a:spLocks noChangeArrowheads="1"/>
          </p:cNvSpPr>
          <p:nvPr/>
        </p:nvSpPr>
        <p:spPr bwMode="auto">
          <a:xfrm>
            <a:off x="5715000" y="4419600"/>
            <a:ext cx="2286000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dirty="0">
                <a:solidFill>
                  <a:schemeClr val="bg1"/>
                </a:solidFill>
              </a:rPr>
              <a:t>67 890 ≈ 68 000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6016" y="587500"/>
            <a:ext cx="4240486" cy="1329332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r>
              <a:rPr lang="en-AU" sz="2600" dirty="0"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I'm </a:t>
            </a:r>
            <a:r>
              <a:rPr lang="en-AU" sz="2600" dirty="0" err="1"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gonna</a:t>
            </a:r>
            <a:r>
              <a:rPr lang="en-AU" sz="2600" dirty="0"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 pop some tags</a:t>
            </a:r>
            <a:br>
              <a:rPr lang="en-AU" sz="2600" dirty="0"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</a:br>
            <a:r>
              <a:rPr lang="en-AU" sz="2600" dirty="0"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Only got twenty dollars in my pocket</a:t>
            </a:r>
            <a:endParaRPr lang="en-US" sz="2600" dirty="0">
              <a:solidFill>
                <a:schemeClr val="bg1"/>
              </a:solidFill>
              <a:latin typeface="Comic Sans MS" panose="030F0702030302020204" pitchFamily="66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587500"/>
            <a:ext cx="4176464" cy="590513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5576" y="1997330"/>
            <a:ext cx="3528995" cy="1719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latin typeface="Lucida Handwriting" panose="03010101010101010101" pitchFamily="66" charset="0"/>
              </a:rPr>
              <a:t>2 x Milk (2L)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latin typeface="Lucida Handwriting" panose="03010101010101010101" pitchFamily="66" charset="0"/>
              </a:rPr>
              <a:t>1 x Nutella 750 g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latin typeface="Lucida Handwriting" panose="03010101010101010101" pitchFamily="66" charset="0"/>
              </a:rPr>
              <a:t>2 x Avocado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latin typeface="Lucida Handwriting" panose="03010101010101010101" pitchFamily="66" charset="0"/>
              </a:rPr>
              <a:t>1 x Marshmallows Bag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6474094"/>
              </p:ext>
            </p:extLst>
          </p:nvPr>
        </p:nvGraphicFramePr>
        <p:xfrm>
          <a:off x="4716016" y="4267593"/>
          <a:ext cx="4240486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0243">
                  <a:extLst>
                    <a:ext uri="{9D8B030D-6E8A-4147-A177-3AD203B41FA5}">
                      <a16:colId xmlns:a16="http://schemas.microsoft.com/office/drawing/2014/main" val="3543554502"/>
                    </a:ext>
                  </a:extLst>
                </a:gridCol>
                <a:gridCol w="2120243">
                  <a:extLst>
                    <a:ext uri="{9D8B030D-6E8A-4147-A177-3AD203B41FA5}">
                      <a16:colId xmlns:a16="http://schemas.microsoft.com/office/drawing/2014/main" val="15468087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09198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Milk</a:t>
                      </a:r>
                      <a:r>
                        <a:rPr lang="en-US" baseline="0" dirty="0"/>
                        <a:t> (2 L)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$1.99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43735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Nutella (750 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$6.75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03572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Avocado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$3.20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20909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Marshmallows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$2.80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56421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8178742"/>
                  </a:ext>
                </a:extLst>
              </a:tr>
            </a:tbl>
          </a:graphicData>
        </a:graphic>
      </p:graphicFrame>
      <p:pic>
        <p:nvPicPr>
          <p:cNvPr id="7" name="Picture 6" descr="Mary Reibey &lt;strong&gt;Australian&lt;/strong&gt; $&lt;strong&gt;20&lt;/strong&gt; note (front) | Mary Reibey Convi ...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992" y="4393226"/>
            <a:ext cx="3603209" cy="15358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16016" y="2204864"/>
            <a:ext cx="424048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omic Sans MS" panose="030F0702030302020204" pitchFamily="66" charset="0"/>
              </a:rPr>
              <a:t>Can I buy the products in the shopping list with $20?</a:t>
            </a:r>
          </a:p>
        </p:txBody>
      </p:sp>
      <p:pic>
        <p:nvPicPr>
          <p:cNvPr id="10" name="Recorded Sound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172400" y="3200782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384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7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83553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369925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515" y="40436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24</a:t>
            </a:r>
          </a:p>
          <a:p>
            <a:pPr marL="0" marR="0" lvl="0" indent="0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7</a:t>
            </a:r>
          </a:p>
          <a:p>
            <a:pPr marL="0" marR="0" lvl="0" indent="0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372139" y="1346094"/>
            <a:ext cx="26842" cy="568330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99592" y="235795"/>
            <a:ext cx="41248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Rounding and Estimation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69082" y="167180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Date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5" y="859984"/>
            <a:ext cx="862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EQ – How to estimate using lead digit</a:t>
            </a:r>
            <a:r>
              <a:rPr kumimoji="0" lang="en-AU" sz="2400" b="0" i="0" u="none" strike="noStrike" kern="0" cap="none" spc="0" normalizeH="0" noProof="0" dirty="0">
                <a:ln>
                  <a:noFill/>
                </a:ln>
                <a:effectLst/>
                <a:uLnTx/>
                <a:uFillTx/>
              </a:rPr>
              <a:t> rounding?</a:t>
            </a:r>
            <a:endParaRPr kumimoji="0" lang="en-AU" sz="24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555776" y="2229832"/>
            <a:ext cx="6192691" cy="1631216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r>
              <a:rPr lang="en-US" sz="2000" dirty="0"/>
              <a:t>To find the closest value, decide which is the last digit required;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Leave it the same if the next digit to the right is less than 5.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Increase it by 1 if the next digit is 5 or more.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877" y="2278613"/>
            <a:ext cx="21294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How do we round numbers?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55776" y="1556792"/>
            <a:ext cx="6048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order to estimate, we must round the numbers first.</a:t>
            </a:r>
          </a:p>
        </p:txBody>
      </p:sp>
    </p:spTree>
    <p:extLst>
      <p:ext uri="{BB962C8B-B14F-4D97-AF65-F5344CB8AC3E}">
        <p14:creationId xmlns:p14="http://schemas.microsoft.com/office/powerpoint/2010/main" val="2803319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533400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pPr eaLnBrk="1" hangingPunct="1"/>
            <a:r>
              <a:rPr lang="en-GB" altLang="en-US" sz="3200" dirty="0">
                <a:solidFill>
                  <a:schemeClr val="bg1"/>
                </a:solidFill>
              </a:rPr>
              <a:t>Rounding To The Nearest Whole Number.</a:t>
            </a:r>
          </a:p>
        </p:txBody>
      </p:sp>
      <p:sp>
        <p:nvSpPr>
          <p:cNvPr id="3075" name="Text Box 3"/>
          <p:cNvSpPr txBox="1">
            <a:spLocks noChangeArrowheads="1"/>
          </p:cNvSpPr>
          <p:nvPr/>
        </p:nvSpPr>
        <p:spPr bwMode="auto">
          <a:xfrm>
            <a:off x="685800" y="960438"/>
            <a:ext cx="2971800" cy="4572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dirty="0"/>
              <a:t>Consider the number:  </a:t>
            </a:r>
          </a:p>
        </p:txBody>
      </p:sp>
      <p:sp>
        <p:nvSpPr>
          <p:cNvPr id="3077" name="Text Box 5"/>
          <p:cNvSpPr txBox="1">
            <a:spLocks noChangeArrowheads="1"/>
          </p:cNvSpPr>
          <p:nvPr/>
        </p:nvSpPr>
        <p:spPr bwMode="auto">
          <a:xfrm>
            <a:off x="3974123" y="838200"/>
            <a:ext cx="762000" cy="57943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3200" dirty="0">
                <a:solidFill>
                  <a:schemeClr val="bg1"/>
                </a:solidFill>
              </a:rPr>
              <a:t>6.7</a:t>
            </a:r>
          </a:p>
        </p:txBody>
      </p:sp>
      <p:sp>
        <p:nvSpPr>
          <p:cNvPr id="3078" name="Text Box 6"/>
          <p:cNvSpPr txBox="1">
            <a:spLocks noChangeArrowheads="1"/>
          </p:cNvSpPr>
          <p:nvPr/>
        </p:nvSpPr>
        <p:spPr bwMode="auto">
          <a:xfrm>
            <a:off x="457200" y="1772816"/>
            <a:ext cx="6248400" cy="4572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dirty="0"/>
              <a:t>It is our task to decide if the number is closer to : </a:t>
            </a:r>
          </a:p>
        </p:txBody>
      </p:sp>
      <p:sp>
        <p:nvSpPr>
          <p:cNvPr id="3079" name="Text Box 7"/>
          <p:cNvSpPr txBox="1">
            <a:spLocks noChangeArrowheads="1"/>
          </p:cNvSpPr>
          <p:nvPr/>
        </p:nvSpPr>
        <p:spPr bwMode="auto">
          <a:xfrm>
            <a:off x="609600" y="2438400"/>
            <a:ext cx="533400" cy="57943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3200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3080" name="Text Box 8"/>
          <p:cNvSpPr txBox="1">
            <a:spLocks noChangeArrowheads="1"/>
          </p:cNvSpPr>
          <p:nvPr/>
        </p:nvSpPr>
        <p:spPr bwMode="auto">
          <a:xfrm>
            <a:off x="1371600" y="2514600"/>
            <a:ext cx="457200" cy="4572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/>
              <a:t>or</a:t>
            </a:r>
          </a:p>
        </p:txBody>
      </p:sp>
      <p:sp>
        <p:nvSpPr>
          <p:cNvPr id="3081" name="Text Box 9"/>
          <p:cNvSpPr txBox="1">
            <a:spLocks noChangeArrowheads="1"/>
          </p:cNvSpPr>
          <p:nvPr/>
        </p:nvSpPr>
        <p:spPr bwMode="auto">
          <a:xfrm>
            <a:off x="2133600" y="2438400"/>
            <a:ext cx="533400" cy="57943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320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3082" name="Text Box 10"/>
          <p:cNvSpPr txBox="1">
            <a:spLocks noChangeArrowheads="1"/>
          </p:cNvSpPr>
          <p:nvPr/>
        </p:nvSpPr>
        <p:spPr bwMode="auto">
          <a:xfrm>
            <a:off x="2895600" y="2438400"/>
            <a:ext cx="5257800" cy="4572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dirty="0"/>
              <a:t>Look at the number line below:</a:t>
            </a:r>
          </a:p>
        </p:txBody>
      </p:sp>
      <p:grpSp>
        <p:nvGrpSpPr>
          <p:cNvPr id="2" name="Group 37"/>
          <p:cNvGrpSpPr>
            <a:grpSpLocks/>
          </p:cNvGrpSpPr>
          <p:nvPr/>
        </p:nvGrpSpPr>
        <p:grpSpPr bwMode="auto">
          <a:xfrm>
            <a:off x="381000" y="3200400"/>
            <a:ext cx="6629400" cy="1066800"/>
            <a:chOff x="192" y="3120"/>
            <a:chExt cx="4176" cy="672"/>
          </a:xfrm>
        </p:grpSpPr>
        <p:grpSp>
          <p:nvGrpSpPr>
            <p:cNvPr id="15383" name="Group 33"/>
            <p:cNvGrpSpPr>
              <a:grpSpLocks/>
            </p:cNvGrpSpPr>
            <p:nvPr/>
          </p:nvGrpSpPr>
          <p:grpSpPr bwMode="auto">
            <a:xfrm>
              <a:off x="288" y="3120"/>
              <a:ext cx="4080" cy="336"/>
              <a:chOff x="288" y="3120"/>
              <a:chExt cx="4080" cy="336"/>
            </a:xfrm>
          </p:grpSpPr>
          <p:sp>
            <p:nvSpPr>
              <p:cNvPr id="15387" name="Line 11"/>
              <p:cNvSpPr>
                <a:spLocks noChangeShapeType="1"/>
              </p:cNvSpPr>
              <p:nvPr/>
            </p:nvSpPr>
            <p:spPr bwMode="auto">
              <a:xfrm>
                <a:off x="288" y="3120"/>
                <a:ext cx="4080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88" name="Line 12"/>
              <p:cNvSpPr>
                <a:spLocks noChangeShapeType="1"/>
              </p:cNvSpPr>
              <p:nvPr/>
            </p:nvSpPr>
            <p:spPr bwMode="auto">
              <a:xfrm>
                <a:off x="288" y="3120"/>
                <a:ext cx="0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89" name="Line 13"/>
              <p:cNvSpPr>
                <a:spLocks noChangeShapeType="1"/>
              </p:cNvSpPr>
              <p:nvPr/>
            </p:nvSpPr>
            <p:spPr bwMode="auto">
              <a:xfrm>
                <a:off x="480" y="3120"/>
                <a:ext cx="0" cy="19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90" name="Line 14"/>
              <p:cNvSpPr>
                <a:spLocks noChangeShapeType="1"/>
              </p:cNvSpPr>
              <p:nvPr/>
            </p:nvSpPr>
            <p:spPr bwMode="auto">
              <a:xfrm>
                <a:off x="672" y="3120"/>
                <a:ext cx="0" cy="19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91" name="Line 15"/>
              <p:cNvSpPr>
                <a:spLocks noChangeShapeType="1"/>
              </p:cNvSpPr>
              <p:nvPr/>
            </p:nvSpPr>
            <p:spPr bwMode="auto">
              <a:xfrm>
                <a:off x="864" y="3120"/>
                <a:ext cx="0" cy="19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92" name="Line 16"/>
              <p:cNvSpPr>
                <a:spLocks noChangeShapeType="1"/>
              </p:cNvSpPr>
              <p:nvPr/>
            </p:nvSpPr>
            <p:spPr bwMode="auto">
              <a:xfrm>
                <a:off x="1056" y="3120"/>
                <a:ext cx="0" cy="19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93" name="Line 17"/>
              <p:cNvSpPr>
                <a:spLocks noChangeShapeType="1"/>
              </p:cNvSpPr>
              <p:nvPr/>
            </p:nvSpPr>
            <p:spPr bwMode="auto">
              <a:xfrm>
                <a:off x="1248" y="3120"/>
                <a:ext cx="0" cy="19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94" name="Line 18"/>
              <p:cNvSpPr>
                <a:spLocks noChangeShapeType="1"/>
              </p:cNvSpPr>
              <p:nvPr/>
            </p:nvSpPr>
            <p:spPr bwMode="auto">
              <a:xfrm>
                <a:off x="1440" y="3120"/>
                <a:ext cx="0" cy="19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95" name="Line 19"/>
              <p:cNvSpPr>
                <a:spLocks noChangeShapeType="1"/>
              </p:cNvSpPr>
              <p:nvPr/>
            </p:nvSpPr>
            <p:spPr bwMode="auto">
              <a:xfrm>
                <a:off x="1632" y="3120"/>
                <a:ext cx="0" cy="19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96" name="Line 20"/>
              <p:cNvSpPr>
                <a:spLocks noChangeShapeType="1"/>
              </p:cNvSpPr>
              <p:nvPr/>
            </p:nvSpPr>
            <p:spPr bwMode="auto">
              <a:xfrm>
                <a:off x="1824" y="3120"/>
                <a:ext cx="0" cy="19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97" name="Line 21"/>
              <p:cNvSpPr>
                <a:spLocks noChangeShapeType="1"/>
              </p:cNvSpPr>
              <p:nvPr/>
            </p:nvSpPr>
            <p:spPr bwMode="auto">
              <a:xfrm>
                <a:off x="2016" y="3120"/>
                <a:ext cx="0" cy="19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98" name="Line 22"/>
              <p:cNvSpPr>
                <a:spLocks noChangeShapeType="1"/>
              </p:cNvSpPr>
              <p:nvPr/>
            </p:nvSpPr>
            <p:spPr bwMode="auto">
              <a:xfrm>
                <a:off x="2208" y="3120"/>
                <a:ext cx="0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99" name="Line 23"/>
              <p:cNvSpPr>
                <a:spLocks noChangeShapeType="1"/>
              </p:cNvSpPr>
              <p:nvPr/>
            </p:nvSpPr>
            <p:spPr bwMode="auto">
              <a:xfrm>
                <a:off x="2400" y="3120"/>
                <a:ext cx="0" cy="19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00" name="Line 24"/>
              <p:cNvSpPr>
                <a:spLocks noChangeShapeType="1"/>
              </p:cNvSpPr>
              <p:nvPr/>
            </p:nvSpPr>
            <p:spPr bwMode="auto">
              <a:xfrm>
                <a:off x="2592" y="3120"/>
                <a:ext cx="0" cy="19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01" name="Line 25"/>
              <p:cNvSpPr>
                <a:spLocks noChangeShapeType="1"/>
              </p:cNvSpPr>
              <p:nvPr/>
            </p:nvSpPr>
            <p:spPr bwMode="auto">
              <a:xfrm>
                <a:off x="2784" y="3120"/>
                <a:ext cx="0" cy="19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02" name="Line 26"/>
              <p:cNvSpPr>
                <a:spLocks noChangeShapeType="1"/>
              </p:cNvSpPr>
              <p:nvPr/>
            </p:nvSpPr>
            <p:spPr bwMode="auto">
              <a:xfrm>
                <a:off x="2976" y="3120"/>
                <a:ext cx="0" cy="19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03" name="Line 27"/>
              <p:cNvSpPr>
                <a:spLocks noChangeShapeType="1"/>
              </p:cNvSpPr>
              <p:nvPr/>
            </p:nvSpPr>
            <p:spPr bwMode="auto">
              <a:xfrm>
                <a:off x="3168" y="3120"/>
                <a:ext cx="0" cy="19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04" name="Line 28"/>
              <p:cNvSpPr>
                <a:spLocks noChangeShapeType="1"/>
              </p:cNvSpPr>
              <p:nvPr/>
            </p:nvSpPr>
            <p:spPr bwMode="auto">
              <a:xfrm>
                <a:off x="3360" y="3120"/>
                <a:ext cx="0" cy="19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05" name="Line 29"/>
              <p:cNvSpPr>
                <a:spLocks noChangeShapeType="1"/>
              </p:cNvSpPr>
              <p:nvPr/>
            </p:nvSpPr>
            <p:spPr bwMode="auto">
              <a:xfrm>
                <a:off x="3552" y="3120"/>
                <a:ext cx="0" cy="19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06" name="Line 30"/>
              <p:cNvSpPr>
                <a:spLocks noChangeShapeType="1"/>
              </p:cNvSpPr>
              <p:nvPr/>
            </p:nvSpPr>
            <p:spPr bwMode="auto">
              <a:xfrm>
                <a:off x="3744" y="3120"/>
                <a:ext cx="0" cy="19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07" name="Line 31"/>
              <p:cNvSpPr>
                <a:spLocks noChangeShapeType="1"/>
              </p:cNvSpPr>
              <p:nvPr/>
            </p:nvSpPr>
            <p:spPr bwMode="auto">
              <a:xfrm>
                <a:off x="3936" y="3120"/>
                <a:ext cx="0" cy="19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08" name="Line 32"/>
              <p:cNvSpPr>
                <a:spLocks noChangeShapeType="1"/>
              </p:cNvSpPr>
              <p:nvPr/>
            </p:nvSpPr>
            <p:spPr bwMode="auto">
              <a:xfrm>
                <a:off x="4128" y="3120"/>
                <a:ext cx="0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5384" name="Text Box 34"/>
            <p:cNvSpPr txBox="1">
              <a:spLocks noChangeArrowheads="1"/>
            </p:cNvSpPr>
            <p:nvPr/>
          </p:nvSpPr>
          <p:spPr bwMode="auto">
            <a:xfrm>
              <a:off x="192" y="3456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6</a:t>
              </a:r>
            </a:p>
          </p:txBody>
        </p:sp>
        <p:sp>
          <p:nvSpPr>
            <p:cNvPr id="15385" name="Text Box 35"/>
            <p:cNvSpPr txBox="1">
              <a:spLocks noChangeArrowheads="1"/>
            </p:cNvSpPr>
            <p:nvPr/>
          </p:nvSpPr>
          <p:spPr bwMode="auto">
            <a:xfrm>
              <a:off x="2112" y="3504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7</a:t>
              </a:r>
            </a:p>
          </p:txBody>
        </p:sp>
        <p:sp>
          <p:nvSpPr>
            <p:cNvPr id="15386" name="Text Box 36"/>
            <p:cNvSpPr txBox="1">
              <a:spLocks noChangeArrowheads="1"/>
            </p:cNvSpPr>
            <p:nvPr/>
          </p:nvSpPr>
          <p:spPr bwMode="auto">
            <a:xfrm>
              <a:off x="4032" y="3456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8</a:t>
              </a:r>
            </a:p>
          </p:txBody>
        </p:sp>
      </p:grpSp>
      <p:grpSp>
        <p:nvGrpSpPr>
          <p:cNvPr id="4" name="Group 46"/>
          <p:cNvGrpSpPr>
            <a:grpSpLocks/>
          </p:cNvGrpSpPr>
          <p:nvPr/>
        </p:nvGrpSpPr>
        <p:grpSpPr bwMode="auto">
          <a:xfrm>
            <a:off x="1752600" y="3505200"/>
            <a:ext cx="609600" cy="838200"/>
            <a:chOff x="1104" y="2208"/>
            <a:chExt cx="384" cy="528"/>
          </a:xfrm>
        </p:grpSpPr>
        <p:sp>
          <p:nvSpPr>
            <p:cNvPr id="15381" name="Text Box 39"/>
            <p:cNvSpPr txBox="1">
              <a:spLocks noChangeArrowheads="1"/>
            </p:cNvSpPr>
            <p:nvPr/>
          </p:nvSpPr>
          <p:spPr bwMode="auto">
            <a:xfrm>
              <a:off x="1104" y="2448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dirty="0"/>
                <a:t>6.5</a:t>
              </a:r>
            </a:p>
          </p:txBody>
        </p:sp>
        <p:sp>
          <p:nvSpPr>
            <p:cNvPr id="15382" name="Line 40"/>
            <p:cNvSpPr>
              <a:spLocks noChangeShapeType="1"/>
            </p:cNvSpPr>
            <p:nvPr/>
          </p:nvSpPr>
          <p:spPr bwMode="auto">
            <a:xfrm flipV="1">
              <a:off x="1296" y="2208"/>
              <a:ext cx="0" cy="24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47"/>
          <p:cNvGrpSpPr>
            <a:grpSpLocks/>
          </p:cNvGrpSpPr>
          <p:nvPr/>
        </p:nvGrpSpPr>
        <p:grpSpPr bwMode="auto">
          <a:xfrm>
            <a:off x="2514600" y="3505200"/>
            <a:ext cx="609600" cy="838200"/>
            <a:chOff x="1584" y="2208"/>
            <a:chExt cx="384" cy="528"/>
          </a:xfrm>
        </p:grpSpPr>
        <p:sp>
          <p:nvSpPr>
            <p:cNvPr id="15379" name="Text Box 42"/>
            <p:cNvSpPr txBox="1">
              <a:spLocks noChangeArrowheads="1"/>
            </p:cNvSpPr>
            <p:nvPr/>
          </p:nvSpPr>
          <p:spPr bwMode="auto">
            <a:xfrm>
              <a:off x="1584" y="2448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6.7</a:t>
              </a:r>
            </a:p>
          </p:txBody>
        </p:sp>
        <p:sp>
          <p:nvSpPr>
            <p:cNvPr id="15380" name="Line 43"/>
            <p:cNvSpPr>
              <a:spLocks noChangeShapeType="1"/>
            </p:cNvSpPr>
            <p:nvPr/>
          </p:nvSpPr>
          <p:spPr bwMode="auto">
            <a:xfrm flipV="1">
              <a:off x="1680" y="2208"/>
              <a:ext cx="0" cy="24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116" name="Text Box 44"/>
          <p:cNvSpPr txBox="1">
            <a:spLocks noChangeArrowheads="1"/>
          </p:cNvSpPr>
          <p:nvPr/>
        </p:nvSpPr>
        <p:spPr bwMode="auto">
          <a:xfrm>
            <a:off x="381000" y="5055846"/>
            <a:ext cx="3124200" cy="4572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/>
              <a:t>Is 6.7 closer to 6 or 7 ?</a:t>
            </a:r>
          </a:p>
        </p:txBody>
      </p:sp>
      <p:sp>
        <p:nvSpPr>
          <p:cNvPr id="3117" name="Text Box 45"/>
          <p:cNvSpPr txBox="1">
            <a:spLocks noChangeArrowheads="1"/>
          </p:cNvSpPr>
          <p:nvPr/>
        </p:nvSpPr>
        <p:spPr bwMode="auto">
          <a:xfrm>
            <a:off x="470095" y="5867400"/>
            <a:ext cx="4800600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dirty="0">
                <a:solidFill>
                  <a:schemeClr val="bg1"/>
                </a:solidFill>
              </a:rPr>
              <a:t>6.7 ≈ 7 (to the nearest whole number)</a:t>
            </a:r>
          </a:p>
        </p:txBody>
      </p:sp>
      <p:sp>
        <p:nvSpPr>
          <p:cNvPr id="3120" name="Text Box 48"/>
          <p:cNvSpPr txBox="1">
            <a:spLocks noChangeArrowheads="1"/>
          </p:cNvSpPr>
          <p:nvPr/>
        </p:nvSpPr>
        <p:spPr bwMode="auto">
          <a:xfrm>
            <a:off x="495300" y="4316754"/>
            <a:ext cx="4648200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dirty="0">
                <a:solidFill>
                  <a:schemeClr val="bg1"/>
                </a:solidFill>
              </a:rPr>
              <a:t>6.5 is the midpoint between 6 and 7.</a:t>
            </a:r>
          </a:p>
        </p:txBody>
      </p:sp>
      <p:sp>
        <p:nvSpPr>
          <p:cNvPr id="3121" name="Text Box 49"/>
          <p:cNvSpPr txBox="1">
            <a:spLocks noChangeArrowheads="1"/>
          </p:cNvSpPr>
          <p:nvPr/>
        </p:nvSpPr>
        <p:spPr bwMode="auto">
          <a:xfrm>
            <a:off x="3710354" y="5029200"/>
            <a:ext cx="3733800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>
                <a:solidFill>
                  <a:schemeClr val="bg1"/>
                </a:solidFill>
              </a:rPr>
              <a:t>Is 6.7 above or below 6.5 ?</a:t>
            </a:r>
          </a:p>
        </p:txBody>
      </p:sp>
      <p:sp>
        <p:nvSpPr>
          <p:cNvPr id="3122" name="Text Box 50"/>
          <p:cNvSpPr txBox="1">
            <a:spLocks noChangeArrowheads="1"/>
          </p:cNvSpPr>
          <p:nvPr/>
        </p:nvSpPr>
        <p:spPr bwMode="auto">
          <a:xfrm>
            <a:off x="7700303" y="5055846"/>
            <a:ext cx="1143000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>
                <a:solidFill>
                  <a:schemeClr val="bg1"/>
                </a:solidFill>
              </a:rPr>
              <a:t>Above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17" grpId="0" animBg="1" autoUpdateAnimBg="0"/>
      <p:bldP spid="3122" grpId="0" animBg="1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86397"/>
            <a:ext cx="7772400" cy="685800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pPr eaLnBrk="1" hangingPunct="1"/>
            <a:r>
              <a:rPr lang="en-GB" altLang="en-US" dirty="0">
                <a:solidFill>
                  <a:schemeClr val="bg1"/>
                </a:solidFill>
              </a:rPr>
              <a:t>What Goes In The Box ?</a:t>
            </a:r>
          </a:p>
        </p:txBody>
      </p:sp>
      <p:sp>
        <p:nvSpPr>
          <p:cNvPr id="5123" name="Text Box 3"/>
          <p:cNvSpPr txBox="1">
            <a:spLocks noChangeArrowheads="1"/>
          </p:cNvSpPr>
          <p:nvPr/>
        </p:nvSpPr>
        <p:spPr bwMode="auto">
          <a:xfrm>
            <a:off x="228600" y="1143000"/>
            <a:ext cx="6324600" cy="4572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dirty="0"/>
              <a:t>Round the following to the nearest whole number:</a:t>
            </a:r>
          </a:p>
        </p:txBody>
      </p:sp>
      <p:sp>
        <p:nvSpPr>
          <p:cNvPr id="5124" name="Text Box 4"/>
          <p:cNvSpPr txBox="1">
            <a:spLocks noChangeArrowheads="1"/>
          </p:cNvSpPr>
          <p:nvPr/>
        </p:nvSpPr>
        <p:spPr bwMode="auto">
          <a:xfrm>
            <a:off x="304800" y="2286000"/>
            <a:ext cx="1143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/>
              <a:t>(1) 4.8</a:t>
            </a:r>
          </a:p>
        </p:txBody>
      </p:sp>
      <p:sp>
        <p:nvSpPr>
          <p:cNvPr id="5125" name="Text Box 5"/>
          <p:cNvSpPr txBox="1">
            <a:spLocks noChangeArrowheads="1"/>
          </p:cNvSpPr>
          <p:nvPr/>
        </p:nvSpPr>
        <p:spPr bwMode="auto">
          <a:xfrm>
            <a:off x="304800" y="3048000"/>
            <a:ext cx="1143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/>
              <a:t>(2) 7.4</a:t>
            </a:r>
          </a:p>
        </p:txBody>
      </p:sp>
      <p:sp>
        <p:nvSpPr>
          <p:cNvPr id="5126" name="Text Box 6"/>
          <p:cNvSpPr txBox="1">
            <a:spLocks noChangeArrowheads="1"/>
          </p:cNvSpPr>
          <p:nvPr/>
        </p:nvSpPr>
        <p:spPr bwMode="auto">
          <a:xfrm>
            <a:off x="107504" y="1752600"/>
            <a:ext cx="9036496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xtLst/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dirty="0">
                <a:solidFill>
                  <a:schemeClr val="bg1"/>
                </a:solidFill>
              </a:rPr>
              <a:t>NB: always round 0.5 up . I.e.  12.5 ≈ 13 (to the nearest whole number).</a:t>
            </a:r>
          </a:p>
        </p:txBody>
      </p:sp>
      <p:sp>
        <p:nvSpPr>
          <p:cNvPr id="5127" name="Text Box 7"/>
          <p:cNvSpPr txBox="1">
            <a:spLocks noChangeArrowheads="1"/>
          </p:cNvSpPr>
          <p:nvPr/>
        </p:nvSpPr>
        <p:spPr bwMode="auto">
          <a:xfrm>
            <a:off x="304800" y="3886200"/>
            <a:ext cx="1371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/>
              <a:t>(3) 44.6</a:t>
            </a:r>
          </a:p>
        </p:txBody>
      </p:sp>
      <p:sp>
        <p:nvSpPr>
          <p:cNvPr id="5128" name="Text Box 8"/>
          <p:cNvSpPr txBox="1">
            <a:spLocks noChangeArrowheads="1"/>
          </p:cNvSpPr>
          <p:nvPr/>
        </p:nvSpPr>
        <p:spPr bwMode="auto">
          <a:xfrm>
            <a:off x="304800" y="4724400"/>
            <a:ext cx="1371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/>
              <a:t>(4) 87.5</a:t>
            </a:r>
          </a:p>
        </p:txBody>
      </p:sp>
      <p:sp>
        <p:nvSpPr>
          <p:cNvPr id="5129" name="Text Box 9"/>
          <p:cNvSpPr txBox="1">
            <a:spLocks noChangeArrowheads="1"/>
          </p:cNvSpPr>
          <p:nvPr/>
        </p:nvSpPr>
        <p:spPr bwMode="auto">
          <a:xfrm>
            <a:off x="381000" y="5486400"/>
            <a:ext cx="1371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dirty="0"/>
              <a:t>(5) 56.3</a:t>
            </a:r>
          </a:p>
        </p:txBody>
      </p:sp>
      <p:sp>
        <p:nvSpPr>
          <p:cNvPr id="5130" name="Text Box 10"/>
          <p:cNvSpPr txBox="1">
            <a:spLocks noChangeArrowheads="1"/>
          </p:cNvSpPr>
          <p:nvPr/>
        </p:nvSpPr>
        <p:spPr bwMode="auto">
          <a:xfrm>
            <a:off x="3505200" y="2438400"/>
            <a:ext cx="1371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/>
              <a:t>(6) 287.6</a:t>
            </a:r>
          </a:p>
        </p:txBody>
      </p:sp>
      <p:sp>
        <p:nvSpPr>
          <p:cNvPr id="5131" name="Text Box 11"/>
          <p:cNvSpPr txBox="1">
            <a:spLocks noChangeArrowheads="1"/>
          </p:cNvSpPr>
          <p:nvPr/>
        </p:nvSpPr>
        <p:spPr bwMode="auto">
          <a:xfrm>
            <a:off x="3429000" y="3276600"/>
            <a:ext cx="1371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/>
              <a:t>(7) 9.8</a:t>
            </a:r>
          </a:p>
        </p:txBody>
      </p:sp>
      <p:sp>
        <p:nvSpPr>
          <p:cNvPr id="5132" name="Text Box 12"/>
          <p:cNvSpPr txBox="1">
            <a:spLocks noChangeArrowheads="1"/>
          </p:cNvSpPr>
          <p:nvPr/>
        </p:nvSpPr>
        <p:spPr bwMode="auto">
          <a:xfrm>
            <a:off x="3505200" y="4038600"/>
            <a:ext cx="1371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/>
              <a:t>(8) 49.6</a:t>
            </a:r>
          </a:p>
        </p:txBody>
      </p:sp>
      <p:sp>
        <p:nvSpPr>
          <p:cNvPr id="5134" name="Text Box 14"/>
          <p:cNvSpPr txBox="1">
            <a:spLocks noChangeArrowheads="1"/>
          </p:cNvSpPr>
          <p:nvPr/>
        </p:nvSpPr>
        <p:spPr bwMode="auto">
          <a:xfrm>
            <a:off x="3505200" y="4800600"/>
            <a:ext cx="1371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/>
              <a:t>(9) 99.7</a:t>
            </a:r>
          </a:p>
        </p:txBody>
      </p:sp>
      <p:sp>
        <p:nvSpPr>
          <p:cNvPr id="5135" name="Text Box 15"/>
          <p:cNvSpPr txBox="1">
            <a:spLocks noChangeArrowheads="1"/>
          </p:cNvSpPr>
          <p:nvPr/>
        </p:nvSpPr>
        <p:spPr bwMode="auto">
          <a:xfrm>
            <a:off x="3352800" y="5562600"/>
            <a:ext cx="1600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/>
              <a:t>(10) 399.5</a:t>
            </a:r>
          </a:p>
        </p:txBody>
      </p:sp>
      <p:sp>
        <p:nvSpPr>
          <p:cNvPr id="5136" name="Rectangle 16"/>
          <p:cNvSpPr>
            <a:spLocks noChangeArrowheads="1"/>
          </p:cNvSpPr>
          <p:nvPr/>
        </p:nvSpPr>
        <p:spPr bwMode="auto">
          <a:xfrm>
            <a:off x="1524000" y="2286000"/>
            <a:ext cx="1066800" cy="533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>
              <a:solidFill>
                <a:schemeClr val="bg1"/>
              </a:solidFill>
            </a:endParaRPr>
          </a:p>
        </p:txBody>
      </p:sp>
      <p:sp>
        <p:nvSpPr>
          <p:cNvPr id="5137" name="Rectangle 17"/>
          <p:cNvSpPr>
            <a:spLocks noChangeArrowheads="1"/>
          </p:cNvSpPr>
          <p:nvPr/>
        </p:nvSpPr>
        <p:spPr bwMode="auto">
          <a:xfrm>
            <a:off x="1524000" y="3124200"/>
            <a:ext cx="1066800" cy="533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>
              <a:solidFill>
                <a:schemeClr val="bg1"/>
              </a:solidFill>
            </a:endParaRPr>
          </a:p>
        </p:txBody>
      </p:sp>
      <p:sp>
        <p:nvSpPr>
          <p:cNvPr id="5138" name="Rectangle 18"/>
          <p:cNvSpPr>
            <a:spLocks noChangeArrowheads="1"/>
          </p:cNvSpPr>
          <p:nvPr/>
        </p:nvSpPr>
        <p:spPr bwMode="auto">
          <a:xfrm>
            <a:off x="1524000" y="3886200"/>
            <a:ext cx="1066800" cy="533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139" name="Rectangle 19"/>
          <p:cNvSpPr>
            <a:spLocks noChangeArrowheads="1"/>
          </p:cNvSpPr>
          <p:nvPr/>
        </p:nvSpPr>
        <p:spPr bwMode="auto">
          <a:xfrm>
            <a:off x="1524000" y="4724400"/>
            <a:ext cx="1066800" cy="533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140" name="Rectangle 20"/>
          <p:cNvSpPr>
            <a:spLocks noChangeArrowheads="1"/>
          </p:cNvSpPr>
          <p:nvPr/>
        </p:nvSpPr>
        <p:spPr bwMode="auto">
          <a:xfrm>
            <a:off x="1524000" y="5486400"/>
            <a:ext cx="1066800" cy="533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141" name="Rectangle 21"/>
          <p:cNvSpPr>
            <a:spLocks noChangeArrowheads="1"/>
          </p:cNvSpPr>
          <p:nvPr/>
        </p:nvSpPr>
        <p:spPr bwMode="auto">
          <a:xfrm>
            <a:off x="4953000" y="2362200"/>
            <a:ext cx="1066800" cy="533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142" name="Rectangle 22"/>
          <p:cNvSpPr>
            <a:spLocks noChangeArrowheads="1"/>
          </p:cNvSpPr>
          <p:nvPr/>
        </p:nvSpPr>
        <p:spPr bwMode="auto">
          <a:xfrm>
            <a:off x="4953000" y="3200400"/>
            <a:ext cx="1066800" cy="533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143" name="Rectangle 23"/>
          <p:cNvSpPr>
            <a:spLocks noChangeArrowheads="1"/>
          </p:cNvSpPr>
          <p:nvPr/>
        </p:nvSpPr>
        <p:spPr bwMode="auto">
          <a:xfrm>
            <a:off x="4953000" y="3962400"/>
            <a:ext cx="1066800" cy="533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144" name="Rectangle 24"/>
          <p:cNvSpPr>
            <a:spLocks noChangeArrowheads="1"/>
          </p:cNvSpPr>
          <p:nvPr/>
        </p:nvSpPr>
        <p:spPr bwMode="auto">
          <a:xfrm>
            <a:off x="4953000" y="4800600"/>
            <a:ext cx="1066800" cy="533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145" name="Rectangle 25"/>
          <p:cNvSpPr>
            <a:spLocks noChangeArrowheads="1"/>
          </p:cNvSpPr>
          <p:nvPr/>
        </p:nvSpPr>
        <p:spPr bwMode="auto">
          <a:xfrm>
            <a:off x="4953000" y="5562600"/>
            <a:ext cx="1066800" cy="533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146" name="Text Box 26"/>
          <p:cNvSpPr txBox="1">
            <a:spLocks noChangeArrowheads="1"/>
          </p:cNvSpPr>
          <p:nvPr/>
        </p:nvSpPr>
        <p:spPr bwMode="auto">
          <a:xfrm>
            <a:off x="1676400" y="23622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5147" name="Text Box 27"/>
          <p:cNvSpPr txBox="1">
            <a:spLocks noChangeArrowheads="1"/>
          </p:cNvSpPr>
          <p:nvPr/>
        </p:nvSpPr>
        <p:spPr bwMode="auto">
          <a:xfrm>
            <a:off x="1676400" y="3200400"/>
            <a:ext cx="685800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5148" name="Text Box 28"/>
          <p:cNvSpPr txBox="1">
            <a:spLocks noChangeArrowheads="1"/>
          </p:cNvSpPr>
          <p:nvPr/>
        </p:nvSpPr>
        <p:spPr bwMode="auto">
          <a:xfrm>
            <a:off x="1676400" y="3933056"/>
            <a:ext cx="685800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dirty="0">
                <a:solidFill>
                  <a:schemeClr val="bg1"/>
                </a:solidFill>
              </a:rPr>
              <a:t>45</a:t>
            </a:r>
          </a:p>
        </p:txBody>
      </p:sp>
      <p:sp>
        <p:nvSpPr>
          <p:cNvPr id="5149" name="Text Box 29"/>
          <p:cNvSpPr txBox="1">
            <a:spLocks noChangeArrowheads="1"/>
          </p:cNvSpPr>
          <p:nvPr/>
        </p:nvSpPr>
        <p:spPr bwMode="auto">
          <a:xfrm>
            <a:off x="1600200" y="4800600"/>
            <a:ext cx="914400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>
                <a:solidFill>
                  <a:schemeClr val="bg1"/>
                </a:solidFill>
              </a:rPr>
              <a:t>88</a:t>
            </a:r>
          </a:p>
        </p:txBody>
      </p:sp>
      <p:sp>
        <p:nvSpPr>
          <p:cNvPr id="5150" name="Text Box 30"/>
          <p:cNvSpPr txBox="1">
            <a:spLocks noChangeArrowheads="1"/>
          </p:cNvSpPr>
          <p:nvPr/>
        </p:nvSpPr>
        <p:spPr bwMode="auto">
          <a:xfrm>
            <a:off x="1676400" y="5562600"/>
            <a:ext cx="838200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>
                <a:solidFill>
                  <a:schemeClr val="bg1"/>
                </a:solidFill>
              </a:rPr>
              <a:t>56</a:t>
            </a:r>
          </a:p>
        </p:txBody>
      </p:sp>
      <p:sp>
        <p:nvSpPr>
          <p:cNvPr id="5151" name="Text Box 31"/>
          <p:cNvSpPr txBox="1">
            <a:spLocks noChangeArrowheads="1"/>
          </p:cNvSpPr>
          <p:nvPr/>
        </p:nvSpPr>
        <p:spPr bwMode="auto">
          <a:xfrm>
            <a:off x="5029200" y="2438400"/>
            <a:ext cx="838200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>
                <a:solidFill>
                  <a:schemeClr val="bg1"/>
                </a:solidFill>
              </a:rPr>
              <a:t>288</a:t>
            </a:r>
          </a:p>
        </p:txBody>
      </p:sp>
      <p:sp>
        <p:nvSpPr>
          <p:cNvPr id="5152" name="Text Box 32"/>
          <p:cNvSpPr txBox="1">
            <a:spLocks noChangeArrowheads="1"/>
          </p:cNvSpPr>
          <p:nvPr/>
        </p:nvSpPr>
        <p:spPr bwMode="auto">
          <a:xfrm>
            <a:off x="5029200" y="3276600"/>
            <a:ext cx="762000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>
                <a:solidFill>
                  <a:schemeClr val="bg1"/>
                </a:solidFill>
              </a:rPr>
              <a:t>10</a:t>
            </a:r>
          </a:p>
        </p:txBody>
      </p:sp>
      <p:sp>
        <p:nvSpPr>
          <p:cNvPr id="5153" name="Text Box 33"/>
          <p:cNvSpPr txBox="1">
            <a:spLocks noChangeArrowheads="1"/>
          </p:cNvSpPr>
          <p:nvPr/>
        </p:nvSpPr>
        <p:spPr bwMode="auto">
          <a:xfrm>
            <a:off x="5105400" y="4038600"/>
            <a:ext cx="762000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>
                <a:solidFill>
                  <a:schemeClr val="bg1"/>
                </a:solidFill>
              </a:rPr>
              <a:t>50</a:t>
            </a:r>
          </a:p>
        </p:txBody>
      </p:sp>
      <p:sp>
        <p:nvSpPr>
          <p:cNvPr id="5154" name="Text Box 34"/>
          <p:cNvSpPr txBox="1">
            <a:spLocks noChangeArrowheads="1"/>
          </p:cNvSpPr>
          <p:nvPr/>
        </p:nvSpPr>
        <p:spPr bwMode="auto">
          <a:xfrm>
            <a:off x="5029200" y="4800600"/>
            <a:ext cx="838200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>
                <a:solidFill>
                  <a:schemeClr val="bg1"/>
                </a:solidFill>
              </a:rPr>
              <a:t>100</a:t>
            </a:r>
          </a:p>
        </p:txBody>
      </p:sp>
      <p:sp>
        <p:nvSpPr>
          <p:cNvPr id="5155" name="Text Box 35"/>
          <p:cNvSpPr txBox="1">
            <a:spLocks noChangeArrowheads="1"/>
          </p:cNvSpPr>
          <p:nvPr/>
        </p:nvSpPr>
        <p:spPr bwMode="auto">
          <a:xfrm>
            <a:off x="5029200" y="5638800"/>
            <a:ext cx="914400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>
                <a:solidFill>
                  <a:schemeClr val="bg1"/>
                </a:solidFill>
              </a:rPr>
              <a:t>400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46" grpId="0" autoUpdateAnimBg="0"/>
      <p:bldP spid="5147" grpId="0" animBg="1" autoUpdateAnimBg="0"/>
      <p:bldP spid="5148" grpId="0" animBg="1" autoUpdateAnimBg="0"/>
      <p:bldP spid="5149" grpId="0" animBg="1" autoUpdateAnimBg="0"/>
      <p:bldP spid="5150" grpId="0" animBg="1" autoUpdateAnimBg="0"/>
      <p:bldP spid="5151" grpId="0" animBg="1" autoUpdateAnimBg="0"/>
      <p:bldP spid="5152" grpId="0" animBg="1" autoUpdateAnimBg="0"/>
      <p:bldP spid="5153" grpId="0" animBg="1" autoUpdateAnimBg="0"/>
      <p:bldP spid="5154" grpId="0" animBg="1" autoUpdateAnimBg="0"/>
      <p:bldP spid="5155" grpId="0" animBg="1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7772400" cy="1143000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pPr eaLnBrk="1" hangingPunct="1"/>
            <a:r>
              <a:rPr lang="en-GB" altLang="en-US" dirty="0">
                <a:solidFill>
                  <a:schemeClr val="bg1"/>
                </a:solidFill>
              </a:rPr>
              <a:t>Rounding To The Nearest 10</a:t>
            </a:r>
          </a:p>
        </p:txBody>
      </p:sp>
      <p:sp>
        <p:nvSpPr>
          <p:cNvPr id="13315" name="Text Box 3"/>
          <p:cNvSpPr txBox="1">
            <a:spLocks noChangeArrowheads="1"/>
          </p:cNvSpPr>
          <p:nvPr/>
        </p:nvSpPr>
        <p:spPr bwMode="auto">
          <a:xfrm>
            <a:off x="457200" y="1698674"/>
            <a:ext cx="3962400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dirty="0">
                <a:solidFill>
                  <a:schemeClr val="bg1"/>
                </a:solidFill>
              </a:rPr>
              <a:t>Round 467 to the nearest ten.</a:t>
            </a:r>
          </a:p>
        </p:txBody>
      </p:sp>
      <p:sp>
        <p:nvSpPr>
          <p:cNvPr id="13316" name="Text Box 4"/>
          <p:cNvSpPr txBox="1">
            <a:spLocks noChangeArrowheads="1"/>
          </p:cNvSpPr>
          <p:nvPr/>
        </p:nvSpPr>
        <p:spPr bwMode="auto">
          <a:xfrm>
            <a:off x="381000" y="2590800"/>
            <a:ext cx="4572000" cy="4572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dirty="0"/>
              <a:t>Which number is the tens number ?</a:t>
            </a:r>
          </a:p>
        </p:txBody>
      </p:sp>
      <p:grpSp>
        <p:nvGrpSpPr>
          <p:cNvPr id="2" name="Group 14"/>
          <p:cNvGrpSpPr>
            <a:grpSpLocks/>
          </p:cNvGrpSpPr>
          <p:nvPr/>
        </p:nvGrpSpPr>
        <p:grpSpPr bwMode="auto">
          <a:xfrm>
            <a:off x="1600200" y="2133600"/>
            <a:ext cx="4076700" cy="914400"/>
            <a:chOff x="1008" y="1344"/>
            <a:chExt cx="2568" cy="576"/>
          </a:xfrm>
        </p:grpSpPr>
        <p:sp>
          <p:nvSpPr>
            <p:cNvPr id="24605" name="Text Box 5"/>
            <p:cNvSpPr txBox="1">
              <a:spLocks noChangeArrowheads="1"/>
            </p:cNvSpPr>
            <p:nvPr/>
          </p:nvSpPr>
          <p:spPr bwMode="auto">
            <a:xfrm>
              <a:off x="3240" y="1632"/>
              <a:ext cx="336" cy="2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dirty="0">
                  <a:solidFill>
                    <a:schemeClr val="bg1"/>
                  </a:solidFill>
                </a:rPr>
                <a:t>6</a:t>
              </a:r>
            </a:p>
          </p:txBody>
        </p:sp>
        <p:sp>
          <p:nvSpPr>
            <p:cNvPr id="24606" name="Line 7"/>
            <p:cNvSpPr>
              <a:spLocks noChangeShapeType="1"/>
            </p:cNvSpPr>
            <p:nvPr/>
          </p:nvSpPr>
          <p:spPr bwMode="auto">
            <a:xfrm>
              <a:off x="1008" y="1344"/>
              <a:ext cx="96" cy="0"/>
            </a:xfrm>
            <a:prstGeom prst="line">
              <a:avLst/>
            </a:prstGeom>
            <a:noFill/>
            <a:ln w="57150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  <p:sp>
        <p:nvSpPr>
          <p:cNvPr id="13320" name="Text Box 8"/>
          <p:cNvSpPr txBox="1">
            <a:spLocks noChangeArrowheads="1"/>
          </p:cNvSpPr>
          <p:nvPr/>
        </p:nvSpPr>
        <p:spPr bwMode="auto">
          <a:xfrm>
            <a:off x="381000" y="3352800"/>
            <a:ext cx="6705600" cy="4572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/>
              <a:t>Is the number after the 6 greater or smaller than 5 ?</a:t>
            </a:r>
          </a:p>
        </p:txBody>
      </p:sp>
      <p:sp>
        <p:nvSpPr>
          <p:cNvPr id="13321" name="Text Box 9"/>
          <p:cNvSpPr txBox="1">
            <a:spLocks noChangeArrowheads="1"/>
          </p:cNvSpPr>
          <p:nvPr/>
        </p:nvSpPr>
        <p:spPr bwMode="auto">
          <a:xfrm>
            <a:off x="7308304" y="3337560"/>
            <a:ext cx="914400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>
                <a:solidFill>
                  <a:schemeClr val="bg1"/>
                </a:solidFill>
              </a:rPr>
              <a:t>7 &gt; 5</a:t>
            </a:r>
          </a:p>
        </p:txBody>
      </p:sp>
      <p:sp>
        <p:nvSpPr>
          <p:cNvPr id="13323" name="Text Box 11"/>
          <p:cNvSpPr txBox="1">
            <a:spLocks noChangeArrowheads="1"/>
          </p:cNvSpPr>
          <p:nvPr/>
        </p:nvSpPr>
        <p:spPr bwMode="auto">
          <a:xfrm>
            <a:off x="5829300" y="3903662"/>
            <a:ext cx="2971800" cy="175432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u="sng" dirty="0">
                <a:solidFill>
                  <a:schemeClr val="bg1"/>
                </a:solidFill>
              </a:rPr>
              <a:t>Rule</a:t>
            </a:r>
          </a:p>
          <a:p>
            <a:pPr eaLnBrk="1" hangingPunct="1">
              <a:spcBef>
                <a:spcPct val="50000"/>
              </a:spcBef>
            </a:pPr>
            <a:r>
              <a:rPr lang="en-GB" altLang="en-US" i="1" dirty="0">
                <a:solidFill>
                  <a:schemeClr val="bg1"/>
                </a:solidFill>
              </a:rPr>
              <a:t>If the number is greater than or equal to 5 then round up.</a:t>
            </a:r>
          </a:p>
        </p:txBody>
      </p:sp>
      <p:sp>
        <p:nvSpPr>
          <p:cNvPr id="13324" name="Text Box 12"/>
          <p:cNvSpPr txBox="1">
            <a:spLocks noChangeArrowheads="1"/>
          </p:cNvSpPr>
          <p:nvPr/>
        </p:nvSpPr>
        <p:spPr bwMode="auto">
          <a:xfrm>
            <a:off x="381000" y="4191000"/>
            <a:ext cx="4343400" cy="4572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dirty="0"/>
              <a:t>Now round 467 to the nearest ten.</a:t>
            </a:r>
          </a:p>
        </p:txBody>
      </p:sp>
      <p:sp>
        <p:nvSpPr>
          <p:cNvPr id="13325" name="Text Box 13"/>
          <p:cNvSpPr txBox="1">
            <a:spLocks noChangeArrowheads="1"/>
          </p:cNvSpPr>
          <p:nvPr/>
        </p:nvSpPr>
        <p:spPr bwMode="auto">
          <a:xfrm>
            <a:off x="381000" y="5029200"/>
            <a:ext cx="4114800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dirty="0">
                <a:solidFill>
                  <a:schemeClr val="bg1"/>
                </a:solidFill>
              </a:rPr>
              <a:t>467 ≈ 470 (to the nearest ten).</a:t>
            </a:r>
          </a:p>
        </p:txBody>
      </p:sp>
      <p:grpSp>
        <p:nvGrpSpPr>
          <p:cNvPr id="3" name="Group 33"/>
          <p:cNvGrpSpPr>
            <a:grpSpLocks/>
          </p:cNvGrpSpPr>
          <p:nvPr/>
        </p:nvGrpSpPr>
        <p:grpSpPr bwMode="auto">
          <a:xfrm>
            <a:off x="381000" y="5746576"/>
            <a:ext cx="6781800" cy="1066800"/>
            <a:chOff x="240" y="3552"/>
            <a:chExt cx="4272" cy="672"/>
          </a:xfrm>
        </p:grpSpPr>
        <p:grpSp>
          <p:nvGrpSpPr>
            <p:cNvPr id="24587" name="Group 15"/>
            <p:cNvGrpSpPr>
              <a:grpSpLocks/>
            </p:cNvGrpSpPr>
            <p:nvPr/>
          </p:nvGrpSpPr>
          <p:grpSpPr bwMode="auto">
            <a:xfrm>
              <a:off x="240" y="3552"/>
              <a:ext cx="4272" cy="624"/>
              <a:chOff x="192" y="1536"/>
              <a:chExt cx="4272" cy="624"/>
            </a:xfrm>
          </p:grpSpPr>
          <p:grpSp>
            <p:nvGrpSpPr>
              <p:cNvPr id="24590" name="Group 16"/>
              <p:cNvGrpSpPr>
                <a:grpSpLocks/>
              </p:cNvGrpSpPr>
              <p:nvPr/>
            </p:nvGrpSpPr>
            <p:grpSpPr bwMode="auto">
              <a:xfrm>
                <a:off x="288" y="1536"/>
                <a:ext cx="4080" cy="336"/>
                <a:chOff x="336" y="2016"/>
                <a:chExt cx="4080" cy="336"/>
              </a:xfrm>
            </p:grpSpPr>
            <p:sp>
              <p:nvSpPr>
                <p:cNvPr id="24593" name="Line 17"/>
                <p:cNvSpPr>
                  <a:spLocks noChangeShapeType="1"/>
                </p:cNvSpPr>
                <p:nvPr/>
              </p:nvSpPr>
              <p:spPr bwMode="auto">
                <a:xfrm>
                  <a:off x="336" y="2016"/>
                  <a:ext cx="408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594" name="Line 18"/>
                <p:cNvSpPr>
                  <a:spLocks noChangeShapeType="1"/>
                </p:cNvSpPr>
                <p:nvPr/>
              </p:nvSpPr>
              <p:spPr bwMode="auto">
                <a:xfrm>
                  <a:off x="336" y="2016"/>
                  <a:ext cx="0" cy="336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595" name="Line 19"/>
                <p:cNvSpPr>
                  <a:spLocks noChangeShapeType="1"/>
                </p:cNvSpPr>
                <p:nvPr/>
              </p:nvSpPr>
              <p:spPr bwMode="auto">
                <a:xfrm>
                  <a:off x="720" y="2016"/>
                  <a:ext cx="0" cy="192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596" name="Line 20"/>
                <p:cNvSpPr>
                  <a:spLocks noChangeShapeType="1"/>
                </p:cNvSpPr>
                <p:nvPr/>
              </p:nvSpPr>
              <p:spPr bwMode="auto">
                <a:xfrm>
                  <a:off x="1104" y="2016"/>
                  <a:ext cx="0" cy="192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597" name="Line 21"/>
                <p:cNvSpPr>
                  <a:spLocks noChangeShapeType="1"/>
                </p:cNvSpPr>
                <p:nvPr/>
              </p:nvSpPr>
              <p:spPr bwMode="auto">
                <a:xfrm>
                  <a:off x="1488" y="2016"/>
                  <a:ext cx="0" cy="192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598" name="Line 22"/>
                <p:cNvSpPr>
                  <a:spLocks noChangeShapeType="1"/>
                </p:cNvSpPr>
                <p:nvPr/>
              </p:nvSpPr>
              <p:spPr bwMode="auto">
                <a:xfrm>
                  <a:off x="1872" y="2016"/>
                  <a:ext cx="0" cy="192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599" name="Line 23"/>
                <p:cNvSpPr>
                  <a:spLocks noChangeShapeType="1"/>
                </p:cNvSpPr>
                <p:nvPr/>
              </p:nvSpPr>
              <p:spPr bwMode="auto">
                <a:xfrm>
                  <a:off x="2256" y="2016"/>
                  <a:ext cx="0" cy="336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600" name="Line 24"/>
                <p:cNvSpPr>
                  <a:spLocks noChangeShapeType="1"/>
                </p:cNvSpPr>
                <p:nvPr/>
              </p:nvSpPr>
              <p:spPr bwMode="auto">
                <a:xfrm>
                  <a:off x="2640" y="2016"/>
                  <a:ext cx="0" cy="192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601" name="Line 25"/>
                <p:cNvSpPr>
                  <a:spLocks noChangeShapeType="1"/>
                </p:cNvSpPr>
                <p:nvPr/>
              </p:nvSpPr>
              <p:spPr bwMode="auto">
                <a:xfrm>
                  <a:off x="3024" y="2016"/>
                  <a:ext cx="0" cy="192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602" name="Line 26"/>
                <p:cNvSpPr>
                  <a:spLocks noChangeShapeType="1"/>
                </p:cNvSpPr>
                <p:nvPr/>
              </p:nvSpPr>
              <p:spPr bwMode="auto">
                <a:xfrm>
                  <a:off x="3408" y="2016"/>
                  <a:ext cx="0" cy="192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603" name="Line 27"/>
                <p:cNvSpPr>
                  <a:spLocks noChangeShapeType="1"/>
                </p:cNvSpPr>
                <p:nvPr/>
              </p:nvSpPr>
              <p:spPr bwMode="auto">
                <a:xfrm>
                  <a:off x="3792" y="2016"/>
                  <a:ext cx="0" cy="192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604" name="Line 28"/>
                <p:cNvSpPr>
                  <a:spLocks noChangeShapeType="1"/>
                </p:cNvSpPr>
                <p:nvPr/>
              </p:nvSpPr>
              <p:spPr bwMode="auto">
                <a:xfrm>
                  <a:off x="4176" y="2016"/>
                  <a:ext cx="0" cy="336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4591" name="Text Box 29"/>
              <p:cNvSpPr txBox="1">
                <a:spLocks noChangeArrowheads="1"/>
              </p:cNvSpPr>
              <p:nvPr/>
            </p:nvSpPr>
            <p:spPr bwMode="auto">
              <a:xfrm>
                <a:off x="192" y="1872"/>
                <a:ext cx="52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/>
                  <a:t>460</a:t>
                </a:r>
              </a:p>
            </p:txBody>
          </p:sp>
          <p:sp>
            <p:nvSpPr>
              <p:cNvPr id="24592" name="Text Box 30"/>
              <p:cNvSpPr txBox="1">
                <a:spLocks noChangeArrowheads="1"/>
              </p:cNvSpPr>
              <p:nvPr/>
            </p:nvSpPr>
            <p:spPr bwMode="auto">
              <a:xfrm>
                <a:off x="4032" y="1872"/>
                <a:ext cx="43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/>
                  <a:t>470</a:t>
                </a:r>
              </a:p>
            </p:txBody>
          </p:sp>
        </p:grpSp>
        <p:sp>
          <p:nvSpPr>
            <p:cNvPr id="24588" name="Text Box 31"/>
            <p:cNvSpPr txBox="1">
              <a:spLocks noChangeArrowheads="1"/>
            </p:cNvSpPr>
            <p:nvPr/>
          </p:nvSpPr>
          <p:spPr bwMode="auto">
            <a:xfrm>
              <a:off x="2784" y="3936"/>
              <a:ext cx="72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467</a:t>
              </a:r>
            </a:p>
          </p:txBody>
        </p:sp>
        <p:sp>
          <p:nvSpPr>
            <p:cNvPr id="24589" name="Line 32"/>
            <p:cNvSpPr>
              <a:spLocks noChangeShapeType="1"/>
            </p:cNvSpPr>
            <p:nvPr/>
          </p:nvSpPr>
          <p:spPr bwMode="auto">
            <a:xfrm flipV="1">
              <a:off x="3024" y="3744"/>
              <a:ext cx="0" cy="2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20" grpId="0" animBg="1" autoUpdateAnimBg="0"/>
      <p:bldP spid="13321" grpId="0" animBg="1" autoUpdateAnimBg="0"/>
      <p:bldP spid="13323" grpId="0" animBg="1" autoUpdateAnimBg="0"/>
      <p:bldP spid="13324" grpId="0" animBg="1" autoUpdateAnimBg="0"/>
      <p:bldP spid="13325" grpId="0" animBg="1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2"/>
          <p:cNvSpPr txBox="1">
            <a:spLocks noChangeArrowheads="1"/>
          </p:cNvSpPr>
          <p:nvPr/>
        </p:nvSpPr>
        <p:spPr bwMode="auto">
          <a:xfrm>
            <a:off x="228600" y="304800"/>
            <a:ext cx="5105400" cy="4572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/>
              <a:t>Round 23 438 to the nearest hundred.</a:t>
            </a:r>
          </a:p>
        </p:txBody>
      </p:sp>
      <p:sp>
        <p:nvSpPr>
          <p:cNvPr id="14340" name="Text Box 4"/>
          <p:cNvSpPr txBox="1">
            <a:spLocks noChangeArrowheads="1"/>
          </p:cNvSpPr>
          <p:nvPr/>
        </p:nvSpPr>
        <p:spPr bwMode="auto">
          <a:xfrm>
            <a:off x="304800" y="1219200"/>
            <a:ext cx="5181600" cy="4572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/>
              <a:t>Which number is the hundreds number ?</a:t>
            </a:r>
          </a:p>
        </p:txBody>
      </p:sp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1600200" y="671733"/>
            <a:ext cx="4572000" cy="990600"/>
            <a:chOff x="1008" y="432"/>
            <a:chExt cx="2880" cy="624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25627" name="Text Box 6"/>
            <p:cNvSpPr txBox="1">
              <a:spLocks noChangeArrowheads="1"/>
            </p:cNvSpPr>
            <p:nvPr/>
          </p:nvSpPr>
          <p:spPr bwMode="auto">
            <a:xfrm>
              <a:off x="3552" y="768"/>
              <a:ext cx="336" cy="2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dirty="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25628" name="Line 7"/>
            <p:cNvSpPr>
              <a:spLocks noChangeShapeType="1"/>
            </p:cNvSpPr>
            <p:nvPr/>
          </p:nvSpPr>
          <p:spPr bwMode="auto">
            <a:xfrm>
              <a:off x="1008" y="432"/>
              <a:ext cx="96" cy="0"/>
            </a:xfrm>
            <a:prstGeom prst="line">
              <a:avLst/>
            </a:prstGeom>
            <a:grpFill/>
            <a:ln w="57150">
              <a:solidFill>
                <a:srgbClr val="FF0066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  <p:sp>
        <p:nvSpPr>
          <p:cNvPr id="14344" name="Text Box 8"/>
          <p:cNvSpPr txBox="1">
            <a:spLocks noChangeArrowheads="1"/>
          </p:cNvSpPr>
          <p:nvPr/>
        </p:nvSpPr>
        <p:spPr bwMode="auto">
          <a:xfrm>
            <a:off x="304800" y="1981200"/>
            <a:ext cx="6705600" cy="4572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/>
              <a:t>Is the number after the 4 greater or smaller than 5 ?</a:t>
            </a:r>
          </a:p>
        </p:txBody>
      </p:sp>
      <p:sp>
        <p:nvSpPr>
          <p:cNvPr id="14345" name="Text Box 9"/>
          <p:cNvSpPr txBox="1">
            <a:spLocks noChangeArrowheads="1"/>
          </p:cNvSpPr>
          <p:nvPr/>
        </p:nvSpPr>
        <p:spPr bwMode="auto">
          <a:xfrm>
            <a:off x="7236296" y="1988840"/>
            <a:ext cx="914400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>
                <a:solidFill>
                  <a:schemeClr val="bg1"/>
                </a:solidFill>
              </a:rPr>
              <a:t>3 &lt; 5</a:t>
            </a:r>
          </a:p>
        </p:txBody>
      </p:sp>
      <p:sp>
        <p:nvSpPr>
          <p:cNvPr id="14346" name="Text Box 10"/>
          <p:cNvSpPr txBox="1">
            <a:spLocks noChangeArrowheads="1"/>
          </p:cNvSpPr>
          <p:nvPr/>
        </p:nvSpPr>
        <p:spPr bwMode="auto">
          <a:xfrm>
            <a:off x="5867400" y="3429000"/>
            <a:ext cx="2971800" cy="175432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u="sng">
                <a:solidFill>
                  <a:schemeClr val="bg1"/>
                </a:solidFill>
              </a:rPr>
              <a:t>Rule</a:t>
            </a:r>
          </a:p>
          <a:p>
            <a:pPr eaLnBrk="1" hangingPunct="1">
              <a:spcBef>
                <a:spcPct val="50000"/>
              </a:spcBef>
            </a:pPr>
            <a:r>
              <a:rPr lang="en-GB" altLang="en-US" i="1">
                <a:solidFill>
                  <a:schemeClr val="bg1"/>
                </a:solidFill>
              </a:rPr>
              <a:t>If the number is greater than or equal to 5 then round up.</a:t>
            </a:r>
          </a:p>
        </p:txBody>
      </p:sp>
      <p:sp>
        <p:nvSpPr>
          <p:cNvPr id="14347" name="Text Box 11"/>
          <p:cNvSpPr txBox="1">
            <a:spLocks noChangeArrowheads="1"/>
          </p:cNvSpPr>
          <p:nvPr/>
        </p:nvSpPr>
        <p:spPr bwMode="auto">
          <a:xfrm>
            <a:off x="304800" y="2819400"/>
            <a:ext cx="5562600" cy="4572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/>
              <a:t>Now round 23 438 to the nearest hundred.</a:t>
            </a:r>
          </a:p>
        </p:txBody>
      </p:sp>
      <p:sp>
        <p:nvSpPr>
          <p:cNvPr id="14348" name="Text Box 12"/>
          <p:cNvSpPr txBox="1">
            <a:spLocks noChangeArrowheads="1"/>
          </p:cNvSpPr>
          <p:nvPr/>
        </p:nvSpPr>
        <p:spPr bwMode="auto">
          <a:xfrm>
            <a:off x="304800" y="3657600"/>
            <a:ext cx="5334000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>
                <a:solidFill>
                  <a:schemeClr val="bg1"/>
                </a:solidFill>
              </a:rPr>
              <a:t>23 438= 23 400 (to the nearest hundred).</a:t>
            </a:r>
          </a:p>
        </p:txBody>
      </p:sp>
      <p:grpSp>
        <p:nvGrpSpPr>
          <p:cNvPr id="3" name="Group 33"/>
          <p:cNvGrpSpPr>
            <a:grpSpLocks/>
          </p:cNvGrpSpPr>
          <p:nvPr/>
        </p:nvGrpSpPr>
        <p:grpSpPr bwMode="auto">
          <a:xfrm>
            <a:off x="381000" y="5410200"/>
            <a:ext cx="7391400" cy="1219200"/>
            <a:chOff x="240" y="3408"/>
            <a:chExt cx="4656" cy="768"/>
          </a:xfrm>
        </p:grpSpPr>
        <p:grpSp>
          <p:nvGrpSpPr>
            <p:cNvPr id="25610" name="Group 16"/>
            <p:cNvGrpSpPr>
              <a:grpSpLocks/>
            </p:cNvGrpSpPr>
            <p:nvPr/>
          </p:nvGrpSpPr>
          <p:grpSpPr bwMode="auto">
            <a:xfrm>
              <a:off x="336" y="3408"/>
              <a:ext cx="4080" cy="336"/>
              <a:chOff x="336" y="2016"/>
              <a:chExt cx="4080" cy="336"/>
            </a:xfrm>
          </p:grpSpPr>
          <p:sp>
            <p:nvSpPr>
              <p:cNvPr id="25615" name="Line 17"/>
              <p:cNvSpPr>
                <a:spLocks noChangeShapeType="1"/>
              </p:cNvSpPr>
              <p:nvPr/>
            </p:nvSpPr>
            <p:spPr bwMode="auto">
              <a:xfrm>
                <a:off x="336" y="2016"/>
                <a:ext cx="4080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16" name="Line 18"/>
              <p:cNvSpPr>
                <a:spLocks noChangeShapeType="1"/>
              </p:cNvSpPr>
              <p:nvPr/>
            </p:nvSpPr>
            <p:spPr bwMode="auto">
              <a:xfrm>
                <a:off x="336" y="2016"/>
                <a:ext cx="0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17" name="Line 19"/>
              <p:cNvSpPr>
                <a:spLocks noChangeShapeType="1"/>
              </p:cNvSpPr>
              <p:nvPr/>
            </p:nvSpPr>
            <p:spPr bwMode="auto">
              <a:xfrm>
                <a:off x="720" y="2016"/>
                <a:ext cx="0" cy="19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18" name="Line 20"/>
              <p:cNvSpPr>
                <a:spLocks noChangeShapeType="1"/>
              </p:cNvSpPr>
              <p:nvPr/>
            </p:nvSpPr>
            <p:spPr bwMode="auto">
              <a:xfrm>
                <a:off x="1104" y="2016"/>
                <a:ext cx="0" cy="19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19" name="Line 21"/>
              <p:cNvSpPr>
                <a:spLocks noChangeShapeType="1"/>
              </p:cNvSpPr>
              <p:nvPr/>
            </p:nvSpPr>
            <p:spPr bwMode="auto">
              <a:xfrm>
                <a:off x="1488" y="2016"/>
                <a:ext cx="0" cy="19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20" name="Line 22"/>
              <p:cNvSpPr>
                <a:spLocks noChangeShapeType="1"/>
              </p:cNvSpPr>
              <p:nvPr/>
            </p:nvSpPr>
            <p:spPr bwMode="auto">
              <a:xfrm>
                <a:off x="1872" y="2016"/>
                <a:ext cx="0" cy="19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21" name="Line 23"/>
              <p:cNvSpPr>
                <a:spLocks noChangeShapeType="1"/>
              </p:cNvSpPr>
              <p:nvPr/>
            </p:nvSpPr>
            <p:spPr bwMode="auto">
              <a:xfrm>
                <a:off x="2256" y="2016"/>
                <a:ext cx="0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22" name="Line 24"/>
              <p:cNvSpPr>
                <a:spLocks noChangeShapeType="1"/>
              </p:cNvSpPr>
              <p:nvPr/>
            </p:nvSpPr>
            <p:spPr bwMode="auto">
              <a:xfrm>
                <a:off x="2640" y="2016"/>
                <a:ext cx="0" cy="19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23" name="Line 25"/>
              <p:cNvSpPr>
                <a:spLocks noChangeShapeType="1"/>
              </p:cNvSpPr>
              <p:nvPr/>
            </p:nvSpPr>
            <p:spPr bwMode="auto">
              <a:xfrm>
                <a:off x="3024" y="2016"/>
                <a:ext cx="0" cy="19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24" name="Line 26"/>
              <p:cNvSpPr>
                <a:spLocks noChangeShapeType="1"/>
              </p:cNvSpPr>
              <p:nvPr/>
            </p:nvSpPr>
            <p:spPr bwMode="auto">
              <a:xfrm>
                <a:off x="3408" y="2016"/>
                <a:ext cx="0" cy="19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25" name="Line 27"/>
              <p:cNvSpPr>
                <a:spLocks noChangeShapeType="1"/>
              </p:cNvSpPr>
              <p:nvPr/>
            </p:nvSpPr>
            <p:spPr bwMode="auto">
              <a:xfrm>
                <a:off x="3792" y="2016"/>
                <a:ext cx="0" cy="19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26" name="Line 28"/>
              <p:cNvSpPr>
                <a:spLocks noChangeShapeType="1"/>
              </p:cNvSpPr>
              <p:nvPr/>
            </p:nvSpPr>
            <p:spPr bwMode="auto">
              <a:xfrm>
                <a:off x="4176" y="2016"/>
                <a:ext cx="0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5611" name="Text Box 29"/>
            <p:cNvSpPr txBox="1">
              <a:spLocks noChangeArrowheads="1"/>
            </p:cNvSpPr>
            <p:nvPr/>
          </p:nvSpPr>
          <p:spPr bwMode="auto">
            <a:xfrm>
              <a:off x="240" y="3744"/>
              <a:ext cx="72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23 400</a:t>
              </a:r>
            </a:p>
          </p:txBody>
        </p:sp>
        <p:sp>
          <p:nvSpPr>
            <p:cNvPr id="25612" name="Text Box 30"/>
            <p:cNvSpPr txBox="1">
              <a:spLocks noChangeArrowheads="1"/>
            </p:cNvSpPr>
            <p:nvPr/>
          </p:nvSpPr>
          <p:spPr bwMode="auto">
            <a:xfrm>
              <a:off x="4080" y="3744"/>
              <a:ext cx="81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23 500</a:t>
              </a:r>
            </a:p>
          </p:txBody>
        </p:sp>
        <p:sp>
          <p:nvSpPr>
            <p:cNvPr id="25613" name="Text Box 31"/>
            <p:cNvSpPr txBox="1">
              <a:spLocks noChangeArrowheads="1"/>
            </p:cNvSpPr>
            <p:nvPr/>
          </p:nvSpPr>
          <p:spPr bwMode="auto">
            <a:xfrm>
              <a:off x="1488" y="3888"/>
              <a:ext cx="72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/>
                <a:t>23 438</a:t>
              </a:r>
            </a:p>
          </p:txBody>
        </p:sp>
        <p:sp>
          <p:nvSpPr>
            <p:cNvPr id="25614" name="Line 32"/>
            <p:cNvSpPr>
              <a:spLocks noChangeShapeType="1"/>
            </p:cNvSpPr>
            <p:nvPr/>
          </p:nvSpPr>
          <p:spPr bwMode="auto">
            <a:xfrm flipV="1">
              <a:off x="1776" y="3552"/>
              <a:ext cx="0" cy="2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4" grpId="0" animBg="1" autoUpdateAnimBg="0"/>
      <p:bldP spid="14345" grpId="0" animBg="1" autoUpdateAnimBg="0"/>
      <p:bldP spid="14346" grpId="0" animBg="1" autoUpdateAnimBg="0"/>
      <p:bldP spid="14347" grpId="0" animBg="1" autoUpdateAnimBg="0"/>
      <p:bldP spid="14348" grpId="0" animBg="1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62597"/>
            <a:ext cx="7772400" cy="762000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pPr eaLnBrk="1" hangingPunct="1"/>
            <a:r>
              <a:rPr lang="en-GB" altLang="en-US" dirty="0">
                <a:solidFill>
                  <a:schemeClr val="bg1"/>
                </a:solidFill>
              </a:rPr>
              <a:t>What Goes In The Box ? 2</a:t>
            </a:r>
          </a:p>
        </p:txBody>
      </p:sp>
      <p:sp>
        <p:nvSpPr>
          <p:cNvPr id="15363" name="Text Box 3"/>
          <p:cNvSpPr txBox="1">
            <a:spLocks noChangeArrowheads="1"/>
          </p:cNvSpPr>
          <p:nvPr/>
        </p:nvSpPr>
        <p:spPr bwMode="auto">
          <a:xfrm>
            <a:off x="381000" y="1371600"/>
            <a:ext cx="5943600" cy="4572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/>
              <a:t>Round the numbers below to the required unit:</a:t>
            </a:r>
          </a:p>
        </p:txBody>
      </p:sp>
      <p:sp>
        <p:nvSpPr>
          <p:cNvPr id="15364" name="Text Box 4"/>
          <p:cNvSpPr txBox="1">
            <a:spLocks noChangeArrowheads="1"/>
          </p:cNvSpPr>
          <p:nvPr/>
        </p:nvSpPr>
        <p:spPr bwMode="auto">
          <a:xfrm>
            <a:off x="304800" y="2209800"/>
            <a:ext cx="426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dirty="0"/>
              <a:t>(1) 67 to the nearest ten = </a:t>
            </a:r>
          </a:p>
        </p:txBody>
      </p:sp>
      <p:sp>
        <p:nvSpPr>
          <p:cNvPr id="15365" name="Text Box 5"/>
          <p:cNvSpPr txBox="1">
            <a:spLocks noChangeArrowheads="1"/>
          </p:cNvSpPr>
          <p:nvPr/>
        </p:nvSpPr>
        <p:spPr bwMode="auto">
          <a:xfrm>
            <a:off x="228600" y="3048000"/>
            <a:ext cx="457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dirty="0"/>
              <a:t>(2) 943 to the nearest hundred = </a:t>
            </a:r>
          </a:p>
        </p:txBody>
      </p:sp>
      <p:sp>
        <p:nvSpPr>
          <p:cNvPr id="15366" name="Text Box 6"/>
          <p:cNvSpPr txBox="1">
            <a:spLocks noChangeArrowheads="1"/>
          </p:cNvSpPr>
          <p:nvPr/>
        </p:nvSpPr>
        <p:spPr bwMode="auto">
          <a:xfrm>
            <a:off x="228600" y="4038600"/>
            <a:ext cx="487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dirty="0"/>
              <a:t>(3) 518 to the nearest ten = </a:t>
            </a:r>
          </a:p>
        </p:txBody>
      </p:sp>
      <p:sp>
        <p:nvSpPr>
          <p:cNvPr id="15367" name="Text Box 7"/>
          <p:cNvSpPr txBox="1">
            <a:spLocks noChangeArrowheads="1"/>
          </p:cNvSpPr>
          <p:nvPr/>
        </p:nvSpPr>
        <p:spPr bwMode="auto">
          <a:xfrm>
            <a:off x="304800" y="4876800"/>
            <a:ext cx="533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dirty="0"/>
              <a:t>(4) 5 218 to the nearest hundred = </a:t>
            </a:r>
          </a:p>
        </p:txBody>
      </p:sp>
      <p:sp>
        <p:nvSpPr>
          <p:cNvPr id="15368" name="Rectangle 8"/>
          <p:cNvSpPr>
            <a:spLocks noChangeArrowheads="1"/>
          </p:cNvSpPr>
          <p:nvPr/>
        </p:nvSpPr>
        <p:spPr bwMode="auto">
          <a:xfrm>
            <a:off x="5220072" y="2095128"/>
            <a:ext cx="1905000" cy="6858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5369" name="Rectangle 9"/>
          <p:cNvSpPr>
            <a:spLocks noChangeArrowheads="1"/>
          </p:cNvSpPr>
          <p:nvPr/>
        </p:nvSpPr>
        <p:spPr bwMode="auto">
          <a:xfrm>
            <a:off x="5257800" y="2971800"/>
            <a:ext cx="1905000" cy="6858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5370" name="Rectangle 10"/>
          <p:cNvSpPr>
            <a:spLocks noChangeArrowheads="1"/>
          </p:cNvSpPr>
          <p:nvPr/>
        </p:nvSpPr>
        <p:spPr bwMode="auto">
          <a:xfrm>
            <a:off x="5257800" y="3886200"/>
            <a:ext cx="1905000" cy="6858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5371" name="Rectangle 11"/>
          <p:cNvSpPr>
            <a:spLocks noChangeArrowheads="1"/>
          </p:cNvSpPr>
          <p:nvPr/>
        </p:nvSpPr>
        <p:spPr bwMode="auto">
          <a:xfrm>
            <a:off x="5562600" y="4800600"/>
            <a:ext cx="1905000" cy="6858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>
              <a:solidFill>
                <a:schemeClr val="bg1"/>
              </a:solidFill>
            </a:endParaRPr>
          </a:p>
        </p:txBody>
      </p:sp>
      <p:sp>
        <p:nvSpPr>
          <p:cNvPr id="15372" name="Text Box 12"/>
          <p:cNvSpPr txBox="1">
            <a:spLocks noChangeArrowheads="1"/>
          </p:cNvSpPr>
          <p:nvPr/>
        </p:nvSpPr>
        <p:spPr bwMode="auto">
          <a:xfrm>
            <a:off x="5410200" y="2252003"/>
            <a:ext cx="1600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dirty="0">
                <a:solidFill>
                  <a:schemeClr val="bg1"/>
                </a:solidFill>
              </a:rPr>
              <a:t>70</a:t>
            </a:r>
          </a:p>
        </p:txBody>
      </p:sp>
      <p:sp>
        <p:nvSpPr>
          <p:cNvPr id="15373" name="Text Box 13"/>
          <p:cNvSpPr txBox="1">
            <a:spLocks noChangeArrowheads="1"/>
          </p:cNvSpPr>
          <p:nvPr/>
        </p:nvSpPr>
        <p:spPr bwMode="auto">
          <a:xfrm>
            <a:off x="5410200" y="3048000"/>
            <a:ext cx="152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dirty="0">
                <a:solidFill>
                  <a:schemeClr val="bg1"/>
                </a:solidFill>
              </a:rPr>
              <a:t>900</a:t>
            </a:r>
          </a:p>
        </p:txBody>
      </p:sp>
      <p:sp>
        <p:nvSpPr>
          <p:cNvPr id="15374" name="Text Box 14"/>
          <p:cNvSpPr txBox="1">
            <a:spLocks noChangeArrowheads="1"/>
          </p:cNvSpPr>
          <p:nvPr/>
        </p:nvSpPr>
        <p:spPr bwMode="auto">
          <a:xfrm>
            <a:off x="5334000" y="3962400"/>
            <a:ext cx="1600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dirty="0">
                <a:solidFill>
                  <a:schemeClr val="bg1"/>
                </a:solidFill>
              </a:rPr>
              <a:t>520</a:t>
            </a:r>
          </a:p>
        </p:txBody>
      </p:sp>
      <p:sp>
        <p:nvSpPr>
          <p:cNvPr id="15375" name="Text Box 15"/>
          <p:cNvSpPr txBox="1">
            <a:spLocks noChangeArrowheads="1"/>
          </p:cNvSpPr>
          <p:nvPr/>
        </p:nvSpPr>
        <p:spPr bwMode="auto">
          <a:xfrm>
            <a:off x="5715000" y="4876800"/>
            <a:ext cx="1600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dirty="0">
                <a:solidFill>
                  <a:schemeClr val="bg1"/>
                </a:solidFill>
              </a:rPr>
              <a:t>5 200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72" grpId="0" autoUpdateAnimBg="0"/>
      <p:bldP spid="15373" grpId="0" autoUpdateAnimBg="0"/>
      <p:bldP spid="15374" grpId="0" autoUpdateAnimBg="0"/>
      <p:bldP spid="15375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7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83553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369925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515" y="40436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24</a:t>
            </a:r>
          </a:p>
          <a:p>
            <a:pPr marL="0" marR="0" lvl="0" indent="0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7</a:t>
            </a:r>
          </a:p>
          <a:p>
            <a:pPr marL="0" marR="0" lvl="0" indent="0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372139" y="1346094"/>
            <a:ext cx="26842" cy="568330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99592" y="235795"/>
            <a:ext cx="41248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Rounding and Estimation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69082" y="167180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Date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5" y="859984"/>
            <a:ext cx="862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EQ – How to estimate using lead digit rounding?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5" y="1545252"/>
            <a:ext cx="21294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How do we</a:t>
            </a:r>
            <a:r>
              <a:rPr kumimoji="0" lang="en-US" sz="1800" b="0" i="0" u="none" strike="noStrike" kern="0" cap="none" spc="0" normalizeH="0" noProof="0" dirty="0">
                <a:ln>
                  <a:noFill/>
                </a:ln>
                <a:effectLst/>
                <a:uLnTx/>
                <a:uFillTx/>
              </a:rPr>
              <a:t> estimate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9592" y="226280"/>
            <a:ext cx="41248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Rounding and Estimation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398981" y="1569923"/>
            <a:ext cx="6565507" cy="10926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>
              <a:spcBef>
                <a:spcPts val="600"/>
              </a:spcBef>
              <a:defRPr/>
            </a:pPr>
            <a:r>
              <a:rPr lang="en-US" sz="2000" kern="0" dirty="0">
                <a:solidFill>
                  <a:schemeClr val="tx1"/>
                </a:solidFill>
              </a:rPr>
              <a:t>It is not always possible or convenient to work out or give exact answer to a problem. </a:t>
            </a:r>
          </a:p>
          <a:p>
            <a:pPr lvl="0" defTabSz="914400">
              <a:spcBef>
                <a:spcPts val="600"/>
              </a:spcBef>
              <a:defRPr/>
            </a:pPr>
            <a:r>
              <a:rPr lang="en-US" sz="2000" kern="0" dirty="0">
                <a:solidFill>
                  <a:schemeClr val="tx1"/>
                </a:solidFill>
              </a:rPr>
              <a:t>It is not a guess, but a quick approximation of an answer.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85120" y="2867774"/>
            <a:ext cx="6263347" cy="1092607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lvl="0" defTabSz="914400">
              <a:spcBef>
                <a:spcPts val="600"/>
              </a:spcBef>
              <a:defRPr/>
            </a:pPr>
            <a:r>
              <a:rPr lang="en-US" sz="2000" kern="0" dirty="0"/>
              <a:t>Method : Round to the first digit and carry out the operation. </a:t>
            </a:r>
          </a:p>
          <a:p>
            <a:pPr defTabSz="914400">
              <a:spcBef>
                <a:spcPts val="600"/>
              </a:spcBef>
              <a:defRPr/>
            </a:pPr>
            <a:r>
              <a:rPr lang="en-US" sz="2000" kern="0" dirty="0"/>
              <a:t>≈ symbol is used to indicate approximation</a:t>
            </a:r>
          </a:p>
        </p:txBody>
      </p:sp>
    </p:spTree>
    <p:extLst>
      <p:ext uri="{BB962C8B-B14F-4D97-AF65-F5344CB8AC3E}">
        <p14:creationId xmlns:p14="http://schemas.microsoft.com/office/powerpoint/2010/main" val="28768164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7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83553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369925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515" y="40436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24</a:t>
            </a:r>
          </a:p>
          <a:p>
            <a:pPr marL="0" marR="0" lvl="0" indent="0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7</a:t>
            </a:r>
          </a:p>
          <a:p>
            <a:pPr marL="0" marR="0" lvl="0" indent="0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372139" y="1346094"/>
            <a:ext cx="26842" cy="568330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99592" y="235795"/>
            <a:ext cx="41248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Rounding and Estimation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69082" y="167180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Date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5" y="859984"/>
            <a:ext cx="862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EQ – How to estimate using lead digit rounding?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5" y="1545252"/>
            <a:ext cx="21294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How do we</a:t>
            </a:r>
            <a:r>
              <a:rPr kumimoji="0" lang="en-US" sz="1800" b="0" i="0" u="none" strike="noStrike" kern="0" cap="none" spc="0" normalizeH="0" noProof="0" dirty="0">
                <a:ln>
                  <a:noFill/>
                </a:ln>
                <a:effectLst/>
                <a:uLnTx/>
                <a:uFillTx/>
              </a:rPr>
              <a:t> estimate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9592" y="226280"/>
            <a:ext cx="41248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Rounding and Estimation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398981" y="1569923"/>
            <a:ext cx="6565507" cy="10926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>
              <a:spcBef>
                <a:spcPts val="600"/>
              </a:spcBef>
              <a:defRPr/>
            </a:pPr>
            <a:r>
              <a:rPr lang="en-US" sz="2000" kern="0" dirty="0">
                <a:solidFill>
                  <a:schemeClr val="tx1"/>
                </a:solidFill>
              </a:rPr>
              <a:t>It is not always possible or convenient to work out or give exact answer to a problem. </a:t>
            </a:r>
          </a:p>
          <a:p>
            <a:pPr lvl="0" defTabSz="914400">
              <a:spcBef>
                <a:spcPts val="600"/>
              </a:spcBef>
              <a:defRPr/>
            </a:pPr>
            <a:r>
              <a:rPr lang="en-US" sz="2000" kern="0" dirty="0">
                <a:solidFill>
                  <a:schemeClr val="tx1"/>
                </a:solidFill>
              </a:rPr>
              <a:t>It is not a guess, but a quick approximation of an answer.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2496770" y="4366221"/>
                <a:ext cx="6254818" cy="2354491"/>
              </a:xfrm>
              <a:prstGeom prst="rect">
                <a:avLst/>
              </a:prstGeom>
              <a:solidFill>
                <a:schemeClr val="accent1"/>
              </a:solidFill>
            </p:spPr>
            <p:txBody>
              <a:bodyPr wrap="square">
                <a:spAutoFit/>
              </a:bodyPr>
              <a:lstStyle/>
              <a:p>
                <a:pPr defTabSz="914400">
                  <a:spcBef>
                    <a:spcPts val="600"/>
                  </a:spcBef>
                  <a:defRPr/>
                </a:pPr>
                <a:r>
                  <a:rPr lang="en-US" sz="2400" i="1" kern="0" dirty="0">
                    <a:latin typeface="Cambria Math" panose="02040503050406030204" pitchFamily="18" charset="0"/>
                  </a:rPr>
                  <a:t>Example </a:t>
                </a:r>
              </a:p>
              <a:p>
                <a:pPr marL="457200" indent="-457200">
                  <a:lnSpc>
                    <a:spcPct val="150000"/>
                  </a:lnSpc>
                  <a:spcBef>
                    <a:spcPts val="600"/>
                  </a:spcBef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2400" i="1" ker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2400" b="0" i="1" kern="0" smtClean="0">
                        <a:latin typeface="Cambria Math" panose="02040503050406030204" pitchFamily="18" charset="0"/>
                      </a:rPr>
                      <m:t>.36+3.78</m:t>
                    </m:r>
                  </m:oMath>
                </a14:m>
                <a:endParaRPr lang="en-US" sz="2400" kern="0" dirty="0"/>
              </a:p>
              <a:p>
                <a:pPr marL="457200" indent="-457200">
                  <a:lnSpc>
                    <a:spcPct val="150000"/>
                  </a:lnSpc>
                  <a:spcBef>
                    <a:spcPts val="600"/>
                  </a:spcBef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2400" i="1" kern="0"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sz="2400" b="0" i="1" kern="0" smtClean="0">
                        <a:latin typeface="Cambria Math" panose="02040503050406030204" pitchFamily="18" charset="0"/>
                      </a:rPr>
                      <m:t>2.1×3.72</m:t>
                    </m:r>
                  </m:oMath>
                </a14:m>
                <a:endParaRPr lang="en-US" sz="2400" b="0" i="1" kern="0" dirty="0">
                  <a:latin typeface="Cambria Math" panose="02040503050406030204" pitchFamily="18" charset="0"/>
                </a:endParaRPr>
              </a:p>
              <a:p>
                <a:pPr marL="457200" indent="-457200">
                  <a:lnSpc>
                    <a:spcPct val="150000"/>
                  </a:lnSpc>
                  <a:spcBef>
                    <a:spcPts val="600"/>
                  </a:spcBef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2400" b="0" i="1" kern="0" smtClean="0">
                        <a:latin typeface="Cambria Math" panose="02040503050406030204" pitchFamily="18" charset="0"/>
                      </a:rPr>
                      <m:t>896÷3.12</m:t>
                    </m:r>
                  </m:oMath>
                </a14:m>
                <a:endParaRPr lang="en-US" sz="2400" kern="0" dirty="0"/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6770" y="4366221"/>
                <a:ext cx="6254818" cy="2354491"/>
              </a:xfrm>
              <a:prstGeom prst="rect">
                <a:avLst/>
              </a:prstGeom>
              <a:blipFill>
                <a:blip r:embed="rId2"/>
                <a:stretch>
                  <a:fillRect l="-1559" t="-2073" b="-20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/>
          <p:cNvSpPr/>
          <p:nvPr/>
        </p:nvSpPr>
        <p:spPr>
          <a:xfrm>
            <a:off x="2485120" y="2779504"/>
            <a:ext cx="6263347" cy="1277273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lvl="0" defTabSz="914400">
              <a:spcBef>
                <a:spcPts val="600"/>
              </a:spcBef>
              <a:defRPr/>
            </a:pPr>
            <a:r>
              <a:rPr lang="en-US" sz="2400" kern="0" dirty="0"/>
              <a:t>Method : Round to the first digit and carry out the operation. </a:t>
            </a:r>
          </a:p>
          <a:p>
            <a:pPr defTabSz="914400">
              <a:spcBef>
                <a:spcPts val="600"/>
              </a:spcBef>
              <a:defRPr/>
            </a:pPr>
            <a:r>
              <a:rPr lang="en-US" sz="2400" kern="0" dirty="0"/>
              <a:t>≈ symbol is used to indicate approximation</a:t>
            </a:r>
          </a:p>
        </p:txBody>
      </p:sp>
    </p:spTree>
    <p:extLst>
      <p:ext uri="{BB962C8B-B14F-4D97-AF65-F5344CB8AC3E}">
        <p14:creationId xmlns:p14="http://schemas.microsoft.com/office/powerpoint/2010/main" val="38715543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7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83553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369925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515" y="40436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24</a:t>
            </a:r>
          </a:p>
          <a:p>
            <a:pPr marL="0" marR="0" lvl="0" indent="0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7</a:t>
            </a:r>
          </a:p>
          <a:p>
            <a:pPr marL="0" marR="0" lvl="0" indent="0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372139" y="1346094"/>
            <a:ext cx="26842" cy="568330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99592" y="235795"/>
            <a:ext cx="41248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Rounding and Estimation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69082" y="167180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Date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5" y="859984"/>
            <a:ext cx="862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EQ – How to estimate using lead digit rounding?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5" y="1545252"/>
            <a:ext cx="21294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How do we</a:t>
            </a:r>
            <a:r>
              <a:rPr kumimoji="0" lang="en-US" sz="1800" b="0" i="0" u="none" strike="noStrike" kern="0" cap="none" spc="0" normalizeH="0" noProof="0" dirty="0">
                <a:ln>
                  <a:noFill/>
                </a:ln>
                <a:effectLst/>
                <a:uLnTx/>
                <a:uFillTx/>
              </a:rPr>
              <a:t> estimate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9592" y="226280"/>
            <a:ext cx="41248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Rounding and Estimation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398981" y="1569923"/>
            <a:ext cx="6565507" cy="10926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>
              <a:spcBef>
                <a:spcPts val="600"/>
              </a:spcBef>
              <a:defRPr/>
            </a:pPr>
            <a:r>
              <a:rPr lang="en-US" sz="2000" kern="0" dirty="0">
                <a:solidFill>
                  <a:schemeClr val="tx1"/>
                </a:solidFill>
              </a:rPr>
              <a:t>It is not always possible or convenient to work out or give exact answer to a problem. </a:t>
            </a:r>
          </a:p>
          <a:p>
            <a:pPr lvl="0" defTabSz="914400">
              <a:spcBef>
                <a:spcPts val="600"/>
              </a:spcBef>
              <a:defRPr/>
            </a:pPr>
            <a:r>
              <a:rPr lang="en-US" sz="2000" kern="0" dirty="0">
                <a:solidFill>
                  <a:schemeClr val="tx1"/>
                </a:solidFill>
              </a:rPr>
              <a:t>It is not a guess, but a quick approximation of an answer.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2496770" y="4366221"/>
                <a:ext cx="6254818" cy="2289473"/>
              </a:xfrm>
              <a:prstGeom prst="rect">
                <a:avLst/>
              </a:prstGeom>
              <a:solidFill>
                <a:schemeClr val="accent1"/>
              </a:solidFill>
            </p:spPr>
            <p:txBody>
              <a:bodyPr wrap="square">
                <a:spAutoFit/>
              </a:bodyPr>
              <a:lstStyle/>
              <a:p>
                <a:pPr defTabSz="914400">
                  <a:spcBef>
                    <a:spcPts val="600"/>
                  </a:spcBef>
                  <a:defRPr/>
                </a:pPr>
                <a:r>
                  <a:rPr lang="en-US" sz="2400" i="1" kern="0" dirty="0">
                    <a:latin typeface="Cambria Math" panose="02040503050406030204" pitchFamily="18" charset="0"/>
                  </a:rPr>
                  <a:t>Example </a:t>
                </a:r>
              </a:p>
              <a:p>
                <a:pPr marL="457200" indent="-457200">
                  <a:lnSpc>
                    <a:spcPct val="150000"/>
                  </a:lnSpc>
                  <a:spcBef>
                    <a:spcPts val="600"/>
                  </a:spcBef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2400" i="1" ker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2400" b="0" i="1" kern="0" smtClean="0">
                        <a:latin typeface="Cambria Math" panose="02040503050406030204" pitchFamily="18" charset="0"/>
                      </a:rPr>
                      <m:t>.36+3.78</m:t>
                    </m:r>
                    <m:r>
                      <a:rPr lang="en-US" sz="24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sz="24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4+4</m:t>
                    </m:r>
                    <m:r>
                      <a:rPr lang="en-US" sz="24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≈</m:t>
                    </m:r>
                    <m:r>
                      <a:rPr lang="en-US" sz="24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8</m:t>
                    </m:r>
                  </m:oMath>
                </a14:m>
                <a:endParaRPr lang="en-US" sz="2400" kern="0" dirty="0"/>
              </a:p>
              <a:p>
                <a:pPr marL="457200" indent="-457200">
                  <a:lnSpc>
                    <a:spcPct val="150000"/>
                  </a:lnSpc>
                  <a:spcBef>
                    <a:spcPts val="600"/>
                  </a:spcBef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2400" i="1" kern="0"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sz="2400" b="0" i="1" kern="0" smtClean="0">
                        <a:latin typeface="Cambria Math" panose="02040503050406030204" pitchFamily="18" charset="0"/>
                      </a:rPr>
                      <m:t>2.1×3.72</m:t>
                    </m:r>
                    <m:r>
                      <a:rPr lang="en-US" sz="24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sz="24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60×4</m:t>
                    </m:r>
                    <m:r>
                      <a:rPr lang="en-US" sz="24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sz="24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240</m:t>
                    </m:r>
                  </m:oMath>
                </a14:m>
                <a:endParaRPr lang="en-US" sz="2400" b="0" i="1" kern="0" dirty="0">
                  <a:latin typeface="Cambria Math" panose="02040503050406030204" pitchFamily="18" charset="0"/>
                </a:endParaRPr>
              </a:p>
              <a:p>
                <a:pPr marL="457200" indent="-457200">
                  <a:lnSpc>
                    <a:spcPct val="150000"/>
                  </a:lnSpc>
                  <a:spcBef>
                    <a:spcPts val="600"/>
                  </a:spcBef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2400" b="0" i="1" kern="0" smtClean="0">
                        <a:latin typeface="Cambria Math" panose="02040503050406030204" pitchFamily="18" charset="0"/>
                      </a:rPr>
                      <m:t>896÷3.12</m:t>
                    </m:r>
                    <m:r>
                      <a:rPr lang="en-US" sz="24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sz="24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900</m:t>
                    </m:r>
                    <m:r>
                      <a:rPr lang="en-US" sz="24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  <m:r>
                      <a:rPr lang="en-US" sz="24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  <m:r>
                      <a:rPr lang="en-US" sz="24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≈</m:t>
                    </m:r>
                    <m:r>
                      <a:rPr lang="en-US" sz="24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300</m:t>
                    </m:r>
                  </m:oMath>
                </a14:m>
                <a:endParaRPr lang="en-US" sz="2400" kern="0" dirty="0"/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6770" y="4366221"/>
                <a:ext cx="6254818" cy="2289473"/>
              </a:xfrm>
              <a:prstGeom prst="rect">
                <a:avLst/>
              </a:prstGeom>
              <a:blipFill>
                <a:blip r:embed="rId2"/>
                <a:stretch>
                  <a:fillRect l="-1559" t="-2128" b="-4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/>
          <p:cNvSpPr/>
          <p:nvPr/>
        </p:nvSpPr>
        <p:spPr>
          <a:xfrm>
            <a:off x="2485120" y="2779504"/>
            <a:ext cx="6263347" cy="1277273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lvl="0" defTabSz="914400">
              <a:spcBef>
                <a:spcPts val="600"/>
              </a:spcBef>
              <a:defRPr/>
            </a:pPr>
            <a:r>
              <a:rPr lang="en-US" sz="2400" kern="0" dirty="0"/>
              <a:t>Method : Round to the first digit and carry out the operation. </a:t>
            </a:r>
          </a:p>
          <a:p>
            <a:pPr defTabSz="914400">
              <a:spcBef>
                <a:spcPts val="600"/>
              </a:spcBef>
              <a:defRPr/>
            </a:pPr>
            <a:r>
              <a:rPr lang="en-US" sz="2400" kern="0" dirty="0"/>
              <a:t>≈ symbol is used to indicate approximation</a:t>
            </a:r>
          </a:p>
        </p:txBody>
      </p:sp>
    </p:spTree>
    <p:extLst>
      <p:ext uri="{BB962C8B-B14F-4D97-AF65-F5344CB8AC3E}">
        <p14:creationId xmlns:p14="http://schemas.microsoft.com/office/powerpoint/2010/main" val="11545967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Tasks</a:t>
            </a:r>
          </a:p>
        </p:txBody>
      </p:sp>
      <p:grpSp>
        <p:nvGrpSpPr>
          <p:cNvPr id="22" name="Group 21"/>
          <p:cNvGrpSpPr/>
          <p:nvPr/>
        </p:nvGrpSpPr>
        <p:grpSpPr>
          <a:xfrm>
            <a:off x="683566" y="1937676"/>
            <a:ext cx="2259013" cy="3579556"/>
            <a:chOff x="683566" y="1937676"/>
            <a:chExt cx="2259013" cy="3579556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5346" y="1937676"/>
              <a:ext cx="286735" cy="267188"/>
            </a:xfrm>
            <a:prstGeom prst="rect">
              <a:avLst/>
            </a:prstGeom>
          </p:spPr>
        </p:pic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3568" y="2193137"/>
              <a:ext cx="322577" cy="293906"/>
            </a:xfrm>
            <a:prstGeom prst="rect">
              <a:avLst/>
            </a:prstGeom>
          </p:spPr>
        </p:pic>
        <p:pic>
          <p:nvPicPr>
            <p:cNvPr id="13" name="Picture 12"/>
            <p:cNvPicPr>
              <a:picLocks noChangeAspect="1"/>
            </p:cNvPicPr>
            <p:nvPr/>
          </p:nvPicPr>
          <p:blipFill rotWithShape="1">
            <a:blip r:embed="rId4"/>
            <a:srcRect t="18004" b="-1"/>
            <a:stretch/>
          </p:blipFill>
          <p:spPr>
            <a:xfrm>
              <a:off x="683567" y="2460325"/>
              <a:ext cx="322577" cy="394350"/>
            </a:xfrm>
            <a:prstGeom prst="rect">
              <a:avLst/>
            </a:prstGeom>
          </p:spPr>
        </p:pic>
        <p:pic>
          <p:nvPicPr>
            <p:cNvPr id="14" name="Picture 13"/>
            <p:cNvPicPr>
              <a:picLocks noChangeAspect="1"/>
            </p:cNvPicPr>
            <p:nvPr/>
          </p:nvPicPr>
          <p:blipFill rotWithShape="1">
            <a:blip r:embed="rId5"/>
            <a:srcRect l="11269" t="25632" r="42368" b="-1369"/>
            <a:stretch/>
          </p:blipFill>
          <p:spPr>
            <a:xfrm>
              <a:off x="683566" y="2854674"/>
              <a:ext cx="216025" cy="512643"/>
            </a:xfrm>
            <a:prstGeom prst="rect">
              <a:avLst/>
            </a:prstGeom>
          </p:spPr>
        </p:pic>
        <p:pic>
          <p:nvPicPr>
            <p:cNvPr id="4" name="Picture 3"/>
            <p:cNvPicPr>
              <a:picLocks noChangeAspect="1"/>
            </p:cNvPicPr>
            <p:nvPr/>
          </p:nvPicPr>
          <p:blipFill rotWithShape="1">
            <a:blip r:embed="rId6"/>
            <a:srcRect t="3451" b="5205"/>
            <a:stretch/>
          </p:blipFill>
          <p:spPr>
            <a:xfrm>
              <a:off x="899592" y="1937676"/>
              <a:ext cx="2042987" cy="3579556"/>
            </a:xfrm>
            <a:prstGeom prst="rect">
              <a:avLst/>
            </a:prstGeom>
          </p:spPr>
        </p:pic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83566" y="3353392"/>
              <a:ext cx="286735" cy="507656"/>
            </a:xfrm>
            <a:prstGeom prst="rect">
              <a:avLst/>
            </a:prstGeom>
          </p:spPr>
        </p:pic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83566" y="3829676"/>
              <a:ext cx="286735" cy="365156"/>
            </a:xfrm>
            <a:prstGeom prst="rect">
              <a:avLst/>
            </a:prstGeom>
          </p:spPr>
        </p:pic>
        <p:pic>
          <p:nvPicPr>
            <p:cNvPr id="18" name="Picture 17"/>
            <p:cNvPicPr>
              <a:picLocks noChangeAspect="1"/>
            </p:cNvPicPr>
            <p:nvPr/>
          </p:nvPicPr>
          <p:blipFill rotWithShape="1">
            <a:blip r:embed="rId9"/>
            <a:srcRect l="1" r="18182" b="-6935"/>
            <a:stretch/>
          </p:blipFill>
          <p:spPr>
            <a:xfrm>
              <a:off x="683569" y="4194832"/>
              <a:ext cx="322576" cy="314288"/>
            </a:xfrm>
            <a:prstGeom prst="rect">
              <a:avLst/>
            </a:prstGeom>
          </p:spPr>
        </p:pic>
        <p:pic>
          <p:nvPicPr>
            <p:cNvPr id="20" name="Picture 19"/>
            <p:cNvPicPr>
              <a:picLocks noChangeAspect="1"/>
            </p:cNvPicPr>
            <p:nvPr/>
          </p:nvPicPr>
          <p:blipFill rotWithShape="1">
            <a:blip r:embed="rId10"/>
            <a:srcRect r="38462"/>
            <a:stretch/>
          </p:blipFill>
          <p:spPr>
            <a:xfrm>
              <a:off x="683566" y="4433856"/>
              <a:ext cx="286735" cy="641250"/>
            </a:xfrm>
            <a:prstGeom prst="rect">
              <a:avLst/>
            </a:prstGeom>
          </p:spPr>
        </p:pic>
        <p:pic>
          <p:nvPicPr>
            <p:cNvPr id="21" name="Picture 20"/>
            <p:cNvPicPr>
              <a:picLocks noChangeAspect="1"/>
            </p:cNvPicPr>
            <p:nvPr/>
          </p:nvPicPr>
          <p:blipFill rotWithShape="1">
            <a:blip r:embed="rId11"/>
            <a:srcRect l="2" t="1" r="20000" b="3671"/>
            <a:stretch/>
          </p:blipFill>
          <p:spPr>
            <a:xfrm>
              <a:off x="683567" y="5051247"/>
              <a:ext cx="286734" cy="46598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272121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6016" y="587500"/>
            <a:ext cx="4240486" cy="1329332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r>
              <a:rPr lang="en-AU" sz="2600" dirty="0"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I'm </a:t>
            </a:r>
            <a:r>
              <a:rPr lang="en-AU" sz="2600" dirty="0" err="1"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gonna</a:t>
            </a:r>
            <a:r>
              <a:rPr lang="en-AU" sz="2600" dirty="0"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 pop some tags</a:t>
            </a:r>
            <a:br>
              <a:rPr lang="en-AU" sz="2600" dirty="0"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</a:br>
            <a:r>
              <a:rPr lang="en-AU" sz="2600" dirty="0"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Only got twenty dollars in my pocket</a:t>
            </a:r>
            <a:endParaRPr lang="en-US" sz="2600" dirty="0">
              <a:solidFill>
                <a:schemeClr val="bg1"/>
              </a:solidFill>
              <a:latin typeface="Comic Sans MS" panose="030F0702030302020204" pitchFamily="66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587500"/>
            <a:ext cx="4176464" cy="590513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5576" y="1997330"/>
            <a:ext cx="3528995" cy="1719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latin typeface="Lucida Handwriting" panose="03010101010101010101" pitchFamily="66" charset="0"/>
              </a:rPr>
              <a:t>2 x Milk (2L)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latin typeface="Lucida Handwriting" panose="03010101010101010101" pitchFamily="66" charset="0"/>
              </a:rPr>
              <a:t>1 x Nutella 750 g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latin typeface="Lucida Handwriting" panose="03010101010101010101" pitchFamily="66" charset="0"/>
              </a:rPr>
              <a:t>2 x Avocado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latin typeface="Lucida Handwriting" panose="03010101010101010101" pitchFamily="66" charset="0"/>
              </a:rPr>
              <a:t>1 x Marshmallows Bag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716016" y="4267593"/>
          <a:ext cx="4240486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0243">
                  <a:extLst>
                    <a:ext uri="{9D8B030D-6E8A-4147-A177-3AD203B41FA5}">
                      <a16:colId xmlns:a16="http://schemas.microsoft.com/office/drawing/2014/main" val="3543554502"/>
                    </a:ext>
                  </a:extLst>
                </a:gridCol>
                <a:gridCol w="2120243">
                  <a:extLst>
                    <a:ext uri="{9D8B030D-6E8A-4147-A177-3AD203B41FA5}">
                      <a16:colId xmlns:a16="http://schemas.microsoft.com/office/drawing/2014/main" val="15468087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09198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Milk</a:t>
                      </a:r>
                      <a:r>
                        <a:rPr lang="en-US" baseline="0" dirty="0"/>
                        <a:t> (2 L)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$1.99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43735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Nutella (750 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$6.75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03572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Avocado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$3.20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20909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Marshmallows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$2.80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56421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8178742"/>
                  </a:ext>
                </a:extLst>
              </a:tr>
            </a:tbl>
          </a:graphicData>
        </a:graphic>
      </p:graphicFrame>
      <p:pic>
        <p:nvPicPr>
          <p:cNvPr id="7" name="Picture 6" descr="Mary Reibey &lt;strong&gt;Australian&lt;/strong&gt; $&lt;strong&gt;20&lt;/strong&gt; note (front) | Mary Reibey Convi ...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992" y="4393226"/>
            <a:ext cx="3603209" cy="15358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16016" y="2204864"/>
            <a:ext cx="424048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omic Sans MS" panose="030F0702030302020204" pitchFamily="66" charset="0"/>
              </a:rPr>
              <a:t>Can I buy the products in the shopping list with $20?</a:t>
            </a:r>
          </a:p>
        </p:txBody>
      </p:sp>
      <p:pic>
        <p:nvPicPr>
          <p:cNvPr id="10" name="Recorded Sound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172400" y="3200782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374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182487866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6997</TotalTime>
  <Words>855</Words>
  <Application>Microsoft Office PowerPoint</Application>
  <PresentationFormat>On-screen Show (4:3)</PresentationFormat>
  <Paragraphs>181</Paragraphs>
  <Slides>14</Slides>
  <Notes>1</Notes>
  <HiddenSlides>0</HiddenSlides>
  <MMClips>2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5" baseType="lpstr">
      <vt:lpstr>ＭＳ Ｐゴシック</vt:lpstr>
      <vt:lpstr>Arial</vt:lpstr>
      <vt:lpstr>Calibri</vt:lpstr>
      <vt:lpstr>Calisto MT</vt:lpstr>
      <vt:lpstr>Cambria Math</vt:lpstr>
      <vt:lpstr>Comic Sans MS</vt:lpstr>
      <vt:lpstr>Lucida Handwriting</vt:lpstr>
      <vt:lpstr>Times New Roman</vt:lpstr>
      <vt:lpstr>Trebuchet MS</vt:lpstr>
      <vt:lpstr>Wingdings 2</vt:lpstr>
      <vt:lpstr>Slate</vt:lpstr>
      <vt:lpstr>Rounding Numbers and Estimation </vt:lpstr>
      <vt:lpstr>I'm gonna pop some tags Only got twenty dollars in my pocket</vt:lpstr>
      <vt:lpstr>PowerPoint Presentation</vt:lpstr>
      <vt:lpstr>Rounding To The Nearest Whole Number.</vt:lpstr>
      <vt:lpstr>What Goes In The Box ?</vt:lpstr>
      <vt:lpstr>Rounding To The Nearest 10</vt:lpstr>
      <vt:lpstr>PowerPoint Presentation</vt:lpstr>
      <vt:lpstr>What Goes In The Box ? 2</vt:lpstr>
      <vt:lpstr>PowerPoint Presentation</vt:lpstr>
      <vt:lpstr>PowerPoint Presentation</vt:lpstr>
      <vt:lpstr>PowerPoint Presentation</vt:lpstr>
      <vt:lpstr>Tasks</vt:lpstr>
      <vt:lpstr>I'm gonna pop some tags Only got twenty dollars in my pocket</vt:lpstr>
      <vt:lpstr>Summary</vt:lpstr>
    </vt:vector>
  </TitlesOfParts>
  <Company>Home Use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Rounding Numbers.</dc:title>
  <dc:creator>LT Scotland</dc:creator>
  <cp:lastModifiedBy>MCLEOD Alexandria [Baldivis Secondary College]</cp:lastModifiedBy>
  <cp:revision>86</cp:revision>
  <dcterms:created xsi:type="dcterms:W3CDTF">2003-06-21T13:40:04Z</dcterms:created>
  <dcterms:modified xsi:type="dcterms:W3CDTF">2021-03-01T05:32:09Z</dcterms:modified>
</cp:coreProperties>
</file>
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3"/>
  </p:notesMasterIdLst>
  <p:sldIdLst>
    <p:sldId id="256" r:id="rId2"/>
    <p:sldId id="316" r:id="rId3"/>
    <p:sldId id="311" r:id="rId4"/>
    <p:sldId id="322" r:id="rId5"/>
    <p:sldId id="323" r:id="rId6"/>
    <p:sldId id="324" r:id="rId7"/>
    <p:sldId id="325" r:id="rId8"/>
    <p:sldId id="321" r:id="rId9"/>
    <p:sldId id="318" r:id="rId10"/>
    <p:sldId id="319" r:id="rId11"/>
    <p:sldId id="320" r:id="rId12"/>
  </p:sldIdLst>
  <p:sldSz cx="9144000" cy="5143500" type="screen16x9"/>
  <p:notesSz cx="6858000" cy="9144000"/>
  <p:embeddedFontLst>
    <p:embeddedFont>
      <p:font typeface="Fredoka One" panose="020B0604020202020204" charset="0"/>
      <p:regular r:id="rId14"/>
    </p:embeddedFont>
    <p:embeddedFont>
      <p:font typeface="Cambria Math" panose="02040503050406030204" pitchFamily="18" charset="0"/>
      <p:regular r:id="rId15"/>
    </p:embeddedFont>
    <p:embeddedFont>
      <p:font typeface="Abel" panose="020B0604020202020204" charset="0"/>
      <p:regular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68">
          <p15:clr>
            <a:srgbClr val="9AA0A6"/>
          </p15:clr>
        </p15:guide>
        <p15:guide id="2" pos="2880">
          <p15:clr>
            <a:srgbClr val="9AA0A6"/>
          </p15:clr>
        </p15:guide>
        <p15:guide id="3" orient="horz" pos="253">
          <p15:clr>
            <a:srgbClr val="9AA0A6"/>
          </p15:clr>
        </p15:guide>
        <p15:guide id="4" orient="horz" pos="841">
          <p15:clr>
            <a:srgbClr val="9AA0A6"/>
          </p15:clr>
        </p15:guide>
        <p15:guide id="5" pos="576">
          <p15:clr>
            <a:srgbClr val="9AA0A6"/>
          </p15:clr>
        </p15:guide>
        <p15:guide id="6" orient="horz" pos="547">
          <p15:clr>
            <a:srgbClr val="9AA0A6"/>
          </p15:clr>
        </p15:guide>
        <p15:guide id="7" orient="horz" pos="216">
          <p15:clr>
            <a:srgbClr val="9AA0A6"/>
          </p15:clr>
        </p15:guide>
        <p15:guide id="8" pos="4787">
          <p15:clr>
            <a:srgbClr val="9AA0A6"/>
          </p15:clr>
        </p15:guide>
        <p15:guide id="9" pos="3942">
          <p15:clr>
            <a:srgbClr val="9AA0A6"/>
          </p15:clr>
        </p15:guide>
        <p15:guide id="10" pos="1293">
          <p15:clr>
            <a:srgbClr val="9AA0A6"/>
          </p15:clr>
        </p15:guide>
        <p15:guide id="11" orient="horz" pos="120">
          <p15:clr>
            <a:srgbClr val="9AA0A6"/>
          </p15:clr>
        </p15:guide>
        <p15:guide id="12" orient="horz" pos="144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6A43"/>
    <a:srgbClr val="6B4A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2CA31A5-7132-4A5F-A072-0CB39D90A84B}">
  <a:tblStyle styleId="{42CA31A5-7132-4A5F-A072-0CB39D90A8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66" autoAdjust="0"/>
    <p:restoredTop sz="94660"/>
  </p:normalViewPr>
  <p:slideViewPr>
    <p:cSldViewPr snapToGrid="0">
      <p:cViewPr>
        <p:scale>
          <a:sx n="100" d="100"/>
          <a:sy n="100" d="100"/>
        </p:scale>
        <p:origin x="931" y="336"/>
      </p:cViewPr>
      <p:guideLst>
        <p:guide orient="horz" pos="3068"/>
        <p:guide pos="2880"/>
        <p:guide orient="horz" pos="253"/>
        <p:guide orient="horz" pos="841"/>
        <p:guide pos="576"/>
        <p:guide orient="horz" pos="547"/>
        <p:guide orient="horz" pos="216"/>
        <p:guide pos="4787"/>
        <p:guide pos="3942"/>
        <p:guide pos="1293"/>
        <p:guide orient="horz" pos="120"/>
        <p:guide orient="horz" pos="14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61b46b06b8_0_87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61b46b06b8_0_87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06602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94676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2209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61b46b06b8_0_87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61b46b06b8_0_87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18521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07593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61b46b06b8_0_87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61b46b06b8_0_87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70876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93366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03814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43031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2909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96875" y="623625"/>
            <a:ext cx="1663500" cy="16635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63225" y="2799325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812375" y="3945250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7807175" y="345622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151375" y="-150575"/>
            <a:ext cx="1094100" cy="10941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745150" y="789414"/>
            <a:ext cx="3501300" cy="3501300"/>
          </a:xfrm>
          <a:prstGeom prst="donut">
            <a:avLst>
              <a:gd name="adj" fmla="val 1554"/>
            </a:avLst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2416350" y="1897688"/>
            <a:ext cx="4311300" cy="9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16350" y="2929313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TITLE_AND_BODY_1_1_1_2_1_1_1_2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817475" y="698575"/>
            <a:ext cx="5715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2pPr>
            <a:lvl3pPr lvl="2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3pPr>
            <a:lvl4pPr lvl="3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4pPr>
            <a:lvl5pPr lvl="4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5pPr>
            <a:lvl6pPr lvl="5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6pPr>
            <a:lvl7pPr lvl="6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7pPr>
            <a:lvl8pPr lvl="7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8pPr>
            <a:lvl9pPr lvl="8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3"/>
          <p:cNvCxnSpPr/>
          <p:nvPr/>
        </p:nvCxnSpPr>
        <p:spPr>
          <a:xfrm>
            <a:off x="35542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22;p3"/>
          <p:cNvCxnSpPr/>
          <p:nvPr/>
        </p:nvCxnSpPr>
        <p:spPr>
          <a:xfrm>
            <a:off x="48463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17475" y="1494350"/>
            <a:ext cx="6595200" cy="24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marL="914400" lvl="1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marL="1371600" lvl="2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marL="1828800" lvl="3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5pPr>
            <a:lvl6pPr marL="2743200" lvl="5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marL="3200400" lvl="6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marL="3657600" lvl="7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marL="4114800" lvl="8" indent="-29845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4" name="Google Shape;24;p3"/>
          <p:cNvSpPr/>
          <p:nvPr/>
        </p:nvSpPr>
        <p:spPr>
          <a:xfrm rot="-5400000">
            <a:off x="7847449" y="1972496"/>
            <a:ext cx="2701200" cy="2701200"/>
          </a:xfrm>
          <a:prstGeom prst="blockArc">
            <a:avLst>
              <a:gd name="adj1" fmla="val 10800000"/>
              <a:gd name="adj2" fmla="val 21571275"/>
              <a:gd name="adj3" fmla="val 1374"/>
            </a:avLst>
          </a:prstGeom>
          <a:solidFill>
            <a:srgbClr val="FFFFFF">
              <a:alpha val="392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8099600" y="31257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7266150" y="0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ctrTitle"/>
          </p:nvPr>
        </p:nvSpPr>
        <p:spPr>
          <a:xfrm>
            <a:off x="2416350" y="2976855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None/>
              <a:defRPr sz="1100" b="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2296350" y="1850150"/>
            <a:ext cx="455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0" name="Google Shape;40;p5"/>
          <p:cNvCxnSpPr/>
          <p:nvPr/>
        </p:nvCxnSpPr>
        <p:spPr>
          <a:xfrm>
            <a:off x="35542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41;p5"/>
          <p:cNvCxnSpPr/>
          <p:nvPr/>
        </p:nvCxnSpPr>
        <p:spPr>
          <a:xfrm>
            <a:off x="48463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Google Shape;42;p5"/>
          <p:cNvSpPr/>
          <p:nvPr/>
        </p:nvSpPr>
        <p:spPr>
          <a:xfrm>
            <a:off x="621700" y="775500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2462950" y="355737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5660300" y="195075"/>
            <a:ext cx="393600" cy="3936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 b="1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284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bel"/>
              <a:buChar char="●"/>
              <a:defRPr sz="1800">
                <a:latin typeface="Abel"/>
                <a:ea typeface="Abel"/>
                <a:cs typeface="Abel"/>
                <a:sym typeface="Abel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7"/>
          <p:cNvSpPr txBox="1">
            <a:spLocks noGrp="1"/>
          </p:cNvSpPr>
          <p:nvPr>
            <p:ph type="ctrTitle"/>
          </p:nvPr>
        </p:nvSpPr>
        <p:spPr>
          <a:xfrm>
            <a:off x="1069534" y="2672785"/>
            <a:ext cx="6916226" cy="9948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  <a:t>Topic</a:t>
            </a:r>
            <a:r>
              <a:rPr lang="en" dirty="0" smtClean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  <a:t>: Ordering decimals, common fractions, percentages</a:t>
            </a:r>
            <a:r>
              <a:rPr lang="en" dirty="0" smtClean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  <a:t/>
            </a:r>
            <a:br>
              <a:rPr lang="en" dirty="0" smtClean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</a:br>
            <a:r>
              <a:rPr lang="en" dirty="0" smtClean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  <a:t>EQ</a:t>
            </a:r>
            <a:r>
              <a:rPr lang="en" dirty="0" smtClean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  <a:t>: How can we tell if a value is greater?</a:t>
            </a:r>
            <a:endParaRPr dirty="0">
              <a:ln>
                <a:solidFill>
                  <a:schemeClr val="tx1"/>
                </a:solidFill>
              </a:ln>
              <a:solidFill>
                <a:srgbClr val="FFFFFF"/>
              </a:solidFill>
            </a:endParaRPr>
          </a:p>
        </p:txBody>
      </p:sp>
      <p:sp>
        <p:nvSpPr>
          <p:cNvPr id="353" name="Google Shape;353;p37"/>
          <p:cNvSpPr txBox="1">
            <a:spLocks noGrp="1"/>
          </p:cNvSpPr>
          <p:nvPr>
            <p:ph type="subTitle" idx="1"/>
          </p:nvPr>
        </p:nvSpPr>
        <p:spPr>
          <a:xfrm>
            <a:off x="-1366064" y="4751186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 smtClean="0">
                <a:solidFill>
                  <a:srgbClr val="FFFFFF"/>
                </a:solidFill>
              </a:rPr>
              <a:t>Mrs. McLeod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8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21437" y="39876"/>
            <a:ext cx="3701143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000" dirty="0" smtClean="0"/>
              <a:t>Warm Up </a:t>
            </a:r>
            <a:endParaRPr lang="en-AU" sz="20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/>
          <a:srcRect l="19583" t="25740" r="18585" b="25223"/>
          <a:stretch/>
        </p:blipFill>
        <p:spPr>
          <a:xfrm>
            <a:off x="645160" y="1127760"/>
            <a:ext cx="8130886" cy="3627120"/>
          </a:xfrm>
          <a:prstGeom prst="rect">
            <a:avLst/>
          </a:prstGeom>
        </p:spPr>
      </p:pic>
      <p:pic>
        <p:nvPicPr>
          <p:cNvPr id="10" name="Picture 9" descr="Schermen - Wikipedia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1267" y="39876"/>
            <a:ext cx="1777957" cy="1483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276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7928" y="26052"/>
            <a:ext cx="8627946" cy="50258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3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0555" y="81566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765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 smtClean="0">
                <a:latin typeface="Chalkboard"/>
                <a:cs typeface="Chalkboard"/>
              </a:rPr>
              <a:t>EQ: How can we tell if a value is greater?</a:t>
            </a:r>
            <a:endParaRPr lang="en-AU" sz="1800" b="1" dirty="0">
              <a:latin typeface="Chalkboard"/>
              <a:cs typeface="Chalkboar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6647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</a:t>
            </a:r>
            <a:r>
              <a:rPr lang="en-AU" sz="1800" b="1" dirty="0" smtClean="0">
                <a:latin typeface="Chalkboard"/>
                <a:cs typeface="Chalkboard"/>
              </a:rPr>
              <a:t>Ordering decimals, common fractions, percentages</a:t>
            </a:r>
            <a:r>
              <a:rPr lang="en-AU" sz="1800" b="1" dirty="0" smtClean="0">
                <a:latin typeface="Chalkboard"/>
                <a:cs typeface="Chalkboard"/>
              </a:rPr>
              <a:t> </a:t>
            </a:r>
            <a:endParaRPr lang="en-AU" sz="1800" b="1" dirty="0">
              <a:latin typeface="Chalkboard"/>
              <a:cs typeface="Chalkboard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2003055" y="818502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822302" y="1092017"/>
            <a:ext cx="1197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Comparing decimals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2019630" y="999488"/>
            <a:ext cx="60258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Real life context: Comparing prices or comparing who won a race</a:t>
            </a:r>
            <a:endParaRPr lang="en-AU" dirty="0"/>
          </a:p>
          <a:p>
            <a:endParaRPr lang="en-AU" dirty="0"/>
          </a:p>
          <a:p>
            <a:endParaRPr lang="en-AU" dirty="0" smtClean="0"/>
          </a:p>
        </p:txBody>
      </p:sp>
      <p:grpSp>
        <p:nvGrpSpPr>
          <p:cNvPr id="27" name="Group 26"/>
          <p:cNvGrpSpPr/>
          <p:nvPr/>
        </p:nvGrpSpPr>
        <p:grpSpPr>
          <a:xfrm>
            <a:off x="6563544" y="1279092"/>
            <a:ext cx="2530125" cy="3117430"/>
            <a:chOff x="6563544" y="1279092"/>
            <a:chExt cx="2530125" cy="3117430"/>
          </a:xfrm>
        </p:grpSpPr>
        <p:sp>
          <p:nvSpPr>
            <p:cNvPr id="15" name="Rectangle 14"/>
            <p:cNvSpPr/>
            <p:nvPr/>
          </p:nvSpPr>
          <p:spPr>
            <a:xfrm>
              <a:off x="6665467" y="1279092"/>
              <a:ext cx="2326281" cy="1169551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AU" dirty="0" smtClean="0"/>
                <a:t>100 m final 2008 Olympics</a:t>
              </a:r>
            </a:p>
            <a:p>
              <a:pPr algn="ctr"/>
              <a:r>
                <a:rPr lang="en-AU" dirty="0" smtClean="0"/>
                <a:t>Usain Bolt won because his time was the smallest number. How much did he win by?</a:t>
              </a:r>
            </a:p>
          </p:txBody>
        </p:sp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63544" y="2487859"/>
              <a:ext cx="2530125" cy="1908663"/>
            </a:xfrm>
            <a:prstGeom prst="rect">
              <a:avLst/>
            </a:prstGeom>
          </p:spPr>
        </p:pic>
      </p:grpSp>
      <p:sp>
        <p:nvSpPr>
          <p:cNvPr id="50" name="TextBox 49"/>
          <p:cNvSpPr txBox="1"/>
          <p:nvPr/>
        </p:nvSpPr>
        <p:spPr>
          <a:xfrm>
            <a:off x="805727" y="2231220"/>
            <a:ext cx="1197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Number line </a:t>
            </a:r>
            <a:endParaRPr lang="en-AU" dirty="0"/>
          </a:p>
        </p:txBody>
      </p:sp>
      <p:sp>
        <p:nvSpPr>
          <p:cNvPr id="51" name="TextBox 50"/>
          <p:cNvSpPr txBox="1"/>
          <p:nvPr/>
        </p:nvSpPr>
        <p:spPr>
          <a:xfrm>
            <a:off x="2019630" y="2104390"/>
            <a:ext cx="446611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Numbers get larger as we move up the number line from left to right. We can mark off the number line into ten sections between 0 and 1. These would be for the tenths place value of </a:t>
            </a:r>
          </a:p>
          <a:p>
            <a:r>
              <a:rPr lang="en-AU" dirty="0" smtClean="0"/>
              <a:t>0.1, 0.2, 0.3, 0.4, 0.5, 0.6, 0.7, 0.8, 0.9 then 1</a:t>
            </a: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695118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7928" y="36961"/>
            <a:ext cx="8627946" cy="50258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4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0555" y="81566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765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 smtClean="0">
                <a:latin typeface="Chalkboard"/>
                <a:cs typeface="Chalkboard"/>
              </a:rPr>
              <a:t>EQ: How can we tell if a value is greater?</a:t>
            </a:r>
            <a:endParaRPr lang="en-AU" sz="1800" b="1" dirty="0">
              <a:latin typeface="Chalkboard"/>
              <a:cs typeface="Chalkboar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6647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</a:t>
            </a:r>
            <a:r>
              <a:rPr lang="en-AU" sz="1800" b="1" dirty="0" smtClean="0">
                <a:latin typeface="Chalkboard"/>
                <a:cs typeface="Chalkboard"/>
              </a:rPr>
              <a:t>Ordering decimals, common fractions, percentages</a:t>
            </a:r>
            <a:r>
              <a:rPr lang="en-AU" sz="1800" b="1" dirty="0" smtClean="0">
                <a:latin typeface="Chalkboard"/>
                <a:cs typeface="Chalkboard"/>
              </a:rPr>
              <a:t> </a:t>
            </a:r>
            <a:endParaRPr lang="en-AU" sz="1800" b="1" dirty="0">
              <a:latin typeface="Chalkboard"/>
              <a:cs typeface="Chalkboard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2003055" y="818502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822302" y="1092017"/>
            <a:ext cx="1197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Comparing decimals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2019630" y="999488"/>
            <a:ext cx="60258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Real life context: Comparing prices or comparing who won a race</a:t>
            </a:r>
            <a:endParaRPr lang="en-AU" dirty="0"/>
          </a:p>
          <a:p>
            <a:endParaRPr lang="en-AU" dirty="0"/>
          </a:p>
          <a:p>
            <a:endParaRPr lang="en-AU" dirty="0" smtClean="0"/>
          </a:p>
        </p:txBody>
      </p:sp>
      <p:sp>
        <p:nvSpPr>
          <p:cNvPr id="50" name="TextBox 49"/>
          <p:cNvSpPr txBox="1"/>
          <p:nvPr/>
        </p:nvSpPr>
        <p:spPr>
          <a:xfrm>
            <a:off x="805727" y="1804669"/>
            <a:ext cx="1197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Number line </a:t>
            </a:r>
            <a:endParaRPr lang="en-AU" dirty="0"/>
          </a:p>
        </p:txBody>
      </p:sp>
      <p:sp>
        <p:nvSpPr>
          <p:cNvPr id="51" name="TextBox 50"/>
          <p:cNvSpPr txBox="1"/>
          <p:nvPr/>
        </p:nvSpPr>
        <p:spPr>
          <a:xfrm>
            <a:off x="2031525" y="1660801"/>
            <a:ext cx="446611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Numbers get larger as we move up the number line from left to right. We can mark off the number line into ten sections between 0 and 1. These would be for the tenths place value of </a:t>
            </a:r>
          </a:p>
          <a:p>
            <a:r>
              <a:rPr lang="en-AU" dirty="0" smtClean="0"/>
              <a:t>0.1, 0.2, 0.3, 0.4, 0.5, 0.6, 0.7, 0.8, 0.9 then 1</a:t>
            </a:r>
            <a:endParaRPr lang="en-AU" dirty="0" smtClean="0"/>
          </a:p>
        </p:txBody>
      </p:sp>
      <p:grpSp>
        <p:nvGrpSpPr>
          <p:cNvPr id="17" name="Group 16"/>
          <p:cNvGrpSpPr/>
          <p:nvPr/>
        </p:nvGrpSpPr>
        <p:grpSpPr>
          <a:xfrm>
            <a:off x="514345" y="3651115"/>
            <a:ext cx="8115328" cy="1152239"/>
            <a:chOff x="2151142" y="3334466"/>
            <a:chExt cx="6697225" cy="671246"/>
          </a:xfrm>
        </p:grpSpPr>
        <p:cxnSp>
          <p:nvCxnSpPr>
            <p:cNvPr id="19" name="Straight Arrow Connector 18"/>
            <p:cNvCxnSpPr/>
            <p:nvPr/>
          </p:nvCxnSpPr>
          <p:spPr>
            <a:xfrm flipV="1">
              <a:off x="2151142" y="3492595"/>
              <a:ext cx="6697225" cy="13751"/>
            </a:xfrm>
            <a:prstGeom prst="straightConnector1">
              <a:avLst/>
            </a:prstGeom>
            <a:ln w="76200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3282542" y="3334466"/>
              <a:ext cx="6875" cy="316258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5297959" y="3334466"/>
              <a:ext cx="6875" cy="316258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7285434" y="3334466"/>
              <a:ext cx="6875" cy="316258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3103787" y="3650724"/>
              <a:ext cx="3575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 smtClean="0"/>
                <a:t>-1</a:t>
              </a:r>
              <a:endParaRPr lang="en-AU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131805" y="3697935"/>
              <a:ext cx="3575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 smtClean="0"/>
                <a:t>1</a:t>
              </a:r>
              <a:endParaRPr lang="en-AU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170536" y="3697935"/>
              <a:ext cx="3575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0</a:t>
              </a: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6842760" y="1910080"/>
            <a:ext cx="1275080" cy="73866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dirty="0" smtClean="0"/>
              <a:t>Draw the tenths on the number line</a:t>
            </a:r>
            <a:endParaRPr lang="en-AU" dirty="0"/>
          </a:p>
        </p:txBody>
      </p:sp>
      <p:sp>
        <p:nvSpPr>
          <p:cNvPr id="28" name="TextBox 27"/>
          <p:cNvSpPr txBox="1"/>
          <p:nvPr/>
        </p:nvSpPr>
        <p:spPr>
          <a:xfrm>
            <a:off x="7536486" y="2740315"/>
            <a:ext cx="1559712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dirty="0" smtClean="0"/>
              <a:t>Where would we place 0.05?</a:t>
            </a:r>
            <a:endParaRPr lang="en-AU" dirty="0"/>
          </a:p>
        </p:txBody>
      </p:sp>
      <p:sp>
        <p:nvSpPr>
          <p:cNvPr id="32" name="TextBox 31"/>
          <p:cNvSpPr txBox="1"/>
          <p:nvPr/>
        </p:nvSpPr>
        <p:spPr>
          <a:xfrm>
            <a:off x="6842760" y="4299340"/>
            <a:ext cx="1559712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dirty="0" smtClean="0"/>
              <a:t>Where would we place 0.25?</a:t>
            </a:r>
            <a:endParaRPr lang="en-AU" dirty="0"/>
          </a:p>
        </p:txBody>
      </p:sp>
      <p:sp>
        <p:nvSpPr>
          <p:cNvPr id="33" name="TextBox 32"/>
          <p:cNvSpPr txBox="1"/>
          <p:nvPr/>
        </p:nvSpPr>
        <p:spPr>
          <a:xfrm>
            <a:off x="2437102" y="4379169"/>
            <a:ext cx="1559712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dirty="0" smtClean="0"/>
              <a:t>Where would we place -0.35?</a:t>
            </a:r>
            <a:endParaRPr lang="en-AU" dirty="0"/>
          </a:p>
        </p:txBody>
      </p:sp>
      <p:sp>
        <p:nvSpPr>
          <p:cNvPr id="29" name="TextBox 28"/>
          <p:cNvSpPr txBox="1"/>
          <p:nvPr/>
        </p:nvSpPr>
        <p:spPr>
          <a:xfrm>
            <a:off x="2003055" y="2940083"/>
            <a:ext cx="53870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If we then further marked off ten sections between each tenth we would have hundredths (100 tiny intervals between 0 and 1)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45830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32" grpId="0" animBg="1"/>
      <p:bldP spid="33" grpId="0" animBg="1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8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97879" y="3935037"/>
            <a:ext cx="6148260" cy="738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b="1" u="sng" dirty="0" smtClean="0"/>
              <a:t>Important! </a:t>
            </a:r>
            <a:r>
              <a:rPr lang="en-AU" dirty="0" smtClean="0"/>
              <a:t>(add to notes)</a:t>
            </a:r>
            <a:endParaRPr lang="en-AU" dirty="0" smtClean="0"/>
          </a:p>
          <a:p>
            <a:r>
              <a:rPr lang="en-AU" dirty="0" smtClean="0"/>
              <a:t>The decimal number with the most digits is not necessarily the largest!</a:t>
            </a:r>
          </a:p>
          <a:p>
            <a:r>
              <a:rPr lang="en-AU" dirty="0" smtClean="0"/>
              <a:t>A numbers size depends on the value and position of the digits</a:t>
            </a: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3312686" y="290720"/>
            <a:ext cx="196994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sz="1800" dirty="0" smtClean="0"/>
              <a:t>Which is greater?</a:t>
            </a:r>
            <a:endParaRPr lang="en-AU" sz="1800" dirty="0" smtClean="0"/>
          </a:p>
        </p:txBody>
      </p:sp>
      <p:sp>
        <p:nvSpPr>
          <p:cNvPr id="2" name="TextBox 1"/>
          <p:cNvSpPr txBox="1"/>
          <p:nvPr/>
        </p:nvSpPr>
        <p:spPr>
          <a:xfrm>
            <a:off x="2032709" y="1287650"/>
            <a:ext cx="4529899" cy="18158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AU" sz="2800" dirty="0" smtClean="0"/>
              <a:t>0.565   or     0.85 </a:t>
            </a:r>
          </a:p>
          <a:p>
            <a:pPr algn="ctr"/>
            <a:endParaRPr lang="en-AU" sz="2800" dirty="0"/>
          </a:p>
          <a:p>
            <a:pPr algn="ctr"/>
            <a:endParaRPr lang="en-AU" sz="2800" dirty="0" smtClean="0"/>
          </a:p>
          <a:p>
            <a:pPr algn="ctr"/>
            <a:r>
              <a:rPr lang="en-AU" sz="2800" dirty="0" smtClean="0"/>
              <a:t>0.2   or       0.04</a:t>
            </a:r>
            <a:endParaRPr lang="en-AU" sz="2800" dirty="0"/>
          </a:p>
        </p:txBody>
      </p:sp>
      <p:sp>
        <p:nvSpPr>
          <p:cNvPr id="3" name="Oval 2"/>
          <p:cNvSpPr/>
          <p:nvPr/>
        </p:nvSpPr>
        <p:spPr>
          <a:xfrm>
            <a:off x="4698436" y="1148080"/>
            <a:ext cx="1168391" cy="873760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Oval 6"/>
          <p:cNvSpPr/>
          <p:nvPr/>
        </p:nvSpPr>
        <p:spPr>
          <a:xfrm>
            <a:off x="2728490" y="2369342"/>
            <a:ext cx="1168391" cy="873760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8829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3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7928" y="26052"/>
            <a:ext cx="8627946" cy="50258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6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0555" y="81566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765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 smtClean="0">
                <a:latin typeface="Chalkboard"/>
                <a:cs typeface="Chalkboard"/>
              </a:rPr>
              <a:t>EQ: How can we tell if a value is greater?</a:t>
            </a:r>
            <a:endParaRPr lang="en-AU" sz="1800" b="1" dirty="0">
              <a:latin typeface="Chalkboard"/>
              <a:cs typeface="Chalkboar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6647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</a:t>
            </a:r>
            <a:r>
              <a:rPr lang="en-AU" sz="1800" b="1" dirty="0" smtClean="0">
                <a:latin typeface="Chalkboard"/>
                <a:cs typeface="Chalkboard"/>
              </a:rPr>
              <a:t>Ordering decimals, common fractions, percentages</a:t>
            </a:r>
            <a:r>
              <a:rPr lang="en-AU" sz="1800" b="1" dirty="0" smtClean="0">
                <a:latin typeface="Chalkboard"/>
                <a:cs typeface="Chalkboard"/>
              </a:rPr>
              <a:t> </a:t>
            </a:r>
            <a:endParaRPr lang="en-AU" sz="1800" b="1" dirty="0">
              <a:latin typeface="Chalkboard"/>
              <a:cs typeface="Chalkboard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2003055" y="818502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822302" y="1092017"/>
            <a:ext cx="1197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Comparing decimals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2019630" y="999488"/>
            <a:ext cx="60258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Real life context: Comparing prices or comparing who won a race</a:t>
            </a:r>
            <a:endParaRPr lang="en-AU" dirty="0"/>
          </a:p>
          <a:p>
            <a:endParaRPr lang="en-AU" dirty="0"/>
          </a:p>
          <a:p>
            <a:endParaRPr lang="en-AU" dirty="0" smtClean="0"/>
          </a:p>
        </p:txBody>
      </p:sp>
      <p:sp>
        <p:nvSpPr>
          <p:cNvPr id="50" name="TextBox 49"/>
          <p:cNvSpPr txBox="1"/>
          <p:nvPr/>
        </p:nvSpPr>
        <p:spPr>
          <a:xfrm>
            <a:off x="805727" y="2039112"/>
            <a:ext cx="11973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Comparing decimals using digits </a:t>
            </a:r>
            <a:endParaRPr lang="en-AU" dirty="0"/>
          </a:p>
        </p:txBody>
      </p:sp>
      <p:sp>
        <p:nvSpPr>
          <p:cNvPr id="51" name="TextBox 50"/>
          <p:cNvSpPr txBox="1"/>
          <p:nvPr/>
        </p:nvSpPr>
        <p:spPr>
          <a:xfrm>
            <a:off x="2019630" y="2104390"/>
            <a:ext cx="539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To find the bigger number we can compare the digits in each place value column beginning with the highest place value</a:t>
            </a:r>
            <a:endParaRPr lang="en-AU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4364254" y="2794064"/>
            <a:ext cx="44343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 smtClean="0"/>
              <a:t>Which is bigger  0.47239     or   0.4731?</a:t>
            </a:r>
            <a:endParaRPr lang="en-AU" sz="16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2050140" y="3113276"/>
            <a:ext cx="43857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Compare the whole number first </a:t>
            </a:r>
          </a:p>
          <a:p>
            <a:endParaRPr lang="en-AU" dirty="0"/>
          </a:p>
          <a:p>
            <a:r>
              <a:rPr lang="en-AU" dirty="0" smtClean="0"/>
              <a:t>Then tenths</a:t>
            </a:r>
          </a:p>
          <a:p>
            <a:endParaRPr lang="en-AU" dirty="0"/>
          </a:p>
          <a:p>
            <a:r>
              <a:rPr lang="en-AU" dirty="0" smtClean="0"/>
              <a:t>Then hundredths</a:t>
            </a:r>
          </a:p>
          <a:p>
            <a:endParaRPr lang="en-AU" dirty="0"/>
          </a:p>
          <a:p>
            <a:r>
              <a:rPr lang="en-AU" dirty="0" smtClean="0"/>
              <a:t>Thousandths</a:t>
            </a:r>
          </a:p>
          <a:p>
            <a:r>
              <a:rPr lang="en-AU" dirty="0" smtClean="0"/>
              <a:t>  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5061998" y="3113276"/>
            <a:ext cx="1664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Both 0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5064260" y="3501577"/>
            <a:ext cx="1664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Both 4</a:t>
            </a:r>
            <a:endParaRPr lang="en-AU" dirty="0"/>
          </a:p>
        </p:txBody>
      </p:sp>
      <p:sp>
        <p:nvSpPr>
          <p:cNvPr id="23" name="TextBox 22"/>
          <p:cNvSpPr txBox="1"/>
          <p:nvPr/>
        </p:nvSpPr>
        <p:spPr>
          <a:xfrm>
            <a:off x="5061998" y="3938391"/>
            <a:ext cx="1664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Both 7</a:t>
            </a:r>
            <a:endParaRPr lang="en-AU" dirty="0"/>
          </a:p>
        </p:txBody>
      </p:sp>
      <p:sp>
        <p:nvSpPr>
          <p:cNvPr id="24" name="TextBox 23"/>
          <p:cNvSpPr txBox="1"/>
          <p:nvPr/>
        </p:nvSpPr>
        <p:spPr>
          <a:xfrm>
            <a:off x="5088812" y="4375205"/>
            <a:ext cx="38601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   vs  3   so we don’t need to go any further</a:t>
            </a:r>
            <a:endParaRPr lang="en-AU" dirty="0"/>
          </a:p>
        </p:txBody>
      </p:sp>
      <p:sp>
        <p:nvSpPr>
          <p:cNvPr id="14" name="Oval 13"/>
          <p:cNvSpPr/>
          <p:nvPr/>
        </p:nvSpPr>
        <p:spPr>
          <a:xfrm>
            <a:off x="7341639" y="2663747"/>
            <a:ext cx="965200" cy="633984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5346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4" grpId="0"/>
      <p:bldP spid="13" grpId="0"/>
      <p:bldP spid="22" grpId="0"/>
      <p:bldP spid="24" grpId="0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8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12686" y="290720"/>
            <a:ext cx="196994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sz="1800" dirty="0" smtClean="0"/>
              <a:t>Which is greater?</a:t>
            </a:r>
            <a:endParaRPr lang="en-AU" sz="1800" dirty="0" smtClean="0"/>
          </a:p>
        </p:txBody>
      </p:sp>
      <p:sp>
        <p:nvSpPr>
          <p:cNvPr id="2" name="TextBox 1"/>
          <p:cNvSpPr txBox="1"/>
          <p:nvPr/>
        </p:nvSpPr>
        <p:spPr>
          <a:xfrm>
            <a:off x="2089229" y="1218583"/>
            <a:ext cx="4416859" cy="31085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AU" sz="2800" dirty="0" smtClean="0"/>
              <a:t>3.5  or     3.51</a:t>
            </a:r>
          </a:p>
          <a:p>
            <a:pPr algn="ctr"/>
            <a:endParaRPr lang="en-AU" sz="2800" dirty="0"/>
          </a:p>
          <a:p>
            <a:pPr algn="ctr"/>
            <a:endParaRPr lang="en-AU" sz="2800" dirty="0"/>
          </a:p>
          <a:p>
            <a:pPr algn="ctr"/>
            <a:r>
              <a:rPr lang="en-AU" sz="2800" dirty="0" smtClean="0"/>
              <a:t>5.173  or 5.0789 </a:t>
            </a:r>
          </a:p>
          <a:p>
            <a:pPr algn="ctr"/>
            <a:endParaRPr lang="en-AU" sz="2800" dirty="0" smtClean="0"/>
          </a:p>
          <a:p>
            <a:pPr algn="ctr"/>
            <a:endParaRPr lang="en-AU" sz="2800" dirty="0" smtClean="0"/>
          </a:p>
          <a:p>
            <a:pPr algn="ctr"/>
            <a:r>
              <a:rPr lang="en-AU" sz="2800" dirty="0" smtClean="0"/>
              <a:t>67.54   or       67.504</a:t>
            </a:r>
            <a:endParaRPr lang="en-AU" sz="2800" dirty="0"/>
          </a:p>
        </p:txBody>
      </p:sp>
      <p:sp>
        <p:nvSpPr>
          <p:cNvPr id="3" name="Oval 2"/>
          <p:cNvSpPr/>
          <p:nvPr/>
        </p:nvSpPr>
        <p:spPr>
          <a:xfrm>
            <a:off x="4469836" y="1079500"/>
            <a:ext cx="1168391" cy="873760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Oval 6"/>
          <p:cNvSpPr/>
          <p:nvPr/>
        </p:nvSpPr>
        <p:spPr>
          <a:xfrm>
            <a:off x="2827550" y="2335974"/>
            <a:ext cx="1168391" cy="873760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Oval 7"/>
          <p:cNvSpPr/>
          <p:nvPr/>
        </p:nvSpPr>
        <p:spPr>
          <a:xfrm>
            <a:off x="2530370" y="3548339"/>
            <a:ext cx="1168391" cy="873760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4641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7928" y="47303"/>
            <a:ext cx="8627946" cy="50258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8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0555" y="81566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765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 smtClean="0">
                <a:latin typeface="Chalkboard"/>
                <a:cs typeface="Chalkboard"/>
              </a:rPr>
              <a:t>EQ: How can we tell if a value is greater?</a:t>
            </a:r>
            <a:endParaRPr lang="en-AU" sz="1800" b="1" dirty="0">
              <a:latin typeface="Chalkboard"/>
              <a:cs typeface="Chalkboar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6647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</a:t>
            </a:r>
            <a:r>
              <a:rPr lang="en-AU" sz="1800" b="1" dirty="0" smtClean="0">
                <a:latin typeface="Chalkboard"/>
                <a:cs typeface="Chalkboard"/>
              </a:rPr>
              <a:t>Ordering decimals, common fractions, percentages</a:t>
            </a:r>
            <a:r>
              <a:rPr lang="en-AU" sz="1800" b="1" dirty="0" smtClean="0">
                <a:latin typeface="Chalkboard"/>
                <a:cs typeface="Chalkboard"/>
              </a:rPr>
              <a:t> </a:t>
            </a:r>
            <a:endParaRPr lang="en-AU" sz="1800" b="1" dirty="0">
              <a:latin typeface="Chalkboard"/>
              <a:cs typeface="Chalkboard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2003055" y="818502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822302" y="1092017"/>
            <a:ext cx="1006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Common fractions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151142" y="1138066"/>
                <a:ext cx="6025831" cy="13497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sz="2800" dirty="0" smtClean="0"/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800" dirty="0" smtClean="0"/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sz="2800" dirty="0" smtClean="0"/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sz="2800" dirty="0" smtClean="0"/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AU" sz="2800" dirty="0" smtClean="0"/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b="0" i="1" dirty="0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en-AU" sz="2800" b="0" i="1" dirty="0" smtClean="0"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en-AU" sz="2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b="0" i="1" dirty="0" smtClean="0">
                            <a:latin typeface="Cambria Math" panose="02040503050406030204" pitchFamily="18" charset="0"/>
                          </a:rPr>
                          <m:t>1000</m:t>
                        </m:r>
                      </m:den>
                    </m:f>
                  </m:oMath>
                </a14:m>
                <a:r>
                  <a:rPr lang="en-AU" sz="2800" dirty="0" smtClean="0"/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800" i="1" dirty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dirty="0"/>
                  <a:t> 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 smtClean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1142" y="1138066"/>
                <a:ext cx="6025831" cy="13497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angle 14"/>
              <p:cNvSpPr/>
              <p:nvPr/>
            </p:nvSpPr>
            <p:spPr>
              <a:xfrm>
                <a:off x="5832081" y="2007098"/>
                <a:ext cx="2956958" cy="1174873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AU" dirty="0" smtClean="0"/>
                  <a:t>How can we compare them? Which one is greater? </a:t>
                </a:r>
              </a:p>
              <a:p>
                <a:pPr algn="ctr"/>
                <a:endParaRPr lang="en-AU" dirty="0"/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dirty="0"/>
                  <a:t> </a:t>
                </a:r>
                <a:r>
                  <a:rPr lang="en-AU" dirty="0" smtClean="0"/>
                  <a:t>or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i="1" dirty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2081" y="2007098"/>
                <a:ext cx="2956958" cy="11748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1003777" y="1888751"/>
            <a:ext cx="2873829" cy="116955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dirty="0" smtClean="0"/>
              <a:t>In a few weeks we will be going further with fractions but for now we will just focus on these ones and using the number line to compare</a:t>
            </a:r>
            <a:endParaRPr lang="en-AU" dirty="0"/>
          </a:p>
        </p:txBody>
      </p:sp>
      <p:pic>
        <p:nvPicPr>
          <p:cNvPr id="16" name="Picture 15" descr="File:Phantom Open Emoji 1f355.svg - Wikimedia Commons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909" y="3238479"/>
            <a:ext cx="1762589" cy="1762589"/>
          </a:xfrm>
          <a:prstGeom prst="rect">
            <a:avLst/>
          </a:prstGeom>
        </p:spPr>
      </p:pic>
      <p:pic>
        <p:nvPicPr>
          <p:cNvPr id="46" name="Picture 45" descr="File:Phantom Open Emoji 1f355.svg - Wikimedia Commons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8666" y="3246287"/>
            <a:ext cx="1762589" cy="1762589"/>
          </a:xfrm>
          <a:prstGeom prst="rect">
            <a:avLst/>
          </a:prstGeom>
        </p:spPr>
      </p:pic>
      <p:cxnSp>
        <p:nvCxnSpPr>
          <p:cNvPr id="19" name="Straight Connector 18"/>
          <p:cNvCxnSpPr>
            <a:stCxn id="16" idx="0"/>
            <a:endCxn id="16" idx="2"/>
          </p:cNvCxnSpPr>
          <p:nvPr/>
        </p:nvCxnSpPr>
        <p:spPr>
          <a:xfrm>
            <a:off x="3655204" y="3238479"/>
            <a:ext cx="0" cy="176258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5733182" y="4119773"/>
            <a:ext cx="5528" cy="92126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H="1">
            <a:off x="5727029" y="3653972"/>
            <a:ext cx="701272" cy="48968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H="1" flipV="1">
            <a:off x="5067157" y="3618673"/>
            <a:ext cx="659872" cy="53509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0310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58036" y="51849"/>
            <a:ext cx="8627946" cy="50258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9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0555" y="81566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765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 smtClean="0">
                <a:latin typeface="Chalkboard"/>
                <a:cs typeface="Chalkboard"/>
              </a:rPr>
              <a:t>EQ: How can we tell if a value is greater?</a:t>
            </a:r>
            <a:endParaRPr lang="en-AU" sz="1800" b="1" dirty="0">
              <a:latin typeface="Chalkboard"/>
              <a:cs typeface="Chalkboar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6647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</a:t>
            </a:r>
            <a:r>
              <a:rPr lang="en-AU" sz="1800" b="1" dirty="0" smtClean="0">
                <a:latin typeface="Chalkboard"/>
                <a:cs typeface="Chalkboard"/>
              </a:rPr>
              <a:t>Ordering decimals, common fractions, percentages</a:t>
            </a:r>
            <a:r>
              <a:rPr lang="en-AU" sz="1800" b="1" dirty="0" smtClean="0">
                <a:latin typeface="Chalkboard"/>
                <a:cs typeface="Chalkboard"/>
              </a:rPr>
              <a:t> </a:t>
            </a:r>
            <a:endParaRPr lang="en-AU" sz="1800" b="1" dirty="0">
              <a:latin typeface="Chalkboard"/>
              <a:cs typeface="Chalkboard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2003055" y="818502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822302" y="1092017"/>
            <a:ext cx="1006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Common fractions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151142" y="1138066"/>
                <a:ext cx="6025831" cy="13497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sz="2800" dirty="0" smtClean="0"/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800" dirty="0" smtClean="0"/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sz="2800" dirty="0" smtClean="0"/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sz="2800" dirty="0" smtClean="0"/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AU" sz="2800" dirty="0" smtClean="0"/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b="0" i="1" dirty="0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en-AU" sz="2800" b="0" i="1" dirty="0" smtClean="0"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en-AU" sz="2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b="0" i="1" dirty="0" smtClean="0">
                            <a:latin typeface="Cambria Math" panose="02040503050406030204" pitchFamily="18" charset="0"/>
                          </a:rPr>
                          <m:t>1000</m:t>
                        </m:r>
                      </m:den>
                    </m:f>
                  </m:oMath>
                </a14:m>
                <a:r>
                  <a:rPr lang="en-AU" sz="2800" dirty="0" smtClean="0"/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800" i="1" dirty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dirty="0"/>
                  <a:t> 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 smtClean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1142" y="1138066"/>
                <a:ext cx="6025831" cy="13497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angle 14"/>
              <p:cNvSpPr/>
              <p:nvPr/>
            </p:nvSpPr>
            <p:spPr>
              <a:xfrm>
                <a:off x="5832081" y="2007098"/>
                <a:ext cx="2956958" cy="1174873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AU" dirty="0" smtClean="0"/>
                  <a:t>How can we compare them? Which one is greater? </a:t>
                </a:r>
              </a:p>
              <a:p>
                <a:pPr algn="ctr"/>
                <a:endParaRPr lang="en-AU" dirty="0"/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dirty="0"/>
                  <a:t> </a:t>
                </a:r>
                <a:r>
                  <a:rPr lang="en-AU" dirty="0" smtClean="0"/>
                  <a:t>or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i="1" dirty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2081" y="2007098"/>
                <a:ext cx="2956958" cy="11748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/>
          <p:cNvGrpSpPr/>
          <p:nvPr/>
        </p:nvGrpSpPr>
        <p:grpSpPr>
          <a:xfrm>
            <a:off x="2151142" y="3334466"/>
            <a:ext cx="6697225" cy="671246"/>
            <a:chOff x="2151142" y="3334466"/>
            <a:chExt cx="6697225" cy="671246"/>
          </a:xfrm>
        </p:grpSpPr>
        <p:cxnSp>
          <p:nvCxnSpPr>
            <p:cNvPr id="12" name="Straight Arrow Connector 11"/>
            <p:cNvCxnSpPr/>
            <p:nvPr/>
          </p:nvCxnSpPr>
          <p:spPr>
            <a:xfrm flipV="1">
              <a:off x="2151142" y="3492595"/>
              <a:ext cx="6697225" cy="13751"/>
            </a:xfrm>
            <a:prstGeom prst="straightConnector1">
              <a:avLst/>
            </a:prstGeom>
            <a:ln w="76200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3282542" y="3334466"/>
              <a:ext cx="6875" cy="316258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5297959" y="3334466"/>
              <a:ext cx="6875" cy="316258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7285434" y="3334466"/>
              <a:ext cx="6875" cy="316258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3103787" y="3650724"/>
              <a:ext cx="3575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 smtClean="0"/>
                <a:t>-1</a:t>
              </a:r>
              <a:endParaRPr lang="en-AU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131805" y="3697935"/>
              <a:ext cx="3575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 smtClean="0"/>
                <a:t>1</a:t>
              </a:r>
              <a:endParaRPr lang="en-AU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170536" y="3697935"/>
              <a:ext cx="3575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0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756271" y="2055681"/>
            <a:ext cx="10725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Number line </a:t>
            </a:r>
            <a:endParaRPr lang="en-AU" dirty="0"/>
          </a:p>
        </p:txBody>
      </p:sp>
      <p:sp>
        <p:nvSpPr>
          <p:cNvPr id="31" name="TextBox 30"/>
          <p:cNvSpPr txBox="1"/>
          <p:nvPr/>
        </p:nvSpPr>
        <p:spPr>
          <a:xfrm>
            <a:off x="2032292" y="1867486"/>
            <a:ext cx="38350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We can use a number line to compare fractions visually</a:t>
            </a:r>
          </a:p>
          <a:p>
            <a:endParaRPr lang="en-AU" dirty="0"/>
          </a:p>
          <a:p>
            <a:r>
              <a:rPr lang="en-AU" dirty="0" smtClean="0"/>
              <a:t>We can divide up the number line into equal sections on top and bottom </a:t>
            </a:r>
          </a:p>
          <a:p>
            <a:r>
              <a:rPr lang="en-AU" dirty="0" smtClean="0"/>
              <a:t>The one to the left is smaller </a:t>
            </a:r>
            <a:endParaRPr lang="en-AU" dirty="0"/>
          </a:p>
        </p:txBody>
      </p:sp>
      <p:grpSp>
        <p:nvGrpSpPr>
          <p:cNvPr id="37" name="Group 36"/>
          <p:cNvGrpSpPr/>
          <p:nvPr/>
        </p:nvGrpSpPr>
        <p:grpSpPr>
          <a:xfrm>
            <a:off x="6058140" y="2832800"/>
            <a:ext cx="475261" cy="666670"/>
            <a:chOff x="6058140" y="2832800"/>
            <a:chExt cx="475261" cy="666670"/>
          </a:xfrm>
        </p:grpSpPr>
        <p:cxnSp>
          <p:nvCxnSpPr>
            <p:cNvPr id="24" name="Straight Connector 23"/>
            <p:cNvCxnSpPr>
              <a:stCxn id="27" idx="0"/>
            </p:cNvCxnSpPr>
            <p:nvPr/>
          </p:nvCxnSpPr>
          <p:spPr>
            <a:xfrm flipH="1">
              <a:off x="6290781" y="2832800"/>
              <a:ext cx="4990" cy="666670"/>
            </a:xfrm>
            <a:prstGeom prst="line">
              <a:avLst/>
            </a:prstGeom>
            <a:ln w="571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TextBox 26"/>
                <p:cNvSpPr txBox="1"/>
                <p:nvPr/>
              </p:nvSpPr>
              <p:spPr>
                <a:xfrm>
                  <a:off x="6058140" y="2832800"/>
                  <a:ext cx="475261" cy="495649"/>
                </a:xfrm>
                <a:prstGeom prst="rect">
                  <a:avLst/>
                </a:prstGeom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>
            <p:sp>
              <p:nvSpPr>
                <p:cNvPr id="27" name="Text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58140" y="2832800"/>
                  <a:ext cx="475261" cy="49564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2" name="Straight Connector 41"/>
          <p:cNvCxnSpPr/>
          <p:nvPr/>
        </p:nvCxnSpPr>
        <p:spPr>
          <a:xfrm>
            <a:off x="6722263" y="3487207"/>
            <a:ext cx="7245" cy="266605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/>
          <p:cNvGrpSpPr/>
          <p:nvPr/>
        </p:nvGrpSpPr>
        <p:grpSpPr>
          <a:xfrm>
            <a:off x="5716906" y="3490491"/>
            <a:ext cx="475261" cy="715834"/>
            <a:chOff x="5716906" y="3490491"/>
            <a:chExt cx="475261" cy="715834"/>
          </a:xfrm>
        </p:grpSpPr>
        <p:cxnSp>
          <p:nvCxnSpPr>
            <p:cNvPr id="39" name="Straight Connector 38"/>
            <p:cNvCxnSpPr/>
            <p:nvPr/>
          </p:nvCxnSpPr>
          <p:spPr>
            <a:xfrm>
              <a:off x="5930342" y="3490491"/>
              <a:ext cx="7245" cy="266605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5716906" y="3710676"/>
                  <a:ext cx="475261" cy="495649"/>
                </a:xfrm>
                <a:prstGeom prst="rect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6906" y="3710676"/>
                  <a:ext cx="475261" cy="49564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8" name="TextBox 37"/>
          <p:cNvSpPr txBox="1"/>
          <p:nvPr/>
        </p:nvSpPr>
        <p:spPr>
          <a:xfrm>
            <a:off x="630382" y="2904801"/>
            <a:ext cx="1372673" cy="116955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dirty="0" smtClean="0"/>
              <a:t>As a class add the other common fractions to the number line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34514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58036" y="51849"/>
            <a:ext cx="8627946" cy="50258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10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0555" y="81566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765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 smtClean="0">
                <a:latin typeface="Chalkboard"/>
                <a:cs typeface="Chalkboard"/>
              </a:rPr>
              <a:t>EQ: How can we tell if a value is greater?</a:t>
            </a:r>
            <a:endParaRPr lang="en-AU" sz="1800" b="1" dirty="0">
              <a:latin typeface="Chalkboard"/>
              <a:cs typeface="Chalkboar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6647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</a:t>
            </a:r>
            <a:r>
              <a:rPr lang="en-AU" sz="1800" b="1" dirty="0" smtClean="0">
                <a:latin typeface="Chalkboard"/>
                <a:cs typeface="Chalkboard"/>
              </a:rPr>
              <a:t>Ordering decimals, common fractions, percentages</a:t>
            </a:r>
            <a:r>
              <a:rPr lang="en-AU" sz="1800" b="1" dirty="0" smtClean="0">
                <a:latin typeface="Chalkboard"/>
                <a:cs typeface="Chalkboard"/>
              </a:rPr>
              <a:t> </a:t>
            </a:r>
            <a:endParaRPr lang="en-AU" sz="1800" b="1" dirty="0">
              <a:latin typeface="Chalkboard"/>
              <a:cs typeface="Chalkboard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2003055" y="818502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822302" y="1092017"/>
            <a:ext cx="1006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Common fractions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032292" y="870882"/>
                <a:ext cx="6025831" cy="13497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sz="2800" dirty="0"/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i="1" dirty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800" dirty="0"/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i="1" dirty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sz="2800" dirty="0"/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i="1" dirty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sz="2800" dirty="0"/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i="1" dirty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AU" sz="2800" dirty="0"/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i="1" dirty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en-AU" sz="2800" i="1" dirty="0"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en-AU" sz="2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i="1" dirty="0">
                            <a:latin typeface="Cambria Math" panose="02040503050406030204" pitchFamily="18" charset="0"/>
                          </a:rPr>
                          <m:t>1000</m:t>
                        </m:r>
                      </m:den>
                    </m:f>
                  </m:oMath>
                </a14:m>
                <a:r>
                  <a:rPr lang="en-AU" sz="2800" dirty="0"/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 dirty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800" i="1" dirty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dirty="0"/>
                  <a:t> 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 smtClean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292" y="870882"/>
                <a:ext cx="6025831" cy="13497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angle 14"/>
              <p:cNvSpPr/>
              <p:nvPr/>
            </p:nvSpPr>
            <p:spPr>
              <a:xfrm>
                <a:off x="5832081" y="2007098"/>
                <a:ext cx="2956958" cy="1201163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AU" b="1" dirty="0" smtClean="0"/>
                  <a:t>Harder: </a:t>
                </a:r>
                <a:r>
                  <a:rPr lang="en-AU" dirty="0" smtClean="0"/>
                  <a:t>How can we compare them? Which one is greater? </a:t>
                </a:r>
              </a:p>
              <a:p>
                <a:pPr algn="ctr"/>
                <a:endParaRPr lang="en-AU" dirty="0"/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dirty="0"/>
                  <a:t> </a:t>
                </a:r>
                <a:r>
                  <a:rPr lang="en-AU" dirty="0" smtClean="0"/>
                  <a:t>or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000" b="0" i="1" dirty="0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2081" y="2007098"/>
                <a:ext cx="2956958" cy="12011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/>
          <p:cNvGrpSpPr/>
          <p:nvPr/>
        </p:nvGrpSpPr>
        <p:grpSpPr>
          <a:xfrm>
            <a:off x="2151142" y="3334466"/>
            <a:ext cx="6697225" cy="671246"/>
            <a:chOff x="2151142" y="3334466"/>
            <a:chExt cx="6697225" cy="671246"/>
          </a:xfrm>
        </p:grpSpPr>
        <p:cxnSp>
          <p:nvCxnSpPr>
            <p:cNvPr id="12" name="Straight Arrow Connector 11"/>
            <p:cNvCxnSpPr/>
            <p:nvPr/>
          </p:nvCxnSpPr>
          <p:spPr>
            <a:xfrm flipV="1">
              <a:off x="2151142" y="3492595"/>
              <a:ext cx="6697225" cy="13751"/>
            </a:xfrm>
            <a:prstGeom prst="straightConnector1">
              <a:avLst/>
            </a:prstGeom>
            <a:ln w="76200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3282542" y="3334466"/>
              <a:ext cx="6875" cy="316258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5297959" y="3334466"/>
              <a:ext cx="6875" cy="316258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7285434" y="3334466"/>
              <a:ext cx="6875" cy="316258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3103787" y="3650724"/>
              <a:ext cx="3575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 smtClean="0"/>
                <a:t>-1</a:t>
              </a:r>
              <a:endParaRPr lang="en-AU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131805" y="3697935"/>
              <a:ext cx="3575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 smtClean="0"/>
                <a:t>1</a:t>
              </a:r>
              <a:endParaRPr lang="en-AU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170536" y="3697935"/>
              <a:ext cx="3575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0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756271" y="2055681"/>
            <a:ext cx="10725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Number line </a:t>
            </a:r>
            <a:endParaRPr lang="en-AU" dirty="0"/>
          </a:p>
        </p:txBody>
      </p:sp>
      <p:sp>
        <p:nvSpPr>
          <p:cNvPr id="31" name="TextBox 30"/>
          <p:cNvSpPr txBox="1"/>
          <p:nvPr/>
        </p:nvSpPr>
        <p:spPr>
          <a:xfrm>
            <a:off x="2032292" y="1629502"/>
            <a:ext cx="383501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We can use a number line to compare fractions visually</a:t>
            </a:r>
          </a:p>
          <a:p>
            <a:endParaRPr lang="en-AU" dirty="0"/>
          </a:p>
          <a:p>
            <a:r>
              <a:rPr lang="en-AU" dirty="0" smtClean="0"/>
              <a:t>We can divide up the number line into equal sections on top for one fraction and then divide underneath for the other fraction</a:t>
            </a:r>
          </a:p>
          <a:p>
            <a:r>
              <a:rPr lang="en-AU" dirty="0" smtClean="0"/>
              <a:t> </a:t>
            </a:r>
          </a:p>
          <a:p>
            <a:r>
              <a:rPr lang="en-AU" dirty="0" smtClean="0"/>
              <a:t>The one to the left is smaller 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6064889" y="4388704"/>
            <a:ext cx="2724150" cy="523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dirty="0" smtClean="0"/>
              <a:t>Use the same strategy for this extension question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97635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5124" y="36961"/>
            <a:ext cx="8627946" cy="50258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11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0555" y="81566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765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 smtClean="0">
                <a:latin typeface="Chalkboard"/>
                <a:cs typeface="Chalkboard"/>
              </a:rPr>
              <a:t>EQ: How can we tell if a value is greater?</a:t>
            </a:r>
            <a:endParaRPr lang="en-AU" sz="1800" b="1" dirty="0">
              <a:latin typeface="Chalkboard"/>
              <a:cs typeface="Chalkboar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6647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</a:t>
            </a:r>
            <a:r>
              <a:rPr lang="en-AU" sz="1800" b="1" dirty="0" smtClean="0">
                <a:latin typeface="Chalkboard"/>
                <a:cs typeface="Chalkboard"/>
              </a:rPr>
              <a:t>Ordering decimals, common fractions, percentages</a:t>
            </a:r>
            <a:r>
              <a:rPr lang="en-AU" sz="1800" b="1" dirty="0" smtClean="0">
                <a:latin typeface="Chalkboard"/>
                <a:cs typeface="Chalkboard"/>
              </a:rPr>
              <a:t> </a:t>
            </a:r>
            <a:endParaRPr lang="en-AU" sz="1800" b="1" dirty="0">
              <a:latin typeface="Chalkboard"/>
              <a:cs typeface="Chalkboard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2003055" y="818502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740143" y="1270121"/>
            <a:ext cx="1180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Common percentages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2151142" y="1138066"/>
            <a:ext cx="60258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50%      25%        10%    100%     1%</a:t>
            </a:r>
            <a:endParaRPr lang="en-AU" sz="1600" dirty="0"/>
          </a:p>
          <a:p>
            <a:endParaRPr lang="en-AU" sz="1600" dirty="0"/>
          </a:p>
          <a:p>
            <a:endParaRPr lang="en-AU" sz="1600" dirty="0" smtClean="0"/>
          </a:p>
        </p:txBody>
      </p:sp>
      <p:sp>
        <p:nvSpPr>
          <p:cNvPr id="15" name="Rectangle 14"/>
          <p:cNvSpPr/>
          <p:nvPr/>
        </p:nvSpPr>
        <p:spPr>
          <a:xfrm>
            <a:off x="5799503" y="900641"/>
            <a:ext cx="2956958" cy="160043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AU" b="1" dirty="0" smtClean="0"/>
              <a:t>Have a think: </a:t>
            </a:r>
          </a:p>
          <a:p>
            <a:pPr algn="ctr"/>
            <a:r>
              <a:rPr lang="en-AU" b="1" dirty="0" smtClean="0"/>
              <a:t>How would you place these  in order from least to greatest?</a:t>
            </a:r>
          </a:p>
          <a:p>
            <a:pPr algn="ctr"/>
            <a:endParaRPr lang="en-AU" b="1" dirty="0" smtClean="0"/>
          </a:p>
          <a:p>
            <a:pPr algn="ctr"/>
            <a:r>
              <a:rPr lang="en-AU" b="1" dirty="0" smtClean="0"/>
              <a:t>How would you put them on a number line? </a:t>
            </a:r>
          </a:p>
          <a:p>
            <a:pPr algn="ctr"/>
            <a:endParaRPr lang="en-AU" dirty="0"/>
          </a:p>
        </p:txBody>
      </p:sp>
      <p:grpSp>
        <p:nvGrpSpPr>
          <p:cNvPr id="22" name="Group 21"/>
          <p:cNvGrpSpPr/>
          <p:nvPr/>
        </p:nvGrpSpPr>
        <p:grpSpPr>
          <a:xfrm>
            <a:off x="2019630" y="2718950"/>
            <a:ext cx="6697225" cy="671246"/>
            <a:chOff x="2151142" y="3334466"/>
            <a:chExt cx="6697225" cy="671246"/>
          </a:xfrm>
        </p:grpSpPr>
        <p:cxnSp>
          <p:nvCxnSpPr>
            <p:cNvPr id="12" name="Straight Arrow Connector 11"/>
            <p:cNvCxnSpPr/>
            <p:nvPr/>
          </p:nvCxnSpPr>
          <p:spPr>
            <a:xfrm flipV="1">
              <a:off x="2151142" y="3492595"/>
              <a:ext cx="6697225" cy="13751"/>
            </a:xfrm>
            <a:prstGeom prst="straightConnector1">
              <a:avLst/>
            </a:prstGeom>
            <a:ln w="76200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3282542" y="3334466"/>
              <a:ext cx="6875" cy="316258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5297959" y="3334466"/>
              <a:ext cx="6875" cy="316258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7285434" y="3334466"/>
              <a:ext cx="6875" cy="316258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3103787" y="3650724"/>
              <a:ext cx="3575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 smtClean="0"/>
                <a:t>-1</a:t>
              </a:r>
              <a:endParaRPr lang="en-AU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131805" y="3697935"/>
              <a:ext cx="3575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 smtClean="0"/>
                <a:t>1</a:t>
              </a:r>
              <a:endParaRPr lang="en-AU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170536" y="3697935"/>
              <a:ext cx="3575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0</a:t>
              </a: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489098" y="2216213"/>
            <a:ext cx="5310405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dirty="0" smtClean="0"/>
              <a:t>Which of the common fractions match up to these percentages?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2376775" y="1448664"/>
                <a:ext cx="3902335" cy="616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sz="2400" dirty="0"/>
                  <a:t>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sz="2400" dirty="0"/>
                  <a:t>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AU" sz="2400" dirty="0"/>
                  <a:t> 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6775" y="1448664"/>
                <a:ext cx="3902335" cy="6161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598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13" grpId="0"/>
    </p:bldLst>
  </p:timing>
</p:sld>
</file>

<file path=ppt/theme/theme1.xml><?xml version="1.0" encoding="utf-8"?>
<a:theme xmlns:a="http://schemas.openxmlformats.org/drawingml/2006/main" name="Rainbow Background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4ADBD"/>
      </a:accent1>
      <a:accent2>
        <a:srgbClr val="A2D242"/>
      </a:accent2>
      <a:accent3>
        <a:srgbClr val="FCE243"/>
      </a:accent3>
      <a:accent4>
        <a:srgbClr val="EF6B20"/>
      </a:accent4>
      <a:accent5>
        <a:srgbClr val="AD242B"/>
      </a:accent5>
      <a:accent6>
        <a:srgbClr val="AE2D5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ainbow Background by Slidesgo" id="{46D7DCF1-5261-4805-AE31-BEDD5E59F30E}" vid="{99090F41-B61B-4833-A699-F16AB6F86A01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Cornell Notes</Template>
  <TotalTime>7955</TotalTime>
  <Words>1068</Words>
  <Application>Microsoft Office PowerPoint</Application>
  <PresentationFormat>On-screen Show (16:9)</PresentationFormat>
  <Paragraphs>159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Fredoka One</vt:lpstr>
      <vt:lpstr>Chalkboard</vt:lpstr>
      <vt:lpstr>Arial</vt:lpstr>
      <vt:lpstr>Cambria Math</vt:lpstr>
      <vt:lpstr>Abel</vt:lpstr>
      <vt:lpstr>Rainbow Background by Slidesgo</vt:lpstr>
      <vt:lpstr>Topic: Ordering decimals, common fractions, percentages EQ: How can we tell if a value is greater?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Adding and Subtracting with negative numbers  EQ: How do we add and subtract with negatives?</dc:title>
  <dc:creator>MCLEOD Alexandria [Baldivis Secondary College]</dc:creator>
  <cp:lastModifiedBy>MCLEOD Alexandria [Baldivis Secondary College]</cp:lastModifiedBy>
  <cp:revision>28</cp:revision>
  <dcterms:created xsi:type="dcterms:W3CDTF">2021-02-22T02:29:05Z</dcterms:created>
  <dcterms:modified xsi:type="dcterms:W3CDTF">2021-03-01T07:18:08Z</dcterms:modified>
</cp:coreProperties>
</file>
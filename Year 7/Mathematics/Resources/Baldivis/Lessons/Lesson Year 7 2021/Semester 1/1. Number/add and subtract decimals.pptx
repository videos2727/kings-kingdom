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82" r:id="rId1"/>
  </p:sldMasterIdLst>
  <p:notesMasterIdLst>
    <p:notesMasterId r:id="rId11"/>
  </p:notesMasterIdLst>
  <p:sldIdLst>
    <p:sldId id="256" r:id="rId2"/>
    <p:sldId id="311" r:id="rId3"/>
    <p:sldId id="312" r:id="rId4"/>
    <p:sldId id="313" r:id="rId5"/>
    <p:sldId id="314" r:id="rId6"/>
    <p:sldId id="259" r:id="rId7"/>
    <p:sldId id="316" r:id="rId8"/>
    <p:sldId id="257" r:id="rId9"/>
    <p:sldId id="315" r:id="rId10"/>
  </p:sldIdLst>
  <p:sldSz cx="9144000" cy="5143500" type="screen16x9"/>
  <p:notesSz cx="6858000" cy="9144000"/>
  <p:embeddedFontLst>
    <p:embeddedFont>
      <p:font typeface="Fredoka One" panose="020B0604020202020204" charset="0"/>
      <p:regular r:id="rId12"/>
    </p:embeddedFont>
    <p:embeddedFont>
      <p:font typeface="Abel" panose="020B0604020202020204" charset="0"/>
      <p:regular r:id="rId1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3068">
          <p15:clr>
            <a:srgbClr val="9AA0A6"/>
          </p15:clr>
        </p15:guide>
        <p15:guide id="2" pos="2880">
          <p15:clr>
            <a:srgbClr val="9AA0A6"/>
          </p15:clr>
        </p15:guide>
        <p15:guide id="3" orient="horz" pos="253">
          <p15:clr>
            <a:srgbClr val="9AA0A6"/>
          </p15:clr>
        </p15:guide>
        <p15:guide id="4" orient="horz" pos="841">
          <p15:clr>
            <a:srgbClr val="9AA0A6"/>
          </p15:clr>
        </p15:guide>
        <p15:guide id="5" pos="576">
          <p15:clr>
            <a:srgbClr val="9AA0A6"/>
          </p15:clr>
        </p15:guide>
        <p15:guide id="6" orient="horz" pos="547">
          <p15:clr>
            <a:srgbClr val="9AA0A6"/>
          </p15:clr>
        </p15:guide>
        <p15:guide id="7" orient="horz" pos="216">
          <p15:clr>
            <a:srgbClr val="9AA0A6"/>
          </p15:clr>
        </p15:guide>
        <p15:guide id="8" pos="4787">
          <p15:clr>
            <a:srgbClr val="9AA0A6"/>
          </p15:clr>
        </p15:guide>
        <p15:guide id="9" pos="3942">
          <p15:clr>
            <a:srgbClr val="9AA0A6"/>
          </p15:clr>
        </p15:guide>
        <p15:guide id="10" pos="1293">
          <p15:clr>
            <a:srgbClr val="9AA0A6"/>
          </p15:clr>
        </p15:guide>
        <p15:guide id="11" orient="horz" pos="120">
          <p15:clr>
            <a:srgbClr val="9AA0A6"/>
          </p15:clr>
        </p15:guide>
        <p15:guide id="12" orient="horz" pos="1440">
          <p15:clr>
            <a:srgbClr val="9AA0A6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F6A43"/>
    <a:srgbClr val="6B4A3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42CA31A5-7132-4A5F-A072-0CB39D90A84B}">
  <a:tblStyle styleId="{42CA31A5-7132-4A5F-A072-0CB39D90A84B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32398" autoAdjust="0"/>
    <p:restoredTop sz="94660"/>
  </p:normalViewPr>
  <p:slideViewPr>
    <p:cSldViewPr snapToGrid="0">
      <p:cViewPr varScale="1">
        <p:scale>
          <a:sx n="88" d="100"/>
          <a:sy n="88" d="100"/>
        </p:scale>
        <p:origin x="91" y="538"/>
      </p:cViewPr>
      <p:guideLst>
        <p:guide orient="horz" pos="3068"/>
        <p:guide pos="2880"/>
        <p:guide orient="horz" pos="253"/>
        <p:guide orient="horz" pos="841"/>
        <p:guide pos="576"/>
        <p:guide orient="horz" pos="547"/>
        <p:guide orient="horz" pos="216"/>
        <p:guide pos="4787"/>
        <p:guide pos="3942"/>
        <p:guide pos="1293"/>
        <p:guide orient="horz" pos="120"/>
        <p:guide orient="horz" pos="14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0" name="Google Shape;350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g615da441d6_0_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1" name="Google Shape;371;g615da441d6_0_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77946766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g615da441d6_0_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1" name="Google Shape;371;g615da441d6_0_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62531138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g615da441d6_0_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1" name="Google Shape;371;g615da441d6_0_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8980717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g615da441d6_0_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1" name="Google Shape;371;g615da441d6_0_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4583176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g615da441d6_0_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1" name="Google Shape;371;g615da441d6_0_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g61b46b06b8_0_879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6" name="Google Shape;356;g61b46b06b8_0_879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17066024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g61b46b06b8_0_879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6" name="Google Shape;356;g61b46b06b8_0_879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g61b46b06b8_0_879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6" name="Google Shape;356;g61b46b06b8_0_879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67621796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PENING TITLE" type="title">
  <p:cSld name="TITLE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596875" y="623625"/>
            <a:ext cx="1663500" cy="1663500"/>
          </a:xfrm>
          <a:prstGeom prst="ellipse">
            <a:avLst/>
          </a:prstGeom>
          <a:solidFill>
            <a:srgbClr val="FFFFFF">
              <a:alpha val="1518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" name="Google Shape;11;p2"/>
          <p:cNvSpPr/>
          <p:nvPr/>
        </p:nvSpPr>
        <p:spPr>
          <a:xfrm>
            <a:off x="-63225" y="2799325"/>
            <a:ext cx="994800" cy="994800"/>
          </a:xfrm>
          <a:prstGeom prst="ellipse">
            <a:avLst/>
          </a:prstGeom>
          <a:solidFill>
            <a:srgbClr val="FFFFFF">
              <a:alpha val="1518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" name="Google Shape;12;p2"/>
          <p:cNvSpPr/>
          <p:nvPr/>
        </p:nvSpPr>
        <p:spPr>
          <a:xfrm>
            <a:off x="6812375" y="3945250"/>
            <a:ext cx="994800" cy="994800"/>
          </a:xfrm>
          <a:prstGeom prst="ellipse">
            <a:avLst/>
          </a:prstGeom>
          <a:solidFill>
            <a:srgbClr val="FFFFFF">
              <a:alpha val="1518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" name="Google Shape;13;p2"/>
          <p:cNvSpPr/>
          <p:nvPr/>
        </p:nvSpPr>
        <p:spPr>
          <a:xfrm>
            <a:off x="7807175" y="3456225"/>
            <a:ext cx="655800" cy="655800"/>
          </a:xfrm>
          <a:prstGeom prst="ellipse">
            <a:avLst/>
          </a:prstGeom>
          <a:solidFill>
            <a:srgbClr val="FFFFFF">
              <a:alpha val="1518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" name="Google Shape;14;p2"/>
          <p:cNvSpPr/>
          <p:nvPr/>
        </p:nvSpPr>
        <p:spPr>
          <a:xfrm>
            <a:off x="7151375" y="-150575"/>
            <a:ext cx="1094100" cy="1094100"/>
          </a:xfrm>
          <a:prstGeom prst="ellipse">
            <a:avLst/>
          </a:prstGeom>
          <a:solidFill>
            <a:srgbClr val="FFFFFF">
              <a:alpha val="1518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" name="Google Shape;15;p2"/>
          <p:cNvSpPr/>
          <p:nvPr/>
        </p:nvSpPr>
        <p:spPr>
          <a:xfrm>
            <a:off x="2745150" y="789414"/>
            <a:ext cx="3501300" cy="3501300"/>
          </a:xfrm>
          <a:prstGeom prst="donut">
            <a:avLst>
              <a:gd name="adj" fmla="val 1554"/>
            </a:avLst>
          </a:prstGeom>
          <a:solidFill>
            <a:srgbClr val="FFFFFF">
              <a:alpha val="1518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" name="Google Shape;16;p2"/>
          <p:cNvSpPr txBox="1">
            <a:spLocks noGrp="1"/>
          </p:cNvSpPr>
          <p:nvPr>
            <p:ph type="ctrTitle"/>
          </p:nvPr>
        </p:nvSpPr>
        <p:spPr>
          <a:xfrm>
            <a:off x="2416350" y="1897688"/>
            <a:ext cx="4311300" cy="99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9pPr>
          </a:lstStyle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17" name="Google Shape;17;p2"/>
          <p:cNvSpPr txBox="1">
            <a:spLocks noGrp="1"/>
          </p:cNvSpPr>
          <p:nvPr>
            <p:ph type="subTitle" idx="1"/>
          </p:nvPr>
        </p:nvSpPr>
        <p:spPr>
          <a:xfrm>
            <a:off x="2416350" y="2929313"/>
            <a:ext cx="4311300" cy="316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BULLET POINTS">
  <p:cSld name="TITLE_AND_BODY_1_1_1_2_1_1_1_2_2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3"/>
          <p:cNvSpPr txBox="1">
            <a:spLocks noGrp="1"/>
          </p:cNvSpPr>
          <p:nvPr>
            <p:ph type="title"/>
          </p:nvPr>
        </p:nvSpPr>
        <p:spPr>
          <a:xfrm>
            <a:off x="817475" y="698575"/>
            <a:ext cx="5715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4297659" y="467370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buNone/>
              <a:defRPr sz="1300">
                <a:latin typeface="Abel"/>
                <a:ea typeface="Abel"/>
                <a:cs typeface="Abel"/>
                <a:sym typeface="Abel"/>
              </a:defRPr>
            </a:lvl1pPr>
            <a:lvl2pPr lvl="1" algn="ctr" rtl="0">
              <a:buNone/>
              <a:defRPr sz="1300">
                <a:latin typeface="Abel"/>
                <a:ea typeface="Abel"/>
                <a:cs typeface="Abel"/>
                <a:sym typeface="Abel"/>
              </a:defRPr>
            </a:lvl2pPr>
            <a:lvl3pPr lvl="2" algn="ctr" rtl="0">
              <a:buNone/>
              <a:defRPr sz="1300">
                <a:latin typeface="Abel"/>
                <a:ea typeface="Abel"/>
                <a:cs typeface="Abel"/>
                <a:sym typeface="Abel"/>
              </a:defRPr>
            </a:lvl3pPr>
            <a:lvl4pPr lvl="3" algn="ctr" rtl="0">
              <a:buNone/>
              <a:defRPr sz="1300">
                <a:latin typeface="Abel"/>
                <a:ea typeface="Abel"/>
                <a:cs typeface="Abel"/>
                <a:sym typeface="Abel"/>
              </a:defRPr>
            </a:lvl4pPr>
            <a:lvl5pPr lvl="4" algn="ctr" rtl="0">
              <a:buNone/>
              <a:defRPr sz="1300">
                <a:latin typeface="Abel"/>
                <a:ea typeface="Abel"/>
                <a:cs typeface="Abel"/>
                <a:sym typeface="Abel"/>
              </a:defRPr>
            </a:lvl5pPr>
            <a:lvl6pPr lvl="5" algn="ctr" rtl="0">
              <a:buNone/>
              <a:defRPr sz="1300">
                <a:latin typeface="Abel"/>
                <a:ea typeface="Abel"/>
                <a:cs typeface="Abel"/>
                <a:sym typeface="Abel"/>
              </a:defRPr>
            </a:lvl6pPr>
            <a:lvl7pPr lvl="6" algn="ctr" rtl="0">
              <a:buNone/>
              <a:defRPr sz="1300">
                <a:latin typeface="Abel"/>
                <a:ea typeface="Abel"/>
                <a:cs typeface="Abel"/>
                <a:sym typeface="Abel"/>
              </a:defRPr>
            </a:lvl7pPr>
            <a:lvl8pPr lvl="7" algn="ctr" rtl="0">
              <a:buNone/>
              <a:defRPr sz="1300">
                <a:latin typeface="Abel"/>
                <a:ea typeface="Abel"/>
                <a:cs typeface="Abel"/>
                <a:sym typeface="Abel"/>
              </a:defRPr>
            </a:lvl8pPr>
            <a:lvl9pPr lvl="8" algn="ctr" rtl="0">
              <a:buNone/>
              <a:defRPr sz="1300">
                <a:latin typeface="Abel"/>
                <a:ea typeface="Abel"/>
                <a:cs typeface="Abel"/>
                <a:sym typeface="Abe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21" name="Google Shape;21;p3"/>
          <p:cNvCxnSpPr/>
          <p:nvPr/>
        </p:nvCxnSpPr>
        <p:spPr>
          <a:xfrm>
            <a:off x="3554258" y="4868401"/>
            <a:ext cx="743400" cy="4200"/>
          </a:xfrm>
          <a:prstGeom prst="straightConnector1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2" name="Google Shape;22;p3"/>
          <p:cNvCxnSpPr/>
          <p:nvPr/>
        </p:nvCxnSpPr>
        <p:spPr>
          <a:xfrm>
            <a:off x="4846358" y="4868401"/>
            <a:ext cx="743400" cy="4200"/>
          </a:xfrm>
          <a:prstGeom prst="straightConnector1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3" name="Google Shape;23;p3"/>
          <p:cNvSpPr txBox="1">
            <a:spLocks noGrp="1"/>
          </p:cNvSpPr>
          <p:nvPr>
            <p:ph type="body" idx="1"/>
          </p:nvPr>
        </p:nvSpPr>
        <p:spPr>
          <a:xfrm>
            <a:off x="817475" y="1494350"/>
            <a:ext cx="6595200" cy="2406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 sz="1100">
                <a:solidFill>
                  <a:schemeClr val="lt1"/>
                </a:solidFill>
              </a:defRPr>
            </a:lvl1pPr>
            <a:lvl2pPr marL="914400" lvl="1" indent="-29845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 sz="1100">
                <a:solidFill>
                  <a:schemeClr val="lt1"/>
                </a:solidFill>
              </a:defRPr>
            </a:lvl2pPr>
            <a:lvl3pPr marL="1371600" lvl="2" indent="-29845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 sz="1100">
                <a:solidFill>
                  <a:schemeClr val="lt1"/>
                </a:solidFill>
              </a:defRPr>
            </a:lvl3pPr>
            <a:lvl4pPr marL="1828800" lvl="3" indent="-29845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 sz="1100">
                <a:solidFill>
                  <a:schemeClr val="lt1"/>
                </a:solidFill>
              </a:defRPr>
            </a:lvl4pPr>
            <a:lvl5pPr marL="2286000" lvl="4" indent="-29845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 sz="1100">
                <a:solidFill>
                  <a:schemeClr val="lt1"/>
                </a:solidFill>
              </a:defRPr>
            </a:lvl5pPr>
            <a:lvl6pPr marL="2743200" lvl="5" indent="-29845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 sz="1100">
                <a:solidFill>
                  <a:schemeClr val="lt1"/>
                </a:solidFill>
              </a:defRPr>
            </a:lvl6pPr>
            <a:lvl7pPr marL="3200400" lvl="6" indent="-29845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 sz="1100">
                <a:solidFill>
                  <a:schemeClr val="lt1"/>
                </a:solidFill>
              </a:defRPr>
            </a:lvl7pPr>
            <a:lvl8pPr marL="3657600" lvl="7" indent="-29845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 sz="1100">
                <a:solidFill>
                  <a:schemeClr val="lt1"/>
                </a:solidFill>
              </a:defRPr>
            </a:lvl8pPr>
            <a:lvl9pPr marL="4114800" lvl="8" indent="-298450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100"/>
              <a:buChar char="■"/>
              <a:defRPr sz="1100">
                <a:solidFill>
                  <a:schemeClr val="lt1"/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4" name="Google Shape;24;p3"/>
          <p:cNvSpPr/>
          <p:nvPr/>
        </p:nvSpPr>
        <p:spPr>
          <a:xfrm rot="-5400000">
            <a:off x="7847449" y="1972496"/>
            <a:ext cx="2701200" cy="2701200"/>
          </a:xfrm>
          <a:prstGeom prst="blockArc">
            <a:avLst>
              <a:gd name="adj1" fmla="val 10800000"/>
              <a:gd name="adj2" fmla="val 21571275"/>
              <a:gd name="adj3" fmla="val 1374"/>
            </a:avLst>
          </a:prstGeom>
          <a:solidFill>
            <a:srgbClr val="FFFFFF">
              <a:alpha val="3929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" name="Google Shape;25;p3"/>
          <p:cNvSpPr/>
          <p:nvPr/>
        </p:nvSpPr>
        <p:spPr>
          <a:xfrm>
            <a:off x="8099600" y="312575"/>
            <a:ext cx="655800" cy="655800"/>
          </a:xfrm>
          <a:prstGeom prst="ellipse">
            <a:avLst/>
          </a:prstGeom>
          <a:solidFill>
            <a:srgbClr val="FFFFFF">
              <a:alpha val="1518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" name="Google Shape;26;p3"/>
          <p:cNvSpPr/>
          <p:nvPr/>
        </p:nvSpPr>
        <p:spPr>
          <a:xfrm>
            <a:off x="7266150" y="0"/>
            <a:ext cx="655800" cy="655800"/>
          </a:xfrm>
          <a:prstGeom prst="ellipse">
            <a:avLst/>
          </a:prstGeom>
          <a:solidFill>
            <a:srgbClr val="FFFFFF">
              <a:alpha val="1518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>
  <p:cSld name="TITLE_2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5"/>
          <p:cNvSpPr txBox="1">
            <a:spLocks noGrp="1"/>
          </p:cNvSpPr>
          <p:nvPr>
            <p:ph type="ctrTitle"/>
          </p:nvPr>
        </p:nvSpPr>
        <p:spPr>
          <a:xfrm>
            <a:off x="2416350" y="2976855"/>
            <a:ext cx="4311300" cy="316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bel"/>
              <a:buNone/>
              <a:defRPr sz="1100" b="0">
                <a:solidFill>
                  <a:schemeClr val="lt1"/>
                </a:solidFill>
                <a:latin typeface="Abel"/>
                <a:ea typeface="Abel"/>
                <a:cs typeface="Abel"/>
                <a:sym typeface="Abel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9pPr>
          </a:lstStyle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8" name="Google Shape;38;p5"/>
          <p:cNvSpPr txBox="1">
            <a:spLocks noGrp="1"/>
          </p:cNvSpPr>
          <p:nvPr>
            <p:ph type="subTitle" idx="1"/>
          </p:nvPr>
        </p:nvSpPr>
        <p:spPr>
          <a:xfrm>
            <a:off x="2296350" y="1850150"/>
            <a:ext cx="4551300" cy="316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redoka One"/>
              <a:buNone/>
              <a:defRPr>
                <a:solidFill>
                  <a:schemeClr val="lt1"/>
                </a:solidFill>
                <a:latin typeface="Fredoka One"/>
                <a:ea typeface="Fredoka One"/>
                <a:cs typeface="Fredoka One"/>
                <a:sym typeface="Fredoka On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/>
          </a:p>
        </p:txBody>
      </p:sp>
      <p:sp>
        <p:nvSpPr>
          <p:cNvPr id="39" name="Google Shape;39;p5"/>
          <p:cNvSpPr txBox="1">
            <a:spLocks noGrp="1"/>
          </p:cNvSpPr>
          <p:nvPr>
            <p:ph type="sldNum" idx="12"/>
          </p:nvPr>
        </p:nvSpPr>
        <p:spPr>
          <a:xfrm>
            <a:off x="4297659" y="4669251"/>
            <a:ext cx="548700" cy="3936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40" name="Google Shape;40;p5"/>
          <p:cNvCxnSpPr/>
          <p:nvPr/>
        </p:nvCxnSpPr>
        <p:spPr>
          <a:xfrm>
            <a:off x="3554258" y="4868401"/>
            <a:ext cx="743400" cy="4200"/>
          </a:xfrm>
          <a:prstGeom prst="straightConnector1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1" name="Google Shape;41;p5"/>
          <p:cNvCxnSpPr/>
          <p:nvPr/>
        </p:nvCxnSpPr>
        <p:spPr>
          <a:xfrm>
            <a:off x="4846358" y="4868401"/>
            <a:ext cx="743400" cy="4200"/>
          </a:xfrm>
          <a:prstGeom prst="straightConnector1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2" name="Google Shape;42;p5"/>
          <p:cNvSpPr/>
          <p:nvPr/>
        </p:nvSpPr>
        <p:spPr>
          <a:xfrm>
            <a:off x="621700" y="775500"/>
            <a:ext cx="655800" cy="655800"/>
          </a:xfrm>
          <a:prstGeom prst="ellipse">
            <a:avLst/>
          </a:prstGeom>
          <a:solidFill>
            <a:srgbClr val="FFFFFF">
              <a:alpha val="1518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" name="Google Shape;43;p5"/>
          <p:cNvSpPr/>
          <p:nvPr/>
        </p:nvSpPr>
        <p:spPr>
          <a:xfrm>
            <a:off x="2462950" y="3557375"/>
            <a:ext cx="655800" cy="655800"/>
          </a:xfrm>
          <a:prstGeom prst="ellipse">
            <a:avLst/>
          </a:prstGeom>
          <a:solidFill>
            <a:srgbClr val="FFFFFF">
              <a:alpha val="1518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" name="Google Shape;44;p5"/>
          <p:cNvSpPr/>
          <p:nvPr/>
        </p:nvSpPr>
        <p:spPr>
          <a:xfrm>
            <a:off x="5660300" y="195075"/>
            <a:ext cx="393600" cy="393600"/>
          </a:xfrm>
          <a:prstGeom prst="ellipse">
            <a:avLst/>
          </a:prstGeom>
          <a:solidFill>
            <a:srgbClr val="FFFFFF">
              <a:alpha val="1518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redoka One"/>
              <a:buNone/>
              <a:defRPr sz="2800" b="1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52848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Abel"/>
              <a:buChar char="●"/>
              <a:defRPr sz="1800">
                <a:latin typeface="Abel"/>
                <a:ea typeface="Abel"/>
                <a:cs typeface="Abel"/>
                <a:sym typeface="Abel"/>
              </a:defRPr>
            </a:lvl1pPr>
            <a:lvl2pPr marL="914400" lvl="1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Abel"/>
              <a:buChar char="○"/>
              <a:defRPr>
                <a:latin typeface="Abel"/>
                <a:ea typeface="Abel"/>
                <a:cs typeface="Abel"/>
                <a:sym typeface="Abel"/>
              </a:defRPr>
            </a:lvl2pPr>
            <a:lvl3pPr marL="1371600" lvl="2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Abel"/>
              <a:buChar char="■"/>
              <a:defRPr>
                <a:latin typeface="Abel"/>
                <a:ea typeface="Abel"/>
                <a:cs typeface="Abel"/>
                <a:sym typeface="Abel"/>
              </a:defRPr>
            </a:lvl3pPr>
            <a:lvl4pPr marL="1828800" lvl="3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Abel"/>
              <a:buChar char="●"/>
              <a:defRPr>
                <a:latin typeface="Abel"/>
                <a:ea typeface="Abel"/>
                <a:cs typeface="Abel"/>
                <a:sym typeface="Abel"/>
              </a:defRPr>
            </a:lvl4pPr>
            <a:lvl5pPr marL="2286000" lvl="4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Abel"/>
              <a:buChar char="○"/>
              <a:defRPr>
                <a:latin typeface="Abel"/>
                <a:ea typeface="Abel"/>
                <a:cs typeface="Abel"/>
                <a:sym typeface="Abel"/>
              </a:defRPr>
            </a:lvl5pPr>
            <a:lvl6pPr marL="2743200" lvl="5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Abel"/>
              <a:buChar char="■"/>
              <a:defRPr>
                <a:latin typeface="Abel"/>
                <a:ea typeface="Abel"/>
                <a:cs typeface="Abel"/>
                <a:sym typeface="Abel"/>
              </a:defRPr>
            </a:lvl6pPr>
            <a:lvl7pPr marL="3200400" lvl="6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Abel"/>
              <a:buChar char="●"/>
              <a:defRPr>
                <a:latin typeface="Abel"/>
                <a:ea typeface="Abel"/>
                <a:cs typeface="Abel"/>
                <a:sym typeface="Abel"/>
              </a:defRPr>
            </a:lvl7pPr>
            <a:lvl8pPr marL="3657600" lvl="7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Abel"/>
              <a:buChar char="○"/>
              <a:defRPr>
                <a:latin typeface="Abel"/>
                <a:ea typeface="Abel"/>
                <a:cs typeface="Abel"/>
                <a:sym typeface="Abel"/>
              </a:defRPr>
            </a:lvl8pPr>
            <a:lvl9pPr marL="4114800" lvl="8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Font typeface="Abel"/>
              <a:buChar char="■"/>
              <a:defRPr>
                <a:latin typeface="Abel"/>
                <a:ea typeface="Abel"/>
                <a:cs typeface="Abel"/>
                <a:sym typeface="Abel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4297659" y="46692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buNone/>
              <a:defRPr sz="1300">
                <a:solidFill>
                  <a:schemeClr val="lt1"/>
                </a:solidFill>
                <a:latin typeface="Abel"/>
                <a:ea typeface="Abel"/>
                <a:cs typeface="Abel"/>
                <a:sym typeface="Abel"/>
              </a:defRPr>
            </a:lvl1pPr>
            <a:lvl2pPr lvl="1" algn="ctr">
              <a:buNone/>
              <a:defRPr sz="1300">
                <a:solidFill>
                  <a:schemeClr val="lt1"/>
                </a:solidFill>
                <a:latin typeface="Abel"/>
                <a:ea typeface="Abel"/>
                <a:cs typeface="Abel"/>
                <a:sym typeface="Abel"/>
              </a:defRPr>
            </a:lvl2pPr>
            <a:lvl3pPr lvl="2" algn="ctr">
              <a:buNone/>
              <a:defRPr sz="1300">
                <a:solidFill>
                  <a:schemeClr val="lt1"/>
                </a:solidFill>
                <a:latin typeface="Abel"/>
                <a:ea typeface="Abel"/>
                <a:cs typeface="Abel"/>
                <a:sym typeface="Abel"/>
              </a:defRPr>
            </a:lvl3pPr>
            <a:lvl4pPr lvl="3" algn="ctr">
              <a:buNone/>
              <a:defRPr sz="1300">
                <a:solidFill>
                  <a:schemeClr val="lt1"/>
                </a:solidFill>
                <a:latin typeface="Abel"/>
                <a:ea typeface="Abel"/>
                <a:cs typeface="Abel"/>
                <a:sym typeface="Abel"/>
              </a:defRPr>
            </a:lvl4pPr>
            <a:lvl5pPr lvl="4" algn="ctr">
              <a:buNone/>
              <a:defRPr sz="1300">
                <a:solidFill>
                  <a:schemeClr val="lt1"/>
                </a:solidFill>
                <a:latin typeface="Abel"/>
                <a:ea typeface="Abel"/>
                <a:cs typeface="Abel"/>
                <a:sym typeface="Abel"/>
              </a:defRPr>
            </a:lvl5pPr>
            <a:lvl6pPr lvl="5" algn="ctr">
              <a:buNone/>
              <a:defRPr sz="1300">
                <a:solidFill>
                  <a:schemeClr val="lt1"/>
                </a:solidFill>
                <a:latin typeface="Abel"/>
                <a:ea typeface="Abel"/>
                <a:cs typeface="Abel"/>
                <a:sym typeface="Abel"/>
              </a:defRPr>
            </a:lvl6pPr>
            <a:lvl7pPr lvl="6" algn="ctr">
              <a:buNone/>
              <a:defRPr sz="1300">
                <a:solidFill>
                  <a:schemeClr val="lt1"/>
                </a:solidFill>
                <a:latin typeface="Abel"/>
                <a:ea typeface="Abel"/>
                <a:cs typeface="Abel"/>
                <a:sym typeface="Abel"/>
              </a:defRPr>
            </a:lvl7pPr>
            <a:lvl8pPr lvl="7" algn="ctr">
              <a:buNone/>
              <a:defRPr sz="1300">
                <a:solidFill>
                  <a:schemeClr val="lt1"/>
                </a:solidFill>
                <a:latin typeface="Abel"/>
                <a:ea typeface="Abel"/>
                <a:cs typeface="Abel"/>
                <a:sym typeface="Abel"/>
              </a:defRPr>
            </a:lvl8pPr>
            <a:lvl9pPr lvl="8" algn="ctr">
              <a:buNone/>
              <a:defRPr sz="1300">
                <a:solidFill>
                  <a:schemeClr val="lt1"/>
                </a:solidFill>
                <a:latin typeface="Abel"/>
                <a:ea typeface="Abel"/>
                <a:cs typeface="Abel"/>
                <a:sym typeface="Abe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1" r:id="rId3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jpg"/><Relationship Id="rId3" Type="http://schemas.openxmlformats.org/officeDocument/2006/relationships/image" Target="../media/image6.jp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jpg"/><Relationship Id="rId5" Type="http://schemas.openxmlformats.org/officeDocument/2006/relationships/image" Target="../media/image8.jpg"/><Relationship Id="rId4" Type="http://schemas.openxmlformats.org/officeDocument/2006/relationships/image" Target="../media/image7.jpg"/><Relationship Id="rId9" Type="http://schemas.openxmlformats.org/officeDocument/2006/relationships/image" Target="../media/image12.jp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p37"/>
          <p:cNvSpPr txBox="1">
            <a:spLocks noGrp="1"/>
          </p:cNvSpPr>
          <p:nvPr>
            <p:ph type="ctrTitle"/>
          </p:nvPr>
        </p:nvSpPr>
        <p:spPr>
          <a:xfrm>
            <a:off x="1069534" y="2672785"/>
            <a:ext cx="6916226" cy="99480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 smtClean="0">
                <a:ln>
                  <a:solidFill>
                    <a:schemeClr val="tx1"/>
                  </a:solidFill>
                </a:ln>
                <a:solidFill>
                  <a:srgbClr val="FFFFFF"/>
                </a:solidFill>
              </a:rPr>
              <a:t>Topic: Adding and Subtracting </a:t>
            </a:r>
            <a:r>
              <a:rPr lang="en" dirty="0" smtClean="0">
                <a:ln>
                  <a:solidFill>
                    <a:schemeClr val="tx1"/>
                  </a:solidFill>
                </a:ln>
                <a:solidFill>
                  <a:srgbClr val="FFFFFF"/>
                </a:solidFill>
              </a:rPr>
              <a:t/>
            </a:r>
            <a:br>
              <a:rPr lang="en" dirty="0" smtClean="0">
                <a:ln>
                  <a:solidFill>
                    <a:schemeClr val="tx1"/>
                  </a:solidFill>
                </a:ln>
                <a:solidFill>
                  <a:srgbClr val="FFFFFF"/>
                </a:solidFill>
              </a:rPr>
            </a:br>
            <a:r>
              <a:rPr lang="en" dirty="0" smtClean="0">
                <a:ln>
                  <a:solidFill>
                    <a:schemeClr val="tx1"/>
                  </a:solidFill>
                </a:ln>
                <a:solidFill>
                  <a:srgbClr val="FFFFFF"/>
                </a:solidFill>
              </a:rPr>
              <a:t>with decimals</a:t>
            </a:r>
            <a:r>
              <a:rPr lang="en" dirty="0" smtClean="0">
                <a:ln>
                  <a:solidFill>
                    <a:schemeClr val="tx1"/>
                  </a:solidFill>
                </a:ln>
                <a:solidFill>
                  <a:srgbClr val="FFFFFF"/>
                </a:solidFill>
              </a:rPr>
              <a:t/>
            </a:r>
            <a:br>
              <a:rPr lang="en" dirty="0" smtClean="0">
                <a:ln>
                  <a:solidFill>
                    <a:schemeClr val="tx1"/>
                  </a:solidFill>
                </a:ln>
                <a:solidFill>
                  <a:srgbClr val="FFFFFF"/>
                </a:solidFill>
              </a:rPr>
            </a:br>
            <a:r>
              <a:rPr lang="en" dirty="0" smtClean="0">
                <a:ln>
                  <a:solidFill>
                    <a:schemeClr val="tx1"/>
                  </a:solidFill>
                </a:ln>
                <a:solidFill>
                  <a:srgbClr val="FFFFFF"/>
                </a:solidFill>
              </a:rPr>
              <a:t>EQ: </a:t>
            </a:r>
            <a:r>
              <a:rPr lang="en" dirty="0" smtClean="0">
                <a:ln>
                  <a:solidFill>
                    <a:schemeClr val="tx1"/>
                  </a:solidFill>
                </a:ln>
                <a:solidFill>
                  <a:srgbClr val="FFFFFF"/>
                </a:solidFill>
              </a:rPr>
              <a:t>What strategies help adding and subtracting decimals?</a:t>
            </a:r>
            <a:endParaRPr dirty="0">
              <a:ln>
                <a:solidFill>
                  <a:schemeClr val="tx1"/>
                </a:solidFill>
              </a:ln>
              <a:solidFill>
                <a:srgbClr val="FFFFFF"/>
              </a:solidFill>
            </a:endParaRPr>
          </a:p>
        </p:txBody>
      </p:sp>
      <p:sp>
        <p:nvSpPr>
          <p:cNvPr id="353" name="Google Shape;353;p37"/>
          <p:cNvSpPr txBox="1">
            <a:spLocks noGrp="1"/>
          </p:cNvSpPr>
          <p:nvPr>
            <p:ph type="subTitle" idx="1"/>
          </p:nvPr>
        </p:nvSpPr>
        <p:spPr>
          <a:xfrm>
            <a:off x="-1366064" y="4751186"/>
            <a:ext cx="4311300" cy="316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AU" dirty="0" smtClean="0">
                <a:solidFill>
                  <a:srgbClr val="FFFFFF"/>
                </a:solidFill>
              </a:rPr>
              <a:t>Mrs. McLeod</a:t>
            </a:r>
            <a:endParaRPr dirty="0">
              <a:solidFill>
                <a:srgbClr val="FFFFFF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87928" y="87077"/>
            <a:ext cx="8627946" cy="502589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2800" dirty="0"/>
          </a:p>
        </p:txBody>
      </p:sp>
      <p:sp>
        <p:nvSpPr>
          <p:cNvPr id="375" name="Google Shape;375;p40"/>
          <p:cNvSpPr txBox="1">
            <a:spLocks noGrp="1"/>
          </p:cNvSpPr>
          <p:nvPr>
            <p:ph type="sldNum" idx="12"/>
          </p:nvPr>
        </p:nvSpPr>
        <p:spPr>
          <a:xfrm>
            <a:off x="4297659" y="4669251"/>
            <a:ext cx="548700" cy="3936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rgbClr val="FFFFFF"/>
                </a:solidFill>
              </a:rPr>
              <a:t>2</a:t>
            </a:fld>
            <a:endParaRPr>
              <a:solidFill>
                <a:srgbClr val="FFFFFF"/>
              </a:solidFill>
            </a:endParaRPr>
          </a:p>
        </p:txBody>
      </p:sp>
      <p:cxnSp>
        <p:nvCxnSpPr>
          <p:cNvPr id="6" name="Straight Connector 5"/>
          <p:cNvCxnSpPr/>
          <p:nvPr/>
        </p:nvCxnSpPr>
        <p:spPr>
          <a:xfrm>
            <a:off x="1078347" y="458772"/>
            <a:ext cx="6858000" cy="0"/>
          </a:xfrm>
          <a:prstGeom prst="line">
            <a:avLst/>
          </a:prstGeom>
          <a:ln w="12700" cmpd="sng">
            <a:solidFill>
              <a:srgbClr val="632523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7" name="Straight Connector 6"/>
          <p:cNvCxnSpPr/>
          <p:nvPr/>
        </p:nvCxnSpPr>
        <p:spPr>
          <a:xfrm>
            <a:off x="1105643" y="818502"/>
            <a:ext cx="6858000" cy="0"/>
          </a:xfrm>
          <a:prstGeom prst="line">
            <a:avLst/>
          </a:prstGeom>
          <a:ln w="12700" cmpd="sng">
            <a:solidFill>
              <a:srgbClr val="632523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145474" y="36961"/>
            <a:ext cx="484908" cy="4732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825" dirty="0">
                <a:latin typeface="Chalkboard"/>
                <a:cs typeface="Chalkboard"/>
              </a:rPr>
              <a:t>24</a:t>
            </a:r>
          </a:p>
          <a:p>
            <a:r>
              <a:rPr lang="en-AU" sz="825" dirty="0">
                <a:latin typeface="Chalkboard"/>
                <a:cs typeface="Chalkboard"/>
              </a:rPr>
              <a:t>7</a:t>
            </a:r>
          </a:p>
          <a:p>
            <a:r>
              <a:rPr lang="en-AU" sz="825" dirty="0">
                <a:latin typeface="Chalkboard"/>
                <a:cs typeface="Chalkboard"/>
              </a:rPr>
              <a:t>30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0560" y="60284"/>
            <a:ext cx="625787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500" dirty="0">
                <a:latin typeface="Chalkboard"/>
                <a:cs typeface="Chalkboard"/>
              </a:rPr>
              <a:t>Date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449170"/>
            <a:ext cx="76555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800" b="1" dirty="0" smtClean="0">
                <a:latin typeface="Chalkboard"/>
                <a:cs typeface="Chalkboard"/>
              </a:rPr>
              <a:t>EQ</a:t>
            </a:r>
            <a:r>
              <a:rPr lang="en-AU" sz="1800" b="1" dirty="0">
                <a:latin typeface="Chalkboard"/>
                <a:cs typeface="Chalkboard"/>
              </a:rPr>
              <a:t>: </a:t>
            </a:r>
            <a:r>
              <a:rPr lang="en-AU" sz="1800" b="1" dirty="0" smtClean="0">
                <a:latin typeface="Chalkboard"/>
                <a:cs typeface="Chalkboard"/>
              </a:rPr>
              <a:t>What strategies help adding and subtracting with decimals</a:t>
            </a:r>
            <a:r>
              <a:rPr lang="en-AU" sz="1800" b="1" dirty="0" smtClean="0">
                <a:latin typeface="Chalkboard"/>
                <a:cs typeface="Chalkboard"/>
              </a:rPr>
              <a:t>?</a:t>
            </a:r>
            <a:endParaRPr lang="en-AU" sz="1800" b="1" dirty="0">
              <a:latin typeface="Chalkboard"/>
              <a:cs typeface="Chalkboard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078347" y="37200"/>
            <a:ext cx="51988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800" b="1" dirty="0">
                <a:latin typeface="Chalkboard"/>
                <a:cs typeface="Chalkboard"/>
              </a:rPr>
              <a:t>Topic: Adding and Subtracting with </a:t>
            </a:r>
            <a:r>
              <a:rPr lang="en-AU" sz="1800" b="1" dirty="0" smtClean="0">
                <a:latin typeface="Chalkboard"/>
                <a:cs typeface="Chalkboard"/>
              </a:rPr>
              <a:t>decimals </a:t>
            </a:r>
            <a:endParaRPr lang="en-AU" sz="1800" b="1" dirty="0">
              <a:latin typeface="Chalkboard"/>
              <a:cs typeface="Chalkboard"/>
            </a:endParaRPr>
          </a:p>
        </p:txBody>
      </p:sp>
      <p:cxnSp>
        <p:nvCxnSpPr>
          <p:cNvPr id="18" name="Straight Connector 17"/>
          <p:cNvCxnSpPr/>
          <p:nvPr/>
        </p:nvCxnSpPr>
        <p:spPr>
          <a:xfrm>
            <a:off x="2003055" y="818502"/>
            <a:ext cx="16575" cy="4172598"/>
          </a:xfrm>
          <a:prstGeom prst="line">
            <a:avLst/>
          </a:prstGeom>
          <a:ln w="12700" cmpd="sng">
            <a:solidFill>
              <a:srgbClr val="632523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" name="TextBox 1"/>
          <p:cNvSpPr txBox="1"/>
          <p:nvPr/>
        </p:nvSpPr>
        <p:spPr>
          <a:xfrm>
            <a:off x="822302" y="1092017"/>
            <a:ext cx="100649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Picture method</a:t>
            </a:r>
            <a:endParaRPr lang="en-AU" dirty="0"/>
          </a:p>
        </p:txBody>
      </p:sp>
      <p:sp>
        <p:nvSpPr>
          <p:cNvPr id="3" name="TextBox 2"/>
          <p:cNvSpPr txBox="1"/>
          <p:nvPr/>
        </p:nvSpPr>
        <p:spPr>
          <a:xfrm>
            <a:off x="2151142" y="1138066"/>
            <a:ext cx="602583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3.9 + 2.4</a:t>
            </a:r>
            <a:r>
              <a:rPr lang="en-AU" dirty="0"/>
              <a:t> </a:t>
            </a:r>
            <a:r>
              <a:rPr lang="en-AU" dirty="0" smtClean="0"/>
              <a:t>  Using Chocolate </a:t>
            </a:r>
            <a:endParaRPr lang="en-AU" dirty="0" smtClean="0"/>
          </a:p>
        </p:txBody>
      </p:sp>
      <p:sp>
        <p:nvSpPr>
          <p:cNvPr id="21" name="TextBox 20"/>
          <p:cNvSpPr txBox="1"/>
          <p:nvPr/>
        </p:nvSpPr>
        <p:spPr>
          <a:xfrm>
            <a:off x="2071254" y="1493325"/>
            <a:ext cx="507196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Each whole number is a wrapped chocolate bar (whole bar) and the tenths are pieces of the chocolate bar</a:t>
            </a:r>
            <a:endParaRPr lang="en-AU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13532" y="884223"/>
            <a:ext cx="1633789" cy="1633789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2151142" y="2060774"/>
            <a:ext cx="414637" cy="1003110"/>
          </a:xfrm>
          <a:prstGeom prst="rect">
            <a:avLst/>
          </a:prstGeom>
          <a:solidFill>
            <a:srgbClr val="9F6A43"/>
          </a:solidFill>
          <a:ln>
            <a:solidFill>
              <a:srgbClr val="6B4A3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5" name="Rectangle 24"/>
          <p:cNvSpPr/>
          <p:nvPr/>
        </p:nvSpPr>
        <p:spPr>
          <a:xfrm>
            <a:off x="3148352" y="2060774"/>
            <a:ext cx="414637" cy="1003110"/>
          </a:xfrm>
          <a:prstGeom prst="rect">
            <a:avLst/>
          </a:prstGeom>
          <a:solidFill>
            <a:srgbClr val="9F6A43"/>
          </a:solidFill>
          <a:ln>
            <a:solidFill>
              <a:srgbClr val="6B4A3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8" name="Rectangle 27"/>
          <p:cNvSpPr/>
          <p:nvPr/>
        </p:nvSpPr>
        <p:spPr>
          <a:xfrm>
            <a:off x="2663398" y="2064027"/>
            <a:ext cx="414637" cy="1003110"/>
          </a:xfrm>
          <a:prstGeom prst="rect">
            <a:avLst/>
          </a:prstGeom>
          <a:solidFill>
            <a:srgbClr val="9F6A43"/>
          </a:solidFill>
          <a:ln>
            <a:solidFill>
              <a:srgbClr val="6B4A3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9" name="Rectangle 28"/>
          <p:cNvSpPr/>
          <p:nvPr/>
        </p:nvSpPr>
        <p:spPr>
          <a:xfrm>
            <a:off x="2193885" y="3233283"/>
            <a:ext cx="200822" cy="152400"/>
          </a:xfrm>
          <a:prstGeom prst="rect">
            <a:avLst/>
          </a:prstGeom>
          <a:solidFill>
            <a:srgbClr val="9F6A43"/>
          </a:solidFill>
          <a:ln>
            <a:solidFill>
              <a:srgbClr val="6B4A3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30" name="Rectangle 29"/>
          <p:cNvSpPr/>
          <p:nvPr/>
        </p:nvSpPr>
        <p:spPr>
          <a:xfrm>
            <a:off x="2207220" y="3447175"/>
            <a:ext cx="200822" cy="152400"/>
          </a:xfrm>
          <a:prstGeom prst="rect">
            <a:avLst/>
          </a:prstGeom>
          <a:solidFill>
            <a:srgbClr val="9F6A43"/>
          </a:solidFill>
          <a:ln>
            <a:solidFill>
              <a:srgbClr val="6B4A3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31" name="Rectangle 30"/>
          <p:cNvSpPr/>
          <p:nvPr/>
        </p:nvSpPr>
        <p:spPr>
          <a:xfrm>
            <a:off x="2483580" y="3220374"/>
            <a:ext cx="200822" cy="152400"/>
          </a:xfrm>
          <a:prstGeom prst="rect">
            <a:avLst/>
          </a:prstGeom>
          <a:solidFill>
            <a:srgbClr val="9F6A43"/>
          </a:solidFill>
          <a:ln>
            <a:solidFill>
              <a:srgbClr val="6B4A3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32" name="Rectangle 31"/>
          <p:cNvSpPr/>
          <p:nvPr/>
        </p:nvSpPr>
        <p:spPr>
          <a:xfrm>
            <a:off x="2462043" y="3457810"/>
            <a:ext cx="200822" cy="152400"/>
          </a:xfrm>
          <a:prstGeom prst="rect">
            <a:avLst/>
          </a:prstGeom>
          <a:solidFill>
            <a:srgbClr val="9F6A43"/>
          </a:solidFill>
          <a:ln>
            <a:solidFill>
              <a:srgbClr val="6B4A3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33" name="Rectangle 32"/>
          <p:cNvSpPr/>
          <p:nvPr/>
        </p:nvSpPr>
        <p:spPr>
          <a:xfrm>
            <a:off x="3433622" y="3271214"/>
            <a:ext cx="200822" cy="152400"/>
          </a:xfrm>
          <a:prstGeom prst="rect">
            <a:avLst/>
          </a:prstGeom>
          <a:solidFill>
            <a:srgbClr val="9F6A43"/>
          </a:solidFill>
          <a:ln>
            <a:solidFill>
              <a:srgbClr val="6B4A3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34" name="Rectangle 33"/>
          <p:cNvSpPr/>
          <p:nvPr/>
        </p:nvSpPr>
        <p:spPr>
          <a:xfrm>
            <a:off x="2760270" y="3481415"/>
            <a:ext cx="200822" cy="152400"/>
          </a:xfrm>
          <a:prstGeom prst="rect">
            <a:avLst/>
          </a:prstGeom>
          <a:solidFill>
            <a:srgbClr val="9F6A43"/>
          </a:solidFill>
          <a:ln>
            <a:solidFill>
              <a:srgbClr val="6B4A3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35" name="Rectangle 34"/>
          <p:cNvSpPr/>
          <p:nvPr/>
        </p:nvSpPr>
        <p:spPr>
          <a:xfrm>
            <a:off x="2779169" y="3232125"/>
            <a:ext cx="200822" cy="152400"/>
          </a:xfrm>
          <a:prstGeom prst="rect">
            <a:avLst/>
          </a:prstGeom>
          <a:solidFill>
            <a:srgbClr val="9F6A43"/>
          </a:solidFill>
          <a:ln>
            <a:solidFill>
              <a:srgbClr val="6B4A3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36" name="Rectangle 35"/>
          <p:cNvSpPr/>
          <p:nvPr/>
        </p:nvSpPr>
        <p:spPr>
          <a:xfrm>
            <a:off x="3111642" y="3461883"/>
            <a:ext cx="200822" cy="152400"/>
          </a:xfrm>
          <a:prstGeom prst="rect">
            <a:avLst/>
          </a:prstGeom>
          <a:solidFill>
            <a:srgbClr val="9F6A43"/>
          </a:solidFill>
          <a:ln>
            <a:solidFill>
              <a:srgbClr val="6B4A3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37" name="Rectangle 36"/>
          <p:cNvSpPr/>
          <p:nvPr/>
        </p:nvSpPr>
        <p:spPr>
          <a:xfrm>
            <a:off x="3111642" y="3228349"/>
            <a:ext cx="200822" cy="152400"/>
          </a:xfrm>
          <a:prstGeom prst="rect">
            <a:avLst/>
          </a:prstGeom>
          <a:solidFill>
            <a:srgbClr val="9F6A43"/>
          </a:solidFill>
          <a:ln>
            <a:solidFill>
              <a:srgbClr val="6B4A3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38" name="Rectangle 37"/>
          <p:cNvSpPr/>
          <p:nvPr/>
        </p:nvSpPr>
        <p:spPr>
          <a:xfrm>
            <a:off x="4380636" y="2104450"/>
            <a:ext cx="414637" cy="1003110"/>
          </a:xfrm>
          <a:prstGeom prst="rect">
            <a:avLst/>
          </a:prstGeom>
          <a:solidFill>
            <a:srgbClr val="9F6A43"/>
          </a:solidFill>
          <a:ln>
            <a:solidFill>
              <a:srgbClr val="6B4A3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39" name="Rectangle 38"/>
          <p:cNvSpPr/>
          <p:nvPr/>
        </p:nvSpPr>
        <p:spPr>
          <a:xfrm>
            <a:off x="4956738" y="2088558"/>
            <a:ext cx="414637" cy="1003110"/>
          </a:xfrm>
          <a:prstGeom prst="rect">
            <a:avLst/>
          </a:prstGeom>
          <a:solidFill>
            <a:srgbClr val="9F6A43"/>
          </a:solidFill>
          <a:ln>
            <a:solidFill>
              <a:srgbClr val="6B4A3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40" name="Rectangle 39"/>
          <p:cNvSpPr/>
          <p:nvPr/>
        </p:nvSpPr>
        <p:spPr>
          <a:xfrm>
            <a:off x="4371187" y="3296574"/>
            <a:ext cx="200822" cy="152400"/>
          </a:xfrm>
          <a:prstGeom prst="rect">
            <a:avLst/>
          </a:prstGeom>
          <a:solidFill>
            <a:srgbClr val="9F6A43"/>
          </a:solidFill>
          <a:ln>
            <a:solidFill>
              <a:srgbClr val="6B4A3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41" name="Rectangle 40"/>
          <p:cNvSpPr/>
          <p:nvPr/>
        </p:nvSpPr>
        <p:spPr>
          <a:xfrm>
            <a:off x="4714052" y="3303984"/>
            <a:ext cx="200822" cy="152400"/>
          </a:xfrm>
          <a:prstGeom prst="rect">
            <a:avLst/>
          </a:prstGeom>
          <a:solidFill>
            <a:srgbClr val="9F6A43"/>
          </a:solidFill>
          <a:ln>
            <a:solidFill>
              <a:srgbClr val="6B4A3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42" name="Rectangle 41"/>
          <p:cNvSpPr/>
          <p:nvPr/>
        </p:nvSpPr>
        <p:spPr>
          <a:xfrm>
            <a:off x="4380636" y="3594258"/>
            <a:ext cx="200822" cy="152400"/>
          </a:xfrm>
          <a:prstGeom prst="rect">
            <a:avLst/>
          </a:prstGeom>
          <a:solidFill>
            <a:srgbClr val="9F6A43"/>
          </a:solidFill>
          <a:ln>
            <a:solidFill>
              <a:srgbClr val="6B4A3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43" name="Rectangle 42"/>
          <p:cNvSpPr/>
          <p:nvPr/>
        </p:nvSpPr>
        <p:spPr>
          <a:xfrm>
            <a:off x="4722942" y="3586282"/>
            <a:ext cx="200822" cy="152400"/>
          </a:xfrm>
          <a:prstGeom prst="rect">
            <a:avLst/>
          </a:prstGeom>
          <a:solidFill>
            <a:srgbClr val="9F6A43"/>
          </a:solidFill>
          <a:ln>
            <a:solidFill>
              <a:srgbClr val="6B4A3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4" name="TextBox 13"/>
          <p:cNvSpPr txBox="1"/>
          <p:nvPr/>
        </p:nvSpPr>
        <p:spPr>
          <a:xfrm>
            <a:off x="3828197" y="2333767"/>
            <a:ext cx="51861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3200" dirty="0" smtClean="0"/>
              <a:t>+</a:t>
            </a:r>
            <a:endParaRPr lang="en-AU" sz="3200" dirty="0"/>
          </a:p>
        </p:txBody>
      </p:sp>
      <p:sp>
        <p:nvSpPr>
          <p:cNvPr id="15" name="Rectangle 14"/>
          <p:cNvSpPr/>
          <p:nvPr/>
        </p:nvSpPr>
        <p:spPr>
          <a:xfrm>
            <a:off x="5912353" y="2498175"/>
            <a:ext cx="1986441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AU" dirty="0"/>
              <a:t>Collecting them gives: </a:t>
            </a:r>
          </a:p>
        </p:txBody>
      </p:sp>
    </p:spTree>
    <p:extLst>
      <p:ext uri="{BB962C8B-B14F-4D97-AF65-F5344CB8AC3E}">
        <p14:creationId xmlns:p14="http://schemas.microsoft.com/office/powerpoint/2010/main" val="6951180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12" grpId="0" animBg="1"/>
      <p:bldP spid="25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37" grpId="0" animBg="1"/>
      <p:bldP spid="38" grpId="0" animBg="1"/>
      <p:bldP spid="39" grpId="0" animBg="1"/>
      <p:bldP spid="40" grpId="0" animBg="1"/>
      <p:bldP spid="41" grpId="0" animBg="1"/>
      <p:bldP spid="42" grpId="0" animBg="1"/>
      <p:bldP spid="43" grpId="0" animBg="1"/>
      <p:bldP spid="14" grpId="0"/>
      <p:bldP spid="15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87928" y="71080"/>
            <a:ext cx="8627946" cy="502589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2800" dirty="0"/>
          </a:p>
        </p:txBody>
      </p:sp>
      <p:sp>
        <p:nvSpPr>
          <p:cNvPr id="375" name="Google Shape;375;p40"/>
          <p:cNvSpPr txBox="1">
            <a:spLocks noGrp="1"/>
          </p:cNvSpPr>
          <p:nvPr>
            <p:ph type="sldNum" idx="12"/>
          </p:nvPr>
        </p:nvSpPr>
        <p:spPr>
          <a:xfrm>
            <a:off x="4297659" y="4669251"/>
            <a:ext cx="548700" cy="3936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rgbClr val="FFFFFF"/>
                </a:solidFill>
              </a:rPr>
              <a:t>3</a:t>
            </a:fld>
            <a:endParaRPr>
              <a:solidFill>
                <a:srgbClr val="FFFFFF"/>
              </a:solidFill>
            </a:endParaRPr>
          </a:p>
        </p:txBody>
      </p:sp>
      <p:cxnSp>
        <p:nvCxnSpPr>
          <p:cNvPr id="6" name="Straight Connector 5"/>
          <p:cNvCxnSpPr/>
          <p:nvPr/>
        </p:nvCxnSpPr>
        <p:spPr>
          <a:xfrm>
            <a:off x="1078347" y="458772"/>
            <a:ext cx="6858000" cy="0"/>
          </a:xfrm>
          <a:prstGeom prst="line">
            <a:avLst/>
          </a:prstGeom>
          <a:ln w="12700" cmpd="sng">
            <a:solidFill>
              <a:srgbClr val="632523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7" name="Straight Connector 6"/>
          <p:cNvCxnSpPr/>
          <p:nvPr/>
        </p:nvCxnSpPr>
        <p:spPr>
          <a:xfrm>
            <a:off x="1105643" y="818502"/>
            <a:ext cx="6858000" cy="0"/>
          </a:xfrm>
          <a:prstGeom prst="line">
            <a:avLst/>
          </a:prstGeom>
          <a:ln w="12700" cmpd="sng">
            <a:solidFill>
              <a:srgbClr val="632523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145474" y="36961"/>
            <a:ext cx="484908" cy="4732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825" dirty="0">
                <a:latin typeface="Chalkboard"/>
                <a:cs typeface="Chalkboard"/>
              </a:rPr>
              <a:t>24</a:t>
            </a:r>
          </a:p>
          <a:p>
            <a:r>
              <a:rPr lang="en-AU" sz="825" dirty="0">
                <a:latin typeface="Chalkboard"/>
                <a:cs typeface="Chalkboard"/>
              </a:rPr>
              <a:t>7</a:t>
            </a:r>
          </a:p>
          <a:p>
            <a:r>
              <a:rPr lang="en-AU" sz="825" dirty="0">
                <a:latin typeface="Chalkboard"/>
                <a:cs typeface="Chalkboard"/>
              </a:rPr>
              <a:t>30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0560" y="60284"/>
            <a:ext cx="625787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500" dirty="0">
                <a:latin typeface="Chalkboard"/>
                <a:cs typeface="Chalkboard"/>
              </a:rPr>
              <a:t>Date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449170"/>
            <a:ext cx="76555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800" b="1" dirty="0" smtClean="0">
                <a:latin typeface="Chalkboard"/>
                <a:cs typeface="Chalkboard"/>
              </a:rPr>
              <a:t>EQ</a:t>
            </a:r>
            <a:r>
              <a:rPr lang="en-AU" sz="1800" b="1" dirty="0">
                <a:latin typeface="Chalkboard"/>
                <a:cs typeface="Chalkboard"/>
              </a:rPr>
              <a:t>: </a:t>
            </a:r>
            <a:r>
              <a:rPr lang="en-AU" sz="1800" b="1" dirty="0" smtClean="0">
                <a:latin typeface="Chalkboard"/>
                <a:cs typeface="Chalkboard"/>
              </a:rPr>
              <a:t>What strategies help adding and subtracting with decimals</a:t>
            </a:r>
            <a:r>
              <a:rPr lang="en-AU" sz="1800" b="1" dirty="0" smtClean="0">
                <a:latin typeface="Chalkboard"/>
                <a:cs typeface="Chalkboard"/>
              </a:rPr>
              <a:t>?</a:t>
            </a:r>
            <a:endParaRPr lang="en-AU" sz="1800" b="1" dirty="0">
              <a:latin typeface="Chalkboard"/>
              <a:cs typeface="Chalkboard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078347" y="37200"/>
            <a:ext cx="51988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800" b="1" dirty="0">
                <a:latin typeface="Chalkboard"/>
                <a:cs typeface="Chalkboard"/>
              </a:rPr>
              <a:t>Topic: Adding and Subtracting with </a:t>
            </a:r>
            <a:r>
              <a:rPr lang="en-AU" sz="1800" b="1" dirty="0" smtClean="0">
                <a:latin typeface="Chalkboard"/>
                <a:cs typeface="Chalkboard"/>
              </a:rPr>
              <a:t>decimals </a:t>
            </a:r>
            <a:endParaRPr lang="en-AU" sz="1800" b="1" dirty="0">
              <a:latin typeface="Chalkboard"/>
              <a:cs typeface="Chalkboard"/>
            </a:endParaRPr>
          </a:p>
        </p:txBody>
      </p:sp>
      <p:cxnSp>
        <p:nvCxnSpPr>
          <p:cNvPr id="18" name="Straight Connector 17"/>
          <p:cNvCxnSpPr/>
          <p:nvPr/>
        </p:nvCxnSpPr>
        <p:spPr>
          <a:xfrm>
            <a:off x="2003055" y="818502"/>
            <a:ext cx="16575" cy="4172598"/>
          </a:xfrm>
          <a:prstGeom prst="line">
            <a:avLst/>
          </a:prstGeom>
          <a:ln w="12700" cmpd="sng">
            <a:solidFill>
              <a:srgbClr val="632523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" name="TextBox 1"/>
          <p:cNvSpPr txBox="1"/>
          <p:nvPr/>
        </p:nvSpPr>
        <p:spPr>
          <a:xfrm>
            <a:off x="822302" y="1092017"/>
            <a:ext cx="100649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Picture method</a:t>
            </a:r>
            <a:endParaRPr lang="en-AU" dirty="0"/>
          </a:p>
        </p:txBody>
      </p:sp>
      <p:sp>
        <p:nvSpPr>
          <p:cNvPr id="3" name="TextBox 2"/>
          <p:cNvSpPr txBox="1"/>
          <p:nvPr/>
        </p:nvSpPr>
        <p:spPr>
          <a:xfrm>
            <a:off x="2151142" y="1138066"/>
            <a:ext cx="602583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3.9 + 2.4</a:t>
            </a:r>
            <a:r>
              <a:rPr lang="en-AU" dirty="0"/>
              <a:t> </a:t>
            </a:r>
            <a:r>
              <a:rPr lang="en-AU" dirty="0" smtClean="0"/>
              <a:t>  Using Chocolate </a:t>
            </a:r>
            <a:endParaRPr lang="en-AU" dirty="0" smtClean="0"/>
          </a:p>
        </p:txBody>
      </p:sp>
      <p:sp>
        <p:nvSpPr>
          <p:cNvPr id="21" name="TextBox 20"/>
          <p:cNvSpPr txBox="1"/>
          <p:nvPr/>
        </p:nvSpPr>
        <p:spPr>
          <a:xfrm>
            <a:off x="2071254" y="1493325"/>
            <a:ext cx="507196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Each whole number is a wrapped chocolate bar (whole bar) and the tenths are pieces of the chocolate bar</a:t>
            </a:r>
            <a:endParaRPr lang="en-AU" dirty="0"/>
          </a:p>
        </p:txBody>
      </p:sp>
      <p:sp>
        <p:nvSpPr>
          <p:cNvPr id="23" name="TextBox 22"/>
          <p:cNvSpPr txBox="1"/>
          <p:nvPr/>
        </p:nvSpPr>
        <p:spPr>
          <a:xfrm>
            <a:off x="5923572" y="2504330"/>
            <a:ext cx="2389572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Collecting them gives: </a:t>
            </a:r>
          </a:p>
          <a:p>
            <a:endParaRPr lang="en-AU" dirty="0" smtClean="0"/>
          </a:p>
          <a:p>
            <a:r>
              <a:rPr lang="en-AU" dirty="0" smtClean="0"/>
              <a:t>5 wholes and 13 tenths </a:t>
            </a:r>
          </a:p>
          <a:p>
            <a:endParaRPr lang="en-AU" dirty="0"/>
          </a:p>
          <a:p>
            <a:r>
              <a:rPr lang="en-AU" dirty="0" smtClean="0"/>
              <a:t>10 tenths can be wrapped up to give 1 whole</a:t>
            </a:r>
          </a:p>
          <a:p>
            <a:endParaRPr lang="en-AU" dirty="0" smtClean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13532" y="884223"/>
            <a:ext cx="1633789" cy="1633789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2151142" y="2060774"/>
            <a:ext cx="414637" cy="1003110"/>
          </a:xfrm>
          <a:prstGeom prst="rect">
            <a:avLst/>
          </a:prstGeom>
          <a:solidFill>
            <a:srgbClr val="9F6A43"/>
          </a:solidFill>
          <a:ln>
            <a:solidFill>
              <a:srgbClr val="6B4A3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5" name="Rectangle 24"/>
          <p:cNvSpPr/>
          <p:nvPr/>
        </p:nvSpPr>
        <p:spPr>
          <a:xfrm>
            <a:off x="3148352" y="2060774"/>
            <a:ext cx="414637" cy="1003110"/>
          </a:xfrm>
          <a:prstGeom prst="rect">
            <a:avLst/>
          </a:prstGeom>
          <a:solidFill>
            <a:srgbClr val="9F6A43"/>
          </a:solidFill>
          <a:ln>
            <a:solidFill>
              <a:srgbClr val="6B4A3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8" name="Rectangle 27"/>
          <p:cNvSpPr/>
          <p:nvPr/>
        </p:nvSpPr>
        <p:spPr>
          <a:xfrm>
            <a:off x="2663398" y="2064027"/>
            <a:ext cx="414637" cy="1003110"/>
          </a:xfrm>
          <a:prstGeom prst="rect">
            <a:avLst/>
          </a:prstGeom>
          <a:solidFill>
            <a:srgbClr val="9F6A43"/>
          </a:solidFill>
          <a:ln>
            <a:solidFill>
              <a:srgbClr val="6B4A3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9" name="Rectangle 28"/>
          <p:cNvSpPr/>
          <p:nvPr/>
        </p:nvSpPr>
        <p:spPr>
          <a:xfrm>
            <a:off x="2193885" y="3233283"/>
            <a:ext cx="200822" cy="152400"/>
          </a:xfrm>
          <a:prstGeom prst="rect">
            <a:avLst/>
          </a:prstGeom>
          <a:solidFill>
            <a:srgbClr val="9F6A43"/>
          </a:solidFill>
          <a:ln>
            <a:solidFill>
              <a:srgbClr val="6B4A3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30" name="Rectangle 29"/>
          <p:cNvSpPr/>
          <p:nvPr/>
        </p:nvSpPr>
        <p:spPr>
          <a:xfrm>
            <a:off x="2207220" y="3447175"/>
            <a:ext cx="200822" cy="152400"/>
          </a:xfrm>
          <a:prstGeom prst="rect">
            <a:avLst/>
          </a:prstGeom>
          <a:solidFill>
            <a:srgbClr val="9F6A43"/>
          </a:solidFill>
          <a:ln>
            <a:solidFill>
              <a:srgbClr val="6B4A3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31" name="Rectangle 30"/>
          <p:cNvSpPr/>
          <p:nvPr/>
        </p:nvSpPr>
        <p:spPr>
          <a:xfrm>
            <a:off x="2483580" y="3220374"/>
            <a:ext cx="200822" cy="152400"/>
          </a:xfrm>
          <a:prstGeom prst="rect">
            <a:avLst/>
          </a:prstGeom>
          <a:solidFill>
            <a:srgbClr val="9F6A43"/>
          </a:solidFill>
          <a:ln>
            <a:solidFill>
              <a:srgbClr val="6B4A3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32" name="Rectangle 31"/>
          <p:cNvSpPr/>
          <p:nvPr/>
        </p:nvSpPr>
        <p:spPr>
          <a:xfrm>
            <a:off x="2462043" y="3457810"/>
            <a:ext cx="200822" cy="152400"/>
          </a:xfrm>
          <a:prstGeom prst="rect">
            <a:avLst/>
          </a:prstGeom>
          <a:solidFill>
            <a:srgbClr val="9F6A43"/>
          </a:solidFill>
          <a:ln>
            <a:solidFill>
              <a:srgbClr val="6B4A3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33" name="Rectangle 32"/>
          <p:cNvSpPr/>
          <p:nvPr/>
        </p:nvSpPr>
        <p:spPr>
          <a:xfrm>
            <a:off x="3433622" y="3271214"/>
            <a:ext cx="200822" cy="152400"/>
          </a:xfrm>
          <a:prstGeom prst="rect">
            <a:avLst/>
          </a:prstGeom>
          <a:solidFill>
            <a:srgbClr val="9F6A43"/>
          </a:solidFill>
          <a:ln>
            <a:solidFill>
              <a:srgbClr val="6B4A3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34" name="Rectangle 33"/>
          <p:cNvSpPr/>
          <p:nvPr/>
        </p:nvSpPr>
        <p:spPr>
          <a:xfrm>
            <a:off x="2760270" y="3481415"/>
            <a:ext cx="200822" cy="152400"/>
          </a:xfrm>
          <a:prstGeom prst="rect">
            <a:avLst/>
          </a:prstGeom>
          <a:solidFill>
            <a:srgbClr val="9F6A43"/>
          </a:solidFill>
          <a:ln>
            <a:solidFill>
              <a:srgbClr val="6B4A3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35" name="Rectangle 34"/>
          <p:cNvSpPr/>
          <p:nvPr/>
        </p:nvSpPr>
        <p:spPr>
          <a:xfrm>
            <a:off x="2779169" y="3232125"/>
            <a:ext cx="200822" cy="152400"/>
          </a:xfrm>
          <a:prstGeom prst="rect">
            <a:avLst/>
          </a:prstGeom>
          <a:solidFill>
            <a:srgbClr val="9F6A43"/>
          </a:solidFill>
          <a:ln>
            <a:solidFill>
              <a:srgbClr val="6B4A3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36" name="Rectangle 35"/>
          <p:cNvSpPr/>
          <p:nvPr/>
        </p:nvSpPr>
        <p:spPr>
          <a:xfrm>
            <a:off x="3111642" y="3461883"/>
            <a:ext cx="200822" cy="152400"/>
          </a:xfrm>
          <a:prstGeom prst="rect">
            <a:avLst/>
          </a:prstGeom>
          <a:solidFill>
            <a:srgbClr val="9F6A43"/>
          </a:solidFill>
          <a:ln>
            <a:solidFill>
              <a:srgbClr val="6B4A3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37" name="Rectangle 36"/>
          <p:cNvSpPr/>
          <p:nvPr/>
        </p:nvSpPr>
        <p:spPr>
          <a:xfrm>
            <a:off x="3111642" y="3228349"/>
            <a:ext cx="200822" cy="152400"/>
          </a:xfrm>
          <a:prstGeom prst="rect">
            <a:avLst/>
          </a:prstGeom>
          <a:solidFill>
            <a:srgbClr val="9F6A43"/>
          </a:solidFill>
          <a:ln>
            <a:solidFill>
              <a:srgbClr val="6B4A3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38" name="Rectangle 37"/>
          <p:cNvSpPr/>
          <p:nvPr/>
        </p:nvSpPr>
        <p:spPr>
          <a:xfrm>
            <a:off x="3721803" y="2060774"/>
            <a:ext cx="414637" cy="1003110"/>
          </a:xfrm>
          <a:prstGeom prst="rect">
            <a:avLst/>
          </a:prstGeom>
          <a:solidFill>
            <a:srgbClr val="9F6A43"/>
          </a:solidFill>
          <a:ln>
            <a:solidFill>
              <a:srgbClr val="6B4A3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39" name="Rectangle 38"/>
          <p:cNvSpPr/>
          <p:nvPr/>
        </p:nvSpPr>
        <p:spPr>
          <a:xfrm>
            <a:off x="4273728" y="2044753"/>
            <a:ext cx="414637" cy="1003110"/>
          </a:xfrm>
          <a:prstGeom prst="rect">
            <a:avLst/>
          </a:prstGeom>
          <a:solidFill>
            <a:srgbClr val="9F6A43"/>
          </a:solidFill>
          <a:ln>
            <a:solidFill>
              <a:srgbClr val="6B4A3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40" name="Rectangle 39"/>
          <p:cNvSpPr/>
          <p:nvPr/>
        </p:nvSpPr>
        <p:spPr>
          <a:xfrm>
            <a:off x="3462592" y="3498015"/>
            <a:ext cx="200822" cy="152400"/>
          </a:xfrm>
          <a:prstGeom prst="rect">
            <a:avLst/>
          </a:prstGeom>
          <a:solidFill>
            <a:srgbClr val="9F6A43"/>
          </a:solidFill>
          <a:ln>
            <a:solidFill>
              <a:srgbClr val="6B4A3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41" name="Rectangle 40"/>
          <p:cNvSpPr/>
          <p:nvPr/>
        </p:nvSpPr>
        <p:spPr>
          <a:xfrm>
            <a:off x="3805457" y="3531825"/>
            <a:ext cx="200822" cy="152400"/>
          </a:xfrm>
          <a:prstGeom prst="rect">
            <a:avLst/>
          </a:prstGeom>
          <a:solidFill>
            <a:srgbClr val="9F6A43"/>
          </a:solidFill>
          <a:ln>
            <a:solidFill>
              <a:srgbClr val="6B4A3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42" name="Rectangle 41"/>
          <p:cNvSpPr/>
          <p:nvPr/>
        </p:nvSpPr>
        <p:spPr>
          <a:xfrm>
            <a:off x="3773264" y="3275402"/>
            <a:ext cx="200822" cy="152400"/>
          </a:xfrm>
          <a:prstGeom prst="rect">
            <a:avLst/>
          </a:prstGeom>
          <a:solidFill>
            <a:srgbClr val="9F6A43"/>
          </a:solidFill>
          <a:ln>
            <a:solidFill>
              <a:srgbClr val="6B4A3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43" name="Rectangle 42"/>
          <p:cNvSpPr/>
          <p:nvPr/>
        </p:nvSpPr>
        <p:spPr>
          <a:xfrm>
            <a:off x="4104027" y="3251148"/>
            <a:ext cx="200822" cy="152400"/>
          </a:xfrm>
          <a:prstGeom prst="rect">
            <a:avLst/>
          </a:prstGeom>
          <a:solidFill>
            <a:srgbClr val="9F6A43"/>
          </a:solidFill>
          <a:ln>
            <a:solidFill>
              <a:srgbClr val="6B4A3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9506099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25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37" grpId="0" animBg="1"/>
      <p:bldP spid="38" grpId="0" animBg="1"/>
      <p:bldP spid="39" grpId="0" animBg="1"/>
      <p:bldP spid="40" grpId="0" animBg="1"/>
      <p:bldP spid="41" grpId="0" animBg="1"/>
      <p:bldP spid="42" grpId="0" animBg="1"/>
      <p:bldP spid="43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87928" y="87077"/>
            <a:ext cx="8627946" cy="502589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2800" dirty="0"/>
          </a:p>
        </p:txBody>
      </p:sp>
      <p:sp>
        <p:nvSpPr>
          <p:cNvPr id="375" name="Google Shape;375;p40"/>
          <p:cNvSpPr txBox="1">
            <a:spLocks noGrp="1"/>
          </p:cNvSpPr>
          <p:nvPr>
            <p:ph type="sldNum" idx="12"/>
          </p:nvPr>
        </p:nvSpPr>
        <p:spPr>
          <a:xfrm>
            <a:off x="4297659" y="4669251"/>
            <a:ext cx="548700" cy="3936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rgbClr val="FFFFFF"/>
                </a:solidFill>
              </a:rPr>
              <a:t>4</a:t>
            </a:fld>
            <a:endParaRPr>
              <a:solidFill>
                <a:srgbClr val="FFFFFF"/>
              </a:solidFill>
            </a:endParaRPr>
          </a:p>
        </p:txBody>
      </p:sp>
      <p:cxnSp>
        <p:nvCxnSpPr>
          <p:cNvPr id="6" name="Straight Connector 5"/>
          <p:cNvCxnSpPr/>
          <p:nvPr/>
        </p:nvCxnSpPr>
        <p:spPr>
          <a:xfrm>
            <a:off x="1078347" y="458772"/>
            <a:ext cx="6858000" cy="0"/>
          </a:xfrm>
          <a:prstGeom prst="line">
            <a:avLst/>
          </a:prstGeom>
          <a:ln w="12700" cmpd="sng">
            <a:solidFill>
              <a:srgbClr val="632523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7" name="Straight Connector 6"/>
          <p:cNvCxnSpPr/>
          <p:nvPr/>
        </p:nvCxnSpPr>
        <p:spPr>
          <a:xfrm>
            <a:off x="1105643" y="818502"/>
            <a:ext cx="6858000" cy="0"/>
          </a:xfrm>
          <a:prstGeom prst="line">
            <a:avLst/>
          </a:prstGeom>
          <a:ln w="12700" cmpd="sng">
            <a:solidFill>
              <a:srgbClr val="632523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145474" y="36961"/>
            <a:ext cx="484908" cy="4732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825" dirty="0">
                <a:latin typeface="Chalkboard"/>
                <a:cs typeface="Chalkboard"/>
              </a:rPr>
              <a:t>24</a:t>
            </a:r>
          </a:p>
          <a:p>
            <a:r>
              <a:rPr lang="en-AU" sz="825" dirty="0">
                <a:latin typeface="Chalkboard"/>
                <a:cs typeface="Chalkboard"/>
              </a:rPr>
              <a:t>7</a:t>
            </a:r>
          </a:p>
          <a:p>
            <a:r>
              <a:rPr lang="en-AU" sz="825" dirty="0">
                <a:latin typeface="Chalkboard"/>
                <a:cs typeface="Chalkboard"/>
              </a:rPr>
              <a:t>30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0560" y="60284"/>
            <a:ext cx="625787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500" dirty="0">
                <a:latin typeface="Chalkboard"/>
                <a:cs typeface="Chalkboard"/>
              </a:rPr>
              <a:t>Date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449170"/>
            <a:ext cx="76555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800" b="1" dirty="0" smtClean="0">
                <a:latin typeface="Chalkboard"/>
                <a:cs typeface="Chalkboard"/>
              </a:rPr>
              <a:t>EQ</a:t>
            </a:r>
            <a:r>
              <a:rPr lang="en-AU" sz="1800" b="1" dirty="0">
                <a:latin typeface="Chalkboard"/>
                <a:cs typeface="Chalkboard"/>
              </a:rPr>
              <a:t>: </a:t>
            </a:r>
            <a:r>
              <a:rPr lang="en-AU" sz="1800" b="1" dirty="0" smtClean="0">
                <a:latin typeface="Chalkboard"/>
                <a:cs typeface="Chalkboard"/>
              </a:rPr>
              <a:t>What strategies help adding and subtracting with decimals</a:t>
            </a:r>
            <a:r>
              <a:rPr lang="en-AU" sz="1800" b="1" dirty="0" smtClean="0">
                <a:latin typeface="Chalkboard"/>
                <a:cs typeface="Chalkboard"/>
              </a:rPr>
              <a:t>?</a:t>
            </a:r>
            <a:endParaRPr lang="en-AU" sz="1800" b="1" dirty="0">
              <a:latin typeface="Chalkboard"/>
              <a:cs typeface="Chalkboard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078347" y="37200"/>
            <a:ext cx="51988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800" b="1" dirty="0">
                <a:latin typeface="Chalkboard"/>
                <a:cs typeface="Chalkboard"/>
              </a:rPr>
              <a:t>Topic: Adding and Subtracting with </a:t>
            </a:r>
            <a:r>
              <a:rPr lang="en-AU" sz="1800" b="1" dirty="0" smtClean="0">
                <a:latin typeface="Chalkboard"/>
                <a:cs typeface="Chalkboard"/>
              </a:rPr>
              <a:t>decimals </a:t>
            </a:r>
            <a:endParaRPr lang="en-AU" sz="1800" b="1" dirty="0">
              <a:latin typeface="Chalkboard"/>
              <a:cs typeface="Chalkboard"/>
            </a:endParaRPr>
          </a:p>
        </p:txBody>
      </p:sp>
      <p:cxnSp>
        <p:nvCxnSpPr>
          <p:cNvPr id="18" name="Straight Connector 17"/>
          <p:cNvCxnSpPr/>
          <p:nvPr/>
        </p:nvCxnSpPr>
        <p:spPr>
          <a:xfrm>
            <a:off x="2003055" y="818502"/>
            <a:ext cx="16575" cy="4172598"/>
          </a:xfrm>
          <a:prstGeom prst="line">
            <a:avLst/>
          </a:prstGeom>
          <a:ln w="12700" cmpd="sng">
            <a:solidFill>
              <a:srgbClr val="632523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" name="TextBox 1"/>
          <p:cNvSpPr txBox="1"/>
          <p:nvPr/>
        </p:nvSpPr>
        <p:spPr>
          <a:xfrm>
            <a:off x="822302" y="1092017"/>
            <a:ext cx="100649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Picture method</a:t>
            </a:r>
            <a:endParaRPr lang="en-AU" dirty="0"/>
          </a:p>
        </p:txBody>
      </p:sp>
      <p:sp>
        <p:nvSpPr>
          <p:cNvPr id="3" name="TextBox 2"/>
          <p:cNvSpPr txBox="1"/>
          <p:nvPr/>
        </p:nvSpPr>
        <p:spPr>
          <a:xfrm>
            <a:off x="2151142" y="1138066"/>
            <a:ext cx="602583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3.9 + 2.4</a:t>
            </a:r>
            <a:r>
              <a:rPr lang="en-AU" dirty="0"/>
              <a:t> </a:t>
            </a:r>
            <a:r>
              <a:rPr lang="en-AU" dirty="0" smtClean="0"/>
              <a:t>  Using Chocolate </a:t>
            </a:r>
            <a:endParaRPr lang="en-AU" dirty="0" smtClean="0"/>
          </a:p>
        </p:txBody>
      </p:sp>
      <p:sp>
        <p:nvSpPr>
          <p:cNvPr id="21" name="TextBox 20"/>
          <p:cNvSpPr txBox="1"/>
          <p:nvPr/>
        </p:nvSpPr>
        <p:spPr>
          <a:xfrm>
            <a:off x="2071254" y="1493325"/>
            <a:ext cx="507196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Each whole number is a wrapped chocolate bar (whole bar) and the tenths are pieces of the chocolate bar</a:t>
            </a:r>
            <a:endParaRPr lang="en-AU" dirty="0"/>
          </a:p>
        </p:txBody>
      </p:sp>
      <p:sp>
        <p:nvSpPr>
          <p:cNvPr id="23" name="TextBox 22"/>
          <p:cNvSpPr txBox="1"/>
          <p:nvPr/>
        </p:nvSpPr>
        <p:spPr>
          <a:xfrm>
            <a:off x="5882365" y="2515673"/>
            <a:ext cx="2389572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Collecting them gives: </a:t>
            </a:r>
          </a:p>
          <a:p>
            <a:endParaRPr lang="en-AU" dirty="0" smtClean="0"/>
          </a:p>
          <a:p>
            <a:r>
              <a:rPr lang="en-AU" dirty="0" smtClean="0"/>
              <a:t>5 wholes and 13 tenths </a:t>
            </a:r>
          </a:p>
          <a:p>
            <a:endParaRPr lang="en-AU" dirty="0"/>
          </a:p>
          <a:p>
            <a:r>
              <a:rPr lang="en-AU" dirty="0" smtClean="0"/>
              <a:t>10 tenths can be wrapped up to give 1 whole</a:t>
            </a:r>
          </a:p>
          <a:p>
            <a:endParaRPr lang="en-AU" dirty="0" smtClean="0"/>
          </a:p>
          <a:p>
            <a:r>
              <a:rPr lang="en-AU" dirty="0" smtClean="0"/>
              <a:t>With 3 pieces still left over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13532" y="884223"/>
            <a:ext cx="1633789" cy="1633789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2151142" y="2060774"/>
            <a:ext cx="414637" cy="1003110"/>
          </a:xfrm>
          <a:prstGeom prst="rect">
            <a:avLst/>
          </a:prstGeom>
          <a:solidFill>
            <a:srgbClr val="9F6A43"/>
          </a:solidFill>
          <a:ln>
            <a:solidFill>
              <a:srgbClr val="6B4A3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5" name="Rectangle 24"/>
          <p:cNvSpPr/>
          <p:nvPr/>
        </p:nvSpPr>
        <p:spPr>
          <a:xfrm>
            <a:off x="3148352" y="2060774"/>
            <a:ext cx="414637" cy="1003110"/>
          </a:xfrm>
          <a:prstGeom prst="rect">
            <a:avLst/>
          </a:prstGeom>
          <a:solidFill>
            <a:srgbClr val="9F6A43"/>
          </a:solidFill>
          <a:ln>
            <a:solidFill>
              <a:srgbClr val="6B4A3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8" name="Rectangle 27"/>
          <p:cNvSpPr/>
          <p:nvPr/>
        </p:nvSpPr>
        <p:spPr>
          <a:xfrm>
            <a:off x="2663398" y="2064027"/>
            <a:ext cx="414637" cy="1003110"/>
          </a:xfrm>
          <a:prstGeom prst="rect">
            <a:avLst/>
          </a:prstGeom>
          <a:solidFill>
            <a:srgbClr val="9F6A43"/>
          </a:solidFill>
          <a:ln>
            <a:solidFill>
              <a:srgbClr val="6B4A3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9" name="Rectangle 28"/>
          <p:cNvSpPr/>
          <p:nvPr/>
        </p:nvSpPr>
        <p:spPr>
          <a:xfrm>
            <a:off x="2193885" y="3233283"/>
            <a:ext cx="200822" cy="152400"/>
          </a:xfrm>
          <a:prstGeom prst="rect">
            <a:avLst/>
          </a:prstGeom>
          <a:solidFill>
            <a:srgbClr val="9F6A43"/>
          </a:solidFill>
          <a:ln>
            <a:solidFill>
              <a:srgbClr val="6B4A3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30" name="Rectangle 29"/>
          <p:cNvSpPr/>
          <p:nvPr/>
        </p:nvSpPr>
        <p:spPr>
          <a:xfrm>
            <a:off x="2207220" y="3447175"/>
            <a:ext cx="200822" cy="152400"/>
          </a:xfrm>
          <a:prstGeom prst="rect">
            <a:avLst/>
          </a:prstGeom>
          <a:solidFill>
            <a:srgbClr val="9F6A43"/>
          </a:solidFill>
          <a:ln>
            <a:solidFill>
              <a:srgbClr val="6B4A3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31" name="Rectangle 30"/>
          <p:cNvSpPr/>
          <p:nvPr/>
        </p:nvSpPr>
        <p:spPr>
          <a:xfrm>
            <a:off x="2483580" y="3220374"/>
            <a:ext cx="200822" cy="152400"/>
          </a:xfrm>
          <a:prstGeom prst="rect">
            <a:avLst/>
          </a:prstGeom>
          <a:solidFill>
            <a:srgbClr val="9F6A43"/>
          </a:solidFill>
          <a:ln>
            <a:solidFill>
              <a:srgbClr val="6B4A3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32" name="Rectangle 31"/>
          <p:cNvSpPr/>
          <p:nvPr/>
        </p:nvSpPr>
        <p:spPr>
          <a:xfrm>
            <a:off x="2462043" y="3457810"/>
            <a:ext cx="200822" cy="152400"/>
          </a:xfrm>
          <a:prstGeom prst="rect">
            <a:avLst/>
          </a:prstGeom>
          <a:solidFill>
            <a:srgbClr val="9F6A43"/>
          </a:solidFill>
          <a:ln>
            <a:solidFill>
              <a:srgbClr val="6B4A3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33" name="Rectangle 32"/>
          <p:cNvSpPr/>
          <p:nvPr/>
        </p:nvSpPr>
        <p:spPr>
          <a:xfrm>
            <a:off x="3433622" y="3271214"/>
            <a:ext cx="200822" cy="152400"/>
          </a:xfrm>
          <a:prstGeom prst="rect">
            <a:avLst/>
          </a:prstGeom>
          <a:solidFill>
            <a:srgbClr val="9F6A43"/>
          </a:solidFill>
          <a:ln>
            <a:solidFill>
              <a:srgbClr val="6B4A3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34" name="Rectangle 33"/>
          <p:cNvSpPr/>
          <p:nvPr/>
        </p:nvSpPr>
        <p:spPr>
          <a:xfrm>
            <a:off x="2760270" y="3481415"/>
            <a:ext cx="200822" cy="152400"/>
          </a:xfrm>
          <a:prstGeom prst="rect">
            <a:avLst/>
          </a:prstGeom>
          <a:solidFill>
            <a:srgbClr val="9F6A43"/>
          </a:solidFill>
          <a:ln>
            <a:solidFill>
              <a:srgbClr val="6B4A3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35" name="Rectangle 34"/>
          <p:cNvSpPr/>
          <p:nvPr/>
        </p:nvSpPr>
        <p:spPr>
          <a:xfrm>
            <a:off x="2779169" y="3232125"/>
            <a:ext cx="200822" cy="152400"/>
          </a:xfrm>
          <a:prstGeom prst="rect">
            <a:avLst/>
          </a:prstGeom>
          <a:solidFill>
            <a:srgbClr val="9F6A43"/>
          </a:solidFill>
          <a:ln>
            <a:solidFill>
              <a:srgbClr val="6B4A3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36" name="Rectangle 35"/>
          <p:cNvSpPr/>
          <p:nvPr/>
        </p:nvSpPr>
        <p:spPr>
          <a:xfrm>
            <a:off x="3111642" y="3461883"/>
            <a:ext cx="200822" cy="152400"/>
          </a:xfrm>
          <a:prstGeom prst="rect">
            <a:avLst/>
          </a:prstGeom>
          <a:solidFill>
            <a:srgbClr val="9F6A43"/>
          </a:solidFill>
          <a:ln>
            <a:solidFill>
              <a:srgbClr val="6B4A3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37" name="Rectangle 36"/>
          <p:cNvSpPr/>
          <p:nvPr/>
        </p:nvSpPr>
        <p:spPr>
          <a:xfrm>
            <a:off x="3111642" y="3228349"/>
            <a:ext cx="200822" cy="152400"/>
          </a:xfrm>
          <a:prstGeom prst="rect">
            <a:avLst/>
          </a:prstGeom>
          <a:solidFill>
            <a:srgbClr val="9F6A43"/>
          </a:solidFill>
          <a:ln>
            <a:solidFill>
              <a:srgbClr val="6B4A3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38" name="Rectangle 37"/>
          <p:cNvSpPr/>
          <p:nvPr/>
        </p:nvSpPr>
        <p:spPr>
          <a:xfrm>
            <a:off x="3721803" y="2060774"/>
            <a:ext cx="414637" cy="1003110"/>
          </a:xfrm>
          <a:prstGeom prst="rect">
            <a:avLst/>
          </a:prstGeom>
          <a:solidFill>
            <a:srgbClr val="9F6A43"/>
          </a:solidFill>
          <a:ln>
            <a:solidFill>
              <a:srgbClr val="6B4A3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39" name="Rectangle 38"/>
          <p:cNvSpPr/>
          <p:nvPr/>
        </p:nvSpPr>
        <p:spPr>
          <a:xfrm>
            <a:off x="4273728" y="2044753"/>
            <a:ext cx="414637" cy="1003110"/>
          </a:xfrm>
          <a:prstGeom prst="rect">
            <a:avLst/>
          </a:prstGeom>
          <a:solidFill>
            <a:srgbClr val="9F6A43"/>
          </a:solidFill>
          <a:ln>
            <a:solidFill>
              <a:srgbClr val="6B4A3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40" name="Rectangle 39"/>
          <p:cNvSpPr/>
          <p:nvPr/>
        </p:nvSpPr>
        <p:spPr>
          <a:xfrm>
            <a:off x="3462592" y="3498015"/>
            <a:ext cx="200822" cy="152400"/>
          </a:xfrm>
          <a:prstGeom prst="rect">
            <a:avLst/>
          </a:prstGeom>
          <a:solidFill>
            <a:srgbClr val="9F6A43"/>
          </a:solidFill>
          <a:ln>
            <a:solidFill>
              <a:srgbClr val="6B4A3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41" name="Rectangle 40"/>
          <p:cNvSpPr/>
          <p:nvPr/>
        </p:nvSpPr>
        <p:spPr>
          <a:xfrm>
            <a:off x="3805457" y="3531825"/>
            <a:ext cx="200822" cy="152400"/>
          </a:xfrm>
          <a:prstGeom prst="rect">
            <a:avLst/>
          </a:prstGeom>
          <a:solidFill>
            <a:srgbClr val="9F6A43"/>
          </a:solidFill>
          <a:ln>
            <a:solidFill>
              <a:srgbClr val="6B4A3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42" name="Rectangle 41"/>
          <p:cNvSpPr/>
          <p:nvPr/>
        </p:nvSpPr>
        <p:spPr>
          <a:xfrm>
            <a:off x="3773264" y="3275402"/>
            <a:ext cx="200822" cy="152400"/>
          </a:xfrm>
          <a:prstGeom prst="rect">
            <a:avLst/>
          </a:prstGeom>
          <a:solidFill>
            <a:srgbClr val="9F6A43"/>
          </a:solidFill>
          <a:ln>
            <a:solidFill>
              <a:srgbClr val="6B4A3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43" name="Rectangle 42"/>
          <p:cNvSpPr/>
          <p:nvPr/>
        </p:nvSpPr>
        <p:spPr>
          <a:xfrm>
            <a:off x="4104027" y="3251148"/>
            <a:ext cx="200822" cy="152400"/>
          </a:xfrm>
          <a:prstGeom prst="rect">
            <a:avLst/>
          </a:prstGeom>
          <a:solidFill>
            <a:srgbClr val="9F6A43"/>
          </a:solidFill>
          <a:ln>
            <a:solidFill>
              <a:srgbClr val="6B4A3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3" name="Oval 12"/>
          <p:cNvSpPr/>
          <p:nvPr/>
        </p:nvSpPr>
        <p:spPr>
          <a:xfrm>
            <a:off x="2036656" y="3030337"/>
            <a:ext cx="1734203" cy="935356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1652422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87928" y="87077"/>
            <a:ext cx="8627946" cy="502589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2800" dirty="0"/>
          </a:p>
        </p:txBody>
      </p:sp>
      <p:sp>
        <p:nvSpPr>
          <p:cNvPr id="375" name="Google Shape;375;p40"/>
          <p:cNvSpPr txBox="1">
            <a:spLocks noGrp="1"/>
          </p:cNvSpPr>
          <p:nvPr>
            <p:ph type="sldNum" idx="12"/>
          </p:nvPr>
        </p:nvSpPr>
        <p:spPr>
          <a:xfrm>
            <a:off x="4297659" y="4669251"/>
            <a:ext cx="548700" cy="3936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rgbClr val="FFFFFF"/>
                </a:solidFill>
              </a:rPr>
              <a:t>5</a:t>
            </a:fld>
            <a:endParaRPr>
              <a:solidFill>
                <a:srgbClr val="FFFFFF"/>
              </a:solidFill>
            </a:endParaRPr>
          </a:p>
        </p:txBody>
      </p:sp>
      <p:cxnSp>
        <p:nvCxnSpPr>
          <p:cNvPr id="6" name="Straight Connector 5"/>
          <p:cNvCxnSpPr/>
          <p:nvPr/>
        </p:nvCxnSpPr>
        <p:spPr>
          <a:xfrm>
            <a:off x="1078347" y="458772"/>
            <a:ext cx="6858000" cy="0"/>
          </a:xfrm>
          <a:prstGeom prst="line">
            <a:avLst/>
          </a:prstGeom>
          <a:ln w="12700" cmpd="sng">
            <a:solidFill>
              <a:srgbClr val="632523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7" name="Straight Connector 6"/>
          <p:cNvCxnSpPr/>
          <p:nvPr/>
        </p:nvCxnSpPr>
        <p:spPr>
          <a:xfrm>
            <a:off x="1105643" y="818502"/>
            <a:ext cx="6858000" cy="0"/>
          </a:xfrm>
          <a:prstGeom prst="line">
            <a:avLst/>
          </a:prstGeom>
          <a:ln w="12700" cmpd="sng">
            <a:solidFill>
              <a:srgbClr val="632523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145474" y="36961"/>
            <a:ext cx="484908" cy="4732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825" dirty="0">
                <a:latin typeface="Chalkboard"/>
                <a:cs typeface="Chalkboard"/>
              </a:rPr>
              <a:t>24</a:t>
            </a:r>
          </a:p>
          <a:p>
            <a:r>
              <a:rPr lang="en-AU" sz="825" dirty="0">
                <a:latin typeface="Chalkboard"/>
                <a:cs typeface="Chalkboard"/>
              </a:rPr>
              <a:t>7</a:t>
            </a:r>
          </a:p>
          <a:p>
            <a:r>
              <a:rPr lang="en-AU" sz="825" dirty="0">
                <a:latin typeface="Chalkboard"/>
                <a:cs typeface="Chalkboard"/>
              </a:rPr>
              <a:t>30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0560" y="60284"/>
            <a:ext cx="625787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500" dirty="0">
                <a:latin typeface="Chalkboard"/>
                <a:cs typeface="Chalkboard"/>
              </a:rPr>
              <a:t>Date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449170"/>
            <a:ext cx="76555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800" b="1" dirty="0" smtClean="0">
                <a:latin typeface="Chalkboard"/>
                <a:cs typeface="Chalkboard"/>
              </a:rPr>
              <a:t>EQ</a:t>
            </a:r>
            <a:r>
              <a:rPr lang="en-AU" sz="1800" b="1" dirty="0">
                <a:latin typeface="Chalkboard"/>
                <a:cs typeface="Chalkboard"/>
              </a:rPr>
              <a:t>: </a:t>
            </a:r>
            <a:r>
              <a:rPr lang="en-AU" sz="1800" b="1" dirty="0" smtClean="0">
                <a:latin typeface="Chalkboard"/>
                <a:cs typeface="Chalkboard"/>
              </a:rPr>
              <a:t>What strategies help adding and subtracting with decimals</a:t>
            </a:r>
            <a:r>
              <a:rPr lang="en-AU" sz="1800" b="1" dirty="0" smtClean="0">
                <a:latin typeface="Chalkboard"/>
                <a:cs typeface="Chalkboard"/>
              </a:rPr>
              <a:t>?</a:t>
            </a:r>
            <a:endParaRPr lang="en-AU" sz="1800" b="1" dirty="0">
              <a:latin typeface="Chalkboard"/>
              <a:cs typeface="Chalkboard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078347" y="37200"/>
            <a:ext cx="51988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800" b="1" dirty="0">
                <a:latin typeface="Chalkboard"/>
                <a:cs typeface="Chalkboard"/>
              </a:rPr>
              <a:t>Topic: Adding and Subtracting with </a:t>
            </a:r>
            <a:r>
              <a:rPr lang="en-AU" sz="1800" b="1" dirty="0" smtClean="0">
                <a:latin typeface="Chalkboard"/>
                <a:cs typeface="Chalkboard"/>
              </a:rPr>
              <a:t>decimals </a:t>
            </a:r>
            <a:endParaRPr lang="en-AU" sz="1800" b="1" dirty="0">
              <a:latin typeface="Chalkboard"/>
              <a:cs typeface="Chalkboard"/>
            </a:endParaRPr>
          </a:p>
        </p:txBody>
      </p:sp>
      <p:cxnSp>
        <p:nvCxnSpPr>
          <p:cNvPr id="18" name="Straight Connector 17"/>
          <p:cNvCxnSpPr/>
          <p:nvPr/>
        </p:nvCxnSpPr>
        <p:spPr>
          <a:xfrm>
            <a:off x="2003055" y="818502"/>
            <a:ext cx="16575" cy="4172598"/>
          </a:xfrm>
          <a:prstGeom prst="line">
            <a:avLst/>
          </a:prstGeom>
          <a:ln w="12700" cmpd="sng">
            <a:solidFill>
              <a:srgbClr val="632523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" name="TextBox 1"/>
          <p:cNvSpPr txBox="1"/>
          <p:nvPr/>
        </p:nvSpPr>
        <p:spPr>
          <a:xfrm>
            <a:off x="822302" y="1092017"/>
            <a:ext cx="100649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Picture method</a:t>
            </a:r>
            <a:endParaRPr lang="en-AU" dirty="0"/>
          </a:p>
        </p:txBody>
      </p:sp>
      <p:sp>
        <p:nvSpPr>
          <p:cNvPr id="3" name="TextBox 2"/>
          <p:cNvSpPr txBox="1"/>
          <p:nvPr/>
        </p:nvSpPr>
        <p:spPr>
          <a:xfrm>
            <a:off x="2151142" y="1138066"/>
            <a:ext cx="602583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3.9 + 2.4</a:t>
            </a:r>
            <a:r>
              <a:rPr lang="en-AU" dirty="0"/>
              <a:t> </a:t>
            </a:r>
            <a:r>
              <a:rPr lang="en-AU" dirty="0" smtClean="0"/>
              <a:t>  Using Chocolate </a:t>
            </a:r>
            <a:endParaRPr lang="en-AU" dirty="0" smtClean="0"/>
          </a:p>
        </p:txBody>
      </p:sp>
      <p:sp>
        <p:nvSpPr>
          <p:cNvPr id="21" name="TextBox 20"/>
          <p:cNvSpPr txBox="1"/>
          <p:nvPr/>
        </p:nvSpPr>
        <p:spPr>
          <a:xfrm>
            <a:off x="2071254" y="1493325"/>
            <a:ext cx="507196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Each whole number is a wrapped chocolate bar (whole bar) and the tenths are pieces of the chocolate bar</a:t>
            </a:r>
            <a:endParaRPr lang="en-AU" dirty="0"/>
          </a:p>
        </p:txBody>
      </p:sp>
      <p:sp>
        <p:nvSpPr>
          <p:cNvPr id="23" name="TextBox 22"/>
          <p:cNvSpPr txBox="1"/>
          <p:nvPr/>
        </p:nvSpPr>
        <p:spPr>
          <a:xfrm>
            <a:off x="5905207" y="2497909"/>
            <a:ext cx="2389572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Collecting them gives: </a:t>
            </a:r>
          </a:p>
          <a:p>
            <a:endParaRPr lang="en-AU" dirty="0" smtClean="0"/>
          </a:p>
          <a:p>
            <a:r>
              <a:rPr lang="en-AU" dirty="0" smtClean="0"/>
              <a:t>5 wholes and 13 tenths </a:t>
            </a:r>
          </a:p>
          <a:p>
            <a:endParaRPr lang="en-AU" dirty="0"/>
          </a:p>
          <a:p>
            <a:r>
              <a:rPr lang="en-AU" dirty="0" smtClean="0"/>
              <a:t>10 tenths can be wrapped up to give 1 whole</a:t>
            </a:r>
          </a:p>
          <a:p>
            <a:endParaRPr lang="en-AU" dirty="0" smtClean="0"/>
          </a:p>
          <a:p>
            <a:r>
              <a:rPr lang="en-AU" dirty="0" smtClean="0"/>
              <a:t>With 3 pieces still left over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13532" y="884223"/>
            <a:ext cx="1633789" cy="1633789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2151142" y="2060774"/>
            <a:ext cx="414637" cy="1003110"/>
          </a:xfrm>
          <a:prstGeom prst="rect">
            <a:avLst/>
          </a:prstGeom>
          <a:solidFill>
            <a:srgbClr val="9F6A43"/>
          </a:solidFill>
          <a:ln>
            <a:solidFill>
              <a:srgbClr val="6B4A3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5" name="Rectangle 24"/>
          <p:cNvSpPr/>
          <p:nvPr/>
        </p:nvSpPr>
        <p:spPr>
          <a:xfrm>
            <a:off x="3148352" y="2060774"/>
            <a:ext cx="414637" cy="1003110"/>
          </a:xfrm>
          <a:prstGeom prst="rect">
            <a:avLst/>
          </a:prstGeom>
          <a:solidFill>
            <a:srgbClr val="9F6A43"/>
          </a:solidFill>
          <a:ln>
            <a:solidFill>
              <a:srgbClr val="6B4A3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8" name="Rectangle 27"/>
          <p:cNvSpPr/>
          <p:nvPr/>
        </p:nvSpPr>
        <p:spPr>
          <a:xfrm>
            <a:off x="2663398" y="2064027"/>
            <a:ext cx="414637" cy="1003110"/>
          </a:xfrm>
          <a:prstGeom prst="rect">
            <a:avLst/>
          </a:prstGeom>
          <a:solidFill>
            <a:srgbClr val="9F6A43"/>
          </a:solidFill>
          <a:ln>
            <a:solidFill>
              <a:srgbClr val="6B4A3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38" name="Rectangle 37"/>
          <p:cNvSpPr/>
          <p:nvPr/>
        </p:nvSpPr>
        <p:spPr>
          <a:xfrm>
            <a:off x="3721803" y="2060774"/>
            <a:ext cx="414637" cy="1003110"/>
          </a:xfrm>
          <a:prstGeom prst="rect">
            <a:avLst/>
          </a:prstGeom>
          <a:solidFill>
            <a:srgbClr val="9F6A43"/>
          </a:solidFill>
          <a:ln>
            <a:solidFill>
              <a:srgbClr val="6B4A3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39" name="Rectangle 38"/>
          <p:cNvSpPr/>
          <p:nvPr/>
        </p:nvSpPr>
        <p:spPr>
          <a:xfrm>
            <a:off x="4273728" y="2044753"/>
            <a:ext cx="414637" cy="1003110"/>
          </a:xfrm>
          <a:prstGeom prst="rect">
            <a:avLst/>
          </a:prstGeom>
          <a:solidFill>
            <a:srgbClr val="9F6A43"/>
          </a:solidFill>
          <a:ln>
            <a:solidFill>
              <a:srgbClr val="6B4A3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41" name="Rectangle 40"/>
          <p:cNvSpPr/>
          <p:nvPr/>
        </p:nvSpPr>
        <p:spPr>
          <a:xfrm>
            <a:off x="3805457" y="3531825"/>
            <a:ext cx="200822" cy="152400"/>
          </a:xfrm>
          <a:prstGeom prst="rect">
            <a:avLst/>
          </a:prstGeom>
          <a:solidFill>
            <a:srgbClr val="9F6A43"/>
          </a:solidFill>
          <a:ln>
            <a:solidFill>
              <a:srgbClr val="6B4A3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42" name="Rectangle 41"/>
          <p:cNvSpPr/>
          <p:nvPr/>
        </p:nvSpPr>
        <p:spPr>
          <a:xfrm>
            <a:off x="3773264" y="3275402"/>
            <a:ext cx="200822" cy="152400"/>
          </a:xfrm>
          <a:prstGeom prst="rect">
            <a:avLst/>
          </a:prstGeom>
          <a:solidFill>
            <a:srgbClr val="9F6A43"/>
          </a:solidFill>
          <a:ln>
            <a:solidFill>
              <a:srgbClr val="6B4A3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43" name="Rectangle 42"/>
          <p:cNvSpPr/>
          <p:nvPr/>
        </p:nvSpPr>
        <p:spPr>
          <a:xfrm>
            <a:off x="4104027" y="3251148"/>
            <a:ext cx="200822" cy="152400"/>
          </a:xfrm>
          <a:prstGeom prst="rect">
            <a:avLst/>
          </a:prstGeom>
          <a:solidFill>
            <a:srgbClr val="9F6A43"/>
          </a:solidFill>
          <a:ln>
            <a:solidFill>
              <a:srgbClr val="6B4A3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3" name="Oval 12"/>
          <p:cNvSpPr/>
          <p:nvPr/>
        </p:nvSpPr>
        <p:spPr>
          <a:xfrm>
            <a:off x="2036656" y="3030337"/>
            <a:ext cx="1734203" cy="935356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44" name="Rectangle 43"/>
          <p:cNvSpPr/>
          <p:nvPr/>
        </p:nvSpPr>
        <p:spPr>
          <a:xfrm rot="5400000">
            <a:off x="2671166" y="3014444"/>
            <a:ext cx="414637" cy="1003110"/>
          </a:xfrm>
          <a:prstGeom prst="rect">
            <a:avLst/>
          </a:prstGeom>
          <a:solidFill>
            <a:srgbClr val="9F6A43"/>
          </a:solidFill>
          <a:ln>
            <a:solidFill>
              <a:srgbClr val="6B4A3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4" name="TextBox 13"/>
          <p:cNvSpPr txBox="1"/>
          <p:nvPr/>
        </p:nvSpPr>
        <p:spPr>
          <a:xfrm>
            <a:off x="2358460" y="4114800"/>
            <a:ext cx="224877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3.9 + 2.4 = 6.3</a:t>
            </a:r>
            <a:endParaRPr lang="en-AU" dirty="0"/>
          </a:p>
        </p:txBody>
      </p:sp>
      <p:sp>
        <p:nvSpPr>
          <p:cNvPr id="15" name="TextBox 14"/>
          <p:cNvSpPr txBox="1"/>
          <p:nvPr/>
        </p:nvSpPr>
        <p:spPr>
          <a:xfrm>
            <a:off x="566382" y="2518012"/>
            <a:ext cx="1262418" cy="138499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AU" dirty="0" smtClean="0"/>
              <a:t>Your Turn: </a:t>
            </a:r>
          </a:p>
          <a:p>
            <a:endParaRPr lang="en-AU" dirty="0"/>
          </a:p>
          <a:p>
            <a:pPr marL="342900" indent="-342900">
              <a:buAutoNum type="arabicPeriod"/>
            </a:pPr>
            <a:r>
              <a:rPr lang="en-AU" dirty="0" smtClean="0"/>
              <a:t>2.3 + 1.2</a:t>
            </a:r>
          </a:p>
          <a:p>
            <a:pPr marL="342900" indent="-342900">
              <a:buAutoNum type="arabicPeriod"/>
            </a:pPr>
            <a:r>
              <a:rPr lang="en-AU" dirty="0" smtClean="0"/>
              <a:t>1.5 + 2.4</a:t>
            </a:r>
          </a:p>
          <a:p>
            <a:pPr marL="342900" indent="-342900">
              <a:buAutoNum type="arabicPeriod"/>
            </a:pPr>
            <a:r>
              <a:rPr lang="en-AU" dirty="0" smtClean="0"/>
              <a:t>3.6 + 2.7</a:t>
            </a:r>
          </a:p>
          <a:p>
            <a:pPr marL="342900" indent="-342900">
              <a:buAutoNum type="arabicPeriod"/>
            </a:pPr>
            <a:r>
              <a:rPr lang="en-AU" dirty="0" smtClean="0"/>
              <a:t>4.8 + 4.7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407316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5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87928" y="36961"/>
            <a:ext cx="8627946" cy="502589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p:sp>
        <p:nvSpPr>
          <p:cNvPr id="375" name="Google Shape;375;p40"/>
          <p:cNvSpPr txBox="1">
            <a:spLocks noGrp="1"/>
          </p:cNvSpPr>
          <p:nvPr>
            <p:ph type="sldNum" idx="12"/>
          </p:nvPr>
        </p:nvSpPr>
        <p:spPr>
          <a:xfrm>
            <a:off x="4297659" y="4669251"/>
            <a:ext cx="548700" cy="3936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rgbClr val="FFFFFF"/>
                </a:solidFill>
              </a:rPr>
              <a:t>6</a:t>
            </a:fld>
            <a:endParaRPr>
              <a:solidFill>
                <a:srgbClr val="FFFFFF"/>
              </a:solidFill>
            </a:endParaRPr>
          </a:p>
        </p:txBody>
      </p:sp>
      <p:cxnSp>
        <p:nvCxnSpPr>
          <p:cNvPr id="6" name="Straight Connector 5"/>
          <p:cNvCxnSpPr/>
          <p:nvPr/>
        </p:nvCxnSpPr>
        <p:spPr>
          <a:xfrm>
            <a:off x="1078347" y="458772"/>
            <a:ext cx="6858000" cy="0"/>
          </a:xfrm>
          <a:prstGeom prst="line">
            <a:avLst/>
          </a:prstGeom>
          <a:ln w="12700" cmpd="sng">
            <a:solidFill>
              <a:srgbClr val="632523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7" name="Straight Connector 6"/>
          <p:cNvCxnSpPr/>
          <p:nvPr/>
        </p:nvCxnSpPr>
        <p:spPr>
          <a:xfrm>
            <a:off x="1105643" y="818502"/>
            <a:ext cx="6858000" cy="0"/>
          </a:xfrm>
          <a:prstGeom prst="line">
            <a:avLst/>
          </a:prstGeom>
          <a:ln w="12700" cmpd="sng">
            <a:solidFill>
              <a:srgbClr val="632523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145474" y="36961"/>
            <a:ext cx="484908" cy="4732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825" dirty="0">
                <a:latin typeface="Chalkboard"/>
                <a:cs typeface="Chalkboard"/>
              </a:rPr>
              <a:t>24</a:t>
            </a:r>
          </a:p>
          <a:p>
            <a:r>
              <a:rPr lang="en-AU" sz="825" dirty="0">
                <a:latin typeface="Chalkboard"/>
                <a:cs typeface="Chalkboard"/>
              </a:rPr>
              <a:t>7</a:t>
            </a:r>
          </a:p>
          <a:p>
            <a:r>
              <a:rPr lang="en-AU" sz="825" dirty="0">
                <a:latin typeface="Chalkboard"/>
                <a:cs typeface="Chalkboard"/>
              </a:rPr>
              <a:t>30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0560" y="60284"/>
            <a:ext cx="625787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500" dirty="0">
                <a:latin typeface="Chalkboard"/>
                <a:cs typeface="Chalkboard"/>
              </a:rPr>
              <a:t>Date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449170"/>
            <a:ext cx="76555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800" b="1" dirty="0" smtClean="0">
                <a:latin typeface="Chalkboard"/>
                <a:cs typeface="Chalkboard"/>
              </a:rPr>
              <a:t>EQ</a:t>
            </a:r>
            <a:r>
              <a:rPr lang="en-AU" sz="1800" b="1" dirty="0">
                <a:latin typeface="Chalkboard"/>
                <a:cs typeface="Chalkboard"/>
              </a:rPr>
              <a:t>: </a:t>
            </a:r>
            <a:r>
              <a:rPr lang="en-AU" sz="1800" b="1" dirty="0" smtClean="0">
                <a:latin typeface="Chalkboard"/>
                <a:cs typeface="Chalkboard"/>
              </a:rPr>
              <a:t>What strategies help adding and subtracting with decimals</a:t>
            </a:r>
            <a:r>
              <a:rPr lang="en-AU" sz="1800" b="1" dirty="0" smtClean="0">
                <a:latin typeface="Chalkboard"/>
                <a:cs typeface="Chalkboard"/>
              </a:rPr>
              <a:t>?</a:t>
            </a:r>
            <a:endParaRPr lang="en-AU" sz="1800" b="1" dirty="0">
              <a:latin typeface="Chalkboard"/>
              <a:cs typeface="Chalkboard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078347" y="37200"/>
            <a:ext cx="51988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800" b="1" dirty="0">
                <a:latin typeface="Chalkboard"/>
                <a:cs typeface="Chalkboard"/>
              </a:rPr>
              <a:t>Topic: Adding and Subtracting with </a:t>
            </a:r>
            <a:r>
              <a:rPr lang="en-AU" sz="1800" b="1" dirty="0" smtClean="0">
                <a:latin typeface="Chalkboard"/>
                <a:cs typeface="Chalkboard"/>
              </a:rPr>
              <a:t>decimals </a:t>
            </a:r>
            <a:endParaRPr lang="en-AU" sz="1800" b="1" dirty="0">
              <a:latin typeface="Chalkboard"/>
              <a:cs typeface="Chalkboard"/>
            </a:endParaRPr>
          </a:p>
        </p:txBody>
      </p:sp>
      <p:cxnSp>
        <p:nvCxnSpPr>
          <p:cNvPr id="18" name="Straight Connector 17"/>
          <p:cNvCxnSpPr/>
          <p:nvPr/>
        </p:nvCxnSpPr>
        <p:spPr>
          <a:xfrm>
            <a:off x="2003055" y="818502"/>
            <a:ext cx="16575" cy="4172598"/>
          </a:xfrm>
          <a:prstGeom prst="line">
            <a:avLst/>
          </a:prstGeom>
          <a:ln w="12700" cmpd="sng">
            <a:solidFill>
              <a:srgbClr val="632523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" name="TextBox 1"/>
          <p:cNvSpPr txBox="1"/>
          <p:nvPr/>
        </p:nvSpPr>
        <p:spPr>
          <a:xfrm>
            <a:off x="822302" y="1092017"/>
            <a:ext cx="100649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Algorith</a:t>
            </a:r>
            <a:r>
              <a:rPr lang="en-AU" dirty="0" smtClean="0"/>
              <a:t>m method</a:t>
            </a:r>
            <a:endParaRPr lang="en-AU" dirty="0"/>
          </a:p>
        </p:txBody>
      </p:sp>
      <p:sp>
        <p:nvSpPr>
          <p:cNvPr id="3" name="TextBox 2"/>
          <p:cNvSpPr txBox="1"/>
          <p:nvPr/>
        </p:nvSpPr>
        <p:spPr>
          <a:xfrm>
            <a:off x="2151142" y="1138066"/>
            <a:ext cx="6025831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Or the “column method” can be used for all numbers large and small but particularly useful for decimals</a:t>
            </a:r>
            <a:endParaRPr lang="en-AU" dirty="0" smtClean="0"/>
          </a:p>
          <a:p>
            <a:endParaRPr lang="en-AU" dirty="0"/>
          </a:p>
        </p:txBody>
      </p:sp>
      <p:sp>
        <p:nvSpPr>
          <p:cNvPr id="13" name="TextBox 12"/>
          <p:cNvSpPr txBox="1"/>
          <p:nvPr/>
        </p:nvSpPr>
        <p:spPr>
          <a:xfrm>
            <a:off x="802919" y="1977264"/>
            <a:ext cx="228271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Steps</a:t>
            </a:r>
            <a:endParaRPr lang="en-AU" dirty="0"/>
          </a:p>
        </p:txBody>
      </p:sp>
      <p:sp>
        <p:nvSpPr>
          <p:cNvPr id="21" name="TextBox 20"/>
          <p:cNvSpPr txBox="1"/>
          <p:nvPr/>
        </p:nvSpPr>
        <p:spPr>
          <a:xfrm>
            <a:off x="2151141" y="1845430"/>
            <a:ext cx="5071961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en-AU" dirty="0" smtClean="0"/>
              <a:t>Write down the numbers lined up in the proper place value (decimals lined up)</a:t>
            </a:r>
          </a:p>
          <a:p>
            <a:pPr marL="342900" indent="-342900">
              <a:buAutoNum type="arabicPeriod"/>
            </a:pPr>
            <a:r>
              <a:rPr lang="en-AU" dirty="0" smtClean="0"/>
              <a:t>Put in zeros so the numbers are the same length</a:t>
            </a:r>
          </a:p>
          <a:p>
            <a:pPr marL="342900" indent="-342900">
              <a:buAutoNum type="arabicPeriod"/>
            </a:pPr>
            <a:r>
              <a:rPr lang="en-AU" dirty="0" smtClean="0"/>
              <a:t>Then add (or subtract) each column starting on the right (make sure your answer has a decimal point)</a:t>
            </a:r>
            <a:endParaRPr lang="en-AU" dirty="0"/>
          </a:p>
        </p:txBody>
      </p:sp>
      <p:sp>
        <p:nvSpPr>
          <p:cNvPr id="22" name="TextBox 21"/>
          <p:cNvSpPr txBox="1"/>
          <p:nvPr/>
        </p:nvSpPr>
        <p:spPr>
          <a:xfrm>
            <a:off x="675721" y="3443802"/>
            <a:ext cx="1195822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Why can we add zeros?</a:t>
            </a:r>
          </a:p>
          <a:p>
            <a:endParaRPr lang="en-AU" dirty="0"/>
          </a:p>
        </p:txBody>
      </p:sp>
      <p:sp>
        <p:nvSpPr>
          <p:cNvPr id="23" name="TextBox 22"/>
          <p:cNvSpPr txBox="1"/>
          <p:nvPr/>
        </p:nvSpPr>
        <p:spPr>
          <a:xfrm>
            <a:off x="2045798" y="3175658"/>
            <a:ext cx="6025831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The zero is saying “there is no value at this place value”</a:t>
            </a:r>
          </a:p>
          <a:p>
            <a:r>
              <a:rPr lang="en-AU" dirty="0"/>
              <a:t>	</a:t>
            </a:r>
            <a:r>
              <a:rPr lang="en-AU" dirty="0" smtClean="0"/>
              <a:t>- in a number like 10, the zero is saying “no ones”</a:t>
            </a:r>
          </a:p>
          <a:p>
            <a:r>
              <a:rPr lang="en-AU" dirty="0"/>
              <a:t>	</a:t>
            </a:r>
            <a:r>
              <a:rPr lang="en-AU" dirty="0" smtClean="0"/>
              <a:t>- in a number like 2.50 the zero is saying “no hundredths”</a:t>
            </a:r>
          </a:p>
          <a:p>
            <a:endParaRPr lang="en-AU" dirty="0" smtClean="0"/>
          </a:p>
          <a:p>
            <a:r>
              <a:rPr lang="en-AU" dirty="0" smtClean="0"/>
              <a:t>So we can have 2.5, 2.50 or 2.500 and they are all the SAME</a:t>
            </a:r>
          </a:p>
          <a:p>
            <a:endParaRPr lang="en-AU" dirty="0" smtClean="0"/>
          </a:p>
          <a:p>
            <a:r>
              <a:rPr lang="en-AU" dirty="0" smtClean="0"/>
              <a:t>However if we had 2.5 and 20.5 they would NOT be the SAME</a:t>
            </a:r>
            <a:endParaRPr lang="en-AU" dirty="0"/>
          </a:p>
        </p:txBody>
      </p:sp>
      <p:pic>
        <p:nvPicPr>
          <p:cNvPr id="24" name="Picture 23"/>
          <p:cNvPicPr>
            <a:picLocks noChangeAspect="1"/>
          </p:cNvPicPr>
          <p:nvPr/>
        </p:nvPicPr>
        <p:blipFill rotWithShape="1">
          <a:blip r:embed="rId3"/>
          <a:srcRect l="47666" t="21740" r="41667" b="60422"/>
          <a:stretch/>
        </p:blipFill>
        <p:spPr>
          <a:xfrm>
            <a:off x="7830653" y="1411353"/>
            <a:ext cx="1091854" cy="1027047"/>
          </a:xfrm>
          <a:prstGeom prst="rect">
            <a:avLst/>
          </a:prstGeom>
        </p:spPr>
      </p:pic>
      <p:pic>
        <p:nvPicPr>
          <p:cNvPr id="26" name="Picture 25"/>
          <p:cNvPicPr>
            <a:picLocks noChangeAspect="1"/>
          </p:cNvPicPr>
          <p:nvPr/>
        </p:nvPicPr>
        <p:blipFill rotWithShape="1">
          <a:blip r:embed="rId3"/>
          <a:srcRect l="47666" t="41519" r="41667" b="41306"/>
          <a:stretch/>
        </p:blipFill>
        <p:spPr>
          <a:xfrm>
            <a:off x="7830653" y="2481519"/>
            <a:ext cx="1091854" cy="988908"/>
          </a:xfrm>
          <a:prstGeom prst="rect">
            <a:avLst/>
          </a:prstGeom>
        </p:spPr>
      </p:pic>
      <p:pic>
        <p:nvPicPr>
          <p:cNvPr id="27" name="Picture 26"/>
          <p:cNvPicPr>
            <a:picLocks noChangeAspect="1"/>
          </p:cNvPicPr>
          <p:nvPr/>
        </p:nvPicPr>
        <p:blipFill rotWithShape="1">
          <a:blip r:embed="rId3"/>
          <a:srcRect l="47666" t="60635" r="41667" b="18259"/>
          <a:stretch/>
        </p:blipFill>
        <p:spPr>
          <a:xfrm>
            <a:off x="7830653" y="3520850"/>
            <a:ext cx="1091854" cy="1215224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2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13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p38"/>
          <p:cNvSpPr txBox="1">
            <a:spLocks noGrp="1"/>
          </p:cNvSpPr>
          <p:nvPr>
            <p:ph type="sldNum" idx="12"/>
          </p:nvPr>
        </p:nvSpPr>
        <p:spPr>
          <a:xfrm>
            <a:off x="4297659" y="467370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7</a:t>
            </a:fld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2791106" y="1593668"/>
            <a:ext cx="3701143" cy="70788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28575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AU" sz="2000" dirty="0" smtClean="0"/>
              <a:t>When might we use adding decimals in everyday life?</a:t>
            </a:r>
            <a:endParaRPr lang="en-AU" sz="2000" dirty="0"/>
          </a:p>
        </p:txBody>
      </p:sp>
      <p:sp>
        <p:nvSpPr>
          <p:cNvPr id="20" name="TextBox 19"/>
          <p:cNvSpPr txBox="1"/>
          <p:nvPr/>
        </p:nvSpPr>
        <p:spPr>
          <a:xfrm>
            <a:off x="3873692" y="506983"/>
            <a:ext cx="1396632" cy="36933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28575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AU" sz="1800" dirty="0" smtClean="0"/>
              <a:t>Quick Write</a:t>
            </a:r>
          </a:p>
        </p:txBody>
      </p:sp>
      <p:pic>
        <p:nvPicPr>
          <p:cNvPr id="2" name="Picture 1" descr="Australian currency by Adrian van Leen | money,banknotes ...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555" r="2901" b="8082"/>
          <a:stretch/>
        </p:blipFill>
        <p:spPr>
          <a:xfrm>
            <a:off x="6557553" y="359665"/>
            <a:ext cx="2447109" cy="1712976"/>
          </a:xfrm>
          <a:prstGeom prst="rect">
            <a:avLst/>
          </a:prstGeom>
        </p:spPr>
      </p:pic>
      <p:pic>
        <p:nvPicPr>
          <p:cNvPr id="3" name="Picture 2" descr="File:US Navy 091017-N-9564W-095 Construction Electrician ...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06639" y="2228625"/>
            <a:ext cx="2847703" cy="2033438"/>
          </a:xfrm>
          <a:prstGeom prst="rect">
            <a:avLst/>
          </a:prstGeom>
        </p:spPr>
      </p:pic>
      <p:pic>
        <p:nvPicPr>
          <p:cNvPr id="4" name="Picture 3" descr="Intro to measuring tools - Boing Boing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5481" y="239189"/>
            <a:ext cx="2407531" cy="1354479"/>
          </a:xfrm>
          <a:prstGeom prst="rect">
            <a:avLst/>
          </a:prstGeom>
        </p:spPr>
      </p:pic>
      <p:pic>
        <p:nvPicPr>
          <p:cNvPr id="5" name="Picture 4" descr="The Ten Commandments of Grocery Shopping | Abby Has Issues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5546" y="2085295"/>
            <a:ext cx="2468880" cy="1649212"/>
          </a:xfrm>
          <a:prstGeom prst="rect">
            <a:avLst/>
          </a:prstGeom>
        </p:spPr>
      </p:pic>
      <p:pic>
        <p:nvPicPr>
          <p:cNvPr id="6" name="Picture 5" descr="Weight Scales PNG Transparent Images | PNG All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87483" y="3796407"/>
            <a:ext cx="1721477" cy="1148471"/>
          </a:xfrm>
          <a:prstGeom prst="rect">
            <a:avLst/>
          </a:prstGeom>
        </p:spPr>
      </p:pic>
      <p:pic>
        <p:nvPicPr>
          <p:cNvPr id="7" name="Picture 6" descr="Pain care: The role of social class on nurses’ patient ...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40914" y="2540848"/>
            <a:ext cx="2113490" cy="1408993"/>
          </a:xfrm>
          <a:prstGeom prst="rect">
            <a:avLst/>
          </a:prstGeom>
        </p:spPr>
      </p:pic>
      <p:pic>
        <p:nvPicPr>
          <p:cNvPr id="8" name="Picture 7" descr="Wikipedia:Reference desk/Archives/Miscellaneous/2012 July ...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94457" y="3802645"/>
            <a:ext cx="1972130" cy="11832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82767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p38"/>
          <p:cNvSpPr txBox="1">
            <a:spLocks noGrp="1"/>
          </p:cNvSpPr>
          <p:nvPr>
            <p:ph type="sldNum" idx="12"/>
          </p:nvPr>
        </p:nvSpPr>
        <p:spPr>
          <a:xfrm>
            <a:off x="4297659" y="467370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8</a:t>
            </a:fld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261257" y="113211"/>
            <a:ext cx="3283132" cy="73866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28575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en-AU" dirty="0" smtClean="0"/>
              <a:t>Line them up</a:t>
            </a:r>
          </a:p>
          <a:p>
            <a:pPr marL="342900" indent="-342900">
              <a:buAutoNum type="arabicPeriod"/>
            </a:pPr>
            <a:r>
              <a:rPr lang="en-AU" dirty="0" smtClean="0"/>
              <a:t>Pad with zeros</a:t>
            </a:r>
          </a:p>
          <a:p>
            <a:pPr marL="342900" indent="-342900">
              <a:buAutoNum type="arabicPeriod"/>
            </a:pPr>
            <a:r>
              <a:rPr lang="en-AU" dirty="0" smtClean="0"/>
              <a:t>Add/subtract from the right</a:t>
            </a:r>
            <a:endParaRPr lang="en-AU" dirty="0"/>
          </a:p>
        </p:txBody>
      </p:sp>
      <p:sp>
        <p:nvSpPr>
          <p:cNvPr id="17" name="TextBox 16"/>
          <p:cNvSpPr txBox="1"/>
          <p:nvPr/>
        </p:nvSpPr>
        <p:spPr>
          <a:xfrm>
            <a:off x="535577" y="1331071"/>
            <a:ext cx="2442754" cy="353943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8100">
            <a:solidFill>
              <a:srgbClr val="92D050"/>
            </a:solidFill>
          </a:ln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en-AU" dirty="0" smtClean="0"/>
              <a:t>2.45 + 1.1</a:t>
            </a:r>
          </a:p>
          <a:p>
            <a:pPr marL="342900" indent="-342900">
              <a:buAutoNum type="arabicPeriod"/>
            </a:pPr>
            <a:endParaRPr lang="en-AU" dirty="0" smtClean="0"/>
          </a:p>
          <a:p>
            <a:pPr marL="342900" indent="-342900">
              <a:buAutoNum type="arabicPeriod"/>
            </a:pPr>
            <a:endParaRPr lang="en-AU" dirty="0"/>
          </a:p>
          <a:p>
            <a:pPr marL="342900" indent="-342900">
              <a:buAutoNum type="arabicPeriod"/>
            </a:pPr>
            <a:endParaRPr lang="en-AU" dirty="0" smtClean="0"/>
          </a:p>
          <a:p>
            <a:pPr marL="342900" indent="-342900">
              <a:buAutoNum type="arabicPeriod"/>
            </a:pPr>
            <a:endParaRPr lang="en-AU" dirty="0"/>
          </a:p>
          <a:p>
            <a:pPr marL="342900" indent="-342900">
              <a:buAutoNum type="arabicPeriod"/>
            </a:pPr>
            <a:r>
              <a:rPr lang="en-AU" dirty="0" smtClean="0"/>
              <a:t>3.33 + 2.2</a:t>
            </a:r>
          </a:p>
          <a:p>
            <a:pPr marL="342900" indent="-342900">
              <a:buAutoNum type="arabicPeriod"/>
            </a:pPr>
            <a:endParaRPr lang="en-AU" dirty="0"/>
          </a:p>
          <a:p>
            <a:pPr marL="342900" indent="-342900">
              <a:buAutoNum type="arabicPeriod"/>
            </a:pPr>
            <a:endParaRPr lang="en-AU" dirty="0" smtClean="0"/>
          </a:p>
          <a:p>
            <a:pPr marL="342900" indent="-342900">
              <a:buAutoNum type="arabicPeriod"/>
            </a:pPr>
            <a:endParaRPr lang="en-AU" dirty="0" smtClean="0"/>
          </a:p>
          <a:p>
            <a:pPr marL="342900" indent="-342900">
              <a:buAutoNum type="arabicPeriod"/>
            </a:pPr>
            <a:endParaRPr lang="en-AU" dirty="0" smtClean="0"/>
          </a:p>
          <a:p>
            <a:pPr marL="342900" indent="-342900">
              <a:buAutoNum type="arabicPeriod"/>
            </a:pPr>
            <a:r>
              <a:rPr lang="en-AU" dirty="0" smtClean="0"/>
              <a:t>5.0 + 2.74</a:t>
            </a:r>
          </a:p>
          <a:p>
            <a:pPr marL="342900" indent="-342900">
              <a:buAutoNum type="arabicPeriod"/>
            </a:pPr>
            <a:endParaRPr lang="en-AU" dirty="0"/>
          </a:p>
          <a:p>
            <a:pPr marL="342900" indent="-342900">
              <a:buAutoNum type="arabicPeriod"/>
            </a:pPr>
            <a:endParaRPr lang="en-AU" dirty="0" smtClean="0"/>
          </a:p>
          <a:p>
            <a:pPr marL="342900" indent="-342900">
              <a:buAutoNum type="arabicPeriod"/>
            </a:pPr>
            <a:endParaRPr lang="en-AU" dirty="0" smtClean="0"/>
          </a:p>
          <a:p>
            <a:pPr marL="342900" indent="-342900">
              <a:buAutoNum type="arabicPeriod"/>
            </a:pPr>
            <a:endParaRPr lang="en-AU" dirty="0"/>
          </a:p>
          <a:p>
            <a:pPr marL="342900" indent="-342900">
              <a:buAutoNum type="arabicPeriod"/>
            </a:pPr>
            <a:endParaRPr lang="en-AU" dirty="0" smtClean="0"/>
          </a:p>
        </p:txBody>
      </p:sp>
      <p:sp>
        <p:nvSpPr>
          <p:cNvPr id="18" name="TextBox 17"/>
          <p:cNvSpPr txBox="1"/>
          <p:nvPr/>
        </p:nvSpPr>
        <p:spPr>
          <a:xfrm>
            <a:off x="3350632" y="1331071"/>
            <a:ext cx="2442754" cy="353943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8100">
            <a:solidFill>
              <a:srgbClr val="FFC000"/>
            </a:solidFill>
          </a:ln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en-AU" dirty="0" smtClean="0"/>
              <a:t>5.67 – 2.45</a:t>
            </a:r>
          </a:p>
          <a:p>
            <a:pPr marL="342900" indent="-342900">
              <a:buAutoNum type="arabicPeriod"/>
            </a:pPr>
            <a:endParaRPr lang="en-AU" dirty="0"/>
          </a:p>
          <a:p>
            <a:pPr marL="342900" indent="-342900">
              <a:buAutoNum type="arabicPeriod"/>
            </a:pPr>
            <a:endParaRPr lang="en-AU" dirty="0" smtClean="0"/>
          </a:p>
          <a:p>
            <a:pPr marL="342900" indent="-342900">
              <a:buAutoNum type="arabicPeriod"/>
            </a:pPr>
            <a:endParaRPr lang="en-AU" dirty="0" smtClean="0"/>
          </a:p>
          <a:p>
            <a:pPr marL="342900" indent="-342900">
              <a:buAutoNum type="arabicPeriod"/>
            </a:pPr>
            <a:endParaRPr lang="en-AU" dirty="0"/>
          </a:p>
          <a:p>
            <a:pPr marL="342900" indent="-342900">
              <a:buAutoNum type="arabicPeriod"/>
            </a:pPr>
            <a:r>
              <a:rPr lang="en-AU" dirty="0" smtClean="0"/>
              <a:t>33 – 4.43</a:t>
            </a:r>
          </a:p>
          <a:p>
            <a:pPr marL="342900" indent="-342900">
              <a:buAutoNum type="arabicPeriod"/>
            </a:pPr>
            <a:endParaRPr lang="en-AU" dirty="0"/>
          </a:p>
          <a:p>
            <a:pPr marL="342900" indent="-342900">
              <a:buAutoNum type="arabicPeriod"/>
            </a:pPr>
            <a:endParaRPr lang="en-AU" dirty="0" smtClean="0"/>
          </a:p>
          <a:p>
            <a:pPr marL="342900" indent="-342900">
              <a:buAutoNum type="arabicPeriod"/>
            </a:pPr>
            <a:endParaRPr lang="en-AU" dirty="0" smtClean="0"/>
          </a:p>
          <a:p>
            <a:pPr marL="342900" indent="-342900">
              <a:buAutoNum type="arabicPeriod"/>
            </a:pPr>
            <a:endParaRPr lang="en-AU" dirty="0" smtClean="0"/>
          </a:p>
          <a:p>
            <a:pPr marL="342900" indent="-342900">
              <a:buAutoNum type="arabicPeriod"/>
            </a:pPr>
            <a:r>
              <a:rPr lang="en-AU" dirty="0" smtClean="0"/>
              <a:t>9.65 – 1.78</a:t>
            </a:r>
          </a:p>
          <a:p>
            <a:pPr marL="342900" indent="-342900">
              <a:buAutoNum type="arabicPeriod"/>
            </a:pPr>
            <a:endParaRPr lang="en-AU" dirty="0"/>
          </a:p>
          <a:p>
            <a:pPr marL="342900" indent="-342900">
              <a:buAutoNum type="arabicPeriod"/>
            </a:pPr>
            <a:endParaRPr lang="en-AU" dirty="0" smtClean="0"/>
          </a:p>
          <a:p>
            <a:pPr marL="342900" indent="-342900">
              <a:buAutoNum type="arabicPeriod"/>
            </a:pPr>
            <a:endParaRPr lang="en-AU" dirty="0"/>
          </a:p>
          <a:p>
            <a:pPr marL="342900" indent="-342900">
              <a:buAutoNum type="arabicPeriod"/>
            </a:pPr>
            <a:endParaRPr lang="en-AU" dirty="0" smtClean="0"/>
          </a:p>
          <a:p>
            <a:pPr marL="342900" indent="-342900">
              <a:buAutoNum type="arabicPeriod"/>
            </a:pPr>
            <a:endParaRPr lang="en-AU" dirty="0" smtClean="0"/>
          </a:p>
        </p:txBody>
      </p:sp>
      <p:sp>
        <p:nvSpPr>
          <p:cNvPr id="19" name="TextBox 18"/>
          <p:cNvSpPr txBox="1"/>
          <p:nvPr/>
        </p:nvSpPr>
        <p:spPr>
          <a:xfrm>
            <a:off x="6174374" y="1331071"/>
            <a:ext cx="2442754" cy="353943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810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en-AU" dirty="0" smtClean="0"/>
              <a:t>1345.37 – 25.66</a:t>
            </a:r>
          </a:p>
          <a:p>
            <a:pPr marL="342900" indent="-342900">
              <a:buAutoNum type="arabicPeriod"/>
            </a:pPr>
            <a:endParaRPr lang="en-AU" dirty="0"/>
          </a:p>
          <a:p>
            <a:pPr marL="342900" indent="-342900">
              <a:buAutoNum type="arabicPeriod"/>
            </a:pPr>
            <a:endParaRPr lang="en-AU" dirty="0" smtClean="0"/>
          </a:p>
          <a:p>
            <a:pPr marL="342900" indent="-342900">
              <a:buAutoNum type="arabicPeriod"/>
            </a:pPr>
            <a:endParaRPr lang="en-AU" dirty="0" smtClean="0"/>
          </a:p>
          <a:p>
            <a:pPr marL="342900" indent="-342900">
              <a:buAutoNum type="arabicPeriod"/>
            </a:pPr>
            <a:endParaRPr lang="en-AU" dirty="0"/>
          </a:p>
          <a:p>
            <a:pPr marL="342900" indent="-342900">
              <a:buAutoNum type="arabicPeriod"/>
            </a:pPr>
            <a:r>
              <a:rPr lang="en-AU" dirty="0" smtClean="0"/>
              <a:t>78923 – 456.76</a:t>
            </a:r>
          </a:p>
          <a:p>
            <a:pPr marL="342900" indent="-342900">
              <a:buAutoNum type="arabicPeriod"/>
            </a:pPr>
            <a:endParaRPr lang="en-AU" dirty="0"/>
          </a:p>
          <a:p>
            <a:pPr marL="342900" indent="-342900">
              <a:buAutoNum type="arabicPeriod"/>
            </a:pPr>
            <a:endParaRPr lang="en-AU" dirty="0" smtClean="0"/>
          </a:p>
          <a:p>
            <a:pPr marL="342900" indent="-342900">
              <a:buAutoNum type="arabicPeriod"/>
            </a:pPr>
            <a:endParaRPr lang="en-AU" dirty="0" smtClean="0"/>
          </a:p>
          <a:p>
            <a:pPr marL="342900" indent="-342900">
              <a:buAutoNum type="arabicPeriod"/>
            </a:pPr>
            <a:endParaRPr lang="en-AU" dirty="0" smtClean="0"/>
          </a:p>
          <a:p>
            <a:pPr marL="342900" indent="-342900">
              <a:buAutoNum type="arabicPeriod"/>
            </a:pPr>
            <a:r>
              <a:rPr lang="en-AU" dirty="0" smtClean="0"/>
              <a:t>50.008 + 1342.73</a:t>
            </a:r>
          </a:p>
          <a:p>
            <a:pPr marL="342900" indent="-342900">
              <a:buAutoNum type="arabicPeriod"/>
            </a:pPr>
            <a:endParaRPr lang="en-AU" dirty="0"/>
          </a:p>
          <a:p>
            <a:pPr marL="342900" indent="-342900">
              <a:buAutoNum type="arabicPeriod"/>
            </a:pPr>
            <a:endParaRPr lang="en-AU" dirty="0" smtClean="0"/>
          </a:p>
          <a:p>
            <a:pPr marL="342900" indent="-342900">
              <a:buAutoNum type="arabicPeriod"/>
            </a:pPr>
            <a:endParaRPr lang="en-AU" dirty="0" smtClean="0"/>
          </a:p>
          <a:p>
            <a:pPr marL="342900" indent="-342900">
              <a:buAutoNum type="arabicPeriod"/>
            </a:pPr>
            <a:endParaRPr lang="en-AU" dirty="0"/>
          </a:p>
          <a:p>
            <a:pPr marL="342900" indent="-342900">
              <a:buAutoNum type="arabicPeriod"/>
            </a:pPr>
            <a:endParaRPr lang="en-AU" dirty="0" smtClean="0"/>
          </a:p>
        </p:txBody>
      </p:sp>
      <p:sp>
        <p:nvSpPr>
          <p:cNvPr id="20" name="TextBox 19"/>
          <p:cNvSpPr txBox="1"/>
          <p:nvPr/>
        </p:nvSpPr>
        <p:spPr>
          <a:xfrm>
            <a:off x="5462448" y="174766"/>
            <a:ext cx="1704706" cy="36933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28575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AU" sz="1800" dirty="0" smtClean="0"/>
              <a:t>Practice LHS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p38"/>
          <p:cNvSpPr txBox="1">
            <a:spLocks noGrp="1"/>
          </p:cNvSpPr>
          <p:nvPr>
            <p:ph type="sldNum" idx="12"/>
          </p:nvPr>
        </p:nvSpPr>
        <p:spPr>
          <a:xfrm>
            <a:off x="4297659" y="467370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9</a:t>
            </a:fld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2721437" y="2377440"/>
            <a:ext cx="3701143" cy="30777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28575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AU" dirty="0" smtClean="0"/>
              <a:t>Fun Sums 45 (addition) and 46 (subtraction)</a:t>
            </a:r>
            <a:endParaRPr lang="en-AU" dirty="0"/>
          </a:p>
        </p:txBody>
      </p:sp>
      <p:sp>
        <p:nvSpPr>
          <p:cNvPr id="20" name="TextBox 19"/>
          <p:cNvSpPr txBox="1"/>
          <p:nvPr/>
        </p:nvSpPr>
        <p:spPr>
          <a:xfrm>
            <a:off x="3323414" y="829200"/>
            <a:ext cx="2497187" cy="36933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28575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AU" sz="1800" dirty="0" smtClean="0"/>
              <a:t>Practice Worksheets</a:t>
            </a:r>
          </a:p>
        </p:txBody>
      </p:sp>
    </p:spTree>
    <p:extLst>
      <p:ext uri="{BB962C8B-B14F-4D97-AF65-F5344CB8AC3E}">
        <p14:creationId xmlns:p14="http://schemas.microsoft.com/office/powerpoint/2010/main" val="19938316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Rainbow Background by Slidesgo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24ADBD"/>
      </a:accent1>
      <a:accent2>
        <a:srgbClr val="A2D242"/>
      </a:accent2>
      <a:accent3>
        <a:srgbClr val="FCE243"/>
      </a:accent3>
      <a:accent4>
        <a:srgbClr val="EF6B20"/>
      </a:accent4>
      <a:accent5>
        <a:srgbClr val="AD242B"/>
      </a:accent5>
      <a:accent6>
        <a:srgbClr val="AE2D5F"/>
      </a:accent6>
      <a:hlink>
        <a:srgbClr val="000000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ainbow Background by Slidesgo" id="{46D7DCF1-5261-4805-AE31-BEDD5E59F30E}" vid="{99090F41-B61B-4833-A699-F16AB6F86A01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Cornell Notes</Template>
  <TotalTime>767</TotalTime>
  <Words>561</Words>
  <Application>Microsoft Office PowerPoint</Application>
  <PresentationFormat>On-screen Show (16:9)</PresentationFormat>
  <Paragraphs>144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Chalkboard</vt:lpstr>
      <vt:lpstr>Arial</vt:lpstr>
      <vt:lpstr>Fredoka One</vt:lpstr>
      <vt:lpstr>Abel</vt:lpstr>
      <vt:lpstr>Rainbow Background by Slidesgo</vt:lpstr>
      <vt:lpstr>Topic: Adding and Subtracting  with decimals EQ: What strategies help adding and subtracting decimals?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Department of Education Western Australia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Topic: Adding and Subtracting with negative numbers  EQ: How do we add and subtract with negatives?</dc:title>
  <dc:creator>MCLEOD Alexandria [Baldivis Secondary College]</dc:creator>
  <cp:lastModifiedBy>MCLEOD Alexandria [Baldivis Secondary College]</cp:lastModifiedBy>
  <cp:revision>17</cp:revision>
  <dcterms:created xsi:type="dcterms:W3CDTF">2021-02-22T02:29:05Z</dcterms:created>
  <dcterms:modified xsi:type="dcterms:W3CDTF">2021-02-23T07:10:03Z</dcterms:modified>
</cp:coreProperties>
</file>
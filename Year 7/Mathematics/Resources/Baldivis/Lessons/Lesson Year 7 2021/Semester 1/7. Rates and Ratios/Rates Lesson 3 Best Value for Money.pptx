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8"/>
  </p:notesMasterIdLst>
  <p:sldIdLst>
    <p:sldId id="256" r:id="rId2"/>
    <p:sldId id="294" r:id="rId3"/>
    <p:sldId id="297" r:id="rId4"/>
    <p:sldId id="299" r:id="rId5"/>
    <p:sldId id="300" r:id="rId6"/>
    <p:sldId id="29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FF33"/>
    <a:srgbClr val="006600"/>
    <a:srgbClr val="CCFFCC"/>
    <a:srgbClr val="66FF66"/>
    <a:srgbClr val="33CC33"/>
    <a:srgbClr val="003300"/>
    <a:srgbClr val="6699FF"/>
    <a:srgbClr val="3366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72" autoAdjust="0"/>
    <p:restoredTop sz="94660"/>
  </p:normalViewPr>
  <p:slideViewPr>
    <p:cSldViewPr>
      <p:cViewPr varScale="1">
        <p:scale>
          <a:sx n="100" d="100"/>
          <a:sy n="100" d="100"/>
        </p:scale>
        <p:origin x="76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4413E20D-F278-46FF-8AB6-1D66257827F4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FD13A2C3-445E-422A-BD4D-34A22647335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1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10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4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24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3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4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23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2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87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83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8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1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01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706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8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298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1476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02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01/06/2021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9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6B6-AFC6-4DF6-AF13-447355A9C5F3}" type="datetimeFigureOut">
              <a:rPr lang="en-GB" smtClean="0"/>
              <a:pPr/>
              <a:t>01/06/2021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387588" y="1271082"/>
            <a:ext cx="7416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b="1" dirty="0">
                <a:latin typeface="Arial" pitchFamily="34" charset="0"/>
                <a:cs typeface="Arial" pitchFamily="34" charset="0"/>
              </a:rPr>
              <a:t>Best Value</a:t>
            </a:r>
          </a:p>
          <a:p>
            <a:pPr algn="ctr"/>
            <a:r>
              <a:rPr lang="en-GB" sz="4500" b="1" dirty="0">
                <a:latin typeface="Arial" pitchFamily="34" charset="0"/>
                <a:cs typeface="Arial" pitchFamily="34" charset="0"/>
              </a:rPr>
              <a:t>for Money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the unitary method to solve rate questions?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02754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" name="Group 95">
            <a:extLst>
              <a:ext uri="{FF2B5EF4-FFF2-40B4-BE49-F238E27FC236}">
                <a16:creationId xmlns:a16="http://schemas.microsoft.com/office/drawing/2014/main" id="{9EE4B9DA-CCB0-456C-94F8-04B1F111A2BA}"/>
              </a:ext>
            </a:extLst>
          </p:cNvPr>
          <p:cNvGrpSpPr/>
          <p:nvPr/>
        </p:nvGrpSpPr>
        <p:grpSpPr>
          <a:xfrm>
            <a:off x="3447131" y="2927901"/>
            <a:ext cx="1971092" cy="468052"/>
            <a:chOff x="503548" y="1520788"/>
            <a:chExt cx="5400600" cy="468052"/>
          </a:xfrm>
        </p:grpSpPr>
        <p:sp>
          <p:nvSpPr>
            <p:cNvPr id="21" name="Rounded Rectangle 87">
              <a:extLst>
                <a:ext uri="{FF2B5EF4-FFF2-40B4-BE49-F238E27FC236}">
                  <a16:creationId xmlns:a16="http://schemas.microsoft.com/office/drawing/2014/main" id="{D92DD640-3802-438D-8603-2328EDE69E28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DE53B8-CE08-4C39-BCA3-57F8C87FAE12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3" name="Group 58">
            <a:extLst>
              <a:ext uri="{FF2B5EF4-FFF2-40B4-BE49-F238E27FC236}">
                <a16:creationId xmlns:a16="http://schemas.microsoft.com/office/drawing/2014/main" id="{0718AEED-3EBA-4CB2-B7E2-447C95F38B1D}"/>
              </a:ext>
            </a:extLst>
          </p:cNvPr>
          <p:cNvGrpSpPr/>
          <p:nvPr/>
        </p:nvGrpSpPr>
        <p:grpSpPr>
          <a:xfrm>
            <a:off x="4963482" y="2351837"/>
            <a:ext cx="3240360" cy="468052"/>
            <a:chOff x="503548" y="1520788"/>
            <a:chExt cx="5400600" cy="468052"/>
          </a:xfrm>
        </p:grpSpPr>
        <p:sp>
          <p:nvSpPr>
            <p:cNvPr id="24" name="Rounded Rectangle 59">
              <a:extLst>
                <a:ext uri="{FF2B5EF4-FFF2-40B4-BE49-F238E27FC236}">
                  <a16:creationId xmlns:a16="http://schemas.microsoft.com/office/drawing/2014/main" id="{D2F8F65D-E8E8-4844-8026-72B650A6EDF8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71F5F2-4FE6-42D7-9381-DAA48ED27B11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Price  ÷  Quantity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9" name="Group 61">
            <a:extLst>
              <a:ext uri="{FF2B5EF4-FFF2-40B4-BE49-F238E27FC236}">
                <a16:creationId xmlns:a16="http://schemas.microsoft.com/office/drawing/2014/main" id="{37DF9E4F-9DDC-49D0-AE0D-E92A3099ABCA}"/>
              </a:ext>
            </a:extLst>
          </p:cNvPr>
          <p:cNvGrpSpPr/>
          <p:nvPr/>
        </p:nvGrpSpPr>
        <p:grpSpPr>
          <a:xfrm>
            <a:off x="7659599" y="2927901"/>
            <a:ext cx="1971092" cy="468052"/>
            <a:chOff x="503548" y="1520788"/>
            <a:chExt cx="5400600" cy="468052"/>
          </a:xfrm>
        </p:grpSpPr>
        <p:sp>
          <p:nvSpPr>
            <p:cNvPr id="30" name="Rounded Rectangle 62">
              <a:extLst>
                <a:ext uri="{FF2B5EF4-FFF2-40B4-BE49-F238E27FC236}">
                  <a16:creationId xmlns:a16="http://schemas.microsoft.com/office/drawing/2014/main" id="{4D0BB3DB-8D90-4BB4-84C2-82588155F31D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6D004D-4A54-4D60-A593-BE7FF39E4AFF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379DB3F-42BD-4388-89E9-2A0DA06A0FB4}"/>
              </a:ext>
            </a:extLst>
          </p:cNvPr>
          <p:cNvSpPr txBox="1"/>
          <p:nvPr/>
        </p:nvSpPr>
        <p:spPr>
          <a:xfrm>
            <a:off x="2623222" y="1415733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itchFamily="34" charset="0"/>
                <a:cs typeface="Arial" pitchFamily="34" charset="0"/>
              </a:rPr>
              <a:t>Example 1: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6D61B8-8F8C-451E-862C-1C3E1CEA4628}"/>
              </a:ext>
            </a:extLst>
          </p:cNvPr>
          <p:cNvSpPr txBox="1"/>
          <p:nvPr/>
        </p:nvSpPr>
        <p:spPr>
          <a:xfrm>
            <a:off x="3919366" y="1415734"/>
            <a:ext cx="6732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Lemonade is sold is two sizes: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SMALL offers 1.6 litres for 62¢.  LARGE offers 2.3 litres for 86¢.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Which is best value for money?  Show your working.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1EA7DB-947F-45D5-9CDE-4DF64E42D4C2}"/>
              </a:ext>
            </a:extLst>
          </p:cNvPr>
          <p:cNvSpPr txBox="1"/>
          <p:nvPr/>
        </p:nvSpPr>
        <p:spPr>
          <a:xfrm>
            <a:off x="3015210" y="33959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021C6F-C23D-4F33-A736-2C1953605599}"/>
              </a:ext>
            </a:extLst>
          </p:cNvPr>
          <p:cNvSpPr txBox="1"/>
          <p:nvPr/>
        </p:nvSpPr>
        <p:spPr>
          <a:xfrm>
            <a:off x="4527378" y="33959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7" name="Group 95">
            <a:extLst>
              <a:ext uri="{FF2B5EF4-FFF2-40B4-BE49-F238E27FC236}">
                <a16:creationId xmlns:a16="http://schemas.microsoft.com/office/drawing/2014/main" id="{9CC2DA6C-A982-4E1A-8AB3-638CD966ECBF}"/>
              </a:ext>
            </a:extLst>
          </p:cNvPr>
          <p:cNvGrpSpPr/>
          <p:nvPr/>
        </p:nvGrpSpPr>
        <p:grpSpPr>
          <a:xfrm>
            <a:off x="3039686" y="3828001"/>
            <a:ext cx="1309818" cy="468052"/>
            <a:chOff x="503548" y="1520788"/>
            <a:chExt cx="5400600" cy="468052"/>
          </a:xfrm>
        </p:grpSpPr>
        <p:sp>
          <p:nvSpPr>
            <p:cNvPr id="38" name="Rounded Rectangle 31">
              <a:extLst>
                <a:ext uri="{FF2B5EF4-FFF2-40B4-BE49-F238E27FC236}">
                  <a16:creationId xmlns:a16="http://schemas.microsoft.com/office/drawing/2014/main" id="{024F7663-AAC2-4B1D-B9B0-A3E898BEF62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0D3CB1F-A5CD-408D-9C57-59762FFB3287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62¢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0" name="Group 95">
            <a:extLst>
              <a:ext uri="{FF2B5EF4-FFF2-40B4-BE49-F238E27FC236}">
                <a16:creationId xmlns:a16="http://schemas.microsoft.com/office/drawing/2014/main" id="{A0F90389-405E-455D-BB3F-9CA4FD48207A}"/>
              </a:ext>
            </a:extLst>
          </p:cNvPr>
          <p:cNvGrpSpPr/>
          <p:nvPr/>
        </p:nvGrpSpPr>
        <p:grpSpPr>
          <a:xfrm>
            <a:off x="4515850" y="3828001"/>
            <a:ext cx="1309818" cy="468052"/>
            <a:chOff x="503548" y="1520788"/>
            <a:chExt cx="5400600" cy="468052"/>
          </a:xfrm>
        </p:grpSpPr>
        <p:sp>
          <p:nvSpPr>
            <p:cNvPr id="41" name="Rounded Rectangle 34">
              <a:extLst>
                <a:ext uri="{FF2B5EF4-FFF2-40B4-BE49-F238E27FC236}">
                  <a16:creationId xmlns:a16="http://schemas.microsoft.com/office/drawing/2014/main" id="{8A3B2F6E-2470-4EA4-A044-99A504F9EC50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FDD2B8-18AF-4B48-BC32-3758B315F5B8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1.6 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192FDE1-DEAD-4C76-ABAB-3A3A9DF0F2DC}"/>
              </a:ext>
            </a:extLst>
          </p:cNvPr>
          <p:cNvSpPr txBox="1"/>
          <p:nvPr/>
        </p:nvSpPr>
        <p:spPr>
          <a:xfrm>
            <a:off x="3190539" y="4656093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62 ÷ 1.6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4EBBEC-2F48-4047-B1C4-56EE31BF41D0}"/>
              </a:ext>
            </a:extLst>
          </p:cNvPr>
          <p:cNvGrpSpPr/>
          <p:nvPr/>
        </p:nvGrpSpPr>
        <p:grpSpPr>
          <a:xfrm>
            <a:off x="3442567" y="5412177"/>
            <a:ext cx="1980220" cy="468052"/>
            <a:chOff x="1466909" y="5049180"/>
            <a:chExt cx="1980220" cy="468052"/>
          </a:xfrm>
        </p:grpSpPr>
        <p:sp>
          <p:nvSpPr>
            <p:cNvPr id="45" name="Rounded Rectangle 46">
              <a:extLst>
                <a:ext uri="{FF2B5EF4-FFF2-40B4-BE49-F238E27FC236}">
                  <a16:creationId xmlns:a16="http://schemas.microsoft.com/office/drawing/2014/main" id="{3CC9E1E6-FEDC-4470-87FA-9CCD6E01C03F}"/>
                </a:ext>
              </a:extLst>
            </p:cNvPr>
            <p:cNvSpPr/>
            <p:nvPr/>
          </p:nvSpPr>
          <p:spPr>
            <a:xfrm>
              <a:off x="1466909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4071065-3E6E-4739-9873-47BCF0D1F434}"/>
                </a:ext>
              </a:extLst>
            </p:cNvPr>
            <p:cNvSpPr txBox="1"/>
            <p:nvPr/>
          </p:nvSpPr>
          <p:spPr>
            <a:xfrm>
              <a:off x="1546118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38.75¢ per 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7" name="Group 95">
            <a:extLst>
              <a:ext uri="{FF2B5EF4-FFF2-40B4-BE49-F238E27FC236}">
                <a16:creationId xmlns:a16="http://schemas.microsoft.com/office/drawing/2014/main" id="{2AD6F8AA-31C8-43DC-BA1F-7E3456DF2911}"/>
              </a:ext>
            </a:extLst>
          </p:cNvPr>
          <p:cNvGrpSpPr/>
          <p:nvPr/>
        </p:nvGrpSpPr>
        <p:grpSpPr>
          <a:xfrm>
            <a:off x="3568581" y="6168261"/>
            <a:ext cx="5940660" cy="468052"/>
            <a:chOff x="503548" y="1520788"/>
            <a:chExt cx="5400600" cy="468052"/>
          </a:xfrm>
        </p:grpSpPr>
        <p:sp>
          <p:nvSpPr>
            <p:cNvPr id="48" name="Rounded Rectangle 67">
              <a:extLst>
                <a:ext uri="{FF2B5EF4-FFF2-40B4-BE49-F238E27FC236}">
                  <a16:creationId xmlns:a16="http://schemas.microsoft.com/office/drawing/2014/main" id="{2CBD7DC7-A532-4AF8-A9A8-367A1C22BCD1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B769FFE-D5A0-4979-BAC8-840B123F23BB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  is Best Value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3487C25-2950-4107-A3A8-9CE25B8FAA18}"/>
              </a:ext>
            </a:extLst>
          </p:cNvPr>
          <p:cNvSpPr txBox="1"/>
          <p:nvPr/>
        </p:nvSpPr>
        <p:spPr>
          <a:xfrm>
            <a:off x="7227678" y="33959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492F81-9DFD-467F-A5A7-627DAED9A714}"/>
              </a:ext>
            </a:extLst>
          </p:cNvPr>
          <p:cNvSpPr txBox="1"/>
          <p:nvPr/>
        </p:nvSpPr>
        <p:spPr>
          <a:xfrm>
            <a:off x="8739846" y="33959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2" name="Group 95">
            <a:extLst>
              <a:ext uri="{FF2B5EF4-FFF2-40B4-BE49-F238E27FC236}">
                <a16:creationId xmlns:a16="http://schemas.microsoft.com/office/drawing/2014/main" id="{AF1C649D-A7D5-4BE7-806F-C470209920B0}"/>
              </a:ext>
            </a:extLst>
          </p:cNvPr>
          <p:cNvGrpSpPr/>
          <p:nvPr/>
        </p:nvGrpSpPr>
        <p:grpSpPr>
          <a:xfrm>
            <a:off x="7252154" y="3828001"/>
            <a:ext cx="1309818" cy="468052"/>
            <a:chOff x="503548" y="1520788"/>
            <a:chExt cx="5400600" cy="468052"/>
          </a:xfrm>
        </p:grpSpPr>
        <p:sp>
          <p:nvSpPr>
            <p:cNvPr id="53" name="Rounded Rectangle 94">
              <a:extLst>
                <a:ext uri="{FF2B5EF4-FFF2-40B4-BE49-F238E27FC236}">
                  <a16:creationId xmlns:a16="http://schemas.microsoft.com/office/drawing/2014/main" id="{50BC0F4F-7678-48F2-8DB3-25A663CCDCF6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AE23310-7308-49FA-98A5-268629AC2299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86¢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5" name="Group 95">
            <a:extLst>
              <a:ext uri="{FF2B5EF4-FFF2-40B4-BE49-F238E27FC236}">
                <a16:creationId xmlns:a16="http://schemas.microsoft.com/office/drawing/2014/main" id="{652E5FD2-B3C1-4285-9BBC-3E58BBC47090}"/>
              </a:ext>
            </a:extLst>
          </p:cNvPr>
          <p:cNvGrpSpPr/>
          <p:nvPr/>
        </p:nvGrpSpPr>
        <p:grpSpPr>
          <a:xfrm>
            <a:off x="8728318" y="3828001"/>
            <a:ext cx="1309818" cy="468052"/>
            <a:chOff x="503548" y="1520788"/>
            <a:chExt cx="5400600" cy="468052"/>
          </a:xfrm>
        </p:grpSpPr>
        <p:sp>
          <p:nvSpPr>
            <p:cNvPr id="56" name="Rounded Rectangle 92">
              <a:extLst>
                <a:ext uri="{FF2B5EF4-FFF2-40B4-BE49-F238E27FC236}">
                  <a16:creationId xmlns:a16="http://schemas.microsoft.com/office/drawing/2014/main" id="{E83475E9-3B8F-42B7-BA0F-02A9247B7CB4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30C1F3-F69D-4705-BA0C-D03A346F7975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2.3 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D48AC474-F46C-4C88-9814-A293F57F5051}"/>
              </a:ext>
            </a:extLst>
          </p:cNvPr>
          <p:cNvSpPr txBox="1"/>
          <p:nvPr/>
        </p:nvSpPr>
        <p:spPr>
          <a:xfrm>
            <a:off x="7403007" y="4656093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86 ÷ 2.3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772CB55-99F9-423A-9C7C-94704967E429}"/>
              </a:ext>
            </a:extLst>
          </p:cNvPr>
          <p:cNvGrpSpPr/>
          <p:nvPr/>
        </p:nvGrpSpPr>
        <p:grpSpPr>
          <a:xfrm>
            <a:off x="7655035" y="5412177"/>
            <a:ext cx="1980220" cy="468052"/>
            <a:chOff x="5679377" y="5049180"/>
            <a:chExt cx="1980220" cy="468052"/>
          </a:xfrm>
        </p:grpSpPr>
        <p:sp>
          <p:nvSpPr>
            <p:cNvPr id="60" name="Rounded Rectangle 81">
              <a:extLst>
                <a:ext uri="{FF2B5EF4-FFF2-40B4-BE49-F238E27FC236}">
                  <a16:creationId xmlns:a16="http://schemas.microsoft.com/office/drawing/2014/main" id="{74DE33B8-F2E6-489A-8D7A-4A3371DCBAB8}"/>
                </a:ext>
              </a:extLst>
            </p:cNvPr>
            <p:cNvSpPr/>
            <p:nvPr/>
          </p:nvSpPr>
          <p:spPr>
            <a:xfrm>
              <a:off x="5679377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E9C4F14-9E8F-4BF1-BD54-7048F3181999}"/>
                </a:ext>
              </a:extLst>
            </p:cNvPr>
            <p:cNvSpPr txBox="1"/>
            <p:nvPr/>
          </p:nvSpPr>
          <p:spPr>
            <a:xfrm>
              <a:off x="5758586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37.39¢ per 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A2A24F-CD04-4795-8410-F844CE90643C}"/>
              </a:ext>
            </a:extLst>
          </p:cNvPr>
          <p:cNvSpPr txBox="1"/>
          <p:nvPr/>
        </p:nvSpPr>
        <p:spPr>
          <a:xfrm>
            <a:off x="119339" y="1592796"/>
            <a:ext cx="190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unitary method?</a:t>
            </a:r>
          </a:p>
        </p:txBody>
      </p:sp>
    </p:spTree>
    <p:extLst>
      <p:ext uri="{BB962C8B-B14F-4D97-AF65-F5344CB8AC3E}">
        <p14:creationId xmlns:p14="http://schemas.microsoft.com/office/powerpoint/2010/main" val="147864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5" grpId="0"/>
      <p:bldP spid="36" grpId="0"/>
      <p:bldP spid="43" grpId="0"/>
      <p:bldP spid="50" grpId="0"/>
      <p:bldP spid="51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the unitary method to solve rate questions?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02754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13" name="Group 95">
            <a:extLst>
              <a:ext uri="{FF2B5EF4-FFF2-40B4-BE49-F238E27FC236}">
                <a16:creationId xmlns:a16="http://schemas.microsoft.com/office/drawing/2014/main" id="{664246C0-A656-417B-9291-C479FF3F2E92}"/>
              </a:ext>
            </a:extLst>
          </p:cNvPr>
          <p:cNvGrpSpPr/>
          <p:nvPr/>
        </p:nvGrpSpPr>
        <p:grpSpPr>
          <a:xfrm>
            <a:off x="3016294" y="2924601"/>
            <a:ext cx="1971092" cy="468052"/>
            <a:chOff x="503548" y="1520788"/>
            <a:chExt cx="5400600" cy="468052"/>
          </a:xfrm>
        </p:grpSpPr>
        <p:sp>
          <p:nvSpPr>
            <p:cNvPr id="14" name="Rounded Rectangle 87">
              <a:extLst>
                <a:ext uri="{FF2B5EF4-FFF2-40B4-BE49-F238E27FC236}">
                  <a16:creationId xmlns:a16="http://schemas.microsoft.com/office/drawing/2014/main" id="{36DBD501-A9F3-4F1D-B7C1-C8A36FD82F3D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DC8486-AEDD-4C4E-A07A-EEC581FAC64D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6" name="Group 58">
            <a:extLst>
              <a:ext uri="{FF2B5EF4-FFF2-40B4-BE49-F238E27FC236}">
                <a16:creationId xmlns:a16="http://schemas.microsoft.com/office/drawing/2014/main" id="{F3993E71-8699-4638-9AED-FB84D87B893A}"/>
              </a:ext>
            </a:extLst>
          </p:cNvPr>
          <p:cNvGrpSpPr/>
          <p:nvPr/>
        </p:nvGrpSpPr>
        <p:grpSpPr>
          <a:xfrm>
            <a:off x="4532645" y="2348537"/>
            <a:ext cx="3240360" cy="468052"/>
            <a:chOff x="503548" y="1520788"/>
            <a:chExt cx="5400600" cy="468052"/>
          </a:xfrm>
        </p:grpSpPr>
        <p:sp>
          <p:nvSpPr>
            <p:cNvPr id="17" name="Rounded Rectangle 59">
              <a:extLst>
                <a:ext uri="{FF2B5EF4-FFF2-40B4-BE49-F238E27FC236}">
                  <a16:creationId xmlns:a16="http://schemas.microsoft.com/office/drawing/2014/main" id="{5D6A40CE-0114-44A5-A0B9-1EF70582383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967C4B9-0805-45C3-9694-51E7301EAB6B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Price  ÷  Quantity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9" name="Group 61">
            <a:extLst>
              <a:ext uri="{FF2B5EF4-FFF2-40B4-BE49-F238E27FC236}">
                <a16:creationId xmlns:a16="http://schemas.microsoft.com/office/drawing/2014/main" id="{13FD8113-10B3-487F-86E3-1584E3AFD59D}"/>
              </a:ext>
            </a:extLst>
          </p:cNvPr>
          <p:cNvGrpSpPr/>
          <p:nvPr/>
        </p:nvGrpSpPr>
        <p:grpSpPr>
          <a:xfrm>
            <a:off x="7228762" y="2924601"/>
            <a:ext cx="1971092" cy="468052"/>
            <a:chOff x="503548" y="1520788"/>
            <a:chExt cx="5400600" cy="468052"/>
          </a:xfrm>
        </p:grpSpPr>
        <p:sp>
          <p:nvSpPr>
            <p:cNvPr id="21" name="Rounded Rectangle 62">
              <a:extLst>
                <a:ext uri="{FF2B5EF4-FFF2-40B4-BE49-F238E27FC236}">
                  <a16:creationId xmlns:a16="http://schemas.microsoft.com/office/drawing/2014/main" id="{BAA357BC-7F07-4922-913A-B74F8F31330A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032D65-CD7C-4450-83CA-4AD5160A30D5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5203C6F-4005-48CE-B760-1DBADFE18806}"/>
              </a:ext>
            </a:extLst>
          </p:cNvPr>
          <p:cNvSpPr txBox="1"/>
          <p:nvPr/>
        </p:nvSpPr>
        <p:spPr>
          <a:xfrm>
            <a:off x="2192385" y="1412433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itchFamily="34" charset="0"/>
                <a:cs typeface="Arial" pitchFamily="34" charset="0"/>
              </a:rPr>
              <a:t>Example 2: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C9E439-6350-4FA0-B5B1-65E175CEF302}"/>
              </a:ext>
            </a:extLst>
          </p:cNvPr>
          <p:cNvSpPr txBox="1"/>
          <p:nvPr/>
        </p:nvSpPr>
        <p:spPr>
          <a:xfrm>
            <a:off x="3488529" y="1412434"/>
            <a:ext cx="6732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Two sizes of cans of peaches are available: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SMALL costs 42¢ for 360ml.  LARGE costs 88¢ for 840ml.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Which is best value for money?  Show your working.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72770F-64D5-41F3-A143-B99DA4E31DB1}"/>
              </a:ext>
            </a:extLst>
          </p:cNvPr>
          <p:cNvSpPr txBox="1"/>
          <p:nvPr/>
        </p:nvSpPr>
        <p:spPr>
          <a:xfrm>
            <a:off x="2584373" y="33926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C3DEE7-BDF1-470A-9AD0-62E92246B20F}"/>
              </a:ext>
            </a:extLst>
          </p:cNvPr>
          <p:cNvSpPr txBox="1"/>
          <p:nvPr/>
        </p:nvSpPr>
        <p:spPr>
          <a:xfrm>
            <a:off x="4096541" y="33926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7" name="Group 95">
            <a:extLst>
              <a:ext uri="{FF2B5EF4-FFF2-40B4-BE49-F238E27FC236}">
                <a16:creationId xmlns:a16="http://schemas.microsoft.com/office/drawing/2014/main" id="{3FF45153-3BD8-4C1A-93C0-1D9128EEF970}"/>
              </a:ext>
            </a:extLst>
          </p:cNvPr>
          <p:cNvGrpSpPr/>
          <p:nvPr/>
        </p:nvGrpSpPr>
        <p:grpSpPr>
          <a:xfrm>
            <a:off x="2608849" y="3824701"/>
            <a:ext cx="1309818" cy="468052"/>
            <a:chOff x="503548" y="1520788"/>
            <a:chExt cx="5400600" cy="468052"/>
          </a:xfrm>
        </p:grpSpPr>
        <p:sp>
          <p:nvSpPr>
            <p:cNvPr id="28" name="Rounded Rectangle 31">
              <a:extLst>
                <a:ext uri="{FF2B5EF4-FFF2-40B4-BE49-F238E27FC236}">
                  <a16:creationId xmlns:a16="http://schemas.microsoft.com/office/drawing/2014/main" id="{894F8D17-69EB-408C-AC94-9ED739A00857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2E4AA0-EC93-4FE5-B64E-1C28299503BB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42¢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0" name="Group 95">
            <a:extLst>
              <a:ext uri="{FF2B5EF4-FFF2-40B4-BE49-F238E27FC236}">
                <a16:creationId xmlns:a16="http://schemas.microsoft.com/office/drawing/2014/main" id="{EBC102F9-7653-401C-B770-31E7AAB9ECC3}"/>
              </a:ext>
            </a:extLst>
          </p:cNvPr>
          <p:cNvGrpSpPr/>
          <p:nvPr/>
        </p:nvGrpSpPr>
        <p:grpSpPr>
          <a:xfrm>
            <a:off x="4085013" y="3824701"/>
            <a:ext cx="1309818" cy="468052"/>
            <a:chOff x="503548" y="1520788"/>
            <a:chExt cx="5400600" cy="468052"/>
          </a:xfrm>
        </p:grpSpPr>
        <p:sp>
          <p:nvSpPr>
            <p:cNvPr id="31" name="Rounded Rectangle 34">
              <a:extLst>
                <a:ext uri="{FF2B5EF4-FFF2-40B4-BE49-F238E27FC236}">
                  <a16:creationId xmlns:a16="http://schemas.microsoft.com/office/drawing/2014/main" id="{D9E0DCD3-375A-4796-B813-AF43B6E960DE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D65BFC-C6C4-4FBD-83B9-5CC9877DB55D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360 ml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2751EAF-2ABB-467F-94E5-703BDE543C9C}"/>
              </a:ext>
            </a:extLst>
          </p:cNvPr>
          <p:cNvSpPr txBox="1"/>
          <p:nvPr/>
        </p:nvSpPr>
        <p:spPr>
          <a:xfrm>
            <a:off x="2759702" y="4652793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42 ÷ 360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5" name="Group 99">
            <a:extLst>
              <a:ext uri="{FF2B5EF4-FFF2-40B4-BE49-F238E27FC236}">
                <a16:creationId xmlns:a16="http://schemas.microsoft.com/office/drawing/2014/main" id="{A4DA6938-EBD9-4AC5-9F32-5313B1102D5F}"/>
              </a:ext>
            </a:extLst>
          </p:cNvPr>
          <p:cNvGrpSpPr/>
          <p:nvPr/>
        </p:nvGrpSpPr>
        <p:grpSpPr>
          <a:xfrm>
            <a:off x="3011730" y="5408877"/>
            <a:ext cx="1980220" cy="468052"/>
            <a:chOff x="1466909" y="5049180"/>
            <a:chExt cx="1980220" cy="468052"/>
          </a:xfrm>
        </p:grpSpPr>
        <p:sp>
          <p:nvSpPr>
            <p:cNvPr id="36" name="Rounded Rectangle 46">
              <a:extLst>
                <a:ext uri="{FF2B5EF4-FFF2-40B4-BE49-F238E27FC236}">
                  <a16:creationId xmlns:a16="http://schemas.microsoft.com/office/drawing/2014/main" id="{4736D20A-94F6-4FF8-B673-75C1E7C11AA1}"/>
                </a:ext>
              </a:extLst>
            </p:cNvPr>
            <p:cNvSpPr/>
            <p:nvPr/>
          </p:nvSpPr>
          <p:spPr>
            <a:xfrm>
              <a:off x="1466909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62A3F6-8F23-43D5-B8A3-D2E02450D28F}"/>
                </a:ext>
              </a:extLst>
            </p:cNvPr>
            <p:cNvSpPr txBox="1"/>
            <p:nvPr/>
          </p:nvSpPr>
          <p:spPr>
            <a:xfrm>
              <a:off x="1546118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0.117¢ per ml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8" name="Group 95">
            <a:extLst>
              <a:ext uri="{FF2B5EF4-FFF2-40B4-BE49-F238E27FC236}">
                <a16:creationId xmlns:a16="http://schemas.microsoft.com/office/drawing/2014/main" id="{312D78C8-B0EE-45BC-BE4A-0C422D264221}"/>
              </a:ext>
            </a:extLst>
          </p:cNvPr>
          <p:cNvGrpSpPr/>
          <p:nvPr/>
        </p:nvGrpSpPr>
        <p:grpSpPr>
          <a:xfrm>
            <a:off x="3137744" y="6164961"/>
            <a:ext cx="5940660" cy="468052"/>
            <a:chOff x="503548" y="1520788"/>
            <a:chExt cx="5400600" cy="468052"/>
          </a:xfrm>
        </p:grpSpPr>
        <p:sp>
          <p:nvSpPr>
            <p:cNvPr id="39" name="Rounded Rectangle 67">
              <a:extLst>
                <a:ext uri="{FF2B5EF4-FFF2-40B4-BE49-F238E27FC236}">
                  <a16:creationId xmlns:a16="http://schemas.microsoft.com/office/drawing/2014/main" id="{680B9722-EBB0-4B06-87AD-2E31FF043E8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44EA72-58A9-4F62-A6A4-0E117911D3F4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  is Best Value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6339839-596A-4919-BD4E-0654119BFA49}"/>
              </a:ext>
            </a:extLst>
          </p:cNvPr>
          <p:cNvSpPr txBox="1"/>
          <p:nvPr/>
        </p:nvSpPr>
        <p:spPr>
          <a:xfrm>
            <a:off x="6796841" y="33926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1E2C39-0748-4335-B4FC-377BB89EAC4E}"/>
              </a:ext>
            </a:extLst>
          </p:cNvPr>
          <p:cNvSpPr txBox="1"/>
          <p:nvPr/>
        </p:nvSpPr>
        <p:spPr>
          <a:xfrm>
            <a:off x="8309009" y="3392653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3" name="Group 95">
            <a:extLst>
              <a:ext uri="{FF2B5EF4-FFF2-40B4-BE49-F238E27FC236}">
                <a16:creationId xmlns:a16="http://schemas.microsoft.com/office/drawing/2014/main" id="{2DC6C1B1-EA1B-4342-8BDA-FDC1627AE296}"/>
              </a:ext>
            </a:extLst>
          </p:cNvPr>
          <p:cNvGrpSpPr/>
          <p:nvPr/>
        </p:nvGrpSpPr>
        <p:grpSpPr>
          <a:xfrm>
            <a:off x="6821317" y="3824701"/>
            <a:ext cx="1309818" cy="468052"/>
            <a:chOff x="503548" y="1520788"/>
            <a:chExt cx="5400600" cy="468052"/>
          </a:xfrm>
        </p:grpSpPr>
        <p:sp>
          <p:nvSpPr>
            <p:cNvPr id="44" name="Rounded Rectangle 94">
              <a:extLst>
                <a:ext uri="{FF2B5EF4-FFF2-40B4-BE49-F238E27FC236}">
                  <a16:creationId xmlns:a16="http://schemas.microsoft.com/office/drawing/2014/main" id="{6D6E240B-F8FB-42C3-AF37-4E3837A70A79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86C984C-B2B6-435B-BAEB-CBB56CA7DF23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88¢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6" name="Group 95">
            <a:extLst>
              <a:ext uri="{FF2B5EF4-FFF2-40B4-BE49-F238E27FC236}">
                <a16:creationId xmlns:a16="http://schemas.microsoft.com/office/drawing/2014/main" id="{94711CB1-5046-4AFE-A6C7-CD7C358FC262}"/>
              </a:ext>
            </a:extLst>
          </p:cNvPr>
          <p:cNvGrpSpPr/>
          <p:nvPr/>
        </p:nvGrpSpPr>
        <p:grpSpPr>
          <a:xfrm>
            <a:off x="8297481" y="3824701"/>
            <a:ext cx="1309818" cy="468052"/>
            <a:chOff x="503548" y="1520788"/>
            <a:chExt cx="5400600" cy="468052"/>
          </a:xfrm>
        </p:grpSpPr>
        <p:sp>
          <p:nvSpPr>
            <p:cNvPr id="47" name="Rounded Rectangle 92">
              <a:extLst>
                <a:ext uri="{FF2B5EF4-FFF2-40B4-BE49-F238E27FC236}">
                  <a16:creationId xmlns:a16="http://schemas.microsoft.com/office/drawing/2014/main" id="{2BA86ECB-AA8C-4DDD-A4E1-D63DA30D6039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2900F1-0CE1-446E-8940-E2FEC9E5CDFB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840 ml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4F03C32-1F24-4987-9682-25EE7C4FA552}"/>
              </a:ext>
            </a:extLst>
          </p:cNvPr>
          <p:cNvSpPr txBox="1"/>
          <p:nvPr/>
        </p:nvSpPr>
        <p:spPr>
          <a:xfrm>
            <a:off x="6972170" y="4652793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88 ÷ 840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0" name="Group 100">
            <a:extLst>
              <a:ext uri="{FF2B5EF4-FFF2-40B4-BE49-F238E27FC236}">
                <a16:creationId xmlns:a16="http://schemas.microsoft.com/office/drawing/2014/main" id="{C4B2AC66-D93B-49A1-B928-54FDF6F151B3}"/>
              </a:ext>
            </a:extLst>
          </p:cNvPr>
          <p:cNvGrpSpPr/>
          <p:nvPr/>
        </p:nvGrpSpPr>
        <p:grpSpPr>
          <a:xfrm>
            <a:off x="7224198" y="5408877"/>
            <a:ext cx="1980220" cy="468052"/>
            <a:chOff x="5679377" y="5049180"/>
            <a:chExt cx="1980220" cy="468052"/>
          </a:xfrm>
        </p:grpSpPr>
        <p:sp>
          <p:nvSpPr>
            <p:cNvPr id="51" name="Rounded Rectangle 81">
              <a:extLst>
                <a:ext uri="{FF2B5EF4-FFF2-40B4-BE49-F238E27FC236}">
                  <a16:creationId xmlns:a16="http://schemas.microsoft.com/office/drawing/2014/main" id="{5945C9FA-4238-4B10-903D-A9F80B41F19E}"/>
                </a:ext>
              </a:extLst>
            </p:cNvPr>
            <p:cNvSpPr/>
            <p:nvPr/>
          </p:nvSpPr>
          <p:spPr>
            <a:xfrm>
              <a:off x="5679377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448BFC-C92C-4343-BC43-793C961E3DDB}"/>
                </a:ext>
              </a:extLst>
            </p:cNvPr>
            <p:cNvSpPr txBox="1"/>
            <p:nvPr/>
          </p:nvSpPr>
          <p:spPr>
            <a:xfrm>
              <a:off x="5758586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0.105¢ per ml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692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34" grpId="0"/>
      <p:bldP spid="41" grpId="0"/>
      <p:bldP spid="42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the unitary method to solve rate questions?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02754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CC11B65-17C3-41EA-A5B2-CE3EB89791A6}"/>
              </a:ext>
            </a:extLst>
          </p:cNvPr>
          <p:cNvGrpSpPr/>
          <p:nvPr/>
        </p:nvGrpSpPr>
        <p:grpSpPr>
          <a:xfrm>
            <a:off x="3355513" y="2926203"/>
            <a:ext cx="1971092" cy="468052"/>
            <a:chOff x="503548" y="1520788"/>
            <a:chExt cx="5400600" cy="468052"/>
          </a:xfrm>
        </p:grpSpPr>
        <p:sp>
          <p:nvSpPr>
            <p:cNvPr id="90" name="Rounded Rectangle 87">
              <a:extLst>
                <a:ext uri="{FF2B5EF4-FFF2-40B4-BE49-F238E27FC236}">
                  <a16:creationId xmlns:a16="http://schemas.microsoft.com/office/drawing/2014/main" id="{40D719E8-181F-4995-8DAE-C1D70CDC1FFE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TextBox 37">
              <a:extLst>
                <a:ext uri="{FF2B5EF4-FFF2-40B4-BE49-F238E27FC236}">
                  <a16:creationId xmlns:a16="http://schemas.microsoft.com/office/drawing/2014/main" id="{3179D1C2-AF4B-4D66-BB27-A82D138577D8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26BBCB1-E410-4A32-90D3-DF150ABF0DFE}"/>
              </a:ext>
            </a:extLst>
          </p:cNvPr>
          <p:cNvGrpSpPr/>
          <p:nvPr/>
        </p:nvGrpSpPr>
        <p:grpSpPr>
          <a:xfrm>
            <a:off x="4871864" y="2350139"/>
            <a:ext cx="3240360" cy="468052"/>
            <a:chOff x="503548" y="1520788"/>
            <a:chExt cx="5400600" cy="468052"/>
          </a:xfrm>
        </p:grpSpPr>
        <p:sp>
          <p:nvSpPr>
            <p:cNvPr id="88" name="Rounded Rectangle 59">
              <a:extLst>
                <a:ext uri="{FF2B5EF4-FFF2-40B4-BE49-F238E27FC236}">
                  <a16:creationId xmlns:a16="http://schemas.microsoft.com/office/drawing/2014/main" id="{FCAC2AB3-587A-467E-807E-36DE8B96A697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9" name="TextBox 60">
              <a:extLst>
                <a:ext uri="{FF2B5EF4-FFF2-40B4-BE49-F238E27FC236}">
                  <a16:creationId xmlns:a16="http://schemas.microsoft.com/office/drawing/2014/main" id="{89A933D8-6F9E-4983-B540-6033FDFD4AE3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Price  ÷  Quantity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95130FC-DFDC-4283-A5C1-B2022739E724}"/>
              </a:ext>
            </a:extLst>
          </p:cNvPr>
          <p:cNvGrpSpPr/>
          <p:nvPr/>
        </p:nvGrpSpPr>
        <p:grpSpPr>
          <a:xfrm>
            <a:off x="7567981" y="2926203"/>
            <a:ext cx="1971092" cy="468052"/>
            <a:chOff x="503548" y="1520788"/>
            <a:chExt cx="5400600" cy="468052"/>
          </a:xfrm>
        </p:grpSpPr>
        <p:sp>
          <p:nvSpPr>
            <p:cNvPr id="86" name="Rounded Rectangle 62">
              <a:extLst>
                <a:ext uri="{FF2B5EF4-FFF2-40B4-BE49-F238E27FC236}">
                  <a16:creationId xmlns:a16="http://schemas.microsoft.com/office/drawing/2014/main" id="{1A840041-AD12-4BB1-994C-B68C015C404E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TextBox 63">
              <a:extLst>
                <a:ext uri="{FF2B5EF4-FFF2-40B4-BE49-F238E27FC236}">
                  <a16:creationId xmlns:a16="http://schemas.microsoft.com/office/drawing/2014/main" id="{60C92527-4554-4AE2-9FCE-CCFA1642A416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7" name="TextBox 27">
            <a:extLst>
              <a:ext uri="{FF2B5EF4-FFF2-40B4-BE49-F238E27FC236}">
                <a16:creationId xmlns:a16="http://schemas.microsoft.com/office/drawing/2014/main" id="{C37B0851-9F10-4E12-A40E-F5975F1FF57F}"/>
              </a:ext>
            </a:extLst>
          </p:cNvPr>
          <p:cNvSpPr txBox="1"/>
          <p:nvPr/>
        </p:nvSpPr>
        <p:spPr>
          <a:xfrm>
            <a:off x="2531604" y="1414035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latin typeface="Arial" pitchFamily="34" charset="0"/>
                <a:cs typeface="Arial" pitchFamily="34" charset="0"/>
              </a:rPr>
              <a:t>Example 3:</a:t>
            </a:r>
          </a:p>
        </p:txBody>
      </p:sp>
      <p:sp>
        <p:nvSpPr>
          <p:cNvPr id="58" name="TextBox 28">
            <a:extLst>
              <a:ext uri="{FF2B5EF4-FFF2-40B4-BE49-F238E27FC236}">
                <a16:creationId xmlns:a16="http://schemas.microsoft.com/office/drawing/2014/main" id="{DF40B5D4-3787-4DE7-B515-41E0F233E0F7}"/>
              </a:ext>
            </a:extLst>
          </p:cNvPr>
          <p:cNvSpPr txBox="1"/>
          <p:nvPr/>
        </p:nvSpPr>
        <p:spPr>
          <a:xfrm>
            <a:off x="3827748" y="1414035"/>
            <a:ext cx="6732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Sweets are available in two sizes of bag: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SMALL costs 32¢ for 18 sweets.  LARGE costs 48¢ for 25 sweets.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Which is best value for money?  Show your working.</a:t>
            </a:r>
          </a:p>
        </p:txBody>
      </p:sp>
      <p:sp>
        <p:nvSpPr>
          <p:cNvPr id="59" name="TextBox 96">
            <a:extLst>
              <a:ext uri="{FF2B5EF4-FFF2-40B4-BE49-F238E27FC236}">
                <a16:creationId xmlns:a16="http://schemas.microsoft.com/office/drawing/2014/main" id="{F43BB345-535F-4F84-8E15-5B72DF67EBB4}"/>
              </a:ext>
            </a:extLst>
          </p:cNvPr>
          <p:cNvSpPr txBox="1"/>
          <p:nvPr/>
        </p:nvSpPr>
        <p:spPr>
          <a:xfrm>
            <a:off x="2923592" y="3394255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29">
            <a:extLst>
              <a:ext uri="{FF2B5EF4-FFF2-40B4-BE49-F238E27FC236}">
                <a16:creationId xmlns:a16="http://schemas.microsoft.com/office/drawing/2014/main" id="{BB6DD75C-E21C-4A2A-9A5E-0DB3058BFFC2}"/>
              </a:ext>
            </a:extLst>
          </p:cNvPr>
          <p:cNvSpPr txBox="1"/>
          <p:nvPr/>
        </p:nvSpPr>
        <p:spPr>
          <a:xfrm>
            <a:off x="4435760" y="3394255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7CE6B41-ADB4-4C1E-90E9-2991C197855C}"/>
              </a:ext>
            </a:extLst>
          </p:cNvPr>
          <p:cNvGrpSpPr/>
          <p:nvPr/>
        </p:nvGrpSpPr>
        <p:grpSpPr>
          <a:xfrm>
            <a:off x="2948068" y="3826303"/>
            <a:ext cx="1309818" cy="468052"/>
            <a:chOff x="503548" y="1520788"/>
            <a:chExt cx="5400600" cy="468052"/>
          </a:xfrm>
        </p:grpSpPr>
        <p:sp>
          <p:nvSpPr>
            <p:cNvPr id="84" name="Rounded Rectangle 31">
              <a:extLst>
                <a:ext uri="{FF2B5EF4-FFF2-40B4-BE49-F238E27FC236}">
                  <a16:creationId xmlns:a16="http://schemas.microsoft.com/office/drawing/2014/main" id="{4AFE943B-7C3D-495E-845E-69905E222495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5" name="TextBox 32">
              <a:extLst>
                <a:ext uri="{FF2B5EF4-FFF2-40B4-BE49-F238E27FC236}">
                  <a16:creationId xmlns:a16="http://schemas.microsoft.com/office/drawing/2014/main" id="{614752FC-0420-4D6D-9049-4121CC6DB80E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32¢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E06D4EA-B7A3-4017-9657-B841E640F8F8}"/>
              </a:ext>
            </a:extLst>
          </p:cNvPr>
          <p:cNvGrpSpPr/>
          <p:nvPr/>
        </p:nvGrpSpPr>
        <p:grpSpPr>
          <a:xfrm>
            <a:off x="4424232" y="3826303"/>
            <a:ext cx="1309818" cy="468052"/>
            <a:chOff x="503548" y="1520788"/>
            <a:chExt cx="5400600" cy="468052"/>
          </a:xfrm>
        </p:grpSpPr>
        <p:sp>
          <p:nvSpPr>
            <p:cNvPr id="82" name="Rounded Rectangle 34">
              <a:extLst>
                <a:ext uri="{FF2B5EF4-FFF2-40B4-BE49-F238E27FC236}">
                  <a16:creationId xmlns:a16="http://schemas.microsoft.com/office/drawing/2014/main" id="{6E6F974D-9120-486A-842C-468F5B08815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3" name="TextBox 36">
              <a:extLst>
                <a:ext uri="{FF2B5EF4-FFF2-40B4-BE49-F238E27FC236}">
                  <a16:creationId xmlns:a16="http://schemas.microsoft.com/office/drawing/2014/main" id="{F675769C-913B-4723-82F2-D717D26DE261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18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3" name="TextBox 44">
            <a:extLst>
              <a:ext uri="{FF2B5EF4-FFF2-40B4-BE49-F238E27FC236}">
                <a16:creationId xmlns:a16="http://schemas.microsoft.com/office/drawing/2014/main" id="{8DB102A9-14DF-4C5C-8922-7050AC3DCF38}"/>
              </a:ext>
            </a:extLst>
          </p:cNvPr>
          <p:cNvSpPr txBox="1"/>
          <p:nvPr/>
        </p:nvSpPr>
        <p:spPr>
          <a:xfrm>
            <a:off x="3098921" y="4654395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32 ÷ 18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0C9550D-70F7-4039-9093-14713EFA19B6}"/>
              </a:ext>
            </a:extLst>
          </p:cNvPr>
          <p:cNvGrpSpPr/>
          <p:nvPr/>
        </p:nvGrpSpPr>
        <p:grpSpPr>
          <a:xfrm>
            <a:off x="3355322" y="5410479"/>
            <a:ext cx="1980220" cy="468052"/>
            <a:chOff x="1471282" y="5049180"/>
            <a:chExt cx="1980220" cy="468052"/>
          </a:xfrm>
        </p:grpSpPr>
        <p:sp>
          <p:nvSpPr>
            <p:cNvPr id="80" name="Rounded Rectangle 46">
              <a:extLst>
                <a:ext uri="{FF2B5EF4-FFF2-40B4-BE49-F238E27FC236}">
                  <a16:creationId xmlns:a16="http://schemas.microsoft.com/office/drawing/2014/main" id="{71E216A2-9967-4EF1-A14D-BD50D12563F4}"/>
                </a:ext>
              </a:extLst>
            </p:cNvPr>
            <p:cNvSpPr/>
            <p:nvPr/>
          </p:nvSpPr>
          <p:spPr>
            <a:xfrm>
              <a:off x="1471282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TextBox 47">
              <a:extLst>
                <a:ext uri="{FF2B5EF4-FFF2-40B4-BE49-F238E27FC236}">
                  <a16:creationId xmlns:a16="http://schemas.microsoft.com/office/drawing/2014/main" id="{A39664F7-041E-4C8D-9C5B-6855BC438DA4}"/>
                </a:ext>
              </a:extLst>
            </p:cNvPr>
            <p:cNvSpPr txBox="1"/>
            <p:nvPr/>
          </p:nvSpPr>
          <p:spPr>
            <a:xfrm>
              <a:off x="1506513" y="5113929"/>
              <a:ext cx="19097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1.78¢ per sweet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7AD5995-C8BC-4F49-8120-550CF5BC4A36}"/>
              </a:ext>
            </a:extLst>
          </p:cNvPr>
          <p:cNvGrpSpPr/>
          <p:nvPr/>
        </p:nvGrpSpPr>
        <p:grpSpPr>
          <a:xfrm>
            <a:off x="3476963" y="6166563"/>
            <a:ext cx="5940660" cy="468052"/>
            <a:chOff x="503548" y="1520788"/>
            <a:chExt cx="5400600" cy="468052"/>
          </a:xfrm>
        </p:grpSpPr>
        <p:sp>
          <p:nvSpPr>
            <p:cNvPr id="78" name="Rounded Rectangle 67">
              <a:extLst>
                <a:ext uri="{FF2B5EF4-FFF2-40B4-BE49-F238E27FC236}">
                  <a16:creationId xmlns:a16="http://schemas.microsoft.com/office/drawing/2014/main" id="{A8956F9E-F714-425B-9AD3-F02CB40741DD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TextBox 68">
              <a:extLst>
                <a:ext uri="{FF2B5EF4-FFF2-40B4-BE49-F238E27FC236}">
                  <a16:creationId xmlns:a16="http://schemas.microsoft.com/office/drawing/2014/main" id="{49840129-1D5E-4859-82F7-8180FB4F6FAE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  is Best Value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6" name="TextBox 97">
            <a:extLst>
              <a:ext uri="{FF2B5EF4-FFF2-40B4-BE49-F238E27FC236}">
                <a16:creationId xmlns:a16="http://schemas.microsoft.com/office/drawing/2014/main" id="{63E6EBF4-DB44-49C4-B9DD-F6512A1D220A}"/>
              </a:ext>
            </a:extLst>
          </p:cNvPr>
          <p:cNvSpPr txBox="1"/>
          <p:nvPr/>
        </p:nvSpPr>
        <p:spPr>
          <a:xfrm>
            <a:off x="7136060" y="3394255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TextBox 98">
            <a:extLst>
              <a:ext uri="{FF2B5EF4-FFF2-40B4-BE49-F238E27FC236}">
                <a16:creationId xmlns:a16="http://schemas.microsoft.com/office/drawing/2014/main" id="{7EE817BB-02D9-4BA0-994D-14A999C6BC30}"/>
              </a:ext>
            </a:extLst>
          </p:cNvPr>
          <p:cNvSpPr txBox="1"/>
          <p:nvPr/>
        </p:nvSpPr>
        <p:spPr>
          <a:xfrm>
            <a:off x="8648228" y="3394255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60C7B37-1168-4512-8B02-14C761B43227}"/>
              </a:ext>
            </a:extLst>
          </p:cNvPr>
          <p:cNvGrpSpPr/>
          <p:nvPr/>
        </p:nvGrpSpPr>
        <p:grpSpPr>
          <a:xfrm>
            <a:off x="7160536" y="3826303"/>
            <a:ext cx="1309818" cy="468052"/>
            <a:chOff x="503548" y="1520788"/>
            <a:chExt cx="5400600" cy="468052"/>
          </a:xfrm>
        </p:grpSpPr>
        <p:sp>
          <p:nvSpPr>
            <p:cNvPr id="76" name="Rounded Rectangle 94">
              <a:extLst>
                <a:ext uri="{FF2B5EF4-FFF2-40B4-BE49-F238E27FC236}">
                  <a16:creationId xmlns:a16="http://schemas.microsoft.com/office/drawing/2014/main" id="{36C2AE8A-D525-44C1-9EEE-D15AB7CEDADE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TextBox 95">
              <a:extLst>
                <a:ext uri="{FF2B5EF4-FFF2-40B4-BE49-F238E27FC236}">
                  <a16:creationId xmlns:a16="http://schemas.microsoft.com/office/drawing/2014/main" id="{0055B08A-E823-4C71-B271-06DB66797227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48¢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70AEB4-FA14-4D33-942D-44D686DCB440}"/>
              </a:ext>
            </a:extLst>
          </p:cNvPr>
          <p:cNvGrpSpPr/>
          <p:nvPr/>
        </p:nvGrpSpPr>
        <p:grpSpPr>
          <a:xfrm>
            <a:off x="8636700" y="3826303"/>
            <a:ext cx="1309818" cy="468052"/>
            <a:chOff x="503548" y="1520788"/>
            <a:chExt cx="5400600" cy="468052"/>
          </a:xfrm>
        </p:grpSpPr>
        <p:sp>
          <p:nvSpPr>
            <p:cNvPr id="74" name="Rounded Rectangle 92">
              <a:extLst>
                <a:ext uri="{FF2B5EF4-FFF2-40B4-BE49-F238E27FC236}">
                  <a16:creationId xmlns:a16="http://schemas.microsoft.com/office/drawing/2014/main" id="{6C7A77A5-1842-405B-A239-A2E952A15FB8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TextBox 93">
              <a:extLst>
                <a:ext uri="{FF2B5EF4-FFF2-40B4-BE49-F238E27FC236}">
                  <a16:creationId xmlns:a16="http://schemas.microsoft.com/office/drawing/2014/main" id="{A79E7072-0406-4A85-95D4-5B530BDA0361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25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0" name="TextBox 78">
            <a:extLst>
              <a:ext uri="{FF2B5EF4-FFF2-40B4-BE49-F238E27FC236}">
                <a16:creationId xmlns:a16="http://schemas.microsoft.com/office/drawing/2014/main" id="{D4C0D73B-1B3F-4223-A5A6-3B790B05345F}"/>
              </a:ext>
            </a:extLst>
          </p:cNvPr>
          <p:cNvSpPr txBox="1"/>
          <p:nvPr/>
        </p:nvSpPr>
        <p:spPr>
          <a:xfrm>
            <a:off x="7311389" y="4654395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48 ÷ 25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9D827AD-BDAD-4794-8302-4D35FABE37A6}"/>
              </a:ext>
            </a:extLst>
          </p:cNvPr>
          <p:cNvGrpSpPr/>
          <p:nvPr/>
        </p:nvGrpSpPr>
        <p:grpSpPr>
          <a:xfrm>
            <a:off x="7563417" y="5410479"/>
            <a:ext cx="1980220" cy="468052"/>
            <a:chOff x="5679377" y="5049180"/>
            <a:chExt cx="1980220" cy="468052"/>
          </a:xfrm>
        </p:grpSpPr>
        <p:sp>
          <p:nvSpPr>
            <p:cNvPr id="72" name="Rounded Rectangle 81">
              <a:extLst>
                <a:ext uri="{FF2B5EF4-FFF2-40B4-BE49-F238E27FC236}">
                  <a16:creationId xmlns:a16="http://schemas.microsoft.com/office/drawing/2014/main" id="{880C0B05-7D15-4198-9D90-698E02BAD4F4}"/>
                </a:ext>
              </a:extLst>
            </p:cNvPr>
            <p:cNvSpPr/>
            <p:nvPr/>
          </p:nvSpPr>
          <p:spPr>
            <a:xfrm>
              <a:off x="5679377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Box 82">
              <a:extLst>
                <a:ext uri="{FF2B5EF4-FFF2-40B4-BE49-F238E27FC236}">
                  <a16:creationId xmlns:a16="http://schemas.microsoft.com/office/drawing/2014/main" id="{C7F264C2-0FD2-4DBE-9D44-966EF6B0F59B}"/>
                </a:ext>
              </a:extLst>
            </p:cNvPr>
            <p:cNvSpPr txBox="1"/>
            <p:nvPr/>
          </p:nvSpPr>
          <p:spPr>
            <a:xfrm>
              <a:off x="5715381" y="5113929"/>
              <a:ext cx="19082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1.92¢ per sweet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6538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the unitary method to solve rate questions?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02754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6F527E-D466-4A77-8047-17BEAB290BF1}"/>
              </a:ext>
            </a:extLst>
          </p:cNvPr>
          <p:cNvGrpSpPr/>
          <p:nvPr/>
        </p:nvGrpSpPr>
        <p:grpSpPr>
          <a:xfrm>
            <a:off x="3463525" y="2924944"/>
            <a:ext cx="1971092" cy="468052"/>
            <a:chOff x="503548" y="1520788"/>
            <a:chExt cx="5400600" cy="468052"/>
          </a:xfrm>
        </p:grpSpPr>
        <p:sp>
          <p:nvSpPr>
            <p:cNvPr id="133" name="Rounded Rectangle 87">
              <a:extLst>
                <a:ext uri="{FF2B5EF4-FFF2-40B4-BE49-F238E27FC236}">
                  <a16:creationId xmlns:a16="http://schemas.microsoft.com/office/drawing/2014/main" id="{CAC11603-FE91-49CF-BE53-785025F61B5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4" name="TextBox 37">
              <a:extLst>
                <a:ext uri="{FF2B5EF4-FFF2-40B4-BE49-F238E27FC236}">
                  <a16:creationId xmlns:a16="http://schemas.microsoft.com/office/drawing/2014/main" id="{732FC531-5008-4AD9-AAF7-81125187FDA3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D264F78-FF2B-4C0C-9439-10918002F1B0}"/>
              </a:ext>
            </a:extLst>
          </p:cNvPr>
          <p:cNvGrpSpPr/>
          <p:nvPr/>
        </p:nvGrpSpPr>
        <p:grpSpPr>
          <a:xfrm>
            <a:off x="4979876" y="2348880"/>
            <a:ext cx="3240360" cy="468052"/>
            <a:chOff x="503548" y="1520788"/>
            <a:chExt cx="5400600" cy="468052"/>
          </a:xfrm>
        </p:grpSpPr>
        <p:sp>
          <p:nvSpPr>
            <p:cNvPr id="131" name="Rounded Rectangle 59">
              <a:extLst>
                <a:ext uri="{FF2B5EF4-FFF2-40B4-BE49-F238E27FC236}">
                  <a16:creationId xmlns:a16="http://schemas.microsoft.com/office/drawing/2014/main" id="{B938C479-8D82-44FB-B619-1BFABC625C06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2" name="TextBox 60">
              <a:extLst>
                <a:ext uri="{FF2B5EF4-FFF2-40B4-BE49-F238E27FC236}">
                  <a16:creationId xmlns:a16="http://schemas.microsoft.com/office/drawing/2014/main" id="{31D77F2D-E0E1-4CA0-93B7-5C36A839B72C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Price  ÷  Quantity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3D4218-02CF-4C3C-A86B-AF1658BFE31B}"/>
              </a:ext>
            </a:extLst>
          </p:cNvPr>
          <p:cNvGrpSpPr/>
          <p:nvPr/>
        </p:nvGrpSpPr>
        <p:grpSpPr>
          <a:xfrm>
            <a:off x="7675993" y="2924944"/>
            <a:ext cx="1971092" cy="468052"/>
            <a:chOff x="503548" y="1520788"/>
            <a:chExt cx="5400600" cy="468052"/>
          </a:xfrm>
        </p:grpSpPr>
        <p:sp>
          <p:nvSpPr>
            <p:cNvPr id="129" name="Rounded Rectangle 62">
              <a:extLst>
                <a:ext uri="{FF2B5EF4-FFF2-40B4-BE49-F238E27FC236}">
                  <a16:creationId xmlns:a16="http://schemas.microsoft.com/office/drawing/2014/main" id="{1CE68951-BC99-458A-9AEE-F4ABD8DA5EED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TextBox 63">
              <a:extLst>
                <a:ext uri="{FF2B5EF4-FFF2-40B4-BE49-F238E27FC236}">
                  <a16:creationId xmlns:a16="http://schemas.microsoft.com/office/drawing/2014/main" id="{4FD3FD48-BAB4-4F56-94B7-0CAB0DB3C765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Large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1" name="TextBox 96">
            <a:extLst>
              <a:ext uri="{FF2B5EF4-FFF2-40B4-BE49-F238E27FC236}">
                <a16:creationId xmlns:a16="http://schemas.microsoft.com/office/drawing/2014/main" id="{CD1BED33-AB35-4D6B-A185-E6F1764F43BD}"/>
              </a:ext>
            </a:extLst>
          </p:cNvPr>
          <p:cNvSpPr txBox="1"/>
          <p:nvPr/>
        </p:nvSpPr>
        <p:spPr>
          <a:xfrm>
            <a:off x="3031604" y="3392996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Box 29">
            <a:extLst>
              <a:ext uri="{FF2B5EF4-FFF2-40B4-BE49-F238E27FC236}">
                <a16:creationId xmlns:a16="http://schemas.microsoft.com/office/drawing/2014/main" id="{028C5848-22EF-404E-8CF9-E3EEFE886909}"/>
              </a:ext>
            </a:extLst>
          </p:cNvPr>
          <p:cNvSpPr txBox="1"/>
          <p:nvPr/>
        </p:nvSpPr>
        <p:spPr>
          <a:xfrm>
            <a:off x="4543772" y="3392996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5793B2-CBCA-4622-A853-1748933EB58B}"/>
              </a:ext>
            </a:extLst>
          </p:cNvPr>
          <p:cNvGrpSpPr/>
          <p:nvPr/>
        </p:nvGrpSpPr>
        <p:grpSpPr>
          <a:xfrm>
            <a:off x="3056080" y="3825044"/>
            <a:ext cx="1309818" cy="468052"/>
            <a:chOff x="503548" y="1520788"/>
            <a:chExt cx="5400600" cy="468052"/>
          </a:xfrm>
        </p:grpSpPr>
        <p:sp>
          <p:nvSpPr>
            <p:cNvPr id="127" name="Rounded Rectangle 31">
              <a:extLst>
                <a:ext uri="{FF2B5EF4-FFF2-40B4-BE49-F238E27FC236}">
                  <a16:creationId xmlns:a16="http://schemas.microsoft.com/office/drawing/2014/main" id="{73487F1D-3637-4964-98B1-D93AB8B1E9A3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TextBox 32">
              <a:extLst>
                <a:ext uri="{FF2B5EF4-FFF2-40B4-BE49-F238E27FC236}">
                  <a16:creationId xmlns:a16="http://schemas.microsoft.com/office/drawing/2014/main" id="{9DC3C255-74DC-4FC0-A819-5A00B7E47FC2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76¢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9AE04FD-EF25-4FB2-8165-96751DE7518D}"/>
              </a:ext>
            </a:extLst>
          </p:cNvPr>
          <p:cNvGrpSpPr/>
          <p:nvPr/>
        </p:nvGrpSpPr>
        <p:grpSpPr>
          <a:xfrm>
            <a:off x="4532244" y="3825044"/>
            <a:ext cx="1309818" cy="468052"/>
            <a:chOff x="503548" y="1520788"/>
            <a:chExt cx="5400600" cy="468052"/>
          </a:xfrm>
        </p:grpSpPr>
        <p:sp>
          <p:nvSpPr>
            <p:cNvPr id="125" name="Rounded Rectangle 34">
              <a:extLst>
                <a:ext uri="{FF2B5EF4-FFF2-40B4-BE49-F238E27FC236}">
                  <a16:creationId xmlns:a16="http://schemas.microsoft.com/office/drawing/2014/main" id="{80DEB45B-F784-4362-9BA6-7247CFEC847A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Box 36">
              <a:extLst>
                <a:ext uri="{FF2B5EF4-FFF2-40B4-BE49-F238E27FC236}">
                  <a16:creationId xmlns:a16="http://schemas.microsoft.com/office/drawing/2014/main" id="{1FCBF5FF-2056-4D9A-A41C-C6A2F2E8F99C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850 ml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1EA6CE9-ABB3-4671-941E-6CCD8AE8C51F}"/>
              </a:ext>
            </a:extLst>
          </p:cNvPr>
          <p:cNvGrpSpPr/>
          <p:nvPr/>
        </p:nvGrpSpPr>
        <p:grpSpPr>
          <a:xfrm>
            <a:off x="3056080" y="4689140"/>
            <a:ext cx="1309818" cy="468052"/>
            <a:chOff x="503548" y="1520788"/>
            <a:chExt cx="5400600" cy="468052"/>
          </a:xfrm>
        </p:grpSpPr>
        <p:sp>
          <p:nvSpPr>
            <p:cNvPr id="123" name="Rounded Rectangle 39">
              <a:extLst>
                <a:ext uri="{FF2B5EF4-FFF2-40B4-BE49-F238E27FC236}">
                  <a16:creationId xmlns:a16="http://schemas.microsoft.com/office/drawing/2014/main" id="{0AAB111E-9D62-4B4D-88D0-9A98EFA148E6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TextBox 40">
              <a:extLst>
                <a:ext uri="{FF2B5EF4-FFF2-40B4-BE49-F238E27FC236}">
                  <a16:creationId xmlns:a16="http://schemas.microsoft.com/office/drawing/2014/main" id="{273E9D8B-C450-4924-B17B-DD479AD3F4E2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76¢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FB28863-B31C-44C7-B996-AEB39F5A82D3}"/>
              </a:ext>
            </a:extLst>
          </p:cNvPr>
          <p:cNvGrpSpPr/>
          <p:nvPr/>
        </p:nvGrpSpPr>
        <p:grpSpPr>
          <a:xfrm>
            <a:off x="4532244" y="4689140"/>
            <a:ext cx="1309818" cy="468052"/>
            <a:chOff x="503548" y="1520788"/>
            <a:chExt cx="5400600" cy="468052"/>
          </a:xfrm>
        </p:grpSpPr>
        <p:sp>
          <p:nvSpPr>
            <p:cNvPr id="121" name="Rounded Rectangle 42">
              <a:extLst>
                <a:ext uri="{FF2B5EF4-FFF2-40B4-BE49-F238E27FC236}">
                  <a16:creationId xmlns:a16="http://schemas.microsoft.com/office/drawing/2014/main" id="{66699CB2-0718-41D8-9E49-B840191F89D0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" name="TextBox 43">
              <a:extLst>
                <a:ext uri="{FF2B5EF4-FFF2-40B4-BE49-F238E27FC236}">
                  <a16:creationId xmlns:a16="http://schemas.microsoft.com/office/drawing/2014/main" id="{0BE671DD-1BC4-489B-B3FD-F175CE36D2A1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850 ml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5" name="TextBox 44">
            <a:extLst>
              <a:ext uri="{FF2B5EF4-FFF2-40B4-BE49-F238E27FC236}">
                <a16:creationId xmlns:a16="http://schemas.microsoft.com/office/drawing/2014/main" id="{83773AE0-2FD5-4C98-B6ED-CBC4225113C6}"/>
              </a:ext>
            </a:extLst>
          </p:cNvPr>
          <p:cNvSpPr txBox="1"/>
          <p:nvPr/>
        </p:nvSpPr>
        <p:spPr>
          <a:xfrm>
            <a:off x="3206933" y="5193196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76 ÷ 850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E1C72D0-C14B-425A-848A-71E7CEB2F05A}"/>
              </a:ext>
            </a:extLst>
          </p:cNvPr>
          <p:cNvGrpSpPr/>
          <p:nvPr/>
        </p:nvGrpSpPr>
        <p:grpSpPr>
          <a:xfrm>
            <a:off x="3458961" y="5589240"/>
            <a:ext cx="1980220" cy="468052"/>
            <a:chOff x="1466909" y="5049180"/>
            <a:chExt cx="1980220" cy="468052"/>
          </a:xfrm>
        </p:grpSpPr>
        <p:sp>
          <p:nvSpPr>
            <p:cNvPr id="119" name="Rounded Rectangle 46">
              <a:extLst>
                <a:ext uri="{FF2B5EF4-FFF2-40B4-BE49-F238E27FC236}">
                  <a16:creationId xmlns:a16="http://schemas.microsoft.com/office/drawing/2014/main" id="{E16206AE-1405-4ECC-A877-49448448E6B1}"/>
                </a:ext>
              </a:extLst>
            </p:cNvPr>
            <p:cNvSpPr/>
            <p:nvPr/>
          </p:nvSpPr>
          <p:spPr>
            <a:xfrm>
              <a:off x="1466909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TextBox 47">
              <a:extLst>
                <a:ext uri="{FF2B5EF4-FFF2-40B4-BE49-F238E27FC236}">
                  <a16:creationId xmlns:a16="http://schemas.microsoft.com/office/drawing/2014/main" id="{2574B81F-0054-4E35-AE8E-47995BEA90E9}"/>
                </a:ext>
              </a:extLst>
            </p:cNvPr>
            <p:cNvSpPr txBox="1"/>
            <p:nvPr/>
          </p:nvSpPr>
          <p:spPr>
            <a:xfrm>
              <a:off x="1546118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0.089¢ per ml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7" name="TextBox 48">
            <a:extLst>
              <a:ext uri="{FF2B5EF4-FFF2-40B4-BE49-F238E27FC236}">
                <a16:creationId xmlns:a16="http://schemas.microsoft.com/office/drawing/2014/main" id="{809649FB-4303-493F-8158-833DDF7D2076}"/>
              </a:ext>
            </a:extLst>
          </p:cNvPr>
          <p:cNvSpPr txBox="1"/>
          <p:nvPr/>
        </p:nvSpPr>
        <p:spPr>
          <a:xfrm>
            <a:off x="5241159" y="4293096"/>
            <a:ext cx="262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>
                <a:latin typeface="Arial" pitchFamily="34" charset="0"/>
                <a:cs typeface="Arial" pitchFamily="34" charset="0"/>
              </a:rPr>
              <a:t>Make Units the Same</a:t>
            </a:r>
            <a:endParaRPr lang="en-GB" sz="16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4EB43F1-93C2-4B83-A4DE-71718F0A7160}"/>
              </a:ext>
            </a:extLst>
          </p:cNvPr>
          <p:cNvGrpSpPr/>
          <p:nvPr/>
        </p:nvGrpSpPr>
        <p:grpSpPr>
          <a:xfrm>
            <a:off x="3584975" y="6165304"/>
            <a:ext cx="5940660" cy="468052"/>
            <a:chOff x="503548" y="1520788"/>
            <a:chExt cx="5400600" cy="468052"/>
          </a:xfrm>
        </p:grpSpPr>
        <p:sp>
          <p:nvSpPr>
            <p:cNvPr id="117" name="Rounded Rectangle 67">
              <a:extLst>
                <a:ext uri="{FF2B5EF4-FFF2-40B4-BE49-F238E27FC236}">
                  <a16:creationId xmlns:a16="http://schemas.microsoft.com/office/drawing/2014/main" id="{B6265A7D-C4FE-4783-9585-9BFFB2A7800E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TextBox 68">
              <a:extLst>
                <a:ext uri="{FF2B5EF4-FFF2-40B4-BE49-F238E27FC236}">
                  <a16:creationId xmlns:a16="http://schemas.microsoft.com/office/drawing/2014/main" id="{10C6DC42-814E-4284-8A1C-DCB51210BDB7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Small is Best Value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9" name="TextBox 97">
            <a:extLst>
              <a:ext uri="{FF2B5EF4-FFF2-40B4-BE49-F238E27FC236}">
                <a16:creationId xmlns:a16="http://schemas.microsoft.com/office/drawing/2014/main" id="{013029D6-6996-4110-9A47-7F654F0D0F42}"/>
              </a:ext>
            </a:extLst>
          </p:cNvPr>
          <p:cNvSpPr txBox="1"/>
          <p:nvPr/>
        </p:nvSpPr>
        <p:spPr>
          <a:xfrm>
            <a:off x="7244072" y="3392996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Price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TextBox 98">
            <a:extLst>
              <a:ext uri="{FF2B5EF4-FFF2-40B4-BE49-F238E27FC236}">
                <a16:creationId xmlns:a16="http://schemas.microsoft.com/office/drawing/2014/main" id="{D62A5577-6EC1-4A41-96A5-62B9791D8B46}"/>
              </a:ext>
            </a:extLst>
          </p:cNvPr>
          <p:cNvSpPr txBox="1"/>
          <p:nvPr/>
        </p:nvSpPr>
        <p:spPr>
          <a:xfrm>
            <a:off x="8756240" y="3392996"/>
            <a:ext cx="13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Quantity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11E14D7-2457-4CD5-9FCB-0CD3927F4112}"/>
              </a:ext>
            </a:extLst>
          </p:cNvPr>
          <p:cNvGrpSpPr/>
          <p:nvPr/>
        </p:nvGrpSpPr>
        <p:grpSpPr>
          <a:xfrm>
            <a:off x="7268548" y="3825044"/>
            <a:ext cx="1309818" cy="468052"/>
            <a:chOff x="503548" y="1520788"/>
            <a:chExt cx="5400600" cy="468052"/>
          </a:xfrm>
        </p:grpSpPr>
        <p:sp>
          <p:nvSpPr>
            <p:cNvPr id="115" name="Rounded Rectangle 94">
              <a:extLst>
                <a:ext uri="{FF2B5EF4-FFF2-40B4-BE49-F238E27FC236}">
                  <a16:creationId xmlns:a16="http://schemas.microsoft.com/office/drawing/2014/main" id="{4C6C4408-B136-4B01-814A-CB326350A7DC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TextBox 95">
              <a:extLst>
                <a:ext uri="{FF2B5EF4-FFF2-40B4-BE49-F238E27FC236}">
                  <a16:creationId xmlns:a16="http://schemas.microsoft.com/office/drawing/2014/main" id="{5FAF2774-EA42-479E-BE3C-A3A8A8AE76FE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$1.48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D2BDC75-28BF-4206-B112-C7046B748528}"/>
              </a:ext>
            </a:extLst>
          </p:cNvPr>
          <p:cNvGrpSpPr/>
          <p:nvPr/>
        </p:nvGrpSpPr>
        <p:grpSpPr>
          <a:xfrm>
            <a:off x="8744712" y="3825044"/>
            <a:ext cx="1309818" cy="468052"/>
            <a:chOff x="503548" y="1520788"/>
            <a:chExt cx="5400600" cy="468052"/>
          </a:xfrm>
        </p:grpSpPr>
        <p:sp>
          <p:nvSpPr>
            <p:cNvPr id="113" name="Rounded Rectangle 92">
              <a:extLst>
                <a:ext uri="{FF2B5EF4-FFF2-40B4-BE49-F238E27FC236}">
                  <a16:creationId xmlns:a16="http://schemas.microsoft.com/office/drawing/2014/main" id="{E9D31500-57ED-47B5-8FF9-90DA61A6582D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TextBox 93">
              <a:extLst>
                <a:ext uri="{FF2B5EF4-FFF2-40B4-BE49-F238E27FC236}">
                  <a16:creationId xmlns:a16="http://schemas.microsoft.com/office/drawing/2014/main" id="{B52AF4D1-5642-4684-88C3-46A0A80493ED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1.6 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20C2B7-0E58-4EFA-8921-0650CC924322}"/>
              </a:ext>
            </a:extLst>
          </p:cNvPr>
          <p:cNvGrpSpPr/>
          <p:nvPr/>
        </p:nvGrpSpPr>
        <p:grpSpPr>
          <a:xfrm>
            <a:off x="7268548" y="4689140"/>
            <a:ext cx="1309818" cy="468052"/>
            <a:chOff x="503548" y="1520788"/>
            <a:chExt cx="5400600" cy="468052"/>
          </a:xfrm>
        </p:grpSpPr>
        <p:sp>
          <p:nvSpPr>
            <p:cNvPr id="111" name="Rounded Rectangle 88">
              <a:extLst>
                <a:ext uri="{FF2B5EF4-FFF2-40B4-BE49-F238E27FC236}">
                  <a16:creationId xmlns:a16="http://schemas.microsoft.com/office/drawing/2014/main" id="{9965BA5A-47B6-4ECF-B63F-D1E5C9D9E221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TextBox 89">
              <a:extLst>
                <a:ext uri="{FF2B5EF4-FFF2-40B4-BE49-F238E27FC236}">
                  <a16:creationId xmlns:a16="http://schemas.microsoft.com/office/drawing/2014/main" id="{9CAB99B3-90BC-462C-BA77-8B0245C26CDD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148¢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75CC457-D695-4FCF-9D00-8C7DB2BAC04C}"/>
              </a:ext>
            </a:extLst>
          </p:cNvPr>
          <p:cNvGrpSpPr/>
          <p:nvPr/>
        </p:nvGrpSpPr>
        <p:grpSpPr>
          <a:xfrm>
            <a:off x="8744712" y="4689140"/>
            <a:ext cx="1309818" cy="468052"/>
            <a:chOff x="503548" y="1520788"/>
            <a:chExt cx="5400600" cy="468052"/>
          </a:xfrm>
        </p:grpSpPr>
        <p:sp>
          <p:nvSpPr>
            <p:cNvPr id="109" name="Rounded Rectangle 85">
              <a:extLst>
                <a:ext uri="{FF2B5EF4-FFF2-40B4-BE49-F238E27FC236}">
                  <a16:creationId xmlns:a16="http://schemas.microsoft.com/office/drawing/2014/main" id="{E5CCBBED-9F66-43DE-8B17-E9984355D275}"/>
                </a:ext>
              </a:extLst>
            </p:cNvPr>
            <p:cNvSpPr/>
            <p:nvPr/>
          </p:nvSpPr>
          <p:spPr>
            <a:xfrm>
              <a:off x="503548" y="1520788"/>
              <a:ext cx="540060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TextBox 86">
              <a:extLst>
                <a:ext uri="{FF2B5EF4-FFF2-40B4-BE49-F238E27FC236}">
                  <a16:creationId xmlns:a16="http://schemas.microsoft.com/office/drawing/2014/main" id="{1F2456C8-536F-4CDB-A9FD-FED791D637FB}"/>
                </a:ext>
              </a:extLst>
            </p:cNvPr>
            <p:cNvSpPr txBox="1"/>
            <p:nvPr/>
          </p:nvSpPr>
          <p:spPr>
            <a:xfrm>
              <a:off x="719573" y="1570148"/>
              <a:ext cx="4968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b="1" dirty="0">
                  <a:latin typeface="Arial" pitchFamily="34" charset="0"/>
                  <a:cs typeface="Arial" pitchFamily="34" charset="0"/>
                </a:rPr>
                <a:t>1600 ml</a:t>
              </a:r>
              <a:endParaRPr lang="en-GB" sz="24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5" name="TextBox 78">
            <a:extLst>
              <a:ext uri="{FF2B5EF4-FFF2-40B4-BE49-F238E27FC236}">
                <a16:creationId xmlns:a16="http://schemas.microsoft.com/office/drawing/2014/main" id="{F8EC28D4-ADEF-45DB-827E-7786E771F34F}"/>
              </a:ext>
            </a:extLst>
          </p:cNvPr>
          <p:cNvSpPr txBox="1"/>
          <p:nvPr/>
        </p:nvSpPr>
        <p:spPr>
          <a:xfrm>
            <a:off x="7419401" y="5193196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latin typeface="Arial" pitchFamily="34" charset="0"/>
                <a:cs typeface="Arial" pitchFamily="34" charset="0"/>
              </a:rPr>
              <a:t>148 ÷ 1600</a:t>
            </a:r>
            <a:endParaRPr lang="en-GB" sz="2400" b="1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1467B1A-82F8-421A-8EB3-366B77B5575D}"/>
              </a:ext>
            </a:extLst>
          </p:cNvPr>
          <p:cNvGrpSpPr/>
          <p:nvPr/>
        </p:nvGrpSpPr>
        <p:grpSpPr>
          <a:xfrm>
            <a:off x="7671429" y="5589240"/>
            <a:ext cx="1980220" cy="468052"/>
            <a:chOff x="5679377" y="5049180"/>
            <a:chExt cx="1980220" cy="468052"/>
          </a:xfrm>
        </p:grpSpPr>
        <p:sp>
          <p:nvSpPr>
            <p:cNvPr id="107" name="Rounded Rectangle 81">
              <a:extLst>
                <a:ext uri="{FF2B5EF4-FFF2-40B4-BE49-F238E27FC236}">
                  <a16:creationId xmlns:a16="http://schemas.microsoft.com/office/drawing/2014/main" id="{0871FBA4-EF0B-4F8A-B3FF-FA05DAD292EA}"/>
                </a:ext>
              </a:extLst>
            </p:cNvPr>
            <p:cNvSpPr/>
            <p:nvPr/>
          </p:nvSpPr>
          <p:spPr>
            <a:xfrm>
              <a:off x="5679377" y="5049180"/>
              <a:ext cx="1980220" cy="468052"/>
            </a:xfrm>
            <a:prstGeom prst="roundRect">
              <a:avLst>
                <a:gd name="adj" fmla="val 43975"/>
              </a:avLst>
            </a:prstGeom>
            <a:gradFill flip="none" rotWithShape="1">
              <a:gsLst>
                <a:gs pos="0">
                  <a:srgbClr val="66FF66">
                    <a:tint val="66000"/>
                    <a:satMod val="160000"/>
                  </a:srgbClr>
                </a:gs>
                <a:gs pos="50000">
                  <a:srgbClr val="66FF66">
                    <a:tint val="44500"/>
                    <a:satMod val="160000"/>
                  </a:srgbClr>
                </a:gs>
                <a:gs pos="100000">
                  <a:srgbClr val="66FF66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TextBox 82">
              <a:extLst>
                <a:ext uri="{FF2B5EF4-FFF2-40B4-BE49-F238E27FC236}">
                  <a16:creationId xmlns:a16="http://schemas.microsoft.com/office/drawing/2014/main" id="{E03D7CAC-D50B-4CE9-87B0-A6EAC35FDDEC}"/>
                </a:ext>
              </a:extLst>
            </p:cNvPr>
            <p:cNvSpPr txBox="1"/>
            <p:nvPr/>
          </p:nvSpPr>
          <p:spPr>
            <a:xfrm>
              <a:off x="5758586" y="5113929"/>
              <a:ext cx="18218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600" b="1" dirty="0">
                  <a:latin typeface="Arial" pitchFamily="34" charset="0"/>
                  <a:cs typeface="Arial" pitchFamily="34" charset="0"/>
                </a:rPr>
                <a:t>0.0925¢ per ml</a:t>
              </a:r>
              <a:endParaRPr lang="en-GB" sz="1600" b="1" baseline="300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5" name="TextBox 27">
            <a:extLst>
              <a:ext uri="{FF2B5EF4-FFF2-40B4-BE49-F238E27FC236}">
                <a16:creationId xmlns:a16="http://schemas.microsoft.com/office/drawing/2014/main" id="{3A3949FD-9DB1-4B3D-AF99-46398B0ACB18}"/>
              </a:ext>
            </a:extLst>
          </p:cNvPr>
          <p:cNvSpPr txBox="1"/>
          <p:nvPr/>
        </p:nvSpPr>
        <p:spPr>
          <a:xfrm>
            <a:off x="2242026" y="1356153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latin typeface="Arial" pitchFamily="34" charset="0"/>
                <a:cs typeface="Arial" pitchFamily="34" charset="0"/>
              </a:rPr>
              <a:t>Example 4:</a:t>
            </a:r>
          </a:p>
        </p:txBody>
      </p:sp>
      <p:sp>
        <p:nvSpPr>
          <p:cNvPr id="136" name="TextBox 28">
            <a:extLst>
              <a:ext uri="{FF2B5EF4-FFF2-40B4-BE49-F238E27FC236}">
                <a16:creationId xmlns:a16="http://schemas.microsoft.com/office/drawing/2014/main" id="{FF9BF820-D9A6-4DD2-A0D3-408CD477B36C}"/>
              </a:ext>
            </a:extLst>
          </p:cNvPr>
          <p:cNvSpPr txBox="1"/>
          <p:nvPr/>
        </p:nvSpPr>
        <p:spPr>
          <a:xfrm>
            <a:off x="3538170" y="1356153"/>
            <a:ext cx="6732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Bubble bath is sold is two bottle sizes: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SMALL offers 850 ml for 76¢.  LARGE offers 1.6 litres for $1.48.</a:t>
            </a:r>
          </a:p>
          <a:p>
            <a:r>
              <a:rPr lang="en-GB" sz="1600" b="1" dirty="0">
                <a:latin typeface="Arial" pitchFamily="34" charset="0"/>
                <a:cs typeface="Arial" pitchFamily="34" charset="0"/>
              </a:rPr>
              <a:t>Which is best value for money?  Show your working.</a:t>
            </a:r>
          </a:p>
        </p:txBody>
      </p:sp>
    </p:spTree>
    <p:extLst>
      <p:ext uri="{BB962C8B-B14F-4D97-AF65-F5344CB8AC3E}">
        <p14:creationId xmlns:p14="http://schemas.microsoft.com/office/powerpoint/2010/main" val="849994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the unitary method to solve rate questions?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02754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B304E7-162F-4EFF-A2CA-01CF4E8B08FB}"/>
              </a:ext>
            </a:extLst>
          </p:cNvPr>
          <p:cNvSpPr txBox="1"/>
          <p:nvPr/>
        </p:nvSpPr>
        <p:spPr>
          <a:xfrm>
            <a:off x="2279576" y="2273074"/>
            <a:ext cx="80788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 _________________ to compare rates. This can be useful when comparing ________________. </a:t>
            </a:r>
          </a:p>
          <a:p>
            <a:endParaRPr lang="en-AU" sz="2400" dirty="0"/>
          </a:p>
          <a:p>
            <a:r>
              <a:rPr lang="en-AU" sz="2400" dirty="0"/>
              <a:t>To use the unitary method we first write ___________as the amount per __________ and then see which is __________.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2148B-9B09-4895-AE97-B716041112A0}"/>
              </a:ext>
            </a:extLst>
          </p:cNvPr>
          <p:cNvSpPr/>
          <p:nvPr/>
        </p:nvSpPr>
        <p:spPr>
          <a:xfrm>
            <a:off x="4182391" y="1298662"/>
            <a:ext cx="3172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Summary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C6A8EB-FB21-43A5-860F-048C9E55FCA7}"/>
              </a:ext>
            </a:extLst>
          </p:cNvPr>
          <p:cNvSpPr txBox="1"/>
          <p:nvPr/>
        </p:nvSpPr>
        <p:spPr>
          <a:xfrm>
            <a:off x="2279576" y="5445224"/>
            <a:ext cx="8078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Dwyer Ex. 4.5 page 54</a:t>
            </a:r>
          </a:p>
        </p:txBody>
      </p:sp>
    </p:spTree>
    <p:extLst>
      <p:ext uri="{BB962C8B-B14F-4D97-AF65-F5344CB8AC3E}">
        <p14:creationId xmlns:p14="http://schemas.microsoft.com/office/powerpoint/2010/main" val="331990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2762</TotalTime>
  <Words>467</Words>
  <Application>Microsoft Office PowerPoint</Application>
  <PresentationFormat>Widescreen</PresentationFormat>
  <Paragraphs>128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Kiwi School Handwriting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Hamilton Stott</cp:lastModifiedBy>
  <cp:revision>252</cp:revision>
  <dcterms:created xsi:type="dcterms:W3CDTF">2010-11-29T19:11:46Z</dcterms:created>
  <dcterms:modified xsi:type="dcterms:W3CDTF">2021-06-01T12:47:22Z</dcterms:modified>
</cp:coreProperties>
</file>
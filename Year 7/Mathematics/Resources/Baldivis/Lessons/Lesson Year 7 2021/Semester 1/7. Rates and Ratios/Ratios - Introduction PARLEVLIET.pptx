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64" r:id="rId4"/>
    <p:sldId id="308" r:id="rId5"/>
    <p:sldId id="261" r:id="rId6"/>
    <p:sldId id="327" r:id="rId7"/>
    <p:sldId id="315" r:id="rId8"/>
    <p:sldId id="328" r:id="rId9"/>
    <p:sldId id="318" r:id="rId10"/>
    <p:sldId id="329" r:id="rId11"/>
    <p:sldId id="330" r:id="rId12"/>
    <p:sldId id="331" r:id="rId13"/>
    <p:sldId id="291" r:id="rId14"/>
    <p:sldId id="29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2" autoAdjust="0"/>
    <p:restoredTop sz="70899" autoAdjust="0"/>
  </p:normalViewPr>
  <p:slideViewPr>
    <p:cSldViewPr snapToGrid="0">
      <p:cViewPr varScale="1">
        <p:scale>
          <a:sx n="70" d="100"/>
          <a:sy n="70" d="100"/>
        </p:scale>
        <p:origin x="627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CC9242-63F0-4B78-A48D-4B68FBD1F34B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4F062-FF18-43A8-8447-516786B9B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50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AU" dirty="0"/>
              <a:t>75%</a:t>
            </a:r>
          </a:p>
          <a:p>
            <a:pPr marL="228600" indent="-228600">
              <a:buAutoNum type="arabicParenR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4F062-FF18-43A8-8447-516786B9BC1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743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Whole Body Movement – Instruct students to move into groups in the class.</a:t>
            </a:r>
          </a:p>
          <a:p>
            <a:endParaRPr lang="en-AU" dirty="0"/>
          </a:p>
          <a:p>
            <a:r>
              <a:rPr lang="en-AU" dirty="0"/>
              <a:t>Invite suggestions for other categories to consider as ratios.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797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Worked Example on Ratios.</a:t>
            </a:r>
          </a:p>
          <a:p>
            <a:endParaRPr lang="en-AU" dirty="0"/>
          </a:p>
          <a:p>
            <a:r>
              <a:rPr lang="en-AU" dirty="0"/>
              <a:t>Emphasise that order of categories being compared is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1826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4F062-FF18-43A8-8447-516786B9BC1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058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a) 5:5</a:t>
            </a:r>
          </a:p>
          <a:p>
            <a:r>
              <a:rPr lang="en-AU" dirty="0"/>
              <a:t>b) 8:3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4F062-FF18-43A8-8447-516786B9BC1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458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7753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a) 5:5</a:t>
            </a:r>
          </a:p>
          <a:p>
            <a:r>
              <a:rPr lang="en-AU" dirty="0"/>
              <a:t>b) 8:3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4F062-FF18-43A8-8447-516786B9BC1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722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1302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4F062-FF18-43A8-8447-516786B9BC1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711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5/21/2021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5/21/2021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5/21/2021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5/21/2021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5/21/2021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C519-C024-4A2A-81B7-09C6D6C96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Ratios</a:t>
            </a:r>
            <a:br>
              <a:rPr lang="en-AU" dirty="0"/>
            </a:br>
            <a:r>
              <a:rPr lang="en-AU" dirty="0"/>
              <a:t>EQ: What is a Ratio and how is it used?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86BC2-EBAA-4160-A423-FC9ABA8198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7 Mathematics</a:t>
            </a:r>
          </a:p>
          <a:p>
            <a:r>
              <a:rPr lang="en-AU" dirty="0"/>
              <a:t>Mrs Parlevliet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0852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10447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66994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89719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7751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9962" y="105927"/>
            <a:ext cx="283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9B44559-DAAC-4449-B554-80EFF9BB31E3}"/>
              </a:ext>
            </a:extLst>
          </p:cNvPr>
          <p:cNvCxnSpPr>
            <a:cxnSpLocks/>
          </p:cNvCxnSpPr>
          <p:nvPr/>
        </p:nvCxnSpPr>
        <p:spPr>
          <a:xfrm>
            <a:off x="5531830" y="175080"/>
            <a:ext cx="47263" cy="6668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048E62-6E42-4417-8F31-A94276B551C3}"/>
              </a:ext>
            </a:extLst>
          </p:cNvPr>
          <p:cNvCxnSpPr>
            <a:cxnSpLocks/>
          </p:cNvCxnSpPr>
          <p:nvPr/>
        </p:nvCxnSpPr>
        <p:spPr>
          <a:xfrm>
            <a:off x="5070182" y="175080"/>
            <a:ext cx="61358" cy="6668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4586C2-1A01-4B65-A742-F9AB4BF2FA63}"/>
              </a:ext>
            </a:extLst>
          </p:cNvPr>
          <p:cNvCxnSpPr>
            <a:cxnSpLocks/>
          </p:cNvCxnSpPr>
          <p:nvPr/>
        </p:nvCxnSpPr>
        <p:spPr>
          <a:xfrm>
            <a:off x="8340292" y="325976"/>
            <a:ext cx="0" cy="6518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A2E1CAE-AF7E-4AE7-A191-58CEBB506267}"/>
              </a:ext>
            </a:extLst>
          </p:cNvPr>
          <p:cNvSpPr txBox="1"/>
          <p:nvPr/>
        </p:nvSpPr>
        <p:spPr>
          <a:xfrm>
            <a:off x="4622628" y="268275"/>
            <a:ext cx="447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D1897B-14A7-4712-92E2-6D58749E4DC3}"/>
              </a:ext>
            </a:extLst>
          </p:cNvPr>
          <p:cNvSpPr txBox="1"/>
          <p:nvPr/>
        </p:nvSpPr>
        <p:spPr>
          <a:xfrm>
            <a:off x="5131540" y="304054"/>
            <a:ext cx="447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FBF59D-6613-4F12-96F0-5289F784FF70}"/>
              </a:ext>
            </a:extLst>
          </p:cNvPr>
          <p:cNvSpPr txBox="1"/>
          <p:nvPr/>
        </p:nvSpPr>
        <p:spPr>
          <a:xfrm>
            <a:off x="5543960" y="297124"/>
            <a:ext cx="447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30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E5778B-AE0B-4607-AE18-C1018612D990}"/>
              </a:ext>
            </a:extLst>
          </p:cNvPr>
          <p:cNvSpPr txBox="1"/>
          <p:nvPr/>
        </p:nvSpPr>
        <p:spPr>
          <a:xfrm>
            <a:off x="6157473" y="315342"/>
            <a:ext cx="1689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Word or Formula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FF52CF-FA3B-4FAD-98AD-3D47F764E6EB}"/>
              </a:ext>
            </a:extLst>
          </p:cNvPr>
          <p:cNvSpPr txBox="1"/>
          <p:nvPr/>
        </p:nvSpPr>
        <p:spPr>
          <a:xfrm>
            <a:off x="9109021" y="344357"/>
            <a:ext cx="2939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Definition or Example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985A44F-7374-4658-9B4C-C7B159C1535E}"/>
              </a:ext>
            </a:extLst>
          </p:cNvPr>
          <p:cNvCxnSpPr>
            <a:cxnSpLocks/>
          </p:cNvCxnSpPr>
          <p:nvPr/>
        </p:nvCxnSpPr>
        <p:spPr>
          <a:xfrm>
            <a:off x="4607289" y="175079"/>
            <a:ext cx="61358" cy="6668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49" y="1196753"/>
            <a:ext cx="1180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4F983DC-67D8-4A80-8D82-4F943691C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is the 27 out of 36 as a percentage?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Convert 83% to a decimal and fraction.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Barry travelled 120km in 2 hours. What is his average speed in kilometres per hour?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class of 28 students were surveyed. 21 students said they had a mobile phone. What percentage of students have a mobile phone?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55" t="-3636" r="-2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388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567577" y="141734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XX/05/2021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0806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Ratios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50019" y="809731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a ratio and how is it used?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FADB2D-8B66-4399-BC0B-D3FE93DE94B3}"/>
              </a:ext>
            </a:extLst>
          </p:cNvPr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6998E2-AAB0-477F-93F6-BD6EE17C3A46}"/>
              </a:ext>
            </a:extLst>
          </p:cNvPr>
          <p:cNvSpPr txBox="1"/>
          <p:nvPr/>
        </p:nvSpPr>
        <p:spPr>
          <a:xfrm>
            <a:off x="74645" y="1448137"/>
            <a:ext cx="2243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a ratio?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B18735-58F2-499D-B27A-B68FD29D2ECE}"/>
              </a:ext>
            </a:extLst>
          </p:cNvPr>
          <p:cNvSpPr txBox="1"/>
          <p:nvPr/>
        </p:nvSpPr>
        <p:spPr>
          <a:xfrm>
            <a:off x="2587693" y="1405813"/>
            <a:ext cx="8249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Ratios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are used to compare quantities with the same units.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The ratio of 2 to 5 is written as </a:t>
            </a:r>
            <a:r>
              <a:rPr lang="en-AU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 : 5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37ECBE-22F3-4738-8098-975D32854FC2}"/>
              </a:ext>
            </a:extLst>
          </p:cNvPr>
          <p:cNvSpPr txBox="1"/>
          <p:nvPr/>
        </p:nvSpPr>
        <p:spPr>
          <a:xfrm>
            <a:off x="74645" y="2446151"/>
            <a:ext cx="2243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some examples of ratios?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3BC8D5-6900-48E4-B1D1-D4491C198215}"/>
              </a:ext>
            </a:extLst>
          </p:cNvPr>
          <p:cNvSpPr/>
          <p:nvPr/>
        </p:nvSpPr>
        <p:spPr>
          <a:xfrm>
            <a:off x="4648799" y="6338522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2751E0-3DFB-44AD-A147-98F9B1134A05}"/>
              </a:ext>
            </a:extLst>
          </p:cNvPr>
          <p:cNvSpPr txBox="1"/>
          <p:nvPr/>
        </p:nvSpPr>
        <p:spPr>
          <a:xfrm>
            <a:off x="2587693" y="2446150"/>
            <a:ext cx="82490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Ratio of boys to girls in this Year 7 class</a:t>
            </a:r>
            <a:b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Ratio of the number of staff members to the number of students in a class</a:t>
            </a:r>
            <a:b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Ratio of hours you are asleep to hours you are awake</a:t>
            </a:r>
            <a:b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89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XX/05/2021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0806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Ratios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50019" y="809731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a ratio and how is it used?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FADB2D-8B66-4399-BC0B-D3FE93DE94B3}"/>
              </a:ext>
            </a:extLst>
          </p:cNvPr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37ECBE-22F3-4738-8098-975D32854FC2}"/>
              </a:ext>
            </a:extLst>
          </p:cNvPr>
          <p:cNvSpPr txBox="1"/>
          <p:nvPr/>
        </p:nvSpPr>
        <p:spPr>
          <a:xfrm>
            <a:off x="74645" y="1268560"/>
            <a:ext cx="22431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is a ratio used?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3BC8D5-6900-48E4-B1D1-D4491C198215}"/>
              </a:ext>
            </a:extLst>
          </p:cNvPr>
          <p:cNvSpPr/>
          <p:nvPr/>
        </p:nvSpPr>
        <p:spPr>
          <a:xfrm>
            <a:off x="4648799" y="6338522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6AF802-EABF-44ED-A838-4C1E41861E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707" t="27772" r="28997" b="53893"/>
          <a:stretch/>
        </p:blipFill>
        <p:spPr>
          <a:xfrm>
            <a:off x="2666738" y="1315910"/>
            <a:ext cx="9220462" cy="214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4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8B5B693-C595-4524-A03C-B775B6BE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058DBE59-30AC-4415-AD17-ECC23FCDD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194" y="825917"/>
            <a:ext cx="9149805" cy="317955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11CBF94-6002-4EC8-9498-6AC47E680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275" y="4676775"/>
            <a:ext cx="10917644" cy="1546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4773068"/>
            <a:ext cx="7277100" cy="13543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pc="200" dirty="0">
                <a:solidFill>
                  <a:srgbClr val="FFFFFF"/>
                </a:solidFill>
              </a:rPr>
              <a:t>I Do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1A7DF2-B382-4775-B387-03B45F29E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499305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8A0B6062-D78D-4F0A-A994-0733B71DC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472" y="839082"/>
            <a:ext cx="4621528" cy="316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2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8B5B693-C595-4524-A03C-B775B6BE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1CBF94-6002-4EC8-9498-6AC47E680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275" y="4676775"/>
            <a:ext cx="10917644" cy="1546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4773068"/>
            <a:ext cx="7277100" cy="13543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pc="200" dirty="0">
                <a:solidFill>
                  <a:srgbClr val="FFFFFF"/>
                </a:solidFill>
              </a:rPr>
              <a:t>WE Do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1A7DF2-B382-4775-B387-03B45F29E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499305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E5C45CF-C32A-45BF-BC6A-CF58E5287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870" y="730567"/>
            <a:ext cx="10097909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94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37BCF9F-F899-4CE6-9221-F607156D2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80761" y="47706"/>
            <a:ext cx="4230477" cy="6762588"/>
          </a:xfrm>
        </p:spPr>
      </p:pic>
    </p:spTree>
    <p:extLst>
      <p:ext uri="{BB962C8B-B14F-4D97-AF65-F5344CB8AC3E}">
        <p14:creationId xmlns:p14="http://schemas.microsoft.com/office/powerpoint/2010/main" val="3788806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3D45596-EA0E-4DD4-956D-80389BE0D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You Do(LHS)</a:t>
            </a:r>
          </a:p>
        </p:txBody>
      </p:sp>
      <p:pic>
        <p:nvPicPr>
          <p:cNvPr id="5" name="Picture 4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7E08E359-6C76-40E9-838A-ACFBF28890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21" b="209"/>
          <a:stretch/>
        </p:blipFill>
        <p:spPr>
          <a:xfrm>
            <a:off x="634276" y="640080"/>
            <a:ext cx="10917644" cy="393192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E6A78A1-C775-42C8-9A7B-6998977BC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C9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28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XX/05/2021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0806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Ratios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50019" y="809731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a ratio and how is it used?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FADB2D-8B66-4399-BC0B-D3FE93DE94B3}"/>
              </a:ext>
            </a:extLst>
          </p:cNvPr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37ECBE-22F3-4738-8098-975D32854FC2}"/>
              </a:ext>
            </a:extLst>
          </p:cNvPr>
          <p:cNvSpPr txBox="1"/>
          <p:nvPr/>
        </p:nvSpPr>
        <p:spPr>
          <a:xfrm>
            <a:off x="74645" y="1268560"/>
            <a:ext cx="22431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are ratios linked to fractions and percentages?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3BC8D5-6900-48E4-B1D1-D4491C198215}"/>
              </a:ext>
            </a:extLst>
          </p:cNvPr>
          <p:cNvSpPr/>
          <p:nvPr/>
        </p:nvSpPr>
        <p:spPr>
          <a:xfrm>
            <a:off x="4648799" y="6338522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1502A-EE7B-4889-8572-C321CC0C0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131" y="1521594"/>
            <a:ext cx="9347602" cy="4967074"/>
          </a:xfrm>
          <a:prstGeom prst="rect">
            <a:avLst/>
          </a:prstGeom>
        </p:spPr>
      </p:pic>
      <p:pic>
        <p:nvPicPr>
          <p:cNvPr id="20" name="Picture 19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D7130D5B-4D97-41CB-B538-4AE259D50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130" y="4352844"/>
            <a:ext cx="9347601" cy="213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98914-A400-4B7C-9B79-C4BB63B1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(LHS)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4FAE14-B519-4754-A84C-AB51979DA2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7141" y="2596912"/>
            <a:ext cx="9173855" cy="3400900"/>
          </a:xfrm>
        </p:spPr>
      </p:pic>
    </p:spTree>
    <p:extLst>
      <p:ext uri="{BB962C8B-B14F-4D97-AF65-F5344CB8AC3E}">
        <p14:creationId xmlns:p14="http://schemas.microsoft.com/office/powerpoint/2010/main" val="89692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A10C41F2-1746-4431-9B52-B9F147A89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0" ty="-127000" sx="50000" sy="50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84928E-D694-4849-BBAD-D7C7DC405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4020" y="643461"/>
            <a:ext cx="7654513" cy="5571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9803" y="4735775"/>
            <a:ext cx="7006998" cy="1156360"/>
          </a:xfrm>
        </p:spPr>
        <p:txBody>
          <a:bodyPr anchor="t">
            <a:normAutofit/>
          </a:bodyPr>
          <a:lstStyle/>
          <a:p>
            <a:r>
              <a:rPr lang="en-AU">
                <a:solidFill>
                  <a:schemeClr val="tx1"/>
                </a:solidFill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9802" y="1045600"/>
            <a:ext cx="7006998" cy="3370634"/>
          </a:xfrm>
        </p:spPr>
        <p:txBody>
          <a:bodyPr anchor="b">
            <a:norm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Review your notes and write a summary answering the Essential Question. </a:t>
            </a:r>
          </a:p>
          <a:p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Update your Contents Page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237721-19CF-41B1-AA0A-E1E1A8282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24317" y="4576004"/>
            <a:ext cx="457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42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6">
            <a:extLst>
              <a:ext uri="{FF2B5EF4-FFF2-40B4-BE49-F238E27FC236}">
                <a16:creationId xmlns:a16="http://schemas.microsoft.com/office/drawing/2014/main" id="{A10C41F2-1746-4431-9B52-B9F147A89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0" ty="-127000" sx="50000" sy="50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984928E-D694-4849-BBAD-D7C7DC405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4020" y="643461"/>
            <a:ext cx="7654513" cy="5571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9803" y="4735775"/>
            <a:ext cx="7006998" cy="1156360"/>
          </a:xfrm>
        </p:spPr>
        <p:txBody>
          <a:bodyPr anchor="t">
            <a:normAutofit/>
          </a:bodyPr>
          <a:lstStyle/>
          <a:p>
            <a:r>
              <a:rPr lang="en-AU" dirty="0">
                <a:solidFill>
                  <a:schemeClr val="tx1"/>
                </a:solidFill>
              </a:rPr>
              <a:t>INB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9802" y="1045600"/>
            <a:ext cx="7006998" cy="3370634"/>
          </a:xfrm>
        </p:spPr>
        <p:txBody>
          <a:bodyPr anchor="b">
            <a:normAutofit fontScale="92500" lnSpcReduction="20000"/>
          </a:bodyPr>
          <a:lstStyle/>
          <a:p>
            <a:r>
              <a:rPr lang="en-AU" sz="1800" dirty="0">
                <a:latin typeface="Calibri" panose="020F0502020204030204" pitchFamily="34" charset="0"/>
                <a:cs typeface="Calibri" panose="020F0502020204030204" pitchFamily="34" charset="0"/>
              </a:rPr>
              <a:t>24, 7 ,30</a:t>
            </a:r>
          </a:p>
          <a:p>
            <a:r>
              <a:rPr lang="en-AU" sz="1800" dirty="0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  <a:p>
            <a:r>
              <a:rPr lang="en-AU" sz="1800" dirty="0">
                <a:latin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  <a:p>
            <a:r>
              <a:rPr lang="en-AU" sz="1800" dirty="0">
                <a:latin typeface="Calibri" panose="020F0502020204030204" pitchFamily="34" charset="0"/>
                <a:cs typeface="Calibri" panose="020F0502020204030204" pitchFamily="34" charset="0"/>
              </a:rPr>
              <a:t>Essential question</a:t>
            </a:r>
          </a:p>
          <a:p>
            <a:r>
              <a:rPr lang="en-AU" sz="1800" dirty="0">
                <a:latin typeface="Calibri" panose="020F0502020204030204" pitchFamily="34" charset="0"/>
                <a:cs typeface="Calibri" panose="020F0502020204030204" pitchFamily="34" charset="0"/>
              </a:rPr>
              <a:t>Notes complete </a:t>
            </a:r>
          </a:p>
          <a:p>
            <a:r>
              <a:rPr lang="en-AU" sz="1800" dirty="0">
                <a:latin typeface="Calibri" panose="020F0502020204030204" pitchFamily="34" charset="0"/>
                <a:cs typeface="Calibri" panose="020F0502020204030204" pitchFamily="34" charset="0"/>
              </a:rPr>
              <a:t>Notes complete with colour and diagrams</a:t>
            </a:r>
          </a:p>
          <a:p>
            <a:r>
              <a:rPr lang="en-AU" sz="1800" dirty="0">
                <a:latin typeface="Calibri" panose="020F0502020204030204" pitchFamily="34" charset="0"/>
                <a:cs typeface="Calibri" panose="020F0502020204030204" pitchFamily="34" charset="0"/>
              </a:rPr>
              <a:t>Questions completed</a:t>
            </a:r>
          </a:p>
          <a:p>
            <a:r>
              <a:rPr lang="en-AU" sz="1800" dirty="0">
                <a:latin typeface="Calibri" panose="020F0502020204030204" pitchFamily="34" charset="0"/>
                <a:cs typeface="Calibri" panose="020F0502020204030204" pitchFamily="34" charset="0"/>
              </a:rPr>
              <a:t>Contents page filled in</a:t>
            </a:r>
          </a:p>
          <a:p>
            <a:r>
              <a:rPr lang="en-AU" sz="1800" dirty="0">
                <a:latin typeface="Calibri" panose="020F0502020204030204" pitchFamily="34" charset="0"/>
                <a:cs typeface="Calibri" panose="020F0502020204030204" pitchFamily="34" charset="0"/>
              </a:rPr>
              <a:t>Formula page filled in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237721-19CF-41B1-AA0A-E1E1A8282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24317" y="4576004"/>
            <a:ext cx="457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921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402</Words>
  <Application>Microsoft Office PowerPoint</Application>
  <PresentationFormat>Widescreen</PresentationFormat>
  <Paragraphs>98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Tw Cen MT</vt:lpstr>
      <vt:lpstr>Tw Cen MT Condensed</vt:lpstr>
      <vt:lpstr>Wingdings 3</vt:lpstr>
      <vt:lpstr>Integral</vt:lpstr>
      <vt:lpstr>Topic: Ratios EQ: What is a Ratio and how is it used?</vt:lpstr>
      <vt:lpstr>PowerPoint Presentation</vt:lpstr>
      <vt:lpstr>PowerPoint Presentation</vt:lpstr>
      <vt:lpstr>Five Questions (LHS)</vt:lpstr>
      <vt:lpstr>PowerPoint Presentation</vt:lpstr>
      <vt:lpstr>PowerPoint Presentation</vt:lpstr>
      <vt:lpstr>I Do</vt:lpstr>
      <vt:lpstr>WE Do</vt:lpstr>
      <vt:lpstr>PowerPoint Presentation</vt:lpstr>
      <vt:lpstr>You Do(LHS)</vt:lpstr>
      <vt:lpstr>PowerPoint Presentation</vt:lpstr>
      <vt:lpstr>TASK (LHS)</vt:lpstr>
      <vt:lpstr>Homework</vt:lpstr>
      <vt:lpstr>INB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Ratios - Introduction</dc:title>
  <dc:creator>Magdeline.Parlevliet@education.wa.edu.au</dc:creator>
  <cp:lastModifiedBy>PARLEVLIET Magdeline [Baldivis Secondary College]</cp:lastModifiedBy>
  <cp:revision>39</cp:revision>
  <dcterms:created xsi:type="dcterms:W3CDTF">2019-02-18T14:34:55Z</dcterms:created>
  <dcterms:modified xsi:type="dcterms:W3CDTF">2021-05-21T00:39:38Z</dcterms:modified>
</cp:coreProperties>
</file>
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323" r:id="rId3"/>
    <p:sldId id="264" r:id="rId4"/>
    <p:sldId id="316" r:id="rId5"/>
    <p:sldId id="351" r:id="rId6"/>
    <p:sldId id="353" r:id="rId7"/>
    <p:sldId id="358" r:id="rId8"/>
    <p:sldId id="354" r:id="rId9"/>
    <p:sldId id="355" r:id="rId10"/>
    <p:sldId id="356" r:id="rId11"/>
    <p:sldId id="357" r:id="rId12"/>
    <p:sldId id="361" r:id="rId13"/>
    <p:sldId id="359" r:id="rId14"/>
    <p:sldId id="32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7416" autoAdjust="0"/>
  </p:normalViewPr>
  <p:slideViewPr>
    <p:cSldViewPr snapToGrid="0">
      <p:cViewPr varScale="1">
        <p:scale>
          <a:sx n="80" d="100"/>
          <a:sy n="80" d="100"/>
        </p:scale>
        <p:origin x="17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5557C8-4120-416E-B6CD-62106F505DA9}" type="datetimeFigureOut">
              <a:rPr lang="en-AU" smtClean="0"/>
              <a:t>21/03/2021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EC554D-9AE3-4087-846E-3A6CBAFBEC68}" type="slidenum">
              <a:rPr lang="en-AU" smtClean="0"/>
              <a:t>‹#›</a:t>
            </a:fld>
            <a:endParaRPr lang="en-AU"/>
          </a:p>
        </p:txBody>
      </p:sp>
    </p:spTree>
    <p:extLst>
      <p:ext uri="{BB962C8B-B14F-4D97-AF65-F5344CB8AC3E}">
        <p14:creationId xmlns:p14="http://schemas.microsoft.com/office/powerpoint/2010/main" val="2782685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28600" indent="-228600">
                  <a:buAutoNum type="arabicPeriod"/>
                </a:pPr>
                <a14:m>
                  <m:oMath xmlns:m="http://schemas.openxmlformats.org/officeDocument/2006/math">
                    <m:r>
                      <a:rPr lang="en-AU" b="0" i="1" smtClean="0">
                        <a:latin typeface="Cambria Math" panose="02040503050406030204" pitchFamily="18" charset="0"/>
                      </a:rPr>
                      <m:t>1</m:t>
                    </m:r>
                    <m:f>
                      <m:fPr>
                        <m:ctrlPr>
                          <a:rPr lang="en-AU" i="1" smtClean="0">
                            <a:latin typeface="Cambria Math" panose="02040503050406030204" pitchFamily="18" charset="0"/>
                          </a:rPr>
                        </m:ctrlPr>
                      </m:fPr>
                      <m:num>
                        <m:r>
                          <a:rPr lang="en-AU" b="0" i="1" smtClean="0">
                            <a:latin typeface="Cambria Math" panose="02040503050406030204" pitchFamily="18" charset="0"/>
                          </a:rPr>
                          <m:t>2</m:t>
                        </m:r>
                      </m:num>
                      <m:den>
                        <m:r>
                          <a:rPr lang="en-AU" b="0" i="1" smtClean="0">
                            <a:latin typeface="Cambria Math" panose="02040503050406030204" pitchFamily="18" charset="0"/>
                          </a:rPr>
                          <m:t>7</m:t>
                        </m:r>
                      </m:den>
                    </m:f>
                  </m:oMath>
                </a14:m>
                <a:endParaRPr lang="en-AU" dirty="0"/>
              </a:p>
              <a:p>
                <a:pPr marL="228600" indent="-228600">
                  <a:buAutoNum type="arabicPeriod"/>
                </a:pPr>
                <a:r>
                  <a:rPr lang="en-AU" dirty="0"/>
                  <a:t>-4</a:t>
                </a:r>
              </a:p>
              <a:p>
                <a:pPr marL="228600" indent="-228600">
                  <a:buAutoNum type="arabicPeriod"/>
                </a:pPr>
                <a:r>
                  <a:rPr lang="en-AU" dirty="0"/>
                  <a:t>11, 7, 5, 3, -8, -9</a:t>
                </a:r>
              </a:p>
              <a:p>
                <a:pPr marL="228600" indent="-228600">
                  <a:buAutoNum type="arabicPeriod"/>
                </a:pPr>
                <a:r>
                  <a:rPr lang="en-AU" dirty="0"/>
                  <a:t>20</a:t>
                </a:r>
              </a:p>
              <a:p>
                <a:pPr marL="228600" indent="-228600">
                  <a:buAutoNum type="arabicPeriod"/>
                </a:pPr>
                <a14:m>
                  <m:oMath xmlns:m="http://schemas.openxmlformats.org/officeDocument/2006/math">
                    <m:r>
                      <a:rPr lang="en-AU" b="0" i="1" smtClean="0">
                        <a:latin typeface="Cambria Math" panose="02040503050406030204" pitchFamily="18" charset="0"/>
                      </a:rPr>
                      <m:t>588</m:t>
                    </m:r>
                    <m:r>
                      <a:rPr lang="en-AU" b="0" i="1" smtClean="0">
                        <a:latin typeface="Cambria Math" panose="02040503050406030204" pitchFamily="18" charset="0"/>
                        <a:ea typeface="Cambria Math" panose="02040503050406030204" pitchFamily="18" charset="0"/>
                      </a:rPr>
                      <m:t>÷21=28</m:t>
                    </m:r>
                  </m:oMath>
                </a14:m>
                <a:endParaRPr lang="en-AU" dirty="0"/>
              </a:p>
            </p:txBody>
          </p:sp>
        </mc:Choice>
        <mc:Fallback xmlns="">
          <p:sp>
            <p:nvSpPr>
              <p:cNvPr id="3" name="Notes Placeholder 2"/>
              <p:cNvSpPr>
                <a:spLocks noGrp="1"/>
              </p:cNvSpPr>
              <p:nvPr>
                <p:ph type="body" idx="1"/>
              </p:nvPr>
            </p:nvSpPr>
            <p:spPr/>
            <p:txBody>
              <a:bodyPr/>
              <a:lstStyle/>
              <a:p>
                <a:pPr marL="228600" indent="-228600">
                  <a:buAutoNum type="arabicPeriod"/>
                </a:pPr>
                <a:r>
                  <a:rPr lang="en-AU" dirty="0"/>
                  <a:t>105.43</a:t>
                </a:r>
              </a:p>
              <a:p>
                <a:pPr marL="228600" indent="-228600">
                  <a:buAutoNum type="arabicPeriod"/>
                </a:pPr>
                <a:r>
                  <a:rPr lang="en-AU" dirty="0"/>
                  <a:t>e</a:t>
                </a:r>
              </a:p>
              <a:p>
                <a:pPr marL="228600" indent="-228600">
                  <a:buAutoNum type="arabicPeriod"/>
                </a:pPr>
                <a:r>
                  <a:rPr lang="en-AU" dirty="0"/>
                  <a:t>0.5</a:t>
                </a:r>
              </a:p>
              <a:p>
                <a:pPr marL="228600" indent="-228600">
                  <a:buAutoNum type="arabicPeriod"/>
                </a:pPr>
                <a:r>
                  <a:rPr lang="en-AU" b="0" i="0">
                    <a:latin typeface="Cambria Math" panose="02040503050406030204" pitchFamily="18" charset="0"/>
                  </a:rPr>
                  <a:t>1/5</a:t>
                </a:r>
                <a:endParaRPr lang="en-AU" dirty="0"/>
              </a:p>
              <a:p>
                <a:pPr marL="228600" indent="-228600">
                  <a:buAutoNum type="arabicPeriod"/>
                </a:pPr>
                <a:r>
                  <a:rPr lang="en-AU" dirty="0"/>
                  <a:t>Amelia took 250 seconds to finish the race.</a:t>
                </a:r>
              </a:p>
              <a:p>
                <a:pPr marL="228600" indent="-228600">
                  <a:buAutoNum type="arabicPeriod"/>
                </a:pPr>
                <a:endParaRPr lang="en-AU" dirty="0"/>
              </a:p>
            </p:txBody>
          </p:sp>
        </mc:Fallback>
      </mc:AlternateContent>
      <p:sp>
        <p:nvSpPr>
          <p:cNvPr id="4" name="Slide Number Placeholder 3"/>
          <p:cNvSpPr>
            <a:spLocks noGrp="1"/>
          </p:cNvSpPr>
          <p:nvPr>
            <p:ph type="sldNum" sz="quarter" idx="5"/>
          </p:nvPr>
        </p:nvSpPr>
        <p:spPr/>
        <p:txBody>
          <a:bodyPr/>
          <a:lstStyle/>
          <a:p>
            <a:fld id="{6D992F62-36E4-4495-8B54-FAECD2DEF7D2}" type="slidenum">
              <a:rPr lang="en-AU" smtClean="0"/>
              <a:t>4</a:t>
            </a:fld>
            <a:endParaRPr lang="en-AU"/>
          </a:p>
        </p:txBody>
      </p:sp>
    </p:spTree>
    <p:extLst>
      <p:ext uri="{BB962C8B-B14F-4D97-AF65-F5344CB8AC3E}">
        <p14:creationId xmlns:p14="http://schemas.microsoft.com/office/powerpoint/2010/main" val="2401726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5</a:t>
            </a:fld>
            <a:endParaRPr lang="en-AU"/>
          </a:p>
        </p:txBody>
      </p:sp>
    </p:spTree>
    <p:extLst>
      <p:ext uri="{BB962C8B-B14F-4D97-AF65-F5344CB8AC3E}">
        <p14:creationId xmlns:p14="http://schemas.microsoft.com/office/powerpoint/2010/main" val="4044423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8</a:t>
            </a:fld>
            <a:endParaRPr lang="en-AU"/>
          </a:p>
        </p:txBody>
      </p:sp>
    </p:spTree>
    <p:extLst>
      <p:ext uri="{BB962C8B-B14F-4D97-AF65-F5344CB8AC3E}">
        <p14:creationId xmlns:p14="http://schemas.microsoft.com/office/powerpoint/2010/main" val="2817518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9</a:t>
            </a:fld>
            <a:endParaRPr lang="en-AU"/>
          </a:p>
        </p:txBody>
      </p:sp>
    </p:spTree>
    <p:extLst>
      <p:ext uri="{BB962C8B-B14F-4D97-AF65-F5344CB8AC3E}">
        <p14:creationId xmlns:p14="http://schemas.microsoft.com/office/powerpoint/2010/main" val="670066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3/21/2021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3/21/2021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3/21/2021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3/21/2021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3/21/2021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3/21/2021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3/21/2021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3/21/2021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3/21/2021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3/21/2021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3/21/2021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3/21/2021</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creativecommons.org/licenses/by-nd/3.0/" TargetMode="External"/><Relationship Id="rId5" Type="http://schemas.openxmlformats.org/officeDocument/2006/relationships/image" Target="../media/image3.png"/><Relationship Id="rId4" Type="http://schemas.openxmlformats.org/officeDocument/2006/relationships/hyperlink" Target="http://theconversation.com/make-maths-mandatory-and-well-improve-our-international-education-rankings-11663"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hyperlink" Target="https://christiantietze.de/posts/2013/12/useful-daily-writing-practice/" TargetMode="External"/><Relationship Id="rId2" Type="http://schemas.openxmlformats.org/officeDocument/2006/relationships/image" Target="../media/image30.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D717D-C4C0-4C1B-B75F-92E83ED6C21E}"/>
              </a:ext>
            </a:extLst>
          </p:cNvPr>
          <p:cNvSpPr>
            <a:spLocks noGrp="1"/>
          </p:cNvSpPr>
          <p:nvPr>
            <p:ph type="ctrTitle"/>
          </p:nvPr>
        </p:nvSpPr>
        <p:spPr/>
        <p:txBody>
          <a:bodyPr>
            <a:normAutofit fontScale="90000"/>
          </a:bodyPr>
          <a:lstStyle/>
          <a:p>
            <a:r>
              <a:rPr lang="en-AU" dirty="0"/>
              <a:t>Topic: Multiplication</a:t>
            </a:r>
            <a:br>
              <a:rPr lang="en-AU" dirty="0"/>
            </a:br>
            <a:r>
              <a:rPr lang="en-AU" dirty="0"/>
              <a:t>EQ: What are Strategies I can Use to Multiply Whole Numbers?</a:t>
            </a:r>
          </a:p>
        </p:txBody>
      </p:sp>
      <p:sp>
        <p:nvSpPr>
          <p:cNvPr id="3" name="Subtitle 2">
            <a:extLst>
              <a:ext uri="{FF2B5EF4-FFF2-40B4-BE49-F238E27FC236}">
                <a16:creationId xmlns:a16="http://schemas.microsoft.com/office/drawing/2014/main" id="{C3E62E36-F17B-40E1-A4CC-8E18AFE78C82}"/>
              </a:ext>
            </a:extLst>
          </p:cNvPr>
          <p:cNvSpPr>
            <a:spLocks noGrp="1"/>
          </p:cNvSpPr>
          <p:nvPr>
            <p:ph type="subTitle" idx="1"/>
          </p:nvPr>
        </p:nvSpPr>
        <p:spPr/>
        <p:txBody>
          <a:bodyPr/>
          <a:lstStyle/>
          <a:p>
            <a:r>
              <a:rPr lang="en-AU" dirty="0"/>
              <a:t>Year 7 Mathematics</a:t>
            </a:r>
          </a:p>
          <a:p>
            <a:r>
              <a:rPr lang="en-AU" dirty="0"/>
              <a:t>Mrs Parlevliet</a:t>
            </a:r>
          </a:p>
        </p:txBody>
      </p:sp>
    </p:spTree>
    <p:extLst>
      <p:ext uri="{BB962C8B-B14F-4D97-AF65-F5344CB8AC3E}">
        <p14:creationId xmlns:p14="http://schemas.microsoft.com/office/powerpoint/2010/main" val="3616403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a:cxnSpLocks/>
          </p:cNvCxnSpPr>
          <p:nvPr/>
        </p:nvCxnSpPr>
        <p:spPr>
          <a:xfrm>
            <a:off x="6024081" y="0"/>
            <a:ext cx="14435" cy="68580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606829"/>
            <a:ext cx="6024082" cy="13859"/>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a:cxnSpLocks/>
          </p:cNvCxnSpPr>
          <p:nvPr/>
        </p:nvCxnSpPr>
        <p:spPr>
          <a:xfrm>
            <a:off x="766994" y="325976"/>
            <a:ext cx="0" cy="6518023"/>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1997463" y="-77978"/>
            <a:ext cx="932050" cy="338554"/>
          </a:xfrm>
          <a:prstGeom prst="rect">
            <a:avLst/>
          </a:prstGeom>
          <a:noFill/>
        </p:spPr>
        <p:txBody>
          <a:bodyPr wrap="none" rtlCol="0">
            <a:spAutoFit/>
          </a:bodyPr>
          <a:lstStyle/>
          <a:p>
            <a:r>
              <a:rPr lang="en-AU" sz="1600" dirty="0"/>
              <a:t>Contents</a:t>
            </a:r>
          </a:p>
        </p:txBody>
      </p:sp>
      <p:sp>
        <p:nvSpPr>
          <p:cNvPr id="23" name="TextBox 22"/>
          <p:cNvSpPr txBox="1"/>
          <p:nvPr/>
        </p:nvSpPr>
        <p:spPr>
          <a:xfrm>
            <a:off x="77040" y="275204"/>
            <a:ext cx="556563" cy="338554"/>
          </a:xfrm>
          <a:prstGeom prst="rect">
            <a:avLst/>
          </a:prstGeom>
          <a:noFill/>
        </p:spPr>
        <p:txBody>
          <a:bodyPr wrap="none" rtlCol="0">
            <a:spAutoFit/>
          </a:bodyPr>
          <a:lstStyle/>
          <a:p>
            <a:r>
              <a:rPr lang="en-AU" sz="1600" dirty="0"/>
              <a:t>Page</a:t>
            </a:r>
          </a:p>
        </p:txBody>
      </p:sp>
      <p:cxnSp>
        <p:nvCxnSpPr>
          <p:cNvPr id="16" name="Straight Connector 15"/>
          <p:cNvCxnSpPr>
            <a:cxnSpLocks/>
          </p:cNvCxnSpPr>
          <p:nvPr/>
        </p:nvCxnSpPr>
        <p:spPr>
          <a:xfrm>
            <a:off x="1897199" y="325976"/>
            <a:ext cx="0" cy="6518023"/>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906312" y="282134"/>
            <a:ext cx="576504" cy="338554"/>
          </a:xfrm>
          <a:prstGeom prst="rect">
            <a:avLst/>
          </a:prstGeom>
          <a:noFill/>
        </p:spPr>
        <p:txBody>
          <a:bodyPr wrap="none" rtlCol="0">
            <a:spAutoFit/>
          </a:bodyPr>
          <a:lstStyle/>
          <a:p>
            <a:r>
              <a:rPr lang="en-AU" sz="1600" dirty="0"/>
              <a:t>Date</a:t>
            </a:r>
          </a:p>
        </p:txBody>
      </p:sp>
      <p:sp>
        <p:nvSpPr>
          <p:cNvPr id="18" name="TextBox 17"/>
          <p:cNvSpPr txBox="1"/>
          <p:nvPr/>
        </p:nvSpPr>
        <p:spPr>
          <a:xfrm>
            <a:off x="2042330" y="306895"/>
            <a:ext cx="2430031" cy="338554"/>
          </a:xfrm>
          <a:prstGeom prst="rect">
            <a:avLst/>
          </a:prstGeom>
          <a:noFill/>
        </p:spPr>
        <p:txBody>
          <a:bodyPr wrap="square" rtlCol="0">
            <a:spAutoFit/>
          </a:bodyPr>
          <a:lstStyle/>
          <a:p>
            <a:r>
              <a:rPr lang="en-AU" sz="1600" dirty="0"/>
              <a:t>Essential Question</a:t>
            </a:r>
          </a:p>
        </p:txBody>
      </p:sp>
      <p:sp>
        <p:nvSpPr>
          <p:cNvPr id="21" name="TextBox 20"/>
          <p:cNvSpPr txBox="1"/>
          <p:nvPr/>
        </p:nvSpPr>
        <p:spPr>
          <a:xfrm>
            <a:off x="7361529" y="20651"/>
            <a:ext cx="3461746" cy="400110"/>
          </a:xfrm>
          <a:prstGeom prst="rect">
            <a:avLst/>
          </a:prstGeom>
          <a:noFill/>
        </p:spPr>
        <p:txBody>
          <a:bodyPr wrap="square" rtlCol="0">
            <a:spAutoFit/>
          </a:bodyPr>
          <a:lstStyle/>
          <a:p>
            <a:r>
              <a:rPr lang="en-AU" sz="2000" dirty="0"/>
              <a:t>Glossary or Formula Page</a:t>
            </a:r>
          </a:p>
        </p:txBody>
      </p:sp>
      <p:cxnSp>
        <p:nvCxnSpPr>
          <p:cNvPr id="14" name="Straight Connector 13"/>
          <p:cNvCxnSpPr/>
          <p:nvPr/>
        </p:nvCxnSpPr>
        <p:spPr>
          <a:xfrm>
            <a:off x="6024081" y="628749"/>
            <a:ext cx="6024082" cy="13859"/>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Straight Connector 11">
            <a:extLst>
              <a:ext uri="{FF2B5EF4-FFF2-40B4-BE49-F238E27FC236}">
                <a16:creationId xmlns:a16="http://schemas.microsoft.com/office/drawing/2014/main" id="{299E3AC1-1E77-4710-9BC0-DFB1F88244CA}"/>
              </a:ext>
            </a:extLst>
          </p:cNvPr>
          <p:cNvCxnSpPr>
            <a:cxnSpLocks/>
          </p:cNvCxnSpPr>
          <p:nvPr/>
        </p:nvCxnSpPr>
        <p:spPr>
          <a:xfrm>
            <a:off x="8116844" y="628749"/>
            <a:ext cx="0" cy="6229251"/>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024F7D26-2225-40DE-95E8-82C9E31AF559}"/>
              </a:ext>
            </a:extLst>
          </p:cNvPr>
          <p:cNvCxnSpPr>
            <a:cxnSpLocks/>
          </p:cNvCxnSpPr>
          <p:nvPr/>
        </p:nvCxnSpPr>
        <p:spPr>
          <a:xfrm>
            <a:off x="5143606" y="339977"/>
            <a:ext cx="0" cy="6518023"/>
          </a:xfrm>
          <a:prstGeom prst="line">
            <a:avLst/>
          </a:prstGeom>
        </p:spPr>
        <p:style>
          <a:lnRef idx="1">
            <a:schemeClr val="accent2"/>
          </a:lnRef>
          <a:fillRef idx="0">
            <a:schemeClr val="accent2"/>
          </a:fillRef>
          <a:effectRef idx="0">
            <a:schemeClr val="accent2"/>
          </a:effectRef>
          <a:fontRef idx="minor">
            <a:schemeClr val="tx1"/>
          </a:fontRef>
        </p:style>
      </p:cxnSp>
      <p:cxnSp>
        <p:nvCxnSpPr>
          <p:cNvPr id="19" name="Straight Connector 18">
            <a:extLst>
              <a:ext uri="{FF2B5EF4-FFF2-40B4-BE49-F238E27FC236}">
                <a16:creationId xmlns:a16="http://schemas.microsoft.com/office/drawing/2014/main" id="{16280076-6BD0-4CE8-8378-8CDB7ED81C35}"/>
              </a:ext>
            </a:extLst>
          </p:cNvPr>
          <p:cNvCxnSpPr>
            <a:cxnSpLocks/>
          </p:cNvCxnSpPr>
          <p:nvPr/>
        </p:nvCxnSpPr>
        <p:spPr>
          <a:xfrm>
            <a:off x="5629469" y="325976"/>
            <a:ext cx="0" cy="6518023"/>
          </a:xfrm>
          <a:prstGeom prst="line">
            <a:avLst/>
          </a:prstGeom>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A4D18CDD-8FC0-4BF8-A2BD-51188B343F59}"/>
              </a:ext>
            </a:extLst>
          </p:cNvPr>
          <p:cNvSpPr txBox="1"/>
          <p:nvPr/>
        </p:nvSpPr>
        <p:spPr>
          <a:xfrm>
            <a:off x="4643275" y="282134"/>
            <a:ext cx="423306" cy="307777"/>
          </a:xfrm>
          <a:prstGeom prst="rect">
            <a:avLst/>
          </a:prstGeom>
          <a:noFill/>
        </p:spPr>
        <p:txBody>
          <a:bodyPr wrap="square" rtlCol="0">
            <a:spAutoFit/>
          </a:bodyPr>
          <a:lstStyle/>
          <a:p>
            <a:r>
              <a:rPr lang="en-AU" sz="1400" dirty="0"/>
              <a:t>24</a:t>
            </a:r>
            <a:endParaRPr lang="en-GB" sz="1400" dirty="0"/>
          </a:p>
        </p:txBody>
      </p:sp>
      <p:sp>
        <p:nvSpPr>
          <p:cNvPr id="22" name="TextBox 21">
            <a:extLst>
              <a:ext uri="{FF2B5EF4-FFF2-40B4-BE49-F238E27FC236}">
                <a16:creationId xmlns:a16="http://schemas.microsoft.com/office/drawing/2014/main" id="{45E4DBC0-DF48-437A-8D31-681D0EB65B05}"/>
              </a:ext>
            </a:extLst>
          </p:cNvPr>
          <p:cNvSpPr txBox="1"/>
          <p:nvPr/>
        </p:nvSpPr>
        <p:spPr>
          <a:xfrm>
            <a:off x="5158041" y="290991"/>
            <a:ext cx="423306" cy="307777"/>
          </a:xfrm>
          <a:prstGeom prst="rect">
            <a:avLst/>
          </a:prstGeom>
          <a:noFill/>
        </p:spPr>
        <p:txBody>
          <a:bodyPr wrap="square" rtlCol="0">
            <a:spAutoFit/>
          </a:bodyPr>
          <a:lstStyle/>
          <a:p>
            <a:pPr algn="ctr"/>
            <a:r>
              <a:rPr lang="en-AU" sz="1400" dirty="0"/>
              <a:t>7</a:t>
            </a:r>
            <a:endParaRPr lang="en-GB" sz="1400" dirty="0"/>
          </a:p>
        </p:txBody>
      </p:sp>
      <p:sp>
        <p:nvSpPr>
          <p:cNvPr id="24" name="TextBox 23">
            <a:extLst>
              <a:ext uri="{FF2B5EF4-FFF2-40B4-BE49-F238E27FC236}">
                <a16:creationId xmlns:a16="http://schemas.microsoft.com/office/drawing/2014/main" id="{7837B4A3-3DD6-4CE8-92D3-38B8736F8134}"/>
              </a:ext>
            </a:extLst>
          </p:cNvPr>
          <p:cNvSpPr txBox="1"/>
          <p:nvPr/>
        </p:nvSpPr>
        <p:spPr>
          <a:xfrm>
            <a:off x="5667472" y="297522"/>
            <a:ext cx="423306" cy="307777"/>
          </a:xfrm>
          <a:prstGeom prst="rect">
            <a:avLst/>
          </a:prstGeom>
          <a:noFill/>
        </p:spPr>
        <p:txBody>
          <a:bodyPr wrap="square" rtlCol="0">
            <a:spAutoFit/>
          </a:bodyPr>
          <a:lstStyle/>
          <a:p>
            <a:r>
              <a:rPr lang="en-AU" sz="1400" dirty="0"/>
              <a:t>30</a:t>
            </a:r>
            <a:endParaRPr lang="en-GB" sz="1400" dirty="0"/>
          </a:p>
        </p:txBody>
      </p:sp>
      <p:cxnSp>
        <p:nvCxnSpPr>
          <p:cNvPr id="25" name="Straight Connector 24">
            <a:extLst>
              <a:ext uri="{FF2B5EF4-FFF2-40B4-BE49-F238E27FC236}">
                <a16:creationId xmlns:a16="http://schemas.microsoft.com/office/drawing/2014/main" id="{069E8EEF-EB99-4808-BA30-3C2CE48BA253}"/>
              </a:ext>
            </a:extLst>
          </p:cNvPr>
          <p:cNvCxnSpPr>
            <a:cxnSpLocks/>
          </p:cNvCxnSpPr>
          <p:nvPr/>
        </p:nvCxnSpPr>
        <p:spPr>
          <a:xfrm>
            <a:off x="4654164" y="355478"/>
            <a:ext cx="0" cy="6518023"/>
          </a:xfrm>
          <a:prstGeom prst="line">
            <a:avLst/>
          </a:prstGeom>
        </p:spPr>
        <p:style>
          <a:lnRef idx="1">
            <a:schemeClr val="accent2"/>
          </a:lnRef>
          <a:fillRef idx="0">
            <a:schemeClr val="accent2"/>
          </a:fillRef>
          <a:effectRef idx="0">
            <a:schemeClr val="accent2"/>
          </a:effectRef>
          <a:fontRef idx="minor">
            <a:schemeClr val="tx1"/>
          </a:fontRef>
        </p:style>
      </p:cxnSp>
      <p:sp>
        <p:nvSpPr>
          <p:cNvPr id="26" name="TextBox 25">
            <a:extLst>
              <a:ext uri="{FF2B5EF4-FFF2-40B4-BE49-F238E27FC236}">
                <a16:creationId xmlns:a16="http://schemas.microsoft.com/office/drawing/2014/main" id="{22E36C9B-3AE2-4453-AF72-8509F3DE2C72}"/>
              </a:ext>
            </a:extLst>
          </p:cNvPr>
          <p:cNvSpPr txBox="1"/>
          <p:nvPr/>
        </p:nvSpPr>
        <p:spPr>
          <a:xfrm>
            <a:off x="6209428" y="339977"/>
            <a:ext cx="1594732" cy="338554"/>
          </a:xfrm>
          <a:prstGeom prst="rect">
            <a:avLst/>
          </a:prstGeom>
          <a:noFill/>
        </p:spPr>
        <p:txBody>
          <a:bodyPr wrap="none" rtlCol="0">
            <a:spAutoFit/>
          </a:bodyPr>
          <a:lstStyle/>
          <a:p>
            <a:r>
              <a:rPr lang="en-AU" sz="1600" dirty="0"/>
              <a:t>Word or Formula</a:t>
            </a:r>
          </a:p>
        </p:txBody>
      </p:sp>
      <p:sp>
        <p:nvSpPr>
          <p:cNvPr id="27" name="TextBox 26">
            <a:extLst>
              <a:ext uri="{FF2B5EF4-FFF2-40B4-BE49-F238E27FC236}">
                <a16:creationId xmlns:a16="http://schemas.microsoft.com/office/drawing/2014/main" id="{DEAA26F2-9378-4BAE-ABC7-B71F270EE045}"/>
              </a:ext>
            </a:extLst>
          </p:cNvPr>
          <p:cNvSpPr txBox="1"/>
          <p:nvPr/>
        </p:nvSpPr>
        <p:spPr>
          <a:xfrm>
            <a:off x="8724038" y="355478"/>
            <a:ext cx="1939955" cy="338554"/>
          </a:xfrm>
          <a:prstGeom prst="rect">
            <a:avLst/>
          </a:prstGeom>
          <a:noFill/>
        </p:spPr>
        <p:txBody>
          <a:bodyPr wrap="none" rtlCol="0">
            <a:spAutoFit/>
          </a:bodyPr>
          <a:lstStyle/>
          <a:p>
            <a:r>
              <a:rPr lang="en-AU" sz="1600" dirty="0"/>
              <a:t>Definition or Example</a:t>
            </a:r>
          </a:p>
        </p:txBody>
      </p:sp>
    </p:spTree>
    <p:extLst>
      <p:ext uri="{BB962C8B-B14F-4D97-AF65-F5344CB8AC3E}">
        <p14:creationId xmlns:p14="http://schemas.microsoft.com/office/powerpoint/2010/main" val="3614595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024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524403" y="6474667"/>
            <a:ext cx="311304" cy="369332"/>
          </a:xfrm>
          <a:prstGeom prst="rect">
            <a:avLst/>
          </a:prstGeom>
          <a:noFill/>
        </p:spPr>
        <p:txBody>
          <a:bodyPr wrap="none" rtlCol="0">
            <a:spAutoFit/>
          </a:bodyPr>
          <a:lstStyle/>
          <a:p>
            <a:r>
              <a:rPr lang="en-AU" dirty="0"/>
              <a:t>1</a:t>
            </a:r>
          </a:p>
        </p:txBody>
      </p:sp>
      <p:sp>
        <p:nvSpPr>
          <p:cNvPr id="7" name="TextBox 6"/>
          <p:cNvSpPr txBox="1"/>
          <p:nvPr/>
        </p:nvSpPr>
        <p:spPr>
          <a:xfrm>
            <a:off x="10272464" y="6525528"/>
            <a:ext cx="549775" cy="369332"/>
          </a:xfrm>
          <a:prstGeom prst="rect">
            <a:avLst/>
          </a:prstGeom>
          <a:noFill/>
        </p:spPr>
        <p:txBody>
          <a:bodyPr wrap="square" rtlCol="0">
            <a:spAutoFit/>
          </a:bodyPr>
          <a:lstStyle/>
          <a:p>
            <a:r>
              <a:rPr lang="en-AU" dirty="0"/>
              <a:t>2</a:t>
            </a:r>
          </a:p>
        </p:txBody>
      </p:sp>
      <p:cxnSp>
        <p:nvCxnSpPr>
          <p:cNvPr id="9" name="Straight Connector 8"/>
          <p:cNvCxnSpPr>
            <a:cxnSpLocks/>
          </p:cNvCxnSpPr>
          <p:nvPr/>
        </p:nvCxnSpPr>
        <p:spPr>
          <a:xfrm flipV="1">
            <a:off x="6024081" y="615122"/>
            <a:ext cx="6167919" cy="1"/>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a:cxnSpLocks/>
          </p:cNvCxnSpPr>
          <p:nvPr/>
        </p:nvCxnSpPr>
        <p:spPr>
          <a:xfrm>
            <a:off x="6024082" y="1196752"/>
            <a:ext cx="6167918"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a:cxnSpLocks/>
          </p:cNvCxnSpPr>
          <p:nvPr/>
        </p:nvCxnSpPr>
        <p:spPr>
          <a:xfrm>
            <a:off x="6096089" y="5373216"/>
            <a:ext cx="6095911"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7391751"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6057262" y="66690"/>
            <a:ext cx="431959" cy="553998"/>
          </a:xfrm>
          <a:prstGeom prst="rect">
            <a:avLst/>
          </a:prstGeom>
          <a:noFill/>
        </p:spPr>
        <p:txBody>
          <a:bodyPr wrap="square" rtlCol="0">
            <a:spAutoFit/>
          </a:bodyPr>
          <a:lstStyle/>
          <a:p>
            <a:r>
              <a:rPr lang="en-AU" sz="1000" dirty="0"/>
              <a:t>24</a:t>
            </a:r>
          </a:p>
          <a:p>
            <a:r>
              <a:rPr lang="en-AU" sz="1000" dirty="0"/>
              <a:t>7</a:t>
            </a:r>
          </a:p>
          <a:p>
            <a:r>
              <a:rPr lang="en-AU" sz="1000" dirty="0"/>
              <a:t>30</a:t>
            </a:r>
          </a:p>
        </p:txBody>
      </p:sp>
      <p:sp>
        <p:nvSpPr>
          <p:cNvPr id="20" name="TextBox 19"/>
          <p:cNvSpPr txBox="1"/>
          <p:nvPr/>
        </p:nvSpPr>
        <p:spPr>
          <a:xfrm>
            <a:off x="6090338" y="601549"/>
            <a:ext cx="2353529" cy="461665"/>
          </a:xfrm>
          <a:prstGeom prst="rect">
            <a:avLst/>
          </a:prstGeom>
          <a:noFill/>
        </p:spPr>
        <p:txBody>
          <a:bodyPr wrap="none" rtlCol="0">
            <a:spAutoFit/>
          </a:bodyPr>
          <a:lstStyle/>
          <a:p>
            <a:r>
              <a:rPr lang="en-AU" sz="2400" dirty="0"/>
              <a:t>Essential Question</a:t>
            </a:r>
          </a:p>
        </p:txBody>
      </p:sp>
      <p:sp>
        <p:nvSpPr>
          <p:cNvPr id="22" name="TextBox 21"/>
          <p:cNvSpPr txBox="1"/>
          <p:nvPr/>
        </p:nvSpPr>
        <p:spPr>
          <a:xfrm>
            <a:off x="7391751" y="1196752"/>
            <a:ext cx="766557" cy="400110"/>
          </a:xfrm>
          <a:prstGeom prst="rect">
            <a:avLst/>
          </a:prstGeom>
          <a:noFill/>
        </p:spPr>
        <p:txBody>
          <a:bodyPr wrap="none" rtlCol="0">
            <a:spAutoFit/>
          </a:bodyPr>
          <a:lstStyle/>
          <a:p>
            <a:r>
              <a:rPr lang="en-AU" sz="2000" dirty="0"/>
              <a:t>Notes</a:t>
            </a:r>
          </a:p>
        </p:txBody>
      </p:sp>
      <p:sp>
        <p:nvSpPr>
          <p:cNvPr id="23" name="TextBox 22"/>
          <p:cNvSpPr txBox="1"/>
          <p:nvPr/>
        </p:nvSpPr>
        <p:spPr>
          <a:xfrm>
            <a:off x="6021238" y="1196753"/>
            <a:ext cx="1370495" cy="400110"/>
          </a:xfrm>
          <a:prstGeom prst="rect">
            <a:avLst/>
          </a:prstGeom>
          <a:noFill/>
        </p:spPr>
        <p:txBody>
          <a:bodyPr wrap="square" rtlCol="0">
            <a:spAutoFit/>
          </a:bodyPr>
          <a:lstStyle/>
          <a:p>
            <a:r>
              <a:rPr lang="en-AU" sz="2000" dirty="0"/>
              <a:t>Questions</a:t>
            </a:r>
          </a:p>
        </p:txBody>
      </p:sp>
      <p:sp>
        <p:nvSpPr>
          <p:cNvPr id="24" name="TextBox 23"/>
          <p:cNvSpPr txBox="1"/>
          <p:nvPr/>
        </p:nvSpPr>
        <p:spPr>
          <a:xfrm>
            <a:off x="6096089" y="5373217"/>
            <a:ext cx="1122423" cy="400110"/>
          </a:xfrm>
          <a:prstGeom prst="rect">
            <a:avLst/>
          </a:prstGeom>
          <a:noFill/>
        </p:spPr>
        <p:txBody>
          <a:bodyPr wrap="none" rtlCol="0">
            <a:spAutoFit/>
          </a:bodyPr>
          <a:lstStyle/>
          <a:p>
            <a:r>
              <a:rPr lang="en-AU" sz="2000" dirty="0"/>
              <a:t>Summary</a:t>
            </a:r>
          </a:p>
        </p:txBody>
      </p:sp>
      <p:sp>
        <p:nvSpPr>
          <p:cNvPr id="25" name="TextBox 24"/>
          <p:cNvSpPr txBox="1"/>
          <p:nvPr/>
        </p:nvSpPr>
        <p:spPr>
          <a:xfrm>
            <a:off x="1675246" y="142494"/>
            <a:ext cx="909352" cy="523220"/>
          </a:xfrm>
          <a:prstGeom prst="rect">
            <a:avLst/>
          </a:prstGeom>
          <a:noFill/>
        </p:spPr>
        <p:txBody>
          <a:bodyPr wrap="none" rtlCol="0">
            <a:spAutoFit/>
          </a:bodyPr>
          <a:lstStyle/>
          <a:p>
            <a:r>
              <a:rPr lang="en-AU" sz="2800" dirty="0"/>
              <a:t>Tasks</a:t>
            </a:r>
          </a:p>
        </p:txBody>
      </p:sp>
      <p:sp>
        <p:nvSpPr>
          <p:cNvPr id="16" name="TextBox 15">
            <a:extLst>
              <a:ext uri="{FF2B5EF4-FFF2-40B4-BE49-F238E27FC236}">
                <a16:creationId xmlns:a16="http://schemas.microsoft.com/office/drawing/2014/main" id="{D4A3DEE0-B061-4B2A-86FB-FAA1342E38A6}"/>
              </a:ext>
            </a:extLst>
          </p:cNvPr>
          <p:cNvSpPr txBox="1"/>
          <p:nvPr/>
        </p:nvSpPr>
        <p:spPr>
          <a:xfrm>
            <a:off x="6340505" y="103287"/>
            <a:ext cx="804451" cy="461665"/>
          </a:xfrm>
          <a:prstGeom prst="rect">
            <a:avLst/>
          </a:prstGeom>
          <a:noFill/>
        </p:spPr>
        <p:txBody>
          <a:bodyPr wrap="none" rtlCol="0">
            <a:spAutoFit/>
          </a:bodyPr>
          <a:lstStyle/>
          <a:p>
            <a:r>
              <a:rPr lang="en-AU" sz="2400" dirty="0"/>
              <a:t>Topic</a:t>
            </a:r>
          </a:p>
        </p:txBody>
      </p:sp>
    </p:spTree>
    <p:extLst>
      <p:ext uri="{BB962C8B-B14F-4D97-AF65-F5344CB8AC3E}">
        <p14:creationId xmlns:p14="http://schemas.microsoft.com/office/powerpoint/2010/main" val="3544530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6867255D-7C72-44F0-A93A-6AC47D66BF13}"/>
              </a:ext>
            </a:extLst>
          </p:cNvPr>
          <p:cNvPicPr>
            <a:picLocks noChangeAspect="1"/>
          </p:cNvPicPr>
          <p:nvPr/>
        </p:nvPicPr>
        <p:blipFill rotWithShape="1">
          <a:blip r:embed="rId3">
            <a:duotone>
              <a:prstClr val="black"/>
              <a:schemeClr val="tx2">
                <a:tint val="45000"/>
                <a:satMod val="400000"/>
              </a:schemeClr>
            </a:duotone>
            <a:alphaModFix amt="25000"/>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5054" b="4584"/>
          <a:stretch/>
        </p:blipFill>
        <p:spPr>
          <a:xfrm>
            <a:off x="20" y="10"/>
            <a:ext cx="12191980" cy="6857990"/>
          </a:xfrm>
          <a:prstGeom prst="rect">
            <a:avLst/>
          </a:prstGeom>
        </p:spPr>
      </p:pic>
      <p:sp>
        <p:nvSpPr>
          <p:cNvPr id="2" name="Title 1">
            <a:extLst>
              <a:ext uri="{FF2B5EF4-FFF2-40B4-BE49-F238E27FC236}">
                <a16:creationId xmlns:a16="http://schemas.microsoft.com/office/drawing/2014/main" id="{F5116FF4-D232-42D9-8C68-8C0C50FAABAE}"/>
              </a:ext>
            </a:extLst>
          </p:cNvPr>
          <p:cNvSpPr>
            <a:spLocks noGrp="1"/>
          </p:cNvSpPr>
          <p:nvPr>
            <p:ph type="title"/>
          </p:nvPr>
        </p:nvSpPr>
        <p:spPr>
          <a:xfrm>
            <a:off x="1024128" y="585216"/>
            <a:ext cx="9720072" cy="1499616"/>
          </a:xfrm>
        </p:spPr>
        <p:txBody>
          <a:bodyPr>
            <a:normAutofit/>
          </a:bodyPr>
          <a:lstStyle/>
          <a:p>
            <a:r>
              <a:rPr lang="en-AU">
                <a:solidFill>
                  <a:schemeClr val="tx1"/>
                </a:solidFill>
              </a:rPr>
              <a:t>Five Questions (LHS)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B5FED35-8289-4A6B-85E0-D8BA5A06CEF5}"/>
                  </a:ext>
                </a:extLst>
              </p:cNvPr>
              <p:cNvSpPr>
                <a:spLocks noGrp="1"/>
              </p:cNvSpPr>
              <p:nvPr>
                <p:ph idx="1"/>
              </p:nvPr>
            </p:nvSpPr>
            <p:spPr>
              <a:xfrm>
                <a:off x="762000" y="1899893"/>
                <a:ext cx="10970958" cy="4845811"/>
              </a:xfrm>
            </p:spPr>
            <p:txBody>
              <a:bodyPr>
                <a:noAutofit/>
              </a:bodyPr>
              <a:lstStyle/>
              <a:p>
                <a:pPr marL="342900" indent="-342900">
                  <a:buFont typeface="+mj-lt"/>
                  <a:buAutoNum type="arabicPeriod"/>
                </a:pPr>
                <a:r>
                  <a:rPr lang="en-US" sz="2800" dirty="0">
                    <a:latin typeface="Calibri" panose="020F0502020204030204" pitchFamily="34" charset="0"/>
                    <a:cs typeface="Calibri" panose="020F0502020204030204" pitchFamily="34" charset="0"/>
                  </a:rPr>
                  <a:t> Write </a:t>
                </a:r>
                <a14:m>
                  <m:oMath xmlns:m="http://schemas.openxmlformats.org/officeDocument/2006/math">
                    <m:f>
                      <m:fPr>
                        <m:ctrlPr>
                          <a:rPr lang="en-US" sz="2800" i="1" smtClean="0">
                            <a:latin typeface="Cambria Math" panose="02040503050406030204" pitchFamily="18" charset="0"/>
                            <a:cs typeface="Calibri" panose="020F0502020204030204" pitchFamily="34" charset="0"/>
                          </a:rPr>
                        </m:ctrlPr>
                      </m:fPr>
                      <m:num>
                        <m:r>
                          <a:rPr lang="en-AU" sz="2800" b="0" i="1" smtClean="0">
                            <a:latin typeface="Cambria Math" panose="02040503050406030204" pitchFamily="18" charset="0"/>
                            <a:cs typeface="Calibri" panose="020F0502020204030204" pitchFamily="34" charset="0"/>
                          </a:rPr>
                          <m:t>9</m:t>
                        </m:r>
                      </m:num>
                      <m:den>
                        <m:r>
                          <a:rPr lang="en-AU" sz="2800" b="0" i="1" smtClean="0">
                            <a:latin typeface="Cambria Math" panose="02040503050406030204" pitchFamily="18" charset="0"/>
                            <a:cs typeface="Calibri" panose="020F0502020204030204" pitchFamily="34" charset="0"/>
                          </a:rPr>
                          <m:t>7</m:t>
                        </m:r>
                      </m:den>
                    </m:f>
                  </m:oMath>
                </a14:m>
                <a:r>
                  <a:rPr lang="en-US" sz="2800" dirty="0">
                    <a:latin typeface="Calibri" panose="020F0502020204030204" pitchFamily="34" charset="0"/>
                    <a:cs typeface="Calibri" panose="020F0502020204030204" pitchFamily="34" charset="0"/>
                  </a:rPr>
                  <a:t> as a mixed number.</a:t>
                </a:r>
              </a:p>
              <a:p>
                <a:pPr marL="342900" indent="-342900">
                  <a:buFont typeface="+mj-lt"/>
                  <a:buAutoNum type="arabicPeriod"/>
                </a:pPr>
                <a:r>
                  <a:rPr lang="en-US" sz="2800" dirty="0">
                    <a:latin typeface="Calibri" panose="020F0502020204030204" pitchFamily="34" charset="0"/>
                    <a:cs typeface="Calibri" panose="020F0502020204030204" pitchFamily="34" charset="0"/>
                  </a:rPr>
                  <a:t> </a:t>
                </a:r>
                <a14:m>
                  <m:oMath xmlns:m="http://schemas.openxmlformats.org/officeDocument/2006/math">
                    <m:r>
                      <a:rPr lang="en-AU" sz="2800" b="0" i="1" smtClean="0">
                        <a:latin typeface="Cambria Math" panose="02040503050406030204" pitchFamily="18" charset="0"/>
                        <a:cs typeface="Calibri" panose="020F0502020204030204" pitchFamily="34" charset="0"/>
                      </a:rPr>
                      <m:t>6−10=</m:t>
                    </m:r>
                  </m:oMath>
                </a14:m>
                <a:endParaRPr lang="en-US" sz="2800" dirty="0">
                  <a:latin typeface="Calibri" panose="020F0502020204030204" pitchFamily="34" charset="0"/>
                  <a:cs typeface="Calibri" panose="020F0502020204030204" pitchFamily="34" charset="0"/>
                </a:endParaRPr>
              </a:p>
              <a:p>
                <a:pPr marL="342900" indent="-342900">
                  <a:buFont typeface="+mj-lt"/>
                  <a:buAutoNum type="arabicPeriod"/>
                </a:pPr>
                <a:r>
                  <a:rPr lang="en-US" sz="2800" dirty="0">
                    <a:latin typeface="Calibri" panose="020F0502020204030204" pitchFamily="34" charset="0"/>
                    <a:cs typeface="Calibri" panose="020F0502020204030204" pitchFamily="34" charset="0"/>
                  </a:rPr>
                  <a:t>List in </a:t>
                </a:r>
                <a:r>
                  <a:rPr lang="en-US" sz="2800" b="1" dirty="0">
                    <a:latin typeface="Calibri" panose="020F0502020204030204" pitchFamily="34" charset="0"/>
                    <a:cs typeface="Calibri" panose="020F0502020204030204" pitchFamily="34" charset="0"/>
                  </a:rPr>
                  <a:t>descending</a:t>
                </a:r>
                <a:r>
                  <a:rPr lang="en-US" sz="2800" dirty="0">
                    <a:latin typeface="Calibri" panose="020F0502020204030204" pitchFamily="34" charset="0"/>
                    <a:cs typeface="Calibri" panose="020F0502020204030204" pitchFamily="34" charset="0"/>
                  </a:rPr>
                  <a:t> order: 5, 7, -9, 11, -4, 3, -8</a:t>
                </a:r>
              </a:p>
              <a:p>
                <a:pPr marL="342900" indent="-342900">
                  <a:buFont typeface="+mj-lt"/>
                  <a:buAutoNum type="arabicPeriod"/>
                </a:pPr>
                <a:r>
                  <a:rPr lang="en-US" sz="2800" dirty="0">
                    <a:latin typeface="Calibri" panose="020F0502020204030204" pitchFamily="34" charset="0"/>
                    <a:cs typeface="Calibri" panose="020F0502020204030204" pitchFamily="34" charset="0"/>
                  </a:rPr>
                  <a:t>Solve </a:t>
                </a:r>
                <a14:m>
                  <m:oMath xmlns:m="http://schemas.openxmlformats.org/officeDocument/2006/math">
                    <m:r>
                      <a:rPr lang="en-AU" sz="2800" b="0" i="1" smtClean="0">
                        <a:latin typeface="Cambria Math" panose="02040503050406030204" pitchFamily="18" charset="0"/>
                        <a:cs typeface="Calibri" panose="020F0502020204030204" pitchFamily="34" charset="0"/>
                      </a:rPr>
                      <m:t>5</m:t>
                    </m:r>
                    <m:r>
                      <a:rPr lang="en-AU" sz="2800" b="0" i="1" smtClean="0">
                        <a:latin typeface="Cambria Math" panose="02040503050406030204" pitchFamily="18" charset="0"/>
                        <a:ea typeface="Cambria Math" panose="02040503050406030204" pitchFamily="18" charset="0"/>
                        <a:cs typeface="Calibri" panose="020F0502020204030204" pitchFamily="34" charset="0"/>
                      </a:rPr>
                      <m:t>×4</m:t>
                    </m:r>
                  </m:oMath>
                </a14:m>
                <a:endParaRPr lang="en-US" sz="2800" dirty="0">
                  <a:latin typeface="Calibri" panose="020F0502020204030204" pitchFamily="34" charset="0"/>
                  <a:cs typeface="Calibri" panose="020F0502020204030204" pitchFamily="34" charset="0"/>
                </a:endParaRPr>
              </a:p>
              <a:p>
                <a:pPr marL="342900" indent="-342900">
                  <a:buFont typeface="+mj-lt"/>
                  <a:buAutoNum type="arabicPeriod"/>
                </a:pPr>
                <a:r>
                  <a:rPr lang="en-US" sz="2800" dirty="0">
                    <a:latin typeface="Calibri" panose="020F0502020204030204" pitchFamily="34" charset="0"/>
                    <a:cs typeface="Calibri" panose="020F0502020204030204" pitchFamily="34" charset="0"/>
                  </a:rPr>
                  <a:t>A collection effort by a charity to help those affected by a tsunami finds that it has gathered 588 first aid kits. There are 21 shelters that house roughly equal number of people who have been affected. The charity decides to distribute the first aid kits equally between these.</a:t>
                </a:r>
                <a:br>
                  <a:rPr lang="en-US" sz="2800" dirty="0">
                    <a:latin typeface="Calibri" panose="020F0502020204030204" pitchFamily="34" charset="0"/>
                    <a:cs typeface="Calibri" panose="020F0502020204030204" pitchFamily="34" charset="0"/>
                  </a:rPr>
                </a:b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How many people receive a first aid kit?</a:t>
                </a:r>
                <a:endParaRPr lang="en-AU" sz="2800" dirty="0">
                  <a:latin typeface="Calibri" panose="020F0502020204030204" pitchFamily="34" charset="0"/>
                  <a:cs typeface="Calibri" panose="020F0502020204030204" pitchFamily="34" charset="0"/>
                </a:endParaRPr>
              </a:p>
              <a:p>
                <a:pPr marL="0" indent="0">
                  <a:buNone/>
                </a:pPr>
                <a:endParaRPr lang="en-AU" sz="2800" dirty="0">
                  <a:latin typeface="Calibri" panose="020F0502020204030204" pitchFamily="34" charset="0"/>
                  <a:cs typeface="Calibri" panose="020F0502020204030204" pitchFamily="34" charset="0"/>
                </a:endParaRPr>
              </a:p>
            </p:txBody>
          </p:sp>
        </mc:Choice>
        <mc:Fallback>
          <p:sp>
            <p:nvSpPr>
              <p:cNvPr id="3" name="Content Placeholder 2">
                <a:extLst>
                  <a:ext uri="{FF2B5EF4-FFF2-40B4-BE49-F238E27FC236}">
                    <a16:creationId xmlns:a16="http://schemas.microsoft.com/office/drawing/2014/main" id="{1B5FED35-8289-4A6B-85E0-D8BA5A06CEF5}"/>
                  </a:ext>
                </a:extLst>
              </p:cNvPr>
              <p:cNvSpPr>
                <a:spLocks noGrp="1" noRot="1" noChangeAspect="1" noMove="1" noResize="1" noEditPoints="1" noAdjustHandles="1" noChangeArrowheads="1" noChangeShapeType="1" noTextEdit="1"/>
              </p:cNvSpPr>
              <p:nvPr>
                <p:ph idx="1"/>
              </p:nvPr>
            </p:nvSpPr>
            <p:spPr>
              <a:xfrm>
                <a:off x="762000" y="1899893"/>
                <a:ext cx="10970958" cy="4845811"/>
              </a:xfrm>
              <a:blipFill>
                <a:blip r:embed="rId5"/>
                <a:stretch>
                  <a:fillRect l="-1556" t="-503" b="-2642"/>
                </a:stretch>
              </a:blipFill>
            </p:spPr>
            <p:txBody>
              <a:bodyPr/>
              <a:lstStyle/>
              <a:p>
                <a:r>
                  <a:rPr lang="en-AU">
                    <a:noFill/>
                  </a:rPr>
                  <a:t> </a:t>
                </a:r>
              </a:p>
            </p:txBody>
          </p:sp>
        </mc:Fallback>
      </mc:AlternateContent>
      <p:sp>
        <p:nvSpPr>
          <p:cNvPr id="6" name="Title 1">
            <a:extLst>
              <a:ext uri="{FF2B5EF4-FFF2-40B4-BE49-F238E27FC236}">
                <a16:creationId xmlns:a16="http://schemas.microsoft.com/office/drawing/2014/main" id="{5BB39B19-FCB7-4218-82B7-A29298A568C7}"/>
              </a:ext>
            </a:extLst>
          </p:cNvPr>
          <p:cNvSpPr txBox="1">
            <a:spLocks/>
          </p:cNvSpPr>
          <p:nvPr/>
        </p:nvSpPr>
        <p:spPr>
          <a:xfrm>
            <a:off x="6448926" y="14747"/>
            <a:ext cx="5743074" cy="1058833"/>
          </a:xfrm>
          <a:prstGeom prst="rect">
            <a:avLst/>
          </a:prstGeom>
        </p:spPr>
        <p:txBody>
          <a:bodyPr vert="horz" lIns="91440" tIns="45720" rIns="91440" bIns="45720" rtlCol="0" anchor="ctr">
            <a:no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pPr>
              <a:spcAft>
                <a:spcPts val="600"/>
              </a:spcAft>
            </a:pPr>
            <a:r>
              <a:rPr lang="en-AU" sz="2800" cap="none" dirty="0">
                <a:latin typeface="Calibri" panose="020F0502020204030204" pitchFamily="34" charset="0"/>
                <a:cs typeface="Calibri" panose="020F0502020204030204" pitchFamily="34" charset="0"/>
              </a:rPr>
              <a:t>Topic: Multiplication</a:t>
            </a:r>
            <a:br>
              <a:rPr lang="en-AU" sz="2800" cap="none" dirty="0">
                <a:latin typeface="Calibri" panose="020F0502020204030204" pitchFamily="34" charset="0"/>
                <a:cs typeface="Calibri" panose="020F0502020204030204" pitchFamily="34" charset="0"/>
              </a:rPr>
            </a:br>
            <a:r>
              <a:rPr lang="en-AU" sz="2800" cap="none" dirty="0">
                <a:latin typeface="Calibri" panose="020F0502020204030204" pitchFamily="34" charset="0"/>
                <a:cs typeface="Calibri" panose="020F0502020204030204" pitchFamily="34" charset="0"/>
              </a:rPr>
              <a:t>EQ: What are strategies I can use to multiply whole numbers?</a:t>
            </a:r>
          </a:p>
        </p:txBody>
      </p:sp>
      <p:sp>
        <p:nvSpPr>
          <p:cNvPr id="11" name="TextBox 10">
            <a:extLst>
              <a:ext uri="{FF2B5EF4-FFF2-40B4-BE49-F238E27FC236}">
                <a16:creationId xmlns:a16="http://schemas.microsoft.com/office/drawing/2014/main" id="{4B963987-0A73-44C8-9CA8-7D0ABD6CBAB7}"/>
              </a:ext>
            </a:extLst>
          </p:cNvPr>
          <p:cNvSpPr txBox="1"/>
          <p:nvPr/>
        </p:nvSpPr>
        <p:spPr>
          <a:xfrm>
            <a:off x="8750969" y="949333"/>
            <a:ext cx="2896640" cy="523220"/>
          </a:xfrm>
          <a:prstGeom prst="rect">
            <a:avLst/>
          </a:prstGeom>
          <a:noFill/>
        </p:spPr>
        <p:txBody>
          <a:bodyPr wrap="square" rtlCol="0">
            <a:spAutoFit/>
          </a:bodyPr>
          <a:lstStyle/>
          <a:p>
            <a:pPr>
              <a:spcAft>
                <a:spcPts val="600"/>
              </a:spcAft>
            </a:pPr>
            <a:r>
              <a:rPr lang="en-AU" sz="2800" dirty="0">
                <a:latin typeface="Calibri" panose="020F0502020204030204" pitchFamily="34" charset="0"/>
                <a:cs typeface="Calibri" panose="020F0502020204030204" pitchFamily="34" charset="0"/>
              </a:rPr>
              <a:t>Date: 22/03/2021</a:t>
            </a:r>
          </a:p>
        </p:txBody>
      </p:sp>
      <p:sp>
        <p:nvSpPr>
          <p:cNvPr id="7" name="TextBox 6">
            <a:extLst>
              <a:ext uri="{FF2B5EF4-FFF2-40B4-BE49-F238E27FC236}">
                <a16:creationId xmlns:a16="http://schemas.microsoft.com/office/drawing/2014/main" id="{6D68A107-49FC-48AC-9462-9485034B4498}"/>
              </a:ext>
            </a:extLst>
          </p:cNvPr>
          <p:cNvSpPr txBox="1"/>
          <p:nvPr/>
        </p:nvSpPr>
        <p:spPr>
          <a:xfrm>
            <a:off x="9928240" y="6657945"/>
            <a:ext cx="2263760" cy="200055"/>
          </a:xfrm>
          <a:prstGeom prst="rect">
            <a:avLst/>
          </a:prstGeom>
          <a:solidFill>
            <a:srgbClr val="000000"/>
          </a:solidFill>
        </p:spPr>
        <p:txBody>
          <a:bodyPr wrap="none" rtlCol="0">
            <a:spAutoFit/>
          </a:bodyPr>
          <a:lstStyle/>
          <a:p>
            <a:pPr algn="r">
              <a:spcAft>
                <a:spcPts val="600"/>
              </a:spcAft>
            </a:pPr>
            <a:r>
              <a:rPr lang="en-AU" sz="700" dirty="0">
                <a:solidFill>
                  <a:srgbClr val="FFFFFF"/>
                </a:solidFill>
                <a:hlinkClick r:id="rId4" tooltip="http://theconversation.com/make-maths-mandatory-and-well-improve-our-international-education-rankings-11663">
                  <a:extLst>
                    <a:ext uri="{A12FA001-AC4F-418D-AE19-62706E023703}">
                      <ahyp:hlinkClr xmlns:ahyp="http://schemas.microsoft.com/office/drawing/2018/hyperlinkcolor" val="tx"/>
                    </a:ext>
                  </a:extLst>
                </a:hlinkClick>
              </a:rPr>
              <a:t>This Photo</a:t>
            </a:r>
            <a:r>
              <a:rPr lang="en-AU" sz="700" dirty="0">
                <a:solidFill>
                  <a:srgbClr val="FFFFFF"/>
                </a:solidFill>
              </a:rPr>
              <a:t> by Unknown Author is licensed </a:t>
            </a:r>
            <a:r>
              <a:rPr lang="en-AU" sz="700" dirty="0" err="1">
                <a:solidFill>
                  <a:srgbClr val="FFFFFF"/>
                </a:solidFill>
              </a:rPr>
              <a:t>uder</a:t>
            </a:r>
            <a:r>
              <a:rPr lang="en-AU" sz="700" dirty="0">
                <a:solidFill>
                  <a:srgbClr val="FFFFFF"/>
                </a:solidFill>
              </a:rPr>
              <a:t> </a:t>
            </a:r>
            <a:r>
              <a:rPr lang="en-AU" sz="700" dirty="0">
                <a:solidFill>
                  <a:srgbClr val="FFFFFF"/>
                </a:solidFill>
                <a:hlinkClick r:id="rId6" tooltip="https://creativecommons.org/licenses/by-nd/3.0/">
                  <a:extLst>
                    <a:ext uri="{A12FA001-AC4F-418D-AE19-62706E023703}">
                      <ahyp:hlinkClr xmlns:ahyp="http://schemas.microsoft.com/office/drawing/2018/hyperlinkcolor" val="tx"/>
                    </a:ext>
                  </a:extLst>
                </a:hlinkClick>
              </a:rPr>
              <a:t>CC BY-ND</a:t>
            </a:r>
            <a:endParaRPr lang="en-AU" sz="700" dirty="0">
              <a:solidFill>
                <a:srgbClr val="FFFFFF"/>
              </a:solidFill>
            </a:endParaRPr>
          </a:p>
        </p:txBody>
      </p:sp>
    </p:spTree>
    <p:extLst>
      <p:ext uri="{BB962C8B-B14F-4D97-AF65-F5344CB8AC3E}">
        <p14:creationId xmlns:p14="http://schemas.microsoft.com/office/powerpoint/2010/main" val="1778853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148875" cy="523220"/>
          </a:xfrm>
          <a:prstGeom prst="rect">
            <a:avLst/>
          </a:prstGeom>
          <a:noFill/>
        </p:spPr>
        <p:txBody>
          <a:bodyPr wrap="none" rtlCol="0">
            <a:spAutoFit/>
          </a:bodyPr>
          <a:lstStyle/>
          <a:p>
            <a:r>
              <a:rPr lang="en-AU" sz="2800" dirty="0">
                <a:latin typeface="Calibri" panose="020F0502020204030204" pitchFamily="34" charset="0"/>
                <a:cs typeface="Calibri" panose="020F0502020204030204" pitchFamily="34" charset="0"/>
              </a:rPr>
              <a:t>Topic: Multiplication</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a:t>
            </a:r>
            <a:r>
              <a:rPr lang="en-US" sz="2400" dirty="0">
                <a:latin typeface="Calibri" panose="020F0502020204030204" pitchFamily="34" charset="0"/>
                <a:cs typeface="Calibri" panose="020F0502020204030204" pitchFamily="34" charset="0"/>
              </a:rPr>
              <a:t>What are strategies I can use to multiply whole numbers?</a:t>
            </a:r>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24278" y="5757038"/>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90DFE82-329E-4213-9CF8-A8FD3DCF967B}"/>
              </a:ext>
            </a:extLst>
          </p:cNvPr>
          <p:cNvSpPr txBox="1"/>
          <p:nvPr/>
        </p:nvSpPr>
        <p:spPr>
          <a:xfrm>
            <a:off x="9568370" y="196208"/>
            <a:ext cx="2546009"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Date: 22/03/2021</a:t>
            </a:r>
          </a:p>
        </p:txBody>
      </p:sp>
      <p:sp>
        <p:nvSpPr>
          <p:cNvPr id="5" name="TextBox 4">
            <a:extLst>
              <a:ext uri="{FF2B5EF4-FFF2-40B4-BE49-F238E27FC236}">
                <a16:creationId xmlns:a16="http://schemas.microsoft.com/office/drawing/2014/main" id="{A6038E4F-5AC2-4C30-BFD4-582762F643F1}"/>
              </a:ext>
            </a:extLst>
          </p:cNvPr>
          <p:cNvSpPr txBox="1"/>
          <p:nvPr/>
        </p:nvSpPr>
        <p:spPr>
          <a:xfrm>
            <a:off x="74644" y="1267077"/>
            <a:ext cx="2195295" cy="707886"/>
          </a:xfrm>
          <a:prstGeom prst="rect">
            <a:avLst/>
          </a:prstGeom>
          <a:noFill/>
        </p:spPr>
        <p:txBody>
          <a:bodyPr wrap="square" rtlCol="0">
            <a:spAutoFit/>
          </a:bodyPr>
          <a:lstStyle/>
          <a:p>
            <a:r>
              <a:rPr lang="en-AU" sz="2000" dirty="0">
                <a:latin typeface="Calibri" panose="020F0502020204030204" pitchFamily="34" charset="0"/>
                <a:cs typeface="Calibri" panose="020F0502020204030204" pitchFamily="34" charset="0"/>
              </a:rPr>
              <a:t>What is a </a:t>
            </a:r>
            <a:r>
              <a:rPr lang="en-AU" sz="2000" b="1" dirty="0">
                <a:solidFill>
                  <a:srgbClr val="FF0000"/>
                </a:solidFill>
                <a:latin typeface="Calibri" panose="020F0502020204030204" pitchFamily="34" charset="0"/>
                <a:cs typeface="Calibri" panose="020F0502020204030204" pitchFamily="34" charset="0"/>
              </a:rPr>
              <a:t>whole number</a:t>
            </a:r>
            <a:r>
              <a:rPr lang="en-AU" sz="2000" dirty="0">
                <a:latin typeface="Calibri" panose="020F0502020204030204" pitchFamily="34" charset="0"/>
                <a:cs typeface="Calibri" panose="020F0502020204030204" pitchFamily="34" charset="0"/>
              </a:rPr>
              <a:t>?</a:t>
            </a:r>
          </a:p>
        </p:txBody>
      </p:sp>
      <p:sp>
        <p:nvSpPr>
          <p:cNvPr id="26" name="TextBox 25">
            <a:extLst>
              <a:ext uri="{FF2B5EF4-FFF2-40B4-BE49-F238E27FC236}">
                <a16:creationId xmlns:a16="http://schemas.microsoft.com/office/drawing/2014/main" id="{D20A0D11-B4AE-46CC-8E43-3005B949E300}"/>
              </a:ext>
            </a:extLst>
          </p:cNvPr>
          <p:cNvSpPr txBox="1"/>
          <p:nvPr/>
        </p:nvSpPr>
        <p:spPr>
          <a:xfrm>
            <a:off x="2463383" y="1251003"/>
            <a:ext cx="9571855" cy="707886"/>
          </a:xfrm>
          <a:prstGeom prst="rect">
            <a:avLst/>
          </a:prstGeom>
          <a:noFill/>
        </p:spPr>
        <p:txBody>
          <a:bodyPr wrap="square">
            <a:spAutoFit/>
          </a:bodyPr>
          <a:lstStyle/>
          <a:p>
            <a:r>
              <a:rPr lang="en-GB" sz="2000" b="0" i="0" dirty="0">
                <a:effectLst/>
                <a:latin typeface="Calibri" panose="020F0502020204030204" pitchFamily="34" charset="0"/>
                <a:cs typeface="Calibri" panose="020F0502020204030204" pitchFamily="34" charset="0"/>
              </a:rPr>
              <a:t>Whole numbers are numbers, 0, 1, 2, 3, 4, 5, … and so on. Fractions and decimals are not whole numbers</a:t>
            </a:r>
            <a:endParaRPr lang="en-AU" sz="20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08727DE1-E5E9-412E-A75B-A5217172B802}"/>
              </a:ext>
            </a:extLst>
          </p:cNvPr>
          <p:cNvSpPr txBox="1"/>
          <p:nvPr/>
        </p:nvSpPr>
        <p:spPr>
          <a:xfrm flipH="1">
            <a:off x="72212" y="1977935"/>
            <a:ext cx="2195289"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2000" dirty="0">
                <a:solidFill>
                  <a:prstClr val="black"/>
                </a:solidFill>
                <a:latin typeface="Calibri" panose="020F0502020204030204" pitchFamily="34" charset="0"/>
                <a:cs typeface="Calibri" panose="020F0502020204030204" pitchFamily="34" charset="0"/>
              </a:rPr>
              <a:t>What is the </a:t>
            </a:r>
            <a:r>
              <a:rPr lang="en-AU" sz="2000" b="1" dirty="0">
                <a:solidFill>
                  <a:srgbClr val="FF0000"/>
                </a:solidFill>
                <a:latin typeface="Calibri" panose="020F0502020204030204" pitchFamily="34" charset="0"/>
                <a:cs typeface="Calibri" panose="020F0502020204030204" pitchFamily="34" charset="0"/>
              </a:rPr>
              <a:t>array strategy</a:t>
            </a:r>
            <a:r>
              <a:rPr lang="en-AU" sz="2000" dirty="0">
                <a:solidFill>
                  <a:prstClr val="black"/>
                </a:solidFill>
                <a:latin typeface="Calibri" panose="020F0502020204030204" pitchFamily="34" charset="0"/>
                <a:cs typeface="Calibri" panose="020F0502020204030204" pitchFamily="34" charset="0"/>
              </a:rPr>
              <a:t>?</a:t>
            </a:r>
            <a:endParaRPr kumimoji="0" lang="en-AU"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DFA79CA1-6CF6-45B1-805D-F45E39302D88}"/>
              </a:ext>
            </a:extLst>
          </p:cNvPr>
          <p:cNvSpPr txBox="1"/>
          <p:nvPr/>
        </p:nvSpPr>
        <p:spPr>
          <a:xfrm>
            <a:off x="2463383" y="1958221"/>
            <a:ext cx="9163614" cy="1323439"/>
          </a:xfrm>
          <a:prstGeom prst="rect">
            <a:avLst/>
          </a:prstGeom>
          <a:noFill/>
        </p:spPr>
        <p:txBody>
          <a:bodyPr wrap="square" rtlCol="0">
            <a:spAutoFit/>
          </a:bodyPr>
          <a:lstStyle/>
          <a:p>
            <a:r>
              <a:rPr lang="en-GB" sz="2000" dirty="0">
                <a:latin typeface="Calibri" panose="020F0502020204030204" pitchFamily="34" charset="0"/>
                <a:cs typeface="Calibri" panose="020F0502020204030204" pitchFamily="34" charset="0"/>
              </a:rPr>
              <a:t>A multiplication array is a collection of things arranged in rows and columns. We can use it to multiply numbers. </a:t>
            </a:r>
          </a:p>
          <a:p>
            <a:r>
              <a:rPr lang="en-GB" sz="2000" dirty="0">
                <a:solidFill>
                  <a:srgbClr val="FF0000"/>
                </a:solidFill>
                <a:latin typeface="Calibri" panose="020F0502020204030204" pitchFamily="34" charset="0"/>
                <a:cs typeface="Calibri" panose="020F0502020204030204" pitchFamily="34" charset="0"/>
              </a:rPr>
              <a:t>Rows</a:t>
            </a:r>
            <a:r>
              <a:rPr lang="en-GB" sz="2000" dirty="0">
                <a:latin typeface="Calibri" panose="020F0502020204030204" pitchFamily="34" charset="0"/>
                <a:cs typeface="Calibri" panose="020F0502020204030204" pitchFamily="34" charset="0"/>
              </a:rPr>
              <a:t> are arranged horizontally, from left to right. </a:t>
            </a:r>
            <a:r>
              <a:rPr lang="en-GB" sz="2000" dirty="0">
                <a:solidFill>
                  <a:srgbClr val="FF0000"/>
                </a:solidFill>
                <a:latin typeface="Calibri" panose="020F0502020204030204" pitchFamily="34" charset="0"/>
                <a:cs typeface="Calibri" panose="020F0502020204030204" pitchFamily="34" charset="0"/>
              </a:rPr>
              <a:t>Columns</a:t>
            </a:r>
            <a:r>
              <a:rPr lang="en-GB" sz="2000" dirty="0">
                <a:latin typeface="Calibri" panose="020F0502020204030204" pitchFamily="34" charset="0"/>
                <a:cs typeface="Calibri" panose="020F0502020204030204" pitchFamily="34" charset="0"/>
              </a:rPr>
              <a:t> are arranged vertically, from up to down.</a:t>
            </a:r>
          </a:p>
        </p:txBody>
      </p:sp>
      <p:graphicFrame>
        <p:nvGraphicFramePr>
          <p:cNvPr id="9" name="Table 9">
            <a:extLst>
              <a:ext uri="{FF2B5EF4-FFF2-40B4-BE49-F238E27FC236}">
                <a16:creationId xmlns:a16="http://schemas.microsoft.com/office/drawing/2014/main" id="{35E4EF2A-2EF1-4A6A-932A-DCD801AF5AA5}"/>
              </a:ext>
            </a:extLst>
          </p:cNvPr>
          <p:cNvGraphicFramePr>
            <a:graphicFrameLocks noGrp="1"/>
          </p:cNvGraphicFramePr>
          <p:nvPr>
            <p:extLst>
              <p:ext uri="{D42A27DB-BD31-4B8C-83A1-F6EECF244321}">
                <p14:modId xmlns:p14="http://schemas.microsoft.com/office/powerpoint/2010/main" val="3039662160"/>
              </p:ext>
            </p:extLst>
          </p:nvPr>
        </p:nvGraphicFramePr>
        <p:xfrm>
          <a:off x="5453711" y="4535650"/>
          <a:ext cx="2278744" cy="1318980"/>
        </p:xfrm>
        <a:graphic>
          <a:graphicData uri="http://schemas.openxmlformats.org/drawingml/2006/table">
            <a:tbl>
              <a:tblPr firstRow="1" bandRow="1">
                <a:tableStyleId>{5C22544A-7EE6-4342-B048-85BDC9FD1C3A}</a:tableStyleId>
              </a:tblPr>
              <a:tblGrid>
                <a:gridCol w="569686">
                  <a:extLst>
                    <a:ext uri="{9D8B030D-6E8A-4147-A177-3AD203B41FA5}">
                      <a16:colId xmlns:a16="http://schemas.microsoft.com/office/drawing/2014/main" val="2482040577"/>
                    </a:ext>
                  </a:extLst>
                </a:gridCol>
                <a:gridCol w="569686">
                  <a:extLst>
                    <a:ext uri="{9D8B030D-6E8A-4147-A177-3AD203B41FA5}">
                      <a16:colId xmlns:a16="http://schemas.microsoft.com/office/drawing/2014/main" val="3011385991"/>
                    </a:ext>
                  </a:extLst>
                </a:gridCol>
                <a:gridCol w="569686">
                  <a:extLst>
                    <a:ext uri="{9D8B030D-6E8A-4147-A177-3AD203B41FA5}">
                      <a16:colId xmlns:a16="http://schemas.microsoft.com/office/drawing/2014/main" val="2841733529"/>
                    </a:ext>
                  </a:extLst>
                </a:gridCol>
                <a:gridCol w="569686">
                  <a:extLst>
                    <a:ext uri="{9D8B030D-6E8A-4147-A177-3AD203B41FA5}">
                      <a16:colId xmlns:a16="http://schemas.microsoft.com/office/drawing/2014/main" val="1277057128"/>
                    </a:ext>
                  </a:extLst>
                </a:gridCol>
              </a:tblGrid>
              <a:tr h="43966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10153763"/>
                  </a:ext>
                </a:extLst>
              </a:tr>
              <a:tr h="43966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92754408"/>
                  </a:ext>
                </a:extLst>
              </a:tr>
              <a:tr h="43966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05750912"/>
                  </a:ext>
                </a:extLst>
              </a:tr>
            </a:tbl>
          </a:graphicData>
        </a:graphic>
      </p:graphicFrame>
      <p:sp>
        <p:nvSpPr>
          <p:cNvPr id="35" name="TextBox 34">
            <a:extLst>
              <a:ext uri="{FF2B5EF4-FFF2-40B4-BE49-F238E27FC236}">
                <a16:creationId xmlns:a16="http://schemas.microsoft.com/office/drawing/2014/main" id="{B2EAA75C-DBEB-412A-8E8F-718D616EFD6F}"/>
              </a:ext>
            </a:extLst>
          </p:cNvPr>
          <p:cNvSpPr txBox="1"/>
          <p:nvPr/>
        </p:nvSpPr>
        <p:spPr>
          <a:xfrm>
            <a:off x="2463382" y="3212879"/>
            <a:ext cx="9571855" cy="400110"/>
          </a:xfrm>
          <a:prstGeom prst="rect">
            <a:avLst/>
          </a:prstGeom>
          <a:noFill/>
        </p:spPr>
        <p:txBody>
          <a:bodyPr wrap="square">
            <a:spAutoFit/>
          </a:bodyPr>
          <a:lstStyle/>
          <a:p>
            <a:r>
              <a:rPr lang="en-GB" sz="2000" b="0" i="0" u="sng" dirty="0">
                <a:solidFill>
                  <a:srgbClr val="333333"/>
                </a:solidFill>
                <a:effectLst/>
                <a:latin typeface="Calibri" panose="020F0502020204030204" pitchFamily="34" charset="0"/>
                <a:cs typeface="Calibri" panose="020F0502020204030204" pitchFamily="34" charset="0"/>
              </a:rPr>
              <a:t>Example 1</a:t>
            </a:r>
            <a:endParaRPr lang="en-AU" sz="2000" u="sng"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AC0D737-1286-4E3B-9CC5-7855596CF068}"/>
                  </a:ext>
                </a:extLst>
              </p:cNvPr>
              <p:cNvSpPr txBox="1"/>
              <p:nvPr/>
            </p:nvSpPr>
            <p:spPr>
              <a:xfrm>
                <a:off x="2463381" y="3543270"/>
                <a:ext cx="9571855" cy="400110"/>
              </a:xfrm>
              <a:prstGeom prst="rect">
                <a:avLst/>
              </a:prstGeom>
              <a:noFill/>
            </p:spPr>
            <p:txBody>
              <a:bodyPr wrap="square">
                <a:spAutoFit/>
              </a:bodyPr>
              <a:lstStyle/>
              <a:p>
                <a14:m>
                  <m:oMath xmlns:m="http://schemas.openxmlformats.org/officeDocument/2006/math">
                    <m:r>
                      <a:rPr lang="en-AU" sz="2000" b="0" i="1" smtClean="0">
                        <a:latin typeface="Cambria Math" panose="02040503050406030204" pitchFamily="18" charset="0"/>
                        <a:cs typeface="Calibri" panose="020F0502020204030204" pitchFamily="34" charset="0"/>
                      </a:rPr>
                      <m:t>3</m:t>
                    </m:r>
                    <m:r>
                      <a:rPr lang="en-AU" sz="2000" b="0" i="1" smtClean="0">
                        <a:latin typeface="Cambria Math" panose="02040503050406030204" pitchFamily="18" charset="0"/>
                        <a:ea typeface="Cambria Math" panose="02040503050406030204" pitchFamily="18" charset="0"/>
                        <a:cs typeface="Calibri" panose="020F0502020204030204" pitchFamily="34" charset="0"/>
                      </a:rPr>
                      <m:t>×4=</m:t>
                    </m:r>
                  </m:oMath>
                </a14:m>
                <a:r>
                  <a:rPr lang="en-AU" sz="2000" dirty="0">
                    <a:latin typeface="Calibri" panose="020F0502020204030204" pitchFamily="34" charset="0"/>
                    <a:cs typeface="Calibri" panose="020F0502020204030204" pitchFamily="34" charset="0"/>
                  </a:rPr>
                  <a:t> can be solved by drawing an array with 3 rows of 4 squares.</a:t>
                </a:r>
              </a:p>
            </p:txBody>
          </p:sp>
        </mc:Choice>
        <mc:Fallback xmlns="">
          <p:sp>
            <p:nvSpPr>
              <p:cNvPr id="36" name="TextBox 35">
                <a:extLst>
                  <a:ext uri="{FF2B5EF4-FFF2-40B4-BE49-F238E27FC236}">
                    <a16:creationId xmlns:a16="http://schemas.microsoft.com/office/drawing/2014/main" id="{3AC0D737-1286-4E3B-9CC5-7855596CF068}"/>
                  </a:ext>
                </a:extLst>
              </p:cNvPr>
              <p:cNvSpPr txBox="1">
                <a:spLocks noRot="1" noChangeAspect="1" noMove="1" noResize="1" noEditPoints="1" noAdjustHandles="1" noChangeArrowheads="1" noChangeShapeType="1" noTextEdit="1"/>
              </p:cNvSpPr>
              <p:nvPr/>
            </p:nvSpPr>
            <p:spPr>
              <a:xfrm>
                <a:off x="2463381" y="3543270"/>
                <a:ext cx="9571855" cy="400110"/>
              </a:xfrm>
              <a:prstGeom prst="rect">
                <a:avLst/>
              </a:prstGeom>
              <a:blipFill>
                <a:blip r:embed="rId3"/>
                <a:stretch>
                  <a:fillRect t="-7576" b="-25758"/>
                </a:stretch>
              </a:blipFill>
            </p:spPr>
            <p:txBody>
              <a:bodyPr/>
              <a:lstStyle/>
              <a:p>
                <a:r>
                  <a:rPr lang="en-AU">
                    <a:noFill/>
                  </a:rPr>
                  <a:t> </a:t>
                </a:r>
              </a:p>
            </p:txBody>
          </p:sp>
        </mc:Fallback>
      </mc:AlternateContent>
      <p:sp>
        <p:nvSpPr>
          <p:cNvPr id="38" name="TextBox 37">
            <a:extLst>
              <a:ext uri="{FF2B5EF4-FFF2-40B4-BE49-F238E27FC236}">
                <a16:creationId xmlns:a16="http://schemas.microsoft.com/office/drawing/2014/main" id="{E8A38C1F-B186-4B80-8E29-5CA87EB51510}"/>
              </a:ext>
            </a:extLst>
          </p:cNvPr>
          <p:cNvSpPr txBox="1"/>
          <p:nvPr/>
        </p:nvSpPr>
        <p:spPr>
          <a:xfrm>
            <a:off x="6423042" y="4135540"/>
            <a:ext cx="342412" cy="400110"/>
          </a:xfrm>
          <a:prstGeom prst="rect">
            <a:avLst/>
          </a:prstGeom>
          <a:noFill/>
        </p:spPr>
        <p:txBody>
          <a:bodyPr wrap="square">
            <a:spAutoFit/>
          </a:bodyPr>
          <a:lstStyle/>
          <a:p>
            <a:r>
              <a:rPr lang="en-AU" sz="2000" dirty="0">
                <a:latin typeface="Calibri" panose="020F0502020204030204" pitchFamily="34" charset="0"/>
                <a:cs typeface="Calibri" panose="020F0502020204030204" pitchFamily="34" charset="0"/>
              </a:rPr>
              <a:t>4</a:t>
            </a:r>
          </a:p>
        </p:txBody>
      </p:sp>
      <p:sp>
        <p:nvSpPr>
          <p:cNvPr id="39" name="TextBox 38">
            <a:extLst>
              <a:ext uri="{FF2B5EF4-FFF2-40B4-BE49-F238E27FC236}">
                <a16:creationId xmlns:a16="http://schemas.microsoft.com/office/drawing/2014/main" id="{C7F42BBD-05AF-44A5-8FF8-AAC86379CBAE}"/>
              </a:ext>
            </a:extLst>
          </p:cNvPr>
          <p:cNvSpPr txBox="1"/>
          <p:nvPr/>
        </p:nvSpPr>
        <p:spPr>
          <a:xfrm>
            <a:off x="5073380" y="4950649"/>
            <a:ext cx="342412" cy="400110"/>
          </a:xfrm>
          <a:prstGeom prst="rect">
            <a:avLst/>
          </a:prstGeom>
          <a:noFill/>
        </p:spPr>
        <p:txBody>
          <a:bodyPr wrap="square">
            <a:spAutoFit/>
          </a:bodyPr>
          <a:lstStyle/>
          <a:p>
            <a:r>
              <a:rPr lang="en-AU" sz="2000" dirty="0">
                <a:latin typeface="Calibri" panose="020F0502020204030204" pitchFamily="34" charset="0"/>
                <a:cs typeface="Calibri" panose="020F0502020204030204" pitchFamily="34" charset="0"/>
              </a:rPr>
              <a:t>3</a:t>
            </a:r>
          </a:p>
        </p:txBody>
      </p:sp>
      <p:sp>
        <p:nvSpPr>
          <p:cNvPr id="41" name="TextBox 40">
            <a:extLst>
              <a:ext uri="{FF2B5EF4-FFF2-40B4-BE49-F238E27FC236}">
                <a16:creationId xmlns:a16="http://schemas.microsoft.com/office/drawing/2014/main" id="{3E293D19-FEFC-420B-B54F-A736270C08A7}"/>
              </a:ext>
            </a:extLst>
          </p:cNvPr>
          <p:cNvSpPr txBox="1"/>
          <p:nvPr/>
        </p:nvSpPr>
        <p:spPr>
          <a:xfrm>
            <a:off x="3026417" y="4074485"/>
            <a:ext cx="2101590" cy="707886"/>
          </a:xfrm>
          <a:prstGeom prst="rect">
            <a:avLst/>
          </a:prstGeom>
          <a:noFill/>
        </p:spPr>
        <p:txBody>
          <a:bodyPr wrap="square">
            <a:spAutoFit/>
          </a:bodyPr>
          <a:lstStyle/>
          <a:p>
            <a:r>
              <a:rPr lang="en-AU" sz="2000" dirty="0">
                <a:solidFill>
                  <a:srgbClr val="FF0000"/>
                </a:solidFill>
                <a:latin typeface="Calibri" panose="020F0502020204030204" pitchFamily="34" charset="0"/>
                <a:cs typeface="Calibri" panose="020F0502020204030204" pitchFamily="34" charset="0"/>
              </a:rPr>
              <a:t>Factors</a:t>
            </a:r>
            <a:r>
              <a:rPr lang="en-AU" sz="2000" dirty="0">
                <a:latin typeface="Calibri" panose="020F0502020204030204" pitchFamily="34" charset="0"/>
                <a:cs typeface="Calibri" panose="020F0502020204030204" pitchFamily="34" charset="0"/>
              </a:rPr>
              <a:t>, numbers being multiplied</a:t>
            </a:r>
            <a:endParaRPr lang="en-AU" sz="2000" dirty="0">
              <a:solidFill>
                <a:srgbClr val="FF0000"/>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E9B4CCE-461C-480B-AF6C-14BB69F6AB37}"/>
                  </a:ext>
                </a:extLst>
              </p:cNvPr>
              <p:cNvSpPr txBox="1"/>
              <p:nvPr/>
            </p:nvSpPr>
            <p:spPr>
              <a:xfrm>
                <a:off x="8199258" y="4488984"/>
                <a:ext cx="2832266" cy="1323439"/>
              </a:xfrm>
              <a:prstGeom prst="rect">
                <a:avLst/>
              </a:prstGeom>
              <a:noFill/>
            </p:spPr>
            <p:txBody>
              <a:bodyPr wrap="square">
                <a:spAutoFit/>
              </a:bodyPr>
              <a:lstStyle/>
              <a:p>
                <a:r>
                  <a:rPr lang="en-AU" sz="2000" dirty="0">
                    <a:solidFill>
                      <a:schemeClr val="tx1"/>
                    </a:solidFill>
                    <a:latin typeface="Calibri" panose="020F0502020204030204" pitchFamily="34" charset="0"/>
                    <a:cs typeface="Calibri" panose="020F0502020204030204" pitchFamily="34" charset="0"/>
                  </a:rPr>
                  <a:t>The total number of squares which is the area of the rectangle is the answer to </a:t>
                </a:r>
                <a14:m>
                  <m:oMath xmlns:m="http://schemas.openxmlformats.org/officeDocument/2006/math">
                    <m:r>
                      <a:rPr lang="en-AU" sz="2000" b="0" i="1" smtClean="0">
                        <a:solidFill>
                          <a:schemeClr val="tx1"/>
                        </a:solidFill>
                        <a:latin typeface="Cambria Math" panose="02040503050406030204" pitchFamily="18" charset="0"/>
                        <a:cs typeface="Calibri" panose="020F0502020204030204" pitchFamily="34" charset="0"/>
                      </a:rPr>
                      <m:t>3</m:t>
                    </m:r>
                    <m:r>
                      <a:rPr lang="en-AU" sz="20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×4=12</m:t>
                    </m:r>
                  </m:oMath>
                </a14:m>
                <a:endParaRPr lang="en-AU" sz="2000" dirty="0">
                  <a:solidFill>
                    <a:schemeClr val="tx1"/>
                  </a:solidFill>
                  <a:latin typeface="Calibri" panose="020F0502020204030204" pitchFamily="34" charset="0"/>
                  <a:cs typeface="Calibri" panose="020F0502020204030204" pitchFamily="34" charset="0"/>
                </a:endParaRPr>
              </a:p>
            </p:txBody>
          </p:sp>
        </mc:Choice>
        <mc:Fallback xmlns="">
          <p:sp>
            <p:nvSpPr>
              <p:cNvPr id="42" name="TextBox 41">
                <a:extLst>
                  <a:ext uri="{FF2B5EF4-FFF2-40B4-BE49-F238E27FC236}">
                    <a16:creationId xmlns:a16="http://schemas.microsoft.com/office/drawing/2014/main" id="{7E9B4CCE-461C-480B-AF6C-14BB69F6AB37}"/>
                  </a:ext>
                </a:extLst>
              </p:cNvPr>
              <p:cNvSpPr txBox="1">
                <a:spLocks noRot="1" noChangeAspect="1" noMove="1" noResize="1" noEditPoints="1" noAdjustHandles="1" noChangeArrowheads="1" noChangeShapeType="1" noTextEdit="1"/>
              </p:cNvSpPr>
              <p:nvPr/>
            </p:nvSpPr>
            <p:spPr>
              <a:xfrm>
                <a:off x="8199258" y="4488984"/>
                <a:ext cx="2832266" cy="1323439"/>
              </a:xfrm>
              <a:prstGeom prst="rect">
                <a:avLst/>
              </a:prstGeom>
              <a:blipFill>
                <a:blip r:embed="rId4"/>
                <a:stretch>
                  <a:fillRect l="-2151" t="-2304" r="-2796" b="-737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7238957-75BD-40A5-8924-E491D520048D}"/>
                  </a:ext>
                </a:extLst>
              </p:cNvPr>
              <p:cNvSpPr txBox="1"/>
              <p:nvPr/>
            </p:nvSpPr>
            <p:spPr>
              <a:xfrm>
                <a:off x="5586965" y="6218703"/>
                <a:ext cx="1992478"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cs typeface="Calibri" panose="020F0502020204030204" pitchFamily="34" charset="0"/>
                        </a:rPr>
                        <m:t>3</m:t>
                      </m:r>
                      <m:r>
                        <a:rPr lang="en-AU" sz="2000" b="0" i="1" smtClean="0">
                          <a:latin typeface="Cambria Math" panose="02040503050406030204" pitchFamily="18" charset="0"/>
                          <a:ea typeface="Cambria Math" panose="02040503050406030204" pitchFamily="18" charset="0"/>
                          <a:cs typeface="Calibri" panose="020F0502020204030204" pitchFamily="34" charset="0"/>
                        </a:rPr>
                        <m:t>×4=</m:t>
                      </m:r>
                      <m:r>
                        <a:rPr lang="en-AU" sz="2000" b="0" i="0" smtClean="0">
                          <a:latin typeface="Cambria Math" panose="02040503050406030204" pitchFamily="18" charset="0"/>
                          <a:ea typeface="Cambria Math" panose="02040503050406030204" pitchFamily="18" charset="0"/>
                          <a:cs typeface="Calibri" panose="020F0502020204030204" pitchFamily="34" charset="0"/>
                        </a:rPr>
                        <m:t>12</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43" name="TextBox 42">
                <a:extLst>
                  <a:ext uri="{FF2B5EF4-FFF2-40B4-BE49-F238E27FC236}">
                    <a16:creationId xmlns:a16="http://schemas.microsoft.com/office/drawing/2014/main" id="{37238957-75BD-40A5-8924-E491D520048D}"/>
                  </a:ext>
                </a:extLst>
              </p:cNvPr>
              <p:cNvSpPr txBox="1">
                <a:spLocks noRot="1" noChangeAspect="1" noMove="1" noResize="1" noEditPoints="1" noAdjustHandles="1" noChangeArrowheads="1" noChangeShapeType="1" noTextEdit="1"/>
              </p:cNvSpPr>
              <p:nvPr/>
            </p:nvSpPr>
            <p:spPr>
              <a:xfrm>
                <a:off x="5586965" y="6218703"/>
                <a:ext cx="1992478" cy="400110"/>
              </a:xfrm>
              <a:prstGeom prst="rect">
                <a:avLst/>
              </a:prstGeom>
              <a:blipFill>
                <a:blip r:embed="rId5"/>
                <a:stretch>
                  <a:fillRect/>
                </a:stretch>
              </a:blipFill>
            </p:spPr>
            <p:txBody>
              <a:bodyPr/>
              <a:lstStyle/>
              <a:p>
                <a:r>
                  <a:rPr lang="en-AU">
                    <a:noFill/>
                  </a:rPr>
                  <a:t> </a:t>
                </a:r>
              </a:p>
            </p:txBody>
          </p:sp>
        </mc:Fallback>
      </mc:AlternateContent>
      <p:cxnSp>
        <p:nvCxnSpPr>
          <p:cNvPr id="44" name="Straight Arrow Connector 43">
            <a:extLst>
              <a:ext uri="{FF2B5EF4-FFF2-40B4-BE49-F238E27FC236}">
                <a16:creationId xmlns:a16="http://schemas.microsoft.com/office/drawing/2014/main" id="{0B354899-5714-4EEE-A55C-6D06F6EBE12D}"/>
              </a:ext>
            </a:extLst>
          </p:cNvPr>
          <p:cNvCxnSpPr>
            <a:endCxn id="38" idx="1"/>
          </p:cNvCxnSpPr>
          <p:nvPr/>
        </p:nvCxnSpPr>
        <p:spPr>
          <a:xfrm>
            <a:off x="4976261" y="4335595"/>
            <a:ext cx="1446781"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45" name="Straight Arrow Connector 44">
            <a:extLst>
              <a:ext uri="{FF2B5EF4-FFF2-40B4-BE49-F238E27FC236}">
                <a16:creationId xmlns:a16="http://schemas.microsoft.com/office/drawing/2014/main" id="{E39D29FB-C452-4591-8720-8E2D97213075}"/>
              </a:ext>
            </a:extLst>
          </p:cNvPr>
          <p:cNvCxnSpPr>
            <a:cxnSpLocks/>
          </p:cNvCxnSpPr>
          <p:nvPr/>
        </p:nvCxnSpPr>
        <p:spPr>
          <a:xfrm>
            <a:off x="4870208" y="4535650"/>
            <a:ext cx="291751" cy="50783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FF8822A8-3791-44F0-AF9B-C6AA46743AFC}"/>
              </a:ext>
            </a:extLst>
          </p:cNvPr>
          <p:cNvCxnSpPr>
            <a:cxnSpLocks/>
          </p:cNvCxnSpPr>
          <p:nvPr/>
        </p:nvCxnSpPr>
        <p:spPr>
          <a:xfrm>
            <a:off x="3785134" y="4727811"/>
            <a:ext cx="2182529" cy="1690947"/>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54" name="TextBox 53">
            <a:extLst>
              <a:ext uri="{FF2B5EF4-FFF2-40B4-BE49-F238E27FC236}">
                <a16:creationId xmlns:a16="http://schemas.microsoft.com/office/drawing/2014/main" id="{DDC08473-6E85-471B-8CB1-EF24B0585756}"/>
              </a:ext>
            </a:extLst>
          </p:cNvPr>
          <p:cNvSpPr txBox="1"/>
          <p:nvPr/>
        </p:nvSpPr>
        <p:spPr>
          <a:xfrm>
            <a:off x="8210353" y="6101351"/>
            <a:ext cx="2716034" cy="707886"/>
          </a:xfrm>
          <a:prstGeom prst="rect">
            <a:avLst/>
          </a:prstGeom>
          <a:noFill/>
        </p:spPr>
        <p:txBody>
          <a:bodyPr wrap="square">
            <a:spAutoFit/>
          </a:bodyPr>
          <a:lstStyle/>
          <a:p>
            <a:r>
              <a:rPr lang="en-AU" sz="2000" dirty="0">
                <a:solidFill>
                  <a:srgbClr val="FF0000"/>
                </a:solidFill>
                <a:latin typeface="Calibri" panose="020F0502020204030204" pitchFamily="34" charset="0"/>
                <a:cs typeface="Calibri" panose="020F0502020204030204" pitchFamily="34" charset="0"/>
              </a:rPr>
              <a:t>Product, </a:t>
            </a:r>
            <a:r>
              <a:rPr lang="en-AU" sz="2000" dirty="0">
                <a:latin typeface="Calibri" panose="020F0502020204030204" pitchFamily="34" charset="0"/>
                <a:cs typeface="Calibri" panose="020F0502020204030204" pitchFamily="34" charset="0"/>
              </a:rPr>
              <a:t>the answer to a multiplication</a:t>
            </a:r>
            <a:endParaRPr lang="en-AU" sz="2000" dirty="0"/>
          </a:p>
        </p:txBody>
      </p:sp>
      <p:cxnSp>
        <p:nvCxnSpPr>
          <p:cNvPr id="55" name="Straight Arrow Connector 54">
            <a:extLst>
              <a:ext uri="{FF2B5EF4-FFF2-40B4-BE49-F238E27FC236}">
                <a16:creationId xmlns:a16="http://schemas.microsoft.com/office/drawing/2014/main" id="{2B31C8D0-546A-4D5C-8BFB-AE5C6E1C6718}"/>
              </a:ext>
            </a:extLst>
          </p:cNvPr>
          <p:cNvCxnSpPr>
            <a:cxnSpLocks/>
          </p:cNvCxnSpPr>
          <p:nvPr/>
        </p:nvCxnSpPr>
        <p:spPr>
          <a:xfrm flipH="1">
            <a:off x="7270561" y="6447837"/>
            <a:ext cx="923788"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1078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vertical)">
                                      <p:cBhvr>
                                        <p:cTn id="7" dur="500"/>
                                        <p:tgtEl>
                                          <p:spTgt spid="5"/>
                                        </p:tgtEl>
                                      </p:cBhvr>
                                    </p:animEffect>
                                  </p:childTnLst>
                                </p:cTn>
                              </p:par>
                              <p:par>
                                <p:cTn id="8" presetID="14" presetClass="entr" presetSubtype="5"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randombar(vertical)">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45"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2000"/>
                                        <p:tgtEl>
                                          <p:spTgt spid="27"/>
                                        </p:tgtEl>
                                      </p:cBhvr>
                                    </p:animEffect>
                                    <p:anim calcmode="lin" valueType="num">
                                      <p:cBhvr>
                                        <p:cTn id="16" dur="2000" fill="hold"/>
                                        <p:tgtEl>
                                          <p:spTgt spid="27"/>
                                        </p:tgtEl>
                                        <p:attrNameLst>
                                          <p:attrName>ppt_w</p:attrName>
                                        </p:attrNameLst>
                                      </p:cBhvr>
                                      <p:tavLst>
                                        <p:tav tm="0" fmla="#ppt_w*sin(2.5*pi*$)">
                                          <p:val>
                                            <p:fltVal val="0"/>
                                          </p:val>
                                        </p:tav>
                                        <p:tav tm="100000">
                                          <p:val>
                                            <p:fltVal val="1"/>
                                          </p:val>
                                        </p:tav>
                                      </p:tavLst>
                                    </p:anim>
                                    <p:anim calcmode="lin" valueType="num">
                                      <p:cBhvr>
                                        <p:cTn id="17" dur="2000" fill="hold"/>
                                        <p:tgtEl>
                                          <p:spTgt spid="27"/>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wipe(left)">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5"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randombar(vertical)">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5"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randombar(vertical)">
                                      <p:cBhvr>
                                        <p:cTn id="32" dur="5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ox(in)">
                                      <p:cBhvr>
                                        <p:cTn id="37" dur="20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randombar(horizontal)">
                                      <p:cBhvr>
                                        <p:cTn id="42" dur="500"/>
                                        <p:tgtEl>
                                          <p:spTgt spid="41"/>
                                        </p:tgtEl>
                                      </p:cBhvr>
                                    </p:animEffect>
                                  </p:childTnLst>
                                </p:cTn>
                              </p:par>
                              <p:par>
                                <p:cTn id="43" presetID="4" presetClass="entr" presetSubtype="16"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box(in)">
                                      <p:cBhvr>
                                        <p:cTn id="45" dur="2000"/>
                                        <p:tgtEl>
                                          <p:spTgt spid="38"/>
                                        </p:tgtEl>
                                      </p:cBhvr>
                                    </p:animEffect>
                                  </p:childTnLst>
                                </p:cTn>
                              </p:par>
                              <p:par>
                                <p:cTn id="46" presetID="4" presetClass="entr" presetSubtype="16" fill="hold" grpId="0" nodeType="with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box(in)">
                                      <p:cBhvr>
                                        <p:cTn id="48" dur="2000"/>
                                        <p:tgtEl>
                                          <p:spTgt spid="39"/>
                                        </p:tgtEl>
                                      </p:cBhvr>
                                    </p:animEffect>
                                  </p:childTnLst>
                                </p:cTn>
                              </p:par>
                              <p:par>
                                <p:cTn id="49" presetID="22" presetClass="entr" presetSubtype="8" fill="hold" nodeType="with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wipe(left)">
                                      <p:cBhvr>
                                        <p:cTn id="51" dur="500"/>
                                        <p:tgtEl>
                                          <p:spTgt spid="44"/>
                                        </p:tgtEl>
                                      </p:cBhvr>
                                    </p:animEffect>
                                  </p:childTnLst>
                                </p:cTn>
                              </p:par>
                              <p:par>
                                <p:cTn id="52" presetID="22" presetClass="entr" presetSubtype="1" fill="hold" nodeType="withEffect">
                                  <p:stCondLst>
                                    <p:cond delay="0"/>
                                  </p:stCondLst>
                                  <p:childTnLst>
                                    <p:set>
                                      <p:cBhvr>
                                        <p:cTn id="53" dur="1" fill="hold">
                                          <p:stCondLst>
                                            <p:cond delay="0"/>
                                          </p:stCondLst>
                                        </p:cTn>
                                        <p:tgtEl>
                                          <p:spTgt spid="45"/>
                                        </p:tgtEl>
                                        <p:attrNameLst>
                                          <p:attrName>style.visibility</p:attrName>
                                        </p:attrNameLst>
                                      </p:cBhvr>
                                      <p:to>
                                        <p:strVal val="visible"/>
                                      </p:to>
                                    </p:set>
                                    <p:animEffect transition="in" filter="wipe(up)">
                                      <p:cBhvr>
                                        <p:cTn id="54" dur="500"/>
                                        <p:tgtEl>
                                          <p:spTgt spid="4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2"/>
                                        </p:tgtEl>
                                        <p:attrNameLst>
                                          <p:attrName>style.visibility</p:attrName>
                                        </p:attrNameLst>
                                      </p:cBhvr>
                                      <p:to>
                                        <p:strVal val="visible"/>
                                      </p:to>
                                    </p:set>
                                    <p:animEffect transition="in" filter="fade">
                                      <p:cBhvr>
                                        <p:cTn id="59" dur="500"/>
                                        <p:tgtEl>
                                          <p:spTgt spid="4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wipe(up)">
                                      <p:cBhvr>
                                        <p:cTn id="64" dur="500"/>
                                        <p:tgtEl>
                                          <p:spTgt spid="48"/>
                                        </p:tgtEl>
                                      </p:cBhvr>
                                    </p:animEffect>
                                  </p:childTnLst>
                                </p:cTn>
                              </p:par>
                            </p:childTnLst>
                          </p:cTn>
                        </p:par>
                      </p:childTnLst>
                    </p:cTn>
                  </p:par>
                  <p:par>
                    <p:cTn id="65" fill="hold">
                      <p:stCondLst>
                        <p:cond delay="indefinite"/>
                      </p:stCondLst>
                      <p:childTnLst>
                        <p:par>
                          <p:cTn id="66" fill="hold">
                            <p:stCondLst>
                              <p:cond delay="0"/>
                            </p:stCondLst>
                            <p:childTnLst>
                              <p:par>
                                <p:cTn id="67" presetID="14" presetClass="entr" presetSubtype="10" fill="hold" grpId="0" nodeType="clickEffect">
                                  <p:stCondLst>
                                    <p:cond delay="0"/>
                                  </p:stCondLst>
                                  <p:childTnLst>
                                    <p:set>
                                      <p:cBhvr>
                                        <p:cTn id="68" dur="1" fill="hold">
                                          <p:stCondLst>
                                            <p:cond delay="0"/>
                                          </p:stCondLst>
                                        </p:cTn>
                                        <p:tgtEl>
                                          <p:spTgt spid="54"/>
                                        </p:tgtEl>
                                        <p:attrNameLst>
                                          <p:attrName>style.visibility</p:attrName>
                                        </p:attrNameLst>
                                      </p:cBhvr>
                                      <p:to>
                                        <p:strVal val="visible"/>
                                      </p:to>
                                    </p:set>
                                    <p:animEffect transition="in" filter="randombar(horizontal)">
                                      <p:cBhvr>
                                        <p:cTn id="69" dur="500"/>
                                        <p:tgtEl>
                                          <p:spTgt spid="5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55"/>
                                        </p:tgtEl>
                                        <p:attrNameLst>
                                          <p:attrName>style.visibility</p:attrName>
                                        </p:attrNameLst>
                                      </p:cBhvr>
                                      <p:to>
                                        <p:strVal val="visible"/>
                                      </p:to>
                                    </p:set>
                                    <p:animEffect transition="in" filter="wipe(up)">
                                      <p:cBhvr>
                                        <p:cTn id="74" dur="500"/>
                                        <p:tgtEl>
                                          <p:spTgt spid="55"/>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54">
                                            <p:txEl>
                                              <p:pRg st="0" end="0"/>
                                            </p:txEl>
                                          </p:spTgt>
                                        </p:tgtEl>
                                        <p:attrNameLst>
                                          <p:attrName>style.visibility</p:attrName>
                                        </p:attrNameLst>
                                      </p:cBhvr>
                                      <p:to>
                                        <p:strVal val="visible"/>
                                      </p:to>
                                    </p:set>
                                    <p:animEffect transition="in" filter="wipe(left)">
                                      <p:cBhvr>
                                        <p:cTn id="79"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6" grpId="0"/>
      <p:bldP spid="27" grpId="0"/>
      <p:bldP spid="34" grpId="0"/>
      <p:bldP spid="35" grpId="0"/>
      <p:bldP spid="36" grpId="0"/>
      <p:bldP spid="38" grpId="0"/>
      <p:bldP spid="39" grpId="0"/>
      <p:bldP spid="41" grpId="0"/>
      <p:bldP spid="42" grpId="0"/>
      <p:bldP spid="5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pplication&#10;&#10;Description automatically generated with low confidence">
            <a:extLst>
              <a:ext uri="{FF2B5EF4-FFF2-40B4-BE49-F238E27FC236}">
                <a16:creationId xmlns:a16="http://schemas.microsoft.com/office/drawing/2014/main" id="{C1BF7050-2980-4451-8BDD-A73D4CC00663}"/>
              </a:ext>
            </a:extLst>
          </p:cNvPr>
          <p:cNvPicPr>
            <a:picLocks noChangeAspect="1"/>
          </p:cNvPicPr>
          <p:nvPr/>
        </p:nvPicPr>
        <p:blipFill>
          <a:blip r:embed="rId2"/>
          <a:stretch>
            <a:fillRect/>
          </a:stretch>
        </p:blipFill>
        <p:spPr>
          <a:xfrm>
            <a:off x="4035846" y="135761"/>
            <a:ext cx="4120308" cy="6586478"/>
          </a:xfrm>
          <a:prstGeom prst="rect">
            <a:avLst/>
          </a:prstGeom>
        </p:spPr>
      </p:pic>
    </p:spTree>
    <p:extLst>
      <p:ext uri="{BB962C8B-B14F-4D97-AF65-F5344CB8AC3E}">
        <p14:creationId xmlns:p14="http://schemas.microsoft.com/office/powerpoint/2010/main" val="3844284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CE86D-E98C-4D0A-9BDF-DAD016B164F4}"/>
              </a:ext>
            </a:extLst>
          </p:cNvPr>
          <p:cNvSpPr>
            <a:spLocks noGrp="1"/>
          </p:cNvSpPr>
          <p:nvPr>
            <p:ph type="title"/>
          </p:nvPr>
        </p:nvSpPr>
        <p:spPr/>
        <p:txBody>
          <a:bodyPr/>
          <a:lstStyle/>
          <a:p>
            <a:r>
              <a:rPr lang="en-AU" dirty="0"/>
              <a:t>TASK (LHS)</a:t>
            </a:r>
          </a:p>
        </p:txBody>
      </p:sp>
      <p:sp>
        <p:nvSpPr>
          <p:cNvPr id="6" name="TextBox 5">
            <a:extLst>
              <a:ext uri="{FF2B5EF4-FFF2-40B4-BE49-F238E27FC236}">
                <a16:creationId xmlns:a16="http://schemas.microsoft.com/office/drawing/2014/main" id="{70F5E4A4-E0D0-4947-8923-99AEF89A1C01}"/>
              </a:ext>
            </a:extLst>
          </p:cNvPr>
          <p:cNvSpPr txBox="1"/>
          <p:nvPr/>
        </p:nvSpPr>
        <p:spPr>
          <a:xfrm>
            <a:off x="755687" y="1684427"/>
            <a:ext cx="9571855" cy="461665"/>
          </a:xfrm>
          <a:prstGeom prst="rect">
            <a:avLst/>
          </a:prstGeom>
          <a:noFill/>
        </p:spPr>
        <p:txBody>
          <a:bodyPr wrap="square">
            <a:spAutoFit/>
          </a:bodyPr>
          <a:lstStyle/>
          <a:p>
            <a:r>
              <a:rPr lang="en-GB" sz="2400" b="0" i="0" dirty="0">
                <a:effectLst/>
                <a:latin typeface="Calibri" panose="020F0502020204030204" pitchFamily="34" charset="0"/>
                <a:cs typeface="Calibri" panose="020F0502020204030204" pitchFamily="34" charset="0"/>
              </a:rPr>
              <a:t>Question 1: Use the array model to evaluate the following:</a:t>
            </a:r>
            <a:endParaRPr lang="en-AU" sz="2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61399A6-6F49-40B1-8AA8-EE161EE772DF}"/>
                  </a:ext>
                </a:extLst>
              </p:cNvPr>
              <p:cNvSpPr>
                <a:spLocks noGrp="1"/>
              </p:cNvSpPr>
              <p:nvPr>
                <p:ph idx="1"/>
              </p:nvPr>
            </p:nvSpPr>
            <p:spPr/>
            <p:txBody>
              <a:bodyPr>
                <a:normAutofit/>
              </a:bodyPr>
              <a:lstStyle/>
              <a:p>
                <a:pPr marL="457200" indent="-457200">
                  <a:buFont typeface="+mj-lt"/>
                  <a:buAutoNum type="alphaLcParenR"/>
                </a:pPr>
                <a:r>
                  <a:rPr lang="en-AU" sz="2800" b="0" dirty="0">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en-AU" sz="2800" b="0" i="1" smtClean="0">
                        <a:latin typeface="Cambria Math" panose="02040503050406030204" pitchFamily="18" charset="0"/>
                        <a:ea typeface="Cambria Math" panose="02040503050406030204" pitchFamily="18" charset="0"/>
                      </a:rPr>
                      <m:t>7×2=</m:t>
                    </m:r>
                  </m:oMath>
                </a14:m>
                <a:endParaRPr lang="en-AU" sz="2800" b="0" dirty="0">
                  <a:latin typeface="Calibri" panose="020F0502020204030204" pitchFamily="34" charset="0"/>
                  <a:ea typeface="Cambria Math" panose="02040503050406030204" pitchFamily="18" charset="0"/>
                  <a:cs typeface="Calibri" panose="020F0502020204030204" pitchFamily="34" charset="0"/>
                </a:endParaRPr>
              </a:p>
              <a:p>
                <a:pPr marL="457200" indent="-457200">
                  <a:buFont typeface="+mj-lt"/>
                  <a:buAutoNum type="alphaLcParenR"/>
                </a:pPr>
                <a:r>
                  <a:rPr lang="en-AU" sz="2800" dirty="0">
                    <a:latin typeface="Calibri" panose="020F0502020204030204" pitchFamily="34" charset="0"/>
                    <a:cs typeface="Calibri" panose="020F0502020204030204" pitchFamily="34" charset="0"/>
                  </a:rPr>
                  <a:t> </a:t>
                </a:r>
                <a14:m>
                  <m:oMath xmlns:m="http://schemas.openxmlformats.org/officeDocument/2006/math">
                    <m:r>
                      <a:rPr lang="en-AU" sz="2800" i="1">
                        <a:latin typeface="Cambria Math" panose="02040503050406030204" pitchFamily="18" charset="0"/>
                      </a:rPr>
                      <m:t>9</m:t>
                    </m:r>
                    <m:r>
                      <a:rPr lang="en-AU" sz="2800" b="0" i="1" smtClean="0">
                        <a:latin typeface="Cambria Math" panose="02040503050406030204" pitchFamily="18" charset="0"/>
                        <a:ea typeface="Cambria Math" panose="02040503050406030204" pitchFamily="18" charset="0"/>
                      </a:rPr>
                      <m:t>×5=</m:t>
                    </m:r>
                  </m:oMath>
                </a14:m>
                <a:endParaRPr lang="en-AU" sz="2800" b="0" dirty="0">
                  <a:latin typeface="Calibri" panose="020F0502020204030204" pitchFamily="34" charset="0"/>
                  <a:ea typeface="Cambria Math" panose="02040503050406030204" pitchFamily="18" charset="0"/>
                  <a:cs typeface="Calibri" panose="020F0502020204030204" pitchFamily="34" charset="0"/>
                </a:endParaRPr>
              </a:p>
              <a:p>
                <a:pPr marL="457200" indent="-457200">
                  <a:buFont typeface="+mj-lt"/>
                  <a:buAutoNum type="alphaLcParenR"/>
                </a:pPr>
                <a:r>
                  <a:rPr lang="en-AU" sz="2800" dirty="0">
                    <a:latin typeface="Calibri" panose="020F0502020204030204" pitchFamily="34" charset="0"/>
                    <a:cs typeface="Calibri" panose="020F0502020204030204" pitchFamily="34" charset="0"/>
                  </a:rPr>
                  <a:t> </a:t>
                </a:r>
                <a14:m>
                  <m:oMath xmlns:m="http://schemas.openxmlformats.org/officeDocument/2006/math">
                    <m:r>
                      <a:rPr lang="en-AU" sz="2800" i="1">
                        <a:latin typeface="Cambria Math" panose="02040503050406030204" pitchFamily="18" charset="0"/>
                      </a:rPr>
                      <m:t>4</m:t>
                    </m:r>
                    <m:r>
                      <a:rPr lang="en-AU" sz="2800" b="0" i="1" smtClean="0">
                        <a:latin typeface="Cambria Math" panose="02040503050406030204" pitchFamily="18" charset="0"/>
                        <a:ea typeface="Cambria Math" panose="02040503050406030204" pitchFamily="18" charset="0"/>
                      </a:rPr>
                      <m:t>×5=</m:t>
                    </m:r>
                  </m:oMath>
                </a14:m>
                <a:endParaRPr lang="en-AU" sz="2800" b="0" dirty="0">
                  <a:latin typeface="Calibri" panose="020F0502020204030204" pitchFamily="34" charset="0"/>
                  <a:ea typeface="Cambria Math" panose="02040503050406030204" pitchFamily="18" charset="0"/>
                  <a:cs typeface="Calibri" panose="020F0502020204030204" pitchFamily="34" charset="0"/>
                </a:endParaRPr>
              </a:p>
              <a:p>
                <a:pPr marL="457200" indent="-457200">
                  <a:buFont typeface="+mj-lt"/>
                  <a:buAutoNum type="alphaLcParenR"/>
                </a:pPr>
                <a:r>
                  <a:rPr lang="en-AU" sz="2800" dirty="0">
                    <a:latin typeface="Calibri" panose="020F0502020204030204" pitchFamily="34" charset="0"/>
                    <a:cs typeface="Calibri" panose="020F0502020204030204" pitchFamily="34" charset="0"/>
                  </a:rPr>
                  <a:t> </a:t>
                </a:r>
                <a14:m>
                  <m:oMath xmlns:m="http://schemas.openxmlformats.org/officeDocument/2006/math">
                    <m:r>
                      <a:rPr lang="en-AU" sz="2800" i="1">
                        <a:latin typeface="Cambria Math" panose="02040503050406030204" pitchFamily="18" charset="0"/>
                      </a:rPr>
                      <m:t>1</m:t>
                    </m:r>
                    <m:r>
                      <a:rPr lang="en-AU" sz="2800" b="0" i="1" smtClean="0">
                        <a:latin typeface="Cambria Math" panose="02040503050406030204" pitchFamily="18" charset="0"/>
                      </a:rPr>
                      <m:t>2</m:t>
                    </m:r>
                    <m:r>
                      <a:rPr lang="en-AU" sz="2800" b="0" i="1" smtClean="0">
                        <a:latin typeface="Cambria Math" panose="02040503050406030204" pitchFamily="18" charset="0"/>
                        <a:ea typeface="Cambria Math" panose="02040503050406030204" pitchFamily="18" charset="0"/>
                      </a:rPr>
                      <m:t>×13=</m:t>
                    </m:r>
                  </m:oMath>
                </a14:m>
                <a:endParaRPr lang="en-AU" sz="2800" b="0" dirty="0">
                  <a:latin typeface="Calibri" panose="020F0502020204030204" pitchFamily="34" charset="0"/>
                  <a:ea typeface="Cambria Math" panose="02040503050406030204" pitchFamily="18" charset="0"/>
                  <a:cs typeface="Calibri" panose="020F0502020204030204" pitchFamily="34" charset="0"/>
                </a:endParaRPr>
              </a:p>
              <a:p>
                <a:pPr marL="457200" indent="-457200">
                  <a:buFont typeface="+mj-lt"/>
                  <a:buAutoNum type="alphaLcParenR"/>
                </a:pPr>
                <a:r>
                  <a:rPr lang="en-AU" sz="2800" dirty="0">
                    <a:latin typeface="Calibri" panose="020F0502020204030204" pitchFamily="34" charset="0"/>
                    <a:cs typeface="Calibri" panose="020F0502020204030204" pitchFamily="34" charset="0"/>
                  </a:rPr>
                  <a:t> </a:t>
                </a:r>
                <a14:m>
                  <m:oMath xmlns:m="http://schemas.openxmlformats.org/officeDocument/2006/math">
                    <m:r>
                      <a:rPr lang="en-AU" sz="2800" i="1">
                        <a:latin typeface="Cambria Math" panose="02040503050406030204" pitchFamily="18" charset="0"/>
                      </a:rPr>
                      <m:t>1</m:t>
                    </m:r>
                    <m:r>
                      <a:rPr lang="en-AU" sz="2800" b="0" i="1" smtClean="0">
                        <a:latin typeface="Cambria Math" panose="02040503050406030204" pitchFamily="18" charset="0"/>
                      </a:rPr>
                      <m:t>4</m:t>
                    </m:r>
                    <m:r>
                      <a:rPr lang="en-AU" sz="2800" b="0" i="1" smtClean="0">
                        <a:latin typeface="Cambria Math" panose="02040503050406030204" pitchFamily="18" charset="0"/>
                        <a:ea typeface="Cambria Math" panose="02040503050406030204" pitchFamily="18" charset="0"/>
                      </a:rPr>
                      <m:t>×3=</m:t>
                    </m:r>
                  </m:oMath>
                </a14:m>
                <a:endParaRPr lang="en-AU" sz="2800" dirty="0">
                  <a:latin typeface="Calibri" panose="020F0502020204030204" pitchFamily="34" charset="0"/>
                  <a:cs typeface="Calibri" panose="020F0502020204030204" pitchFamily="34" charset="0"/>
                </a:endParaRPr>
              </a:p>
            </p:txBody>
          </p:sp>
        </mc:Choice>
        <mc:Fallback xmlns="">
          <p:sp>
            <p:nvSpPr>
              <p:cNvPr id="4" name="Content Placeholder 3">
                <a:extLst>
                  <a:ext uri="{FF2B5EF4-FFF2-40B4-BE49-F238E27FC236}">
                    <a16:creationId xmlns:a16="http://schemas.microsoft.com/office/drawing/2014/main" id="{261399A6-6F49-40B1-8AA8-EE161EE772DF}"/>
                  </a:ext>
                </a:extLst>
              </p:cNvPr>
              <p:cNvSpPr>
                <a:spLocks noGrp="1" noRot="1" noChangeAspect="1" noMove="1" noResize="1" noEditPoints="1" noAdjustHandles="1" noChangeArrowheads="1" noChangeShapeType="1" noTextEdit="1"/>
              </p:cNvSpPr>
              <p:nvPr>
                <p:ph idx="1"/>
              </p:nvPr>
            </p:nvSpPr>
            <p:spPr>
              <a:blipFill>
                <a:blip r:embed="rId2"/>
                <a:stretch>
                  <a:fillRect l="-1755" t="-2727"/>
                </a:stretch>
              </a:blipFill>
            </p:spPr>
            <p:txBody>
              <a:bodyPr/>
              <a:lstStyle/>
              <a:p>
                <a:r>
                  <a:rPr lang="en-AU">
                    <a:noFill/>
                  </a:rPr>
                  <a:t> </a:t>
                </a:r>
              </a:p>
            </p:txBody>
          </p:sp>
        </mc:Fallback>
      </mc:AlternateContent>
    </p:spTree>
    <p:extLst>
      <p:ext uri="{BB962C8B-B14F-4D97-AF65-F5344CB8AC3E}">
        <p14:creationId xmlns:p14="http://schemas.microsoft.com/office/powerpoint/2010/main" val="2330489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flipH="1">
            <a:off x="2369986" y="1224621"/>
            <a:ext cx="12473"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230628" cy="523220"/>
          </a:xfrm>
          <a:prstGeom prst="rect">
            <a:avLst/>
          </a:prstGeom>
          <a:noFill/>
        </p:spPr>
        <p:txBody>
          <a:bodyPr wrap="none" rtlCol="0">
            <a:spAutoFit/>
          </a:bodyPr>
          <a:lstStyle/>
          <a:p>
            <a:r>
              <a:rPr lang="en-AU" sz="2800" dirty="0">
                <a:latin typeface="Calibri" panose="020F0502020204030204" pitchFamily="34" charset="0"/>
                <a:cs typeface="Calibri" panose="020F0502020204030204" pitchFamily="34" charset="0"/>
              </a:rPr>
              <a:t>Topic: Multiplication</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a:t>
            </a:r>
            <a:r>
              <a:rPr lang="en-US" sz="2400" dirty="0">
                <a:latin typeface="Calibri" panose="020F0502020204030204" pitchFamily="34" charset="0"/>
                <a:cs typeface="Calibri" panose="020F0502020204030204" pitchFamily="34" charset="0"/>
              </a:rPr>
              <a:t>What are strategies I can use to multiply whole numbers?</a:t>
            </a:r>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24278" y="5757038"/>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90DFE82-329E-4213-9CF8-A8FD3DCF967B}"/>
              </a:ext>
            </a:extLst>
          </p:cNvPr>
          <p:cNvSpPr txBox="1"/>
          <p:nvPr/>
        </p:nvSpPr>
        <p:spPr>
          <a:xfrm>
            <a:off x="9568370" y="196208"/>
            <a:ext cx="2546009"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Date: 22/03/2021</a:t>
            </a:r>
          </a:p>
        </p:txBody>
      </p:sp>
      <p:sp>
        <p:nvSpPr>
          <p:cNvPr id="11" name="TextBox 10">
            <a:extLst>
              <a:ext uri="{FF2B5EF4-FFF2-40B4-BE49-F238E27FC236}">
                <a16:creationId xmlns:a16="http://schemas.microsoft.com/office/drawing/2014/main" id="{9A52CF44-418A-4D26-A2C1-AB7D3AB56463}"/>
              </a:ext>
            </a:extLst>
          </p:cNvPr>
          <p:cNvSpPr txBox="1"/>
          <p:nvPr/>
        </p:nvSpPr>
        <p:spPr>
          <a:xfrm flipH="1">
            <a:off x="93585" y="1326036"/>
            <a:ext cx="2195289"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2000" dirty="0">
                <a:solidFill>
                  <a:prstClr val="black"/>
                </a:solidFill>
                <a:latin typeface="Calibri" panose="020F0502020204030204" pitchFamily="34" charset="0"/>
                <a:cs typeface="Calibri" panose="020F0502020204030204" pitchFamily="34" charset="0"/>
              </a:rPr>
              <a:t>What is the </a:t>
            </a:r>
            <a:r>
              <a:rPr lang="en-AU" sz="2000" b="1" dirty="0">
                <a:solidFill>
                  <a:srgbClr val="FF0000"/>
                </a:solidFill>
                <a:latin typeface="Calibri" panose="020F0502020204030204" pitchFamily="34" charset="0"/>
                <a:cs typeface="Calibri" panose="020F0502020204030204" pitchFamily="34" charset="0"/>
              </a:rPr>
              <a:t>area model strategy</a:t>
            </a:r>
            <a:r>
              <a:rPr lang="en-AU" sz="2000" dirty="0">
                <a:solidFill>
                  <a:prstClr val="black"/>
                </a:solidFill>
                <a:latin typeface="Calibri" panose="020F0502020204030204" pitchFamily="34" charset="0"/>
                <a:cs typeface="Calibri" panose="020F0502020204030204" pitchFamily="34" charset="0"/>
              </a:rPr>
              <a:t>?</a:t>
            </a:r>
            <a:endParaRPr kumimoji="0" lang="en-AU"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graphicFrame>
            <p:nvGraphicFramePr>
              <p:cNvPr id="16" name="Content Placeholder 3">
                <a:extLst>
                  <a:ext uri="{FF2B5EF4-FFF2-40B4-BE49-F238E27FC236}">
                    <a16:creationId xmlns:a16="http://schemas.microsoft.com/office/drawing/2014/main" id="{D601C782-968A-403B-B69F-E72828C4B89C}"/>
                  </a:ext>
                </a:extLst>
              </p:cNvPr>
              <p:cNvGraphicFramePr>
                <a:graphicFrameLocks/>
              </p:cNvGraphicFramePr>
              <p:nvPr>
                <p:extLst>
                  <p:ext uri="{D42A27DB-BD31-4B8C-83A1-F6EECF244321}">
                    <p14:modId xmlns:p14="http://schemas.microsoft.com/office/powerpoint/2010/main" val="2846801968"/>
                  </p:ext>
                </p:extLst>
              </p:nvPr>
            </p:nvGraphicFramePr>
            <p:xfrm>
              <a:off x="4714420" y="3064140"/>
              <a:ext cx="2763159" cy="1005840"/>
            </p:xfrm>
            <a:graphic>
              <a:graphicData uri="http://schemas.openxmlformats.org/drawingml/2006/table">
                <a:tbl>
                  <a:tblPr firstRow="1" bandRow="1">
                    <a:tableStyleId>{5C22544A-7EE6-4342-B048-85BDC9FD1C3A}</a:tableStyleId>
                  </a:tblPr>
                  <a:tblGrid>
                    <a:gridCol w="921053">
                      <a:extLst>
                        <a:ext uri="{9D8B030D-6E8A-4147-A177-3AD203B41FA5}">
                          <a16:colId xmlns:a16="http://schemas.microsoft.com/office/drawing/2014/main" val="839121566"/>
                        </a:ext>
                      </a:extLst>
                    </a:gridCol>
                    <a:gridCol w="921053">
                      <a:extLst>
                        <a:ext uri="{9D8B030D-6E8A-4147-A177-3AD203B41FA5}">
                          <a16:colId xmlns:a16="http://schemas.microsoft.com/office/drawing/2014/main" val="3613736940"/>
                        </a:ext>
                      </a:extLst>
                    </a:gridCol>
                    <a:gridCol w="921053">
                      <a:extLst>
                        <a:ext uri="{9D8B030D-6E8A-4147-A177-3AD203B41FA5}">
                          <a16:colId xmlns:a16="http://schemas.microsoft.com/office/drawing/2014/main" val="2679726671"/>
                        </a:ext>
                      </a:extLst>
                    </a:gridCol>
                  </a:tblGrid>
                  <a:tr h="449466">
                    <a:tc>
                      <a:txBody>
                        <a:bodyPr/>
                        <a:lstStyle/>
                        <a:p>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b="0" i="1" smtClean="0">
                                    <a:solidFill>
                                      <a:schemeClr val="tx1"/>
                                    </a:solidFill>
                                    <a:latin typeface="Cambria Math" panose="02040503050406030204" pitchFamily="18" charset="0"/>
                                  </a:rPr>
                                  <m:t>10</m:t>
                                </m:r>
                              </m:oMath>
                            </m:oMathPara>
                          </a14:m>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b="0" i="1" smtClean="0">
                                    <a:solidFill>
                                      <a:schemeClr val="tx1"/>
                                    </a:solidFill>
                                    <a:latin typeface="Cambria Math" panose="02040503050406030204" pitchFamily="18" charset="0"/>
                                  </a:rPr>
                                  <m:t>4</m:t>
                                </m:r>
                              </m:oMath>
                            </m:oMathPara>
                          </a14:m>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228215320"/>
                      </a:ext>
                    </a:extLst>
                  </a:tr>
                  <a:tr h="256838">
                    <a:tc>
                      <a:txBody>
                        <a:bodyPr/>
                        <a:lstStyle/>
                        <a:p>
                          <a:pPr algn="r"/>
                          <a14:m>
                            <m:oMath xmlns:m="http://schemas.openxmlformats.org/officeDocument/2006/math">
                              <m:r>
                                <a:rPr lang="en-AU" b="0" i="1" smtClean="0">
                                  <a:solidFill>
                                    <a:schemeClr val="tx1"/>
                                  </a:solidFill>
                                  <a:latin typeface="Cambria Math" panose="02040503050406030204" pitchFamily="18" charset="0"/>
                                </a:rPr>
                                <m:t>8</m:t>
                              </m:r>
                            </m:oMath>
                          </a14:m>
                          <a:r>
                            <a:rPr lang="en-AU" b="0" dirty="0">
                              <a:solidFill>
                                <a:schemeClr val="tx1"/>
                              </a:solidFill>
                            </a:rPr>
                            <a:t>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512877"/>
                      </a:ext>
                    </a:extLst>
                  </a:tr>
                </a:tbl>
              </a:graphicData>
            </a:graphic>
          </p:graphicFrame>
        </mc:Choice>
        <mc:Fallback xmlns="">
          <p:graphicFrame>
            <p:nvGraphicFramePr>
              <p:cNvPr id="16" name="Content Placeholder 3">
                <a:extLst>
                  <a:ext uri="{FF2B5EF4-FFF2-40B4-BE49-F238E27FC236}">
                    <a16:creationId xmlns:a16="http://schemas.microsoft.com/office/drawing/2014/main" id="{D601C782-968A-403B-B69F-E72828C4B89C}"/>
                  </a:ext>
                </a:extLst>
              </p:cNvPr>
              <p:cNvGraphicFramePr>
                <a:graphicFrameLocks/>
              </p:cNvGraphicFramePr>
              <p:nvPr>
                <p:extLst>
                  <p:ext uri="{D42A27DB-BD31-4B8C-83A1-F6EECF244321}">
                    <p14:modId xmlns:p14="http://schemas.microsoft.com/office/powerpoint/2010/main" val="2846801968"/>
                  </p:ext>
                </p:extLst>
              </p:nvPr>
            </p:nvGraphicFramePr>
            <p:xfrm>
              <a:off x="4714420" y="3064140"/>
              <a:ext cx="2763159" cy="1005840"/>
            </p:xfrm>
            <a:graphic>
              <a:graphicData uri="http://schemas.openxmlformats.org/drawingml/2006/table">
                <a:tbl>
                  <a:tblPr firstRow="1" bandRow="1">
                    <a:tableStyleId>{5C22544A-7EE6-4342-B048-85BDC9FD1C3A}</a:tableStyleId>
                  </a:tblPr>
                  <a:tblGrid>
                    <a:gridCol w="921053">
                      <a:extLst>
                        <a:ext uri="{9D8B030D-6E8A-4147-A177-3AD203B41FA5}">
                          <a16:colId xmlns:a16="http://schemas.microsoft.com/office/drawing/2014/main" val="839121566"/>
                        </a:ext>
                      </a:extLst>
                    </a:gridCol>
                    <a:gridCol w="921053">
                      <a:extLst>
                        <a:ext uri="{9D8B030D-6E8A-4147-A177-3AD203B41FA5}">
                          <a16:colId xmlns:a16="http://schemas.microsoft.com/office/drawing/2014/main" val="3613736940"/>
                        </a:ext>
                      </a:extLst>
                    </a:gridCol>
                    <a:gridCol w="921053">
                      <a:extLst>
                        <a:ext uri="{9D8B030D-6E8A-4147-A177-3AD203B41FA5}">
                          <a16:colId xmlns:a16="http://schemas.microsoft.com/office/drawing/2014/main" val="2679726671"/>
                        </a:ext>
                      </a:extLst>
                    </a:gridCol>
                  </a:tblGrid>
                  <a:tr h="640080">
                    <a:tc>
                      <a:txBody>
                        <a:bodyPr/>
                        <a:lstStyle/>
                        <a:p>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99342" r="-100658" b="-58491"/>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662" r="-1325" b="-58491"/>
                          </a:stretch>
                        </a:blipFill>
                      </a:tcPr>
                    </a:tc>
                    <a:extLst>
                      <a:ext uri="{0D108BD9-81ED-4DB2-BD59-A6C34878D82A}">
                        <a16:rowId xmlns:a16="http://schemas.microsoft.com/office/drawing/2014/main" val="2228215320"/>
                      </a:ext>
                    </a:extLst>
                  </a:tr>
                  <a:tr h="365760">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76667" r="-201987" b="-3333"/>
                          </a:stretch>
                        </a:blip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512877"/>
                      </a:ext>
                    </a:extLst>
                  </a:tr>
                </a:tbl>
              </a:graphicData>
            </a:graphic>
          </p:graphicFrame>
        </mc:Fallback>
      </mc:AlternateContent>
      <p:sp>
        <p:nvSpPr>
          <p:cNvPr id="18" name="TextBox 17">
            <a:extLst>
              <a:ext uri="{FF2B5EF4-FFF2-40B4-BE49-F238E27FC236}">
                <a16:creationId xmlns:a16="http://schemas.microsoft.com/office/drawing/2014/main" id="{5F6FE938-8042-45C1-B45E-60DAF404F319}"/>
              </a:ext>
            </a:extLst>
          </p:cNvPr>
          <p:cNvSpPr txBox="1"/>
          <p:nvPr/>
        </p:nvSpPr>
        <p:spPr>
          <a:xfrm>
            <a:off x="2518789" y="1317090"/>
            <a:ext cx="8133761" cy="400110"/>
          </a:xfrm>
          <a:prstGeom prst="rect">
            <a:avLst/>
          </a:prstGeom>
          <a:noFill/>
        </p:spPr>
        <p:txBody>
          <a:bodyPr wrap="square" rtlCol="0">
            <a:spAutoFit/>
          </a:bodyPr>
          <a:lstStyle/>
          <a:p>
            <a:r>
              <a:rPr lang="en-AU" sz="2000" dirty="0">
                <a:latin typeface="Calibri" panose="020F0502020204030204" pitchFamily="34" charset="0"/>
                <a:cs typeface="Calibri" panose="020F0502020204030204" pitchFamily="34" charset="0"/>
              </a:rPr>
              <a:t>The product of two numbers can be found by using the distributive law.</a:t>
            </a:r>
          </a:p>
        </p:txBody>
      </p:sp>
      <p:sp>
        <p:nvSpPr>
          <p:cNvPr id="4" name="TextBox 3">
            <a:extLst>
              <a:ext uri="{FF2B5EF4-FFF2-40B4-BE49-F238E27FC236}">
                <a16:creationId xmlns:a16="http://schemas.microsoft.com/office/drawing/2014/main" id="{94EB5FF2-EEAB-4400-8AF1-39A970C4E770}"/>
              </a:ext>
            </a:extLst>
          </p:cNvPr>
          <p:cNvSpPr txBox="1"/>
          <p:nvPr/>
        </p:nvSpPr>
        <p:spPr>
          <a:xfrm>
            <a:off x="2518789" y="1717200"/>
            <a:ext cx="1569099" cy="400110"/>
          </a:xfrm>
          <a:prstGeom prst="rect">
            <a:avLst/>
          </a:prstGeom>
          <a:noFill/>
        </p:spPr>
        <p:txBody>
          <a:bodyPr wrap="square" rtlCol="0">
            <a:spAutoFit/>
          </a:bodyPr>
          <a:lstStyle/>
          <a:p>
            <a:r>
              <a:rPr lang="en-AU" sz="2000" u="sng" dirty="0">
                <a:latin typeface="Calibri" panose="020F0502020204030204" pitchFamily="34" charset="0"/>
                <a:cs typeface="Calibri" panose="020F0502020204030204" pitchFamily="34" charset="0"/>
              </a:rPr>
              <a:t>Example 1</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E1894B4-2355-45D6-9D3A-96C13A68C79C}"/>
                  </a:ext>
                </a:extLst>
              </p:cNvPr>
              <p:cNvSpPr txBox="1"/>
              <p:nvPr/>
            </p:nvSpPr>
            <p:spPr>
              <a:xfrm>
                <a:off x="2518789" y="2046379"/>
                <a:ext cx="943843"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a:latin typeface="Cambria Math" panose="02040503050406030204" pitchFamily="18" charset="0"/>
                          <a:cs typeface="Calibri" panose="020F0502020204030204" pitchFamily="34" charset="0"/>
                        </a:rPr>
                        <m:t>8</m:t>
                      </m:r>
                      <m:r>
                        <a:rPr lang="en-AU" sz="2000" b="0" i="1" smtClean="0">
                          <a:latin typeface="Cambria Math" panose="02040503050406030204" pitchFamily="18" charset="0"/>
                          <a:ea typeface="Cambria Math" panose="02040503050406030204" pitchFamily="18" charset="0"/>
                          <a:cs typeface="Calibri" panose="020F0502020204030204" pitchFamily="34" charset="0"/>
                        </a:rPr>
                        <m:t>×14</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19" name="TextBox 18">
                <a:extLst>
                  <a:ext uri="{FF2B5EF4-FFF2-40B4-BE49-F238E27FC236}">
                    <a16:creationId xmlns:a16="http://schemas.microsoft.com/office/drawing/2014/main" id="{DE1894B4-2355-45D6-9D3A-96C13A68C79C}"/>
                  </a:ext>
                </a:extLst>
              </p:cNvPr>
              <p:cNvSpPr txBox="1">
                <a:spLocks noRot="1" noChangeAspect="1" noMove="1" noResize="1" noEditPoints="1" noAdjustHandles="1" noChangeArrowheads="1" noChangeShapeType="1" noTextEdit="1"/>
              </p:cNvSpPr>
              <p:nvPr/>
            </p:nvSpPr>
            <p:spPr>
              <a:xfrm>
                <a:off x="2518789" y="2046379"/>
                <a:ext cx="943843" cy="400110"/>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82AD4A7-E8FC-46C6-BC10-8A5B75413C15}"/>
                  </a:ext>
                </a:extLst>
              </p:cNvPr>
              <p:cNvSpPr txBox="1"/>
              <p:nvPr/>
            </p:nvSpPr>
            <p:spPr>
              <a:xfrm>
                <a:off x="2518788" y="2364470"/>
                <a:ext cx="6769581" cy="400110"/>
              </a:xfrm>
              <a:prstGeom prst="rect">
                <a:avLst/>
              </a:prstGeom>
              <a:noFill/>
            </p:spPr>
            <p:txBody>
              <a:bodyPr wrap="square" rtlCol="0">
                <a:spAutoFit/>
              </a:bodyPr>
              <a:lstStyle/>
              <a:p>
                <a:r>
                  <a:rPr lang="en-AU" sz="2000" b="0" dirty="0">
                    <a:latin typeface="Calibri" panose="020F0502020204030204" pitchFamily="34" charset="0"/>
                    <a:cs typeface="Calibri" panose="020F0502020204030204" pitchFamily="34" charset="0"/>
                  </a:rPr>
                  <a:t>1. We can write </a:t>
                </a:r>
                <a14:m>
                  <m:oMath xmlns:m="http://schemas.openxmlformats.org/officeDocument/2006/math">
                    <m:r>
                      <a:rPr lang="en-AU" sz="2000" i="1">
                        <a:latin typeface="Cambria Math" panose="02040503050406030204" pitchFamily="18" charset="0"/>
                        <a:cs typeface="Calibri" panose="020F0502020204030204" pitchFamily="34" charset="0"/>
                      </a:rPr>
                      <m:t>8</m:t>
                    </m:r>
                    <m:r>
                      <a:rPr lang="en-AU" sz="2000" b="0" i="1" smtClean="0">
                        <a:latin typeface="Cambria Math" panose="02040503050406030204" pitchFamily="18" charset="0"/>
                        <a:ea typeface="Cambria Math" panose="02040503050406030204" pitchFamily="18" charset="0"/>
                        <a:cs typeface="Calibri" panose="020F0502020204030204" pitchFamily="34" charset="0"/>
                      </a:rPr>
                      <m:t>×14</m:t>
                    </m:r>
                  </m:oMath>
                </a14:m>
                <a:r>
                  <a:rPr lang="en-AU" sz="2000" dirty="0">
                    <a:latin typeface="Calibri" panose="020F0502020204030204" pitchFamily="34" charset="0"/>
                    <a:cs typeface="Calibri" panose="020F0502020204030204" pitchFamily="34" charset="0"/>
                  </a:rPr>
                  <a:t> as </a:t>
                </a:r>
                <a14:m>
                  <m:oMath xmlns:m="http://schemas.openxmlformats.org/officeDocument/2006/math">
                    <m:r>
                      <a:rPr lang="en-AU" sz="2000" b="0" i="1" smtClean="0">
                        <a:latin typeface="Cambria Math" panose="02040503050406030204" pitchFamily="18" charset="0"/>
                        <a:cs typeface="Calibri" panose="020F0502020204030204" pitchFamily="34" charset="0"/>
                      </a:rPr>
                      <m:t>8</m:t>
                    </m:r>
                    <m:r>
                      <a:rPr lang="en-AU" sz="2000" b="0" i="1" smtClean="0">
                        <a:latin typeface="Cambria Math" panose="02040503050406030204" pitchFamily="18" charset="0"/>
                        <a:ea typeface="Cambria Math" panose="02040503050406030204" pitchFamily="18" charset="0"/>
                        <a:cs typeface="Calibri" panose="020F0502020204030204" pitchFamily="34" charset="0"/>
                      </a:rPr>
                      <m:t>×(10+4)</m:t>
                    </m:r>
                  </m:oMath>
                </a14:m>
                <a:r>
                  <a:rPr lang="en-AU" sz="2000" dirty="0">
                    <a:latin typeface="Calibri" panose="020F0502020204030204" pitchFamily="34" charset="0"/>
                    <a:cs typeface="Calibri" panose="020F0502020204030204" pitchFamily="34" charset="0"/>
                  </a:rPr>
                  <a:t> because </a:t>
                </a:r>
                <a14:m>
                  <m:oMath xmlns:m="http://schemas.openxmlformats.org/officeDocument/2006/math">
                    <m:r>
                      <a:rPr lang="en-AU" sz="2000" b="0" i="1" smtClean="0">
                        <a:latin typeface="Cambria Math" panose="02040503050406030204" pitchFamily="18" charset="0"/>
                        <a:cs typeface="Calibri" panose="020F0502020204030204" pitchFamily="34" charset="0"/>
                      </a:rPr>
                      <m:t>14=10+4</m:t>
                    </m:r>
                  </m:oMath>
                </a14:m>
                <a:endParaRPr lang="en-AU" sz="2000" dirty="0">
                  <a:latin typeface="Calibri" panose="020F0502020204030204" pitchFamily="34" charset="0"/>
                  <a:cs typeface="Calibri" panose="020F0502020204030204" pitchFamily="34" charset="0"/>
                </a:endParaRPr>
              </a:p>
            </p:txBody>
          </p:sp>
        </mc:Choice>
        <mc:Fallback xmlns="">
          <p:sp>
            <p:nvSpPr>
              <p:cNvPr id="20" name="TextBox 19">
                <a:extLst>
                  <a:ext uri="{FF2B5EF4-FFF2-40B4-BE49-F238E27FC236}">
                    <a16:creationId xmlns:a16="http://schemas.microsoft.com/office/drawing/2014/main" id="{482AD4A7-E8FC-46C6-BC10-8A5B75413C15}"/>
                  </a:ext>
                </a:extLst>
              </p:cNvPr>
              <p:cNvSpPr txBox="1">
                <a:spLocks noRot="1" noChangeAspect="1" noMove="1" noResize="1" noEditPoints="1" noAdjustHandles="1" noChangeArrowheads="1" noChangeShapeType="1" noTextEdit="1"/>
              </p:cNvSpPr>
              <p:nvPr/>
            </p:nvSpPr>
            <p:spPr>
              <a:xfrm>
                <a:off x="2518788" y="2364470"/>
                <a:ext cx="6769581" cy="400110"/>
              </a:xfrm>
              <a:prstGeom prst="rect">
                <a:avLst/>
              </a:prstGeom>
              <a:blipFill>
                <a:blip r:embed="rId5"/>
                <a:stretch>
                  <a:fillRect l="-900" t="-9091" b="-25758"/>
                </a:stretch>
              </a:blipFill>
            </p:spPr>
            <p:txBody>
              <a:bodyPr/>
              <a:lstStyle/>
              <a:p>
                <a:r>
                  <a:rPr lang="en-AU">
                    <a:noFill/>
                  </a:rPr>
                  <a:t> </a:t>
                </a:r>
              </a:p>
            </p:txBody>
          </p:sp>
        </mc:Fallback>
      </mc:AlternateContent>
      <p:sp>
        <p:nvSpPr>
          <p:cNvPr id="21" name="TextBox 20">
            <a:extLst>
              <a:ext uri="{FF2B5EF4-FFF2-40B4-BE49-F238E27FC236}">
                <a16:creationId xmlns:a16="http://schemas.microsoft.com/office/drawing/2014/main" id="{C71D6EB0-B5DE-4929-ABF9-712A59D912A6}"/>
              </a:ext>
            </a:extLst>
          </p:cNvPr>
          <p:cNvSpPr txBox="1"/>
          <p:nvPr/>
        </p:nvSpPr>
        <p:spPr>
          <a:xfrm>
            <a:off x="2518788" y="2664674"/>
            <a:ext cx="7290745" cy="400110"/>
          </a:xfrm>
          <a:prstGeom prst="rect">
            <a:avLst/>
          </a:prstGeom>
          <a:noFill/>
        </p:spPr>
        <p:txBody>
          <a:bodyPr wrap="square" rtlCol="0">
            <a:spAutoFit/>
          </a:bodyPr>
          <a:lstStyle/>
          <a:p>
            <a:r>
              <a:rPr lang="en-AU" sz="2000" dirty="0">
                <a:latin typeface="Calibri" panose="020F0502020204030204" pitchFamily="34" charset="0"/>
                <a:cs typeface="Calibri" panose="020F0502020204030204" pitchFamily="34" charset="0"/>
              </a:rPr>
              <a:t>2. We then set up rectangles to work out the area of them like this.</a:t>
            </a:r>
            <a:r>
              <a:rPr lang="en-AU" sz="2000" b="0" dirty="0">
                <a:latin typeface="Calibri" panose="020F0502020204030204" pitchFamily="34" charset="0"/>
                <a:cs typeface="Calibri" panose="020F0502020204030204" pitchFamily="34" charset="0"/>
              </a:rPr>
              <a:t> </a:t>
            </a:r>
            <a:endParaRPr lang="en-AU" sz="2000" dirty="0">
              <a:latin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8DECC412-157B-487D-A5D9-167CCC1A1769}"/>
              </a:ext>
            </a:extLst>
          </p:cNvPr>
          <p:cNvSpPr txBox="1"/>
          <p:nvPr/>
        </p:nvSpPr>
        <p:spPr>
          <a:xfrm>
            <a:off x="2518788" y="4078093"/>
            <a:ext cx="9189773" cy="400110"/>
          </a:xfrm>
          <a:prstGeom prst="rect">
            <a:avLst/>
          </a:prstGeom>
          <a:noFill/>
        </p:spPr>
        <p:txBody>
          <a:bodyPr wrap="square" rtlCol="0">
            <a:spAutoFit/>
          </a:bodyPr>
          <a:lstStyle/>
          <a:p>
            <a:r>
              <a:rPr lang="en-AU" sz="2000" b="0" dirty="0">
                <a:latin typeface="Calibri" panose="020F0502020204030204" pitchFamily="34" charset="0"/>
                <a:cs typeface="Calibri" panose="020F0502020204030204" pitchFamily="34" charset="0"/>
              </a:rPr>
              <a:t>3. We work out the area of the rectangles by multiplying the lengths with the height.</a:t>
            </a:r>
            <a:endParaRPr lang="en-AU" sz="2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graphicFrame>
            <p:nvGraphicFramePr>
              <p:cNvPr id="26" name="Content Placeholder 3">
                <a:extLst>
                  <a:ext uri="{FF2B5EF4-FFF2-40B4-BE49-F238E27FC236}">
                    <a16:creationId xmlns:a16="http://schemas.microsoft.com/office/drawing/2014/main" id="{FA1E0784-5B86-443D-A55F-96DB9FABC57F}"/>
                  </a:ext>
                </a:extLst>
              </p:cNvPr>
              <p:cNvGraphicFramePr>
                <a:graphicFrameLocks/>
              </p:cNvGraphicFramePr>
              <p:nvPr>
                <p:extLst>
                  <p:ext uri="{D42A27DB-BD31-4B8C-83A1-F6EECF244321}">
                    <p14:modId xmlns:p14="http://schemas.microsoft.com/office/powerpoint/2010/main" val="136956898"/>
                  </p:ext>
                </p:extLst>
              </p:nvPr>
            </p:nvGraphicFramePr>
            <p:xfrm>
              <a:off x="4368694" y="4443840"/>
              <a:ext cx="4140033" cy="1005840"/>
            </p:xfrm>
            <a:graphic>
              <a:graphicData uri="http://schemas.openxmlformats.org/drawingml/2006/table">
                <a:tbl>
                  <a:tblPr firstRow="1" bandRow="1">
                    <a:tableStyleId>{5C22544A-7EE6-4342-B048-85BDC9FD1C3A}</a:tableStyleId>
                  </a:tblPr>
                  <a:tblGrid>
                    <a:gridCol w="1380011">
                      <a:extLst>
                        <a:ext uri="{9D8B030D-6E8A-4147-A177-3AD203B41FA5}">
                          <a16:colId xmlns:a16="http://schemas.microsoft.com/office/drawing/2014/main" val="839121566"/>
                        </a:ext>
                      </a:extLst>
                    </a:gridCol>
                    <a:gridCol w="1380011">
                      <a:extLst>
                        <a:ext uri="{9D8B030D-6E8A-4147-A177-3AD203B41FA5}">
                          <a16:colId xmlns:a16="http://schemas.microsoft.com/office/drawing/2014/main" val="3613736940"/>
                        </a:ext>
                      </a:extLst>
                    </a:gridCol>
                    <a:gridCol w="1380011">
                      <a:extLst>
                        <a:ext uri="{9D8B030D-6E8A-4147-A177-3AD203B41FA5}">
                          <a16:colId xmlns:a16="http://schemas.microsoft.com/office/drawing/2014/main" val="2679726671"/>
                        </a:ext>
                      </a:extLst>
                    </a:gridCol>
                  </a:tblGrid>
                  <a:tr h="505892">
                    <a:tc>
                      <a:txBody>
                        <a:bodyPr/>
                        <a:lstStyle/>
                        <a:p>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b="0" i="1" smtClean="0">
                                    <a:solidFill>
                                      <a:schemeClr val="tx1"/>
                                    </a:solidFill>
                                    <a:latin typeface="Cambria Math" panose="02040503050406030204" pitchFamily="18" charset="0"/>
                                  </a:rPr>
                                  <m:t>10</m:t>
                                </m:r>
                              </m:oMath>
                            </m:oMathPara>
                          </a14:m>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b="0" i="1" smtClean="0">
                                    <a:solidFill>
                                      <a:schemeClr val="tx1"/>
                                    </a:solidFill>
                                    <a:latin typeface="Cambria Math" panose="02040503050406030204" pitchFamily="18" charset="0"/>
                                  </a:rPr>
                                  <m:t>4</m:t>
                                </m:r>
                              </m:oMath>
                            </m:oMathPara>
                          </a14:m>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228215320"/>
                      </a:ext>
                    </a:extLst>
                  </a:tr>
                  <a:tr h="289080">
                    <a:tc>
                      <a:txBody>
                        <a:bodyPr/>
                        <a:lstStyle/>
                        <a:p>
                          <a:pPr algn="r"/>
                          <a14:m>
                            <m:oMath xmlns:m="http://schemas.openxmlformats.org/officeDocument/2006/math">
                              <m:r>
                                <a:rPr lang="en-AU" b="0" i="1" smtClean="0">
                                  <a:solidFill>
                                    <a:schemeClr val="tx1"/>
                                  </a:solidFill>
                                  <a:latin typeface="Cambria Math" panose="02040503050406030204" pitchFamily="18" charset="0"/>
                                </a:rPr>
                                <m:t>8</m:t>
                              </m:r>
                            </m:oMath>
                          </a14:m>
                          <a:r>
                            <a:rPr lang="en-AU" b="0" dirty="0">
                              <a:solidFill>
                                <a:schemeClr val="tx1"/>
                              </a:solidFill>
                            </a:rPr>
                            <a:t>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512877"/>
                      </a:ext>
                    </a:extLst>
                  </a:tr>
                </a:tbl>
              </a:graphicData>
            </a:graphic>
          </p:graphicFrame>
        </mc:Choice>
        <mc:Fallback xmlns="">
          <p:graphicFrame>
            <p:nvGraphicFramePr>
              <p:cNvPr id="26" name="Content Placeholder 3">
                <a:extLst>
                  <a:ext uri="{FF2B5EF4-FFF2-40B4-BE49-F238E27FC236}">
                    <a16:creationId xmlns:a16="http://schemas.microsoft.com/office/drawing/2014/main" id="{FA1E0784-5B86-443D-A55F-96DB9FABC57F}"/>
                  </a:ext>
                </a:extLst>
              </p:cNvPr>
              <p:cNvGraphicFramePr>
                <a:graphicFrameLocks/>
              </p:cNvGraphicFramePr>
              <p:nvPr>
                <p:extLst>
                  <p:ext uri="{D42A27DB-BD31-4B8C-83A1-F6EECF244321}">
                    <p14:modId xmlns:p14="http://schemas.microsoft.com/office/powerpoint/2010/main" val="136956898"/>
                  </p:ext>
                </p:extLst>
              </p:nvPr>
            </p:nvGraphicFramePr>
            <p:xfrm>
              <a:off x="4368694" y="4443840"/>
              <a:ext cx="4140033" cy="1005840"/>
            </p:xfrm>
            <a:graphic>
              <a:graphicData uri="http://schemas.openxmlformats.org/drawingml/2006/table">
                <a:tbl>
                  <a:tblPr firstRow="1" bandRow="1">
                    <a:tableStyleId>{5C22544A-7EE6-4342-B048-85BDC9FD1C3A}</a:tableStyleId>
                  </a:tblPr>
                  <a:tblGrid>
                    <a:gridCol w="1380011">
                      <a:extLst>
                        <a:ext uri="{9D8B030D-6E8A-4147-A177-3AD203B41FA5}">
                          <a16:colId xmlns:a16="http://schemas.microsoft.com/office/drawing/2014/main" val="839121566"/>
                        </a:ext>
                      </a:extLst>
                    </a:gridCol>
                    <a:gridCol w="1380011">
                      <a:extLst>
                        <a:ext uri="{9D8B030D-6E8A-4147-A177-3AD203B41FA5}">
                          <a16:colId xmlns:a16="http://schemas.microsoft.com/office/drawing/2014/main" val="3613736940"/>
                        </a:ext>
                      </a:extLst>
                    </a:gridCol>
                    <a:gridCol w="1380011">
                      <a:extLst>
                        <a:ext uri="{9D8B030D-6E8A-4147-A177-3AD203B41FA5}">
                          <a16:colId xmlns:a16="http://schemas.microsoft.com/office/drawing/2014/main" val="2679726671"/>
                        </a:ext>
                      </a:extLst>
                    </a:gridCol>
                  </a:tblGrid>
                  <a:tr h="640080">
                    <a:tc>
                      <a:txBody>
                        <a:bodyPr/>
                        <a:lstStyle/>
                        <a:p>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00442" r="-101327" b="-59434"/>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99559" r="-881" b="-59434"/>
                          </a:stretch>
                        </a:blipFill>
                      </a:tcPr>
                    </a:tc>
                    <a:extLst>
                      <a:ext uri="{0D108BD9-81ED-4DB2-BD59-A6C34878D82A}">
                        <a16:rowId xmlns:a16="http://schemas.microsoft.com/office/drawing/2014/main" val="2228215320"/>
                      </a:ext>
                    </a:extLst>
                  </a:tr>
                  <a:tr h="365760">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t="-176667" r="-200441" b="-5000"/>
                          </a:stretch>
                        </a:blip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512877"/>
                      </a:ext>
                    </a:extLst>
                  </a:tr>
                </a:tbl>
              </a:graphicData>
            </a:graphic>
          </p:graphicFrame>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0315003-E58B-4257-9EA2-924B94AFEB9D}"/>
                  </a:ext>
                </a:extLst>
              </p:cNvPr>
              <p:cNvSpPr txBox="1"/>
              <p:nvPr/>
            </p:nvSpPr>
            <p:spPr>
              <a:xfrm>
                <a:off x="5609706" y="5064129"/>
                <a:ext cx="165800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cs typeface="Calibri" panose="020F0502020204030204" pitchFamily="34" charset="0"/>
                        </a:rPr>
                        <m:t>8</m:t>
                      </m:r>
                      <m:r>
                        <a:rPr lang="en-AU" sz="2000" b="0" i="1" smtClean="0">
                          <a:latin typeface="Cambria Math" panose="02040503050406030204" pitchFamily="18" charset="0"/>
                          <a:ea typeface="Cambria Math" panose="02040503050406030204" pitchFamily="18" charset="0"/>
                          <a:cs typeface="Calibri" panose="020F0502020204030204" pitchFamily="34" charset="0"/>
                        </a:rPr>
                        <m:t>×10=80</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27" name="TextBox 26">
                <a:extLst>
                  <a:ext uri="{FF2B5EF4-FFF2-40B4-BE49-F238E27FC236}">
                    <a16:creationId xmlns:a16="http://schemas.microsoft.com/office/drawing/2014/main" id="{00315003-E58B-4257-9EA2-924B94AFEB9D}"/>
                  </a:ext>
                </a:extLst>
              </p:cNvPr>
              <p:cNvSpPr txBox="1">
                <a:spLocks noRot="1" noChangeAspect="1" noMove="1" noResize="1" noEditPoints="1" noAdjustHandles="1" noChangeArrowheads="1" noChangeShapeType="1" noTextEdit="1"/>
              </p:cNvSpPr>
              <p:nvPr/>
            </p:nvSpPr>
            <p:spPr>
              <a:xfrm>
                <a:off x="5609706" y="5064129"/>
                <a:ext cx="1658007" cy="400110"/>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CDB7171-9526-44A6-86CB-B7B3E9954C07}"/>
                  </a:ext>
                </a:extLst>
              </p:cNvPr>
              <p:cNvSpPr txBox="1"/>
              <p:nvPr/>
            </p:nvSpPr>
            <p:spPr>
              <a:xfrm>
                <a:off x="7170123" y="5064129"/>
                <a:ext cx="143619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cs typeface="Calibri" panose="020F0502020204030204" pitchFamily="34" charset="0"/>
                        </a:rPr>
                        <m:t>8</m:t>
                      </m:r>
                      <m:r>
                        <a:rPr lang="en-AU" sz="2000" b="0" i="1" smtClean="0">
                          <a:latin typeface="Cambria Math" panose="02040503050406030204" pitchFamily="18" charset="0"/>
                          <a:ea typeface="Cambria Math" panose="02040503050406030204" pitchFamily="18" charset="0"/>
                          <a:cs typeface="Calibri" panose="020F0502020204030204" pitchFamily="34" charset="0"/>
                        </a:rPr>
                        <m:t>×4=32</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28" name="TextBox 27">
                <a:extLst>
                  <a:ext uri="{FF2B5EF4-FFF2-40B4-BE49-F238E27FC236}">
                    <a16:creationId xmlns:a16="http://schemas.microsoft.com/office/drawing/2014/main" id="{BCDB7171-9526-44A6-86CB-B7B3E9954C07}"/>
                  </a:ext>
                </a:extLst>
              </p:cNvPr>
              <p:cNvSpPr txBox="1">
                <a:spLocks noRot="1" noChangeAspect="1" noMove="1" noResize="1" noEditPoints="1" noAdjustHandles="1" noChangeArrowheads="1" noChangeShapeType="1" noTextEdit="1"/>
              </p:cNvSpPr>
              <p:nvPr/>
            </p:nvSpPr>
            <p:spPr>
              <a:xfrm>
                <a:off x="7170123" y="5064129"/>
                <a:ext cx="1436194" cy="400110"/>
              </a:xfrm>
              <a:prstGeom prst="rect">
                <a:avLst/>
              </a:prstGeom>
              <a:blipFill>
                <a:blip r:embed="rId8"/>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080EA14-C86A-4F05-83C9-5BA8A2988507}"/>
                  </a:ext>
                </a:extLst>
              </p:cNvPr>
              <p:cNvSpPr txBox="1"/>
              <p:nvPr/>
            </p:nvSpPr>
            <p:spPr>
              <a:xfrm>
                <a:off x="2518787" y="5787816"/>
                <a:ext cx="9523989" cy="707886"/>
              </a:xfrm>
              <a:prstGeom prst="rect">
                <a:avLst/>
              </a:prstGeom>
              <a:noFill/>
            </p:spPr>
            <p:txBody>
              <a:bodyPr wrap="square" rtlCol="0">
                <a:spAutoFit/>
              </a:bodyPr>
              <a:lstStyle/>
              <a:p>
                <a:r>
                  <a:rPr lang="en-AU" sz="2000" dirty="0">
                    <a:latin typeface="Calibri" panose="020F0502020204030204" pitchFamily="34" charset="0"/>
                    <a:cs typeface="Calibri" panose="020F0502020204030204" pitchFamily="34" charset="0"/>
                  </a:rPr>
                  <a:t>4</a:t>
                </a:r>
                <a:r>
                  <a:rPr lang="en-AU" sz="2000" b="0" dirty="0">
                    <a:latin typeface="Calibri" panose="020F0502020204030204" pitchFamily="34" charset="0"/>
                    <a:cs typeface="Calibri" panose="020F0502020204030204" pitchFamily="34" charset="0"/>
                  </a:rPr>
                  <a:t>. </a:t>
                </a:r>
                <a:r>
                  <a:rPr lang="en-AU" sz="2000" dirty="0">
                    <a:latin typeface="Calibri" panose="020F0502020204030204" pitchFamily="34" charset="0"/>
                    <a:cs typeface="Calibri" panose="020F0502020204030204" pitchFamily="34" charset="0"/>
                  </a:rPr>
                  <a:t>Evaluate the sum of the area of the rectangles, </a:t>
                </a:r>
                <a14:m>
                  <m:oMath xmlns:m="http://schemas.openxmlformats.org/officeDocument/2006/math">
                    <m:r>
                      <a:rPr lang="en-AU" sz="2000" b="0" i="1" smtClean="0">
                        <a:latin typeface="Cambria Math" panose="02040503050406030204" pitchFamily="18" charset="0"/>
                        <a:cs typeface="Calibri" panose="020F0502020204030204" pitchFamily="34" charset="0"/>
                      </a:rPr>
                      <m:t>80+32=112</m:t>
                    </m:r>
                  </m:oMath>
                </a14:m>
                <a:r>
                  <a:rPr lang="en-AU" sz="2000" dirty="0">
                    <a:latin typeface="Calibri" panose="020F0502020204030204" pitchFamily="34" charset="0"/>
                    <a:cs typeface="Calibri" panose="020F0502020204030204" pitchFamily="34" charset="0"/>
                  </a:rPr>
                  <a:t>. </a:t>
                </a:r>
                <a:br>
                  <a:rPr lang="en-AU" sz="2000" dirty="0">
                    <a:latin typeface="Calibri" panose="020F0502020204030204" pitchFamily="34" charset="0"/>
                    <a:cs typeface="Calibri" panose="020F0502020204030204" pitchFamily="34" charset="0"/>
                  </a:rPr>
                </a:br>
                <a:r>
                  <a:rPr lang="en-AU" sz="2000" dirty="0">
                    <a:latin typeface="Calibri" panose="020F0502020204030204" pitchFamily="34" charset="0"/>
                    <a:cs typeface="Calibri" panose="020F0502020204030204" pitchFamily="34" charset="0"/>
                  </a:rPr>
                  <a:t>This means that </a:t>
                </a:r>
                <a14:m>
                  <m:oMath xmlns:m="http://schemas.openxmlformats.org/officeDocument/2006/math">
                    <m:r>
                      <a:rPr lang="en-AU" sz="2000" b="0" i="1" smtClean="0">
                        <a:latin typeface="Cambria Math" panose="02040503050406030204" pitchFamily="18" charset="0"/>
                        <a:cs typeface="Calibri" panose="020F0502020204030204" pitchFamily="34" charset="0"/>
                      </a:rPr>
                      <m:t>8</m:t>
                    </m:r>
                    <m:r>
                      <a:rPr lang="en-AU" sz="2000" b="0" i="1" smtClean="0">
                        <a:latin typeface="Cambria Math" panose="02040503050406030204" pitchFamily="18" charset="0"/>
                        <a:ea typeface="Cambria Math" panose="02040503050406030204" pitchFamily="18" charset="0"/>
                        <a:cs typeface="Calibri" panose="020F0502020204030204" pitchFamily="34" charset="0"/>
                      </a:rPr>
                      <m:t>×14=132</m:t>
                    </m:r>
                  </m:oMath>
                </a14:m>
                <a:endParaRPr lang="en-AU" sz="2000" dirty="0">
                  <a:latin typeface="Calibri" panose="020F0502020204030204" pitchFamily="34" charset="0"/>
                  <a:cs typeface="Calibri" panose="020F0502020204030204" pitchFamily="34" charset="0"/>
                </a:endParaRPr>
              </a:p>
            </p:txBody>
          </p:sp>
        </mc:Choice>
        <mc:Fallback xmlns="">
          <p:sp>
            <p:nvSpPr>
              <p:cNvPr id="29" name="TextBox 28">
                <a:extLst>
                  <a:ext uri="{FF2B5EF4-FFF2-40B4-BE49-F238E27FC236}">
                    <a16:creationId xmlns:a16="http://schemas.microsoft.com/office/drawing/2014/main" id="{3080EA14-C86A-4F05-83C9-5BA8A2988507}"/>
                  </a:ext>
                </a:extLst>
              </p:cNvPr>
              <p:cNvSpPr txBox="1">
                <a:spLocks noRot="1" noChangeAspect="1" noMove="1" noResize="1" noEditPoints="1" noAdjustHandles="1" noChangeArrowheads="1" noChangeShapeType="1" noTextEdit="1"/>
              </p:cNvSpPr>
              <p:nvPr/>
            </p:nvSpPr>
            <p:spPr>
              <a:xfrm>
                <a:off x="2518787" y="5787816"/>
                <a:ext cx="9523989" cy="707886"/>
              </a:xfrm>
              <a:prstGeom prst="rect">
                <a:avLst/>
              </a:prstGeom>
              <a:blipFill>
                <a:blip r:embed="rId9"/>
                <a:stretch>
                  <a:fillRect l="-640" t="-4274" b="-13675"/>
                </a:stretch>
              </a:blipFill>
            </p:spPr>
            <p:txBody>
              <a:bodyPr/>
              <a:lstStyle/>
              <a:p>
                <a:r>
                  <a:rPr lang="en-AU">
                    <a:noFill/>
                  </a:rPr>
                  <a:t> </a:t>
                </a:r>
              </a:p>
            </p:txBody>
          </p:sp>
        </mc:Fallback>
      </mc:AlternateContent>
    </p:spTree>
    <p:extLst>
      <p:ext uri="{BB962C8B-B14F-4D97-AF65-F5344CB8AC3E}">
        <p14:creationId xmlns:p14="http://schemas.microsoft.com/office/powerpoint/2010/main" val="764854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randombar(horizontal)">
                                      <p:cBhvr>
                                        <p:cTn id="17" dur="500"/>
                                        <p:tgtEl>
                                          <p:spTgt spid="4"/>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randombar(horizontal)">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left)">
                                      <p:cBhvr>
                                        <p:cTn id="25"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par>
                                <p:cTn id="31" presetID="22" presetClass="entr" presetSubtype="8"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left)">
                                      <p:cBhvr>
                                        <p:cTn id="38" dur="500"/>
                                        <p:tgtEl>
                                          <p:spTgt spid="24"/>
                                        </p:tgtEl>
                                      </p:cBhvr>
                                    </p:animEffect>
                                  </p:childTnLst>
                                </p:cTn>
                              </p:par>
                              <p:par>
                                <p:cTn id="39" presetID="22" presetClass="entr" presetSubtype="8"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wipe(left)">
                                      <p:cBhvr>
                                        <p:cTn id="41" dur="500"/>
                                        <p:tgtEl>
                                          <p:spTgt spid="26"/>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randombar(horizontal)">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randombar(horizontal)">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wipe(left)">
                                      <p:cBhvr>
                                        <p:cTn id="5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P spid="4" grpId="0"/>
      <p:bldP spid="19" grpId="0"/>
      <p:bldP spid="20" grpId="0"/>
      <p:bldP spid="21" grpId="0"/>
      <p:bldP spid="24" grpId="0"/>
      <p:bldP spid="27" grpId="0"/>
      <p:bldP spid="28" grpId="0"/>
      <p:bldP spid="2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4994082"/>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230628" cy="523220"/>
          </a:xfrm>
          <a:prstGeom prst="rect">
            <a:avLst/>
          </a:prstGeom>
          <a:noFill/>
        </p:spPr>
        <p:txBody>
          <a:bodyPr wrap="none" rtlCol="0">
            <a:spAutoFit/>
          </a:bodyPr>
          <a:lstStyle/>
          <a:p>
            <a:r>
              <a:rPr lang="en-AU" sz="2800" dirty="0">
                <a:latin typeface="Calibri" panose="020F0502020204030204" pitchFamily="34" charset="0"/>
                <a:cs typeface="Calibri" panose="020F0502020204030204" pitchFamily="34" charset="0"/>
              </a:rPr>
              <a:t>Topic: Multiplication</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a:t>
            </a:r>
            <a:r>
              <a:rPr lang="en-US" sz="2400" dirty="0">
                <a:latin typeface="Calibri" panose="020F0502020204030204" pitchFamily="34" charset="0"/>
                <a:cs typeface="Calibri" panose="020F0502020204030204" pitchFamily="34" charset="0"/>
              </a:rPr>
              <a:t>What are strategies I can use to multiply whole numbers?</a:t>
            </a:r>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24278" y="5757038"/>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90DFE82-329E-4213-9CF8-A8FD3DCF967B}"/>
              </a:ext>
            </a:extLst>
          </p:cNvPr>
          <p:cNvSpPr txBox="1"/>
          <p:nvPr/>
        </p:nvSpPr>
        <p:spPr>
          <a:xfrm>
            <a:off x="9568370" y="196208"/>
            <a:ext cx="2546009"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Date: 22/03/2021</a:t>
            </a:r>
          </a:p>
        </p:txBody>
      </p:sp>
      <p:cxnSp>
        <p:nvCxnSpPr>
          <p:cNvPr id="25" name="Straight Connector 24">
            <a:extLst>
              <a:ext uri="{FF2B5EF4-FFF2-40B4-BE49-F238E27FC236}">
                <a16:creationId xmlns:a16="http://schemas.microsoft.com/office/drawing/2014/main" id="{B2CDAD20-C34B-4CAB-9BA2-2A1DCC9E489F}"/>
              </a:ext>
            </a:extLst>
          </p:cNvPr>
          <p:cNvCxnSpPr>
            <a:cxnSpLocks/>
          </p:cNvCxnSpPr>
          <p:nvPr/>
        </p:nvCxnSpPr>
        <p:spPr>
          <a:xfrm flipV="1">
            <a:off x="37322" y="6218703"/>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9A52CF44-418A-4D26-A2C1-AB7D3AB56463}"/>
              </a:ext>
            </a:extLst>
          </p:cNvPr>
          <p:cNvSpPr txBox="1"/>
          <p:nvPr/>
        </p:nvSpPr>
        <p:spPr>
          <a:xfrm flipH="1">
            <a:off x="93585" y="1326036"/>
            <a:ext cx="2195289"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2000" dirty="0">
                <a:solidFill>
                  <a:prstClr val="black"/>
                </a:solidFill>
                <a:latin typeface="Calibri" panose="020F0502020204030204" pitchFamily="34" charset="0"/>
                <a:cs typeface="Calibri" panose="020F0502020204030204" pitchFamily="34" charset="0"/>
              </a:rPr>
              <a:t>What is the </a:t>
            </a:r>
            <a:r>
              <a:rPr lang="en-AU" sz="2000" b="1" dirty="0">
                <a:solidFill>
                  <a:srgbClr val="FF0000"/>
                </a:solidFill>
                <a:latin typeface="Calibri" panose="020F0502020204030204" pitchFamily="34" charset="0"/>
                <a:cs typeface="Calibri" panose="020F0502020204030204" pitchFamily="34" charset="0"/>
              </a:rPr>
              <a:t>area model strategy</a:t>
            </a:r>
            <a:r>
              <a:rPr lang="en-AU" sz="2000" dirty="0">
                <a:solidFill>
                  <a:prstClr val="black"/>
                </a:solidFill>
                <a:latin typeface="Calibri" panose="020F0502020204030204" pitchFamily="34" charset="0"/>
                <a:cs typeface="Calibri" panose="020F0502020204030204" pitchFamily="34" charset="0"/>
              </a:rPr>
              <a:t>?</a:t>
            </a:r>
            <a:endParaRPr kumimoji="0" lang="en-AU"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graphicFrame>
            <p:nvGraphicFramePr>
              <p:cNvPr id="16" name="Content Placeholder 3">
                <a:extLst>
                  <a:ext uri="{FF2B5EF4-FFF2-40B4-BE49-F238E27FC236}">
                    <a16:creationId xmlns:a16="http://schemas.microsoft.com/office/drawing/2014/main" id="{D601C782-968A-403B-B69F-E72828C4B89C}"/>
                  </a:ext>
                </a:extLst>
              </p:cNvPr>
              <p:cNvGraphicFramePr>
                <a:graphicFrameLocks/>
              </p:cNvGraphicFramePr>
              <p:nvPr>
                <p:extLst>
                  <p:ext uri="{D42A27DB-BD31-4B8C-83A1-F6EECF244321}">
                    <p14:modId xmlns:p14="http://schemas.microsoft.com/office/powerpoint/2010/main" val="2690738356"/>
                  </p:ext>
                </p:extLst>
              </p:nvPr>
            </p:nvGraphicFramePr>
            <p:xfrm>
              <a:off x="4107297" y="2828121"/>
              <a:ext cx="4574687" cy="1546188"/>
            </p:xfrm>
            <a:graphic>
              <a:graphicData uri="http://schemas.openxmlformats.org/drawingml/2006/table">
                <a:tbl>
                  <a:tblPr firstRow="1" bandRow="1">
                    <a:tableStyleId>{5C22544A-7EE6-4342-B048-85BDC9FD1C3A}</a:tableStyleId>
                  </a:tblPr>
                  <a:tblGrid>
                    <a:gridCol w="1368405">
                      <a:extLst>
                        <a:ext uri="{9D8B030D-6E8A-4147-A177-3AD203B41FA5}">
                          <a16:colId xmlns:a16="http://schemas.microsoft.com/office/drawing/2014/main" val="839121566"/>
                        </a:ext>
                      </a:extLst>
                    </a:gridCol>
                    <a:gridCol w="1743245">
                      <a:extLst>
                        <a:ext uri="{9D8B030D-6E8A-4147-A177-3AD203B41FA5}">
                          <a16:colId xmlns:a16="http://schemas.microsoft.com/office/drawing/2014/main" val="3613736940"/>
                        </a:ext>
                      </a:extLst>
                    </a:gridCol>
                    <a:gridCol w="1463037">
                      <a:extLst>
                        <a:ext uri="{9D8B030D-6E8A-4147-A177-3AD203B41FA5}">
                          <a16:colId xmlns:a16="http://schemas.microsoft.com/office/drawing/2014/main" val="2679726671"/>
                        </a:ext>
                      </a:extLst>
                    </a:gridCol>
                  </a:tblGrid>
                  <a:tr h="489060">
                    <a:tc>
                      <a:txBody>
                        <a:bodyPr/>
                        <a:lstStyle/>
                        <a:p>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b="0" i="1" smtClean="0">
                                    <a:solidFill>
                                      <a:schemeClr val="tx1"/>
                                    </a:solidFill>
                                    <a:latin typeface="Cambria Math" panose="02040503050406030204" pitchFamily="18" charset="0"/>
                                  </a:rPr>
                                  <m:t>2</m:t>
                                </m:r>
                                <m:r>
                                  <a:rPr lang="en-AU" b="0" i="0" smtClean="0">
                                    <a:solidFill>
                                      <a:schemeClr val="tx1"/>
                                    </a:solidFill>
                                    <a:latin typeface="Cambria Math" panose="02040503050406030204" pitchFamily="18" charset="0"/>
                                  </a:rPr>
                                  <m:t>0</m:t>
                                </m:r>
                              </m:oMath>
                            </m:oMathPara>
                          </a14:m>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b="0" i="1" smtClean="0">
                                    <a:solidFill>
                                      <a:schemeClr val="tx1"/>
                                    </a:solidFill>
                                    <a:latin typeface="Cambria Math" panose="02040503050406030204" pitchFamily="18" charset="0"/>
                                  </a:rPr>
                                  <m:t>3</m:t>
                                </m:r>
                              </m:oMath>
                            </m:oMathPara>
                          </a14:m>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228215320"/>
                      </a:ext>
                    </a:extLst>
                  </a:tr>
                  <a:tr h="453054">
                    <a:tc>
                      <a:txBody>
                        <a:bodyPr/>
                        <a:lstStyle/>
                        <a:p>
                          <a:pPr algn="r"/>
                          <a14:m>
                            <m:oMath xmlns:m="http://schemas.openxmlformats.org/officeDocument/2006/math">
                              <m:r>
                                <a:rPr lang="en-AU" b="0" i="1" smtClean="0">
                                  <a:solidFill>
                                    <a:schemeClr val="tx1"/>
                                  </a:solidFill>
                                  <a:latin typeface="Cambria Math" panose="02040503050406030204" pitchFamily="18" charset="0"/>
                                </a:rPr>
                                <m:t>10</m:t>
                              </m:r>
                            </m:oMath>
                          </a14:m>
                          <a:r>
                            <a:rPr lang="en-AU" b="0" dirty="0">
                              <a:solidFill>
                                <a:schemeClr val="tx1"/>
                              </a:solidFill>
                            </a:rPr>
                            <a:t>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512877"/>
                      </a:ext>
                    </a:extLst>
                  </a:tr>
                  <a:tr h="453054">
                    <a:tc>
                      <a:txBody>
                        <a:bodyPr/>
                        <a:lstStyle/>
                        <a:p>
                          <a:pPr algn="r"/>
                          <a14:m>
                            <m:oMath xmlns:m="http://schemas.openxmlformats.org/officeDocument/2006/math">
                              <m:r>
                                <a:rPr lang="en-AU" b="0" i="1" smtClean="0">
                                  <a:solidFill>
                                    <a:schemeClr val="tx1"/>
                                  </a:solidFill>
                                  <a:latin typeface="Cambria Math" panose="02040503050406030204" pitchFamily="18" charset="0"/>
                                </a:rPr>
                                <m:t>5</m:t>
                              </m:r>
                            </m:oMath>
                          </a14:m>
                          <a:r>
                            <a:rPr lang="en-AU" b="0" dirty="0">
                              <a:solidFill>
                                <a:schemeClr val="tx1"/>
                              </a:solidFill>
                            </a:rPr>
                            <a:t>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5146707"/>
                      </a:ext>
                    </a:extLst>
                  </a:tr>
                </a:tbl>
              </a:graphicData>
            </a:graphic>
          </p:graphicFrame>
        </mc:Choice>
        <mc:Fallback xmlns="">
          <p:graphicFrame>
            <p:nvGraphicFramePr>
              <p:cNvPr id="16" name="Content Placeholder 3">
                <a:extLst>
                  <a:ext uri="{FF2B5EF4-FFF2-40B4-BE49-F238E27FC236}">
                    <a16:creationId xmlns:a16="http://schemas.microsoft.com/office/drawing/2014/main" id="{D601C782-968A-403B-B69F-E72828C4B89C}"/>
                  </a:ext>
                </a:extLst>
              </p:cNvPr>
              <p:cNvGraphicFramePr>
                <a:graphicFrameLocks/>
              </p:cNvGraphicFramePr>
              <p:nvPr>
                <p:extLst>
                  <p:ext uri="{D42A27DB-BD31-4B8C-83A1-F6EECF244321}">
                    <p14:modId xmlns:p14="http://schemas.microsoft.com/office/powerpoint/2010/main" val="2690738356"/>
                  </p:ext>
                </p:extLst>
              </p:nvPr>
            </p:nvGraphicFramePr>
            <p:xfrm>
              <a:off x="4107297" y="2828121"/>
              <a:ext cx="4574687" cy="1546188"/>
            </p:xfrm>
            <a:graphic>
              <a:graphicData uri="http://schemas.openxmlformats.org/drawingml/2006/table">
                <a:tbl>
                  <a:tblPr firstRow="1" bandRow="1">
                    <a:tableStyleId>{5C22544A-7EE6-4342-B048-85BDC9FD1C3A}</a:tableStyleId>
                  </a:tblPr>
                  <a:tblGrid>
                    <a:gridCol w="1368405">
                      <a:extLst>
                        <a:ext uri="{9D8B030D-6E8A-4147-A177-3AD203B41FA5}">
                          <a16:colId xmlns:a16="http://schemas.microsoft.com/office/drawing/2014/main" val="839121566"/>
                        </a:ext>
                      </a:extLst>
                    </a:gridCol>
                    <a:gridCol w="1743245">
                      <a:extLst>
                        <a:ext uri="{9D8B030D-6E8A-4147-A177-3AD203B41FA5}">
                          <a16:colId xmlns:a16="http://schemas.microsoft.com/office/drawing/2014/main" val="3613736940"/>
                        </a:ext>
                      </a:extLst>
                    </a:gridCol>
                    <a:gridCol w="1463037">
                      <a:extLst>
                        <a:ext uri="{9D8B030D-6E8A-4147-A177-3AD203B41FA5}">
                          <a16:colId xmlns:a16="http://schemas.microsoft.com/office/drawing/2014/main" val="2679726671"/>
                        </a:ext>
                      </a:extLst>
                    </a:gridCol>
                  </a:tblGrid>
                  <a:tr h="640080">
                    <a:tc>
                      <a:txBody>
                        <a:bodyPr/>
                        <a:lstStyle/>
                        <a:p>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78397" r="-84321" b="-14245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13333" r="-833" b="-142453"/>
                          </a:stretch>
                        </a:blipFill>
                      </a:tcPr>
                    </a:tc>
                    <a:extLst>
                      <a:ext uri="{0D108BD9-81ED-4DB2-BD59-A6C34878D82A}">
                        <a16:rowId xmlns:a16="http://schemas.microsoft.com/office/drawing/2014/main" val="2228215320"/>
                      </a:ext>
                    </a:extLst>
                  </a:tr>
                  <a:tr h="453054">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43243" r="-235111" b="-104054"/>
                          </a:stretch>
                        </a:blip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512877"/>
                      </a:ext>
                    </a:extLst>
                  </a:tr>
                  <a:tr h="453054">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40000" r="-235111" b="-2667"/>
                          </a:stretch>
                        </a:blip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5146707"/>
                      </a:ext>
                    </a:extLst>
                  </a:tr>
                </a:tbl>
              </a:graphicData>
            </a:graphic>
          </p:graphicFrame>
        </mc:Fallback>
      </mc:AlternateContent>
      <p:sp>
        <p:nvSpPr>
          <p:cNvPr id="18" name="TextBox 17">
            <a:extLst>
              <a:ext uri="{FF2B5EF4-FFF2-40B4-BE49-F238E27FC236}">
                <a16:creationId xmlns:a16="http://schemas.microsoft.com/office/drawing/2014/main" id="{5F6FE938-8042-45C1-B45E-60DAF404F319}"/>
              </a:ext>
            </a:extLst>
          </p:cNvPr>
          <p:cNvSpPr txBox="1"/>
          <p:nvPr/>
        </p:nvSpPr>
        <p:spPr>
          <a:xfrm>
            <a:off x="2518790" y="1317091"/>
            <a:ext cx="1321690" cy="400110"/>
          </a:xfrm>
          <a:prstGeom prst="rect">
            <a:avLst/>
          </a:prstGeom>
          <a:noFill/>
        </p:spPr>
        <p:txBody>
          <a:bodyPr wrap="square" rtlCol="0">
            <a:spAutoFit/>
          </a:bodyPr>
          <a:lstStyle/>
          <a:p>
            <a:r>
              <a:rPr lang="en-AU" sz="2000" u="sng" dirty="0">
                <a:latin typeface="Calibri" panose="020F0502020204030204" pitchFamily="34" charset="0"/>
                <a:cs typeface="Calibri" panose="020F0502020204030204" pitchFamily="34" charset="0"/>
              </a:rPr>
              <a:t>Example 2</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AE524A3-5B03-4674-9359-92FFC2F2AE9E}"/>
                  </a:ext>
                </a:extLst>
              </p:cNvPr>
              <p:cNvSpPr txBox="1"/>
              <p:nvPr/>
            </p:nvSpPr>
            <p:spPr>
              <a:xfrm>
                <a:off x="2518789" y="1646994"/>
                <a:ext cx="107143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smtClean="0">
                          <a:latin typeface="Cambria Math" panose="02040503050406030204" pitchFamily="18" charset="0"/>
                          <a:cs typeface="Calibri" panose="020F0502020204030204" pitchFamily="34" charset="0"/>
                        </a:rPr>
                        <m:t>1</m:t>
                      </m:r>
                      <m:r>
                        <a:rPr lang="en-AU" sz="2000" b="0" i="1" smtClean="0">
                          <a:latin typeface="Cambria Math" panose="02040503050406030204" pitchFamily="18" charset="0"/>
                          <a:cs typeface="Calibri" panose="020F0502020204030204" pitchFamily="34" charset="0"/>
                        </a:rPr>
                        <m:t>5</m:t>
                      </m:r>
                      <m:r>
                        <a:rPr lang="en-AU" sz="2000" b="0" i="1" smtClean="0">
                          <a:latin typeface="Cambria Math" panose="02040503050406030204" pitchFamily="18" charset="0"/>
                          <a:ea typeface="Cambria Math" panose="02040503050406030204" pitchFamily="18" charset="0"/>
                          <a:cs typeface="Calibri" panose="020F0502020204030204" pitchFamily="34" charset="0"/>
                        </a:rPr>
                        <m:t>×23</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19" name="TextBox 18">
                <a:extLst>
                  <a:ext uri="{FF2B5EF4-FFF2-40B4-BE49-F238E27FC236}">
                    <a16:creationId xmlns:a16="http://schemas.microsoft.com/office/drawing/2014/main" id="{0AE524A3-5B03-4674-9359-92FFC2F2AE9E}"/>
                  </a:ext>
                </a:extLst>
              </p:cNvPr>
              <p:cNvSpPr txBox="1">
                <a:spLocks noRot="1" noChangeAspect="1" noMove="1" noResize="1" noEditPoints="1" noAdjustHandles="1" noChangeArrowheads="1" noChangeShapeType="1" noTextEdit="1"/>
              </p:cNvSpPr>
              <p:nvPr/>
            </p:nvSpPr>
            <p:spPr>
              <a:xfrm>
                <a:off x="2518789" y="1646994"/>
                <a:ext cx="1071432" cy="400110"/>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53872C5-EE86-4B27-9A7A-1722EF79A754}"/>
                  </a:ext>
                </a:extLst>
              </p:cNvPr>
              <p:cNvSpPr txBox="1"/>
              <p:nvPr/>
            </p:nvSpPr>
            <p:spPr>
              <a:xfrm>
                <a:off x="2518787" y="2069365"/>
                <a:ext cx="1321689" cy="400110"/>
              </a:xfrm>
              <a:prstGeom prst="rect">
                <a:avLst/>
              </a:prstGeom>
              <a:noFill/>
            </p:spPr>
            <p:txBody>
              <a:bodyPr wrap="square" rtlCol="0">
                <a:spAutoFit/>
              </a:bodyPr>
              <a:lstStyle/>
              <a:p>
                <a14:m>
                  <m:oMath xmlns:m="http://schemas.openxmlformats.org/officeDocument/2006/math">
                    <m:r>
                      <a:rPr lang="en-AU" sz="2000" i="1" smtClean="0">
                        <a:latin typeface="Cambria Math" panose="02040503050406030204" pitchFamily="18" charset="0"/>
                        <a:cs typeface="Calibri" panose="020F0502020204030204" pitchFamily="34" charset="0"/>
                      </a:rPr>
                      <m:t>1</m:t>
                    </m:r>
                    <m:r>
                      <a:rPr lang="en-AU" sz="2000" b="0" i="1" smtClean="0">
                        <a:latin typeface="Cambria Math" panose="02040503050406030204" pitchFamily="18" charset="0"/>
                        <a:cs typeface="Calibri" panose="020F0502020204030204" pitchFamily="34" charset="0"/>
                      </a:rPr>
                      <m:t>5</m:t>
                    </m:r>
                    <m:r>
                      <a:rPr lang="en-AU" sz="2000" b="0" i="1" smtClean="0">
                        <a:latin typeface="Cambria Math" panose="02040503050406030204" pitchFamily="18" charset="0"/>
                        <a:ea typeface="Cambria Math" panose="02040503050406030204" pitchFamily="18" charset="0"/>
                        <a:cs typeface="Calibri" panose="020F0502020204030204" pitchFamily="34" charset="0"/>
                      </a:rPr>
                      <m:t>×23</m:t>
                    </m:r>
                  </m:oMath>
                </a14:m>
                <a:r>
                  <a:rPr lang="en-AU" sz="2000" dirty="0">
                    <a:latin typeface="Calibri" panose="020F0502020204030204" pitchFamily="34" charset="0"/>
                    <a:cs typeface="Calibri" panose="020F0502020204030204" pitchFamily="34" charset="0"/>
                  </a:rPr>
                  <a:t>=</a:t>
                </a:r>
              </a:p>
            </p:txBody>
          </p:sp>
        </mc:Choice>
        <mc:Fallback xmlns="">
          <p:sp>
            <p:nvSpPr>
              <p:cNvPr id="20" name="TextBox 19">
                <a:extLst>
                  <a:ext uri="{FF2B5EF4-FFF2-40B4-BE49-F238E27FC236}">
                    <a16:creationId xmlns:a16="http://schemas.microsoft.com/office/drawing/2014/main" id="{A53872C5-EE86-4B27-9A7A-1722EF79A754}"/>
                  </a:ext>
                </a:extLst>
              </p:cNvPr>
              <p:cNvSpPr txBox="1">
                <a:spLocks noRot="1" noChangeAspect="1" noMove="1" noResize="1" noEditPoints="1" noAdjustHandles="1" noChangeArrowheads="1" noChangeShapeType="1" noTextEdit="1"/>
              </p:cNvSpPr>
              <p:nvPr/>
            </p:nvSpPr>
            <p:spPr>
              <a:xfrm>
                <a:off x="2518787" y="2069365"/>
                <a:ext cx="1321689" cy="400110"/>
              </a:xfrm>
              <a:prstGeom prst="rect">
                <a:avLst/>
              </a:prstGeom>
              <a:blipFill>
                <a:blip r:embed="rId5"/>
                <a:stretch>
                  <a:fillRect t="-7576" b="-2575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7FA2895-1718-4810-85E5-BC9DE109EEC8}"/>
                  </a:ext>
                </a:extLst>
              </p:cNvPr>
              <p:cNvSpPr txBox="1"/>
              <p:nvPr/>
            </p:nvSpPr>
            <p:spPr>
              <a:xfrm>
                <a:off x="3551318" y="2056355"/>
                <a:ext cx="242720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smtClean="0">
                          <a:solidFill>
                            <a:schemeClr val="accent1">
                              <a:lumMod val="75000"/>
                            </a:schemeClr>
                          </a:solidFill>
                          <a:latin typeface="Cambria Math" panose="02040503050406030204" pitchFamily="18" charset="0"/>
                          <a:cs typeface="Calibri" panose="020F0502020204030204" pitchFamily="34" charset="0"/>
                        </a:rPr>
                        <m:t>(</m:t>
                      </m:r>
                      <m:r>
                        <a:rPr lang="en-AU" sz="2000" b="0" i="1" smtClean="0">
                          <a:solidFill>
                            <a:schemeClr val="accent1">
                              <a:lumMod val="75000"/>
                            </a:schemeClr>
                          </a:solidFill>
                          <a:latin typeface="Cambria Math" panose="02040503050406030204" pitchFamily="18" charset="0"/>
                          <a:cs typeface="Calibri" panose="020F0502020204030204" pitchFamily="34" charset="0"/>
                        </a:rPr>
                        <m:t>10+5)</m:t>
                      </m:r>
                      <m:r>
                        <a:rPr lang="en-AU" sz="2000" b="0" i="1" smtClean="0">
                          <a:solidFill>
                            <a:schemeClr val="accent1">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AU" sz="2000" b="0" i="1" smtClean="0">
                          <a:solidFill>
                            <a:srgbClr val="FF0000"/>
                          </a:solidFill>
                          <a:latin typeface="Cambria Math" panose="02040503050406030204" pitchFamily="18" charset="0"/>
                          <a:ea typeface="Cambria Math" panose="02040503050406030204" pitchFamily="18" charset="0"/>
                          <a:cs typeface="Calibri" panose="020F0502020204030204" pitchFamily="34" charset="0"/>
                        </a:rPr>
                        <m:t>(20+3)</m:t>
                      </m:r>
                    </m:oMath>
                  </m:oMathPara>
                </a14:m>
                <a:endParaRPr lang="en-AU" sz="2000" dirty="0">
                  <a:solidFill>
                    <a:schemeClr val="accent1">
                      <a:lumMod val="75000"/>
                    </a:schemeClr>
                  </a:solidFill>
                  <a:latin typeface="Calibri" panose="020F0502020204030204" pitchFamily="34" charset="0"/>
                  <a:cs typeface="Calibri" panose="020F0502020204030204" pitchFamily="34" charset="0"/>
                </a:endParaRPr>
              </a:p>
            </p:txBody>
          </p:sp>
        </mc:Choice>
        <mc:Fallback xmlns="">
          <p:sp>
            <p:nvSpPr>
              <p:cNvPr id="21" name="TextBox 20">
                <a:extLst>
                  <a:ext uri="{FF2B5EF4-FFF2-40B4-BE49-F238E27FC236}">
                    <a16:creationId xmlns:a16="http://schemas.microsoft.com/office/drawing/2014/main" id="{77FA2895-1718-4810-85E5-BC9DE109EEC8}"/>
                  </a:ext>
                </a:extLst>
              </p:cNvPr>
              <p:cNvSpPr txBox="1">
                <a:spLocks noRot="1" noChangeAspect="1" noMove="1" noResize="1" noEditPoints="1" noAdjustHandles="1" noChangeArrowheads="1" noChangeShapeType="1" noTextEdit="1"/>
              </p:cNvSpPr>
              <p:nvPr/>
            </p:nvSpPr>
            <p:spPr>
              <a:xfrm>
                <a:off x="3551318" y="2056355"/>
                <a:ext cx="2427202" cy="400110"/>
              </a:xfrm>
              <a:prstGeom prst="rect">
                <a:avLst/>
              </a:prstGeom>
              <a:blipFill>
                <a:blip r:embed="rId6"/>
                <a:stretch>
                  <a:fillRect b="-15152"/>
                </a:stretch>
              </a:blipFill>
            </p:spPr>
            <p:txBody>
              <a:bodyPr/>
              <a:lstStyle/>
              <a:p>
                <a:r>
                  <a:rPr lang="en-AU">
                    <a:noFill/>
                  </a:rPr>
                  <a:t> </a:t>
                </a:r>
              </a:p>
            </p:txBody>
          </p:sp>
        </mc:Fallback>
      </mc:AlternateContent>
      <p:sp>
        <p:nvSpPr>
          <p:cNvPr id="4" name="Left Brace 3">
            <a:extLst>
              <a:ext uri="{FF2B5EF4-FFF2-40B4-BE49-F238E27FC236}">
                <a16:creationId xmlns:a16="http://schemas.microsoft.com/office/drawing/2014/main" id="{12189699-8559-48D6-8252-CCF6143DCE7D}"/>
              </a:ext>
            </a:extLst>
          </p:cNvPr>
          <p:cNvSpPr/>
          <p:nvPr/>
        </p:nvSpPr>
        <p:spPr>
          <a:xfrm>
            <a:off x="4764919" y="3428015"/>
            <a:ext cx="323850" cy="911593"/>
          </a:xfrm>
          <a:prstGeom prst="leftBrace">
            <a:avLst>
              <a:gd name="adj1" fmla="val 8333"/>
              <a:gd name="adj2" fmla="val 48955"/>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cxnSp>
        <p:nvCxnSpPr>
          <p:cNvPr id="6" name="Straight Arrow Connector 5">
            <a:extLst>
              <a:ext uri="{FF2B5EF4-FFF2-40B4-BE49-F238E27FC236}">
                <a16:creationId xmlns:a16="http://schemas.microsoft.com/office/drawing/2014/main" id="{67D77D8D-EBCE-4DED-A9DE-50E6C5B1EDCE}"/>
              </a:ext>
            </a:extLst>
          </p:cNvPr>
          <p:cNvCxnSpPr>
            <a:cxnSpLocks/>
          </p:cNvCxnSpPr>
          <p:nvPr/>
        </p:nvCxnSpPr>
        <p:spPr>
          <a:xfrm>
            <a:off x="4243840" y="2381295"/>
            <a:ext cx="629167" cy="12785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Left Brace 21">
            <a:extLst>
              <a:ext uri="{FF2B5EF4-FFF2-40B4-BE49-F238E27FC236}">
                <a16:creationId xmlns:a16="http://schemas.microsoft.com/office/drawing/2014/main" id="{D38FCAFB-F44B-4650-826D-96F037AF55C2}"/>
              </a:ext>
            </a:extLst>
          </p:cNvPr>
          <p:cNvSpPr/>
          <p:nvPr/>
        </p:nvSpPr>
        <p:spPr>
          <a:xfrm rot="5400000">
            <a:off x="6946687" y="1731825"/>
            <a:ext cx="264231" cy="2609601"/>
          </a:xfrm>
          <a:prstGeom prst="leftBrace">
            <a:avLst>
              <a:gd name="adj1" fmla="val 8333"/>
              <a:gd name="adj2" fmla="val 48955"/>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cxnSp>
        <p:nvCxnSpPr>
          <p:cNvPr id="24" name="Straight Arrow Connector 23">
            <a:extLst>
              <a:ext uri="{FF2B5EF4-FFF2-40B4-BE49-F238E27FC236}">
                <a16:creationId xmlns:a16="http://schemas.microsoft.com/office/drawing/2014/main" id="{2050583E-19DF-4800-A795-AC14CFA9B802}"/>
              </a:ext>
            </a:extLst>
          </p:cNvPr>
          <p:cNvCxnSpPr>
            <a:cxnSpLocks/>
          </p:cNvCxnSpPr>
          <p:nvPr/>
        </p:nvCxnSpPr>
        <p:spPr>
          <a:xfrm>
            <a:off x="5428648" y="2381295"/>
            <a:ext cx="1020278" cy="63345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21DEAFD-FD85-43EE-B189-19B62ED07F1E}"/>
                  </a:ext>
                </a:extLst>
              </p:cNvPr>
              <p:cNvSpPr txBox="1"/>
              <p:nvPr/>
            </p:nvSpPr>
            <p:spPr>
              <a:xfrm>
                <a:off x="5419022" y="3489205"/>
                <a:ext cx="1879653"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smtClean="0">
                          <a:latin typeface="Cambria Math" panose="02040503050406030204" pitchFamily="18" charset="0"/>
                          <a:cs typeface="Calibri" panose="020F0502020204030204" pitchFamily="34" charset="0"/>
                        </a:rPr>
                        <m:t>1</m:t>
                      </m:r>
                      <m:r>
                        <a:rPr lang="en-AU" sz="2000" b="0" i="1" smtClean="0">
                          <a:latin typeface="Cambria Math" panose="02040503050406030204" pitchFamily="18" charset="0"/>
                          <a:cs typeface="Calibri" panose="020F0502020204030204" pitchFamily="34" charset="0"/>
                        </a:rPr>
                        <m:t>0</m:t>
                      </m:r>
                      <m:r>
                        <a:rPr lang="en-AU" sz="2000" b="0" i="1" smtClean="0">
                          <a:latin typeface="Cambria Math" panose="02040503050406030204" pitchFamily="18" charset="0"/>
                          <a:ea typeface="Cambria Math" panose="02040503050406030204" pitchFamily="18" charset="0"/>
                          <a:cs typeface="Calibri" panose="020F0502020204030204" pitchFamily="34" charset="0"/>
                        </a:rPr>
                        <m:t>×20=200</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26" name="TextBox 25">
                <a:extLst>
                  <a:ext uri="{FF2B5EF4-FFF2-40B4-BE49-F238E27FC236}">
                    <a16:creationId xmlns:a16="http://schemas.microsoft.com/office/drawing/2014/main" id="{121DEAFD-FD85-43EE-B189-19B62ED07F1E}"/>
                  </a:ext>
                </a:extLst>
              </p:cNvPr>
              <p:cNvSpPr txBox="1">
                <a:spLocks noRot="1" noChangeAspect="1" noMove="1" noResize="1" noEditPoints="1" noAdjustHandles="1" noChangeArrowheads="1" noChangeShapeType="1" noTextEdit="1"/>
              </p:cNvSpPr>
              <p:nvPr/>
            </p:nvSpPr>
            <p:spPr>
              <a:xfrm>
                <a:off x="5419022" y="3489205"/>
                <a:ext cx="1879653" cy="400110"/>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CFB9BCE-174C-4A02-91C1-B2764B68D9CE}"/>
                  </a:ext>
                </a:extLst>
              </p:cNvPr>
              <p:cNvSpPr txBox="1"/>
              <p:nvPr/>
            </p:nvSpPr>
            <p:spPr>
              <a:xfrm>
                <a:off x="5428648" y="3943979"/>
                <a:ext cx="1879653"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smtClean="0">
                          <a:latin typeface="Cambria Math" panose="02040503050406030204" pitchFamily="18" charset="0"/>
                          <a:cs typeface="Calibri" panose="020F0502020204030204" pitchFamily="34" charset="0"/>
                        </a:rPr>
                        <m:t>5</m:t>
                      </m:r>
                      <m:r>
                        <a:rPr lang="en-AU" sz="2000" b="0" i="1" smtClean="0">
                          <a:latin typeface="Cambria Math" panose="02040503050406030204" pitchFamily="18" charset="0"/>
                          <a:ea typeface="Cambria Math" panose="02040503050406030204" pitchFamily="18" charset="0"/>
                          <a:cs typeface="Calibri" panose="020F0502020204030204" pitchFamily="34" charset="0"/>
                        </a:rPr>
                        <m:t>×20=100</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27" name="TextBox 26">
                <a:extLst>
                  <a:ext uri="{FF2B5EF4-FFF2-40B4-BE49-F238E27FC236}">
                    <a16:creationId xmlns:a16="http://schemas.microsoft.com/office/drawing/2014/main" id="{CCFB9BCE-174C-4A02-91C1-B2764B68D9CE}"/>
                  </a:ext>
                </a:extLst>
              </p:cNvPr>
              <p:cNvSpPr txBox="1">
                <a:spLocks noRot="1" noChangeAspect="1" noMove="1" noResize="1" noEditPoints="1" noAdjustHandles="1" noChangeArrowheads="1" noChangeShapeType="1" noTextEdit="1"/>
              </p:cNvSpPr>
              <p:nvPr/>
            </p:nvSpPr>
            <p:spPr>
              <a:xfrm>
                <a:off x="5428648" y="3943979"/>
                <a:ext cx="1879653" cy="400110"/>
              </a:xfrm>
              <a:prstGeom prst="rect">
                <a:avLst/>
              </a:prstGeom>
              <a:blipFill>
                <a:blip r:embed="rId8"/>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06E0620-D958-4715-BB72-0489EB6070AD}"/>
                  </a:ext>
                </a:extLst>
              </p:cNvPr>
              <p:cNvSpPr txBox="1"/>
              <p:nvPr/>
            </p:nvSpPr>
            <p:spPr>
              <a:xfrm>
                <a:off x="7141942" y="3489205"/>
                <a:ext cx="154004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smtClean="0">
                          <a:latin typeface="Cambria Math" panose="02040503050406030204" pitchFamily="18" charset="0"/>
                          <a:cs typeface="Calibri" panose="020F0502020204030204" pitchFamily="34" charset="0"/>
                        </a:rPr>
                        <m:t>1</m:t>
                      </m:r>
                      <m:r>
                        <a:rPr lang="en-AU" sz="2000" b="0" i="1" smtClean="0">
                          <a:latin typeface="Cambria Math" panose="02040503050406030204" pitchFamily="18" charset="0"/>
                          <a:cs typeface="Calibri" panose="020F0502020204030204" pitchFamily="34" charset="0"/>
                        </a:rPr>
                        <m:t>0</m:t>
                      </m:r>
                      <m:r>
                        <a:rPr lang="en-AU" sz="2000" b="0" i="1" smtClean="0">
                          <a:latin typeface="Cambria Math" panose="02040503050406030204" pitchFamily="18" charset="0"/>
                          <a:ea typeface="Cambria Math" panose="02040503050406030204" pitchFamily="18" charset="0"/>
                          <a:cs typeface="Calibri" panose="020F0502020204030204" pitchFamily="34" charset="0"/>
                        </a:rPr>
                        <m:t>×3=30</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28" name="TextBox 27">
                <a:extLst>
                  <a:ext uri="{FF2B5EF4-FFF2-40B4-BE49-F238E27FC236}">
                    <a16:creationId xmlns:a16="http://schemas.microsoft.com/office/drawing/2014/main" id="{306E0620-D958-4715-BB72-0489EB6070AD}"/>
                  </a:ext>
                </a:extLst>
              </p:cNvPr>
              <p:cNvSpPr txBox="1">
                <a:spLocks noRot="1" noChangeAspect="1" noMove="1" noResize="1" noEditPoints="1" noAdjustHandles="1" noChangeArrowheads="1" noChangeShapeType="1" noTextEdit="1"/>
              </p:cNvSpPr>
              <p:nvPr/>
            </p:nvSpPr>
            <p:spPr>
              <a:xfrm>
                <a:off x="7141942" y="3489205"/>
                <a:ext cx="1540042" cy="400110"/>
              </a:xfrm>
              <a:prstGeom prst="rect">
                <a:avLst/>
              </a:prstGeom>
              <a:blipFill>
                <a:blip r:embed="rId9"/>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199459F-E6DF-4CFE-9CE6-22A7A6EE8E4D}"/>
                  </a:ext>
                </a:extLst>
              </p:cNvPr>
              <p:cNvSpPr txBox="1"/>
              <p:nvPr/>
            </p:nvSpPr>
            <p:spPr>
              <a:xfrm>
                <a:off x="7178227" y="3943979"/>
                <a:ext cx="154004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smtClean="0">
                          <a:latin typeface="Cambria Math" panose="02040503050406030204" pitchFamily="18" charset="0"/>
                          <a:cs typeface="Calibri" panose="020F0502020204030204" pitchFamily="34" charset="0"/>
                        </a:rPr>
                        <m:t>5</m:t>
                      </m:r>
                      <m:r>
                        <a:rPr lang="en-AU" sz="2000" b="0" i="1" smtClean="0">
                          <a:latin typeface="Cambria Math" panose="02040503050406030204" pitchFamily="18" charset="0"/>
                          <a:ea typeface="Cambria Math" panose="02040503050406030204" pitchFamily="18" charset="0"/>
                          <a:cs typeface="Calibri" panose="020F0502020204030204" pitchFamily="34" charset="0"/>
                        </a:rPr>
                        <m:t>×3=15</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29" name="TextBox 28">
                <a:extLst>
                  <a:ext uri="{FF2B5EF4-FFF2-40B4-BE49-F238E27FC236}">
                    <a16:creationId xmlns:a16="http://schemas.microsoft.com/office/drawing/2014/main" id="{D199459F-E6DF-4CFE-9CE6-22A7A6EE8E4D}"/>
                  </a:ext>
                </a:extLst>
              </p:cNvPr>
              <p:cNvSpPr txBox="1">
                <a:spLocks noRot="1" noChangeAspect="1" noMove="1" noResize="1" noEditPoints="1" noAdjustHandles="1" noChangeArrowheads="1" noChangeShapeType="1" noTextEdit="1"/>
              </p:cNvSpPr>
              <p:nvPr/>
            </p:nvSpPr>
            <p:spPr>
              <a:xfrm>
                <a:off x="7178227" y="3943979"/>
                <a:ext cx="1540042" cy="400110"/>
              </a:xfrm>
              <a:prstGeom prst="rect">
                <a:avLst/>
              </a:prstGeom>
              <a:blipFill>
                <a:blip r:embed="rId10"/>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5817922-3F96-45D9-BAAD-3A9AC5F37D27}"/>
                  </a:ext>
                </a:extLst>
              </p:cNvPr>
              <p:cNvSpPr txBox="1"/>
              <p:nvPr/>
            </p:nvSpPr>
            <p:spPr>
              <a:xfrm>
                <a:off x="5235142" y="4544069"/>
                <a:ext cx="344684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cs typeface="Calibri" panose="020F0502020204030204" pitchFamily="34" charset="0"/>
                        </a:rPr>
                        <m:t>200+100+30+15</m:t>
                      </m:r>
                      <m:r>
                        <a:rPr lang="en-AU" sz="2000" b="0" i="0" smtClean="0">
                          <a:latin typeface="Cambria Math" panose="02040503050406030204" pitchFamily="18" charset="0"/>
                          <a:cs typeface="Calibri" panose="020F0502020204030204" pitchFamily="34" charset="0"/>
                        </a:rPr>
                        <m:t>=345</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30" name="TextBox 29">
                <a:extLst>
                  <a:ext uri="{FF2B5EF4-FFF2-40B4-BE49-F238E27FC236}">
                    <a16:creationId xmlns:a16="http://schemas.microsoft.com/office/drawing/2014/main" id="{35817922-3F96-45D9-BAAD-3A9AC5F37D27}"/>
                  </a:ext>
                </a:extLst>
              </p:cNvPr>
              <p:cNvSpPr txBox="1">
                <a:spLocks noRot="1" noChangeAspect="1" noMove="1" noResize="1" noEditPoints="1" noAdjustHandles="1" noChangeArrowheads="1" noChangeShapeType="1" noTextEdit="1"/>
              </p:cNvSpPr>
              <p:nvPr/>
            </p:nvSpPr>
            <p:spPr>
              <a:xfrm>
                <a:off x="5235142" y="4544069"/>
                <a:ext cx="3446842" cy="400110"/>
              </a:xfrm>
              <a:prstGeom prst="rect">
                <a:avLst/>
              </a:prstGeom>
              <a:blipFill>
                <a:blip r:embed="rId11"/>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15B3537-FBD4-4527-9C1F-23ECA3BE4E5E}"/>
                  </a:ext>
                </a:extLst>
              </p:cNvPr>
              <p:cNvSpPr txBox="1"/>
              <p:nvPr/>
            </p:nvSpPr>
            <p:spPr>
              <a:xfrm>
                <a:off x="5271427" y="4879189"/>
                <a:ext cx="344684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smtClean="0">
                          <a:latin typeface="Cambria Math" panose="02040503050406030204" pitchFamily="18" charset="0"/>
                          <a:cs typeface="Calibri" panose="020F0502020204030204" pitchFamily="34" charset="0"/>
                        </a:rPr>
                        <m:t>1</m:t>
                      </m:r>
                      <m:r>
                        <a:rPr lang="en-AU" sz="2000" b="0" i="1" smtClean="0">
                          <a:latin typeface="Cambria Math" panose="02040503050406030204" pitchFamily="18" charset="0"/>
                          <a:cs typeface="Calibri" panose="020F0502020204030204" pitchFamily="34" charset="0"/>
                        </a:rPr>
                        <m:t>5</m:t>
                      </m:r>
                      <m:r>
                        <a:rPr lang="en-AU" sz="2000" i="1">
                          <a:latin typeface="Cambria Math" panose="02040503050406030204" pitchFamily="18" charset="0"/>
                          <a:ea typeface="Cambria Math" panose="02040503050406030204" pitchFamily="18" charset="0"/>
                          <a:cs typeface="Calibri" panose="020F0502020204030204" pitchFamily="34" charset="0"/>
                        </a:rPr>
                        <m:t>×2</m:t>
                      </m:r>
                      <m:r>
                        <a:rPr lang="en-AU" sz="2000" b="0" i="1" smtClean="0">
                          <a:latin typeface="Cambria Math" panose="02040503050406030204" pitchFamily="18" charset="0"/>
                          <a:ea typeface="Cambria Math" panose="02040503050406030204" pitchFamily="18" charset="0"/>
                          <a:cs typeface="Calibri" panose="020F0502020204030204" pitchFamily="34" charset="0"/>
                        </a:rPr>
                        <m:t>3=345</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31" name="TextBox 30">
                <a:extLst>
                  <a:ext uri="{FF2B5EF4-FFF2-40B4-BE49-F238E27FC236}">
                    <a16:creationId xmlns:a16="http://schemas.microsoft.com/office/drawing/2014/main" id="{C15B3537-FBD4-4527-9C1F-23ECA3BE4E5E}"/>
                  </a:ext>
                </a:extLst>
              </p:cNvPr>
              <p:cNvSpPr txBox="1">
                <a:spLocks noRot="1" noChangeAspect="1" noMove="1" noResize="1" noEditPoints="1" noAdjustHandles="1" noChangeArrowheads="1" noChangeShapeType="1" noTextEdit="1"/>
              </p:cNvSpPr>
              <p:nvPr/>
            </p:nvSpPr>
            <p:spPr>
              <a:xfrm>
                <a:off x="5271427" y="4879189"/>
                <a:ext cx="3446842" cy="400110"/>
              </a:xfrm>
              <a:prstGeom prst="rect">
                <a:avLst/>
              </a:prstGeom>
              <a:blipFill>
                <a:blip r:embed="rId12"/>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3580173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randombar(horizont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randombar(horizontal)">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randombar(horizont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circle(in)">
                                      <p:cBhvr>
                                        <p:cTn id="27" dur="20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up)">
                                      <p:cBhvr>
                                        <p:cTn id="32" dur="500"/>
                                        <p:tgtEl>
                                          <p:spTgt spid="6"/>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up)">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wipe(up)">
                                      <p:cBhvr>
                                        <p:cTn id="40" dur="500"/>
                                        <p:tgtEl>
                                          <p:spTgt spid="24"/>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up)">
                                      <p:cBhvr>
                                        <p:cTn id="43" dur="5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grpId="0" nodeType="click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randombar(horizontal)">
                                      <p:cBhvr>
                                        <p:cTn id="48" dur="500"/>
                                        <p:tgtEl>
                                          <p:spTgt spid="26"/>
                                        </p:tgtEl>
                                      </p:cBhvr>
                                    </p:animEffect>
                                  </p:childTnLst>
                                </p:cTn>
                              </p:par>
                            </p:childTnLst>
                          </p:cTn>
                        </p:par>
                      </p:childTnLst>
                    </p:cTn>
                  </p:par>
                  <p:par>
                    <p:cTn id="49" fill="hold">
                      <p:stCondLst>
                        <p:cond delay="indefinite"/>
                      </p:stCondLst>
                      <p:childTnLst>
                        <p:par>
                          <p:cTn id="50" fill="hold">
                            <p:stCondLst>
                              <p:cond delay="0"/>
                            </p:stCondLst>
                            <p:childTnLst>
                              <p:par>
                                <p:cTn id="51" presetID="14" presetClass="entr" presetSubtype="1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randombar(horizontal)">
                                      <p:cBhvr>
                                        <p:cTn id="53" dur="500"/>
                                        <p:tgtEl>
                                          <p:spTgt spid="27"/>
                                        </p:tgtEl>
                                      </p:cBhvr>
                                    </p:animEffect>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grpId="0" nodeType="click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randombar(horizontal)">
                                      <p:cBhvr>
                                        <p:cTn id="58" dur="500"/>
                                        <p:tgtEl>
                                          <p:spTgt spid="28"/>
                                        </p:tgtEl>
                                      </p:cBhvr>
                                    </p:animEffec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randombar(horizontal)">
                                      <p:cBhvr>
                                        <p:cTn id="63" dur="500"/>
                                        <p:tgtEl>
                                          <p:spTgt spid="29"/>
                                        </p:tgtEl>
                                      </p:cBhvr>
                                    </p:animEffect>
                                  </p:childTnLst>
                                </p:cTn>
                              </p:par>
                            </p:childTnLst>
                          </p:cTn>
                        </p:par>
                      </p:childTnLst>
                    </p:cTn>
                  </p:par>
                  <p:par>
                    <p:cTn id="64" fill="hold">
                      <p:stCondLst>
                        <p:cond delay="indefinite"/>
                      </p:stCondLst>
                      <p:childTnLst>
                        <p:par>
                          <p:cTn id="65" fill="hold">
                            <p:stCondLst>
                              <p:cond delay="0"/>
                            </p:stCondLst>
                            <p:childTnLst>
                              <p:par>
                                <p:cTn id="66" presetID="14" presetClass="entr" presetSubtype="10" fill="hold" grpId="0" nodeType="click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randombar(horizontal)">
                                      <p:cBhvr>
                                        <p:cTn id="68" dur="500"/>
                                        <p:tgtEl>
                                          <p:spTgt spid="30"/>
                                        </p:tgtEl>
                                      </p:cBhvr>
                                    </p:animEffect>
                                  </p:childTnLst>
                                </p:cTn>
                              </p:par>
                            </p:childTnLst>
                          </p:cTn>
                        </p:par>
                      </p:childTnLst>
                    </p:cTn>
                  </p:par>
                  <p:par>
                    <p:cTn id="69" fill="hold">
                      <p:stCondLst>
                        <p:cond delay="indefinite"/>
                      </p:stCondLst>
                      <p:childTnLst>
                        <p:par>
                          <p:cTn id="70" fill="hold">
                            <p:stCondLst>
                              <p:cond delay="0"/>
                            </p:stCondLst>
                            <p:childTnLst>
                              <p:par>
                                <p:cTn id="71" presetID="14" presetClass="entr" presetSubtype="10"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randombar(horizontal)">
                                      <p:cBhvr>
                                        <p:cTn id="7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9" grpId="0"/>
      <p:bldP spid="20" grpId="0"/>
      <p:bldP spid="21" grpId="0"/>
      <p:bldP spid="4" grpId="0" animBg="1"/>
      <p:bldP spid="22" grpId="0" animBg="1"/>
      <p:bldP spid="26" grpId="0"/>
      <p:bldP spid="27" grpId="0"/>
      <p:bldP spid="28" grpId="0"/>
      <p:bldP spid="29" grpId="0"/>
      <p:bldP spid="30" grpId="0"/>
      <p:bldP spid="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pplication&#10;&#10;Description automatically generated with low confidence">
            <a:extLst>
              <a:ext uri="{FF2B5EF4-FFF2-40B4-BE49-F238E27FC236}">
                <a16:creationId xmlns:a16="http://schemas.microsoft.com/office/drawing/2014/main" id="{C1BF7050-2980-4451-8BDD-A73D4CC00663}"/>
              </a:ext>
            </a:extLst>
          </p:cNvPr>
          <p:cNvPicPr>
            <a:picLocks noChangeAspect="1"/>
          </p:cNvPicPr>
          <p:nvPr/>
        </p:nvPicPr>
        <p:blipFill>
          <a:blip r:embed="rId2"/>
          <a:stretch>
            <a:fillRect/>
          </a:stretch>
        </p:blipFill>
        <p:spPr>
          <a:xfrm>
            <a:off x="4035846" y="135761"/>
            <a:ext cx="4120308" cy="6586478"/>
          </a:xfrm>
          <a:prstGeom prst="rect">
            <a:avLst/>
          </a:prstGeom>
        </p:spPr>
      </p:pic>
    </p:spTree>
    <p:extLst>
      <p:ext uri="{BB962C8B-B14F-4D97-AF65-F5344CB8AC3E}">
        <p14:creationId xmlns:p14="http://schemas.microsoft.com/office/powerpoint/2010/main" val="2533870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CE86D-E98C-4D0A-9BDF-DAD016B164F4}"/>
              </a:ext>
            </a:extLst>
          </p:cNvPr>
          <p:cNvSpPr>
            <a:spLocks noGrp="1"/>
          </p:cNvSpPr>
          <p:nvPr>
            <p:ph type="title"/>
          </p:nvPr>
        </p:nvSpPr>
        <p:spPr/>
        <p:txBody>
          <a:bodyPr/>
          <a:lstStyle/>
          <a:p>
            <a:r>
              <a:rPr lang="en-AU" dirty="0"/>
              <a:t>TASK (LHS) MFWA 1 Multiplication</a:t>
            </a:r>
          </a:p>
        </p:txBody>
      </p:sp>
      <p:pic>
        <p:nvPicPr>
          <p:cNvPr id="5" name="Content Placeholder 4">
            <a:extLst>
              <a:ext uri="{FF2B5EF4-FFF2-40B4-BE49-F238E27FC236}">
                <a16:creationId xmlns:a16="http://schemas.microsoft.com/office/drawing/2014/main" id="{55B8C274-13F8-4D6A-9425-E87D84F1C2E5}"/>
              </a:ext>
            </a:extLst>
          </p:cNvPr>
          <p:cNvPicPr>
            <a:picLocks noGrp="1" noChangeAspect="1"/>
          </p:cNvPicPr>
          <p:nvPr>
            <p:ph idx="1"/>
          </p:nvPr>
        </p:nvPicPr>
        <p:blipFill>
          <a:blip r:embed="rId2"/>
          <a:stretch>
            <a:fillRect/>
          </a:stretch>
        </p:blipFill>
        <p:spPr>
          <a:xfrm>
            <a:off x="755687" y="2207352"/>
            <a:ext cx="10680626" cy="1160471"/>
          </a:xfrm>
        </p:spPr>
      </p:pic>
      <p:sp>
        <p:nvSpPr>
          <p:cNvPr id="6" name="TextBox 5">
            <a:extLst>
              <a:ext uri="{FF2B5EF4-FFF2-40B4-BE49-F238E27FC236}">
                <a16:creationId xmlns:a16="http://schemas.microsoft.com/office/drawing/2014/main" id="{70F5E4A4-E0D0-4947-8923-99AEF89A1C01}"/>
              </a:ext>
            </a:extLst>
          </p:cNvPr>
          <p:cNvSpPr txBox="1"/>
          <p:nvPr/>
        </p:nvSpPr>
        <p:spPr>
          <a:xfrm>
            <a:off x="755687" y="1684427"/>
            <a:ext cx="9571855" cy="461665"/>
          </a:xfrm>
          <a:prstGeom prst="rect">
            <a:avLst/>
          </a:prstGeom>
          <a:noFill/>
        </p:spPr>
        <p:txBody>
          <a:bodyPr wrap="square">
            <a:spAutoFit/>
          </a:bodyPr>
          <a:lstStyle/>
          <a:p>
            <a:r>
              <a:rPr lang="en-GB" sz="2400" b="0" i="0" dirty="0">
                <a:effectLst/>
                <a:latin typeface="Calibri" panose="020F0502020204030204" pitchFamily="34" charset="0"/>
                <a:cs typeface="Calibri" panose="020F0502020204030204" pitchFamily="34" charset="0"/>
              </a:rPr>
              <a:t>Question 2: Use the area model to evaluate the following:</a:t>
            </a:r>
            <a:endParaRPr lang="en-AU"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40360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pplication&#10;&#10;Description automatically generated with low confidence">
            <a:extLst>
              <a:ext uri="{FF2B5EF4-FFF2-40B4-BE49-F238E27FC236}">
                <a16:creationId xmlns:a16="http://schemas.microsoft.com/office/drawing/2014/main" id="{C1BF7050-2980-4451-8BDD-A73D4CC00663}"/>
              </a:ext>
            </a:extLst>
          </p:cNvPr>
          <p:cNvPicPr>
            <a:picLocks noChangeAspect="1"/>
          </p:cNvPicPr>
          <p:nvPr/>
        </p:nvPicPr>
        <p:blipFill>
          <a:blip r:embed="rId2"/>
          <a:stretch>
            <a:fillRect/>
          </a:stretch>
        </p:blipFill>
        <p:spPr>
          <a:xfrm>
            <a:off x="4035846" y="135761"/>
            <a:ext cx="4120308" cy="6586478"/>
          </a:xfrm>
          <a:prstGeom prst="rect">
            <a:avLst/>
          </a:prstGeom>
        </p:spPr>
      </p:pic>
    </p:spTree>
    <p:extLst>
      <p:ext uri="{BB962C8B-B14F-4D97-AF65-F5344CB8AC3E}">
        <p14:creationId xmlns:p14="http://schemas.microsoft.com/office/powerpoint/2010/main" val="3947388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CE86D-E98C-4D0A-9BDF-DAD016B164F4}"/>
              </a:ext>
            </a:extLst>
          </p:cNvPr>
          <p:cNvSpPr>
            <a:spLocks noGrp="1"/>
          </p:cNvSpPr>
          <p:nvPr>
            <p:ph type="title"/>
          </p:nvPr>
        </p:nvSpPr>
        <p:spPr>
          <a:xfrm>
            <a:off x="880267" y="184811"/>
            <a:ext cx="9720072" cy="1499616"/>
          </a:xfrm>
        </p:spPr>
        <p:txBody>
          <a:bodyPr/>
          <a:lstStyle/>
          <a:p>
            <a:r>
              <a:rPr lang="en-AU" dirty="0"/>
              <a:t>TASK (LHS) MFWA 1 - Multiplication</a:t>
            </a:r>
          </a:p>
        </p:txBody>
      </p:sp>
      <p:sp>
        <p:nvSpPr>
          <p:cNvPr id="6" name="TextBox 5">
            <a:extLst>
              <a:ext uri="{FF2B5EF4-FFF2-40B4-BE49-F238E27FC236}">
                <a16:creationId xmlns:a16="http://schemas.microsoft.com/office/drawing/2014/main" id="{70F5E4A4-E0D0-4947-8923-99AEF89A1C01}"/>
              </a:ext>
            </a:extLst>
          </p:cNvPr>
          <p:cNvSpPr txBox="1"/>
          <p:nvPr/>
        </p:nvSpPr>
        <p:spPr>
          <a:xfrm>
            <a:off x="880267" y="1222762"/>
            <a:ext cx="9571855" cy="461665"/>
          </a:xfrm>
          <a:prstGeom prst="rect">
            <a:avLst/>
          </a:prstGeom>
          <a:noFill/>
        </p:spPr>
        <p:txBody>
          <a:bodyPr wrap="square">
            <a:spAutoFit/>
          </a:bodyPr>
          <a:lstStyle/>
          <a:p>
            <a:r>
              <a:rPr lang="en-GB" sz="2400" dirty="0">
                <a:latin typeface="Calibri" panose="020F0502020204030204" pitchFamily="34" charset="0"/>
                <a:cs typeface="Calibri" panose="020F0502020204030204" pitchFamily="34" charset="0"/>
              </a:rPr>
              <a:t>Now try some worded questions</a:t>
            </a:r>
            <a:endParaRPr lang="en-AU" sz="2400"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CFBE91C6-C87C-4125-A7BD-0A29E44EF312}"/>
              </a:ext>
            </a:extLst>
          </p:cNvPr>
          <p:cNvSpPr>
            <a:spLocks noGrp="1"/>
          </p:cNvSpPr>
          <p:nvPr>
            <p:ph idx="1"/>
          </p:nvPr>
        </p:nvSpPr>
        <p:spPr>
          <a:xfrm>
            <a:off x="1024128" y="1684427"/>
            <a:ext cx="9720073" cy="4023360"/>
          </a:xfrm>
        </p:spPr>
        <p:txBody>
          <a:bodyPr/>
          <a:lstStyle/>
          <a:p>
            <a:pPr marL="457200" indent="-457200">
              <a:buFont typeface="+mj-lt"/>
              <a:buAutoNum type="arabicPeriod"/>
            </a:pPr>
            <a:br>
              <a:rPr lang="en-AU" dirty="0"/>
            </a:br>
            <a:endParaRPr lang="en-AU" dirty="0"/>
          </a:p>
          <a:p>
            <a:pPr marL="457200" indent="-457200">
              <a:buFont typeface="+mj-lt"/>
              <a:buAutoNum type="arabicPeriod"/>
            </a:pPr>
            <a:br>
              <a:rPr lang="en-AU" dirty="0"/>
            </a:br>
            <a:endParaRPr lang="en-AU" dirty="0"/>
          </a:p>
          <a:p>
            <a:pPr marL="457200" indent="-457200">
              <a:buFont typeface="+mj-lt"/>
              <a:buAutoNum type="arabicPeriod"/>
            </a:pPr>
            <a:br>
              <a:rPr lang="en-AU" dirty="0"/>
            </a:br>
            <a:br>
              <a:rPr lang="en-AU" dirty="0"/>
            </a:br>
            <a:endParaRPr lang="en-AU" dirty="0"/>
          </a:p>
          <a:p>
            <a:pPr marL="457200" indent="-457200">
              <a:buFont typeface="+mj-lt"/>
              <a:buAutoNum type="arabicPeriod"/>
            </a:pPr>
            <a:r>
              <a:rPr lang="en-AU" dirty="0"/>
              <a:t> </a:t>
            </a:r>
          </a:p>
          <a:p>
            <a:pPr marL="457200" indent="-457200">
              <a:buFont typeface="+mj-lt"/>
              <a:buAutoNum type="arabicPeriod"/>
            </a:pPr>
            <a:endParaRPr lang="en-AU" dirty="0"/>
          </a:p>
        </p:txBody>
      </p:sp>
      <p:pic>
        <p:nvPicPr>
          <p:cNvPr id="10" name="Picture 9">
            <a:extLst>
              <a:ext uri="{FF2B5EF4-FFF2-40B4-BE49-F238E27FC236}">
                <a16:creationId xmlns:a16="http://schemas.microsoft.com/office/drawing/2014/main" id="{1FF705B7-F1E9-4729-9999-50FC9797FA61}"/>
              </a:ext>
            </a:extLst>
          </p:cNvPr>
          <p:cNvPicPr>
            <a:picLocks noChangeAspect="1"/>
          </p:cNvPicPr>
          <p:nvPr/>
        </p:nvPicPr>
        <p:blipFill>
          <a:blip r:embed="rId2"/>
          <a:stretch>
            <a:fillRect/>
          </a:stretch>
        </p:blipFill>
        <p:spPr>
          <a:xfrm>
            <a:off x="1378408" y="1614780"/>
            <a:ext cx="9157303" cy="683381"/>
          </a:xfrm>
          <a:prstGeom prst="rect">
            <a:avLst/>
          </a:prstGeom>
        </p:spPr>
      </p:pic>
      <p:pic>
        <p:nvPicPr>
          <p:cNvPr id="12" name="Picture 11">
            <a:extLst>
              <a:ext uri="{FF2B5EF4-FFF2-40B4-BE49-F238E27FC236}">
                <a16:creationId xmlns:a16="http://schemas.microsoft.com/office/drawing/2014/main" id="{556A082B-C0EC-4DC6-9658-4D28D9D1EEDC}"/>
              </a:ext>
            </a:extLst>
          </p:cNvPr>
          <p:cNvPicPr>
            <a:picLocks noChangeAspect="1"/>
          </p:cNvPicPr>
          <p:nvPr/>
        </p:nvPicPr>
        <p:blipFill>
          <a:blip r:embed="rId3"/>
          <a:stretch>
            <a:fillRect/>
          </a:stretch>
        </p:blipFill>
        <p:spPr>
          <a:xfrm>
            <a:off x="1447799" y="2451039"/>
            <a:ext cx="9018523" cy="633685"/>
          </a:xfrm>
          <a:prstGeom prst="rect">
            <a:avLst/>
          </a:prstGeom>
        </p:spPr>
      </p:pic>
      <p:pic>
        <p:nvPicPr>
          <p:cNvPr id="14" name="Picture 13">
            <a:extLst>
              <a:ext uri="{FF2B5EF4-FFF2-40B4-BE49-F238E27FC236}">
                <a16:creationId xmlns:a16="http://schemas.microsoft.com/office/drawing/2014/main" id="{5BF9635B-686A-4896-86A0-0E6199E1A688}"/>
              </a:ext>
            </a:extLst>
          </p:cNvPr>
          <p:cNvPicPr>
            <a:picLocks noChangeAspect="1"/>
          </p:cNvPicPr>
          <p:nvPr/>
        </p:nvPicPr>
        <p:blipFill>
          <a:blip r:embed="rId4"/>
          <a:stretch>
            <a:fillRect/>
          </a:stretch>
        </p:blipFill>
        <p:spPr>
          <a:xfrm>
            <a:off x="1447799" y="3237602"/>
            <a:ext cx="9152540" cy="902492"/>
          </a:xfrm>
          <a:prstGeom prst="rect">
            <a:avLst/>
          </a:prstGeom>
        </p:spPr>
      </p:pic>
      <p:pic>
        <p:nvPicPr>
          <p:cNvPr id="16" name="Picture 15">
            <a:extLst>
              <a:ext uri="{FF2B5EF4-FFF2-40B4-BE49-F238E27FC236}">
                <a16:creationId xmlns:a16="http://schemas.microsoft.com/office/drawing/2014/main" id="{D06C0425-623E-4287-AC9B-07CB72FE6DF0}"/>
              </a:ext>
            </a:extLst>
          </p:cNvPr>
          <p:cNvPicPr>
            <a:picLocks noChangeAspect="1"/>
          </p:cNvPicPr>
          <p:nvPr/>
        </p:nvPicPr>
        <p:blipFill>
          <a:blip r:embed="rId5"/>
          <a:stretch>
            <a:fillRect/>
          </a:stretch>
        </p:blipFill>
        <p:spPr>
          <a:xfrm>
            <a:off x="1447799" y="4316190"/>
            <a:ext cx="8823075" cy="2488335"/>
          </a:xfrm>
          <a:prstGeom prst="rect">
            <a:avLst/>
          </a:prstGeom>
        </p:spPr>
      </p:pic>
    </p:spTree>
    <p:extLst>
      <p:ext uri="{BB962C8B-B14F-4D97-AF65-F5344CB8AC3E}">
        <p14:creationId xmlns:p14="http://schemas.microsoft.com/office/powerpoint/2010/main" val="4115875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3349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BC871A-FD9D-4FA6-AA4B-527652C1BE2D}"/>
              </a:ext>
            </a:extLst>
          </p:cNvPr>
          <p:cNvSpPr>
            <a:spLocks noGrp="1"/>
          </p:cNvSpPr>
          <p:nvPr>
            <p:ph type="title"/>
          </p:nvPr>
        </p:nvSpPr>
        <p:spPr>
          <a:xfrm>
            <a:off x="524256" y="4767072"/>
            <a:ext cx="6594189" cy="1625210"/>
          </a:xfrm>
        </p:spPr>
        <p:txBody>
          <a:bodyPr>
            <a:normAutofit/>
          </a:bodyPr>
          <a:lstStyle/>
          <a:p>
            <a:pPr algn="r"/>
            <a:r>
              <a:rPr lang="en-AU">
                <a:solidFill>
                  <a:srgbClr val="FFFFFF"/>
                </a:solidFill>
              </a:rPr>
              <a:t>Write Your Summary</a:t>
            </a:r>
          </a:p>
        </p:txBody>
      </p:sp>
      <p:pic>
        <p:nvPicPr>
          <p:cNvPr id="5" name="Picture 4" descr="A child writing on a piece of paper&#10;&#10;Description automatically generated with medium confidence">
            <a:extLst>
              <a:ext uri="{FF2B5EF4-FFF2-40B4-BE49-F238E27FC236}">
                <a16:creationId xmlns:a16="http://schemas.microsoft.com/office/drawing/2014/main" id="{4722B32D-F7B6-4789-A21C-5F4FD4C11E3F}"/>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r="1" b="12822"/>
          <a:stretch/>
        </p:blipFill>
        <p:spPr>
          <a:xfrm>
            <a:off x="327547" y="321733"/>
            <a:ext cx="7058306" cy="4107392"/>
          </a:xfrm>
          <a:prstGeom prst="rect">
            <a:avLst/>
          </a:prstGeom>
        </p:spPr>
      </p:pic>
      <p:sp>
        <p:nvSpPr>
          <p:cNvPr id="13" name="Rectangle 12">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9D10EC8-9C72-4646-B6B1-796261351669}"/>
              </a:ext>
            </a:extLst>
          </p:cNvPr>
          <p:cNvSpPr>
            <a:spLocks noGrp="1"/>
          </p:cNvSpPr>
          <p:nvPr>
            <p:ph idx="1"/>
          </p:nvPr>
        </p:nvSpPr>
        <p:spPr>
          <a:xfrm>
            <a:off x="8029319" y="917725"/>
            <a:ext cx="3424739" cy="4852362"/>
          </a:xfrm>
        </p:spPr>
        <p:txBody>
          <a:bodyPr anchor="ctr">
            <a:normAutofit/>
          </a:bodyPr>
          <a:lstStyle/>
          <a:p>
            <a:r>
              <a:rPr lang="en-AU" dirty="0">
                <a:solidFill>
                  <a:srgbClr val="FFFFFF"/>
                </a:solidFill>
                <a:latin typeface="Calibri" panose="020F0502020204030204" pitchFamily="34" charset="0"/>
                <a:cs typeface="Calibri" panose="020F0502020204030204" pitchFamily="34" charset="0"/>
              </a:rPr>
              <a:t>Write a summary that answers the Essential Question: What are strategies that I can use to </a:t>
            </a:r>
            <a:r>
              <a:rPr lang="en-AU">
                <a:solidFill>
                  <a:srgbClr val="FFFFFF"/>
                </a:solidFill>
                <a:latin typeface="Calibri" panose="020F0502020204030204" pitchFamily="34" charset="0"/>
                <a:cs typeface="Calibri" panose="020F0502020204030204" pitchFamily="34" charset="0"/>
              </a:rPr>
              <a:t>multiply whole numbers?</a:t>
            </a:r>
            <a:br>
              <a:rPr lang="en-AU" dirty="0">
                <a:solidFill>
                  <a:srgbClr val="FFFFFF"/>
                </a:solidFill>
                <a:latin typeface="Calibri" panose="020F0502020204030204" pitchFamily="34" charset="0"/>
                <a:cs typeface="Calibri" panose="020F0502020204030204" pitchFamily="34" charset="0"/>
              </a:rPr>
            </a:br>
            <a:br>
              <a:rPr lang="en-AU" dirty="0">
                <a:solidFill>
                  <a:srgbClr val="FFFFFF"/>
                </a:solidFill>
                <a:latin typeface="Calibri" panose="020F0502020204030204" pitchFamily="34" charset="0"/>
                <a:cs typeface="Calibri" panose="020F0502020204030204" pitchFamily="34" charset="0"/>
              </a:rPr>
            </a:br>
            <a:r>
              <a:rPr lang="en-AU" dirty="0">
                <a:solidFill>
                  <a:srgbClr val="FFFFFF"/>
                </a:solidFill>
                <a:latin typeface="Calibri" panose="020F0502020204030204" pitchFamily="34" charset="0"/>
                <a:cs typeface="Calibri" panose="020F0502020204030204" pitchFamily="34" charset="0"/>
              </a:rPr>
              <a:t>Include an example in your answer.</a:t>
            </a:r>
          </a:p>
        </p:txBody>
      </p:sp>
      <p:sp>
        <p:nvSpPr>
          <p:cNvPr id="6" name="TextBox 5">
            <a:extLst>
              <a:ext uri="{FF2B5EF4-FFF2-40B4-BE49-F238E27FC236}">
                <a16:creationId xmlns:a16="http://schemas.microsoft.com/office/drawing/2014/main" id="{35048ABC-2D56-4A8E-8190-C522659A86AC}"/>
              </a:ext>
            </a:extLst>
          </p:cNvPr>
          <p:cNvSpPr txBox="1"/>
          <p:nvPr/>
        </p:nvSpPr>
        <p:spPr>
          <a:xfrm>
            <a:off x="5136519" y="4229070"/>
            <a:ext cx="2249334"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christiantietze.de/posts/2013/12/useful-daily-writing-practice/">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Tree>
    <p:extLst>
      <p:ext uri="{BB962C8B-B14F-4D97-AF65-F5344CB8AC3E}">
        <p14:creationId xmlns:p14="http://schemas.microsoft.com/office/powerpoint/2010/main" val="4181094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307</TotalTime>
  <Words>648</Words>
  <Application>Microsoft Office PowerPoint</Application>
  <PresentationFormat>Widescreen</PresentationFormat>
  <Paragraphs>131</Paragraphs>
  <Slides>14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Calibri</vt:lpstr>
      <vt:lpstr>Cambria Math</vt:lpstr>
      <vt:lpstr>Tw Cen MT</vt:lpstr>
      <vt:lpstr>Tw Cen MT Condensed</vt:lpstr>
      <vt:lpstr>Wingdings 3</vt:lpstr>
      <vt:lpstr>Integral</vt:lpstr>
      <vt:lpstr>Topic: Multiplication EQ: What are Strategies I can Use to Multiply Whole Numbers?</vt:lpstr>
      <vt:lpstr>PowerPoint Presentation</vt:lpstr>
      <vt:lpstr>PowerPoint Presentation</vt:lpstr>
      <vt:lpstr>Five Questions (LHS)</vt:lpstr>
      <vt:lpstr>PowerPoint Presentation</vt:lpstr>
      <vt:lpstr>PowerPoint Presentation</vt:lpstr>
      <vt:lpstr>TASK (LHS)</vt:lpstr>
      <vt:lpstr>PowerPoint Presentation</vt:lpstr>
      <vt:lpstr>PowerPoint Presentation</vt:lpstr>
      <vt:lpstr>PowerPoint Presentation</vt:lpstr>
      <vt:lpstr>TASK (LHS) MFWA 1 Multiplication</vt:lpstr>
      <vt:lpstr>PowerPoint Presentation</vt:lpstr>
      <vt:lpstr>TASK (LHS) MFWA 1 - Multiplication</vt:lpstr>
      <vt:lpstr>Write Your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Multiplication of Integers EQ: How do we Multiply Integers?</dc:title>
  <dc:creator>Magdeline Lum</dc:creator>
  <cp:lastModifiedBy>Magdeline Lum</cp:lastModifiedBy>
  <cp:revision>19</cp:revision>
  <dcterms:created xsi:type="dcterms:W3CDTF">2021-03-19T08:52:00Z</dcterms:created>
  <dcterms:modified xsi:type="dcterms:W3CDTF">2021-03-21T01:16:59Z</dcterms:modified>
</cp:coreProperties>
</file>
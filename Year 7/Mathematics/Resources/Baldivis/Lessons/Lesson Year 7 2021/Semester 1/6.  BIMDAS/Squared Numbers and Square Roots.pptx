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316" r:id="rId5"/>
    <p:sldId id="343" r:id="rId6"/>
    <p:sldId id="311" r:id="rId7"/>
    <p:sldId id="336" r:id="rId8"/>
    <p:sldId id="338" r:id="rId9"/>
    <p:sldId id="339" r:id="rId10"/>
    <p:sldId id="345" r:id="rId11"/>
    <p:sldId id="341" r:id="rId12"/>
    <p:sldId id="342" r:id="rId13"/>
    <p:sldId id="29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6067" autoAdjust="0"/>
  </p:normalViewPr>
  <p:slideViewPr>
    <p:cSldViewPr snapToGrid="0">
      <p:cViewPr varScale="1">
        <p:scale>
          <a:sx n="90" d="100"/>
          <a:sy n="90" d="100"/>
        </p:scale>
        <p:origin x="13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9FF19-E951-4407-A751-7B80C5EDBDDF}" type="datetimeFigureOut">
              <a:rPr lang="en-AU" smtClean="0"/>
              <a:t>14/03/2021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61EA-ED97-4E1D-81AF-4ED4BFC385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947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Answers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43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-23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16</a:t>
                </a:r>
              </a:p>
              <a:p>
                <a:pPr marL="228600" indent="-228600">
                  <a:buAutoNum type="arabicPeriod"/>
                </a:pPr>
                <a:r>
                  <a:rPr lang="en-AU"/>
                  <a:t>D) 6000</a:t>
                </a:r>
                <a:endParaRPr lang="en-AU" dirty="0"/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:r>
                  <a:rPr lang="en-AU" b="0" i="0">
                    <a:latin typeface="Cambria Math" panose="02040503050406030204" pitchFamily="18" charset="0"/>
                  </a:rPr>
                  <a:t>1/5</a:t>
                </a:r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92F62-36E4-4495-8B54-FAECD2DEF7D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2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502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DFDEC-2A93-4D0A-9DAD-284141FF4EEC}" type="datetime1">
              <a:rPr lang="en-GB" smtClean="0"/>
              <a:t>14/03/2021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 Malik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D2385-422B-4DC1-BF2F-0251F53763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66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d/3.0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theconversation.com/make-maths-mandatory-and-well-improve-our-international-education-rankings-1166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zzlewocky.com/math-fun/graeco-latin-squares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7443-25D2-44EB-AFEF-1E571AE1A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3200" dirty="0"/>
              <a:t>TOPIC: Order of Operations</a:t>
            </a:r>
            <a:br>
              <a:rPr lang="en-AU" sz="3200" dirty="0"/>
            </a:br>
            <a:r>
              <a:rPr lang="en-AU" sz="3200" dirty="0"/>
              <a:t>EQ: What is the relationship between the squared number and finding the square root?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E1401-3F98-411B-98D0-0F6B82B55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7 Mathematics</a:t>
            </a:r>
          </a:p>
          <a:p>
            <a:r>
              <a:rPr lang="en-AU" dirty="0"/>
              <a:t>Mrs Parlevliet</a:t>
            </a:r>
          </a:p>
        </p:txBody>
      </p:sp>
    </p:spTree>
    <p:extLst>
      <p:ext uri="{BB962C8B-B14F-4D97-AF65-F5344CB8AC3E}">
        <p14:creationId xmlns:p14="http://schemas.microsoft.com/office/powerpoint/2010/main" val="210091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1238" y="1196753"/>
            <a:ext cx="137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67255D-7C72-44F0-A93A-6AC47D66B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54" b="45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1"/>
                </a:solidFill>
              </a:rPr>
              <a:t>Five Questions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843889"/>
                <a:ext cx="10970958" cy="452294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Without using a calculator, evaluate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3+5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2+6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Murray has 36 red plums and 18 purple plums. What fraction of the plums are red?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27−50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4×4=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soccer match attracted a crowd of 17 221 people.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One third of the people at the match supported the away team.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Which of these is the closest to the number of people at the match who supported the away team?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500	b) 600		c) 5000 	d) 6000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843889"/>
                <a:ext cx="10970958" cy="4522940"/>
              </a:xfrm>
              <a:blipFill>
                <a:blip r:embed="rId5"/>
                <a:stretch>
                  <a:fillRect l="-1278" t="-2022" r="-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B39B19-FCB7-4218-82B7-A29298A568C7}"/>
              </a:ext>
            </a:extLst>
          </p:cNvPr>
          <p:cNvSpPr txBox="1">
            <a:spLocks/>
          </p:cNvSpPr>
          <p:nvPr/>
        </p:nvSpPr>
        <p:spPr>
          <a:xfrm>
            <a:off x="5061098" y="14747"/>
            <a:ext cx="7130903" cy="105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  <a:b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EQ: What is the relationship between the square number and finding the square root?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63987-0A73-44C8-9CA8-7D0ABD6CBAB7}"/>
              </a:ext>
            </a:extLst>
          </p:cNvPr>
          <p:cNvSpPr txBox="1"/>
          <p:nvPr/>
        </p:nvSpPr>
        <p:spPr>
          <a:xfrm>
            <a:off x="8836318" y="1029553"/>
            <a:ext cx="28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8A107-49FC-48AC-9462-9485034B4498}"/>
              </a:ext>
            </a:extLst>
          </p:cNvPr>
          <p:cNvSpPr txBox="1"/>
          <p:nvPr/>
        </p:nvSpPr>
        <p:spPr>
          <a:xfrm>
            <a:off x="9928240" y="6657945"/>
            <a:ext cx="22637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 dirty="0">
                <a:solidFill>
                  <a:srgbClr val="FFFFFF"/>
                </a:solidFill>
                <a:hlinkClick r:id="rId4" tooltip="http://theconversation.com/make-maths-mandatory-and-well-improve-our-international-education-rankings-116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 dirty="0">
                <a:solidFill>
                  <a:srgbClr val="FFFFFF"/>
                </a:solidFill>
              </a:rPr>
              <a:t> by Unknown Author is licensed </a:t>
            </a:r>
            <a:r>
              <a:rPr lang="en-AU" sz="700" dirty="0" err="1">
                <a:solidFill>
                  <a:srgbClr val="FFFFFF"/>
                </a:solidFill>
              </a:rPr>
              <a:t>uder</a:t>
            </a:r>
            <a:r>
              <a:rPr lang="en-AU" sz="700" dirty="0">
                <a:solidFill>
                  <a:srgbClr val="FFFFFF"/>
                </a:solidFill>
              </a:rPr>
              <a:t> </a:t>
            </a:r>
            <a:r>
              <a:rPr lang="en-AU" sz="700" dirty="0">
                <a:solidFill>
                  <a:srgbClr val="FFFFFF"/>
                </a:solidFill>
                <a:hlinkClick r:id="rId6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n-AU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556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Starter activity </a:t>
            </a:r>
          </a:p>
        </p:txBody>
      </p:sp>
      <p:pic>
        <p:nvPicPr>
          <p:cNvPr id="5" name="Picture 4" descr="A picture containing transport, aircraft, balloon, checker&#10;&#10;Description automatically generated">
            <a:extLst>
              <a:ext uri="{FF2B5EF4-FFF2-40B4-BE49-F238E27FC236}">
                <a16:creationId xmlns:a16="http://schemas.microsoft.com/office/drawing/2014/main" id="{9053E5D2-CE2A-40BF-9CBF-AADB4C127C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0811" r="1" b="20997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 a square on the grid with and area of 9 squares.</a:t>
            </a:r>
          </a:p>
          <a:p>
            <a:pPr marL="0" indent="0">
              <a:buNone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What is the side length of this square?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 a square on the grid with and area of 25 squares.</a:t>
            </a:r>
          </a:p>
          <a:p>
            <a:pPr marL="0" indent="0">
              <a:buNone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What is the side length of this square?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6F4B3-2521-4CE9-B801-FE9FD92C8DE3}"/>
              </a:ext>
            </a:extLst>
          </p:cNvPr>
          <p:cNvSpPr txBox="1"/>
          <p:nvPr/>
        </p:nvSpPr>
        <p:spPr>
          <a:xfrm>
            <a:off x="4992249" y="4229070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3" tooltip="https://puzzlewocky.com/math-fun/graeco-latin-squar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A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77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8151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relationship between a square number and finding the square root?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1DB7C6-2588-4501-8165-16C49DDDD774}"/>
              </a:ext>
            </a:extLst>
          </p:cNvPr>
          <p:cNvSpPr txBox="1"/>
          <p:nvPr/>
        </p:nvSpPr>
        <p:spPr>
          <a:xfrm>
            <a:off x="70606" y="1338237"/>
            <a:ext cx="2081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a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square number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A9801A-928F-4CF6-A783-25B1F48AB9DA}"/>
                  </a:ext>
                </a:extLst>
              </p:cNvPr>
              <p:cNvSpPr txBox="1"/>
              <p:nvPr/>
            </p:nvSpPr>
            <p:spPr>
              <a:xfrm>
                <a:off x="2464467" y="1317090"/>
                <a:ext cx="678585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value when a number is multiplied by itself.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×5=25</m:t>
                    </m:r>
                  </m:oMath>
                </a14:m>
                <a:r>
                  <a:rPr lang="en-AU" sz="2400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25 is a square number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A9801A-928F-4CF6-A783-25B1F48AB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467" y="1317090"/>
                <a:ext cx="6785854" cy="1200329"/>
              </a:xfrm>
              <a:prstGeom prst="rect">
                <a:avLst/>
              </a:prstGeom>
              <a:blipFill>
                <a:blip r:embed="rId3"/>
                <a:stretch>
                  <a:fillRect l="-1348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6B8D165-3A4E-45AC-BF8E-0690CB07D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723140"/>
              </p:ext>
            </p:extLst>
          </p:nvPr>
        </p:nvGraphicFramePr>
        <p:xfrm>
          <a:off x="8350221" y="1320829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94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683D3C-C306-4FD8-88D6-D985AC680382}"/>
                  </a:ext>
                </a:extLst>
              </p:cNvPr>
              <p:cNvSpPr txBox="1"/>
              <p:nvPr/>
            </p:nvSpPr>
            <p:spPr>
              <a:xfrm>
                <a:off x="2475608" y="3250760"/>
                <a:ext cx="933953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There is another way to write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25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that is by using index notation so we have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×5=</m:t>
                    </m:r>
                    <m:sSup>
                      <m:sSupPr>
                        <m:ctrlP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b="0" dirty="0">
                  <a:solidFill>
                    <a:srgbClr val="FF0000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 notation </a:t>
                </a: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a convenient way to describe repeated multiplication.</a:t>
                </a:r>
                <a:endParaRPr lang="en-GB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683D3C-C306-4FD8-88D6-D985AC680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608" y="3250760"/>
                <a:ext cx="9339530" cy="1569660"/>
              </a:xfrm>
              <a:prstGeom prst="rect">
                <a:avLst/>
              </a:prstGeom>
              <a:blipFill>
                <a:blip r:embed="rId4"/>
                <a:stretch>
                  <a:fillRect l="-979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BED169-3975-4203-8B51-B566FD6299A4}"/>
                  </a:ext>
                </a:extLst>
              </p:cNvPr>
              <p:cNvSpPr txBox="1"/>
              <p:nvPr/>
            </p:nvSpPr>
            <p:spPr>
              <a:xfrm>
                <a:off x="4846675" y="4960667"/>
                <a:ext cx="3352799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BED169-3975-4203-8B51-B566FD629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675" y="4960667"/>
                <a:ext cx="3352799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CDB0AF1-DCE3-4FE1-867E-FFBAC4743CC2}"/>
              </a:ext>
            </a:extLst>
          </p:cNvPr>
          <p:cNvSpPr txBox="1"/>
          <p:nvPr/>
        </p:nvSpPr>
        <p:spPr>
          <a:xfrm>
            <a:off x="7360907" y="4820420"/>
            <a:ext cx="1489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Exponent or index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7506AE-EEA1-4919-85B7-8A616B9BE451}"/>
              </a:ext>
            </a:extLst>
          </p:cNvPr>
          <p:cNvSpPr txBox="1"/>
          <p:nvPr/>
        </p:nvSpPr>
        <p:spPr>
          <a:xfrm>
            <a:off x="3822182" y="5695483"/>
            <a:ext cx="1489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C93C3B-D6DC-42DD-8A8C-A63B74E84DB5}"/>
              </a:ext>
            </a:extLst>
          </p:cNvPr>
          <p:cNvCxnSpPr/>
          <p:nvPr/>
        </p:nvCxnSpPr>
        <p:spPr>
          <a:xfrm flipV="1">
            <a:off x="4983133" y="5557087"/>
            <a:ext cx="1150189" cy="39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0EFCA9-1DE2-476D-9970-14D9543191CC}"/>
              </a:ext>
            </a:extLst>
          </p:cNvPr>
          <p:cNvCxnSpPr/>
          <p:nvPr/>
        </p:nvCxnSpPr>
        <p:spPr>
          <a:xfrm flipH="1">
            <a:off x="6898082" y="5063112"/>
            <a:ext cx="494581" cy="157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66255E1-7270-4F62-BDA1-FD0F3C965DFD}"/>
              </a:ext>
            </a:extLst>
          </p:cNvPr>
          <p:cNvSpPr txBox="1"/>
          <p:nvPr/>
        </p:nvSpPr>
        <p:spPr>
          <a:xfrm>
            <a:off x="89038" y="3250760"/>
            <a:ext cx="2098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=2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=3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=4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=5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=6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C8824CD-1BA8-46C6-8216-F81ECDC3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</p:spTree>
    <p:extLst>
      <p:ext uri="{BB962C8B-B14F-4D97-AF65-F5344CB8AC3E}">
        <p14:creationId xmlns:p14="http://schemas.microsoft.com/office/powerpoint/2010/main" val="418204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=2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=3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=4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=5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=6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=7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=8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=9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=10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=12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6764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relationship between a square number and finding the square root?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0F3A9A-FE65-4558-9E83-17FA5CB7E0F4}"/>
              </a:ext>
            </a:extLst>
          </p:cNvPr>
          <p:cNvSpPr txBox="1"/>
          <p:nvPr/>
        </p:nvSpPr>
        <p:spPr>
          <a:xfrm>
            <a:off x="197990" y="1361910"/>
            <a:ext cx="197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the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square root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4BB63-2033-4075-85DA-0DC0CB184868}"/>
                  </a:ext>
                </a:extLst>
              </p:cNvPr>
              <p:cNvSpPr txBox="1"/>
              <p:nvPr/>
            </p:nvSpPr>
            <p:spPr>
              <a:xfrm>
                <a:off x="2483848" y="1348352"/>
                <a:ext cx="8357525" cy="1990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a square with an area of 25 squares has a side length of 5. </a:t>
                </a: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 is the square root of 25.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inverse operation to squaring is to find the square root.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sz="2400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sz="2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4BB63-2033-4075-85DA-0DC0CB184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848" y="1348352"/>
                <a:ext cx="8357525" cy="1990032"/>
              </a:xfrm>
              <a:prstGeom prst="rect">
                <a:avLst/>
              </a:prstGeom>
              <a:blipFill>
                <a:blip r:embed="rId3"/>
                <a:stretch>
                  <a:fillRect l="-1094" t="-2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59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024128" y="1945757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r>
                  <a:rPr lang="en-AU" sz="2800" dirty="0"/>
                  <a:t>Extension</a:t>
                </a:r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24128" y="1945757"/>
                <a:ext cx="4754880" cy="4710223"/>
              </a:xfrm>
              <a:blipFill>
                <a:blip r:embed="rId2"/>
                <a:stretch>
                  <a:fillRect l="-3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1945756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:endParaRPr lang="en-AU" sz="2800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1945756"/>
                <a:ext cx="4754880" cy="471022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322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024128" y="1903227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=2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=3</m:t>
                    </m:r>
                  </m:oMath>
                </a14:m>
                <a:endParaRPr lang="en-AU" sz="2800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  <a:ea typeface="Cambria Math"/>
                      </a:rPr>
                      <m:t>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=5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r>
                  <a:rPr lang="en-AU" sz="2800" dirty="0"/>
                  <a:t>Extension</a:t>
                </a:r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=20</m:t>
                    </m:r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24128" y="1903227"/>
                <a:ext cx="4754880" cy="4710223"/>
              </a:xfrm>
              <a:blipFill>
                <a:blip r:embed="rId2"/>
                <a:stretch>
                  <a:fillRect l="-3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989320" y="1903227"/>
                <a:ext cx="4754880" cy="4710222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=7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=8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=10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=11</m:t>
                    </m:r>
                  </m:oMath>
                </a14:m>
                <a:endParaRPr lang="en-AU" sz="280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=12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endParaRPr lang="en-AU" sz="2800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=50</m:t>
                    </m:r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89320" y="1903227"/>
                <a:ext cx="4754880" cy="471022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45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50065"/>
            <a:ext cx="9720073" cy="4459295"/>
          </a:xfrm>
        </p:spPr>
        <p:txBody>
          <a:bodyPr>
            <a:normAutofit lnSpcReduction="10000"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24, 7 ,30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Essential question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Notes complete 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Notes complete with colour and diagrams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Questions completed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Contents page filed in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Formula page filled in</a:t>
            </a:r>
          </a:p>
          <a:p>
            <a:pPr marL="0" indent="0">
              <a:buNone/>
            </a:pP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171</TotalTime>
  <Words>677</Words>
  <Application>Microsoft Office PowerPoint</Application>
  <PresentationFormat>Widescreen</PresentationFormat>
  <Paragraphs>156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Order of Operations EQ: What is the relationship between the squared number and finding the square root?</vt:lpstr>
      <vt:lpstr>Things Required For This Lesson</vt:lpstr>
      <vt:lpstr>PowerPoint Presentation</vt:lpstr>
      <vt:lpstr>Five Questions (LHS)</vt:lpstr>
      <vt:lpstr>Starter activity </vt:lpstr>
      <vt:lpstr>PowerPoint Presentation</vt:lpstr>
      <vt:lpstr>Task: Calculate the following (LHS)</vt:lpstr>
      <vt:lpstr>Task: Calculate the following (LHS)</vt:lpstr>
      <vt:lpstr>Task: Calculate the following (LHS)</vt:lpstr>
      <vt:lpstr>PowerPoint Presentation</vt:lpstr>
      <vt:lpstr>Task: Calculate the following (LHS)</vt:lpstr>
      <vt:lpstr>Task: Calculate the following (LHS)</vt:lpstr>
      <vt:lpstr>Notes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Order of Operations EQ: How Do I use the Order of Operations in Mathematics?</dc:title>
  <dc:creator>Magdeline Lum</dc:creator>
  <cp:lastModifiedBy>Magdeline Lum</cp:lastModifiedBy>
  <cp:revision>18</cp:revision>
  <dcterms:created xsi:type="dcterms:W3CDTF">2021-03-14T04:06:38Z</dcterms:created>
  <dcterms:modified xsi:type="dcterms:W3CDTF">2021-03-14T07:31:29Z</dcterms:modified>
</cp:coreProperties>
</file>
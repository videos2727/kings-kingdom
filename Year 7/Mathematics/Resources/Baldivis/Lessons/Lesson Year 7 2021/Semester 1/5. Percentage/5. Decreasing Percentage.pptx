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9"/>
  </p:notesMasterIdLst>
  <p:sldIdLst>
    <p:sldId id="257" r:id="rId2"/>
    <p:sldId id="323" r:id="rId3"/>
    <p:sldId id="264" r:id="rId4"/>
    <p:sldId id="286" r:id="rId5"/>
    <p:sldId id="275" r:id="rId6"/>
    <p:sldId id="276" r:id="rId7"/>
    <p:sldId id="287" r:id="rId8"/>
    <p:sldId id="278" r:id="rId9"/>
    <p:sldId id="280" r:id="rId10"/>
    <p:sldId id="277" r:id="rId11"/>
    <p:sldId id="288" r:id="rId12"/>
    <p:sldId id="281" r:id="rId13"/>
    <p:sldId id="289" r:id="rId14"/>
    <p:sldId id="290" r:id="rId15"/>
    <p:sldId id="291" r:id="rId16"/>
    <p:sldId id="292" r:id="rId17"/>
    <p:sldId id="295" r:id="rId18"/>
  </p:sldIdLst>
  <p:sldSz cx="9144000" cy="5143500" type="screen16x9"/>
  <p:notesSz cx="6858000" cy="9144000"/>
  <p:embeddedFontLst>
    <p:embeddedFont>
      <p:font typeface="Abel" panose="020B0604020202020204" charset="0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Fredoka One" panose="020B0604020202020204" charset="0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68">
          <p15:clr>
            <a:srgbClr val="9AA0A6"/>
          </p15:clr>
        </p15:guide>
        <p15:guide id="2" pos="2880">
          <p15:clr>
            <a:srgbClr val="9AA0A6"/>
          </p15:clr>
        </p15:guide>
        <p15:guide id="3" orient="horz" pos="253">
          <p15:clr>
            <a:srgbClr val="9AA0A6"/>
          </p15:clr>
        </p15:guide>
        <p15:guide id="4" orient="horz" pos="841">
          <p15:clr>
            <a:srgbClr val="9AA0A6"/>
          </p15:clr>
        </p15:guide>
        <p15:guide id="5" pos="576">
          <p15:clr>
            <a:srgbClr val="9AA0A6"/>
          </p15:clr>
        </p15:guide>
        <p15:guide id="6" orient="horz" pos="547">
          <p15:clr>
            <a:srgbClr val="9AA0A6"/>
          </p15:clr>
        </p15:guide>
        <p15:guide id="7" orient="horz" pos="216">
          <p15:clr>
            <a:srgbClr val="9AA0A6"/>
          </p15:clr>
        </p15:guide>
        <p15:guide id="8" pos="4787">
          <p15:clr>
            <a:srgbClr val="9AA0A6"/>
          </p15:clr>
        </p15:guide>
        <p15:guide id="9" pos="3942">
          <p15:clr>
            <a:srgbClr val="9AA0A6"/>
          </p15:clr>
        </p15:guide>
        <p15:guide id="10" pos="1293">
          <p15:clr>
            <a:srgbClr val="9AA0A6"/>
          </p15:clr>
        </p15:guide>
        <p15:guide id="11" orient="horz" pos="120">
          <p15:clr>
            <a:srgbClr val="9AA0A6"/>
          </p15:clr>
        </p15:guide>
        <p15:guide id="12" orient="horz" pos="144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6A43"/>
    <a:srgbClr val="6B4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281E68-3D7A-4B24-8C5C-2A6F1A982A81}" v="5" dt="2021-03-28T11:04:43.305"/>
  </p1510:revLst>
</p1510:revInfo>
</file>

<file path=ppt/tableStyles.xml><?xml version="1.0" encoding="utf-8"?>
<a:tblStyleLst xmlns:a="http://schemas.openxmlformats.org/drawingml/2006/main" def="{42CA31A5-7132-4A5F-A072-0CB39D90A84B}">
  <a:tblStyle styleId="{42CA31A5-7132-4A5F-A072-0CB39D90A8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398" autoAdjust="0"/>
    <p:restoredTop sz="94660"/>
  </p:normalViewPr>
  <p:slideViewPr>
    <p:cSldViewPr snapToGrid="0">
      <p:cViewPr varScale="1">
        <p:scale>
          <a:sx n="90" d="100"/>
          <a:sy n="90" d="100"/>
        </p:scale>
        <p:origin x="150" y="78"/>
      </p:cViewPr>
      <p:guideLst>
        <p:guide orient="horz" pos="3068"/>
        <p:guide pos="2880"/>
        <p:guide orient="horz" pos="253"/>
        <p:guide orient="horz" pos="841"/>
        <p:guide pos="576"/>
        <p:guide orient="horz" pos="547"/>
        <p:guide orient="horz" pos="216"/>
        <p:guide pos="4787"/>
        <p:guide pos="3942"/>
        <p:guide pos="1293"/>
        <p:guide orient="horz" pos="120"/>
        <p:guide orient="horz" pos="14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.watson@education.wa.edu.au" userId="0bb701940c9d40d5" providerId="LiveId" clId="{49281E68-3D7A-4B24-8C5C-2A6F1A982A81}"/>
    <pc:docChg chg="custSel addSld delSld modSld">
      <pc:chgData name="justin.watson@education.wa.edu.au" userId="0bb701940c9d40d5" providerId="LiveId" clId="{49281E68-3D7A-4B24-8C5C-2A6F1A982A81}" dt="2021-03-28T11:04:43.305" v="31"/>
      <pc:docMkLst>
        <pc:docMk/>
      </pc:docMkLst>
      <pc:sldChg chg="del">
        <pc:chgData name="justin.watson@education.wa.edu.au" userId="0bb701940c9d40d5" providerId="LiveId" clId="{49281E68-3D7A-4B24-8C5C-2A6F1A982A81}" dt="2021-03-28T11:00:46.850" v="1" actId="47"/>
        <pc:sldMkLst>
          <pc:docMk/>
          <pc:sldMk cId="1460060804" sldId="256"/>
        </pc:sldMkLst>
      </pc:sldChg>
      <pc:sldChg chg="delSp modSp add mod">
        <pc:chgData name="justin.watson@education.wa.edu.au" userId="0bb701940c9d40d5" providerId="LiveId" clId="{49281E68-3D7A-4B24-8C5C-2A6F1A982A81}" dt="2021-03-28T11:02:30.517" v="27" actId="14100"/>
        <pc:sldMkLst>
          <pc:docMk/>
          <pc:sldMk cId="498338272" sldId="257"/>
        </pc:sldMkLst>
        <pc:spChg chg="mod">
          <ac:chgData name="justin.watson@education.wa.edu.au" userId="0bb701940c9d40d5" providerId="LiveId" clId="{49281E68-3D7A-4B24-8C5C-2A6F1A982A81}" dt="2021-03-28T11:02:22.396" v="24" actId="14100"/>
          <ac:spMkLst>
            <pc:docMk/>
            <pc:sldMk cId="498338272" sldId="257"/>
            <ac:spMk id="17" creationId="{00000000-0000-0000-0000-000000000000}"/>
          </ac:spMkLst>
        </pc:spChg>
        <pc:spChg chg="mod">
          <ac:chgData name="justin.watson@education.wa.edu.au" userId="0bb701940c9d40d5" providerId="LiveId" clId="{49281E68-3D7A-4B24-8C5C-2A6F1A982A81}" dt="2021-03-28T11:02:30.517" v="27" actId="14100"/>
          <ac:spMkLst>
            <pc:docMk/>
            <pc:sldMk cId="498338272" sldId="257"/>
            <ac:spMk id="33" creationId="{00000000-0000-0000-0000-000000000000}"/>
          </ac:spMkLst>
        </pc:spChg>
        <pc:picChg chg="del">
          <ac:chgData name="justin.watson@education.wa.edu.au" userId="0bb701940c9d40d5" providerId="LiveId" clId="{49281E68-3D7A-4B24-8C5C-2A6F1A982A81}" dt="2021-03-28T11:02:24.216" v="25" actId="478"/>
          <ac:picMkLst>
            <pc:docMk/>
            <pc:sldMk cId="498338272" sldId="257"/>
            <ac:picMk id="10" creationId="{00000000-0000-0000-0000-000000000000}"/>
          </ac:picMkLst>
        </pc:picChg>
      </pc:sldChg>
      <pc:sldChg chg="del">
        <pc:chgData name="justin.watson@education.wa.edu.au" userId="0bb701940c9d40d5" providerId="LiveId" clId="{49281E68-3D7A-4B24-8C5C-2A6F1A982A81}" dt="2021-03-28T11:00:47.822" v="2" actId="47"/>
        <pc:sldMkLst>
          <pc:docMk/>
          <pc:sldMk cId="3426661170" sldId="258"/>
        </pc:sldMkLst>
      </pc:sldChg>
      <pc:sldChg chg="del mod chgLayout">
        <pc:chgData name="justin.watson@education.wa.edu.au" userId="0bb701940c9d40d5" providerId="LiveId" clId="{49281E68-3D7A-4B24-8C5C-2A6F1A982A81}" dt="2021-03-28T11:01:15.993" v="9" actId="47"/>
        <pc:sldMkLst>
          <pc:docMk/>
          <pc:sldMk cId="14635953" sldId="259"/>
        </pc:sldMkLst>
      </pc:sldChg>
      <pc:sldChg chg="del mod chgLayout">
        <pc:chgData name="justin.watson@education.wa.edu.au" userId="0bb701940c9d40d5" providerId="LiveId" clId="{49281E68-3D7A-4B24-8C5C-2A6F1A982A81}" dt="2021-03-28T11:01:15.024" v="6" actId="47"/>
        <pc:sldMkLst>
          <pc:docMk/>
          <pc:sldMk cId="2019270630" sldId="262"/>
        </pc:sldMkLst>
      </pc:sldChg>
      <pc:sldChg chg="del mod chgLayout">
        <pc:chgData name="justin.watson@education.wa.edu.au" userId="0bb701940c9d40d5" providerId="LiveId" clId="{49281E68-3D7A-4B24-8C5C-2A6F1A982A81}" dt="2021-03-28T11:01:14.680" v="4" actId="47"/>
        <pc:sldMkLst>
          <pc:docMk/>
          <pc:sldMk cId="2389747326" sldId="263"/>
        </pc:sldMkLst>
      </pc:sldChg>
      <pc:sldChg chg="del mod chgLayout">
        <pc:chgData name="justin.watson@education.wa.edu.au" userId="0bb701940c9d40d5" providerId="LiveId" clId="{49281E68-3D7A-4B24-8C5C-2A6F1A982A81}" dt="2021-03-28T11:01:14.867" v="5" actId="47"/>
        <pc:sldMkLst>
          <pc:docMk/>
          <pc:sldMk cId="3301561181" sldId="264"/>
        </pc:sldMkLst>
      </pc:sldChg>
      <pc:sldChg chg="add">
        <pc:chgData name="justin.watson@education.wa.edu.au" userId="0bb701940c9d40d5" providerId="LiveId" clId="{49281E68-3D7A-4B24-8C5C-2A6F1A982A81}" dt="2021-03-28T11:04:43.305" v="31"/>
        <pc:sldMkLst>
          <pc:docMk/>
          <pc:sldMk cId="3544530676" sldId="264"/>
        </pc:sldMkLst>
      </pc:sldChg>
      <pc:sldChg chg="del mod chgLayout">
        <pc:chgData name="justin.watson@education.wa.edu.au" userId="0bb701940c9d40d5" providerId="LiveId" clId="{49281E68-3D7A-4B24-8C5C-2A6F1A982A81}" dt="2021-03-28T11:01:17.166" v="11" actId="47"/>
        <pc:sldMkLst>
          <pc:docMk/>
          <pc:sldMk cId="2629985301" sldId="266"/>
        </pc:sldMkLst>
      </pc:sldChg>
      <pc:sldChg chg="del mod chgLayout">
        <pc:chgData name="justin.watson@education.wa.edu.au" userId="0bb701940c9d40d5" providerId="LiveId" clId="{49281E68-3D7A-4B24-8C5C-2A6F1A982A81}" dt="2021-03-28T11:01:16.931" v="10" actId="47"/>
        <pc:sldMkLst>
          <pc:docMk/>
          <pc:sldMk cId="1586578089" sldId="268"/>
        </pc:sldMkLst>
      </pc:sldChg>
      <pc:sldChg chg="del mod chgLayout">
        <pc:chgData name="justin.watson@education.wa.edu.au" userId="0bb701940c9d40d5" providerId="LiveId" clId="{49281E68-3D7A-4B24-8C5C-2A6F1A982A81}" dt="2021-03-28T11:01:15.492" v="7" actId="47"/>
        <pc:sldMkLst>
          <pc:docMk/>
          <pc:sldMk cId="3658222931" sldId="269"/>
        </pc:sldMkLst>
      </pc:sldChg>
      <pc:sldChg chg="del mod chgLayout">
        <pc:chgData name="justin.watson@education.wa.edu.au" userId="0bb701940c9d40d5" providerId="LiveId" clId="{49281E68-3D7A-4B24-8C5C-2A6F1A982A81}" dt="2021-03-28T11:01:15.697" v="8" actId="47"/>
        <pc:sldMkLst>
          <pc:docMk/>
          <pc:sldMk cId="3241578557" sldId="270"/>
        </pc:sldMkLst>
      </pc:sldChg>
      <pc:sldChg chg="del mod chgLayout">
        <pc:chgData name="justin.watson@education.wa.edu.au" userId="0bb701940c9d40d5" providerId="LiveId" clId="{49281E68-3D7A-4B24-8C5C-2A6F1A982A81}" dt="2021-03-28T11:01:17.525" v="12" actId="47"/>
        <pc:sldMkLst>
          <pc:docMk/>
          <pc:sldMk cId="835159969" sldId="272"/>
        </pc:sldMkLst>
      </pc:sldChg>
      <pc:sldChg chg="add mod modClrScheme chgLayout">
        <pc:chgData name="justin.watson@education.wa.edu.au" userId="0bb701940c9d40d5" providerId="LiveId" clId="{49281E68-3D7A-4B24-8C5C-2A6F1A982A81}" dt="2021-03-28T11:01:04.994" v="3" actId="700"/>
        <pc:sldMkLst>
          <pc:docMk/>
          <pc:sldMk cId="3288531802" sldId="275"/>
        </pc:sldMkLst>
      </pc:sldChg>
      <pc:sldChg chg="add mod modClrScheme chgLayout">
        <pc:chgData name="justin.watson@education.wa.edu.au" userId="0bb701940c9d40d5" providerId="LiveId" clId="{49281E68-3D7A-4B24-8C5C-2A6F1A982A81}" dt="2021-03-28T11:01:04.994" v="3" actId="700"/>
        <pc:sldMkLst>
          <pc:docMk/>
          <pc:sldMk cId="669118607" sldId="276"/>
        </pc:sldMkLst>
      </pc:sldChg>
      <pc:sldChg chg="modSp add mod modClrScheme chgLayout">
        <pc:chgData name="justin.watson@education.wa.edu.au" userId="0bb701940c9d40d5" providerId="LiveId" clId="{49281E68-3D7A-4B24-8C5C-2A6F1A982A81}" dt="2021-03-28T11:02:08.765" v="23" actId="14100"/>
        <pc:sldMkLst>
          <pc:docMk/>
          <pc:sldMk cId="1811592160" sldId="277"/>
        </pc:sldMkLst>
        <pc:spChg chg="mod">
          <ac:chgData name="justin.watson@education.wa.edu.au" userId="0bb701940c9d40d5" providerId="LiveId" clId="{49281E68-3D7A-4B24-8C5C-2A6F1A982A81}" dt="2021-03-28T11:02:08.765" v="23" actId="14100"/>
          <ac:spMkLst>
            <pc:docMk/>
            <pc:sldMk cId="1811592160" sldId="277"/>
            <ac:spMk id="12" creationId="{00000000-0000-0000-0000-000000000000}"/>
          </ac:spMkLst>
        </pc:spChg>
      </pc:sldChg>
      <pc:sldChg chg="add mod modClrScheme chgLayout">
        <pc:chgData name="justin.watson@education.wa.edu.au" userId="0bb701940c9d40d5" providerId="LiveId" clId="{49281E68-3D7A-4B24-8C5C-2A6F1A982A81}" dt="2021-03-28T11:01:04.994" v="3" actId="700"/>
        <pc:sldMkLst>
          <pc:docMk/>
          <pc:sldMk cId="3200249404" sldId="278"/>
        </pc:sldMkLst>
      </pc:sldChg>
      <pc:sldChg chg="add mod modClrScheme chgLayout">
        <pc:chgData name="justin.watson@education.wa.edu.au" userId="0bb701940c9d40d5" providerId="LiveId" clId="{49281E68-3D7A-4B24-8C5C-2A6F1A982A81}" dt="2021-03-28T11:01:04.994" v="3" actId="700"/>
        <pc:sldMkLst>
          <pc:docMk/>
          <pc:sldMk cId="3997194499" sldId="280"/>
        </pc:sldMkLst>
      </pc:sldChg>
      <pc:sldChg chg="modSp add mod modClrScheme chgLayout">
        <pc:chgData name="justin.watson@education.wa.edu.au" userId="0bb701940c9d40d5" providerId="LiveId" clId="{49281E68-3D7A-4B24-8C5C-2A6F1A982A81}" dt="2021-03-28T11:01:59.558" v="22"/>
        <pc:sldMkLst>
          <pc:docMk/>
          <pc:sldMk cId="3123681917" sldId="281"/>
        </pc:sldMkLst>
        <pc:spChg chg="mod">
          <ac:chgData name="justin.watson@education.wa.edu.au" userId="0bb701940c9d40d5" providerId="LiveId" clId="{49281E68-3D7A-4B24-8C5C-2A6F1A982A81}" dt="2021-03-28T11:01:59.558" v="22"/>
          <ac:spMkLst>
            <pc:docMk/>
            <pc:sldMk cId="3123681917" sldId="281"/>
            <ac:spMk id="35" creationId="{00000000-0000-0000-0000-000000000000}"/>
          </ac:spMkLst>
        </pc:spChg>
        <pc:spChg chg="mod">
          <ac:chgData name="justin.watson@education.wa.edu.au" userId="0bb701940c9d40d5" providerId="LiveId" clId="{49281E68-3D7A-4B24-8C5C-2A6F1A982A81}" dt="2021-03-28T11:01:38.760" v="18" actId="20577"/>
          <ac:spMkLst>
            <pc:docMk/>
            <pc:sldMk cId="3123681917" sldId="281"/>
            <ac:spMk id="37" creationId="{00000000-0000-0000-0000-000000000000}"/>
          </ac:spMkLst>
        </pc:spChg>
      </pc:sldChg>
      <pc:sldChg chg="del mod chgLayout">
        <pc:chgData name="justin.watson@education.wa.edu.au" userId="0bb701940c9d40d5" providerId="LiveId" clId="{49281E68-3D7A-4B24-8C5C-2A6F1A982A81}" dt="2021-03-28T11:01:17.791" v="13" actId="47"/>
        <pc:sldMkLst>
          <pc:docMk/>
          <pc:sldMk cId="1535105456" sldId="282"/>
        </pc:sldMkLst>
      </pc:sldChg>
      <pc:sldChg chg="del mod chgLayout">
        <pc:chgData name="justin.watson@education.wa.edu.au" userId="0bb701940c9d40d5" providerId="LiveId" clId="{49281E68-3D7A-4B24-8C5C-2A6F1A982A81}" dt="2021-03-28T11:01:18.120" v="14" actId="47"/>
        <pc:sldMkLst>
          <pc:docMk/>
          <pc:sldMk cId="1698277111" sldId="283"/>
        </pc:sldMkLst>
      </pc:sldChg>
      <pc:sldChg chg="del mod chgLayout">
        <pc:chgData name="justin.watson@education.wa.edu.au" userId="0bb701940c9d40d5" providerId="LiveId" clId="{49281E68-3D7A-4B24-8C5C-2A6F1A982A81}" dt="2021-03-28T11:01:18.620" v="15" actId="47"/>
        <pc:sldMkLst>
          <pc:docMk/>
          <pc:sldMk cId="3346949175" sldId="284"/>
        </pc:sldMkLst>
      </pc:sldChg>
      <pc:sldChg chg="del mod chgLayout">
        <pc:chgData name="justin.watson@education.wa.edu.au" userId="0bb701940c9d40d5" providerId="LiveId" clId="{49281E68-3D7A-4B24-8C5C-2A6F1A982A81}" dt="2021-03-28T11:01:19.126" v="16" actId="47"/>
        <pc:sldMkLst>
          <pc:docMk/>
          <pc:sldMk cId="1381658559" sldId="285"/>
        </pc:sldMkLst>
      </pc:sldChg>
      <pc:sldChg chg="add mod modClrScheme chgLayout">
        <pc:chgData name="justin.watson@education.wa.edu.au" userId="0bb701940c9d40d5" providerId="LiveId" clId="{49281E68-3D7A-4B24-8C5C-2A6F1A982A81}" dt="2021-03-28T11:01:04.994" v="3" actId="700"/>
        <pc:sldMkLst>
          <pc:docMk/>
          <pc:sldMk cId="2000892983" sldId="286"/>
        </pc:sldMkLst>
      </pc:sldChg>
      <pc:sldChg chg="add mod modClrScheme chgLayout">
        <pc:chgData name="justin.watson@education.wa.edu.au" userId="0bb701940c9d40d5" providerId="LiveId" clId="{49281E68-3D7A-4B24-8C5C-2A6F1A982A81}" dt="2021-03-28T11:01:04.994" v="3" actId="700"/>
        <pc:sldMkLst>
          <pc:docMk/>
          <pc:sldMk cId="1493554830" sldId="287"/>
        </pc:sldMkLst>
      </pc:sldChg>
      <pc:sldChg chg="modSp add mod modClrScheme chgLayout">
        <pc:chgData name="justin.watson@education.wa.edu.au" userId="0bb701940c9d40d5" providerId="LiveId" clId="{49281E68-3D7A-4B24-8C5C-2A6F1A982A81}" dt="2021-03-28T11:01:56.261" v="21"/>
        <pc:sldMkLst>
          <pc:docMk/>
          <pc:sldMk cId="1806568788" sldId="288"/>
        </pc:sldMkLst>
        <pc:spChg chg="mod">
          <ac:chgData name="justin.watson@education.wa.edu.au" userId="0bb701940c9d40d5" providerId="LiveId" clId="{49281E68-3D7A-4B24-8C5C-2A6F1A982A81}" dt="2021-03-28T11:01:56.261" v="21"/>
          <ac:spMkLst>
            <pc:docMk/>
            <pc:sldMk cId="1806568788" sldId="288"/>
            <ac:spMk id="27" creationId="{00000000-0000-0000-0000-000000000000}"/>
          </ac:spMkLst>
        </pc:spChg>
        <pc:spChg chg="mod">
          <ac:chgData name="justin.watson@education.wa.edu.au" userId="0bb701940c9d40d5" providerId="LiveId" clId="{49281E68-3D7A-4B24-8C5C-2A6F1A982A81}" dt="2021-03-28T11:01:46.764" v="19"/>
          <ac:spMkLst>
            <pc:docMk/>
            <pc:sldMk cId="1806568788" sldId="288"/>
            <ac:spMk id="28" creationId="{00000000-0000-0000-0000-000000000000}"/>
          </ac:spMkLst>
        </pc:spChg>
        <pc:spChg chg="mod">
          <ac:chgData name="justin.watson@education.wa.edu.au" userId="0bb701940c9d40d5" providerId="LiveId" clId="{49281E68-3D7A-4B24-8C5C-2A6F1A982A81}" dt="2021-03-28T11:01:49.254" v="20"/>
          <ac:spMkLst>
            <pc:docMk/>
            <pc:sldMk cId="1806568788" sldId="288"/>
            <ac:spMk id="29" creationId="{00000000-0000-0000-0000-000000000000}"/>
          </ac:spMkLst>
        </pc:spChg>
      </pc:sldChg>
      <pc:sldChg chg="add mod modClrScheme chgLayout">
        <pc:chgData name="justin.watson@education.wa.edu.au" userId="0bb701940c9d40d5" providerId="LiveId" clId="{49281E68-3D7A-4B24-8C5C-2A6F1A982A81}" dt="2021-03-28T11:01:04.994" v="3" actId="700"/>
        <pc:sldMkLst>
          <pc:docMk/>
          <pc:sldMk cId="1574284086" sldId="289"/>
        </pc:sldMkLst>
      </pc:sldChg>
      <pc:sldChg chg="modSp add mod modClrScheme chgLayout">
        <pc:chgData name="justin.watson@education.wa.edu.au" userId="0bb701940c9d40d5" providerId="LiveId" clId="{49281E68-3D7A-4B24-8C5C-2A6F1A982A81}" dt="2021-03-28T11:01:28.974" v="17" actId="14100"/>
        <pc:sldMkLst>
          <pc:docMk/>
          <pc:sldMk cId="2713445082" sldId="290"/>
        </pc:sldMkLst>
        <pc:spChg chg="mod">
          <ac:chgData name="justin.watson@education.wa.edu.au" userId="0bb701940c9d40d5" providerId="LiveId" clId="{49281E68-3D7A-4B24-8C5C-2A6F1A982A81}" dt="2021-03-28T11:01:28.974" v="17" actId="14100"/>
          <ac:spMkLst>
            <pc:docMk/>
            <pc:sldMk cId="2713445082" sldId="290"/>
            <ac:spMk id="12" creationId="{00000000-0000-0000-0000-000000000000}"/>
          </ac:spMkLst>
        </pc:spChg>
      </pc:sldChg>
      <pc:sldChg chg="add mod modClrScheme chgLayout">
        <pc:chgData name="justin.watson@education.wa.edu.au" userId="0bb701940c9d40d5" providerId="LiveId" clId="{49281E68-3D7A-4B24-8C5C-2A6F1A982A81}" dt="2021-03-28T11:01:04.994" v="3" actId="700"/>
        <pc:sldMkLst>
          <pc:docMk/>
          <pc:sldMk cId="11863235" sldId="291"/>
        </pc:sldMkLst>
      </pc:sldChg>
      <pc:sldChg chg="add mod modClrScheme chgLayout">
        <pc:chgData name="justin.watson@education.wa.edu.au" userId="0bb701940c9d40d5" providerId="LiveId" clId="{49281E68-3D7A-4B24-8C5C-2A6F1A982A81}" dt="2021-03-28T11:01:04.994" v="3" actId="700"/>
        <pc:sldMkLst>
          <pc:docMk/>
          <pc:sldMk cId="1047389255" sldId="292"/>
        </pc:sldMkLst>
      </pc:sldChg>
      <pc:sldChg chg="add del mod modClrScheme chgLayout">
        <pc:chgData name="justin.watson@education.wa.edu.au" userId="0bb701940c9d40d5" providerId="LiveId" clId="{49281E68-3D7A-4B24-8C5C-2A6F1A982A81}" dt="2021-03-28T11:03:03.299" v="30" actId="47"/>
        <pc:sldMkLst>
          <pc:docMk/>
          <pc:sldMk cId="814988728" sldId="293"/>
        </pc:sldMkLst>
      </pc:sldChg>
      <pc:sldChg chg="add del mod modClrScheme chgLayout">
        <pc:chgData name="justin.watson@education.wa.edu.au" userId="0bb701940c9d40d5" providerId="LiveId" clId="{49281E68-3D7A-4B24-8C5C-2A6F1A982A81}" dt="2021-03-28T11:02:57.296" v="29" actId="47"/>
        <pc:sldMkLst>
          <pc:docMk/>
          <pc:sldMk cId="1675821315" sldId="294"/>
        </pc:sldMkLst>
      </pc:sldChg>
      <pc:sldChg chg="modSp add mod modClrScheme chgLayout">
        <pc:chgData name="justin.watson@education.wa.edu.au" userId="0bb701940c9d40d5" providerId="LiveId" clId="{49281E68-3D7A-4B24-8C5C-2A6F1A982A81}" dt="2021-03-28T11:02:42.708" v="28" actId="1076"/>
        <pc:sldMkLst>
          <pc:docMk/>
          <pc:sldMk cId="2320900422" sldId="295"/>
        </pc:sldMkLst>
        <pc:spChg chg="mod">
          <ac:chgData name="justin.watson@education.wa.edu.au" userId="0bb701940c9d40d5" providerId="LiveId" clId="{49281E68-3D7A-4B24-8C5C-2A6F1A982A81}" dt="2021-03-28T11:02:42.708" v="28" actId="1076"/>
          <ac:spMkLst>
            <pc:docMk/>
            <pc:sldMk cId="2320900422" sldId="295"/>
            <ac:spMk id="21" creationId="{00000000-0000-0000-0000-000000000000}"/>
          </ac:spMkLst>
        </pc:spChg>
      </pc:sldChg>
      <pc:sldChg chg="add">
        <pc:chgData name="justin.watson@education.wa.edu.au" userId="0bb701940c9d40d5" providerId="LiveId" clId="{49281E68-3D7A-4B24-8C5C-2A6F1A982A81}" dt="2021-03-28T11:04:43.305" v="31"/>
        <pc:sldMkLst>
          <pc:docMk/>
          <pc:sldMk cId="3614595874" sldId="32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Go through in real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217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If</a:t>
            </a:r>
            <a:r>
              <a:rPr lang="en-GB" baseline="0" dirty="0"/>
              <a:t> students do well miss out next L slide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779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If </a:t>
            </a:r>
            <a:r>
              <a:rPr lang="en-GB" dirty="0" err="1"/>
              <a:t>studnets</a:t>
            </a:r>
            <a:r>
              <a:rPr lang="en-GB" dirty="0"/>
              <a:t> do well go straight to C&amp;R worded</a:t>
            </a:r>
            <a:r>
              <a:rPr lang="en-GB" baseline="0" dirty="0"/>
              <a:t> questions if not next slide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550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Go</a:t>
            </a:r>
            <a:r>
              <a:rPr lang="en-GB" baseline="0" dirty="0"/>
              <a:t> through in real time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304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Go</a:t>
            </a:r>
            <a:r>
              <a:rPr lang="en-GB" baseline="0" dirty="0"/>
              <a:t> through in real time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5400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9951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Go</a:t>
            </a:r>
            <a:r>
              <a:rPr lang="en-GB" baseline="0" dirty="0"/>
              <a:t> through in real time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915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6187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BB683-0E1A-4995-8329-8B460651B478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4749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96875" y="623625"/>
            <a:ext cx="1663500" cy="16635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63225" y="2799325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812375" y="3945250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807175" y="345622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151375" y="-150575"/>
            <a:ext cx="1094100" cy="109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45150" y="789414"/>
            <a:ext cx="3501300" cy="3501300"/>
          </a:xfrm>
          <a:prstGeom prst="donut">
            <a:avLst>
              <a:gd name="adj" fmla="val 1554"/>
            </a:avLst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416350" y="1897688"/>
            <a:ext cx="4311300" cy="9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16350" y="2929313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0ABE5-B060-4754-B67C-80B2236D15A0}" type="datetimeFigureOut">
              <a:rPr lang="en-GB" smtClean="0"/>
              <a:t>28/03/2021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6531D-EC83-43EA-997B-EB86FD0C3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000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0ABE5-B060-4754-B67C-80B2236D15A0}" type="datetimeFigureOut">
              <a:rPr lang="en-GB" smtClean="0"/>
              <a:t>28/03/2021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6531D-EC83-43EA-997B-EB86FD0C3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246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 b="1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84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el"/>
              <a:buChar char="●"/>
              <a:defRPr sz="1800"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83" r:id="rId2"/>
    <p:sldLayoutId id="2147483684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.uk/url?sa=i&amp;rct=j&amp;q=&amp;esrc=s&amp;frm=1&amp;source=images&amp;cd=&amp;cad=rja&amp;uact=8&amp;docid=-GrexFRCRmw1gM&amp;tbnid=sz0Hs1f6smVQEM:&amp;ved=0CAUQjRw&amp;url=http://www.bishopscleeve.gloucs.sch.uk/kids/kids_index.asp&amp;ei=5Ri0U7yFHIaL8QGy4YHYBw&amp;bvm=bv.70138588,d.ZGU&amp;psig=AFQjCNHP1D6YfokbjrqZ8nxm_15JcNTW7Q&amp;ust=140439817880695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19.jpeg"/><Relationship Id="rId5" Type="http://schemas.openxmlformats.org/officeDocument/2006/relationships/image" Target="../media/image18.tmp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87077" y="2158470"/>
            <a:ext cx="6813923" cy="2985031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 rot="10800000">
            <a:off x="5905060" y="150214"/>
            <a:ext cx="1865688" cy="121574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 rot="10800000">
            <a:off x="3223245" y="145529"/>
            <a:ext cx="2590824" cy="154143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 rot="10800000">
            <a:off x="1266559" y="150208"/>
            <a:ext cx="1865688" cy="1262738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28807" y="145529"/>
            <a:ext cx="1134722" cy="12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14350">
              <a:defRPr/>
            </a:pPr>
            <a:r>
              <a:rPr lang="en-GB" sz="1013" b="1" u="sng" dirty="0">
                <a:solidFill>
                  <a:prstClr val="black"/>
                </a:solidFill>
                <a:latin typeface="Calibri"/>
              </a:rPr>
              <a:t>Keywords</a:t>
            </a:r>
          </a:p>
          <a:p>
            <a:pPr algn="ctr" defTabSz="514350">
              <a:defRPr/>
            </a:pPr>
            <a:r>
              <a:rPr lang="en-GB" sz="1013" dirty="0">
                <a:solidFill>
                  <a:prstClr val="black"/>
                </a:solidFill>
                <a:latin typeface="Calibri"/>
              </a:rPr>
              <a:t>Increase</a:t>
            </a:r>
          </a:p>
          <a:p>
            <a:pPr lvl="0" algn="ctr">
              <a:defRPr/>
            </a:pPr>
            <a:r>
              <a:rPr lang="en-GB" sz="1050" dirty="0">
                <a:solidFill>
                  <a:prstClr val="black"/>
                </a:solidFill>
              </a:rPr>
              <a:t>Percent (%)</a:t>
            </a:r>
          </a:p>
          <a:p>
            <a:pPr lvl="0" algn="ctr">
              <a:defRPr/>
            </a:pPr>
            <a:r>
              <a:rPr lang="en-GB" sz="1050" dirty="0">
                <a:solidFill>
                  <a:prstClr val="black"/>
                </a:solidFill>
              </a:rPr>
              <a:t>Fractions</a:t>
            </a:r>
          </a:p>
          <a:p>
            <a:pPr lvl="0" algn="ctr">
              <a:defRPr/>
            </a:pPr>
            <a:r>
              <a:rPr lang="en-GB" sz="1050" dirty="0">
                <a:solidFill>
                  <a:prstClr val="black"/>
                </a:solidFill>
              </a:rPr>
              <a:t>Hundred</a:t>
            </a:r>
          </a:p>
          <a:p>
            <a:pPr lvl="0" algn="ctr">
              <a:defRPr/>
            </a:pPr>
            <a:r>
              <a:rPr lang="en-GB" sz="1050" dirty="0">
                <a:solidFill>
                  <a:prstClr val="black"/>
                </a:solidFill>
              </a:rPr>
              <a:t>Parts</a:t>
            </a:r>
          </a:p>
          <a:p>
            <a:pPr algn="ctr" defTabSz="514350">
              <a:defRPr/>
            </a:pPr>
            <a:endParaRPr lang="en-GB" sz="1013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/>
          <a:srcRect t="28077" b="33885"/>
          <a:stretch/>
        </p:blipFill>
        <p:spPr>
          <a:xfrm>
            <a:off x="4876790" y="2245302"/>
            <a:ext cx="2011109" cy="38248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auto">
          <a:xfrm>
            <a:off x="4876794" y="2619106"/>
            <a:ext cx="2963535" cy="2529572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lgDashDot"/>
            <a:round/>
            <a:headEnd type="none" w="med" len="med"/>
            <a:tailEnd type="none" w="med" len="med"/>
          </a:ln>
          <a:effectLst/>
        </p:spPr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r" defTabSz="5143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 sz="105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52444" y="1068379"/>
            <a:ext cx="535856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3300" u="sng" dirty="0">
                <a:solidFill>
                  <a:prstClr val="black"/>
                </a:solidFill>
                <a:latin typeface="Calibri"/>
              </a:rPr>
              <a:t>Percentage Increase and decrease with a calculator</a:t>
            </a:r>
          </a:p>
        </p:txBody>
      </p:sp>
      <p:pic>
        <p:nvPicPr>
          <p:cNvPr id="18" name="Picture 2" descr="http://content.mycutegraphics.com/graphics/health/cartoon-eye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3813" y="1216143"/>
            <a:ext cx="698237" cy="409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615" y="1035323"/>
            <a:ext cx="295751" cy="385763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Rounded Rectangle 23"/>
          <p:cNvSpPr/>
          <p:nvPr/>
        </p:nvSpPr>
        <p:spPr>
          <a:xfrm>
            <a:off x="1266559" y="2183287"/>
            <a:ext cx="662745" cy="194615"/>
          </a:xfrm>
          <a:prstGeom prst="roundRect">
            <a:avLst>
              <a:gd name="adj" fmla="val 21100"/>
            </a:avLst>
          </a:prstGeom>
          <a:solidFill>
            <a:srgbClr val="8ED05F"/>
          </a:solidFill>
          <a:ln w="9525" cap="flat" cmpd="sng" algn="ctr">
            <a:solidFill>
              <a:srgbClr val="008000"/>
            </a:solidFill>
            <a:prstDash val="solid"/>
          </a:ln>
          <a:effectLst/>
        </p:spPr>
        <p:txBody>
          <a:bodyPr lIns="38522" tIns="19262" rIns="38522" bIns="19262" rtlCol="0" anchor="ctr"/>
          <a:lstStyle/>
          <a:p>
            <a:pPr algn="ctr" defTabSz="514350">
              <a:defRPr/>
            </a:pPr>
            <a:r>
              <a:rPr lang="en-US" sz="1181" b="1" dirty="0">
                <a:solidFill>
                  <a:prstClr val="white"/>
                </a:solidFill>
                <a:latin typeface="Calibri"/>
              </a:rPr>
              <a:t>STARTER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934168" y="107127"/>
            <a:ext cx="686075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13" dirty="0"/>
              <a:t>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2150" y="2459016"/>
            <a:ext cx="47886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Convert the following </a:t>
            </a:r>
            <a:r>
              <a:rPr lang="en-GB" sz="1050" b="1" dirty="0"/>
              <a:t>decimals into percentages</a:t>
            </a:r>
            <a:r>
              <a:rPr lang="en-GB" sz="1050" dirty="0"/>
              <a:t>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4259" y="3257481"/>
            <a:ext cx="47886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Convert the following </a:t>
            </a:r>
            <a:r>
              <a:rPr lang="en-GB" sz="1050" b="1" dirty="0"/>
              <a:t>percentages into decimals</a:t>
            </a:r>
            <a:r>
              <a:rPr lang="en-GB" sz="1050" dirty="0"/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76744" y="2721695"/>
            <a:ext cx="47886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0.29	0.67	1.56	0.623	0.03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3671" y="3581517"/>
            <a:ext cx="47886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43%	80%	159%	17.5%	5%	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4074" y="3930747"/>
            <a:ext cx="662745" cy="194615"/>
          </a:xfrm>
          <a:prstGeom prst="roundRect">
            <a:avLst>
              <a:gd name="adj" fmla="val 21100"/>
            </a:avLst>
          </a:prstGeom>
          <a:solidFill>
            <a:srgbClr val="8ED05F"/>
          </a:solidFill>
          <a:ln w="9525" cap="flat" cmpd="sng" algn="ctr">
            <a:solidFill>
              <a:srgbClr val="008000"/>
            </a:solidFill>
            <a:prstDash val="solid"/>
          </a:ln>
          <a:effectLst/>
        </p:spPr>
        <p:txBody>
          <a:bodyPr lIns="38522" tIns="19262" rIns="38522" bIns="19262" rtlCol="0" anchor="ctr"/>
          <a:lstStyle/>
          <a:p>
            <a:pPr algn="ctr" defTabSz="514350">
              <a:defRPr/>
            </a:pPr>
            <a:r>
              <a:rPr lang="en-US" sz="1181" b="1" dirty="0">
                <a:solidFill>
                  <a:prstClr val="white"/>
                </a:solidFill>
                <a:latin typeface="Calibri"/>
              </a:rPr>
              <a:t>Depth</a:t>
            </a:r>
          </a:p>
        </p:txBody>
      </p:sp>
      <p:sp>
        <p:nvSpPr>
          <p:cNvPr id="9" name="Rectangle 8"/>
          <p:cNvSpPr/>
          <p:nvPr/>
        </p:nvSpPr>
        <p:spPr>
          <a:xfrm>
            <a:off x="1197090" y="4137042"/>
            <a:ext cx="35493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200" dirty="0"/>
              <a:t>Convert the following </a:t>
            </a:r>
            <a:r>
              <a:rPr lang="en-GB" sz="1200" b="1" dirty="0"/>
              <a:t>decimal into a percentage</a:t>
            </a:r>
            <a:endParaRPr lang="en-GB" sz="1200" dirty="0"/>
          </a:p>
        </p:txBody>
      </p:sp>
      <p:sp>
        <p:nvSpPr>
          <p:cNvPr id="31" name="Rectangle 30"/>
          <p:cNvSpPr/>
          <p:nvPr/>
        </p:nvSpPr>
        <p:spPr>
          <a:xfrm>
            <a:off x="1197090" y="4467970"/>
            <a:ext cx="35493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200" dirty="0"/>
              <a:t>Convert the following </a:t>
            </a:r>
            <a:r>
              <a:rPr lang="en-GB" sz="1200" b="1" dirty="0"/>
              <a:t>percentage into a decimal</a:t>
            </a:r>
            <a:endParaRPr lang="en-GB" sz="1200" dirty="0"/>
          </a:p>
        </p:txBody>
      </p:sp>
      <p:sp>
        <p:nvSpPr>
          <p:cNvPr id="16" name="Rectangle 15"/>
          <p:cNvSpPr/>
          <p:nvPr/>
        </p:nvSpPr>
        <p:spPr>
          <a:xfrm>
            <a:off x="4319002" y="4113958"/>
            <a:ext cx="37221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050" dirty="0"/>
              <a:t>2.5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34845" y="4444886"/>
            <a:ext cx="530915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050" dirty="0"/>
              <a:t>200%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54085" y="2786261"/>
            <a:ext cx="29335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Jack currently earns $27,700 per annum. </a:t>
            </a:r>
          </a:p>
          <a:p>
            <a:pPr algn="ctr"/>
            <a:r>
              <a:rPr lang="en-GB" sz="1200" dirty="0"/>
              <a:t>His boss now gives him  a 14% pay rise.</a:t>
            </a:r>
          </a:p>
          <a:p>
            <a:pPr algn="ctr"/>
            <a:endParaRPr lang="en-GB" sz="1200" dirty="0"/>
          </a:p>
          <a:p>
            <a:pPr algn="ctr"/>
            <a:endParaRPr lang="en-GB" sz="1200" dirty="0"/>
          </a:p>
          <a:p>
            <a:pPr algn="ctr"/>
            <a:r>
              <a:rPr lang="en-GB" sz="1200" dirty="0"/>
              <a:t>Jill currently earns $30,250 per annum. </a:t>
            </a:r>
          </a:p>
          <a:p>
            <a:pPr algn="ctr"/>
            <a:r>
              <a:rPr lang="en-GB" sz="1200" dirty="0"/>
              <a:t>Her manager has awarded her a 3% pay rise.</a:t>
            </a:r>
          </a:p>
          <a:p>
            <a:pPr algn="ctr"/>
            <a:endParaRPr lang="en-GB" sz="1200" dirty="0"/>
          </a:p>
          <a:p>
            <a:pPr algn="ctr"/>
            <a:endParaRPr lang="en-GB" sz="1200" dirty="0"/>
          </a:p>
          <a:p>
            <a:pPr algn="ctr"/>
            <a:r>
              <a:rPr lang="en-GB" sz="1200" dirty="0"/>
              <a:t>After the pay rises, who will have the higher salary, and by how much?</a:t>
            </a:r>
          </a:p>
        </p:txBody>
      </p:sp>
    </p:spTree>
    <p:extLst>
      <p:ext uri="{BB962C8B-B14F-4D97-AF65-F5344CB8AC3E}">
        <p14:creationId xmlns:p14="http://schemas.microsoft.com/office/powerpoint/2010/main" val="498338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4518061" y="0"/>
            <a:ext cx="10826" cy="51435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455122"/>
            <a:ext cx="4518062" cy="1039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575246" y="2444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498098" y="-58483"/>
            <a:ext cx="798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80" y="206404"/>
            <a:ext cx="542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Page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1422899" y="2444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9734" y="211601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1748" y="230172"/>
            <a:ext cx="182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Essential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1147" y="15489"/>
            <a:ext cx="259631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Glossary or Formula Page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518061" y="471562"/>
            <a:ext cx="4518062" cy="1039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9E3AC1-1E77-4710-9BC0-DFB1F88244CA}"/>
              </a:ext>
            </a:extLst>
          </p:cNvPr>
          <p:cNvCxnSpPr>
            <a:cxnSpLocks/>
          </p:cNvCxnSpPr>
          <p:nvPr/>
        </p:nvCxnSpPr>
        <p:spPr>
          <a:xfrm>
            <a:off x="6087633" y="471562"/>
            <a:ext cx="0" cy="46719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4F7D26-2225-40DE-95E8-82C9E31AF559}"/>
              </a:ext>
            </a:extLst>
          </p:cNvPr>
          <p:cNvCxnSpPr>
            <a:cxnSpLocks/>
          </p:cNvCxnSpPr>
          <p:nvPr/>
        </p:nvCxnSpPr>
        <p:spPr>
          <a:xfrm>
            <a:off x="3857705" y="2549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280076-6BD0-4CE8-8378-8CDB7ED81C35}"/>
              </a:ext>
            </a:extLst>
          </p:cNvPr>
          <p:cNvCxnSpPr>
            <a:cxnSpLocks/>
          </p:cNvCxnSpPr>
          <p:nvPr/>
        </p:nvCxnSpPr>
        <p:spPr>
          <a:xfrm>
            <a:off x="4222102" y="2444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D18CDD-8FC0-4BF8-A2BD-51188B343F59}"/>
              </a:ext>
            </a:extLst>
          </p:cNvPr>
          <p:cNvSpPr txBox="1"/>
          <p:nvPr/>
        </p:nvSpPr>
        <p:spPr>
          <a:xfrm>
            <a:off x="3482456" y="211601"/>
            <a:ext cx="3174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24</a:t>
            </a:r>
            <a:endParaRPr lang="en-GB" sz="10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E4DBC0-DF48-437A-8D31-681D0EB65B05}"/>
              </a:ext>
            </a:extLst>
          </p:cNvPr>
          <p:cNvSpPr txBox="1"/>
          <p:nvPr/>
        </p:nvSpPr>
        <p:spPr>
          <a:xfrm>
            <a:off x="3868531" y="218243"/>
            <a:ext cx="31748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050" dirty="0"/>
              <a:t>7</a:t>
            </a:r>
            <a:endParaRPr lang="en-GB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37B4A3-3DD6-4CE8-92D3-38B8736F8134}"/>
              </a:ext>
            </a:extLst>
          </p:cNvPr>
          <p:cNvSpPr txBox="1"/>
          <p:nvPr/>
        </p:nvSpPr>
        <p:spPr>
          <a:xfrm>
            <a:off x="4250604" y="223142"/>
            <a:ext cx="3174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30</a:t>
            </a:r>
            <a:endParaRPr lang="en-GB" sz="105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9E8EEF-EB99-4808-BA30-3C2CE48BA253}"/>
              </a:ext>
            </a:extLst>
          </p:cNvPr>
          <p:cNvCxnSpPr>
            <a:cxnSpLocks/>
          </p:cNvCxnSpPr>
          <p:nvPr/>
        </p:nvCxnSpPr>
        <p:spPr>
          <a:xfrm>
            <a:off x="3490623" y="266609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2E36C9B-3AE2-4453-AF72-8509F3DE2C72}"/>
              </a:ext>
            </a:extLst>
          </p:cNvPr>
          <p:cNvSpPr txBox="1"/>
          <p:nvPr/>
        </p:nvSpPr>
        <p:spPr>
          <a:xfrm>
            <a:off x="4657071" y="254983"/>
            <a:ext cx="1337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Word or Formula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AA26F2-9378-4BAE-ABC7-B71F270EE045}"/>
              </a:ext>
            </a:extLst>
          </p:cNvPr>
          <p:cNvSpPr txBox="1"/>
          <p:nvPr/>
        </p:nvSpPr>
        <p:spPr>
          <a:xfrm>
            <a:off x="6543029" y="266609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Definition or Example</a:t>
            </a:r>
          </a:p>
        </p:txBody>
      </p:sp>
    </p:spTree>
    <p:extLst>
      <p:ext uri="{BB962C8B-B14F-4D97-AF65-F5344CB8AC3E}">
        <p14:creationId xmlns:p14="http://schemas.microsoft.com/office/powerpoint/2010/main" val="3614595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18061" y="0"/>
            <a:ext cx="54006" cy="52180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43302" y="4856000"/>
            <a:ext cx="26000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50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04349" y="4894146"/>
            <a:ext cx="41233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2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4518061" y="461342"/>
            <a:ext cx="4625939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4518061" y="897564"/>
            <a:ext cx="46259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4572067" y="4029912"/>
            <a:ext cx="457193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543813" y="897564"/>
            <a:ext cx="0" cy="313234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42947" y="50017"/>
            <a:ext cx="323969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750" dirty="0"/>
              <a:t>24</a:t>
            </a:r>
          </a:p>
          <a:p>
            <a:r>
              <a:rPr lang="en-AU" sz="750" dirty="0"/>
              <a:t>7</a:t>
            </a:r>
          </a:p>
          <a:p>
            <a:r>
              <a:rPr lang="en-AU" sz="75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7754" y="451162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43814" y="897564"/>
            <a:ext cx="68800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5929" y="897565"/>
            <a:ext cx="10278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67" y="4029913"/>
            <a:ext cx="100860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6435" y="106870"/>
            <a:ext cx="90281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100" dirty="0"/>
              <a:t>Tasks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A3DEE0-B061-4B2A-86FB-FAA1342E38A6}"/>
              </a:ext>
            </a:extLst>
          </p:cNvPr>
          <p:cNvSpPr txBox="1"/>
          <p:nvPr/>
        </p:nvSpPr>
        <p:spPr>
          <a:xfrm>
            <a:off x="4755379" y="77465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54453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Understanding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608" y="1152731"/>
            <a:ext cx="4694099" cy="245779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FDF9FCA-86E6-483C-8D57-97BB2ADD0D02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2000892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Understanding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548" y="957950"/>
            <a:ext cx="5358218" cy="376073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5167EDA-F4A6-4F4D-A032-CF8219C8A791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3288531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Understanding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605" y="934301"/>
            <a:ext cx="3940105" cy="380803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E00E607-3887-4E3F-92FA-597B6795E5DB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669118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Example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1670" y="941829"/>
            <a:ext cx="599466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/>
              <a:t>The </a:t>
            </a:r>
            <a:r>
              <a:rPr lang="en-GB" sz="1500" b="1" dirty="0"/>
              <a:t>original amount</a:t>
            </a:r>
            <a:r>
              <a:rPr lang="en-GB" sz="1500" dirty="0"/>
              <a:t> is always a whole = 1 = </a:t>
            </a:r>
            <a:r>
              <a:rPr lang="en-GB" sz="1500" b="1" dirty="0"/>
              <a:t>100%</a:t>
            </a:r>
            <a:r>
              <a:rPr lang="en-GB" sz="1500" dirty="0"/>
              <a:t>.</a:t>
            </a:r>
          </a:p>
        </p:txBody>
      </p:sp>
      <p:sp>
        <p:nvSpPr>
          <p:cNvPr id="36" name="Rectangle 9"/>
          <p:cNvSpPr>
            <a:spLocks noChangeArrowheads="1"/>
          </p:cNvSpPr>
          <p:nvPr/>
        </p:nvSpPr>
        <p:spPr bwMode="auto">
          <a:xfrm>
            <a:off x="5922150" y="3959195"/>
            <a:ext cx="1026114" cy="4860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500" b="1" dirty="0"/>
              <a:t>8% = 0.08</a:t>
            </a:r>
          </a:p>
        </p:txBody>
      </p:sp>
      <p:sp>
        <p:nvSpPr>
          <p:cNvPr id="37" name="Rectangle 11"/>
          <p:cNvSpPr>
            <a:spLocks noChangeArrowheads="1"/>
          </p:cNvSpPr>
          <p:nvPr/>
        </p:nvSpPr>
        <p:spPr bwMode="auto">
          <a:xfrm>
            <a:off x="1709682" y="3959195"/>
            <a:ext cx="4212468" cy="486054"/>
          </a:xfrm>
          <a:prstGeom prst="rect">
            <a:avLst/>
          </a:prstGeom>
          <a:solidFill>
            <a:srgbClr val="F8AB3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800" b="1" dirty="0">
                <a:solidFill>
                  <a:srgbClr val="FF0000"/>
                </a:solidFill>
              </a:rPr>
              <a:t>92% = 0.92</a:t>
            </a:r>
          </a:p>
        </p:txBody>
      </p:sp>
      <p:sp>
        <p:nvSpPr>
          <p:cNvPr id="38" name="Rectangle 7"/>
          <p:cNvSpPr>
            <a:spLocks noChangeArrowheads="1"/>
          </p:cNvSpPr>
          <p:nvPr/>
        </p:nvSpPr>
        <p:spPr bwMode="auto">
          <a:xfrm>
            <a:off x="1709682" y="3473141"/>
            <a:ext cx="5238582" cy="486054"/>
          </a:xfrm>
          <a:prstGeom prst="rect">
            <a:avLst/>
          </a:prstGeom>
          <a:solidFill>
            <a:srgbClr val="F8AB3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800" b="1" dirty="0"/>
              <a:t>100% = 1</a:t>
            </a:r>
          </a:p>
        </p:txBody>
      </p:sp>
      <p:sp>
        <p:nvSpPr>
          <p:cNvPr id="39" name="Rectangle 7"/>
          <p:cNvSpPr>
            <a:spLocks noChangeArrowheads="1"/>
          </p:cNvSpPr>
          <p:nvPr/>
        </p:nvSpPr>
        <p:spPr bwMode="auto">
          <a:xfrm>
            <a:off x="1709683" y="1567415"/>
            <a:ext cx="4104456" cy="486054"/>
          </a:xfrm>
          <a:prstGeom prst="rect">
            <a:avLst/>
          </a:prstGeom>
          <a:solidFill>
            <a:srgbClr val="F8AB3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800" b="1" dirty="0"/>
              <a:t>100% = 1</a:t>
            </a:r>
          </a:p>
        </p:txBody>
      </p:sp>
      <p:sp>
        <p:nvSpPr>
          <p:cNvPr id="40" name="Rectangle 9"/>
          <p:cNvSpPr>
            <a:spLocks noChangeArrowheads="1"/>
          </p:cNvSpPr>
          <p:nvPr/>
        </p:nvSpPr>
        <p:spPr bwMode="auto">
          <a:xfrm>
            <a:off x="5814138" y="1567415"/>
            <a:ext cx="1134126" cy="4860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500" b="1" dirty="0"/>
              <a:t>12% = 0.12</a:t>
            </a:r>
          </a:p>
        </p:txBody>
      </p:sp>
      <p:sp>
        <p:nvSpPr>
          <p:cNvPr id="41" name="Rectangle 7"/>
          <p:cNvSpPr>
            <a:spLocks noChangeArrowheads="1"/>
          </p:cNvSpPr>
          <p:nvPr/>
        </p:nvSpPr>
        <p:spPr bwMode="auto">
          <a:xfrm>
            <a:off x="1709682" y="2053469"/>
            <a:ext cx="5238582" cy="486054"/>
          </a:xfrm>
          <a:prstGeom prst="rect">
            <a:avLst/>
          </a:prstGeom>
          <a:solidFill>
            <a:srgbClr val="F8AB3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800" b="1" dirty="0">
                <a:solidFill>
                  <a:srgbClr val="FF0000"/>
                </a:solidFill>
              </a:rPr>
              <a:t>112% = 1.12</a:t>
            </a:r>
          </a:p>
        </p:txBody>
      </p:sp>
      <p:sp>
        <p:nvSpPr>
          <p:cNvPr id="42" name="Text Box 8"/>
          <p:cNvSpPr txBox="1">
            <a:spLocks noChangeArrowheads="1"/>
          </p:cNvSpPr>
          <p:nvPr/>
        </p:nvSpPr>
        <p:spPr bwMode="auto">
          <a:xfrm>
            <a:off x="1650355" y="3156074"/>
            <a:ext cx="1524776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And if we subtract 8%,</a:t>
            </a:r>
          </a:p>
        </p:txBody>
      </p:sp>
      <p:sp>
        <p:nvSpPr>
          <p:cNvPr id="43" name="Text Box 10"/>
          <p:cNvSpPr txBox="1">
            <a:spLocks noChangeArrowheads="1"/>
          </p:cNvSpPr>
          <p:nvPr/>
        </p:nvSpPr>
        <p:spPr bwMode="auto">
          <a:xfrm>
            <a:off x="3383868" y="3156074"/>
            <a:ext cx="2515432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we have </a:t>
            </a:r>
            <a:r>
              <a:rPr lang="en-GB" sz="1050" b="1" dirty="0"/>
              <a:t>92% of the original amount</a:t>
            </a:r>
            <a:r>
              <a:rPr lang="en-GB" sz="1050" dirty="0"/>
              <a:t>. </a:t>
            </a:r>
          </a:p>
        </p:txBody>
      </p:sp>
      <p:sp>
        <p:nvSpPr>
          <p:cNvPr id="44" name="Text Box 11"/>
          <p:cNvSpPr txBox="1">
            <a:spLocks noChangeArrowheads="1"/>
          </p:cNvSpPr>
          <p:nvPr/>
        </p:nvSpPr>
        <p:spPr bwMode="auto">
          <a:xfrm>
            <a:off x="1655677" y="4445249"/>
            <a:ext cx="3385814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GB" sz="1050" dirty="0"/>
              <a:t>Therefore the decimal multiplier is </a:t>
            </a:r>
            <a:r>
              <a:rPr lang="en-GB" sz="1050" b="1" dirty="0"/>
              <a:t>0.92</a:t>
            </a:r>
            <a:r>
              <a:rPr lang="en-GB" sz="1050" dirty="0"/>
              <a:t>.</a:t>
            </a:r>
          </a:p>
        </p:txBody>
      </p:sp>
      <p:sp>
        <p:nvSpPr>
          <p:cNvPr id="45" name="Text Box 8"/>
          <p:cNvSpPr txBox="1">
            <a:spLocks noChangeArrowheads="1"/>
          </p:cNvSpPr>
          <p:nvPr/>
        </p:nvSpPr>
        <p:spPr bwMode="auto">
          <a:xfrm>
            <a:off x="1652479" y="1265864"/>
            <a:ext cx="1459054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So if we add on 12%,</a:t>
            </a:r>
          </a:p>
        </p:txBody>
      </p:sp>
      <p:sp>
        <p:nvSpPr>
          <p:cNvPr id="46" name="Text Box 10"/>
          <p:cNvSpPr txBox="1">
            <a:spLocks noChangeArrowheads="1"/>
          </p:cNvSpPr>
          <p:nvPr/>
        </p:nvSpPr>
        <p:spPr bwMode="auto">
          <a:xfrm>
            <a:off x="3307377" y="1265864"/>
            <a:ext cx="2876108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we now have </a:t>
            </a:r>
            <a:r>
              <a:rPr lang="en-GB" sz="1050" b="1" dirty="0"/>
              <a:t>112% of the original amount</a:t>
            </a:r>
            <a:r>
              <a:rPr lang="en-GB" sz="1050" dirty="0"/>
              <a:t>. </a:t>
            </a:r>
          </a:p>
        </p:txBody>
      </p:sp>
      <p:sp>
        <p:nvSpPr>
          <p:cNvPr id="47" name="Text Box 11"/>
          <p:cNvSpPr txBox="1">
            <a:spLocks noChangeArrowheads="1"/>
          </p:cNvSpPr>
          <p:nvPr/>
        </p:nvSpPr>
        <p:spPr bwMode="auto">
          <a:xfrm>
            <a:off x="1709682" y="2539523"/>
            <a:ext cx="4212468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GB" sz="1050" dirty="0"/>
              <a:t>Therefore  the decimal multiplier is </a:t>
            </a:r>
            <a:r>
              <a:rPr lang="en-GB" sz="1050" b="1" dirty="0"/>
              <a:t>1.12</a:t>
            </a:r>
            <a:r>
              <a:rPr lang="en-GB" sz="1050" dirty="0"/>
              <a:t>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7A7B3C-1876-4BF5-AB3F-6A4B4C6CD85D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1493554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/>
      <p:bldP spid="43" grpId="0"/>
      <p:bldP spid="44" grpId="0"/>
      <p:bldP spid="46" grpId="0"/>
      <p:bldP spid="4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Examples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111892"/>
            <a:ext cx="3969466" cy="36156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265" y="1664826"/>
            <a:ext cx="950252" cy="206483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752" y="1864536"/>
            <a:ext cx="4454305" cy="365393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660" y="2414762"/>
            <a:ext cx="764488" cy="1478963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22373B4-8AD2-478A-9484-A2DDE90240DF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3200249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Hinge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4510" y="1095270"/>
            <a:ext cx="5994666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/>
              <a:t>Write down the </a:t>
            </a:r>
            <a:r>
              <a:rPr lang="en-GB" sz="1500" b="1" dirty="0"/>
              <a:t>decimal multiplier</a:t>
            </a:r>
            <a:r>
              <a:rPr lang="en-GB" sz="1500" dirty="0"/>
              <a:t> for these percentage changes:</a:t>
            </a:r>
          </a:p>
          <a:p>
            <a:endParaRPr lang="en-GB" sz="1500" dirty="0"/>
          </a:p>
          <a:p>
            <a:pPr>
              <a:buFont typeface="Arial" pitchFamily="34" charset="0"/>
              <a:buChar char="•"/>
            </a:pPr>
            <a:r>
              <a:rPr lang="en-GB" sz="1500" dirty="0"/>
              <a:t> </a:t>
            </a:r>
            <a:r>
              <a:rPr lang="en-GB" sz="1800" dirty="0"/>
              <a:t>To increase an amount by 15%</a:t>
            </a:r>
          </a:p>
          <a:p>
            <a:pPr>
              <a:buFont typeface="Arial" pitchFamily="34" charset="0"/>
              <a:buChar char="•"/>
            </a:pPr>
            <a:r>
              <a:rPr lang="en-GB" sz="1800" dirty="0"/>
              <a:t>To decrease an amount by 40%</a:t>
            </a:r>
          </a:p>
          <a:p>
            <a:pPr>
              <a:buFont typeface="Arial" pitchFamily="34" charset="0"/>
              <a:buChar char="•"/>
            </a:pPr>
            <a:r>
              <a:rPr lang="en-GB" sz="1800" dirty="0"/>
              <a:t>To raise an amount by 31%</a:t>
            </a:r>
          </a:p>
          <a:p>
            <a:pPr>
              <a:buFont typeface="Arial" pitchFamily="34" charset="0"/>
              <a:buChar char="•"/>
            </a:pPr>
            <a:r>
              <a:rPr lang="en-GB" sz="1800" dirty="0"/>
              <a:t>To reduce a quantity by 9%</a:t>
            </a:r>
          </a:p>
          <a:p>
            <a:pPr>
              <a:buFont typeface="Arial" pitchFamily="34" charset="0"/>
              <a:buChar char="•"/>
            </a:pPr>
            <a:r>
              <a:rPr lang="en-GB" sz="1800" dirty="0"/>
              <a:t>Taking away 49% from the original amount</a:t>
            </a:r>
          </a:p>
          <a:p>
            <a:pPr>
              <a:buFont typeface="Arial" pitchFamily="34" charset="0"/>
              <a:buChar char="•"/>
            </a:pPr>
            <a:r>
              <a:rPr lang="en-GB" sz="1800" dirty="0"/>
              <a:t>Putting an extra 6.5% onto the initial quantity</a:t>
            </a:r>
          </a:p>
          <a:p>
            <a:pPr>
              <a:buFont typeface="Arial" pitchFamily="34" charset="0"/>
              <a:buChar char="•"/>
            </a:pPr>
            <a:r>
              <a:rPr lang="en-GB" sz="1800" dirty="0"/>
              <a:t>Increase a quantity by 34.5%</a:t>
            </a:r>
          </a:p>
          <a:p>
            <a:pPr>
              <a:buFont typeface="Arial" pitchFamily="34" charset="0"/>
              <a:buChar char="•"/>
            </a:pPr>
            <a:r>
              <a:rPr lang="en-GB" sz="1800" dirty="0"/>
              <a:t>Decrease an amount by 0.1%</a:t>
            </a:r>
          </a:p>
        </p:txBody>
      </p:sp>
      <p:pic>
        <p:nvPicPr>
          <p:cNvPr id="16" name="Picture 2" descr="https://encrypted-tbn3.gstatic.com/images?q=tbn:ANd9GcSBfZlk1JhSrHWLdhCU_RFg-OMwIllsPEVllCOGkv77W2_0-OGE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81044" y="3471533"/>
            <a:ext cx="1350150" cy="1350150"/>
          </a:xfrm>
          <a:prstGeom prst="rect">
            <a:avLst/>
          </a:prstGeom>
          <a:noFill/>
        </p:spPr>
      </p:pic>
      <p:sp>
        <p:nvSpPr>
          <p:cNvPr id="14" name="Rectangle 13"/>
          <p:cNvSpPr/>
          <p:nvPr/>
        </p:nvSpPr>
        <p:spPr>
          <a:xfrm>
            <a:off x="2982394" y="102973"/>
            <a:ext cx="3030525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LO: Percentage increases/decrease with a calculator</a:t>
            </a:r>
          </a:p>
        </p:txBody>
      </p:sp>
    </p:spTree>
    <p:extLst>
      <p:ext uri="{BB962C8B-B14F-4D97-AF65-F5344CB8AC3E}">
        <p14:creationId xmlns:p14="http://schemas.microsoft.com/office/powerpoint/2010/main" val="3997194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r>
              <a:rPr lang="en-GB" sz="1350" kern="1200" dirty="0">
                <a:solidFill>
                  <a:prstClr val="white"/>
                </a:solidFill>
                <a:latin typeface="Calibri"/>
              </a:rPr>
              <a:t>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4502296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Fluency and Understanding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574" y="1050381"/>
            <a:ext cx="6858000" cy="150638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277"/>
          <a:stretch/>
        </p:blipFill>
        <p:spPr>
          <a:xfrm>
            <a:off x="1159574" y="2905394"/>
            <a:ext cx="6858000" cy="6186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575" y="3612591"/>
            <a:ext cx="6508711" cy="84693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59EC103-7B08-4DCF-B4BA-C55BC8E5C059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1811592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Examples</a:t>
            </a:r>
          </a:p>
        </p:txBody>
      </p:sp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1554769" y="1720778"/>
            <a:ext cx="4144083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As before, we can represent the original amount as 100% like this:</a:t>
            </a:r>
          </a:p>
        </p:txBody>
      </p: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1608776" y="2044814"/>
            <a:ext cx="4104456" cy="486054"/>
          </a:xfrm>
          <a:prstGeom prst="rect">
            <a:avLst/>
          </a:prstGeom>
          <a:solidFill>
            <a:srgbClr val="F8AB3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800" b="1" dirty="0"/>
              <a:t>100% = 1</a:t>
            </a:r>
          </a:p>
        </p:txBody>
      </p:sp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1554769" y="3232946"/>
            <a:ext cx="1542410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When we add on 28%,</a:t>
            </a:r>
          </a:p>
        </p:txBody>
      </p:sp>
      <p:sp>
        <p:nvSpPr>
          <p:cNvPr id="23" name="Rectangle 9"/>
          <p:cNvSpPr>
            <a:spLocks noChangeArrowheads="1"/>
          </p:cNvSpPr>
          <p:nvPr/>
        </p:nvSpPr>
        <p:spPr bwMode="auto">
          <a:xfrm>
            <a:off x="5713231" y="2044814"/>
            <a:ext cx="1134126" cy="4860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500" b="1" dirty="0"/>
              <a:t>28% = 0.28</a:t>
            </a:r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3390973" y="3232946"/>
            <a:ext cx="2590774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we have </a:t>
            </a:r>
            <a:r>
              <a:rPr lang="en-GB" sz="1050" b="1" dirty="0"/>
              <a:t>128% of the original amount</a:t>
            </a:r>
            <a:r>
              <a:rPr lang="en-GB" sz="1050" dirty="0"/>
              <a:t>. 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554769" y="3502976"/>
            <a:ext cx="3024336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GB" sz="1050" dirty="0"/>
              <a:t>So the decimal multiplier is </a:t>
            </a:r>
            <a:r>
              <a:rPr lang="en-GB" sz="1050" b="1" dirty="0"/>
              <a:t>1.28</a:t>
            </a:r>
            <a:r>
              <a:rPr lang="en-GB" sz="1050" dirty="0"/>
              <a:t>.</a:t>
            </a:r>
          </a:p>
        </p:txBody>
      </p:sp>
      <p:sp>
        <p:nvSpPr>
          <p:cNvPr id="26" name="Rectangle 7"/>
          <p:cNvSpPr>
            <a:spLocks noChangeArrowheads="1"/>
          </p:cNvSpPr>
          <p:nvPr/>
        </p:nvSpPr>
        <p:spPr bwMode="auto">
          <a:xfrm>
            <a:off x="1608775" y="2530868"/>
            <a:ext cx="5238582" cy="486054"/>
          </a:xfrm>
          <a:prstGeom prst="rect">
            <a:avLst/>
          </a:prstGeom>
          <a:solidFill>
            <a:srgbClr val="F8AB3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800" b="1" dirty="0">
                <a:solidFill>
                  <a:srgbClr val="FF0000"/>
                </a:solidFill>
              </a:rPr>
              <a:t>128% = 1.28</a:t>
            </a:r>
          </a:p>
        </p:txBody>
      </p:sp>
      <p:sp>
        <p:nvSpPr>
          <p:cNvPr id="27" name="Text Box 6"/>
          <p:cNvSpPr txBox="1">
            <a:spLocks noChangeArrowheads="1"/>
          </p:cNvSpPr>
          <p:nvPr/>
        </p:nvSpPr>
        <p:spPr bwMode="auto">
          <a:xfrm>
            <a:off x="1770793" y="1128017"/>
            <a:ext cx="5742198" cy="415498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/>
            <a:r>
              <a:rPr lang="en-GB" sz="1050" dirty="0"/>
              <a:t>John bought a house two years ago for $ 220,000. The value has now increased by 28%. What is the price now?</a:t>
            </a:r>
          </a:p>
        </p:txBody>
      </p:sp>
      <p:sp>
        <p:nvSpPr>
          <p:cNvPr id="28" name="Text Box 12"/>
          <p:cNvSpPr txBox="1">
            <a:spLocks noChangeArrowheads="1"/>
          </p:cNvSpPr>
          <p:nvPr/>
        </p:nvSpPr>
        <p:spPr bwMode="auto">
          <a:xfrm>
            <a:off x="2604622" y="3898300"/>
            <a:ext cx="3840956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GB" sz="1050" dirty="0"/>
              <a:t>128% of £220,000 = 1.28 × $ 220,000</a:t>
            </a:r>
          </a:p>
        </p:txBody>
      </p:sp>
      <p:sp>
        <p:nvSpPr>
          <p:cNvPr id="29" name="Text Box 13"/>
          <p:cNvSpPr txBox="1">
            <a:spLocks noChangeArrowheads="1"/>
          </p:cNvSpPr>
          <p:nvPr/>
        </p:nvSpPr>
        <p:spPr bwMode="auto">
          <a:xfrm>
            <a:off x="4045742" y="4259060"/>
            <a:ext cx="901209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= $ </a:t>
            </a:r>
            <a:r>
              <a:rPr lang="en-GB" sz="1050" u="sng" dirty="0"/>
              <a:t>281,600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75A2A4C-8A54-44BF-A809-5C080A1ACC39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1806568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2" grpId="0"/>
      <p:bldP spid="23" grpId="0" animBg="1"/>
      <p:bldP spid="24" grpId="0"/>
      <p:bldP spid="25" grpId="0"/>
      <p:bldP spid="26" grpId="0" animBg="1"/>
      <p:bldP spid="28" grpId="0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Examples</a:t>
            </a:r>
          </a:p>
        </p:txBody>
      </p:sp>
      <p:sp>
        <p:nvSpPr>
          <p:cNvPr id="30" name="Text Box 8"/>
          <p:cNvSpPr txBox="1">
            <a:spLocks noChangeArrowheads="1"/>
          </p:cNvSpPr>
          <p:nvPr/>
        </p:nvSpPr>
        <p:spPr bwMode="auto">
          <a:xfrm>
            <a:off x="1690192" y="3101303"/>
            <a:ext cx="1571264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When we subtract 30%</a:t>
            </a:r>
          </a:p>
        </p:txBody>
      </p: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5637951" y="2507237"/>
            <a:ext cx="1512168" cy="48605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500" b="1" dirty="0"/>
              <a:t>30% = 0.3</a:t>
            </a:r>
          </a:p>
        </p:txBody>
      </p:sp>
      <p:sp>
        <p:nvSpPr>
          <p:cNvPr id="32" name="Text Box 10"/>
          <p:cNvSpPr txBox="1">
            <a:spLocks noChangeArrowheads="1"/>
          </p:cNvSpPr>
          <p:nvPr/>
        </p:nvSpPr>
        <p:spPr bwMode="auto">
          <a:xfrm>
            <a:off x="3639729" y="3101303"/>
            <a:ext cx="2515432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we have </a:t>
            </a:r>
            <a:r>
              <a:rPr lang="en-GB" sz="1050" b="1" dirty="0"/>
              <a:t>70% of the original amount</a:t>
            </a:r>
            <a:r>
              <a:rPr lang="en-GB" sz="1050" dirty="0"/>
              <a:t>. </a:t>
            </a:r>
          </a:p>
        </p:txBody>
      </p:sp>
      <p:sp>
        <p:nvSpPr>
          <p:cNvPr id="33" name="Rectangle 11"/>
          <p:cNvSpPr>
            <a:spLocks noChangeArrowheads="1"/>
          </p:cNvSpPr>
          <p:nvPr/>
        </p:nvSpPr>
        <p:spPr bwMode="auto">
          <a:xfrm>
            <a:off x="1749519" y="2507237"/>
            <a:ext cx="3888432" cy="486054"/>
          </a:xfrm>
          <a:prstGeom prst="rect">
            <a:avLst/>
          </a:prstGeom>
          <a:solidFill>
            <a:srgbClr val="80D0E8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800" b="1" dirty="0">
                <a:solidFill>
                  <a:srgbClr val="FF0000"/>
                </a:solidFill>
              </a:rPr>
              <a:t>70% = 0.7</a:t>
            </a:r>
          </a:p>
        </p:txBody>
      </p:sp>
      <p:sp>
        <p:nvSpPr>
          <p:cNvPr id="34" name="Text Box 13"/>
          <p:cNvSpPr txBox="1">
            <a:spLocks noChangeArrowheads="1"/>
          </p:cNvSpPr>
          <p:nvPr/>
        </p:nvSpPr>
        <p:spPr bwMode="auto">
          <a:xfrm>
            <a:off x="1695514" y="1678283"/>
            <a:ext cx="4144083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As before, we can represent the original amount as 100% like this:</a:t>
            </a:r>
          </a:p>
        </p:txBody>
      </p:sp>
      <p:sp>
        <p:nvSpPr>
          <p:cNvPr id="35" name="Text Box 13"/>
          <p:cNvSpPr txBox="1">
            <a:spLocks noChangeArrowheads="1"/>
          </p:cNvSpPr>
          <p:nvPr/>
        </p:nvSpPr>
        <p:spPr bwMode="auto">
          <a:xfrm>
            <a:off x="2181568" y="1050381"/>
            <a:ext cx="5041106" cy="415498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en-GB" sz="1050" dirty="0"/>
              <a:t>A pair of trainers originally costing $ 79 is reduced by 30% in a sale. What is the sale price?</a:t>
            </a:r>
          </a:p>
        </p:txBody>
      </p:sp>
      <p:sp>
        <p:nvSpPr>
          <p:cNvPr id="36" name="Rectangle 7"/>
          <p:cNvSpPr>
            <a:spLocks noChangeArrowheads="1"/>
          </p:cNvSpPr>
          <p:nvPr/>
        </p:nvSpPr>
        <p:spPr bwMode="auto">
          <a:xfrm>
            <a:off x="1749519" y="2021183"/>
            <a:ext cx="5400600" cy="486054"/>
          </a:xfrm>
          <a:prstGeom prst="rect">
            <a:avLst/>
          </a:prstGeom>
          <a:solidFill>
            <a:srgbClr val="80D0E8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800" b="1" dirty="0"/>
              <a:t>100% = 1</a:t>
            </a:r>
          </a:p>
        </p:txBody>
      </p:sp>
      <p:sp>
        <p:nvSpPr>
          <p:cNvPr id="37" name="Text Box 7"/>
          <p:cNvSpPr txBox="1">
            <a:spLocks noChangeArrowheads="1"/>
          </p:cNvSpPr>
          <p:nvPr/>
        </p:nvSpPr>
        <p:spPr bwMode="auto">
          <a:xfrm>
            <a:off x="3153675" y="3784517"/>
            <a:ext cx="2549128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GB" sz="1050" dirty="0"/>
              <a:t>70% of $79 = 0.7 × $79</a:t>
            </a:r>
          </a:p>
        </p:txBody>
      </p:sp>
      <p:sp>
        <p:nvSpPr>
          <p:cNvPr id="38" name="Text Box 8"/>
          <p:cNvSpPr txBox="1">
            <a:spLocks noChangeArrowheads="1"/>
          </p:cNvSpPr>
          <p:nvPr/>
        </p:nvSpPr>
        <p:spPr bwMode="auto">
          <a:xfrm>
            <a:off x="4071777" y="4127417"/>
            <a:ext cx="713657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= $</a:t>
            </a:r>
            <a:r>
              <a:rPr lang="en-GB" sz="1050" u="sng" dirty="0"/>
              <a:t>55.30</a:t>
            </a: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1706755" y="3371333"/>
            <a:ext cx="2905082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GB" sz="1050" dirty="0"/>
              <a:t>So the decimal multiplier is </a:t>
            </a:r>
            <a:r>
              <a:rPr lang="en-GB" sz="1050" b="1" dirty="0"/>
              <a:t>0.7</a:t>
            </a:r>
            <a:r>
              <a:rPr lang="en-GB" sz="1050" dirty="0"/>
              <a:t>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2A407B-6933-4C58-9E5F-D9D1403E395A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3123681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 animBg="1"/>
      <p:bldP spid="32" grpId="0"/>
      <p:bldP spid="33" grpId="0" animBg="1"/>
      <p:bldP spid="34" grpId="0"/>
      <p:bldP spid="36" grpId="0" animBg="1"/>
      <p:bldP spid="37" grpId="0"/>
      <p:bldP spid="38" grpId="0"/>
      <p:bldP spid="3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Your Turn</a:t>
            </a:r>
          </a:p>
        </p:txBody>
      </p: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1751744" y="1309251"/>
            <a:ext cx="2416047" cy="369332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GB" sz="1800" dirty="0"/>
              <a:t>Increase $ 24 by 35%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808778" y="1817518"/>
            <a:ext cx="1087157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$ 24 x 135% = </a:t>
            </a:r>
          </a:p>
        </p:txBody>
      </p:sp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2775143" y="2152796"/>
            <a:ext cx="750526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= $ 32.40</a:t>
            </a:r>
          </a:p>
        </p:txBody>
      </p:sp>
      <p:sp>
        <p:nvSpPr>
          <p:cNvPr id="25" name="Text Box 14"/>
          <p:cNvSpPr txBox="1">
            <a:spLocks noChangeArrowheads="1"/>
          </p:cNvSpPr>
          <p:nvPr/>
        </p:nvSpPr>
        <p:spPr bwMode="auto">
          <a:xfrm>
            <a:off x="4777798" y="1331464"/>
            <a:ext cx="2544287" cy="369332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GB" sz="1800" dirty="0"/>
              <a:t>Increase $86 by 18.5%</a:t>
            </a:r>
          </a:p>
        </p:txBody>
      </p:sp>
      <p:sp>
        <p:nvSpPr>
          <p:cNvPr id="26" name="Text Box 15"/>
          <p:cNvSpPr txBox="1">
            <a:spLocks noChangeArrowheads="1"/>
          </p:cNvSpPr>
          <p:nvPr/>
        </p:nvSpPr>
        <p:spPr bwMode="auto">
          <a:xfrm>
            <a:off x="4841758" y="1817518"/>
            <a:ext cx="1125629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$86 x 118.5% =</a:t>
            </a:r>
          </a:p>
        </p:txBody>
      </p:sp>
      <p:sp>
        <p:nvSpPr>
          <p:cNvPr id="27" name="Text Box 16"/>
          <p:cNvSpPr txBox="1">
            <a:spLocks noChangeArrowheads="1"/>
          </p:cNvSpPr>
          <p:nvPr/>
        </p:nvSpPr>
        <p:spPr bwMode="auto">
          <a:xfrm>
            <a:off x="6265255" y="1817518"/>
            <a:ext cx="926857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$ 86 x 1.185</a:t>
            </a:r>
          </a:p>
        </p:txBody>
      </p:sp>
      <p:sp>
        <p:nvSpPr>
          <p:cNvPr id="28" name="Text Box 17"/>
          <p:cNvSpPr txBox="1">
            <a:spLocks noChangeArrowheads="1"/>
          </p:cNvSpPr>
          <p:nvPr/>
        </p:nvSpPr>
        <p:spPr bwMode="auto">
          <a:xfrm>
            <a:off x="5920941" y="2110033"/>
            <a:ext cx="825867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= $ 101.91</a:t>
            </a:r>
          </a:p>
        </p:txBody>
      </p:sp>
      <p:sp>
        <p:nvSpPr>
          <p:cNvPr id="29" name="Text Box 14"/>
          <p:cNvSpPr txBox="1">
            <a:spLocks noChangeArrowheads="1"/>
          </p:cNvSpPr>
          <p:nvPr/>
        </p:nvSpPr>
        <p:spPr bwMode="auto">
          <a:xfrm>
            <a:off x="4750758" y="3091449"/>
            <a:ext cx="2711000" cy="369332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GB" sz="1800" dirty="0"/>
              <a:t>Decrease $ 320 by 3.5%</a:t>
            </a:r>
          </a:p>
        </p:txBody>
      </p:sp>
      <p:sp>
        <p:nvSpPr>
          <p:cNvPr id="40" name="Text Box 15"/>
          <p:cNvSpPr txBox="1">
            <a:spLocks noChangeArrowheads="1"/>
          </p:cNvSpPr>
          <p:nvPr/>
        </p:nvSpPr>
        <p:spPr bwMode="auto">
          <a:xfrm>
            <a:off x="4820718" y="3592747"/>
            <a:ext cx="1162498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$ 320 x 96.5% =</a:t>
            </a:r>
          </a:p>
        </p:txBody>
      </p:sp>
      <p:sp>
        <p:nvSpPr>
          <p:cNvPr id="41" name="Text Box 16"/>
          <p:cNvSpPr txBox="1">
            <a:spLocks noChangeArrowheads="1"/>
          </p:cNvSpPr>
          <p:nvPr/>
        </p:nvSpPr>
        <p:spPr bwMode="auto">
          <a:xfrm>
            <a:off x="6218709" y="3592094"/>
            <a:ext cx="1002197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$ 320 x 0.965</a:t>
            </a:r>
          </a:p>
        </p:txBody>
      </p:sp>
      <p:sp>
        <p:nvSpPr>
          <p:cNvPr id="42" name="Text Box 17"/>
          <p:cNvSpPr txBox="1">
            <a:spLocks noChangeArrowheads="1"/>
          </p:cNvSpPr>
          <p:nvPr/>
        </p:nvSpPr>
        <p:spPr bwMode="auto">
          <a:xfrm>
            <a:off x="5918734" y="3937061"/>
            <a:ext cx="825867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= $ 308.80</a:t>
            </a:r>
          </a:p>
        </p:txBody>
      </p:sp>
      <p:sp>
        <p:nvSpPr>
          <p:cNvPr id="43" name="Text Box 26"/>
          <p:cNvSpPr txBox="1">
            <a:spLocks noChangeArrowheads="1"/>
          </p:cNvSpPr>
          <p:nvPr/>
        </p:nvSpPr>
        <p:spPr bwMode="auto">
          <a:xfrm>
            <a:off x="1756764" y="3060568"/>
            <a:ext cx="2518639" cy="369332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GB" sz="1800" dirty="0"/>
              <a:t>Decrease $ 56 by 34%</a:t>
            </a:r>
          </a:p>
        </p:txBody>
      </p:sp>
      <p:sp>
        <p:nvSpPr>
          <p:cNvPr id="44" name="Text Box 27"/>
          <p:cNvSpPr txBox="1">
            <a:spLocks noChangeArrowheads="1"/>
          </p:cNvSpPr>
          <p:nvPr/>
        </p:nvSpPr>
        <p:spPr bwMode="auto">
          <a:xfrm>
            <a:off x="1874815" y="3592747"/>
            <a:ext cx="974947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$ 56 x 66% =</a:t>
            </a:r>
          </a:p>
        </p:txBody>
      </p:sp>
      <p:sp>
        <p:nvSpPr>
          <p:cNvPr id="45" name="Text Box 28"/>
          <p:cNvSpPr txBox="1">
            <a:spLocks noChangeArrowheads="1"/>
          </p:cNvSpPr>
          <p:nvPr/>
        </p:nvSpPr>
        <p:spPr bwMode="auto">
          <a:xfrm>
            <a:off x="3122668" y="3588473"/>
            <a:ext cx="851515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$ 56 x 0.66</a:t>
            </a:r>
          </a:p>
        </p:txBody>
      </p:sp>
      <p:sp>
        <p:nvSpPr>
          <p:cNvPr id="46" name="Text Box 29"/>
          <p:cNvSpPr txBox="1">
            <a:spLocks noChangeArrowheads="1"/>
          </p:cNvSpPr>
          <p:nvPr/>
        </p:nvSpPr>
        <p:spPr bwMode="auto">
          <a:xfrm>
            <a:off x="2721137" y="3945202"/>
            <a:ext cx="750526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= $ 36.96</a:t>
            </a:r>
          </a:p>
        </p:txBody>
      </p:sp>
      <p:sp>
        <p:nvSpPr>
          <p:cNvPr id="47" name="Text Box 11"/>
          <p:cNvSpPr txBox="1">
            <a:spLocks noChangeArrowheads="1"/>
          </p:cNvSpPr>
          <p:nvPr/>
        </p:nvSpPr>
        <p:spPr bwMode="auto">
          <a:xfrm>
            <a:off x="3037141" y="1821791"/>
            <a:ext cx="851515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$ 24 x 1.35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D1EF88D-CEC9-4AC3-ABEC-C9709A5265C8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157428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 autoUpdateAnimBg="0"/>
      <p:bldP spid="23" grpId="0" autoUpdateAnimBg="0"/>
      <p:bldP spid="24" grpId="0" autoUpdateAnimBg="0"/>
      <p:bldP spid="25" grpId="0" animBg="1" autoUpdateAnimBg="0"/>
      <p:bldP spid="26" grpId="0" autoUpdateAnimBg="0"/>
      <p:bldP spid="27" grpId="0" autoUpdateAnimBg="0"/>
      <p:bldP spid="28" grpId="0" autoUpdateAnimBg="0"/>
      <p:bldP spid="29" grpId="0" animBg="1" autoUpdateAnimBg="0"/>
      <p:bldP spid="40" grpId="0" autoUpdateAnimBg="0"/>
      <p:bldP spid="41" grpId="0" autoUpdateAnimBg="0"/>
      <p:bldP spid="42" grpId="0" autoUpdateAnimBg="0"/>
      <p:bldP spid="43" grpId="0" animBg="1" autoUpdateAnimBg="0"/>
      <p:bldP spid="44" grpId="0" autoUpdateAnimBg="0"/>
      <p:bldP spid="45" grpId="0" autoUpdateAnimBg="0"/>
      <p:bldP spid="46" grpId="0" autoUpdateAnimBg="0"/>
      <p:bldP spid="47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45592" y="922396"/>
            <a:ext cx="1649822" cy="283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1. £240</a:t>
            </a:r>
          </a:p>
          <a:p>
            <a:r>
              <a:rPr lang="en-GB" sz="1050" dirty="0">
                <a:solidFill>
                  <a:srgbClr val="FF0000"/>
                </a:solidFill>
              </a:rPr>
              <a:t>2. £637.20</a:t>
            </a:r>
          </a:p>
          <a:p>
            <a:r>
              <a:rPr lang="en-GB" sz="1050" dirty="0">
                <a:solidFill>
                  <a:srgbClr val="FF0000"/>
                </a:solidFill>
              </a:rPr>
              <a:t>3. £648</a:t>
            </a:r>
          </a:p>
          <a:p>
            <a:r>
              <a:rPr lang="en-GB" sz="1050" dirty="0">
                <a:solidFill>
                  <a:srgbClr val="FF0000"/>
                </a:solidFill>
              </a:rPr>
              <a:t>4. £1320</a:t>
            </a:r>
          </a:p>
          <a:p>
            <a:r>
              <a:rPr lang="en-GB" sz="1050" dirty="0">
                <a:solidFill>
                  <a:srgbClr val="FF0000"/>
                </a:solidFill>
              </a:rPr>
              <a:t>5. £549.40</a:t>
            </a:r>
          </a:p>
          <a:p>
            <a:r>
              <a:rPr lang="en-GB" sz="1050" dirty="0">
                <a:solidFill>
                  <a:srgbClr val="FF0000"/>
                </a:solidFill>
              </a:rPr>
              <a:t>6. £28.35</a:t>
            </a:r>
          </a:p>
          <a:p>
            <a:r>
              <a:rPr lang="en-GB" sz="1050" dirty="0">
                <a:solidFill>
                  <a:srgbClr val="FF0000"/>
                </a:solidFill>
              </a:rPr>
              <a:t>7. £75.21</a:t>
            </a:r>
          </a:p>
          <a:p>
            <a:r>
              <a:rPr lang="en-GB" sz="1050" dirty="0">
                <a:solidFill>
                  <a:srgbClr val="FF0000"/>
                </a:solidFill>
              </a:rPr>
              <a:t>8.</a:t>
            </a:r>
          </a:p>
          <a:p>
            <a:pPr marL="257175" indent="-257175">
              <a:buAutoNum type="alphaLcParenR"/>
            </a:pPr>
            <a:r>
              <a:rPr lang="en-GB" sz="1050" dirty="0">
                <a:solidFill>
                  <a:srgbClr val="FF0000"/>
                </a:solidFill>
              </a:rPr>
              <a:t>£221</a:t>
            </a:r>
          </a:p>
          <a:p>
            <a:pPr marL="257175" indent="-257175">
              <a:buAutoNum type="alphaLcParenR"/>
            </a:pPr>
            <a:r>
              <a:rPr lang="en-GB" sz="1050" dirty="0">
                <a:solidFill>
                  <a:srgbClr val="FF0000"/>
                </a:solidFill>
              </a:rPr>
              <a:t>£403</a:t>
            </a:r>
          </a:p>
          <a:p>
            <a:pPr marL="257175" indent="-257175">
              <a:buAutoNum type="alphaLcParenR"/>
            </a:pPr>
            <a:r>
              <a:rPr lang="en-GB" sz="1050" dirty="0">
                <a:solidFill>
                  <a:srgbClr val="FF0000"/>
                </a:solidFill>
              </a:rPr>
              <a:t>£117</a:t>
            </a:r>
          </a:p>
          <a:p>
            <a:pPr marL="257175" indent="-257175">
              <a:buAutoNum type="alphaLcParenR"/>
            </a:pPr>
            <a:r>
              <a:rPr lang="en-GB" sz="1050" dirty="0">
                <a:solidFill>
                  <a:srgbClr val="FF0000"/>
                </a:solidFill>
              </a:rPr>
              <a:t>£11.70</a:t>
            </a:r>
          </a:p>
          <a:p>
            <a:pPr marL="257175" indent="-257175">
              <a:buAutoNum type="alphaLcParenR"/>
            </a:pPr>
            <a:r>
              <a:rPr lang="en-GB" sz="1050" dirty="0">
                <a:solidFill>
                  <a:srgbClr val="FF0000"/>
                </a:solidFill>
              </a:rPr>
              <a:t>£780</a:t>
            </a:r>
          </a:p>
          <a:p>
            <a:pPr marL="257175" indent="-257175">
              <a:buAutoNum type="alphaLcParenR"/>
            </a:pPr>
            <a:r>
              <a:rPr lang="en-GB" sz="1050" dirty="0">
                <a:solidFill>
                  <a:srgbClr val="FF0000"/>
                </a:solidFill>
              </a:rPr>
              <a:t>£3.90</a:t>
            </a:r>
          </a:p>
          <a:p>
            <a:r>
              <a:rPr lang="en-GB" sz="1050" dirty="0">
                <a:solidFill>
                  <a:srgbClr val="FF0000"/>
                </a:solidFill>
              </a:rPr>
              <a:t>9. £19520</a:t>
            </a:r>
          </a:p>
          <a:p>
            <a:r>
              <a:rPr lang="en-GB" sz="1050" dirty="0">
                <a:solidFill>
                  <a:srgbClr val="FF0000"/>
                </a:solidFill>
              </a:rPr>
              <a:t>10. 73.6kg</a:t>
            </a:r>
          </a:p>
          <a:p>
            <a:endParaRPr lang="en-GB" sz="1050" dirty="0">
              <a:solidFill>
                <a:srgbClr val="FF0000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563" y="459462"/>
            <a:ext cx="5634590" cy="443953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067508" y="431638"/>
            <a:ext cx="4763241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Connections and Reasoning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83B859-7EB9-4F77-984A-7DE29A0145C1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2713445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Reasoning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71711" y="1050381"/>
            <a:ext cx="5832648" cy="1415411"/>
          </a:xfrm>
          <a:prstGeom prst="roundRect">
            <a:avLst>
              <a:gd name="adj" fmla="val 21100"/>
            </a:avLst>
          </a:prstGeom>
          <a:solidFill>
            <a:srgbClr val="F8AB3F"/>
          </a:solidFill>
          <a:ln w="9525" cap="flat" cmpd="sng" algn="ctr">
            <a:solidFill>
              <a:srgbClr val="FFC000"/>
            </a:solidFill>
            <a:prstDash val="solid"/>
          </a:ln>
          <a:effectLst/>
        </p:spPr>
        <p:txBody>
          <a:bodyPr lIns="68483" tIns="34244" rIns="68483" bIns="34244" rtlCol="0" anchor="ctr"/>
          <a:lstStyle/>
          <a:p>
            <a:pPr algn="ctr">
              <a:defRPr/>
            </a:pPr>
            <a:r>
              <a:rPr lang="en-US" sz="2400" b="1" dirty="0">
                <a:latin typeface="Calibri"/>
              </a:rPr>
              <a:t>Caitlin says that 9% of 200 is equal to 200% of 9. Show why she is correct?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44433" y="2556622"/>
            <a:ext cx="4687203" cy="1714835"/>
          </a:xfrm>
          <a:prstGeom prst="roundRect">
            <a:avLst>
              <a:gd name="adj" fmla="val 21100"/>
            </a:avLst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  <p:txBody>
          <a:bodyPr lIns="68483" tIns="34244" rIns="68483" bIns="34244" rtlCol="0" anchor="ctr"/>
          <a:lstStyle/>
          <a:p>
            <a:pPr algn="ctr">
              <a:defRPr/>
            </a:pPr>
            <a:r>
              <a:rPr lang="en-US" sz="2400" b="1" dirty="0">
                <a:latin typeface="Calibri"/>
              </a:rPr>
              <a:t>Hugh gets 9 out of 10 in a Core </a:t>
            </a:r>
            <a:r>
              <a:rPr lang="en-US" sz="2400" b="1" dirty="0" err="1">
                <a:latin typeface="Calibri"/>
              </a:rPr>
              <a:t>Maths</a:t>
            </a:r>
            <a:r>
              <a:rPr lang="en-US" sz="2400" b="1" dirty="0">
                <a:latin typeface="Calibri"/>
              </a:rPr>
              <a:t> test. Ese gets 27 out of 30 in Spanish. </a:t>
            </a:r>
          </a:p>
          <a:p>
            <a:pPr algn="ctr">
              <a:defRPr/>
            </a:pPr>
            <a:r>
              <a:rPr lang="en-US" sz="2400" b="1" dirty="0">
                <a:latin typeface="Calibri"/>
              </a:rPr>
              <a:t>Who got the highest percentage?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086414-40AB-4C17-91B3-5E7B82AC0FEE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11863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Problem Solving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95774" y="1210965"/>
            <a:ext cx="6054568" cy="984138"/>
          </a:xfrm>
          <a:prstGeom prst="roundRect">
            <a:avLst>
              <a:gd name="adj" fmla="val 21100"/>
            </a:avLst>
          </a:prstGeom>
          <a:solidFill>
            <a:srgbClr val="F8AB3F"/>
          </a:solidFill>
          <a:ln w="9525" cap="flat" cmpd="sng" algn="ctr">
            <a:solidFill>
              <a:srgbClr val="008000"/>
            </a:solidFill>
            <a:prstDash val="solid"/>
          </a:ln>
          <a:effectLst/>
        </p:spPr>
        <p:txBody>
          <a:bodyPr lIns="68483" tIns="34244" rIns="68483" bIns="34244" rtlCol="0" anchor="ctr"/>
          <a:lstStyle/>
          <a:p>
            <a:pPr algn="ctr">
              <a:defRPr/>
            </a:pPr>
            <a:r>
              <a:rPr lang="en-US" sz="2700" b="1" dirty="0">
                <a:latin typeface="Calibri"/>
              </a:rPr>
              <a:t>Which is larger, 40% of 90 or 90% of 40?</a:t>
            </a:r>
            <a:endParaRPr lang="en-US" sz="7200" b="1" dirty="0"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595774" y="3458232"/>
            <a:ext cx="6054568" cy="641733"/>
          </a:xfrm>
          <a:prstGeom prst="roundRect">
            <a:avLst>
              <a:gd name="adj" fmla="val 21100"/>
            </a:avLst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  <p:txBody>
          <a:bodyPr lIns="68483" tIns="34244" rIns="68483" bIns="34244" rtlCol="0" anchor="ctr"/>
          <a:lstStyle/>
          <a:p>
            <a:pPr lvl="0" algn="ctr">
              <a:defRPr/>
            </a:pPr>
            <a:r>
              <a:rPr lang="en-US" sz="5400" b="1" dirty="0">
                <a:latin typeface="Calibri"/>
              </a:rPr>
              <a:t>40% of 90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95775" y="2599280"/>
            <a:ext cx="6054568" cy="653178"/>
          </a:xfrm>
          <a:prstGeom prst="roundRect">
            <a:avLst>
              <a:gd name="adj" fmla="val 21100"/>
            </a:avLst>
          </a:prstGeom>
          <a:solidFill>
            <a:schemeClr val="accent4">
              <a:lumMod val="40000"/>
              <a:lumOff val="60000"/>
            </a:schemeClr>
          </a:solidFill>
          <a:ln w="9525" cap="flat" cmpd="sng" algn="ctr">
            <a:solidFill>
              <a:schemeClr val="accent4">
                <a:lumMod val="40000"/>
                <a:lumOff val="60000"/>
              </a:schemeClr>
            </a:solidFill>
            <a:prstDash val="solid"/>
          </a:ln>
          <a:effectLst/>
        </p:spPr>
        <p:txBody>
          <a:bodyPr lIns="68483" tIns="34244" rIns="68483" bIns="34244" rtlCol="0" anchor="ctr"/>
          <a:lstStyle/>
          <a:p>
            <a:pPr algn="ctr">
              <a:defRPr/>
            </a:pPr>
            <a:r>
              <a:rPr lang="en-US" sz="5400" b="1" dirty="0">
                <a:latin typeface="Calibri"/>
              </a:rPr>
              <a:t>90% of 40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A89376-3866-4E36-A266-71D5FBEAB7D4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1047389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7934" y="-20538"/>
            <a:ext cx="4792721" cy="4804206"/>
          </a:xfrm>
          <a:prstGeom prst="rect">
            <a:avLst/>
          </a:prstGeom>
        </p:spPr>
      </p:pic>
      <p:pic>
        <p:nvPicPr>
          <p:cNvPr id="20" name="Picture 19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0102" y="298719"/>
            <a:ext cx="2354320" cy="45460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70500" y="1005577"/>
            <a:ext cx="20615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dirty="0"/>
              <a:t>To find percentages of amounts.</a:t>
            </a:r>
            <a:endParaRPr lang="en-GB" sz="1800" b="1" dirty="0"/>
          </a:p>
        </p:txBody>
      </p:sp>
      <p:pic>
        <p:nvPicPr>
          <p:cNvPr id="3076" name="Picture 4" descr="http://casio.ledudu.com/images/calculs/casio/machines/zoom/FX83GTPlus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73864"/>
            <a:ext cx="2442708" cy="4787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/>
          <p:cNvSpPr/>
          <p:nvPr/>
        </p:nvSpPr>
        <p:spPr>
          <a:xfrm>
            <a:off x="1365174" y="1905365"/>
            <a:ext cx="378042" cy="378042"/>
          </a:xfrm>
          <a:prstGeom prst="ellipse">
            <a:avLst/>
          </a:prstGeom>
          <a:solidFill>
            <a:srgbClr val="FFFF6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14" name="Oval 13"/>
          <p:cNvSpPr/>
          <p:nvPr/>
        </p:nvSpPr>
        <p:spPr>
          <a:xfrm>
            <a:off x="5686179" y="1757308"/>
            <a:ext cx="378042" cy="378042"/>
          </a:xfrm>
          <a:prstGeom prst="ellipse">
            <a:avLst/>
          </a:prstGeom>
          <a:solidFill>
            <a:srgbClr val="FFFF6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11" name="Oval 10"/>
          <p:cNvSpPr/>
          <p:nvPr/>
        </p:nvSpPr>
        <p:spPr>
          <a:xfrm>
            <a:off x="7164288" y="4110230"/>
            <a:ext cx="378042" cy="378042"/>
          </a:xfrm>
          <a:prstGeom prst="ellipse">
            <a:avLst/>
          </a:prstGeom>
          <a:solidFill>
            <a:srgbClr val="FFFF6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9" name="Oval 8"/>
          <p:cNvSpPr/>
          <p:nvPr/>
        </p:nvSpPr>
        <p:spPr>
          <a:xfrm>
            <a:off x="2018838" y="3111810"/>
            <a:ext cx="378042" cy="378042"/>
          </a:xfrm>
          <a:prstGeom prst="ellipse">
            <a:avLst/>
          </a:prstGeom>
          <a:solidFill>
            <a:srgbClr val="FFFF6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10" name="TextBox 9"/>
          <p:cNvSpPr txBox="1"/>
          <p:nvPr/>
        </p:nvSpPr>
        <p:spPr>
          <a:xfrm>
            <a:off x="3569184" y="2900489"/>
            <a:ext cx="2061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dirty="0"/>
              <a:t>A couple to try:</a:t>
            </a:r>
            <a:endParaRPr lang="en-GB" sz="18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3569184" y="1814534"/>
            <a:ext cx="20615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dirty="0"/>
              <a:t>This button simply divides (or multiplies) by 100 for you.</a:t>
            </a:r>
            <a:endParaRPr lang="en-GB" sz="1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/>
              <p:cNvSpPr/>
              <p:nvPr/>
            </p:nvSpPr>
            <p:spPr>
              <a:xfrm>
                <a:off x="3064892" y="273864"/>
                <a:ext cx="2946026" cy="347501"/>
              </a:xfrm>
              <a:prstGeom prst="roundRect">
                <a:avLst/>
              </a:prstGeom>
              <a:solidFill>
                <a:srgbClr val="F8AB3F"/>
              </a:solidFill>
              <a:ln>
                <a:solidFill>
                  <a:srgbClr val="F8AB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dirty="0"/>
                        <m:t>Plenary</m:t>
                      </m:r>
                      <m:r>
                        <m:rPr>
                          <m:nor/>
                        </m:rPr>
                        <a:rPr lang="en-GB" sz="2400" dirty="0"/>
                        <m:t> %</m:t>
                      </m:r>
                    </m:oMath>
                  </m:oMathPara>
                </a14:m>
                <a:endParaRPr lang="en-GB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Rounded 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892" y="273864"/>
                <a:ext cx="2946026" cy="347501"/>
              </a:xfrm>
              <a:prstGeom prst="roundRect">
                <a:avLst/>
              </a:prstGeom>
              <a:blipFill>
                <a:blip r:embed="rId7"/>
                <a:stretch>
                  <a:fillRect b="-36066"/>
                </a:stretch>
              </a:blipFill>
              <a:ln>
                <a:solidFill>
                  <a:srgbClr val="F8AB3F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320900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animBg="1"/>
      <p:bldP spid="14" grpId="0" animBg="1"/>
      <p:bldP spid="11" grpId="0" animBg="1"/>
      <p:bldP spid="9" grpId="0" animBg="1"/>
      <p:bldP spid="10" grpId="0"/>
      <p:bldP spid="2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heme/theme1.xml><?xml version="1.0" encoding="utf-8"?>
<a:theme xmlns:a="http://schemas.openxmlformats.org/drawingml/2006/main" name="Rainbow Background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4ADBD"/>
      </a:accent1>
      <a:accent2>
        <a:srgbClr val="A2D242"/>
      </a:accent2>
      <a:accent3>
        <a:srgbClr val="FCE243"/>
      </a:accent3>
      <a:accent4>
        <a:srgbClr val="EF6B20"/>
      </a:accent4>
      <a:accent5>
        <a:srgbClr val="AD242B"/>
      </a:accent5>
      <a:accent6>
        <a:srgbClr val="AE2D5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inbow Background by Slidesgo" id="{46D7DCF1-5261-4805-AE31-BEDD5E59F30E}" vid="{99090F41-B61B-4833-A699-F16AB6F86A0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Cornell Notes</Template>
  <TotalTime>2226</TotalTime>
  <Words>965</Words>
  <Application>Microsoft Office PowerPoint</Application>
  <PresentationFormat>On-screen Show (16:9)</PresentationFormat>
  <Paragraphs>176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Fredoka One</vt:lpstr>
      <vt:lpstr>Arial</vt:lpstr>
      <vt:lpstr>Calibri</vt:lpstr>
      <vt:lpstr>Abel</vt:lpstr>
      <vt:lpstr>Rainbow Background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Adding and Subtracting with negative numbers  EQ: How do we add and subtract with negatives?</dc:title>
  <dc:creator>MCLEOD Alexandria [Baldivis Secondary College]</dc:creator>
  <cp:lastModifiedBy>WATSON Justin [Baldivis Secondary College]</cp:lastModifiedBy>
  <cp:revision>23</cp:revision>
  <dcterms:created xsi:type="dcterms:W3CDTF">2021-02-22T02:29:05Z</dcterms:created>
  <dcterms:modified xsi:type="dcterms:W3CDTF">2021-03-28T11:04:52Z</dcterms:modified>
</cp:coreProperties>
</file>
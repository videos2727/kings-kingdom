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notesMasterIdLst>
    <p:notesMasterId r:id="rId10"/>
  </p:notesMasterIdLst>
  <p:handoutMasterIdLst>
    <p:handoutMasterId r:id="rId11"/>
  </p:handoutMasterIdLst>
  <p:sldIdLst>
    <p:sldId id="274" r:id="rId2"/>
    <p:sldId id="256" r:id="rId3"/>
    <p:sldId id="265" r:id="rId4"/>
    <p:sldId id="272" r:id="rId5"/>
    <p:sldId id="266" r:id="rId6"/>
    <p:sldId id="267" r:id="rId7"/>
    <p:sldId id="269" r:id="rId8"/>
    <p:sldId id="27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6649" autoAdjust="0"/>
  </p:normalViewPr>
  <p:slideViewPr>
    <p:cSldViewPr snapToGrid="0">
      <p:cViewPr varScale="1">
        <p:scale>
          <a:sx n="59" d="100"/>
          <a:sy n="59" d="100"/>
        </p:scale>
        <p:origin x="964" y="6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76" d="100"/>
          <a:sy n="76" d="100"/>
        </p:scale>
        <p:origin x="1680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D2DDA-69D8-473F-A583-B6774B31A77B}" type="datetimeFigureOut">
              <a:rPr lang="en-US"/>
              <a:t>9/9/2018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392CCB-FF08-4D29-8DA3-E1FD86044808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621533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1F6DFB-6833-46E4-B515-70E0D9178056}" type="datetimeFigureOut">
              <a:rPr lang="en-US"/>
              <a:t>9/9/2018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8706C7-F2C3-48B6-8A22-C484D800B5D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95068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1200" dirty="0" smtClean="0"/>
              <a:t>To calculate the percentage of a number first I need to </a:t>
            </a:r>
            <a:r>
              <a:rPr lang="en-AU" sz="1200" b="1" dirty="0" smtClean="0"/>
              <a:t>convert</a:t>
            </a:r>
            <a:r>
              <a:rPr lang="en-AU" sz="1200" dirty="0" smtClean="0"/>
              <a:t> the percentage into a </a:t>
            </a:r>
            <a:r>
              <a:rPr lang="en-AU" sz="1200" b="1" dirty="0" smtClean="0"/>
              <a:t>fraction</a:t>
            </a:r>
            <a:r>
              <a:rPr lang="en-AU" sz="1200" dirty="0" smtClean="0"/>
              <a:t>. Then the number </a:t>
            </a:r>
            <a:r>
              <a:rPr lang="en-AU" sz="1200" b="1" dirty="0" smtClean="0"/>
              <a:t>also</a:t>
            </a:r>
            <a:r>
              <a:rPr lang="en-AU" sz="1200" dirty="0" smtClean="0"/>
              <a:t> needs to become a</a:t>
            </a:r>
            <a:r>
              <a:rPr lang="en-AU" sz="1200" baseline="0" dirty="0" smtClean="0"/>
              <a:t> </a:t>
            </a:r>
            <a:r>
              <a:rPr lang="en-AU" sz="1200" b="1" baseline="0" dirty="0" smtClean="0"/>
              <a:t>fraction</a:t>
            </a:r>
            <a:r>
              <a:rPr lang="en-AU" sz="1200" baseline="0" dirty="0" smtClean="0"/>
              <a:t> </a:t>
            </a:r>
            <a:r>
              <a:rPr lang="en-AU" sz="1200" dirty="0" smtClean="0"/>
              <a:t>over one. Then I </a:t>
            </a:r>
            <a:r>
              <a:rPr lang="en-AU" sz="1200" b="1" dirty="0" smtClean="0"/>
              <a:t>multiply</a:t>
            </a:r>
            <a:r>
              <a:rPr lang="en-AU" sz="1200" dirty="0" smtClean="0"/>
              <a:t> the fractions using the rules of </a:t>
            </a:r>
            <a:r>
              <a:rPr lang="en-AU" sz="1200" b="1" dirty="0" smtClean="0"/>
              <a:t>fraction multiplication.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8706C7-F2C3-48B6-8A22-C484D800B5D4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987659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¼ = 0.25 = 25%</a:t>
            </a:r>
          </a:p>
          <a:p>
            <a:r>
              <a:rPr lang="en-AU" dirty="0" smtClean="0"/>
              <a:t>7/8 = 0.875 = 87.5%</a:t>
            </a:r>
          </a:p>
          <a:p>
            <a:r>
              <a:rPr lang="en-AU" dirty="0" smtClean="0"/>
              <a:t>2/3</a:t>
            </a:r>
            <a:r>
              <a:rPr lang="en-AU" baseline="0" dirty="0" smtClean="0"/>
              <a:t> = 0.667 = 66.7%</a:t>
            </a:r>
          </a:p>
          <a:p>
            <a:r>
              <a:rPr lang="en-AU" baseline="0" dirty="0" smtClean="0"/>
              <a:t>5/4 = 1.25 = 125%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8706C7-F2C3-48B6-8A22-C484D800B5D4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521504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AU" dirty="0" smtClean="0"/>
              <a:t>35</a:t>
            </a:r>
          </a:p>
          <a:p>
            <a:pPr marL="228600" indent="-228600">
              <a:buAutoNum type="arabicPeriod"/>
            </a:pPr>
            <a:r>
              <a:rPr lang="en-AU" dirty="0" smtClean="0"/>
              <a:t>Grace</a:t>
            </a:r>
            <a:r>
              <a:rPr lang="en-AU" baseline="0" dirty="0" smtClean="0"/>
              <a:t> can’t afford either</a:t>
            </a:r>
          </a:p>
          <a:p>
            <a:pPr marL="228600" indent="-228600">
              <a:buAutoNum type="arabicPeriod"/>
            </a:pPr>
            <a:r>
              <a:rPr lang="en-AU" baseline="0" dirty="0" smtClean="0"/>
              <a:t>240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8706C7-F2C3-48B6-8A22-C484D800B5D4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299973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-2" y="295863"/>
            <a:ext cx="12188827" cy="6323264"/>
            <a:chOff x="-2" y="295863"/>
            <a:chExt cx="12188827" cy="6323264"/>
          </a:xfrm>
        </p:grpSpPr>
        <p:sp>
          <p:nvSpPr>
            <p:cNvPr id="33" name="Rectangle 32"/>
            <p:cNvSpPr/>
            <p:nvPr/>
          </p:nvSpPr>
          <p:spPr>
            <a:xfrm>
              <a:off x="-1" y="1905000"/>
              <a:ext cx="12188826" cy="3200400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50000"/>
                  </a:schemeClr>
                </a:gs>
                <a:gs pos="0">
                  <a:schemeClr val="accent1">
                    <a:lumMod val="60000"/>
                    <a:lumOff val="4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-2" y="1795132"/>
              <a:ext cx="12188826" cy="73152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80000"/>
                  </a:schemeClr>
                </a:gs>
                <a:gs pos="0">
                  <a:schemeClr val="accent1">
                    <a:lumMod val="60000"/>
                    <a:lumOff val="40000"/>
                    <a:alpha val="8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-2" y="5142116"/>
              <a:ext cx="12188826" cy="73152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80000"/>
                  </a:schemeClr>
                </a:gs>
                <a:gs pos="0">
                  <a:schemeClr val="accent1">
                    <a:lumMod val="60000"/>
                    <a:lumOff val="40000"/>
                    <a:alpha val="8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36" name="Oval 2"/>
            <p:cNvSpPr>
              <a:spLocks noChangeArrowheads="1"/>
            </p:cNvSpPr>
            <p:nvPr/>
          </p:nvSpPr>
          <p:spPr bwMode="grayWhite">
            <a:xfrm>
              <a:off x="534293" y="5791419"/>
              <a:ext cx="716336" cy="739723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" name="Oval 3"/>
            <p:cNvSpPr>
              <a:spLocks noChangeArrowheads="1"/>
            </p:cNvSpPr>
            <p:nvPr/>
          </p:nvSpPr>
          <p:spPr bwMode="grayWhite">
            <a:xfrm>
              <a:off x="696482" y="5958903"/>
              <a:ext cx="106437" cy="109912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  <a:ex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" name="Oval 5"/>
            <p:cNvSpPr>
              <a:spLocks noChangeArrowheads="1"/>
            </p:cNvSpPr>
            <p:nvPr/>
          </p:nvSpPr>
          <p:spPr bwMode="grayWhite">
            <a:xfrm>
              <a:off x="213400" y="5778215"/>
              <a:ext cx="310863" cy="321012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" name="Oval 6"/>
            <p:cNvSpPr>
              <a:spLocks noChangeArrowheads="1"/>
            </p:cNvSpPr>
            <p:nvPr/>
          </p:nvSpPr>
          <p:spPr bwMode="grayWhite">
            <a:xfrm>
              <a:off x="284358" y="5851489"/>
              <a:ext cx="40547" cy="41871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  <a:ex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" name="Oval 8"/>
            <p:cNvSpPr>
              <a:spLocks noChangeArrowheads="1"/>
            </p:cNvSpPr>
            <p:nvPr/>
          </p:nvSpPr>
          <p:spPr bwMode="grayWhite">
            <a:xfrm>
              <a:off x="10486137" y="5404864"/>
              <a:ext cx="473052" cy="488496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" name="Oval 9"/>
            <p:cNvSpPr>
              <a:spLocks noChangeArrowheads="1"/>
            </p:cNvSpPr>
            <p:nvPr/>
          </p:nvSpPr>
          <p:spPr bwMode="grayWhite">
            <a:xfrm>
              <a:off x="10594263" y="5516520"/>
              <a:ext cx="65889" cy="68041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  <a:ex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" name="Oval 11"/>
            <p:cNvSpPr>
              <a:spLocks noChangeArrowheads="1"/>
            </p:cNvSpPr>
            <p:nvPr/>
          </p:nvSpPr>
          <p:spPr bwMode="grayWhite">
            <a:xfrm>
              <a:off x="6575012" y="6214373"/>
              <a:ext cx="391957" cy="404754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" name="Oval 12"/>
            <p:cNvSpPr>
              <a:spLocks noChangeArrowheads="1"/>
            </p:cNvSpPr>
            <p:nvPr/>
          </p:nvSpPr>
          <p:spPr bwMode="grayWhite">
            <a:xfrm>
              <a:off x="6664554" y="6306838"/>
              <a:ext cx="54063" cy="5582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  <a:ex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" name="Oval 14"/>
            <p:cNvSpPr>
              <a:spLocks noChangeArrowheads="1"/>
            </p:cNvSpPr>
            <p:nvPr/>
          </p:nvSpPr>
          <p:spPr bwMode="grayWhite">
            <a:xfrm>
              <a:off x="3520863" y="5733822"/>
              <a:ext cx="391957" cy="404754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" name="Oval 15"/>
            <p:cNvSpPr>
              <a:spLocks noChangeArrowheads="1"/>
            </p:cNvSpPr>
            <p:nvPr/>
          </p:nvSpPr>
          <p:spPr bwMode="grayWhite">
            <a:xfrm>
              <a:off x="3610405" y="5826287"/>
              <a:ext cx="54063" cy="5582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  <a:ex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" name="Oval 17"/>
            <p:cNvSpPr>
              <a:spLocks noChangeArrowheads="1"/>
            </p:cNvSpPr>
            <p:nvPr/>
          </p:nvSpPr>
          <p:spPr bwMode="grayWhite">
            <a:xfrm>
              <a:off x="5845161" y="295863"/>
              <a:ext cx="716336" cy="739723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" name="Oval 18"/>
            <p:cNvSpPr>
              <a:spLocks noChangeArrowheads="1"/>
            </p:cNvSpPr>
            <p:nvPr/>
          </p:nvSpPr>
          <p:spPr bwMode="grayWhite">
            <a:xfrm>
              <a:off x="6007350" y="463347"/>
              <a:ext cx="106437" cy="109912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  <a:ex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" name="Oval 20"/>
            <p:cNvSpPr>
              <a:spLocks noChangeArrowheads="1"/>
            </p:cNvSpPr>
            <p:nvPr/>
          </p:nvSpPr>
          <p:spPr bwMode="grayWhite">
            <a:xfrm>
              <a:off x="5439688" y="630832"/>
              <a:ext cx="391957" cy="404754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" name="Oval 21"/>
            <p:cNvSpPr>
              <a:spLocks noChangeArrowheads="1"/>
            </p:cNvSpPr>
            <p:nvPr/>
          </p:nvSpPr>
          <p:spPr bwMode="grayWhite">
            <a:xfrm>
              <a:off x="5529230" y="723297"/>
              <a:ext cx="54063" cy="5582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  <a:ex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" name="Oval 23"/>
            <p:cNvSpPr>
              <a:spLocks noChangeArrowheads="1"/>
            </p:cNvSpPr>
            <p:nvPr/>
          </p:nvSpPr>
          <p:spPr bwMode="grayWhite">
            <a:xfrm>
              <a:off x="6575012" y="295863"/>
              <a:ext cx="391957" cy="404754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" name="Oval 24"/>
            <p:cNvSpPr>
              <a:spLocks noChangeArrowheads="1"/>
            </p:cNvSpPr>
            <p:nvPr/>
          </p:nvSpPr>
          <p:spPr bwMode="grayWhite">
            <a:xfrm>
              <a:off x="6664554" y="388328"/>
              <a:ext cx="54063" cy="5582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  <a:ex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" name="Oval 26"/>
            <p:cNvSpPr>
              <a:spLocks noChangeArrowheads="1"/>
            </p:cNvSpPr>
            <p:nvPr/>
          </p:nvSpPr>
          <p:spPr bwMode="grayWhite">
            <a:xfrm>
              <a:off x="11218217" y="589639"/>
              <a:ext cx="554146" cy="572239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" name="Oval 27"/>
            <p:cNvSpPr>
              <a:spLocks noChangeArrowheads="1"/>
            </p:cNvSpPr>
            <p:nvPr/>
          </p:nvSpPr>
          <p:spPr bwMode="grayWhite">
            <a:xfrm>
              <a:off x="11344927" y="720486"/>
              <a:ext cx="79405" cy="8199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  <a:ex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" name="Oval 29"/>
            <p:cNvSpPr>
              <a:spLocks noChangeArrowheads="1"/>
            </p:cNvSpPr>
            <p:nvPr/>
          </p:nvSpPr>
          <p:spPr bwMode="grayWhite">
            <a:xfrm>
              <a:off x="11312827" y="1372978"/>
              <a:ext cx="229768" cy="237270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" name="Oval 30"/>
            <p:cNvSpPr>
              <a:spLocks noChangeArrowheads="1"/>
            </p:cNvSpPr>
            <p:nvPr/>
          </p:nvSpPr>
          <p:spPr bwMode="grayWhite">
            <a:xfrm>
              <a:off x="11366890" y="1428806"/>
              <a:ext cx="27032" cy="27914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  <a:ex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" name="Oval 32"/>
            <p:cNvSpPr>
              <a:spLocks noChangeArrowheads="1"/>
            </p:cNvSpPr>
            <p:nvPr/>
          </p:nvSpPr>
          <p:spPr bwMode="grayWhite">
            <a:xfrm>
              <a:off x="1303864" y="669938"/>
              <a:ext cx="554146" cy="572239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" name="Oval 33"/>
            <p:cNvSpPr>
              <a:spLocks noChangeArrowheads="1"/>
            </p:cNvSpPr>
            <p:nvPr/>
          </p:nvSpPr>
          <p:spPr bwMode="grayWhite">
            <a:xfrm>
              <a:off x="1428885" y="799041"/>
              <a:ext cx="81095" cy="83742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  <a:ex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" name="Oval 35"/>
            <p:cNvSpPr>
              <a:spLocks noChangeArrowheads="1"/>
            </p:cNvSpPr>
            <p:nvPr/>
          </p:nvSpPr>
          <p:spPr bwMode="grayWhite">
            <a:xfrm>
              <a:off x="1871526" y="837422"/>
              <a:ext cx="391957" cy="404754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" name="Oval 36"/>
            <p:cNvSpPr>
              <a:spLocks noChangeArrowheads="1"/>
            </p:cNvSpPr>
            <p:nvPr/>
          </p:nvSpPr>
          <p:spPr bwMode="grayWhite">
            <a:xfrm>
              <a:off x="1961068" y="929887"/>
              <a:ext cx="54063" cy="5582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  <a:ex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5400" y="2079812"/>
            <a:ext cx="9601200" cy="1724092"/>
          </a:xfrm>
        </p:spPr>
        <p:txBody>
          <a:bodyPr anchor="b"/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5400" y="3959352"/>
            <a:ext cx="9601200" cy="914400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223D7-2A27-4B34-A31C-02090805ABAC}" type="datetime1">
              <a:rPr lang="en-US" smtClean="0"/>
              <a:t>9/9/2018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914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C7548-FD58-4384-A951-C87160C229EB}" type="datetime1">
              <a:rPr lang="en-US" smtClean="0"/>
              <a:t>9/9/2018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496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2130552"/>
            <a:ext cx="9601200" cy="2359152"/>
          </a:xfrm>
        </p:spPr>
        <p:txBody>
          <a:bodyPr anchor="b">
            <a:normAutofit/>
          </a:bodyPr>
          <a:lstStyle>
            <a:lvl1pPr algn="ctr">
              <a:defRPr sz="5400" b="1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572000"/>
            <a:ext cx="9601200" cy="841248"/>
          </a:xfrm>
        </p:spPr>
        <p:txBody>
          <a:bodyPr anchor="t"/>
          <a:lstStyle>
            <a:lvl1pPr marL="0" indent="0" algn="ctr">
              <a:spcBef>
                <a:spcPts val="0"/>
              </a:spcBef>
              <a:buNone/>
              <a:defRPr sz="20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13194-3577-4D3C-A927-FE879CBA54D5}" type="datetime1">
              <a:rPr lang="en-US" smtClean="0"/>
              <a:t>9/9/2018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801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341120" y="1901952"/>
            <a:ext cx="4572000" cy="412394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/>
            </a:lvl5pPr>
            <a:lvl6pPr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we</a:t>
            </a:r>
          </a:p>
          <a:p>
            <a:pPr lvl="5"/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78880" y="1901952"/>
            <a:ext cx="4572000" cy="412394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DC53B-D6DF-4D88-8598-DAA646F1ABC6}" type="datetime1">
              <a:rPr lang="en-US" smtClean="0"/>
              <a:t>9/9/2018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210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1120" y="466344"/>
            <a:ext cx="9509760" cy="123444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1120" y="1837464"/>
            <a:ext cx="4572000" cy="766588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41120" y="2740732"/>
            <a:ext cx="4572000" cy="328884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78880" y="1837464"/>
            <a:ext cx="4572000" cy="766588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78880" y="2740732"/>
            <a:ext cx="4572000" cy="328884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13985-7297-49C2-8AF7-445853E5DC92}" type="datetime1">
              <a:rPr lang="en-US" smtClean="0"/>
              <a:t>9/9/2018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009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7CB2E-E929-49CA-BA6D-3C562126F566}" type="datetime1">
              <a:rPr lang="en-US" smtClean="0"/>
              <a:t>9/9/2018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836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 flipV="1">
            <a:off x="1585" y="0"/>
            <a:ext cx="12188827" cy="377952"/>
            <a:chOff x="-1" y="6480048"/>
            <a:chExt cx="12188827" cy="377952"/>
          </a:xfrm>
        </p:grpSpPr>
        <p:sp>
          <p:nvSpPr>
            <p:cNvPr id="6" name="Rectangle 5"/>
            <p:cNvSpPr/>
            <p:nvPr/>
          </p:nvSpPr>
          <p:spPr>
            <a:xfrm>
              <a:off x="0" y="6583680"/>
              <a:ext cx="12188826" cy="274320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50000"/>
                  </a:schemeClr>
                </a:gs>
                <a:gs pos="0">
                  <a:schemeClr val="accent1">
                    <a:lumMod val="60000"/>
                    <a:lumOff val="4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-1" y="6480048"/>
              <a:ext cx="12188826" cy="73152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80000"/>
                  </a:schemeClr>
                </a:gs>
                <a:gs pos="0">
                  <a:schemeClr val="accent1">
                    <a:lumMod val="60000"/>
                    <a:lumOff val="40000"/>
                    <a:alpha val="8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7CFE0-ED18-4B5C-AA30-B675E1042721}" type="datetime1">
              <a:rPr lang="en-US" smtClean="0"/>
              <a:t>9/9/2018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049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 flipV="1">
            <a:off x="1585" y="0"/>
            <a:ext cx="12188827" cy="377952"/>
            <a:chOff x="-1" y="6480048"/>
            <a:chExt cx="12188827" cy="377952"/>
          </a:xfrm>
        </p:grpSpPr>
        <p:sp>
          <p:nvSpPr>
            <p:cNvPr id="9" name="Rectangle 8"/>
            <p:cNvSpPr/>
            <p:nvPr/>
          </p:nvSpPr>
          <p:spPr>
            <a:xfrm>
              <a:off x="0" y="6583680"/>
              <a:ext cx="12188826" cy="274320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50000"/>
                  </a:schemeClr>
                </a:gs>
                <a:gs pos="0">
                  <a:schemeClr val="accent1">
                    <a:lumMod val="60000"/>
                    <a:lumOff val="4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-1" y="6480048"/>
              <a:ext cx="12188826" cy="73152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80000"/>
                  </a:schemeClr>
                </a:gs>
                <a:gs pos="0">
                  <a:schemeClr val="accent1">
                    <a:lumMod val="60000"/>
                    <a:lumOff val="40000"/>
                    <a:alpha val="8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70648" y="2350008"/>
            <a:ext cx="4206240" cy="1993392"/>
          </a:xfrm>
        </p:spPr>
        <p:txBody>
          <a:bodyPr anchor="b">
            <a:normAutofit/>
          </a:bodyPr>
          <a:lstStyle>
            <a:lvl1pPr>
              <a:defRPr sz="3400" b="1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58952"/>
            <a:ext cx="6629400" cy="533095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70648" y="4361688"/>
            <a:ext cx="4206240" cy="1728216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3BAAB-3A39-450E-9B38-6FB42E71A3AF}" type="datetime1">
              <a:rPr lang="en-US" smtClean="0"/>
              <a:t>9/9/2018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565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 flipV="1">
            <a:off x="1585" y="0"/>
            <a:ext cx="12188827" cy="377952"/>
            <a:chOff x="-1" y="6480048"/>
            <a:chExt cx="12188827" cy="377952"/>
          </a:xfrm>
        </p:grpSpPr>
        <p:sp>
          <p:nvSpPr>
            <p:cNvPr id="9" name="Rectangle 8"/>
            <p:cNvSpPr/>
            <p:nvPr/>
          </p:nvSpPr>
          <p:spPr>
            <a:xfrm>
              <a:off x="0" y="6583680"/>
              <a:ext cx="12188826" cy="274320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50000"/>
                  </a:schemeClr>
                </a:gs>
                <a:gs pos="0">
                  <a:schemeClr val="accent1">
                    <a:lumMod val="60000"/>
                    <a:lumOff val="4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-1" y="6480048"/>
              <a:ext cx="12188826" cy="73152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80000"/>
                  </a:schemeClr>
                </a:gs>
                <a:gs pos="0">
                  <a:schemeClr val="accent1">
                    <a:lumMod val="60000"/>
                    <a:lumOff val="40000"/>
                    <a:alpha val="8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70648" y="2350008"/>
            <a:ext cx="4206240" cy="1993392"/>
          </a:xfrm>
        </p:spPr>
        <p:txBody>
          <a:bodyPr anchor="b">
            <a:normAutofit/>
          </a:bodyPr>
          <a:lstStyle>
            <a:lvl1pPr>
              <a:defRPr sz="3400" b="1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150811" y="506104"/>
            <a:ext cx="6858002" cy="584301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70648" y="4361688"/>
            <a:ext cx="4206240" cy="1728216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E0331-03F7-4310-9C27-C65B2378D791}" type="datetime1">
              <a:rPr lang="en-US" smtClean="0"/>
              <a:t>9/9/2018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572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2F1F3-2254-4E04-B960-C1DB42B67330}" type="datetime1">
              <a:rPr lang="en-US" smtClean="0"/>
              <a:t>9/9/2018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702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274638"/>
            <a:ext cx="2628900" cy="58975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274638"/>
            <a:ext cx="7734300" cy="5897562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D0DE7-A14C-48CB-AB8E-D3357522F5F2}" type="datetime1">
              <a:rPr lang="en-US" smtClean="0"/>
              <a:t>9/9/2018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529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Group 162"/>
          <p:cNvGrpSpPr/>
          <p:nvPr/>
        </p:nvGrpSpPr>
        <p:grpSpPr>
          <a:xfrm>
            <a:off x="7873" y="-19258"/>
            <a:ext cx="12188953" cy="6869723"/>
            <a:chOff x="7873" y="-19258"/>
            <a:chExt cx="12188953" cy="6869723"/>
          </a:xfrm>
        </p:grpSpPr>
        <p:sp>
          <p:nvSpPr>
            <p:cNvPr id="10" name="Rectangle 9"/>
            <p:cNvSpPr/>
            <p:nvPr/>
          </p:nvSpPr>
          <p:spPr>
            <a:xfrm>
              <a:off x="7873" y="-19258"/>
              <a:ext cx="12188952" cy="6858000"/>
            </a:xfrm>
            <a:prstGeom prst="rect">
              <a:avLst/>
            </a:prstGeom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7400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9" name="Group 8"/>
            <p:cNvGrpSpPr/>
            <p:nvPr/>
          </p:nvGrpSpPr>
          <p:grpSpPr>
            <a:xfrm>
              <a:off x="7999" y="6472513"/>
              <a:ext cx="12188827" cy="377952"/>
              <a:chOff x="-1" y="6480048"/>
              <a:chExt cx="12188827" cy="377952"/>
            </a:xfrm>
          </p:grpSpPr>
          <p:sp>
            <p:nvSpPr>
              <p:cNvPr id="7" name="Rectangle 6"/>
              <p:cNvSpPr/>
              <p:nvPr/>
            </p:nvSpPr>
            <p:spPr>
              <a:xfrm>
                <a:off x="0" y="6583680"/>
                <a:ext cx="12188826" cy="274320"/>
              </a:xfrm>
              <a:prstGeom prst="rect">
                <a:avLst/>
              </a:prstGeom>
              <a:gradFill flip="none" rotWithShape="1">
                <a:gsLst>
                  <a:gs pos="100000">
                    <a:schemeClr val="accent1">
                      <a:alpha val="50000"/>
                    </a:schemeClr>
                  </a:gs>
                  <a:gs pos="0">
                    <a:schemeClr val="accent1">
                      <a:lumMod val="60000"/>
                      <a:lumOff val="40000"/>
                      <a:alpha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/>
              </a:p>
            </p:txBody>
          </p:sp>
          <p:sp>
            <p:nvSpPr>
              <p:cNvPr id="8" name="Rectangle 7"/>
              <p:cNvSpPr/>
              <p:nvPr/>
            </p:nvSpPr>
            <p:spPr>
              <a:xfrm>
                <a:off x="-1" y="6480048"/>
                <a:ext cx="12188826" cy="73152"/>
              </a:xfrm>
              <a:prstGeom prst="rect">
                <a:avLst/>
              </a:prstGeom>
              <a:gradFill flip="none" rotWithShape="1">
                <a:gsLst>
                  <a:gs pos="100000">
                    <a:schemeClr val="accent1">
                      <a:alpha val="80000"/>
                    </a:schemeClr>
                  </a:gs>
                  <a:gs pos="0">
                    <a:schemeClr val="accent1">
                      <a:lumMod val="60000"/>
                      <a:lumOff val="40000"/>
                      <a:alpha val="8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/>
              </a:p>
            </p:txBody>
          </p:sp>
        </p:grpSp>
        <p:grpSp>
          <p:nvGrpSpPr>
            <p:cNvPr id="48" name="Group 47" hidden="1"/>
            <p:cNvGrpSpPr/>
            <p:nvPr/>
          </p:nvGrpSpPr>
          <p:grpSpPr>
            <a:xfrm>
              <a:off x="14350" y="-7605"/>
              <a:ext cx="11722100" cy="6536383"/>
              <a:chOff x="6350" y="6350"/>
              <a:chExt cx="11722100" cy="6536383"/>
            </a:xfrm>
          </p:grpSpPr>
          <p:grpSp>
            <p:nvGrpSpPr>
              <p:cNvPr id="11" name="Group 9"/>
              <p:cNvGrpSpPr>
                <a:grpSpLocks/>
              </p:cNvGrpSpPr>
              <p:nvPr/>
            </p:nvGrpSpPr>
            <p:grpSpPr bwMode="auto">
              <a:xfrm>
                <a:off x="6350" y="5340350"/>
                <a:ext cx="673100" cy="673100"/>
                <a:chOff x="4" y="3364"/>
                <a:chExt cx="424" cy="424"/>
              </a:xfrm>
            </p:grpSpPr>
            <p:sp>
              <p:nvSpPr>
                <p:cNvPr id="45" name="Oval 7"/>
                <p:cNvSpPr>
                  <a:spLocks noChangeArrowheads="1"/>
                </p:cNvSpPr>
                <p:nvPr/>
              </p:nvSpPr>
              <p:spPr bwMode="grayWhite">
                <a:xfrm>
                  <a:off x="4" y="3364"/>
                  <a:ext cx="424" cy="424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6" name="Oval 8"/>
                <p:cNvSpPr>
                  <a:spLocks noChangeArrowheads="1"/>
                </p:cNvSpPr>
                <p:nvPr/>
              </p:nvSpPr>
              <p:spPr bwMode="grayWhite">
                <a:xfrm>
                  <a:off x="100" y="3460"/>
                  <a:ext cx="63" cy="63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2" name="Group 12"/>
              <p:cNvGrpSpPr>
                <a:grpSpLocks/>
              </p:cNvGrpSpPr>
              <p:nvPr/>
            </p:nvGrpSpPr>
            <p:grpSpPr bwMode="auto">
              <a:xfrm>
                <a:off x="539750" y="5873750"/>
                <a:ext cx="292100" cy="292100"/>
                <a:chOff x="340" y="3700"/>
                <a:chExt cx="184" cy="184"/>
              </a:xfrm>
            </p:grpSpPr>
            <p:sp>
              <p:nvSpPr>
                <p:cNvPr id="43" name="Oval 10"/>
                <p:cNvSpPr>
                  <a:spLocks noChangeArrowheads="1"/>
                </p:cNvSpPr>
                <p:nvPr/>
              </p:nvSpPr>
              <p:spPr bwMode="grayWhite">
                <a:xfrm>
                  <a:off x="340" y="3700"/>
                  <a:ext cx="184" cy="184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" name="Oval 11"/>
                <p:cNvSpPr>
                  <a:spLocks noChangeArrowheads="1"/>
                </p:cNvSpPr>
                <p:nvPr/>
              </p:nvSpPr>
              <p:spPr bwMode="grayWhite">
                <a:xfrm>
                  <a:off x="382" y="3742"/>
                  <a:ext cx="24" cy="24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3" name="Group 15"/>
              <p:cNvGrpSpPr>
                <a:grpSpLocks/>
              </p:cNvGrpSpPr>
              <p:nvPr/>
            </p:nvGrpSpPr>
            <p:grpSpPr bwMode="auto">
              <a:xfrm>
                <a:off x="131763" y="6038850"/>
                <a:ext cx="444500" cy="444500"/>
                <a:chOff x="83" y="3804"/>
                <a:chExt cx="280" cy="280"/>
              </a:xfrm>
            </p:grpSpPr>
            <p:sp>
              <p:nvSpPr>
                <p:cNvPr id="41" name="Oval 13"/>
                <p:cNvSpPr>
                  <a:spLocks noChangeArrowheads="1"/>
                </p:cNvSpPr>
                <p:nvPr/>
              </p:nvSpPr>
              <p:spPr bwMode="grayWhite">
                <a:xfrm>
                  <a:off x="83" y="3804"/>
                  <a:ext cx="280" cy="28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2" name="Oval 14"/>
                <p:cNvSpPr>
                  <a:spLocks noChangeArrowheads="1"/>
                </p:cNvSpPr>
                <p:nvPr/>
              </p:nvSpPr>
              <p:spPr bwMode="grayWhite">
                <a:xfrm>
                  <a:off x="147" y="3868"/>
                  <a:ext cx="39" cy="39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4" name="Group 18"/>
              <p:cNvGrpSpPr>
                <a:grpSpLocks/>
              </p:cNvGrpSpPr>
              <p:nvPr/>
            </p:nvGrpSpPr>
            <p:grpSpPr bwMode="auto">
              <a:xfrm>
                <a:off x="2476500" y="6174433"/>
                <a:ext cx="368300" cy="368300"/>
                <a:chOff x="1560" y="4076"/>
                <a:chExt cx="232" cy="232"/>
              </a:xfrm>
            </p:grpSpPr>
            <p:sp>
              <p:nvSpPr>
                <p:cNvPr id="39" name="Oval 16"/>
                <p:cNvSpPr>
                  <a:spLocks noChangeArrowheads="1"/>
                </p:cNvSpPr>
                <p:nvPr/>
              </p:nvSpPr>
              <p:spPr bwMode="grayWhite">
                <a:xfrm>
                  <a:off x="1560" y="4076"/>
                  <a:ext cx="232" cy="232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0" name="Oval 17"/>
                <p:cNvSpPr>
                  <a:spLocks noChangeArrowheads="1"/>
                </p:cNvSpPr>
                <p:nvPr/>
              </p:nvSpPr>
              <p:spPr bwMode="grayWhite">
                <a:xfrm>
                  <a:off x="1613" y="4129"/>
                  <a:ext cx="32" cy="32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5" name="Group 21"/>
              <p:cNvGrpSpPr>
                <a:grpSpLocks/>
              </p:cNvGrpSpPr>
              <p:nvPr/>
            </p:nvGrpSpPr>
            <p:grpSpPr bwMode="auto">
              <a:xfrm>
                <a:off x="6350" y="4425950"/>
                <a:ext cx="368300" cy="368300"/>
                <a:chOff x="4" y="2788"/>
                <a:chExt cx="232" cy="232"/>
              </a:xfrm>
            </p:grpSpPr>
            <p:sp>
              <p:nvSpPr>
                <p:cNvPr id="37" name="Oval 19"/>
                <p:cNvSpPr>
                  <a:spLocks noChangeArrowheads="1"/>
                </p:cNvSpPr>
                <p:nvPr/>
              </p:nvSpPr>
              <p:spPr bwMode="grayWhite">
                <a:xfrm>
                  <a:off x="4" y="2788"/>
                  <a:ext cx="232" cy="232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" name="Oval 20"/>
                <p:cNvSpPr>
                  <a:spLocks noChangeArrowheads="1"/>
                </p:cNvSpPr>
                <p:nvPr/>
              </p:nvSpPr>
              <p:spPr bwMode="grayWhite">
                <a:xfrm>
                  <a:off x="57" y="2841"/>
                  <a:ext cx="32" cy="32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6" name="Group 24"/>
              <p:cNvGrpSpPr>
                <a:grpSpLocks/>
              </p:cNvGrpSpPr>
              <p:nvPr/>
            </p:nvGrpSpPr>
            <p:grpSpPr bwMode="auto">
              <a:xfrm>
                <a:off x="10674350" y="5808663"/>
                <a:ext cx="673100" cy="673100"/>
                <a:chOff x="4132" y="3844"/>
                <a:chExt cx="424" cy="424"/>
              </a:xfrm>
            </p:grpSpPr>
            <p:sp>
              <p:nvSpPr>
                <p:cNvPr id="35" name="Oval 22"/>
                <p:cNvSpPr>
                  <a:spLocks noChangeArrowheads="1"/>
                </p:cNvSpPr>
                <p:nvPr/>
              </p:nvSpPr>
              <p:spPr bwMode="grayWhite">
                <a:xfrm>
                  <a:off x="4132" y="3844"/>
                  <a:ext cx="424" cy="424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6" name="Oval 23"/>
                <p:cNvSpPr>
                  <a:spLocks noChangeArrowheads="1"/>
                </p:cNvSpPr>
                <p:nvPr/>
              </p:nvSpPr>
              <p:spPr bwMode="grayWhite">
                <a:xfrm>
                  <a:off x="4228" y="3940"/>
                  <a:ext cx="63" cy="63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7" name="Group 27"/>
              <p:cNvGrpSpPr>
                <a:grpSpLocks/>
              </p:cNvGrpSpPr>
              <p:nvPr/>
            </p:nvGrpSpPr>
            <p:grpSpPr bwMode="auto">
              <a:xfrm>
                <a:off x="10293350" y="6113463"/>
                <a:ext cx="368300" cy="368300"/>
                <a:chOff x="3892" y="4036"/>
                <a:chExt cx="232" cy="232"/>
              </a:xfrm>
            </p:grpSpPr>
            <p:sp>
              <p:nvSpPr>
                <p:cNvPr id="33" name="Oval 25"/>
                <p:cNvSpPr>
                  <a:spLocks noChangeArrowheads="1"/>
                </p:cNvSpPr>
                <p:nvPr/>
              </p:nvSpPr>
              <p:spPr bwMode="grayWhite">
                <a:xfrm>
                  <a:off x="3892" y="4036"/>
                  <a:ext cx="232" cy="232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" name="Oval 26"/>
                <p:cNvSpPr>
                  <a:spLocks noChangeArrowheads="1"/>
                </p:cNvSpPr>
                <p:nvPr/>
              </p:nvSpPr>
              <p:spPr bwMode="grayWhite">
                <a:xfrm>
                  <a:off x="3945" y="4089"/>
                  <a:ext cx="32" cy="32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8" name="Group 30"/>
              <p:cNvGrpSpPr>
                <a:grpSpLocks/>
              </p:cNvGrpSpPr>
              <p:nvPr/>
            </p:nvGrpSpPr>
            <p:grpSpPr bwMode="auto">
              <a:xfrm>
                <a:off x="11360150" y="5808663"/>
                <a:ext cx="368300" cy="368300"/>
                <a:chOff x="4564" y="3844"/>
                <a:chExt cx="232" cy="232"/>
              </a:xfrm>
            </p:grpSpPr>
            <p:sp>
              <p:nvSpPr>
                <p:cNvPr id="31" name="Oval 28"/>
                <p:cNvSpPr>
                  <a:spLocks noChangeArrowheads="1"/>
                </p:cNvSpPr>
                <p:nvPr/>
              </p:nvSpPr>
              <p:spPr bwMode="grayWhite">
                <a:xfrm>
                  <a:off x="4564" y="3844"/>
                  <a:ext cx="232" cy="232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2" name="Oval 29"/>
                <p:cNvSpPr>
                  <a:spLocks noChangeArrowheads="1"/>
                </p:cNvSpPr>
                <p:nvPr/>
              </p:nvSpPr>
              <p:spPr bwMode="grayWhite">
                <a:xfrm>
                  <a:off x="4617" y="3897"/>
                  <a:ext cx="32" cy="32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9" name="Group 33"/>
              <p:cNvGrpSpPr>
                <a:grpSpLocks/>
              </p:cNvGrpSpPr>
              <p:nvPr/>
            </p:nvGrpSpPr>
            <p:grpSpPr bwMode="auto">
              <a:xfrm>
                <a:off x="11087100" y="1901952"/>
                <a:ext cx="520700" cy="520700"/>
                <a:chOff x="5420" y="1139"/>
                <a:chExt cx="328" cy="328"/>
              </a:xfrm>
            </p:grpSpPr>
            <p:sp>
              <p:nvSpPr>
                <p:cNvPr id="29" name="Oval 31"/>
                <p:cNvSpPr>
                  <a:spLocks noChangeArrowheads="1"/>
                </p:cNvSpPr>
                <p:nvPr/>
              </p:nvSpPr>
              <p:spPr bwMode="grayWhite">
                <a:xfrm>
                  <a:off x="5420" y="1139"/>
                  <a:ext cx="328" cy="328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0" name="Oval 32"/>
                <p:cNvSpPr>
                  <a:spLocks noChangeArrowheads="1"/>
                </p:cNvSpPr>
                <p:nvPr/>
              </p:nvSpPr>
              <p:spPr bwMode="grayWhite">
                <a:xfrm>
                  <a:off x="5495" y="1214"/>
                  <a:ext cx="47" cy="47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0" name="Group 36"/>
              <p:cNvGrpSpPr>
                <a:grpSpLocks/>
              </p:cNvGrpSpPr>
              <p:nvPr/>
            </p:nvGrpSpPr>
            <p:grpSpPr bwMode="auto">
              <a:xfrm>
                <a:off x="11176000" y="2614739"/>
                <a:ext cx="215900" cy="215900"/>
                <a:chOff x="5476" y="1588"/>
                <a:chExt cx="136" cy="136"/>
              </a:xfrm>
            </p:grpSpPr>
            <p:sp>
              <p:nvSpPr>
                <p:cNvPr id="27" name="Oval 34"/>
                <p:cNvSpPr>
                  <a:spLocks noChangeArrowheads="1"/>
                </p:cNvSpPr>
                <p:nvPr/>
              </p:nvSpPr>
              <p:spPr bwMode="grayWhite">
                <a:xfrm>
                  <a:off x="5476" y="1588"/>
                  <a:ext cx="136" cy="136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8" name="Oval 35"/>
                <p:cNvSpPr>
                  <a:spLocks noChangeArrowheads="1"/>
                </p:cNvSpPr>
                <p:nvPr/>
              </p:nvSpPr>
              <p:spPr bwMode="grayWhite">
                <a:xfrm>
                  <a:off x="5508" y="1620"/>
                  <a:ext cx="16" cy="16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1" name="Group 39"/>
              <p:cNvGrpSpPr>
                <a:grpSpLocks/>
              </p:cNvGrpSpPr>
              <p:nvPr/>
            </p:nvGrpSpPr>
            <p:grpSpPr bwMode="auto">
              <a:xfrm>
                <a:off x="1377950" y="6350"/>
                <a:ext cx="520700" cy="520700"/>
                <a:chOff x="868" y="4"/>
                <a:chExt cx="328" cy="328"/>
              </a:xfrm>
            </p:grpSpPr>
            <p:sp>
              <p:nvSpPr>
                <p:cNvPr id="25" name="Oval 37"/>
                <p:cNvSpPr>
                  <a:spLocks noChangeArrowheads="1"/>
                </p:cNvSpPr>
                <p:nvPr/>
              </p:nvSpPr>
              <p:spPr bwMode="grayWhite">
                <a:xfrm>
                  <a:off x="868" y="4"/>
                  <a:ext cx="328" cy="328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6" name="Oval 38"/>
                <p:cNvSpPr>
                  <a:spLocks noChangeArrowheads="1"/>
                </p:cNvSpPr>
                <p:nvPr/>
              </p:nvSpPr>
              <p:spPr bwMode="grayWhite">
                <a:xfrm>
                  <a:off x="942" y="78"/>
                  <a:ext cx="48" cy="48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2" name="Group 42"/>
              <p:cNvGrpSpPr>
                <a:grpSpLocks/>
              </p:cNvGrpSpPr>
              <p:nvPr/>
            </p:nvGrpSpPr>
            <p:grpSpPr bwMode="auto">
              <a:xfrm>
                <a:off x="1911350" y="158750"/>
                <a:ext cx="368300" cy="368300"/>
                <a:chOff x="1204" y="100"/>
                <a:chExt cx="232" cy="232"/>
              </a:xfrm>
            </p:grpSpPr>
            <p:sp>
              <p:nvSpPr>
                <p:cNvPr id="23" name="Oval 40"/>
                <p:cNvSpPr>
                  <a:spLocks noChangeArrowheads="1"/>
                </p:cNvSpPr>
                <p:nvPr/>
              </p:nvSpPr>
              <p:spPr bwMode="grayWhite">
                <a:xfrm>
                  <a:off x="1204" y="100"/>
                  <a:ext cx="232" cy="232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4" name="Oval 41"/>
                <p:cNvSpPr>
                  <a:spLocks noChangeArrowheads="1"/>
                </p:cNvSpPr>
                <p:nvPr/>
              </p:nvSpPr>
              <p:spPr bwMode="grayWhite">
                <a:xfrm>
                  <a:off x="1257" y="153"/>
                  <a:ext cx="32" cy="32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162" name="Group 161"/>
            <p:cNvGrpSpPr/>
            <p:nvPr/>
          </p:nvGrpSpPr>
          <p:grpSpPr>
            <a:xfrm>
              <a:off x="14350" y="-7605"/>
              <a:ext cx="11722100" cy="6536383"/>
              <a:chOff x="14350" y="-7605"/>
              <a:chExt cx="11722100" cy="6536383"/>
            </a:xfrm>
          </p:grpSpPr>
          <p:grpSp>
            <p:nvGrpSpPr>
              <p:cNvPr id="86" name="Group 85"/>
              <p:cNvGrpSpPr/>
              <p:nvPr/>
            </p:nvGrpSpPr>
            <p:grpSpPr>
              <a:xfrm>
                <a:off x="14350" y="5326395"/>
                <a:ext cx="673100" cy="673100"/>
                <a:chOff x="14350" y="5326395"/>
                <a:chExt cx="673100" cy="673100"/>
              </a:xfrm>
            </p:grpSpPr>
            <p:sp>
              <p:nvSpPr>
                <p:cNvPr id="83" name="Oval 7"/>
                <p:cNvSpPr>
                  <a:spLocks noChangeArrowheads="1"/>
                </p:cNvSpPr>
                <p:nvPr/>
              </p:nvSpPr>
              <p:spPr bwMode="grayWhite">
                <a:xfrm>
                  <a:off x="14350" y="5326395"/>
                  <a:ext cx="673100" cy="6731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4" name="Oval 8"/>
                <p:cNvSpPr>
                  <a:spLocks noChangeArrowheads="1"/>
                </p:cNvSpPr>
                <p:nvPr/>
              </p:nvSpPr>
              <p:spPr bwMode="grayWhite">
                <a:xfrm>
                  <a:off x="166750" y="5478795"/>
                  <a:ext cx="100013" cy="100013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87" name="Group 86"/>
              <p:cNvGrpSpPr/>
              <p:nvPr/>
            </p:nvGrpSpPr>
            <p:grpSpPr>
              <a:xfrm>
                <a:off x="547750" y="5859795"/>
                <a:ext cx="292100" cy="292100"/>
                <a:chOff x="547750" y="5859795"/>
                <a:chExt cx="292100" cy="292100"/>
              </a:xfrm>
            </p:grpSpPr>
            <p:sp>
              <p:nvSpPr>
                <p:cNvPr id="81" name="Oval 10"/>
                <p:cNvSpPr>
                  <a:spLocks noChangeArrowheads="1"/>
                </p:cNvSpPr>
                <p:nvPr/>
              </p:nvSpPr>
              <p:spPr bwMode="grayWhite">
                <a:xfrm>
                  <a:off x="547750" y="5859795"/>
                  <a:ext cx="292100" cy="2921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" name="Oval 11"/>
                <p:cNvSpPr>
                  <a:spLocks noChangeArrowheads="1"/>
                </p:cNvSpPr>
                <p:nvPr/>
              </p:nvSpPr>
              <p:spPr bwMode="grayWhite">
                <a:xfrm>
                  <a:off x="614425" y="5926470"/>
                  <a:ext cx="38100" cy="381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88" name="Group 87"/>
              <p:cNvGrpSpPr/>
              <p:nvPr/>
            </p:nvGrpSpPr>
            <p:grpSpPr>
              <a:xfrm>
                <a:off x="139763" y="6024895"/>
                <a:ext cx="444500" cy="444500"/>
                <a:chOff x="139763" y="6024895"/>
                <a:chExt cx="444500" cy="444500"/>
              </a:xfrm>
            </p:grpSpPr>
            <p:sp>
              <p:nvSpPr>
                <p:cNvPr id="79" name="Oval 13"/>
                <p:cNvSpPr>
                  <a:spLocks noChangeArrowheads="1"/>
                </p:cNvSpPr>
                <p:nvPr/>
              </p:nvSpPr>
              <p:spPr bwMode="grayWhite">
                <a:xfrm>
                  <a:off x="139763" y="6024895"/>
                  <a:ext cx="444500" cy="4445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0" name="Oval 14"/>
                <p:cNvSpPr>
                  <a:spLocks noChangeArrowheads="1"/>
                </p:cNvSpPr>
                <p:nvPr/>
              </p:nvSpPr>
              <p:spPr bwMode="grayWhite">
                <a:xfrm>
                  <a:off x="241363" y="6126495"/>
                  <a:ext cx="61913" cy="61913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89" name="Group 88"/>
              <p:cNvGrpSpPr/>
              <p:nvPr/>
            </p:nvGrpSpPr>
            <p:grpSpPr>
              <a:xfrm>
                <a:off x="2484500" y="6160478"/>
                <a:ext cx="368300" cy="368300"/>
                <a:chOff x="2484500" y="6160478"/>
                <a:chExt cx="368300" cy="368300"/>
              </a:xfrm>
            </p:grpSpPr>
            <p:sp>
              <p:nvSpPr>
                <p:cNvPr id="77" name="Oval 16"/>
                <p:cNvSpPr>
                  <a:spLocks noChangeArrowheads="1"/>
                </p:cNvSpPr>
                <p:nvPr/>
              </p:nvSpPr>
              <p:spPr bwMode="grayWhite">
                <a:xfrm>
                  <a:off x="2484500" y="6160478"/>
                  <a:ext cx="368300" cy="3683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8" name="Oval 17"/>
                <p:cNvSpPr>
                  <a:spLocks noChangeArrowheads="1"/>
                </p:cNvSpPr>
                <p:nvPr/>
              </p:nvSpPr>
              <p:spPr bwMode="grayWhite">
                <a:xfrm>
                  <a:off x="2568638" y="6244616"/>
                  <a:ext cx="50800" cy="508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0" name="Group 89"/>
              <p:cNvGrpSpPr/>
              <p:nvPr/>
            </p:nvGrpSpPr>
            <p:grpSpPr>
              <a:xfrm>
                <a:off x="14350" y="4411995"/>
                <a:ext cx="368300" cy="368300"/>
                <a:chOff x="14350" y="4411995"/>
                <a:chExt cx="368300" cy="368300"/>
              </a:xfrm>
            </p:grpSpPr>
            <p:sp>
              <p:nvSpPr>
                <p:cNvPr id="75" name="Oval 19"/>
                <p:cNvSpPr>
                  <a:spLocks noChangeArrowheads="1"/>
                </p:cNvSpPr>
                <p:nvPr/>
              </p:nvSpPr>
              <p:spPr bwMode="grayWhite">
                <a:xfrm>
                  <a:off x="14350" y="4411995"/>
                  <a:ext cx="368300" cy="3683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6" name="Oval 20"/>
                <p:cNvSpPr>
                  <a:spLocks noChangeArrowheads="1"/>
                </p:cNvSpPr>
                <p:nvPr/>
              </p:nvSpPr>
              <p:spPr bwMode="grayWhite">
                <a:xfrm>
                  <a:off x="98488" y="4496133"/>
                  <a:ext cx="50800" cy="508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1" name="Group 90"/>
              <p:cNvGrpSpPr/>
              <p:nvPr/>
            </p:nvGrpSpPr>
            <p:grpSpPr>
              <a:xfrm>
                <a:off x="10682350" y="5794708"/>
                <a:ext cx="673100" cy="673100"/>
                <a:chOff x="10682350" y="5794708"/>
                <a:chExt cx="673100" cy="673100"/>
              </a:xfrm>
            </p:grpSpPr>
            <p:sp>
              <p:nvSpPr>
                <p:cNvPr id="73" name="Oval 22"/>
                <p:cNvSpPr>
                  <a:spLocks noChangeArrowheads="1"/>
                </p:cNvSpPr>
                <p:nvPr/>
              </p:nvSpPr>
              <p:spPr bwMode="grayWhite">
                <a:xfrm>
                  <a:off x="10682350" y="5794708"/>
                  <a:ext cx="673100" cy="6731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4" name="Oval 23"/>
                <p:cNvSpPr>
                  <a:spLocks noChangeArrowheads="1"/>
                </p:cNvSpPr>
                <p:nvPr/>
              </p:nvSpPr>
              <p:spPr bwMode="grayWhite">
                <a:xfrm>
                  <a:off x="10834750" y="5947108"/>
                  <a:ext cx="100013" cy="100013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2" name="Group 91"/>
              <p:cNvGrpSpPr/>
              <p:nvPr/>
            </p:nvGrpSpPr>
            <p:grpSpPr>
              <a:xfrm>
                <a:off x="10301350" y="6099508"/>
                <a:ext cx="368300" cy="368300"/>
                <a:chOff x="10301350" y="6099508"/>
                <a:chExt cx="368300" cy="368300"/>
              </a:xfrm>
            </p:grpSpPr>
            <p:sp>
              <p:nvSpPr>
                <p:cNvPr id="71" name="Oval 25"/>
                <p:cNvSpPr>
                  <a:spLocks noChangeArrowheads="1"/>
                </p:cNvSpPr>
                <p:nvPr/>
              </p:nvSpPr>
              <p:spPr bwMode="grayWhite">
                <a:xfrm>
                  <a:off x="10301350" y="6099508"/>
                  <a:ext cx="368300" cy="3683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2" name="Oval 26"/>
                <p:cNvSpPr>
                  <a:spLocks noChangeArrowheads="1"/>
                </p:cNvSpPr>
                <p:nvPr/>
              </p:nvSpPr>
              <p:spPr bwMode="grayWhite">
                <a:xfrm>
                  <a:off x="10385488" y="6183646"/>
                  <a:ext cx="50800" cy="508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3" name="Group 92"/>
              <p:cNvGrpSpPr/>
              <p:nvPr/>
            </p:nvGrpSpPr>
            <p:grpSpPr>
              <a:xfrm>
                <a:off x="11368150" y="5794708"/>
                <a:ext cx="368300" cy="368300"/>
                <a:chOff x="11368150" y="5794708"/>
                <a:chExt cx="368300" cy="368300"/>
              </a:xfrm>
            </p:grpSpPr>
            <p:sp>
              <p:nvSpPr>
                <p:cNvPr id="69" name="Oval 28"/>
                <p:cNvSpPr>
                  <a:spLocks noChangeArrowheads="1"/>
                </p:cNvSpPr>
                <p:nvPr/>
              </p:nvSpPr>
              <p:spPr bwMode="grayWhite">
                <a:xfrm>
                  <a:off x="11368150" y="5794708"/>
                  <a:ext cx="368300" cy="3683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0" name="Oval 29"/>
                <p:cNvSpPr>
                  <a:spLocks noChangeArrowheads="1"/>
                </p:cNvSpPr>
                <p:nvPr/>
              </p:nvSpPr>
              <p:spPr bwMode="grayWhite">
                <a:xfrm>
                  <a:off x="11452288" y="5878846"/>
                  <a:ext cx="50800" cy="508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4" name="Group 93"/>
              <p:cNvGrpSpPr/>
              <p:nvPr/>
            </p:nvGrpSpPr>
            <p:grpSpPr>
              <a:xfrm>
                <a:off x="11095100" y="1887997"/>
                <a:ext cx="520700" cy="520700"/>
                <a:chOff x="11095100" y="1887997"/>
                <a:chExt cx="520700" cy="520700"/>
              </a:xfrm>
            </p:grpSpPr>
            <p:sp>
              <p:nvSpPr>
                <p:cNvPr id="67" name="Oval 31"/>
                <p:cNvSpPr>
                  <a:spLocks noChangeArrowheads="1"/>
                </p:cNvSpPr>
                <p:nvPr/>
              </p:nvSpPr>
              <p:spPr bwMode="grayWhite">
                <a:xfrm>
                  <a:off x="11095100" y="1887997"/>
                  <a:ext cx="520700" cy="5207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8" name="Oval 32"/>
                <p:cNvSpPr>
                  <a:spLocks noChangeArrowheads="1"/>
                </p:cNvSpPr>
                <p:nvPr/>
              </p:nvSpPr>
              <p:spPr bwMode="grayWhite">
                <a:xfrm>
                  <a:off x="11214163" y="2007060"/>
                  <a:ext cx="74613" cy="74613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5" name="Group 94"/>
              <p:cNvGrpSpPr/>
              <p:nvPr/>
            </p:nvGrpSpPr>
            <p:grpSpPr>
              <a:xfrm>
                <a:off x="11184000" y="2600784"/>
                <a:ext cx="215900" cy="215900"/>
                <a:chOff x="11184000" y="2600784"/>
                <a:chExt cx="215900" cy="215900"/>
              </a:xfrm>
            </p:grpSpPr>
            <p:sp>
              <p:nvSpPr>
                <p:cNvPr id="65" name="Oval 34"/>
                <p:cNvSpPr>
                  <a:spLocks noChangeArrowheads="1"/>
                </p:cNvSpPr>
                <p:nvPr/>
              </p:nvSpPr>
              <p:spPr bwMode="grayWhite">
                <a:xfrm>
                  <a:off x="11184000" y="2600784"/>
                  <a:ext cx="215900" cy="2159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6" name="Oval 35"/>
                <p:cNvSpPr>
                  <a:spLocks noChangeArrowheads="1"/>
                </p:cNvSpPr>
                <p:nvPr/>
              </p:nvSpPr>
              <p:spPr bwMode="grayWhite">
                <a:xfrm>
                  <a:off x="11234800" y="2651584"/>
                  <a:ext cx="25400" cy="254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60" name="Group 159"/>
              <p:cNvGrpSpPr/>
              <p:nvPr/>
            </p:nvGrpSpPr>
            <p:grpSpPr>
              <a:xfrm>
                <a:off x="1385950" y="-7605"/>
                <a:ext cx="520700" cy="520700"/>
                <a:chOff x="1385950" y="-7605"/>
                <a:chExt cx="520700" cy="520700"/>
              </a:xfrm>
            </p:grpSpPr>
            <p:sp>
              <p:nvSpPr>
                <p:cNvPr id="63" name="Oval 37"/>
                <p:cNvSpPr>
                  <a:spLocks noChangeArrowheads="1"/>
                </p:cNvSpPr>
                <p:nvPr/>
              </p:nvSpPr>
              <p:spPr bwMode="grayWhite">
                <a:xfrm>
                  <a:off x="1385950" y="-7605"/>
                  <a:ext cx="520700" cy="5207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4" name="Oval 38"/>
                <p:cNvSpPr>
                  <a:spLocks noChangeArrowheads="1"/>
                </p:cNvSpPr>
                <p:nvPr/>
              </p:nvSpPr>
              <p:spPr bwMode="grayWhite">
                <a:xfrm>
                  <a:off x="1503425" y="109870"/>
                  <a:ext cx="76200" cy="762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61" name="Group 160"/>
              <p:cNvGrpSpPr/>
              <p:nvPr/>
            </p:nvGrpSpPr>
            <p:grpSpPr>
              <a:xfrm>
                <a:off x="1919350" y="144795"/>
                <a:ext cx="368300" cy="368300"/>
                <a:chOff x="1919350" y="144795"/>
                <a:chExt cx="368300" cy="368300"/>
              </a:xfrm>
            </p:grpSpPr>
            <p:sp>
              <p:nvSpPr>
                <p:cNvPr id="61" name="Oval 40"/>
                <p:cNvSpPr>
                  <a:spLocks noChangeArrowheads="1"/>
                </p:cNvSpPr>
                <p:nvPr/>
              </p:nvSpPr>
              <p:spPr bwMode="grayWhite">
                <a:xfrm>
                  <a:off x="1919350" y="144795"/>
                  <a:ext cx="368300" cy="3683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" name="Oval 41"/>
                <p:cNvSpPr>
                  <a:spLocks noChangeArrowheads="1"/>
                </p:cNvSpPr>
                <p:nvPr/>
              </p:nvSpPr>
              <p:spPr bwMode="grayWhite">
                <a:xfrm>
                  <a:off x="2003488" y="228933"/>
                  <a:ext cx="50800" cy="508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41120" y="467360"/>
            <a:ext cx="9509760" cy="12334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1120" y="1901952"/>
            <a:ext cx="9509760" cy="41276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41120" y="6598763"/>
            <a:ext cx="7159752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75776" y="6598763"/>
            <a:ext cx="960120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513C09FF-A05A-44B7-B7F9-9715502B619B}" type="datetime1">
              <a:rPr lang="en-US" smtClean="0"/>
              <a:pPr/>
              <a:t>9/9/2018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10800" y="6598763"/>
            <a:ext cx="640080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FC749032-2A07-4AE8-BA90-74324CAE0C8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658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Char char="o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Char char="o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Char char="o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123444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Char char="o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Char char="o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187452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Char char="o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9456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Char char="o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5146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Char char="o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606040" indent="0" algn="l" defTabSz="914400" rtl="0" eaLnBrk="1" latinLnBrk="0" hangingPunct="1">
        <a:lnSpc>
          <a:spcPct val="90000"/>
        </a:lnSpc>
        <a:spcBef>
          <a:spcPts val="8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gi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1120" y="467359"/>
            <a:ext cx="9509760" cy="1629797"/>
          </a:xfrm>
        </p:spPr>
        <p:txBody>
          <a:bodyPr>
            <a:normAutofit fontScale="90000"/>
          </a:bodyPr>
          <a:lstStyle/>
          <a:p>
            <a:r>
              <a:rPr lang="en-AU" dirty="0" smtClean="0"/>
              <a:t>Complete your summary for last lesson by answering the EQ: </a:t>
            </a:r>
            <a:r>
              <a:rPr lang="en-US" sz="3600" dirty="0">
                <a:solidFill>
                  <a:srgbClr val="0070C0"/>
                </a:solidFill>
              </a:rPr>
              <a:t>How do I convert between fractions, decimals and </a:t>
            </a:r>
            <a:r>
              <a:rPr lang="en-US" sz="3600" dirty="0" smtClean="0">
                <a:solidFill>
                  <a:srgbClr val="0070C0"/>
                </a:solidFill>
              </a:rPr>
              <a:t>percentages?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799" y="2233749"/>
            <a:ext cx="10324011" cy="4428308"/>
          </a:xfrm>
        </p:spPr>
        <p:txBody>
          <a:bodyPr>
            <a:normAutofit/>
          </a:bodyPr>
          <a:lstStyle/>
          <a:p>
            <a:pPr marL="45720" indent="0">
              <a:lnSpc>
                <a:spcPct val="100000"/>
              </a:lnSpc>
              <a:buNone/>
            </a:pPr>
            <a:r>
              <a:rPr lang="en-AU" sz="3200" dirty="0" smtClean="0"/>
              <a:t>To convert a __________ into a __________ I need to divide the n___________ by the d_____________. </a:t>
            </a:r>
          </a:p>
          <a:p>
            <a:pPr marL="45720" indent="0">
              <a:lnSpc>
                <a:spcPct val="100000"/>
              </a:lnSpc>
              <a:buNone/>
            </a:pPr>
            <a:r>
              <a:rPr lang="en-AU" sz="3200" dirty="0" smtClean="0"/>
              <a:t>Then to convert the decimal into a _____________ I multiply it by _____. </a:t>
            </a:r>
          </a:p>
          <a:p>
            <a:pPr marL="45720" indent="0">
              <a:lnSpc>
                <a:spcPct val="100000"/>
              </a:lnSpc>
              <a:buNone/>
            </a:pPr>
            <a:r>
              <a:rPr lang="en-AU" sz="3200" dirty="0" smtClean="0"/>
              <a:t>Percentage means ______ of _____.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2025066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276927" y="2809484"/>
            <a:ext cx="9601200" cy="1845643"/>
          </a:xfrm>
        </p:spPr>
        <p:txBody>
          <a:bodyPr>
            <a:noAutofit/>
          </a:bodyPr>
          <a:lstStyle/>
          <a:p>
            <a:r>
              <a:rPr lang="en-US" sz="3600" dirty="0" smtClean="0"/>
              <a:t>Topic: Percentages</a:t>
            </a:r>
            <a:br>
              <a:rPr lang="en-US" sz="3600" dirty="0" smtClean="0"/>
            </a:br>
            <a:r>
              <a:rPr lang="en-US" sz="3600" dirty="0" smtClean="0"/>
              <a:t/>
            </a:r>
            <a:br>
              <a:rPr lang="en-US" sz="3600" dirty="0" smtClean="0"/>
            </a:br>
            <a:r>
              <a:rPr lang="en-US" sz="3600" dirty="0" smtClean="0"/>
              <a:t>EQ: How do I find the percentage of a number or quantity?</a:t>
            </a:r>
            <a:endParaRPr lang="en-US" sz="3600" dirty="0"/>
          </a:p>
        </p:txBody>
      </p:sp>
      <p:sp>
        <p:nvSpPr>
          <p:cNvPr id="3" name="Explosion 2 2"/>
          <p:cNvSpPr/>
          <p:nvPr/>
        </p:nvSpPr>
        <p:spPr>
          <a:xfrm rot="966878">
            <a:off x="8118763" y="-350983"/>
            <a:ext cx="4784437" cy="3103418"/>
          </a:xfrm>
          <a:prstGeom prst="irregularSeal2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b="1" dirty="0" smtClean="0"/>
              <a:t>Rule up for 3-column notes! </a:t>
            </a:r>
            <a:r>
              <a:rPr lang="en-AU" sz="2800" b="1" dirty="0" smtClean="0">
                <a:sym typeface="Wingdings" panose="05000000000000000000" pitchFamily="2" charset="2"/>
              </a:rPr>
              <a:t></a:t>
            </a:r>
            <a:endParaRPr lang="en-AU" sz="2800" b="1" dirty="0"/>
          </a:p>
        </p:txBody>
      </p:sp>
    </p:spTree>
    <p:extLst>
      <p:ext uri="{BB962C8B-B14F-4D97-AF65-F5344CB8AC3E}">
        <p14:creationId xmlns:p14="http://schemas.microsoft.com/office/powerpoint/2010/main" val="3998018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136996" y="347287"/>
            <a:ext cx="9918008" cy="1112058"/>
          </a:xfrm>
        </p:spPr>
        <p:txBody>
          <a:bodyPr>
            <a:no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Topic: </a:t>
            </a:r>
            <a:r>
              <a:rPr lang="en-US" sz="2400" dirty="0" smtClean="0">
                <a:solidFill>
                  <a:srgbClr val="0070C0"/>
                </a:solidFill>
              </a:rPr>
              <a:t>Percentages</a:t>
            </a:r>
            <a:r>
              <a:rPr lang="en-US" sz="2400" dirty="0">
                <a:solidFill>
                  <a:srgbClr val="0070C0"/>
                </a:solidFill>
              </a:rPr>
              <a:t/>
            </a:r>
            <a:br>
              <a:rPr lang="en-US" sz="2400" dirty="0">
                <a:solidFill>
                  <a:srgbClr val="0070C0"/>
                </a:solidFill>
              </a:rPr>
            </a:br>
            <a:r>
              <a:rPr lang="en-US" sz="2400" dirty="0">
                <a:solidFill>
                  <a:srgbClr val="0070C0"/>
                </a:solidFill>
              </a:rPr>
              <a:t>EQ: How do I find the percentage of a number or quantity?</a:t>
            </a:r>
            <a:endParaRPr lang="en-US" sz="2400" dirty="0">
              <a:solidFill>
                <a:srgbClr val="0070C0"/>
              </a:solidFill>
            </a:endParaRP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3223529" y="2382781"/>
            <a:ext cx="3906943" cy="1423139"/>
          </a:xfrm>
        </p:spPr>
        <p:txBody>
          <a:bodyPr/>
          <a:lstStyle/>
          <a:p>
            <a:pPr marL="45720" indent="0">
              <a:buNone/>
            </a:pPr>
            <a:r>
              <a:rPr lang="en-US" b="1" dirty="0" smtClean="0"/>
              <a:t>Being able to calculate percentages is an important life skill.</a:t>
            </a:r>
            <a:endParaRPr lang="en-US" b="1" dirty="0"/>
          </a:p>
        </p:txBody>
      </p:sp>
      <p:cxnSp>
        <p:nvCxnSpPr>
          <p:cNvPr id="3" name="Straight Connector 2"/>
          <p:cNvCxnSpPr/>
          <p:nvPr/>
        </p:nvCxnSpPr>
        <p:spPr>
          <a:xfrm>
            <a:off x="0" y="1560941"/>
            <a:ext cx="12192000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3038764" y="1570182"/>
            <a:ext cx="36945" cy="5287818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7375256" y="1574806"/>
            <a:ext cx="36945" cy="5287818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53999" y="2228893"/>
            <a:ext cx="2401455" cy="1323439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sz="2000" b="1" dirty="0" smtClean="0"/>
              <a:t>When is being able to calculate percentages useful?</a:t>
            </a:r>
            <a:endParaRPr lang="en-AU" sz="20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443345" y="1662538"/>
            <a:ext cx="2022764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dirty="0" smtClean="0"/>
              <a:t>Questions:</a:t>
            </a:r>
            <a:endParaRPr lang="en-AU" dirty="0"/>
          </a:p>
        </p:txBody>
      </p:sp>
      <p:sp>
        <p:nvSpPr>
          <p:cNvPr id="11" name="TextBox 10"/>
          <p:cNvSpPr txBox="1"/>
          <p:nvPr/>
        </p:nvSpPr>
        <p:spPr>
          <a:xfrm>
            <a:off x="4124056" y="1662538"/>
            <a:ext cx="2022764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dirty="0" smtClean="0"/>
              <a:t>Explanation:</a:t>
            </a:r>
            <a:endParaRPr lang="en-AU" dirty="0"/>
          </a:p>
        </p:txBody>
      </p:sp>
      <p:sp>
        <p:nvSpPr>
          <p:cNvPr id="12" name="TextBox 11"/>
          <p:cNvSpPr txBox="1"/>
          <p:nvPr/>
        </p:nvSpPr>
        <p:spPr>
          <a:xfrm>
            <a:off x="8362602" y="1662538"/>
            <a:ext cx="2022764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dirty="0" smtClean="0"/>
              <a:t>Examples:</a:t>
            </a:r>
            <a:endParaRPr lang="en-AU" dirty="0"/>
          </a:p>
        </p:txBody>
      </p:sp>
      <p:sp>
        <p:nvSpPr>
          <p:cNvPr id="9" name="TextBox 8"/>
          <p:cNvSpPr txBox="1"/>
          <p:nvPr/>
        </p:nvSpPr>
        <p:spPr>
          <a:xfrm>
            <a:off x="7978550" y="2228893"/>
            <a:ext cx="3148677" cy="2246769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000" b="1" dirty="0"/>
              <a:t>R</a:t>
            </a:r>
            <a:r>
              <a:rPr lang="en-AU" sz="2000" b="1" dirty="0" smtClean="0"/>
              <a:t>etail </a:t>
            </a:r>
            <a:r>
              <a:rPr lang="en-AU" sz="2000" b="1" dirty="0"/>
              <a:t>discounts, </a:t>
            </a:r>
            <a:endParaRPr lang="en-AU" sz="2000" b="1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000" b="1" dirty="0" smtClean="0"/>
              <a:t>Interest </a:t>
            </a:r>
            <a:r>
              <a:rPr lang="en-AU" sz="2000" b="1" dirty="0"/>
              <a:t>rates,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000" b="1" dirty="0" smtClean="0"/>
              <a:t>Personal </a:t>
            </a:r>
            <a:r>
              <a:rPr lang="en-AU" sz="2000" b="1" dirty="0"/>
              <a:t>improvements, </a:t>
            </a:r>
            <a:endParaRPr lang="en-AU" sz="2000" b="1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000" b="1" dirty="0" smtClean="0"/>
              <a:t>Salary </a:t>
            </a:r>
            <a:r>
              <a:rPr lang="en-AU" sz="2000" b="1" dirty="0"/>
              <a:t>increases,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000" b="1" dirty="0"/>
              <a:t>commission rates and more.</a:t>
            </a:r>
            <a:endParaRPr lang="en-AU" sz="2000" b="1" dirty="0"/>
          </a:p>
        </p:txBody>
      </p:sp>
      <p:sp>
        <p:nvSpPr>
          <p:cNvPr id="17" name="Cloud Callout 16"/>
          <p:cNvSpPr/>
          <p:nvPr/>
        </p:nvSpPr>
        <p:spPr>
          <a:xfrm>
            <a:off x="9243391" y="5019261"/>
            <a:ext cx="2773018" cy="1838739"/>
          </a:xfrm>
          <a:prstGeom prst="cloudCallout">
            <a:avLst>
              <a:gd name="adj1" fmla="val -15815"/>
              <a:gd name="adj2" fmla="val -87770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b="1" dirty="0" smtClean="0"/>
              <a:t>Can you think of any more?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30309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/>
      <p:bldP spid="9" grpId="0" animBg="1"/>
      <p:bldP spid="1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136996" y="347287"/>
            <a:ext cx="9918008" cy="1112058"/>
          </a:xfrm>
        </p:spPr>
        <p:txBody>
          <a:bodyPr>
            <a:no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Topic: </a:t>
            </a:r>
            <a:r>
              <a:rPr lang="en-US" sz="2400" dirty="0" smtClean="0">
                <a:solidFill>
                  <a:srgbClr val="0070C0"/>
                </a:solidFill>
              </a:rPr>
              <a:t>Percentages</a:t>
            </a:r>
            <a:r>
              <a:rPr lang="en-US" sz="2400" dirty="0">
                <a:solidFill>
                  <a:srgbClr val="0070C0"/>
                </a:solidFill>
              </a:rPr>
              <a:t/>
            </a:r>
            <a:br>
              <a:rPr lang="en-US" sz="2400" dirty="0">
                <a:solidFill>
                  <a:srgbClr val="0070C0"/>
                </a:solidFill>
              </a:rPr>
            </a:br>
            <a:r>
              <a:rPr lang="en-US" sz="2400" dirty="0">
                <a:solidFill>
                  <a:srgbClr val="0070C0"/>
                </a:solidFill>
              </a:rPr>
              <a:t>EQ: How do I find the percentage of a number or quantity?</a:t>
            </a:r>
            <a:endParaRPr lang="en-US" sz="2400" dirty="0">
              <a:solidFill>
                <a:srgbClr val="0070C0"/>
              </a:solidFill>
            </a:endParaRP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3223529" y="2382782"/>
            <a:ext cx="3906943" cy="1026340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en-US" b="1" dirty="0"/>
              <a:t>Finding 10% of a quantity is the same as dividing the quantity </a:t>
            </a:r>
            <a:r>
              <a:rPr lang="en-US" b="1" dirty="0" smtClean="0"/>
              <a:t>by 10</a:t>
            </a:r>
            <a:endParaRPr lang="en-US" b="1" dirty="0"/>
          </a:p>
        </p:txBody>
      </p:sp>
      <p:cxnSp>
        <p:nvCxnSpPr>
          <p:cNvPr id="3" name="Straight Connector 2"/>
          <p:cNvCxnSpPr/>
          <p:nvPr/>
        </p:nvCxnSpPr>
        <p:spPr>
          <a:xfrm>
            <a:off x="0" y="1560941"/>
            <a:ext cx="12192000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3038764" y="1570182"/>
            <a:ext cx="36945" cy="5287818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7375256" y="1574806"/>
            <a:ext cx="36945" cy="5287818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53999" y="2536669"/>
            <a:ext cx="2401455" cy="707886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sz="2000" b="1" dirty="0" smtClean="0"/>
              <a:t>How do I calculate 10%?</a:t>
            </a:r>
            <a:endParaRPr lang="en-AU" sz="20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443345" y="1662538"/>
            <a:ext cx="2022764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dirty="0" smtClean="0"/>
              <a:t>Questions:</a:t>
            </a:r>
            <a:endParaRPr lang="en-AU" dirty="0"/>
          </a:p>
        </p:txBody>
      </p:sp>
      <p:sp>
        <p:nvSpPr>
          <p:cNvPr id="11" name="TextBox 10"/>
          <p:cNvSpPr txBox="1"/>
          <p:nvPr/>
        </p:nvSpPr>
        <p:spPr>
          <a:xfrm>
            <a:off x="4124056" y="1662538"/>
            <a:ext cx="2022764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dirty="0" smtClean="0"/>
              <a:t>Explanation:</a:t>
            </a:r>
            <a:endParaRPr lang="en-AU" dirty="0"/>
          </a:p>
        </p:txBody>
      </p:sp>
      <p:sp>
        <p:nvSpPr>
          <p:cNvPr id="12" name="TextBox 11"/>
          <p:cNvSpPr txBox="1"/>
          <p:nvPr/>
        </p:nvSpPr>
        <p:spPr>
          <a:xfrm>
            <a:off x="8362602" y="1662538"/>
            <a:ext cx="2022764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dirty="0" smtClean="0"/>
              <a:t>Examples:</a:t>
            </a:r>
            <a:endParaRPr lang="en-AU" dirty="0"/>
          </a:p>
        </p:txBody>
      </p:sp>
      <p:sp>
        <p:nvSpPr>
          <p:cNvPr id="9" name="TextBox 8"/>
          <p:cNvSpPr txBox="1"/>
          <p:nvPr/>
        </p:nvSpPr>
        <p:spPr>
          <a:xfrm>
            <a:off x="7769828" y="2382781"/>
            <a:ext cx="3839076" cy="707886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sz="2000" b="1" dirty="0" smtClean="0"/>
              <a:t>10% of 50 is 5</a:t>
            </a:r>
          </a:p>
          <a:p>
            <a:r>
              <a:rPr lang="en-AU" sz="2000" b="1" dirty="0" smtClean="0"/>
              <a:t>Which is the same as 50÷10</a:t>
            </a:r>
            <a:endParaRPr lang="en-AU" sz="2000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253998" y="3593530"/>
            <a:ext cx="2401455" cy="707886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sz="2000" b="1" dirty="0" smtClean="0"/>
              <a:t>How do I calculate 50%?</a:t>
            </a:r>
            <a:endParaRPr lang="en-AU" sz="2000" b="1" dirty="0"/>
          </a:p>
        </p:txBody>
      </p:sp>
      <p:sp>
        <p:nvSpPr>
          <p:cNvPr id="16" name="Content Placeholder 13"/>
          <p:cNvSpPr txBox="1">
            <a:spLocks/>
          </p:cNvSpPr>
          <p:nvPr/>
        </p:nvSpPr>
        <p:spPr>
          <a:xfrm>
            <a:off x="3223529" y="3593530"/>
            <a:ext cx="3906943" cy="10263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432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2">
                  <a:lumMod val="75000"/>
                </a:schemeClr>
              </a:buClr>
              <a:buSzPct val="80000"/>
              <a:buFont typeface="Courier New" panose="02070309020205020404" pitchFamily="49" charset="0"/>
              <a:buChar char="o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9436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>
                  <a:lumMod val="75000"/>
                </a:schemeClr>
              </a:buClr>
              <a:buSzPct val="80000"/>
              <a:buFont typeface="Courier New" panose="02070309020205020404" pitchFamily="49" charset="0"/>
              <a:buChar char="o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2">
                  <a:lumMod val="75000"/>
                </a:schemeClr>
              </a:buClr>
              <a:buSzPct val="80000"/>
              <a:buFont typeface="Courier New" panose="02070309020205020404" pitchFamily="49" charset="0"/>
              <a:buChar char="o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344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2">
                  <a:lumMod val="75000"/>
                </a:schemeClr>
              </a:buClr>
              <a:buSzPct val="80000"/>
              <a:buFont typeface="Courier New" panose="02070309020205020404" pitchFamily="49" charset="0"/>
              <a:buChar char="o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2">
                  <a:lumMod val="75000"/>
                </a:schemeClr>
              </a:buClr>
              <a:buSzPct val="80000"/>
              <a:buFont typeface="Courier New" panose="02070309020205020404" pitchFamily="49" charset="0"/>
              <a:buChar char="o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7452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2">
                  <a:lumMod val="75000"/>
                </a:schemeClr>
              </a:buClr>
              <a:buSzPct val="80000"/>
              <a:buFont typeface="Courier New" panose="02070309020205020404" pitchFamily="49" charset="0"/>
              <a:buChar char="o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9456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2">
                  <a:lumMod val="75000"/>
                </a:schemeClr>
              </a:buClr>
              <a:buSzPct val="80000"/>
              <a:buFont typeface="Courier New" panose="02070309020205020404" pitchFamily="49" charset="0"/>
              <a:buChar char="o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146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2">
                  <a:lumMod val="75000"/>
                </a:schemeClr>
              </a:buClr>
              <a:buSzPct val="80000"/>
              <a:buFont typeface="Courier New" panose="02070309020205020404" pitchFamily="49" charset="0"/>
              <a:buChar char="o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60604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2">
                  <a:lumMod val="75000"/>
                </a:schemeClr>
              </a:buClr>
              <a:buSzPct val="80000"/>
              <a:buFont typeface="Courier New" panose="02070309020205020404" pitchFamily="49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>
              <a:buFont typeface="Courier New" panose="02070309020205020404" pitchFamily="49" charset="0"/>
              <a:buNone/>
            </a:pPr>
            <a:r>
              <a:rPr lang="en-US" b="1" dirty="0" smtClean="0"/>
              <a:t>Finding 50% of a quantity is the same as dividing the quantity by 2 (</a:t>
            </a:r>
            <a:r>
              <a:rPr lang="en-US" dirty="0" smtClean="0"/>
              <a:t>halving it</a:t>
            </a:r>
            <a:r>
              <a:rPr lang="en-US" b="1" dirty="0"/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56985" y="3593530"/>
            <a:ext cx="3839076" cy="707886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sz="2000" b="1" dirty="0"/>
              <a:t>5</a:t>
            </a:r>
            <a:r>
              <a:rPr lang="en-AU" sz="2000" b="1" dirty="0" smtClean="0"/>
              <a:t>0% of 50 is 25</a:t>
            </a:r>
          </a:p>
          <a:p>
            <a:r>
              <a:rPr lang="en-AU" sz="2000" b="1" dirty="0" smtClean="0"/>
              <a:t>Which is the same as 50÷2</a:t>
            </a:r>
            <a:endParaRPr lang="en-AU" sz="2000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253997" y="4650391"/>
            <a:ext cx="2401455" cy="707886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sz="2000" b="1" dirty="0" smtClean="0"/>
              <a:t>How do I calculate 1%?</a:t>
            </a:r>
            <a:endParaRPr lang="en-AU" sz="2000" b="1" dirty="0"/>
          </a:p>
        </p:txBody>
      </p:sp>
      <p:sp>
        <p:nvSpPr>
          <p:cNvPr id="20" name="Content Placeholder 13"/>
          <p:cNvSpPr txBox="1">
            <a:spLocks/>
          </p:cNvSpPr>
          <p:nvPr/>
        </p:nvSpPr>
        <p:spPr>
          <a:xfrm>
            <a:off x="3242695" y="4804278"/>
            <a:ext cx="3906943" cy="10263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432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2">
                  <a:lumMod val="75000"/>
                </a:schemeClr>
              </a:buClr>
              <a:buSzPct val="80000"/>
              <a:buFont typeface="Courier New" panose="02070309020205020404" pitchFamily="49" charset="0"/>
              <a:buChar char="o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9436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>
                  <a:lumMod val="75000"/>
                </a:schemeClr>
              </a:buClr>
              <a:buSzPct val="80000"/>
              <a:buFont typeface="Courier New" panose="02070309020205020404" pitchFamily="49" charset="0"/>
              <a:buChar char="o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2">
                  <a:lumMod val="75000"/>
                </a:schemeClr>
              </a:buClr>
              <a:buSzPct val="80000"/>
              <a:buFont typeface="Courier New" panose="02070309020205020404" pitchFamily="49" charset="0"/>
              <a:buChar char="o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344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2">
                  <a:lumMod val="75000"/>
                </a:schemeClr>
              </a:buClr>
              <a:buSzPct val="80000"/>
              <a:buFont typeface="Courier New" panose="02070309020205020404" pitchFamily="49" charset="0"/>
              <a:buChar char="o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2">
                  <a:lumMod val="75000"/>
                </a:schemeClr>
              </a:buClr>
              <a:buSzPct val="80000"/>
              <a:buFont typeface="Courier New" panose="02070309020205020404" pitchFamily="49" charset="0"/>
              <a:buChar char="o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7452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2">
                  <a:lumMod val="75000"/>
                </a:schemeClr>
              </a:buClr>
              <a:buSzPct val="80000"/>
              <a:buFont typeface="Courier New" panose="02070309020205020404" pitchFamily="49" charset="0"/>
              <a:buChar char="o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9456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2">
                  <a:lumMod val="75000"/>
                </a:schemeClr>
              </a:buClr>
              <a:buSzPct val="80000"/>
              <a:buFont typeface="Courier New" panose="02070309020205020404" pitchFamily="49" charset="0"/>
              <a:buChar char="o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146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2">
                  <a:lumMod val="75000"/>
                </a:schemeClr>
              </a:buClr>
              <a:buSzPct val="80000"/>
              <a:buFont typeface="Courier New" panose="02070309020205020404" pitchFamily="49" charset="0"/>
              <a:buChar char="o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60604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2">
                  <a:lumMod val="75000"/>
                </a:schemeClr>
              </a:buClr>
              <a:buSzPct val="80000"/>
              <a:buFont typeface="Courier New" panose="02070309020205020404" pitchFamily="49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>
              <a:buFont typeface="Courier New" panose="02070309020205020404" pitchFamily="49" charset="0"/>
              <a:buNone/>
            </a:pPr>
            <a:r>
              <a:rPr lang="en-US" b="1" dirty="0" smtClean="0"/>
              <a:t>Finding 1% of a quantity is the same as dividing the quantity by 100</a:t>
            </a:r>
            <a:endParaRPr lang="en-US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7730171" y="4650391"/>
            <a:ext cx="3839076" cy="707886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sz="2000" b="1" dirty="0"/>
              <a:t>1</a:t>
            </a:r>
            <a:r>
              <a:rPr lang="en-AU" sz="2000" b="1" dirty="0" smtClean="0"/>
              <a:t>% of 50 is 0.5</a:t>
            </a:r>
          </a:p>
          <a:p>
            <a:r>
              <a:rPr lang="en-AU" sz="2000" b="1" dirty="0" smtClean="0"/>
              <a:t>Which is the same as 50÷100</a:t>
            </a:r>
            <a:endParaRPr lang="en-AU" sz="2000" b="1" dirty="0"/>
          </a:p>
        </p:txBody>
      </p:sp>
    </p:spTree>
    <p:extLst>
      <p:ext uri="{BB962C8B-B14F-4D97-AF65-F5344CB8AC3E}">
        <p14:creationId xmlns:p14="http://schemas.microsoft.com/office/powerpoint/2010/main" val="1032304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/>
      <p:bldP spid="9" grpId="0" animBg="1"/>
      <p:bldP spid="16" grpId="0" build="p"/>
      <p:bldP spid="18" grpId="0" animBg="1"/>
      <p:bldP spid="20" grpId="0" build="p"/>
      <p:bldP spid="2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Think-Pair-Share</a:t>
            </a:r>
            <a:r>
              <a:rPr lang="en-AU" dirty="0"/>
              <a:t/>
            </a:r>
            <a:br>
              <a:rPr lang="en-AU" dirty="0"/>
            </a:br>
            <a:r>
              <a:rPr lang="en-AU" dirty="0" smtClean="0">
                <a:solidFill>
                  <a:srgbClr val="00B0F0"/>
                </a:solidFill>
              </a:rPr>
              <a:t>Left-Hand-Side Task 1</a:t>
            </a:r>
            <a:endParaRPr lang="en-AU" dirty="0">
              <a:solidFill>
                <a:srgbClr val="00B0F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1120" y="1901952"/>
            <a:ext cx="9509760" cy="4702048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en-AU" sz="2400" dirty="0" smtClean="0"/>
              <a:t>In pairs try filling in the blanks:</a:t>
            </a:r>
          </a:p>
          <a:p>
            <a:endParaRPr lang="en-AU" sz="2400" dirty="0"/>
          </a:p>
          <a:p>
            <a:pPr marL="502920" indent="-457200">
              <a:buFont typeface="+mj-lt"/>
              <a:buAutoNum type="arabicPeriod"/>
            </a:pPr>
            <a:endParaRPr lang="en-AU" sz="3200" dirty="0" smtClean="0"/>
          </a:p>
          <a:p>
            <a:pPr marL="502920" indent="-457200">
              <a:buFont typeface="+mj-lt"/>
              <a:buAutoNum type="arabicPeriod"/>
            </a:pPr>
            <a:endParaRPr lang="en-AU" sz="2400" dirty="0"/>
          </a:p>
        </p:txBody>
      </p:sp>
      <p:sp>
        <p:nvSpPr>
          <p:cNvPr id="6" name="Rectangle 5"/>
          <p:cNvSpPr/>
          <p:nvPr/>
        </p:nvSpPr>
        <p:spPr>
          <a:xfrm>
            <a:off x="9276862" y="105166"/>
            <a:ext cx="2410691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#teamwork</a:t>
            </a:r>
            <a:endParaRPr lang="en-US" sz="28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475" y="2591007"/>
            <a:ext cx="8529064" cy="233880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79905" y="2591007"/>
            <a:ext cx="1172817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b="1" dirty="0" smtClean="0">
                <a:solidFill>
                  <a:srgbClr val="FF0000"/>
                </a:solidFill>
              </a:rPr>
              <a:t>10</a:t>
            </a:r>
            <a:endParaRPr lang="en-AU" b="1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183558" y="2893870"/>
            <a:ext cx="1172817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b="1" dirty="0" smtClean="0">
                <a:solidFill>
                  <a:srgbClr val="FF0000"/>
                </a:solidFill>
              </a:rPr>
              <a:t>100</a:t>
            </a:r>
            <a:endParaRPr lang="en-AU" b="1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78540" y="3227619"/>
            <a:ext cx="1172817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b="1" dirty="0" smtClean="0">
                <a:solidFill>
                  <a:srgbClr val="FF0000"/>
                </a:solidFill>
              </a:rPr>
              <a:t>2</a:t>
            </a:r>
            <a:endParaRPr lang="en-AU" b="1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50578" y="3612768"/>
            <a:ext cx="1172817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1</a:t>
            </a:r>
            <a:endParaRPr lang="en-AU" b="1" dirty="0">
              <a:solidFill>
                <a:srgbClr val="FF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250579" y="4042062"/>
            <a:ext cx="1172817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5</a:t>
            </a:r>
            <a:endParaRPr lang="en-AU" b="1" dirty="0">
              <a:solidFill>
                <a:srgbClr val="FF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226288" y="4411394"/>
            <a:ext cx="1172817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4</a:t>
            </a:r>
            <a:endParaRPr lang="en-AU" b="1" dirty="0">
              <a:solidFill>
                <a:srgbClr val="FF0000"/>
              </a:solidFill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3327" y="653167"/>
            <a:ext cx="2654226" cy="1666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26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3223529" y="2133466"/>
            <a:ext cx="3906943" cy="4724533"/>
          </a:xfrm>
        </p:spPr>
        <p:txBody>
          <a:bodyPr>
            <a:noAutofit/>
          </a:bodyPr>
          <a:lstStyle/>
          <a:p>
            <a:pPr marL="502920" indent="-457200">
              <a:buFont typeface="+mj-lt"/>
              <a:buAutoNum type="arabicParenR"/>
            </a:pPr>
            <a:r>
              <a:rPr lang="en-US" sz="2200" b="1" dirty="0" smtClean="0"/>
              <a:t>Express </a:t>
            </a:r>
            <a:r>
              <a:rPr lang="en-US" sz="2200" b="1" dirty="0"/>
              <a:t>the </a:t>
            </a:r>
            <a:r>
              <a:rPr lang="en-US" sz="2200" b="1" dirty="0" smtClean="0"/>
              <a:t>percentage </a:t>
            </a:r>
            <a:r>
              <a:rPr lang="en-US" sz="2200" b="1" dirty="0"/>
              <a:t>as a </a:t>
            </a:r>
            <a:r>
              <a:rPr lang="en-US" sz="2200" b="1" dirty="0" smtClean="0"/>
              <a:t>fraction.</a:t>
            </a:r>
          </a:p>
          <a:p>
            <a:pPr marL="502920" indent="-457200">
              <a:buFont typeface="+mj-lt"/>
              <a:buAutoNum type="arabicParenR"/>
            </a:pPr>
            <a:r>
              <a:rPr lang="en-US" sz="2200" b="1" dirty="0" smtClean="0"/>
              <a:t>Change </a:t>
            </a:r>
            <a:r>
              <a:rPr lang="en-US" sz="2200" b="1" dirty="0"/>
              <a:t>the ‘of’ to a multiplication sign.</a:t>
            </a:r>
          </a:p>
          <a:p>
            <a:pPr marL="502920" indent="-457200">
              <a:buFont typeface="+mj-lt"/>
              <a:buAutoNum type="arabicParenR"/>
            </a:pPr>
            <a:r>
              <a:rPr lang="en-US" sz="2200" b="1" dirty="0" smtClean="0"/>
              <a:t>Express </a:t>
            </a:r>
            <a:r>
              <a:rPr lang="en-US" sz="2200" b="1" dirty="0"/>
              <a:t>the number as a </a:t>
            </a:r>
            <a:r>
              <a:rPr lang="en-US" sz="2200" b="1" dirty="0" smtClean="0"/>
              <a:t>fraction (over 1).</a:t>
            </a:r>
            <a:endParaRPr lang="en-US" sz="2200" b="1" dirty="0"/>
          </a:p>
          <a:p>
            <a:pPr marL="502920" indent="-457200">
              <a:buFont typeface="+mj-lt"/>
              <a:buAutoNum type="arabicParenR"/>
            </a:pPr>
            <a:r>
              <a:rPr lang="en-US" sz="2200" b="1" dirty="0" smtClean="0"/>
              <a:t>Follow </a:t>
            </a:r>
            <a:r>
              <a:rPr lang="en-US" sz="2200" b="1" dirty="0"/>
              <a:t>the rules for multiplication of fractions.</a:t>
            </a:r>
            <a:endParaRPr lang="en-US" sz="2200" b="1" dirty="0"/>
          </a:p>
        </p:txBody>
      </p:sp>
      <p:cxnSp>
        <p:nvCxnSpPr>
          <p:cNvPr id="3" name="Straight Connector 2"/>
          <p:cNvCxnSpPr/>
          <p:nvPr/>
        </p:nvCxnSpPr>
        <p:spPr>
          <a:xfrm>
            <a:off x="0" y="1560941"/>
            <a:ext cx="12192000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3038764" y="1570182"/>
            <a:ext cx="36945" cy="5287818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7375256" y="1574806"/>
            <a:ext cx="36945" cy="5287818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53999" y="2228893"/>
            <a:ext cx="2401455" cy="1323439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sz="2000" b="1" dirty="0" smtClean="0"/>
              <a:t>How do I calculate the percentage of a number?</a:t>
            </a:r>
            <a:endParaRPr lang="en-AU" sz="20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443345" y="1662538"/>
            <a:ext cx="2022764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dirty="0" smtClean="0"/>
              <a:t>Questions:</a:t>
            </a:r>
            <a:endParaRPr lang="en-AU" dirty="0"/>
          </a:p>
        </p:txBody>
      </p:sp>
      <p:sp>
        <p:nvSpPr>
          <p:cNvPr id="11" name="TextBox 10"/>
          <p:cNvSpPr txBox="1"/>
          <p:nvPr/>
        </p:nvSpPr>
        <p:spPr>
          <a:xfrm>
            <a:off x="4124056" y="1662538"/>
            <a:ext cx="2022764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dirty="0" smtClean="0"/>
              <a:t>Explanation:</a:t>
            </a:r>
            <a:endParaRPr lang="en-AU" dirty="0"/>
          </a:p>
        </p:txBody>
      </p:sp>
      <p:sp>
        <p:nvSpPr>
          <p:cNvPr id="12" name="TextBox 11"/>
          <p:cNvSpPr txBox="1"/>
          <p:nvPr/>
        </p:nvSpPr>
        <p:spPr>
          <a:xfrm>
            <a:off x="8362602" y="1662538"/>
            <a:ext cx="2022764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dirty="0" smtClean="0"/>
              <a:t>Examples: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7906327" y="2368706"/>
                <a:ext cx="3148677" cy="2367251"/>
              </a:xfrm>
              <a:prstGeom prst="rect">
                <a:avLst/>
              </a:prstGeom>
              <a:noFill/>
              <a:ln>
                <a:solidFill>
                  <a:schemeClr val="bg2"/>
                </a:solidFill>
              </a:ln>
            </p:spPr>
            <p:txBody>
              <a:bodyPr wrap="square" rtlCol="0" anchor="ctr" anchorCtr="1">
                <a:spAutoFit/>
              </a:bodyPr>
              <a:lstStyle/>
              <a:p>
                <a:r>
                  <a:rPr lang="en-AU" sz="2400" b="1" dirty="0" smtClean="0">
                    <a:sym typeface="Wingdings" panose="05000000000000000000" pitchFamily="2" charset="2"/>
                  </a:rPr>
                  <a:t>25% of 60</a:t>
                </a:r>
              </a:p>
              <a:p>
                <a:endParaRPr lang="en-AU" sz="2400" b="1" dirty="0">
                  <a:sym typeface="Wingdings" panose="05000000000000000000" pitchFamily="2" charset="2"/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sz="36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6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AU" sz="36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</m:den>
                    </m:f>
                  </m:oMath>
                </a14:m>
                <a:r>
                  <a:rPr lang="en-AU" sz="3600" b="1" dirty="0" smtClean="0"/>
                  <a:t> </a:t>
                </a:r>
                <a:r>
                  <a:rPr lang="en-AU" sz="2800" b="1" dirty="0" smtClean="0"/>
                  <a:t>x</a:t>
                </a:r>
                <a:r>
                  <a:rPr lang="en-AU" sz="3600" b="1" dirty="0" smtClean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36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600" b="1" i="1" smtClean="0">
                            <a:latin typeface="Cambria Math" panose="02040503050406030204" pitchFamily="18" charset="0"/>
                          </a:rPr>
                          <m:t>𝟔𝟎</m:t>
                        </m:r>
                      </m:num>
                      <m:den>
                        <m:r>
                          <a:rPr lang="en-AU" sz="36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den>
                    </m:f>
                  </m:oMath>
                </a14:m>
                <a:r>
                  <a:rPr lang="en-AU" sz="3600" b="1" dirty="0" smtClean="0"/>
                  <a:t> </a:t>
                </a:r>
                <a:r>
                  <a:rPr lang="en-AU" sz="2800" b="1" dirty="0" smtClean="0"/>
                  <a:t>=</a:t>
                </a:r>
                <a:r>
                  <a:rPr lang="en-AU" sz="3600" b="1" dirty="0" smtClean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36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600" b="1" i="1" smtClean="0">
                            <a:latin typeface="Cambria Math" panose="02040503050406030204" pitchFamily="18" charset="0"/>
                          </a:rPr>
                          <m:t>𝟔𝟎</m:t>
                        </m:r>
                      </m:num>
                      <m:den>
                        <m:r>
                          <a:rPr lang="en-AU" sz="36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</m:den>
                    </m:f>
                  </m:oMath>
                </a14:m>
                <a:endParaRPr lang="en-AU" sz="2400" b="1" dirty="0" smtClean="0"/>
              </a:p>
              <a:p>
                <a:endParaRPr lang="en-AU" sz="2400" b="1" dirty="0"/>
              </a:p>
              <a:p>
                <a:r>
                  <a:rPr lang="en-AU" sz="2400" b="1" dirty="0" smtClean="0"/>
                  <a:t>= 15</a:t>
                </a:r>
                <a:endParaRPr lang="en-AU" sz="2400" b="1" dirty="0"/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6327" y="2368706"/>
                <a:ext cx="3148677" cy="2367251"/>
              </a:xfrm>
              <a:prstGeom prst="rect">
                <a:avLst/>
              </a:prstGeom>
              <a:blipFill>
                <a:blip r:embed="rId2"/>
                <a:stretch>
                  <a:fillRect t="-1538" b="-5128"/>
                </a:stretch>
              </a:blipFill>
              <a:ln>
                <a:solidFill>
                  <a:schemeClr val="bg2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itle 12"/>
          <p:cNvSpPr txBox="1">
            <a:spLocks/>
          </p:cNvSpPr>
          <p:nvPr/>
        </p:nvSpPr>
        <p:spPr>
          <a:xfrm>
            <a:off x="1136996" y="347287"/>
            <a:ext cx="9918008" cy="111205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 smtClean="0">
                <a:solidFill>
                  <a:srgbClr val="0070C0"/>
                </a:solidFill>
              </a:rPr>
              <a:t>Topic: Percentages</a:t>
            </a:r>
            <a:br>
              <a:rPr lang="en-US" sz="2400" dirty="0" smtClean="0">
                <a:solidFill>
                  <a:srgbClr val="0070C0"/>
                </a:solidFill>
              </a:rPr>
            </a:br>
            <a:r>
              <a:rPr lang="en-US" sz="2400" dirty="0" smtClean="0">
                <a:solidFill>
                  <a:srgbClr val="0070C0"/>
                </a:solidFill>
              </a:rPr>
              <a:t>EQ: How do I find the percentage of a number or quantity?</a:t>
            </a:r>
            <a:endParaRPr lang="en-US" sz="2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0952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/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Left-Hand-Side </a:t>
            </a:r>
            <a:r>
              <a:rPr lang="en-AU" dirty="0" smtClean="0">
                <a:solidFill>
                  <a:srgbClr val="0070C0"/>
                </a:solidFill>
              </a:rPr>
              <a:t>Task 2</a:t>
            </a:r>
            <a:endParaRPr lang="en-AU" dirty="0">
              <a:solidFill>
                <a:srgbClr val="0070C0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119" y="1874354"/>
            <a:ext cx="9288185" cy="180312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1119" y="3851048"/>
            <a:ext cx="8267700" cy="110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399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341120" y="467360"/>
            <a:ext cx="9509760" cy="1233424"/>
          </a:xfrm>
        </p:spPr>
        <p:txBody>
          <a:bodyPr/>
          <a:lstStyle/>
          <a:p>
            <a:r>
              <a:rPr lang="en-AU" dirty="0" smtClean="0"/>
              <a:t>Left-Hand-Side </a:t>
            </a:r>
            <a:r>
              <a:rPr lang="en-AU" dirty="0" smtClean="0">
                <a:solidFill>
                  <a:srgbClr val="0070C0"/>
                </a:solidFill>
              </a:rPr>
              <a:t>Task 3</a:t>
            </a:r>
            <a:endParaRPr lang="en-AU" dirty="0">
              <a:solidFill>
                <a:srgbClr val="0070C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5207" y="2026132"/>
            <a:ext cx="10096500" cy="3362325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732064" y="2026132"/>
            <a:ext cx="653143" cy="598715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b="1" dirty="0" smtClean="0"/>
              <a:t>1.</a:t>
            </a:r>
            <a:endParaRPr lang="en-AU" sz="2400" b="1" dirty="0"/>
          </a:p>
        </p:txBody>
      </p:sp>
      <p:sp>
        <p:nvSpPr>
          <p:cNvPr id="9" name="Oval 8"/>
          <p:cNvSpPr/>
          <p:nvPr/>
        </p:nvSpPr>
        <p:spPr>
          <a:xfrm>
            <a:off x="732063" y="2950195"/>
            <a:ext cx="653143" cy="598715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b="1" dirty="0"/>
              <a:t>2</a:t>
            </a:r>
            <a:r>
              <a:rPr lang="en-AU" sz="2400" b="1" dirty="0" smtClean="0"/>
              <a:t>.</a:t>
            </a:r>
            <a:endParaRPr lang="en-AU" sz="2400" b="1" dirty="0"/>
          </a:p>
        </p:txBody>
      </p:sp>
      <p:sp>
        <p:nvSpPr>
          <p:cNvPr id="10" name="Oval 9"/>
          <p:cNvSpPr/>
          <p:nvPr/>
        </p:nvSpPr>
        <p:spPr>
          <a:xfrm>
            <a:off x="732062" y="4555088"/>
            <a:ext cx="653143" cy="598715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b="1" dirty="0" smtClean="0"/>
              <a:t>3.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3933127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ubbles design template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alpha val="80000"/>
              </a:schemeClr>
            </a:gs>
            <a:gs pos="0">
              <a:schemeClr val="phClr">
                <a:lumMod val="40000"/>
                <a:lumOff val="60000"/>
                <a:alpha val="80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lumMod val="20000"/>
                <a:lumOff val="80000"/>
                <a:alpha val="59000"/>
              </a:schemeClr>
            </a:gs>
            <a:gs pos="40000">
              <a:schemeClr val="phClr">
                <a:lumMod val="20000"/>
                <a:lumOff val="80000"/>
                <a:alpha val="66000"/>
              </a:schemeClr>
            </a:gs>
            <a:gs pos="100000">
              <a:schemeClr val="phClr">
                <a:lumMod val="40000"/>
                <a:lumOff val="60000"/>
              </a:schemeClr>
            </a:gs>
          </a:gsLst>
          <a:path path="circle">
            <a:fillToRect l="50000" t="-80000" r="50000" b="180000"/>
          </a:path>
        </a:gradFill>
      </a:bgFillStyleLst>
    </a:fmtScheme>
  </a:themeElements>
  <a:objectDefaults>
    <a:spDef>
      <a:spPr/>
      <a:bodyPr rtlCol="0" anchor="ctr"/>
      <a:lstStyle>
        <a:defPPr algn="ctr">
          <a:defRPr dirty="0"/>
        </a:defPPr>
      </a:lstStyle>
      <a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square" rtlCol="0" anchor="ctr" anchorCtr="1">
        <a:spAutoFit/>
      </a:bodyPr>
      <a:lstStyle>
        <a:defPPr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Bubbles design slides.potx" id="{791C1007-8C16-4095-A382-97B1C9AA36B9}" vid="{20473F13-1D64-4A4A-9CE1-7C3468AE82BE}"/>
    </a:ext>
  </a:extLst>
</a:theme>
</file>

<file path=ppt/theme/theme2.xml><?xml version="1.0" encoding="utf-8"?>
<a:theme xmlns:a="http://schemas.openxmlformats.org/drawingml/2006/main" name="Office Theme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Bubbles design slides</Template>
  <TotalTime>307</TotalTime>
  <Words>395</Words>
  <Application>Microsoft Office PowerPoint</Application>
  <PresentationFormat>Widescreen</PresentationFormat>
  <Paragraphs>74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Cambria Math</vt:lpstr>
      <vt:lpstr>Century Gothic</vt:lpstr>
      <vt:lpstr>Courier New</vt:lpstr>
      <vt:lpstr>Wingdings</vt:lpstr>
      <vt:lpstr>Bubbles design template</vt:lpstr>
      <vt:lpstr>Complete your summary for last lesson by answering the EQ: How do I convert between fractions, decimals and percentages?</vt:lpstr>
      <vt:lpstr>Topic: Percentages  EQ: How do I find the percentage of a number or quantity?</vt:lpstr>
      <vt:lpstr>Topic: Percentages EQ: How do I find the percentage of a number or quantity?</vt:lpstr>
      <vt:lpstr>Topic: Percentages EQ: How do I find the percentage of a number or quantity?</vt:lpstr>
      <vt:lpstr>Think-Pair-Share Left-Hand-Side Task 1</vt:lpstr>
      <vt:lpstr>PowerPoint Presentation</vt:lpstr>
      <vt:lpstr>Left-Hand-Side Task 2</vt:lpstr>
      <vt:lpstr>Left-Hand-Side Task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Fractions, decimals, &amp; percentages  EQ: How do I convert between fraction, decimals and percentages?</dc:title>
  <dc:creator>Abigail Stephenson</dc:creator>
  <cp:lastModifiedBy>Abigail Stephenson</cp:lastModifiedBy>
  <cp:revision>15</cp:revision>
  <dcterms:created xsi:type="dcterms:W3CDTF">2018-09-09T07:51:48Z</dcterms:created>
  <dcterms:modified xsi:type="dcterms:W3CDTF">2018-09-09T12:58:59Z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74069200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</Properties>
</file>
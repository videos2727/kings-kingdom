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3"/>
  </p:notesMasterIdLst>
  <p:sldIdLst>
    <p:sldId id="256" r:id="rId2"/>
    <p:sldId id="311" r:id="rId3"/>
    <p:sldId id="325" r:id="rId4"/>
    <p:sldId id="271" r:id="rId5"/>
    <p:sldId id="272" r:id="rId6"/>
    <p:sldId id="273" r:id="rId7"/>
    <p:sldId id="274" r:id="rId8"/>
    <p:sldId id="275" r:id="rId9"/>
    <p:sldId id="282" r:id="rId10"/>
    <p:sldId id="283" r:id="rId11"/>
    <p:sldId id="284" r:id="rId12"/>
    <p:sldId id="285" r:id="rId13"/>
    <p:sldId id="286" r:id="rId14"/>
    <p:sldId id="265" r:id="rId15"/>
    <p:sldId id="320" r:id="rId16"/>
    <p:sldId id="268" r:id="rId17"/>
    <p:sldId id="269" r:id="rId18"/>
    <p:sldId id="270" r:id="rId19"/>
    <p:sldId id="263" r:id="rId20"/>
    <p:sldId id="329" r:id="rId21"/>
    <p:sldId id="327" r:id="rId22"/>
  </p:sldIdLst>
  <p:sldSz cx="9144000" cy="5143500" type="screen16x9"/>
  <p:notesSz cx="6858000" cy="9144000"/>
  <p:embeddedFontLst>
    <p:embeddedFont>
      <p:font typeface="Abel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Fredoka One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2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75" d="100"/>
          <a:sy n="75" d="100"/>
        </p:scale>
        <p:origin x="66" y="402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06T20:48:16.977" idx="2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Repeat questioning using  different amounts of slices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630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7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65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75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8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55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38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867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038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2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4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7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055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5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D8AF0-A49E-4FC1-8D69-2202FAF4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4/03/2021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3638C-9321-4523-A7D2-04B755A5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1E9B-BE36-4A19-9296-649F4DD5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29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90300" y="205975"/>
            <a:ext cx="73635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90300" y="1200149"/>
            <a:ext cx="7363500" cy="302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68291">
              <a:spcBef>
                <a:spcPts val="6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914378" lvl="1" indent="-36829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371566" lvl="2" indent="-36829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1828754" lvl="3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2285943" lvl="4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2743132" lvl="5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3200320" lvl="6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3657509" lvl="7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4114697" lvl="8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157351" y="125701"/>
            <a:ext cx="8829185" cy="4892151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2910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  <p:sldLayoutId id="2147483684" r:id="rId4"/>
    <p:sldLayoutId id="214748368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cid:12C09B93-881E-49B6-87F1-6EC2C38AEE54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113887" y="2074350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How do we use arrays to add and subtract fractions?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4D9471-647B-4663-AFF1-1A6AEA62863B}"/>
              </a:ext>
            </a:extLst>
          </p:cNvPr>
          <p:cNvSpPr txBox="1"/>
          <p:nvPr/>
        </p:nvSpPr>
        <p:spPr>
          <a:xfrm>
            <a:off x="3060700" y="3602390"/>
            <a:ext cx="339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We’ll need graph paper for this lesson!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/>
              <p:nvPr/>
            </p:nvSpPr>
            <p:spPr>
              <a:xfrm>
                <a:off x="375015" y="965136"/>
                <a:ext cx="7845287" cy="283802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800" b="1" dirty="0"/>
                  <a:t>Let’s get thinking!</a:t>
                </a:r>
              </a:p>
              <a:p>
                <a:endParaRPr lang="en-GB" b="1" dirty="0"/>
              </a:p>
              <a:p>
                <a:r>
                  <a:rPr lang="en-GB" sz="1800" dirty="0"/>
                  <a:t>The family bought some pizzas. I ate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 </a:t>
                </a:r>
                <a:r>
                  <a:rPr lang="en-GB" sz="1800" dirty="0"/>
                  <a:t>of the pepperoni pizza and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 </a:t>
                </a:r>
                <a:r>
                  <a:rPr lang="en-GB" sz="1800" dirty="0"/>
                  <a:t>of the ham and pineapple pizza. How much pizza did I eat?  </a:t>
                </a:r>
              </a:p>
              <a:p>
                <a:r>
                  <a:rPr lang="en-GB" sz="1800" dirty="0"/>
                  <a:t>Is it less than, more than or equal to one?  Why?</a:t>
                </a:r>
              </a:p>
              <a:p>
                <a:endParaRPr lang="en-AU" sz="1800" dirty="0"/>
              </a:p>
              <a:p>
                <a:r>
                  <a:rPr lang="en-AU" sz="1800" dirty="0"/>
                  <a:t>Discuss it with your shoulder partner &amp; be prepared to share.</a:t>
                </a:r>
              </a:p>
              <a:p>
                <a:endParaRPr lang="en-AU" sz="18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15" y="965136"/>
                <a:ext cx="7845287" cy="2838021"/>
              </a:xfrm>
              <a:prstGeom prst="rect">
                <a:avLst/>
              </a:prstGeom>
              <a:blipFill>
                <a:blip r:embed="rId3"/>
                <a:stretch>
                  <a:fillRect l="-621" t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34C07-A622-47D1-BCDD-557FA75E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49" y="1096282"/>
            <a:ext cx="2152075" cy="2237426"/>
          </a:xfrm>
          <a:prstGeom prst="rect">
            <a:avLst/>
          </a:prstGeom>
        </p:spPr>
      </p:pic>
      <p:pic>
        <p:nvPicPr>
          <p:cNvPr id="14" name="12C09B93-881E-49B6-87F1-6EC2C38AEE54">
            <a:extLst>
              <a:ext uri="{FF2B5EF4-FFF2-40B4-BE49-F238E27FC236}">
                <a16:creationId xmlns:a16="http://schemas.microsoft.com/office/drawing/2014/main" id="{04856293-0834-4B3E-BC21-6BC6C943662C}"/>
              </a:ext>
            </a:extLst>
          </p:cNvPr>
          <p:cNvPicPr/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65" y="1211211"/>
            <a:ext cx="2030356" cy="19572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7F839-8F0C-493D-A210-E7A3461D3C55}"/>
              </a:ext>
            </a:extLst>
          </p:cNvPr>
          <p:cNvCxnSpPr>
            <a:endCxn id="14" idx="2"/>
          </p:cNvCxnSpPr>
          <p:nvPr/>
        </p:nvCxnSpPr>
        <p:spPr>
          <a:xfrm>
            <a:off x="4189228" y="1211211"/>
            <a:ext cx="47615" cy="195729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672C47-3247-43DF-9939-FFBF2E5A6EAF}"/>
              </a:ext>
            </a:extLst>
          </p:cNvPr>
          <p:cNvCxnSpPr>
            <a:cxnSpLocks/>
          </p:cNvCxnSpPr>
          <p:nvPr/>
        </p:nvCxnSpPr>
        <p:spPr>
          <a:xfrm flipV="1">
            <a:off x="3270975" y="2226366"/>
            <a:ext cx="2030356" cy="1650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D09D77-FA4D-4F4F-AE65-AB73BFE09C9F}"/>
              </a:ext>
            </a:extLst>
          </p:cNvPr>
          <p:cNvCxnSpPr/>
          <p:nvPr/>
        </p:nvCxnSpPr>
        <p:spPr>
          <a:xfrm>
            <a:off x="1351722" y="1577009"/>
            <a:ext cx="1219200" cy="13517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A2A260-67B6-4604-902E-CEFDC5382149}"/>
              </a:ext>
            </a:extLst>
          </p:cNvPr>
          <p:cNvCxnSpPr/>
          <p:nvPr/>
        </p:nvCxnSpPr>
        <p:spPr>
          <a:xfrm flipV="1">
            <a:off x="1351722" y="1616765"/>
            <a:ext cx="1232452" cy="1245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2229C1-BD2B-441C-8F7A-666FF175215C}"/>
              </a:ext>
            </a:extLst>
          </p:cNvPr>
          <p:cNvCxnSpPr/>
          <p:nvPr/>
        </p:nvCxnSpPr>
        <p:spPr>
          <a:xfrm>
            <a:off x="3503797" y="1560626"/>
            <a:ext cx="1466983" cy="1301844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C288AB-5882-45C8-9EFF-E112D4284564}"/>
              </a:ext>
            </a:extLst>
          </p:cNvPr>
          <p:cNvCxnSpPr>
            <a:cxnSpLocks/>
          </p:cNvCxnSpPr>
          <p:nvPr/>
        </p:nvCxnSpPr>
        <p:spPr>
          <a:xfrm flipV="1">
            <a:off x="3503797" y="1541125"/>
            <a:ext cx="1342562" cy="1321346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1EE262-89A6-4FDA-AD7E-B8511E37D591}"/>
                  </a:ext>
                </a:extLst>
              </p:cNvPr>
              <p:cNvSpPr txBox="1"/>
              <p:nvPr/>
            </p:nvSpPr>
            <p:spPr>
              <a:xfrm>
                <a:off x="845648" y="3697357"/>
                <a:ext cx="7495363" cy="1174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pizzas are the same size and as they are cut into 8, each slice is the same size.</a:t>
                </a:r>
              </a:p>
              <a:p>
                <a:r>
                  <a:rPr lang="en-GB" dirty="0"/>
                  <a:t>If you eat 4 slices from one and 3 slices from the other, then you eat 7 slices of pizza total.</a:t>
                </a:r>
              </a:p>
              <a:p>
                <a:r>
                  <a:rPr lang="en-GB" dirty="0"/>
                  <a:t>As a pizza has 8 slices, you have eaten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</a:t>
                </a:r>
                <a:r>
                  <a:rPr lang="en-GB" dirty="0"/>
                  <a:t>of a pizza.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1EE262-89A6-4FDA-AD7E-B8511E37D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48" y="3697357"/>
                <a:ext cx="7495363" cy="1174296"/>
              </a:xfrm>
              <a:prstGeom prst="rect">
                <a:avLst/>
              </a:prstGeom>
              <a:blipFill>
                <a:blip r:embed="rId6"/>
                <a:stretch>
                  <a:fillRect l="-244" t="-10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53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49" y="1114230"/>
            <a:ext cx="1923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</p:spTree>
    <p:extLst>
      <p:ext uri="{BB962C8B-B14F-4D97-AF65-F5344CB8AC3E}">
        <p14:creationId xmlns:p14="http://schemas.microsoft.com/office/powerpoint/2010/main" val="8460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CB962-1B62-423E-BB3E-5976F63C942B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332417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1" y="1114230"/>
            <a:ext cx="1923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D9EB50-9B29-4A4D-91B4-8770E3BBE18F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322FA0-EF56-43CD-9550-B61F93A5E245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0012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9" y="1114230"/>
            <a:ext cx="1923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8"/>
                <a:ext cx="6567849" cy="1335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8"/>
                <a:ext cx="6567849" cy="1335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48031B-3CF4-4C0E-B258-0064E2C91EF0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C6001-0290-4C3B-B6C9-8ED0E1B736F4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56741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742" y="303498"/>
            <a:ext cx="6456269" cy="969771"/>
          </a:xfrm>
        </p:spPr>
        <p:txBody>
          <a:bodyPr>
            <a:normAutofit/>
          </a:bodyPr>
          <a:lstStyle/>
          <a:p>
            <a:pPr algn="r"/>
            <a:r>
              <a:rPr lang="en-AU" sz="4050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4050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5710-6F1E-45A6-9C65-194D0BCF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22" y="414986"/>
            <a:ext cx="5968928" cy="418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3" name="Minus Sign 2">
            <a:extLst>
              <a:ext uri="{FF2B5EF4-FFF2-40B4-BE49-F238E27FC236}">
                <a16:creationId xmlns:a16="http://schemas.microsoft.com/office/drawing/2014/main" id="{15E6EE42-95D3-4A8A-804D-70D4C6B2EAFC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147F4-CEAA-462A-BD50-A50EBCD93D9D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FCA76-413B-41AE-A3F8-AD95D127CCC0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906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337531" y="56804"/>
            <a:ext cx="71160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E3D60-AF66-4B91-8E42-CB812D2E8F81}"/>
              </a:ext>
            </a:extLst>
          </p:cNvPr>
          <p:cNvSpPr txBox="1"/>
          <p:nvPr/>
        </p:nvSpPr>
        <p:spPr>
          <a:xfrm>
            <a:off x="-92759" y="1114230"/>
            <a:ext cx="1923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Minus Sign 18">
            <a:extLst>
              <a:ext uri="{FF2B5EF4-FFF2-40B4-BE49-F238E27FC236}">
                <a16:creationId xmlns:a16="http://schemas.microsoft.com/office/drawing/2014/main" id="{805157FD-29A0-4A50-863D-EA9AD97E1B84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857BEE-74AD-491F-88C5-9D2B594478CC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6794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373CC-6E19-423A-A493-9E61F2C8954A}"/>
              </a:ext>
            </a:extLst>
          </p:cNvPr>
          <p:cNvSpPr txBox="1"/>
          <p:nvPr/>
        </p:nvSpPr>
        <p:spPr>
          <a:xfrm>
            <a:off x="-92759" y="1114230"/>
            <a:ext cx="1923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59BCF327-9E70-4455-BBFF-0019B19ABFEA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CB7BFC0-A092-4D61-AE23-94870B93F493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A6EB9F7-AA92-4C53-B312-9D0EFE7540A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941E29A-6FDF-4497-81A0-2E14F9282E63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84380-45F2-4888-A54B-C72F1D34103E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915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137DC-18ED-40C0-968B-22876CB2B8E3}"/>
              </a:ext>
            </a:extLst>
          </p:cNvPr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/>
              <p:nvPr/>
            </p:nvSpPr>
            <p:spPr>
              <a:xfrm>
                <a:off x="2005129" y="106793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129" y="106793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74B429F3-C87B-4E7B-BEEB-113B69C39852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8806418-97AB-4E71-B180-3496DBE090AA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241406D-E3C7-43C4-9A68-C92CF8E0278C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D168373-8B34-44C4-8BC8-69E4FA2A1A4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0147794-F4D9-4605-9E0D-31685C15D7C3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9338F-6A8F-4320-9771-3C84273CA7B4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24618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568B47-95F1-4014-9350-E8CF7886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721"/>
            <a:ext cx="9144000" cy="10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0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45440" y="92003"/>
                <a:ext cx="8627946" cy="50258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3600" b="1" dirty="0">
                    <a:solidFill>
                      <a:srgbClr val="002060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3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" y="92003"/>
                <a:ext cx="8627946" cy="50258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are arrays used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Fractions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0790A-6185-42F7-A777-7069B106950B}"/>
              </a:ext>
            </a:extLst>
          </p:cNvPr>
          <p:cNvSpPr txBox="1"/>
          <p:nvPr/>
        </p:nvSpPr>
        <p:spPr>
          <a:xfrm>
            <a:off x="1143000" y="1099930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How can we add these fractions using arrays?</a:t>
            </a:r>
          </a:p>
          <a:p>
            <a:r>
              <a:rPr lang="en-GB" sz="1800" b="1" dirty="0"/>
              <a:t>What methods do you know to add these?</a:t>
            </a:r>
          </a:p>
          <a:p>
            <a:r>
              <a:rPr lang="en-GB" sz="1800" dirty="0"/>
              <a:t>Discuss with your shoulder partner and be prepared to share</a:t>
            </a:r>
            <a:endParaRPr lang="en-AU" sz="1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D53ED-E5F6-4755-BEDF-72D1BCE9D94B}"/>
              </a:ext>
            </a:extLst>
          </p:cNvPr>
          <p:cNvCxnSpPr>
            <a:cxnSpLocks/>
          </p:cNvCxnSpPr>
          <p:nvPr/>
        </p:nvCxnSpPr>
        <p:spPr>
          <a:xfrm flipV="1">
            <a:off x="4465983" y="3061253"/>
            <a:ext cx="0" cy="569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8E553A-2A26-4C2B-A208-D856D0A3D482}"/>
              </a:ext>
            </a:extLst>
          </p:cNvPr>
          <p:cNvCxnSpPr>
            <a:cxnSpLocks/>
          </p:cNvCxnSpPr>
          <p:nvPr/>
        </p:nvCxnSpPr>
        <p:spPr>
          <a:xfrm flipV="1">
            <a:off x="5194853" y="3061253"/>
            <a:ext cx="0" cy="56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245001-EB43-480F-B6CF-3159F196F34A}"/>
              </a:ext>
            </a:extLst>
          </p:cNvPr>
          <p:cNvSpPr txBox="1"/>
          <p:nvPr/>
        </p:nvSpPr>
        <p:spPr>
          <a:xfrm>
            <a:off x="3791305" y="3617844"/>
            <a:ext cx="2650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denominators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28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722684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83708" y="1260718"/>
            <a:ext cx="18673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092276" y="1150303"/>
                <a:ext cx="4945320" cy="3467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1: </a:t>
                </a:r>
                <a:r>
                  <a:rPr lang="en-US" sz="2400" dirty="0">
                    <a:solidFill>
                      <a:prstClr val="black"/>
                    </a:solidFill>
                  </a:rPr>
                  <a:t>Draw two identical rectangles. Divide them up according to the fractions and shade</a:t>
                </a:r>
                <a:r>
                  <a:rPr lang="en-US" sz="3000" dirty="0">
                    <a:solidFill>
                      <a:prstClr val="black"/>
                    </a:solidFill>
                  </a:rPr>
                  <a:t>.</a:t>
                </a:r>
                <a:r>
                  <a:rPr lang="en-US" sz="30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276" y="1150303"/>
                <a:ext cx="4945320" cy="3467872"/>
              </a:xfrm>
              <a:prstGeom prst="rect">
                <a:avLst/>
              </a:prstGeom>
              <a:blipFill>
                <a:blip r:embed="rId3"/>
                <a:stretch>
                  <a:fillRect l="-18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750193" y="293281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6753402" y="1119933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996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7E06F59-B641-411E-BBE0-0DC7229F1F87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3B261-1A27-401A-B0E6-37A9C4F10AF7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60256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197429"/>
            <a:ext cx="1842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837897" y="998813"/>
                <a:ext cx="7146971" cy="1790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 </a:t>
                </a:r>
                <a:r>
                  <a:rPr lang="en-AU" sz="27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2: </a:t>
                </a:r>
                <a:r>
                  <a:rPr lang="en-US" sz="2400" dirty="0">
                    <a:solidFill>
                      <a:prstClr val="black"/>
                    </a:solidFill>
                  </a:rPr>
                  <a:t>Lay the two rectangles on top of each other</a:t>
                </a:r>
                <a:endParaRPr lang="en-US" sz="3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897" y="998813"/>
                <a:ext cx="7146971" cy="1790490"/>
              </a:xfrm>
              <a:prstGeom prst="rect">
                <a:avLst/>
              </a:prstGeom>
              <a:blipFill>
                <a:blip r:embed="rId3"/>
                <a:stretch>
                  <a:fillRect l="-1279" r="-1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677356" y="275012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85565"/>
              </p:ext>
            </p:extLst>
          </p:nvPr>
        </p:nvGraphicFramePr>
        <p:xfrm>
          <a:off x="6680565" y="2767089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992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F05632-377F-4601-BA68-5A978943970A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F6C83-9AE0-4BAA-9A26-95A69A6303E2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41038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68523" y="998813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87540" y="1193459"/>
            <a:ext cx="20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52313" y="1050377"/>
                <a:ext cx="4945320" cy="3765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3: </a:t>
                </a:r>
                <a:r>
                  <a:rPr lang="en-US" sz="2400" dirty="0">
                    <a:solidFill>
                      <a:prstClr val="black"/>
                    </a:solidFill>
                  </a:rPr>
                  <a:t>Remove the overlay 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The shaded grid gives you the result to the answer.</a:t>
                </a:r>
              </a:p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sz="3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313" y="1050377"/>
                <a:ext cx="4945320" cy="3765839"/>
              </a:xfrm>
              <a:prstGeom prst="rect">
                <a:avLst/>
              </a:prstGeom>
              <a:blipFill>
                <a:blip r:embed="rId3"/>
                <a:stretch>
                  <a:fillRect l="-18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677356" y="275012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6680565" y="2750120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992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710316C-F2DC-4F52-9694-3F04EF3CAA1E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48484-BB02-42E9-BA26-112738778959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are arrays used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701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742" y="303498"/>
            <a:ext cx="6456269" cy="969771"/>
          </a:xfrm>
        </p:spPr>
        <p:txBody>
          <a:bodyPr>
            <a:normAutofit/>
          </a:bodyPr>
          <a:lstStyle/>
          <a:p>
            <a:pPr algn="r"/>
            <a:r>
              <a:rPr lang="en-AU" sz="4050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4050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/>
              <p:nvPr/>
            </p:nvSpPr>
            <p:spPr>
              <a:xfrm>
                <a:off x="490615" y="303498"/>
                <a:ext cx="6567849" cy="169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Use the grid method to work this out…..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5" y="303498"/>
                <a:ext cx="6567849" cy="1698350"/>
              </a:xfrm>
              <a:prstGeom prst="rect">
                <a:avLst/>
              </a:prstGeom>
              <a:blipFill>
                <a:blip r:embed="rId3"/>
                <a:stretch>
                  <a:fillRect l="-1391" b="-7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21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528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Write your summary in your interactive notebook.</a:t>
            </a:r>
          </a:p>
          <a:p>
            <a:r>
              <a:rPr lang="en-GB" sz="2400" b="1" dirty="0"/>
              <a:t>Discuss with your shoulder partner/table.</a:t>
            </a:r>
          </a:p>
          <a:p>
            <a:r>
              <a:rPr lang="en-GB" sz="2400" b="1" dirty="0"/>
              <a:t>Be prepared to share </a:t>
            </a:r>
            <a:r>
              <a:rPr lang="en-GB" sz="2400" b="1" dirty="0">
                <a:sym typeface="Wingdings" panose="05000000000000000000" pitchFamily="2" charset="2"/>
              </a:rPr>
              <a:t>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.</a:t>
            </a:r>
          </a:p>
          <a:p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82444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3796</TotalTime>
  <Words>671</Words>
  <Application>Microsoft Office PowerPoint</Application>
  <PresentationFormat>On-screen Show (16:9)</PresentationFormat>
  <Paragraphs>179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</vt:lpstr>
      <vt:lpstr>Arial</vt:lpstr>
      <vt:lpstr>Fragment Core</vt:lpstr>
      <vt:lpstr>Cambria Math</vt:lpstr>
      <vt:lpstr>Abel</vt:lpstr>
      <vt:lpstr>Fredoka One</vt:lpstr>
      <vt:lpstr>Chalkboard</vt:lpstr>
      <vt:lpstr>Rainbow Background by Slidesgo</vt:lpstr>
      <vt:lpstr>Topic: Fractions EQ: How do we use arrays to add and subtract fractions?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jodi wilding</cp:lastModifiedBy>
  <cp:revision>57</cp:revision>
  <dcterms:created xsi:type="dcterms:W3CDTF">2021-02-22T02:29:05Z</dcterms:created>
  <dcterms:modified xsi:type="dcterms:W3CDTF">2021-03-06T13:16:13Z</dcterms:modified>
</cp:coreProperties>
</file>
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0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5" r:id="rId10"/>
    <p:sldId id="268" r:id="rId11"/>
    <p:sldId id="267" r:id="rId12"/>
    <p:sldId id="266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31" autoAdjust="0"/>
    <p:restoredTop sz="94660"/>
  </p:normalViewPr>
  <p:slideViewPr>
    <p:cSldViewPr snapToGrid="0">
      <p:cViewPr varScale="1">
        <p:scale>
          <a:sx n="61" d="100"/>
          <a:sy n="61" d="100"/>
        </p:scale>
        <p:origin x="21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995D6-2FDB-4673-8A8F-C80819CB4A23}" type="datetimeFigureOut">
              <a:rPr lang="en-AU" smtClean="0"/>
              <a:t>7/06/2021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6D8B93-39E7-444F-92D5-71308FBC039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531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99568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20529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005909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27406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13113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27790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6859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9185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892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437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253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3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5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058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051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549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7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4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285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642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0028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8923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995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1766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89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50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b="1" dirty="0" smtClean="0"/>
              <a:t>Statistics: Collecting Data</a:t>
            </a:r>
            <a:endParaRPr lang="en-AU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sz="3200" b="1" dirty="0" smtClean="0"/>
              <a:t>EQ: What is a frequency table and how do I use one?</a:t>
            </a:r>
            <a:endParaRPr lang="en-AU" sz="3200" b="1" dirty="0"/>
          </a:p>
        </p:txBody>
      </p:sp>
    </p:spTree>
    <p:extLst>
      <p:ext uri="{BB962C8B-B14F-4D97-AF65-F5344CB8AC3E}">
        <p14:creationId xmlns:p14="http://schemas.microsoft.com/office/powerpoint/2010/main" val="2165491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First 5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7483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Collecting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 smtClean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2378" y="1438568"/>
            <a:ext cx="15495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is </a:t>
            </a:r>
            <a:r>
              <a:rPr lang="en-US" sz="2000" dirty="0" smtClean="0"/>
              <a:t>Data?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Data can be any sort of information that can be recorded or </a:t>
            </a:r>
            <a:r>
              <a:rPr lang="en-US" sz="2000" dirty="0" err="1" smtClean="0"/>
              <a:t>analysed</a:t>
            </a:r>
            <a:r>
              <a:rPr lang="en-US" sz="2000" dirty="0" smtClean="0"/>
              <a:t>. It comes in different forms: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Primary – data you collect yourself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Secondary – data obtained from another source e.g. the internet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Categorical – information about categories e.g. eye </a:t>
            </a:r>
            <a:r>
              <a:rPr lang="en-US" sz="2000" dirty="0" err="1" smtClean="0"/>
              <a:t>colours</a:t>
            </a:r>
            <a:r>
              <a:rPr lang="en-US" sz="2000" dirty="0" smtClean="0"/>
              <a:t> in students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Numerical – data values are numbers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26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Collecting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 smtClean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two types of numerical data?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Numerical data can be described in two ways:</a:t>
            </a:r>
          </a:p>
          <a:p>
            <a:endParaRPr lang="en-US" sz="2000" dirty="0"/>
          </a:p>
          <a:p>
            <a:r>
              <a:rPr lang="en-US" sz="2000" b="1" dirty="0" smtClean="0"/>
              <a:t>Discrete data </a:t>
            </a:r>
            <a:r>
              <a:rPr lang="en-US" sz="2000" dirty="0" smtClean="0"/>
              <a:t>is data that can only have particular values, in most case whole numbers. E.g. runs scored in a cricket match</a:t>
            </a:r>
          </a:p>
          <a:p>
            <a:endParaRPr lang="en-US" sz="2000" dirty="0"/>
          </a:p>
          <a:p>
            <a:r>
              <a:rPr lang="en-US" sz="2000" b="1" dirty="0" smtClean="0"/>
              <a:t>Continuous data</a:t>
            </a:r>
            <a:r>
              <a:rPr lang="en-US" sz="2000" dirty="0" smtClean="0"/>
              <a:t> is data that is measured and can be any number. E.g. the weights of </a:t>
            </a:r>
            <a:r>
              <a:rPr lang="en-US" sz="2000" dirty="0" err="1" smtClean="0"/>
              <a:t>yr</a:t>
            </a:r>
            <a:r>
              <a:rPr lang="en-US" sz="2000" dirty="0" smtClean="0"/>
              <a:t> 7 students.</a:t>
            </a:r>
            <a:endParaRPr lang="en-US" sz="2000" b="1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325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AU" sz="2000" dirty="0" smtClean="0"/>
              <a:t>Write down whether the following are discrete or continuous: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Goals scored at a football match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Number of siblings each student in a class has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Heights of students in a </a:t>
            </a:r>
            <a:r>
              <a:rPr lang="en-AU" sz="2000" dirty="0" err="1" smtClean="0"/>
              <a:t>Yr</a:t>
            </a:r>
            <a:r>
              <a:rPr lang="en-AU" sz="2000" dirty="0" smtClean="0"/>
              <a:t> 7 class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Shoe sizes of a </a:t>
            </a:r>
            <a:r>
              <a:rPr lang="en-AU" sz="2000" dirty="0" err="1" smtClean="0"/>
              <a:t>Yr</a:t>
            </a:r>
            <a:r>
              <a:rPr lang="en-AU" sz="2000" dirty="0" smtClean="0"/>
              <a:t> 7 class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The time it takes students to run 100m</a:t>
            </a:r>
          </a:p>
        </p:txBody>
      </p:sp>
    </p:spTree>
    <p:extLst>
      <p:ext uri="{BB962C8B-B14F-4D97-AF65-F5344CB8AC3E}">
        <p14:creationId xmlns:p14="http://schemas.microsoft.com/office/powerpoint/2010/main" val="400015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LHS Practise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n-AU" sz="2000" dirty="0" smtClean="0"/>
              <a:t>Write down whether the following are discrete or continuous: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Goals scored at a football match - </a:t>
            </a:r>
            <a:r>
              <a:rPr lang="en-AU" sz="2000" dirty="0" smtClean="0">
                <a:solidFill>
                  <a:schemeClr val="accent1"/>
                </a:solidFill>
              </a:rPr>
              <a:t>Discrete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Number of siblings each student in a class has - </a:t>
            </a:r>
            <a:r>
              <a:rPr lang="en-AU" sz="2000" dirty="0" smtClean="0">
                <a:solidFill>
                  <a:schemeClr val="accent1"/>
                </a:solidFill>
              </a:rPr>
              <a:t>Discrete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Heights of students in a </a:t>
            </a:r>
            <a:r>
              <a:rPr lang="en-AU" sz="2000" dirty="0" err="1" smtClean="0"/>
              <a:t>Yr</a:t>
            </a:r>
            <a:r>
              <a:rPr lang="en-AU" sz="2000" dirty="0" smtClean="0"/>
              <a:t> 7 class - </a:t>
            </a:r>
            <a:r>
              <a:rPr lang="en-AU" sz="2000" dirty="0" smtClean="0">
                <a:solidFill>
                  <a:schemeClr val="accent1"/>
                </a:solidFill>
              </a:rPr>
              <a:t>Continuous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Shoe sizes of a </a:t>
            </a:r>
            <a:r>
              <a:rPr lang="en-AU" sz="2000" dirty="0" err="1" smtClean="0"/>
              <a:t>Yr</a:t>
            </a:r>
            <a:r>
              <a:rPr lang="en-AU" sz="2000" dirty="0" smtClean="0"/>
              <a:t> 7 class - </a:t>
            </a:r>
            <a:r>
              <a:rPr lang="en-AU" sz="2000" dirty="0" smtClean="0">
                <a:solidFill>
                  <a:schemeClr val="accent1"/>
                </a:solidFill>
              </a:rPr>
              <a:t>Discrete</a:t>
            </a:r>
          </a:p>
          <a:p>
            <a:pPr marL="342900" indent="-342900">
              <a:buAutoNum type="arabicPeriod"/>
            </a:pPr>
            <a:r>
              <a:rPr lang="en-AU" sz="2000" dirty="0" smtClean="0"/>
              <a:t>The time it takes students to run 100m - </a:t>
            </a:r>
            <a:r>
              <a:rPr lang="en-AU" sz="2000" dirty="0" smtClean="0">
                <a:solidFill>
                  <a:schemeClr val="accent1"/>
                </a:solidFill>
              </a:rPr>
              <a:t>Continuous</a:t>
            </a:r>
          </a:p>
        </p:txBody>
      </p:sp>
    </p:spTree>
    <p:extLst>
      <p:ext uri="{BB962C8B-B14F-4D97-AF65-F5344CB8AC3E}">
        <p14:creationId xmlns:p14="http://schemas.microsoft.com/office/powerpoint/2010/main" val="204751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Collecting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 smtClean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What is </a:t>
            </a:r>
            <a:r>
              <a:rPr lang="en-US" sz="2000" dirty="0" smtClean="0"/>
              <a:t>a frequency table?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Any data that has repeated values can be organized in a </a:t>
            </a:r>
            <a:r>
              <a:rPr lang="en-US" sz="2000" b="1" dirty="0" smtClean="0"/>
              <a:t>frequency table</a:t>
            </a:r>
            <a:r>
              <a:rPr lang="en-US" sz="2000" dirty="0" smtClean="0"/>
              <a:t>.  In a frequency table, each data value is listed.  Every time that value occurs, it is recorded in the “tally” column. The tally can then be counted at the end and a number put into the “frequency” column.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0889" y="2853558"/>
            <a:ext cx="6486525" cy="321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94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Collecting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 smtClean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What are the steps to making a frequency table? 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 smtClean="0"/>
              <a:t>Gather your data</a:t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Draw up a table with 3 columns that shows the item being surveyed, the tally and the frequency</a:t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Enter the data into the tally column</a:t>
            </a:r>
            <a:br>
              <a:rPr lang="en-US" sz="2000" dirty="0" smtClean="0"/>
            </a:br>
            <a:endParaRPr lang="en-US" sz="2000" dirty="0" smtClean="0"/>
          </a:p>
          <a:p>
            <a:pPr marL="457200" indent="-457200">
              <a:buAutoNum type="arabicPeriod"/>
            </a:pPr>
            <a:r>
              <a:rPr lang="en-US" sz="2000" dirty="0" smtClean="0"/>
              <a:t>Enter these tallies as numbers in the frequency column.  Add up all the numbers in this column to make sure that you have tallied correctly!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57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Class example!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AU" sz="2000" dirty="0" smtClean="0"/>
              <a:t>Lets create a frequency table to look at the number of siblings for this class!</a:t>
            </a:r>
            <a:br>
              <a:rPr lang="en-AU" sz="2000" dirty="0" smtClean="0"/>
            </a:br>
            <a:endParaRPr lang="en-AU" sz="2000" dirty="0" smtClean="0"/>
          </a:p>
          <a:p>
            <a:r>
              <a:rPr lang="en-AU" sz="2000" dirty="0" smtClean="0"/>
              <a:t>Please wait until the teacher gives you the instruction to share your information so that they can be accurately counted and put into the table.</a:t>
            </a:r>
            <a:br>
              <a:rPr lang="en-AU" sz="2000" dirty="0" smtClean="0"/>
            </a:br>
            <a:endParaRPr lang="en-AU" sz="2000" dirty="0" smtClean="0"/>
          </a:p>
          <a:p>
            <a:r>
              <a:rPr lang="en-AU" sz="2000" dirty="0" smtClean="0"/>
              <a:t>Copy the tally into your own table!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66772746"/>
              </p:ext>
            </p:extLst>
          </p:nvPr>
        </p:nvGraphicFramePr>
        <p:xfrm>
          <a:off x="6208713" y="2603500"/>
          <a:ext cx="4824411" cy="36554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8137"/>
                <a:gridCol w="1608137"/>
                <a:gridCol w="1608137"/>
              </a:tblGrid>
              <a:tr h="723048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Number of</a:t>
                      </a:r>
                      <a:r>
                        <a:rPr lang="en-AU" baseline="0" dirty="0" smtClean="0"/>
                        <a:t> siblings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Tally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Frequency</a:t>
                      </a:r>
                      <a:endParaRPr lang="en-AU" dirty="0"/>
                    </a:p>
                  </a:txBody>
                  <a:tcPr/>
                </a:tc>
              </a:tr>
              <a:tr h="418909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0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</a:tr>
              <a:tr h="418909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</a:tr>
              <a:tr h="418909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</a:tr>
              <a:tr h="418909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</a:tr>
              <a:tr h="418909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</a:tr>
              <a:tr h="418909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  <a:tr h="418909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 smtClean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806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happens if we have a large set of data?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 smtClean="0"/>
              <a:t>The Wildcats basketball team has kept a record of their points scored last season.  These are:</a:t>
            </a:r>
          </a:p>
          <a:p>
            <a:pPr marL="0" indent="0">
              <a:buNone/>
            </a:pPr>
            <a:endParaRPr lang="en-AU" sz="2000" dirty="0"/>
          </a:p>
          <a:p>
            <a:pPr marL="0" indent="0">
              <a:buNone/>
            </a:pPr>
            <a:r>
              <a:rPr lang="en-AU" sz="2000" dirty="0" smtClean="0"/>
              <a:t>73, 84, 68, 45, 52, 44, 45, 52, 66, 42, 43, 53, 47, 82, 76, 42, 57, 65, 81, 80, 40, 56, 72, 74, 83, 41, 66, 76, 75, 68, 81, 82, 79, 58, 81, 78, 80, 78, 76.</a:t>
            </a:r>
          </a:p>
          <a:p>
            <a:pPr marL="457200" indent="-457200">
              <a:buAutoNum type="alphaLcParenR"/>
            </a:pPr>
            <a:r>
              <a:rPr lang="en-AU" sz="2000" dirty="0" smtClean="0"/>
              <a:t>Is this data discrete or continuous?</a:t>
            </a:r>
          </a:p>
          <a:p>
            <a:pPr marL="457200" indent="-457200">
              <a:buAutoNum type="alphaLcParenR"/>
            </a:pPr>
            <a:r>
              <a:rPr lang="en-AU" sz="2000" dirty="0" smtClean="0"/>
              <a:t>What problems might you have putting this information on a frequency table similar to the one we just completed? 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101314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=""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</a:t>
            </a:r>
            <a:r>
              <a:rPr lang="en-AU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Collecting data</a:t>
            </a:r>
            <a:endParaRPr lang="en-AU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 smtClean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4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=""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37322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BE293619-384A-F94A-AC36-988D2B8F5C00}"/>
              </a:ext>
            </a:extLst>
          </p:cNvPr>
          <p:cNvSpPr txBox="1"/>
          <p:nvPr/>
        </p:nvSpPr>
        <p:spPr>
          <a:xfrm>
            <a:off x="183725" y="1517604"/>
            <a:ext cx="1549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How can I sort large amounts of data easier?</a:t>
            </a:r>
            <a:endParaRPr lang="en-US" sz="2000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ABD1BB03-733E-D84B-8CDE-7CED498FF666}"/>
              </a:ext>
            </a:extLst>
          </p:cNvPr>
          <p:cNvCxnSpPr>
            <a:cxnSpLocks/>
          </p:cNvCxnSpPr>
          <p:nvPr/>
        </p:nvCxnSpPr>
        <p:spPr>
          <a:xfrm>
            <a:off x="1792705" y="1222394"/>
            <a:ext cx="0" cy="499630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0CC5E51-722E-D843-B47D-8F3A5DB22F6A}"/>
              </a:ext>
            </a:extLst>
          </p:cNvPr>
          <p:cNvSpPr txBox="1"/>
          <p:nvPr/>
        </p:nvSpPr>
        <p:spPr>
          <a:xfrm>
            <a:off x="1914293" y="1458955"/>
            <a:ext cx="101561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When there is a large amount of numerical data spread out over many values, we group the data into sets called “classes”.</a:t>
            </a:r>
            <a:br>
              <a:rPr lang="en-US" sz="2000" dirty="0" smtClean="0"/>
            </a:br>
            <a:r>
              <a:rPr lang="en-US" sz="2000" dirty="0" smtClean="0"/>
              <a:t/>
            </a:r>
            <a:br>
              <a:rPr lang="en-US" sz="2000" dirty="0" smtClean="0"/>
            </a:br>
            <a:r>
              <a:rPr lang="en-US" sz="2000" dirty="0" smtClean="0"/>
              <a:t>This means that we group the data into an interval of 5 or 10 so that you get smaller groups for your table.  These are called “</a:t>
            </a:r>
            <a:r>
              <a:rPr lang="en-US" sz="2000" b="1" dirty="0" smtClean="0"/>
              <a:t>class intervals</a:t>
            </a:r>
            <a:r>
              <a:rPr lang="en-US" sz="2000" dirty="0" smtClean="0"/>
              <a:t>” and go into the first column of your frequency table.</a:t>
            </a:r>
          </a:p>
          <a:p>
            <a:endParaRPr lang="en-US" sz="2000" dirty="0"/>
          </a:p>
          <a:p>
            <a:r>
              <a:rPr lang="en-US" sz="2000" dirty="0" smtClean="0"/>
              <a:t>Note: you need to make sure that your intervals are all the same size </a:t>
            </a:r>
          </a:p>
          <a:p>
            <a:r>
              <a:rPr lang="en-US" sz="2000" dirty="0" smtClean="0"/>
              <a:t>e.g. intervals 0-9, 10-19, 20-29 etc.  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608B075D-25AF-3F4E-ABCC-9BE46F9BCB84}"/>
              </a:ext>
            </a:extLst>
          </p:cNvPr>
          <p:cNvSpPr txBox="1"/>
          <p:nvPr/>
        </p:nvSpPr>
        <p:spPr>
          <a:xfrm>
            <a:off x="183724" y="3732428"/>
            <a:ext cx="124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652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97348" y="16242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105" y="348675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Collecting data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3824796" y="1624252"/>
            <a:ext cx="30708" cy="4627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1604408" y="1144178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7351152" y="1624252"/>
            <a:ext cx="0" cy="4627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1552157" y="1938178"/>
            <a:ext cx="21054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How do we create a grouped frequency table?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3948037" y="1870829"/>
            <a:ext cx="3205211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1. Determine the smallest and biggest values, this will tell you the range of your data.</a:t>
            </a:r>
            <a:br>
              <a:rPr lang="en-US" sz="2000" dirty="0" smtClean="0"/>
            </a:br>
            <a:endParaRPr lang="en-US" sz="2000" dirty="0" smtClean="0"/>
          </a:p>
          <a:p>
            <a:r>
              <a:rPr lang="en-US" sz="2000" dirty="0" smtClean="0"/>
              <a:t>2. Decide on how you are going to group your data.</a:t>
            </a:r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3. Draw your table with 3 columns.</a:t>
            </a:r>
            <a:endParaRPr lang="en-US" sz="2000" dirty="0"/>
          </a:p>
          <a:p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1390288" y="625169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25031" y="1870829"/>
            <a:ext cx="3116317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73, 84, 68, 45, 52, 44, 45, 52, 66, 42, 43, 53, 47, 82</a:t>
            </a:r>
            <a:r>
              <a:rPr lang="en-AU" sz="2000" dirty="0" smtClean="0"/>
              <a:t>, </a:t>
            </a:r>
            <a:r>
              <a:rPr lang="en-AU" sz="2000" dirty="0"/>
              <a:t>56, 72, 74, </a:t>
            </a:r>
            <a:r>
              <a:rPr lang="en-AU" sz="2000" dirty="0" smtClean="0"/>
              <a:t>81, </a:t>
            </a:r>
            <a:r>
              <a:rPr lang="en-AU" sz="2000" dirty="0"/>
              <a:t>41, 66, 76, 75, 68, 81, 82, 79, 58, 81, </a:t>
            </a:r>
            <a:r>
              <a:rPr lang="en-AU" sz="2000" dirty="0" smtClean="0"/>
              <a:t>78, </a:t>
            </a:r>
            <a:r>
              <a:rPr lang="en-AU" sz="2000" dirty="0"/>
              <a:t>76.</a:t>
            </a:r>
          </a:p>
          <a:p>
            <a:endParaRPr lang="en-AU" sz="2000" dirty="0" smtClean="0"/>
          </a:p>
          <a:p>
            <a:r>
              <a:rPr lang="en-AU" sz="2000" dirty="0" smtClean="0"/>
              <a:t>Our smallest value is 41, largest is 84</a:t>
            </a:r>
          </a:p>
          <a:p>
            <a:r>
              <a:rPr lang="en-AU" sz="2000" dirty="0" smtClean="0"/>
              <a:t>84 - 41 = 43</a:t>
            </a:r>
          </a:p>
          <a:p>
            <a:endParaRPr lang="en-AU" sz="2000" dirty="0"/>
          </a:p>
          <a:p>
            <a:r>
              <a:rPr lang="en-AU" sz="2000" dirty="0" smtClean="0"/>
              <a:t>We could split it into intervals of </a:t>
            </a:r>
            <a:r>
              <a:rPr lang="en-AU" sz="2000" dirty="0" smtClean="0"/>
              <a:t>9</a:t>
            </a:r>
            <a:endParaRPr lang="en-AU" sz="2000" dirty="0" smtClean="0"/>
          </a:p>
          <a:p>
            <a:r>
              <a:rPr lang="en-AU" sz="2000" dirty="0" smtClean="0"/>
              <a:t>e.g. 40 – </a:t>
            </a:r>
            <a:r>
              <a:rPr lang="en-AU" sz="2000" dirty="0" smtClean="0"/>
              <a:t>49, 50 </a:t>
            </a:r>
            <a:r>
              <a:rPr lang="en-AU" sz="2000" dirty="0" smtClean="0"/>
              <a:t>- </a:t>
            </a:r>
            <a:r>
              <a:rPr lang="en-AU" sz="2000" dirty="0" smtClean="0"/>
              <a:t>59</a:t>
            </a:r>
            <a:endParaRPr lang="en-AU" sz="2000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29089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97348" y="16242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105" y="348675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Collecting data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3824796" y="1624252"/>
            <a:ext cx="30708" cy="4627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1604408" y="1144178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7351152" y="1624252"/>
            <a:ext cx="0" cy="4627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1552157" y="1938178"/>
            <a:ext cx="21054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How do we create a grouped frequency table?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3948037" y="1870829"/>
            <a:ext cx="320521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3. Draw your table with 3 columns</a:t>
            </a:r>
            <a:r>
              <a:rPr lang="en-US" sz="2000" dirty="0" smtClean="0"/>
              <a:t>. </a:t>
            </a:r>
          </a:p>
          <a:p>
            <a:r>
              <a:rPr lang="en-US" sz="2000" dirty="0" smtClean="0"/>
              <a:t>Be careful with your intervals so that you don’t miss numbers or have them twice!</a:t>
            </a:r>
            <a:endParaRPr lang="en-US" sz="2000" dirty="0"/>
          </a:p>
          <a:p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1390288" y="625169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25031" y="1870829"/>
            <a:ext cx="31163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73, 84, 68, 45, 52, 44, 45, 52, 66, 42, 43, 53, 47, 82</a:t>
            </a:r>
            <a:r>
              <a:rPr lang="en-AU" dirty="0" smtClean="0"/>
              <a:t>, </a:t>
            </a:r>
            <a:r>
              <a:rPr lang="en-AU" dirty="0"/>
              <a:t>56, 72, 74, </a:t>
            </a:r>
            <a:r>
              <a:rPr lang="en-AU" dirty="0" smtClean="0"/>
              <a:t>81, </a:t>
            </a:r>
            <a:r>
              <a:rPr lang="en-AU" dirty="0"/>
              <a:t>41, 66, 76, 75, 68, 81, 82, 79, 58, 81, </a:t>
            </a:r>
            <a:r>
              <a:rPr lang="en-AU" dirty="0" smtClean="0"/>
              <a:t>78, </a:t>
            </a:r>
            <a:r>
              <a:rPr lang="en-AU" dirty="0"/>
              <a:t>76.</a:t>
            </a:r>
          </a:p>
          <a:p>
            <a:endParaRPr lang="en-AU" dirty="0" smtClean="0"/>
          </a:p>
          <a:p>
            <a:endParaRPr lang="en-AU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3167109"/>
              </p:ext>
            </p:extLst>
          </p:nvPr>
        </p:nvGraphicFramePr>
        <p:xfrm>
          <a:off x="4997670" y="3892776"/>
          <a:ext cx="602242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7476"/>
                <a:gridCol w="2007476"/>
                <a:gridCol w="2007476"/>
              </a:tblGrid>
              <a:tr h="518311">
                <a:tc>
                  <a:txBody>
                    <a:bodyPr/>
                    <a:lstStyle/>
                    <a:p>
                      <a:r>
                        <a:rPr lang="en-AU" dirty="0" smtClean="0"/>
                        <a:t>Number of goals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Tally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Frequency</a:t>
                      </a:r>
                      <a:endParaRPr lang="en-AU" dirty="0"/>
                    </a:p>
                  </a:txBody>
                  <a:tcPr/>
                </a:tc>
              </a:tr>
              <a:tr h="296178">
                <a:tc>
                  <a:txBody>
                    <a:bodyPr/>
                    <a:lstStyle/>
                    <a:p>
                      <a:r>
                        <a:rPr lang="en-AU" dirty="0" smtClean="0"/>
                        <a:t>40 – </a:t>
                      </a:r>
                      <a:r>
                        <a:rPr lang="en-AU" dirty="0" smtClean="0"/>
                        <a:t>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96178">
                <a:tc>
                  <a:txBody>
                    <a:bodyPr/>
                    <a:lstStyle/>
                    <a:p>
                      <a:r>
                        <a:rPr lang="en-AU" dirty="0" smtClean="0"/>
                        <a:t>50 </a:t>
                      </a:r>
                      <a:r>
                        <a:rPr lang="en-AU" dirty="0" smtClean="0"/>
                        <a:t>– </a:t>
                      </a:r>
                      <a:r>
                        <a:rPr lang="en-AU" dirty="0" smtClean="0"/>
                        <a:t>59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96178">
                <a:tc>
                  <a:txBody>
                    <a:bodyPr/>
                    <a:lstStyle/>
                    <a:p>
                      <a:r>
                        <a:rPr lang="en-AU" dirty="0" smtClean="0"/>
                        <a:t>60 </a:t>
                      </a:r>
                      <a:r>
                        <a:rPr lang="en-AU" dirty="0" smtClean="0"/>
                        <a:t>– </a:t>
                      </a:r>
                      <a:r>
                        <a:rPr lang="en-AU" dirty="0" smtClean="0"/>
                        <a:t>69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96178">
                <a:tc>
                  <a:txBody>
                    <a:bodyPr/>
                    <a:lstStyle/>
                    <a:p>
                      <a:r>
                        <a:rPr lang="en-AU" dirty="0" smtClean="0"/>
                        <a:t>70 </a:t>
                      </a:r>
                      <a:r>
                        <a:rPr lang="en-AU" dirty="0" smtClean="0"/>
                        <a:t>– </a:t>
                      </a:r>
                      <a:r>
                        <a:rPr lang="en-AU" dirty="0" smtClean="0"/>
                        <a:t>79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96178">
                <a:tc>
                  <a:txBody>
                    <a:bodyPr/>
                    <a:lstStyle/>
                    <a:p>
                      <a:r>
                        <a:rPr lang="en-AU" dirty="0" smtClean="0"/>
                        <a:t>80 </a:t>
                      </a:r>
                      <a:r>
                        <a:rPr lang="en-AU" dirty="0" smtClean="0"/>
                        <a:t>- </a:t>
                      </a:r>
                      <a:r>
                        <a:rPr lang="en-AU" dirty="0" smtClean="0"/>
                        <a:t>89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</a:tr>
              <a:tr h="29617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Total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3986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497348" y="16242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9105" y="348675"/>
            <a:ext cx="327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Collecting data</a:t>
            </a:r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3824796" y="1624252"/>
            <a:ext cx="30708" cy="4627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="" xmlns:a16="http://schemas.microsoft.com/office/drawing/2014/main" id="{CC43BB08-15C1-461A-9A30-7797DDE0B81D}"/>
              </a:ext>
            </a:extLst>
          </p:cNvPr>
          <p:cNvSpPr txBox="1"/>
          <p:nvPr/>
        </p:nvSpPr>
        <p:spPr>
          <a:xfrm>
            <a:off x="1604408" y="1144178"/>
            <a:ext cx="8929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cs typeface="Calibri" panose="020F0502020204030204" pitchFamily="34" charset="0"/>
              </a:rPr>
              <a:t>EQ: </a:t>
            </a:r>
            <a:r>
              <a:rPr lang="en-AU" sz="2400" dirty="0"/>
              <a:t>What is a frequency table and how do I use one</a:t>
            </a:r>
            <a:r>
              <a:rPr lang="en-AU" sz="2400" dirty="0">
                <a:cs typeface="Calibri" panose="020F0502020204030204" pitchFamily="34" charset="0"/>
              </a:rPr>
              <a:t>? 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8260AA77-76C8-4593-BB13-859489211D69}"/>
              </a:ext>
            </a:extLst>
          </p:cNvPr>
          <p:cNvCxnSpPr>
            <a:cxnSpLocks/>
          </p:cNvCxnSpPr>
          <p:nvPr/>
        </p:nvCxnSpPr>
        <p:spPr>
          <a:xfrm>
            <a:off x="7351152" y="1624252"/>
            <a:ext cx="0" cy="462744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C530022D-68F2-48EC-A1E4-EC6B68AD9DDF}"/>
              </a:ext>
            </a:extLst>
          </p:cNvPr>
          <p:cNvSpPr txBox="1"/>
          <p:nvPr/>
        </p:nvSpPr>
        <p:spPr>
          <a:xfrm>
            <a:off x="1552157" y="1938178"/>
            <a:ext cx="21054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How do we create a grouped frequency table?</a:t>
            </a:r>
            <a:endParaRPr 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7946A4A-3623-4079-93E1-CC9DE1F237F2}"/>
              </a:ext>
            </a:extLst>
          </p:cNvPr>
          <p:cNvSpPr txBox="1"/>
          <p:nvPr/>
        </p:nvSpPr>
        <p:spPr>
          <a:xfrm>
            <a:off x="3948037" y="1870829"/>
            <a:ext cx="320521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4. Use the tally column to help with the count (work left to right)</a:t>
            </a:r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r>
              <a:rPr lang="en-US" sz="2000" dirty="0" smtClean="0"/>
              <a:t>5. Enter the tallies as numbers and add them all up to check that you have the correct total</a:t>
            </a:r>
            <a:endParaRPr lang="en-US" sz="2000" dirty="0"/>
          </a:p>
          <a:p>
            <a:endParaRPr lang="en-AU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FA96DB43-18D1-4C7B-AF43-333BDEE3DF7C}"/>
              </a:ext>
            </a:extLst>
          </p:cNvPr>
          <p:cNvCxnSpPr/>
          <p:nvPr/>
        </p:nvCxnSpPr>
        <p:spPr>
          <a:xfrm>
            <a:off x="1390288" y="625169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525031" y="1870829"/>
            <a:ext cx="311631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73, 84, 68, 45, 52, 44, 45, 52, 66, 42, 43, 53, 47, 82</a:t>
            </a:r>
            <a:r>
              <a:rPr lang="en-AU" dirty="0" smtClean="0"/>
              <a:t>, </a:t>
            </a:r>
            <a:r>
              <a:rPr lang="en-AU" dirty="0"/>
              <a:t>56, 72, 74, </a:t>
            </a:r>
            <a:r>
              <a:rPr lang="en-AU" dirty="0" smtClean="0"/>
              <a:t>81, </a:t>
            </a:r>
            <a:r>
              <a:rPr lang="en-AU" dirty="0"/>
              <a:t>41, 66, 76, 75, 68, 81, 82, 79, 58, 81, </a:t>
            </a:r>
            <a:r>
              <a:rPr lang="en-AU" dirty="0" smtClean="0"/>
              <a:t>78, </a:t>
            </a:r>
            <a:r>
              <a:rPr lang="en-AU" dirty="0"/>
              <a:t>76.</a:t>
            </a:r>
          </a:p>
          <a:p>
            <a:endParaRPr lang="en-AU" dirty="0"/>
          </a:p>
          <a:p>
            <a:endParaRPr lang="en-AU" dirty="0" smtClean="0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2117139"/>
              </p:ext>
            </p:extLst>
          </p:nvPr>
        </p:nvGraphicFramePr>
        <p:xfrm>
          <a:off x="7153248" y="3417053"/>
          <a:ext cx="42767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5584"/>
                <a:gridCol w="1425584"/>
                <a:gridCol w="1425584"/>
              </a:tblGrid>
              <a:tr h="0">
                <a:tc>
                  <a:txBody>
                    <a:bodyPr/>
                    <a:lstStyle/>
                    <a:p>
                      <a:r>
                        <a:rPr lang="en-AU" dirty="0" smtClean="0"/>
                        <a:t>Number of goals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Tally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Frequency</a:t>
                      </a:r>
                      <a:endParaRPr lang="en-AU" dirty="0"/>
                    </a:p>
                  </a:txBody>
                  <a:tcPr/>
                </a:tc>
              </a:tr>
              <a:tr h="332598">
                <a:tc>
                  <a:txBody>
                    <a:bodyPr/>
                    <a:lstStyle/>
                    <a:p>
                      <a:r>
                        <a:rPr lang="en-AU" dirty="0" smtClean="0"/>
                        <a:t>40 – </a:t>
                      </a:r>
                      <a:r>
                        <a:rPr lang="en-AU" dirty="0" smtClean="0"/>
                        <a:t>49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IIIII II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7</a:t>
                      </a:r>
                      <a:endParaRPr lang="en-AU" dirty="0"/>
                    </a:p>
                  </a:txBody>
                  <a:tcPr/>
                </a:tc>
              </a:tr>
              <a:tr h="332598">
                <a:tc>
                  <a:txBody>
                    <a:bodyPr/>
                    <a:lstStyle/>
                    <a:p>
                      <a:r>
                        <a:rPr lang="en-AU" dirty="0" smtClean="0"/>
                        <a:t>50 </a:t>
                      </a:r>
                      <a:r>
                        <a:rPr lang="en-AU" dirty="0" smtClean="0"/>
                        <a:t>– </a:t>
                      </a:r>
                      <a:r>
                        <a:rPr lang="en-AU" dirty="0" smtClean="0"/>
                        <a:t>59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IIIII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5</a:t>
                      </a:r>
                      <a:endParaRPr lang="en-AU" dirty="0"/>
                    </a:p>
                  </a:txBody>
                  <a:tcPr/>
                </a:tc>
              </a:tr>
              <a:tr h="332598">
                <a:tc>
                  <a:txBody>
                    <a:bodyPr/>
                    <a:lstStyle/>
                    <a:p>
                      <a:r>
                        <a:rPr lang="en-AU" dirty="0" smtClean="0"/>
                        <a:t>60 </a:t>
                      </a:r>
                      <a:r>
                        <a:rPr lang="en-AU" dirty="0" smtClean="0"/>
                        <a:t>– </a:t>
                      </a:r>
                      <a:r>
                        <a:rPr lang="en-AU" dirty="0" smtClean="0"/>
                        <a:t>69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IIII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/>
                </a:tc>
              </a:tr>
              <a:tr h="332598">
                <a:tc>
                  <a:txBody>
                    <a:bodyPr/>
                    <a:lstStyle/>
                    <a:p>
                      <a:r>
                        <a:rPr lang="en-AU" dirty="0" smtClean="0"/>
                        <a:t>70 </a:t>
                      </a:r>
                      <a:r>
                        <a:rPr lang="en-AU" dirty="0" smtClean="0"/>
                        <a:t>– </a:t>
                      </a:r>
                      <a:r>
                        <a:rPr lang="en-AU" dirty="0" smtClean="0"/>
                        <a:t>79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IIIII III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</a:t>
                      </a:r>
                      <a:endParaRPr lang="en-AU" dirty="0"/>
                    </a:p>
                  </a:txBody>
                  <a:tcPr/>
                </a:tc>
              </a:tr>
              <a:tr h="332598">
                <a:tc>
                  <a:txBody>
                    <a:bodyPr/>
                    <a:lstStyle/>
                    <a:p>
                      <a:r>
                        <a:rPr lang="en-AU" dirty="0" smtClean="0"/>
                        <a:t>80 </a:t>
                      </a:r>
                      <a:r>
                        <a:rPr lang="en-AU" dirty="0" smtClean="0"/>
                        <a:t>- </a:t>
                      </a:r>
                      <a:r>
                        <a:rPr lang="en-AU" dirty="0" smtClean="0"/>
                        <a:t>89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IIIII I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6</a:t>
                      </a:r>
                      <a:endParaRPr lang="en-AU" dirty="0"/>
                    </a:p>
                  </a:txBody>
                  <a:tcPr/>
                </a:tc>
              </a:tr>
              <a:tr h="332598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Total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30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740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Your turn! LHS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000" dirty="0" smtClean="0"/>
              <a:t>Put the following sets of data into frequency tables</a:t>
            </a:r>
          </a:p>
          <a:p>
            <a:pPr marL="0" indent="0">
              <a:buNone/>
            </a:pPr>
            <a:endParaRPr lang="en-AU" sz="2000" dirty="0"/>
          </a:p>
          <a:p>
            <a:pPr marL="457200" indent="-457200">
              <a:buAutoNum type="alphaLcParenR"/>
            </a:pPr>
            <a:r>
              <a:rPr lang="en-AU" sz="2000" dirty="0" smtClean="0"/>
              <a:t>Number of pets students have:</a:t>
            </a:r>
            <a:br>
              <a:rPr lang="en-AU" sz="2000" dirty="0" smtClean="0"/>
            </a:br>
            <a:r>
              <a:rPr lang="en-AU" sz="2000" dirty="0" smtClean="0"/>
              <a:t>{ 2, 3, 5, 0, 1, 0, 1, 2, 3, 4, 0, 1, 1, 2, 6, 2, 0, 1, 2 }</a:t>
            </a:r>
            <a:br>
              <a:rPr lang="en-AU" sz="2000" dirty="0" smtClean="0"/>
            </a:br>
            <a:endParaRPr lang="en-AU" sz="2000" dirty="0" smtClean="0"/>
          </a:p>
          <a:p>
            <a:pPr marL="457200" indent="-457200">
              <a:buAutoNum type="alphaLcParenR"/>
            </a:pPr>
            <a:r>
              <a:rPr lang="en-AU" sz="2000" dirty="0" smtClean="0"/>
              <a:t>Height of </a:t>
            </a:r>
            <a:r>
              <a:rPr lang="en-AU" sz="2000" dirty="0" err="1" smtClean="0"/>
              <a:t>Yr</a:t>
            </a:r>
            <a:r>
              <a:rPr lang="en-AU" sz="2000" dirty="0" smtClean="0"/>
              <a:t> 8 students:</a:t>
            </a:r>
            <a:br>
              <a:rPr lang="en-AU" sz="2000" dirty="0" smtClean="0"/>
            </a:br>
            <a:r>
              <a:rPr lang="en-AU" sz="2000" dirty="0" smtClean="0"/>
              <a:t>{ 145, 140, 160, 135, 135, 145, 143, 162, 145, 135, 150, 145, 140, 140, 145, 125, 140, 141, 150, 152, 155, 140, 145, 135, 135 }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395492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3337</TotalTime>
  <Words>1107</Words>
  <Application>Microsoft Office PowerPoint</Application>
  <PresentationFormat>Widescreen</PresentationFormat>
  <Paragraphs>173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Century Gothic</vt:lpstr>
      <vt:lpstr>Wingdings 3</vt:lpstr>
      <vt:lpstr>Ion Boardroom</vt:lpstr>
      <vt:lpstr>Statistics: Collecting Data</vt:lpstr>
      <vt:lpstr>First 5</vt:lpstr>
      <vt:lpstr>PowerPoint Presentation</vt:lpstr>
      <vt:lpstr>PowerPoint Presentation</vt:lpstr>
      <vt:lpstr>LHS Practise</vt:lpstr>
      <vt:lpstr>LHS Practise</vt:lpstr>
      <vt:lpstr>PowerPoint Presentation</vt:lpstr>
      <vt:lpstr>PowerPoint Presentation</vt:lpstr>
      <vt:lpstr>Class example!</vt:lpstr>
      <vt:lpstr>What happens if we have a large set of data?</vt:lpstr>
      <vt:lpstr>PowerPoint Presentation</vt:lpstr>
      <vt:lpstr>PowerPoint Presentation</vt:lpstr>
      <vt:lpstr>PowerPoint Presentation</vt:lpstr>
      <vt:lpstr>PowerPoint Presentation</vt:lpstr>
      <vt:lpstr>Your turn! LHS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</dc:title>
  <dc:creator>Coz W</dc:creator>
  <cp:lastModifiedBy>Coz W</cp:lastModifiedBy>
  <cp:revision>27</cp:revision>
  <dcterms:created xsi:type="dcterms:W3CDTF">2021-06-05T07:15:30Z</dcterms:created>
  <dcterms:modified xsi:type="dcterms:W3CDTF">2021-06-07T14:54:05Z</dcterms:modified>
</cp:coreProperties>
</file>
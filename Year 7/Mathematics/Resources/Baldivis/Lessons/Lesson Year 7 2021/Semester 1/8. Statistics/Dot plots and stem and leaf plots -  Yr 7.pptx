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0" r:id="rId1"/>
  </p:sldMasterIdLst>
  <p:notesMasterIdLst>
    <p:notesMasterId r:id="rId24"/>
  </p:notesMasterIdLst>
  <p:sldIdLst>
    <p:sldId id="256" r:id="rId2"/>
    <p:sldId id="258" r:id="rId3"/>
    <p:sldId id="272" r:id="rId4"/>
    <p:sldId id="257" r:id="rId5"/>
    <p:sldId id="259" r:id="rId6"/>
    <p:sldId id="273" r:id="rId7"/>
    <p:sldId id="260" r:id="rId8"/>
    <p:sldId id="274" r:id="rId9"/>
    <p:sldId id="275" r:id="rId10"/>
    <p:sldId id="277" r:id="rId11"/>
    <p:sldId id="261" r:id="rId12"/>
    <p:sldId id="276" r:id="rId13"/>
    <p:sldId id="262" r:id="rId14"/>
    <p:sldId id="278" r:id="rId15"/>
    <p:sldId id="263" r:id="rId16"/>
    <p:sldId id="279" r:id="rId17"/>
    <p:sldId id="280" r:id="rId18"/>
    <p:sldId id="281" r:id="rId19"/>
    <p:sldId id="282" r:id="rId20"/>
    <p:sldId id="283" r:id="rId21"/>
    <p:sldId id="284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1" autoAdjust="0"/>
    <p:restoredTop sz="94660"/>
  </p:normalViewPr>
  <p:slideViewPr>
    <p:cSldViewPr snapToGrid="0">
      <p:cViewPr varScale="1">
        <p:scale>
          <a:sx n="42" d="100"/>
          <a:sy n="42" d="100"/>
        </p:scale>
        <p:origin x="88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Minimum</a:t>
            </a:r>
            <a:r>
              <a:rPr lang="en-US" baseline="0"/>
              <a:t> Daily Temp July 2020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12</c:v>
                </c:pt>
                <c:pt idx="1">
                  <c:v>4</c:v>
                </c:pt>
                <c:pt idx="2">
                  <c:v>7</c:v>
                </c:pt>
                <c:pt idx="3">
                  <c:v>12</c:v>
                </c:pt>
                <c:pt idx="4">
                  <c:v>10</c:v>
                </c:pt>
                <c:pt idx="5">
                  <c:v>13</c:v>
                </c:pt>
                <c:pt idx="6">
                  <c:v>12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5</c:v>
                </c:pt>
                <c:pt idx="11">
                  <c:v>7</c:v>
                </c:pt>
                <c:pt idx="12">
                  <c:v>11</c:v>
                </c:pt>
                <c:pt idx="13">
                  <c:v>12</c:v>
                </c:pt>
                <c:pt idx="14">
                  <c:v>9</c:v>
                </c:pt>
                <c:pt idx="15">
                  <c:v>13</c:v>
                </c:pt>
                <c:pt idx="16">
                  <c:v>12</c:v>
                </c:pt>
                <c:pt idx="17">
                  <c:v>7</c:v>
                </c:pt>
                <c:pt idx="18">
                  <c:v>4</c:v>
                </c:pt>
                <c:pt idx="19">
                  <c:v>5</c:v>
                </c:pt>
                <c:pt idx="20">
                  <c:v>5</c:v>
                </c:pt>
                <c:pt idx="21">
                  <c:v>8</c:v>
                </c:pt>
                <c:pt idx="22">
                  <c:v>15</c:v>
                </c:pt>
                <c:pt idx="23">
                  <c:v>4</c:v>
                </c:pt>
                <c:pt idx="24">
                  <c:v>5</c:v>
                </c:pt>
                <c:pt idx="25">
                  <c:v>14</c:v>
                </c:pt>
                <c:pt idx="26">
                  <c:v>14</c:v>
                </c:pt>
                <c:pt idx="27">
                  <c:v>12</c:v>
                </c:pt>
                <c:pt idx="28">
                  <c:v>12</c:v>
                </c:pt>
                <c:pt idx="29">
                  <c:v>7</c:v>
                </c:pt>
                <c:pt idx="30">
                  <c:v>9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4</c:v>
                </c:pt>
                <c:pt idx="14">
                  <c:v>1</c:v>
                </c:pt>
                <c:pt idx="15">
                  <c:v>2</c:v>
                </c:pt>
                <c:pt idx="16">
                  <c:v>5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1</c:v>
                </c:pt>
                <c:pt idx="22">
                  <c:v>1</c:v>
                </c:pt>
                <c:pt idx="23">
                  <c:v>3</c:v>
                </c:pt>
                <c:pt idx="24">
                  <c:v>5</c:v>
                </c:pt>
                <c:pt idx="25">
                  <c:v>1</c:v>
                </c:pt>
                <c:pt idx="26">
                  <c:v>2</c:v>
                </c:pt>
                <c:pt idx="27">
                  <c:v>6</c:v>
                </c:pt>
                <c:pt idx="28">
                  <c:v>7</c:v>
                </c:pt>
                <c:pt idx="29">
                  <c:v>4</c:v>
                </c:pt>
                <c:pt idx="30">
                  <c:v>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3920192"/>
        <c:axId val="523922152"/>
      </c:scatterChart>
      <c:valAx>
        <c:axId val="523920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aseline="0"/>
                  <a:t>Temperature (c)</a:t>
                </a:r>
                <a:endParaRPr lang="en-AU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3922152"/>
        <c:crosses val="autoZero"/>
        <c:crossBetween val="midCat"/>
      </c:valAx>
      <c:valAx>
        <c:axId val="523922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39201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995D6-2FDB-4673-8A8F-C80819CB4A2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D8B93-39E7-444F-92D5-71308FBC03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53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956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2052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17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0590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74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19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8312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6926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993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9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7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5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5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54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7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4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285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42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02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92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995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76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8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0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AeXIqeNKgg" TargetMode="External"/><Relationship Id="rId2" Type="http://schemas.openxmlformats.org/officeDocument/2006/relationships/hyperlink" Target="https://www.youtube.com/watch?v=XJj6kAveI1I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youtube.com/watch?v=Iq6CpefZwAk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hoWhWu-g30&amp;list=RDCMUCQRcG9o2pBhMX9muqLYImmw&amp;index=1" TargetMode="External"/><Relationship Id="rId2" Type="http://schemas.openxmlformats.org/officeDocument/2006/relationships/hyperlink" Target="https://www.youtube.com/watch?v=bsYmXapWDk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/>
              <a:t>Statistics: </a:t>
            </a:r>
            <a:r>
              <a:rPr lang="en-AU" b="1" dirty="0" smtClean="0"/>
              <a:t>Displaying </a:t>
            </a:r>
            <a:r>
              <a:rPr lang="en-AU" b="1" dirty="0" smtClean="0"/>
              <a:t>Data</a:t>
            </a:r>
            <a:endParaRPr lang="en-AU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3200" b="1" dirty="0" smtClean="0"/>
              <a:t>EQ: </a:t>
            </a:r>
            <a:r>
              <a:rPr lang="en-AU" sz="3200" b="1" dirty="0" smtClean="0"/>
              <a:t>Compare dot plots to stem and leaf plots?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16549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483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6290" y="1876097"/>
            <a:ext cx="87408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LHS Brainstorm: What are some different ways we display numbers/data?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8340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Displaying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2378" y="1438568"/>
            <a:ext cx="1549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can we display data?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can be </a:t>
            </a:r>
            <a:r>
              <a:rPr lang="en-US" sz="2000" dirty="0" smtClean="0"/>
              <a:t>displayed in many different ways and the most appropriate way will depen</a:t>
            </a:r>
            <a:r>
              <a:rPr lang="en-US" sz="2000" dirty="0" smtClean="0"/>
              <a:t>d on the type and amount of data, and what we are using it for.</a:t>
            </a:r>
          </a:p>
          <a:p>
            <a:endParaRPr lang="en-US" sz="2000" dirty="0" smtClean="0"/>
          </a:p>
          <a:p>
            <a:r>
              <a:rPr lang="en-US" sz="2000" dirty="0" smtClean="0"/>
              <a:t>Types of graphs that we use in </a:t>
            </a:r>
            <a:r>
              <a:rPr lang="en-US" sz="2000" dirty="0" err="1" smtClean="0"/>
              <a:t>Yr</a:t>
            </a:r>
            <a:r>
              <a:rPr lang="en-US" sz="2000" dirty="0" smtClean="0"/>
              <a:t> 7 include:</a:t>
            </a:r>
            <a:br>
              <a:rPr lang="en-US" sz="2000" dirty="0" smtClean="0"/>
            </a:b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Dot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Stem and leaf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Bar/column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histograms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r>
              <a:rPr lang="en-US" sz="2000" dirty="0" smtClean="0"/>
              <a:t>And in HASS/science you will be using line graphs.</a:t>
            </a:r>
            <a:endParaRPr lang="en-US" sz="2000" dirty="0"/>
          </a:p>
          <a:p>
            <a:r>
              <a:rPr lang="en-US" sz="2000" dirty="0" smtClean="0"/>
              <a:t>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2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dot plots? </a:t>
            </a:r>
            <a:endParaRPr lang="en-US" sz="24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</a:t>
            </a:r>
            <a:r>
              <a:rPr lang="en-US" sz="2400" b="1" dirty="0" smtClean="0"/>
              <a:t>dot</a:t>
            </a:r>
            <a:r>
              <a:rPr lang="en-US" sz="2400" dirty="0" smtClean="0"/>
              <a:t> </a:t>
            </a:r>
            <a:r>
              <a:rPr lang="en-US" sz="2400" b="1" dirty="0" smtClean="0"/>
              <a:t>plot</a:t>
            </a:r>
            <a:r>
              <a:rPr lang="en-US" sz="2400" dirty="0" smtClean="0"/>
              <a:t> is a graph where each data value is represented by a dot, placed above a scale.  They are most useful in plotting small sets of discrete numerical data.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544" y="2936283"/>
            <a:ext cx="4720787" cy="287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2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creating a dot plot</a:t>
            </a:r>
            <a:r>
              <a:rPr lang="en-US" sz="2000" dirty="0" smtClean="0"/>
              <a:t>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462839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Identify the lowest and highest values in your data set and make these the start and end points on your scale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Complete the plot by making a dot for each of the data values in the set.</a:t>
            </a:r>
            <a:br>
              <a:rPr lang="en-US" sz="2000" dirty="0" smtClean="0"/>
            </a:br>
            <a:r>
              <a:rPr lang="en-US" sz="2000" dirty="0" smtClean="0"/>
              <a:t>Be careful to space them evenly!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Add an axis label and title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6722056" y="1234273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39" y="1761712"/>
            <a:ext cx="4135366" cy="571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182" y="2701051"/>
            <a:ext cx="4642225" cy="14964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894" y="4037567"/>
            <a:ext cx="4899899" cy="211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9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48798" y="2853559"/>
            <a:ext cx="8825659" cy="3733800"/>
          </a:xfrm>
        </p:spPr>
        <p:txBody>
          <a:bodyPr>
            <a:noAutofit/>
          </a:bodyPr>
          <a:lstStyle/>
          <a:p>
            <a:r>
              <a:rPr lang="en-AU" sz="2000" dirty="0" smtClean="0"/>
              <a:t>The minimum daily temperatures (rounded) for </a:t>
            </a:r>
            <a:r>
              <a:rPr lang="en-AU" sz="2000" dirty="0"/>
              <a:t>P</a:t>
            </a:r>
            <a:r>
              <a:rPr lang="en-AU" sz="2000" dirty="0" smtClean="0"/>
              <a:t>erth in July 2020 were:</a:t>
            </a:r>
            <a:br>
              <a:rPr lang="en-AU" sz="2000" dirty="0" smtClean="0"/>
            </a:br>
            <a:r>
              <a:rPr lang="en-AU" sz="2000" dirty="0" smtClean="0"/>
              <a:t>{ 12, 4, 7, 12, 10, 13, 12, 11, 6, 5, 5, 7, 11, 12, 9, 13, 12, 7, 4, 5, 5, 8, 15, 4, 5, 14, 14, 12, 12, 7, 9 }</a:t>
            </a:r>
            <a:br>
              <a:rPr lang="en-AU" sz="2000" dirty="0" smtClean="0"/>
            </a:br>
            <a:r>
              <a:rPr lang="en-AU" sz="2000" dirty="0" smtClean="0"/>
              <a:t/>
            </a:r>
            <a:br>
              <a:rPr lang="en-AU" sz="2000" dirty="0" smtClean="0"/>
            </a:br>
            <a:r>
              <a:rPr lang="en-AU" sz="2000" dirty="0" smtClean="0"/>
              <a:t>Create a dot plot to display this data set.</a:t>
            </a:r>
          </a:p>
          <a:p>
            <a:r>
              <a:rPr lang="en-AU" sz="2000" dirty="0" smtClean="0"/>
              <a:t>1. Find the lowest and highest values and create a scale</a:t>
            </a:r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400015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48798" y="3058509"/>
            <a:ext cx="8825659" cy="3528849"/>
          </a:xfrm>
        </p:spPr>
        <p:txBody>
          <a:bodyPr>
            <a:noAutofit/>
          </a:bodyPr>
          <a:lstStyle/>
          <a:p>
            <a:r>
              <a:rPr lang="en-AU" sz="2000" dirty="0" smtClean="0"/>
              <a:t>The minimum daily temperatures (rounded) for </a:t>
            </a:r>
            <a:r>
              <a:rPr lang="en-AU" sz="2000" dirty="0"/>
              <a:t>P</a:t>
            </a:r>
            <a:r>
              <a:rPr lang="en-AU" sz="2000" dirty="0" smtClean="0"/>
              <a:t>erth in July 2020 were:</a:t>
            </a:r>
            <a:br>
              <a:rPr lang="en-AU" sz="2000" dirty="0" smtClean="0"/>
            </a:br>
            <a:r>
              <a:rPr lang="en-AU" sz="2000" dirty="0" smtClean="0"/>
              <a:t>{ 12, 4, 7, 12, 10, 13, 12, 11, 6, 5, 5, 7, 11, 12, 9, 13, 12, 7, 4, 5, 5, 8, 15, 4, 5, 14, 14, 12, 12, 7, 9 }</a:t>
            </a:r>
            <a:br>
              <a:rPr lang="en-AU" sz="2000" dirty="0" smtClean="0"/>
            </a:br>
            <a:r>
              <a:rPr lang="en-AU" sz="2000" dirty="0" smtClean="0"/>
              <a:t/>
            </a:r>
            <a:br>
              <a:rPr lang="en-AU" sz="2000" dirty="0" smtClean="0"/>
            </a:br>
            <a:r>
              <a:rPr lang="en-AU" sz="2000" dirty="0" smtClean="0"/>
              <a:t>Create a dot plot to display this data set.</a:t>
            </a:r>
          </a:p>
          <a:p>
            <a:pPr marL="457200" indent="-457200">
              <a:buAutoNum type="arabicPeriod"/>
            </a:pPr>
            <a:r>
              <a:rPr lang="en-AU" sz="2000" dirty="0" smtClean="0"/>
              <a:t>Find the lowest and highest values and create a scale.</a:t>
            </a:r>
          </a:p>
          <a:p>
            <a:pPr marL="457200" indent="-457200">
              <a:buAutoNum type="arabicPeriod"/>
            </a:pPr>
            <a:r>
              <a:rPr lang="en-AU" sz="2000" dirty="0" smtClean="0"/>
              <a:t>Put a dot for each value above the scale – remember to space them evenly.</a:t>
            </a:r>
          </a:p>
          <a:p>
            <a:r>
              <a:rPr lang="en-AU" sz="2000" dirty="0" smtClean="0"/>
              <a:t>It can help to cross them off as you add them to your graph.</a:t>
            </a:r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392781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48798" y="2853559"/>
            <a:ext cx="8825659" cy="3733800"/>
          </a:xfrm>
        </p:spPr>
        <p:txBody>
          <a:bodyPr>
            <a:noAutofit/>
          </a:bodyPr>
          <a:lstStyle/>
          <a:p>
            <a:r>
              <a:rPr lang="en-AU" sz="2000" dirty="0" smtClean="0"/>
              <a:t>The minimum daily temperatures (rounded) for </a:t>
            </a:r>
            <a:r>
              <a:rPr lang="en-AU" sz="2000" dirty="0"/>
              <a:t>P</a:t>
            </a:r>
            <a:r>
              <a:rPr lang="en-AU" sz="2000" dirty="0" smtClean="0"/>
              <a:t>erth in July 2020 were:</a:t>
            </a:r>
            <a:br>
              <a:rPr lang="en-AU" sz="2000" dirty="0" smtClean="0"/>
            </a:br>
            <a:r>
              <a:rPr lang="en-AU" sz="2000" dirty="0" smtClean="0"/>
              <a:t>{ 12, 4, 7, 12, 10, 13, 12, 11, 6, 5, 5, 7, 11, 12, 9, 13, 12, 7, 4, 5, 5, 8, 15, 4, 5, 14, 14, 12, 12, 7, 9 }</a:t>
            </a:r>
            <a:br>
              <a:rPr lang="en-AU" sz="2000" dirty="0" smtClean="0"/>
            </a:br>
            <a:r>
              <a:rPr lang="en-AU" sz="2000" dirty="0" smtClean="0"/>
              <a:t/>
            </a:r>
            <a:br>
              <a:rPr lang="en-AU" sz="2000" dirty="0" smtClean="0"/>
            </a:br>
            <a:r>
              <a:rPr lang="en-AU" sz="2000" dirty="0" smtClean="0"/>
              <a:t>Create a dot plot to display this data set.</a:t>
            </a:r>
          </a:p>
          <a:p>
            <a:pPr marL="457200" indent="-457200">
              <a:buAutoNum type="arabicPeriod"/>
            </a:pPr>
            <a:r>
              <a:rPr lang="en-AU" sz="2000" dirty="0" smtClean="0"/>
              <a:t>Find the lowest and highest values and create a scale.</a:t>
            </a:r>
          </a:p>
          <a:p>
            <a:pPr marL="457200" indent="-457200">
              <a:buAutoNum type="arabicPeriod"/>
            </a:pPr>
            <a:r>
              <a:rPr lang="en-AU" sz="2000" dirty="0" smtClean="0"/>
              <a:t>Put a dot for each value above the scale – remember to space them evenly</a:t>
            </a:r>
          </a:p>
          <a:p>
            <a:pPr marL="457200" indent="-457200">
              <a:buAutoNum type="arabicPeriod"/>
            </a:pPr>
            <a:r>
              <a:rPr lang="en-AU" sz="2000" dirty="0" smtClean="0"/>
              <a:t>Add a title for the graph and the axis</a:t>
            </a:r>
            <a:endParaRPr lang="en-AU" sz="2000" dirty="0" smtClean="0"/>
          </a:p>
        </p:txBody>
      </p:sp>
    </p:spTree>
    <p:extLst>
      <p:ext uri="{BB962C8B-B14F-4D97-AF65-F5344CB8AC3E}">
        <p14:creationId xmlns:p14="http://schemas.microsoft.com/office/powerpoint/2010/main" val="284516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358733"/>
              </p:ext>
            </p:extLst>
          </p:nvPr>
        </p:nvGraphicFramePr>
        <p:xfrm>
          <a:off x="1143000" y="1047750"/>
          <a:ext cx="9144000" cy="520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398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Helpful videos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48798" y="4171950"/>
            <a:ext cx="8825659" cy="2476500"/>
          </a:xfrm>
        </p:spPr>
        <p:txBody>
          <a:bodyPr>
            <a:noAutofit/>
          </a:bodyPr>
          <a:lstStyle/>
          <a:p>
            <a:r>
              <a:rPr lang="en-AU" sz="2000" dirty="0" smtClean="0">
                <a:solidFill>
                  <a:schemeClr val="accent1"/>
                </a:solidFill>
              </a:rPr>
              <a:t>Creating a dot plot </a:t>
            </a:r>
            <a:r>
              <a:rPr lang="en-AU" sz="2000" dirty="0">
                <a:solidFill>
                  <a:schemeClr val="accent1"/>
                </a:solidFill>
              </a:rPr>
              <a:t>in excel:</a:t>
            </a:r>
            <a:br>
              <a:rPr lang="en-AU" sz="2000" dirty="0">
                <a:solidFill>
                  <a:schemeClr val="accent1"/>
                </a:solidFill>
              </a:rPr>
            </a:br>
            <a:r>
              <a:rPr lang="en-AU" sz="2000" dirty="0">
                <a:solidFill>
                  <a:schemeClr val="accent1"/>
                </a:solidFill>
                <a:hlinkClick r:id="rId2"/>
              </a:rPr>
              <a:t>https://</a:t>
            </a:r>
            <a:r>
              <a:rPr lang="en-AU" sz="2000" dirty="0" smtClean="0">
                <a:solidFill>
                  <a:schemeClr val="accent1"/>
                </a:solidFill>
                <a:hlinkClick r:id="rId2"/>
              </a:rPr>
              <a:t>www.youtube.com/watch?v=XJj6kAveI1I</a:t>
            </a:r>
            <a:r>
              <a:rPr lang="en-AU" sz="2000" dirty="0" smtClean="0">
                <a:solidFill>
                  <a:schemeClr val="accent1"/>
                </a:solidFill>
              </a:rPr>
              <a:t/>
            </a:r>
            <a:br>
              <a:rPr lang="en-AU" sz="2000" dirty="0" smtClean="0">
                <a:solidFill>
                  <a:schemeClr val="accent1"/>
                </a:solidFill>
              </a:rPr>
            </a:br>
            <a:endParaRPr lang="en-AU" sz="2000" dirty="0">
              <a:solidFill>
                <a:schemeClr val="accent1"/>
              </a:solidFill>
            </a:endParaRPr>
          </a:p>
          <a:p>
            <a:r>
              <a:rPr lang="en-AU" sz="2000" dirty="0" smtClean="0">
                <a:solidFill>
                  <a:schemeClr val="accent1"/>
                </a:solidFill>
              </a:rPr>
              <a:t>Creating a dot plot in Google sheets: </a:t>
            </a:r>
            <a:r>
              <a:rPr lang="en-AU" sz="2000" dirty="0">
                <a:solidFill>
                  <a:schemeClr val="accent1"/>
                </a:solidFill>
                <a:hlinkClick r:id="rId3"/>
              </a:rPr>
              <a:t>https://</a:t>
            </a:r>
            <a:r>
              <a:rPr lang="en-AU" sz="2000" dirty="0" smtClean="0">
                <a:solidFill>
                  <a:schemeClr val="accent1"/>
                </a:solidFill>
                <a:hlinkClick r:id="rId3"/>
              </a:rPr>
              <a:t>www.youtube.com/watch?v=5AeXIqeNKgg</a:t>
            </a:r>
            <a:endParaRPr lang="en-AU" sz="2000" dirty="0" smtClean="0">
              <a:solidFill>
                <a:schemeClr val="accent1"/>
              </a:solidFill>
            </a:endParaRPr>
          </a:p>
          <a:p>
            <a:endParaRPr lang="en-AU" sz="2000" dirty="0">
              <a:solidFill>
                <a:schemeClr val="accent1"/>
              </a:solidFill>
            </a:endParaRPr>
          </a:p>
          <a:p>
            <a:r>
              <a:rPr lang="en-AU" sz="2000" dirty="0" smtClean="0">
                <a:solidFill>
                  <a:schemeClr val="accent1"/>
                </a:solidFill>
              </a:rPr>
              <a:t>Just creating </a:t>
            </a:r>
            <a:r>
              <a:rPr lang="en-AU" sz="2000" dirty="0">
                <a:solidFill>
                  <a:schemeClr val="accent1"/>
                </a:solidFill>
              </a:rPr>
              <a:t>a plot by hand:</a:t>
            </a:r>
            <a:br>
              <a:rPr lang="en-AU" sz="2000" dirty="0">
                <a:solidFill>
                  <a:schemeClr val="accent1"/>
                </a:solidFill>
              </a:rPr>
            </a:br>
            <a:r>
              <a:rPr lang="en-AU" sz="2000" dirty="0">
                <a:solidFill>
                  <a:schemeClr val="accent1"/>
                </a:solidFill>
                <a:hlinkClick r:id="rId4"/>
              </a:rPr>
              <a:t>https://</a:t>
            </a:r>
            <a:r>
              <a:rPr lang="en-AU" sz="2000" dirty="0" smtClean="0">
                <a:solidFill>
                  <a:schemeClr val="accent1"/>
                </a:solidFill>
                <a:hlinkClick r:id="rId4"/>
              </a:rPr>
              <a:t>www.youtube.com/watch?v=Iq6CpefZwAk</a:t>
            </a:r>
            <a:endParaRPr lang="en-AU" sz="2000" dirty="0" smtClean="0">
              <a:solidFill>
                <a:schemeClr val="accent1"/>
              </a:solidFill>
            </a:endParaRPr>
          </a:p>
          <a:p>
            <a:endParaRPr lang="en-AU" sz="2000" dirty="0" smtClean="0">
              <a:solidFill>
                <a:schemeClr val="accent1"/>
              </a:solidFill>
            </a:endParaRPr>
          </a:p>
          <a:p>
            <a:endParaRPr lang="en-AU" sz="2000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51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267" y="2400863"/>
            <a:ext cx="11320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What could make creating a dot plot faster?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490917" y="3733801"/>
            <a:ext cx="78341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chemeClr val="accent5">
                    <a:lumMod val="50000"/>
                  </a:schemeClr>
                </a:solidFill>
              </a:rPr>
              <a:t>Creating a frequency table!</a:t>
            </a:r>
          </a:p>
          <a:p>
            <a:r>
              <a:rPr lang="en-AU" sz="3600" dirty="0" smtClean="0">
                <a:solidFill>
                  <a:schemeClr val="accent5">
                    <a:lumMod val="50000"/>
                  </a:schemeClr>
                </a:solidFill>
              </a:rPr>
              <a:t>This means that you have the number of dots for each value as a total.</a:t>
            </a:r>
            <a:endParaRPr lang="en-AU" sz="36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09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is a stem and leaf plot? </a:t>
            </a:r>
            <a:endParaRPr lang="en-US" sz="24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</a:t>
            </a:r>
            <a:r>
              <a:rPr lang="en-US" sz="2400" b="1" dirty="0" smtClean="0"/>
              <a:t>stem and leaf </a:t>
            </a:r>
            <a:r>
              <a:rPr lang="en-US" sz="2400" dirty="0" smtClean="0"/>
              <a:t>can be made from 2 digit or 3 digit numerical data and are used for large data sets. They are useful because it can group data, while still showing all of the individual values. </a:t>
            </a:r>
          </a:p>
          <a:p>
            <a:endParaRPr lang="en-US" sz="2400" dirty="0"/>
          </a:p>
          <a:p>
            <a:r>
              <a:rPr lang="en-US" sz="2400" dirty="0" smtClean="0"/>
              <a:t>The stem and leaf plot consists of two parts – a stem and a leaf.  </a:t>
            </a:r>
            <a:r>
              <a:rPr lang="en-US" sz="2400" dirty="0" smtClean="0"/>
              <a:t>Each data value is divided into 2 parts so that it can be plotted like this.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For example a score of 32 can be written as:</a:t>
            </a:r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747228"/>
              </p:ext>
            </p:extLst>
          </p:nvPr>
        </p:nvGraphicFramePr>
        <p:xfrm>
          <a:off x="2085637" y="4954570"/>
          <a:ext cx="2609850" cy="1028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4925"/>
                <a:gridCol w="1304925"/>
              </a:tblGrid>
              <a:tr h="514350">
                <a:tc>
                  <a:txBody>
                    <a:bodyPr/>
                    <a:lstStyle/>
                    <a:p>
                      <a:pPr algn="r" fontAlgn="b"/>
                      <a:r>
                        <a:rPr lang="en-AU" sz="2000" u="none" strike="noStrike">
                          <a:effectLst/>
                        </a:rPr>
                        <a:t>Stem</a:t>
                      </a:r>
                      <a:endParaRPr lang="en-A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u="none" strike="noStrike" dirty="0" smtClean="0">
                          <a:effectLst/>
                        </a:rPr>
                        <a:t> Leaf</a:t>
                      </a:r>
                      <a:endParaRPr lang="en-A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514350">
                <a:tc>
                  <a:txBody>
                    <a:bodyPr/>
                    <a:lstStyle/>
                    <a:p>
                      <a:pPr algn="r" fontAlgn="b"/>
                      <a:r>
                        <a:rPr lang="en-AU" sz="2000" u="none" strike="noStrike" dirty="0" smtClean="0">
                          <a:effectLst/>
                        </a:rPr>
                        <a:t> 3</a:t>
                      </a:r>
                      <a:endParaRPr lang="en-A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000" u="none" strike="noStrike" dirty="0" smtClean="0">
                          <a:effectLst/>
                        </a:rPr>
                        <a:t> 2</a:t>
                      </a:r>
                      <a:endParaRPr lang="en-A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3428662" y="4954570"/>
            <a:ext cx="0" cy="10287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  <a:stCxn id="8" idx="1"/>
            <a:endCxn id="8" idx="3"/>
          </p:cNvCxnSpPr>
          <p:nvPr/>
        </p:nvCxnSpPr>
        <p:spPr>
          <a:xfrm>
            <a:off x="2085637" y="5468920"/>
            <a:ext cx="26098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94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33487"/>
            <a:ext cx="4667250" cy="43654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500187"/>
            <a:ext cx="4914900" cy="49368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71499"/>
            <a:ext cx="2152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 Key 9 I 4 = 94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753100" y="571499"/>
            <a:ext cx="3116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2</a:t>
            </a:r>
          </a:p>
          <a:p>
            <a:r>
              <a:rPr lang="en-AU" sz="2400" dirty="0"/>
              <a:t>Key </a:t>
            </a:r>
            <a:r>
              <a:rPr lang="en-AU" sz="2400" dirty="0" smtClean="0"/>
              <a:t>19 </a:t>
            </a:r>
            <a:r>
              <a:rPr lang="en-AU" sz="2400" dirty="0"/>
              <a:t>I 4 = 1</a:t>
            </a:r>
            <a:r>
              <a:rPr lang="en-AU" sz="2400" dirty="0" smtClean="0"/>
              <a:t>94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5115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making a </a:t>
            </a:r>
            <a:r>
              <a:rPr lang="en-US" sz="2000" dirty="0" smtClean="0"/>
              <a:t>Stem and leaf plot?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Gather your data</a:t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Decide on the stem you will be using for your plot and make a key</a:t>
            </a:r>
            <a:br>
              <a:rPr lang="en-US" sz="2000" dirty="0" smtClean="0"/>
            </a:br>
            <a:r>
              <a:rPr lang="en-US" sz="2000" dirty="0" smtClean="0"/>
              <a:t>e.g. Key 5 I 4 = 54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Draw your stem and leaf axis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   Stem	   Leaf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52750" y="3732428"/>
            <a:ext cx="0" cy="2344522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52544" y="4101760"/>
            <a:ext cx="499120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05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making a </a:t>
            </a:r>
            <a:r>
              <a:rPr lang="en-US" sz="2000" dirty="0" smtClean="0"/>
              <a:t>Stem and leaf plot?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4. </a:t>
            </a:r>
            <a:r>
              <a:rPr lang="en-US" sz="2000" dirty="0" smtClean="0"/>
              <a:t>List the stems down the page in ascending order (usually tens)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5. Write in the key you are using beside the stem and leaf plot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6. Work through your data set and add the leaf for each result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33700" y="3257550"/>
            <a:ext cx="19050" cy="281940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28536" y="3731233"/>
            <a:ext cx="499120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81144" y="3880192"/>
            <a:ext cx="5525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0</a:t>
            </a:r>
          </a:p>
          <a:p>
            <a:r>
              <a:rPr lang="en-AU" sz="2000" dirty="0" smtClean="0"/>
              <a:t>1</a:t>
            </a:r>
          </a:p>
          <a:p>
            <a:r>
              <a:rPr lang="en-AU" sz="2000" dirty="0" smtClean="0"/>
              <a:t>2</a:t>
            </a:r>
          </a:p>
          <a:p>
            <a:r>
              <a:rPr lang="en-AU" sz="2000" dirty="0" smtClean="0"/>
              <a:t>3</a:t>
            </a:r>
          </a:p>
          <a:p>
            <a:r>
              <a:rPr lang="en-AU" sz="2000" dirty="0" smtClean="0"/>
              <a:t>4</a:t>
            </a:r>
          </a:p>
          <a:p>
            <a:r>
              <a:rPr lang="en-AU" sz="2000" dirty="0"/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8536" y="332294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Stem</a:t>
            </a:r>
            <a:endParaRPr lang="en-A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085935" y="3331123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Leaf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753100" y="329143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5 I 4 = 54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553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making a </a:t>
            </a:r>
            <a:r>
              <a:rPr lang="en-US" sz="2000" dirty="0" smtClean="0"/>
              <a:t>Stem and leaf plot?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852152" y="1326274"/>
            <a:ext cx="10156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4. </a:t>
            </a:r>
            <a:r>
              <a:rPr lang="en-US" sz="2000" dirty="0" smtClean="0"/>
              <a:t>List the stems down the page in ascending order (usually tens)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5. Write in the key you are using beside the stem and leaf plot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6. Work through your data set and add the leaf for each result. Order the leaves in ascending order (going from 0-9 left to right)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35167" y="3291439"/>
            <a:ext cx="17583" cy="27855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28536" y="3731233"/>
            <a:ext cx="499120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81144" y="3880192"/>
            <a:ext cx="5525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0</a:t>
            </a:r>
          </a:p>
          <a:p>
            <a:r>
              <a:rPr lang="en-AU" sz="2000" dirty="0" smtClean="0"/>
              <a:t>1</a:t>
            </a:r>
          </a:p>
          <a:p>
            <a:r>
              <a:rPr lang="en-AU" sz="2000" dirty="0" smtClean="0"/>
              <a:t>2</a:t>
            </a:r>
          </a:p>
          <a:p>
            <a:r>
              <a:rPr lang="en-AU" sz="2000" dirty="0" smtClean="0"/>
              <a:t>3</a:t>
            </a:r>
          </a:p>
          <a:p>
            <a:r>
              <a:rPr lang="en-AU" sz="2000" dirty="0" smtClean="0"/>
              <a:t>4</a:t>
            </a:r>
          </a:p>
          <a:p>
            <a:r>
              <a:rPr lang="en-AU" sz="2000" dirty="0"/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8536" y="332294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Stem</a:t>
            </a:r>
            <a:endParaRPr lang="en-A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085935" y="3331123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Leaf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753100" y="329143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5 I 4 = 54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06153" y="3872986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0  1  4</a:t>
            </a:r>
            <a:br>
              <a:rPr lang="en-AU" sz="2000" dirty="0" smtClean="0"/>
            </a:br>
            <a:r>
              <a:rPr lang="en-AU" sz="2000" dirty="0" smtClean="0"/>
              <a:t>0  3  5  5</a:t>
            </a:r>
          </a:p>
          <a:p>
            <a:r>
              <a:rPr lang="en-AU" sz="2000" dirty="0" smtClean="0"/>
              <a:t>5  8</a:t>
            </a:r>
          </a:p>
          <a:p>
            <a:r>
              <a:rPr lang="en-AU" sz="2000" dirty="0" smtClean="0"/>
              <a:t>1  6  7  8</a:t>
            </a:r>
            <a:br>
              <a:rPr lang="en-AU" sz="2000" dirty="0" smtClean="0"/>
            </a:br>
            <a:r>
              <a:rPr lang="en-AU" sz="2000" dirty="0" smtClean="0"/>
              <a:t>0  2  5  9  9</a:t>
            </a:r>
            <a:br>
              <a:rPr lang="en-AU" sz="2000" dirty="0" smtClean="0"/>
            </a:br>
            <a:r>
              <a:rPr lang="en-AU" sz="2000" dirty="0" smtClean="0"/>
              <a:t>1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20401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 do: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48798" y="2853559"/>
            <a:ext cx="8825659" cy="3733800"/>
          </a:xfrm>
        </p:spPr>
        <p:txBody>
          <a:bodyPr>
            <a:noAutofit/>
          </a:bodyPr>
          <a:lstStyle/>
          <a:p>
            <a:r>
              <a:rPr lang="en-AU" sz="2000" dirty="0" smtClean="0"/>
              <a:t>The maximum daily temperatures (rounded) for </a:t>
            </a:r>
            <a:r>
              <a:rPr lang="en-AU" sz="2000" dirty="0"/>
              <a:t>P</a:t>
            </a:r>
            <a:r>
              <a:rPr lang="en-AU" sz="2000" dirty="0" smtClean="0"/>
              <a:t>erth in July 2020 were:</a:t>
            </a:r>
            <a:br>
              <a:rPr lang="en-AU" sz="2000" dirty="0" smtClean="0"/>
            </a:br>
            <a:r>
              <a:rPr lang="en-AU" sz="2000" dirty="0" smtClean="0"/>
              <a:t>{ 31,31,30,26,22,20,19,20,23,27,29,}</a:t>
            </a:r>
            <a:br>
              <a:rPr lang="en-AU" sz="2000" dirty="0" smtClean="0"/>
            </a:br>
            <a:r>
              <a:rPr lang="en-AU" sz="2000" dirty="0" smtClean="0"/>
              <a:t/>
            </a:r>
            <a:br>
              <a:rPr lang="en-AU" sz="2000" dirty="0" smtClean="0"/>
            </a:br>
            <a:r>
              <a:rPr lang="en-AU" sz="2000" dirty="0" smtClean="0"/>
              <a:t>Create a stem and leaf plot to display this data set.</a:t>
            </a:r>
          </a:p>
        </p:txBody>
      </p:sp>
    </p:spTree>
    <p:extLst>
      <p:ext uri="{BB962C8B-B14F-4D97-AF65-F5344CB8AC3E}">
        <p14:creationId xmlns:p14="http://schemas.microsoft.com/office/powerpoint/2010/main" val="67988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Gather your data</a:t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Decide on the stem you will be using for your plot and make a key</a:t>
            </a:r>
            <a:br>
              <a:rPr lang="en-US" sz="2000" dirty="0" smtClean="0"/>
            </a:br>
            <a:r>
              <a:rPr lang="en-US" sz="2000" dirty="0" smtClean="0"/>
              <a:t>e.g. Key 5 I 4 = 54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Draw your stem and leaf axis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   Stem	   Leaf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52750" y="3732428"/>
            <a:ext cx="0" cy="2344522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52544" y="4101760"/>
            <a:ext cx="499120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5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2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Displaying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Compare dot plots to stem and leaf plots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making a </a:t>
            </a:r>
            <a:r>
              <a:rPr lang="en-US" sz="2000" dirty="0" smtClean="0"/>
              <a:t>Stem and leaf plot?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CC5E51-722E-D843-B47D-8F3A5DB22F6A}"/>
              </a:ext>
            </a:extLst>
          </p:cNvPr>
          <p:cNvSpPr txBox="1"/>
          <p:nvPr/>
        </p:nvSpPr>
        <p:spPr>
          <a:xfrm>
            <a:off x="1852152" y="1326274"/>
            <a:ext cx="10156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4. </a:t>
            </a:r>
            <a:r>
              <a:rPr lang="en-US" sz="2000" dirty="0" smtClean="0"/>
              <a:t>List the stems down the page in ascending order (usually tens)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5. Write in the key you are using beside the stem and leaf plot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6. Work through your data set and add the leaf for each result. Order the leaves in ascending order (going from 0-9 left to right)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35167" y="3291439"/>
            <a:ext cx="17583" cy="27855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28536" y="3731233"/>
            <a:ext cx="499120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81144" y="3880192"/>
            <a:ext cx="5525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0</a:t>
            </a:r>
          </a:p>
          <a:p>
            <a:r>
              <a:rPr lang="en-AU" sz="2000" dirty="0" smtClean="0"/>
              <a:t>1</a:t>
            </a:r>
          </a:p>
          <a:p>
            <a:r>
              <a:rPr lang="en-AU" sz="2000" dirty="0" smtClean="0"/>
              <a:t>2</a:t>
            </a:r>
          </a:p>
          <a:p>
            <a:r>
              <a:rPr lang="en-AU" sz="2000" dirty="0" smtClean="0"/>
              <a:t>3</a:t>
            </a:r>
          </a:p>
          <a:p>
            <a:r>
              <a:rPr lang="en-AU" sz="2000" dirty="0" smtClean="0"/>
              <a:t>4</a:t>
            </a:r>
          </a:p>
          <a:p>
            <a:r>
              <a:rPr lang="en-AU" sz="2000" dirty="0"/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8536" y="332294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Stem</a:t>
            </a:r>
            <a:endParaRPr lang="en-A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085935" y="3331123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 smtClean="0"/>
              <a:t>Leaf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753100" y="329143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5 I 4 = 54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62300" y="3864133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 </a:t>
            </a:r>
            <a:br>
              <a:rPr lang="en-AU" sz="2000" dirty="0" smtClean="0"/>
            </a:br>
            <a:r>
              <a:rPr lang="en-AU" sz="2000" dirty="0" smtClean="0"/>
              <a:t> 9</a:t>
            </a:r>
          </a:p>
          <a:p>
            <a:r>
              <a:rPr lang="en-AU" sz="2000" dirty="0" smtClean="0"/>
              <a:t> 0  0  2  3  6  7  9</a:t>
            </a:r>
          </a:p>
          <a:p>
            <a:r>
              <a:rPr lang="en-AU" sz="2000" dirty="0" smtClean="0"/>
              <a:t> 0  1  1</a:t>
            </a:r>
            <a:br>
              <a:rPr lang="en-AU" sz="2000" dirty="0" smtClean="0"/>
            </a:br>
            <a:r>
              <a:rPr lang="en-AU" sz="2000" dirty="0" smtClean="0"/>
              <a:t> </a:t>
            </a:r>
            <a:br>
              <a:rPr lang="en-AU" sz="2000" dirty="0" smtClean="0"/>
            </a:b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9379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Helpful videos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000" dirty="0" smtClean="0"/>
              <a:t>Making a stem and leaf plot </a:t>
            </a:r>
            <a:r>
              <a:rPr lang="en-AU" sz="2000" dirty="0"/>
              <a:t>in Excel: </a:t>
            </a:r>
            <a:r>
              <a:rPr lang="en-AU" sz="2000" dirty="0">
                <a:solidFill>
                  <a:schemeClr val="accent6"/>
                </a:solidFill>
                <a:hlinkClick r:id="rId2"/>
              </a:rPr>
              <a:t>https://</a:t>
            </a:r>
            <a:r>
              <a:rPr lang="en-AU" sz="2000" dirty="0" smtClean="0">
                <a:solidFill>
                  <a:schemeClr val="accent6"/>
                </a:solidFill>
                <a:hlinkClick r:id="rId2"/>
              </a:rPr>
              <a:t>www.youtube.com/watch?v=bsYmXapWDk8</a:t>
            </a:r>
            <a:endParaRPr lang="en-AU" sz="2000" dirty="0" smtClean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 smtClean="0"/>
              <a:t>Making a stem and </a:t>
            </a:r>
            <a:r>
              <a:rPr lang="en-AU" sz="2000" dirty="0"/>
              <a:t>leaf plot by hand: </a:t>
            </a:r>
            <a:br>
              <a:rPr lang="en-AU" sz="2000" dirty="0"/>
            </a:br>
            <a:r>
              <a:rPr lang="en-AU" sz="2000" dirty="0">
                <a:hlinkClick r:id="rId3"/>
              </a:rPr>
              <a:t>https://</a:t>
            </a:r>
            <a:r>
              <a:rPr lang="en-AU" sz="2000" dirty="0" smtClean="0">
                <a:hlinkClick r:id="rId3"/>
              </a:rPr>
              <a:t>www.youtube.com/watch?v=LhoWhWu-g30&amp;list=RDCMUCQRcG9o2pBhMX9muqLYImmw&amp;index=1</a:t>
            </a:r>
            <a:endParaRPr lang="en-AU" sz="2000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065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turn! LHS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/>
              <a:t>Put the following sets of data into </a:t>
            </a:r>
            <a:r>
              <a:rPr lang="en-AU" sz="2000" dirty="0" smtClean="0"/>
              <a:t>either a dot plot or a stem and leaf plot:</a:t>
            </a:r>
            <a:endParaRPr lang="en-AU" sz="2000" dirty="0"/>
          </a:p>
          <a:p>
            <a:pPr marL="457200" indent="-457200">
              <a:buAutoNum type="alphaLcParenR"/>
            </a:pPr>
            <a:r>
              <a:rPr lang="en-AU" sz="2000" dirty="0" smtClean="0"/>
              <a:t>Number of pets students have:</a:t>
            </a:r>
            <a:br>
              <a:rPr lang="en-AU" sz="2000" dirty="0" smtClean="0"/>
            </a:br>
            <a:r>
              <a:rPr lang="en-AU" sz="2000" dirty="0" smtClean="0"/>
              <a:t>{ 2, 3, 5, 0, 1, 0, 1, 2, 3, 4, 0, 1, 1, 2, 6, 2, 0, 1, 2 }</a:t>
            </a:r>
            <a:br>
              <a:rPr lang="en-AU" sz="2000" dirty="0" smtClean="0"/>
            </a:br>
            <a:endParaRPr lang="en-AU" sz="2000" dirty="0" smtClean="0"/>
          </a:p>
          <a:p>
            <a:pPr marL="457200" indent="-457200">
              <a:buAutoNum type="alphaLcParenR"/>
            </a:pPr>
            <a:r>
              <a:rPr lang="en-AU" sz="2000" dirty="0" smtClean="0"/>
              <a:t>Height of </a:t>
            </a:r>
            <a:r>
              <a:rPr lang="en-AU" sz="2000" dirty="0" err="1" smtClean="0"/>
              <a:t>Yr</a:t>
            </a:r>
            <a:r>
              <a:rPr lang="en-AU" sz="2000" dirty="0" smtClean="0"/>
              <a:t> 8 students:</a:t>
            </a:r>
            <a:br>
              <a:rPr lang="en-AU" sz="2000" dirty="0" smtClean="0"/>
            </a:br>
            <a:r>
              <a:rPr lang="en-AU" sz="2000" dirty="0" smtClean="0"/>
              <a:t>{ 145, 140, 160, 135, 135, 145, 143, 162, 145, 135, 150, 145, 140, 140, 145, 125, 140, 141, 150, 152, 155, 140, 145, 135, 135 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39549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4678</TotalTime>
  <Words>715</Words>
  <Application>Microsoft Office PowerPoint</Application>
  <PresentationFormat>Widescreen</PresentationFormat>
  <Paragraphs>184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Gothic</vt:lpstr>
      <vt:lpstr>Wingdings 3</vt:lpstr>
      <vt:lpstr>Ion Boardroom</vt:lpstr>
      <vt:lpstr>Statistics: Displaying Data</vt:lpstr>
      <vt:lpstr>First 5</vt:lpstr>
      <vt:lpstr>PowerPoint Presentation</vt:lpstr>
      <vt:lpstr>PowerPoint Presentation</vt:lpstr>
      <vt:lpstr>PowerPoint Presentation</vt:lpstr>
      <vt:lpstr>PowerPoint Presentation</vt:lpstr>
      <vt:lpstr>LHS Practise</vt:lpstr>
      <vt:lpstr>LHS Practise</vt:lpstr>
      <vt:lpstr>LHS Practise</vt:lpstr>
      <vt:lpstr>PowerPoint Presentation</vt:lpstr>
      <vt:lpstr>Helpful videos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do:</vt:lpstr>
      <vt:lpstr>PowerPoint Presentation</vt:lpstr>
      <vt:lpstr>PowerPoint Presentation</vt:lpstr>
      <vt:lpstr>Helpful videos</vt:lpstr>
      <vt:lpstr>Your turn! LHS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Coz W</dc:creator>
  <cp:lastModifiedBy>Coz W</cp:lastModifiedBy>
  <cp:revision>61</cp:revision>
  <dcterms:created xsi:type="dcterms:W3CDTF">2021-06-05T07:15:30Z</dcterms:created>
  <dcterms:modified xsi:type="dcterms:W3CDTF">2021-06-09T11:40:54Z</dcterms:modified>
</cp:coreProperties>
</file>
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86" r:id="rId22"/>
    <p:sldId id="288" r:id="rId23"/>
    <p:sldId id="289" r:id="rId24"/>
    <p:sldId id="290" r:id="rId25"/>
    <p:sldId id="292" r:id="rId26"/>
    <p:sldId id="294" r:id="rId27"/>
    <p:sldId id="296" r:id="rId28"/>
    <p:sldId id="297" r:id="rId29"/>
    <p:sldId id="300" r:id="rId30"/>
    <p:sldId id="303" r:id="rId31"/>
    <p:sldId id="285" r:id="rId32"/>
  </p:sldIdLst>
  <p:sldSz cx="9144000" cy="5143500" type="screen16x9"/>
  <p:notesSz cx="6858000" cy="9144000"/>
  <p:embeddedFontLst>
    <p:embeddedFont>
      <p:font typeface="Architects Daughter" pitchFamily="2" charset="0"/>
      <p:regular r:id="rId34"/>
    </p:embeddedFont>
    <p:embeddedFont>
      <p:font typeface="Open Sans" panose="020B0606030504020204" pitchFamily="34" charset="0"/>
      <p:regular r:id="rId34"/>
      <p:bold r:id="rId34"/>
      <p:italic r:id="rId34"/>
      <p:boldItalic r:id="rId34"/>
    </p:embeddedFont>
    <p:embeddedFont>
      <p:font typeface="Spectral" panose="02020502060000000000" pitchFamily="18" charset="77"/>
      <p:regular r:id="rId34"/>
      <p:bold r:id="rId34"/>
      <p:italic r:id="rId34"/>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779"/>
    <p:restoredTop sz="94650"/>
  </p:normalViewPr>
  <p:slideViewPr>
    <p:cSldViewPr snapToGrid="0">
      <p:cViewPr varScale="1">
        <p:scale>
          <a:sx n="119" d="100"/>
          <a:sy n="119" d="100"/>
        </p:scale>
        <p:origin x="208" y="84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NUL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7bcddbe4bb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7bcddbe4bb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7c0c78b19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7c0c78b19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7c0c78b196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7c0c78b196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7bcf53800a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7bcf53800a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7c0c78b196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7c0c78b196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7bcf53800a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7bcf53800a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7c0709c8e3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7c0709c8e3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7c0709c8e3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7c0709c8e3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7c0709c8e3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7c0709c8e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7c0709c8e3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7c0709c8e3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7c0709c8e3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7c0709c8e3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7c0ba20c74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7c0ba20c74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7c0709c8e3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7c0709c8e3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7bf2af416d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7bf2af416d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7bcf53800a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7bcf53800a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7bcf53800a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7bcf53800a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7c0709c8e3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7c0709c8e3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c0709c8e3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c0709c8e3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7cb4dd26f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7cb4dd26f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6d28bd68da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6d28bd68da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198" lvl="0" indent="-342898">
              <a:spcBef>
                <a:spcPts val="0"/>
              </a:spcBef>
              <a:spcAft>
                <a:spcPts val="0"/>
              </a:spcAft>
              <a:buSzPts val="1800"/>
              <a:buChar char="●"/>
              <a:defRPr/>
            </a:lvl1pPr>
            <a:lvl2pPr marL="914395" lvl="1" indent="-317498">
              <a:spcBef>
                <a:spcPts val="1600"/>
              </a:spcBef>
              <a:spcAft>
                <a:spcPts val="0"/>
              </a:spcAft>
              <a:buSzPts val="1400"/>
              <a:buChar char="○"/>
              <a:defRPr/>
            </a:lvl2pPr>
            <a:lvl3pPr marL="1371592" lvl="2" indent="-317498">
              <a:spcBef>
                <a:spcPts val="1600"/>
              </a:spcBef>
              <a:spcAft>
                <a:spcPts val="0"/>
              </a:spcAft>
              <a:buSzPts val="1400"/>
              <a:buChar char="■"/>
              <a:defRPr/>
            </a:lvl3pPr>
            <a:lvl4pPr marL="1828789" lvl="3" indent="-317498">
              <a:spcBef>
                <a:spcPts val="1600"/>
              </a:spcBef>
              <a:spcAft>
                <a:spcPts val="0"/>
              </a:spcAft>
              <a:buSzPts val="1400"/>
              <a:buChar char="●"/>
              <a:defRPr/>
            </a:lvl4pPr>
            <a:lvl5pPr marL="2285987" lvl="4" indent="-317498">
              <a:spcBef>
                <a:spcPts val="1600"/>
              </a:spcBef>
              <a:spcAft>
                <a:spcPts val="0"/>
              </a:spcAft>
              <a:buSzPts val="1400"/>
              <a:buChar char="○"/>
              <a:defRPr/>
            </a:lvl5pPr>
            <a:lvl6pPr marL="2743185" lvl="5" indent="-317498">
              <a:spcBef>
                <a:spcPts val="1600"/>
              </a:spcBef>
              <a:spcAft>
                <a:spcPts val="0"/>
              </a:spcAft>
              <a:buSzPts val="1400"/>
              <a:buChar char="■"/>
              <a:defRPr/>
            </a:lvl6pPr>
            <a:lvl7pPr marL="3200381" lvl="6" indent="-317498">
              <a:spcBef>
                <a:spcPts val="1600"/>
              </a:spcBef>
              <a:spcAft>
                <a:spcPts val="0"/>
              </a:spcAft>
              <a:buSzPts val="1400"/>
              <a:buChar char="●"/>
              <a:defRPr/>
            </a:lvl7pPr>
            <a:lvl8pPr marL="3657579" lvl="7" indent="-317498">
              <a:spcBef>
                <a:spcPts val="1600"/>
              </a:spcBef>
              <a:spcAft>
                <a:spcPts val="0"/>
              </a:spcAft>
              <a:buSzPts val="1400"/>
              <a:buChar char="○"/>
              <a:defRPr/>
            </a:lvl8pPr>
            <a:lvl9pPr marL="4114776" lvl="8" indent="-317498">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198" lvl="0" indent="-317498">
              <a:spcBef>
                <a:spcPts val="0"/>
              </a:spcBef>
              <a:spcAft>
                <a:spcPts val="0"/>
              </a:spcAft>
              <a:buSzPts val="1400"/>
              <a:buChar char="●"/>
              <a:defRPr sz="1400"/>
            </a:lvl1pPr>
            <a:lvl2pPr marL="914395" lvl="1" indent="-304798">
              <a:spcBef>
                <a:spcPts val="1600"/>
              </a:spcBef>
              <a:spcAft>
                <a:spcPts val="0"/>
              </a:spcAft>
              <a:buSzPts val="1200"/>
              <a:buChar char="○"/>
              <a:defRPr sz="1200"/>
            </a:lvl2pPr>
            <a:lvl3pPr marL="1371592" lvl="2" indent="-304798">
              <a:spcBef>
                <a:spcPts val="1600"/>
              </a:spcBef>
              <a:spcAft>
                <a:spcPts val="0"/>
              </a:spcAft>
              <a:buSzPts val="1200"/>
              <a:buChar char="■"/>
              <a:defRPr sz="1200"/>
            </a:lvl3pPr>
            <a:lvl4pPr marL="1828789" lvl="3" indent="-304798">
              <a:spcBef>
                <a:spcPts val="1600"/>
              </a:spcBef>
              <a:spcAft>
                <a:spcPts val="0"/>
              </a:spcAft>
              <a:buSzPts val="1200"/>
              <a:buChar char="●"/>
              <a:defRPr sz="1200"/>
            </a:lvl4pPr>
            <a:lvl5pPr marL="2285987" lvl="4" indent="-304798">
              <a:spcBef>
                <a:spcPts val="1600"/>
              </a:spcBef>
              <a:spcAft>
                <a:spcPts val="0"/>
              </a:spcAft>
              <a:buSzPts val="1200"/>
              <a:buChar char="○"/>
              <a:defRPr sz="1200"/>
            </a:lvl5pPr>
            <a:lvl6pPr marL="2743185" lvl="5" indent="-304798">
              <a:spcBef>
                <a:spcPts val="1600"/>
              </a:spcBef>
              <a:spcAft>
                <a:spcPts val="0"/>
              </a:spcAft>
              <a:buSzPts val="1200"/>
              <a:buChar char="■"/>
              <a:defRPr sz="1200"/>
            </a:lvl6pPr>
            <a:lvl7pPr marL="3200381" lvl="6" indent="-304798">
              <a:spcBef>
                <a:spcPts val="1600"/>
              </a:spcBef>
              <a:spcAft>
                <a:spcPts val="0"/>
              </a:spcAft>
              <a:buSzPts val="1200"/>
              <a:buChar char="●"/>
              <a:defRPr sz="1200"/>
            </a:lvl7pPr>
            <a:lvl8pPr marL="3657579" lvl="7" indent="-304798">
              <a:spcBef>
                <a:spcPts val="1600"/>
              </a:spcBef>
              <a:spcAft>
                <a:spcPts val="0"/>
              </a:spcAft>
              <a:buSzPts val="1200"/>
              <a:buChar char="○"/>
              <a:defRPr sz="1200"/>
            </a:lvl8pPr>
            <a:lvl9pPr marL="4114776" lvl="8" indent="-304798">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198" lvl="0" indent="-317498">
              <a:spcBef>
                <a:spcPts val="0"/>
              </a:spcBef>
              <a:spcAft>
                <a:spcPts val="0"/>
              </a:spcAft>
              <a:buSzPts val="1400"/>
              <a:buChar char="●"/>
              <a:defRPr sz="1400"/>
            </a:lvl1pPr>
            <a:lvl2pPr marL="914395" lvl="1" indent="-304798">
              <a:spcBef>
                <a:spcPts val="1600"/>
              </a:spcBef>
              <a:spcAft>
                <a:spcPts val="0"/>
              </a:spcAft>
              <a:buSzPts val="1200"/>
              <a:buChar char="○"/>
              <a:defRPr sz="1200"/>
            </a:lvl2pPr>
            <a:lvl3pPr marL="1371592" lvl="2" indent="-304798">
              <a:spcBef>
                <a:spcPts val="1600"/>
              </a:spcBef>
              <a:spcAft>
                <a:spcPts val="0"/>
              </a:spcAft>
              <a:buSzPts val="1200"/>
              <a:buChar char="■"/>
              <a:defRPr sz="1200"/>
            </a:lvl3pPr>
            <a:lvl4pPr marL="1828789" lvl="3" indent="-304798">
              <a:spcBef>
                <a:spcPts val="1600"/>
              </a:spcBef>
              <a:spcAft>
                <a:spcPts val="0"/>
              </a:spcAft>
              <a:buSzPts val="1200"/>
              <a:buChar char="●"/>
              <a:defRPr sz="1200"/>
            </a:lvl4pPr>
            <a:lvl5pPr marL="2285987" lvl="4" indent="-304798">
              <a:spcBef>
                <a:spcPts val="1600"/>
              </a:spcBef>
              <a:spcAft>
                <a:spcPts val="0"/>
              </a:spcAft>
              <a:buSzPts val="1200"/>
              <a:buChar char="○"/>
              <a:defRPr sz="1200"/>
            </a:lvl5pPr>
            <a:lvl6pPr marL="2743185" lvl="5" indent="-304798">
              <a:spcBef>
                <a:spcPts val="1600"/>
              </a:spcBef>
              <a:spcAft>
                <a:spcPts val="0"/>
              </a:spcAft>
              <a:buSzPts val="1200"/>
              <a:buChar char="■"/>
              <a:defRPr sz="1200"/>
            </a:lvl6pPr>
            <a:lvl7pPr marL="3200381" lvl="6" indent="-304798">
              <a:spcBef>
                <a:spcPts val="1600"/>
              </a:spcBef>
              <a:spcAft>
                <a:spcPts val="0"/>
              </a:spcAft>
              <a:buSzPts val="1200"/>
              <a:buChar char="●"/>
              <a:defRPr sz="1200"/>
            </a:lvl7pPr>
            <a:lvl8pPr marL="3657579" lvl="7" indent="-304798">
              <a:spcBef>
                <a:spcPts val="1600"/>
              </a:spcBef>
              <a:spcAft>
                <a:spcPts val="0"/>
              </a:spcAft>
              <a:buSzPts val="1200"/>
              <a:buChar char="○"/>
              <a:defRPr sz="1200"/>
            </a:lvl8pPr>
            <a:lvl9pPr marL="4114776" lvl="8" indent="-304798">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198" lvl="0" indent="-304798">
              <a:spcBef>
                <a:spcPts val="0"/>
              </a:spcBef>
              <a:spcAft>
                <a:spcPts val="0"/>
              </a:spcAft>
              <a:buSzPts val="1200"/>
              <a:buChar char="●"/>
              <a:defRPr sz="1200"/>
            </a:lvl1pPr>
            <a:lvl2pPr marL="914395" lvl="1" indent="-304798">
              <a:spcBef>
                <a:spcPts val="1600"/>
              </a:spcBef>
              <a:spcAft>
                <a:spcPts val="0"/>
              </a:spcAft>
              <a:buSzPts val="1200"/>
              <a:buChar char="○"/>
              <a:defRPr sz="1200"/>
            </a:lvl2pPr>
            <a:lvl3pPr marL="1371592" lvl="2" indent="-304798">
              <a:spcBef>
                <a:spcPts val="1600"/>
              </a:spcBef>
              <a:spcAft>
                <a:spcPts val="0"/>
              </a:spcAft>
              <a:buSzPts val="1200"/>
              <a:buChar char="■"/>
              <a:defRPr sz="1200"/>
            </a:lvl3pPr>
            <a:lvl4pPr marL="1828789" lvl="3" indent="-304798">
              <a:spcBef>
                <a:spcPts val="1600"/>
              </a:spcBef>
              <a:spcAft>
                <a:spcPts val="0"/>
              </a:spcAft>
              <a:buSzPts val="1200"/>
              <a:buChar char="●"/>
              <a:defRPr sz="1200"/>
            </a:lvl4pPr>
            <a:lvl5pPr marL="2285987" lvl="4" indent="-304798">
              <a:spcBef>
                <a:spcPts val="1600"/>
              </a:spcBef>
              <a:spcAft>
                <a:spcPts val="0"/>
              </a:spcAft>
              <a:buSzPts val="1200"/>
              <a:buChar char="○"/>
              <a:defRPr sz="1200"/>
            </a:lvl5pPr>
            <a:lvl6pPr marL="2743185" lvl="5" indent="-304798">
              <a:spcBef>
                <a:spcPts val="1600"/>
              </a:spcBef>
              <a:spcAft>
                <a:spcPts val="0"/>
              </a:spcAft>
              <a:buSzPts val="1200"/>
              <a:buChar char="■"/>
              <a:defRPr sz="1200"/>
            </a:lvl6pPr>
            <a:lvl7pPr marL="3200381" lvl="6" indent="-304798">
              <a:spcBef>
                <a:spcPts val="1600"/>
              </a:spcBef>
              <a:spcAft>
                <a:spcPts val="0"/>
              </a:spcAft>
              <a:buSzPts val="1200"/>
              <a:buChar char="●"/>
              <a:defRPr sz="1200"/>
            </a:lvl7pPr>
            <a:lvl8pPr marL="3657579" lvl="7" indent="-304798">
              <a:spcBef>
                <a:spcPts val="1600"/>
              </a:spcBef>
              <a:spcAft>
                <a:spcPts val="0"/>
              </a:spcAft>
              <a:buSzPts val="1200"/>
              <a:buChar char="○"/>
              <a:defRPr sz="1200"/>
            </a:lvl8pPr>
            <a:lvl9pPr marL="4114776" lvl="8" indent="-304798">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643"/>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198" lvl="0" indent="-342898">
              <a:spcBef>
                <a:spcPts val="0"/>
              </a:spcBef>
              <a:spcAft>
                <a:spcPts val="0"/>
              </a:spcAft>
              <a:buSzPts val="1800"/>
              <a:buChar char="●"/>
              <a:defRPr/>
            </a:lvl1pPr>
            <a:lvl2pPr marL="914395" lvl="1" indent="-317498">
              <a:spcBef>
                <a:spcPts val="1600"/>
              </a:spcBef>
              <a:spcAft>
                <a:spcPts val="0"/>
              </a:spcAft>
              <a:buSzPts val="1400"/>
              <a:buChar char="○"/>
              <a:defRPr/>
            </a:lvl2pPr>
            <a:lvl3pPr marL="1371592" lvl="2" indent="-317498">
              <a:spcBef>
                <a:spcPts val="1600"/>
              </a:spcBef>
              <a:spcAft>
                <a:spcPts val="0"/>
              </a:spcAft>
              <a:buSzPts val="1400"/>
              <a:buChar char="■"/>
              <a:defRPr/>
            </a:lvl3pPr>
            <a:lvl4pPr marL="1828789" lvl="3" indent="-317498">
              <a:spcBef>
                <a:spcPts val="1600"/>
              </a:spcBef>
              <a:spcAft>
                <a:spcPts val="0"/>
              </a:spcAft>
              <a:buSzPts val="1400"/>
              <a:buChar char="●"/>
              <a:defRPr/>
            </a:lvl4pPr>
            <a:lvl5pPr marL="2285987" lvl="4" indent="-317498">
              <a:spcBef>
                <a:spcPts val="1600"/>
              </a:spcBef>
              <a:spcAft>
                <a:spcPts val="0"/>
              </a:spcAft>
              <a:buSzPts val="1400"/>
              <a:buChar char="○"/>
              <a:defRPr/>
            </a:lvl5pPr>
            <a:lvl6pPr marL="2743185" lvl="5" indent="-317498">
              <a:spcBef>
                <a:spcPts val="1600"/>
              </a:spcBef>
              <a:spcAft>
                <a:spcPts val="0"/>
              </a:spcAft>
              <a:buSzPts val="1400"/>
              <a:buChar char="■"/>
              <a:defRPr/>
            </a:lvl6pPr>
            <a:lvl7pPr marL="3200381" lvl="6" indent="-317498">
              <a:spcBef>
                <a:spcPts val="1600"/>
              </a:spcBef>
              <a:spcAft>
                <a:spcPts val="0"/>
              </a:spcAft>
              <a:buSzPts val="1400"/>
              <a:buChar char="●"/>
              <a:defRPr/>
            </a:lvl7pPr>
            <a:lvl8pPr marL="3657579" lvl="7" indent="-317498">
              <a:spcBef>
                <a:spcPts val="1600"/>
              </a:spcBef>
              <a:spcAft>
                <a:spcPts val="0"/>
              </a:spcAft>
              <a:buSzPts val="1400"/>
              <a:buChar char="○"/>
              <a:defRPr/>
            </a:lvl8pPr>
            <a:lvl9pPr marL="4114776" lvl="8" indent="-317498">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198" lvl="0" indent="-228598">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198" lvl="0" indent="-342898" algn="ctr">
              <a:spcBef>
                <a:spcPts val="0"/>
              </a:spcBef>
              <a:spcAft>
                <a:spcPts val="0"/>
              </a:spcAft>
              <a:buSzPts val="1800"/>
              <a:buChar char="●"/>
              <a:defRPr/>
            </a:lvl1pPr>
            <a:lvl2pPr marL="914395" lvl="1" indent="-317498" algn="ctr">
              <a:spcBef>
                <a:spcPts val="1600"/>
              </a:spcBef>
              <a:spcAft>
                <a:spcPts val="0"/>
              </a:spcAft>
              <a:buSzPts val="1400"/>
              <a:buChar char="○"/>
              <a:defRPr/>
            </a:lvl2pPr>
            <a:lvl3pPr marL="1371592" lvl="2" indent="-317498" algn="ctr">
              <a:spcBef>
                <a:spcPts val="1600"/>
              </a:spcBef>
              <a:spcAft>
                <a:spcPts val="0"/>
              </a:spcAft>
              <a:buSzPts val="1400"/>
              <a:buChar char="■"/>
              <a:defRPr/>
            </a:lvl3pPr>
            <a:lvl4pPr marL="1828789" lvl="3" indent="-317498" algn="ctr">
              <a:spcBef>
                <a:spcPts val="1600"/>
              </a:spcBef>
              <a:spcAft>
                <a:spcPts val="0"/>
              </a:spcAft>
              <a:buSzPts val="1400"/>
              <a:buChar char="●"/>
              <a:defRPr/>
            </a:lvl4pPr>
            <a:lvl5pPr marL="2285987" lvl="4" indent="-317498" algn="ctr">
              <a:spcBef>
                <a:spcPts val="1600"/>
              </a:spcBef>
              <a:spcAft>
                <a:spcPts val="0"/>
              </a:spcAft>
              <a:buSzPts val="1400"/>
              <a:buChar char="○"/>
              <a:defRPr/>
            </a:lvl5pPr>
            <a:lvl6pPr marL="2743185" lvl="5" indent="-317498" algn="ctr">
              <a:spcBef>
                <a:spcPts val="1600"/>
              </a:spcBef>
              <a:spcAft>
                <a:spcPts val="0"/>
              </a:spcAft>
              <a:buSzPts val="1400"/>
              <a:buChar char="■"/>
              <a:defRPr/>
            </a:lvl6pPr>
            <a:lvl7pPr marL="3200381" lvl="6" indent="-317498" algn="ctr">
              <a:spcBef>
                <a:spcPts val="1600"/>
              </a:spcBef>
              <a:spcAft>
                <a:spcPts val="0"/>
              </a:spcAft>
              <a:buSzPts val="1400"/>
              <a:buChar char="●"/>
              <a:defRPr/>
            </a:lvl7pPr>
            <a:lvl8pPr marL="3657579" lvl="7" indent="-317498" algn="ctr">
              <a:spcBef>
                <a:spcPts val="1600"/>
              </a:spcBef>
              <a:spcAft>
                <a:spcPts val="0"/>
              </a:spcAft>
              <a:buSzPts val="1400"/>
              <a:buChar char="○"/>
              <a:defRPr/>
            </a:lvl8pPr>
            <a:lvl9pPr marL="4114776" lvl="8" indent="-317498"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3A8134-ACE9-4C82-9AEE-A3130B4BE79C}" type="datetimeFigureOut">
              <a:rPr lang="en-AU" smtClean="0"/>
              <a:t>12/2/20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71F1D01-AF10-4A6F-8A0F-C4E2EA70F4C5}" type="slidenum">
              <a:rPr lang="en-AU" smtClean="0"/>
              <a:t>‹#›</a:t>
            </a:fld>
            <a:endParaRPr lang="en-AU"/>
          </a:p>
        </p:txBody>
      </p:sp>
    </p:spTree>
    <p:extLst>
      <p:ext uri="{BB962C8B-B14F-4D97-AF65-F5344CB8AC3E}">
        <p14:creationId xmlns:p14="http://schemas.microsoft.com/office/powerpoint/2010/main" val="3518116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youtu.be/i_PqyokFgNI"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hyperlink" Target="https://www.thebalancecareers.com/critical-thinking-definition-with-examples-2063745"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p:nvPr/>
        </p:nvSpPr>
        <p:spPr>
          <a:xfrm>
            <a:off x="213300" y="222601"/>
            <a:ext cx="8717400" cy="4698300"/>
          </a:xfrm>
          <a:prstGeom prst="rect">
            <a:avLst/>
          </a:prstGeom>
          <a:solidFill>
            <a:srgbClr val="E69138"/>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sz="1643"/>
          </a:p>
        </p:txBody>
      </p:sp>
      <p:sp>
        <p:nvSpPr>
          <p:cNvPr id="55" name="Google Shape;55;p13"/>
          <p:cNvSpPr txBox="1"/>
          <p:nvPr/>
        </p:nvSpPr>
        <p:spPr>
          <a:xfrm>
            <a:off x="320983" y="300047"/>
            <a:ext cx="8263800" cy="1097100"/>
          </a:xfrm>
          <a:prstGeom prst="rect">
            <a:avLst/>
          </a:prstGeom>
          <a:noFill/>
          <a:ln>
            <a:noFill/>
          </a:ln>
        </p:spPr>
        <p:txBody>
          <a:bodyPr spcFirstLastPara="1" wrap="square" lIns="91425" tIns="91425" rIns="91425" bIns="91425" anchor="t" anchorCtr="0">
            <a:noAutofit/>
          </a:bodyPr>
          <a:lstStyle/>
          <a:p>
            <a:pPr algn="ctr"/>
            <a:r>
              <a:rPr lang="en" sz="7200" b="1" dirty="0">
                <a:solidFill>
                  <a:srgbClr val="FFFFFF"/>
                </a:solidFill>
                <a:latin typeface="Architects Daughter"/>
                <a:ea typeface="Architects Daughter"/>
                <a:cs typeface="Architects Daughter"/>
                <a:sym typeface="Architects Daughter"/>
              </a:rPr>
              <a:t>FERMI </a:t>
            </a:r>
            <a:endParaRPr sz="7200" b="1" dirty="0">
              <a:solidFill>
                <a:srgbClr val="FFFFFF"/>
              </a:solidFill>
              <a:latin typeface="Architects Daughter"/>
              <a:ea typeface="Architects Daughter"/>
              <a:cs typeface="Architects Daughter"/>
              <a:sym typeface="Architects Daughter"/>
            </a:endParaRPr>
          </a:p>
          <a:p>
            <a:pPr algn="ctr"/>
            <a:r>
              <a:rPr lang="en" sz="7200" b="1" dirty="0">
                <a:solidFill>
                  <a:srgbClr val="FFFFFF"/>
                </a:solidFill>
                <a:latin typeface="Architects Daughter"/>
                <a:ea typeface="Architects Daughter"/>
                <a:cs typeface="Architects Daughter"/>
                <a:sym typeface="Architects Daughter"/>
              </a:rPr>
              <a:t>PROBLEMS</a:t>
            </a:r>
            <a:endParaRPr sz="7200" b="1" dirty="0">
              <a:solidFill>
                <a:srgbClr val="FFFFFF"/>
              </a:solidFill>
              <a:latin typeface="Architects Daughter"/>
              <a:ea typeface="Architects Daughter"/>
              <a:cs typeface="Architects Daughter"/>
              <a:sym typeface="Architects Daughter"/>
            </a:endParaRPr>
          </a:p>
        </p:txBody>
      </p:sp>
      <p:sp>
        <p:nvSpPr>
          <p:cNvPr id="56" name="Google Shape;56;p13"/>
          <p:cNvSpPr txBox="1"/>
          <p:nvPr/>
        </p:nvSpPr>
        <p:spPr>
          <a:xfrm>
            <a:off x="1350583" y="2496920"/>
            <a:ext cx="6204600" cy="926100"/>
          </a:xfrm>
          <a:prstGeom prst="rect">
            <a:avLst/>
          </a:prstGeom>
          <a:noFill/>
          <a:ln>
            <a:noFill/>
          </a:ln>
        </p:spPr>
        <p:txBody>
          <a:bodyPr spcFirstLastPara="1" wrap="square" lIns="91425" tIns="91425" rIns="91425" bIns="91425" anchor="t" anchorCtr="0">
            <a:noAutofit/>
          </a:bodyPr>
          <a:lstStyle/>
          <a:p>
            <a:pPr algn="ctr"/>
            <a:r>
              <a:rPr lang="en" sz="2400" dirty="0">
                <a:solidFill>
                  <a:srgbClr val="FFFFFF"/>
                </a:solidFill>
                <a:latin typeface="Open Sans"/>
                <a:ea typeface="Open Sans"/>
                <a:cs typeface="Open Sans"/>
                <a:sym typeface="Open Sans"/>
              </a:rPr>
              <a:t>Solving the impossible… </a:t>
            </a:r>
            <a:endParaRPr sz="2400" dirty="0">
              <a:solidFill>
                <a:srgbClr val="FFFFFF"/>
              </a:solidFill>
              <a:latin typeface="Open Sans"/>
              <a:ea typeface="Open Sans"/>
              <a:cs typeface="Open Sans"/>
              <a:sym typeface="Open Sans"/>
            </a:endParaRPr>
          </a:p>
        </p:txBody>
      </p:sp>
      <p:sp>
        <p:nvSpPr>
          <p:cNvPr id="5" name="Google Shape;56;p13">
            <a:extLst>
              <a:ext uri="{FF2B5EF4-FFF2-40B4-BE49-F238E27FC236}">
                <a16:creationId xmlns:a16="http://schemas.microsoft.com/office/drawing/2014/main" id="{1477FBEC-C51B-5B4B-B471-395F9A907830}"/>
              </a:ext>
            </a:extLst>
          </p:cNvPr>
          <p:cNvSpPr txBox="1"/>
          <p:nvPr/>
        </p:nvSpPr>
        <p:spPr>
          <a:xfrm>
            <a:off x="523001" y="3436001"/>
            <a:ext cx="8263800" cy="1407453"/>
          </a:xfrm>
          <a:prstGeom prst="rect">
            <a:avLst/>
          </a:prstGeom>
          <a:noFill/>
          <a:ln>
            <a:noFill/>
          </a:ln>
        </p:spPr>
        <p:txBody>
          <a:bodyPr spcFirstLastPara="1" wrap="square" lIns="91425" tIns="91425" rIns="91425" bIns="91425" anchor="t" anchorCtr="0">
            <a:noAutofit/>
          </a:bodyPr>
          <a:lstStyle/>
          <a:p>
            <a:r>
              <a:rPr lang="en" sz="2400" dirty="0">
                <a:solidFill>
                  <a:srgbClr val="FFFFFF"/>
                </a:solidFill>
                <a:latin typeface="Open Sans"/>
                <a:ea typeface="Open Sans"/>
                <a:cs typeface="Open Sans"/>
                <a:sym typeface="Open Sans"/>
              </a:rPr>
              <a:t>Topic: Fermi Problems</a:t>
            </a:r>
          </a:p>
          <a:p>
            <a:r>
              <a:rPr lang="en" sz="2400" dirty="0">
                <a:solidFill>
                  <a:srgbClr val="FFFFFF"/>
                </a:solidFill>
                <a:latin typeface="Open Sans"/>
                <a:ea typeface="Open Sans"/>
                <a:cs typeface="Open Sans"/>
                <a:sym typeface="Open Sans"/>
              </a:rPr>
              <a:t>EQ: How do Fermi problems help us in a </a:t>
            </a:r>
            <a:r>
              <a:rPr lang="en" sz="2400" dirty="0" err="1">
                <a:solidFill>
                  <a:srgbClr val="FFFFFF"/>
                </a:solidFill>
                <a:latin typeface="Open Sans"/>
                <a:ea typeface="Open Sans"/>
                <a:cs typeface="Open Sans"/>
                <a:sym typeface="Open Sans"/>
              </a:rPr>
              <a:t>Maths</a:t>
            </a:r>
            <a:r>
              <a:rPr lang="en" sz="2400" dirty="0">
                <a:solidFill>
                  <a:srgbClr val="FFFFFF"/>
                </a:solidFill>
                <a:latin typeface="Open Sans"/>
                <a:ea typeface="Open Sans"/>
                <a:cs typeface="Open Sans"/>
                <a:sym typeface="Open Sans"/>
              </a:rPr>
              <a:t> classroom? </a:t>
            </a:r>
            <a:endParaRPr sz="2400" dirty="0">
              <a:solidFill>
                <a:srgbClr val="FFFFFF"/>
              </a:solidFill>
              <a:latin typeface="Open Sans"/>
              <a:ea typeface="Open Sans"/>
              <a:cs typeface="Open Sans"/>
              <a:sym typeface="Open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445026"/>
            <a:ext cx="8520600" cy="572700"/>
          </a:xfrm>
          <a:prstGeom prst="rect">
            <a:avLst/>
          </a:prstGeom>
        </p:spPr>
        <p:txBody>
          <a:bodyPr spcFirstLastPara="1" wrap="square" lIns="91425" tIns="91425" rIns="91425" bIns="91425" anchor="t" anchorCtr="0">
            <a:noAutofit/>
          </a:bodyPr>
          <a:lstStyle/>
          <a:p>
            <a:r>
              <a:rPr lang="en" sz="3000" b="1">
                <a:solidFill>
                  <a:srgbClr val="434343"/>
                </a:solidFill>
                <a:latin typeface="Architects Daughter"/>
                <a:ea typeface="Architects Daughter"/>
                <a:cs typeface="Architects Daughter"/>
                <a:sym typeface="Architects Daughter"/>
              </a:rPr>
              <a:t>Meet Enrico Fermi (1901-1954)</a:t>
            </a:r>
            <a:endParaRPr sz="3000" b="1">
              <a:solidFill>
                <a:srgbClr val="434343"/>
              </a:solidFill>
              <a:latin typeface="Architects Daughter"/>
              <a:ea typeface="Architects Daughter"/>
              <a:cs typeface="Architects Daughter"/>
              <a:sym typeface="Architects Daughter"/>
            </a:endParaRPr>
          </a:p>
        </p:txBody>
      </p:sp>
      <p:sp>
        <p:nvSpPr>
          <p:cNvPr id="62" name="Google Shape;62;p14"/>
          <p:cNvSpPr txBox="1">
            <a:spLocks noGrp="1"/>
          </p:cNvSpPr>
          <p:nvPr>
            <p:ph type="body" idx="1"/>
          </p:nvPr>
        </p:nvSpPr>
        <p:spPr>
          <a:xfrm>
            <a:off x="311700" y="923875"/>
            <a:ext cx="5101500" cy="3416400"/>
          </a:xfrm>
          <a:prstGeom prst="rect">
            <a:avLst/>
          </a:prstGeom>
        </p:spPr>
        <p:txBody>
          <a:bodyPr spcFirstLastPara="1" wrap="square" lIns="91425" tIns="91425" rIns="91425" bIns="91425" anchor="t" anchorCtr="0">
            <a:noAutofit/>
          </a:bodyPr>
          <a:lstStyle/>
          <a:p>
            <a:pPr marL="0" indent="0">
              <a:spcBef>
                <a:spcPts val="1000"/>
              </a:spcBef>
              <a:buNone/>
            </a:pPr>
            <a:r>
              <a:rPr lang="en">
                <a:solidFill>
                  <a:srgbClr val="434343"/>
                </a:solidFill>
                <a:latin typeface="Open Sans"/>
                <a:ea typeface="Open Sans"/>
                <a:cs typeface="Open Sans"/>
                <a:sym typeface="Open Sans"/>
              </a:rPr>
              <a:t>Enrico Fermi was an Italian-American physicist and creator of the world's first nuclear reactor. In 1938 </a:t>
            </a:r>
            <a:r>
              <a:rPr lang="en">
                <a:solidFill>
                  <a:srgbClr val="434343"/>
                </a:solidFill>
                <a:highlight>
                  <a:srgbClr val="FFFFFF"/>
                </a:highlight>
                <a:latin typeface="Open Sans"/>
                <a:ea typeface="Open Sans"/>
                <a:cs typeface="Open Sans"/>
                <a:sym typeface="Open Sans"/>
              </a:rPr>
              <a:t>he received the Nobel Prize in physics for his discovery of nuclear reactions caused by slow neutrons.</a:t>
            </a:r>
            <a:endParaRPr>
              <a:solidFill>
                <a:srgbClr val="434343"/>
              </a:solidFill>
              <a:highlight>
                <a:srgbClr val="FFFFFF"/>
              </a:highlight>
              <a:latin typeface="Open Sans"/>
              <a:ea typeface="Open Sans"/>
              <a:cs typeface="Open Sans"/>
              <a:sym typeface="Open Sans"/>
            </a:endParaRPr>
          </a:p>
          <a:p>
            <a:pPr marL="0" indent="0">
              <a:spcBef>
                <a:spcPts val="1000"/>
              </a:spcBef>
              <a:buClr>
                <a:schemeClr val="dk1"/>
              </a:buClr>
              <a:buSzPts val="1100"/>
              <a:buNone/>
            </a:pPr>
            <a:r>
              <a:rPr lang="en">
                <a:solidFill>
                  <a:srgbClr val="434343"/>
                </a:solidFill>
                <a:highlight>
                  <a:srgbClr val="FFFFFF"/>
                </a:highlight>
                <a:latin typeface="Open Sans"/>
                <a:ea typeface="Open Sans"/>
                <a:cs typeface="Open Sans"/>
                <a:sym typeface="Open Sans"/>
              </a:rPr>
              <a:t>Fermi</a:t>
            </a:r>
            <a:r>
              <a:rPr lang="en">
                <a:solidFill>
                  <a:srgbClr val="434343"/>
                </a:solidFill>
                <a:latin typeface="Open Sans"/>
                <a:ea typeface="Open Sans"/>
                <a:cs typeface="Open Sans"/>
                <a:sym typeface="Open Sans"/>
              </a:rPr>
              <a:t> was known for his ability to make good approximate calculations with little or no actual data.</a:t>
            </a:r>
            <a:endParaRPr>
              <a:solidFill>
                <a:srgbClr val="434343"/>
              </a:solidFill>
              <a:latin typeface="Open Sans"/>
              <a:ea typeface="Open Sans"/>
              <a:cs typeface="Open Sans"/>
              <a:sym typeface="Open Sans"/>
            </a:endParaRPr>
          </a:p>
          <a:p>
            <a:pPr marL="0" indent="0">
              <a:spcBef>
                <a:spcPts val="1000"/>
              </a:spcBef>
              <a:buClr>
                <a:schemeClr val="dk1"/>
              </a:buClr>
              <a:buSzPts val="1100"/>
              <a:buNone/>
            </a:pPr>
            <a:endParaRPr>
              <a:solidFill>
                <a:srgbClr val="434343"/>
              </a:solidFill>
              <a:latin typeface="Open Sans"/>
              <a:ea typeface="Open Sans"/>
              <a:cs typeface="Open Sans"/>
              <a:sym typeface="Open Sans"/>
            </a:endParaRPr>
          </a:p>
          <a:p>
            <a:pPr marL="0" indent="0">
              <a:spcBef>
                <a:spcPts val="1000"/>
              </a:spcBef>
              <a:spcAft>
                <a:spcPts val="1000"/>
              </a:spcAft>
              <a:buClr>
                <a:schemeClr val="dk1"/>
              </a:buClr>
              <a:buSzPts val="1100"/>
              <a:buNone/>
            </a:pPr>
            <a:r>
              <a:rPr lang="en" i="1" u="sng">
                <a:solidFill>
                  <a:schemeClr val="hlink"/>
                </a:solidFill>
                <a:latin typeface="Open Sans"/>
                <a:ea typeface="Open Sans"/>
                <a:cs typeface="Open Sans"/>
                <a:sym typeface="Open Sans"/>
                <a:hlinkClick r:id="rId3"/>
              </a:rPr>
              <a:t>Enrico Fermi Short Documentary</a:t>
            </a:r>
            <a:endParaRPr i="1">
              <a:solidFill>
                <a:srgbClr val="434343"/>
              </a:solidFill>
              <a:latin typeface="Open Sans"/>
              <a:ea typeface="Open Sans"/>
              <a:cs typeface="Open Sans"/>
              <a:sym typeface="Open Sans"/>
            </a:endParaRPr>
          </a:p>
        </p:txBody>
      </p:sp>
      <p:pic>
        <p:nvPicPr>
          <p:cNvPr id="63" name="Google Shape;63;p14"/>
          <p:cNvPicPr preferRelativeResize="0"/>
          <p:nvPr/>
        </p:nvPicPr>
        <p:blipFill>
          <a:blip r:embed="rId4">
            <a:alphaModFix/>
          </a:blip>
          <a:stretch>
            <a:fillRect/>
          </a:stretch>
        </p:blipFill>
        <p:spPr>
          <a:xfrm>
            <a:off x="5745476" y="1152475"/>
            <a:ext cx="2877998" cy="3566374"/>
          </a:xfrm>
          <a:prstGeom prst="rect">
            <a:avLst/>
          </a:prstGeom>
          <a:noFill/>
          <a:ln>
            <a:noFill/>
          </a:ln>
        </p:spPr>
      </p:pic>
      <p:sp>
        <p:nvSpPr>
          <p:cNvPr id="64" name="Google Shape;64;p14"/>
          <p:cNvSpPr txBox="1"/>
          <p:nvPr/>
        </p:nvSpPr>
        <p:spPr>
          <a:xfrm>
            <a:off x="6403800" y="4816500"/>
            <a:ext cx="2740200" cy="327000"/>
          </a:xfrm>
          <a:prstGeom prst="rect">
            <a:avLst/>
          </a:prstGeom>
          <a:noFill/>
          <a:ln>
            <a:noFill/>
          </a:ln>
        </p:spPr>
        <p:txBody>
          <a:bodyPr spcFirstLastPara="1" wrap="square" lIns="91425" tIns="91425" rIns="91425" bIns="91425" anchor="t" anchorCtr="0">
            <a:noAutofit/>
          </a:bodyPr>
          <a:lstStyle/>
          <a:p>
            <a:pPr algn="r">
              <a:lnSpc>
                <a:spcPct val="115000"/>
              </a:lnSpc>
            </a:pPr>
            <a:r>
              <a:rPr lang="en" sz="800" i="1" dirty="0">
                <a:solidFill>
                  <a:schemeClr val="dk1"/>
                </a:solidFill>
              </a:rPr>
              <a:t> </a:t>
            </a:r>
            <a:endParaRPr sz="800" i="1" dirty="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5"/>
          <p:cNvSpPr txBox="1">
            <a:spLocks noGrp="1"/>
          </p:cNvSpPr>
          <p:nvPr>
            <p:ph type="title"/>
          </p:nvPr>
        </p:nvSpPr>
        <p:spPr>
          <a:xfrm>
            <a:off x="311700" y="445026"/>
            <a:ext cx="8520600" cy="572700"/>
          </a:xfrm>
          <a:prstGeom prst="rect">
            <a:avLst/>
          </a:prstGeom>
        </p:spPr>
        <p:txBody>
          <a:bodyPr spcFirstLastPara="1" wrap="square" lIns="91425" tIns="91425" rIns="91425" bIns="91425" anchor="t" anchorCtr="0">
            <a:noAutofit/>
          </a:bodyPr>
          <a:lstStyle/>
          <a:p>
            <a:r>
              <a:rPr lang="en" sz="3000" b="1">
                <a:solidFill>
                  <a:srgbClr val="434343"/>
                </a:solidFill>
                <a:latin typeface="Architects Daughter"/>
                <a:ea typeface="Architects Daughter"/>
                <a:cs typeface="Architects Daughter"/>
                <a:sym typeface="Architects Daughter"/>
              </a:rPr>
              <a:t>Fermi Questions</a:t>
            </a:r>
            <a:endParaRPr sz="3000" b="1">
              <a:solidFill>
                <a:srgbClr val="434343"/>
              </a:solidFill>
              <a:latin typeface="Architects Daughter"/>
              <a:ea typeface="Architects Daughter"/>
              <a:cs typeface="Architects Daughter"/>
              <a:sym typeface="Architects Daughter"/>
            </a:endParaRPr>
          </a:p>
        </p:txBody>
      </p:sp>
      <p:sp>
        <p:nvSpPr>
          <p:cNvPr id="70" name="Google Shape;70;p15"/>
          <p:cNvSpPr txBox="1">
            <a:spLocks noGrp="1"/>
          </p:cNvSpPr>
          <p:nvPr>
            <p:ph type="body" idx="1"/>
          </p:nvPr>
        </p:nvSpPr>
        <p:spPr>
          <a:xfrm>
            <a:off x="3518499" y="514400"/>
            <a:ext cx="5352300" cy="3416400"/>
          </a:xfrm>
          <a:prstGeom prst="rect">
            <a:avLst/>
          </a:prstGeom>
        </p:spPr>
        <p:txBody>
          <a:bodyPr spcFirstLastPara="1" wrap="square" lIns="91425" tIns="91425" rIns="91425" bIns="91425" anchor="t" anchorCtr="0">
            <a:noAutofit/>
          </a:bodyPr>
          <a:lstStyle/>
          <a:p>
            <a:pPr marL="0" indent="0">
              <a:spcBef>
                <a:spcPts val="1200"/>
              </a:spcBef>
              <a:buNone/>
            </a:pPr>
            <a:r>
              <a:rPr lang="en" dirty="0">
                <a:solidFill>
                  <a:srgbClr val="434343"/>
                </a:solidFill>
                <a:latin typeface="Open Sans"/>
                <a:ea typeface="Open Sans"/>
                <a:cs typeface="Open Sans"/>
                <a:sym typeface="Open Sans"/>
              </a:rPr>
              <a:t>A “Fermi Question” is </a:t>
            </a:r>
            <a:r>
              <a:rPr lang="en" i="1" u="sng" dirty="0">
                <a:solidFill>
                  <a:srgbClr val="434343"/>
                </a:solidFill>
                <a:latin typeface="Open Sans"/>
                <a:ea typeface="Open Sans"/>
                <a:cs typeface="Open Sans"/>
                <a:sym typeface="Open Sans"/>
              </a:rPr>
              <a:t>a question that asks for a quick estimate of a quantity that seems difficult or impossible to determine precisely</a:t>
            </a:r>
            <a:r>
              <a:rPr lang="en" dirty="0">
                <a:solidFill>
                  <a:srgbClr val="434343"/>
                </a:solidFill>
                <a:latin typeface="Open Sans"/>
                <a:ea typeface="Open Sans"/>
                <a:cs typeface="Open Sans"/>
                <a:sym typeface="Open Sans"/>
              </a:rPr>
              <a:t>. </a:t>
            </a:r>
            <a:endParaRPr dirty="0">
              <a:solidFill>
                <a:srgbClr val="434343"/>
              </a:solidFill>
              <a:latin typeface="Open Sans"/>
              <a:ea typeface="Open Sans"/>
              <a:cs typeface="Open Sans"/>
              <a:sym typeface="Open Sans"/>
            </a:endParaRPr>
          </a:p>
          <a:p>
            <a:pPr marL="0" indent="0">
              <a:spcBef>
                <a:spcPts val="1200"/>
              </a:spcBef>
              <a:spcAft>
                <a:spcPts val="1000"/>
              </a:spcAft>
              <a:buNone/>
            </a:pPr>
            <a:r>
              <a:rPr lang="en" dirty="0">
                <a:solidFill>
                  <a:srgbClr val="434343"/>
                </a:solidFill>
                <a:latin typeface="Open Sans"/>
                <a:ea typeface="Open Sans"/>
                <a:cs typeface="Open Sans"/>
                <a:sym typeface="Open Sans"/>
              </a:rPr>
              <a:t>For example, the question </a:t>
            </a:r>
            <a:r>
              <a:rPr lang="en" b="1" i="1" u="sng" dirty="0">
                <a:solidFill>
                  <a:srgbClr val="434343"/>
                </a:solidFill>
                <a:latin typeface="Open Sans"/>
                <a:ea typeface="Open Sans"/>
                <a:cs typeface="Open Sans"/>
                <a:sym typeface="Open Sans"/>
              </a:rPr>
              <a:t>"How many drops of water are there in the Serpentine Dam?"</a:t>
            </a:r>
            <a:r>
              <a:rPr lang="en" dirty="0">
                <a:solidFill>
                  <a:srgbClr val="434343"/>
                </a:solidFill>
                <a:latin typeface="Open Sans"/>
                <a:ea typeface="Open Sans"/>
                <a:cs typeface="Open Sans"/>
                <a:sym typeface="Open Sans"/>
              </a:rPr>
              <a:t> requires an estimate of the volume of a drop, the volume of the Serpentine Dam from its approximate dimensions and conversion of units to yield an answer.</a:t>
            </a:r>
            <a:endParaRPr dirty="0">
              <a:solidFill>
                <a:srgbClr val="434343"/>
              </a:solidFill>
              <a:latin typeface="Open Sans"/>
              <a:ea typeface="Open Sans"/>
              <a:cs typeface="Open Sans"/>
              <a:sym typeface="Open Sans"/>
            </a:endParaRPr>
          </a:p>
        </p:txBody>
      </p:sp>
      <p:pic>
        <p:nvPicPr>
          <p:cNvPr id="71" name="Google Shape;71;p15"/>
          <p:cNvPicPr preferRelativeResize="0"/>
          <p:nvPr/>
        </p:nvPicPr>
        <p:blipFill>
          <a:blip r:embed="rId3">
            <a:alphaModFix/>
          </a:blip>
          <a:stretch>
            <a:fillRect/>
          </a:stretch>
        </p:blipFill>
        <p:spPr>
          <a:xfrm>
            <a:off x="476101" y="1152475"/>
            <a:ext cx="2877999" cy="2206480"/>
          </a:xfrm>
          <a:prstGeom prst="rect">
            <a:avLst/>
          </a:prstGeom>
          <a:noFill/>
          <a:ln>
            <a:noFill/>
          </a:ln>
        </p:spPr>
      </p:pic>
      <p:sp>
        <p:nvSpPr>
          <p:cNvPr id="72" name="Google Shape;72;p15"/>
          <p:cNvSpPr txBox="1"/>
          <p:nvPr/>
        </p:nvSpPr>
        <p:spPr>
          <a:xfrm>
            <a:off x="476100" y="3417500"/>
            <a:ext cx="8191800" cy="513300"/>
          </a:xfrm>
          <a:prstGeom prst="rect">
            <a:avLst/>
          </a:prstGeom>
          <a:noFill/>
          <a:ln>
            <a:noFill/>
          </a:ln>
        </p:spPr>
        <p:txBody>
          <a:bodyPr spcFirstLastPara="1" wrap="square" lIns="91425" tIns="91425" rIns="91425" bIns="91425" anchor="t" anchorCtr="0">
            <a:noAutofit/>
          </a:bodyPr>
          <a:lstStyle/>
          <a:p>
            <a:pPr>
              <a:lnSpc>
                <a:spcPct val="115000"/>
              </a:lnSpc>
              <a:spcBef>
                <a:spcPts val="1000"/>
              </a:spcBef>
              <a:spcAft>
                <a:spcPts val="1000"/>
              </a:spcAft>
              <a:buClr>
                <a:schemeClr val="dk1"/>
              </a:buClr>
              <a:buSzPts val="1100"/>
            </a:pPr>
            <a:endParaRPr sz="1800">
              <a:solidFill>
                <a:srgbClr val="434343"/>
              </a:solidFill>
            </a:endParaRPr>
          </a:p>
        </p:txBody>
      </p:sp>
      <p:sp>
        <p:nvSpPr>
          <p:cNvPr id="73" name="Google Shape;73;p15"/>
          <p:cNvSpPr txBox="1"/>
          <p:nvPr/>
        </p:nvSpPr>
        <p:spPr>
          <a:xfrm>
            <a:off x="311700" y="3671475"/>
            <a:ext cx="8356200" cy="936600"/>
          </a:xfrm>
          <a:prstGeom prst="rect">
            <a:avLst/>
          </a:prstGeom>
          <a:noFill/>
          <a:ln>
            <a:noFill/>
          </a:ln>
        </p:spPr>
        <p:txBody>
          <a:bodyPr spcFirstLastPara="1" wrap="square" lIns="91425" tIns="91425" rIns="91425" bIns="91425" anchor="t" anchorCtr="0">
            <a:noAutofit/>
          </a:bodyPr>
          <a:lstStyle/>
          <a:p>
            <a:pPr>
              <a:lnSpc>
                <a:spcPct val="115000"/>
              </a:lnSpc>
              <a:spcBef>
                <a:spcPts val="1200"/>
              </a:spcBef>
              <a:buClr>
                <a:schemeClr val="dk1"/>
              </a:buClr>
              <a:buSzPts val="1100"/>
            </a:pPr>
            <a:r>
              <a:rPr lang="en" sz="1800" dirty="0">
                <a:solidFill>
                  <a:srgbClr val="434343"/>
                </a:solidFill>
                <a:latin typeface="Open Sans"/>
                <a:ea typeface="Open Sans"/>
                <a:cs typeface="Open Sans"/>
                <a:sym typeface="Open Sans"/>
              </a:rPr>
              <a:t>Fermi’s approach to such questions was to use common sense and rough estimates of quantities to piece together a ball-park value.</a:t>
            </a:r>
            <a:endParaRPr sz="1800" dirty="0">
              <a:solidFill>
                <a:srgbClr val="434343"/>
              </a:solidFill>
              <a:latin typeface="Open Sans"/>
              <a:ea typeface="Open Sans"/>
              <a:cs typeface="Open Sans"/>
              <a:sym typeface="Open Sans"/>
            </a:endParaRPr>
          </a:p>
          <a:p>
            <a:pPr>
              <a:lnSpc>
                <a:spcPct val="115000"/>
              </a:lnSpc>
              <a:spcBef>
                <a:spcPts val="1200"/>
              </a:spcBef>
              <a:buClr>
                <a:schemeClr val="dk1"/>
              </a:buClr>
              <a:buSzPts val="1100"/>
            </a:pPr>
            <a:endParaRPr sz="1800" dirty="0">
              <a:solidFill>
                <a:srgbClr val="434343"/>
              </a:solidFill>
              <a:latin typeface="Open Sans"/>
              <a:ea typeface="Open Sans"/>
              <a:cs typeface="Open Sans"/>
              <a:sym typeface="Open Sans"/>
            </a:endParaRPr>
          </a:p>
          <a:p>
            <a:pPr>
              <a:lnSpc>
                <a:spcPct val="115000"/>
              </a:lnSpc>
              <a:spcBef>
                <a:spcPts val="1200"/>
              </a:spcBef>
              <a:buClr>
                <a:schemeClr val="dk1"/>
              </a:buClr>
              <a:buSzPts val="1100"/>
            </a:pPr>
            <a:endParaRPr sz="1800" dirty="0">
              <a:solidFill>
                <a:srgbClr val="434343"/>
              </a:solidFill>
              <a:latin typeface="Open Sans"/>
              <a:ea typeface="Open Sans"/>
              <a:cs typeface="Open Sans"/>
              <a:sym typeface="Open Sans"/>
            </a:endParaRPr>
          </a:p>
          <a:p>
            <a:pPr>
              <a:spcBef>
                <a:spcPts val="1600"/>
              </a:spcBef>
            </a:pPr>
            <a:endParaRPr sz="1643" dirty="0"/>
          </a:p>
        </p:txBody>
      </p:sp>
      <p:sp>
        <p:nvSpPr>
          <p:cNvPr id="74" name="Google Shape;74;p15"/>
          <p:cNvSpPr txBox="1"/>
          <p:nvPr/>
        </p:nvSpPr>
        <p:spPr>
          <a:xfrm>
            <a:off x="6403800" y="4816500"/>
            <a:ext cx="2740200" cy="327000"/>
          </a:xfrm>
          <a:prstGeom prst="rect">
            <a:avLst/>
          </a:prstGeom>
          <a:noFill/>
          <a:ln>
            <a:noFill/>
          </a:ln>
        </p:spPr>
        <p:txBody>
          <a:bodyPr spcFirstLastPara="1" wrap="square" lIns="91425" tIns="91425" rIns="91425" bIns="91425" anchor="t" anchorCtr="0">
            <a:noAutofit/>
          </a:bodyPr>
          <a:lstStyle/>
          <a:p>
            <a:pPr algn="r">
              <a:lnSpc>
                <a:spcPct val="115000"/>
              </a:lnSpc>
            </a:pPr>
            <a:endParaRPr sz="800" i="1" dirty="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pic>
        <p:nvPicPr>
          <p:cNvPr id="79" name="Google Shape;79;p16"/>
          <p:cNvPicPr preferRelativeResize="0"/>
          <p:nvPr/>
        </p:nvPicPr>
        <p:blipFill rotWithShape="1">
          <a:blip r:embed="rId3">
            <a:alphaModFix/>
          </a:blip>
          <a:srcRect l="15063" r="15899" b="4915"/>
          <a:stretch/>
        </p:blipFill>
        <p:spPr>
          <a:xfrm>
            <a:off x="212425" y="92776"/>
            <a:ext cx="2880650" cy="2896600"/>
          </a:xfrm>
          <a:prstGeom prst="rect">
            <a:avLst/>
          </a:prstGeom>
          <a:noFill/>
          <a:ln>
            <a:noFill/>
          </a:ln>
        </p:spPr>
      </p:pic>
      <p:pic>
        <p:nvPicPr>
          <p:cNvPr id="80" name="Google Shape;80;p16"/>
          <p:cNvPicPr preferRelativeResize="0"/>
          <p:nvPr/>
        </p:nvPicPr>
        <p:blipFill rotWithShape="1">
          <a:blip r:embed="rId3">
            <a:alphaModFix/>
          </a:blip>
          <a:srcRect l="15063" r="15899" b="4915"/>
          <a:stretch/>
        </p:blipFill>
        <p:spPr>
          <a:xfrm flipH="1">
            <a:off x="1956175" y="2411726"/>
            <a:ext cx="2555400" cy="2569550"/>
          </a:xfrm>
          <a:prstGeom prst="rect">
            <a:avLst/>
          </a:prstGeom>
          <a:noFill/>
          <a:ln>
            <a:noFill/>
          </a:ln>
        </p:spPr>
      </p:pic>
      <p:pic>
        <p:nvPicPr>
          <p:cNvPr id="81" name="Google Shape;81;p16"/>
          <p:cNvPicPr preferRelativeResize="0"/>
          <p:nvPr/>
        </p:nvPicPr>
        <p:blipFill rotWithShape="1">
          <a:blip r:embed="rId3">
            <a:alphaModFix/>
          </a:blip>
          <a:srcRect l="15063" r="15899" b="4915"/>
          <a:stretch/>
        </p:blipFill>
        <p:spPr>
          <a:xfrm>
            <a:off x="6225825" y="1843651"/>
            <a:ext cx="2880650" cy="2896600"/>
          </a:xfrm>
          <a:prstGeom prst="rect">
            <a:avLst/>
          </a:prstGeom>
          <a:noFill/>
          <a:ln>
            <a:noFill/>
          </a:ln>
        </p:spPr>
      </p:pic>
      <p:pic>
        <p:nvPicPr>
          <p:cNvPr id="82" name="Google Shape;82;p16"/>
          <p:cNvPicPr preferRelativeResize="0"/>
          <p:nvPr/>
        </p:nvPicPr>
        <p:blipFill rotWithShape="1">
          <a:blip r:embed="rId3">
            <a:alphaModFix/>
          </a:blip>
          <a:srcRect l="15063" r="15899" b="4915"/>
          <a:stretch/>
        </p:blipFill>
        <p:spPr>
          <a:xfrm flipH="1">
            <a:off x="3822825" y="321376"/>
            <a:ext cx="2555400" cy="2569550"/>
          </a:xfrm>
          <a:prstGeom prst="rect">
            <a:avLst/>
          </a:prstGeom>
          <a:noFill/>
          <a:ln>
            <a:noFill/>
          </a:ln>
        </p:spPr>
      </p:pic>
      <p:sp>
        <p:nvSpPr>
          <p:cNvPr id="83" name="Google Shape;83;p16"/>
          <p:cNvSpPr txBox="1"/>
          <p:nvPr/>
        </p:nvSpPr>
        <p:spPr>
          <a:xfrm>
            <a:off x="880101" y="923726"/>
            <a:ext cx="1545300" cy="749700"/>
          </a:xfrm>
          <a:prstGeom prst="rect">
            <a:avLst/>
          </a:prstGeom>
          <a:noFill/>
          <a:ln>
            <a:noFill/>
          </a:ln>
        </p:spPr>
        <p:txBody>
          <a:bodyPr spcFirstLastPara="1" wrap="square" lIns="91425" tIns="91425" rIns="91425" bIns="91425" anchor="t" anchorCtr="0">
            <a:noAutofit/>
          </a:bodyPr>
          <a:lstStyle/>
          <a:p>
            <a:pPr algn="ctr"/>
            <a:r>
              <a:rPr lang="en" sz="1600">
                <a:latin typeface="Open Sans"/>
                <a:ea typeface="Open Sans"/>
                <a:cs typeface="Open Sans"/>
                <a:sym typeface="Open Sans"/>
              </a:rPr>
              <a:t>How far could you walk in one year?</a:t>
            </a:r>
            <a:endParaRPr sz="1600">
              <a:latin typeface="Open Sans"/>
              <a:ea typeface="Open Sans"/>
              <a:cs typeface="Open Sans"/>
              <a:sym typeface="Open Sans"/>
            </a:endParaRPr>
          </a:p>
        </p:txBody>
      </p:sp>
      <p:sp>
        <p:nvSpPr>
          <p:cNvPr id="84" name="Google Shape;84;p16"/>
          <p:cNvSpPr txBox="1"/>
          <p:nvPr/>
        </p:nvSpPr>
        <p:spPr>
          <a:xfrm>
            <a:off x="2478600" y="2913175"/>
            <a:ext cx="1545300" cy="749700"/>
          </a:xfrm>
          <a:prstGeom prst="rect">
            <a:avLst/>
          </a:prstGeom>
          <a:noFill/>
          <a:ln>
            <a:noFill/>
          </a:ln>
        </p:spPr>
        <p:txBody>
          <a:bodyPr spcFirstLastPara="1" wrap="square" lIns="91425" tIns="91425" rIns="91425" bIns="91425" anchor="t" anchorCtr="0">
            <a:noAutofit/>
          </a:bodyPr>
          <a:lstStyle/>
          <a:p>
            <a:pPr algn="ctr"/>
            <a:r>
              <a:rPr lang="en" sz="1600">
                <a:latin typeface="Open Sans"/>
                <a:ea typeface="Open Sans"/>
                <a:cs typeface="Open Sans"/>
                <a:sym typeface="Open Sans"/>
              </a:rPr>
              <a:t>How long would it take to count to 1,000,000?</a:t>
            </a:r>
            <a:endParaRPr sz="1600">
              <a:latin typeface="Open Sans"/>
              <a:ea typeface="Open Sans"/>
              <a:cs typeface="Open Sans"/>
              <a:sym typeface="Open Sans"/>
            </a:endParaRPr>
          </a:p>
        </p:txBody>
      </p:sp>
      <p:sp>
        <p:nvSpPr>
          <p:cNvPr id="85" name="Google Shape;85;p16"/>
          <p:cNvSpPr txBox="1"/>
          <p:nvPr/>
        </p:nvSpPr>
        <p:spPr>
          <a:xfrm>
            <a:off x="6893500" y="2232326"/>
            <a:ext cx="1545300" cy="749700"/>
          </a:xfrm>
          <a:prstGeom prst="rect">
            <a:avLst/>
          </a:prstGeom>
          <a:noFill/>
          <a:ln>
            <a:noFill/>
          </a:ln>
        </p:spPr>
        <p:txBody>
          <a:bodyPr spcFirstLastPara="1" wrap="square" lIns="91425" tIns="91425" rIns="91425" bIns="91425" anchor="t" anchorCtr="0">
            <a:noAutofit/>
          </a:bodyPr>
          <a:lstStyle/>
          <a:p>
            <a:pPr algn="ctr"/>
            <a:r>
              <a:rPr lang="en" sz="1600">
                <a:latin typeface="Open Sans"/>
                <a:ea typeface="Open Sans"/>
                <a:cs typeface="Open Sans"/>
                <a:sym typeface="Open Sans"/>
              </a:rPr>
              <a:t>How many pounds of cheese were eaten in France last year?</a:t>
            </a:r>
            <a:endParaRPr sz="1600">
              <a:latin typeface="Open Sans"/>
              <a:ea typeface="Open Sans"/>
              <a:cs typeface="Open Sans"/>
              <a:sym typeface="Open Sans"/>
            </a:endParaRPr>
          </a:p>
        </p:txBody>
      </p:sp>
      <p:sp>
        <p:nvSpPr>
          <p:cNvPr id="86" name="Google Shape;86;p16"/>
          <p:cNvSpPr txBox="1"/>
          <p:nvPr/>
        </p:nvSpPr>
        <p:spPr>
          <a:xfrm>
            <a:off x="4327875" y="839801"/>
            <a:ext cx="1545300" cy="749700"/>
          </a:xfrm>
          <a:prstGeom prst="rect">
            <a:avLst/>
          </a:prstGeom>
          <a:noFill/>
          <a:ln>
            <a:noFill/>
          </a:ln>
        </p:spPr>
        <p:txBody>
          <a:bodyPr spcFirstLastPara="1" wrap="square" lIns="91425" tIns="91425" rIns="91425" bIns="91425" anchor="t" anchorCtr="0">
            <a:noAutofit/>
          </a:bodyPr>
          <a:lstStyle/>
          <a:p>
            <a:pPr algn="ctr"/>
            <a:r>
              <a:rPr lang="en" sz="1600">
                <a:latin typeface="Open Sans"/>
                <a:ea typeface="Open Sans"/>
                <a:cs typeface="Open Sans"/>
                <a:sym typeface="Open Sans"/>
              </a:rPr>
              <a:t>How many piano tuners are there in Canada?</a:t>
            </a:r>
            <a:endParaRPr sz="1600">
              <a:latin typeface="Open Sans"/>
              <a:ea typeface="Open Sans"/>
              <a:cs typeface="Open Sans"/>
              <a:sym typeface="Open Sans"/>
            </a:endParaRPr>
          </a:p>
        </p:txBody>
      </p:sp>
      <p:sp>
        <p:nvSpPr>
          <p:cNvPr id="87" name="Google Shape;87;p16"/>
          <p:cNvSpPr txBox="1"/>
          <p:nvPr/>
        </p:nvSpPr>
        <p:spPr>
          <a:xfrm>
            <a:off x="5422625" y="194525"/>
            <a:ext cx="3390300" cy="795600"/>
          </a:xfrm>
          <a:prstGeom prst="rect">
            <a:avLst/>
          </a:prstGeom>
          <a:noFill/>
          <a:ln>
            <a:noFill/>
          </a:ln>
        </p:spPr>
        <p:txBody>
          <a:bodyPr spcFirstLastPara="1" wrap="square" lIns="91425" tIns="91425" rIns="91425" bIns="91425" anchor="t" anchorCtr="0">
            <a:noAutofit/>
          </a:bodyPr>
          <a:lstStyle/>
          <a:p>
            <a:pPr algn="r"/>
            <a:r>
              <a:rPr lang="en" sz="4000">
                <a:latin typeface="Architects Daughter"/>
                <a:ea typeface="Architects Daughter"/>
                <a:cs typeface="Architects Daughter"/>
                <a:sym typeface="Architects Daughter"/>
              </a:rPr>
              <a:t>Fermi Problems</a:t>
            </a:r>
            <a:endParaRPr sz="4000">
              <a:latin typeface="Architects Daughter"/>
              <a:ea typeface="Architects Daughter"/>
              <a:cs typeface="Architects Daughter"/>
              <a:sym typeface="Architects Daughter"/>
            </a:endParaRPr>
          </a:p>
        </p:txBody>
      </p:sp>
      <p:sp>
        <p:nvSpPr>
          <p:cNvPr id="88" name="Google Shape;88;p16"/>
          <p:cNvSpPr txBox="1"/>
          <p:nvPr/>
        </p:nvSpPr>
        <p:spPr>
          <a:xfrm>
            <a:off x="6403800" y="4816500"/>
            <a:ext cx="2740200" cy="327000"/>
          </a:xfrm>
          <a:prstGeom prst="rect">
            <a:avLst/>
          </a:prstGeom>
          <a:noFill/>
          <a:ln>
            <a:noFill/>
          </a:ln>
        </p:spPr>
        <p:txBody>
          <a:bodyPr spcFirstLastPara="1" wrap="square" lIns="91425" tIns="91425" rIns="91425" bIns="91425" anchor="t" anchorCtr="0">
            <a:noAutofit/>
          </a:bodyPr>
          <a:lstStyle/>
          <a:p>
            <a:pPr algn="r">
              <a:lnSpc>
                <a:spcPct val="115000"/>
              </a:lnSpc>
            </a:pPr>
            <a:r>
              <a:rPr lang="en" sz="800" i="1">
                <a:solidFill>
                  <a:schemeClr val="dk1"/>
                </a:solidFill>
              </a:rPr>
              <a:t> © innovativeteachingideas.com</a:t>
            </a:r>
            <a:endParaRPr sz="800" i="1">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7"/>
          <p:cNvSpPr txBox="1">
            <a:spLocks noGrp="1"/>
          </p:cNvSpPr>
          <p:nvPr>
            <p:ph type="title"/>
          </p:nvPr>
        </p:nvSpPr>
        <p:spPr>
          <a:xfrm>
            <a:off x="311700" y="445026"/>
            <a:ext cx="8520600" cy="572700"/>
          </a:xfrm>
          <a:prstGeom prst="rect">
            <a:avLst/>
          </a:prstGeom>
        </p:spPr>
        <p:txBody>
          <a:bodyPr spcFirstLastPara="1" wrap="square" lIns="91425" tIns="91425" rIns="91425" bIns="91425" anchor="t" anchorCtr="0">
            <a:noAutofit/>
          </a:bodyPr>
          <a:lstStyle/>
          <a:p>
            <a:r>
              <a:rPr lang="en">
                <a:solidFill>
                  <a:srgbClr val="434343"/>
                </a:solidFill>
                <a:latin typeface="Architects Daughter"/>
                <a:ea typeface="Architects Daughter"/>
                <a:cs typeface="Architects Daughter"/>
                <a:sym typeface="Architects Daughter"/>
              </a:rPr>
              <a:t>Skills Needed to Solve Fermi Questions</a:t>
            </a:r>
            <a:endParaRPr>
              <a:solidFill>
                <a:srgbClr val="434343"/>
              </a:solidFill>
              <a:latin typeface="Architects Daughter"/>
              <a:ea typeface="Architects Daughter"/>
              <a:cs typeface="Architects Daughter"/>
              <a:sym typeface="Architects Daughter"/>
            </a:endParaRPr>
          </a:p>
        </p:txBody>
      </p:sp>
      <p:sp>
        <p:nvSpPr>
          <p:cNvPr id="94" name="Google Shape;94;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indent="0">
              <a:buNone/>
            </a:pPr>
            <a:r>
              <a:rPr lang="en" dirty="0">
                <a:latin typeface="Open Sans"/>
                <a:ea typeface="Open Sans"/>
                <a:cs typeface="Open Sans"/>
                <a:sym typeface="Open Sans"/>
              </a:rPr>
              <a:t>Many of the skills that you have learned in your math classes will help you solve Fermi Questions:</a:t>
            </a:r>
            <a:endParaRPr dirty="0">
              <a:latin typeface="Open Sans"/>
              <a:ea typeface="Open Sans"/>
              <a:cs typeface="Open Sans"/>
              <a:sym typeface="Open Sans"/>
            </a:endParaRPr>
          </a:p>
          <a:p>
            <a:pPr>
              <a:spcBef>
                <a:spcPts val="1600"/>
              </a:spcBef>
              <a:buFont typeface="Open Sans"/>
              <a:buChar char="●"/>
            </a:pPr>
            <a:r>
              <a:rPr lang="en" dirty="0">
                <a:latin typeface="Open Sans"/>
                <a:ea typeface="Open Sans"/>
                <a:cs typeface="Open Sans"/>
                <a:sym typeface="Open Sans"/>
              </a:rPr>
              <a:t>Modeling</a:t>
            </a:r>
            <a:endParaRPr dirty="0">
              <a:latin typeface="Open Sans"/>
              <a:ea typeface="Open Sans"/>
              <a:cs typeface="Open Sans"/>
              <a:sym typeface="Open Sans"/>
            </a:endParaRPr>
          </a:p>
          <a:p>
            <a:pPr>
              <a:buFont typeface="Open Sans"/>
              <a:buChar char="●"/>
            </a:pPr>
            <a:r>
              <a:rPr lang="en" dirty="0">
                <a:latin typeface="Open Sans"/>
                <a:ea typeface="Open Sans"/>
                <a:cs typeface="Open Sans"/>
                <a:sym typeface="Open Sans"/>
              </a:rPr>
              <a:t>Estimation</a:t>
            </a:r>
            <a:endParaRPr dirty="0">
              <a:latin typeface="Open Sans"/>
              <a:ea typeface="Open Sans"/>
              <a:cs typeface="Open Sans"/>
              <a:sym typeface="Open Sans"/>
            </a:endParaRPr>
          </a:p>
          <a:p>
            <a:pPr>
              <a:buFont typeface="Open Sans"/>
              <a:buChar char="●"/>
            </a:pPr>
            <a:r>
              <a:rPr lang="en" dirty="0">
                <a:latin typeface="Open Sans"/>
                <a:ea typeface="Open Sans"/>
                <a:cs typeface="Open Sans"/>
                <a:sym typeface="Open Sans"/>
              </a:rPr>
              <a:t>Measurement</a:t>
            </a:r>
            <a:endParaRPr dirty="0">
              <a:latin typeface="Open Sans"/>
              <a:ea typeface="Open Sans"/>
              <a:cs typeface="Open Sans"/>
              <a:sym typeface="Open Sans"/>
            </a:endParaRPr>
          </a:p>
          <a:p>
            <a:pPr>
              <a:buFont typeface="Open Sans"/>
              <a:buChar char="●"/>
            </a:pPr>
            <a:r>
              <a:rPr lang="en" dirty="0">
                <a:latin typeface="Open Sans"/>
                <a:ea typeface="Open Sans"/>
                <a:cs typeface="Open Sans"/>
                <a:sym typeface="Open Sans"/>
              </a:rPr>
              <a:t>Algebraic Expressions </a:t>
            </a:r>
            <a:endParaRPr dirty="0">
              <a:latin typeface="Open Sans"/>
              <a:ea typeface="Open Sans"/>
              <a:cs typeface="Open Sans"/>
              <a:sym typeface="Open Sans"/>
            </a:endParaRPr>
          </a:p>
          <a:p>
            <a:pPr>
              <a:buFont typeface="Open Sans"/>
              <a:buChar char="●"/>
            </a:pPr>
            <a:r>
              <a:rPr lang="en" dirty="0">
                <a:latin typeface="Open Sans"/>
                <a:ea typeface="Open Sans"/>
                <a:cs typeface="Open Sans"/>
                <a:sym typeface="Open Sans"/>
              </a:rPr>
              <a:t>Formulas</a:t>
            </a:r>
            <a:endParaRPr dirty="0">
              <a:latin typeface="Open Sans"/>
              <a:ea typeface="Open Sans"/>
              <a:cs typeface="Open Sans"/>
              <a:sym typeface="Open Sans"/>
            </a:endParaRPr>
          </a:p>
          <a:p>
            <a:pPr>
              <a:buFont typeface="Open Sans"/>
              <a:buChar char="●"/>
            </a:pPr>
            <a:r>
              <a:rPr lang="en" dirty="0">
                <a:latin typeface="Open Sans"/>
                <a:ea typeface="Open Sans"/>
                <a:cs typeface="Open Sans"/>
                <a:sym typeface="Open Sans"/>
              </a:rPr>
              <a:t>Problem Solving</a:t>
            </a:r>
            <a:endParaRPr dirty="0">
              <a:latin typeface="Open Sans"/>
              <a:ea typeface="Open Sans"/>
              <a:cs typeface="Open Sans"/>
              <a:sym typeface="Open Sans"/>
            </a:endParaRPr>
          </a:p>
          <a:p>
            <a:pPr>
              <a:buFont typeface="Open Sans"/>
              <a:buChar char="●"/>
            </a:pPr>
            <a:r>
              <a:rPr lang="en" b="1" i="1" dirty="0">
                <a:latin typeface="Open Sans"/>
                <a:ea typeface="Open Sans"/>
                <a:cs typeface="Open Sans"/>
                <a:sym typeface="Open Sans"/>
              </a:rPr>
              <a:t>Critical Thinking!</a:t>
            </a:r>
            <a:endParaRPr b="1" i="1" dirty="0">
              <a:latin typeface="Open Sans"/>
              <a:ea typeface="Open Sans"/>
              <a:cs typeface="Open Sans"/>
              <a:sym typeface="Open Sans"/>
            </a:endParaRPr>
          </a:p>
        </p:txBody>
      </p:sp>
      <p:pic>
        <p:nvPicPr>
          <p:cNvPr id="95" name="Google Shape;95;p17"/>
          <p:cNvPicPr preferRelativeResize="0"/>
          <p:nvPr/>
        </p:nvPicPr>
        <p:blipFill>
          <a:blip r:embed="rId3">
            <a:alphaModFix/>
          </a:blip>
          <a:stretch>
            <a:fillRect/>
          </a:stretch>
        </p:blipFill>
        <p:spPr>
          <a:xfrm>
            <a:off x="5029201" y="1712075"/>
            <a:ext cx="3265725" cy="3137400"/>
          </a:xfrm>
          <a:prstGeom prst="rect">
            <a:avLst/>
          </a:prstGeom>
          <a:noFill/>
          <a:ln>
            <a:noFill/>
          </a:ln>
        </p:spPr>
      </p:pic>
      <p:sp>
        <p:nvSpPr>
          <p:cNvPr id="96" name="Google Shape;96;p17"/>
          <p:cNvSpPr txBox="1"/>
          <p:nvPr/>
        </p:nvSpPr>
        <p:spPr>
          <a:xfrm>
            <a:off x="6403800" y="4892700"/>
            <a:ext cx="2740200" cy="327000"/>
          </a:xfrm>
          <a:prstGeom prst="rect">
            <a:avLst/>
          </a:prstGeom>
          <a:noFill/>
          <a:ln>
            <a:noFill/>
          </a:ln>
        </p:spPr>
        <p:txBody>
          <a:bodyPr spcFirstLastPara="1" wrap="square" lIns="91425" tIns="91425" rIns="91425" bIns="91425" anchor="t" anchorCtr="0">
            <a:noAutofit/>
          </a:bodyPr>
          <a:lstStyle/>
          <a:p>
            <a:pPr algn="r">
              <a:lnSpc>
                <a:spcPct val="115000"/>
              </a:lnSpc>
            </a:pPr>
            <a:r>
              <a:rPr lang="en" sz="800" i="1">
                <a:solidFill>
                  <a:schemeClr val="dk1"/>
                </a:solidFill>
              </a:rPr>
              <a:t> © innovativeteachingideas.com</a:t>
            </a:r>
            <a:endParaRPr sz="800" i="1">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4">
                                            <p:txEl>
                                              <p:pRg st="1" end="1"/>
                                            </p:txEl>
                                          </p:spTgt>
                                        </p:tgtEl>
                                        <p:attrNameLst>
                                          <p:attrName>style.visibility</p:attrName>
                                        </p:attrNameLst>
                                      </p:cBhvr>
                                      <p:to>
                                        <p:strVal val="visible"/>
                                      </p:to>
                                    </p:set>
                                    <p:anim calcmode="lin" valueType="num">
                                      <p:cBhvr additive="base">
                                        <p:cTn id="7" dur="500" fill="hold"/>
                                        <p:tgtEl>
                                          <p:spTgt spid="9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4">
                                            <p:txEl>
                                              <p:pRg st="2" end="2"/>
                                            </p:txEl>
                                          </p:spTgt>
                                        </p:tgtEl>
                                        <p:attrNameLst>
                                          <p:attrName>style.visibility</p:attrName>
                                        </p:attrNameLst>
                                      </p:cBhvr>
                                      <p:to>
                                        <p:strVal val="visible"/>
                                      </p:to>
                                    </p:set>
                                    <p:anim calcmode="lin" valueType="num">
                                      <p:cBhvr additive="base">
                                        <p:cTn id="13" dur="500" fill="hold"/>
                                        <p:tgtEl>
                                          <p:spTgt spid="9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4">
                                            <p:txEl>
                                              <p:pRg st="3" end="3"/>
                                            </p:txEl>
                                          </p:spTgt>
                                        </p:tgtEl>
                                        <p:attrNameLst>
                                          <p:attrName>style.visibility</p:attrName>
                                        </p:attrNameLst>
                                      </p:cBhvr>
                                      <p:to>
                                        <p:strVal val="visible"/>
                                      </p:to>
                                    </p:set>
                                    <p:anim calcmode="lin" valueType="num">
                                      <p:cBhvr additive="base">
                                        <p:cTn id="19" dur="500" fill="hold"/>
                                        <p:tgtEl>
                                          <p:spTgt spid="9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4">
                                            <p:txEl>
                                              <p:pRg st="4" end="4"/>
                                            </p:txEl>
                                          </p:spTgt>
                                        </p:tgtEl>
                                        <p:attrNameLst>
                                          <p:attrName>style.visibility</p:attrName>
                                        </p:attrNameLst>
                                      </p:cBhvr>
                                      <p:to>
                                        <p:strVal val="visible"/>
                                      </p:to>
                                    </p:set>
                                    <p:anim calcmode="lin" valueType="num">
                                      <p:cBhvr additive="base">
                                        <p:cTn id="25" dur="500" fill="hold"/>
                                        <p:tgtEl>
                                          <p:spTgt spid="9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4">
                                            <p:txEl>
                                              <p:pRg st="5" end="5"/>
                                            </p:txEl>
                                          </p:spTgt>
                                        </p:tgtEl>
                                        <p:attrNameLst>
                                          <p:attrName>style.visibility</p:attrName>
                                        </p:attrNameLst>
                                      </p:cBhvr>
                                      <p:to>
                                        <p:strVal val="visible"/>
                                      </p:to>
                                    </p:set>
                                    <p:anim calcmode="lin" valueType="num">
                                      <p:cBhvr additive="base">
                                        <p:cTn id="31" dur="500" fill="hold"/>
                                        <p:tgtEl>
                                          <p:spTgt spid="94">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4">
                                            <p:txEl>
                                              <p:pRg st="6" end="6"/>
                                            </p:txEl>
                                          </p:spTgt>
                                        </p:tgtEl>
                                        <p:attrNameLst>
                                          <p:attrName>style.visibility</p:attrName>
                                        </p:attrNameLst>
                                      </p:cBhvr>
                                      <p:to>
                                        <p:strVal val="visible"/>
                                      </p:to>
                                    </p:set>
                                    <p:anim calcmode="lin" valueType="num">
                                      <p:cBhvr additive="base">
                                        <p:cTn id="37" dur="500" fill="hold"/>
                                        <p:tgtEl>
                                          <p:spTgt spid="94">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4">
                                            <p:txEl>
                                              <p:pRg st="7" end="7"/>
                                            </p:txEl>
                                          </p:spTgt>
                                        </p:tgtEl>
                                        <p:attrNameLst>
                                          <p:attrName>style.visibility</p:attrName>
                                        </p:attrNameLst>
                                      </p:cBhvr>
                                      <p:to>
                                        <p:strVal val="visible"/>
                                      </p:to>
                                    </p:set>
                                    <p:anim calcmode="lin" valueType="num">
                                      <p:cBhvr additive="base">
                                        <p:cTn id="43" dur="500" fill="hold"/>
                                        <p:tgtEl>
                                          <p:spTgt spid="94">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8"/>
          <p:cNvSpPr txBox="1">
            <a:spLocks noGrp="1"/>
          </p:cNvSpPr>
          <p:nvPr>
            <p:ph type="title"/>
          </p:nvPr>
        </p:nvSpPr>
        <p:spPr>
          <a:xfrm>
            <a:off x="311700" y="445026"/>
            <a:ext cx="8520600" cy="572700"/>
          </a:xfrm>
          <a:prstGeom prst="rect">
            <a:avLst/>
          </a:prstGeom>
        </p:spPr>
        <p:txBody>
          <a:bodyPr spcFirstLastPara="1" wrap="square" lIns="91425" tIns="91425" rIns="91425" bIns="91425" anchor="t" anchorCtr="0">
            <a:noAutofit/>
          </a:bodyPr>
          <a:lstStyle/>
          <a:p>
            <a:r>
              <a:rPr lang="en">
                <a:latin typeface="Architects Daughter"/>
                <a:ea typeface="Architects Daughter"/>
                <a:cs typeface="Architects Daughter"/>
                <a:sym typeface="Architects Daughter"/>
              </a:rPr>
              <a:t>What is Critical Thinking?</a:t>
            </a:r>
            <a:endParaRPr>
              <a:latin typeface="Architects Daughter"/>
              <a:ea typeface="Architects Daughter"/>
              <a:cs typeface="Architects Daughter"/>
              <a:sym typeface="Architects Daughter"/>
            </a:endParaRPr>
          </a:p>
        </p:txBody>
      </p:sp>
      <p:sp>
        <p:nvSpPr>
          <p:cNvPr id="102" name="Google Shape;102;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indent="0">
              <a:spcAft>
                <a:spcPts val="1600"/>
              </a:spcAft>
              <a:buNone/>
            </a:pPr>
            <a:r>
              <a:rPr lang="en" dirty="0">
                <a:latin typeface="Open Sans"/>
                <a:ea typeface="Open Sans"/>
                <a:cs typeface="Open Sans"/>
                <a:sym typeface="Open Sans"/>
              </a:rPr>
              <a:t>Critical thinking is the ability to analyze information objectively and make a reasoned judgement. It involves the evaluation of sources, such as data, facts, observable phenomena and research findings. (</a:t>
            </a:r>
            <a:r>
              <a:rPr lang="en" u="sng" dirty="0">
                <a:solidFill>
                  <a:schemeClr val="hlink"/>
                </a:solidFill>
                <a:latin typeface="Open Sans"/>
                <a:ea typeface="Open Sans"/>
                <a:cs typeface="Open Sans"/>
                <a:sym typeface="Open Sans"/>
                <a:hlinkClick r:id="rId3"/>
              </a:rPr>
              <a:t>source</a:t>
            </a:r>
            <a:r>
              <a:rPr lang="en" dirty="0">
                <a:latin typeface="Open Sans"/>
                <a:ea typeface="Open Sans"/>
                <a:cs typeface="Open Sans"/>
                <a:sym typeface="Open Sans"/>
              </a:rPr>
              <a:t>)</a:t>
            </a:r>
            <a:endParaRPr dirty="0">
              <a:latin typeface="Open Sans"/>
              <a:ea typeface="Open Sans"/>
              <a:cs typeface="Open Sans"/>
              <a:sym typeface="Open Sans"/>
            </a:endParaRPr>
          </a:p>
        </p:txBody>
      </p:sp>
      <p:pic>
        <p:nvPicPr>
          <p:cNvPr id="103" name="Google Shape;103;p18"/>
          <p:cNvPicPr preferRelativeResize="0"/>
          <p:nvPr/>
        </p:nvPicPr>
        <p:blipFill>
          <a:blip r:embed="rId4">
            <a:alphaModFix/>
          </a:blip>
          <a:stretch>
            <a:fillRect/>
          </a:stretch>
        </p:blipFill>
        <p:spPr>
          <a:xfrm>
            <a:off x="505952" y="2308327"/>
            <a:ext cx="2312560" cy="2641125"/>
          </a:xfrm>
          <a:prstGeom prst="rect">
            <a:avLst/>
          </a:prstGeom>
          <a:noFill/>
          <a:ln>
            <a:noFill/>
          </a:ln>
        </p:spPr>
      </p:pic>
      <p:sp>
        <p:nvSpPr>
          <p:cNvPr id="104" name="Google Shape;104;p18"/>
          <p:cNvSpPr txBox="1"/>
          <p:nvPr/>
        </p:nvSpPr>
        <p:spPr>
          <a:xfrm>
            <a:off x="2894976" y="2491650"/>
            <a:ext cx="5937300" cy="1383900"/>
          </a:xfrm>
          <a:prstGeom prst="rect">
            <a:avLst/>
          </a:prstGeom>
          <a:noFill/>
          <a:ln>
            <a:noFill/>
          </a:ln>
        </p:spPr>
        <p:txBody>
          <a:bodyPr spcFirstLastPara="1" wrap="square" lIns="91425" tIns="91425" rIns="91425" bIns="91425" anchor="t" anchorCtr="0">
            <a:noAutofit/>
          </a:bodyPr>
          <a:lstStyle/>
          <a:p>
            <a:pPr algn="r">
              <a:lnSpc>
                <a:spcPct val="115000"/>
              </a:lnSpc>
            </a:pPr>
            <a:r>
              <a:rPr lang="en" sz="1800" dirty="0">
                <a:solidFill>
                  <a:srgbClr val="666666"/>
                </a:solidFill>
                <a:latin typeface="Open Sans"/>
                <a:ea typeface="Open Sans"/>
                <a:cs typeface="Open Sans"/>
                <a:sym typeface="Open Sans"/>
              </a:rPr>
              <a:t>Fermi Problems are BIG questions that can seem impossible to answer. You must think critically and creatively to come up with estimates. </a:t>
            </a:r>
            <a:r>
              <a:rPr lang="en" sz="1800" b="1" dirty="0">
                <a:solidFill>
                  <a:srgbClr val="666666"/>
                </a:solidFill>
                <a:latin typeface="Open Sans"/>
                <a:ea typeface="Open Sans"/>
                <a:cs typeface="Open Sans"/>
                <a:sym typeface="Open Sans"/>
              </a:rPr>
              <a:t>The goal is not always to get an </a:t>
            </a:r>
            <a:r>
              <a:rPr lang="en" sz="1800" b="1" i="1" dirty="0">
                <a:solidFill>
                  <a:srgbClr val="666666"/>
                </a:solidFill>
                <a:latin typeface="Open Sans"/>
                <a:ea typeface="Open Sans"/>
                <a:cs typeface="Open Sans"/>
                <a:sym typeface="Open Sans"/>
              </a:rPr>
              <a:t>exact</a:t>
            </a:r>
            <a:r>
              <a:rPr lang="en" sz="1800" b="1" dirty="0">
                <a:solidFill>
                  <a:srgbClr val="666666"/>
                </a:solidFill>
                <a:latin typeface="Open Sans"/>
                <a:ea typeface="Open Sans"/>
                <a:cs typeface="Open Sans"/>
                <a:sym typeface="Open Sans"/>
              </a:rPr>
              <a:t> answer!  </a:t>
            </a:r>
            <a:endParaRPr sz="1800" b="1" dirty="0">
              <a:solidFill>
                <a:srgbClr val="666666"/>
              </a:solidFill>
              <a:latin typeface="Open Sans"/>
              <a:ea typeface="Open Sans"/>
              <a:cs typeface="Open Sans"/>
              <a:sym typeface="Open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
                                            <p:txEl>
                                              <p:pRg st="0" end="0"/>
                                            </p:txEl>
                                          </p:spTgt>
                                        </p:tgtEl>
                                        <p:attrNameLst>
                                          <p:attrName>style.visibility</p:attrName>
                                        </p:attrNameLst>
                                      </p:cBhvr>
                                      <p:to>
                                        <p:strVal val="visible"/>
                                      </p:to>
                                    </p:set>
                                    <p:anim calcmode="lin" valueType="num">
                                      <p:cBhvr additive="base">
                                        <p:cTn id="7" dur="500" fill="hold"/>
                                        <p:tgtEl>
                                          <p:spTgt spid="10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104">
                                            <p:txEl>
                                              <p:pRg st="0" end="0"/>
                                            </p:txEl>
                                          </p:spTgt>
                                        </p:tgtEl>
                                        <p:attrNameLst>
                                          <p:attrName>style.visibility</p:attrName>
                                        </p:attrNameLst>
                                      </p:cBhvr>
                                      <p:to>
                                        <p:strVal val="visible"/>
                                      </p:to>
                                    </p:set>
                                    <p:animEffect transition="in" filter="dissolve">
                                      <p:cBhvr>
                                        <p:cTn id="13" dur="500"/>
                                        <p:tgtEl>
                                          <p:spTgt spid="10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9"/>
          <p:cNvSpPr txBox="1">
            <a:spLocks noGrp="1"/>
          </p:cNvSpPr>
          <p:nvPr>
            <p:ph type="title"/>
          </p:nvPr>
        </p:nvSpPr>
        <p:spPr>
          <a:xfrm>
            <a:off x="311700" y="445026"/>
            <a:ext cx="8520600" cy="572700"/>
          </a:xfrm>
          <a:prstGeom prst="rect">
            <a:avLst/>
          </a:prstGeom>
        </p:spPr>
        <p:txBody>
          <a:bodyPr spcFirstLastPara="1" wrap="square" lIns="91425" tIns="91425" rIns="91425" bIns="91425" anchor="t" anchorCtr="0">
            <a:noAutofit/>
          </a:bodyPr>
          <a:lstStyle/>
          <a:p>
            <a:r>
              <a:rPr lang="en">
                <a:latin typeface="Architects Daughter"/>
                <a:ea typeface="Architects Daughter"/>
                <a:cs typeface="Architects Daughter"/>
                <a:sym typeface="Architects Daughter"/>
              </a:rPr>
              <a:t>Goals for Fermi Questions</a:t>
            </a:r>
            <a:endParaRPr>
              <a:latin typeface="Architects Daughter"/>
              <a:ea typeface="Architects Daughter"/>
              <a:cs typeface="Architects Daughter"/>
              <a:sym typeface="Architects Daughter"/>
            </a:endParaRPr>
          </a:p>
        </p:txBody>
      </p:sp>
      <p:sp>
        <p:nvSpPr>
          <p:cNvPr id="111" name="Google Shape;111;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indent="0">
              <a:buNone/>
            </a:pPr>
            <a:r>
              <a:rPr lang="en" dirty="0">
                <a:latin typeface="Open Sans"/>
                <a:ea typeface="Open Sans"/>
                <a:cs typeface="Open Sans"/>
                <a:sym typeface="Open Sans"/>
              </a:rPr>
              <a:t>When solving Fermi Questions, our focus will be on process - not the final outcome. We hope to: </a:t>
            </a:r>
            <a:endParaRPr dirty="0">
              <a:latin typeface="Open Sans"/>
              <a:ea typeface="Open Sans"/>
              <a:cs typeface="Open Sans"/>
              <a:sym typeface="Open Sans"/>
            </a:endParaRPr>
          </a:p>
          <a:p>
            <a:pPr>
              <a:spcBef>
                <a:spcPts val="1600"/>
              </a:spcBef>
              <a:buFont typeface="Open Sans"/>
              <a:buChar char="●"/>
            </a:pPr>
            <a:r>
              <a:rPr lang="en" dirty="0">
                <a:latin typeface="Open Sans"/>
                <a:ea typeface="Open Sans"/>
                <a:cs typeface="Open Sans"/>
                <a:sym typeface="Open Sans"/>
              </a:rPr>
              <a:t>Generate many potential solutions to a given problem</a:t>
            </a:r>
            <a:endParaRPr dirty="0">
              <a:latin typeface="Open Sans"/>
              <a:ea typeface="Open Sans"/>
              <a:cs typeface="Open Sans"/>
              <a:sym typeface="Open Sans"/>
            </a:endParaRPr>
          </a:p>
          <a:p>
            <a:pPr>
              <a:buFont typeface="Open Sans"/>
              <a:buChar char="●"/>
            </a:pPr>
            <a:r>
              <a:rPr lang="en" dirty="0">
                <a:latin typeface="Open Sans"/>
                <a:ea typeface="Open Sans"/>
                <a:cs typeface="Open Sans"/>
                <a:sym typeface="Open Sans"/>
              </a:rPr>
              <a:t>Analyze problems for different points of view</a:t>
            </a:r>
            <a:endParaRPr dirty="0">
              <a:latin typeface="Open Sans"/>
              <a:ea typeface="Open Sans"/>
              <a:cs typeface="Open Sans"/>
              <a:sym typeface="Open Sans"/>
            </a:endParaRPr>
          </a:p>
          <a:p>
            <a:pPr>
              <a:buFont typeface="Open Sans"/>
              <a:buChar char="●"/>
            </a:pPr>
            <a:r>
              <a:rPr lang="en" dirty="0">
                <a:latin typeface="Open Sans"/>
                <a:ea typeface="Open Sans"/>
                <a:cs typeface="Open Sans"/>
                <a:sym typeface="Open Sans"/>
              </a:rPr>
              <a:t>Make decisions as a part of a group</a:t>
            </a:r>
            <a:endParaRPr dirty="0">
              <a:latin typeface="Open Sans"/>
              <a:ea typeface="Open Sans"/>
              <a:cs typeface="Open Sans"/>
              <a:sym typeface="Open Sans"/>
            </a:endParaRPr>
          </a:p>
          <a:p>
            <a:pPr>
              <a:buFont typeface="Open Sans"/>
              <a:buChar char="●"/>
            </a:pPr>
            <a:r>
              <a:rPr lang="en" dirty="0">
                <a:latin typeface="Open Sans"/>
                <a:ea typeface="Open Sans"/>
                <a:cs typeface="Open Sans"/>
                <a:sym typeface="Open Sans"/>
              </a:rPr>
              <a:t>Communicate mathematical ideas verbally and in writing</a:t>
            </a:r>
            <a:endParaRPr dirty="0">
              <a:latin typeface="Open Sans"/>
              <a:ea typeface="Open Sans"/>
              <a:cs typeface="Open Sans"/>
              <a:sym typeface="Open Sans"/>
            </a:endParaRPr>
          </a:p>
          <a:p>
            <a:pPr>
              <a:buFont typeface="Open Sans"/>
              <a:buChar char="●"/>
            </a:pPr>
            <a:r>
              <a:rPr lang="en" dirty="0">
                <a:latin typeface="Open Sans"/>
                <a:ea typeface="Open Sans"/>
                <a:cs typeface="Open Sans"/>
                <a:sym typeface="Open Sans"/>
              </a:rPr>
              <a:t>Create and utilize formulas to tackle a problem </a:t>
            </a:r>
            <a:endParaRPr dirty="0">
              <a:latin typeface="Open Sans"/>
              <a:ea typeface="Open Sans"/>
              <a:cs typeface="Open Sans"/>
              <a:sym typeface="Open Sans"/>
            </a:endParaRPr>
          </a:p>
          <a:p>
            <a:pPr>
              <a:buFont typeface="Open Sans"/>
              <a:buChar char="●"/>
            </a:pPr>
            <a:r>
              <a:rPr lang="en" dirty="0">
                <a:latin typeface="Open Sans"/>
                <a:ea typeface="Open Sans"/>
                <a:cs typeface="Open Sans"/>
                <a:sym typeface="Open Sans"/>
              </a:rPr>
              <a:t>Use internet search tools to find information</a:t>
            </a:r>
            <a:endParaRPr dirty="0">
              <a:latin typeface="Open Sans"/>
              <a:ea typeface="Open Sans"/>
              <a:cs typeface="Open Sans"/>
              <a:sym typeface="Open Sans"/>
            </a:endParaRPr>
          </a:p>
          <a:p>
            <a:pPr>
              <a:buFont typeface="Open Sans"/>
              <a:buChar char="●"/>
            </a:pPr>
            <a:r>
              <a:rPr lang="en" dirty="0">
                <a:latin typeface="Open Sans"/>
                <a:ea typeface="Open Sans"/>
                <a:cs typeface="Open Sans"/>
                <a:sym typeface="Open Sans"/>
              </a:rPr>
              <a:t>Hone estimation skills and confidence</a:t>
            </a:r>
            <a:endParaRPr dirty="0">
              <a:latin typeface="Open Sans"/>
              <a:ea typeface="Open Sans"/>
              <a:cs typeface="Open Sans"/>
              <a:sym typeface="Open Sans"/>
            </a:endParaRPr>
          </a:p>
        </p:txBody>
      </p:sp>
      <p:sp>
        <p:nvSpPr>
          <p:cNvPr id="112" name="Google Shape;112;p19"/>
          <p:cNvSpPr txBox="1"/>
          <p:nvPr/>
        </p:nvSpPr>
        <p:spPr>
          <a:xfrm>
            <a:off x="218400" y="4347775"/>
            <a:ext cx="8707200" cy="1414800"/>
          </a:xfrm>
          <a:prstGeom prst="rect">
            <a:avLst/>
          </a:prstGeom>
          <a:noFill/>
          <a:ln>
            <a:noFill/>
          </a:ln>
        </p:spPr>
        <p:txBody>
          <a:bodyPr spcFirstLastPara="1" wrap="square" lIns="91425" tIns="91425" rIns="91425" bIns="91425" anchor="t" anchorCtr="0">
            <a:noAutofit/>
          </a:bodyPr>
          <a:lstStyle/>
          <a:p>
            <a:pPr algn="ctr">
              <a:lnSpc>
                <a:spcPct val="115000"/>
              </a:lnSpc>
            </a:pPr>
            <a:r>
              <a:rPr lang="en" sz="1800" b="1" dirty="0">
                <a:solidFill>
                  <a:srgbClr val="666666"/>
                </a:solidFill>
                <a:latin typeface="Open Sans"/>
                <a:ea typeface="Open Sans"/>
                <a:cs typeface="Open Sans"/>
                <a:sym typeface="Open Sans"/>
              </a:rPr>
              <a:t>Remember:</a:t>
            </a:r>
            <a:r>
              <a:rPr lang="en" sz="1800" dirty="0">
                <a:solidFill>
                  <a:srgbClr val="666666"/>
                </a:solidFill>
                <a:latin typeface="Open Sans"/>
                <a:ea typeface="Open Sans"/>
                <a:cs typeface="Open Sans"/>
                <a:sym typeface="Open Sans"/>
              </a:rPr>
              <a:t> The goal is not always to get an </a:t>
            </a:r>
            <a:r>
              <a:rPr lang="en" sz="1800" i="1" dirty="0">
                <a:solidFill>
                  <a:srgbClr val="666666"/>
                </a:solidFill>
                <a:latin typeface="Open Sans"/>
                <a:ea typeface="Open Sans"/>
                <a:cs typeface="Open Sans"/>
                <a:sym typeface="Open Sans"/>
              </a:rPr>
              <a:t>exact</a:t>
            </a:r>
            <a:r>
              <a:rPr lang="en" sz="1800" dirty="0">
                <a:solidFill>
                  <a:srgbClr val="666666"/>
                </a:solidFill>
                <a:latin typeface="Open Sans"/>
                <a:ea typeface="Open Sans"/>
                <a:cs typeface="Open Sans"/>
                <a:sym typeface="Open Sans"/>
              </a:rPr>
              <a:t> answer!  </a:t>
            </a:r>
            <a:endParaRPr sz="1800" dirty="0">
              <a:solidFill>
                <a:srgbClr val="666666"/>
              </a:solidFill>
              <a:latin typeface="Open Sans"/>
              <a:ea typeface="Open Sans"/>
              <a:cs typeface="Open Sans"/>
              <a:sym typeface="Open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1">
                                            <p:txEl>
                                              <p:pRg st="1" end="1"/>
                                            </p:txEl>
                                          </p:spTgt>
                                        </p:tgtEl>
                                        <p:attrNameLst>
                                          <p:attrName>style.visibility</p:attrName>
                                        </p:attrNameLst>
                                      </p:cBhvr>
                                      <p:to>
                                        <p:strVal val="visible"/>
                                      </p:to>
                                    </p:set>
                                    <p:animEffect transition="in" filter="dissolve">
                                      <p:cBhvr>
                                        <p:cTn id="7" dur="500"/>
                                        <p:tgtEl>
                                          <p:spTgt spid="1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11">
                                            <p:txEl>
                                              <p:pRg st="2" end="2"/>
                                            </p:txEl>
                                          </p:spTgt>
                                        </p:tgtEl>
                                        <p:attrNameLst>
                                          <p:attrName>style.visibility</p:attrName>
                                        </p:attrNameLst>
                                      </p:cBhvr>
                                      <p:to>
                                        <p:strVal val="visible"/>
                                      </p:to>
                                    </p:set>
                                    <p:animEffect transition="in" filter="dissolve">
                                      <p:cBhvr>
                                        <p:cTn id="12" dur="500"/>
                                        <p:tgtEl>
                                          <p:spTgt spid="11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11">
                                            <p:txEl>
                                              <p:pRg st="3" end="3"/>
                                            </p:txEl>
                                          </p:spTgt>
                                        </p:tgtEl>
                                        <p:attrNameLst>
                                          <p:attrName>style.visibility</p:attrName>
                                        </p:attrNameLst>
                                      </p:cBhvr>
                                      <p:to>
                                        <p:strVal val="visible"/>
                                      </p:to>
                                    </p:set>
                                    <p:animEffect transition="in" filter="dissolve">
                                      <p:cBhvr>
                                        <p:cTn id="17" dur="500"/>
                                        <p:tgtEl>
                                          <p:spTgt spid="111">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11">
                                            <p:txEl>
                                              <p:pRg st="4" end="4"/>
                                            </p:txEl>
                                          </p:spTgt>
                                        </p:tgtEl>
                                        <p:attrNameLst>
                                          <p:attrName>style.visibility</p:attrName>
                                        </p:attrNameLst>
                                      </p:cBhvr>
                                      <p:to>
                                        <p:strVal val="visible"/>
                                      </p:to>
                                    </p:set>
                                    <p:animEffect transition="in" filter="dissolve">
                                      <p:cBhvr>
                                        <p:cTn id="22" dur="500"/>
                                        <p:tgtEl>
                                          <p:spTgt spid="111">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11">
                                            <p:txEl>
                                              <p:pRg st="5" end="5"/>
                                            </p:txEl>
                                          </p:spTgt>
                                        </p:tgtEl>
                                        <p:attrNameLst>
                                          <p:attrName>style.visibility</p:attrName>
                                        </p:attrNameLst>
                                      </p:cBhvr>
                                      <p:to>
                                        <p:strVal val="visible"/>
                                      </p:to>
                                    </p:set>
                                    <p:animEffect transition="in" filter="dissolve">
                                      <p:cBhvr>
                                        <p:cTn id="27" dur="500"/>
                                        <p:tgtEl>
                                          <p:spTgt spid="111">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11">
                                            <p:txEl>
                                              <p:pRg st="6" end="6"/>
                                            </p:txEl>
                                          </p:spTgt>
                                        </p:tgtEl>
                                        <p:attrNameLst>
                                          <p:attrName>style.visibility</p:attrName>
                                        </p:attrNameLst>
                                      </p:cBhvr>
                                      <p:to>
                                        <p:strVal val="visible"/>
                                      </p:to>
                                    </p:set>
                                    <p:animEffect transition="in" filter="dissolve">
                                      <p:cBhvr>
                                        <p:cTn id="32" dur="500"/>
                                        <p:tgtEl>
                                          <p:spTgt spid="111">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111">
                                            <p:txEl>
                                              <p:pRg st="7" end="7"/>
                                            </p:txEl>
                                          </p:spTgt>
                                        </p:tgtEl>
                                        <p:attrNameLst>
                                          <p:attrName>style.visibility</p:attrName>
                                        </p:attrNameLst>
                                      </p:cBhvr>
                                      <p:to>
                                        <p:strVal val="visible"/>
                                      </p:to>
                                    </p:set>
                                    <p:animEffect transition="in" filter="dissolve">
                                      <p:cBhvr>
                                        <p:cTn id="37" dur="500"/>
                                        <p:tgtEl>
                                          <p:spTgt spid="111">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112">
                                            <p:txEl>
                                              <p:pRg st="0" end="0"/>
                                            </p:txEl>
                                          </p:spTgt>
                                        </p:tgtEl>
                                        <p:attrNameLst>
                                          <p:attrName>style.visibility</p:attrName>
                                        </p:attrNameLst>
                                      </p:cBhvr>
                                      <p:to>
                                        <p:strVal val="visible"/>
                                      </p:to>
                                    </p:set>
                                    <p:animEffect transition="in" filter="checkerboard(across)">
                                      <p:cBhvr>
                                        <p:cTn id="42" dur="500"/>
                                        <p:tgtEl>
                                          <p:spTgt spid="1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0"/>
          <p:cNvSpPr txBox="1">
            <a:spLocks noGrp="1"/>
          </p:cNvSpPr>
          <p:nvPr>
            <p:ph type="title"/>
          </p:nvPr>
        </p:nvSpPr>
        <p:spPr>
          <a:xfrm>
            <a:off x="311700" y="445026"/>
            <a:ext cx="8520600" cy="572700"/>
          </a:xfrm>
          <a:prstGeom prst="rect">
            <a:avLst/>
          </a:prstGeom>
        </p:spPr>
        <p:txBody>
          <a:bodyPr spcFirstLastPara="1" wrap="square" lIns="91425" tIns="91425" rIns="91425" bIns="91425" anchor="t" anchorCtr="0">
            <a:noAutofit/>
          </a:bodyPr>
          <a:lstStyle/>
          <a:p>
            <a:pPr algn="ctr"/>
            <a:r>
              <a:rPr lang="en" sz="3000" b="1">
                <a:solidFill>
                  <a:srgbClr val="434343"/>
                </a:solidFill>
                <a:latin typeface="Spectral"/>
                <a:ea typeface="Spectral"/>
                <a:cs typeface="Spectral"/>
                <a:sym typeface="Spectral"/>
              </a:rPr>
              <a:t>5 Steps for Answering Fermi Questions</a:t>
            </a:r>
            <a:endParaRPr sz="3000" b="1">
              <a:solidFill>
                <a:srgbClr val="434343"/>
              </a:solidFill>
              <a:latin typeface="Spectral"/>
              <a:ea typeface="Spectral"/>
              <a:cs typeface="Spectral"/>
              <a:sym typeface="Spectral"/>
            </a:endParaRPr>
          </a:p>
        </p:txBody>
      </p:sp>
      <p:sp>
        <p:nvSpPr>
          <p:cNvPr id="119" name="Google Shape;119;p20"/>
          <p:cNvSpPr txBox="1">
            <a:spLocks noGrp="1"/>
          </p:cNvSpPr>
          <p:nvPr>
            <p:ph type="body" idx="1"/>
          </p:nvPr>
        </p:nvSpPr>
        <p:spPr>
          <a:xfrm>
            <a:off x="845100" y="1152475"/>
            <a:ext cx="4220400" cy="3416400"/>
          </a:xfrm>
          <a:prstGeom prst="rect">
            <a:avLst/>
          </a:prstGeom>
        </p:spPr>
        <p:txBody>
          <a:bodyPr spcFirstLastPara="1" wrap="square" lIns="91425" tIns="91425" rIns="91425" bIns="91425" anchor="t" anchorCtr="0">
            <a:noAutofit/>
          </a:bodyPr>
          <a:lstStyle/>
          <a:p>
            <a:pPr indent="-406398">
              <a:buSzPts val="2800"/>
              <a:buFont typeface="Open Sans"/>
              <a:buAutoNum type="arabicPeriod"/>
            </a:pPr>
            <a:r>
              <a:rPr lang="en" sz="2800" dirty="0">
                <a:latin typeface="Open Sans"/>
                <a:ea typeface="Open Sans"/>
                <a:cs typeface="Open Sans"/>
                <a:sym typeface="Open Sans"/>
              </a:rPr>
              <a:t>Question</a:t>
            </a:r>
            <a:endParaRPr sz="2800" dirty="0">
              <a:latin typeface="Open Sans"/>
              <a:ea typeface="Open Sans"/>
              <a:cs typeface="Open Sans"/>
              <a:sym typeface="Open Sans"/>
            </a:endParaRPr>
          </a:p>
          <a:p>
            <a:pPr indent="-406398">
              <a:buSzPts val="2800"/>
              <a:buFont typeface="Open Sans"/>
              <a:buAutoNum type="arabicPeriod"/>
            </a:pPr>
            <a:r>
              <a:rPr lang="en" sz="2800" dirty="0">
                <a:latin typeface="Open Sans"/>
                <a:ea typeface="Open Sans"/>
                <a:cs typeface="Open Sans"/>
                <a:sym typeface="Open Sans"/>
              </a:rPr>
              <a:t>Wild Guess</a:t>
            </a:r>
            <a:endParaRPr sz="2800" dirty="0">
              <a:latin typeface="Open Sans"/>
              <a:ea typeface="Open Sans"/>
              <a:cs typeface="Open Sans"/>
              <a:sym typeface="Open Sans"/>
            </a:endParaRPr>
          </a:p>
          <a:p>
            <a:pPr indent="-406398">
              <a:buSzPts val="2800"/>
              <a:buFont typeface="Open Sans"/>
              <a:buAutoNum type="arabicPeriod"/>
            </a:pPr>
            <a:r>
              <a:rPr lang="en" sz="2800" dirty="0">
                <a:latin typeface="Open Sans"/>
                <a:ea typeface="Open Sans"/>
                <a:cs typeface="Open Sans"/>
                <a:sym typeface="Open Sans"/>
              </a:rPr>
              <a:t>Educated Guess</a:t>
            </a:r>
            <a:endParaRPr sz="2800" dirty="0">
              <a:latin typeface="Open Sans"/>
              <a:ea typeface="Open Sans"/>
              <a:cs typeface="Open Sans"/>
              <a:sym typeface="Open Sans"/>
            </a:endParaRPr>
          </a:p>
          <a:p>
            <a:pPr indent="-406398">
              <a:buSzPts val="2800"/>
              <a:buFont typeface="Open Sans"/>
              <a:buAutoNum type="arabicPeriod"/>
            </a:pPr>
            <a:r>
              <a:rPr lang="en" sz="2800" dirty="0">
                <a:latin typeface="Open Sans"/>
                <a:ea typeface="Open Sans"/>
                <a:cs typeface="Open Sans"/>
                <a:sym typeface="Open Sans"/>
              </a:rPr>
              <a:t>Gathering Data</a:t>
            </a:r>
            <a:endParaRPr sz="2800" dirty="0">
              <a:latin typeface="Open Sans"/>
              <a:ea typeface="Open Sans"/>
              <a:cs typeface="Open Sans"/>
              <a:sym typeface="Open Sans"/>
            </a:endParaRPr>
          </a:p>
          <a:p>
            <a:pPr indent="-406398">
              <a:buSzPts val="2800"/>
              <a:buFont typeface="Open Sans"/>
              <a:buAutoNum type="arabicPeriod"/>
            </a:pPr>
            <a:r>
              <a:rPr lang="en" sz="2800" dirty="0">
                <a:latin typeface="Open Sans"/>
                <a:ea typeface="Open Sans"/>
                <a:cs typeface="Open Sans"/>
                <a:sym typeface="Open Sans"/>
              </a:rPr>
              <a:t>Conclusion </a:t>
            </a:r>
            <a:endParaRPr sz="2800" dirty="0">
              <a:latin typeface="Open Sans"/>
              <a:ea typeface="Open Sans"/>
              <a:cs typeface="Open Sans"/>
              <a:sym typeface="Open Sans"/>
            </a:endParaRPr>
          </a:p>
        </p:txBody>
      </p:sp>
      <p:pic>
        <p:nvPicPr>
          <p:cNvPr id="120" name="Google Shape;120;p20"/>
          <p:cNvPicPr preferRelativeResize="0"/>
          <p:nvPr/>
        </p:nvPicPr>
        <p:blipFill rotWithShape="1">
          <a:blip r:embed="rId3">
            <a:alphaModFix/>
          </a:blip>
          <a:srcRect l="15096" t="9057" r="16779" b="11070"/>
          <a:stretch/>
        </p:blipFill>
        <p:spPr>
          <a:xfrm>
            <a:off x="5476226" y="1063051"/>
            <a:ext cx="3066325" cy="35952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1"/>
          <p:cNvSpPr txBox="1">
            <a:spLocks noGrp="1"/>
          </p:cNvSpPr>
          <p:nvPr>
            <p:ph type="title"/>
          </p:nvPr>
        </p:nvSpPr>
        <p:spPr>
          <a:xfrm>
            <a:off x="311700" y="445026"/>
            <a:ext cx="8520600" cy="572700"/>
          </a:xfrm>
          <a:prstGeom prst="rect">
            <a:avLst/>
          </a:prstGeom>
        </p:spPr>
        <p:txBody>
          <a:bodyPr spcFirstLastPara="1" wrap="square" lIns="91425" tIns="91425" rIns="91425" bIns="91425" anchor="t" anchorCtr="0">
            <a:noAutofit/>
          </a:bodyPr>
          <a:lstStyle/>
          <a:p>
            <a:pPr algn="ctr"/>
            <a:r>
              <a:rPr lang="en" sz="3000" b="1">
                <a:solidFill>
                  <a:srgbClr val="434343"/>
                </a:solidFill>
                <a:latin typeface="Spectral"/>
                <a:ea typeface="Spectral"/>
                <a:cs typeface="Spectral"/>
                <a:sym typeface="Spectral"/>
              </a:rPr>
              <a:t>Step 1: Question</a:t>
            </a:r>
            <a:endParaRPr sz="3000" b="1">
              <a:solidFill>
                <a:srgbClr val="434343"/>
              </a:solidFill>
              <a:latin typeface="Spectral"/>
              <a:ea typeface="Spectral"/>
              <a:cs typeface="Spectral"/>
              <a:sym typeface="Spectral"/>
            </a:endParaRPr>
          </a:p>
        </p:txBody>
      </p:sp>
      <p:sp>
        <p:nvSpPr>
          <p:cNvPr id="127" name="Google Shape;127;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indent="0" algn="ctr">
              <a:spcAft>
                <a:spcPts val="1600"/>
              </a:spcAft>
              <a:buNone/>
            </a:pPr>
            <a:r>
              <a:rPr lang="en" sz="2800">
                <a:latin typeface="Open Sans"/>
                <a:ea typeface="Open Sans"/>
                <a:cs typeface="Open Sans"/>
                <a:sym typeface="Open Sans"/>
              </a:rPr>
              <a:t>State the question and clarify the interpretation. </a:t>
            </a:r>
            <a:endParaRPr sz="2800"/>
          </a:p>
        </p:txBody>
      </p:sp>
      <p:pic>
        <p:nvPicPr>
          <p:cNvPr id="128" name="Google Shape;128;p21"/>
          <p:cNvPicPr preferRelativeResize="0"/>
          <p:nvPr/>
        </p:nvPicPr>
        <p:blipFill>
          <a:blip r:embed="rId3">
            <a:alphaModFix/>
          </a:blip>
          <a:stretch>
            <a:fillRect/>
          </a:stretch>
        </p:blipFill>
        <p:spPr>
          <a:xfrm>
            <a:off x="3059537" y="1737101"/>
            <a:ext cx="3024925" cy="3370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2"/>
          <p:cNvSpPr txBox="1">
            <a:spLocks noGrp="1"/>
          </p:cNvSpPr>
          <p:nvPr>
            <p:ph type="title"/>
          </p:nvPr>
        </p:nvSpPr>
        <p:spPr>
          <a:xfrm>
            <a:off x="311700" y="445026"/>
            <a:ext cx="8520600" cy="572700"/>
          </a:xfrm>
          <a:prstGeom prst="rect">
            <a:avLst/>
          </a:prstGeom>
        </p:spPr>
        <p:txBody>
          <a:bodyPr spcFirstLastPara="1" wrap="square" lIns="91425" tIns="91425" rIns="91425" bIns="91425" anchor="t" anchorCtr="0">
            <a:noAutofit/>
          </a:bodyPr>
          <a:lstStyle/>
          <a:p>
            <a:pPr algn="ctr"/>
            <a:r>
              <a:rPr lang="en" sz="3000" b="1">
                <a:solidFill>
                  <a:srgbClr val="434343"/>
                </a:solidFill>
                <a:latin typeface="Spectral"/>
                <a:ea typeface="Spectral"/>
                <a:cs typeface="Spectral"/>
                <a:sym typeface="Spectral"/>
              </a:rPr>
              <a:t>Step 2: Wild Guess</a:t>
            </a:r>
            <a:endParaRPr sz="3000" b="1">
              <a:solidFill>
                <a:srgbClr val="434343"/>
              </a:solidFill>
              <a:latin typeface="Spectral"/>
              <a:ea typeface="Spectral"/>
              <a:cs typeface="Spectral"/>
              <a:sym typeface="Spectral"/>
            </a:endParaRPr>
          </a:p>
        </p:txBody>
      </p:sp>
      <p:sp>
        <p:nvSpPr>
          <p:cNvPr id="135" name="Google Shape;135;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indent="0" algn="ctr">
              <a:spcAft>
                <a:spcPts val="1600"/>
              </a:spcAft>
              <a:buNone/>
            </a:pPr>
            <a:r>
              <a:rPr lang="en" sz="2800">
                <a:latin typeface="Open Sans"/>
                <a:ea typeface="Open Sans"/>
                <a:cs typeface="Open Sans"/>
                <a:sym typeface="Open Sans"/>
              </a:rPr>
              <a:t>Make a wild guess involving no calculations.</a:t>
            </a:r>
            <a:endParaRPr sz="2800"/>
          </a:p>
        </p:txBody>
      </p:sp>
      <p:pic>
        <p:nvPicPr>
          <p:cNvPr id="136" name="Google Shape;136;p22"/>
          <p:cNvPicPr preferRelativeResize="0"/>
          <p:nvPr/>
        </p:nvPicPr>
        <p:blipFill>
          <a:blip r:embed="rId3">
            <a:alphaModFix/>
          </a:blip>
          <a:stretch>
            <a:fillRect/>
          </a:stretch>
        </p:blipFill>
        <p:spPr>
          <a:xfrm>
            <a:off x="3026125" y="2125700"/>
            <a:ext cx="3091750" cy="2076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3"/>
          <p:cNvSpPr txBox="1">
            <a:spLocks noGrp="1"/>
          </p:cNvSpPr>
          <p:nvPr>
            <p:ph type="title"/>
          </p:nvPr>
        </p:nvSpPr>
        <p:spPr>
          <a:xfrm>
            <a:off x="311700" y="445026"/>
            <a:ext cx="8520600" cy="572700"/>
          </a:xfrm>
          <a:prstGeom prst="rect">
            <a:avLst/>
          </a:prstGeom>
        </p:spPr>
        <p:txBody>
          <a:bodyPr spcFirstLastPara="1" wrap="square" lIns="91425" tIns="91425" rIns="91425" bIns="91425" anchor="t" anchorCtr="0">
            <a:noAutofit/>
          </a:bodyPr>
          <a:lstStyle/>
          <a:p>
            <a:pPr algn="ctr"/>
            <a:r>
              <a:rPr lang="en" sz="3000" b="1">
                <a:solidFill>
                  <a:srgbClr val="434343"/>
                </a:solidFill>
                <a:latin typeface="Spectral"/>
                <a:ea typeface="Spectral"/>
                <a:cs typeface="Spectral"/>
                <a:sym typeface="Spectral"/>
              </a:rPr>
              <a:t>Step 3: Educated Guess</a:t>
            </a:r>
            <a:endParaRPr sz="3000" b="1">
              <a:solidFill>
                <a:srgbClr val="434343"/>
              </a:solidFill>
              <a:latin typeface="Spectral"/>
              <a:ea typeface="Spectral"/>
              <a:cs typeface="Spectral"/>
              <a:sym typeface="Spectral"/>
            </a:endParaRPr>
          </a:p>
        </p:txBody>
      </p:sp>
      <p:sp>
        <p:nvSpPr>
          <p:cNvPr id="143" name="Google Shape;143;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indent="0" algn="ctr">
              <a:spcAft>
                <a:spcPts val="1600"/>
              </a:spcAft>
              <a:buNone/>
            </a:pPr>
            <a:r>
              <a:rPr lang="en" sz="2400">
                <a:latin typeface="Open Sans"/>
                <a:ea typeface="Open Sans"/>
                <a:cs typeface="Open Sans"/>
                <a:sym typeface="Open Sans"/>
              </a:rPr>
              <a:t>Make an educated guess involving a chain of reasoning and calculations based on everyday experiences and estimates. </a:t>
            </a:r>
            <a:endParaRPr sz="2400"/>
          </a:p>
        </p:txBody>
      </p:sp>
      <p:pic>
        <p:nvPicPr>
          <p:cNvPr id="144" name="Google Shape;144;p23"/>
          <p:cNvPicPr preferRelativeResize="0"/>
          <p:nvPr/>
        </p:nvPicPr>
        <p:blipFill>
          <a:blip r:embed="rId3">
            <a:alphaModFix/>
          </a:blip>
          <a:stretch>
            <a:fillRect/>
          </a:stretch>
        </p:blipFill>
        <p:spPr>
          <a:xfrm>
            <a:off x="3516813" y="2422475"/>
            <a:ext cx="2110375" cy="26386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4"/>
          <p:cNvSpPr txBox="1">
            <a:spLocks noGrp="1"/>
          </p:cNvSpPr>
          <p:nvPr>
            <p:ph type="title"/>
          </p:nvPr>
        </p:nvSpPr>
        <p:spPr>
          <a:xfrm>
            <a:off x="311700" y="445026"/>
            <a:ext cx="8520600" cy="572700"/>
          </a:xfrm>
          <a:prstGeom prst="rect">
            <a:avLst/>
          </a:prstGeom>
        </p:spPr>
        <p:txBody>
          <a:bodyPr spcFirstLastPara="1" wrap="square" lIns="91425" tIns="91425" rIns="91425" bIns="91425" anchor="t" anchorCtr="0">
            <a:noAutofit/>
          </a:bodyPr>
          <a:lstStyle/>
          <a:p>
            <a:pPr algn="ctr"/>
            <a:r>
              <a:rPr lang="en" b="1">
                <a:solidFill>
                  <a:srgbClr val="434343"/>
                </a:solidFill>
                <a:latin typeface="Spectral"/>
                <a:ea typeface="Spectral"/>
                <a:cs typeface="Spectral"/>
                <a:sym typeface="Spectral"/>
              </a:rPr>
              <a:t>Step 4: Gathering Data</a:t>
            </a:r>
            <a:endParaRPr b="1">
              <a:solidFill>
                <a:srgbClr val="434343"/>
              </a:solidFill>
              <a:latin typeface="Spectral"/>
              <a:ea typeface="Spectral"/>
              <a:cs typeface="Spectral"/>
              <a:sym typeface="Spectral"/>
            </a:endParaRPr>
          </a:p>
        </p:txBody>
      </p:sp>
      <p:sp>
        <p:nvSpPr>
          <p:cNvPr id="151" name="Google Shape;151;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indent="0" algn="ctr">
              <a:spcAft>
                <a:spcPts val="1600"/>
              </a:spcAft>
              <a:buNone/>
            </a:pPr>
            <a:r>
              <a:rPr lang="en" sz="2800" dirty="0">
                <a:latin typeface="Open Sans"/>
                <a:ea typeface="Open Sans"/>
                <a:cs typeface="Open Sans"/>
                <a:sym typeface="Open Sans"/>
              </a:rPr>
              <a:t>Perform experiments, conduct surveys, make measurements or search for information that would help you obtain a more precise estimate. </a:t>
            </a:r>
            <a:endParaRPr sz="2800" dirty="0"/>
          </a:p>
        </p:txBody>
      </p:sp>
      <p:pic>
        <p:nvPicPr>
          <p:cNvPr id="152" name="Google Shape;152;p24"/>
          <p:cNvPicPr preferRelativeResize="0"/>
          <p:nvPr/>
        </p:nvPicPr>
        <p:blipFill>
          <a:blip r:embed="rId3">
            <a:alphaModFix/>
          </a:blip>
          <a:stretch>
            <a:fillRect/>
          </a:stretch>
        </p:blipFill>
        <p:spPr>
          <a:xfrm>
            <a:off x="3039287" y="3730751"/>
            <a:ext cx="3065426" cy="12138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5"/>
          <p:cNvSpPr txBox="1">
            <a:spLocks noGrp="1"/>
          </p:cNvSpPr>
          <p:nvPr>
            <p:ph type="title"/>
          </p:nvPr>
        </p:nvSpPr>
        <p:spPr>
          <a:xfrm>
            <a:off x="311700" y="445026"/>
            <a:ext cx="8520600" cy="572700"/>
          </a:xfrm>
          <a:prstGeom prst="rect">
            <a:avLst/>
          </a:prstGeom>
        </p:spPr>
        <p:txBody>
          <a:bodyPr spcFirstLastPara="1" wrap="square" lIns="91425" tIns="91425" rIns="91425" bIns="91425" anchor="t" anchorCtr="0">
            <a:noAutofit/>
          </a:bodyPr>
          <a:lstStyle/>
          <a:p>
            <a:pPr algn="ctr"/>
            <a:r>
              <a:rPr lang="en" sz="3000" b="1">
                <a:solidFill>
                  <a:srgbClr val="434343"/>
                </a:solidFill>
                <a:latin typeface="Spectral"/>
                <a:ea typeface="Spectral"/>
                <a:cs typeface="Spectral"/>
                <a:sym typeface="Spectral"/>
              </a:rPr>
              <a:t>Step 5: Conclusions</a:t>
            </a:r>
            <a:endParaRPr sz="3000" b="1">
              <a:solidFill>
                <a:srgbClr val="434343"/>
              </a:solidFill>
              <a:latin typeface="Spectral"/>
              <a:ea typeface="Spectral"/>
              <a:cs typeface="Spectral"/>
              <a:sym typeface="Spectral"/>
            </a:endParaRPr>
          </a:p>
        </p:txBody>
      </p:sp>
      <p:sp>
        <p:nvSpPr>
          <p:cNvPr id="159" name="Google Shape;159;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indent="0" algn="ctr">
              <a:spcAft>
                <a:spcPts val="1600"/>
              </a:spcAft>
              <a:buNone/>
            </a:pPr>
            <a:r>
              <a:rPr lang="en" sz="2800" dirty="0">
                <a:latin typeface="Open Sans"/>
                <a:ea typeface="Open Sans"/>
                <a:cs typeface="Open Sans"/>
                <a:sym typeface="Open Sans"/>
              </a:rPr>
              <a:t>State your final answer to the question. Explain some possible sources of error in your procedure. List any interesting facts you learned while seeking the answer to the Fermi question. </a:t>
            </a:r>
            <a:endParaRPr sz="2800" dirty="0">
              <a:latin typeface="Open Sans"/>
              <a:ea typeface="Open Sans"/>
              <a:cs typeface="Open Sans"/>
              <a:sym typeface="Open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6"/>
          <p:cNvSpPr/>
          <p:nvPr/>
        </p:nvSpPr>
        <p:spPr>
          <a:xfrm>
            <a:off x="213300" y="222601"/>
            <a:ext cx="8717400" cy="4698300"/>
          </a:xfrm>
          <a:prstGeom prst="rect">
            <a:avLst/>
          </a:prstGeom>
          <a:solidFill>
            <a:srgbClr val="1155CC"/>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algn="ctr">
              <a:buClr>
                <a:schemeClr val="dk1"/>
              </a:buClr>
              <a:buSzPts val="1100"/>
            </a:pPr>
            <a:r>
              <a:rPr lang="en" sz="6000" b="1">
                <a:solidFill>
                  <a:schemeClr val="lt1"/>
                </a:solidFill>
                <a:latin typeface="Spectral"/>
                <a:ea typeface="Spectral"/>
                <a:cs typeface="Spectral"/>
                <a:sym typeface="Spectral"/>
              </a:rPr>
              <a:t>How many times could you say the alphabet in 24 hours?</a:t>
            </a:r>
            <a:endParaRPr sz="6000" b="1">
              <a:latin typeface="Spectral"/>
              <a:ea typeface="Spectral"/>
              <a:cs typeface="Spectral"/>
              <a:sym typeface="Spectral"/>
            </a:endParaRPr>
          </a:p>
        </p:txBody>
      </p:sp>
      <p:sp>
        <p:nvSpPr>
          <p:cNvPr id="166" name="Google Shape;166;p26"/>
          <p:cNvSpPr txBox="1"/>
          <p:nvPr/>
        </p:nvSpPr>
        <p:spPr>
          <a:xfrm>
            <a:off x="213300" y="568975"/>
            <a:ext cx="8717400" cy="782400"/>
          </a:xfrm>
          <a:prstGeom prst="rect">
            <a:avLst/>
          </a:prstGeom>
          <a:noFill/>
          <a:ln>
            <a:noFill/>
          </a:ln>
        </p:spPr>
        <p:txBody>
          <a:bodyPr spcFirstLastPara="1" wrap="square" lIns="91425" tIns="91425" rIns="91425" bIns="91425" anchor="t" anchorCtr="0">
            <a:noAutofit/>
          </a:bodyPr>
          <a:lstStyle/>
          <a:p>
            <a:pPr algn="ctr"/>
            <a:r>
              <a:rPr lang="en" sz="3600" b="1" i="1">
                <a:solidFill>
                  <a:schemeClr val="lt1"/>
                </a:solidFill>
                <a:latin typeface="Spectral"/>
                <a:ea typeface="Spectral"/>
                <a:cs typeface="Spectral"/>
                <a:sym typeface="Spectral"/>
              </a:rPr>
              <a:t>GUIDED EXAMPLE 1:</a:t>
            </a:r>
            <a:endParaRPr sz="3600" b="1" i="1">
              <a:latin typeface="Spectral"/>
              <a:ea typeface="Spectral"/>
              <a:cs typeface="Spectral"/>
              <a:sym typeface="Spectr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7"/>
          <p:cNvSpPr txBox="1">
            <a:spLocks noGrp="1"/>
          </p:cNvSpPr>
          <p:nvPr>
            <p:ph type="title"/>
          </p:nvPr>
        </p:nvSpPr>
        <p:spPr>
          <a:xfrm>
            <a:off x="311700" y="445026"/>
            <a:ext cx="8520600" cy="572700"/>
          </a:xfrm>
          <a:prstGeom prst="rect">
            <a:avLst/>
          </a:prstGeom>
        </p:spPr>
        <p:txBody>
          <a:bodyPr spcFirstLastPara="1" wrap="square" lIns="91425" tIns="91425" rIns="91425" bIns="91425" anchor="t" anchorCtr="0">
            <a:noAutofit/>
          </a:bodyPr>
          <a:lstStyle/>
          <a:p>
            <a:r>
              <a:rPr lang="en" b="1">
                <a:solidFill>
                  <a:srgbClr val="434343"/>
                </a:solidFill>
                <a:latin typeface="Spectral"/>
                <a:ea typeface="Spectral"/>
                <a:cs typeface="Spectral"/>
                <a:sym typeface="Spectral"/>
              </a:rPr>
              <a:t>Step 1: Question</a:t>
            </a:r>
            <a:endParaRPr b="1">
              <a:solidFill>
                <a:srgbClr val="434343"/>
              </a:solidFill>
              <a:latin typeface="Spectral"/>
              <a:ea typeface="Spectral"/>
              <a:cs typeface="Spectral"/>
              <a:sym typeface="Spectral"/>
            </a:endParaRPr>
          </a:p>
          <a:p>
            <a:r>
              <a:rPr lang="en" sz="1800" i="1">
                <a:latin typeface="Spectral"/>
                <a:ea typeface="Spectral"/>
                <a:cs typeface="Spectral"/>
                <a:sym typeface="Spectral"/>
              </a:rPr>
              <a:t>State the questions and clarify the interpretation. </a:t>
            </a:r>
            <a:endParaRPr sz="1800" i="1">
              <a:latin typeface="Spectral"/>
              <a:ea typeface="Spectral"/>
              <a:cs typeface="Spectral"/>
              <a:sym typeface="Spectral"/>
            </a:endParaRPr>
          </a:p>
        </p:txBody>
      </p:sp>
      <p:sp>
        <p:nvSpPr>
          <p:cNvPr id="173" name="Google Shape;173;p27"/>
          <p:cNvSpPr txBox="1">
            <a:spLocks noGrp="1"/>
          </p:cNvSpPr>
          <p:nvPr>
            <p:ph type="body" idx="1"/>
          </p:nvPr>
        </p:nvSpPr>
        <p:spPr>
          <a:xfrm>
            <a:off x="311700" y="1381075"/>
            <a:ext cx="8520600" cy="1766700"/>
          </a:xfrm>
          <a:prstGeom prst="rect">
            <a:avLst/>
          </a:prstGeom>
        </p:spPr>
        <p:txBody>
          <a:bodyPr spcFirstLastPara="1" wrap="square" lIns="91425" tIns="91425" rIns="91425" bIns="91425" anchor="t" anchorCtr="0">
            <a:noAutofit/>
          </a:bodyPr>
          <a:lstStyle/>
          <a:p>
            <a:pPr marL="0" indent="0" algn="ctr">
              <a:spcAft>
                <a:spcPts val="1600"/>
              </a:spcAft>
              <a:buNone/>
            </a:pPr>
            <a:r>
              <a:rPr lang="en">
                <a:latin typeface="Open Sans"/>
                <a:ea typeface="Open Sans"/>
                <a:cs typeface="Open Sans"/>
                <a:sym typeface="Open Sans"/>
              </a:rPr>
              <a:t>We are being asked to find how many times a person could say the alphabet in 24 hours. We are interpreting this to mean; how many times could a person say the alphabet in 24 hours without stopping for any reason (for example to take a nap or go to the bathroom). We are only counting the time it takes for the person to recite the alphabet and not any other parts of the song (“now I know my ABC’s, next time won’t you sing with me”). </a:t>
            </a:r>
            <a:endParaRPr>
              <a:latin typeface="Open Sans"/>
              <a:ea typeface="Open Sans"/>
              <a:cs typeface="Open Sans"/>
              <a:sym typeface="Open Sans"/>
            </a:endParaRPr>
          </a:p>
        </p:txBody>
      </p:sp>
      <p:sp>
        <p:nvSpPr>
          <p:cNvPr id="175" name="Google Shape;175;p27"/>
          <p:cNvSpPr/>
          <p:nvPr/>
        </p:nvSpPr>
        <p:spPr>
          <a:xfrm>
            <a:off x="213300" y="222601"/>
            <a:ext cx="8717400" cy="4698300"/>
          </a:xfrm>
          <a:prstGeom prst="rect">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algn="ctr">
              <a:buClr>
                <a:schemeClr val="dk1"/>
              </a:buClr>
              <a:buSzPts val="1100"/>
            </a:pPr>
            <a:endParaRPr sz="4800">
              <a:latin typeface="Architects Daughter"/>
              <a:ea typeface="Architects Daughter"/>
              <a:cs typeface="Architects Daughter"/>
              <a:sym typeface="Architects Daughte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8"/>
          <p:cNvSpPr/>
          <p:nvPr/>
        </p:nvSpPr>
        <p:spPr>
          <a:xfrm>
            <a:off x="213300" y="222601"/>
            <a:ext cx="8717400" cy="4698300"/>
          </a:xfrm>
          <a:prstGeom prst="rect">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algn="ctr">
              <a:buClr>
                <a:schemeClr val="dk1"/>
              </a:buClr>
              <a:buSzPts val="1100"/>
            </a:pPr>
            <a:endParaRPr sz="4800">
              <a:latin typeface="Architects Daughter"/>
              <a:ea typeface="Architects Daughter"/>
              <a:cs typeface="Architects Daughter"/>
              <a:sym typeface="Architects Daughter"/>
            </a:endParaRPr>
          </a:p>
        </p:txBody>
      </p:sp>
      <p:sp>
        <p:nvSpPr>
          <p:cNvPr id="181" name="Google Shape;181;p28"/>
          <p:cNvSpPr txBox="1">
            <a:spLocks noGrp="1"/>
          </p:cNvSpPr>
          <p:nvPr>
            <p:ph type="title"/>
          </p:nvPr>
        </p:nvSpPr>
        <p:spPr>
          <a:xfrm>
            <a:off x="311700" y="445026"/>
            <a:ext cx="8520600" cy="572700"/>
          </a:xfrm>
          <a:prstGeom prst="rect">
            <a:avLst/>
          </a:prstGeom>
        </p:spPr>
        <p:txBody>
          <a:bodyPr spcFirstLastPara="1" wrap="square" lIns="91425" tIns="91425" rIns="91425" bIns="91425" anchor="t" anchorCtr="0">
            <a:noAutofit/>
          </a:bodyPr>
          <a:lstStyle/>
          <a:p>
            <a:r>
              <a:rPr lang="en" b="1">
                <a:solidFill>
                  <a:srgbClr val="434343"/>
                </a:solidFill>
                <a:latin typeface="Spectral"/>
                <a:ea typeface="Spectral"/>
                <a:cs typeface="Spectral"/>
                <a:sym typeface="Spectral"/>
              </a:rPr>
              <a:t>Step 2: Wild Guess</a:t>
            </a:r>
            <a:endParaRPr b="1">
              <a:solidFill>
                <a:srgbClr val="434343"/>
              </a:solidFill>
              <a:latin typeface="Spectral"/>
              <a:ea typeface="Spectral"/>
              <a:cs typeface="Spectral"/>
              <a:sym typeface="Spectral"/>
            </a:endParaRPr>
          </a:p>
          <a:p>
            <a:r>
              <a:rPr lang="en" sz="1800" i="1">
                <a:solidFill>
                  <a:srgbClr val="434343"/>
                </a:solidFill>
                <a:latin typeface="Spectral"/>
                <a:ea typeface="Spectral"/>
                <a:cs typeface="Spectral"/>
                <a:sym typeface="Spectral"/>
              </a:rPr>
              <a:t>Make a wild guess involving no calculations.</a:t>
            </a:r>
            <a:endParaRPr sz="1800" i="1">
              <a:solidFill>
                <a:srgbClr val="434343"/>
              </a:solidFill>
              <a:latin typeface="Spectral"/>
              <a:ea typeface="Spectral"/>
              <a:cs typeface="Spectral"/>
              <a:sym typeface="Spectral"/>
            </a:endParaRPr>
          </a:p>
        </p:txBody>
      </p:sp>
      <p:sp>
        <p:nvSpPr>
          <p:cNvPr id="182" name="Google Shape;182;p28"/>
          <p:cNvSpPr txBox="1">
            <a:spLocks noGrp="1"/>
          </p:cNvSpPr>
          <p:nvPr>
            <p:ph type="body" idx="1"/>
          </p:nvPr>
        </p:nvSpPr>
        <p:spPr>
          <a:xfrm>
            <a:off x="311700" y="1304875"/>
            <a:ext cx="8520600" cy="3416400"/>
          </a:xfrm>
          <a:prstGeom prst="rect">
            <a:avLst/>
          </a:prstGeom>
        </p:spPr>
        <p:txBody>
          <a:bodyPr spcFirstLastPara="1" wrap="square" lIns="91425" tIns="91425" rIns="91425" bIns="91425" anchor="t" anchorCtr="0">
            <a:noAutofit/>
          </a:bodyPr>
          <a:lstStyle/>
          <a:p>
            <a:pPr marL="0" indent="0" algn="ctr">
              <a:buClr>
                <a:schemeClr val="dk1"/>
              </a:buClr>
              <a:buSzPts val="1100"/>
              <a:buNone/>
            </a:pPr>
            <a:r>
              <a:rPr lang="en">
                <a:latin typeface="Open Sans"/>
                <a:ea typeface="Open Sans"/>
                <a:cs typeface="Open Sans"/>
                <a:sym typeface="Open Sans"/>
              </a:rPr>
              <a:t>Guess some numbers that are probably less than the real number and some that are probably more. Guess some that are close to the right answer. </a:t>
            </a:r>
            <a:endParaRPr>
              <a:latin typeface="Open Sans"/>
              <a:ea typeface="Open Sans"/>
              <a:cs typeface="Open Sans"/>
              <a:sym typeface="Open Sans"/>
            </a:endParaRPr>
          </a:p>
          <a:p>
            <a:pPr marL="0" indent="0" algn="ctr">
              <a:spcBef>
                <a:spcPts val="1600"/>
              </a:spcBef>
              <a:buClr>
                <a:schemeClr val="dk1"/>
              </a:buClr>
              <a:buSzPts val="1100"/>
              <a:buNone/>
            </a:pPr>
            <a:r>
              <a:rPr lang="en">
                <a:latin typeface="Open Sans"/>
                <a:ea typeface="Open Sans"/>
                <a:cs typeface="Open Sans"/>
                <a:sym typeface="Open Sans"/>
              </a:rPr>
              <a:t>How many times do </a:t>
            </a:r>
            <a:r>
              <a:rPr lang="en" b="1" i="1">
                <a:latin typeface="Open Sans"/>
                <a:ea typeface="Open Sans"/>
                <a:cs typeface="Open Sans"/>
                <a:sym typeface="Open Sans"/>
              </a:rPr>
              <a:t>you</a:t>
            </a:r>
            <a:r>
              <a:rPr lang="en">
                <a:latin typeface="Open Sans"/>
                <a:ea typeface="Open Sans"/>
                <a:cs typeface="Open Sans"/>
                <a:sym typeface="Open Sans"/>
              </a:rPr>
              <a:t> think you could recite the alphabet in 24 hours? 300 times? 3,000 times? 3,000,000 times?</a:t>
            </a:r>
            <a:endParaRPr>
              <a:latin typeface="Open Sans"/>
              <a:ea typeface="Open Sans"/>
              <a:cs typeface="Open Sans"/>
              <a:sym typeface="Open Sans"/>
            </a:endParaRPr>
          </a:p>
          <a:p>
            <a:pPr marL="0" indent="0" algn="ctr">
              <a:spcBef>
                <a:spcPts val="1600"/>
              </a:spcBef>
              <a:buClr>
                <a:schemeClr val="dk1"/>
              </a:buClr>
              <a:buSzPts val="1100"/>
              <a:buNone/>
            </a:pPr>
            <a:r>
              <a:rPr lang="en">
                <a:latin typeface="Open Sans"/>
                <a:ea typeface="Open Sans"/>
                <a:cs typeface="Open Sans"/>
                <a:sym typeface="Open Sans"/>
              </a:rPr>
              <a:t>Record your guesses on your worksheet. </a:t>
            </a:r>
            <a:endParaRPr>
              <a:latin typeface="Open Sans"/>
              <a:ea typeface="Open Sans"/>
              <a:cs typeface="Open Sans"/>
              <a:sym typeface="Open Sans"/>
            </a:endParaRPr>
          </a:p>
          <a:p>
            <a:pPr marL="0" indent="0" algn="ctr">
              <a:spcBef>
                <a:spcPts val="1600"/>
              </a:spcBef>
              <a:buClr>
                <a:schemeClr val="dk1"/>
              </a:buClr>
              <a:buSzPts val="1100"/>
              <a:buNone/>
            </a:pPr>
            <a:endParaRPr>
              <a:latin typeface="Open Sans"/>
              <a:ea typeface="Open Sans"/>
              <a:cs typeface="Open Sans"/>
              <a:sym typeface="Open Sans"/>
            </a:endParaRPr>
          </a:p>
          <a:p>
            <a:pPr marL="0" indent="0" algn="ctr">
              <a:spcBef>
                <a:spcPts val="1600"/>
              </a:spcBef>
              <a:buClr>
                <a:schemeClr val="dk1"/>
              </a:buClr>
              <a:buSzPts val="1100"/>
              <a:buNone/>
            </a:pPr>
            <a:endParaRPr>
              <a:latin typeface="Open Sans"/>
              <a:ea typeface="Open Sans"/>
              <a:cs typeface="Open Sans"/>
              <a:sym typeface="Open Sans"/>
            </a:endParaRPr>
          </a:p>
          <a:p>
            <a:pPr marL="0" indent="0" algn="ctr">
              <a:spcBef>
                <a:spcPts val="1600"/>
              </a:spcBef>
              <a:buNone/>
            </a:pPr>
            <a:endParaRPr>
              <a:latin typeface="Open Sans"/>
              <a:ea typeface="Open Sans"/>
              <a:cs typeface="Open Sans"/>
              <a:sym typeface="Open Sans"/>
            </a:endParaRPr>
          </a:p>
          <a:p>
            <a:pPr marL="0" indent="0" algn="ctr">
              <a:spcBef>
                <a:spcPts val="1600"/>
              </a:spcBef>
              <a:buNone/>
            </a:pPr>
            <a:endParaRPr>
              <a:latin typeface="Open Sans"/>
              <a:ea typeface="Open Sans"/>
              <a:cs typeface="Open Sans"/>
              <a:sym typeface="Open Sans"/>
            </a:endParaRPr>
          </a:p>
          <a:p>
            <a:pPr marL="0" indent="0" algn="ctr">
              <a:spcBef>
                <a:spcPts val="1600"/>
              </a:spcBef>
              <a:spcAft>
                <a:spcPts val="1600"/>
              </a:spcAft>
              <a:buNone/>
            </a:pPr>
            <a:endParaRPr>
              <a:latin typeface="Open Sans"/>
              <a:ea typeface="Open Sans"/>
              <a:cs typeface="Open Sans"/>
              <a:sym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9"/>
          <p:cNvSpPr/>
          <p:nvPr/>
        </p:nvSpPr>
        <p:spPr>
          <a:xfrm>
            <a:off x="213300" y="222601"/>
            <a:ext cx="8717400" cy="4698300"/>
          </a:xfrm>
          <a:prstGeom prst="rect">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algn="ctr">
              <a:buClr>
                <a:schemeClr val="dk1"/>
              </a:buClr>
              <a:buSzPts val="1100"/>
            </a:pPr>
            <a:endParaRPr sz="4800">
              <a:latin typeface="Architects Daughter"/>
              <a:ea typeface="Architects Daughter"/>
              <a:cs typeface="Architects Daughter"/>
              <a:sym typeface="Architects Daughter"/>
            </a:endParaRPr>
          </a:p>
        </p:txBody>
      </p:sp>
      <p:sp>
        <p:nvSpPr>
          <p:cNvPr id="189" name="Google Shape;189;p29"/>
          <p:cNvSpPr txBox="1">
            <a:spLocks noGrp="1"/>
          </p:cNvSpPr>
          <p:nvPr>
            <p:ph type="title"/>
          </p:nvPr>
        </p:nvSpPr>
        <p:spPr>
          <a:xfrm>
            <a:off x="311700" y="445026"/>
            <a:ext cx="8520600" cy="572700"/>
          </a:xfrm>
          <a:prstGeom prst="rect">
            <a:avLst/>
          </a:prstGeom>
        </p:spPr>
        <p:txBody>
          <a:bodyPr spcFirstLastPara="1" wrap="square" lIns="91425" tIns="91425" rIns="91425" bIns="91425" anchor="t" anchorCtr="0">
            <a:noAutofit/>
          </a:bodyPr>
          <a:lstStyle/>
          <a:p>
            <a:r>
              <a:rPr lang="en" b="1">
                <a:solidFill>
                  <a:srgbClr val="434343"/>
                </a:solidFill>
                <a:latin typeface="Spectral"/>
                <a:ea typeface="Spectral"/>
                <a:cs typeface="Spectral"/>
                <a:sym typeface="Spectral"/>
              </a:rPr>
              <a:t>Step 3: Educated Guess </a:t>
            </a:r>
            <a:endParaRPr b="1">
              <a:solidFill>
                <a:srgbClr val="434343"/>
              </a:solidFill>
              <a:latin typeface="Spectral"/>
              <a:ea typeface="Spectral"/>
              <a:cs typeface="Spectral"/>
              <a:sym typeface="Spectral"/>
            </a:endParaRPr>
          </a:p>
          <a:p>
            <a:r>
              <a:rPr lang="en" sz="1800" i="1">
                <a:solidFill>
                  <a:srgbClr val="666666"/>
                </a:solidFill>
                <a:latin typeface="Spectral"/>
                <a:ea typeface="Spectral"/>
                <a:cs typeface="Spectral"/>
                <a:sym typeface="Spectral"/>
              </a:rPr>
              <a:t>Make an educated guess using a chain of logic to come up with an estimate. List some questions you would need to answer to figure out the Fermi Problem. </a:t>
            </a:r>
            <a:endParaRPr sz="1800" i="1">
              <a:solidFill>
                <a:srgbClr val="666666"/>
              </a:solidFill>
              <a:latin typeface="Spectral"/>
              <a:ea typeface="Spectral"/>
              <a:cs typeface="Spectral"/>
              <a:sym typeface="Spectral"/>
            </a:endParaRPr>
          </a:p>
        </p:txBody>
      </p:sp>
      <p:sp>
        <p:nvSpPr>
          <p:cNvPr id="190" name="Google Shape;190;p29"/>
          <p:cNvSpPr txBox="1">
            <a:spLocks noGrp="1"/>
          </p:cNvSpPr>
          <p:nvPr>
            <p:ph type="body" idx="1"/>
          </p:nvPr>
        </p:nvSpPr>
        <p:spPr>
          <a:xfrm>
            <a:off x="311700" y="1609675"/>
            <a:ext cx="8520600" cy="3416400"/>
          </a:xfrm>
          <a:prstGeom prst="rect">
            <a:avLst/>
          </a:prstGeom>
        </p:spPr>
        <p:txBody>
          <a:bodyPr spcFirstLastPara="1" wrap="square" lIns="91425" tIns="91425" rIns="91425" bIns="91425" anchor="t" anchorCtr="0">
            <a:noAutofit/>
          </a:bodyPr>
          <a:lstStyle/>
          <a:p>
            <a:pPr marL="0" indent="0">
              <a:buNone/>
            </a:pPr>
            <a:r>
              <a:rPr lang="en"/>
              <a:t>Some questions we may need to answer: </a:t>
            </a:r>
            <a:endParaRPr/>
          </a:p>
          <a:p>
            <a:pPr>
              <a:spcBef>
                <a:spcPts val="1600"/>
              </a:spcBef>
            </a:pPr>
            <a:r>
              <a:rPr lang="en"/>
              <a:t>How many seconds are in 24 hours? </a:t>
            </a:r>
            <a:endParaRPr/>
          </a:p>
          <a:p>
            <a:r>
              <a:rPr lang="en"/>
              <a:t>How long does it take to recite the alphabet?  </a:t>
            </a:r>
            <a:endParaRPr/>
          </a:p>
          <a:p>
            <a:pPr marL="0" indent="0">
              <a:spcBef>
                <a:spcPts val="1600"/>
              </a:spcBef>
              <a:buNone/>
            </a:pPr>
            <a:r>
              <a:rPr lang="en"/>
              <a:t>Estimate using logic:</a:t>
            </a:r>
            <a:endParaRPr/>
          </a:p>
          <a:p>
            <a:pPr>
              <a:spcBef>
                <a:spcPts val="1600"/>
              </a:spcBef>
            </a:pPr>
            <a:r>
              <a:rPr lang="en"/>
              <a:t>There are 26 letters in the alphabet. Assuming it takes me a second to say each letter, it would take me 26 seconds to say the alphabet. </a:t>
            </a:r>
            <a:endParaRPr/>
          </a:p>
          <a:p>
            <a:r>
              <a:rPr lang="en"/>
              <a:t>At this rate I could roughly say the alphabet about 138 times in an hour. 138 x 24 = 3,312.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0"/>
          <p:cNvSpPr/>
          <p:nvPr/>
        </p:nvSpPr>
        <p:spPr>
          <a:xfrm>
            <a:off x="213300" y="222601"/>
            <a:ext cx="8717400" cy="4698300"/>
          </a:xfrm>
          <a:prstGeom prst="rect">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algn="ctr">
              <a:buClr>
                <a:schemeClr val="dk1"/>
              </a:buClr>
              <a:buSzPts val="1100"/>
            </a:pPr>
            <a:endParaRPr sz="4800">
              <a:latin typeface="Architects Daughter"/>
              <a:ea typeface="Architects Daughter"/>
              <a:cs typeface="Architects Daughter"/>
              <a:sym typeface="Architects Daughter"/>
            </a:endParaRPr>
          </a:p>
        </p:txBody>
      </p:sp>
      <p:sp>
        <p:nvSpPr>
          <p:cNvPr id="197" name="Google Shape;197;p30"/>
          <p:cNvSpPr txBox="1">
            <a:spLocks noGrp="1"/>
          </p:cNvSpPr>
          <p:nvPr>
            <p:ph type="title"/>
          </p:nvPr>
        </p:nvSpPr>
        <p:spPr>
          <a:xfrm>
            <a:off x="311700" y="445026"/>
            <a:ext cx="8520600" cy="572700"/>
          </a:xfrm>
          <a:prstGeom prst="rect">
            <a:avLst/>
          </a:prstGeom>
        </p:spPr>
        <p:txBody>
          <a:bodyPr spcFirstLastPara="1" wrap="square" lIns="91425" tIns="91425" rIns="91425" bIns="91425" anchor="t" anchorCtr="0">
            <a:noAutofit/>
          </a:bodyPr>
          <a:lstStyle/>
          <a:p>
            <a:r>
              <a:rPr lang="en" b="1">
                <a:solidFill>
                  <a:srgbClr val="434343"/>
                </a:solidFill>
                <a:latin typeface="Spectral"/>
                <a:ea typeface="Spectral"/>
                <a:cs typeface="Spectral"/>
                <a:sym typeface="Spectral"/>
              </a:rPr>
              <a:t>Step 4: Gathering Data</a:t>
            </a:r>
            <a:endParaRPr b="1">
              <a:solidFill>
                <a:srgbClr val="434343"/>
              </a:solidFill>
              <a:latin typeface="Spectral"/>
              <a:ea typeface="Spectral"/>
              <a:cs typeface="Spectral"/>
              <a:sym typeface="Spectral"/>
            </a:endParaRPr>
          </a:p>
          <a:p>
            <a:r>
              <a:rPr lang="en" sz="1800" i="1">
                <a:solidFill>
                  <a:srgbClr val="434343"/>
                </a:solidFill>
                <a:latin typeface="Spectral"/>
                <a:ea typeface="Spectral"/>
                <a:cs typeface="Spectral"/>
                <a:sym typeface="Spectral"/>
              </a:rPr>
              <a:t>Perform experiments, conduct surveys and make measurements. If appropriate, create and use formulas.</a:t>
            </a:r>
            <a:endParaRPr sz="1800" i="1">
              <a:solidFill>
                <a:srgbClr val="434343"/>
              </a:solidFill>
              <a:latin typeface="Spectral"/>
              <a:ea typeface="Spectral"/>
              <a:cs typeface="Spectral"/>
              <a:sym typeface="Spectral"/>
            </a:endParaRPr>
          </a:p>
        </p:txBody>
      </p:sp>
      <p:sp>
        <p:nvSpPr>
          <p:cNvPr id="198" name="Google Shape;198;p30"/>
          <p:cNvSpPr txBox="1">
            <a:spLocks noGrp="1"/>
          </p:cNvSpPr>
          <p:nvPr>
            <p:ph type="body" idx="1"/>
          </p:nvPr>
        </p:nvSpPr>
        <p:spPr>
          <a:xfrm>
            <a:off x="311700" y="1609675"/>
            <a:ext cx="8520600" cy="1766700"/>
          </a:xfrm>
          <a:prstGeom prst="rect">
            <a:avLst/>
          </a:prstGeom>
        </p:spPr>
        <p:txBody>
          <a:bodyPr spcFirstLastPara="1" wrap="square" lIns="91425" tIns="91425" rIns="91425" bIns="91425" anchor="t" anchorCtr="0">
            <a:noAutofit/>
          </a:bodyPr>
          <a:lstStyle/>
          <a:p>
            <a:pPr>
              <a:buFont typeface="Open Sans"/>
              <a:buChar char="●"/>
            </a:pPr>
            <a:r>
              <a:rPr lang="en">
                <a:latin typeface="Open Sans"/>
                <a:ea typeface="Open Sans"/>
                <a:cs typeface="Open Sans"/>
                <a:sym typeface="Open Sans"/>
              </a:rPr>
              <a:t>There are 26 letters in the alphabet</a:t>
            </a:r>
            <a:endParaRPr>
              <a:latin typeface="Open Sans"/>
              <a:ea typeface="Open Sans"/>
              <a:cs typeface="Open Sans"/>
              <a:sym typeface="Open Sans"/>
            </a:endParaRPr>
          </a:p>
          <a:p>
            <a:pPr>
              <a:buFont typeface="Open Sans"/>
              <a:buChar char="●"/>
            </a:pPr>
            <a:r>
              <a:rPr lang="en">
                <a:latin typeface="Open Sans"/>
                <a:ea typeface="Open Sans"/>
                <a:cs typeface="Open Sans"/>
                <a:sym typeface="Open Sans"/>
              </a:rPr>
              <a:t>It takes 13.6 seconds to recite the alphabet (you may want to perform your own experiment, or some research on Google)</a:t>
            </a:r>
            <a:endParaRPr>
              <a:latin typeface="Open Sans"/>
              <a:ea typeface="Open Sans"/>
              <a:cs typeface="Open Sans"/>
              <a:sym typeface="Open Sans"/>
            </a:endParaRPr>
          </a:p>
          <a:p>
            <a:pPr>
              <a:buFont typeface="Open Sans"/>
              <a:buChar char="●"/>
            </a:pPr>
            <a:r>
              <a:rPr lang="en">
                <a:latin typeface="Open Sans"/>
                <a:ea typeface="Open Sans"/>
                <a:cs typeface="Open Sans"/>
                <a:sym typeface="Open Sans"/>
              </a:rPr>
              <a:t>There are 60 seconds in 1 minute, 60 minutes in 1 hour</a:t>
            </a:r>
            <a:endParaRPr>
              <a:latin typeface="Open Sans"/>
              <a:ea typeface="Open Sans"/>
              <a:cs typeface="Open Sans"/>
              <a:sym typeface="Open Sans"/>
            </a:endParaRPr>
          </a:p>
          <a:p>
            <a:pPr>
              <a:buFont typeface="Open Sans"/>
              <a:buChar char="●"/>
            </a:pPr>
            <a:r>
              <a:rPr lang="en">
                <a:latin typeface="Open Sans"/>
                <a:ea typeface="Open Sans"/>
                <a:cs typeface="Open Sans"/>
                <a:sym typeface="Open Sans"/>
              </a:rPr>
              <a:t>There are 24 hours in one day</a:t>
            </a:r>
            <a:endParaRPr>
              <a:latin typeface="Open Sans"/>
              <a:ea typeface="Open Sans"/>
              <a:cs typeface="Open Sans"/>
              <a:sym typeface="Open Sans"/>
            </a:endParaRPr>
          </a:p>
          <a:p>
            <a:pPr>
              <a:buFont typeface="Open Sans"/>
              <a:buChar char="●"/>
            </a:pPr>
            <a:r>
              <a:rPr lang="en">
                <a:latin typeface="Open Sans"/>
                <a:ea typeface="Open Sans"/>
                <a:cs typeface="Open Sans"/>
                <a:sym typeface="Open Sans"/>
              </a:rPr>
              <a:t>There are 3,600 seconds in 1 hour, 86, 400 seconds in 1 day</a:t>
            </a:r>
            <a:endParaRPr>
              <a:latin typeface="Open Sans"/>
              <a:ea typeface="Open Sans"/>
              <a:cs typeface="Open Sans"/>
              <a:sym typeface="Open Sans"/>
            </a:endParaRPr>
          </a:p>
        </p:txBody>
      </p:sp>
      <p:sp>
        <p:nvSpPr>
          <p:cNvPr id="199" name="Google Shape;199;p30"/>
          <p:cNvSpPr txBox="1"/>
          <p:nvPr/>
        </p:nvSpPr>
        <p:spPr>
          <a:xfrm>
            <a:off x="1871250" y="3605201"/>
            <a:ext cx="3355800" cy="698700"/>
          </a:xfrm>
          <a:prstGeom prst="rect">
            <a:avLst/>
          </a:prstGeom>
          <a:noFill/>
          <a:ln>
            <a:noFill/>
          </a:ln>
        </p:spPr>
        <p:txBody>
          <a:bodyPr spcFirstLastPara="1" wrap="square" lIns="91425" tIns="91425" rIns="91425" bIns="91425" anchor="t" anchorCtr="0">
            <a:noAutofit/>
          </a:bodyPr>
          <a:lstStyle/>
          <a:p>
            <a:pPr algn="ctr"/>
            <a:r>
              <a:rPr lang="en" sz="3000">
                <a:latin typeface="Architects Daughter"/>
                <a:ea typeface="Architects Daughter"/>
                <a:cs typeface="Architects Daughter"/>
                <a:sym typeface="Architects Daughter"/>
              </a:rPr>
              <a:t>86,400                 </a:t>
            </a:r>
            <a:endParaRPr sz="3000">
              <a:latin typeface="Architects Daughter"/>
              <a:ea typeface="Architects Daughter"/>
              <a:cs typeface="Architects Daughter"/>
              <a:sym typeface="Architects Daughter"/>
            </a:endParaRPr>
          </a:p>
        </p:txBody>
      </p:sp>
      <p:cxnSp>
        <p:nvCxnSpPr>
          <p:cNvPr id="200" name="Google Shape;200;p30"/>
          <p:cNvCxnSpPr/>
          <p:nvPr/>
        </p:nvCxnSpPr>
        <p:spPr>
          <a:xfrm>
            <a:off x="2881676" y="4204000"/>
            <a:ext cx="1397100" cy="0"/>
          </a:xfrm>
          <a:prstGeom prst="straightConnector1">
            <a:avLst/>
          </a:prstGeom>
          <a:noFill/>
          <a:ln w="9525" cap="flat" cmpd="sng">
            <a:solidFill>
              <a:schemeClr val="dk2"/>
            </a:solidFill>
            <a:prstDash val="solid"/>
            <a:round/>
            <a:headEnd type="none" w="med" len="med"/>
            <a:tailEnd type="none" w="med" len="med"/>
          </a:ln>
        </p:spPr>
      </p:cxnSp>
      <p:sp>
        <p:nvSpPr>
          <p:cNvPr id="201" name="Google Shape;201;p30"/>
          <p:cNvSpPr txBox="1"/>
          <p:nvPr/>
        </p:nvSpPr>
        <p:spPr>
          <a:xfrm>
            <a:off x="2080225" y="4127801"/>
            <a:ext cx="3000000" cy="572700"/>
          </a:xfrm>
          <a:prstGeom prst="rect">
            <a:avLst/>
          </a:prstGeom>
          <a:noFill/>
          <a:ln>
            <a:noFill/>
          </a:ln>
        </p:spPr>
        <p:txBody>
          <a:bodyPr spcFirstLastPara="1" wrap="square" lIns="91425" tIns="91425" rIns="91425" bIns="91425" anchor="t" anchorCtr="0">
            <a:noAutofit/>
          </a:bodyPr>
          <a:lstStyle/>
          <a:p>
            <a:pPr algn="ctr"/>
            <a:r>
              <a:rPr lang="en" sz="3000">
                <a:solidFill>
                  <a:schemeClr val="dk1"/>
                </a:solidFill>
                <a:latin typeface="Architects Daughter"/>
                <a:ea typeface="Architects Daughter"/>
                <a:cs typeface="Architects Daughter"/>
                <a:sym typeface="Architects Daughter"/>
              </a:rPr>
              <a:t>13.6</a:t>
            </a:r>
            <a:endParaRPr sz="1643"/>
          </a:p>
        </p:txBody>
      </p:sp>
      <p:sp>
        <p:nvSpPr>
          <p:cNvPr id="202" name="Google Shape;202;p30"/>
          <p:cNvSpPr txBox="1"/>
          <p:nvPr/>
        </p:nvSpPr>
        <p:spPr>
          <a:xfrm>
            <a:off x="3807525" y="3823001"/>
            <a:ext cx="3000000" cy="572700"/>
          </a:xfrm>
          <a:prstGeom prst="rect">
            <a:avLst/>
          </a:prstGeom>
          <a:noFill/>
          <a:ln>
            <a:noFill/>
          </a:ln>
        </p:spPr>
        <p:txBody>
          <a:bodyPr spcFirstLastPara="1" wrap="square" lIns="91425" tIns="91425" rIns="91425" bIns="91425" anchor="t" anchorCtr="0">
            <a:noAutofit/>
          </a:bodyPr>
          <a:lstStyle/>
          <a:p>
            <a:pPr algn="ctr"/>
            <a:r>
              <a:rPr lang="en" sz="3000">
                <a:solidFill>
                  <a:schemeClr val="dk1"/>
                </a:solidFill>
                <a:latin typeface="Architects Daughter"/>
                <a:ea typeface="Architects Daughter"/>
                <a:cs typeface="Architects Daughter"/>
                <a:sym typeface="Architects Daughter"/>
              </a:rPr>
              <a:t>= 6,352.94</a:t>
            </a:r>
            <a:endParaRPr sz="1643"/>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31"/>
          <p:cNvSpPr/>
          <p:nvPr/>
        </p:nvSpPr>
        <p:spPr>
          <a:xfrm>
            <a:off x="213300" y="222601"/>
            <a:ext cx="8717400" cy="4698300"/>
          </a:xfrm>
          <a:prstGeom prst="rect">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algn="ctr">
              <a:buClr>
                <a:schemeClr val="dk1"/>
              </a:buClr>
              <a:buSzPts val="1100"/>
            </a:pPr>
            <a:endParaRPr sz="4800">
              <a:latin typeface="Architects Daughter"/>
              <a:ea typeface="Architects Daughter"/>
              <a:cs typeface="Architects Daughter"/>
              <a:sym typeface="Architects Daughter"/>
            </a:endParaRPr>
          </a:p>
        </p:txBody>
      </p:sp>
      <p:sp>
        <p:nvSpPr>
          <p:cNvPr id="209" name="Google Shape;209;p31"/>
          <p:cNvSpPr txBox="1">
            <a:spLocks noGrp="1"/>
          </p:cNvSpPr>
          <p:nvPr>
            <p:ph type="title"/>
          </p:nvPr>
        </p:nvSpPr>
        <p:spPr>
          <a:xfrm>
            <a:off x="311700" y="445026"/>
            <a:ext cx="8520600" cy="572700"/>
          </a:xfrm>
          <a:prstGeom prst="rect">
            <a:avLst/>
          </a:prstGeom>
        </p:spPr>
        <p:txBody>
          <a:bodyPr spcFirstLastPara="1" wrap="square" lIns="91425" tIns="91425" rIns="91425" bIns="91425" anchor="t" anchorCtr="0">
            <a:noAutofit/>
          </a:bodyPr>
          <a:lstStyle/>
          <a:p>
            <a:r>
              <a:rPr lang="en" b="1">
                <a:solidFill>
                  <a:srgbClr val="434343"/>
                </a:solidFill>
                <a:latin typeface="Spectral"/>
                <a:ea typeface="Spectral"/>
                <a:cs typeface="Spectral"/>
                <a:sym typeface="Spectral"/>
              </a:rPr>
              <a:t>Step 4: Gathering Data, continued </a:t>
            </a:r>
            <a:r>
              <a:rPr lang="en" b="1" i="1">
                <a:solidFill>
                  <a:srgbClr val="434343"/>
                </a:solidFill>
                <a:latin typeface="Spectral"/>
                <a:ea typeface="Spectral"/>
                <a:cs typeface="Spectral"/>
                <a:sym typeface="Spectral"/>
              </a:rPr>
              <a:t>(optional)</a:t>
            </a:r>
            <a:r>
              <a:rPr lang="en" b="1">
                <a:solidFill>
                  <a:srgbClr val="434343"/>
                </a:solidFill>
                <a:latin typeface="Spectral"/>
                <a:ea typeface="Spectral"/>
                <a:cs typeface="Spectral"/>
                <a:sym typeface="Spectral"/>
              </a:rPr>
              <a:t> </a:t>
            </a:r>
            <a:endParaRPr b="1">
              <a:solidFill>
                <a:srgbClr val="434343"/>
              </a:solidFill>
              <a:latin typeface="Spectral"/>
              <a:ea typeface="Spectral"/>
              <a:cs typeface="Spectral"/>
              <a:sym typeface="Spectral"/>
            </a:endParaRPr>
          </a:p>
          <a:p>
            <a:r>
              <a:rPr lang="en" sz="1800" i="1">
                <a:solidFill>
                  <a:srgbClr val="434343"/>
                </a:solidFill>
                <a:latin typeface="Spectral"/>
                <a:ea typeface="Spectral"/>
                <a:cs typeface="Spectral"/>
                <a:sym typeface="Spectral"/>
              </a:rPr>
              <a:t>Perform experiments, conduct surveys and make measurements. If appropriate, create and use formulas.</a:t>
            </a:r>
            <a:endParaRPr sz="1800" i="1">
              <a:solidFill>
                <a:srgbClr val="434343"/>
              </a:solidFill>
              <a:latin typeface="Spectral"/>
              <a:ea typeface="Spectral"/>
              <a:cs typeface="Spectral"/>
              <a:sym typeface="Spectral"/>
            </a:endParaRPr>
          </a:p>
        </p:txBody>
      </p:sp>
      <p:sp>
        <p:nvSpPr>
          <p:cNvPr id="210" name="Google Shape;210;p31"/>
          <p:cNvSpPr txBox="1">
            <a:spLocks noGrp="1"/>
          </p:cNvSpPr>
          <p:nvPr>
            <p:ph type="body" idx="1"/>
          </p:nvPr>
        </p:nvSpPr>
        <p:spPr>
          <a:xfrm>
            <a:off x="311700" y="1609675"/>
            <a:ext cx="8520600" cy="1766700"/>
          </a:xfrm>
          <a:prstGeom prst="rect">
            <a:avLst/>
          </a:prstGeom>
        </p:spPr>
        <p:txBody>
          <a:bodyPr spcFirstLastPara="1" wrap="square" lIns="91425" tIns="91425" rIns="91425" bIns="91425" anchor="t" anchorCtr="0">
            <a:noAutofit/>
          </a:bodyPr>
          <a:lstStyle/>
          <a:p>
            <a:pPr marL="0" indent="0">
              <a:buNone/>
            </a:pPr>
            <a:r>
              <a:rPr lang="en">
                <a:latin typeface="Open Sans"/>
                <a:ea typeface="Open Sans"/>
                <a:cs typeface="Open Sans"/>
                <a:sym typeface="Open Sans"/>
              </a:rPr>
              <a:t>You may want to define variables and create a formula to help you solve this </a:t>
            </a:r>
            <a:r>
              <a:rPr lang="en">
                <a:solidFill>
                  <a:srgbClr val="434343"/>
                </a:solidFill>
                <a:latin typeface="Open Sans"/>
                <a:ea typeface="Open Sans"/>
                <a:cs typeface="Open Sans"/>
                <a:sym typeface="Open Sans"/>
              </a:rPr>
              <a:t>Fermi problem. </a:t>
            </a:r>
            <a:endParaRPr>
              <a:solidFill>
                <a:srgbClr val="434343"/>
              </a:solidFill>
              <a:latin typeface="Open Sans"/>
              <a:ea typeface="Open Sans"/>
              <a:cs typeface="Open Sans"/>
              <a:sym typeface="Open Sans"/>
            </a:endParaRPr>
          </a:p>
          <a:p>
            <a:pPr marL="0" indent="0">
              <a:spcBef>
                <a:spcPts val="1600"/>
              </a:spcBef>
              <a:spcAft>
                <a:spcPts val="1600"/>
              </a:spcAft>
              <a:buClr>
                <a:schemeClr val="dk1"/>
              </a:buClr>
              <a:buSzPts val="1100"/>
              <a:buNone/>
            </a:pPr>
            <a:r>
              <a:rPr lang="en">
                <a:solidFill>
                  <a:srgbClr val="666666"/>
                </a:solidFill>
                <a:latin typeface="Open Sans"/>
                <a:ea typeface="Open Sans"/>
                <a:cs typeface="Open Sans"/>
                <a:sym typeface="Open Sans"/>
              </a:rPr>
              <a:t>Let </a:t>
            </a:r>
            <a:r>
              <a:rPr lang="en" i="1">
                <a:solidFill>
                  <a:srgbClr val="666666"/>
                </a:solidFill>
                <a:latin typeface="Times New Roman"/>
                <a:ea typeface="Times New Roman"/>
                <a:cs typeface="Times New Roman"/>
                <a:sym typeface="Times New Roman"/>
              </a:rPr>
              <a:t>T</a:t>
            </a:r>
            <a:r>
              <a:rPr lang="en">
                <a:solidFill>
                  <a:srgbClr val="666666"/>
                </a:solidFill>
                <a:latin typeface="Open Sans"/>
                <a:ea typeface="Open Sans"/>
                <a:cs typeface="Open Sans"/>
                <a:sym typeface="Open Sans"/>
              </a:rPr>
              <a:t> represent the total time it takes (in seconds) to recite the alphabet and let </a:t>
            </a:r>
            <a:r>
              <a:rPr lang="en" i="1">
                <a:solidFill>
                  <a:srgbClr val="666666"/>
                </a:solidFill>
                <a:latin typeface="Times New Roman"/>
                <a:ea typeface="Times New Roman"/>
                <a:cs typeface="Times New Roman"/>
                <a:sym typeface="Times New Roman"/>
              </a:rPr>
              <a:t>x</a:t>
            </a:r>
            <a:r>
              <a:rPr lang="en">
                <a:solidFill>
                  <a:srgbClr val="666666"/>
                </a:solidFill>
                <a:latin typeface="Open Sans"/>
                <a:ea typeface="Open Sans"/>
                <a:cs typeface="Open Sans"/>
                <a:sym typeface="Open Sans"/>
              </a:rPr>
              <a:t> represent the numbers of repetitions. Th formula: </a:t>
            </a:r>
            <a:r>
              <a:rPr lang="en" i="1">
                <a:solidFill>
                  <a:srgbClr val="666666"/>
                </a:solidFill>
                <a:latin typeface="Times New Roman"/>
                <a:ea typeface="Times New Roman"/>
                <a:cs typeface="Times New Roman"/>
                <a:sym typeface="Times New Roman"/>
              </a:rPr>
              <a:t>T</a:t>
            </a:r>
            <a:r>
              <a:rPr lang="en">
                <a:solidFill>
                  <a:srgbClr val="666666"/>
                </a:solidFill>
                <a:latin typeface="Open Sans"/>
                <a:ea typeface="Open Sans"/>
                <a:cs typeface="Open Sans"/>
                <a:sym typeface="Open Sans"/>
              </a:rPr>
              <a:t> = 13.6</a:t>
            </a:r>
            <a:r>
              <a:rPr lang="en" i="1">
                <a:solidFill>
                  <a:srgbClr val="666666"/>
                </a:solidFill>
                <a:latin typeface="Times New Roman"/>
                <a:ea typeface="Times New Roman"/>
                <a:cs typeface="Times New Roman"/>
                <a:sym typeface="Times New Roman"/>
              </a:rPr>
              <a:t>x </a:t>
            </a:r>
            <a:r>
              <a:rPr lang="en">
                <a:solidFill>
                  <a:srgbClr val="666666"/>
                </a:solidFill>
                <a:latin typeface="Open Sans"/>
                <a:ea typeface="Open Sans"/>
                <a:cs typeface="Open Sans"/>
                <a:sym typeface="Open Sans"/>
              </a:rPr>
              <a:t>can help us calculate the time it will take (in seconds) to recite the alphabet a certain number of times. </a:t>
            </a:r>
            <a:endParaRPr>
              <a:solidFill>
                <a:srgbClr val="666666"/>
              </a:solidFill>
              <a:latin typeface="Open Sans"/>
              <a:ea typeface="Open Sans"/>
              <a:cs typeface="Open Sans"/>
              <a:sym typeface="Open Sans"/>
            </a:endParaRPr>
          </a:p>
        </p:txBody>
      </p:sp>
      <p:sp>
        <p:nvSpPr>
          <p:cNvPr id="211" name="Google Shape;211;p31"/>
          <p:cNvSpPr txBox="1"/>
          <p:nvPr/>
        </p:nvSpPr>
        <p:spPr>
          <a:xfrm>
            <a:off x="3072000" y="3492926"/>
            <a:ext cx="3000000" cy="698700"/>
          </a:xfrm>
          <a:prstGeom prst="rect">
            <a:avLst/>
          </a:prstGeom>
          <a:noFill/>
          <a:ln>
            <a:noFill/>
          </a:ln>
        </p:spPr>
        <p:txBody>
          <a:bodyPr spcFirstLastPara="1" wrap="square" lIns="91425" tIns="91425" rIns="91425" bIns="91425" anchor="t" anchorCtr="0">
            <a:noAutofit/>
          </a:bodyPr>
          <a:lstStyle/>
          <a:p>
            <a:pPr algn="ctr"/>
            <a:r>
              <a:rPr lang="en" sz="3000">
                <a:solidFill>
                  <a:schemeClr val="dk1"/>
                </a:solidFill>
                <a:latin typeface="Architects Daughter"/>
                <a:ea typeface="Architects Daughter"/>
                <a:cs typeface="Architects Daughter"/>
                <a:sym typeface="Architects Daughter"/>
              </a:rPr>
              <a:t>86,400 = 13.6x</a:t>
            </a:r>
            <a:endParaRPr sz="3000">
              <a:solidFill>
                <a:schemeClr val="dk1"/>
              </a:solidFill>
              <a:latin typeface="Architects Daughter"/>
              <a:ea typeface="Architects Daughter"/>
              <a:cs typeface="Architects Daughter"/>
              <a:sym typeface="Architects Daughter"/>
            </a:endParaRPr>
          </a:p>
          <a:p>
            <a:pPr algn="ctr"/>
            <a:endParaRPr sz="3000">
              <a:solidFill>
                <a:schemeClr val="dk1"/>
              </a:solidFill>
              <a:latin typeface="Architects Daughter"/>
              <a:ea typeface="Architects Daughter"/>
              <a:cs typeface="Architects Daughter"/>
              <a:sym typeface="Architects Daughter"/>
            </a:endParaRPr>
          </a:p>
        </p:txBody>
      </p:sp>
      <p:cxnSp>
        <p:nvCxnSpPr>
          <p:cNvPr id="212" name="Google Shape;212;p31"/>
          <p:cNvCxnSpPr/>
          <p:nvPr/>
        </p:nvCxnSpPr>
        <p:spPr>
          <a:xfrm rot="10800000" flipH="1">
            <a:off x="3458200" y="4054175"/>
            <a:ext cx="1047900" cy="12600"/>
          </a:xfrm>
          <a:prstGeom prst="straightConnector1">
            <a:avLst/>
          </a:prstGeom>
          <a:noFill/>
          <a:ln w="9525" cap="flat" cmpd="sng">
            <a:solidFill>
              <a:srgbClr val="666666"/>
            </a:solidFill>
            <a:prstDash val="solid"/>
            <a:round/>
            <a:headEnd type="none" w="med" len="med"/>
            <a:tailEnd type="none" w="med" len="med"/>
          </a:ln>
        </p:spPr>
      </p:cxnSp>
      <p:cxnSp>
        <p:nvCxnSpPr>
          <p:cNvPr id="213" name="Google Shape;213;p31"/>
          <p:cNvCxnSpPr/>
          <p:nvPr/>
        </p:nvCxnSpPr>
        <p:spPr>
          <a:xfrm rot="10800000" flipH="1">
            <a:off x="5100300" y="4054175"/>
            <a:ext cx="726900" cy="12600"/>
          </a:xfrm>
          <a:prstGeom prst="straightConnector1">
            <a:avLst/>
          </a:prstGeom>
          <a:noFill/>
          <a:ln w="9525" cap="flat" cmpd="sng">
            <a:solidFill>
              <a:srgbClr val="666666"/>
            </a:solidFill>
            <a:prstDash val="solid"/>
            <a:round/>
            <a:headEnd type="none" w="med" len="med"/>
            <a:tailEnd type="none" w="med" len="med"/>
          </a:ln>
        </p:spPr>
      </p:cxnSp>
      <p:sp>
        <p:nvSpPr>
          <p:cNvPr id="214" name="Google Shape;214;p31"/>
          <p:cNvSpPr txBox="1"/>
          <p:nvPr/>
        </p:nvSpPr>
        <p:spPr>
          <a:xfrm>
            <a:off x="3067101" y="3914375"/>
            <a:ext cx="1824300" cy="572700"/>
          </a:xfrm>
          <a:prstGeom prst="rect">
            <a:avLst/>
          </a:prstGeom>
          <a:noFill/>
          <a:ln>
            <a:noFill/>
          </a:ln>
        </p:spPr>
        <p:txBody>
          <a:bodyPr spcFirstLastPara="1" wrap="square" lIns="91425" tIns="91425" rIns="91425" bIns="91425" anchor="t" anchorCtr="0">
            <a:noAutofit/>
          </a:bodyPr>
          <a:lstStyle/>
          <a:p>
            <a:pPr algn="ctr"/>
            <a:r>
              <a:rPr lang="en" sz="3000">
                <a:solidFill>
                  <a:schemeClr val="dk1"/>
                </a:solidFill>
                <a:latin typeface="Architects Daughter"/>
                <a:ea typeface="Architects Daughter"/>
                <a:cs typeface="Architects Daughter"/>
                <a:sym typeface="Architects Daughter"/>
              </a:rPr>
              <a:t>13.6</a:t>
            </a:r>
            <a:endParaRPr sz="1643"/>
          </a:p>
        </p:txBody>
      </p:sp>
      <p:sp>
        <p:nvSpPr>
          <p:cNvPr id="215" name="Google Shape;215;p31"/>
          <p:cNvSpPr txBox="1"/>
          <p:nvPr/>
        </p:nvSpPr>
        <p:spPr>
          <a:xfrm>
            <a:off x="4591101" y="3914375"/>
            <a:ext cx="1824300" cy="572700"/>
          </a:xfrm>
          <a:prstGeom prst="rect">
            <a:avLst/>
          </a:prstGeom>
          <a:noFill/>
          <a:ln>
            <a:noFill/>
          </a:ln>
        </p:spPr>
        <p:txBody>
          <a:bodyPr spcFirstLastPara="1" wrap="square" lIns="91425" tIns="91425" rIns="91425" bIns="91425" anchor="t" anchorCtr="0">
            <a:noAutofit/>
          </a:bodyPr>
          <a:lstStyle/>
          <a:p>
            <a:pPr algn="ctr"/>
            <a:r>
              <a:rPr lang="en" sz="3000">
                <a:solidFill>
                  <a:schemeClr val="dk1"/>
                </a:solidFill>
                <a:latin typeface="Architects Daughter"/>
                <a:ea typeface="Architects Daughter"/>
                <a:cs typeface="Architects Daughter"/>
                <a:sym typeface="Architects Daughter"/>
              </a:rPr>
              <a:t>13.6</a:t>
            </a:r>
            <a:endParaRPr sz="1643"/>
          </a:p>
        </p:txBody>
      </p:sp>
      <p:sp>
        <p:nvSpPr>
          <p:cNvPr id="216" name="Google Shape;216;p31"/>
          <p:cNvSpPr txBox="1"/>
          <p:nvPr/>
        </p:nvSpPr>
        <p:spPr>
          <a:xfrm>
            <a:off x="3072000" y="4348201"/>
            <a:ext cx="3000000" cy="572700"/>
          </a:xfrm>
          <a:prstGeom prst="rect">
            <a:avLst/>
          </a:prstGeom>
          <a:noFill/>
          <a:ln>
            <a:noFill/>
          </a:ln>
        </p:spPr>
        <p:txBody>
          <a:bodyPr spcFirstLastPara="1" wrap="square" lIns="91425" tIns="91425" rIns="91425" bIns="91425" anchor="t" anchorCtr="0">
            <a:noAutofit/>
          </a:bodyPr>
          <a:lstStyle/>
          <a:p>
            <a:pPr algn="ctr"/>
            <a:r>
              <a:rPr lang="en" sz="3000">
                <a:solidFill>
                  <a:schemeClr val="dk1"/>
                </a:solidFill>
                <a:latin typeface="Architects Daughter"/>
                <a:ea typeface="Architects Daughter"/>
                <a:cs typeface="Architects Daughter"/>
                <a:sym typeface="Architects Daughter"/>
              </a:rPr>
              <a:t>x=6,352.94</a:t>
            </a:r>
            <a:endParaRPr sz="3000">
              <a:solidFill>
                <a:schemeClr val="dk1"/>
              </a:solidFill>
              <a:latin typeface="Architects Daughter"/>
              <a:ea typeface="Architects Daughter"/>
              <a:cs typeface="Architects Daughter"/>
              <a:sym typeface="Architects Daughte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2"/>
          <p:cNvSpPr/>
          <p:nvPr/>
        </p:nvSpPr>
        <p:spPr>
          <a:xfrm>
            <a:off x="213300" y="222601"/>
            <a:ext cx="8717400" cy="4698300"/>
          </a:xfrm>
          <a:prstGeom prst="rect">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algn="ctr">
              <a:buClr>
                <a:schemeClr val="dk1"/>
              </a:buClr>
              <a:buSzPts val="1100"/>
            </a:pPr>
            <a:endParaRPr sz="4800">
              <a:latin typeface="Architects Daughter"/>
              <a:ea typeface="Architects Daughter"/>
              <a:cs typeface="Architects Daughter"/>
              <a:sym typeface="Architects Daughter"/>
            </a:endParaRPr>
          </a:p>
        </p:txBody>
      </p:sp>
      <p:sp>
        <p:nvSpPr>
          <p:cNvPr id="223" name="Google Shape;223;p32"/>
          <p:cNvSpPr txBox="1">
            <a:spLocks noGrp="1"/>
          </p:cNvSpPr>
          <p:nvPr>
            <p:ph type="title"/>
          </p:nvPr>
        </p:nvSpPr>
        <p:spPr>
          <a:xfrm>
            <a:off x="311700" y="445026"/>
            <a:ext cx="8520600" cy="572700"/>
          </a:xfrm>
          <a:prstGeom prst="rect">
            <a:avLst/>
          </a:prstGeom>
        </p:spPr>
        <p:txBody>
          <a:bodyPr spcFirstLastPara="1" wrap="square" lIns="91425" tIns="91425" rIns="91425" bIns="91425" anchor="t" anchorCtr="0">
            <a:noAutofit/>
          </a:bodyPr>
          <a:lstStyle/>
          <a:p>
            <a:r>
              <a:rPr lang="en" b="1">
                <a:solidFill>
                  <a:srgbClr val="434343"/>
                </a:solidFill>
                <a:latin typeface="Spectral"/>
                <a:ea typeface="Spectral"/>
                <a:cs typeface="Spectral"/>
                <a:sym typeface="Spectral"/>
              </a:rPr>
              <a:t>Step 6: Conclusion</a:t>
            </a:r>
            <a:endParaRPr b="1">
              <a:solidFill>
                <a:srgbClr val="434343"/>
              </a:solidFill>
              <a:latin typeface="Spectral"/>
              <a:ea typeface="Spectral"/>
              <a:cs typeface="Spectral"/>
              <a:sym typeface="Spectral"/>
            </a:endParaRPr>
          </a:p>
          <a:p>
            <a:r>
              <a:rPr lang="en" sz="1800" i="1">
                <a:solidFill>
                  <a:srgbClr val="434343"/>
                </a:solidFill>
                <a:latin typeface="Spectral"/>
                <a:ea typeface="Spectral"/>
                <a:cs typeface="Spectral"/>
                <a:sym typeface="Spectral"/>
              </a:rPr>
              <a:t>State your final answer. Discuss possible sources of error, interesting facts learned and possible extensions.  </a:t>
            </a:r>
            <a:endParaRPr sz="1800" i="1">
              <a:solidFill>
                <a:srgbClr val="434343"/>
              </a:solidFill>
              <a:latin typeface="Spectral"/>
              <a:ea typeface="Spectral"/>
              <a:cs typeface="Spectral"/>
              <a:sym typeface="Spectral"/>
            </a:endParaRPr>
          </a:p>
        </p:txBody>
      </p:sp>
      <p:sp>
        <p:nvSpPr>
          <p:cNvPr id="224" name="Google Shape;224;p32"/>
          <p:cNvSpPr txBox="1">
            <a:spLocks noGrp="1"/>
          </p:cNvSpPr>
          <p:nvPr>
            <p:ph type="body" idx="1"/>
          </p:nvPr>
        </p:nvSpPr>
        <p:spPr>
          <a:xfrm>
            <a:off x="311700" y="1609675"/>
            <a:ext cx="8520600" cy="3416400"/>
          </a:xfrm>
          <a:prstGeom prst="rect">
            <a:avLst/>
          </a:prstGeom>
        </p:spPr>
        <p:txBody>
          <a:bodyPr spcFirstLastPara="1" wrap="square" lIns="91425" tIns="91425" rIns="91425" bIns="91425" anchor="t" anchorCtr="0">
            <a:noAutofit/>
          </a:bodyPr>
          <a:lstStyle/>
          <a:p>
            <a:pPr marL="0" indent="0">
              <a:buNone/>
            </a:pPr>
            <a:r>
              <a:rPr lang="en" sz="1400">
                <a:solidFill>
                  <a:srgbClr val="434343"/>
                </a:solidFill>
                <a:latin typeface="Open Sans"/>
                <a:ea typeface="Open Sans"/>
                <a:cs typeface="Open Sans"/>
                <a:sym typeface="Open Sans"/>
              </a:rPr>
              <a:t>Based on this analysis, we conclude that we can say the alphabet 6,352 times  in 24 hours. </a:t>
            </a:r>
            <a:endParaRPr sz="1400">
              <a:solidFill>
                <a:srgbClr val="434343"/>
              </a:solidFill>
              <a:latin typeface="Open Sans"/>
              <a:ea typeface="Open Sans"/>
              <a:cs typeface="Open Sans"/>
              <a:sym typeface="Open Sans"/>
            </a:endParaRPr>
          </a:p>
          <a:p>
            <a:pPr marL="0" indent="0">
              <a:buClr>
                <a:schemeClr val="dk1"/>
              </a:buClr>
              <a:buSzPts val="1100"/>
              <a:buNone/>
            </a:pPr>
            <a:endParaRPr sz="1400">
              <a:solidFill>
                <a:srgbClr val="434343"/>
              </a:solidFill>
              <a:latin typeface="Open Sans"/>
              <a:ea typeface="Open Sans"/>
              <a:cs typeface="Open Sans"/>
              <a:sym typeface="Open Sans"/>
            </a:endParaRPr>
          </a:p>
          <a:p>
            <a:pPr marL="0" indent="0">
              <a:buNone/>
            </a:pPr>
            <a:r>
              <a:rPr lang="en" sz="1400">
                <a:solidFill>
                  <a:srgbClr val="434343"/>
                </a:solidFill>
                <a:latin typeface="Open Sans"/>
                <a:ea typeface="Open Sans"/>
                <a:cs typeface="Open Sans"/>
                <a:sym typeface="Open Sans"/>
              </a:rPr>
              <a:t>It takes 13.6 seconds to say the alphabet. Given that there are 86,400 seconds in 24 hour, one could recite the alphabet 6,352 times in that time frame. </a:t>
            </a:r>
            <a:endParaRPr sz="1400">
              <a:solidFill>
                <a:srgbClr val="434343"/>
              </a:solidFill>
              <a:latin typeface="Open Sans"/>
              <a:ea typeface="Open Sans"/>
              <a:cs typeface="Open Sans"/>
              <a:sym typeface="Open Sans"/>
            </a:endParaRPr>
          </a:p>
          <a:p>
            <a:pPr marL="0" indent="0">
              <a:buClr>
                <a:schemeClr val="dk1"/>
              </a:buClr>
              <a:buSzPts val="1100"/>
              <a:buNone/>
            </a:pPr>
            <a:endParaRPr sz="1400">
              <a:solidFill>
                <a:srgbClr val="434343"/>
              </a:solidFill>
              <a:latin typeface="Open Sans"/>
              <a:ea typeface="Open Sans"/>
              <a:cs typeface="Open Sans"/>
              <a:sym typeface="Open Sans"/>
            </a:endParaRPr>
          </a:p>
          <a:p>
            <a:pPr marL="0" indent="0">
              <a:buNone/>
            </a:pPr>
            <a:r>
              <a:rPr lang="en" sz="1400">
                <a:solidFill>
                  <a:srgbClr val="434343"/>
                </a:solidFill>
                <a:latin typeface="Open Sans"/>
                <a:ea typeface="Open Sans"/>
                <a:cs typeface="Open Sans"/>
                <a:sym typeface="Open Sans"/>
              </a:rPr>
              <a:t>One possible source of error is that we did not account for any breaks or mistakes. This might be unrealistic if attempted in real life. </a:t>
            </a:r>
            <a:endParaRPr sz="1400">
              <a:solidFill>
                <a:srgbClr val="434343"/>
              </a:solidFill>
              <a:latin typeface="Open Sans"/>
              <a:ea typeface="Open Sans"/>
              <a:cs typeface="Open Sans"/>
              <a:sym typeface="Open Sans"/>
            </a:endParaRPr>
          </a:p>
          <a:p>
            <a:pPr marL="0" indent="0">
              <a:buClr>
                <a:schemeClr val="dk1"/>
              </a:buClr>
              <a:buSzPts val="1100"/>
              <a:buNone/>
            </a:pPr>
            <a:endParaRPr sz="1400">
              <a:solidFill>
                <a:srgbClr val="434343"/>
              </a:solidFill>
              <a:latin typeface="Open Sans"/>
              <a:ea typeface="Open Sans"/>
              <a:cs typeface="Open Sans"/>
              <a:sym typeface="Open Sans"/>
            </a:endParaRPr>
          </a:p>
          <a:p>
            <a:pPr marL="0" indent="0">
              <a:buClr>
                <a:schemeClr val="dk1"/>
              </a:buClr>
              <a:buSzPts val="1100"/>
              <a:buNone/>
            </a:pPr>
            <a:r>
              <a:rPr lang="en" sz="1400">
                <a:solidFill>
                  <a:srgbClr val="434343"/>
                </a:solidFill>
                <a:latin typeface="Open Sans"/>
                <a:ea typeface="Open Sans"/>
                <a:cs typeface="Open Sans"/>
                <a:sym typeface="Open Sans"/>
              </a:rPr>
              <a:t>One interesting fact I learned is that there are about 100 languages that use an alphabet similar to English. While some languages have a few more and others a few less, they all share the core 23 letters originally found in the Roman alphabet. It would be interesting to compare the number of times one could recite the alphabet in different languages given the same time frame. </a:t>
            </a:r>
            <a:endParaRPr sz="1400">
              <a:solidFill>
                <a:srgbClr val="434343"/>
              </a:solidFill>
              <a:latin typeface="Open Sans"/>
              <a:ea typeface="Open Sans"/>
              <a:cs typeface="Open Sans"/>
              <a:sym typeface="Open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EDBC378-55DB-4F7D-A79B-AB1293FDEB6D}"/>
              </a:ext>
            </a:extLst>
          </p:cNvPr>
          <p:cNvPicPr>
            <a:picLocks noChangeAspect="1"/>
          </p:cNvPicPr>
          <p:nvPr/>
        </p:nvPicPr>
        <p:blipFill>
          <a:blip r:embed="rId2"/>
          <a:stretch>
            <a:fillRect/>
          </a:stretch>
        </p:blipFill>
        <p:spPr>
          <a:xfrm>
            <a:off x="1430998" y="188053"/>
            <a:ext cx="6282003" cy="1638272"/>
          </a:xfrm>
          <a:prstGeom prst="rect">
            <a:avLst/>
          </a:prstGeom>
        </p:spPr>
      </p:pic>
      <p:sp>
        <p:nvSpPr>
          <p:cNvPr id="5" name="TextBox 4">
            <a:extLst>
              <a:ext uri="{FF2B5EF4-FFF2-40B4-BE49-F238E27FC236}">
                <a16:creationId xmlns:a16="http://schemas.microsoft.com/office/drawing/2014/main" id="{7C0BE86A-24CF-4A06-A26A-EFEC32D04649}"/>
              </a:ext>
            </a:extLst>
          </p:cNvPr>
          <p:cNvSpPr txBox="1"/>
          <p:nvPr/>
        </p:nvSpPr>
        <p:spPr>
          <a:xfrm>
            <a:off x="436544" y="1947134"/>
            <a:ext cx="8524576" cy="3416320"/>
          </a:xfrm>
          <a:prstGeom prst="rect">
            <a:avLst/>
          </a:prstGeom>
          <a:noFill/>
        </p:spPr>
        <p:txBody>
          <a:bodyPr wrap="square" rtlCol="0">
            <a:spAutoFit/>
          </a:bodyPr>
          <a:lstStyle/>
          <a:p>
            <a:pPr marL="342900" indent="-342900">
              <a:buFont typeface="Arial" panose="020B0604020202020204" pitchFamily="34" charset="0"/>
              <a:buChar char="•"/>
            </a:pPr>
            <a:r>
              <a:rPr lang="en-AU" sz="2400" dirty="0"/>
              <a:t>How many people do you think use the canteen each day?</a:t>
            </a:r>
          </a:p>
          <a:p>
            <a:endParaRPr lang="en-AU" sz="2400" dirty="0"/>
          </a:p>
          <a:p>
            <a:pPr marL="342900" indent="-342900">
              <a:buFont typeface="Arial" panose="020B0604020202020204" pitchFamily="34" charset="0"/>
              <a:buChar char="•"/>
            </a:pPr>
            <a:r>
              <a:rPr lang="en-AU" sz="2400" dirty="0"/>
              <a:t>How much money do you think they would spend each time?</a:t>
            </a:r>
          </a:p>
          <a:p>
            <a:endParaRPr lang="en-AU" sz="2400" dirty="0"/>
          </a:p>
          <a:p>
            <a:pPr marL="342900" indent="-342900">
              <a:buFont typeface="Arial" panose="020B0604020202020204" pitchFamily="34" charset="0"/>
              <a:buChar char="•"/>
            </a:pPr>
            <a:r>
              <a:rPr lang="en-AU" sz="2400" dirty="0"/>
              <a:t>How many days a week does the canteen run?</a:t>
            </a:r>
          </a:p>
          <a:p>
            <a:endParaRPr lang="en-AU" sz="2400" dirty="0"/>
          </a:p>
          <a:p>
            <a:pPr marL="342900" indent="-342900">
              <a:buFont typeface="Arial" panose="020B0604020202020204" pitchFamily="34" charset="0"/>
              <a:buChar char="•"/>
            </a:pPr>
            <a:r>
              <a:rPr lang="en-AU" sz="2400" dirty="0"/>
              <a:t>How many weeks in a school year?</a:t>
            </a:r>
          </a:p>
          <a:p>
            <a:pPr marL="342900" indent="-342900">
              <a:buFont typeface="Arial" panose="020B0604020202020204" pitchFamily="34" charset="0"/>
              <a:buChar char="•"/>
            </a:pPr>
            <a:endParaRPr lang="en-AU" sz="2400" dirty="0"/>
          </a:p>
        </p:txBody>
      </p:sp>
    </p:spTree>
    <p:extLst>
      <p:ext uri="{BB962C8B-B14F-4D97-AF65-F5344CB8AC3E}">
        <p14:creationId xmlns:p14="http://schemas.microsoft.com/office/powerpoint/2010/main" val="4103545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 calcmode="lin" valueType="num">
                                      <p:cBhvr additive="base">
                                        <p:cTn id="25"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DA1667-8B5A-44E8-A620-6A7B0BB85C10}"/>
              </a:ext>
            </a:extLst>
          </p:cNvPr>
          <p:cNvSpPr>
            <a:spLocks noGrp="1"/>
          </p:cNvSpPr>
          <p:nvPr>
            <p:ph idx="1"/>
          </p:nvPr>
        </p:nvSpPr>
        <p:spPr>
          <a:xfrm>
            <a:off x="651515" y="2571750"/>
            <a:ext cx="7840969" cy="1942428"/>
          </a:xfrm>
        </p:spPr>
        <p:txBody>
          <a:bodyPr>
            <a:noAutofit/>
          </a:bodyPr>
          <a:lstStyle/>
          <a:p>
            <a:pPr marL="285750" indent="-285750"/>
            <a:r>
              <a:rPr lang="en-AU" sz="2000" dirty="0"/>
              <a:t>How big much volume is in a cup?</a:t>
            </a:r>
          </a:p>
          <a:p>
            <a:pPr marL="285750" indent="-285750"/>
            <a:r>
              <a:rPr lang="en-AU" sz="2000" dirty="0"/>
              <a:t>How many cups are needed to make a litre?</a:t>
            </a:r>
          </a:p>
          <a:p>
            <a:pPr marL="285750" indent="-285750"/>
            <a:r>
              <a:rPr lang="en-AU" sz="2000" dirty="0"/>
              <a:t>How many litres in an Olympic sized swimming pool?</a:t>
            </a:r>
          </a:p>
          <a:p>
            <a:pPr marL="285750" indent="-285750"/>
            <a:r>
              <a:rPr lang="en-AU" sz="2000" dirty="0"/>
              <a:t>How many cups are needed to fill an Olympic swimming pool?</a:t>
            </a:r>
          </a:p>
          <a:p>
            <a:pPr marL="285750" indent="-285750"/>
            <a:r>
              <a:rPr lang="en-AU" sz="2000" dirty="0"/>
              <a:t>Extension– how long would it take 1 person to drink?</a:t>
            </a:r>
          </a:p>
        </p:txBody>
      </p:sp>
      <p:pic>
        <p:nvPicPr>
          <p:cNvPr id="4" name="Picture 3">
            <a:extLst>
              <a:ext uri="{FF2B5EF4-FFF2-40B4-BE49-F238E27FC236}">
                <a16:creationId xmlns:a16="http://schemas.microsoft.com/office/drawing/2014/main" id="{30E54CF9-5BC0-4836-A9C2-A893F6536F27}"/>
              </a:ext>
            </a:extLst>
          </p:cNvPr>
          <p:cNvPicPr>
            <a:picLocks noChangeAspect="1"/>
          </p:cNvPicPr>
          <p:nvPr/>
        </p:nvPicPr>
        <p:blipFill>
          <a:blip r:embed="rId2"/>
          <a:stretch>
            <a:fillRect/>
          </a:stretch>
        </p:blipFill>
        <p:spPr>
          <a:xfrm>
            <a:off x="841788" y="171618"/>
            <a:ext cx="7460424" cy="2098245"/>
          </a:xfrm>
          <a:prstGeom prst="rect">
            <a:avLst/>
          </a:prstGeom>
        </p:spPr>
      </p:pic>
    </p:spTree>
    <p:extLst>
      <p:ext uri="{BB962C8B-B14F-4D97-AF65-F5344CB8AC3E}">
        <p14:creationId xmlns:p14="http://schemas.microsoft.com/office/powerpoint/2010/main" val="1586210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731E3F3-4D1F-4C32-8680-8164389D2AD2}"/>
              </a:ext>
            </a:extLst>
          </p:cNvPr>
          <p:cNvPicPr>
            <a:picLocks noChangeAspect="1"/>
          </p:cNvPicPr>
          <p:nvPr/>
        </p:nvPicPr>
        <p:blipFill>
          <a:blip r:embed="rId2"/>
          <a:stretch>
            <a:fillRect/>
          </a:stretch>
        </p:blipFill>
        <p:spPr>
          <a:xfrm>
            <a:off x="1220797" y="1244784"/>
            <a:ext cx="6874921" cy="2004025"/>
          </a:xfrm>
          <a:prstGeom prst="rect">
            <a:avLst/>
          </a:prstGeom>
        </p:spPr>
      </p:pic>
    </p:spTree>
    <p:extLst>
      <p:ext uri="{BB962C8B-B14F-4D97-AF65-F5344CB8AC3E}">
        <p14:creationId xmlns:p14="http://schemas.microsoft.com/office/powerpoint/2010/main" val="32145781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BD83D17-35A0-4186-9A23-7D7AEFFC0236}"/>
              </a:ext>
            </a:extLst>
          </p:cNvPr>
          <p:cNvPicPr>
            <a:picLocks noChangeAspect="1"/>
          </p:cNvPicPr>
          <p:nvPr/>
        </p:nvPicPr>
        <p:blipFill>
          <a:blip r:embed="rId2"/>
          <a:stretch>
            <a:fillRect/>
          </a:stretch>
        </p:blipFill>
        <p:spPr>
          <a:xfrm>
            <a:off x="476330" y="825363"/>
            <a:ext cx="8667670" cy="2283597"/>
          </a:xfrm>
          <a:prstGeom prst="rect">
            <a:avLst/>
          </a:prstGeom>
        </p:spPr>
      </p:pic>
    </p:spTree>
    <p:extLst>
      <p:ext uri="{BB962C8B-B14F-4D97-AF65-F5344CB8AC3E}">
        <p14:creationId xmlns:p14="http://schemas.microsoft.com/office/powerpoint/2010/main" val="3101527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83E538C-76BD-4FFD-B841-F9D0AE0283AD}"/>
              </a:ext>
            </a:extLst>
          </p:cNvPr>
          <p:cNvPicPr>
            <a:picLocks noChangeAspect="1"/>
          </p:cNvPicPr>
          <p:nvPr/>
        </p:nvPicPr>
        <p:blipFill>
          <a:blip r:embed="rId2"/>
          <a:stretch>
            <a:fillRect/>
          </a:stretch>
        </p:blipFill>
        <p:spPr>
          <a:xfrm>
            <a:off x="1141764" y="666656"/>
            <a:ext cx="7155287" cy="2754275"/>
          </a:xfrm>
          <a:prstGeom prst="rect">
            <a:avLst/>
          </a:prstGeom>
        </p:spPr>
      </p:pic>
    </p:spTree>
    <p:extLst>
      <p:ext uri="{BB962C8B-B14F-4D97-AF65-F5344CB8AC3E}">
        <p14:creationId xmlns:p14="http://schemas.microsoft.com/office/powerpoint/2010/main" val="27476851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929358C-F2B9-4D94-98E9-54CFB40A003D}"/>
              </a:ext>
            </a:extLst>
          </p:cNvPr>
          <p:cNvPicPr>
            <a:picLocks noChangeAspect="1"/>
          </p:cNvPicPr>
          <p:nvPr/>
        </p:nvPicPr>
        <p:blipFill>
          <a:blip r:embed="rId2"/>
          <a:stretch>
            <a:fillRect/>
          </a:stretch>
        </p:blipFill>
        <p:spPr>
          <a:xfrm>
            <a:off x="407736" y="1199003"/>
            <a:ext cx="8518790" cy="1737834"/>
          </a:xfrm>
          <a:prstGeom prst="rect">
            <a:avLst/>
          </a:prstGeom>
        </p:spPr>
      </p:pic>
    </p:spTree>
    <p:extLst>
      <p:ext uri="{BB962C8B-B14F-4D97-AF65-F5344CB8AC3E}">
        <p14:creationId xmlns:p14="http://schemas.microsoft.com/office/powerpoint/2010/main" val="27118325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9B93B69-4578-439F-8914-13E8685529A5}"/>
              </a:ext>
            </a:extLst>
          </p:cNvPr>
          <p:cNvPicPr>
            <a:picLocks noChangeAspect="1"/>
          </p:cNvPicPr>
          <p:nvPr/>
        </p:nvPicPr>
        <p:blipFill>
          <a:blip r:embed="rId2"/>
          <a:stretch>
            <a:fillRect/>
          </a:stretch>
        </p:blipFill>
        <p:spPr>
          <a:xfrm>
            <a:off x="1663859" y="591897"/>
            <a:ext cx="6628945" cy="1443637"/>
          </a:xfrm>
          <a:prstGeom prst="rect">
            <a:avLst/>
          </a:prstGeom>
        </p:spPr>
      </p:pic>
    </p:spTree>
    <p:extLst>
      <p:ext uri="{BB962C8B-B14F-4D97-AF65-F5344CB8AC3E}">
        <p14:creationId xmlns:p14="http://schemas.microsoft.com/office/powerpoint/2010/main" val="28846193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EDEEBD8-F170-480D-BB9A-A43FECB53646}"/>
              </a:ext>
            </a:extLst>
          </p:cNvPr>
          <p:cNvPicPr>
            <a:picLocks noChangeAspect="1"/>
          </p:cNvPicPr>
          <p:nvPr/>
        </p:nvPicPr>
        <p:blipFill>
          <a:blip r:embed="rId2"/>
          <a:stretch>
            <a:fillRect/>
          </a:stretch>
        </p:blipFill>
        <p:spPr>
          <a:xfrm>
            <a:off x="1455197" y="700908"/>
            <a:ext cx="6490675" cy="1870842"/>
          </a:xfrm>
          <a:prstGeom prst="rect">
            <a:avLst/>
          </a:prstGeom>
        </p:spPr>
      </p:pic>
    </p:spTree>
    <p:extLst>
      <p:ext uri="{BB962C8B-B14F-4D97-AF65-F5344CB8AC3E}">
        <p14:creationId xmlns:p14="http://schemas.microsoft.com/office/powerpoint/2010/main" val="17648356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1C39EA1-7D8A-486E-B4C2-6D33CCEA5FE6}"/>
              </a:ext>
            </a:extLst>
          </p:cNvPr>
          <p:cNvPicPr>
            <a:picLocks noChangeAspect="1"/>
          </p:cNvPicPr>
          <p:nvPr/>
        </p:nvPicPr>
        <p:blipFill>
          <a:blip r:embed="rId2"/>
          <a:stretch>
            <a:fillRect/>
          </a:stretch>
        </p:blipFill>
        <p:spPr>
          <a:xfrm>
            <a:off x="1813619" y="782729"/>
            <a:ext cx="6248518" cy="1666272"/>
          </a:xfrm>
          <a:prstGeom prst="rect">
            <a:avLst/>
          </a:prstGeom>
        </p:spPr>
      </p:pic>
    </p:spTree>
    <p:extLst>
      <p:ext uri="{BB962C8B-B14F-4D97-AF65-F5344CB8AC3E}">
        <p14:creationId xmlns:p14="http://schemas.microsoft.com/office/powerpoint/2010/main" val="20967516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A2DAADB-92A6-4982-81F0-B8C226095DF9}"/>
              </a:ext>
            </a:extLst>
          </p:cNvPr>
          <p:cNvPicPr>
            <a:picLocks noChangeAspect="1"/>
          </p:cNvPicPr>
          <p:nvPr/>
        </p:nvPicPr>
        <p:blipFill>
          <a:blip r:embed="rId2"/>
          <a:stretch>
            <a:fillRect/>
          </a:stretch>
        </p:blipFill>
        <p:spPr>
          <a:xfrm>
            <a:off x="606259" y="1196587"/>
            <a:ext cx="8537741" cy="1406968"/>
          </a:xfrm>
          <a:prstGeom prst="rect">
            <a:avLst/>
          </a:prstGeom>
        </p:spPr>
      </p:pic>
    </p:spTree>
    <p:extLst>
      <p:ext uri="{BB962C8B-B14F-4D97-AF65-F5344CB8AC3E}">
        <p14:creationId xmlns:p14="http://schemas.microsoft.com/office/powerpoint/2010/main" val="14743945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42"/>
          <p:cNvSpPr txBox="1">
            <a:spLocks noGrp="1"/>
          </p:cNvSpPr>
          <p:nvPr>
            <p:ph type="title"/>
          </p:nvPr>
        </p:nvSpPr>
        <p:spPr>
          <a:xfrm>
            <a:off x="311700" y="445026"/>
            <a:ext cx="8520600" cy="572700"/>
          </a:xfrm>
          <a:prstGeom prst="rect">
            <a:avLst/>
          </a:prstGeom>
        </p:spPr>
        <p:txBody>
          <a:bodyPr spcFirstLastPara="1" wrap="square" lIns="91425" tIns="91425" rIns="91425" bIns="91425" anchor="t" anchorCtr="0">
            <a:noAutofit/>
          </a:bodyPr>
          <a:lstStyle/>
          <a:p>
            <a:r>
              <a:rPr lang="en" b="1" dirty="0">
                <a:latin typeface="Spectral"/>
                <a:ea typeface="Spectral"/>
                <a:cs typeface="Spectral"/>
                <a:sym typeface="Spectral"/>
              </a:rPr>
              <a:t>Some more Fermi Problems</a:t>
            </a:r>
            <a:endParaRPr b="1" dirty="0">
              <a:latin typeface="Spectral"/>
              <a:ea typeface="Spectral"/>
              <a:cs typeface="Spectral"/>
              <a:sym typeface="Spectral"/>
            </a:endParaRPr>
          </a:p>
        </p:txBody>
      </p:sp>
      <p:sp>
        <p:nvSpPr>
          <p:cNvPr id="305" name="Google Shape;305;p4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a:buFont typeface="Open Sans"/>
              <a:buChar char="●"/>
            </a:pPr>
            <a:r>
              <a:rPr lang="en" dirty="0">
                <a:latin typeface="Open Sans"/>
                <a:ea typeface="Open Sans"/>
                <a:cs typeface="Open Sans"/>
                <a:sym typeface="Open Sans"/>
              </a:rPr>
              <a:t>What is the total number of marks taken in one AFL season?</a:t>
            </a:r>
            <a:endParaRPr dirty="0">
              <a:latin typeface="Open Sans"/>
              <a:ea typeface="Open Sans"/>
              <a:cs typeface="Open Sans"/>
              <a:sym typeface="Open Sans"/>
            </a:endParaRPr>
          </a:p>
          <a:p>
            <a:pPr>
              <a:buFont typeface="Open Sans"/>
              <a:buChar char="●"/>
            </a:pPr>
            <a:r>
              <a:rPr lang="en" dirty="0">
                <a:latin typeface="Open Sans"/>
                <a:ea typeface="Open Sans"/>
                <a:cs typeface="Open Sans"/>
                <a:sym typeface="Open Sans"/>
              </a:rPr>
              <a:t>How many hours will you spend on Facebook in a lifetime?</a:t>
            </a:r>
            <a:endParaRPr dirty="0">
              <a:latin typeface="Open Sans"/>
              <a:ea typeface="Open Sans"/>
              <a:cs typeface="Open Sans"/>
              <a:sym typeface="Open Sans"/>
            </a:endParaRPr>
          </a:p>
          <a:p>
            <a:pPr>
              <a:buFont typeface="Open Sans"/>
              <a:buChar char="●"/>
            </a:pPr>
            <a:r>
              <a:rPr lang="en" dirty="0">
                <a:latin typeface="Open Sans"/>
                <a:ea typeface="Open Sans"/>
                <a:cs typeface="Open Sans"/>
                <a:sym typeface="Open Sans"/>
              </a:rPr>
              <a:t>How many pizzas were eaten last year in </a:t>
            </a:r>
            <a:r>
              <a:rPr lang="en" dirty="0" err="1">
                <a:latin typeface="Open Sans"/>
                <a:ea typeface="Open Sans"/>
                <a:cs typeface="Open Sans"/>
                <a:sym typeface="Open Sans"/>
              </a:rPr>
              <a:t>Baldivis</a:t>
            </a:r>
            <a:r>
              <a:rPr lang="en" dirty="0">
                <a:latin typeface="Open Sans"/>
                <a:ea typeface="Open Sans"/>
                <a:cs typeface="Open Sans"/>
                <a:sym typeface="Open Sans"/>
              </a:rPr>
              <a:t>? </a:t>
            </a:r>
            <a:endParaRPr dirty="0">
              <a:latin typeface="Open Sans"/>
              <a:ea typeface="Open Sans"/>
              <a:cs typeface="Open Sans"/>
              <a:sym typeface="Open Sans"/>
            </a:endParaRPr>
          </a:p>
          <a:p>
            <a:pPr>
              <a:buFont typeface="Open Sans"/>
              <a:buChar char="●"/>
            </a:pPr>
            <a:r>
              <a:rPr lang="en" dirty="0">
                <a:latin typeface="Open Sans"/>
                <a:ea typeface="Open Sans"/>
                <a:cs typeface="Open Sans"/>
                <a:sym typeface="Open Sans"/>
              </a:rPr>
              <a:t>How many drops of water are there in the Indian Ocean?</a:t>
            </a:r>
            <a:endParaRPr dirty="0">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270</TotalTime>
  <Words>1390</Words>
  <Application>Microsoft Macintosh PowerPoint</Application>
  <PresentationFormat>On-screen Show (16:9)</PresentationFormat>
  <Paragraphs>126</Paragraphs>
  <Slides>31</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Architects Daughter</vt:lpstr>
      <vt:lpstr>Times New Roman</vt:lpstr>
      <vt:lpstr>Spectral</vt:lpstr>
      <vt:lpstr>Arial</vt:lpstr>
      <vt:lpstr>Open Sans</vt:lpstr>
      <vt:lpstr>Simple Light</vt:lpstr>
      <vt:lpstr>PowerPoint Presentation</vt:lpstr>
      <vt:lpstr>Meet Enrico Fermi (1901-1954)</vt:lpstr>
      <vt:lpstr>Fermi Questions</vt:lpstr>
      <vt:lpstr>PowerPoint Presentation</vt:lpstr>
      <vt:lpstr>Skills Needed to Solve Fermi Questions</vt:lpstr>
      <vt:lpstr>What is Critical Thinking?</vt:lpstr>
      <vt:lpstr>Goals for Fermi Questions</vt:lpstr>
      <vt:lpstr>5 Steps for Answering Fermi Questions</vt:lpstr>
      <vt:lpstr>Step 1: Question</vt:lpstr>
      <vt:lpstr>Step 2: Wild Guess</vt:lpstr>
      <vt:lpstr>Step 3: Educated Guess</vt:lpstr>
      <vt:lpstr>Step 4: Gathering Data</vt:lpstr>
      <vt:lpstr>Step 5: Conclusions</vt:lpstr>
      <vt:lpstr>PowerPoint Presentation</vt:lpstr>
      <vt:lpstr>Step 1: Question State the questions and clarify the interpretation. </vt:lpstr>
      <vt:lpstr>Step 2: Wild Guess Make a wild guess involving no calculations.</vt:lpstr>
      <vt:lpstr>Step 3: Educated Guess  Make an educated guess using a chain of logic to come up with an estimate. List some questions you would need to answer to figure out the Fermi Problem. </vt:lpstr>
      <vt:lpstr>Step 4: Gathering Data Perform experiments, conduct surveys and make measurements. If appropriate, create and use formulas.</vt:lpstr>
      <vt:lpstr>Step 4: Gathering Data, continued (optional)  Perform experiments, conduct surveys and make measurements. If appropriate, create and use formulas.</vt:lpstr>
      <vt:lpstr>Step 6: Conclusion State your final answer. Discuss possible sources of error, interesting facts learned and possible extensions.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Some more Fermi Problems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SUMMERS Brad [Baldivis Secondary College]</cp:lastModifiedBy>
  <cp:revision>6</cp:revision>
  <dcterms:modified xsi:type="dcterms:W3CDTF">2020-02-12T13:05:14Z</dcterms:modified>
</cp:coreProperties>
</file>
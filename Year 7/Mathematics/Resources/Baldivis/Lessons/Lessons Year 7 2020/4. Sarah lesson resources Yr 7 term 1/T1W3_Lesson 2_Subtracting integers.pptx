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328" r:id="rId3"/>
    <p:sldId id="330" r:id="rId4"/>
    <p:sldId id="329" r:id="rId5"/>
    <p:sldId id="331" r:id="rId6"/>
    <p:sldId id="332" r:id="rId7"/>
    <p:sldId id="333" r:id="rId8"/>
    <p:sldId id="334" r:id="rId9"/>
    <p:sldId id="33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072" autoAdjust="0"/>
  </p:normalViewPr>
  <p:slideViewPr>
    <p:cSldViewPr snapToGrid="0">
      <p:cViewPr varScale="1">
        <p:scale>
          <a:sx n="45" d="100"/>
          <a:sy n="45" d="100"/>
        </p:scale>
        <p:origin x="768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09902-9679-45DD-9AAB-0D884E90B3FE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B7A18-A8DC-48BF-BE12-F3E5BE7672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88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-1+-13= -14/2=-7</a:t>
            </a:r>
          </a:p>
          <a:p>
            <a:endParaRPr lang="en-US" dirty="0"/>
          </a:p>
          <a:p>
            <a:r>
              <a:rPr lang="en-US" dirty="0"/>
              <a:t>7+-19= -12/2=-6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428BFF-4426-49DB-B8CB-D6FEC99F37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6284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/>
              <a:t>23 – 58</a:t>
            </a:r>
            <a:endParaRPr lang="en-AU" sz="1200" dirty="0"/>
          </a:p>
          <a:p>
            <a:pPr marL="0" indent="0">
              <a:buNone/>
            </a:pPr>
            <a:r>
              <a:rPr lang="en-US" sz="1200" dirty="0"/>
              <a:t>= 20 – 50        +        3 – 8</a:t>
            </a:r>
            <a:endParaRPr lang="en-AU" sz="1200" dirty="0"/>
          </a:p>
          <a:p>
            <a:pPr marL="0" indent="0">
              <a:buNone/>
            </a:pPr>
            <a:r>
              <a:rPr lang="en-US" sz="1200" dirty="0"/>
              <a:t>=   -30                           -5</a:t>
            </a:r>
            <a:endParaRPr lang="en-AU" sz="1200" dirty="0"/>
          </a:p>
          <a:p>
            <a:pPr marL="0" indent="0">
              <a:buNone/>
            </a:pPr>
            <a:r>
              <a:rPr lang="en-US" sz="1200" dirty="0"/>
              <a:t>                  = -35</a:t>
            </a:r>
            <a:endParaRPr lang="en-AU" sz="1200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B7A18-A8DC-48BF-BE12-F3E5BE7672A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297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E.g.     28 – 53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(separate tens and ones)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20 – 50         +             8 – 3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-30                 +              5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=-25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B7A18-A8DC-48BF-BE12-F3E5BE7672A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3995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How am I going to separate off 27?</a:t>
            </a:r>
          </a:p>
          <a:p>
            <a:pPr marL="0" indent="0">
              <a:buNone/>
            </a:pPr>
            <a:r>
              <a:rPr lang="en-US" sz="1200" dirty="0"/>
              <a:t> I can get rid of 5 ones but still need to get 22 and can’t break 10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How could I make 45 differently from tens and ones?</a:t>
            </a:r>
          </a:p>
          <a:p>
            <a:pPr marL="0" indent="0">
              <a:buNone/>
            </a:pPr>
            <a:r>
              <a:rPr lang="en-US" sz="1200" dirty="0"/>
              <a:t>30 + 15</a:t>
            </a:r>
            <a:endParaRPr lang="en-AU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B7A18-A8DC-48BF-BE12-F3E5BE7672AC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066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B7A18-A8DC-48BF-BE12-F3E5BE7672AC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135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700B-1F90-433F-8252-1293B5CFA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BF278-EB45-42F4-A097-9E965D019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71895-5EE8-43F2-BDF8-5FB735F5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F14AA-A70A-45E7-B4C4-7B79D27C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253CC-E1CF-46F7-BC53-4AE52A2C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06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FD6E-92C1-4AAB-A6FA-F05F31D3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4865F-54C9-455D-911E-D35FA0D0E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8540B-74E5-49E0-ACAF-8CDA681D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31356-D9DD-4014-8FCC-EF7C2840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740FE-D64A-48B8-B49D-6D545D994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11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106F-CF70-43AC-AF2E-3B22A16F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AC79A-B1DA-43ED-8FFA-8B06604BE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C2CE2-D6A8-4DB9-A020-2B05F564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D1F5-542F-4A09-93FC-9A736665E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D3605-5858-4C68-83FF-3B9914DA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688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0064-1E50-4677-BD2D-7CCACE97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92A0-334C-4F78-AD2B-0199668C5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D2087-7D02-4171-8B60-7C5D0989C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BD4B9-0320-406A-8CCC-97A398A82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A5686-F305-4EF6-9CD3-41FEA371F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61282-B11B-4BF8-8A13-DE8388E4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91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43E0-A69C-47FA-9927-C76DED7E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42159-2969-4CD6-87A0-587B664D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FE743-568B-4CFE-967A-B7BB4C1EA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8E8C4-E082-4AFF-AD27-960107AFE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2C598-2C3B-4821-A492-A09E270B5E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092D29-5809-45CA-89DC-AC1B7ED96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AD93C7-BABA-4FDB-BEAD-AEFC4DAD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96E530-B01B-48C6-9E1C-6AE934EE1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702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A8570-5FEB-404A-BA9D-FC766736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59C2A-EF14-47DF-BDFB-88A4C7DA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69C70-B17E-4B82-9480-ADEA5A6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72749-41A6-4AD6-8726-B1058EA6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717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6F817-62C2-47A9-AA23-1A9116C90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6624B-746D-4D13-BABD-85F68511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78BDC-77D7-425A-AC44-3C324CF55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21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811DB-FB2D-467D-ABE7-932325AB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36EE7-0D26-4152-870B-8B7CF8B9E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E4A0-55C9-44C4-8011-8C6AFCC74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B4BBA-EB51-4311-9A1C-E19EF0B5B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AF14E-0D99-430D-920D-8F45DD16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52B44-A7C8-46CA-AFA7-E21CC33B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496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C490-A7F3-45E9-A574-12E727E3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8E69B-015E-47EC-9502-C1F6D9929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9D8A2-F807-4AB7-AB3C-07B905F35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BAF70-8A6A-4E55-BB3E-3C6EC15A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0AD48-547F-47DE-BDFD-6CE7C9DA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82E1D-FC93-4AC9-8D6D-1B705ECF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821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1AD4F-5883-4F25-96CA-DBE49644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C285D-FF05-48AB-8A29-207CF2223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82E52-2AEE-47A7-B09F-741B4E76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1966-9F75-4530-9F9A-255AD206D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96A1E-9ABE-4668-8595-1DBE7218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119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EF4C24-35F9-43EC-B161-BA0E94BAC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9E437-8D8D-49E1-8097-8FA504D14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C6535-E96C-40C4-BE32-EB16ADBD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E6633-3773-4F8C-A9CD-BCAA9388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E13F0-710E-4223-8997-C52755BA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48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6F590-F738-4A5D-A6D5-C75B65197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CFB996-4E64-40ED-8198-EB04F0EB5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93283-85B0-43FE-ADA8-6FA47CBB4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98DF1-A88D-4FD5-B552-D8E9BCDB91A5}" type="datetimeFigureOut">
              <a:rPr lang="en-AU" smtClean="0"/>
              <a:t>17/02/2020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59F4-3B7B-4799-9FCA-58FC3CD28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4E76B-471F-4AA9-A179-9E113A17F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63D9D7-EC60-404D-B690-1680FA0688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301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Integers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035716"/>
            <a:ext cx="9725025" cy="642703"/>
          </a:xfrm>
        </p:spPr>
        <p:txBody>
          <a:bodyPr>
            <a:normAutofit fontScale="92500"/>
          </a:bodyPr>
          <a:lstStyle/>
          <a:p>
            <a:r>
              <a:rPr lang="en-US" dirty="0"/>
              <a:t>EQ: How do we use patterns of tens and ones to calculate subtraction problems?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318955"/>
            <a:ext cx="1164656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Complete on working-out side: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Using the pattern we learned yesterday solve:</a:t>
            </a:r>
          </a:p>
          <a:p>
            <a:pPr marL="800100" lvl="1" indent="-342900">
              <a:buAutoNum type="alphaLcParenR"/>
            </a:pPr>
            <a:r>
              <a:rPr lang="en-US" dirty="0"/>
              <a:t>356+ 310</a:t>
            </a:r>
          </a:p>
          <a:p>
            <a:pPr marL="800100" lvl="1" indent="-342900">
              <a:buAutoNum type="alphaLcParenR"/>
            </a:pPr>
            <a:r>
              <a:rPr lang="en-US" dirty="0"/>
              <a:t>429+ 134</a:t>
            </a:r>
          </a:p>
          <a:p>
            <a:pPr marL="800100" lvl="1" indent="-342900">
              <a:buAutoNum type="alphaLcParenR"/>
            </a:pPr>
            <a:r>
              <a:rPr lang="en-US" dirty="0"/>
              <a:t>658+521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B310B-9F92-4B81-99EC-BD6C5E6470F3}"/>
              </a:ext>
            </a:extLst>
          </p:cNvPr>
          <p:cNvSpPr txBox="1"/>
          <p:nvPr/>
        </p:nvSpPr>
        <p:spPr>
          <a:xfrm>
            <a:off x="4431973" y="2712648"/>
            <a:ext cx="282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 number line and fold</a:t>
            </a:r>
          </a:p>
          <a:p>
            <a:r>
              <a:rPr lang="en-US" dirty="0"/>
              <a:t>Put in library section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  <a:r>
              <a:rPr lang="en-US" sz="6400" dirty="0"/>
              <a:t>56 – 27 </a:t>
            </a:r>
          </a:p>
          <a:p>
            <a:pPr marL="0" indent="0">
              <a:buNone/>
            </a:pPr>
            <a:endParaRPr lang="en-AU" sz="6400" dirty="0"/>
          </a:p>
          <a:p>
            <a:pPr marL="0" indent="0">
              <a:buNone/>
            </a:pPr>
            <a:r>
              <a:rPr lang="en-AU" sz="6400" dirty="0"/>
              <a:t>An easy way is to </a:t>
            </a:r>
            <a:r>
              <a:rPr lang="en-US" sz="6400" dirty="0"/>
              <a:t>separate tens and ones:</a:t>
            </a:r>
            <a:br>
              <a:rPr lang="en-US" sz="6400" dirty="0"/>
            </a:br>
            <a:endParaRPr lang="en-AU" sz="6400" dirty="0"/>
          </a:p>
          <a:p>
            <a:pPr marL="0" indent="0">
              <a:buNone/>
            </a:pPr>
            <a:r>
              <a:rPr lang="en-US" sz="6400" dirty="0"/>
              <a:t>= 50 – 20    +      6 – 7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=     30                     -1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                 = 29</a:t>
            </a:r>
            <a:endParaRPr lang="en-AU" sz="6400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B310B-9F92-4B81-99EC-BD6C5E6470F3}"/>
              </a:ext>
            </a:extLst>
          </p:cNvPr>
          <p:cNvSpPr txBox="1"/>
          <p:nvPr/>
        </p:nvSpPr>
        <p:spPr>
          <a:xfrm>
            <a:off x="4610100" y="3733800"/>
            <a:ext cx="282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using 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884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6400" dirty="0"/>
              <a:t>Let’s do together once more</a:t>
            </a:r>
            <a:r>
              <a:rPr lang="en-US" sz="6400" dirty="0">
                <a:sym typeface="Wingdings" panose="05000000000000000000" pitchFamily="2" charset="2"/>
              </a:rPr>
              <a:t> together</a:t>
            </a:r>
            <a:br>
              <a:rPr lang="en-US" sz="6400" dirty="0">
                <a:sym typeface="Wingdings" panose="05000000000000000000" pitchFamily="2" charset="2"/>
              </a:rPr>
            </a:br>
            <a:endParaRPr lang="en-US" sz="6400" dirty="0"/>
          </a:p>
          <a:p>
            <a:pPr marL="0" indent="0">
              <a:buNone/>
            </a:pPr>
            <a:r>
              <a:rPr lang="en-US" sz="6600" dirty="0"/>
              <a:t> </a:t>
            </a:r>
            <a:r>
              <a:rPr lang="en-US" sz="6400" dirty="0"/>
              <a:t>73 – 55 </a:t>
            </a:r>
          </a:p>
          <a:p>
            <a:pPr marL="0" indent="0">
              <a:buNone/>
            </a:pPr>
            <a:endParaRPr lang="en-AU" sz="6400" dirty="0"/>
          </a:p>
          <a:p>
            <a:pPr marL="0" indent="0">
              <a:buNone/>
            </a:pPr>
            <a:r>
              <a:rPr lang="en-US" sz="6400" dirty="0"/>
              <a:t>= 70 – 50    +      3 – 5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=     20                     -2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                = 18</a:t>
            </a:r>
            <a:endParaRPr lang="en-AU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B310B-9F92-4B81-99EC-BD6C5E6470F3}"/>
              </a:ext>
            </a:extLst>
          </p:cNvPr>
          <p:cNvSpPr txBox="1"/>
          <p:nvPr/>
        </p:nvSpPr>
        <p:spPr>
          <a:xfrm>
            <a:off x="4541298" y="4139870"/>
            <a:ext cx="282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using 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783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6400" dirty="0"/>
              <a:t>You do:</a:t>
            </a:r>
            <a:br>
              <a:rPr lang="en-US" sz="6400" dirty="0">
                <a:sym typeface="Wingdings" panose="05000000000000000000" pitchFamily="2" charset="2"/>
              </a:rPr>
            </a:br>
            <a:endParaRPr lang="en-US" sz="6400" dirty="0"/>
          </a:p>
          <a:p>
            <a:pPr marL="0" indent="0">
              <a:buNone/>
            </a:pPr>
            <a:r>
              <a:rPr lang="en-US" sz="6600" dirty="0"/>
              <a:t> </a:t>
            </a:r>
            <a:r>
              <a:rPr lang="en-US" sz="6400" dirty="0"/>
              <a:t>56 – 49</a:t>
            </a:r>
          </a:p>
          <a:p>
            <a:pPr marL="0" indent="0">
              <a:buNone/>
            </a:pPr>
            <a:endParaRPr lang="en-AU" sz="6400" dirty="0"/>
          </a:p>
          <a:p>
            <a:pPr marL="0" indent="0">
              <a:buNone/>
            </a:pPr>
            <a:r>
              <a:rPr lang="en-US" sz="6400" dirty="0"/>
              <a:t>= 50 – 40    +      6 – 9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=     10                     -3</a:t>
            </a:r>
            <a:endParaRPr lang="en-AU" sz="6400" dirty="0"/>
          </a:p>
          <a:p>
            <a:pPr marL="0" indent="0">
              <a:buNone/>
            </a:pPr>
            <a:r>
              <a:rPr lang="en-US" sz="6400" dirty="0"/>
              <a:t>                  = 7</a:t>
            </a:r>
            <a:endParaRPr lang="en-AU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B310B-9F92-4B81-99EC-BD6C5E6470F3}"/>
              </a:ext>
            </a:extLst>
          </p:cNvPr>
          <p:cNvSpPr txBox="1"/>
          <p:nvPr/>
        </p:nvSpPr>
        <p:spPr>
          <a:xfrm>
            <a:off x="4541298" y="4139870"/>
            <a:ext cx="282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using 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1708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6400" dirty="0"/>
              <a:t>A bit harder. Use number line if you need</a:t>
            </a:r>
            <a:br>
              <a:rPr lang="en-US" sz="6400" dirty="0">
                <a:sym typeface="Wingdings" panose="05000000000000000000" pitchFamily="2" charset="2"/>
              </a:rPr>
            </a:br>
            <a:endParaRPr lang="en-US" sz="6400" dirty="0"/>
          </a:p>
          <a:p>
            <a:pPr marL="0" indent="0">
              <a:buNone/>
            </a:pPr>
            <a:r>
              <a:rPr lang="en-US" sz="7200" dirty="0"/>
              <a:t>23 – 58</a:t>
            </a:r>
            <a:endParaRPr lang="en-AU" sz="72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657F9C-1C53-448D-ADA7-41451B7ABC03}"/>
              </a:ext>
            </a:extLst>
          </p:cNvPr>
          <p:cNvSpPr txBox="1"/>
          <p:nvPr/>
        </p:nvSpPr>
        <p:spPr>
          <a:xfrm>
            <a:off x="7962900" y="2667000"/>
            <a:ext cx="2309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is this question a little more difficult?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24B56-FB10-45CD-B0F1-569E7AF9815F}"/>
              </a:ext>
            </a:extLst>
          </p:cNvPr>
          <p:cNvSpPr txBox="1"/>
          <p:nvPr/>
        </p:nvSpPr>
        <p:spPr>
          <a:xfrm>
            <a:off x="4681541" y="5609897"/>
            <a:ext cx="282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using 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762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6400" dirty="0"/>
              <a:t>You do. Use number line if you need</a:t>
            </a:r>
            <a:br>
              <a:rPr lang="en-US" sz="6400" dirty="0">
                <a:sym typeface="Wingdings" panose="05000000000000000000" pitchFamily="2" charset="2"/>
              </a:rPr>
            </a:br>
            <a:endParaRPr lang="en-US" sz="6400" dirty="0"/>
          </a:p>
          <a:p>
            <a:pPr marL="0" indent="0">
              <a:buNone/>
            </a:pPr>
            <a:r>
              <a:rPr lang="en-US" sz="7200" dirty="0"/>
              <a:t>28 – 53</a:t>
            </a:r>
            <a:endParaRPr lang="en-AU" sz="72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24B56-FB10-45CD-B0F1-569E7AF9815F}"/>
              </a:ext>
            </a:extLst>
          </p:cNvPr>
          <p:cNvSpPr txBox="1"/>
          <p:nvPr/>
        </p:nvSpPr>
        <p:spPr>
          <a:xfrm>
            <a:off x="4681541" y="5609897"/>
            <a:ext cx="282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using calculator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560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249316" y="1952918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4541298" y="1893405"/>
            <a:ext cx="6167656" cy="891879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6400" dirty="0"/>
              <a:t>Here is what 45 looks like using MAB blocks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How am I going to separate off 27?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How could I make 45 differently from tens and ones?</a:t>
            </a:r>
            <a:endParaRPr lang="en-AU" sz="72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572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645544" y="198713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357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3" y="1063437"/>
            <a:ext cx="10548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How do we use patterns of tens and ones to calculate addition problems?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3669761" y="1961057"/>
            <a:ext cx="7465386" cy="891879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200" dirty="0"/>
              <a:t> </a:t>
            </a:r>
            <a:r>
              <a:rPr lang="en-US" sz="3800" dirty="0"/>
              <a:t>This is how we could write the steps we just did using numbers: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AU" sz="72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37F1C02F-B44D-4280-B8BE-DABFFCC40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004261"/>
              </p:ext>
            </p:extLst>
          </p:nvPr>
        </p:nvGraphicFramePr>
        <p:xfrm>
          <a:off x="3318520" y="3813862"/>
          <a:ext cx="332516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90">
                  <a:extLst>
                    <a:ext uri="{9D8B030D-6E8A-4147-A177-3AD203B41FA5}">
                      <a16:colId xmlns:a16="http://schemas.microsoft.com/office/drawing/2014/main" val="3438282341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1844115459"/>
                    </a:ext>
                  </a:extLst>
                </a:gridCol>
                <a:gridCol w="1388840">
                  <a:extLst>
                    <a:ext uri="{9D8B030D-6E8A-4147-A177-3AD203B41FA5}">
                      <a16:colId xmlns:a16="http://schemas.microsoft.com/office/drawing/2014/main" val="802967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AU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95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2923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06339"/>
                  </a:ext>
                </a:extLst>
              </a:tr>
            </a:tbl>
          </a:graphicData>
        </a:graphic>
      </p:graphicFrame>
      <p:sp>
        <p:nvSpPr>
          <p:cNvPr id="8" name="Arrow: Right 7">
            <a:extLst>
              <a:ext uri="{FF2B5EF4-FFF2-40B4-BE49-F238E27FC236}">
                <a16:creationId xmlns:a16="http://schemas.microsoft.com/office/drawing/2014/main" id="{F77DA472-75EC-4FF4-BFE8-C487A68513FB}"/>
              </a:ext>
            </a:extLst>
          </p:cNvPr>
          <p:cNvSpPr/>
          <p:nvPr/>
        </p:nvSpPr>
        <p:spPr>
          <a:xfrm>
            <a:off x="6800850" y="4343400"/>
            <a:ext cx="1414463" cy="20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4C55C7D4-84BE-4119-BC8C-3321A1C78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390097"/>
              </p:ext>
            </p:extLst>
          </p:nvPr>
        </p:nvGraphicFramePr>
        <p:xfrm>
          <a:off x="8414395" y="3813862"/>
          <a:ext cx="332516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190">
                  <a:extLst>
                    <a:ext uri="{9D8B030D-6E8A-4147-A177-3AD203B41FA5}">
                      <a16:colId xmlns:a16="http://schemas.microsoft.com/office/drawing/2014/main" val="3438282341"/>
                    </a:ext>
                  </a:extLst>
                </a:gridCol>
                <a:gridCol w="1100138">
                  <a:extLst>
                    <a:ext uri="{9D8B030D-6E8A-4147-A177-3AD203B41FA5}">
                      <a16:colId xmlns:a16="http://schemas.microsoft.com/office/drawing/2014/main" val="1844115459"/>
                    </a:ext>
                  </a:extLst>
                </a:gridCol>
                <a:gridCol w="1388840">
                  <a:extLst>
                    <a:ext uri="{9D8B030D-6E8A-4147-A177-3AD203B41FA5}">
                      <a16:colId xmlns:a16="http://schemas.microsoft.com/office/drawing/2014/main" val="8029679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AU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952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29239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AU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40633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95BDF82-1D7F-4C32-8584-AD3874E8A209}"/>
              </a:ext>
            </a:extLst>
          </p:cNvPr>
          <p:cNvSpPr txBox="1"/>
          <p:nvPr/>
        </p:nvSpPr>
        <p:spPr>
          <a:xfrm>
            <a:off x="6547383" y="3888051"/>
            <a:ext cx="217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Let’s change to this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332584D-92E8-4BDF-95FF-ABB40A742A70}"/>
              </a:ext>
            </a:extLst>
          </p:cNvPr>
          <p:cNvSpPr txBox="1">
            <a:spLocks/>
          </p:cNvSpPr>
          <p:nvPr/>
        </p:nvSpPr>
        <p:spPr>
          <a:xfrm>
            <a:off x="3775388" y="5876552"/>
            <a:ext cx="7465386" cy="891879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200" dirty="0"/>
              <a:t> </a:t>
            </a:r>
            <a:r>
              <a:rPr lang="en-US" sz="3800" dirty="0"/>
              <a:t>Work through subtracting large numbers worksheet. Glue into your interactive notebook</a:t>
            </a: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AU" sz="72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58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animBg="1"/>
      <p:bldP spid="13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565</Words>
  <Application>Microsoft Office PowerPoint</Application>
  <PresentationFormat>Widescreen</PresentationFormat>
  <Paragraphs>177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Topic: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Integers</dc:title>
  <dc:creator>Sarah James</dc:creator>
  <cp:lastModifiedBy>Sarah James</cp:lastModifiedBy>
  <cp:revision>5</cp:revision>
  <dcterms:created xsi:type="dcterms:W3CDTF">2020-02-17T11:56:34Z</dcterms:created>
  <dcterms:modified xsi:type="dcterms:W3CDTF">2020-02-17T12:49:46Z</dcterms:modified>
</cp:coreProperties>
</file>
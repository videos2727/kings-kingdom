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9" r:id="rId3"/>
    <p:sldId id="273" r:id="rId4"/>
    <p:sldId id="287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AF70A-7D16-44B7-9A56-D75EF933960B}" v="2" dt="2020-03-25T00:02:56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7B5AF70A-7D16-44B7-9A56-D75EF933960B}"/>
    <pc:docChg chg="custSel modSld">
      <pc:chgData name="Sarah James" userId="e5e3e68366f0feb3" providerId="LiveId" clId="{7B5AF70A-7D16-44B7-9A56-D75EF933960B}" dt="2020-03-25T00:03:00.093" v="6" actId="1076"/>
      <pc:docMkLst>
        <pc:docMk/>
      </pc:docMkLst>
      <pc:sldChg chg="addSp modSp mod">
        <pc:chgData name="Sarah James" userId="e5e3e68366f0feb3" providerId="LiveId" clId="{7B5AF70A-7D16-44B7-9A56-D75EF933960B}" dt="2020-03-25T00:03:00.093" v="6" actId="1076"/>
        <pc:sldMkLst>
          <pc:docMk/>
          <pc:sldMk cId="2999795506" sldId="279"/>
        </pc:sldMkLst>
        <pc:spChg chg="mod">
          <ac:chgData name="Sarah James" userId="e5e3e68366f0feb3" providerId="LiveId" clId="{7B5AF70A-7D16-44B7-9A56-D75EF933960B}" dt="2020-03-25T00:02:46.047" v="1" actId="1076"/>
          <ac:spMkLst>
            <pc:docMk/>
            <pc:sldMk cId="2999795506" sldId="279"/>
            <ac:spMk id="2" creationId="{DF9516C4-86C1-41E5-A8ED-04F9E5B307C1}"/>
          </ac:spMkLst>
        </pc:spChg>
        <pc:spChg chg="mod">
          <ac:chgData name="Sarah James" userId="e5e3e68366f0feb3" providerId="LiveId" clId="{7B5AF70A-7D16-44B7-9A56-D75EF933960B}" dt="2020-03-25T00:02:43.128" v="0" actId="1076"/>
          <ac:spMkLst>
            <pc:docMk/>
            <pc:sldMk cId="2999795506" sldId="279"/>
            <ac:spMk id="3" creationId="{3AD1C3C8-7EEF-4D92-A6BE-59E34F44F2F3}"/>
          </ac:spMkLst>
        </pc:spChg>
        <pc:spChg chg="add mod">
          <ac:chgData name="Sarah James" userId="e5e3e68366f0feb3" providerId="LiveId" clId="{7B5AF70A-7D16-44B7-9A56-D75EF933960B}" dt="2020-03-25T00:02:50.760" v="4" actId="1076"/>
          <ac:spMkLst>
            <pc:docMk/>
            <pc:sldMk cId="2999795506" sldId="279"/>
            <ac:spMk id="4" creationId="{5AD22348-5F08-4BFD-929B-3626987EC3E2}"/>
          </ac:spMkLst>
        </pc:spChg>
        <pc:spChg chg="add mod">
          <ac:chgData name="Sarah James" userId="e5e3e68366f0feb3" providerId="LiveId" clId="{7B5AF70A-7D16-44B7-9A56-D75EF933960B}" dt="2020-03-25T00:03:00.093" v="6" actId="1076"/>
          <ac:spMkLst>
            <pc:docMk/>
            <pc:sldMk cId="2999795506" sldId="279"/>
            <ac:spMk id="5" creationId="{9A494749-0ACE-47EB-B21A-B001524157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FD440-41EF-4D8C-AD48-A90E6FBFB820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C95D8-95C8-43B9-9A9D-8BDD557A3D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771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2232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1/4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2/4=2/8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920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706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02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10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17B0-6926-483F-BCD4-55E36488D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9E7AA-A301-4B8C-902D-4F5235991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5FE1A-159B-44FC-A84A-F1DA1B42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1CC12-A528-4CCC-9F60-D056F9A6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F199-1267-4C3A-9E44-EFEF937C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144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D39F-C3F3-4B5A-9780-5A0706B7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B93DC-EFAF-48A0-A51C-343C8FF51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EFCBA-D63D-4AD9-B672-382EFE7A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7CCB8-E5D8-423B-B121-1991054A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1FD30-AA4D-4482-AB06-A9F93AEF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04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6EBC-93B0-4920-AA9F-3C2F642F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E141B-2D58-4641-94AF-7F21C4CB3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BD6AB-4B31-4397-B04A-77AF0EFF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FDE13-99AD-4D6F-8C45-4BE1FEFB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F69CF-EBED-4054-BF74-4EF6A383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41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0B9B-886B-483E-9D59-4CD0F816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AC0F9-5CDE-4E8F-9D2E-F8964107E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2823-4150-4BF9-9F5E-F3F4FA544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8DDEC-7105-4502-AA7C-B4A4BB1F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4D72-B88B-4733-B4CD-743536F2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D58C1-4500-49E9-9B82-D53BD7FD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431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280E-6176-49C1-9A7E-4A30DE49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94821-1242-4CC6-98F1-F90C0D4DB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F4834-8C24-44B8-9720-169837C5E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E4666-76C5-4E52-A33A-CD65B3387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DEF96F-65F9-4A45-A932-A003ECEE8E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E1D9B-7BFB-42FD-A3A9-C4D4B6A0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C3C66-C272-4888-B265-3E55AD56A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958D9-668E-4EA4-9E2E-5A22F97D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115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1E42-FB5B-4B4B-927A-FC655863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0FB95-B80A-47E9-A1D3-348D3AD9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707C2-7A2C-45C3-B4FF-99439A13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AFBA1-80CC-4927-A3AD-5B813226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30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A187D-7F4C-4FB9-87FA-7FCFE0FA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5A696-92CA-4EF3-8898-A009C9D2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AB11F-8D04-421C-95D1-63075229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49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ACF3-503D-47B9-9E8C-FE707485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2963-24D5-4037-BB10-281BE4F8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C3CEC-6789-49DE-9623-6CE32D24D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05653-0C73-4ADE-951D-9E2C28E3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6E5BE-C52D-4903-B594-6E5DCBF3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4C9D3-5363-414F-924E-48F4E80F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91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416F-BED6-4A3E-A718-6370687AD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18968E-A6A0-457C-94DA-E1E0C340C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91249-4ADD-4EDA-90C5-D737A1F3F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4022F-4192-47E7-8469-A943073C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1DCE-741A-426F-BD80-757BB490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F27C2-2E09-4415-9DD7-30350352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4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2168-FDDC-43F6-A173-0E5E73E6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3AB1A-D52B-4E68-AFEF-78A5D59FE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317C2-FA15-4BBF-B928-7FB6F5DC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9D944-A722-4BFA-A5D1-B0276893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745AE-5079-4BB8-ABE7-03D20273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544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4706E-766D-429F-A800-918B6339B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0441D-BBBF-427F-A0AE-BBE4EFEB6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0AA6C-7313-44E2-A897-C727F61F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12A23-2ADE-42D4-B46C-035815F9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4DCA6-3155-4256-B1F3-2F283407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642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F44344-A98C-4D5E-8DF6-92E9E77A3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8B895-755F-4286-9586-500E0B9AB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53139-EEFA-40AF-9610-BD61F8AB7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7A474-8AC3-44A9-8A1C-89C7AF7AC505}" type="datetimeFigureOut">
              <a:rPr lang="en-AU" smtClean="0"/>
              <a:t>25/03/2020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2676D-C458-4736-B3E2-EFE133870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D86F4-23A1-4D67-894C-9569D98D9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C5884-DD56-4305-9F55-F7CD11E0F2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8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4ghdMifXuFE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8057" y="2376540"/>
            <a:ext cx="10955886" cy="85243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711" y="3228976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multiply </a:t>
            </a:r>
            <a:r>
              <a:rPr lang="en-US" dirty="0"/>
              <a:t>fractions? 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16C4-86C1-41E5-A8ED-04F9E5B3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2605087"/>
            <a:ext cx="10515600" cy="1325563"/>
          </a:xfrm>
        </p:spPr>
        <p:txBody>
          <a:bodyPr/>
          <a:lstStyle/>
          <a:p>
            <a:r>
              <a:rPr lang="en-AU" dirty="0"/>
              <a:t>Warm Up Questions: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3930650"/>
                <a:ext cx="10515600" cy="4351338"/>
              </a:xfrm>
            </p:spPr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en-AU" sz="2400" dirty="0"/>
                  <a:t>Convert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to an improper fraction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2400" dirty="0"/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to a mixed number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2400" dirty="0"/>
                  <a:t>Three friends share a pizza. Kate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/>
                  <a:t> of the pizza, Archie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/>
                  <a:t> of the remainder and Luke eats the rest. What fraction does Luke eat?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3930650"/>
                <a:ext cx="10515600" cy="4351338"/>
              </a:xfrm>
              <a:blipFill>
                <a:blip r:embed="rId2"/>
                <a:stretch>
                  <a:fillRect l="-928" t="-4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AD22348-5F08-4BFD-929B-3626987EC3E2}"/>
              </a:ext>
            </a:extLst>
          </p:cNvPr>
          <p:cNvSpPr txBox="1">
            <a:spLocks/>
          </p:cNvSpPr>
          <p:nvPr/>
        </p:nvSpPr>
        <p:spPr>
          <a:xfrm>
            <a:off x="638175" y="319140"/>
            <a:ext cx="10955886" cy="852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Fractions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A494749-0ACE-47EB-B21A-B0015241570C}"/>
              </a:ext>
            </a:extLst>
          </p:cNvPr>
          <p:cNvSpPr txBox="1">
            <a:spLocks/>
          </p:cNvSpPr>
          <p:nvPr/>
        </p:nvSpPr>
        <p:spPr>
          <a:xfrm>
            <a:off x="638175" y="1354931"/>
            <a:ext cx="11089232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EQ: How do we multiply </a:t>
            </a:r>
            <a:r>
              <a:rPr lang="en-US"/>
              <a:t>fractions?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79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6528" y="1340769"/>
            <a:ext cx="1825014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The Strip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063552" y="1318107"/>
                <a:ext cx="8784976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If you had a strip of paper and you shaded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of the strip 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1318107"/>
                <a:ext cx="8784976" cy="1016689"/>
              </a:xfrm>
              <a:prstGeom prst="rect">
                <a:avLst/>
              </a:prstGeom>
              <a:blipFill>
                <a:blip r:embed="rId3"/>
                <a:stretch>
                  <a:fillRect l="-11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20F1F17-51BB-4C22-B892-61724953978F}"/>
              </a:ext>
            </a:extLst>
          </p:cNvPr>
          <p:cNvSpPr/>
          <p:nvPr/>
        </p:nvSpPr>
        <p:spPr>
          <a:xfrm>
            <a:off x="4439817" y="2208932"/>
            <a:ext cx="6552724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D282F-01C6-4D9D-8003-54FE54907B94}"/>
              </a:ext>
            </a:extLst>
          </p:cNvPr>
          <p:cNvSpPr/>
          <p:nvPr/>
        </p:nvSpPr>
        <p:spPr>
          <a:xfrm>
            <a:off x="4439817" y="2208932"/>
            <a:ext cx="2160232" cy="1440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55F8B-5E80-4DE6-B1D3-BED40E9AA1F6}"/>
              </a:ext>
            </a:extLst>
          </p:cNvPr>
          <p:cNvSpPr/>
          <p:nvPr/>
        </p:nvSpPr>
        <p:spPr>
          <a:xfrm>
            <a:off x="6600049" y="2208931"/>
            <a:ext cx="2160232" cy="144016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/>
              <p:nvPr/>
            </p:nvSpPr>
            <p:spPr>
              <a:xfrm>
                <a:off x="2207567" y="3790922"/>
                <a:ext cx="8136902" cy="1144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FF0000"/>
                    </a:solidFill>
                  </a:rPr>
                  <a:t>Now you are told to shade in a darker colour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srgbClr val="FF0000"/>
                    </a:solidFill>
                  </a:rPr>
                  <a:t> of your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srgbClr val="FF0000"/>
                    </a:solidFill>
                  </a:rPr>
                  <a:t> strip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>
                    <a:solidFill>
                      <a:srgbClr val="FF0000"/>
                    </a:solidFill>
                  </a:rPr>
                  <a:t>The final shaded amount is your answer  - What do you think it is?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7" y="3790922"/>
                <a:ext cx="8136902" cy="1144737"/>
              </a:xfrm>
              <a:prstGeom prst="rect">
                <a:avLst/>
              </a:prstGeom>
              <a:blipFill>
                <a:blip r:embed="rId4"/>
                <a:stretch>
                  <a:fillRect l="-749" b="-85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74C1287-C9DE-4347-B1D7-2CE3BEEEB355}"/>
              </a:ext>
            </a:extLst>
          </p:cNvPr>
          <p:cNvSpPr/>
          <p:nvPr/>
        </p:nvSpPr>
        <p:spPr>
          <a:xfrm>
            <a:off x="4439818" y="3225622"/>
            <a:ext cx="4320455" cy="4194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8AFAF1-D8D6-4F36-BB45-AB8872DB0F26}"/>
              </a:ext>
            </a:extLst>
          </p:cNvPr>
          <p:cNvGrpSpPr/>
          <p:nvPr/>
        </p:nvGrpSpPr>
        <p:grpSpPr>
          <a:xfrm>
            <a:off x="4439817" y="2708920"/>
            <a:ext cx="4320464" cy="936102"/>
            <a:chOff x="4438229" y="2708920"/>
            <a:chExt cx="4320464" cy="93610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3C129E-7D45-4B1D-8EDD-642AFA7FD802}"/>
                </a:ext>
              </a:extLst>
            </p:cNvPr>
            <p:cNvCxnSpPr/>
            <p:nvPr/>
          </p:nvCxnSpPr>
          <p:spPr>
            <a:xfrm>
              <a:off x="4438229" y="3212976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24F7C1-B6DD-4445-AF59-9B3C94B9B6BC}"/>
                </a:ext>
              </a:extLst>
            </p:cNvPr>
            <p:cNvCxnSpPr/>
            <p:nvPr/>
          </p:nvCxnSpPr>
          <p:spPr>
            <a:xfrm>
              <a:off x="4438229" y="2708920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F645BF-4BA1-47F6-AA9D-4F8610488332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>
            <a:xfrm>
              <a:off x="6598457" y="3225621"/>
              <a:ext cx="0" cy="41940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05EC8-7D39-4A9F-8CE7-5716D925821E}"/>
              </a:ext>
            </a:extLst>
          </p:cNvPr>
          <p:cNvCxnSpPr/>
          <p:nvPr/>
        </p:nvCxnSpPr>
        <p:spPr>
          <a:xfrm>
            <a:off x="8760273" y="2708920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EAEB21-C9C1-4BFC-91B0-051F41945CD8}"/>
              </a:ext>
            </a:extLst>
          </p:cNvPr>
          <p:cNvCxnSpPr/>
          <p:nvPr/>
        </p:nvCxnSpPr>
        <p:spPr>
          <a:xfrm>
            <a:off x="8760273" y="3191341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/>
              <p:nvPr/>
            </p:nvSpPr>
            <p:spPr>
              <a:xfrm>
                <a:off x="5303913" y="5157193"/>
                <a:ext cx="1584173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3" y="5157193"/>
                <a:ext cx="1584173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 animBg="1"/>
      <p:bldP spid="6" grpId="0" animBg="1"/>
      <p:bldP spid="15" grpId="0" animBg="1"/>
      <p:bldP spid="12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6528" y="1340769"/>
            <a:ext cx="1825014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The Strip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010119" y="1090253"/>
                <a:ext cx="8784976" cy="135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Can you try:</a:t>
                </a:r>
              </a:p>
              <a:p>
                <a:r>
                  <a:rPr lang="en-AU" sz="2400" dirty="0">
                    <a:solidFill>
                      <a:srgbClr val="FF0000"/>
                    </a:solidFill>
                  </a:rPr>
                  <a:t>1. Shade in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3 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4 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of a strip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119" y="1090253"/>
                <a:ext cx="8784976" cy="1353447"/>
              </a:xfrm>
              <a:prstGeom prst="rect">
                <a:avLst/>
              </a:prstGeom>
              <a:blipFill>
                <a:blip r:embed="rId3"/>
                <a:stretch>
                  <a:fillRect l="-1110" t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/>
              <p:nvPr/>
            </p:nvSpPr>
            <p:spPr>
              <a:xfrm>
                <a:off x="2100703" y="3780233"/>
                <a:ext cx="8136902" cy="83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FF0000"/>
                    </a:solidFill>
                  </a:rPr>
                  <a:t>2. Now shade in a darker colour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srgbClr val="FF0000"/>
                    </a:solidFill>
                  </a:rPr>
                  <a:t> of your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srgbClr val="FF0000"/>
                    </a:solidFill>
                  </a:rPr>
                  <a:t> strip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703" y="3780233"/>
                <a:ext cx="8136902" cy="836639"/>
              </a:xfrm>
              <a:prstGeom prst="rect">
                <a:avLst/>
              </a:prstGeom>
              <a:blipFill>
                <a:blip r:embed="rId4"/>
                <a:stretch>
                  <a:fillRect l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/>
              <p:nvPr/>
            </p:nvSpPr>
            <p:spPr>
              <a:xfrm>
                <a:off x="10072671" y="6189472"/>
                <a:ext cx="1584173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671" y="6189472"/>
                <a:ext cx="1584173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12">
            <a:extLst>
              <a:ext uri="{FF2B5EF4-FFF2-40B4-BE49-F238E27FC236}">
                <a16:creationId xmlns:a16="http://schemas.microsoft.com/office/drawing/2014/main" id="{AA1CC689-5FA1-440C-B62E-544DF212BE57}"/>
              </a:ext>
            </a:extLst>
          </p:cNvPr>
          <p:cNvGraphicFramePr>
            <a:graphicFrameLocks noGrp="1"/>
          </p:cNvGraphicFramePr>
          <p:nvPr/>
        </p:nvGraphicFramePr>
        <p:xfrm>
          <a:off x="2089822" y="2042872"/>
          <a:ext cx="8125884" cy="1737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1471">
                  <a:extLst>
                    <a:ext uri="{9D8B030D-6E8A-4147-A177-3AD203B41FA5}">
                      <a16:colId xmlns:a16="http://schemas.microsoft.com/office/drawing/2014/main" val="1522504835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3617986618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4214741640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1425801137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39770"/>
                  </a:ext>
                </a:extLst>
              </a:tr>
            </a:tbl>
          </a:graphicData>
        </a:graphic>
      </p:graphicFrame>
      <p:graphicFrame>
        <p:nvGraphicFramePr>
          <p:cNvPr id="23" name="Table 12">
            <a:extLst>
              <a:ext uri="{FF2B5EF4-FFF2-40B4-BE49-F238E27FC236}">
                <a16:creationId xmlns:a16="http://schemas.microsoft.com/office/drawing/2014/main" id="{F61D3BE6-DBF1-4D9A-8C80-6D8BAE66282F}"/>
              </a:ext>
            </a:extLst>
          </p:cNvPr>
          <p:cNvGraphicFramePr>
            <a:graphicFrameLocks noGrp="1"/>
          </p:cNvGraphicFramePr>
          <p:nvPr/>
        </p:nvGraphicFramePr>
        <p:xfrm>
          <a:off x="2073521" y="4354901"/>
          <a:ext cx="8125884" cy="1828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1471">
                  <a:extLst>
                    <a:ext uri="{9D8B030D-6E8A-4147-A177-3AD203B41FA5}">
                      <a16:colId xmlns:a16="http://schemas.microsoft.com/office/drawing/2014/main" val="1522504835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3617986618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4214741640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142580113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39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4772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4827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6431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59938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F9D5096B-BB5E-4F3C-8E63-32A503DAFB0A}"/>
              </a:ext>
            </a:extLst>
          </p:cNvPr>
          <p:cNvSpPr/>
          <p:nvPr/>
        </p:nvSpPr>
        <p:spPr>
          <a:xfrm>
            <a:off x="2119332" y="6183702"/>
            <a:ext cx="6092825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The final shaded amount is your answer  - What do you think it is?</a:t>
            </a:r>
          </a:p>
        </p:txBody>
      </p:sp>
    </p:spTree>
    <p:extLst>
      <p:ext uri="{BB962C8B-B14F-4D97-AF65-F5344CB8AC3E}">
        <p14:creationId xmlns:p14="http://schemas.microsoft.com/office/powerpoint/2010/main" val="193873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6528" y="1340768"/>
            <a:ext cx="1825014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The Shading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465445" y="1395502"/>
                <a:ext cx="8784976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Consider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of a square multiplied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445" y="1395502"/>
                <a:ext cx="8784976" cy="1016689"/>
              </a:xfrm>
              <a:prstGeom prst="rect">
                <a:avLst/>
              </a:prstGeom>
              <a:blipFill>
                <a:blip r:embed="rId3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D218F6D0-3822-4EF9-9630-ABF3154E9C26}"/>
              </a:ext>
            </a:extLst>
          </p:cNvPr>
          <p:cNvSpPr/>
          <p:nvPr/>
        </p:nvSpPr>
        <p:spPr>
          <a:xfrm>
            <a:off x="3005792" y="2462012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/>
              <p:nvPr/>
            </p:nvSpPr>
            <p:spPr>
              <a:xfrm>
                <a:off x="5087888" y="3028456"/>
                <a:ext cx="2228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3028456"/>
                <a:ext cx="222818" cy="276999"/>
              </a:xfrm>
              <a:prstGeom prst="rect">
                <a:avLst/>
              </a:prstGeom>
              <a:blipFill>
                <a:blip r:embed="rId4"/>
                <a:stretch>
                  <a:fillRect l="-16667" r="-19444" b="-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/>
              <p:nvPr/>
            </p:nvSpPr>
            <p:spPr>
              <a:xfrm>
                <a:off x="7547349" y="3028456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349" y="3028456"/>
                <a:ext cx="230832" cy="276999"/>
              </a:xfrm>
              <a:prstGeom prst="rect">
                <a:avLst/>
              </a:prstGeom>
              <a:blipFill>
                <a:blip r:embed="rId5"/>
                <a:stretch>
                  <a:fillRect l="-7895" r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631D4D79-2BF9-4D75-8BDE-074854E247E0}"/>
              </a:ext>
            </a:extLst>
          </p:cNvPr>
          <p:cNvGrpSpPr/>
          <p:nvPr/>
        </p:nvGrpSpPr>
        <p:grpSpPr>
          <a:xfrm>
            <a:off x="3005792" y="2455084"/>
            <a:ext cx="1872206" cy="1746940"/>
            <a:chOff x="3214092" y="2494930"/>
            <a:chExt cx="1872206" cy="17469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B504F5-FD90-457A-8826-C4108749979E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067B756-8BE2-41D9-8AD1-42DCAA7CCD1F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1952BC-4AF9-42D9-A8D1-3971D326DB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B4CFA9B-9810-4E02-B964-92490A9715B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FDFE741-9553-4EDC-A40B-CB9104A03B56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780E47A-C411-45FC-BBE3-34DB9AB08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C4B17E-7DA0-4473-98F5-D148CBC983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8558E7C-E5D1-4380-A256-9C468ADEB540}"/>
              </a:ext>
            </a:extLst>
          </p:cNvPr>
          <p:cNvGrpSpPr/>
          <p:nvPr/>
        </p:nvGrpSpPr>
        <p:grpSpPr>
          <a:xfrm>
            <a:off x="5428543" y="2436090"/>
            <a:ext cx="1879408" cy="876010"/>
            <a:chOff x="5426955" y="2436090"/>
            <a:chExt cx="1879408" cy="87601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FF69CD6-8595-4DC5-8F4B-0170CD153F6B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E808559-F1B2-4052-9ED4-8BBD03C6FD71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B5C0829-FE2B-425D-891A-C0622E925EDC}"/>
              </a:ext>
            </a:extLst>
          </p:cNvPr>
          <p:cNvGrpSpPr/>
          <p:nvPr/>
        </p:nvGrpSpPr>
        <p:grpSpPr>
          <a:xfrm>
            <a:off x="7904176" y="2422471"/>
            <a:ext cx="1879408" cy="876010"/>
            <a:chOff x="5426955" y="2436090"/>
            <a:chExt cx="1879408" cy="87601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E7B0691-C797-458E-933A-16619D490DE2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50482B-A978-49CB-A40D-6874626BA532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8C06EF2A-ACDC-477F-ADED-E83EE1BCED90}"/>
              </a:ext>
            </a:extLst>
          </p:cNvPr>
          <p:cNvSpPr/>
          <p:nvPr/>
        </p:nvSpPr>
        <p:spPr>
          <a:xfrm>
            <a:off x="7911377" y="2452769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3BE51-A548-4BDF-A87B-92E863C7AB38}"/>
              </a:ext>
            </a:extLst>
          </p:cNvPr>
          <p:cNvGrpSpPr/>
          <p:nvPr/>
        </p:nvGrpSpPr>
        <p:grpSpPr>
          <a:xfrm>
            <a:off x="5435745" y="2448157"/>
            <a:ext cx="1872206" cy="1746940"/>
            <a:chOff x="3214092" y="2494930"/>
            <a:chExt cx="1872206" cy="174694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A067E09-482B-4FB1-AFC4-66B996EA613C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F705132-45DC-4B61-B176-9753C7822C0D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A6B46BE-4D1E-4275-8B94-42F2ACEC5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EE770B6-4335-4156-A064-97067AED7F68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C6C3B8-F163-443E-A2C6-450CAFE45410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AC327EB-1305-40EC-9481-879959D05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BC927AC-FAE2-4244-848D-76D909191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7F73DDC-308D-4A99-952E-008027C3311D}"/>
              </a:ext>
            </a:extLst>
          </p:cNvPr>
          <p:cNvGrpSpPr/>
          <p:nvPr/>
        </p:nvGrpSpPr>
        <p:grpSpPr>
          <a:xfrm>
            <a:off x="7896200" y="2431984"/>
            <a:ext cx="1872206" cy="1746940"/>
            <a:chOff x="3214092" y="2494930"/>
            <a:chExt cx="1872206" cy="17469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B894F8D-730D-4BB9-B3B4-75F0F9A1B0ED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10B5BFD-0889-4299-803A-584DE3CBFAAE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4634A8-7C17-46E2-B9EE-88D16BE1D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73B1E-D7B7-4D3D-BE85-76658D6C08D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4551207-CE62-4635-9D75-B31CFDCCBF07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DC81D67-EFBF-48C7-8F68-320546261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B077655-007E-4E90-9DC0-5C3DC0436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4D2787FB-6DB4-4546-B511-302AB5A4F907}"/>
              </a:ext>
            </a:extLst>
          </p:cNvPr>
          <p:cNvSpPr/>
          <p:nvPr/>
        </p:nvSpPr>
        <p:spPr>
          <a:xfrm>
            <a:off x="7896201" y="2436091"/>
            <a:ext cx="432037" cy="8589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B4EB16-DF03-42C5-B536-12379FDDE763}"/>
              </a:ext>
            </a:extLst>
          </p:cNvPr>
          <p:cNvSpPr txBox="1"/>
          <p:nvPr/>
        </p:nvSpPr>
        <p:spPr>
          <a:xfrm>
            <a:off x="2783633" y="4725144"/>
            <a:ext cx="590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overlap area is the answer – what is the value?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/>
              <p:nvPr/>
            </p:nvSpPr>
            <p:spPr>
              <a:xfrm>
                <a:off x="4511825" y="5445225"/>
                <a:ext cx="1584175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AU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5" y="5445225"/>
                <a:ext cx="1584175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94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62" grpId="0" animBg="1"/>
      <p:bldP spid="13" grpId="0"/>
      <p:bldP spid="25" grpId="0"/>
      <p:bldP spid="69" grpId="0" animBg="1"/>
      <p:bldP spid="70" grpId="0" animBg="1"/>
      <p:bldP spid="71" grpId="0"/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37134" y="2826687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The rule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5445" y="1395502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Are there any patterns between the fractions being multiplied and the answer fraction?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49251" y="2938733"/>
            <a:ext cx="99234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Multiply the numerator together and multiply the denominators together</a:t>
            </a:r>
          </a:p>
          <a:p>
            <a:endParaRPr lang="en-AU" sz="2000" dirty="0"/>
          </a:p>
          <a:p>
            <a:r>
              <a:rPr lang="en-AU" sz="2000" dirty="0"/>
              <a:t>Then simplify if you can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367808" y="4011627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808" y="4011627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/>
              <p:nvPr/>
            </p:nvSpPr>
            <p:spPr>
              <a:xfrm>
                <a:off x="4367809" y="5178675"/>
                <a:ext cx="399224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809" y="5178675"/>
                <a:ext cx="3992247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60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2144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5970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588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736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588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736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45772" y="2153902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5445" y="1395502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What about whole numbers, improper fractions, and mixed fractions?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49252" y="2466505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078362" y="3024274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362" y="3024274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953126" y="2959553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126" y="2959553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7295060" y="3001764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391670" y="3825097"/>
            <a:ext cx="1745771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268038" y="4208404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3754592" y="4682255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592" y="4682255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7462375" y="4671035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8×2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375" y="4671035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5125828" y="4671035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6895834" y="4712885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834" y="4712885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53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350453" y="1168676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03059" y="1201126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2811095" y="1740837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095" y="1740837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205584" y="1822506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584" y="1822506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6132004" y="1830156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249592" y="2555617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197084" y="2883429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2575393" y="3467074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393" y="3467074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6257262" y="3404113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8×2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262" y="3404113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4047249" y="3485674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5800372" y="3481681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372" y="3481681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11A508A-9AFA-40BC-B045-AEBC967E7D99}"/>
              </a:ext>
            </a:extLst>
          </p:cNvPr>
          <p:cNvSpPr txBox="1"/>
          <p:nvPr/>
        </p:nvSpPr>
        <p:spPr>
          <a:xfrm>
            <a:off x="235699" y="4232121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Whole numbers</a:t>
            </a:r>
            <a:endParaRPr lang="en-AU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C1F16-B469-460B-A787-BA89A52560DB}"/>
              </a:ext>
            </a:extLst>
          </p:cNvPr>
          <p:cNvSpPr txBox="1"/>
          <p:nvPr/>
        </p:nvSpPr>
        <p:spPr>
          <a:xfrm>
            <a:off x="2351584" y="4509120"/>
            <a:ext cx="8633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Whole numbers can be written with a denominator of 1. (this is because anything divided by 1 is itself)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/>
              <p:nvPr/>
            </p:nvSpPr>
            <p:spPr>
              <a:xfrm>
                <a:off x="2677740" y="5343994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740" y="5343994"/>
                <a:ext cx="903324" cy="806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487283F-8CB2-498B-8CEF-9DF832D9B0E6}"/>
              </a:ext>
            </a:extLst>
          </p:cNvPr>
          <p:cNvGrpSpPr/>
          <p:nvPr/>
        </p:nvGrpSpPr>
        <p:grpSpPr>
          <a:xfrm>
            <a:off x="3922202" y="5436357"/>
            <a:ext cx="1762261" cy="451029"/>
            <a:chOff x="5124239" y="4671034"/>
            <a:chExt cx="1762261" cy="45102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E7D6EA2-5CFA-4DC8-B2C5-1C6C62278A89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3D2501-C857-4A19-91A1-F9AC36A554D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/>
              <p:nvPr/>
            </p:nvSpPr>
            <p:spPr>
              <a:xfrm>
                <a:off x="5595712" y="5357163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12" y="5357163"/>
                <a:ext cx="903324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/>
              <p:nvPr/>
            </p:nvSpPr>
            <p:spPr>
              <a:xfrm>
                <a:off x="6164906" y="5354795"/>
                <a:ext cx="4728038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6×1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906" y="5354795"/>
                <a:ext cx="4728038" cy="8989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05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  <p:bldP spid="25" grpId="0" animBg="1"/>
      <p:bldP spid="26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2144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5970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588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736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588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736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022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3552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https://youtu.be/4ghdMifXuFE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5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376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 multiply fractions we need to first _______________________, then we need to ________________________. The final step would be to ______________________.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623</Words>
  <Application>Microsoft Office PowerPoint</Application>
  <PresentationFormat>Widescreen</PresentationFormat>
  <Paragraphs>136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Topic: Fractions</vt:lpstr>
      <vt:lpstr>Warm Up Questions:</vt:lpstr>
      <vt:lpstr>Topic: Fractions</vt:lpstr>
      <vt:lpstr>Topic: Fractions</vt:lpstr>
      <vt:lpstr>Topic: Fractions</vt:lpstr>
      <vt:lpstr>Topic: Fractions</vt:lpstr>
      <vt:lpstr>Practice Time! </vt:lpstr>
      <vt:lpstr>Topic: Fractions</vt:lpstr>
      <vt:lpstr>Topic: Fractions</vt:lpstr>
      <vt:lpstr>Practice Time!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</dc:title>
  <dc:creator>Sarah James</dc:creator>
  <cp:lastModifiedBy>Sarah James</cp:lastModifiedBy>
  <cp:revision>1</cp:revision>
  <dcterms:created xsi:type="dcterms:W3CDTF">2020-03-24T01:22:06Z</dcterms:created>
  <dcterms:modified xsi:type="dcterms:W3CDTF">2020-03-25T00:03:07Z</dcterms:modified>
</cp:coreProperties>
</file>
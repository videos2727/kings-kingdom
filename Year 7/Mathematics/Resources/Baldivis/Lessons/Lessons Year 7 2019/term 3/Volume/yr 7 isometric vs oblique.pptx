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268" r:id="rId2"/>
    <p:sldId id="282" r:id="rId3"/>
    <p:sldId id="283" r:id="rId4"/>
    <p:sldId id="284" r:id="rId5"/>
    <p:sldId id="264" r:id="rId6"/>
    <p:sldId id="272" r:id="rId7"/>
    <p:sldId id="271" r:id="rId8"/>
    <p:sldId id="281" r:id="rId9"/>
    <p:sldId id="280" r:id="rId10"/>
    <p:sldId id="285" r:id="rId11"/>
    <p:sldId id="287" r:id="rId12"/>
    <p:sldId id="286" r:id="rId13"/>
  </p:sldIdLst>
  <p:sldSz cx="9144000" cy="6858000" type="screen4x3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63" autoAdjust="0"/>
    <p:restoredTop sz="94660"/>
  </p:normalViewPr>
  <p:slideViewPr>
    <p:cSldViewPr>
      <p:cViewPr varScale="1">
        <p:scale>
          <a:sx n="53" d="100"/>
          <a:sy n="53" d="100"/>
        </p:scale>
        <p:origin x="94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809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D4CFE84-0D35-40F8-BDB1-FA6C00D6C29C}" type="datetimeFigureOut">
              <a:rPr lang="en-US" smtClean="0"/>
              <a:t>9/18/2019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809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DC427D0-9F0E-41FB-9EB0-AAA192189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6310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540F084-2155-4510-8695-C83D3995D2DF}" type="datetimeFigureOut">
              <a:rPr lang="en-US" smtClean="0"/>
              <a:t>9/18/2019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525463"/>
            <a:ext cx="3505200" cy="2628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29940"/>
            <a:ext cx="7437120" cy="31546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F352B74-9B1F-4950-9CA4-89CD426D5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319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Başlık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17" name="16 Alt Başlık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tr-TR"/>
              <a:t>Asıl alt başlık stilini düzenlemek için tıklatın</a:t>
            </a:r>
            <a:endParaRPr lang="en-US"/>
          </a:p>
        </p:txBody>
      </p:sp>
      <p:sp>
        <p:nvSpPr>
          <p:cNvPr id="4" name="29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669E65-B407-43BB-93ED-6DD7A2EC69A7}" type="datetimeFigureOut">
              <a:rPr lang="tr-TR">
                <a:solidFill>
                  <a:srgbClr val="DBF5F9">
                    <a:shade val="90000"/>
                  </a:srgbClr>
                </a:solidFill>
              </a:rPr>
              <a:pPr>
                <a:defRPr/>
              </a:pPr>
              <a:t>18.09.2019</a:t>
            </a:fld>
            <a:endParaRPr lang="tr-TR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5" name="18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6" name="2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300FB8-2C8E-45D9-9B73-2C0DA08ADC62}" type="slidenum">
              <a:rPr lang="tr-TR">
                <a:solidFill>
                  <a:srgbClr val="DBF5F9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DBF5F9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92903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9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40C3C0-AC59-46E7-B623-E00D403CE018}" type="datetimeFigureOut">
              <a:rPr lang="tr-TR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18.09.2019</a:t>
            </a:fld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21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17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5205E0-AC13-48AD-ADE4-60AE10DBE56B}" type="slidenum">
              <a:rPr lang="tr-TR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718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F982DA-ADA5-4BE1-9F49-17B1A97A75AB}" type="datetimeFigureOut">
              <a:rPr lang="tr-TR">
                <a:solidFill>
                  <a:srgbClr val="DBF5F9">
                    <a:shade val="90000"/>
                  </a:srgbClr>
                </a:solidFill>
              </a:rPr>
              <a:pPr>
                <a:defRPr/>
              </a:pPr>
              <a:t>18.09.2019</a:t>
            </a:fld>
            <a:endParaRPr lang="tr-TR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465863-8997-4A7F-8EE5-A55CBE95C462}" type="slidenum">
              <a:rPr lang="tr-TR">
                <a:solidFill>
                  <a:srgbClr val="DBF5F9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DBF5F9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5528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9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0A2E6B-CA01-4A5E-84B1-CBB3562DC9BF}" type="datetimeFigureOut">
              <a:rPr lang="tr-TR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18.09.2019</a:t>
            </a:fld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21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17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791055-FD70-41E3-BC61-E6F212843614}" type="slidenum">
              <a:rPr lang="tr-TR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0568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3"/>
          </p:nvPr>
        </p:nvSpPr>
        <p:spPr>
          <a:xfrm>
            <a:off x="4645026" y="1859759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4 İçerik Yer Tutucusu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6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7" name="9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BC8796-6D31-4045-8B0C-5D32B92E7509}" type="datetimeFigureOut">
              <a:rPr lang="tr-TR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18.09.2019</a:t>
            </a:fld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8" name="21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9" name="17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C9CC8D-FE43-4AB0-8A38-829FE00AC59A}" type="slidenum">
              <a:rPr lang="tr-TR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7912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9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70FBA6-8816-4306-BCD5-1D9BF27B44F8}" type="datetimeFigureOut">
              <a:rPr lang="tr-TR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18.09.2019</a:t>
            </a:fld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21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17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C8ED4E-74BC-4AB2-8B82-5A47477C7C7D}" type="slidenum">
              <a:rPr lang="tr-TR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4117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E7615D-2AFB-4E63-B55C-0762FFCF18DA}" type="datetimeFigureOut">
              <a:rPr lang="tr-TR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18.09.2019</a:t>
            </a:fld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3" name="21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17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2C6F88-96A1-43C2-A22B-878490112A4A}" type="slidenum">
              <a:rPr lang="tr-TR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375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1"/>
          </p:nvPr>
        </p:nvSpPr>
        <p:spPr>
          <a:xfrm>
            <a:off x="3575051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9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0AAF6C-4840-4E79-8DDA-FB90DA18707F}" type="datetimeFigureOut">
              <a:rPr lang="tr-TR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18.09.2019</a:t>
            </a:fld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21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17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C46DD-A59C-4259-85F2-08C12E4D5360}" type="slidenum">
              <a:rPr lang="tr-TR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58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3 Tek Köşesi Kesik ve Yuvarlatılmış Dikdörtgen"/>
          <p:cNvSpPr/>
          <p:nvPr/>
        </p:nvSpPr>
        <p:spPr>
          <a:xfrm rot="420000" flipV="1">
            <a:off x="3165231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14 Dik Üçgen"/>
          <p:cNvSpPr/>
          <p:nvPr/>
        </p:nvSpPr>
        <p:spPr>
          <a:xfrm rot="420000" flipV="1">
            <a:off x="8003931" y="5359401"/>
            <a:ext cx="155331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15 Serbest Form"/>
          <p:cNvSpPr>
            <a:spLocks/>
          </p:cNvSpPr>
          <p:nvPr/>
        </p:nvSpPr>
        <p:spPr bwMode="auto">
          <a:xfrm flipV="1">
            <a:off x="-10258" y="5816600"/>
            <a:ext cx="9164516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8" name="16 Serbest Form"/>
          <p:cNvSpPr>
            <a:spLocks/>
          </p:cNvSpPr>
          <p:nvPr/>
        </p:nvSpPr>
        <p:spPr bwMode="auto">
          <a:xfrm flipV="1">
            <a:off x="4381500" y="6219826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609600" y="1176998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tr-TR" noProof="0"/>
              <a:t>Resim eklemek için simgeyi tıklatın</a:t>
            </a:r>
            <a:endParaRPr lang="en-US" noProof="0" dirty="0"/>
          </a:p>
        </p:txBody>
      </p:sp>
      <p:sp>
        <p:nvSpPr>
          <p:cNvPr id="9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413206-1478-4504-8287-26686E682290}" type="datetimeFigureOut">
              <a:rPr lang="tr-TR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18.09.2019</a:t>
            </a:fld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10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11" name="6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8077200" y="6356351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1A84DF-D685-456F-914E-3477FD0EED01}" type="slidenum">
              <a:rPr lang="tr-TR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696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9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9B4D9-42D3-4FD7-85EB-95ECEBDF075C}" type="datetimeFigureOut">
              <a:rPr lang="tr-TR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18.09.2019</a:t>
            </a:fld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21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17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02670-D431-45E3-95EB-FC3887D6720E}" type="slidenum">
              <a:rPr lang="tr-TR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9123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914402"/>
            <a:ext cx="2057400" cy="5211763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  <a:endParaRPr lang="en-US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914402"/>
            <a:ext cx="6019800" cy="5211763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9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13D55F-DB4D-4481-8BF0-F6F7E38D9D7E}" type="datetimeFigureOut">
              <a:rPr lang="tr-TR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18.09.2019</a:t>
            </a:fld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21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17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E1BAE-2D38-43EF-9412-33CBFC5A1F15}" type="slidenum">
              <a:rPr lang="tr-TR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811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Serbest Form"/>
          <p:cNvSpPr>
            <a:spLocks/>
          </p:cNvSpPr>
          <p:nvPr/>
        </p:nvSpPr>
        <p:spPr bwMode="auto">
          <a:xfrm>
            <a:off x="-10258" y="-7938"/>
            <a:ext cx="9164516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8" name="7 Serbest Form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2052" name="8 Başlık Yer Tutucusu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tr-TR" altLang="en-US"/>
              <a:t>Asıl başlık stili için tıklatın</a:t>
            </a:r>
            <a:endParaRPr lang="en-US" altLang="en-US"/>
          </a:p>
        </p:txBody>
      </p:sp>
      <p:sp>
        <p:nvSpPr>
          <p:cNvPr id="2053" name="29 Metin Yer Tutucusu"/>
          <p:cNvSpPr>
            <a:spLocks noGrp="1"/>
          </p:cNvSpPr>
          <p:nvPr>
            <p:ph type="body" idx="1"/>
          </p:nvPr>
        </p:nvSpPr>
        <p:spPr bwMode="auto">
          <a:xfrm>
            <a:off x="457200" y="1935164"/>
            <a:ext cx="82296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 altLang="en-US"/>
              <a:t>Asıl metin stillerini düzenlemek için tıklatın</a:t>
            </a:r>
          </a:p>
          <a:p>
            <a:pPr lvl="1"/>
            <a:r>
              <a:rPr lang="tr-TR" altLang="en-US"/>
              <a:t>İkinci düzey</a:t>
            </a:r>
          </a:p>
          <a:p>
            <a:pPr lvl="2"/>
            <a:r>
              <a:rPr lang="tr-TR" altLang="en-US"/>
              <a:t>Üçüncü düzey</a:t>
            </a:r>
          </a:p>
          <a:p>
            <a:pPr lvl="3"/>
            <a:r>
              <a:rPr lang="tr-TR" altLang="en-US"/>
              <a:t>Dördüncü düzey</a:t>
            </a:r>
          </a:p>
          <a:p>
            <a:pPr lvl="4"/>
            <a:r>
              <a:rPr lang="tr-TR" altLang="en-US"/>
              <a:t>Beşinci düzey</a:t>
            </a:r>
            <a:endParaRPr lang="en-US" altLang="en-US"/>
          </a:p>
        </p:txBody>
      </p:sp>
      <p:sp>
        <p:nvSpPr>
          <p:cNvPr id="10" name="9 Veri Yer Tutucusu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2">
                    <a:shade val="9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7DC7907-BD44-4D68-BAE8-E3F4AC23A058}" type="datetimeFigureOut">
              <a:rPr lang="tr-TR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18.09.2019</a:t>
            </a:fld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22" name="21 Altbilgi Yer Tutucusu"/>
          <p:cNvSpPr>
            <a:spLocks noGrp="1"/>
          </p:cNvSpPr>
          <p:nvPr>
            <p:ph type="ftr" sz="quarter" idx="3"/>
          </p:nvPr>
        </p:nvSpPr>
        <p:spPr>
          <a:xfrm>
            <a:off x="2667000" y="6356351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>
                    <a:shade val="9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18" name="17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7924800" y="6356351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2">
                    <a:shade val="9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60B9F36-A163-4736-82B5-34A66AD2D237}" type="slidenum">
              <a:rPr lang="tr-TR">
                <a:solidFill>
                  <a:srgbClr val="04617B">
                    <a:shade val="90000"/>
                  </a:srgbClr>
                </a:solidFill>
              </a:rPr>
              <a:pPr>
                <a:defRPr/>
              </a:pPr>
              <a:t>‹#›</a:t>
            </a:fld>
            <a:endParaRPr lang="tr-TR">
              <a:solidFill>
                <a:srgbClr val="04617B">
                  <a:shade val="90000"/>
                </a:srgbClr>
              </a:solidFill>
            </a:endParaRPr>
          </a:p>
        </p:txBody>
      </p:sp>
      <p:grpSp>
        <p:nvGrpSpPr>
          <p:cNvPr id="2057" name="1 Grup"/>
          <p:cNvGrpSpPr>
            <a:grpSpLocks/>
          </p:cNvGrpSpPr>
          <p:nvPr/>
        </p:nvGrpSpPr>
        <p:grpSpPr bwMode="auto">
          <a:xfrm>
            <a:off x="-19050" y="203200"/>
            <a:ext cx="9180635" cy="647700"/>
            <a:chOff x="-19045" y="216550"/>
            <a:chExt cx="9180548" cy="649224"/>
          </a:xfrm>
        </p:grpSpPr>
        <p:sp>
          <p:nvSpPr>
            <p:cNvPr id="12" name="11 Serbest Form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  <a:cs typeface="Arial" charset="0"/>
              </a:endParaRPr>
            </a:p>
          </p:txBody>
        </p:sp>
        <p:sp>
          <p:nvSpPr>
            <p:cNvPr id="13" name="12 Serbest Form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solidFill>
                  <a:prstClr val="black"/>
                </a:solidFill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04164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fontAlgn="base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fontAlgn="base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fontAlgn="base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fontAlgn="base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://www.google.com/url?sa=i&amp;rct=j&amp;q=isometric+drawings&amp;source=images&amp;cd=&amp;cad=rja&amp;uact=8&amp;ved=0CAcQjRw&amp;url=http://calendariu.com/tag/isometric-drawing&amp;ei=85zLVJj8IJKQyATNhIKQDA&amp;bvm=bv.84607526,d.aWw&amp;psig=AFQjCNEPN1ARWpfdk9zZsHoaAux0lqKptQ&amp;ust=1422716501881738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hyperlink" Target="http://www.google.com/url?sa=i&amp;rct=j&amp;q=2+point+perspective+drawing+house&amp;source=images&amp;cd=&amp;cad=rja&amp;uact=8&amp;ved=0CAcQjRw&amp;url=https://www.pinterest.com/adammcghee1/perspective-drawings/&amp;ei=pZ7LVPyvDYGPyASM6YCYBw&amp;psig=AFQjCNFZbn90ZPi-PNE3WwgGZq-GpjgRvQ&amp;ust=1422716958003515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Representing 3D objects in 2D</a:t>
            </a:r>
          </a:p>
        </p:txBody>
      </p:sp>
      <p:pic>
        <p:nvPicPr>
          <p:cNvPr id="3074" name="Picture 2" descr="http://www.scotthulme.com/sketch365/wp-content/uploads/2010/03/03_22_2010-isometricbiplane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70" y="2096055"/>
            <a:ext cx="2575987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s-media-cache-ak0.pinimg.com/originals/b2/77/4d/b2774db07a86ad1a22a5ec6207451111.jpg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2057400"/>
            <a:ext cx="2743199" cy="2058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F2FDE93-1A82-4499-86AA-1824E73BDB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4355046"/>
            <a:ext cx="3714623" cy="2090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969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FA5D-7022-4908-B7D6-9C6E5F027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590550"/>
          </a:xfrm>
        </p:spPr>
        <p:txBody>
          <a:bodyPr/>
          <a:lstStyle/>
          <a:p>
            <a:r>
              <a:rPr lang="en-AU" dirty="0"/>
              <a:t>Oblique Views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5BD09F-8F48-4916-834F-356B814C09EA}"/>
              </a:ext>
            </a:extLst>
          </p:cNvPr>
          <p:cNvSpPr/>
          <p:nvPr/>
        </p:nvSpPr>
        <p:spPr>
          <a:xfrm>
            <a:off x="457200" y="1295400"/>
            <a:ext cx="6324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/>
              <a:t>Oblique projection</a:t>
            </a:r>
            <a:r>
              <a:rPr lang="en-AU" dirty="0"/>
              <a:t> is a simple type of </a:t>
            </a:r>
            <a:r>
              <a:rPr lang="en-AU" b="1" dirty="0"/>
              <a:t>projection</a:t>
            </a:r>
            <a:r>
              <a:rPr lang="en-AU" dirty="0"/>
              <a:t> used for producing two-dimensional images of three-dimensional objects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43751B-2D8F-4038-AB8A-64F0083E0E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0958" y="1295400"/>
            <a:ext cx="1963302" cy="14674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7AD1E4B-4DD2-43E2-A3A2-C163B97E557E}"/>
              </a:ext>
            </a:extLst>
          </p:cNvPr>
          <p:cNvSpPr txBox="1"/>
          <p:nvPr/>
        </p:nvSpPr>
        <p:spPr>
          <a:xfrm>
            <a:off x="464574" y="2272099"/>
            <a:ext cx="495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Oblique projections have a leading face and lines project back from this face at 45</a:t>
            </a:r>
            <a:r>
              <a:rPr lang="en-AU" baseline="30000" dirty="0"/>
              <a:t>O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4C73CD-A657-4331-B583-26A6ECACDB37}"/>
              </a:ext>
            </a:extLst>
          </p:cNvPr>
          <p:cNvSpPr txBox="1"/>
          <p:nvPr/>
        </p:nvSpPr>
        <p:spPr>
          <a:xfrm>
            <a:off x="7353684" y="1948933"/>
            <a:ext cx="11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Leading face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CC772A3-CCC3-4787-B24E-A4E66BD1B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971800"/>
            <a:ext cx="7578545" cy="3377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029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709EA81-1D4D-4635-B349-70EC745077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3335"/>
          <a:stretch/>
        </p:blipFill>
        <p:spPr>
          <a:xfrm>
            <a:off x="184227" y="4042568"/>
            <a:ext cx="8775545" cy="1824832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46E9BC3-9795-4462-8005-A5B0F770A0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709" y="-346869"/>
            <a:ext cx="5852582" cy="4389437"/>
          </a:xfrm>
        </p:spPr>
      </p:pic>
    </p:spTree>
    <p:extLst>
      <p:ext uri="{BB962C8B-B14F-4D97-AF65-F5344CB8AC3E}">
        <p14:creationId xmlns:p14="http://schemas.microsoft.com/office/powerpoint/2010/main" val="416842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0D4833-D556-4F78-97F7-E998FD51CC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381000"/>
            <a:ext cx="5772150" cy="285318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939B2F-513F-47DC-B872-1CB99EB33C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941" y="3048000"/>
            <a:ext cx="6091468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310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0600" y="267238"/>
            <a:ext cx="71231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ISOMETRIC DRAWINGS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215039"/>
            <a:ext cx="777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150000"/>
              <a:buFont typeface="Arial" panose="020B0604020202020204" pitchFamily="34" charset="0"/>
              <a:buChar char="•"/>
            </a:pPr>
            <a:r>
              <a:rPr lang="en-US" b="1" dirty="0"/>
              <a:t>The object is held with one vertical edge leading, then tilted toward the viewer until the other horizontal edge are at a </a:t>
            </a:r>
            <a:r>
              <a:rPr lang="en-US" b="1" dirty="0">
                <a:solidFill>
                  <a:srgbClr val="FF0000"/>
                </a:solidFill>
              </a:rPr>
              <a:t>30 degree angles</a:t>
            </a:r>
            <a:r>
              <a:rPr lang="en-US" b="1" dirty="0"/>
              <a:t>.</a:t>
            </a:r>
          </a:p>
          <a:p>
            <a:pPr marL="285750" indent="-285750">
              <a:buSzPct val="150000"/>
              <a:buFont typeface="Arial" panose="020B0604020202020204" pitchFamily="34" charset="0"/>
              <a:buChar char="•"/>
            </a:pPr>
            <a:r>
              <a:rPr lang="en-US" b="1" dirty="0"/>
              <a:t>All three axes are </a:t>
            </a:r>
            <a:r>
              <a:rPr lang="en-US" b="1" dirty="0">
                <a:solidFill>
                  <a:srgbClr val="FF0000"/>
                </a:solidFill>
              </a:rPr>
              <a:t>scaled equally at 120 degrees</a:t>
            </a:r>
            <a:r>
              <a:rPr lang="en-US" b="1" dirty="0"/>
              <a:t>. This is why they are called isometric as “</a:t>
            </a:r>
            <a:r>
              <a:rPr lang="en-US" b="1" dirty="0" err="1"/>
              <a:t>iso</a:t>
            </a:r>
            <a:r>
              <a:rPr lang="en-US" b="1" dirty="0"/>
              <a:t>” means same and metric means “measure”.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1956" y="3100592"/>
            <a:ext cx="3200400" cy="3441700"/>
          </a:xfrm>
          <a:prstGeom prst="rect">
            <a:avLst/>
          </a:prstGeom>
        </p:spPr>
      </p:pic>
      <p:sp>
        <p:nvSpPr>
          <p:cNvPr id="5" name="Arrow: Curved Down 4">
            <a:extLst>
              <a:ext uri="{FF2B5EF4-FFF2-40B4-BE49-F238E27FC236}">
                <a16:creationId xmlns:a16="http://schemas.microsoft.com/office/drawing/2014/main" id="{238DABBD-A039-4585-898A-65126880A7B8}"/>
              </a:ext>
            </a:extLst>
          </p:cNvPr>
          <p:cNvSpPr/>
          <p:nvPr/>
        </p:nvSpPr>
        <p:spPr>
          <a:xfrm>
            <a:off x="4114800" y="3424030"/>
            <a:ext cx="1371600" cy="358913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A0442B-55E5-475C-BC21-D10413DC0927}"/>
              </a:ext>
            </a:extLst>
          </p:cNvPr>
          <p:cNvSpPr txBox="1"/>
          <p:nvPr/>
        </p:nvSpPr>
        <p:spPr>
          <a:xfrm>
            <a:off x="4876800" y="3113314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120</a:t>
            </a:r>
            <a:r>
              <a:rPr lang="en-AU" baseline="300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</a:t>
            </a:r>
            <a:endParaRPr lang="en-AU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Arrow: Curved Down 6">
            <a:extLst>
              <a:ext uri="{FF2B5EF4-FFF2-40B4-BE49-F238E27FC236}">
                <a16:creationId xmlns:a16="http://schemas.microsoft.com/office/drawing/2014/main" id="{D07884D3-0BD5-4B5F-B7C3-CF5C81D9457D}"/>
              </a:ext>
            </a:extLst>
          </p:cNvPr>
          <p:cNvSpPr/>
          <p:nvPr/>
        </p:nvSpPr>
        <p:spPr>
          <a:xfrm rot="7649607">
            <a:off x="4707614" y="4364499"/>
            <a:ext cx="1371600" cy="358913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AB8D7A-80DC-45D9-9A91-31271251DC7A}"/>
              </a:ext>
            </a:extLst>
          </p:cNvPr>
          <p:cNvSpPr txBox="1"/>
          <p:nvPr/>
        </p:nvSpPr>
        <p:spPr>
          <a:xfrm>
            <a:off x="5710673" y="4144483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120</a:t>
            </a:r>
            <a:r>
              <a:rPr lang="en-AU" baseline="300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</a:t>
            </a:r>
            <a:endParaRPr lang="en-AU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1" name="Arrow: Curved Down 10">
            <a:extLst>
              <a:ext uri="{FF2B5EF4-FFF2-40B4-BE49-F238E27FC236}">
                <a16:creationId xmlns:a16="http://schemas.microsoft.com/office/drawing/2014/main" id="{E8B7F6B9-98EE-42A3-84FC-2688C6046F7B}"/>
              </a:ext>
            </a:extLst>
          </p:cNvPr>
          <p:cNvSpPr/>
          <p:nvPr/>
        </p:nvSpPr>
        <p:spPr>
          <a:xfrm rot="14022468">
            <a:off x="3484399" y="4405218"/>
            <a:ext cx="1371600" cy="358913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B60ED8-1F15-4426-9E06-822595A36357}"/>
              </a:ext>
            </a:extLst>
          </p:cNvPr>
          <p:cNvSpPr txBox="1"/>
          <p:nvPr/>
        </p:nvSpPr>
        <p:spPr>
          <a:xfrm>
            <a:off x="3450718" y="451381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120</a:t>
            </a:r>
            <a:r>
              <a:rPr lang="en-AU" baseline="300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</a:t>
            </a:r>
            <a:endParaRPr lang="en-AU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1601251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  <p:bldP spid="11" grpId="0" animBg="1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29FF30-F647-4209-97AD-5A84E252968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41" r="50" b="28354"/>
          <a:stretch/>
        </p:blipFill>
        <p:spPr>
          <a:xfrm>
            <a:off x="665247" y="20509"/>
            <a:ext cx="7889706" cy="6837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881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6DE02B6-CEDB-4449-AA50-A931B1FF14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323" y="69901"/>
            <a:ext cx="4057200" cy="33988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35F229-D82C-454C-8989-286C2553EC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4263572" cy="3581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C462E97-CB49-4457-844A-2827FB0873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323" y="3276600"/>
            <a:ext cx="4419600" cy="342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28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354BC7-2FD1-4B22-920E-28AB5F4E62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743200"/>
            <a:ext cx="6969011" cy="32289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DAD86F-D4BB-4967-849F-C47A2EEF603C}"/>
              </a:ext>
            </a:extLst>
          </p:cNvPr>
          <p:cNvSpPr txBox="1"/>
          <p:nvPr/>
        </p:nvSpPr>
        <p:spPr>
          <a:xfrm>
            <a:off x="665105" y="990600"/>
            <a:ext cx="7924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Similar to an isometric diagram is a perspective diagram, in a perspective diagram however, all the lines converge on a point “in the distance”.  In Isometric, the lines are always parallel. </a:t>
            </a:r>
          </a:p>
          <a:p>
            <a:r>
              <a:rPr lang="en-AU" sz="2000" dirty="0"/>
              <a:t>We are only looking at isometric drawings for now.</a:t>
            </a:r>
          </a:p>
        </p:txBody>
      </p:sp>
    </p:spTree>
    <p:extLst>
      <p:ext uri="{BB962C8B-B14F-4D97-AF65-F5344CB8AC3E}">
        <p14:creationId xmlns:p14="http://schemas.microsoft.com/office/powerpoint/2010/main" val="3717242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68FEBF7-ECDB-4B88-968B-C0BC64284DDE}"/>
              </a:ext>
            </a:extLst>
          </p:cNvPr>
          <p:cNvCxnSpPr>
            <a:cxnSpLocks/>
          </p:cNvCxnSpPr>
          <p:nvPr/>
        </p:nvCxnSpPr>
        <p:spPr>
          <a:xfrm>
            <a:off x="-152400" y="43204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97FC811-DA87-44AE-A043-0A9BA88F3E84}"/>
              </a:ext>
            </a:extLst>
          </p:cNvPr>
          <p:cNvCxnSpPr>
            <a:cxnSpLocks/>
          </p:cNvCxnSpPr>
          <p:nvPr/>
        </p:nvCxnSpPr>
        <p:spPr>
          <a:xfrm>
            <a:off x="-152400" y="113412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A49DDF-68B6-468F-A9F8-E41A5EF431D8}"/>
              </a:ext>
            </a:extLst>
          </p:cNvPr>
          <p:cNvCxnSpPr>
            <a:cxnSpLocks/>
          </p:cNvCxnSpPr>
          <p:nvPr/>
        </p:nvCxnSpPr>
        <p:spPr>
          <a:xfrm>
            <a:off x="1827312" y="1134126"/>
            <a:ext cx="0" cy="542037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22F8FF8-4684-477B-BB10-182415B83C20}"/>
              </a:ext>
            </a:extLst>
          </p:cNvPr>
          <p:cNvSpPr txBox="1"/>
          <p:nvPr/>
        </p:nvSpPr>
        <p:spPr>
          <a:xfrm>
            <a:off x="963216" y="0"/>
            <a:ext cx="4311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3D shape representations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4246DE-92E7-467A-8ADA-E6EB9949CF93}"/>
              </a:ext>
            </a:extLst>
          </p:cNvPr>
          <p:cNvSpPr txBox="1"/>
          <p:nvPr/>
        </p:nvSpPr>
        <p:spPr>
          <a:xfrm>
            <a:off x="109389" y="523220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we represent 3d objects in 2d paper?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D900D1-98C8-4FE3-8575-CD97A6907FBA}"/>
              </a:ext>
            </a:extLst>
          </p:cNvPr>
          <p:cNvSpPr txBox="1"/>
          <p:nvPr/>
        </p:nvSpPr>
        <p:spPr>
          <a:xfrm>
            <a:off x="2030359" y="2795522"/>
            <a:ext cx="65759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+mj-lt"/>
              </a:rPr>
              <a:t>An isometric drawing has a leading edge, the left and right edges lead back at a 30</a:t>
            </a:r>
            <a:r>
              <a:rPr lang="en-AU" sz="2400" baseline="30000" dirty="0">
                <a:latin typeface="+mj-lt"/>
              </a:rPr>
              <a:t>o</a:t>
            </a:r>
            <a:r>
              <a:rPr lang="en-AU" sz="2400" dirty="0">
                <a:latin typeface="+mj-lt"/>
              </a:rPr>
              <a:t> slant.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ACF14C-A264-48A3-B95B-29A695FB9D96}"/>
              </a:ext>
            </a:extLst>
          </p:cNvPr>
          <p:cNvSpPr txBox="1"/>
          <p:nvPr/>
        </p:nvSpPr>
        <p:spPr>
          <a:xfrm>
            <a:off x="-15999" y="2812812"/>
            <a:ext cx="20824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an Isometric drawing?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FFF8BE-B489-48B4-9BE8-3AFA378A34B7}"/>
              </a:ext>
            </a:extLst>
          </p:cNvPr>
          <p:cNvSpPr txBox="1"/>
          <p:nvPr/>
        </p:nvSpPr>
        <p:spPr>
          <a:xfrm>
            <a:off x="2066432" y="1387743"/>
            <a:ext cx="668070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+mj-lt"/>
              </a:rPr>
              <a:t>An oblique drawing </a:t>
            </a:r>
            <a:r>
              <a:rPr lang="en-AU" sz="2800" dirty="0">
                <a:latin typeface="+mj-lt"/>
              </a:rPr>
              <a:t>has</a:t>
            </a:r>
            <a:r>
              <a:rPr lang="en-AU" sz="2400" dirty="0">
                <a:latin typeface="+mj-lt"/>
              </a:rPr>
              <a:t> a leading face, the edges lead back at a 45</a:t>
            </a:r>
            <a:r>
              <a:rPr lang="en-AU" sz="2400" baseline="30000" dirty="0">
                <a:latin typeface="+mj-lt"/>
              </a:rPr>
              <a:t>o</a:t>
            </a:r>
            <a:r>
              <a:rPr lang="en-AU" sz="2400" dirty="0">
                <a:latin typeface="+mj-lt"/>
              </a:rPr>
              <a:t> slant.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7507637-A5BA-45AC-8901-7804F0CF0A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168" y="3941690"/>
            <a:ext cx="4991675" cy="244141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D9B21D3-2DA2-4140-9F0B-13DDC0FEEE65}"/>
              </a:ext>
            </a:extLst>
          </p:cNvPr>
          <p:cNvSpPr txBox="1"/>
          <p:nvPr/>
        </p:nvSpPr>
        <p:spPr>
          <a:xfrm>
            <a:off x="279765" y="1605985"/>
            <a:ext cx="20824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an Oblique drawing?</a:t>
            </a:r>
          </a:p>
        </p:txBody>
      </p:sp>
    </p:spTree>
    <p:extLst>
      <p:ext uri="{BB962C8B-B14F-4D97-AF65-F5344CB8AC3E}">
        <p14:creationId xmlns:p14="http://schemas.microsoft.com/office/powerpoint/2010/main" val="795388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F03EA-08CF-4CE6-9D1B-00878413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5572"/>
            <a:ext cx="8229600" cy="1143000"/>
          </a:xfrm>
        </p:spPr>
        <p:txBody>
          <a:bodyPr/>
          <a:lstStyle/>
          <a:p>
            <a:r>
              <a:rPr lang="en-AU" dirty="0"/>
              <a:t>Lets try and draw these in oblique and isometric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CD50C-B05E-47BD-8A09-2FB7DED75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lphaLcParenR"/>
            </a:pPr>
            <a:r>
              <a:rPr lang="en-AU" dirty="0"/>
              <a:t>A dining table 			b) a garden shed</a:t>
            </a:r>
          </a:p>
          <a:p>
            <a:pPr marL="514350" indent="-514350">
              <a:buAutoNum type="alphaLcParenR"/>
            </a:pPr>
            <a:endParaRPr lang="en-AU" dirty="0"/>
          </a:p>
          <a:p>
            <a:pPr marL="514350" indent="-514350">
              <a:buAutoNum type="alphaLcParenR"/>
            </a:pPr>
            <a:endParaRPr lang="en-AU" dirty="0"/>
          </a:p>
          <a:p>
            <a:pPr marL="514350" indent="-514350">
              <a:buAutoNum type="alphaLcParenR"/>
            </a:pPr>
            <a:endParaRPr lang="en-AU" dirty="0"/>
          </a:p>
          <a:p>
            <a:pPr marL="514350" indent="-514350">
              <a:buAutoNum type="alphaLcParenR"/>
            </a:pPr>
            <a:endParaRPr lang="en-AU" dirty="0"/>
          </a:p>
          <a:p>
            <a:pPr marL="514350" indent="-514350">
              <a:buAutoNum type="alphaLcParenR"/>
            </a:pPr>
            <a:endParaRPr lang="en-AU" dirty="0"/>
          </a:p>
          <a:p>
            <a:pPr marL="514350" indent="-514350">
              <a:buAutoNum type="alphaLcParenR"/>
            </a:pPr>
            <a:endParaRPr lang="en-AU" dirty="0"/>
          </a:p>
          <a:p>
            <a:pPr marL="514350" indent="-514350">
              <a:buAutoNum type="alphaLcParenR"/>
            </a:pP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5A8A14-890A-4091-8D83-BC0D5B9D9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2789238"/>
            <a:ext cx="3580085" cy="26812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7F7AD9-CF7F-4B84-AD18-15A43708C4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587" y="2816670"/>
            <a:ext cx="3400322" cy="2529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318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EE6CAA-51E7-4C57-8EAE-899C6486D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150" y="923925"/>
            <a:ext cx="5981700" cy="501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037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isometric and oblique worksheet pdf">
            <a:extLst>
              <a:ext uri="{FF2B5EF4-FFF2-40B4-BE49-F238E27FC236}">
                <a16:creationId xmlns:a16="http://schemas.microsoft.com/office/drawing/2014/main" id="{9AFF193F-3862-41FD-AC47-436AF58442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28601"/>
            <a:ext cx="7813355" cy="5862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6163274-1FBD-4EF7-B0AF-84C1AA58B592}"/>
              </a:ext>
            </a:extLst>
          </p:cNvPr>
          <p:cNvSpPr txBox="1"/>
          <p:nvPr/>
        </p:nvSpPr>
        <p:spPr>
          <a:xfrm>
            <a:off x="1143000" y="6248400"/>
            <a:ext cx="7813355" cy="380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Try and draw your name in Isometric Letters</a:t>
            </a:r>
          </a:p>
        </p:txBody>
      </p:sp>
    </p:spTree>
    <p:extLst>
      <p:ext uri="{BB962C8B-B14F-4D97-AF65-F5344CB8AC3E}">
        <p14:creationId xmlns:p14="http://schemas.microsoft.com/office/powerpoint/2010/main" val="33659634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kış">
  <a:themeElements>
    <a:clrScheme name="Akış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Akış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kış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Akış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Akış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1262</TotalTime>
  <Words>232</Words>
  <Application>Microsoft Office PowerPoint</Application>
  <PresentationFormat>On-screen Show (4:3)</PresentationFormat>
  <Paragraphs>27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Constantia</vt:lpstr>
      <vt:lpstr>Wingdings 2</vt:lpstr>
      <vt:lpstr>Akış</vt:lpstr>
      <vt:lpstr>Representing 3D objects in 2D</vt:lpstr>
      <vt:lpstr>Oblique Views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Lets try and draw these in oblique and isometric</vt:lpstr>
      <vt:lpstr>PowerPoint Presentation</vt:lpstr>
      <vt:lpstr>PowerPoint Presentation</vt:lpstr>
    </vt:vector>
  </TitlesOfParts>
  <Company>Beavercreek City Schools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pratera</dc:creator>
  <cp:lastModifiedBy>WILSON James [Baldivis Secondary College]</cp:lastModifiedBy>
  <cp:revision>53</cp:revision>
  <cp:lastPrinted>2015-01-30T18:50:58Z</cp:lastPrinted>
  <dcterms:created xsi:type="dcterms:W3CDTF">2015-01-27T18:50:50Z</dcterms:created>
  <dcterms:modified xsi:type="dcterms:W3CDTF">2019-09-18T03:08:08Z</dcterms:modified>
</cp:coreProperties>
</file>
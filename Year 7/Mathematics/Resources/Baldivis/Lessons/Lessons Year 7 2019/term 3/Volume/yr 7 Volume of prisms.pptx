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51" r:id="rId2"/>
    <p:sldId id="261" r:id="rId3"/>
    <p:sldId id="290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37" r:id="rId15"/>
    <p:sldId id="335" r:id="rId16"/>
    <p:sldId id="277" r:id="rId17"/>
    <p:sldId id="349" r:id="rId18"/>
    <p:sldId id="350" r:id="rId19"/>
    <p:sldId id="282" r:id="rId20"/>
    <p:sldId id="283" r:id="rId21"/>
    <p:sldId id="284" r:id="rId22"/>
    <p:sldId id="32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5" autoAdjust="0"/>
    <p:restoredTop sz="95673" autoAdjust="0"/>
  </p:normalViewPr>
  <p:slideViewPr>
    <p:cSldViewPr>
      <p:cViewPr varScale="1">
        <p:scale>
          <a:sx n="64" d="100"/>
          <a:sy n="64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22/09/2019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22/09/2019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22/09/2019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22/09/2019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22/09/2019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22/09/2019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22/09/2019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22/09/2019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22/09/2019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22/09/2019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22/09/2019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22/09/2019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95921D-A183-430B-9301-DC7EE7727E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53901"/>
      </p:ext>
    </p:extLst>
  </p:cSld>
  <p:clrMapOvr>
    <a:masterClrMapping/>
  </p:clrMapOvr>
  <p:transition spd="med"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22/09/2019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026B48-785C-4237-9469-B456304425ED}"/>
              </a:ext>
            </a:extLst>
          </p:cNvPr>
          <p:cNvSpPr txBox="1"/>
          <p:nvPr/>
        </p:nvSpPr>
        <p:spPr>
          <a:xfrm>
            <a:off x="314107" y="116632"/>
            <a:ext cx="8064896" cy="5221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5 Questions</a:t>
            </a:r>
          </a:p>
          <a:p>
            <a:pPr marL="342900" indent="-342900">
              <a:buAutoNum type="arabicPeriod"/>
            </a:pPr>
            <a:r>
              <a:rPr lang="en-AU" sz="2000" dirty="0"/>
              <a:t>What is the volume of these shapes?</a:t>
            </a:r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r>
              <a:rPr lang="en-AU" sz="2000" dirty="0"/>
              <a:t>Answer the following</a:t>
            </a:r>
          </a:p>
          <a:p>
            <a:pPr marL="800100" lvl="1" indent="-342900">
              <a:buAutoNum type="arabicPeriod"/>
            </a:pPr>
            <a:r>
              <a:rPr lang="en-AU" sz="2000" dirty="0"/>
              <a:t>-6 + + 2 = 			3.    4 + - 1 = </a:t>
            </a:r>
          </a:p>
          <a:p>
            <a:pPr marL="800100" lvl="1" indent="-342900">
              <a:buAutoNum type="arabicPeriod"/>
            </a:pPr>
            <a:r>
              <a:rPr lang="en-AU" sz="2000" dirty="0"/>
              <a:t>14 - - 3 = 			4.    -7 - + 4 = </a:t>
            </a:r>
          </a:p>
          <a:p>
            <a:pPr lvl="1"/>
            <a:endParaRPr lang="en-AU" sz="2000" dirty="0"/>
          </a:p>
          <a:p>
            <a:r>
              <a:rPr lang="en-AU" sz="2000" dirty="0"/>
              <a:t>3. Find the mean of;</a:t>
            </a:r>
          </a:p>
          <a:p>
            <a:r>
              <a:rPr lang="en-AU" sz="2000" dirty="0"/>
              <a:t>	23, 34, 35, 37, 19</a:t>
            </a:r>
          </a:p>
          <a:p>
            <a:endParaRPr lang="en-AU" sz="2000" dirty="0"/>
          </a:p>
          <a:p>
            <a:r>
              <a:rPr lang="en-AU" sz="2000" dirty="0"/>
              <a:t>4. What do I mean when I write 5</a:t>
            </a:r>
            <a:r>
              <a:rPr lang="en-AU" sz="2000" baseline="30000" dirty="0"/>
              <a:t>3</a:t>
            </a:r>
            <a:r>
              <a:rPr lang="en-AU" sz="2000" dirty="0"/>
              <a:t>?</a:t>
            </a:r>
          </a:p>
          <a:p>
            <a:endParaRPr lang="en-AU" sz="2000" baseline="30000" dirty="0"/>
          </a:p>
          <a:p>
            <a:r>
              <a:rPr lang="en-AU" sz="2000" dirty="0"/>
              <a:t>5.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F44CD-3FC9-451F-A120-D5F0B9609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5" y="905152"/>
            <a:ext cx="1143000" cy="133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0EFD75-CC8E-4E74-A9F8-EC504CB10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918" y="919262"/>
            <a:ext cx="1795273" cy="12003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EB8FC-A00C-44CC-B577-8EEF4DA10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672" y="713852"/>
            <a:ext cx="2205819" cy="1546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51E9D0-628D-4A86-B611-3C866EBCE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997" y="4912568"/>
            <a:ext cx="50101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2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RECTANGULAR PRISM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A </a:t>
            </a:r>
            <a:r>
              <a:rPr lang="en-US" b="1" i="1" dirty="0">
                <a:solidFill>
                  <a:srgbClr val="FF0000"/>
                </a:solidFill>
              </a:rPr>
              <a:t>RECTANGULAR PRISM</a:t>
            </a:r>
            <a:r>
              <a:rPr lang="en-US" dirty="0"/>
              <a:t>, is a solid figure that has </a:t>
            </a:r>
            <a:r>
              <a:rPr lang="en-US" b="1" dirty="0">
                <a:solidFill>
                  <a:srgbClr val="FF0000"/>
                </a:solidFill>
              </a:rPr>
              <a:t>six</a:t>
            </a:r>
            <a:r>
              <a:rPr lang="en-US" dirty="0"/>
              <a:t> faces that are all </a:t>
            </a:r>
            <a:r>
              <a:rPr lang="en-US" b="1" dirty="0">
                <a:solidFill>
                  <a:srgbClr val="FF0000"/>
                </a:solidFill>
              </a:rPr>
              <a:t>rectangles</a:t>
            </a:r>
            <a:r>
              <a:rPr lang="en-US" dirty="0"/>
              <a:t>. </a:t>
            </a:r>
          </a:p>
        </p:txBody>
      </p:sp>
      <p:pic>
        <p:nvPicPr>
          <p:cNvPr id="2050" name="Picture 2" descr="http://t0.gstatic.com/images?q=tbn:ANd9GcRmqvdT6g01hTXQZA21064Qpuzk3GMOJv0LBvwsdyW82O_rHlY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31" y="4038600"/>
            <a:ext cx="2559169" cy="271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t3.gstatic.com/images?q=tbn:ANd9GcRYcBCGv14wsUTUXbReoAyUfNASZ71pUtnPYXneEP7W4hfZ2D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4170931"/>
            <a:ext cx="2438400" cy="153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t3.gstatic.com/images?q=tbn:ANd9GcRApJDS1NMe9rpy1aKzU5TgrLVL2YmqTJiLml63HeRXS6PWrGXEE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648200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85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A CUBE</a:t>
            </a:r>
            <a:r>
              <a:rPr lang="en-US" dirty="0"/>
              <a:t>, is a solid figure that has </a:t>
            </a:r>
            <a:r>
              <a:rPr lang="en-US" b="1" dirty="0">
                <a:solidFill>
                  <a:srgbClr val="FF0000"/>
                </a:solidFill>
              </a:rPr>
              <a:t>six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faces that are all </a:t>
            </a:r>
            <a:r>
              <a:rPr lang="en-US" b="1" dirty="0">
                <a:solidFill>
                  <a:srgbClr val="FF0000"/>
                </a:solidFill>
              </a:rPr>
              <a:t>squares</a:t>
            </a:r>
            <a:r>
              <a:rPr lang="en-US" dirty="0">
                <a:solidFill>
                  <a:schemeClr val="accent6"/>
                </a:solidFill>
              </a:rPr>
              <a:t>. </a:t>
            </a:r>
            <a:r>
              <a:rPr lang="en-US" dirty="0"/>
              <a:t>This shape is classified as a rectangular prism because all squares are technically </a:t>
            </a:r>
            <a:r>
              <a:rPr lang="en-US" dirty="0">
                <a:solidFill>
                  <a:srgbClr val="FF0000"/>
                </a:solidFill>
              </a:rPr>
              <a:t>rectangles</a:t>
            </a:r>
          </a:p>
        </p:txBody>
      </p:sp>
      <p:pic>
        <p:nvPicPr>
          <p:cNvPr id="1026" name="Picture 2" descr="Image result for d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4196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rubiks cub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8862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801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988" y="965397"/>
            <a:ext cx="5226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F70FDA-4943-4404-8F94-293271300EC2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89FE5B-AE85-48BF-982B-C953252AAD61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F8BAD1-E93D-4124-BBA0-C45F6335A9B4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154364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  <a:highlight>
                  <a:srgbClr val="FFFF00"/>
                </a:highlight>
              </a:rPr>
              <a:t>= 100cm</a:t>
            </a:r>
            <a:r>
              <a:rPr lang="en-AU" baseline="30000" dirty="0">
                <a:solidFill>
                  <a:srgbClr val="0070C0"/>
                </a:solidFill>
                <a:highlight>
                  <a:srgbClr val="FFFF00"/>
                </a:highlight>
              </a:rPr>
              <a:t>2</a:t>
            </a:r>
            <a:endParaRPr lang="en-AU" dirty="0">
              <a:solidFill>
                <a:srgbClr val="0070C0"/>
              </a:solidFill>
              <a:highlight>
                <a:srgbClr val="FFFF00"/>
              </a:highlight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0" y="1672898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Area</a:t>
            </a:r>
            <a:r>
              <a:rPr lang="en-AU" dirty="0">
                <a:highlight>
                  <a:srgbClr val="FFFF00"/>
                </a:highlight>
              </a:rPr>
              <a:t>= 10 x 10cm = 100cm</a:t>
            </a:r>
            <a:r>
              <a:rPr lang="en-AU" baseline="30000" dirty="0">
                <a:highlight>
                  <a:srgbClr val="FFFF00"/>
                </a:highlight>
              </a:rPr>
              <a:t>2</a:t>
            </a:r>
            <a:endParaRPr lang="en-AU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62BC58-76EE-43FC-9AED-3697AA15D6AF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72671E-E7AD-46EA-AF45-641529E1DAA1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ADA41F-A075-4E70-961F-334104DD105F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E599E4B-0EB5-47D3-BC93-86EADF172F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8303" y="2578330"/>
            <a:ext cx="2061137" cy="204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1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0" y="2044673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1cm back</a:t>
            </a:r>
          </a:p>
          <a:p>
            <a:r>
              <a:rPr lang="en-AU" dirty="0"/>
              <a:t>	= 100cm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EB66E4-E71A-4228-9694-91191A44EB9F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582030-1E2C-4C29-B912-649EADD89610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5F8839-0F55-4240-A6F6-7EA0E391593F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4945FE-78AE-4C97-A61D-EFD05EF3BF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3686" y="2578330"/>
            <a:ext cx="2061137" cy="204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031" y="2331542"/>
            <a:ext cx="2143125" cy="2143125"/>
          </a:xfrm>
          <a:prstGeom prst="rect">
            <a:avLst/>
          </a:prstGeom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4097" y="2414005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2050220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2cm back</a:t>
            </a:r>
          </a:p>
          <a:p>
            <a:r>
              <a:rPr lang="en-AU" dirty="0"/>
              <a:t>	= 200cm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43485C-EC47-48BE-A56F-4F23A26F2301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F30E4B-2CCD-4CC4-8519-E283B6308E76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E74371-D380-4F12-9073-74256D320847}"/>
              </a:ext>
            </a:extLst>
          </p:cNvPr>
          <p:cNvSpPr txBox="1"/>
          <p:nvPr/>
        </p:nvSpPr>
        <p:spPr>
          <a:xfrm rot="18877215">
            <a:off x="3147497" y="4201945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E71D77-EFDD-491A-BE3F-82D079E889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7776" y="2580410"/>
            <a:ext cx="2061137" cy="20494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B6ED90-CD7E-4AD2-9159-18BBA5706BE8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458951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2050219"/>
            <a:ext cx="2926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3cm back</a:t>
            </a:r>
          </a:p>
          <a:p>
            <a:r>
              <a:rPr lang="en-AU" dirty="0"/>
              <a:t>	= 300cm</a:t>
            </a:r>
            <a:r>
              <a:rPr lang="en-AU" baseline="30000" dirty="0"/>
              <a:t>3</a:t>
            </a:r>
            <a:endParaRPr lang="en-AU" dirty="0"/>
          </a:p>
          <a:p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9DD764-DDAE-4056-85AB-18630BAF17C8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C90E8-27EC-4AFE-B089-BCAED3362D5A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D61207-6407-4ACD-8F1A-B8B7A3675E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4274" y="2578330"/>
            <a:ext cx="2061137" cy="20494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E2D8A0-E09D-4328-B8F3-15CF753FCB9C}"/>
              </a:ext>
            </a:extLst>
          </p:cNvPr>
          <p:cNvSpPr txBox="1"/>
          <p:nvPr/>
        </p:nvSpPr>
        <p:spPr>
          <a:xfrm rot="18877215">
            <a:off x="5572170" y="418571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2254787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6217921" y="2050220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4cm back</a:t>
            </a:r>
          </a:p>
          <a:p>
            <a:r>
              <a:rPr lang="en-AU" dirty="0"/>
              <a:t>	= 400cm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BBE88-BDFD-4C28-8164-A73478B70134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277CE-9AD2-4D56-9448-FAB8C5BD243E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9561CD-15E7-46FF-9F01-0827FC732F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05130" y="2578330"/>
            <a:ext cx="2061137" cy="20494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B37875E-049F-430F-90DE-304436522FB8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3378133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2050220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5cm back</a:t>
            </a:r>
          </a:p>
          <a:p>
            <a:r>
              <a:rPr lang="en-AU" dirty="0"/>
              <a:t>	 = 500cm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D6E143-8007-4B01-8FCD-3099F69EAC1E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D92198-0AEC-4D18-8AC2-5B33F094E786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85D596-7FC8-41F6-8624-656D01BBCE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4274" y="2578330"/>
            <a:ext cx="2061137" cy="20494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5932B9F-0D6E-416A-81C3-43DA7D0869C3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1899443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86336" y="2122977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3" y="2486762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2050220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6cm back</a:t>
            </a:r>
          </a:p>
          <a:p>
            <a:r>
              <a:rPr lang="en-AU" dirty="0"/>
              <a:t>	= 600cm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059A29-41FB-43A3-8664-18D5B6433349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EE1F7C-CDE8-4837-BE55-B5E9BAEC718C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458D07-85BC-4768-86B6-49EEDA15D9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05130" y="2578330"/>
            <a:ext cx="2061137" cy="20494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A0F863-0CF5-4097-BBAB-A7BCF56BC445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515751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2130" y="2050220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439958" y="9653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</a:rPr>
              <a:t>= 100cm</a:t>
            </a:r>
            <a:r>
              <a:rPr lang="en-AU" baseline="30000" dirty="0">
                <a:solidFill>
                  <a:srgbClr val="0070C0"/>
                </a:solidFill>
              </a:rPr>
              <a:t>2</a:t>
            </a:r>
            <a:endParaRPr lang="en-AU" dirty="0">
              <a:solidFill>
                <a:srgbClr val="0070C0"/>
              </a:solidFill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79447" y="2122977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06764" y="2195734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36352" y="226849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63669" y="2341248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6" y="2414005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6623" y="2484682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2050220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7cm back</a:t>
            </a:r>
          </a:p>
          <a:p>
            <a:r>
              <a:rPr lang="en-AU" dirty="0"/>
              <a:t>	= 700cm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442F34-4556-4166-BDDE-BE4ED4E5D94F}"/>
              </a:ext>
            </a:extLst>
          </p:cNvPr>
          <p:cNvSpPr txBox="1"/>
          <p:nvPr/>
        </p:nvSpPr>
        <p:spPr>
          <a:xfrm rot="16200000">
            <a:off x="2743122" y="33736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C1438A-F948-49BE-8AD9-2E581EF6ABEE}"/>
              </a:ext>
            </a:extLst>
          </p:cNvPr>
          <p:cNvSpPr txBox="1"/>
          <p:nvPr/>
        </p:nvSpPr>
        <p:spPr>
          <a:xfrm>
            <a:off x="3925368" y="45474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FD6C23-BDA2-426C-8BC0-5B49C7C346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4274" y="2578330"/>
            <a:ext cx="2061137" cy="204947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7E35DF-E0E4-4DF9-86A6-71E626DB3FD7}"/>
              </a:ext>
            </a:extLst>
          </p:cNvPr>
          <p:cNvSpPr/>
          <p:nvPr/>
        </p:nvSpPr>
        <p:spPr>
          <a:xfrm>
            <a:off x="6720634" y="3043477"/>
            <a:ext cx="1920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Volume is in units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A71C01-0650-4FF3-AE58-B891634F36AF}"/>
              </a:ext>
            </a:extLst>
          </p:cNvPr>
          <p:cNvSpPr txBox="1"/>
          <p:nvPr/>
        </p:nvSpPr>
        <p:spPr>
          <a:xfrm rot="18877215">
            <a:off x="5499813" y="42123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184498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D92D2B-FF25-4C49-9DBA-66E1801A9916}"/>
              </a:ext>
            </a:extLst>
          </p:cNvPr>
          <p:cNvCxnSpPr/>
          <p:nvPr/>
        </p:nvCxnSpPr>
        <p:spPr>
          <a:xfrm>
            <a:off x="2064351" y="692696"/>
            <a:ext cx="5040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3285744-D026-477A-BACA-FFC3472AAB3F}"/>
              </a:ext>
            </a:extLst>
          </p:cNvPr>
          <p:cNvSpPr txBox="1"/>
          <p:nvPr/>
        </p:nvSpPr>
        <p:spPr>
          <a:xfrm>
            <a:off x="1308942" y="711000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line is one dimensional.  We can only measure it’s length so it’s units are one dimensional units (mm, cm, m, km)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5D526-34BD-4E14-9C4D-CFFD23F5BE4F}"/>
              </a:ext>
            </a:extLst>
          </p:cNvPr>
          <p:cNvSpPr txBox="1"/>
          <p:nvPr/>
        </p:nvSpPr>
        <p:spPr>
          <a:xfrm>
            <a:off x="1187624" y="2500817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These shapes are 2 dimensional.  We can measure it’s length and width so it’s units are two dimensional units (mm</a:t>
            </a:r>
            <a:r>
              <a:rPr lang="en-AU" baseline="30000" dirty="0"/>
              <a:t>2</a:t>
            </a:r>
            <a:r>
              <a:rPr lang="en-AU" dirty="0"/>
              <a:t>, cm</a:t>
            </a:r>
            <a:r>
              <a:rPr lang="en-AU" baseline="30000" dirty="0"/>
              <a:t>2</a:t>
            </a:r>
            <a:r>
              <a:rPr lang="en-AU" dirty="0"/>
              <a:t>, m</a:t>
            </a:r>
            <a:r>
              <a:rPr lang="en-AU" baseline="30000" dirty="0"/>
              <a:t>2</a:t>
            </a:r>
            <a:r>
              <a:rPr lang="en-AU" dirty="0"/>
              <a:t>, km</a:t>
            </a:r>
            <a:r>
              <a:rPr lang="en-AU" baseline="30000" dirty="0"/>
              <a:t>2</a:t>
            </a:r>
            <a:r>
              <a:rPr lang="en-AU" dirty="0"/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16C676-B207-4865-99BF-BC1BA6BDFAE3}"/>
              </a:ext>
            </a:extLst>
          </p:cNvPr>
          <p:cNvSpPr/>
          <p:nvPr/>
        </p:nvSpPr>
        <p:spPr>
          <a:xfrm>
            <a:off x="641959" y="1521718"/>
            <a:ext cx="2276412" cy="827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26604DA-2BA8-4031-9E4C-1592FC090349}"/>
              </a:ext>
            </a:extLst>
          </p:cNvPr>
          <p:cNvSpPr/>
          <p:nvPr/>
        </p:nvSpPr>
        <p:spPr>
          <a:xfrm>
            <a:off x="3477655" y="1543824"/>
            <a:ext cx="1197443" cy="805553"/>
          </a:xfrm>
          <a:prstGeom prst="triangle">
            <a:avLst>
              <a:gd name="adj" fmla="val 260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150E430D-F33C-4780-AA33-0D6C4E594D71}"/>
              </a:ext>
            </a:extLst>
          </p:cNvPr>
          <p:cNvSpPr/>
          <p:nvPr/>
        </p:nvSpPr>
        <p:spPr>
          <a:xfrm>
            <a:off x="5102961" y="1521718"/>
            <a:ext cx="1053215" cy="1021198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F6F479-CD0B-4302-9398-45234076D05C}"/>
              </a:ext>
            </a:extLst>
          </p:cNvPr>
          <p:cNvSpPr/>
          <p:nvPr/>
        </p:nvSpPr>
        <p:spPr>
          <a:xfrm>
            <a:off x="6781696" y="1441835"/>
            <a:ext cx="1053215" cy="1030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EE8A11A3-D71D-4379-BBAE-76B673EBF83E}"/>
              </a:ext>
            </a:extLst>
          </p:cNvPr>
          <p:cNvSpPr/>
          <p:nvPr/>
        </p:nvSpPr>
        <p:spPr>
          <a:xfrm>
            <a:off x="641959" y="3566041"/>
            <a:ext cx="1080120" cy="122413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EA8B9C24-9D25-45A2-94AA-5644B8A8D60F}"/>
              </a:ext>
            </a:extLst>
          </p:cNvPr>
          <p:cNvSpPr/>
          <p:nvPr/>
        </p:nvSpPr>
        <p:spPr>
          <a:xfrm>
            <a:off x="3289162" y="3658195"/>
            <a:ext cx="1656184" cy="936104"/>
          </a:xfrm>
          <a:prstGeom prst="can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13" name="3D Model 12">
                <a:extLst>
                  <a:ext uri="{FF2B5EF4-FFF2-40B4-BE49-F238E27FC236}">
                    <a16:creationId xmlns:a16="http://schemas.microsoft.com/office/drawing/2014/main" id="{C2B82B86-786A-4AEC-9D3B-DD4B2C14CE8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41496540"/>
                  </p:ext>
                </p:extLst>
              </p:nvPr>
            </p:nvGraphicFramePr>
            <p:xfrm rot="20426361">
              <a:off x="5782034" y="2926306"/>
              <a:ext cx="2562150" cy="1917845"/>
            </p:xfrm>
            <a:graphic>
              <a:graphicData uri="http://schemas.microsoft.com/office/drawing/2017/model3d">
                <am3d:model3d r:embed="rId2">
                  <am3d:spPr>
                    <a:xfrm rot="20426361">
                      <a:off x="0" y="0"/>
                      <a:ext cx="2562150" cy="1917845"/>
                    </a:xfrm>
                    <a:prstGeom prst="rect">
                      <a:avLst/>
                    </a:prstGeom>
                  </am3d:spPr>
                  <am3d:camera>
                    <am3d:pos x="0" y="0" z="7055322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4998750" d="1000000"/>
                    <am3d:preTrans dx="3" dy="-8998652" dz="-5"/>
                    <am3d:scale>
                      <am3d:sx n="1000000" d="1000000"/>
                      <am3d:sy n="1000000" d="1000000"/>
                      <am3d:sz n="1000000" d="1000000"/>
                    </am3d:scale>
                    <am3d:rot ax="1097159" ay="2252142" az="68296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55409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13" name="3D Model 12">
                <a:extLst>
                  <a:ext uri="{FF2B5EF4-FFF2-40B4-BE49-F238E27FC236}">
                    <a16:creationId xmlns:a16="http://schemas.microsoft.com/office/drawing/2014/main" id="{C2B82B86-786A-4AEC-9D3B-DD4B2C14CE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20426361">
                <a:off x="5782034" y="2926306"/>
                <a:ext cx="2562150" cy="1917845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925FE11-6A1C-48A9-B46E-4F9B0B4AF1F2}"/>
              </a:ext>
            </a:extLst>
          </p:cNvPr>
          <p:cNvSpPr txBox="1"/>
          <p:nvPr/>
        </p:nvSpPr>
        <p:spPr>
          <a:xfrm>
            <a:off x="948227" y="5181771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These shapes are 3 dimensional.  We can measure it’s length, width and depth so it’s units are 3 dimensional units (mm</a:t>
            </a:r>
            <a:r>
              <a:rPr lang="en-AU" baseline="30000" dirty="0"/>
              <a:t>3</a:t>
            </a:r>
            <a:r>
              <a:rPr lang="en-AU" dirty="0"/>
              <a:t>, cm</a:t>
            </a:r>
            <a:r>
              <a:rPr lang="en-AU" baseline="30000" dirty="0"/>
              <a:t>3</a:t>
            </a:r>
            <a:r>
              <a:rPr lang="en-AU" dirty="0"/>
              <a:t>, m</a:t>
            </a:r>
            <a:r>
              <a:rPr lang="en-AU" baseline="30000" dirty="0"/>
              <a:t>3</a:t>
            </a:r>
            <a:r>
              <a:rPr lang="en-AU" dirty="0"/>
              <a:t>, km</a:t>
            </a:r>
            <a:r>
              <a:rPr lang="en-AU" baseline="30000" dirty="0"/>
              <a:t>3</a:t>
            </a:r>
            <a:r>
              <a:rPr lang="en-A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6784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8348" y="1213259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a prism?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71800" y="5560847"/>
            <a:ext cx="58474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To find the volume of a prism, find the area of the base and</a:t>
            </a:r>
          </a:p>
          <a:p>
            <a:r>
              <a:rPr lang="en-AU" b="1" dirty="0"/>
              <a:t>Multiply it by the depth of the prism</a:t>
            </a:r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3360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Volume of Prisms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E5B0-36AE-6840-8D5F-96F91C3B245A}"/>
              </a:ext>
            </a:extLst>
          </p:cNvPr>
          <p:cNvSpPr txBox="1"/>
          <p:nvPr/>
        </p:nvSpPr>
        <p:spPr>
          <a:xfrm>
            <a:off x="107860" y="1496274"/>
            <a:ext cx="2159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rectangular prism?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BD9BA1-135D-3348-9C22-4CADFBC1C4FD}"/>
              </a:ext>
            </a:extLst>
          </p:cNvPr>
          <p:cNvSpPr txBox="1"/>
          <p:nvPr/>
        </p:nvSpPr>
        <p:spPr>
          <a:xfrm>
            <a:off x="3275855" y="5032610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Volume = length x width x height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EAD5BB-00E1-48B4-9E3E-7C0C5B80A7EE}"/>
              </a:ext>
            </a:extLst>
          </p:cNvPr>
          <p:cNvSpPr txBox="1"/>
          <p:nvPr/>
        </p:nvSpPr>
        <p:spPr>
          <a:xfrm>
            <a:off x="2644534" y="1363725"/>
            <a:ext cx="6586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is the amount of space there is inside a 3d object.</a:t>
            </a:r>
          </a:p>
          <a:p>
            <a:pPr marL="285750" indent="-285750">
              <a:buFontTx/>
              <a:buChar char="-"/>
            </a:pPr>
            <a:endParaRPr lang="en-AU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31F5288-535D-4B31-B067-6C2547F20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320" y="3044598"/>
            <a:ext cx="3439551" cy="17518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48C215-9283-4D29-A212-3F08156F9F31}"/>
              </a:ext>
            </a:extLst>
          </p:cNvPr>
          <p:cNvSpPr/>
          <p:nvPr/>
        </p:nvSpPr>
        <p:spPr>
          <a:xfrm>
            <a:off x="3282283" y="2076628"/>
            <a:ext cx="4572000" cy="9233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spAutoFit/>
          </a:bodyPr>
          <a:lstStyle/>
          <a:p>
            <a:r>
              <a:rPr lang="en-AU"/>
              <a:t>Think of a lunch container and ask yourself how many 1cm cubes could fit inside it.  </a:t>
            </a:r>
            <a:r>
              <a:rPr lang="en-AU" dirty="0"/>
              <a:t>The answer is the volume of the container.</a:t>
            </a:r>
          </a:p>
        </p:txBody>
      </p:sp>
    </p:spTree>
    <p:extLst>
      <p:ext uri="{BB962C8B-B14F-4D97-AF65-F5344CB8AC3E}">
        <p14:creationId xmlns:p14="http://schemas.microsoft.com/office/powerpoint/2010/main" val="33996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2990"/>
            <a:ext cx="8229600" cy="1143000"/>
          </a:xfrm>
        </p:spPr>
        <p:txBody>
          <a:bodyPr/>
          <a:lstStyle/>
          <a:p>
            <a:r>
              <a:rPr lang="en-GB" dirty="0"/>
              <a:t>I Do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A7BAC778-AEC3-144F-BCED-F55F1F743C26}"/>
              </a:ext>
            </a:extLst>
          </p:cNvPr>
          <p:cNvSpPr/>
          <p:nvPr/>
        </p:nvSpPr>
        <p:spPr>
          <a:xfrm>
            <a:off x="935596" y="2852936"/>
            <a:ext cx="2304256" cy="1080120"/>
          </a:xfrm>
          <a:prstGeom prst="cub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D71066-F8C6-6647-B90A-F7F34F2BE1D7}"/>
              </a:ext>
            </a:extLst>
          </p:cNvPr>
          <p:cNvSpPr txBox="1"/>
          <p:nvPr/>
        </p:nvSpPr>
        <p:spPr>
          <a:xfrm>
            <a:off x="395536" y="320833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766836-F58E-864B-B7A2-284070A94DCD}"/>
              </a:ext>
            </a:extLst>
          </p:cNvPr>
          <p:cNvSpPr txBox="1"/>
          <p:nvPr/>
        </p:nvSpPr>
        <p:spPr>
          <a:xfrm>
            <a:off x="1583668" y="393305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15cm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A0FBB5-C2C0-8D4A-9F20-F9F88C0729FC}"/>
              </a:ext>
            </a:extLst>
          </p:cNvPr>
          <p:cNvSpPr txBox="1"/>
          <p:nvPr/>
        </p:nvSpPr>
        <p:spPr>
          <a:xfrm>
            <a:off x="2986336" y="371612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C26034CC-BF3E-4155-9F4A-ECF28C4D7778}"/>
              </a:ext>
            </a:extLst>
          </p:cNvPr>
          <p:cNvSpPr/>
          <p:nvPr/>
        </p:nvSpPr>
        <p:spPr>
          <a:xfrm>
            <a:off x="5724128" y="2067466"/>
            <a:ext cx="1152128" cy="1696834"/>
          </a:xfrm>
          <a:prstGeom prst="cub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DE7689-E156-4787-9319-1D29BA1BBAA7}"/>
              </a:ext>
            </a:extLst>
          </p:cNvPr>
          <p:cNvSpPr txBox="1"/>
          <p:nvPr/>
        </p:nvSpPr>
        <p:spPr>
          <a:xfrm>
            <a:off x="6158733" y="1750271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EF6AF5-6C4B-4BAA-AA6B-B45CA1DD5969}"/>
              </a:ext>
            </a:extLst>
          </p:cNvPr>
          <p:cNvSpPr txBox="1"/>
          <p:nvPr/>
        </p:nvSpPr>
        <p:spPr>
          <a:xfrm>
            <a:off x="6876256" y="267024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F7C022-6B7D-4391-8A10-4CAC2D5F3922}"/>
              </a:ext>
            </a:extLst>
          </p:cNvPr>
          <p:cNvSpPr txBox="1"/>
          <p:nvPr/>
        </p:nvSpPr>
        <p:spPr>
          <a:xfrm>
            <a:off x="6660232" y="354736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</a:t>
            </a:r>
          </a:p>
        </p:txBody>
      </p:sp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19" grpId="0"/>
      <p:bldP spid="7" grpId="0" animBg="1"/>
      <p:bldP spid="8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7" y="1259990"/>
            <a:ext cx="1891576" cy="16244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33" y="1821749"/>
            <a:ext cx="1490214" cy="2502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936" y="2318041"/>
            <a:ext cx="1796583" cy="1959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061" y="1006176"/>
            <a:ext cx="230505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593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8077200" cy="1066800"/>
          </a:xfrm>
        </p:spPr>
        <p:txBody>
          <a:bodyPr/>
          <a:lstStyle/>
          <a:p>
            <a:pPr eaLnBrk="1" hangingPunct="1"/>
            <a:r>
              <a:rPr lang="en-US" sz="4400" b="1"/>
              <a:t>Volume (rectangular prism)</a:t>
            </a:r>
            <a:endParaRPr lang="en-US" sz="4400" b="1">
              <a:solidFill>
                <a:schemeClr val="folHlink"/>
              </a:solidFill>
            </a:endParaRP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3962400" y="2819400"/>
            <a:ext cx="4587875" cy="252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3200">
                <a:solidFill>
                  <a:srgbClr val="267D03"/>
                </a:solidFill>
              </a:rPr>
              <a:t>Formula: 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   B    x    h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 l x w   x  h</a:t>
            </a:r>
            <a:endParaRPr lang="en-US" sz="3200" baseline="30000">
              <a:solidFill>
                <a:srgbClr val="267D03"/>
              </a:solidFill>
            </a:endParaRP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1752600" y="5334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l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2743200" y="5029200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w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2895600" y="4191000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h</a:t>
            </a:r>
          </a:p>
        </p:txBody>
      </p:sp>
      <p:sp>
        <p:nvSpPr>
          <p:cNvPr id="6152" name="AutoShape 8"/>
          <p:cNvSpPr>
            <a:spLocks noChangeArrowheads="1"/>
          </p:cNvSpPr>
          <p:nvPr/>
        </p:nvSpPr>
        <p:spPr bwMode="auto">
          <a:xfrm>
            <a:off x="1219200" y="3810000"/>
            <a:ext cx="1676400" cy="15240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3" name="AutoShape 9"/>
          <p:cNvSpPr>
            <a:spLocks noChangeArrowheads="1"/>
          </p:cNvSpPr>
          <p:nvPr/>
        </p:nvSpPr>
        <p:spPr bwMode="auto">
          <a:xfrm>
            <a:off x="1219200" y="3810000"/>
            <a:ext cx="1676400" cy="381000"/>
          </a:xfrm>
          <a:prstGeom prst="parallelogram">
            <a:avLst>
              <a:gd name="adj" fmla="val 11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27698"/>
      </p:ext>
    </p:extLst>
  </p:cSld>
  <p:clrMapOvr>
    <a:masterClrMapping/>
  </p:clrMapOvr>
  <p:transition spd="med"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8077200" cy="1066800"/>
          </a:xfrm>
        </p:spPr>
        <p:txBody>
          <a:bodyPr/>
          <a:lstStyle/>
          <a:p>
            <a:pPr eaLnBrk="1" hangingPunct="1"/>
            <a:r>
              <a:rPr lang="en-US" sz="2800" b="1"/>
              <a:t>Find the volume of this prism…</a:t>
            </a:r>
            <a:endParaRPr lang="en-US" sz="2800" b="1">
              <a:solidFill>
                <a:schemeClr val="folHlink"/>
              </a:solidFill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4114800" y="2438400"/>
            <a:ext cx="4587875" cy="284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3200">
                <a:solidFill>
                  <a:srgbClr val="267D03"/>
                </a:solidFill>
              </a:rPr>
              <a:t>Formula: 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   B    x    h</a:t>
            </a:r>
          </a:p>
          <a:p>
            <a:r>
              <a:rPr lang="en-US" sz="3200">
                <a:solidFill>
                  <a:srgbClr val="267D03"/>
                </a:solidFill>
              </a:rPr>
              <a:t>V   =   l x w   x  h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endParaRPr lang="en-US" sz="3200" baseline="30000">
              <a:solidFill>
                <a:srgbClr val="267D03"/>
              </a:solidFill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447800" y="59436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5 cm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2743200" y="57150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4 cm</a:t>
            </a:r>
          </a:p>
        </p:txBody>
      </p:sp>
      <p:sp>
        <p:nvSpPr>
          <p:cNvPr id="7175" name="AutoShape 8"/>
          <p:cNvSpPr>
            <a:spLocks noChangeArrowheads="1"/>
          </p:cNvSpPr>
          <p:nvPr/>
        </p:nvSpPr>
        <p:spPr bwMode="auto">
          <a:xfrm>
            <a:off x="1219200" y="3810000"/>
            <a:ext cx="1676400" cy="2133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6" name="AutoShape 9"/>
          <p:cNvSpPr>
            <a:spLocks noChangeArrowheads="1"/>
          </p:cNvSpPr>
          <p:nvPr/>
        </p:nvSpPr>
        <p:spPr bwMode="auto">
          <a:xfrm>
            <a:off x="1219200" y="3810000"/>
            <a:ext cx="1676400" cy="381000"/>
          </a:xfrm>
          <a:prstGeom prst="parallelogram">
            <a:avLst>
              <a:gd name="adj" fmla="val 11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7" name="Text Box 11"/>
          <p:cNvSpPr txBox="1">
            <a:spLocks noChangeArrowheads="1"/>
          </p:cNvSpPr>
          <p:nvPr/>
        </p:nvSpPr>
        <p:spPr bwMode="auto">
          <a:xfrm>
            <a:off x="2895600" y="44958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7 cm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4197"/>
      </p:ext>
    </p:extLst>
  </p:cSld>
  <p:clrMapOvr>
    <a:masterClrMapping/>
  </p:clrMapOvr>
  <p:transition spd="med"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8077200" cy="1066800"/>
          </a:xfrm>
        </p:spPr>
        <p:txBody>
          <a:bodyPr/>
          <a:lstStyle/>
          <a:p>
            <a:pPr eaLnBrk="1" hangingPunct="1"/>
            <a:r>
              <a:rPr lang="en-US" sz="2800" b="1"/>
              <a:t>Find the volume of this prism…</a:t>
            </a:r>
            <a:endParaRPr lang="en-US" sz="2800" b="1">
              <a:solidFill>
                <a:schemeClr val="folHlink"/>
              </a:solidFill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114800" y="2438400"/>
            <a:ext cx="4876800" cy="333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3200">
                <a:solidFill>
                  <a:srgbClr val="267D03"/>
                </a:solidFill>
              </a:rPr>
              <a:t>Formula: 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   B    x    h</a:t>
            </a:r>
          </a:p>
          <a:p>
            <a:r>
              <a:rPr lang="en-US" sz="3200">
                <a:solidFill>
                  <a:srgbClr val="267D03"/>
                </a:solidFill>
              </a:rPr>
              <a:t>V   =   l x w   x  h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5cm x 4cm x 7cm</a:t>
            </a:r>
          </a:p>
          <a:p>
            <a:endParaRPr lang="en-US" sz="3200" baseline="30000">
              <a:solidFill>
                <a:srgbClr val="267D03"/>
              </a:solidFill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1447800" y="59436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5 cm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2743200" y="57150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4 cm</a:t>
            </a:r>
          </a:p>
        </p:txBody>
      </p:sp>
      <p:sp>
        <p:nvSpPr>
          <p:cNvPr id="8199" name="AutoShape 7"/>
          <p:cNvSpPr>
            <a:spLocks noChangeArrowheads="1"/>
          </p:cNvSpPr>
          <p:nvPr/>
        </p:nvSpPr>
        <p:spPr bwMode="auto">
          <a:xfrm>
            <a:off x="1219200" y="3810000"/>
            <a:ext cx="1676400" cy="2133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00" name="AutoShape 8"/>
          <p:cNvSpPr>
            <a:spLocks noChangeArrowheads="1"/>
          </p:cNvSpPr>
          <p:nvPr/>
        </p:nvSpPr>
        <p:spPr bwMode="auto">
          <a:xfrm>
            <a:off x="1219200" y="3810000"/>
            <a:ext cx="1676400" cy="381000"/>
          </a:xfrm>
          <a:prstGeom prst="parallelogram">
            <a:avLst>
              <a:gd name="adj" fmla="val 11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2895600" y="44958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7 cm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49755"/>
      </p:ext>
    </p:extLst>
  </p:cSld>
  <p:clrMapOvr>
    <a:masterClrMapping/>
  </p:clrMapOvr>
  <p:transition spd="med">
    <p:dissolv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8077200" cy="1066800"/>
          </a:xfrm>
        </p:spPr>
        <p:txBody>
          <a:bodyPr/>
          <a:lstStyle/>
          <a:p>
            <a:pPr eaLnBrk="1" hangingPunct="1"/>
            <a:r>
              <a:rPr lang="en-US" sz="2800" b="1"/>
              <a:t>Find the volume of this prism…</a:t>
            </a:r>
            <a:endParaRPr lang="en-US" sz="2800" b="1">
              <a:solidFill>
                <a:schemeClr val="folHlink"/>
              </a:solidFill>
            </a:endParaRP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114800" y="2438400"/>
            <a:ext cx="4876800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3200">
                <a:solidFill>
                  <a:srgbClr val="267D03"/>
                </a:solidFill>
              </a:rPr>
              <a:t>Formula: 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   B    x    h</a:t>
            </a:r>
          </a:p>
          <a:p>
            <a:r>
              <a:rPr lang="en-US" sz="3200">
                <a:solidFill>
                  <a:srgbClr val="267D03"/>
                </a:solidFill>
              </a:rPr>
              <a:t>V   =   l x w   x  h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5cm x 4cm x 7cm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     140cm</a:t>
            </a:r>
            <a:r>
              <a:rPr lang="en-US" sz="3200" baseline="30000">
                <a:solidFill>
                  <a:srgbClr val="267D03"/>
                </a:solidFill>
              </a:rPr>
              <a:t>3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1447800" y="59436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5 cm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2743200" y="57150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4 cm</a:t>
            </a:r>
          </a:p>
        </p:txBody>
      </p:sp>
      <p:sp>
        <p:nvSpPr>
          <p:cNvPr id="9223" name="AutoShape 7"/>
          <p:cNvSpPr>
            <a:spLocks noChangeArrowheads="1"/>
          </p:cNvSpPr>
          <p:nvPr/>
        </p:nvSpPr>
        <p:spPr bwMode="auto">
          <a:xfrm>
            <a:off x="1219200" y="3810000"/>
            <a:ext cx="1676400" cy="2133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AutoShape 8"/>
          <p:cNvSpPr>
            <a:spLocks noChangeArrowheads="1"/>
          </p:cNvSpPr>
          <p:nvPr/>
        </p:nvSpPr>
        <p:spPr bwMode="auto">
          <a:xfrm>
            <a:off x="1219200" y="3810000"/>
            <a:ext cx="1676400" cy="381000"/>
          </a:xfrm>
          <a:prstGeom prst="parallelogram">
            <a:avLst>
              <a:gd name="adj" fmla="val 11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2895600" y="44958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7 cm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35332"/>
      </p:ext>
    </p:extLst>
  </p:cSld>
  <p:clrMapOvr>
    <a:masterClrMapping/>
  </p:clrMapOvr>
  <p:transition spd="med"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8077200" cy="1066800"/>
          </a:xfrm>
        </p:spPr>
        <p:txBody>
          <a:bodyPr/>
          <a:lstStyle/>
          <a:p>
            <a:pPr eaLnBrk="1" hangingPunct="1"/>
            <a:r>
              <a:rPr lang="en-US" sz="2800" b="1"/>
              <a:t>Does it matter which side is the base?</a:t>
            </a:r>
            <a:endParaRPr lang="en-US" sz="2800" b="1">
              <a:solidFill>
                <a:schemeClr val="folHlink"/>
              </a:solidFill>
            </a:endParaRP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4114800" y="2438400"/>
            <a:ext cx="4876800" cy="333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3200">
                <a:solidFill>
                  <a:srgbClr val="267D03"/>
                </a:solidFill>
              </a:rPr>
              <a:t>Formula: 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   </a:t>
            </a:r>
            <a:r>
              <a:rPr lang="en-US" sz="3200">
                <a:solidFill>
                  <a:srgbClr val="FC2C1C"/>
                </a:solidFill>
              </a:rPr>
              <a:t>B</a:t>
            </a:r>
            <a:r>
              <a:rPr lang="en-US" sz="3200">
                <a:solidFill>
                  <a:srgbClr val="267D03"/>
                </a:solidFill>
              </a:rPr>
              <a:t>    x    h</a:t>
            </a:r>
          </a:p>
          <a:p>
            <a:r>
              <a:rPr lang="en-US" sz="3200">
                <a:solidFill>
                  <a:srgbClr val="267D03"/>
                </a:solidFill>
              </a:rPr>
              <a:t>V   =   </a:t>
            </a:r>
            <a:r>
              <a:rPr lang="en-US" sz="3200">
                <a:solidFill>
                  <a:srgbClr val="FC2C1C"/>
                </a:solidFill>
              </a:rPr>
              <a:t>l x w</a:t>
            </a:r>
            <a:r>
              <a:rPr lang="en-US" sz="3200">
                <a:solidFill>
                  <a:srgbClr val="267D03"/>
                </a:solidFill>
              </a:rPr>
              <a:t>   x  h</a:t>
            </a:r>
          </a:p>
          <a:p>
            <a:endParaRPr lang="en-US" sz="3200">
              <a:solidFill>
                <a:srgbClr val="267D03"/>
              </a:solidFill>
            </a:endParaRPr>
          </a:p>
          <a:p>
            <a:r>
              <a:rPr lang="en-US" sz="3200">
                <a:solidFill>
                  <a:srgbClr val="267D03"/>
                </a:solidFill>
              </a:rPr>
              <a:t>V   =  </a:t>
            </a:r>
            <a:r>
              <a:rPr lang="en-US" sz="3200">
                <a:solidFill>
                  <a:srgbClr val="FC2C1C"/>
                </a:solidFill>
              </a:rPr>
              <a:t>7cm x 4cm</a:t>
            </a:r>
            <a:r>
              <a:rPr lang="en-US" sz="3200">
                <a:solidFill>
                  <a:srgbClr val="267D03"/>
                </a:solidFill>
              </a:rPr>
              <a:t> x 5cm</a:t>
            </a:r>
          </a:p>
          <a:p>
            <a:endParaRPr lang="en-US" sz="3200" baseline="30000">
              <a:solidFill>
                <a:srgbClr val="267D03"/>
              </a:solidFill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3048000" y="48768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5 cm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381000" y="53340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4 cm</a:t>
            </a:r>
          </a:p>
        </p:txBody>
      </p:sp>
      <p:sp>
        <p:nvSpPr>
          <p:cNvPr id="10247" name="AutoShape 7"/>
          <p:cNvSpPr>
            <a:spLocks noChangeArrowheads="1"/>
          </p:cNvSpPr>
          <p:nvPr/>
        </p:nvSpPr>
        <p:spPr bwMode="auto">
          <a:xfrm rot="-5400000">
            <a:off x="1143000" y="3733800"/>
            <a:ext cx="1676400" cy="2133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Text Box 9"/>
          <p:cNvSpPr txBox="1">
            <a:spLocks noChangeArrowheads="1"/>
          </p:cNvSpPr>
          <p:nvPr/>
        </p:nvSpPr>
        <p:spPr bwMode="auto">
          <a:xfrm>
            <a:off x="1905000" y="57150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1pPr>
            <a:lvl2pPr marL="742950" indent="-28575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2pPr>
            <a:lvl3pPr marL="11430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3pPr>
            <a:lvl4pPr marL="16002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4pPr>
            <a:lvl5pPr marL="2057400" indent="-228600"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Arial" charset="0"/>
                <a:ea typeface="ＭＳ Ｐゴシック" pitchFamily="-60" charset="-128"/>
              </a:defRPr>
            </a:lvl9pPr>
          </a:lstStyle>
          <a:p>
            <a:r>
              <a:rPr lang="en-US" sz="2400" i="0"/>
              <a:t>7 cm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14489"/>
      </p:ext>
    </p:extLst>
  </p:cSld>
  <p:clrMapOvr>
    <a:masterClrMapping/>
  </p:clrMapOvr>
  <p:transition spd="med"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You 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9E83A-ED25-8343-BD79-5313FE2A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893768"/>
            <a:ext cx="7063060" cy="552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1827</TotalTime>
  <Words>586</Words>
  <Application>Microsoft Office PowerPoint</Application>
  <PresentationFormat>On-screen Show (4:3)</PresentationFormat>
  <Paragraphs>163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RECTANGULAR PRISM</vt:lpstr>
      <vt:lpstr>Cube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 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 Do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WILSON James [Baldivis Secondary College]</cp:lastModifiedBy>
  <cp:revision>117</cp:revision>
  <dcterms:created xsi:type="dcterms:W3CDTF">2014-05-14T02:58:57Z</dcterms:created>
  <dcterms:modified xsi:type="dcterms:W3CDTF">2019-09-22T14:10:23Z</dcterms:modified>
</cp:coreProperties>
</file>
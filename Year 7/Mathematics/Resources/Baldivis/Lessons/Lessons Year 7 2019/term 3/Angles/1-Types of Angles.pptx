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57" r:id="rId2"/>
    <p:sldId id="287" r:id="rId3"/>
    <p:sldId id="258" r:id="rId4"/>
    <p:sldId id="263" r:id="rId5"/>
    <p:sldId id="288" r:id="rId6"/>
    <p:sldId id="259" r:id="rId7"/>
    <p:sldId id="289" r:id="rId8"/>
    <p:sldId id="260" r:id="rId9"/>
    <p:sldId id="264" r:id="rId10"/>
    <p:sldId id="266" r:id="rId11"/>
    <p:sldId id="265" r:id="rId12"/>
    <p:sldId id="275" r:id="rId13"/>
    <p:sldId id="267" r:id="rId14"/>
    <p:sldId id="268" r:id="rId15"/>
    <p:sldId id="269" r:id="rId16"/>
    <p:sldId id="270" r:id="rId17"/>
    <p:sldId id="276" r:id="rId18"/>
    <p:sldId id="261" r:id="rId19"/>
    <p:sldId id="272" r:id="rId20"/>
    <p:sldId id="273" r:id="rId21"/>
    <p:sldId id="274" r:id="rId22"/>
    <p:sldId id="277" r:id="rId23"/>
    <p:sldId id="279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73832" autoAdjust="0"/>
  </p:normalViewPr>
  <p:slideViewPr>
    <p:cSldViewPr snapToGrid="0">
      <p:cViewPr varScale="1">
        <p:scale>
          <a:sx n="49" d="100"/>
          <a:sy n="49" d="100"/>
        </p:scale>
        <p:origin x="6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Start around 3mins 20 </a:t>
            </a:r>
            <a:r>
              <a:rPr lang="en-AU"/>
              <a:t>seconds – finish at 5:20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56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48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89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4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88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36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2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21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84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86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4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7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3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DgUTsNr4o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gif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Types of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512A-5B59-489A-BE88-35C847F4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157" y="-45842"/>
            <a:ext cx="3818467" cy="1293028"/>
          </a:xfrm>
        </p:spPr>
        <p:txBody>
          <a:bodyPr/>
          <a:lstStyle/>
          <a:p>
            <a:r>
              <a:rPr lang="en-AU" dirty="0"/>
              <a:t>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7CE88-F4FD-4700-8396-F69375E0E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16937"/>
                <a:ext cx="10820400" cy="4024125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AutoNum type="arabicPeriod"/>
                </a:pPr>
                <a:r>
                  <a:rPr lang="en-AU" sz="2400" dirty="0"/>
                  <a:t>If I travel at 80km/hr for 1.5 hours, how far have I travelled?</a:t>
                </a:r>
              </a:p>
              <a:p>
                <a:pPr marL="457200" indent="-45720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sz="2400" b="0" dirty="0"/>
              </a:p>
              <a:p>
                <a:pPr marL="457200" indent="-45720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/>
                </a:pPr>
                <a:r>
                  <a:rPr lang="en-AU" sz="2400" dirty="0"/>
                  <a:t>What is an angle of 360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called?</a:t>
                </a:r>
              </a:p>
              <a:p>
                <a:pPr marL="457200" indent="-45720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/>
                </a:pPr>
                <a:r>
                  <a:rPr lang="en-AU" sz="2400" dirty="0"/>
                  <a:t>Would I find it easier to walk up an incline of 15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or an incline of 20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?  What is the opposite of incline?</a:t>
                </a:r>
              </a:p>
              <a:p>
                <a:pPr marL="457200" indent="-45720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/>
                </a:pPr>
                <a:r>
                  <a:rPr lang="en-AU" sz="2400" dirty="0"/>
                  <a:t>Is you INB setup for the new topic of “Angles”?  Have you prepared you title page, contents page and glossary/formula page?</a:t>
                </a:r>
              </a:p>
              <a:p>
                <a:pPr marL="457200" indent="-45720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7CE88-F4FD-4700-8396-F69375E0E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16937"/>
                <a:ext cx="10820400" cy="4024125"/>
              </a:xfrm>
              <a:blipFill>
                <a:blip r:embed="rId2"/>
                <a:stretch>
                  <a:fillRect l="-901" t="-2118" r="-845" b="-242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84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Label the 6 types of angles</a:t>
            </a:r>
          </a:p>
          <a:p>
            <a:r>
              <a:rPr lang="en-AU" sz="3600" dirty="0"/>
              <a:t>Learn how to use a protractor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Think-pair-share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13" y="1677420"/>
            <a:ext cx="10895559" cy="502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FF0000"/>
                </a:solidFill>
              </a:rPr>
              <a:t>Think</a:t>
            </a:r>
          </a:p>
          <a:p>
            <a:pPr lvl="1"/>
            <a:r>
              <a:rPr lang="en-AU" sz="3000" dirty="0"/>
              <a:t>What do you think an angle is? </a:t>
            </a:r>
          </a:p>
          <a:p>
            <a:pPr lvl="1"/>
            <a:r>
              <a:rPr lang="en-AU" sz="3000" dirty="0"/>
              <a:t>How many types of angles can you name?</a:t>
            </a:r>
          </a:p>
          <a:p>
            <a:pPr marL="457200" lvl="1" indent="0">
              <a:buNone/>
            </a:pPr>
            <a:endParaRPr lang="en-AU" sz="3000" dirty="0"/>
          </a:p>
          <a:p>
            <a:pPr marL="0" indent="0">
              <a:buNone/>
            </a:pPr>
            <a:r>
              <a:rPr lang="en-AU" sz="3200" b="1" dirty="0">
                <a:solidFill>
                  <a:schemeClr val="accent4">
                    <a:lumMod val="50000"/>
                  </a:schemeClr>
                </a:solidFill>
              </a:rPr>
              <a:t>Pair</a:t>
            </a:r>
          </a:p>
          <a:p>
            <a:pPr lvl="1"/>
            <a:r>
              <a:rPr lang="en-AU" sz="3000" dirty="0"/>
              <a:t>Share your answers with the person next to you.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b="1" dirty="0">
                <a:solidFill>
                  <a:srgbClr val="00B050"/>
                </a:solidFill>
              </a:rPr>
              <a:t>Share</a:t>
            </a:r>
          </a:p>
          <a:p>
            <a:pPr lvl="1"/>
            <a:r>
              <a:rPr lang="en-AU" sz="3000" dirty="0"/>
              <a:t>Put your hand up to share your answers with the class.</a:t>
            </a:r>
          </a:p>
          <a:p>
            <a:pPr lvl="1"/>
            <a:endParaRPr lang="en-AU" sz="3000" dirty="0"/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4AAAA-DCBD-4F5B-A953-64366E60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539" y="1333447"/>
            <a:ext cx="2236340" cy="32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2817-1BE6-4EBC-904F-895A57FC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1" y="2480631"/>
            <a:ext cx="10634003" cy="1293028"/>
          </a:xfrm>
        </p:spPr>
        <p:txBody>
          <a:bodyPr>
            <a:normAutofit/>
          </a:bodyPr>
          <a:lstStyle/>
          <a:p>
            <a:r>
              <a:rPr lang="en-AU" sz="2800" dirty="0">
                <a:hlinkClick r:id="rId3"/>
              </a:rPr>
              <a:t>https://www.youtube.com/watch?v=bDgUTsNr4oc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28660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28901"/>
            <a:ext cx="17200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5329" y="4851773"/>
            <a:ext cx="9544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The amount of space between two straight lines. Measured in degrees. </a:t>
            </a:r>
          </a:p>
          <a:p>
            <a:pPr defTabSz="914126"/>
            <a:r>
              <a:rPr lang="en-AU" sz="2800" dirty="0"/>
              <a:t>Example: 45° 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an Angle look like?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98DDA3-CFBE-406D-B74D-6042166900C9}"/>
              </a:ext>
            </a:extLst>
          </p:cNvPr>
          <p:cNvCxnSpPr>
            <a:cxnSpLocks/>
          </p:cNvCxnSpPr>
          <p:nvPr/>
        </p:nvCxnSpPr>
        <p:spPr>
          <a:xfrm>
            <a:off x="5029200" y="2917315"/>
            <a:ext cx="25636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F19E6C-3BDB-4D5E-A5B4-B82C9303733B}"/>
              </a:ext>
            </a:extLst>
          </p:cNvPr>
          <p:cNvCxnSpPr>
            <a:cxnSpLocks/>
          </p:cNvCxnSpPr>
          <p:nvPr/>
        </p:nvCxnSpPr>
        <p:spPr>
          <a:xfrm flipV="1">
            <a:off x="5029200" y="1586056"/>
            <a:ext cx="2043953" cy="1331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6758A8B0-A6C0-4C5A-90F3-D44794E0CD0F}"/>
              </a:ext>
            </a:extLst>
          </p:cNvPr>
          <p:cNvSpPr/>
          <p:nvPr/>
        </p:nvSpPr>
        <p:spPr>
          <a:xfrm>
            <a:off x="5473927" y="2463455"/>
            <a:ext cx="422829" cy="708272"/>
          </a:xfrm>
          <a:prstGeom prst="arc">
            <a:avLst>
              <a:gd name="adj1" fmla="val 16460566"/>
              <a:gd name="adj2" fmla="val 1514975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AB1CBA-03EA-4D01-A59B-DF69D200A566}"/>
              </a:ext>
            </a:extLst>
          </p:cNvPr>
          <p:cNvCxnSpPr>
            <a:cxnSpLocks/>
          </p:cNvCxnSpPr>
          <p:nvPr/>
        </p:nvCxnSpPr>
        <p:spPr>
          <a:xfrm>
            <a:off x="5401444" y="1869470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1B2723-B88C-4343-A2D5-5E5CB5BAB418}"/>
              </a:ext>
            </a:extLst>
          </p:cNvPr>
          <p:cNvCxnSpPr>
            <a:cxnSpLocks/>
          </p:cNvCxnSpPr>
          <p:nvPr/>
        </p:nvCxnSpPr>
        <p:spPr>
          <a:xfrm flipV="1">
            <a:off x="6153157" y="3068306"/>
            <a:ext cx="591670" cy="43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E48994-45B9-41A6-AE17-17CBF32CC539}"/>
              </a:ext>
            </a:extLst>
          </p:cNvPr>
          <p:cNvSpPr txBox="1"/>
          <p:nvPr/>
        </p:nvSpPr>
        <p:spPr>
          <a:xfrm>
            <a:off x="4509455" y="1512166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38DB87-4B4C-4B97-9C6C-F86DF19AB039}"/>
              </a:ext>
            </a:extLst>
          </p:cNvPr>
          <p:cNvSpPr txBox="1"/>
          <p:nvPr/>
        </p:nvSpPr>
        <p:spPr>
          <a:xfrm>
            <a:off x="5354540" y="3264977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EED548-3CA2-4E8C-8102-CC3B0AD6DEE3}"/>
              </a:ext>
            </a:extLst>
          </p:cNvPr>
          <p:cNvCxnSpPr>
            <a:cxnSpLocks/>
          </p:cNvCxnSpPr>
          <p:nvPr/>
        </p:nvCxnSpPr>
        <p:spPr>
          <a:xfrm flipH="1">
            <a:off x="5975971" y="2362402"/>
            <a:ext cx="1836770" cy="264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7FCAE1-330E-4E37-9AA5-A938E83FC9D9}"/>
              </a:ext>
            </a:extLst>
          </p:cNvPr>
          <p:cNvSpPr txBox="1"/>
          <p:nvPr/>
        </p:nvSpPr>
        <p:spPr>
          <a:xfrm>
            <a:off x="7891956" y="2110546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4">
                    <a:lumMod val="50000"/>
                  </a:schemeClr>
                </a:solidFill>
              </a:rPr>
              <a:t>Angle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3DDC72-9C21-4D5D-A2A2-74D2254BB17D}"/>
              </a:ext>
            </a:extLst>
          </p:cNvPr>
          <p:cNvCxnSpPr>
            <a:cxnSpLocks/>
          </p:cNvCxnSpPr>
          <p:nvPr/>
        </p:nvCxnSpPr>
        <p:spPr>
          <a:xfrm>
            <a:off x="4334643" y="2654009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850F08-5476-45D7-816D-A1B333207B1B}"/>
              </a:ext>
            </a:extLst>
          </p:cNvPr>
          <p:cNvSpPr txBox="1"/>
          <p:nvPr/>
        </p:nvSpPr>
        <p:spPr>
          <a:xfrm>
            <a:off x="3169122" y="2306832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Vertex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4" grpId="0" animBg="1"/>
      <p:bldP spid="23" grpId="0"/>
      <p:bldP spid="26" grpId="0"/>
      <p:bldP spid="30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an Angle look like?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98DDA3-CFBE-406D-B74D-6042166900C9}"/>
              </a:ext>
            </a:extLst>
          </p:cNvPr>
          <p:cNvCxnSpPr>
            <a:cxnSpLocks/>
          </p:cNvCxnSpPr>
          <p:nvPr/>
        </p:nvCxnSpPr>
        <p:spPr>
          <a:xfrm>
            <a:off x="5029200" y="2917315"/>
            <a:ext cx="25636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F19E6C-3BDB-4D5E-A5B4-B82C9303733B}"/>
              </a:ext>
            </a:extLst>
          </p:cNvPr>
          <p:cNvCxnSpPr>
            <a:cxnSpLocks/>
          </p:cNvCxnSpPr>
          <p:nvPr/>
        </p:nvCxnSpPr>
        <p:spPr>
          <a:xfrm flipV="1">
            <a:off x="5029200" y="1586056"/>
            <a:ext cx="2043953" cy="1331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6758A8B0-A6C0-4C5A-90F3-D44794E0CD0F}"/>
              </a:ext>
            </a:extLst>
          </p:cNvPr>
          <p:cNvSpPr/>
          <p:nvPr/>
        </p:nvSpPr>
        <p:spPr>
          <a:xfrm>
            <a:off x="5473927" y="2463455"/>
            <a:ext cx="422829" cy="708272"/>
          </a:xfrm>
          <a:prstGeom prst="arc">
            <a:avLst>
              <a:gd name="adj1" fmla="val 16460566"/>
              <a:gd name="adj2" fmla="val 1514975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FA1B7-96ED-4993-93F8-49B8A8CE0E68}"/>
              </a:ext>
            </a:extLst>
          </p:cNvPr>
          <p:cNvSpPr txBox="1"/>
          <p:nvPr/>
        </p:nvSpPr>
        <p:spPr>
          <a:xfrm>
            <a:off x="7256834" y="1477612"/>
            <a:ext cx="33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C2526-CB40-4A45-ABED-9EA6FD61709F}"/>
              </a:ext>
            </a:extLst>
          </p:cNvPr>
          <p:cNvSpPr txBox="1"/>
          <p:nvPr/>
        </p:nvSpPr>
        <p:spPr>
          <a:xfrm>
            <a:off x="7643420" y="2732649"/>
            <a:ext cx="33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D669FF-75D9-4A5C-A972-A6278D8EC689}"/>
              </a:ext>
            </a:extLst>
          </p:cNvPr>
          <p:cNvSpPr txBox="1"/>
          <p:nvPr/>
        </p:nvSpPr>
        <p:spPr>
          <a:xfrm>
            <a:off x="4576041" y="2817591"/>
            <a:ext cx="33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077BD-C070-443C-8FDB-B375D503C1BF}"/>
              </a:ext>
            </a:extLst>
          </p:cNvPr>
          <p:cNvSpPr txBox="1"/>
          <p:nvPr/>
        </p:nvSpPr>
        <p:spPr>
          <a:xfrm>
            <a:off x="2686094" y="3786909"/>
            <a:ext cx="914148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letters to name an angle.  The angle above can be named in 2 ways.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		∠AGB         or       ∠G </a:t>
            </a:r>
            <a:endParaRPr lang="en-AU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EB6AA1-0F03-4BC5-93FC-54C1593AE8D7}"/>
              </a:ext>
            </a:extLst>
          </p:cNvPr>
          <p:cNvCxnSpPr>
            <a:cxnSpLocks/>
          </p:cNvCxnSpPr>
          <p:nvPr/>
        </p:nvCxnSpPr>
        <p:spPr>
          <a:xfrm>
            <a:off x="3399076" y="5093006"/>
            <a:ext cx="297435" cy="32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40D1B14-9763-47BF-AEB8-017332EDBC92}"/>
              </a:ext>
            </a:extLst>
          </p:cNvPr>
          <p:cNvSpPr txBox="1"/>
          <p:nvPr/>
        </p:nvSpPr>
        <p:spPr>
          <a:xfrm>
            <a:off x="3240019" y="4723674"/>
            <a:ext cx="219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Sign means angle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F7F69F-0964-4CC1-9E0A-B3D3B5D40AF3}"/>
              </a:ext>
            </a:extLst>
          </p:cNvPr>
          <p:cNvSpPr txBox="1"/>
          <p:nvPr/>
        </p:nvSpPr>
        <p:spPr>
          <a:xfrm>
            <a:off x="3240019" y="6108668"/>
            <a:ext cx="219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Middle letter must the be the vertex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0004CA-E8CC-471B-A190-C5C02C99EF20}"/>
              </a:ext>
            </a:extLst>
          </p:cNvPr>
          <p:cNvCxnSpPr>
            <a:cxnSpLocks/>
          </p:cNvCxnSpPr>
          <p:nvPr/>
        </p:nvCxnSpPr>
        <p:spPr>
          <a:xfrm flipV="1">
            <a:off x="3714662" y="5618100"/>
            <a:ext cx="428017" cy="70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95FD99-CE47-4116-A71C-54A4379DB3FC}"/>
              </a:ext>
            </a:extLst>
          </p:cNvPr>
          <p:cNvCxnSpPr>
            <a:cxnSpLocks/>
          </p:cNvCxnSpPr>
          <p:nvPr/>
        </p:nvCxnSpPr>
        <p:spPr>
          <a:xfrm flipH="1" flipV="1">
            <a:off x="6566857" y="5590227"/>
            <a:ext cx="1076564" cy="313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F6296C-0C95-44C5-9276-8D9D3A0EEC9A}"/>
              </a:ext>
            </a:extLst>
          </p:cNvPr>
          <p:cNvSpPr txBox="1"/>
          <p:nvPr/>
        </p:nvSpPr>
        <p:spPr>
          <a:xfrm>
            <a:off x="7733623" y="5741628"/>
            <a:ext cx="3647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can only be used if there is only one angle at vertex “G”</a:t>
            </a:r>
          </a:p>
        </p:txBody>
      </p:sp>
    </p:spTree>
    <p:extLst>
      <p:ext uri="{BB962C8B-B14F-4D97-AF65-F5344CB8AC3E}">
        <p14:creationId xmlns:p14="http://schemas.microsoft.com/office/powerpoint/2010/main" val="333503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358-5877-4EBD-AF8D-A8380B5DF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Complete the following in your Graphic Organiser</a:t>
            </a:r>
          </a:p>
          <a:p>
            <a:endParaRPr lang="en-AU" sz="3600" dirty="0"/>
          </a:p>
          <a:p>
            <a:r>
              <a:rPr lang="en-AU" sz="3600" dirty="0"/>
              <a:t>Once complete, glue it in your notebook</a:t>
            </a:r>
          </a:p>
        </p:txBody>
      </p:sp>
    </p:spTree>
    <p:extLst>
      <p:ext uri="{BB962C8B-B14F-4D97-AF65-F5344CB8AC3E}">
        <p14:creationId xmlns:p14="http://schemas.microsoft.com/office/powerpoint/2010/main" val="4140628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Acute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Acute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less than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A626C-2E8F-41AF-9B34-F86B082BD1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44" r="30955"/>
          <a:stretch/>
        </p:blipFill>
        <p:spPr>
          <a:xfrm>
            <a:off x="26727" y="4570900"/>
            <a:ext cx="2357570" cy="2287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E5EEB-375E-47A0-9A3B-4EA1804F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975" y="3860084"/>
            <a:ext cx="2153500" cy="1803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F901C1-6FA9-40E8-9223-892934A33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451" y="1697692"/>
            <a:ext cx="6425359" cy="45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Right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4ABC78-F054-452E-90DA-14EFD0CD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2" y="3650651"/>
            <a:ext cx="2009128" cy="188953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41CC44-91EC-4745-A6D0-8DA2780DA9C9}"/>
              </a:ext>
            </a:extLst>
          </p:cNvPr>
          <p:cNvCxnSpPr/>
          <p:nvPr/>
        </p:nvCxnSpPr>
        <p:spPr>
          <a:xfrm flipV="1">
            <a:off x="1788459" y="4988859"/>
            <a:ext cx="1465729" cy="766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756D0A-EC33-427F-A4CD-20EC54E23B3E}"/>
              </a:ext>
            </a:extLst>
          </p:cNvPr>
          <p:cNvSpPr txBox="1"/>
          <p:nvPr/>
        </p:nvSpPr>
        <p:spPr>
          <a:xfrm>
            <a:off x="683664" y="5782235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That means it’s a right angle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7BA88-AC57-48E1-85FD-AB72D744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673" y="1224586"/>
            <a:ext cx="6418569" cy="4530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764810" y="5936059"/>
            <a:ext cx="593624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right angle is a quarter turn</a:t>
            </a:r>
          </a:p>
        </p:txBody>
      </p:sp>
    </p:spTree>
    <p:extLst>
      <p:ext uri="{BB962C8B-B14F-4D97-AF65-F5344CB8AC3E}">
        <p14:creationId xmlns:p14="http://schemas.microsoft.com/office/powerpoint/2010/main" val="177665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Obtuse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776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Obtuse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90° and 180 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7E380-A03E-4EF4-8874-D5FA3E37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12" y="3618940"/>
            <a:ext cx="2428875" cy="1438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B357A7-8581-4E58-BA7E-1A13691F7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29" y="1440516"/>
            <a:ext cx="6611471" cy="46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8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straight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Straight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180°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43375" y="5247800"/>
            <a:ext cx="592021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straight angle is a half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EE8CD-8406-41E4-BF2B-FE9499EA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03" y="3509682"/>
            <a:ext cx="3195469" cy="1128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567264-530F-4FEA-A9CC-228F3ECC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90" y="1542490"/>
            <a:ext cx="4476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reflex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Reflex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180° and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749A2-D158-4530-98FB-88B5E7EDA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330" y="3531048"/>
            <a:ext cx="2436999" cy="1424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88FEE-46F3-46C0-8E82-BBCAE287E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307" y="1475347"/>
            <a:ext cx="6255693" cy="44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revolution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Revolution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74E8B-062A-45FE-A026-42DB2E2A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91" y="3520825"/>
            <a:ext cx="2326062" cy="1438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D32810-DF53-4F07-B5D3-B0EB6BBF6AD2}"/>
              </a:ext>
            </a:extLst>
          </p:cNvPr>
          <p:cNvSpPr txBox="1"/>
          <p:nvPr/>
        </p:nvSpPr>
        <p:spPr>
          <a:xfrm>
            <a:off x="583717" y="5538313"/>
            <a:ext cx="8021748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revolution angle is one complete 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9EA39-D862-4A1A-8625-4F482C33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883" y="2000120"/>
            <a:ext cx="4239026" cy="267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750" y="953061"/>
            <a:ext cx="4893768" cy="978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Which angle is which?!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5023107C-E100-41F9-A81A-F8C28FA4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6" y="4532069"/>
            <a:ext cx="2404655" cy="22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ECF57-7E23-4C4C-9D2D-E4C926D4B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43" y="1596278"/>
            <a:ext cx="2772616" cy="2260932"/>
          </a:xfrm>
          <a:prstGeom prst="rect">
            <a:avLst/>
          </a:prstGeom>
        </p:spPr>
      </p:pic>
      <p:pic>
        <p:nvPicPr>
          <p:cNvPr id="2052" name="Picture 4" descr="Image result for obtuse angle">
            <a:extLst>
              <a:ext uri="{FF2B5EF4-FFF2-40B4-BE49-F238E27FC236}">
                <a16:creationId xmlns:a16="http://schemas.microsoft.com/office/drawing/2014/main" id="{EFA8900C-3B1F-4D0A-A57E-7AC36848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69" y="1634381"/>
            <a:ext cx="3396101" cy="16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308C1E-BA0C-4047-A369-E69FED41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97" y="4224013"/>
            <a:ext cx="3208534" cy="2074594"/>
          </a:xfrm>
          <a:prstGeom prst="rect">
            <a:avLst/>
          </a:prstGeom>
        </p:spPr>
      </p:pic>
      <p:pic>
        <p:nvPicPr>
          <p:cNvPr id="2054" name="Picture 6" descr="Image result for right angle">
            <a:extLst>
              <a:ext uri="{FF2B5EF4-FFF2-40B4-BE49-F238E27FC236}">
                <a16:creationId xmlns:a16="http://schemas.microsoft.com/office/drawing/2014/main" id="{6AB12A0C-0897-4D31-AA28-FF6CBBEE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2574">
            <a:off x="4458736" y="1820590"/>
            <a:ext cx="2183605" cy="209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ABFC7B-0D2A-4C84-A2BA-D0FAF9B79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65422">
            <a:off x="9624522" y="4289344"/>
            <a:ext cx="2442376" cy="1943932"/>
          </a:xfrm>
          <a:prstGeom prst="rect">
            <a:avLst/>
          </a:prstGeom>
        </p:spPr>
      </p:pic>
      <p:pic>
        <p:nvPicPr>
          <p:cNvPr id="2056" name="Picture 8" descr="Image result for straight angle">
            <a:extLst>
              <a:ext uri="{FF2B5EF4-FFF2-40B4-BE49-F238E27FC236}">
                <a16:creationId xmlns:a16="http://schemas.microsoft.com/office/drawing/2014/main" id="{9E439A8C-15AB-4A7D-A0F5-A24FB3FBA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143" y="1751460"/>
            <a:ext cx="2363310" cy="236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5205E4-0715-4DCA-B1E6-83A11D0C48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0244" y="4372423"/>
            <a:ext cx="3267075" cy="1476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81F9E2-69C7-43B2-9F05-8326FDE01F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76" y="3432860"/>
            <a:ext cx="1644708" cy="14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95329" y="1700616"/>
            <a:ext cx="8936800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We use a nifty device called a </a:t>
            </a:r>
            <a:r>
              <a:rPr lang="en-AU" sz="2800" b="1" dirty="0">
                <a:latin typeface="Century Gothic" panose="020B0502020202020204" pitchFamily="34" charset="0"/>
              </a:rPr>
              <a:t>protractor</a:t>
            </a:r>
            <a:r>
              <a:rPr lang="en-AU" sz="2800" dirty="0">
                <a:latin typeface="Century Gothic" panose="020B0502020202020204" pitchFamily="34" charset="0"/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32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466" y="2762291"/>
            <a:ext cx="5705468" cy="295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8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525857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4583 L 0.00026 0.14629 C 0.00065 0.12361 0.00091 0.10115 0.00143 0.07893 C 0.00169 0.0699 0.00247 0.06134 0.00247 0.05231 C 0.00247 0.00046 0.00351 0.01111 0.00026 -0.01412 C -0.00222 -0.07084 0.00117 -0.01135 -0.00287 -0.05232 C -0.00339 -0.05787 -0.00352 -0.06389 -0.00391 -0.06945 C -0.0043 -0.07361 -0.00469 -0.07732 -0.00508 -0.08125 C -0.00547 -0.08588 -0.00573 -0.09121 -0.00612 -0.09584 C -0.0069 -0.10348 -0.00833 -0.11898 -0.00833 -0.11852 C -0.01016 -0.1588 -0.00781 -0.12848 -0.01159 -0.15394 C -0.01237 -0.15973 -0.0138 -0.17153 -0.0138 -0.17107 C -0.01458 -0.18588 -0.01458 -0.19098 -0.01602 -0.20348 C -0.01667 -0.20926 -0.01823 -0.22084 -0.01823 -0.2206 C -0.01849 -0.22685 -0.01875 -0.23264 -0.01914 -0.23843 C -0.0194 -0.24121 -0.02005 -0.24398 -0.02018 -0.24699 C -0.0207 -0.25278 -0.02083 -0.2588 -0.02136 -0.26459 C -0.02201 -0.27246 -0.02214 -0.28079 -0.02357 -0.28797 C -0.02435 -0.29167 -0.02513 -0.29537 -0.02578 -0.29954 C -0.02682 -0.30672 -0.02669 -0.31297 -0.028 -0.31991 C -0.02839 -0.32292 -0.0293 -0.3257 -0.03008 -0.32848 L -0.03229 -0.34584 C -0.03255 -0.34908 -0.03281 -0.35209 -0.03333 -0.35486 C -0.03516 -0.36412 -0.03659 -0.37246 -0.03867 -0.38102 C -0.03932 -0.3831 -0.04024 -0.38473 -0.04089 -0.38681 C -0.05091 -0.41713 -0.0418 -0.3919 -0.05182 -0.41875 C -0.05781 -0.4507 -0.04987 -0.41158 -0.05716 -0.43912 C -0.0582 -0.44283 -0.05847 -0.44723 -0.05938 -0.4507 C -0.06068 -0.4551 -0.0625 -0.45834 -0.0638 -0.46227 C -0.06458 -0.46505 -0.06511 -0.46852 -0.06589 -0.4713 C -0.06732 -0.47547 -0.06901 -0.47848 -0.07031 -0.48264 C -0.07149 -0.48681 -0.07487 -0.50324 -0.07565 -0.50903 C -0.07656 -0.51459 -0.07682 -0.52107 -0.07787 -0.52616 C -0.07943 -0.53403 -0.08047 -0.54236 -0.08229 -0.54954 C -0.08294 -0.55278 -0.08386 -0.55533 -0.08438 -0.55857 C -0.08529 -0.56297 -0.0862 -0.57477 -0.08659 -0.57871 C -0.08737 -0.58565 -0.08815 -0.59213 -0.0888 -0.59908 C -0.08919 -0.60324 -0.08945 -0.60695 -0.08998 -0.61065 C -0.09063 -0.61667 -0.09193 -0.62824 -0.09193 -0.62801 C -0.09024 -0.64861 -0.09271 -0.63449 -0.08438 -0.64584 C -0.07643 -0.65648 -0.08386 -0.64792 -0.07461 -0.6544 C -0.07253 -0.65602 -0.07031 -0.6588 -0.0681 -0.66019 C -0.06667 -0.66111 -0.06511 -0.66181 -0.0638 -0.6632 C -0.06159 -0.66505 -0.05951 -0.66806 -0.05716 -0.66922 L -0.05078 -0.67176 C -0.04323 -0.67871 -0.04258 -0.68033 -0.03333 -0.68033 C -0.03008 -0.68033 -0.02682 -0.67871 -0.02357 -0.67778 C -0.02279 -0.6757 -0.02227 -0.67361 -0.02136 -0.67176 C -0.01745 -0.66459 -0.01706 -0.66667 -0.01263 -0.6632 C -0.01042 -0.66158 -0.00847 -0.6588 -0.00612 -0.65741 L 0.00247 -0.65162 C 0.01042 -0.63033 -0.00065 -0.6581 0.01458 -0.63102 C 0.01562 -0.62917 0.01667 -0.62685 0.01771 -0.62547 C 0.01979 -0.62269 0.02213 -0.62176 0.02435 -0.61968 C 0.03542 -0.60857 0.02448 -0.61898 0.03411 -0.60787 C 0.04036 -0.6007 0.03437 -0.61042 0.04062 -0.59908 C 0.04127 -0.5963 0.04206 -0.59329 0.04284 -0.59051 C 0.04388 -0.58635 0.04505 -0.58287 0.04596 -0.57871 C 0.05078 -0.55857 0.04544 -0.5757 0.05039 -0.54954 L 0.0526 -0.53797 C 0.05573 -0.50348 0.05091 -0.5581 0.05469 -0.50602 C 0.05547 -0.4956 0.05599 -0.48218 0.05911 -0.47408 C 0.06002 -0.47153 0.06133 -0.47037 0.06237 -0.46829 C 0.06419 -0.45348 0.06211 -0.46435 0.06667 -0.45371 C 0.07187 -0.44167 0.07135 -0.44213 0.07422 -0.43033 C 0.07487 -0.42246 0.07604 -0.40463 0.0776 -0.39838 C 0.07903 -0.3926 0.08008 -0.38588 0.0819 -0.38102 C 0.08385 -0.37547 0.08489 -0.37385 0.08633 -0.36644 C 0.08685 -0.36389 0.08698 -0.36065 0.08737 -0.35764 C 0.08776 -0.35 0.08815 -0.34213 0.08854 -0.33426 C 0.08893 -0.3257 0.08906 -0.31667 0.08958 -0.3081 C 0.09062 -0.28889 0.09062 -0.30579 0.09062 -0.29653 L 0.09062 -0.29607 " pathEditMode="relative" rAng="0" ptsTypes="AAAAAAAAAAAAAAAA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41" y="2453103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909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i="1" dirty="0">
                <a:latin typeface="Century Gothic" panose="020B0502020202020204" pitchFamily="34" charset="0"/>
              </a:rPr>
              <a:t>Make sure the vertex is lined up with the middle of the protractor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BBAE57-962C-4036-994B-B98429263B86}"/>
              </a:ext>
            </a:extLst>
          </p:cNvPr>
          <p:cNvSpPr/>
          <p:nvPr/>
        </p:nvSpPr>
        <p:spPr>
          <a:xfrm>
            <a:off x="6917635" y="3498574"/>
            <a:ext cx="304800" cy="1099930"/>
          </a:xfrm>
          <a:custGeom>
            <a:avLst/>
            <a:gdLst>
              <a:gd name="connsiteX0" fmla="*/ 304800 w 304800"/>
              <a:gd name="connsiteY0" fmla="*/ 1099930 h 1099930"/>
              <a:gd name="connsiteX1" fmla="*/ 291548 w 304800"/>
              <a:gd name="connsiteY1" fmla="*/ 927652 h 1099930"/>
              <a:gd name="connsiteX2" fmla="*/ 278295 w 304800"/>
              <a:gd name="connsiteY2" fmla="*/ 887896 h 1099930"/>
              <a:gd name="connsiteX3" fmla="*/ 265043 w 304800"/>
              <a:gd name="connsiteY3" fmla="*/ 821635 h 1099930"/>
              <a:gd name="connsiteX4" fmla="*/ 238539 w 304800"/>
              <a:gd name="connsiteY4" fmla="*/ 636104 h 1099930"/>
              <a:gd name="connsiteX5" fmla="*/ 225287 w 304800"/>
              <a:gd name="connsiteY5" fmla="*/ 596348 h 1099930"/>
              <a:gd name="connsiteX6" fmla="*/ 212035 w 304800"/>
              <a:gd name="connsiteY6" fmla="*/ 543339 h 1099930"/>
              <a:gd name="connsiteX7" fmla="*/ 198782 w 304800"/>
              <a:gd name="connsiteY7" fmla="*/ 503583 h 1099930"/>
              <a:gd name="connsiteX8" fmla="*/ 172278 w 304800"/>
              <a:gd name="connsiteY8" fmla="*/ 397565 h 1099930"/>
              <a:gd name="connsiteX9" fmla="*/ 159026 w 304800"/>
              <a:gd name="connsiteY9" fmla="*/ 344556 h 1099930"/>
              <a:gd name="connsiteX10" fmla="*/ 132522 w 304800"/>
              <a:gd name="connsiteY10" fmla="*/ 265043 h 1099930"/>
              <a:gd name="connsiteX11" fmla="*/ 119269 w 304800"/>
              <a:gd name="connsiteY11" fmla="*/ 225287 h 1099930"/>
              <a:gd name="connsiteX12" fmla="*/ 92765 w 304800"/>
              <a:gd name="connsiteY12" fmla="*/ 185530 h 1099930"/>
              <a:gd name="connsiteX13" fmla="*/ 53008 w 304800"/>
              <a:gd name="connsiteY13" fmla="*/ 106017 h 1099930"/>
              <a:gd name="connsiteX14" fmla="*/ 0 w 304800"/>
              <a:gd name="connsiteY14" fmla="*/ 0 h 10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4800" h="1099930">
                <a:moveTo>
                  <a:pt x="304800" y="1099930"/>
                </a:moveTo>
                <a:cubicBezTo>
                  <a:pt x="300383" y="1042504"/>
                  <a:pt x="298692" y="984803"/>
                  <a:pt x="291548" y="927652"/>
                </a:cubicBezTo>
                <a:cubicBezTo>
                  <a:pt x="289815" y="913791"/>
                  <a:pt x="281683" y="901448"/>
                  <a:pt x="278295" y="887896"/>
                </a:cubicBezTo>
                <a:cubicBezTo>
                  <a:pt x="272832" y="866044"/>
                  <a:pt x="268228" y="843933"/>
                  <a:pt x="265043" y="821635"/>
                </a:cubicBezTo>
                <a:cubicBezTo>
                  <a:pt x="251300" y="725430"/>
                  <a:pt x="258512" y="715996"/>
                  <a:pt x="238539" y="636104"/>
                </a:cubicBezTo>
                <a:cubicBezTo>
                  <a:pt x="235151" y="622552"/>
                  <a:pt x="229124" y="609779"/>
                  <a:pt x="225287" y="596348"/>
                </a:cubicBezTo>
                <a:cubicBezTo>
                  <a:pt x="220283" y="578835"/>
                  <a:pt x="217039" y="560852"/>
                  <a:pt x="212035" y="543339"/>
                </a:cubicBezTo>
                <a:cubicBezTo>
                  <a:pt x="208197" y="529908"/>
                  <a:pt x="202458" y="517060"/>
                  <a:pt x="198782" y="503583"/>
                </a:cubicBezTo>
                <a:cubicBezTo>
                  <a:pt x="189197" y="468440"/>
                  <a:pt x="181113" y="432904"/>
                  <a:pt x="172278" y="397565"/>
                </a:cubicBezTo>
                <a:cubicBezTo>
                  <a:pt x="167861" y="379895"/>
                  <a:pt x="164786" y="361835"/>
                  <a:pt x="159026" y="344556"/>
                </a:cubicBezTo>
                <a:lnTo>
                  <a:pt x="132522" y="265043"/>
                </a:lnTo>
                <a:cubicBezTo>
                  <a:pt x="128105" y="251791"/>
                  <a:pt x="127017" y="236910"/>
                  <a:pt x="119269" y="225287"/>
                </a:cubicBezTo>
                <a:cubicBezTo>
                  <a:pt x="110434" y="212035"/>
                  <a:pt x="99888" y="199776"/>
                  <a:pt x="92765" y="185530"/>
                </a:cubicBezTo>
                <a:cubicBezTo>
                  <a:pt x="37903" y="75805"/>
                  <a:pt x="128963" y="219948"/>
                  <a:pt x="53008" y="106017"/>
                </a:cubicBezTo>
                <a:cubicBezTo>
                  <a:pt x="22553" y="14651"/>
                  <a:pt x="46259" y="46259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7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431" y="2319130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Read the protractor = 31°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3" y="2077584"/>
            <a:ext cx="5551233" cy="32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reflex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1: </a:t>
            </a:r>
            <a:r>
              <a:rPr lang="en-AU" sz="2800" dirty="0">
                <a:latin typeface="Century Gothic" panose="020B0502020202020204" pitchFamily="34" charset="0"/>
              </a:rPr>
              <a:t>Measure the inside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Inside angle = 100°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2: </a:t>
            </a:r>
            <a:r>
              <a:rPr lang="en-AU" sz="2800" dirty="0">
                <a:latin typeface="Century Gothic" panose="020B0502020202020204" pitchFamily="34" charset="0"/>
              </a:rPr>
              <a:t>Reflex angle = 360 – 100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			        </a:t>
            </a:r>
            <a:r>
              <a:rPr lang="en-AU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= 260°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9984D-EAB3-4F24-8674-F18F9603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52" y="1389371"/>
            <a:ext cx="3114675" cy="29051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9EF7D-1A70-4984-92DF-3932E74E83E0}"/>
              </a:ext>
            </a:extLst>
          </p:cNvPr>
          <p:cNvCxnSpPr>
            <a:cxnSpLocks/>
          </p:cNvCxnSpPr>
          <p:nvPr/>
        </p:nvCxnSpPr>
        <p:spPr>
          <a:xfrm flipH="1">
            <a:off x="9474379" y="2703028"/>
            <a:ext cx="601011" cy="620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014865-F225-4D49-B85F-392A11955A88}"/>
              </a:ext>
            </a:extLst>
          </p:cNvPr>
          <p:cNvSpPr txBox="1"/>
          <p:nvPr/>
        </p:nvSpPr>
        <p:spPr>
          <a:xfrm>
            <a:off x="9386282" y="2166496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Inside acute angle</a:t>
            </a:r>
          </a:p>
        </p:txBody>
      </p:sp>
    </p:spTree>
    <p:extLst>
      <p:ext uri="{BB962C8B-B14F-4D97-AF65-F5344CB8AC3E}">
        <p14:creationId xmlns:p14="http://schemas.microsoft.com/office/powerpoint/2010/main" val="13139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27" y="2331287"/>
            <a:ext cx="6826442" cy="3936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Stickman Angles Worksheet</a:t>
            </a:r>
          </a:p>
          <a:p>
            <a:pPr marL="0" indent="0">
              <a:buNone/>
            </a:pPr>
            <a:endParaRPr lang="en-AU" sz="32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Find and label as many angles as you can on the stickmen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Complete your summery!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2FCCE-D807-43E9-A057-14FA7F64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600" y="1472513"/>
            <a:ext cx="28098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2013</TotalTime>
  <Words>928</Words>
  <Application>Microsoft Office PowerPoint</Application>
  <PresentationFormat>Widescreen</PresentationFormat>
  <Paragraphs>204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Types of angles</vt:lpstr>
      <vt:lpstr>5 Questions</vt:lpstr>
      <vt:lpstr>Learning Intentions</vt:lpstr>
      <vt:lpstr>Think-pair-share</vt:lpstr>
      <vt:lpstr>https://www.youtube.com/watch?v=bDgUTsNr4oc</vt:lpstr>
      <vt:lpstr>PowerPoint Presentation</vt:lpstr>
      <vt:lpstr>PowerPoint Presentation</vt:lpstr>
      <vt:lpstr>PowerPoint Presentation</vt:lpstr>
      <vt:lpstr>PowerPoint Presentation</vt:lpstr>
      <vt:lpstr>Acute angle</vt:lpstr>
      <vt:lpstr>Right angle</vt:lpstr>
      <vt:lpstr>PowerPoint Presentation</vt:lpstr>
      <vt:lpstr>Obtuse angle</vt:lpstr>
      <vt:lpstr>straight angle</vt:lpstr>
      <vt:lpstr>reflex angle</vt:lpstr>
      <vt:lpstr>revolution angle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WILSON James [Baldivis Secondary College]</cp:lastModifiedBy>
  <cp:revision>25</cp:revision>
  <dcterms:created xsi:type="dcterms:W3CDTF">2017-10-04T08:09:40Z</dcterms:created>
  <dcterms:modified xsi:type="dcterms:W3CDTF">2019-07-22T14:16:30Z</dcterms:modified>
</cp:coreProperties>
</file>
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2"/>
  </p:notesMasterIdLst>
  <p:sldIdLst>
    <p:sldId id="289" r:id="rId2"/>
    <p:sldId id="258" r:id="rId3"/>
    <p:sldId id="280" r:id="rId4"/>
    <p:sldId id="287" r:id="rId5"/>
    <p:sldId id="276" r:id="rId6"/>
    <p:sldId id="286" r:id="rId7"/>
    <p:sldId id="288" r:id="rId8"/>
    <p:sldId id="264" r:id="rId9"/>
    <p:sldId id="266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324" autoAdjust="0"/>
    <p:restoredTop sz="84913" autoAdjust="0"/>
  </p:normalViewPr>
  <p:slideViewPr>
    <p:cSldViewPr snapToGrid="0">
      <p:cViewPr varScale="1">
        <p:scale>
          <a:sx n="54" d="100"/>
          <a:sy n="54" d="100"/>
        </p:scale>
        <p:origin x="10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72E2BD-18D9-4AC8-A425-BFF3B2EE283D}" type="datetimeFigureOut">
              <a:rPr lang="en-AU" smtClean="0"/>
              <a:t>28/07/2019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C3360F-154F-4D2E-8DE3-FEB4531B9E3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1007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1309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1165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5617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Draw 3-4 angles on the board going through each step.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C3360F-154F-4D2E-8DE3-FEB4531B9E32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5820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C3360F-154F-4D2E-8DE3-FEB4531B9E32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921841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</a:t>
            </a:r>
            <a:r>
              <a:rPr lang="en-AU" baseline="0" dirty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Check</a:t>
            </a:r>
            <a:r>
              <a:rPr lang="en-AU" baseline="0" dirty="0"/>
              <a:t>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68848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Guided practice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80438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60534CC-4EA5-46B9-971F-0F4E8A526976}" type="datetimeFigureOut">
              <a:rPr lang="en-AU" smtClean="0"/>
              <a:t>28/07/2019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81067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4CC-4EA5-46B9-971F-0F4E8A526976}" type="datetimeFigureOut">
              <a:rPr lang="en-AU" smtClean="0"/>
              <a:t>28/07/2019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5837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60534CC-4EA5-46B9-971F-0F4E8A526976}" type="datetimeFigureOut">
              <a:rPr lang="en-AU" smtClean="0"/>
              <a:t>28/07/2019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0195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4CC-4EA5-46B9-971F-0F4E8A526976}" type="datetimeFigureOut">
              <a:rPr lang="en-AU" smtClean="0"/>
              <a:t>28/07/2019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1063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4CC-4EA5-46B9-971F-0F4E8A526976}" type="datetimeFigureOut">
              <a:rPr lang="en-AU" smtClean="0"/>
              <a:t>28/07/2019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75896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4CC-4EA5-46B9-971F-0F4E8A526976}" type="datetimeFigureOut">
              <a:rPr lang="en-AU" smtClean="0"/>
              <a:t>28/07/2019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4262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4CC-4EA5-46B9-971F-0F4E8A526976}" type="datetimeFigureOut">
              <a:rPr lang="en-AU" smtClean="0"/>
              <a:t>28/07/2019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41492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4CC-4EA5-46B9-971F-0F4E8A526976}" type="datetimeFigureOut">
              <a:rPr lang="en-AU" smtClean="0"/>
              <a:t>28/07/2019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4904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4CC-4EA5-46B9-971F-0F4E8A526976}" type="datetimeFigureOut">
              <a:rPr lang="en-AU" smtClean="0"/>
              <a:t>28/07/2019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1831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4CC-4EA5-46B9-971F-0F4E8A526976}" type="datetimeFigureOut">
              <a:rPr lang="en-AU" smtClean="0"/>
              <a:t>28/07/2019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1249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60534CC-4EA5-46B9-971F-0F4E8A526976}" type="datetimeFigureOut">
              <a:rPr lang="en-AU" smtClean="0"/>
              <a:t>28/07/2019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21060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60534CC-4EA5-46B9-971F-0F4E8A526976}" type="datetimeFigureOut">
              <a:rPr lang="en-AU" smtClean="0"/>
              <a:t>28/07/2019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72719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60534CC-4EA5-46B9-971F-0F4E8A526976}" type="datetimeFigureOut">
              <a:rPr lang="en-AU" smtClean="0"/>
              <a:t>28/07/2019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79653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4CC-4EA5-46B9-971F-0F4E8A526976}" type="datetimeFigureOut">
              <a:rPr lang="en-AU" smtClean="0"/>
              <a:t>28/07/2019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9362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4CC-4EA5-46B9-971F-0F4E8A526976}" type="datetimeFigureOut">
              <a:rPr lang="en-AU" smtClean="0"/>
              <a:t>28/07/2019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319311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4CC-4EA5-46B9-971F-0F4E8A526976}" type="datetimeFigureOut">
              <a:rPr lang="en-AU" smtClean="0"/>
              <a:t>28/07/2019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36914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60534CC-4EA5-46B9-971F-0F4E8A526976}" type="datetimeFigureOut">
              <a:rPr lang="en-AU" smtClean="0"/>
              <a:t>28/07/2019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04761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0534CC-4EA5-46B9-971F-0F4E8A526976}" type="datetimeFigureOut">
              <a:rPr lang="en-AU" smtClean="0"/>
              <a:t>28/07/2019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5921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6DFA1-4785-4B8C-A0AD-B71731FB4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466" y="-9295"/>
            <a:ext cx="8610600" cy="1293028"/>
          </a:xfrm>
        </p:spPr>
        <p:txBody>
          <a:bodyPr/>
          <a:lstStyle/>
          <a:p>
            <a:r>
              <a:rPr lang="en-AU" dirty="0"/>
              <a:t>5 Questions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09ADC6-A468-448E-9434-27929FD205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74134" y="1456268"/>
                <a:ext cx="5952067" cy="4762418"/>
              </a:xfrm>
            </p:spPr>
            <p:txBody>
              <a:bodyPr>
                <a:normAutofit fontScale="92500"/>
              </a:bodyPr>
              <a:lstStyle/>
              <a:p>
                <a:pPr marL="457200" indent="-457200">
                  <a:buAutoNum type="arabicPeriod"/>
                </a:pPr>
                <a:r>
                  <a:rPr lang="en-AU" dirty="0"/>
                  <a:t>What is the size of and c and d?</a:t>
                </a:r>
              </a:p>
              <a:p>
                <a:pPr marL="457200" indent="-457200">
                  <a:buAutoNum type="arabicPeriod"/>
                </a:pPr>
                <a:endParaRPr lang="en-AU" dirty="0"/>
              </a:p>
              <a:p>
                <a:pPr marL="457200" indent="-457200">
                  <a:buAutoNum type="arabicPeriod"/>
                </a:pPr>
                <a:r>
                  <a:rPr lang="en-AU" dirty="0"/>
                  <a:t>What is the highest common factor of 15 and 25?</a:t>
                </a:r>
              </a:p>
              <a:p>
                <a:pPr marL="457200" indent="-457200">
                  <a:buAutoNum type="arabicPeriod"/>
                </a:pPr>
                <a:endParaRPr lang="en-AU" dirty="0"/>
              </a:p>
              <a:p>
                <a:pPr marL="457200" indent="-457200">
                  <a:buAutoNum type="arabicPeriod"/>
                </a:pPr>
                <a:r>
                  <a:rPr lang="en-AU" dirty="0"/>
                  <a:t>If 9 x 9 = 81, what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AU" dirty="0" smtClean="0">
                            <a:latin typeface="Cambria Math" panose="02040503050406030204" pitchFamily="18" charset="0"/>
                          </a:rPr>
                          <m:t>81</m:t>
                        </m:r>
                      </m:e>
                    </m:rad>
                    <m:r>
                      <a:rPr lang="en-AU" b="0" i="1" dirty="0" smtClean="0">
                        <a:latin typeface="Cambria Math" panose="02040503050406030204" pitchFamily="18" charset="0"/>
                      </a:rPr>
                      <m:t> ?</m:t>
                    </m:r>
                  </m:oMath>
                </a14:m>
                <a:endParaRPr lang="en-AU" b="0" dirty="0"/>
              </a:p>
              <a:p>
                <a:pPr marL="457200" indent="-457200">
                  <a:buAutoNum type="arabicPeriod"/>
                </a:pPr>
                <a:endParaRPr lang="en-AU" dirty="0"/>
              </a:p>
              <a:p>
                <a:pPr marL="457200" indent="-457200">
                  <a:buAutoNum type="arabicPeriod"/>
                </a:pPr>
                <a:r>
                  <a:rPr lang="en-AU" dirty="0"/>
                  <a:t>If there are 125 cars in the car park, 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AU" dirty="0"/>
                  <a:t> are white, how many white cars are there?</a:t>
                </a:r>
              </a:p>
              <a:p>
                <a:pPr marL="457200" indent="-457200">
                  <a:buAutoNum type="arabicPeriod"/>
                </a:pPr>
                <a:endParaRPr lang="en-AU" dirty="0"/>
              </a:p>
              <a:p>
                <a:pPr marL="457200" indent="-457200">
                  <a:buAutoNum type="arabicPeriod"/>
                </a:pPr>
                <a:r>
                  <a:rPr lang="en-AU" dirty="0"/>
                  <a:t>Complete your summary and add at least 1 term you used last lesson to your glossary.</a:t>
                </a:r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09ADC6-A468-448E-9434-27929FD205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74134" y="1456268"/>
                <a:ext cx="5952067" cy="4762418"/>
              </a:xfrm>
              <a:blipFill>
                <a:blip r:embed="rId2"/>
                <a:stretch>
                  <a:fillRect l="-1127" t="-1408" r="-82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05DE1F-5039-4D82-B620-61F8FBB59EC2}"/>
              </a:ext>
            </a:extLst>
          </p:cNvPr>
          <p:cNvCxnSpPr/>
          <p:nvPr/>
        </p:nvCxnSpPr>
        <p:spPr>
          <a:xfrm flipV="1">
            <a:off x="7315200" y="2336800"/>
            <a:ext cx="2794000" cy="16594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82B1127-8B52-490E-A95B-C4B047880DCC}"/>
              </a:ext>
            </a:extLst>
          </p:cNvPr>
          <p:cNvCxnSpPr/>
          <p:nvPr/>
        </p:nvCxnSpPr>
        <p:spPr>
          <a:xfrm>
            <a:off x="6993467" y="2878667"/>
            <a:ext cx="4301066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1B0EDE0-AEA0-49B1-8D2D-8345E357A510}"/>
              </a:ext>
            </a:extLst>
          </p:cNvPr>
          <p:cNvSpPr txBox="1"/>
          <p:nvPr/>
        </p:nvSpPr>
        <p:spPr>
          <a:xfrm>
            <a:off x="8034866" y="3014134"/>
            <a:ext cx="96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C374A8-6464-4AA0-9EAF-5950D7172E2C}"/>
              </a:ext>
            </a:extLst>
          </p:cNvPr>
          <p:cNvSpPr txBox="1"/>
          <p:nvPr/>
        </p:nvSpPr>
        <p:spPr>
          <a:xfrm>
            <a:off x="8712200" y="2556842"/>
            <a:ext cx="1134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601BAC-754C-46F8-ADB1-E314BF57B6E5}"/>
              </a:ext>
            </a:extLst>
          </p:cNvPr>
          <p:cNvSpPr txBox="1"/>
          <p:nvPr/>
        </p:nvSpPr>
        <p:spPr>
          <a:xfrm>
            <a:off x="8754532" y="3098709"/>
            <a:ext cx="1134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145</a:t>
            </a:r>
            <a:r>
              <a:rPr lang="en-AU" baseline="30000" dirty="0"/>
              <a:t>o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62417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Students will be able to</a:t>
            </a:r>
          </a:p>
          <a:p>
            <a:r>
              <a:rPr lang="en-AU" sz="4400" dirty="0">
                <a:latin typeface="Kiwi School Handwriting" panose="00000500000000000000" pitchFamily="2" charset="0"/>
              </a:rPr>
              <a:t> Identify corresponding angles</a:t>
            </a:r>
          </a:p>
          <a:p>
            <a:r>
              <a:rPr lang="en-AU" sz="4400" dirty="0">
                <a:latin typeface="Kiwi School Handwriting" panose="00000500000000000000" pitchFamily="2" charset="0"/>
              </a:rPr>
              <a:t>Solve problems with corresponding angles</a:t>
            </a:r>
          </a:p>
        </p:txBody>
      </p:sp>
    </p:spTree>
    <p:extLst>
      <p:ext uri="{BB962C8B-B14F-4D97-AF65-F5344CB8AC3E}">
        <p14:creationId xmlns:p14="http://schemas.microsoft.com/office/powerpoint/2010/main" val="1720426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78756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20937" y="81681"/>
            <a:ext cx="50677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Angles in parallel lines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9643" y="133060"/>
            <a:ext cx="1196534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are corresponding and alternate angles?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CBE7AA4-7B1E-40AC-ABF2-53B319996E18}"/>
              </a:ext>
            </a:extLst>
          </p:cNvPr>
          <p:cNvSpPr txBox="1"/>
          <p:nvPr/>
        </p:nvSpPr>
        <p:spPr>
          <a:xfrm>
            <a:off x="0" y="1477612"/>
            <a:ext cx="1975053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are parallel lines?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FB09015-7C9B-43F6-92CC-F579467E2D4E}"/>
              </a:ext>
            </a:extLst>
          </p:cNvPr>
          <p:cNvSpPr txBox="1">
            <a:spLocks/>
          </p:cNvSpPr>
          <p:nvPr/>
        </p:nvSpPr>
        <p:spPr>
          <a:xfrm>
            <a:off x="2153729" y="1738378"/>
            <a:ext cx="9791123" cy="108890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800" b="1" dirty="0">
                <a:latin typeface="Calibri" panose="020F0502020204030204" pitchFamily="34" charset="0"/>
                <a:cs typeface="Calibri" panose="020F0502020204030204" pitchFamily="34" charset="0"/>
              </a:rPr>
              <a:t>Two lines that never meet or cross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DB12604-C21D-4C8E-887E-73E17F739C7A}"/>
              </a:ext>
            </a:extLst>
          </p:cNvPr>
          <p:cNvGrpSpPr/>
          <p:nvPr/>
        </p:nvGrpSpPr>
        <p:grpSpPr>
          <a:xfrm>
            <a:off x="6663558" y="2308352"/>
            <a:ext cx="4504351" cy="709448"/>
            <a:chOff x="5297214" y="2308352"/>
            <a:chExt cx="5870696" cy="709448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BA7A4A3D-B795-4247-B3B7-86659272616B}"/>
                </a:ext>
              </a:extLst>
            </p:cNvPr>
            <p:cNvCxnSpPr/>
            <p:nvPr/>
          </p:nvCxnSpPr>
          <p:spPr>
            <a:xfrm>
              <a:off x="5297214" y="2308352"/>
              <a:ext cx="5870696" cy="0"/>
            </a:xfrm>
            <a:prstGeom prst="straightConnector1">
              <a:avLst/>
            </a:prstGeom>
            <a:ln w="381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ABCEBE87-72BE-477A-A946-E130D96CC84B}"/>
                </a:ext>
              </a:extLst>
            </p:cNvPr>
            <p:cNvCxnSpPr/>
            <p:nvPr/>
          </p:nvCxnSpPr>
          <p:spPr>
            <a:xfrm>
              <a:off x="5297214" y="3017800"/>
              <a:ext cx="5870696" cy="0"/>
            </a:xfrm>
            <a:prstGeom prst="straightConnector1">
              <a:avLst/>
            </a:prstGeom>
            <a:ln w="381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42F84E36-24A6-48D3-89F0-619AF320A074}"/>
              </a:ext>
            </a:extLst>
          </p:cNvPr>
          <p:cNvSpPr txBox="1"/>
          <p:nvPr/>
        </p:nvSpPr>
        <p:spPr>
          <a:xfrm>
            <a:off x="-1" y="3478359"/>
            <a:ext cx="1975053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a transversal line?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B382B66D-1AC9-42A1-AEBB-FE9336FED6E2}"/>
              </a:ext>
            </a:extLst>
          </p:cNvPr>
          <p:cNvSpPr txBox="1">
            <a:spLocks/>
          </p:cNvSpPr>
          <p:nvPr/>
        </p:nvSpPr>
        <p:spPr>
          <a:xfrm>
            <a:off x="2153729" y="3825358"/>
            <a:ext cx="9791123" cy="108890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800" b="1" dirty="0">
                <a:latin typeface="Calibri" panose="020F0502020204030204" pitchFamily="34" charset="0"/>
                <a:cs typeface="Calibri" panose="020F0502020204030204" pitchFamily="34" charset="0"/>
              </a:rPr>
              <a:t>A line that cuts through other lines 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F7DA49B-D488-4864-AF07-752B54A0A267}"/>
              </a:ext>
            </a:extLst>
          </p:cNvPr>
          <p:cNvCxnSpPr>
            <a:cxnSpLocks/>
          </p:cNvCxnSpPr>
          <p:nvPr/>
        </p:nvCxnSpPr>
        <p:spPr>
          <a:xfrm flipV="1">
            <a:off x="7597901" y="1364967"/>
            <a:ext cx="3201069" cy="2437730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71852D4-55EC-47F6-BDFA-C2498FDC6FE5}"/>
              </a:ext>
            </a:extLst>
          </p:cNvPr>
          <p:cNvSpPr txBox="1"/>
          <p:nvPr/>
        </p:nvSpPr>
        <p:spPr>
          <a:xfrm>
            <a:off x="-285627" y="5248338"/>
            <a:ext cx="2546303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corresponding?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8175FE76-0623-4594-A439-B85465737259}"/>
              </a:ext>
            </a:extLst>
          </p:cNvPr>
          <p:cNvSpPr txBox="1">
            <a:spLocks/>
          </p:cNvSpPr>
          <p:nvPr/>
        </p:nvSpPr>
        <p:spPr>
          <a:xfrm>
            <a:off x="2260676" y="5413334"/>
            <a:ext cx="9791123" cy="108890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800" b="1" dirty="0">
                <a:latin typeface="Calibri" panose="020F0502020204030204" pitchFamily="34" charset="0"/>
                <a:cs typeface="Calibri" panose="020F0502020204030204" pitchFamily="34" charset="0"/>
              </a:rPr>
              <a:t>Corresponding means matching</a:t>
            </a:r>
          </a:p>
        </p:txBody>
      </p:sp>
    </p:spTree>
    <p:extLst>
      <p:ext uri="{BB962C8B-B14F-4D97-AF65-F5344CB8AC3E}">
        <p14:creationId xmlns:p14="http://schemas.microsoft.com/office/powerpoint/2010/main" val="2932217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4" grpId="0"/>
      <p:bldP spid="17" grpId="0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78756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569643" y="133060"/>
            <a:ext cx="1196534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CBE7AA4-7B1E-40AC-ABF2-53B319996E18}"/>
              </a:ext>
            </a:extLst>
          </p:cNvPr>
          <p:cNvSpPr txBox="1"/>
          <p:nvPr/>
        </p:nvSpPr>
        <p:spPr>
          <a:xfrm>
            <a:off x="-137526" y="1593227"/>
            <a:ext cx="2291255" cy="1234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are corresponding angles?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FB09015-7C9B-43F6-92CC-F579467E2D4E}"/>
              </a:ext>
            </a:extLst>
          </p:cNvPr>
          <p:cNvSpPr txBox="1">
            <a:spLocks/>
          </p:cNvSpPr>
          <p:nvPr/>
        </p:nvSpPr>
        <p:spPr>
          <a:xfrm>
            <a:off x="2153730" y="1738377"/>
            <a:ext cx="4940753" cy="357985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800" b="1" dirty="0">
                <a:latin typeface="Calibri" panose="020F0502020204030204" pitchFamily="34" charset="0"/>
                <a:cs typeface="Calibri" panose="020F0502020204030204" pitchFamily="34" charset="0"/>
              </a:rPr>
              <a:t>When a transversal line cuts through two parallel lines, four pairs of corresponding (matching) angles are formed.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2800" b="1" dirty="0">
                <a:latin typeface="Calibri" panose="020F0502020204030204" pitchFamily="34" charset="0"/>
                <a:cs typeface="Calibri" panose="020F0502020204030204" pitchFamily="34" charset="0"/>
              </a:rPr>
              <a:t>The corresponding angles are equal in size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154D7FA-3943-4390-987F-42264E72A88E}"/>
              </a:ext>
            </a:extLst>
          </p:cNvPr>
          <p:cNvGrpSpPr/>
          <p:nvPr/>
        </p:nvGrpSpPr>
        <p:grpSpPr>
          <a:xfrm>
            <a:off x="7294178" y="1276840"/>
            <a:ext cx="3873731" cy="2780153"/>
            <a:chOff x="7294178" y="1276840"/>
            <a:chExt cx="3873731" cy="2780153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DB12604-C21D-4C8E-887E-73E17F739C7A}"/>
                </a:ext>
              </a:extLst>
            </p:cNvPr>
            <p:cNvGrpSpPr/>
            <p:nvPr/>
          </p:nvGrpSpPr>
          <p:grpSpPr>
            <a:xfrm>
              <a:off x="7294178" y="2296737"/>
              <a:ext cx="3873731" cy="721063"/>
              <a:chOff x="5297214" y="2308352"/>
              <a:chExt cx="5870696" cy="709448"/>
            </a:xfrm>
          </p:grpSpPr>
          <p:cxnSp>
            <p:nvCxnSpPr>
              <p:cNvPr id="3" name="Straight Arrow Connector 2">
                <a:extLst>
                  <a:ext uri="{FF2B5EF4-FFF2-40B4-BE49-F238E27FC236}">
                    <a16:creationId xmlns:a16="http://schemas.microsoft.com/office/drawing/2014/main" id="{BA7A4A3D-B795-4247-B3B7-86659272616B}"/>
                  </a:ext>
                </a:extLst>
              </p:cNvPr>
              <p:cNvCxnSpPr/>
              <p:nvPr/>
            </p:nvCxnSpPr>
            <p:spPr>
              <a:xfrm>
                <a:off x="5297214" y="2308352"/>
                <a:ext cx="5870696" cy="0"/>
              </a:xfrm>
              <a:prstGeom prst="straightConnector1">
                <a:avLst/>
              </a:prstGeom>
              <a:ln w="38100"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ABCEBE87-72BE-477A-A946-E130D96CC84B}"/>
                  </a:ext>
                </a:extLst>
              </p:cNvPr>
              <p:cNvCxnSpPr/>
              <p:nvPr/>
            </p:nvCxnSpPr>
            <p:spPr>
              <a:xfrm>
                <a:off x="5297214" y="3017800"/>
                <a:ext cx="5870696" cy="0"/>
              </a:xfrm>
              <a:prstGeom prst="straightConnector1">
                <a:avLst/>
              </a:prstGeom>
              <a:ln w="38100"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DF7DA49B-D488-4864-AF07-752B54A0A2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71338" y="1276840"/>
              <a:ext cx="1713186" cy="2780153"/>
            </a:xfrm>
            <a:prstGeom prst="straightConnector1">
              <a:avLst/>
            </a:prstGeom>
            <a:ln w="57150">
              <a:headEnd type="triangle"/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64EA848-B116-4978-989C-49BD4A20B5F0}"/>
              </a:ext>
            </a:extLst>
          </p:cNvPr>
          <p:cNvGrpSpPr/>
          <p:nvPr/>
        </p:nvGrpSpPr>
        <p:grpSpPr>
          <a:xfrm>
            <a:off x="8781393" y="1970515"/>
            <a:ext cx="646387" cy="952192"/>
            <a:chOff x="8781393" y="1970515"/>
            <a:chExt cx="646387" cy="952192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4A85FC4E-F06A-4CBE-9AD3-0E41D5A0B2A7}"/>
                </a:ext>
              </a:extLst>
            </p:cNvPr>
            <p:cNvSpPr/>
            <p:nvPr/>
          </p:nvSpPr>
          <p:spPr>
            <a:xfrm>
              <a:off x="9175531" y="1970515"/>
              <a:ext cx="252249" cy="21274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86F1B0D8-8945-455B-B84D-268ABDDE8410}"/>
                </a:ext>
              </a:extLst>
            </p:cNvPr>
            <p:cNvSpPr/>
            <p:nvPr/>
          </p:nvSpPr>
          <p:spPr>
            <a:xfrm>
              <a:off x="8781393" y="2709960"/>
              <a:ext cx="252249" cy="21274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20D9E13-F30F-4FEB-ADE8-4F72A9052A58}"/>
              </a:ext>
            </a:extLst>
          </p:cNvPr>
          <p:cNvGrpSpPr/>
          <p:nvPr/>
        </p:nvGrpSpPr>
        <p:grpSpPr>
          <a:xfrm>
            <a:off x="9343697" y="1978609"/>
            <a:ext cx="711742" cy="944713"/>
            <a:chOff x="9420231" y="1970515"/>
            <a:chExt cx="711742" cy="944713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939A9C17-5563-4A75-A32D-625289EF01FE}"/>
                </a:ext>
              </a:extLst>
            </p:cNvPr>
            <p:cNvSpPr/>
            <p:nvPr/>
          </p:nvSpPr>
          <p:spPr>
            <a:xfrm>
              <a:off x="9879724" y="1970515"/>
              <a:ext cx="252249" cy="212747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99099C1A-57DD-4200-B690-39F660D15C9C}"/>
                </a:ext>
              </a:extLst>
            </p:cNvPr>
            <p:cNvSpPr/>
            <p:nvPr/>
          </p:nvSpPr>
          <p:spPr>
            <a:xfrm>
              <a:off x="9420231" y="2702481"/>
              <a:ext cx="252249" cy="212747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8A9F73A-0B3C-4EE3-9C2B-9290C9C43988}"/>
              </a:ext>
            </a:extLst>
          </p:cNvPr>
          <p:cNvGrpSpPr/>
          <p:nvPr/>
        </p:nvGrpSpPr>
        <p:grpSpPr>
          <a:xfrm>
            <a:off x="9094411" y="2382093"/>
            <a:ext cx="659188" cy="956096"/>
            <a:chOff x="9094411" y="2382093"/>
            <a:chExt cx="659188" cy="956096"/>
          </a:xfrm>
        </p:grpSpPr>
        <p:sp>
          <p:nvSpPr>
            <p:cNvPr id="31" name="Isosceles Triangle 30">
              <a:extLst>
                <a:ext uri="{FF2B5EF4-FFF2-40B4-BE49-F238E27FC236}">
                  <a16:creationId xmlns:a16="http://schemas.microsoft.com/office/drawing/2014/main" id="{3805C7F6-67F2-42B7-8330-A439C5F66D26}"/>
                </a:ext>
              </a:extLst>
            </p:cNvPr>
            <p:cNvSpPr/>
            <p:nvPr/>
          </p:nvSpPr>
          <p:spPr>
            <a:xfrm>
              <a:off x="9546355" y="2382093"/>
              <a:ext cx="207244" cy="178675"/>
            </a:xfrm>
            <a:prstGeom prst="triangle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4" name="Isosceles Triangle 33">
              <a:extLst>
                <a:ext uri="{FF2B5EF4-FFF2-40B4-BE49-F238E27FC236}">
                  <a16:creationId xmlns:a16="http://schemas.microsoft.com/office/drawing/2014/main" id="{65DCC3FF-FCDB-4F3E-ADEB-936C76241897}"/>
                </a:ext>
              </a:extLst>
            </p:cNvPr>
            <p:cNvSpPr/>
            <p:nvPr/>
          </p:nvSpPr>
          <p:spPr>
            <a:xfrm>
              <a:off x="9094411" y="3159514"/>
              <a:ext cx="207244" cy="178675"/>
            </a:xfrm>
            <a:prstGeom prst="triangle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01BD750B-14AB-4F0B-9AAA-20FDF27E2B10}"/>
              </a:ext>
            </a:extLst>
          </p:cNvPr>
          <p:cNvSpPr/>
          <p:nvPr/>
        </p:nvSpPr>
        <p:spPr>
          <a:xfrm>
            <a:off x="9049406" y="2349113"/>
            <a:ext cx="252249" cy="178675"/>
          </a:xfrm>
          <a:prstGeom prst="triangl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3816D542-82A5-493C-9AFC-B89D496E3433}"/>
              </a:ext>
            </a:extLst>
          </p:cNvPr>
          <p:cNvSpPr/>
          <p:nvPr/>
        </p:nvSpPr>
        <p:spPr>
          <a:xfrm>
            <a:off x="8531771" y="3161711"/>
            <a:ext cx="252249" cy="178675"/>
          </a:xfrm>
          <a:prstGeom prst="triangl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D8DCBA0-405B-4F4C-A049-4DBCD8EF1D89}"/>
              </a:ext>
            </a:extLst>
          </p:cNvPr>
          <p:cNvSpPr txBox="1"/>
          <p:nvPr/>
        </p:nvSpPr>
        <p:spPr>
          <a:xfrm>
            <a:off x="4046483" y="4683958"/>
            <a:ext cx="7472856" cy="830997"/>
          </a:xfrm>
          <a:prstGeom prst="rect">
            <a:avLst/>
          </a:prstGeom>
          <a:noFill/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AU" sz="2400" dirty="0"/>
              <a:t>Individual: Draw two parallel lines on your page and a transversal line. Measure all the angles!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81A071B-53CD-42AD-BD15-34A85406EA29}"/>
              </a:ext>
            </a:extLst>
          </p:cNvPr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1C36704-828B-4A95-8F76-FB449D06642A}"/>
              </a:ext>
            </a:extLst>
          </p:cNvPr>
          <p:cNvSpPr txBox="1"/>
          <p:nvPr/>
        </p:nvSpPr>
        <p:spPr>
          <a:xfrm>
            <a:off x="720937" y="81681"/>
            <a:ext cx="50677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Angles in parallel lines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A9FDDEA-832E-4FF9-9F1D-1BD37D257F25}"/>
              </a:ext>
            </a:extLst>
          </p:cNvPr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are corresponding and alternate angles?</a:t>
            </a:r>
          </a:p>
        </p:txBody>
      </p:sp>
    </p:spTree>
    <p:extLst>
      <p:ext uri="{BB962C8B-B14F-4D97-AF65-F5344CB8AC3E}">
        <p14:creationId xmlns:p14="http://schemas.microsoft.com/office/powerpoint/2010/main" val="3639339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116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6E8B51-390F-48E0-9189-4FF0A8B6FBAD}"/>
              </a:ext>
            </a:extLst>
          </p:cNvPr>
          <p:cNvSpPr txBox="1"/>
          <p:nvPr/>
        </p:nvSpPr>
        <p:spPr>
          <a:xfrm>
            <a:off x="6484882" y="283778"/>
            <a:ext cx="78617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/>
              <a:t>Guided Practice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9F5DDF-FB2E-4B58-B990-11B4BAF8323B}"/>
              </a:ext>
            </a:extLst>
          </p:cNvPr>
          <p:cNvSpPr txBox="1"/>
          <p:nvPr/>
        </p:nvSpPr>
        <p:spPr>
          <a:xfrm>
            <a:off x="7046259" y="914400"/>
            <a:ext cx="5873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Draw these on your left hand side!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4E8A7E-4E20-4E39-B482-3C6D3B4B6A8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638" t="56245" r="41379" b="10804"/>
          <a:stretch/>
        </p:blipFill>
        <p:spPr>
          <a:xfrm>
            <a:off x="1248484" y="1464630"/>
            <a:ext cx="8644715" cy="5009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865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A7570-9576-4054-9DCF-6B5BABECB1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5138" y="596987"/>
            <a:ext cx="9793014" cy="540147"/>
          </a:xfrm>
        </p:spPr>
        <p:txBody>
          <a:bodyPr/>
          <a:lstStyle/>
          <a:p>
            <a:pPr marL="0" indent="0">
              <a:buNone/>
            </a:pPr>
            <a:r>
              <a:rPr lang="en-AU" dirty="0"/>
              <a:t>You can work together to solve the following questions.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5AD492-42BF-4B6B-AD4C-9DD4C9677D0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534" t="32000" r="10689" b="23219"/>
          <a:stretch/>
        </p:blipFill>
        <p:spPr>
          <a:xfrm>
            <a:off x="5070666" y="1011218"/>
            <a:ext cx="6960074" cy="20439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39B6F75-987C-47FA-A083-FCB1EB962C2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029" t="43451" r="11853" b="16235"/>
          <a:stretch/>
        </p:blipFill>
        <p:spPr>
          <a:xfrm>
            <a:off x="4909406" y="4629088"/>
            <a:ext cx="7282594" cy="19868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CF38C9-3258-4596-9869-CEE7AB99DD0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206" t="22745" r="14764" b="16078"/>
          <a:stretch/>
        </p:blipFill>
        <p:spPr>
          <a:xfrm>
            <a:off x="188873" y="2379647"/>
            <a:ext cx="5068761" cy="2179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935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927884"/>
            <a:ext cx="12192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410950"/>
            <a:ext cx="12192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69563" y="1389549"/>
            <a:ext cx="0" cy="546845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Date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DB12604-C21D-4C8E-887E-73E17F739C7A}"/>
              </a:ext>
            </a:extLst>
          </p:cNvPr>
          <p:cNvGrpSpPr/>
          <p:nvPr/>
        </p:nvGrpSpPr>
        <p:grpSpPr>
          <a:xfrm>
            <a:off x="5247619" y="4719606"/>
            <a:ext cx="4504351" cy="709448"/>
            <a:chOff x="5297214" y="2308352"/>
            <a:chExt cx="5870696" cy="709448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BA7A4A3D-B795-4247-B3B7-86659272616B}"/>
                </a:ext>
              </a:extLst>
            </p:cNvPr>
            <p:cNvCxnSpPr/>
            <p:nvPr/>
          </p:nvCxnSpPr>
          <p:spPr>
            <a:xfrm>
              <a:off x="5297214" y="2308352"/>
              <a:ext cx="5870696" cy="0"/>
            </a:xfrm>
            <a:prstGeom prst="straightConnector1">
              <a:avLst/>
            </a:prstGeom>
            <a:ln w="762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ABCEBE87-72BE-477A-A946-E130D96CC84B}"/>
                </a:ext>
              </a:extLst>
            </p:cNvPr>
            <p:cNvCxnSpPr/>
            <p:nvPr/>
          </p:nvCxnSpPr>
          <p:spPr>
            <a:xfrm>
              <a:off x="5297214" y="3017800"/>
              <a:ext cx="5870696" cy="0"/>
            </a:xfrm>
            <a:prstGeom prst="straightConnector1">
              <a:avLst/>
            </a:prstGeom>
            <a:ln w="762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F7DA49B-D488-4864-AF07-752B54A0A267}"/>
              </a:ext>
            </a:extLst>
          </p:cNvPr>
          <p:cNvCxnSpPr>
            <a:cxnSpLocks/>
          </p:cNvCxnSpPr>
          <p:nvPr/>
        </p:nvCxnSpPr>
        <p:spPr>
          <a:xfrm flipV="1">
            <a:off x="5756984" y="3664858"/>
            <a:ext cx="3201069" cy="2437730"/>
          </a:xfrm>
          <a:prstGeom prst="straightConnector1">
            <a:avLst/>
          </a:prstGeom>
          <a:ln w="76200"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31200" y="1571290"/>
            <a:ext cx="17161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are Alternate angles?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25935" y="1732085"/>
            <a:ext cx="96348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When a line cuts through two parallel lines, Alternate angles are formed by a </a:t>
            </a:r>
            <a:r>
              <a:rPr lang="en-AU" sz="2400" b="1" dirty="0"/>
              <a:t>Z </a:t>
            </a:r>
            <a:r>
              <a:rPr lang="en-AU" sz="2400" dirty="0"/>
              <a:t>shape.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19388" y="3360658"/>
            <a:ext cx="42707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Alternate angles are equal.</a:t>
            </a:r>
          </a:p>
        </p:txBody>
      </p:sp>
      <p:cxnSp>
        <p:nvCxnSpPr>
          <p:cNvPr id="27" name="Straight Arrow Connector 26"/>
          <p:cNvCxnSpPr/>
          <p:nvPr/>
        </p:nvCxnSpPr>
        <p:spPr>
          <a:xfrm>
            <a:off x="4439816" y="4034191"/>
            <a:ext cx="2603778" cy="84953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cxnSpLocks/>
            <a:endCxn id="25" idx="3"/>
          </p:cNvCxnSpPr>
          <p:nvPr/>
        </p:nvCxnSpPr>
        <p:spPr>
          <a:xfrm>
            <a:off x="4474496" y="3963014"/>
            <a:ext cx="2559894" cy="134830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7078274" y="4764214"/>
            <a:ext cx="124124" cy="19060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Oval 24"/>
          <p:cNvSpPr/>
          <p:nvPr/>
        </p:nvSpPr>
        <p:spPr>
          <a:xfrm>
            <a:off x="7016212" y="5148622"/>
            <a:ext cx="124124" cy="19060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0" name="5-Point Star 29"/>
          <p:cNvSpPr/>
          <p:nvPr/>
        </p:nvSpPr>
        <p:spPr>
          <a:xfrm>
            <a:off x="7535030" y="4812314"/>
            <a:ext cx="218427" cy="190607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1" name="5-Point Star 30"/>
          <p:cNvSpPr/>
          <p:nvPr/>
        </p:nvSpPr>
        <p:spPr>
          <a:xfrm>
            <a:off x="6459645" y="5115031"/>
            <a:ext cx="218427" cy="190607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8" name="Straight Connector 17"/>
          <p:cNvCxnSpPr>
            <a:cxnSpLocks/>
          </p:cNvCxnSpPr>
          <p:nvPr/>
        </p:nvCxnSpPr>
        <p:spPr>
          <a:xfrm>
            <a:off x="6939982" y="4719606"/>
            <a:ext cx="683713" cy="0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cxnSpLocks/>
          </p:cNvCxnSpPr>
          <p:nvPr/>
        </p:nvCxnSpPr>
        <p:spPr>
          <a:xfrm>
            <a:off x="6673805" y="5410405"/>
            <a:ext cx="683713" cy="0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cxnSpLocks/>
          </p:cNvCxnSpPr>
          <p:nvPr/>
        </p:nvCxnSpPr>
        <p:spPr>
          <a:xfrm flipV="1">
            <a:off x="6673805" y="4719606"/>
            <a:ext cx="931961" cy="709448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F30EE39B-5D17-4FD4-B834-E589CCAD126E}"/>
              </a:ext>
            </a:extLst>
          </p:cNvPr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399D2BD-1379-4CEB-89DC-E3707547DB1A}"/>
              </a:ext>
            </a:extLst>
          </p:cNvPr>
          <p:cNvSpPr txBox="1"/>
          <p:nvPr/>
        </p:nvSpPr>
        <p:spPr>
          <a:xfrm>
            <a:off x="720937" y="81681"/>
            <a:ext cx="50677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Angles in parallel lines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D6F58E9-944C-426D-AABE-5FFA77C70873}"/>
              </a:ext>
            </a:extLst>
          </p:cNvPr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are corresponding and alternate angles?</a:t>
            </a:r>
          </a:p>
        </p:txBody>
      </p:sp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43672" y="394996"/>
            <a:ext cx="576064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b="1" dirty="0"/>
              <a:t>Copy and mark the pairs of Alternate angles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7716" y="1703658"/>
            <a:ext cx="7058025" cy="219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3065" y="4365105"/>
            <a:ext cx="5267325" cy="162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895439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1624" y="1476376"/>
            <a:ext cx="7048500" cy="195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0324" y="3645025"/>
            <a:ext cx="4991100" cy="267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855640" y="476672"/>
            <a:ext cx="80794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600" b="1" dirty="0"/>
              <a:t>Find the size of the unknown angles</a:t>
            </a:r>
          </a:p>
        </p:txBody>
      </p:sp>
    </p:spTree>
    <p:extLst>
      <p:ext uri="{BB962C8B-B14F-4D97-AF65-F5344CB8AC3E}">
        <p14:creationId xmlns:p14="http://schemas.microsoft.com/office/powerpoint/2010/main" val="1126673429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377</TotalTime>
  <Words>329</Words>
  <Application>Microsoft Office PowerPoint</Application>
  <PresentationFormat>Widescreen</PresentationFormat>
  <Paragraphs>67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Cambria Math</vt:lpstr>
      <vt:lpstr>Century Gothic</vt:lpstr>
      <vt:lpstr>Kiwi School Handwriting</vt:lpstr>
      <vt:lpstr>Vapor Trail</vt:lpstr>
      <vt:lpstr>5 Questions</vt:lpstr>
      <vt:lpstr>Learning Intentions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Nine Labuschagne</dc:creator>
  <cp:lastModifiedBy>WILSON James [Baldivis Secondary College]</cp:lastModifiedBy>
  <cp:revision>34</cp:revision>
  <dcterms:created xsi:type="dcterms:W3CDTF">2017-10-04T08:09:40Z</dcterms:created>
  <dcterms:modified xsi:type="dcterms:W3CDTF">2019-07-28T07:56:07Z</dcterms:modified>
</cp:coreProperties>
</file>
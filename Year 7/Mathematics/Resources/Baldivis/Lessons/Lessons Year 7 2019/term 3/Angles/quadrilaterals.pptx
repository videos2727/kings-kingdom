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1"/>
  </p:sldMasterIdLst>
  <p:notesMasterIdLst>
    <p:notesMasterId r:id="rId15"/>
  </p:notesMasterIdLst>
  <p:sldIdLst>
    <p:sldId id="256" r:id="rId2"/>
    <p:sldId id="257" r:id="rId3"/>
    <p:sldId id="268" r:id="rId4"/>
    <p:sldId id="266" r:id="rId5"/>
    <p:sldId id="260" r:id="rId6"/>
    <p:sldId id="259" r:id="rId7"/>
    <p:sldId id="262" r:id="rId8"/>
    <p:sldId id="261" r:id="rId9"/>
    <p:sldId id="263" r:id="rId10"/>
    <p:sldId id="258" r:id="rId11"/>
    <p:sldId id="264" r:id="rId12"/>
    <p:sldId id="267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49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A1C5-FD91-C948-B817-0A51A348A65F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3C408-E2B8-2446-96C9-16F30C22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6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5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Draw a table like the following in your book: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85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93C408-E2B8-2446-96C9-16F30C2218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79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124200"/>
            <a:ext cx="6477000" cy="1914144"/>
          </a:xfrm>
        </p:spPr>
        <p:txBody>
          <a:bodyPr vert="horz" lIns="45720" tIns="0" rIns="4572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5056632"/>
            <a:ext cx="6477000" cy="1174088"/>
          </a:xfrm>
        </p:spPr>
        <p:txBody>
          <a:bodyPr vert="horz" lIns="91440" tIns="0" rIns="45720" bIns="0" rtlCol="0">
            <a:norm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0"/>
              </a:spcBef>
              <a:buSzPct val="90000"/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00216"/>
            <a:ext cx="1984248" cy="274320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352" y="6300216"/>
            <a:ext cx="3813048" cy="274320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300216"/>
            <a:ext cx="685800" cy="27432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Rockwell" pitchFamily="18" charset="0"/>
                <a:ea typeface="+mn-ea"/>
                <a:cs typeface="+mn-cs"/>
              </a:defRPr>
            </a:lvl1pPr>
          </a:lstStyle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Watermark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122215" y="3200400"/>
            <a:ext cx="8021782" cy="2209800"/>
          </a:xfrm>
        </p:spPr>
        <p:txBody>
          <a:bodyPr wrap="none" lIns="0" tIns="0" rIns="0" bIns="0" anchor="ctr" anchorCtr="0">
            <a:noAutofit/>
          </a:bodyPr>
          <a:lstStyle>
            <a:lvl1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  <a:lvl2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2pPr>
            <a:lvl3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3pPr>
            <a:lvl4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4pPr>
            <a:lvl5pPr marL="0" indent="0" algn="r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0813" y="3833095"/>
            <a:ext cx="4724400" cy="1209964"/>
          </a:xfrm>
        </p:spPr>
        <p:txBody>
          <a:bodyPr lIns="45720" tIns="0" rIns="45720" bIns="0" anchor="b" anchorCtr="0">
            <a:noAutofit/>
          </a:bodyPr>
          <a:lstStyle>
            <a:lvl1pPr algn="l">
              <a:lnSpc>
                <a:spcPts val="5000"/>
              </a:lnSpc>
              <a:defRPr sz="4600"/>
            </a:lvl1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0813" y="5056909"/>
            <a:ext cx="4724400" cy="1156586"/>
          </a:xfrm>
        </p:spPr>
        <p:txBody>
          <a:bodyPr lIns="91440" tIns="0" rIns="45720" bIns="0">
            <a:normAutofit/>
          </a:bodyPr>
          <a:lstStyle>
            <a:lvl1pPr marL="0" indent="0" algn="l">
              <a:lnSpc>
                <a:spcPts val="2600"/>
              </a:lnSpc>
              <a:spcBef>
                <a:spcPct val="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98744"/>
            <a:ext cx="1981200" cy="273050"/>
          </a:xfrm>
        </p:spPr>
        <p:txBody>
          <a:bodyPr/>
          <a:lstStyle>
            <a:lvl1pPr algn="l">
              <a:defRPr sz="1100">
                <a:latin typeface="Rockwell" pitchFamily="18" charset="0"/>
              </a:defRPr>
            </a:lvl1pPr>
          </a:lstStyle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400" y="6298744"/>
            <a:ext cx="3810000" cy="27305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4856" y="6312392"/>
            <a:ext cx="685800" cy="265089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0"/>
            <a:ext cx="7772400" cy="1362075"/>
          </a:xfrm>
        </p:spPr>
        <p:txBody>
          <a:bodyPr vert="horz" lIns="45720" tIns="0" rIns="45720" bIns="0" rtlCol="0" anchor="b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46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57016"/>
            <a:ext cx="7772400" cy="987552"/>
          </a:xfrm>
        </p:spPr>
        <p:txBody>
          <a:bodyPr vert="horz" lIns="91440" tIns="0" rIns="45720" bIns="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SzPct val="90000"/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Watermar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12693" y="1689847"/>
            <a:ext cx="8431303" cy="2209800"/>
          </a:xfrm>
        </p:spPr>
        <p:txBody>
          <a:bodyPr wrap="none"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  <a:lvl2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2pPr>
            <a:lvl3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3pPr>
            <a:lvl4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4pPr>
            <a:lvl5pPr marL="0" indent="0" algn="l">
              <a:spcBef>
                <a:spcPts val="0"/>
              </a:spcBef>
              <a:buNone/>
              <a:defRPr sz="12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196353"/>
            <a:ext cx="5334000" cy="1362075"/>
          </a:xfrm>
        </p:spPr>
        <p:txBody>
          <a:bodyPr lIns="45720" tIns="0" rIns="45720" bIns="0" anchor="b" anchorCtr="0"/>
          <a:lstStyle>
            <a:lvl1pPr algn="l">
              <a:lnSpc>
                <a:spcPts val="5000"/>
              </a:lnSpc>
              <a:defRPr sz="4600" b="1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560618"/>
            <a:ext cx="5334000" cy="983087"/>
          </a:xfrm>
        </p:spPr>
        <p:txBody>
          <a:bodyPr tIns="0" rIns="45720" bIns="0" anchor="t" anchorCtr="0"/>
          <a:lstStyle>
            <a:lvl1pPr marL="0" indent="0">
              <a:spcBef>
                <a:spcPct val="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2775" y="4069804"/>
            <a:ext cx="5538788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6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3" name="Group 8"/>
          <p:cNvGrpSpPr/>
          <p:nvPr/>
        </p:nvGrpSpPr>
        <p:grpSpPr>
          <a:xfrm rot="21240000">
            <a:off x="654352" y="445180"/>
            <a:ext cx="5416247" cy="3630168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Picture Placeholder 9"/>
          <p:cNvSpPr>
            <a:spLocks noGrp="1"/>
          </p:cNvSpPr>
          <p:nvPr>
            <p:ph type="pic" sz="quarter" idx="15"/>
          </p:nvPr>
        </p:nvSpPr>
        <p:spPr>
          <a:xfrm rot="21240000">
            <a:off x="857677" y="632632"/>
            <a:ext cx="5009597" cy="32552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58117" y="5230906"/>
            <a:ext cx="5532958" cy="865093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326" y="1419366"/>
            <a:ext cx="3200400" cy="584035"/>
          </a:xfrm>
        </p:spPr>
        <p:txBody>
          <a:bodyPr anchor="b"/>
          <a:lstStyle>
            <a:lvl1pPr marL="0" indent="0" algn="ctr">
              <a:spcBef>
                <a:spcPct val="0"/>
              </a:spcBef>
              <a:buNone/>
              <a:defRPr sz="2200" b="0">
                <a:solidFill>
                  <a:schemeClr val="tx2">
                    <a:lumMod val="60000"/>
                    <a:lumOff val="40000"/>
                  </a:schemeClr>
                </a:solidFill>
                <a:latin typeface="Impac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7367" y="2174875"/>
            <a:ext cx="3566160" cy="3616325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290763" indent="-344488"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0247" y="1419366"/>
            <a:ext cx="3200400" cy="584035"/>
          </a:xfrm>
        </p:spPr>
        <p:txBody>
          <a:bodyPr anchor="b"/>
          <a:lstStyle>
            <a:lvl1pPr marL="0" indent="0" algn="ctr">
              <a:spcBef>
                <a:spcPct val="0"/>
              </a:spcBef>
              <a:buNone/>
              <a:defRPr sz="2200" b="0">
                <a:solidFill>
                  <a:schemeClr val="tx2">
                    <a:lumMod val="60000"/>
                    <a:lumOff val="40000"/>
                  </a:schemeClr>
                </a:solidFill>
                <a:latin typeface="Impac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514" y="2174875"/>
            <a:ext cx="3566160" cy="3616325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290763" indent="-344488"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39" y="1897040"/>
            <a:ext cx="3228975" cy="142875"/>
          </a:xfrm>
          <a:prstGeom prst="rect">
            <a:avLst/>
          </a:prstGeom>
        </p:spPr>
      </p:pic>
      <p:pic>
        <p:nvPicPr>
          <p:cNvPr id="13" name="Picture 12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60" y="1897040"/>
            <a:ext cx="3228975" cy="142875"/>
          </a:xfrm>
          <a:prstGeom prst="rect">
            <a:avLst/>
          </a:prstGeom>
        </p:spPr>
      </p:pic>
      <p:pic>
        <p:nvPicPr>
          <p:cNvPr id="12" name="Picture 11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39" y="1897040"/>
            <a:ext cx="3228975" cy="142875"/>
          </a:xfrm>
          <a:prstGeom prst="rect">
            <a:avLst/>
          </a:prstGeom>
        </p:spPr>
      </p:pic>
      <p:pic>
        <p:nvPicPr>
          <p:cNvPr id="14" name="Picture 13" descr="Comparison-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960" y="1897040"/>
            <a:ext cx="3228975" cy="142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8"/>
            <a:ext cx="731520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914400" y="3870960"/>
            <a:ext cx="731520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645152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tabLst/>
              <a:defRPr sz="1800"/>
            </a:lvl6pPr>
            <a:lvl7pPr marL="2290763" indent="-344488">
              <a:tabLst/>
              <a:defRPr sz="1800"/>
            </a:lvl7pPr>
            <a:lvl8pPr marL="2290763" indent="-344488">
              <a:tabLst/>
              <a:defRPr sz="1800"/>
            </a:lvl8pPr>
            <a:lvl9pPr marL="2290763" indent="-344488">
              <a:tabLst/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645152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9"/>
            <a:ext cx="3566160" cy="405606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914400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645152" y="1735138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645152" y="3870960"/>
            <a:ext cx="3566160" cy="1920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344488"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0048"/>
            <a:ext cx="3563938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7250" y="368490"/>
            <a:ext cx="3566160" cy="562749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 marL="2290763" indent="-344488">
              <a:defRPr sz="2000"/>
            </a:lvl7pPr>
            <a:lvl8pPr marL="2290763" indent="-344488">
              <a:defRPr sz="2000"/>
            </a:lvl8pPr>
            <a:lvl9pPr marL="2290763" indent="-344488"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398" y="2866030"/>
            <a:ext cx="3563938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546" y="1524000"/>
            <a:ext cx="356616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7544" y="2699982"/>
            <a:ext cx="3566160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7"/>
          <p:cNvGrpSpPr/>
          <p:nvPr/>
        </p:nvGrpSpPr>
        <p:grpSpPr>
          <a:xfrm rot="21421631">
            <a:off x="629028" y="505650"/>
            <a:ext cx="3850925" cy="5516274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 rot="21421631">
            <a:off x="808793" y="667560"/>
            <a:ext cx="3468664" cy="512472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3"/>
          <p:cNvGrpSpPr/>
          <p:nvPr/>
        </p:nvGrpSpPr>
        <p:grpSpPr>
          <a:xfrm rot="21214351">
            <a:off x="313409" y="3520798"/>
            <a:ext cx="4088024" cy="3026020"/>
            <a:chOff x="1524000" y="381000"/>
            <a:chExt cx="3657600" cy="473797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Picture Placeholder 9"/>
          <p:cNvSpPr>
            <a:spLocks noGrp="1"/>
          </p:cNvSpPr>
          <p:nvPr>
            <p:ph type="pic" sz="quarter" idx="16"/>
          </p:nvPr>
        </p:nvSpPr>
        <p:spPr>
          <a:xfrm rot="21214351">
            <a:off x="491057" y="3682579"/>
            <a:ext cx="3704109" cy="269708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Drag picture to placeholder or click icon to add</a:t>
            </a:r>
            <a:endParaRPr/>
          </a:p>
        </p:txBody>
      </p:sp>
      <p:grpSp>
        <p:nvGrpSpPr>
          <p:cNvPr id="8" name="Group 9"/>
          <p:cNvGrpSpPr/>
          <p:nvPr/>
        </p:nvGrpSpPr>
        <p:grpSpPr>
          <a:xfrm rot="232774">
            <a:off x="169481" y="241256"/>
            <a:ext cx="4088024" cy="3026020"/>
            <a:chOff x="1524000" y="381000"/>
            <a:chExt cx="3657600" cy="473797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 rot="232774">
            <a:off x="347129" y="403037"/>
            <a:ext cx="3704109" cy="269708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Drag picture to placeholder or click icon to add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3434" y="1524000"/>
            <a:ext cx="356616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42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3432" y="2699982"/>
            <a:ext cx="3566160" cy="2163171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36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3" name="Group 8"/>
          <p:cNvGrpSpPr/>
          <p:nvPr/>
        </p:nvGrpSpPr>
        <p:grpSpPr>
          <a:xfrm rot="232774">
            <a:off x="2059282" y="379100"/>
            <a:ext cx="5031327" cy="3443312"/>
            <a:chOff x="1524000" y="381000"/>
            <a:chExt cx="3657600" cy="4737978"/>
          </a:xfrm>
        </p:grpSpPr>
        <p:sp>
          <p:nvSpPr>
            <p:cNvPr id="10" name="Rectangle 9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928736"/>
            <a:ext cx="7315200" cy="987970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5"/>
          </p:nvPr>
        </p:nvSpPr>
        <p:spPr>
          <a:xfrm rot="232774">
            <a:off x="2248157" y="564564"/>
            <a:ext cx="4653577" cy="307238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762374"/>
            <a:ext cx="7315200" cy="1162050"/>
          </a:xfrm>
        </p:spPr>
        <p:txBody>
          <a:bodyPr tIns="0" bIns="0" anchor="b"/>
          <a:lstStyle>
            <a:lvl1pPr algn="l">
              <a:lnSpc>
                <a:spcPts val="4600"/>
              </a:lnSpc>
              <a:defRPr sz="3600" b="1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3" name="Group 13"/>
          <p:cNvGrpSpPr/>
          <p:nvPr/>
        </p:nvGrpSpPr>
        <p:grpSpPr>
          <a:xfrm rot="21420000">
            <a:off x="113687" y="116368"/>
            <a:ext cx="3969060" cy="3705360"/>
            <a:chOff x="1524000" y="381000"/>
            <a:chExt cx="3657600" cy="4737978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Picture Placeholder 9"/>
          <p:cNvSpPr>
            <a:spLocks noGrp="1"/>
          </p:cNvSpPr>
          <p:nvPr>
            <p:ph type="pic" sz="quarter" idx="17"/>
          </p:nvPr>
        </p:nvSpPr>
        <p:spPr>
          <a:xfrm rot="21420000">
            <a:off x="299151" y="304998"/>
            <a:ext cx="3598455" cy="3334235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Drag picture to placeholder or click icon to add</a:t>
            </a:r>
            <a:endParaRPr/>
          </a:p>
        </p:txBody>
      </p:sp>
      <p:grpSp>
        <p:nvGrpSpPr>
          <p:cNvPr id="8" name="Group 9"/>
          <p:cNvGrpSpPr/>
          <p:nvPr/>
        </p:nvGrpSpPr>
        <p:grpSpPr>
          <a:xfrm rot="360000">
            <a:off x="4165479" y="323141"/>
            <a:ext cx="4792693" cy="3443312"/>
            <a:chOff x="1524000" y="381000"/>
            <a:chExt cx="3657600" cy="4737978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524000" y="381000"/>
              <a:ext cx="3657600" cy="472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524000" y="381000"/>
              <a:ext cx="3657600" cy="4737978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5000">
                  <a:schemeClr val="bg1">
                    <a:alpha val="75000"/>
                  </a:schemeClr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>
              <a:innerShdw blurRad="190500" dist="88900" dir="13500000">
                <a:schemeClr val="bg1">
                  <a:lumMod val="65000"/>
                  <a:alpha val="25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Picture Placeholder 9"/>
          <p:cNvSpPr>
            <a:spLocks noGrp="1"/>
          </p:cNvSpPr>
          <p:nvPr>
            <p:ph type="pic" sz="quarter" idx="16"/>
          </p:nvPr>
        </p:nvSpPr>
        <p:spPr>
          <a:xfrm rot="360000">
            <a:off x="4336486" y="507668"/>
            <a:ext cx="4432860" cy="3072384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926106"/>
            <a:ext cx="7315200" cy="990600"/>
          </a:xfrm>
        </p:spPr>
        <p:txBody>
          <a:bodyPr/>
          <a:lstStyle>
            <a:lvl1pPr marL="0" indent="0">
              <a:spcBef>
                <a:spcPct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51682" y="450851"/>
            <a:ext cx="846083" cy="5357812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50851"/>
            <a:ext cx="5943600" cy="5357812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8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7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03238"/>
            <a:ext cx="7313613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735138"/>
            <a:ext cx="7313613" cy="4056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63438" y="6314461"/>
            <a:ext cx="1295400" cy="26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fld id="{5BF6F601-1687-D744-8C8A-1EFC2EDA9974}" type="datetimeFigureOut">
              <a:rPr lang="en-US" smtClean="0"/>
              <a:t>8/12/2019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2607" y="6305797"/>
            <a:ext cx="3717967" cy="259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Rockwell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88" y="5476097"/>
            <a:ext cx="1483056" cy="851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00">
                <a:gradFill>
                  <a:gsLst>
                    <a:gs pos="0">
                      <a:schemeClr val="tx1">
                        <a:alpha val="10000"/>
                      </a:schemeClr>
                    </a:gs>
                    <a:gs pos="100000">
                      <a:schemeClr val="tx1">
                        <a:alpha val="10000"/>
                      </a:schemeClr>
                    </a:gs>
                  </a:gsLst>
                  <a:lin ang="5400000" scaled="0"/>
                </a:gradFill>
                <a:latin typeface="Impact" pitchFamily="34" charset="0"/>
              </a:defRPr>
            </a:lvl1pPr>
          </a:lstStyle>
          <a:p>
            <a:fld id="{2EC28DB7-7FF9-7A40-AF8F-8A5D48876B4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3550" indent="-463550" algn="l" defTabSz="914400" rtl="0" eaLnBrk="1" latinLnBrk="0" hangingPunct="1">
        <a:spcBef>
          <a:spcPts val="2000"/>
        </a:spcBef>
        <a:buSzPct val="90000"/>
        <a:buFontTx/>
        <a:buBlip>
          <a:blip r:embed="rId22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SzPct val="90000"/>
        <a:buFontTx/>
        <a:buBlip>
          <a:blip r:embed="rId23"/>
        </a:buBlip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7025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938338" indent="-341313" algn="l" defTabSz="914400" rtl="0" eaLnBrk="1" latinLnBrk="0" hangingPunct="1">
        <a:spcBef>
          <a:spcPts val="600"/>
        </a:spcBef>
        <a:buSzPct val="90000"/>
        <a:buFontTx/>
        <a:buBlip>
          <a:blip r:embed="rId2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ct val="20000"/>
        </a:spcBef>
        <a:buSzPct val="90000"/>
        <a:buFontTx/>
        <a:buBlip>
          <a:blip r:embed="rId22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ct val="20000"/>
        </a:spcBef>
        <a:buSzPct val="90000"/>
        <a:buFontTx/>
        <a:buBlip>
          <a:blip r:embed="rId24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ct val="20000"/>
        </a:spcBef>
        <a:buSzPct val="90000"/>
        <a:buFontTx/>
        <a:buBlip>
          <a:blip r:embed="rId22"/>
        </a:buBlip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ct val="20000"/>
        </a:spcBef>
        <a:buSzPct val="90000"/>
        <a:buFontTx/>
        <a:buBlip>
          <a:blip r:embed="rId23"/>
        </a:buBlip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26861" y="782777"/>
            <a:ext cx="596697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Question : What is a quadrilateral?</a:t>
            </a:r>
          </a:p>
          <a:p>
            <a:endParaRPr lang="en-US" sz="5400" dirty="0"/>
          </a:p>
          <a:p>
            <a:r>
              <a:rPr lang="en-US" sz="2400" dirty="0"/>
              <a:t>Learning Intention: to identify different types of quadrilateral and describe their properties</a:t>
            </a:r>
          </a:p>
        </p:txBody>
      </p:sp>
    </p:spTree>
    <p:extLst>
      <p:ext uri="{BB962C8B-B14F-4D97-AF65-F5344CB8AC3E}">
        <p14:creationId xmlns:p14="http://schemas.microsoft.com/office/powerpoint/2010/main" val="225561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03B8932-CCC7-4989-BF63-4868D39B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841" y="2848131"/>
            <a:ext cx="2647440" cy="1705131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8DA59-AD5E-4DF0-9D7A-354202E28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626" y="419725"/>
            <a:ext cx="8259581" cy="59960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>
                <a:latin typeface="Abadi" panose="020B0604020202020204" pitchFamily="34" charset="0"/>
              </a:rPr>
              <a:t>5 QUESTIONS</a:t>
            </a:r>
          </a:p>
          <a:p>
            <a:pPr marL="457200" indent="-457200">
              <a:buAutoNum type="arabicPeriod"/>
            </a:pPr>
            <a:r>
              <a:rPr lang="en-AU" dirty="0">
                <a:latin typeface="Abadi" panose="020B0604020202020204" pitchFamily="34" charset="0"/>
              </a:rPr>
              <a:t>Find the missing angle size</a:t>
            </a:r>
          </a:p>
          <a:p>
            <a:pPr marL="457200" indent="-457200">
              <a:buAutoNum type="arabicPeriod"/>
            </a:pPr>
            <a:endParaRPr lang="en-AU" dirty="0">
              <a:latin typeface="Abadi" panose="020B0604020202020204" pitchFamily="34" charset="0"/>
            </a:endParaRPr>
          </a:p>
          <a:p>
            <a:pPr marL="457200" indent="-457200">
              <a:buAutoNum type="arabicPeriod"/>
            </a:pPr>
            <a:endParaRPr lang="en-AU" dirty="0">
              <a:latin typeface="Abadi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badi" panose="020B0604020202020204" pitchFamily="34" charset="0"/>
              </a:rPr>
              <a:t>2. Name this triangle according to its side lengths and also its angle size</a:t>
            </a:r>
          </a:p>
          <a:p>
            <a:pPr marL="0" indent="0">
              <a:buNone/>
            </a:pPr>
            <a:endParaRPr lang="en-AU" dirty="0">
              <a:latin typeface="Abadi" panose="020B0604020202020204" pitchFamily="34" charset="0"/>
            </a:endParaRPr>
          </a:p>
          <a:p>
            <a:pPr marL="0" indent="0">
              <a:buNone/>
            </a:pPr>
            <a:endParaRPr lang="en-AU" dirty="0">
              <a:latin typeface="Abadi" panose="020B0604020202020204" pitchFamily="34" charset="0"/>
            </a:endParaRPr>
          </a:p>
          <a:p>
            <a:pPr marL="0" indent="0">
              <a:buNone/>
            </a:pPr>
            <a:endParaRPr lang="en-AU" dirty="0">
              <a:latin typeface="Abadi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Abadi" panose="020B0604020202020204" pitchFamily="34" charset="0"/>
              </a:rPr>
              <a:t>3. A $400 raffle prize is split between 2 friends in a ratio of 3:5.  How much does each friend get?</a:t>
            </a:r>
          </a:p>
          <a:p>
            <a:pPr marL="0" indent="0">
              <a:buNone/>
            </a:pPr>
            <a:r>
              <a:rPr lang="en-AU" dirty="0">
                <a:latin typeface="Abadi" panose="020B0604020202020204" pitchFamily="34" charset="0"/>
              </a:rPr>
              <a:t>4. How far will I travel in 6 hours if I travel at 40km/hr</a:t>
            </a:r>
          </a:p>
          <a:p>
            <a:pPr marL="0" indent="0">
              <a:buNone/>
            </a:pPr>
            <a:r>
              <a:rPr lang="en-AU" dirty="0">
                <a:latin typeface="Abadi" panose="020B0604020202020204" pitchFamily="34" charset="0"/>
              </a:rPr>
              <a:t>5. Complete your summary from last lesson.  Is you contents and glossary up to date?</a:t>
            </a:r>
          </a:p>
          <a:p>
            <a:pPr marL="0" indent="0">
              <a:buNone/>
            </a:pPr>
            <a:endParaRPr lang="en-AU" dirty="0">
              <a:latin typeface="Abadi" panose="020B0604020202020204" pitchFamily="34" charset="0"/>
            </a:endParaRPr>
          </a:p>
          <a:p>
            <a:endParaRPr lang="en-AU" dirty="0">
              <a:latin typeface="Abadi" panose="020B0604020202020204" pitchFamily="34" charset="0"/>
            </a:endParaRPr>
          </a:p>
          <a:p>
            <a:endParaRPr lang="en-AU" dirty="0">
              <a:latin typeface="Abadi" panose="020B0604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290632-4F13-463C-86D1-6B2F2F84A589}"/>
              </a:ext>
            </a:extLst>
          </p:cNvPr>
          <p:cNvCxnSpPr/>
          <p:nvPr/>
        </p:nvCxnSpPr>
        <p:spPr>
          <a:xfrm>
            <a:off x="4937760" y="419725"/>
            <a:ext cx="0" cy="16060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BC9581-4727-4716-A66E-FB5F4ED6F564}"/>
              </a:ext>
            </a:extLst>
          </p:cNvPr>
          <p:cNvCxnSpPr>
            <a:cxnSpLocks/>
          </p:cNvCxnSpPr>
          <p:nvPr/>
        </p:nvCxnSpPr>
        <p:spPr>
          <a:xfrm flipH="1">
            <a:off x="4937760" y="1222736"/>
            <a:ext cx="1941342" cy="803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B9A776-F2A1-4E22-8237-0DEE64C9C322}"/>
              </a:ext>
            </a:extLst>
          </p:cNvPr>
          <p:cNvCxnSpPr>
            <a:cxnSpLocks/>
          </p:cNvCxnSpPr>
          <p:nvPr/>
        </p:nvCxnSpPr>
        <p:spPr>
          <a:xfrm flipH="1">
            <a:off x="4937760" y="2025748"/>
            <a:ext cx="20937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C18DAE2-8DA3-44F9-9E61-8DB3933B3605}"/>
              </a:ext>
            </a:extLst>
          </p:cNvPr>
          <p:cNvSpPr txBox="1"/>
          <p:nvPr/>
        </p:nvSpPr>
        <p:spPr>
          <a:xfrm>
            <a:off x="4917119" y="1471751"/>
            <a:ext cx="61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78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E31353-76EC-4092-A465-517835D32E35}"/>
              </a:ext>
            </a:extLst>
          </p:cNvPr>
          <p:cNvSpPr txBox="1"/>
          <p:nvPr/>
        </p:nvSpPr>
        <p:spPr>
          <a:xfrm>
            <a:off x="5578305" y="1645017"/>
            <a:ext cx="61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  <a:r>
              <a:rPr lang="en-AU" baseline="30000" dirty="0"/>
              <a:t>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951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145110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82228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633818" y="18476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949624"/>
            <a:ext cx="2813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Quadrilaterals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2270" y="1010579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2" y="2054679"/>
            <a:ext cx="1632626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quadrilateral?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1501461"/>
            <a:ext cx="79557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classify quadrilaterals?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53254" y="1987956"/>
            <a:ext cx="715869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</a:rPr>
              <a:t>A quadrilateral has four sides and four angles</a:t>
            </a:r>
          </a:p>
          <a:p>
            <a:pPr defTabSz="685595"/>
            <a:endParaRPr lang="en-AU" sz="1799" dirty="0">
              <a:solidFill>
                <a:prstClr val="black"/>
              </a:solidFill>
            </a:endParaRPr>
          </a:p>
          <a:p>
            <a:pPr defTabSz="685595"/>
            <a:r>
              <a:rPr lang="en-AU" sz="1799" b="1" dirty="0">
                <a:solidFill>
                  <a:prstClr val="black"/>
                </a:solidFill>
              </a:rPr>
              <a:t>All the angles add up to 360°</a:t>
            </a:r>
            <a:endParaRPr lang="en-US" sz="1799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8312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Image result for quadrilaterals">
            <a:extLst>
              <a:ext uri="{FF2B5EF4-FFF2-40B4-BE49-F238E27FC236}">
                <a16:creationId xmlns:a16="http://schemas.microsoft.com/office/drawing/2014/main" id="{F2E60B9F-1F83-4B5C-810A-39CB48606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270" y="2416567"/>
            <a:ext cx="1889403" cy="188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A8604A-0BCB-4AA4-96E5-236F8F3C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254" y="3270051"/>
            <a:ext cx="4702187" cy="235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F276A7D-DBF1-4132-B90E-171AA2F8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52" y="853906"/>
            <a:ext cx="8331153" cy="51468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6648CF-EAD0-46FE-8B73-921A9BE66173}"/>
              </a:ext>
            </a:extLst>
          </p:cNvPr>
          <p:cNvSpPr/>
          <p:nvPr/>
        </p:nvSpPr>
        <p:spPr>
          <a:xfrm>
            <a:off x="645460" y="1270747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04627F-E807-4BCA-993A-85D66C0E9789}"/>
              </a:ext>
            </a:extLst>
          </p:cNvPr>
          <p:cNvSpPr/>
          <p:nvPr/>
        </p:nvSpPr>
        <p:spPr>
          <a:xfrm>
            <a:off x="3375343" y="1270747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AEF27-335B-4765-BF7C-4E983228270F}"/>
              </a:ext>
            </a:extLst>
          </p:cNvPr>
          <p:cNvSpPr/>
          <p:nvPr/>
        </p:nvSpPr>
        <p:spPr>
          <a:xfrm>
            <a:off x="6105226" y="1270747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ECBC8-FAEF-4573-BC20-E3C6CA0E0F43}"/>
              </a:ext>
            </a:extLst>
          </p:cNvPr>
          <p:cNvSpPr/>
          <p:nvPr/>
        </p:nvSpPr>
        <p:spPr>
          <a:xfrm>
            <a:off x="635374" y="3775243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6C34D1-F1A8-4043-8B63-DE4E5928619E}"/>
              </a:ext>
            </a:extLst>
          </p:cNvPr>
          <p:cNvSpPr/>
          <p:nvPr/>
        </p:nvSpPr>
        <p:spPr>
          <a:xfrm>
            <a:off x="3355172" y="3775243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3682C-C600-48B9-9F96-298CD5CBEDEC}"/>
              </a:ext>
            </a:extLst>
          </p:cNvPr>
          <p:cNvSpPr/>
          <p:nvPr/>
        </p:nvSpPr>
        <p:spPr>
          <a:xfrm>
            <a:off x="6105225" y="3775243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3613" cy="2385732"/>
          </a:xfrm>
        </p:spPr>
        <p:txBody>
          <a:bodyPr/>
          <a:lstStyle/>
          <a:p>
            <a:r>
              <a:rPr lang="en-US" dirty="0"/>
              <a:t>2 pairs of parallel sides</a:t>
            </a:r>
          </a:p>
          <a:p>
            <a:r>
              <a:rPr lang="en-US" dirty="0"/>
              <a:t>2 pairs of opposite sides equal in length</a:t>
            </a:r>
          </a:p>
          <a:p>
            <a:r>
              <a:rPr lang="en-US" dirty="0"/>
              <a:t>4 right angles</a:t>
            </a:r>
          </a:p>
          <a:p>
            <a:r>
              <a:rPr lang="en-US" dirty="0"/>
              <a:t>2 lines of symmetry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636739" y="4679270"/>
            <a:ext cx="1339525" cy="13568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1952171">
            <a:off x="4262125" y="3942009"/>
            <a:ext cx="991597" cy="1983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14400" y="4296578"/>
            <a:ext cx="2216958" cy="12350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7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animBg="1"/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Rhombus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35138"/>
            <a:ext cx="7313613" cy="2022194"/>
          </a:xfrm>
        </p:spPr>
        <p:txBody>
          <a:bodyPr/>
          <a:lstStyle/>
          <a:p>
            <a:r>
              <a:rPr lang="en-US" dirty="0"/>
              <a:t>2 pairs of parallel sides</a:t>
            </a:r>
          </a:p>
          <a:p>
            <a:r>
              <a:rPr lang="en-US" dirty="0"/>
              <a:t>All 4 sides equal in length</a:t>
            </a:r>
          </a:p>
          <a:p>
            <a:r>
              <a:rPr lang="en-US" dirty="0"/>
              <a:t>Opposite angles are equal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1339525" y="3896492"/>
            <a:ext cx="1374318" cy="1078493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36739" y="4679270"/>
            <a:ext cx="1339525" cy="13568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/>
          <p:cNvSpPr/>
          <p:nvPr/>
        </p:nvSpPr>
        <p:spPr>
          <a:xfrm rot="2201029">
            <a:off x="3997012" y="4200198"/>
            <a:ext cx="1374318" cy="1078493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5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9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Trapezium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3613" cy="698411"/>
          </a:xfrm>
        </p:spPr>
        <p:txBody>
          <a:bodyPr/>
          <a:lstStyle/>
          <a:p>
            <a:r>
              <a:rPr lang="en-US" dirty="0"/>
              <a:t>1 pair of parallel sides</a:t>
            </a:r>
          </a:p>
        </p:txBody>
      </p:sp>
      <p:sp>
        <p:nvSpPr>
          <p:cNvPr id="4" name="Trapezoid 3"/>
          <p:cNvSpPr/>
          <p:nvPr/>
        </p:nvSpPr>
        <p:spPr>
          <a:xfrm>
            <a:off x="914400" y="3009344"/>
            <a:ext cx="2651869" cy="1565555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/>
          <p:cNvSpPr/>
          <p:nvPr/>
        </p:nvSpPr>
        <p:spPr>
          <a:xfrm rot="5400000">
            <a:off x="3523713" y="4566753"/>
            <a:ext cx="2651869" cy="912526"/>
          </a:xfrm>
          <a:prstGeom prst="trapezoid">
            <a:avLst>
              <a:gd name="adj" fmla="val 5166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nual Input 4"/>
          <p:cNvSpPr/>
          <p:nvPr/>
        </p:nvSpPr>
        <p:spPr>
          <a:xfrm rot="5400000">
            <a:off x="6510495" y="2474358"/>
            <a:ext cx="1000036" cy="2070011"/>
          </a:xfrm>
          <a:prstGeom prst="flowChartManualIn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6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3613" cy="2385732"/>
          </a:xfrm>
        </p:spPr>
        <p:txBody>
          <a:bodyPr/>
          <a:lstStyle/>
          <a:p>
            <a:r>
              <a:rPr lang="en-US" dirty="0"/>
              <a:t>2 pairs of parallel sides</a:t>
            </a:r>
          </a:p>
          <a:p>
            <a:r>
              <a:rPr lang="en-US" dirty="0"/>
              <a:t>All 4 sides equal in length</a:t>
            </a:r>
          </a:p>
          <a:p>
            <a:r>
              <a:rPr lang="en-US" dirty="0"/>
              <a:t>4 right angles</a:t>
            </a:r>
          </a:p>
          <a:p>
            <a:r>
              <a:rPr lang="en-US" dirty="0"/>
              <a:t>4 lines of symmetry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8931" y="4157418"/>
            <a:ext cx="1339525" cy="13568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4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71600"/>
            <a:ext cx="7313613" cy="1133288"/>
          </a:xfrm>
        </p:spPr>
        <p:txBody>
          <a:bodyPr>
            <a:normAutofit/>
          </a:bodyPr>
          <a:lstStyle/>
          <a:p>
            <a:r>
              <a:rPr lang="en-US" dirty="0"/>
              <a:t>2 pairs of adjacent sides equal in length</a:t>
            </a:r>
          </a:p>
          <a:p>
            <a:r>
              <a:rPr lang="en-US" dirty="0"/>
              <a:t>1 line of symmetry</a:t>
            </a:r>
          </a:p>
        </p:txBody>
      </p:sp>
      <p:sp>
        <p:nvSpPr>
          <p:cNvPr id="8" name="Decision 7"/>
          <p:cNvSpPr/>
          <p:nvPr/>
        </p:nvSpPr>
        <p:spPr>
          <a:xfrm>
            <a:off x="791538" y="4279183"/>
            <a:ext cx="2687750" cy="1652530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279521" y="2887577"/>
            <a:ext cx="974202" cy="2991950"/>
            <a:chOff x="5445082" y="2696232"/>
            <a:chExt cx="974202" cy="2991950"/>
          </a:xfrm>
        </p:grpSpPr>
        <p:sp>
          <p:nvSpPr>
            <p:cNvPr id="10" name="Isosceles Triangle 9"/>
            <p:cNvSpPr/>
            <p:nvPr/>
          </p:nvSpPr>
          <p:spPr>
            <a:xfrm>
              <a:off x="5445083" y="2696232"/>
              <a:ext cx="974201" cy="939333"/>
            </a:xfrm>
            <a:prstGeom prst="triangl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5445082" y="3635565"/>
              <a:ext cx="974201" cy="2052617"/>
            </a:xfrm>
            <a:prstGeom prst="triangle">
              <a:avLst>
                <a:gd name="adj" fmla="val 50000"/>
              </a:avLst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412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35138"/>
            <a:ext cx="7313613" cy="20221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 pairs of parallel sides</a:t>
            </a:r>
          </a:p>
          <a:p>
            <a:pPr marL="0" indent="0">
              <a:buNone/>
            </a:pPr>
            <a:r>
              <a:rPr lang="en-US" dirty="0"/>
              <a:t>2 pairs of opposite sides equal in length</a:t>
            </a:r>
          </a:p>
          <a:p>
            <a:pPr marL="0" indent="0">
              <a:buNone/>
            </a:pPr>
            <a:r>
              <a:rPr lang="en-US" dirty="0"/>
              <a:t>Opposite angles are equal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1339525" y="3896492"/>
            <a:ext cx="1374318" cy="1426395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/>
          <p:cNvSpPr/>
          <p:nvPr/>
        </p:nvSpPr>
        <p:spPr>
          <a:xfrm>
            <a:off x="3196775" y="5183726"/>
            <a:ext cx="2718012" cy="852358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06502" y="4679270"/>
            <a:ext cx="1339525" cy="135681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988426" y="3757332"/>
            <a:ext cx="1852721" cy="9219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9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7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193" y="433658"/>
            <a:ext cx="7313613" cy="868362"/>
          </a:xfrm>
        </p:spPr>
        <p:txBody>
          <a:bodyPr/>
          <a:lstStyle/>
          <a:p>
            <a:r>
              <a:rPr lang="en-US" dirty="0"/>
              <a:t>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35137"/>
            <a:ext cx="7313613" cy="4648847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Create a quadrilateral (any quadrilateral) </a:t>
            </a:r>
          </a:p>
          <a:p>
            <a:pPr>
              <a:buFontTx/>
              <a:buChar char="-"/>
            </a:pPr>
            <a:r>
              <a:rPr lang="en-US" dirty="0"/>
              <a:t>Measure the angles inside the quadrilateral.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Carefully tear off your quadrilateral’s 4 corners and arrange them, pointing in. </a:t>
            </a:r>
          </a:p>
          <a:p>
            <a:pPr marL="0" indent="0">
              <a:buNone/>
            </a:pPr>
            <a:r>
              <a:rPr lang="en-US" dirty="0"/>
              <a:t>What do you notice?</a:t>
            </a:r>
          </a:p>
          <a:p>
            <a:pPr marL="0" indent="0">
              <a:buNone/>
            </a:pPr>
            <a:r>
              <a:rPr lang="en-US" dirty="0"/>
              <a:t>See what others noticed.</a:t>
            </a:r>
          </a:p>
          <a:p>
            <a:pPr marL="0" indent="0">
              <a:buNone/>
            </a:pPr>
            <a:r>
              <a:rPr lang="en-US" dirty="0"/>
              <a:t>What does this tell you about quadrilaterals?</a:t>
            </a:r>
          </a:p>
        </p:txBody>
      </p:sp>
    </p:spTree>
    <p:extLst>
      <p:ext uri="{BB962C8B-B14F-4D97-AF65-F5344CB8AC3E}">
        <p14:creationId xmlns:p14="http://schemas.microsoft.com/office/powerpoint/2010/main" val="214366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33658"/>
            <a:ext cx="7313613" cy="868362"/>
          </a:xfrm>
        </p:spPr>
        <p:txBody>
          <a:bodyPr/>
          <a:lstStyle/>
          <a:p>
            <a:r>
              <a:rPr lang="en-US" dirty="0"/>
              <a:t>Investigation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35137"/>
            <a:ext cx="7313613" cy="4648847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Create a triangle (any triangle) </a:t>
            </a:r>
          </a:p>
          <a:p>
            <a:pPr>
              <a:buFontTx/>
              <a:buChar char="-"/>
            </a:pPr>
            <a:r>
              <a:rPr lang="en-US" dirty="0"/>
              <a:t>Measure the angles inside the  triangle.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Carefully tear off your </a:t>
            </a:r>
            <a:r>
              <a:rPr lang="en-US" dirty="0" err="1"/>
              <a:t>triangles’s</a:t>
            </a:r>
            <a:r>
              <a:rPr lang="en-US" dirty="0"/>
              <a:t> 3 corners and arrange them, pointing in. </a:t>
            </a:r>
          </a:p>
          <a:p>
            <a:pPr marL="0" indent="0">
              <a:buNone/>
            </a:pPr>
            <a:r>
              <a:rPr lang="en-US" dirty="0"/>
              <a:t>What do you notice?</a:t>
            </a:r>
          </a:p>
          <a:p>
            <a:pPr marL="0" indent="0">
              <a:buNone/>
            </a:pPr>
            <a:r>
              <a:rPr lang="en-US" dirty="0"/>
              <a:t>See what others noticed.</a:t>
            </a:r>
          </a:p>
          <a:p>
            <a:pPr marL="0" indent="0">
              <a:buNone/>
            </a:pPr>
            <a:r>
              <a:rPr lang="en-US" dirty="0"/>
              <a:t>What does this tell you about Triangles?</a:t>
            </a:r>
          </a:p>
        </p:txBody>
      </p:sp>
    </p:spTree>
    <p:extLst>
      <p:ext uri="{BB962C8B-B14F-4D97-AF65-F5344CB8AC3E}">
        <p14:creationId xmlns:p14="http://schemas.microsoft.com/office/powerpoint/2010/main" val="120789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82781"/>
            <a:ext cx="7313613" cy="40560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Learning Intention: to identify different types of quadrilateral and describe their properties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well do you understand? How confident do you feel in your learning?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42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Inkwell">
  <a:themeElements>
    <a:clrScheme name="Inkwell">
      <a:dk1>
        <a:sysClr val="windowText" lastClr="000000"/>
      </a:dk1>
      <a:lt1>
        <a:sysClr val="window" lastClr="FFFFFF"/>
      </a:lt1>
      <a:dk2>
        <a:srgbClr val="584D2E"/>
      </a:dk2>
      <a:lt2>
        <a:srgbClr val="EFE7C3"/>
      </a:lt2>
      <a:accent1>
        <a:srgbClr val="860908"/>
      </a:accent1>
      <a:accent2>
        <a:srgbClr val="4A0505"/>
      </a:accent2>
      <a:accent3>
        <a:srgbClr val="7A500A"/>
      </a:accent3>
      <a:accent4>
        <a:srgbClr val="C47810"/>
      </a:accent4>
      <a:accent5>
        <a:srgbClr val="827752"/>
      </a:accent5>
      <a:accent6>
        <a:srgbClr val="B5BB83"/>
      </a:accent6>
      <a:hlink>
        <a:srgbClr val="C47810"/>
      </a:hlink>
      <a:folHlink>
        <a:srgbClr val="F0A43A"/>
      </a:folHlink>
    </a:clrScheme>
    <a:fontScheme name="Inkwell">
      <a:majorFont>
        <a:latin typeface="Goudy Old Style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Goudy Old Style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Inkwel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</a:schemeClr>
              <a:schemeClr val="phClr">
                <a:alpha val="10000"/>
                <a:satMod val="12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150000"/>
              </a:schemeClr>
              <a:schemeClr val="phClr">
                <a:alpha val="10000"/>
                <a:satMod val="12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101600" dist="381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  <a:softEdge rad="25400"/>
          </a:effectLst>
        </a:effectStyle>
      </a:effectStyleLst>
      <a:bgFillStyleLst>
        <a:blipFill rotWithShape="1">
          <a:blip xmlns:r="http://schemas.openxmlformats.org/officeDocument/2006/relationships" r:embed="rId3"/>
          <a:stretch/>
        </a:blipFill>
        <a:blipFill rotWithShape="1">
          <a:blip xmlns:r="http://schemas.openxmlformats.org/officeDocument/2006/relationships" r:embed="rId4"/>
          <a:stretch/>
        </a:blipFill>
        <a:blipFill rotWithShape="1">
          <a:blip xmlns:r="http://schemas.openxmlformats.org/officeDocument/2006/relationships" r:embed="rId5"/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Inkwell.thmx</Template>
  <TotalTime>628</TotalTime>
  <Words>371</Words>
  <Application>Microsoft Office PowerPoint</Application>
  <PresentationFormat>On-screen Show (4:3)</PresentationFormat>
  <Paragraphs>73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Abadi</vt:lpstr>
      <vt:lpstr>Calibri</vt:lpstr>
      <vt:lpstr>Century Gothic</vt:lpstr>
      <vt:lpstr>Goudy Old Style</vt:lpstr>
      <vt:lpstr>Impact</vt:lpstr>
      <vt:lpstr>Kiwi School Handwriting</vt:lpstr>
      <vt:lpstr>Rockwell</vt:lpstr>
      <vt:lpstr>Inkwell</vt:lpstr>
      <vt:lpstr>PowerPoint Presentation</vt:lpstr>
      <vt:lpstr>PowerPoint Presentation</vt:lpstr>
      <vt:lpstr>PowerPoint Presentation</vt:lpstr>
      <vt:lpstr>PowerPoint Presentation</vt:lpstr>
      <vt:lpstr>Rectangle</vt:lpstr>
      <vt:lpstr>Rhombus</vt:lpstr>
      <vt:lpstr>Trapezium</vt:lpstr>
      <vt:lpstr>Square</vt:lpstr>
      <vt:lpstr>kite</vt:lpstr>
      <vt:lpstr>Parallelogram</vt:lpstr>
      <vt:lpstr>Investigation</vt:lpstr>
      <vt:lpstr>Investigation part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Helen Moss</dc:creator>
  <cp:lastModifiedBy>WILSON James [Baldivis Secondary College]</cp:lastModifiedBy>
  <cp:revision>11</cp:revision>
  <dcterms:created xsi:type="dcterms:W3CDTF">2014-03-06T20:42:49Z</dcterms:created>
  <dcterms:modified xsi:type="dcterms:W3CDTF">2019-08-12T07:43:43Z</dcterms:modified>
</cp:coreProperties>
</file>
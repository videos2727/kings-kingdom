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3" r:id="rId2"/>
    <p:sldId id="257" r:id="rId3"/>
    <p:sldId id="263" r:id="rId4"/>
    <p:sldId id="269" r:id="rId5"/>
    <p:sldId id="270" r:id="rId6"/>
    <p:sldId id="271" r:id="rId7"/>
    <p:sldId id="272" r:id="rId8"/>
    <p:sldId id="273" r:id="rId9"/>
    <p:sldId id="274" r:id="rId10"/>
    <p:sldId id="264" r:id="rId11"/>
    <p:sldId id="277" r:id="rId12"/>
    <p:sldId id="275" r:id="rId13"/>
    <p:sldId id="265" r:id="rId14"/>
    <p:sldId id="268" r:id="rId15"/>
    <p:sldId id="284" r:id="rId16"/>
    <p:sldId id="288" r:id="rId17"/>
    <p:sldId id="278" r:id="rId18"/>
    <p:sldId id="286" r:id="rId19"/>
    <p:sldId id="279" r:id="rId20"/>
    <p:sldId id="280" r:id="rId21"/>
    <p:sldId id="281" r:id="rId22"/>
    <p:sldId id="282" r:id="rId23"/>
    <p:sldId id="285" r:id="rId24"/>
    <p:sldId id="28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917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</a:t>
            </a:r>
            <a:r>
              <a:rPr lang="en-AU" baseline="0" dirty="0"/>
              <a:t> can either deliver this as expert groups or just present the notes on the board and have student fill them in</a:t>
            </a:r>
          </a:p>
          <a:p>
            <a:endParaRPr lang="en-AU" baseline="0" dirty="0"/>
          </a:p>
          <a:p>
            <a:r>
              <a:rPr lang="en-AU" baseline="0" dirty="0"/>
              <a:t>Hand out fish bone template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93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992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99535-61B3-4665-92F4-98122280E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2072B-701F-41FB-912D-67C15517EE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D38DF-5EAC-4FCE-88A8-D6B9A4FA0F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24866B-4CD1-4790-9D6B-9EAC472D74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76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557F-B7E3-409A-A733-0F8F54E0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Triangles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C6E8-C032-4793-A1D4-2ADAA201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EQ: Identify the six types of triangle and explain how they are different?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0E39E-75BA-48E8-A6F7-668945DF8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2636912"/>
            <a:ext cx="3840088" cy="38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4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Classify the different types of triangles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Fish 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Complete the fish bone</a:t>
            </a:r>
          </a:p>
          <a:p>
            <a:pPr marL="0" indent="0" algn="ctr">
              <a:buNone/>
            </a:pPr>
            <a:r>
              <a:rPr lang="en-AU" dirty="0"/>
              <a:t>For types of Triangles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</a:t>
            </a:r>
            <a:r>
              <a:rPr lang="en-AU" b="1" dirty="0">
                <a:solidFill>
                  <a:srgbClr val="00B050"/>
                </a:solidFill>
              </a:rPr>
              <a:t>O</a:t>
            </a:r>
            <a:r>
              <a:rPr lang="en-AU" b="1" dirty="0"/>
              <a:t>R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15" y="2996952"/>
            <a:ext cx="7326982" cy="345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Isosceles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Two sides are equal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Two angles are equal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788024" y="2060848"/>
            <a:ext cx="2520280" cy="266429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 rot="19591701">
            <a:off x="6422268" y="3356991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 rot="1464954">
            <a:off x="5162928" y="3356992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4912691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904385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51920" y="1916832"/>
            <a:ext cx="259228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851920" y="1916832"/>
            <a:ext cx="118295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067944" y="4221088"/>
            <a:ext cx="260635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67944" y="4221088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6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Scalene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No sides equal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No angles equal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44824"/>
            <a:ext cx="5271280" cy="2297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1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40" y="4077072"/>
            <a:ext cx="13525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Equilateral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All sides are equal</a:t>
            </a:r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All Angles are equal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916832"/>
            <a:ext cx="3384376" cy="25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635896" y="2060848"/>
            <a:ext cx="1656184" cy="792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635896" y="2060848"/>
            <a:ext cx="3240360" cy="864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635896" y="2060848"/>
            <a:ext cx="2376264" cy="1800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52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Right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One Right Angle (90°)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6012160" y="1931787"/>
            <a:ext cx="2160240" cy="32403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6012160" y="4797152"/>
            <a:ext cx="360040" cy="3749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11960" y="2708920"/>
            <a:ext cx="1656184" cy="20882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8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Three Acute angles </a:t>
            </a:r>
          </a:p>
          <a:p>
            <a:pPr marL="0" indent="0">
              <a:buNone/>
            </a:pPr>
            <a:r>
              <a:rPr lang="en-AU" dirty="0"/>
              <a:t>(less than 90°)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499992" y="2780928"/>
            <a:ext cx="2448272" cy="2088232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35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Obtuse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One angle greater than 90°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995936" y="3717032"/>
            <a:ext cx="3888432" cy="792088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644008" y="2636912"/>
            <a:ext cx="1080120" cy="1080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0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9289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73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classify different triangles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3928" y="3501545"/>
            <a:ext cx="257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Glue your Fish Bone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8604" y="2164214"/>
            <a:ext cx="3785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Angles inside a triangle add up to 180°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/>
              <a:t>We can use this fact to find an unknown angle in a triangle. </a:t>
            </a:r>
            <a:endParaRPr lang="en-US" altLang="en-US" sz="40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Example: Find the unknown angle x</a:t>
            </a:r>
            <a:r>
              <a:rPr lang="en-US" altLang="en-US" sz="2800"/>
              <a:t>º.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>
                <a:solidFill>
                  <a:srgbClr val="FF0000"/>
                </a:solidFill>
              </a:rPr>
              <a:t>Answer: Since we know the sum of all three angles must equal 180</a:t>
            </a:r>
            <a:r>
              <a:rPr lang="en-US" altLang="en-US" sz="2800">
                <a:solidFill>
                  <a:srgbClr val="FF0000"/>
                </a:solidFill>
              </a:rPr>
              <a:t>º it follows that: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>
                <a:solidFill>
                  <a:srgbClr val="FF0000"/>
                </a:solidFill>
              </a:rPr>
              <a:t>x</a:t>
            </a:r>
            <a:r>
              <a:rPr lang="en-US" altLang="en-US" sz="2800">
                <a:solidFill>
                  <a:srgbClr val="FF0000"/>
                </a:solidFill>
              </a:rPr>
              <a:t>º + 61º + 43º = 180º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</a:rPr>
              <a:t>xº = (180 - 61 - 43)º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</a:rPr>
              <a:t>xº = 76º</a:t>
            </a:r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628775"/>
            <a:ext cx="3524250" cy="2008188"/>
          </a:xfrm>
          <a:noFill/>
        </p:spPr>
      </p:pic>
    </p:spTree>
    <p:extLst>
      <p:ext uri="{BB962C8B-B14F-4D97-AF65-F5344CB8AC3E}">
        <p14:creationId xmlns:p14="http://schemas.microsoft.com/office/powerpoint/2010/main" val="25393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8" y="333375"/>
            <a:ext cx="6523037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565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dirty="0"/>
              <a:t>I have all side and angles equal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two side of equal length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All my angles are less than 90°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2 sides of equal length and I have an angle greater than 90°</a:t>
            </a:r>
            <a:br>
              <a:rPr lang="en-AU" dirty="0"/>
            </a:br>
            <a:endParaRPr lang="en-AU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W</a:t>
            </a:r>
            <a:r>
              <a:rPr lang="en-AU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dirty="0"/>
              <a:t>I have all side and angles equal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Equilateral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two side of equal length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Isosceles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All my angles are less than 90°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Acute Triangle</a:t>
            </a:r>
            <a:endParaRPr lang="en-AU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AU" dirty="0"/>
              <a:t>I have 2 sides of equal length and I have an angle greater than 90°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Obtuse Isosceles Triangle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67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B666-3306-49F1-8C9F-F22E6D25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/>
              <a:t>You are beginning lesson 2 exterior angles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83B5-1FD7-4F72-A66D-ED60484B2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May the force be with you….. Always</a:t>
            </a:r>
          </a:p>
        </p:txBody>
      </p:sp>
    </p:spTree>
    <p:extLst>
      <p:ext uri="{BB962C8B-B14F-4D97-AF65-F5344CB8AC3E}">
        <p14:creationId xmlns:p14="http://schemas.microsoft.com/office/powerpoint/2010/main" val="2063409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800" b="1" dirty="0" smtClean="0"/>
              <a:t>1.</a:t>
            </a:r>
            <a:r>
              <a:rPr lang="en-AU" sz="2800" dirty="0" smtClean="0"/>
              <a:t> If a triangle has all sides the same length what type is it?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2800" b="1" dirty="0" smtClean="0"/>
              <a:t>2. </a:t>
            </a:r>
            <a:r>
              <a:rPr lang="en-AU" sz="2800" dirty="0" smtClean="0"/>
              <a:t>What is the sum of the interior angles of a triangle?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2800" b="1" dirty="0" smtClean="0"/>
              <a:t>3</a:t>
            </a:r>
            <a:r>
              <a:rPr lang="en-AU" sz="2800" dirty="0" smtClean="0"/>
              <a:t>. Solve 8÷4x6=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2800" b="1" dirty="0" smtClean="0"/>
              <a:t>4</a:t>
            </a:r>
            <a:r>
              <a:rPr lang="en-AU" sz="2800" dirty="0" smtClean="0"/>
              <a:t>. What is an exterior angle of a triangle?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2800" b="1" dirty="0" smtClean="0"/>
              <a:t>5. </a:t>
            </a:r>
            <a:r>
              <a:rPr lang="en-AU" sz="2800" dirty="0" smtClean="0"/>
              <a:t>If it cost $50 to buy 2 hats, how much would it cost to buy 5 hats?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5035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333375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altLang="en-US" b="1" dirty="0"/>
              <a:t/>
            </a:r>
            <a:br>
              <a:rPr lang="en-AU" altLang="en-US" b="1" dirty="0"/>
            </a:br>
            <a:r>
              <a:rPr lang="en-AU" altLang="en-US" b="1" dirty="0"/>
              <a:t>FINDING EXTERIOR ANGLES</a:t>
            </a:r>
            <a:br>
              <a:rPr lang="en-AU" altLang="en-US" b="1" dirty="0"/>
            </a:br>
            <a:r>
              <a:rPr lang="en-AU" altLang="en-US" b="1" dirty="0"/>
              <a:t>EQ: How will you solve the unknown exterior angle? </a:t>
            </a:r>
          </a:p>
        </p:txBody>
      </p:sp>
      <p:sp>
        <p:nvSpPr>
          <p:cNvPr id="7171" name="AutoShape 6"/>
          <p:cNvSpPr>
            <a:spLocks noChangeArrowheads="1"/>
          </p:cNvSpPr>
          <p:nvPr/>
        </p:nvSpPr>
        <p:spPr bwMode="auto">
          <a:xfrm>
            <a:off x="2700338" y="2205038"/>
            <a:ext cx="4967287" cy="2879725"/>
          </a:xfrm>
          <a:prstGeom prst="triangle">
            <a:avLst>
              <a:gd name="adj" fmla="val 52704"/>
            </a:avLst>
          </a:prstGeom>
          <a:solidFill>
            <a:schemeClr val="accent1"/>
          </a:solidFill>
          <a:ln w="38100">
            <a:solidFill>
              <a:srgbClr val="66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2" name="Line 7"/>
          <p:cNvSpPr>
            <a:spLocks noChangeShapeType="1"/>
          </p:cNvSpPr>
          <p:nvPr/>
        </p:nvSpPr>
        <p:spPr bwMode="auto">
          <a:xfrm flipH="1">
            <a:off x="827088" y="5084763"/>
            <a:ext cx="187325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3" name="Freeform 8"/>
          <p:cNvSpPr>
            <a:spLocks/>
          </p:cNvSpPr>
          <p:nvPr/>
        </p:nvSpPr>
        <p:spPr bwMode="auto">
          <a:xfrm>
            <a:off x="1908175" y="4508500"/>
            <a:ext cx="1295400" cy="576263"/>
          </a:xfrm>
          <a:custGeom>
            <a:avLst/>
            <a:gdLst>
              <a:gd name="T0" fmla="*/ 1295400 w 816"/>
              <a:gd name="T1" fmla="*/ 0 h 363"/>
              <a:gd name="T2" fmla="*/ 503238 w 816"/>
              <a:gd name="T3" fmla="*/ 144463 h 363"/>
              <a:gd name="T4" fmla="*/ 0 w 816"/>
              <a:gd name="T5" fmla="*/ 576263 h 363"/>
              <a:gd name="T6" fmla="*/ 0 60000 65536"/>
              <a:gd name="T7" fmla="*/ 0 60000 65536"/>
              <a:gd name="T8" fmla="*/ 0 60000 65536"/>
              <a:gd name="T9" fmla="*/ 0 w 816"/>
              <a:gd name="T10" fmla="*/ 0 h 363"/>
              <a:gd name="T11" fmla="*/ 816 w 81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363">
                <a:moveTo>
                  <a:pt x="816" y="0"/>
                </a:moveTo>
                <a:cubicBezTo>
                  <a:pt x="634" y="15"/>
                  <a:pt x="453" y="31"/>
                  <a:pt x="317" y="91"/>
                </a:cubicBezTo>
                <a:cubicBezTo>
                  <a:pt x="181" y="151"/>
                  <a:pt x="53" y="318"/>
                  <a:pt x="0" y="363"/>
                </a:cubicBezTo>
              </a:path>
            </a:pathLst>
          </a:custGeom>
          <a:noFill/>
          <a:ln w="28575" cmpd="sng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4" name="Text Box 9"/>
          <p:cNvSpPr txBox="1">
            <a:spLocks noChangeArrowheads="1"/>
          </p:cNvSpPr>
          <p:nvPr/>
        </p:nvSpPr>
        <p:spPr bwMode="auto">
          <a:xfrm>
            <a:off x="1835945" y="3930650"/>
            <a:ext cx="647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en-US" dirty="0">
                <a:solidFill>
                  <a:srgbClr val="660066"/>
                </a:solidFill>
              </a:rPr>
              <a:t>θ</a:t>
            </a:r>
            <a:r>
              <a:rPr lang="en-AU" altLang="en-US" b="1" baseline="30000" dirty="0">
                <a:solidFill>
                  <a:srgbClr val="660066"/>
                </a:solidFill>
              </a:rPr>
              <a:t>o</a:t>
            </a:r>
            <a:endParaRPr lang="el-GR" altLang="en-US" b="1" baseline="30000" dirty="0">
              <a:solidFill>
                <a:srgbClr val="6600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D746F3-234E-4690-974F-4105ED5397D0}"/>
                  </a:ext>
                </a:extLst>
              </p:cNvPr>
              <p:cNvSpPr txBox="1"/>
              <p:nvPr/>
            </p:nvSpPr>
            <p:spPr>
              <a:xfrm>
                <a:off x="3203575" y="4508500"/>
                <a:ext cx="864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D746F3-234E-4690-974F-4105ED539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575" y="4508500"/>
                <a:ext cx="8643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7FD3EA-F864-46E7-8C31-644023AED133}"/>
                  </a:ext>
                </a:extLst>
              </p:cNvPr>
              <p:cNvSpPr txBox="1"/>
              <p:nvPr/>
            </p:nvSpPr>
            <p:spPr>
              <a:xfrm>
                <a:off x="4860032" y="2636912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7FD3EA-F864-46E7-8C31-644023AE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636912"/>
                <a:ext cx="7920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A25E57-EB2D-4EE9-BB92-5146EDF52156}"/>
                  </a:ext>
                </a:extLst>
              </p:cNvPr>
              <p:cNvSpPr txBox="1"/>
              <p:nvPr/>
            </p:nvSpPr>
            <p:spPr>
              <a:xfrm>
                <a:off x="6444283" y="4508500"/>
                <a:ext cx="7915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A25E57-EB2D-4EE9-BB92-5146EDF5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83" y="4508500"/>
                <a:ext cx="7915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16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B29F9-6657-4228-BC84-F938C2753D6B}"/>
              </a:ext>
            </a:extLst>
          </p:cNvPr>
          <p:cNvSpPr txBox="1"/>
          <p:nvPr/>
        </p:nvSpPr>
        <p:spPr>
          <a:xfrm>
            <a:off x="566947" y="260648"/>
            <a:ext cx="7632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/>
              <a:t>The 90’s song challenge. </a:t>
            </a:r>
          </a:p>
          <a:p>
            <a:r>
              <a:rPr lang="en-AU" b="1" i="1" dirty="0"/>
              <a:t>Have you ever, ______    ________like this? How Strange _________ happen, are you going round the ___________. </a:t>
            </a:r>
          </a:p>
          <a:p>
            <a:endParaRPr lang="en-AU" b="1" i="1" dirty="0"/>
          </a:p>
          <a:p>
            <a:r>
              <a:rPr lang="en-AU" b="1" i="1" dirty="0"/>
              <a:t>Find the missing words and Mr Morgan will give you a reward.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BB0E95-68FB-4198-9958-420AD453852E}"/>
                  </a:ext>
                </a:extLst>
              </p:cNvPr>
              <p:cNvSpPr txBox="1"/>
              <p:nvPr/>
            </p:nvSpPr>
            <p:spPr>
              <a:xfrm>
                <a:off x="611560" y="1532985"/>
                <a:ext cx="8064896" cy="10895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endParaRPr lang="en-AU" dirty="0"/>
              </a:p>
              <a:p>
                <a:r>
                  <a:rPr lang="en-AU" b="1" dirty="0"/>
                  <a:t>Quick review:</a:t>
                </a:r>
              </a:p>
              <a:p>
                <a:pPr marL="342900" indent="-342900">
                  <a:buAutoNum type="arabicPeriod"/>
                </a:pPr>
                <a:r>
                  <a:rPr lang="en-AU" dirty="0"/>
                  <a:t>I am a triangular prism with a base of 5cm, a height of 10cm and a length of 20cm. What is my volume?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I am a rectangular prism with the same dimensions as the triangular prism. Are our volumes the same? If not what is my volume?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7+4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60÷6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AU" dirty="0"/>
                  <a:t> =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Henry has ‘e’ number of elephants. What does ‘e’ stand for?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+3=23</m:t>
                    </m:r>
                  </m:oMath>
                </a14:m>
                <a:endParaRPr lang="en-AU" b="0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endParaRPr lang="en-AU" b="0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BB0E95-68FB-4198-9958-420AD4538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32985"/>
                <a:ext cx="8064896" cy="10895290"/>
              </a:xfrm>
              <a:prstGeom prst="rect">
                <a:avLst/>
              </a:prstGeom>
              <a:blipFill>
                <a:blip r:embed="rId2"/>
                <a:stretch>
                  <a:fillRect l="-6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37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en-AU" altLang="en-US" sz="3200" b="1"/>
              <a:t>Two things we now know about angles…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3573463"/>
            <a:ext cx="8642350" cy="2552700"/>
          </a:xfrm>
        </p:spPr>
        <p:txBody>
          <a:bodyPr/>
          <a:lstStyle/>
          <a:p>
            <a:pPr eaLnBrk="1" hangingPunct="1"/>
            <a:r>
              <a:rPr lang="en-AU" altLang="en-US"/>
              <a:t>1. The internal angles of a triangle add up to 180</a:t>
            </a:r>
            <a:r>
              <a:rPr lang="en-US" altLang="en-US"/>
              <a:t>º. So from above </a:t>
            </a:r>
            <a:r>
              <a:rPr lang="en-US" altLang="en-US" i="1">
                <a:solidFill>
                  <a:srgbClr val="660066"/>
                </a:solidFill>
              </a:rPr>
              <a:t>aº + bº + cº = 180º</a:t>
            </a:r>
          </a:p>
          <a:p>
            <a:pPr eaLnBrk="1" hangingPunct="1"/>
            <a:r>
              <a:rPr lang="en-US" altLang="en-US"/>
              <a:t>2. The angle of a straight line = </a:t>
            </a:r>
            <a:r>
              <a:rPr lang="en-AU" altLang="en-US"/>
              <a:t>180</a:t>
            </a:r>
            <a:r>
              <a:rPr lang="en-US" altLang="en-US"/>
              <a:t>º. So from above </a:t>
            </a:r>
            <a:r>
              <a:rPr lang="en-US" altLang="en-US">
                <a:solidFill>
                  <a:srgbClr val="660066"/>
                </a:solidFill>
              </a:rPr>
              <a:t>c</a:t>
            </a:r>
            <a:r>
              <a:rPr lang="en-US" altLang="en-US" i="1">
                <a:solidFill>
                  <a:srgbClr val="660066"/>
                </a:solidFill>
              </a:rPr>
              <a:t>º + dº = 180º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484313"/>
            <a:ext cx="3190875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52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/>
              <a:t>We can use these two facts to help us find out the exterior angle, d</a:t>
            </a:r>
            <a:r>
              <a:rPr lang="en-US" altLang="en-US" sz="4000"/>
              <a:t>º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3529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en-US" sz="2800"/>
              <a:t>We know: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>
                <a:solidFill>
                  <a:srgbClr val="660066"/>
                </a:solidFill>
              </a:rPr>
              <a:t>aº + bº + cº = 180º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660066"/>
                </a:solidFill>
              </a:rPr>
              <a:t>c</a:t>
            </a:r>
            <a:r>
              <a:rPr lang="en-US" altLang="en-US" sz="2800" i="1">
                <a:solidFill>
                  <a:srgbClr val="660066"/>
                </a:solidFill>
              </a:rPr>
              <a:t>º + dº = 180º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800"/>
              <a:t>As both equal 180</a:t>
            </a:r>
            <a:r>
              <a:rPr lang="en-US" altLang="en-US" sz="2800"/>
              <a:t>º, we can see that: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>
                <a:solidFill>
                  <a:srgbClr val="660066"/>
                </a:solidFill>
              </a:rPr>
              <a:t>aº + bº + cº = </a:t>
            </a:r>
            <a:r>
              <a:rPr lang="en-US" altLang="en-US" sz="2800">
                <a:solidFill>
                  <a:srgbClr val="660066"/>
                </a:solidFill>
              </a:rPr>
              <a:t>c</a:t>
            </a:r>
            <a:r>
              <a:rPr lang="en-US" altLang="en-US" sz="2800" i="1">
                <a:solidFill>
                  <a:srgbClr val="660066"/>
                </a:solidFill>
              </a:rPr>
              <a:t>º + dº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>
                <a:solidFill>
                  <a:srgbClr val="660066"/>
                </a:solidFill>
              </a:rPr>
              <a:t>aº + bº = dº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The above equation tells us that: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i="1">
                <a:solidFill>
                  <a:srgbClr val="660066"/>
                </a:solidFill>
              </a:rPr>
              <a:t>THE EXTERIOR ANGLE IS EQUAL TO THE SUM OF THE TWO OPPOSITE INTERIOR ANGLES.</a:t>
            </a:r>
          </a:p>
          <a:p>
            <a:pPr eaLnBrk="1" hangingPunct="1">
              <a:lnSpc>
                <a:spcPct val="80000"/>
              </a:lnSpc>
            </a:pPr>
            <a:endParaRPr lang="en-AU" altLang="en-US" sz="2800">
              <a:solidFill>
                <a:srgbClr val="660066"/>
              </a:solidFill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628775"/>
            <a:ext cx="2303463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55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/>
              <a:t>Worked example: finding an exterior angle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059488" cy="4525963"/>
          </a:xfrm>
        </p:spPr>
        <p:txBody>
          <a:bodyPr/>
          <a:lstStyle/>
          <a:p>
            <a:pPr eaLnBrk="1" hangingPunct="1"/>
            <a:r>
              <a:rPr lang="en-AU" altLang="en-US"/>
              <a:t>Find the exterior angle, </a:t>
            </a:r>
            <a:r>
              <a:rPr lang="en-AU" altLang="en-US" i="1"/>
              <a:t>x</a:t>
            </a:r>
            <a:r>
              <a:rPr lang="en-US" altLang="en-US" i="1"/>
              <a:t>º</a:t>
            </a:r>
          </a:p>
          <a:p>
            <a:pPr eaLnBrk="1" hangingPunct="1"/>
            <a:r>
              <a:rPr lang="en-US" altLang="en-US" i="1">
                <a:solidFill>
                  <a:srgbClr val="660066"/>
                </a:solidFill>
              </a:rPr>
              <a:t>The two opposite interior angles are 66º and 62º.</a:t>
            </a:r>
          </a:p>
          <a:p>
            <a:pPr eaLnBrk="1" hangingPunct="1"/>
            <a:r>
              <a:rPr lang="en-US" altLang="en-US" i="1">
                <a:solidFill>
                  <a:srgbClr val="660066"/>
                </a:solidFill>
              </a:rPr>
              <a:t>We know the sum of these angles must equal xº.</a:t>
            </a:r>
            <a:br>
              <a:rPr lang="en-US" altLang="en-US" i="1">
                <a:solidFill>
                  <a:srgbClr val="660066"/>
                </a:solidFill>
              </a:rPr>
            </a:br>
            <a:r>
              <a:rPr lang="en-US" altLang="en-US" i="1">
                <a:solidFill>
                  <a:srgbClr val="660066"/>
                </a:solidFill>
              </a:rPr>
              <a:t>66º + 62º = xº</a:t>
            </a:r>
          </a:p>
          <a:p>
            <a:pPr eaLnBrk="1" hangingPunct="1"/>
            <a:r>
              <a:rPr lang="en-US" altLang="en-US" b="1" i="1">
                <a:solidFill>
                  <a:srgbClr val="660066"/>
                </a:solidFill>
              </a:rPr>
              <a:t>128º = xº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1700213"/>
            <a:ext cx="17494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10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en-AU" altLang="en-US" sz="4000"/>
              <a:t>Worked example 2: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5111750" cy="5029200"/>
          </a:xfrm>
        </p:spPr>
        <p:txBody>
          <a:bodyPr/>
          <a:lstStyle/>
          <a:p>
            <a:pPr eaLnBrk="1" hangingPunct="1"/>
            <a:r>
              <a:rPr lang="en-AU" altLang="en-US" sz="2800"/>
              <a:t>Find x</a:t>
            </a:r>
            <a:r>
              <a:rPr lang="en-US" altLang="en-US" sz="2800"/>
              <a:t>º.</a:t>
            </a:r>
          </a:p>
          <a:p>
            <a:pPr eaLnBrk="1" hangingPunct="1"/>
            <a:r>
              <a:rPr lang="en-US" altLang="en-US" sz="2800" i="1">
                <a:solidFill>
                  <a:srgbClr val="660066"/>
                </a:solidFill>
              </a:rPr>
              <a:t>We seem to be only given one of the two opposite internal angles.</a:t>
            </a:r>
          </a:p>
          <a:p>
            <a:pPr eaLnBrk="1" hangingPunct="1"/>
            <a:r>
              <a:rPr lang="en-US" altLang="en-US" sz="2800" i="1">
                <a:solidFill>
                  <a:srgbClr val="660066"/>
                </a:solidFill>
              </a:rPr>
              <a:t>However the triangle is an </a:t>
            </a:r>
            <a:r>
              <a:rPr lang="en-US" altLang="en-US" sz="2800" b="1" i="1">
                <a:solidFill>
                  <a:srgbClr val="660066"/>
                </a:solidFill>
              </a:rPr>
              <a:t>isosceles</a:t>
            </a:r>
            <a:r>
              <a:rPr lang="en-US" altLang="en-US" sz="2800" i="1">
                <a:solidFill>
                  <a:srgbClr val="660066"/>
                </a:solidFill>
              </a:rPr>
              <a:t> triangle, therefore the other opposite internal angle must also be 50º.</a:t>
            </a:r>
          </a:p>
          <a:p>
            <a:pPr eaLnBrk="1" hangingPunct="1"/>
            <a:r>
              <a:rPr lang="en-US" altLang="en-US" sz="2800" i="1">
                <a:solidFill>
                  <a:srgbClr val="660066"/>
                </a:solidFill>
              </a:rPr>
              <a:t>So 50º + 50º = xº</a:t>
            </a:r>
          </a:p>
          <a:p>
            <a:pPr eaLnBrk="1" hangingPunct="1"/>
            <a:r>
              <a:rPr lang="en-US" altLang="en-US" sz="2800" b="1" i="1">
                <a:solidFill>
                  <a:srgbClr val="660066"/>
                </a:solidFill>
              </a:rPr>
              <a:t>100º = xº</a:t>
            </a:r>
          </a:p>
          <a:p>
            <a:pPr eaLnBrk="1" hangingPunct="1"/>
            <a:endParaRPr lang="en-US" altLang="en-US" sz="2800" b="1" i="1">
              <a:solidFill>
                <a:srgbClr val="660066"/>
              </a:solidFill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96975"/>
            <a:ext cx="287972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812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DC45-FC9F-4C79-A619-6D9C33E9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pic>
        <p:nvPicPr>
          <p:cNvPr id="4" name="Content Placeholder 3" descr="See the source image">
            <a:extLst>
              <a:ext uri="{FF2B5EF4-FFF2-40B4-BE49-F238E27FC236}">
                <a16:creationId xmlns:a16="http://schemas.microsoft.com/office/drawing/2014/main" id="{8E070620-3A3D-4A92-8E81-A6290CDB3C1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0" r="11200" b="7595"/>
          <a:stretch/>
        </p:blipFill>
        <p:spPr bwMode="auto">
          <a:xfrm>
            <a:off x="28134" y="1052736"/>
            <a:ext cx="8936353" cy="58052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717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6735-C275-4BA6-8B8B-C856FD84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Have yourself a wonderful 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369B11-F407-4E9E-AEB6-4388EAC31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</p:spPr>
      </p:pic>
    </p:spTree>
    <p:extLst>
      <p:ext uri="{BB962C8B-B14F-4D97-AF65-F5344CB8AC3E}">
        <p14:creationId xmlns:p14="http://schemas.microsoft.com/office/powerpoint/2010/main" val="111204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661</Words>
  <Application>Microsoft Office PowerPoint</Application>
  <PresentationFormat>On-screen Show (4:3)</PresentationFormat>
  <Paragraphs>155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Office Theme</vt:lpstr>
      <vt:lpstr>Triangles</vt:lpstr>
      <vt:lpstr>Lesson objective</vt:lpstr>
      <vt:lpstr>Fish Bone</vt:lpstr>
      <vt:lpstr>Isosceles </vt:lpstr>
      <vt:lpstr>Scalene</vt:lpstr>
      <vt:lpstr>Equilateral</vt:lpstr>
      <vt:lpstr>Right angle</vt:lpstr>
      <vt:lpstr>Acute</vt:lpstr>
      <vt:lpstr>Obtuse</vt:lpstr>
      <vt:lpstr>PowerPoint Presentation</vt:lpstr>
      <vt:lpstr>We can use this fact to find an unknown angle in a triangle. </vt:lpstr>
      <vt:lpstr>PowerPoint Presentation</vt:lpstr>
      <vt:lpstr>Exit Pass</vt:lpstr>
      <vt:lpstr>Exit Pass</vt:lpstr>
      <vt:lpstr> You are beginning lesson 2 exterior angles </vt:lpstr>
      <vt:lpstr>First 5</vt:lpstr>
      <vt:lpstr> FINDING EXTERIOR ANGLES EQ: How will you solve the unknown exterior angle? </vt:lpstr>
      <vt:lpstr>PowerPoint Presentation</vt:lpstr>
      <vt:lpstr>Two things we now know about angles…</vt:lpstr>
      <vt:lpstr>We can use these two facts to help us find out the exterior angle, dº</vt:lpstr>
      <vt:lpstr>Worked example: finding an exterior angle</vt:lpstr>
      <vt:lpstr>Worked example 2:</vt:lpstr>
      <vt:lpstr>Practice</vt:lpstr>
      <vt:lpstr>Have yourself a wonderful day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 [Baldivis Secondary College]</cp:lastModifiedBy>
  <cp:revision>27</cp:revision>
  <dcterms:created xsi:type="dcterms:W3CDTF">2016-10-20T03:14:06Z</dcterms:created>
  <dcterms:modified xsi:type="dcterms:W3CDTF">2019-08-02T08:02:02Z</dcterms:modified>
</cp:coreProperties>
</file>
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1" r:id="rId3"/>
    <p:sldId id="262" r:id="rId4"/>
    <p:sldId id="272" r:id="rId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17/09/2019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F1A077-212B-4C6A-8F7C-B20B6E4C646A}"/>
              </a:ext>
            </a:extLst>
          </p:cNvPr>
          <p:cNvSpPr/>
          <p:nvPr/>
        </p:nvSpPr>
        <p:spPr>
          <a:xfrm>
            <a:off x="344128" y="255453"/>
            <a:ext cx="79641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alibri" panose="020F0502020204030204" pitchFamily="34" charset="0"/>
              </a:rPr>
              <a:t>A glass container holding </a:t>
            </a:r>
            <a:r>
              <a:rPr lang="en-AU" b="1" dirty="0">
                <a:latin typeface="Calibri-Bold"/>
              </a:rPr>
              <a:t>cold </a:t>
            </a:r>
            <a:r>
              <a:rPr lang="en-AU" dirty="0">
                <a:latin typeface="Calibri" panose="020F0502020204030204" pitchFamily="34" charset="0"/>
              </a:rPr>
              <a:t>water below was placed on the digital scales after being moved from a </a:t>
            </a:r>
            <a:r>
              <a:rPr lang="en-AU" dirty="0">
                <a:latin typeface="MMTimesRoman"/>
              </a:rPr>
              <a:t>24</a:t>
            </a:r>
            <a:r>
              <a:rPr lang="en-AU" baseline="30000" dirty="0">
                <a:latin typeface="MMTimesRoman"/>
              </a:rPr>
              <a:t>o</a:t>
            </a:r>
            <a:r>
              <a:rPr lang="en-AU" dirty="0">
                <a:latin typeface="MMTimesRoman"/>
              </a:rPr>
              <a:t> </a:t>
            </a:r>
            <a:r>
              <a:rPr lang="en-AU" dirty="0">
                <a:latin typeface="Calibri" panose="020F0502020204030204" pitchFamily="34" charset="0"/>
              </a:rPr>
              <a:t>C  room into a </a:t>
            </a:r>
            <a:r>
              <a:rPr lang="en-AU" dirty="0">
                <a:latin typeface="MMTimesRoman"/>
              </a:rPr>
              <a:t>32</a:t>
            </a:r>
            <a:r>
              <a:rPr lang="en-AU" baseline="30000" dirty="0">
                <a:latin typeface="MMTimesRoman"/>
              </a:rPr>
              <a:t>o</a:t>
            </a:r>
            <a:r>
              <a:rPr lang="en-AU" dirty="0">
                <a:latin typeface="Calibri" panose="020F0502020204030204" pitchFamily="34" charset="0"/>
              </a:rPr>
              <a:t>C room.  The glass had collected </a:t>
            </a:r>
            <a:r>
              <a:rPr lang="en-AU" dirty="0">
                <a:latin typeface="MMTimesRoman"/>
              </a:rPr>
              <a:t>3 </a:t>
            </a:r>
            <a:r>
              <a:rPr lang="en-AU" dirty="0">
                <a:latin typeface="Calibri" panose="020F0502020204030204" pitchFamily="34" charset="0"/>
              </a:rPr>
              <a:t>grams of water (through a process called condensation) on the outside for every </a:t>
            </a:r>
            <a:r>
              <a:rPr lang="en-AU" dirty="0">
                <a:latin typeface="MMTimesRoman"/>
              </a:rPr>
              <a:t>2 </a:t>
            </a:r>
            <a:r>
              <a:rPr lang="en-AU" dirty="0">
                <a:latin typeface="Calibri" panose="020F0502020204030204" pitchFamily="34" charset="0"/>
              </a:rPr>
              <a:t>degree rise in room temperature. What was the original mass of the water filled glass if </a:t>
            </a:r>
            <a:r>
              <a:rPr lang="en-AU" dirty="0">
                <a:latin typeface="MMTimesRoman"/>
              </a:rPr>
              <a:t>24 </a:t>
            </a:r>
            <a:r>
              <a:rPr lang="en-AU" dirty="0">
                <a:latin typeface="Calibri" panose="020F0502020204030204" pitchFamily="34" charset="0"/>
              </a:rPr>
              <a:t>grams of water was spilt during the move?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AF00B5-6972-48EE-A000-9CF6D48FD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90" y="2121924"/>
            <a:ext cx="4143375" cy="2552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1B3A4D-5793-4E8A-8B0E-DF85B4413479}"/>
              </a:ext>
            </a:extLst>
          </p:cNvPr>
          <p:cNvSpPr txBox="1"/>
          <p:nvPr/>
        </p:nvSpPr>
        <p:spPr>
          <a:xfrm>
            <a:off x="4572000" y="2445089"/>
            <a:ext cx="4009292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How can we simplify this question to make it easier to answer?</a:t>
            </a:r>
          </a:p>
        </p:txBody>
      </p:sp>
    </p:spTree>
    <p:extLst>
      <p:ext uri="{BB962C8B-B14F-4D97-AF65-F5344CB8AC3E}">
        <p14:creationId xmlns:p14="http://schemas.microsoft.com/office/powerpoint/2010/main" val="2597901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0449EA-5214-42CE-AE1B-724895672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3462561"/>
            <a:ext cx="7372350" cy="1228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Worded Questions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2525" y="1194206"/>
            <a:ext cx="6858000" cy="2408048"/>
          </a:xfrm>
        </p:spPr>
        <p:txBody>
          <a:bodyPr>
            <a:normAutofit/>
          </a:bodyPr>
          <a:lstStyle/>
          <a:p>
            <a:pPr algn="l"/>
            <a:r>
              <a:rPr lang="en-AU" sz="2400" dirty="0"/>
              <a:t>C - </a:t>
            </a:r>
            <a:r>
              <a:rPr lang="en-AU" sz="2400" u="sng" dirty="0"/>
              <a:t>C</a:t>
            </a:r>
            <a:r>
              <a:rPr lang="en-AU" sz="2400" dirty="0"/>
              <a:t>ircle the numbers in the question</a:t>
            </a:r>
          </a:p>
          <a:p>
            <a:pPr algn="l"/>
            <a:r>
              <a:rPr lang="en-AU" sz="2400" dirty="0"/>
              <a:t>U - </a:t>
            </a:r>
            <a:r>
              <a:rPr lang="en-AU" sz="2400" u="sng" dirty="0"/>
              <a:t>U</a:t>
            </a:r>
            <a:r>
              <a:rPr lang="en-AU" sz="2400" dirty="0"/>
              <a:t>nderline the question</a:t>
            </a:r>
          </a:p>
          <a:p>
            <a:pPr algn="l"/>
            <a:r>
              <a:rPr lang="en-AU" sz="2400" dirty="0"/>
              <a:t>B - </a:t>
            </a:r>
            <a:r>
              <a:rPr lang="en-AU" sz="2400" u="sng" dirty="0"/>
              <a:t>B</a:t>
            </a:r>
            <a:r>
              <a:rPr lang="en-AU" sz="2400" dirty="0"/>
              <a:t>ox the keywords</a:t>
            </a:r>
          </a:p>
          <a:p>
            <a:pPr algn="l"/>
            <a:r>
              <a:rPr lang="en-AU" sz="2400" dirty="0"/>
              <a:t>E - </a:t>
            </a:r>
            <a:r>
              <a:rPr lang="en-AU" sz="2400" u="sng" dirty="0"/>
              <a:t>E</a:t>
            </a:r>
            <a:r>
              <a:rPr lang="en-AU" sz="2400" dirty="0"/>
              <a:t>liminate the unnecessary information</a:t>
            </a:r>
          </a:p>
          <a:p>
            <a:pPr algn="l"/>
            <a:r>
              <a:rPr lang="en-AU" sz="2400" dirty="0"/>
              <a:t>S - </a:t>
            </a:r>
            <a:r>
              <a:rPr lang="en-AU" sz="2400" u="sng" dirty="0"/>
              <a:t>S</a:t>
            </a:r>
            <a:r>
              <a:rPr lang="en-AU" sz="2400" dirty="0"/>
              <a:t>olve the question with working out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26295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671990" y="1137446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answer worded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243A-9660-464A-8C00-2B51FE6DCAA4}"/>
              </a:ext>
            </a:extLst>
          </p:cNvPr>
          <p:cNvSpPr txBox="1"/>
          <p:nvPr/>
        </p:nvSpPr>
        <p:spPr>
          <a:xfrm>
            <a:off x="267286" y="1362095"/>
            <a:ext cx="1301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C.U.B.E.S?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48214F-7695-41CF-A086-0381F57ED4E1}"/>
              </a:ext>
            </a:extLst>
          </p:cNvPr>
          <p:cNvSpPr/>
          <p:nvPr/>
        </p:nvSpPr>
        <p:spPr>
          <a:xfrm>
            <a:off x="4814952" y="3429277"/>
            <a:ext cx="543857" cy="38663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8126E3-1A25-4072-BCFD-D0D075379F7B}"/>
              </a:ext>
            </a:extLst>
          </p:cNvPr>
          <p:cNvSpPr/>
          <p:nvPr/>
        </p:nvSpPr>
        <p:spPr>
          <a:xfrm>
            <a:off x="3630983" y="3839462"/>
            <a:ext cx="570803" cy="386632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669D5D-05C2-41D4-88FD-848BE31E582E}"/>
              </a:ext>
            </a:extLst>
          </p:cNvPr>
          <p:cNvCxnSpPr>
            <a:cxnSpLocks/>
          </p:cNvCxnSpPr>
          <p:nvPr/>
        </p:nvCxnSpPr>
        <p:spPr>
          <a:xfrm>
            <a:off x="6317927" y="4226094"/>
            <a:ext cx="266456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85A48-0C02-40BE-96B1-E09DC5B35B4A}"/>
              </a:ext>
            </a:extLst>
          </p:cNvPr>
          <p:cNvSpPr/>
          <p:nvPr/>
        </p:nvSpPr>
        <p:spPr>
          <a:xfrm>
            <a:off x="1771650" y="3489118"/>
            <a:ext cx="3043302" cy="24102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FC8265-274F-4E00-8996-3D27EC8B1788}"/>
              </a:ext>
            </a:extLst>
          </p:cNvPr>
          <p:cNvSpPr/>
          <p:nvPr/>
        </p:nvSpPr>
        <p:spPr>
          <a:xfrm>
            <a:off x="2436625" y="3930505"/>
            <a:ext cx="1285607" cy="24836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F0A85D-B616-49B6-9ECA-03EBF8A1553B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792634" y="4054089"/>
            <a:ext cx="643991" cy="596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3B9D95C-AFCF-4229-87D4-9088FAB5E6A6}"/>
              </a:ext>
            </a:extLst>
          </p:cNvPr>
          <p:cNvCxnSpPr>
            <a:cxnSpLocks/>
          </p:cNvCxnSpPr>
          <p:nvPr/>
        </p:nvCxnSpPr>
        <p:spPr>
          <a:xfrm flipH="1">
            <a:off x="5545063" y="3571969"/>
            <a:ext cx="3437428" cy="1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75956ED-22E8-4396-B70E-84AFA435E155}"/>
              </a:ext>
            </a:extLst>
          </p:cNvPr>
          <p:cNvCxnSpPr>
            <a:cxnSpLocks/>
          </p:cNvCxnSpPr>
          <p:nvPr/>
        </p:nvCxnSpPr>
        <p:spPr>
          <a:xfrm>
            <a:off x="1731846" y="4437487"/>
            <a:ext cx="458608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B5D2B6-7491-40A6-BE14-57661D1A6622}"/>
              </a:ext>
            </a:extLst>
          </p:cNvPr>
          <p:cNvCxnSpPr>
            <a:cxnSpLocks/>
          </p:cNvCxnSpPr>
          <p:nvPr/>
        </p:nvCxnSpPr>
        <p:spPr>
          <a:xfrm>
            <a:off x="1694892" y="4691286"/>
            <a:ext cx="22985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1B7326-C4AB-49CE-BD7A-A22E49954F50}"/>
              </a:ext>
            </a:extLst>
          </p:cNvPr>
          <p:cNvCxnSpPr>
            <a:cxnSpLocks/>
          </p:cNvCxnSpPr>
          <p:nvPr/>
        </p:nvCxnSpPr>
        <p:spPr>
          <a:xfrm flipH="1">
            <a:off x="1792634" y="3821298"/>
            <a:ext cx="7189857" cy="989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9B7A21D-B73F-4FA3-8F1E-07802CC0210B}"/>
              </a:ext>
            </a:extLst>
          </p:cNvPr>
          <p:cNvCxnSpPr>
            <a:cxnSpLocks/>
          </p:cNvCxnSpPr>
          <p:nvPr/>
        </p:nvCxnSpPr>
        <p:spPr>
          <a:xfrm flipV="1">
            <a:off x="4111028" y="4051436"/>
            <a:ext cx="2171330" cy="265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42948D-42DD-4AD6-B949-39ABA26F3ABE}"/>
              </a:ext>
            </a:extLst>
          </p:cNvPr>
          <p:cNvSpPr txBox="1"/>
          <p:nvPr/>
        </p:nvSpPr>
        <p:spPr>
          <a:xfrm>
            <a:off x="3079428" y="4877854"/>
            <a:ext cx="3548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-20</a:t>
            </a:r>
            <a:r>
              <a:rPr lang="en-AU" baseline="30000" dirty="0"/>
              <a:t>o</a:t>
            </a:r>
            <a:r>
              <a:rPr lang="en-AU" dirty="0"/>
              <a:t>C + 18</a:t>
            </a:r>
            <a:r>
              <a:rPr lang="en-AU" baseline="30000" dirty="0"/>
              <a:t>o</a:t>
            </a:r>
            <a:r>
              <a:rPr lang="en-AU" dirty="0"/>
              <a:t>C = -2</a:t>
            </a:r>
            <a:r>
              <a:rPr lang="en-AU" baseline="30000" dirty="0"/>
              <a:t>o</a:t>
            </a:r>
            <a:r>
              <a:rPr lang="en-AU" dirty="0"/>
              <a:t>C</a:t>
            </a:r>
          </a:p>
          <a:p>
            <a:r>
              <a:rPr lang="en-AU" dirty="0"/>
              <a:t>The freeze was -2</a:t>
            </a:r>
            <a:r>
              <a:rPr lang="en-AU" baseline="30000" dirty="0"/>
              <a:t>o</a:t>
            </a:r>
            <a:r>
              <a:rPr lang="en-AU" dirty="0"/>
              <a:t>C in the morning</a:t>
            </a:r>
          </a:p>
        </p:txBody>
      </p:sp>
    </p:spTree>
    <p:extLst>
      <p:ext uri="{BB962C8B-B14F-4D97-AF65-F5344CB8AC3E}">
        <p14:creationId xmlns:p14="http://schemas.microsoft.com/office/powerpoint/2010/main" val="339167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6" grpId="0" animBg="1"/>
      <p:bldP spid="31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CAE0FC-56AD-4BBD-BC3F-F743230468B0}"/>
              </a:ext>
            </a:extLst>
          </p:cNvPr>
          <p:cNvSpPr/>
          <p:nvPr/>
        </p:nvSpPr>
        <p:spPr>
          <a:xfrm>
            <a:off x="216309" y="1384169"/>
            <a:ext cx="8504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231F20"/>
                </a:solidFill>
                <a:latin typeface="Times-Roman"/>
              </a:rPr>
              <a:t>Jill is climbing up a steep and slippery path to fetch a bucket of water. When she is 6 m above her starting point, she slips back 1 m, grasps some bushes by the side of the path and climbs 7 m more to a flat section. How far above her starting point is she when she reaches the resting place?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78EC6-290B-4A75-99AF-310E87863997}"/>
              </a:ext>
            </a:extLst>
          </p:cNvPr>
          <p:cNvSpPr/>
          <p:nvPr/>
        </p:nvSpPr>
        <p:spPr>
          <a:xfrm>
            <a:off x="766916" y="3496109"/>
            <a:ext cx="74036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alibri" panose="020F0502020204030204" pitchFamily="34" charset="0"/>
              </a:rPr>
              <a:t>One day Matt started with no money and was given </a:t>
            </a:r>
            <a:r>
              <a:rPr lang="en-AU" dirty="0">
                <a:latin typeface="MMTimesRoman"/>
              </a:rPr>
              <a:t>$40. </a:t>
            </a:r>
            <a:r>
              <a:rPr lang="en-AU" dirty="0">
                <a:latin typeface="Calibri" panose="020F0502020204030204" pitchFamily="34" charset="0"/>
              </a:rPr>
              <a:t>He spent </a:t>
            </a:r>
            <a:r>
              <a:rPr lang="en-AU" dirty="0">
                <a:latin typeface="MMTimesRoman"/>
              </a:rPr>
              <a:t>$14 </a:t>
            </a:r>
            <a:r>
              <a:rPr lang="en-AU" dirty="0">
                <a:latin typeface="Calibri" panose="020F0502020204030204" pitchFamily="34" charset="0"/>
              </a:rPr>
              <a:t>of it downloading music. What is his overall change of money on this day?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91998F-51D2-48D5-B06E-5F228890DF43}"/>
              </a:ext>
            </a:extLst>
          </p:cNvPr>
          <p:cNvSpPr txBox="1"/>
          <p:nvPr/>
        </p:nvSpPr>
        <p:spPr>
          <a:xfrm>
            <a:off x="216309" y="374366"/>
            <a:ext cx="474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and use CUBES on these questions…..</a:t>
            </a:r>
          </a:p>
        </p:txBody>
      </p:sp>
    </p:spTree>
    <p:extLst>
      <p:ext uri="{BB962C8B-B14F-4D97-AF65-F5344CB8AC3E}">
        <p14:creationId xmlns:p14="http://schemas.microsoft.com/office/powerpoint/2010/main" val="237518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F1A077-212B-4C6A-8F7C-B20B6E4C646A}"/>
              </a:ext>
            </a:extLst>
          </p:cNvPr>
          <p:cNvSpPr/>
          <p:nvPr/>
        </p:nvSpPr>
        <p:spPr>
          <a:xfrm>
            <a:off x="344128" y="255453"/>
            <a:ext cx="79641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alibri" panose="020F0502020204030204" pitchFamily="34" charset="0"/>
              </a:rPr>
              <a:t>A glass container holding </a:t>
            </a:r>
            <a:r>
              <a:rPr lang="en-AU" b="1" dirty="0">
                <a:latin typeface="Calibri-Bold"/>
              </a:rPr>
              <a:t>cold </a:t>
            </a:r>
            <a:r>
              <a:rPr lang="en-AU" dirty="0">
                <a:latin typeface="Calibri" panose="020F0502020204030204" pitchFamily="34" charset="0"/>
              </a:rPr>
              <a:t>water below was placed on the digital scales after being moved from a </a:t>
            </a:r>
            <a:r>
              <a:rPr lang="en-AU" dirty="0">
                <a:latin typeface="MMTimesRoman"/>
              </a:rPr>
              <a:t>24</a:t>
            </a:r>
            <a:r>
              <a:rPr lang="en-AU" baseline="30000" dirty="0">
                <a:latin typeface="MMTimesRoman"/>
              </a:rPr>
              <a:t>o</a:t>
            </a:r>
            <a:r>
              <a:rPr lang="en-AU" dirty="0">
                <a:latin typeface="MMTimesRoman"/>
              </a:rPr>
              <a:t> </a:t>
            </a:r>
            <a:r>
              <a:rPr lang="en-AU" dirty="0">
                <a:latin typeface="Calibri" panose="020F0502020204030204" pitchFamily="34" charset="0"/>
              </a:rPr>
              <a:t>C  room into a </a:t>
            </a:r>
            <a:r>
              <a:rPr lang="en-AU" dirty="0">
                <a:latin typeface="MMTimesRoman"/>
              </a:rPr>
              <a:t>32</a:t>
            </a:r>
            <a:r>
              <a:rPr lang="en-AU" baseline="30000" dirty="0">
                <a:latin typeface="MMTimesRoman"/>
              </a:rPr>
              <a:t>o</a:t>
            </a:r>
            <a:r>
              <a:rPr lang="en-AU" dirty="0">
                <a:latin typeface="Calibri" panose="020F0502020204030204" pitchFamily="34" charset="0"/>
              </a:rPr>
              <a:t>C room.  The glass had collected </a:t>
            </a:r>
            <a:r>
              <a:rPr lang="en-AU" dirty="0">
                <a:latin typeface="MMTimesRoman"/>
              </a:rPr>
              <a:t>3 </a:t>
            </a:r>
            <a:r>
              <a:rPr lang="en-AU" dirty="0">
                <a:latin typeface="Calibri" panose="020F0502020204030204" pitchFamily="34" charset="0"/>
              </a:rPr>
              <a:t>grams of water (through a process called condensation) on the outside for every </a:t>
            </a:r>
            <a:r>
              <a:rPr lang="en-AU" dirty="0">
                <a:latin typeface="MMTimesRoman"/>
              </a:rPr>
              <a:t>2 </a:t>
            </a:r>
            <a:r>
              <a:rPr lang="en-AU" dirty="0">
                <a:latin typeface="Calibri" panose="020F0502020204030204" pitchFamily="34" charset="0"/>
              </a:rPr>
              <a:t>degree rise in room temperature. What was the original mass of the water filled glass if </a:t>
            </a:r>
            <a:r>
              <a:rPr lang="en-AU" dirty="0">
                <a:latin typeface="MMTimesRoman"/>
              </a:rPr>
              <a:t>24 </a:t>
            </a:r>
            <a:r>
              <a:rPr lang="en-AU" dirty="0">
                <a:latin typeface="Calibri" panose="020F0502020204030204" pitchFamily="34" charset="0"/>
              </a:rPr>
              <a:t>grams of water was spilt during the move?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AF00B5-6972-48EE-A000-9CF6D48FD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90" y="2121924"/>
            <a:ext cx="4143375" cy="2552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20C3F-01EB-4C72-A4B1-3E48C2EB4E61}"/>
              </a:ext>
            </a:extLst>
          </p:cNvPr>
          <p:cNvSpPr txBox="1"/>
          <p:nvPr/>
        </p:nvSpPr>
        <p:spPr>
          <a:xfrm>
            <a:off x="4572000" y="2445089"/>
            <a:ext cx="2860431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Okay, lets try this one again.</a:t>
            </a:r>
          </a:p>
        </p:txBody>
      </p:sp>
    </p:spTree>
    <p:extLst>
      <p:ext uri="{BB962C8B-B14F-4D97-AF65-F5344CB8AC3E}">
        <p14:creationId xmlns:p14="http://schemas.microsoft.com/office/powerpoint/2010/main" val="271859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1735</TotalTime>
  <Words>353</Words>
  <Application>Microsoft Office PowerPoint</Application>
  <PresentationFormat>On-screen Show (16:10)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Calibri-Bold</vt:lpstr>
      <vt:lpstr>MMTimesRoman</vt:lpstr>
      <vt:lpstr>Times-Roman</vt:lpstr>
      <vt:lpstr>Office Theme</vt:lpstr>
      <vt:lpstr>PowerPoint Presentation</vt:lpstr>
      <vt:lpstr>Topic : Worded Questions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26</cp:revision>
  <dcterms:created xsi:type="dcterms:W3CDTF">2017-06-08T21:35:48Z</dcterms:created>
  <dcterms:modified xsi:type="dcterms:W3CDTF">2019-09-17T14:29:24Z</dcterms:modified>
</cp:coreProperties>
</file>
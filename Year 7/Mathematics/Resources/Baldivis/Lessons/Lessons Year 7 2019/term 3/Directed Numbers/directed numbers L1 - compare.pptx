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56" r:id="rId2"/>
    <p:sldId id="387" r:id="rId3"/>
    <p:sldId id="330" r:id="rId4"/>
    <p:sldId id="401" r:id="rId5"/>
    <p:sldId id="415" r:id="rId6"/>
    <p:sldId id="416" r:id="rId7"/>
    <p:sldId id="285" r:id="rId8"/>
    <p:sldId id="420" r:id="rId9"/>
    <p:sldId id="422" r:id="rId10"/>
    <p:sldId id="424" r:id="rId11"/>
    <p:sldId id="398" r:id="rId12"/>
    <p:sldId id="413" r:id="rId13"/>
    <p:sldId id="3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07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343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15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90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68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9/09/2019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http://www.mathgoodies.com/lessons/vol5/images/no_line10.gi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http://www.mathgoodies.com/lessons/vol5/images/no_line10.gi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085922" y="150933"/>
            <a:ext cx="4188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Starter Questions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1935197"/>
            <a:ext cx="4749800" cy="2590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6B77C2-C742-4B92-AC42-0422DBE0601D}"/>
              </a:ext>
            </a:extLst>
          </p:cNvPr>
          <p:cNvSpPr txBox="1"/>
          <p:nvPr/>
        </p:nvSpPr>
        <p:spPr>
          <a:xfrm>
            <a:off x="386632" y="614184"/>
            <a:ext cx="62605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Find the mean, mode, median and range of the following data.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lvl="1"/>
            <a:r>
              <a:rPr lang="en-AU" dirty="0"/>
              <a:t>12, 15, 13, 17, 11, 15</a:t>
            </a:r>
          </a:p>
          <a:p>
            <a:pPr lvl="1"/>
            <a:endParaRPr lang="en-AU" dirty="0"/>
          </a:p>
          <a:p>
            <a:pPr marL="342900" indent="-342900">
              <a:buAutoNum type="arabicPeriod" startAt="2"/>
            </a:pPr>
            <a:r>
              <a:rPr lang="en-AU" dirty="0"/>
              <a:t>Which of the following questions results in categorical data or numerical data.</a:t>
            </a:r>
          </a:p>
          <a:p>
            <a:pPr marL="800100" lvl="1" indent="-342900">
              <a:buAutoNum type="alphaUcParenR"/>
            </a:pPr>
            <a:r>
              <a:rPr lang="en-AU" dirty="0"/>
              <a:t>What day of the week were you born on?</a:t>
            </a:r>
          </a:p>
          <a:p>
            <a:pPr marL="800100" lvl="1" indent="-342900">
              <a:buAutoNum type="alphaUcParenR"/>
            </a:pPr>
            <a:r>
              <a:rPr lang="en-AU" dirty="0"/>
              <a:t>How many times a week do you have soft drink?</a:t>
            </a:r>
          </a:p>
          <a:p>
            <a:pPr marL="800100" lvl="1" indent="-342900">
              <a:buAutoNum type="alphaUcParenR"/>
            </a:pPr>
            <a:r>
              <a:rPr lang="en-AU" dirty="0"/>
              <a:t>What colour car do you have?</a:t>
            </a:r>
          </a:p>
          <a:p>
            <a:pPr marL="800100" lvl="1" indent="-342900">
              <a:buAutoNum type="alphaUcParenR"/>
            </a:pPr>
            <a:r>
              <a:rPr lang="en-AU" dirty="0"/>
              <a:t>Rate how much you enjoy pizza?  High, medium, low</a:t>
            </a:r>
          </a:p>
          <a:p>
            <a:pPr marL="800100" lvl="1" indent="-342900">
              <a:buAutoNum type="alphaUcParenR"/>
            </a:pPr>
            <a:r>
              <a:rPr lang="en-AU" dirty="0"/>
              <a:t>Rate how much you enjoy Fish and chips from 0 to 5?</a:t>
            </a:r>
          </a:p>
          <a:p>
            <a:pPr lvl="1"/>
            <a:endParaRPr lang="en-AU" dirty="0"/>
          </a:p>
          <a:p>
            <a:pPr marL="342900" indent="-342900">
              <a:buAutoNum type="arabicPeriod" startAt="3"/>
            </a:pPr>
            <a:r>
              <a:rPr lang="en-AU" dirty="0"/>
              <a:t>What type of angle is the following? What is its name?</a:t>
            </a:r>
          </a:p>
          <a:p>
            <a:pPr marL="342900" indent="-342900">
              <a:buAutoNum type="arabicPeriod" startAt="3"/>
            </a:pP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A7779A-71D3-4F0C-BC9E-E27B589286A5}"/>
              </a:ext>
            </a:extLst>
          </p:cNvPr>
          <p:cNvCxnSpPr>
            <a:cxnSpLocks/>
          </p:cNvCxnSpPr>
          <p:nvPr/>
        </p:nvCxnSpPr>
        <p:spPr>
          <a:xfrm flipH="1">
            <a:off x="1209822" y="4586068"/>
            <a:ext cx="2307102" cy="970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C75DB6-1425-46D8-8621-9678740986A0}"/>
              </a:ext>
            </a:extLst>
          </p:cNvPr>
          <p:cNvCxnSpPr>
            <a:cxnSpLocks/>
          </p:cNvCxnSpPr>
          <p:nvPr/>
        </p:nvCxnSpPr>
        <p:spPr>
          <a:xfrm flipH="1" flipV="1">
            <a:off x="1209822" y="5556738"/>
            <a:ext cx="2611902" cy="302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7F7A253F-FF4B-4AC8-82EB-66D389AE19C9}"/>
              </a:ext>
            </a:extLst>
          </p:cNvPr>
          <p:cNvSpPr/>
          <p:nvPr/>
        </p:nvSpPr>
        <p:spPr>
          <a:xfrm rot="631825">
            <a:off x="1608407" y="5356831"/>
            <a:ext cx="154744" cy="49236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3DD86-5ED4-4020-B1C4-647F849A7310}"/>
              </a:ext>
            </a:extLst>
          </p:cNvPr>
          <p:cNvSpPr txBox="1"/>
          <p:nvPr/>
        </p:nvSpPr>
        <p:spPr>
          <a:xfrm>
            <a:off x="3334043" y="4579033"/>
            <a:ext cx="5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B10F66-5F6A-4E6F-B5BC-5C4B41547657}"/>
              </a:ext>
            </a:extLst>
          </p:cNvPr>
          <p:cNvSpPr txBox="1"/>
          <p:nvPr/>
        </p:nvSpPr>
        <p:spPr>
          <a:xfrm>
            <a:off x="833198" y="5397308"/>
            <a:ext cx="5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3F74FF-9B41-43A9-8D2A-08DFD5589249}"/>
              </a:ext>
            </a:extLst>
          </p:cNvPr>
          <p:cNvSpPr txBox="1"/>
          <p:nvPr/>
        </p:nvSpPr>
        <p:spPr>
          <a:xfrm>
            <a:off x="3790501" y="5812978"/>
            <a:ext cx="5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77F5F6-19D9-4EBB-96DB-C670D8DD1809}"/>
              </a:ext>
            </a:extLst>
          </p:cNvPr>
          <p:cNvSpPr txBox="1"/>
          <p:nvPr/>
        </p:nvSpPr>
        <p:spPr>
          <a:xfrm>
            <a:off x="7470147" y="581400"/>
            <a:ext cx="4248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4.  If it is -5</a:t>
            </a:r>
            <a:r>
              <a:rPr lang="en-AU" baseline="30000" dirty="0"/>
              <a:t>0</a:t>
            </a:r>
            <a:r>
              <a:rPr lang="en-AU" dirty="0"/>
              <a:t>C outside and 18</a:t>
            </a:r>
            <a:r>
              <a:rPr lang="en-AU" baseline="30000" dirty="0"/>
              <a:t>o</a:t>
            </a:r>
            <a:r>
              <a:rPr lang="en-AU" dirty="0"/>
              <a:t>C inside, how many degrees warmer is it inside the house.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5DD5A-9A03-4DA0-B8C2-DE7D6448FA20}"/>
              </a:ext>
            </a:extLst>
          </p:cNvPr>
          <p:cNvSpPr txBox="1"/>
          <p:nvPr/>
        </p:nvSpPr>
        <p:spPr>
          <a:xfrm>
            <a:off x="7430222" y="1925527"/>
            <a:ext cx="4946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079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5" y="189365"/>
            <a:ext cx="10830194" cy="640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5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252" y="8118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510" y="1591767"/>
            <a:ext cx="111379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200" dirty="0"/>
              <a:t>To learn a bit about the history of number systems✓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/>
          </a:p>
          <a:p>
            <a:pPr marL="285750" indent="-285750">
              <a:buFont typeface="Arial" charset="0"/>
              <a:buChar char="•"/>
            </a:pPr>
            <a:r>
              <a:rPr lang="en-US" sz="3200" dirty="0"/>
              <a:t>To further expand and solidify our mathematical vocabulary✓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/>
          </a:p>
          <a:p>
            <a:pPr marL="285750" indent="-285750">
              <a:buFont typeface="Arial" charset="0"/>
              <a:buChar char="•"/>
            </a:pPr>
            <a:r>
              <a:rPr lang="en-US" sz="3200" dirty="0"/>
              <a:t>To further learn the value of the place system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/>
          </a:p>
          <a:p>
            <a:pPr marL="285750" indent="-285750">
              <a:buFont typeface="Arial" charset="0"/>
              <a:buChar char="•"/>
            </a:pPr>
            <a:r>
              <a:rPr lang="en-US" sz="3200" dirty="0"/>
              <a:t>To compare, order, add and subtract integers</a:t>
            </a:r>
          </a:p>
        </p:txBody>
      </p:sp>
    </p:spTree>
    <p:extLst>
      <p:ext uri="{BB962C8B-B14F-4D97-AF65-F5344CB8AC3E}">
        <p14:creationId xmlns:p14="http://schemas.microsoft.com/office/powerpoint/2010/main" val="1424065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Number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they relate to integers?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2727" y="1648956"/>
            <a:ext cx="1077909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are positive and negative whole numbers, including 0. </a:t>
            </a:r>
          </a:p>
        </p:txBody>
      </p:sp>
      <p:sp>
        <p:nvSpPr>
          <p:cNvPr id="2" name="Rectangle 1"/>
          <p:cNvSpPr/>
          <p:nvPr/>
        </p:nvSpPr>
        <p:spPr>
          <a:xfrm>
            <a:off x="1202727" y="2626777"/>
            <a:ext cx="10365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Positive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whole numbers greater than zero {1,2,3,4,5,...}</a:t>
            </a:r>
            <a:endParaRPr lang="en-AU" sz="2400" b="1" i="1" dirty="0">
              <a:latin typeface="Kiwi School Handwriting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2727" y="3207454"/>
            <a:ext cx="1116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Negative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opposites of those whole numbers {-1,-2,-3,-4,-5,...}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03583"/>
            <a:ext cx="5143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Zero is neither positive or negative.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2727" y="4399712"/>
            <a:ext cx="112789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-5 is the opposite of 5 and -243 is the opposite of 243. If an integers is greater than zero (&gt; 0), we say it’s sign is positive (+). If it’s less than zero (&lt; 0), we say it’s sign is negative (-)</a:t>
            </a:r>
          </a:p>
        </p:txBody>
      </p:sp>
    </p:spTree>
    <p:extLst>
      <p:ext uri="{BB962C8B-B14F-4D97-AF65-F5344CB8AC3E}">
        <p14:creationId xmlns:p14="http://schemas.microsoft.com/office/powerpoint/2010/main" val="42388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Number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they relate to integers?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02727" y="1648956"/>
            <a:ext cx="1077909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Positive and negative integers together are called </a:t>
            </a:r>
            <a:r>
              <a:rPr lang="en-AU" sz="2399" b="1" i="1" dirty="0">
                <a:latin typeface="Kiwi School Handwriting" panose="00000500000000000000" pitchFamily="2" charset="0"/>
              </a:rPr>
              <a:t>directed numbers</a:t>
            </a:r>
            <a:r>
              <a:rPr lang="en-AU" sz="2399" b="1" dirty="0">
                <a:latin typeface="Kiwi School Handwriting" panose="00000500000000000000" pitchFamily="2" charset="0"/>
              </a:rPr>
              <a:t>. Directed numbers show both </a:t>
            </a:r>
            <a:r>
              <a:rPr lang="en-AU" sz="2399" b="1" u="sng" dirty="0">
                <a:latin typeface="Kiwi School Handwriting" panose="00000500000000000000" pitchFamily="2" charset="0"/>
              </a:rPr>
              <a:t>direction</a:t>
            </a:r>
            <a:r>
              <a:rPr lang="en-AU" sz="2399" b="1" dirty="0">
                <a:latin typeface="Kiwi School Handwriting" panose="00000500000000000000" pitchFamily="2" charset="0"/>
              </a:rPr>
              <a:t> and </a:t>
            </a:r>
            <a:r>
              <a:rPr lang="en-AU" sz="2399" b="1" u="sng" dirty="0">
                <a:latin typeface="Kiwi School Handwriting" panose="00000500000000000000" pitchFamily="2" charset="0"/>
              </a:rPr>
              <a:t>magnitude</a:t>
            </a:r>
            <a:r>
              <a:rPr lang="en-AU" sz="2399" b="1" dirty="0">
                <a:latin typeface="Kiwi School Handwriting" panose="00000500000000000000" pitchFamily="2" charset="0"/>
              </a:rPr>
              <a:t> (size).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2727" y="2623226"/>
            <a:ext cx="10779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Ex: +7 or 7 means 7 units in the positive direction, while -3 means 3 units in the negative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1322" y="3603679"/>
            <a:ext cx="1077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**Can you think of some everyday examples of negative integers?**</a:t>
            </a:r>
          </a:p>
        </p:txBody>
      </p:sp>
      <p:pic>
        <p:nvPicPr>
          <p:cNvPr id="17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322" y="4745300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587FB02-F7F9-4FA9-8511-BE11E6591130}"/>
              </a:ext>
            </a:extLst>
          </p:cNvPr>
          <p:cNvGrpSpPr/>
          <p:nvPr/>
        </p:nvGrpSpPr>
        <p:grpSpPr>
          <a:xfrm>
            <a:off x="2857974" y="5887549"/>
            <a:ext cx="7467600" cy="838200"/>
            <a:chOff x="4099618" y="3804560"/>
            <a:chExt cx="7467600" cy="838200"/>
          </a:xfrm>
        </p:grpSpPr>
        <p:sp>
          <p:nvSpPr>
            <p:cNvPr id="19" name="AutoShape 5">
              <a:extLst>
                <a:ext uri="{FF2B5EF4-FFF2-40B4-BE49-F238E27FC236}">
                  <a16:creationId xmlns:a16="http://schemas.microsoft.com/office/drawing/2014/main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22" name="AutoShape 7">
              <a:extLst>
                <a:ext uri="{FF2B5EF4-FFF2-40B4-BE49-F238E27FC236}">
                  <a16:creationId xmlns:a16="http://schemas.microsoft.com/office/drawing/2014/main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226150" y="4329110"/>
            <a:ext cx="1077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Integers are represented by the </a:t>
            </a:r>
            <a:r>
              <a:rPr lang="en-AU" sz="2800" b="1" i="1" dirty="0">
                <a:latin typeface="Kiwi School Handwriting" panose="00000500000000000000" pitchFamily="2" charset="0"/>
              </a:rPr>
              <a:t>number line</a:t>
            </a:r>
            <a:endParaRPr lang="en-AU" sz="2800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6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Number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they relate to integers?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213" y="1670827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226150" y="2777800"/>
            <a:ext cx="1077909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For any two different places on the number line, the integer on the right is greater than the integer on the left.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6150" y="3859483"/>
            <a:ext cx="7045014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Ex: 8 is greater (or more) than 3.</a:t>
            </a:r>
          </a:p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This can be written as 8 &gt; 1</a:t>
            </a:r>
          </a:p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Think of the &gt; and the &lt; signs as the jaws of a crocodile. </a:t>
            </a:r>
          </a:p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They always open towards the </a:t>
            </a:r>
            <a:r>
              <a:rPr lang="en-AU" sz="2399" b="1" i="1" dirty="0">
                <a:latin typeface="Kiwi School Handwriting" panose="00000500000000000000" pitchFamily="2" charset="0"/>
              </a:rPr>
              <a:t>bigger</a:t>
            </a:r>
            <a:r>
              <a:rPr lang="en-AU" sz="2399" b="1" dirty="0">
                <a:latin typeface="Kiwi School Handwriting" panose="00000500000000000000" pitchFamily="2" charset="0"/>
              </a:rPr>
              <a:t> number and point to the </a:t>
            </a:r>
            <a:r>
              <a:rPr lang="en-AU" sz="2399" b="1" i="1" dirty="0">
                <a:latin typeface="Kiwi School Handwriting" panose="00000500000000000000" pitchFamily="2" charset="0"/>
              </a:rPr>
              <a:t>smaller</a:t>
            </a:r>
            <a:r>
              <a:rPr lang="en-AU" sz="2399" b="1" dirty="0">
                <a:latin typeface="Kiwi School Handwriting" panose="00000500000000000000" pitchFamily="2" charset="0"/>
              </a:rPr>
              <a:t> number (the </a:t>
            </a:r>
            <a:r>
              <a:rPr lang="en-AU" sz="2399" b="1" i="1" dirty="0">
                <a:latin typeface="Kiwi School Handwriting" panose="00000500000000000000" pitchFamily="2" charset="0"/>
              </a:rPr>
              <a:t>smaller</a:t>
            </a:r>
            <a:r>
              <a:rPr lang="en-AU" sz="2399" b="1" dirty="0">
                <a:latin typeface="Kiwi School Handwriting" panose="00000500000000000000" pitchFamily="2" charset="0"/>
              </a:rPr>
              <a:t> number eats the </a:t>
            </a:r>
            <a:r>
              <a:rPr lang="en-AU" sz="2399" b="1" i="1" dirty="0">
                <a:latin typeface="Kiwi School Handwriting" panose="00000500000000000000" pitchFamily="2" charset="0"/>
              </a:rPr>
              <a:t>bigger</a:t>
            </a:r>
            <a:r>
              <a:rPr lang="en-AU" sz="2399" b="1" dirty="0">
                <a:latin typeface="Kiwi School Handwriting" panose="00000500000000000000" pitchFamily="2" charset="0"/>
              </a:rPr>
              <a:t> number).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674" y="3859483"/>
            <a:ext cx="3542145" cy="263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3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4845580"/>
            <a:ext cx="7264400" cy="546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5588530"/>
            <a:ext cx="10058400" cy="714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7" y="530112"/>
            <a:ext cx="10058400" cy="1350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7" y="2286836"/>
            <a:ext cx="10058400" cy="12600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4015448"/>
            <a:ext cx="70612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9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308153"/>
            <a:ext cx="9144000" cy="1092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2689361"/>
            <a:ext cx="8547100" cy="749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1660984"/>
            <a:ext cx="8750300" cy="7239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3612821"/>
            <a:ext cx="9626600" cy="2133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5951505"/>
            <a:ext cx="89154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49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5896" y="516659"/>
            <a:ext cx="100346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Complete </a:t>
            </a:r>
            <a:r>
              <a:rPr lang="en-CA" sz="3600" dirty="0">
                <a:latin typeface="Chalkduster" charset="0"/>
                <a:ea typeface="Chalkduster" charset="0"/>
                <a:cs typeface="Chalkduster" charset="0"/>
              </a:rPr>
              <a:t>Freefall Worksheet</a:t>
            </a:r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—</a:t>
            </a:r>
            <a:endParaRPr lang="en-CA" sz="36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r>
              <a:rPr lang="en-CA" sz="3600" dirty="0">
                <a:latin typeface="Chalkduster" charset="0"/>
                <a:ea typeface="Chalkduster" charset="0"/>
                <a:cs typeface="Chalkduster" charset="0"/>
              </a:rPr>
              <a:t>Directed Numbers/Number line and Magnitude </a:t>
            </a:r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689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965896" y="516659"/>
            <a:ext cx="100346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Homework</a:t>
            </a:r>
          </a:p>
          <a:p>
            <a:pPr algn="ctr"/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Complete </a:t>
            </a:r>
            <a:r>
              <a:rPr lang="en-CA" sz="3600" dirty="0">
                <a:latin typeface="Chalkduster" charset="0"/>
                <a:ea typeface="Chalkduster" charset="0"/>
                <a:cs typeface="Chalkduster" charset="0"/>
              </a:rPr>
              <a:t>Freefall Worksheet </a:t>
            </a:r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Number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46794" y="3738953"/>
            <a:ext cx="64351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Complete your Summary!!!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598625" y="4783018"/>
            <a:ext cx="1164920" cy="10215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they relate to integers?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6794" y="1771418"/>
            <a:ext cx="84621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Add any new terms/symbols to your</a:t>
            </a:r>
          </a:p>
          <a:p>
            <a:r>
              <a:rPr lang="en-US" sz="4400" dirty="0"/>
              <a:t>Glossary!!!</a:t>
            </a:r>
          </a:p>
        </p:txBody>
      </p:sp>
    </p:spTree>
    <p:extLst>
      <p:ext uri="{BB962C8B-B14F-4D97-AF65-F5344CB8AC3E}">
        <p14:creationId xmlns:p14="http://schemas.microsoft.com/office/powerpoint/2010/main" val="37706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4285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9691</TotalTime>
  <Words>577</Words>
  <Application>Microsoft Office PowerPoint</Application>
  <PresentationFormat>Widescreen</PresentationFormat>
  <Paragraphs>95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Chalkduster</vt:lpstr>
      <vt:lpstr>Kiwi School Handwriting</vt:lpstr>
      <vt:lpstr>Office Theme</vt:lpstr>
      <vt:lpstr>PowerPoint Presentation</vt:lpstr>
      <vt:lpstr>PowerPoint Presentation</vt:lpstr>
      <vt:lpstr>Learning Intentions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WILSON James [Baldivis Secondary College]</cp:lastModifiedBy>
  <cp:revision>188</cp:revision>
  <dcterms:created xsi:type="dcterms:W3CDTF">2018-02-06T06:15:13Z</dcterms:created>
  <dcterms:modified xsi:type="dcterms:W3CDTF">2019-09-09T04:03:26Z</dcterms:modified>
</cp:coreProperties>
</file>
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4" r:id="rId3"/>
    <p:sldId id="265" r:id="rId4"/>
    <p:sldId id="266" r:id="rId5"/>
    <p:sldId id="267" r:id="rId6"/>
    <p:sldId id="268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1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60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2577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7869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5802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1638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0432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773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2084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935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063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327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1DDA8-3EE7-46A2-9589-72ABBAB63E07}" type="datetimeFigureOut">
              <a:rPr lang="en-AU" smtClean="0"/>
              <a:t>27/08/2019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D133F-4344-4191-82A9-7599A8E229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202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152545"/>
            <a:ext cx="9144000" cy="1057419"/>
          </a:xfrm>
        </p:spPr>
        <p:txBody>
          <a:bodyPr/>
          <a:lstStyle/>
          <a:p>
            <a:r>
              <a:rPr lang="en-US" dirty="0" smtClean="0"/>
              <a:t>5 questions</a:t>
            </a:r>
            <a:endParaRPr lang="en-AU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62B870E-DAB2-4D12-BD73-004BBA871F84}"/>
              </a:ext>
            </a:extLst>
          </p:cNvPr>
          <p:cNvSpPr txBox="1"/>
          <p:nvPr/>
        </p:nvSpPr>
        <p:spPr>
          <a:xfrm>
            <a:off x="1129862" y="1102094"/>
            <a:ext cx="953813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en-US" dirty="0" smtClean="0"/>
              <a:t>Find the </a:t>
            </a:r>
            <a:r>
              <a:rPr lang="en-US" dirty="0" smtClean="0"/>
              <a:t>mode </a:t>
            </a:r>
            <a:r>
              <a:rPr lang="en-US" dirty="0" smtClean="0"/>
              <a:t>and </a:t>
            </a:r>
            <a:r>
              <a:rPr lang="en-US" dirty="0" smtClean="0"/>
              <a:t>range of:   </a:t>
            </a:r>
            <a:r>
              <a:rPr lang="en-US" dirty="0" smtClean="0"/>
              <a:t>9, 10, 8, 10, </a:t>
            </a:r>
            <a:r>
              <a:rPr lang="en-US" dirty="0" smtClean="0"/>
              <a:t>11, 11, 8</a:t>
            </a:r>
            <a:endParaRPr lang="en-US" dirty="0" smtClean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r>
              <a:rPr lang="en-US" dirty="0" smtClean="0"/>
              <a:t>If three sides of a triangle measured </a:t>
            </a:r>
            <a:r>
              <a:rPr lang="en-US" dirty="0" smtClean="0"/>
              <a:t>8cm</a:t>
            </a:r>
            <a:r>
              <a:rPr lang="en-US" dirty="0" smtClean="0"/>
              <a:t>, 8 cm, 10 cm. What name can we give it?</a:t>
            </a: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Draw a </a:t>
            </a:r>
            <a:r>
              <a:rPr lang="en-AU" dirty="0" smtClean="0"/>
              <a:t>vertically opposite</a:t>
            </a:r>
            <a:r>
              <a:rPr lang="en-AU" dirty="0" smtClean="0"/>
              <a:t> </a:t>
            </a:r>
            <a:r>
              <a:rPr lang="en-AU" dirty="0" smtClean="0"/>
              <a:t>angle to the one shown </a:t>
            </a:r>
          </a:p>
          <a:p>
            <a:pPr marL="342900" indent="-342900">
              <a:buAutoNum type="arabicPeriod"/>
            </a:pPr>
            <a:endParaRPr lang="en-US" dirty="0" smtClean="0"/>
          </a:p>
          <a:p>
            <a:pPr marL="342900" indent="-342900">
              <a:buAutoNum type="arabicPeriod"/>
            </a:pPr>
            <a:endParaRPr lang="en-US" dirty="0" smtClean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 </a:t>
            </a:r>
            <a:r>
              <a:rPr lang="en-AU" dirty="0" smtClean="0"/>
              <a:t>what is the range of this data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 smtClean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/>
              <a:t>.</a:t>
            </a:r>
            <a:endParaRPr lang="en-AU" dirty="0" smtClean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AU" dirty="0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6631710" y="2373266"/>
            <a:ext cx="2687782" cy="9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6631710" y="2939516"/>
            <a:ext cx="2687782" cy="9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7398327" y="2090879"/>
            <a:ext cx="1237672" cy="10867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571345" y="2187548"/>
            <a:ext cx="129308" cy="1329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489795"/>
              </p:ext>
            </p:extLst>
          </p:nvPr>
        </p:nvGraphicFramePr>
        <p:xfrm>
          <a:off x="4581236" y="3332052"/>
          <a:ext cx="2475345" cy="12661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863">
                  <a:extLst>
                    <a:ext uri="{9D8B030D-6E8A-4147-A177-3AD203B41FA5}">
                      <a16:colId xmlns:a16="http://schemas.microsoft.com/office/drawing/2014/main" val="2771766360"/>
                    </a:ext>
                  </a:extLst>
                </a:gridCol>
                <a:gridCol w="2112482">
                  <a:extLst>
                    <a:ext uri="{9D8B030D-6E8A-4147-A177-3AD203B41FA5}">
                      <a16:colId xmlns:a16="http://schemas.microsoft.com/office/drawing/2014/main" val="2086756894"/>
                    </a:ext>
                  </a:extLst>
                </a:gridCol>
              </a:tblGrid>
              <a:tr h="422051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1, 5, 6</a:t>
                      </a:r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78414"/>
                  </a:ext>
                </a:extLst>
              </a:tr>
              <a:tr h="422051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0, 0,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2</a:t>
                      </a:r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270053"/>
                  </a:ext>
                </a:extLst>
              </a:tr>
              <a:tr h="422051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3, 1, 8</a:t>
                      </a:r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889164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4861" t="64321" r="46667" b="16173"/>
          <a:stretch/>
        </p:blipFill>
        <p:spPr>
          <a:xfrm>
            <a:off x="1523999" y="4671893"/>
            <a:ext cx="7035800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087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725829"/>
              </p:ext>
            </p:extLst>
          </p:nvPr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891">
                  <a:extLst>
                    <a:ext uri="{9D8B030D-6E8A-4147-A177-3AD203B41FA5}">
                      <a16:colId xmlns:a16="http://schemas.microsoft.com/office/drawing/2014/main" val="1708051528"/>
                    </a:ext>
                  </a:extLst>
                </a:gridCol>
                <a:gridCol w="9578109">
                  <a:extLst>
                    <a:ext uri="{9D8B030D-6E8A-4147-A177-3AD203B41FA5}">
                      <a16:colId xmlns:a16="http://schemas.microsoft.com/office/drawing/2014/main" val="1245153065"/>
                    </a:ext>
                  </a:extLst>
                </a:gridCol>
              </a:tblGrid>
              <a:tr h="680559">
                <a:tc gridSpan="2">
                  <a:txBody>
                    <a:bodyPr/>
                    <a:lstStyle/>
                    <a:p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57781"/>
                  </a:ext>
                </a:extLst>
              </a:tr>
              <a:tr h="621380">
                <a:tc gridSpan="2">
                  <a:txBody>
                    <a:bodyPr/>
                    <a:lstStyle/>
                    <a:p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EQ:</a:t>
                      </a:r>
                      <a:r>
                        <a:rPr lang="en-US" sz="28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800" b="0" baseline="0" dirty="0" smtClean="0">
                          <a:solidFill>
                            <a:schemeClr val="tx1"/>
                          </a:solidFill>
                        </a:rPr>
                        <a:t>how can we find the mean, median, mode and range from graphs?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124950"/>
                  </a:ext>
                </a:extLst>
              </a:tr>
              <a:tr h="5556062"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In your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Cornell Notes… </a:t>
                      </a:r>
                      <a:r>
                        <a:rPr lang="en-US" b="0" u="sng" baseline="0" dirty="0" smtClean="0">
                          <a:solidFill>
                            <a:schemeClr val="tx1"/>
                          </a:solidFill>
                        </a:rPr>
                        <a:t>redraw the table 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and make sure the definitions are in the correct spot.</a:t>
                      </a:r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377552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901147"/>
              </p:ext>
            </p:extLst>
          </p:nvPr>
        </p:nvGraphicFramePr>
        <p:xfrm>
          <a:off x="3023404" y="2183598"/>
          <a:ext cx="7978272" cy="2490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225">
                  <a:extLst>
                    <a:ext uri="{9D8B030D-6E8A-4147-A177-3AD203B41FA5}">
                      <a16:colId xmlns:a16="http://schemas.microsoft.com/office/drawing/2014/main" val="1893779150"/>
                    </a:ext>
                  </a:extLst>
                </a:gridCol>
                <a:gridCol w="6266047">
                  <a:extLst>
                    <a:ext uri="{9D8B030D-6E8A-4147-A177-3AD203B41FA5}">
                      <a16:colId xmlns:a16="http://schemas.microsoft.com/office/drawing/2014/main" val="1534575957"/>
                    </a:ext>
                  </a:extLst>
                </a:gridCol>
              </a:tblGrid>
              <a:tr h="45685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>
                          <a:solidFill>
                            <a:schemeClr val="tx1"/>
                          </a:solidFill>
                        </a:rPr>
                        <a:t>Median</a:t>
                      </a:r>
                      <a:endParaRPr lang="en-AU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Highest score – lowest score</a:t>
                      </a:r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387364"/>
                  </a:ext>
                </a:extLst>
              </a:tr>
              <a:tr h="7885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Mode</a:t>
                      </a:r>
                      <a:endParaRPr lang="en-A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Arrange</a:t>
                      </a:r>
                      <a:r>
                        <a:rPr lang="en-US" baseline="0" dirty="0" smtClean="0"/>
                        <a:t> numbers in order and find the middle number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67160"/>
                  </a:ext>
                </a:extLst>
              </a:tr>
              <a:tr h="7885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Range</a:t>
                      </a:r>
                      <a:endParaRPr lang="en-A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Add up all the numbers and divide</a:t>
                      </a:r>
                      <a:r>
                        <a:rPr lang="en-US" baseline="0" dirty="0" smtClean="0"/>
                        <a:t> by how many numbers there are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243333"/>
                  </a:ext>
                </a:extLst>
              </a:tr>
              <a:tr h="45685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Mean </a:t>
                      </a:r>
                      <a:endParaRPr lang="en-A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Most common number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35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27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875133"/>
              </p:ext>
            </p:extLst>
          </p:nvPr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891">
                  <a:extLst>
                    <a:ext uri="{9D8B030D-6E8A-4147-A177-3AD203B41FA5}">
                      <a16:colId xmlns:a16="http://schemas.microsoft.com/office/drawing/2014/main" val="1708051528"/>
                    </a:ext>
                  </a:extLst>
                </a:gridCol>
                <a:gridCol w="9578109">
                  <a:extLst>
                    <a:ext uri="{9D8B030D-6E8A-4147-A177-3AD203B41FA5}">
                      <a16:colId xmlns:a16="http://schemas.microsoft.com/office/drawing/2014/main" val="1245153065"/>
                    </a:ext>
                  </a:extLst>
                </a:gridCol>
              </a:tblGrid>
              <a:tr h="680559">
                <a:tc gridSpan="2">
                  <a:txBody>
                    <a:bodyPr/>
                    <a:lstStyle/>
                    <a:p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57781"/>
                  </a:ext>
                </a:extLst>
              </a:tr>
              <a:tr h="621380">
                <a:tc gridSpan="2">
                  <a:txBody>
                    <a:bodyPr/>
                    <a:lstStyle/>
                    <a:p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EQ:</a:t>
                      </a:r>
                      <a:r>
                        <a:rPr lang="en-US" sz="28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800" b="0" baseline="0" dirty="0" smtClean="0">
                          <a:solidFill>
                            <a:schemeClr val="tx1"/>
                          </a:solidFill>
                        </a:rPr>
                        <a:t>how can we find the mean, median, mode and range from graphs?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124950"/>
                  </a:ext>
                </a:extLst>
              </a:tr>
              <a:tr h="5556062"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Using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the stem and leaf plot below find</a:t>
                      </a:r>
                    </a:p>
                    <a:p>
                      <a:endParaRPr lang="en-US" b="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Mean – </a:t>
                      </a: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Median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–</a:t>
                      </a:r>
                    </a:p>
                    <a:p>
                      <a:endParaRPr lang="en-US" b="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Mode –</a:t>
                      </a:r>
                    </a:p>
                    <a:p>
                      <a:endParaRPr lang="en-US" b="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Range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37755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565916"/>
              </p:ext>
            </p:extLst>
          </p:nvPr>
        </p:nvGraphicFramePr>
        <p:xfrm>
          <a:off x="4958082" y="1912352"/>
          <a:ext cx="3348520" cy="2062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8628">
                  <a:extLst>
                    <a:ext uri="{9D8B030D-6E8A-4147-A177-3AD203B41FA5}">
                      <a16:colId xmlns:a16="http://schemas.microsoft.com/office/drawing/2014/main" val="1893779150"/>
                    </a:ext>
                  </a:extLst>
                </a:gridCol>
                <a:gridCol w="2629892">
                  <a:extLst>
                    <a:ext uri="{9D8B030D-6E8A-4147-A177-3AD203B41FA5}">
                      <a16:colId xmlns:a16="http://schemas.microsoft.com/office/drawing/2014/main" val="1534575957"/>
                    </a:ext>
                  </a:extLst>
                </a:gridCol>
              </a:tblGrid>
              <a:tr h="515721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1, 2, 5</a:t>
                      </a:r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387364"/>
                  </a:ext>
                </a:extLst>
              </a:tr>
              <a:tr h="51572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</a:t>
                      </a:r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67160"/>
                  </a:ext>
                </a:extLst>
              </a:tr>
              <a:tr h="51572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</a:t>
                      </a:r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3, 7 </a:t>
                      </a:r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243333"/>
                  </a:ext>
                </a:extLst>
              </a:tr>
              <a:tr h="51572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8, 8</a:t>
                      </a:r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35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1000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LHS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873016"/>
              </p:ext>
            </p:extLst>
          </p:nvPr>
        </p:nvGraphicFramePr>
        <p:xfrm>
          <a:off x="925097" y="1825625"/>
          <a:ext cx="3348520" cy="2062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8628">
                  <a:extLst>
                    <a:ext uri="{9D8B030D-6E8A-4147-A177-3AD203B41FA5}">
                      <a16:colId xmlns:a16="http://schemas.microsoft.com/office/drawing/2014/main" val="1893779150"/>
                    </a:ext>
                  </a:extLst>
                </a:gridCol>
                <a:gridCol w="2629892">
                  <a:extLst>
                    <a:ext uri="{9D8B030D-6E8A-4147-A177-3AD203B41FA5}">
                      <a16:colId xmlns:a16="http://schemas.microsoft.com/office/drawing/2014/main" val="1534575957"/>
                    </a:ext>
                  </a:extLst>
                </a:gridCol>
              </a:tblGrid>
              <a:tr h="515721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3, 3</a:t>
                      </a:r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387364"/>
                  </a:ext>
                </a:extLst>
              </a:tr>
              <a:tr h="51572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6</a:t>
                      </a:r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267160"/>
                  </a:ext>
                </a:extLst>
              </a:tr>
              <a:tr h="51572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1,</a:t>
                      </a:r>
                      <a:r>
                        <a:rPr lang="en-US" sz="2400" baseline="0" dirty="0" smtClean="0"/>
                        <a:t> 2, 8</a:t>
                      </a:r>
                      <a:r>
                        <a:rPr lang="en-US" sz="2400" dirty="0" smtClean="0"/>
                        <a:t> </a:t>
                      </a:r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243333"/>
                  </a:ext>
                </a:extLst>
              </a:tr>
              <a:tr h="51572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</a:t>
                      </a:r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</a:t>
                      </a:r>
                      <a:endParaRPr lang="en-A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3511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6517" y="1896176"/>
            <a:ext cx="55249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MEAN –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MEDIAN –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MODE –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RANGE -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492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332777"/>
              </p:ext>
            </p:extLst>
          </p:nvPr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891">
                  <a:extLst>
                    <a:ext uri="{9D8B030D-6E8A-4147-A177-3AD203B41FA5}">
                      <a16:colId xmlns:a16="http://schemas.microsoft.com/office/drawing/2014/main" val="1708051528"/>
                    </a:ext>
                  </a:extLst>
                </a:gridCol>
                <a:gridCol w="9578109">
                  <a:extLst>
                    <a:ext uri="{9D8B030D-6E8A-4147-A177-3AD203B41FA5}">
                      <a16:colId xmlns:a16="http://schemas.microsoft.com/office/drawing/2014/main" val="1245153065"/>
                    </a:ext>
                  </a:extLst>
                </a:gridCol>
              </a:tblGrid>
              <a:tr h="680559">
                <a:tc gridSpan="2">
                  <a:txBody>
                    <a:bodyPr/>
                    <a:lstStyle/>
                    <a:p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57781"/>
                  </a:ext>
                </a:extLst>
              </a:tr>
              <a:tr h="621380">
                <a:tc gridSpan="2">
                  <a:txBody>
                    <a:bodyPr/>
                    <a:lstStyle/>
                    <a:p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EQ:</a:t>
                      </a:r>
                      <a:r>
                        <a:rPr lang="en-US" sz="28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800" b="0" baseline="0" dirty="0" smtClean="0">
                          <a:solidFill>
                            <a:schemeClr val="tx1"/>
                          </a:solidFill>
                        </a:rPr>
                        <a:t>how can we find the mean, median, mode and range from graphs?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124950"/>
                  </a:ext>
                </a:extLst>
              </a:tr>
              <a:tr h="5556062"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Using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the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</a:rPr>
                        <a:t>dotplot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below find</a:t>
                      </a:r>
                    </a:p>
                    <a:p>
                      <a:endParaRPr lang="en-US" b="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                                     0             1            2            3             4              5              6          hours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watching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</a:rPr>
                        <a:t>tv</a:t>
                      </a:r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Mean – </a:t>
                      </a: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Median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–</a:t>
                      </a:r>
                    </a:p>
                    <a:p>
                      <a:endParaRPr lang="en-US" b="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Mode –</a:t>
                      </a:r>
                    </a:p>
                    <a:p>
                      <a:endParaRPr lang="en-US" b="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Range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377552"/>
                  </a:ext>
                </a:extLst>
              </a:tr>
            </a:tbl>
          </a:graphicData>
        </a:graphic>
      </p:graphicFrame>
      <p:cxnSp>
        <p:nvCxnSpPr>
          <p:cNvPr id="3" name="Straight Arrow Connector 2"/>
          <p:cNvCxnSpPr/>
          <p:nvPr/>
        </p:nvCxnSpPr>
        <p:spPr>
          <a:xfrm flipV="1">
            <a:off x="4023360" y="3429000"/>
            <a:ext cx="6102417" cy="481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600876" y="3128210"/>
            <a:ext cx="163630" cy="17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Oval 8"/>
          <p:cNvSpPr/>
          <p:nvPr/>
        </p:nvSpPr>
        <p:spPr>
          <a:xfrm>
            <a:off x="4600876" y="2804560"/>
            <a:ext cx="163630" cy="17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/>
          <p:cNvSpPr/>
          <p:nvPr/>
        </p:nvSpPr>
        <p:spPr>
          <a:xfrm>
            <a:off x="6168190" y="3116780"/>
            <a:ext cx="163630" cy="17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/>
          <p:cNvSpPr/>
          <p:nvPr/>
        </p:nvSpPr>
        <p:spPr>
          <a:xfrm>
            <a:off x="6168190" y="2756433"/>
            <a:ext cx="163630" cy="17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/>
          <p:cNvSpPr/>
          <p:nvPr/>
        </p:nvSpPr>
        <p:spPr>
          <a:xfrm>
            <a:off x="6168190" y="2333522"/>
            <a:ext cx="163630" cy="17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/>
          <p:cNvSpPr/>
          <p:nvPr/>
        </p:nvSpPr>
        <p:spPr>
          <a:xfrm>
            <a:off x="6992753" y="3116779"/>
            <a:ext cx="163630" cy="17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/>
          <p:cNvSpPr/>
          <p:nvPr/>
        </p:nvSpPr>
        <p:spPr>
          <a:xfrm>
            <a:off x="6992753" y="2739287"/>
            <a:ext cx="163630" cy="17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/>
          <p:cNvSpPr/>
          <p:nvPr/>
        </p:nvSpPr>
        <p:spPr>
          <a:xfrm>
            <a:off x="9382225" y="3083317"/>
            <a:ext cx="163630" cy="17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/>
          <p:cNvSpPr/>
          <p:nvPr/>
        </p:nvSpPr>
        <p:spPr>
          <a:xfrm>
            <a:off x="8548837" y="3084144"/>
            <a:ext cx="163630" cy="17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7724274" y="3092717"/>
            <a:ext cx="163630" cy="17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1919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LHS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5498"/>
            <a:ext cx="1081799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                                     2        3      4        5       6                  score   /10     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5082139" y="2523488"/>
            <a:ext cx="55249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MEAN –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MEDIAN –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MODE –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RANGE -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4504623" y="1516399"/>
            <a:ext cx="6102417" cy="343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082139" y="1201848"/>
            <a:ext cx="163630" cy="17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/>
          <p:cNvSpPr/>
          <p:nvPr/>
        </p:nvSpPr>
        <p:spPr>
          <a:xfrm>
            <a:off x="5082139" y="878198"/>
            <a:ext cx="163630" cy="17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/>
          <p:cNvSpPr/>
          <p:nvPr/>
        </p:nvSpPr>
        <p:spPr>
          <a:xfrm>
            <a:off x="6649453" y="1190418"/>
            <a:ext cx="163630" cy="17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/>
          <p:cNvSpPr/>
          <p:nvPr/>
        </p:nvSpPr>
        <p:spPr>
          <a:xfrm>
            <a:off x="6649453" y="830071"/>
            <a:ext cx="163630" cy="17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/>
          <p:cNvSpPr/>
          <p:nvPr/>
        </p:nvSpPr>
        <p:spPr>
          <a:xfrm>
            <a:off x="6649453" y="407160"/>
            <a:ext cx="163630" cy="17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/>
          <p:cNvSpPr/>
          <p:nvPr/>
        </p:nvSpPr>
        <p:spPr>
          <a:xfrm>
            <a:off x="7474016" y="1190417"/>
            <a:ext cx="163630" cy="17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/>
          <p:cNvSpPr/>
          <p:nvPr/>
        </p:nvSpPr>
        <p:spPr>
          <a:xfrm>
            <a:off x="7474016" y="812925"/>
            <a:ext cx="163630" cy="17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/>
          <p:cNvSpPr/>
          <p:nvPr/>
        </p:nvSpPr>
        <p:spPr>
          <a:xfrm>
            <a:off x="5988520" y="1158803"/>
            <a:ext cx="163630" cy="17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5089357" y="448406"/>
            <a:ext cx="163630" cy="17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/>
          <p:cNvSpPr/>
          <p:nvPr/>
        </p:nvSpPr>
        <p:spPr>
          <a:xfrm>
            <a:off x="8205537" y="1166355"/>
            <a:ext cx="163630" cy="17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0586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Complete the worksheet attached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9169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288</Words>
  <Application>Microsoft Office PowerPoint</Application>
  <PresentationFormat>Widescreen</PresentationFormat>
  <Paragraphs>116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5 questions</vt:lpstr>
      <vt:lpstr>PowerPoint Presentation</vt:lpstr>
      <vt:lpstr>PowerPoint Presentation</vt:lpstr>
      <vt:lpstr>LHS</vt:lpstr>
      <vt:lpstr>PowerPoint Presentation</vt:lpstr>
      <vt:lpstr>LHS</vt:lpstr>
      <vt:lpstr>Complete the worksheet attached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D'SOUZA Jillian [Baldivis Secondary College]</dc:creator>
  <cp:lastModifiedBy>D'SOUZA Jillian [Baldivis Secondary College]</cp:lastModifiedBy>
  <cp:revision>11</cp:revision>
  <dcterms:created xsi:type="dcterms:W3CDTF">2019-08-26T08:04:20Z</dcterms:created>
  <dcterms:modified xsi:type="dcterms:W3CDTF">2019-08-27T05:25:08Z</dcterms:modified>
</cp:coreProperties>
</file>
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7" r:id="rId2"/>
    <p:sldId id="279" r:id="rId3"/>
    <p:sldId id="273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78" r:id="rId12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1152">
          <p15:clr>
            <a:srgbClr val="A4A3A4"/>
          </p15:clr>
        </p15:guide>
        <p15:guide id="5" orient="horz" pos="3360">
          <p15:clr>
            <a:srgbClr val="A4A3A4"/>
          </p15:clr>
        </p15:guide>
        <p15:guide id="6" orient="horz" pos="3072">
          <p15:clr>
            <a:srgbClr val="A4A3A4"/>
          </p15:clr>
        </p15:guide>
        <p15:guide id="7" orient="horz" pos="864">
          <p15:clr>
            <a:srgbClr val="A4A3A4"/>
          </p15:clr>
        </p15:guide>
        <p15:guide id="8" orient="horz" pos="528">
          <p15:clr>
            <a:srgbClr val="A4A3A4"/>
          </p15:clr>
        </p15:guide>
        <p15:guide id="9" orient="horz" pos="2784">
          <p15:clr>
            <a:srgbClr val="A4A3A4"/>
          </p15:clr>
        </p15:guide>
        <p15:guide id="10" pos="3839">
          <p15:clr>
            <a:srgbClr val="A4A3A4"/>
          </p15:clr>
        </p15:guide>
        <p15:guide id="11" pos="959">
          <p15:clr>
            <a:srgbClr val="A4A3A4"/>
          </p15:clr>
        </p15:guide>
        <p15:guide id="12" pos="7007">
          <p15:clr>
            <a:srgbClr val="A4A3A4"/>
          </p15:clr>
        </p15:guide>
        <p15:guide id="13" pos="6719">
          <p15:clr>
            <a:srgbClr val="A4A3A4"/>
          </p15:clr>
        </p15:guide>
        <p15:guide id="14" pos="6143">
          <p15:clr>
            <a:srgbClr val="A4A3A4"/>
          </p15:clr>
        </p15:guide>
        <p15:guide id="15" pos="3983">
          <p15:clr>
            <a:srgbClr val="A4A3A4"/>
          </p15:clr>
        </p15:guide>
        <p15:guide id="16" pos="527">
          <p15:clr>
            <a:srgbClr val="A4A3A4"/>
          </p15:clr>
        </p15:guide>
        <p15:guide id="17" pos="7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506" autoAdjust="0"/>
  </p:normalViewPr>
  <p:slideViewPr>
    <p:cSldViewPr>
      <p:cViewPr varScale="1">
        <p:scale>
          <a:sx n="77" d="100"/>
          <a:sy n="77" d="100"/>
        </p:scale>
        <p:origin x="912" y="53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28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1002" y="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A8D02-4E65-4CCD-8312-4AB164C6C77D}" type="datetimeFigureOut">
              <a:rPr lang="en-US"/>
              <a:t>9/4/2018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19DBA-4540-49B3-8FA9-6259387ECF9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19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755D9-D361-47B8-9652-3B4EA9776CE5}" type="datetimeFigureOut">
              <a:rPr lang="en-US"/>
              <a:t>9/4/2018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36274-F2B9-4C45-BBB4-0EDF4CD651A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688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23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Write the outcome on the board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en-AU" dirty="0"/>
                  <a:t> </a:t>
                </a:r>
              </a:p>
              <a:p>
                <a:r>
                  <a:rPr lang="en-AU" dirty="0"/>
                  <a:t>Do this for each method to see if any kids get the ‘pattern’ before the written method.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Write the outcome on the board </a:t>
                </a:r>
                <a:r>
                  <a:rPr lang="en-AU" b="0" i="0">
                    <a:latin typeface="Cambria Math" panose="02040503050406030204" pitchFamily="18" charset="0"/>
                  </a:rPr>
                  <a:t>1/3</a:t>
                </a:r>
                <a:r>
                  <a:rPr lang="en-AU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×</a:t>
                </a:r>
                <a:r>
                  <a:rPr lang="en-AU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2/3=2/9</a:t>
                </a:r>
                <a:r>
                  <a:rPr lang="en-AU" dirty="0"/>
                  <a:t> </a:t>
                </a:r>
              </a:p>
              <a:p>
                <a:r>
                  <a:rPr lang="en-AU" dirty="0"/>
                  <a:t>Do this for each method to see if any kids get the ‘pattern’ before the written method.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0909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Write the outcome on the board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AU" dirty="0"/>
                  <a:t> </a:t>
                </a:r>
              </a:p>
              <a:p>
                <a:r>
                  <a:rPr lang="en-AU" dirty="0"/>
                  <a:t>Do this for each method to see if any kids get the ‘pattern’ before the written method.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Write the outcome on the board </a:t>
                </a:r>
                <a:r>
                  <a:rPr lang="en-AU" b="0" i="0">
                    <a:latin typeface="Cambria Math" panose="02040503050406030204" pitchFamily="18" charset="0"/>
                  </a:rPr>
                  <a:t>1/4</a:t>
                </a:r>
                <a:r>
                  <a:rPr lang="en-AU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×</a:t>
                </a:r>
                <a:r>
                  <a:rPr lang="en-AU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2/4=2/8</a:t>
                </a:r>
                <a:r>
                  <a:rPr lang="en-AU" dirty="0"/>
                  <a:t> </a:t>
                </a:r>
              </a:p>
              <a:p>
                <a:r>
                  <a:rPr lang="en-AU" dirty="0"/>
                  <a:t>Do this for each method to see if any kids get the ‘pattern’ before the written method.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79204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67060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5024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5102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371600"/>
            <a:ext cx="9144000" cy="3505200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953000"/>
            <a:ext cx="8229600" cy="1066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9/4/2018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686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9/4/2018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945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514601"/>
            <a:ext cx="9144000" cy="2819400"/>
          </a:xfrm>
        </p:spPr>
        <p:txBody>
          <a:bodyPr anchor="b">
            <a:noAutofit/>
          </a:bodyPr>
          <a:lstStyle>
            <a:lvl1pPr algn="l">
              <a:defRPr sz="6600" b="0" i="0" cap="none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990600"/>
            <a:ext cx="8229600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9/4/2018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699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4" y="1828800"/>
            <a:ext cx="4645152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5412" y="1828800"/>
            <a:ext cx="4648201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9/4/2018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6970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4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 baseline="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8462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8462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9/4/2018</a:t>
            </a:fld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1231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9/4/2018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570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9/4/2018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201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180012" y="838200"/>
            <a:ext cx="6172201" cy="5181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pPr/>
              <a:t>9/4/2018</a:t>
            </a:fld>
            <a:endParaRPr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8280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3"/>
          <p:cNvSpPr>
            <a:spLocks noGrp="1"/>
          </p:cNvSpPr>
          <p:nvPr>
            <p:ph type="pic" idx="1"/>
          </p:nvPr>
        </p:nvSpPr>
        <p:spPr>
          <a:xfrm>
            <a:off x="5484812" y="836610"/>
            <a:ext cx="5867401" cy="518319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pic>
        <p:nvPicPr>
          <p:cNvPr id="9" name="Picture 4" descr="An empty placeholder to add an image. Click on the placeholder and select the image that you wish to ad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812" y="458787"/>
            <a:ext cx="6626225" cy="5938837"/>
          </a:xfrm>
          <a:prstGeom prst="rect">
            <a:avLst/>
          </a:prstGeom>
          <a:noFill/>
          <a:ln>
            <a:noFill/>
          </a:ln>
          <a:effectLst>
            <a:outerShdw blurRad="292100" algn="ctr" rotWithShape="0">
              <a:prstClr val="black">
                <a:alpha val="36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4693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9/4/2018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23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2" y="533400"/>
            <a:ext cx="1371600" cy="5592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1" y="533400"/>
            <a:ext cx="8077201" cy="5592764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9/4/2018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018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960120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517950" y="6172200"/>
            <a:ext cx="6862462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2"/>
          </p:nvPr>
        </p:nvSpPr>
        <p:spPr>
          <a:xfrm>
            <a:off x="8609012" y="6172200"/>
            <a:ext cx="1320059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83829175-527E-46A3-863C-1BB1F163B849}" type="datetimeFigureOut">
              <a:rPr lang="en-US" smtClean="0"/>
              <a:pPr/>
              <a:t>9/4/2018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33012" y="6172200"/>
            <a:ext cx="9906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050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3838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1363" indent="-17145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67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80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44752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82496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57984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cachiras21.blogspot.com/2012_07_01_archive.html" TargetMode="External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cachiras21.blogspot.com/2012_07_01_archive.html" TargetMode="External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4ghdMifXuFE" TargetMode="Externa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6469" y="2376538"/>
            <a:ext cx="10955886" cy="2104923"/>
          </a:xfrm>
        </p:spPr>
        <p:txBody>
          <a:bodyPr/>
          <a:lstStyle/>
          <a:p>
            <a:r>
              <a:rPr lang="en-US" sz="6000" dirty="0"/>
              <a:t>Topic: Multiplying Fractions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7828" y="4725144"/>
            <a:ext cx="11089232" cy="1066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EQ: How do we multiply </a:t>
            </a:r>
            <a:r>
              <a:rPr lang="en-US" dirty="0"/>
              <a:t>fractions? 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Ms. Latham</a:t>
            </a:r>
          </a:p>
        </p:txBody>
      </p:sp>
    </p:spTree>
    <p:extLst>
      <p:ext uri="{BB962C8B-B14F-4D97-AF65-F5344CB8AC3E}">
        <p14:creationId xmlns:p14="http://schemas.microsoft.com/office/powerpoint/2010/main" val="45656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516C4-86C1-41E5-A8ED-04F9E5B30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Warm Up Questions: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D1C3C8-7EEF-4D92-A6BE-59E34F44F2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buAutoNum type="arabicPeriod"/>
                </a:pPr>
                <a:r>
                  <a:rPr lang="en-AU" sz="2400" dirty="0"/>
                  <a:t>Convert </a:t>
                </a:r>
                <a14:m>
                  <m:oMath xmlns:m="http://schemas.openxmlformats.org/officeDocument/2006/math">
                    <m:r>
                      <a:rPr lang="en-AU" sz="2400" b="0" i="0" smtClean="0">
                        <a:latin typeface="Cambria Math" panose="02040503050406030204" pitchFamily="18" charset="0"/>
                      </a:rPr>
                      <m:t>3</m:t>
                    </m:r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dirty="0"/>
                  <a:t>to an improper fraction</a:t>
                </a:r>
              </a:p>
              <a:p>
                <a:pPr marL="457200" indent="-457200">
                  <a:buFont typeface="Arial" pitchFamily="34" charset="0"/>
                  <a:buAutoNum type="arabicPeriod"/>
                </a:pPr>
                <a:r>
                  <a:rPr lang="en-AU" sz="2400" dirty="0"/>
                  <a:t>Convert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dirty="0"/>
                  <a:t>to a mixed number</a:t>
                </a:r>
              </a:p>
              <a:p>
                <a:pPr marL="457200" indent="-457200">
                  <a:buFont typeface="Arial" pitchFamily="34" charset="0"/>
                  <a:buAutoNum type="arabicPeriod"/>
                </a:pPr>
                <a:r>
                  <a:rPr lang="en-AU" sz="2400" dirty="0"/>
                  <a:t>Three friends share a pizza. Kate eats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sz="2400" dirty="0"/>
                  <a:t> of the pizza, Archie eats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400" dirty="0"/>
                  <a:t> of the remainder and Luke eats the rest. What fraction does Luke eat?</a:t>
                </a:r>
              </a:p>
              <a:p>
                <a:pPr marL="457200" indent="-457200">
                  <a:buFont typeface="Arial" pitchFamily="34" charset="0"/>
                  <a:buAutoNum type="arabicPeriod"/>
                </a:pPr>
                <a:endParaRPr lang="en-AU" dirty="0"/>
              </a:p>
              <a:p>
                <a:pPr marL="457200" indent="-457200">
                  <a:buFont typeface="Arial" pitchFamily="34" charset="0"/>
                  <a:buAutoNum type="arabicPeriod"/>
                </a:pPr>
                <a:endParaRPr lang="en-AU" dirty="0"/>
              </a:p>
              <a:p>
                <a:pPr marL="457200" indent="-457200">
                  <a:buFont typeface="Arial" pitchFamily="34" charset="0"/>
                  <a:buAutoNum type="arabicPeriod"/>
                </a:pPr>
                <a:endParaRPr lang="en-AU" dirty="0"/>
              </a:p>
              <a:p>
                <a:pPr marL="457200" indent="-457200">
                  <a:buAutoNum type="arabicPeriod"/>
                </a:pPr>
                <a:endParaRPr lang="en-AU" dirty="0"/>
              </a:p>
              <a:p>
                <a:pPr marL="457200" indent="-457200">
                  <a:buAutoNum type="arabicPeriod"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D1C3C8-7EEF-4D92-A6BE-59E34F44F2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130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9795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Multiplying Fractions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I multiply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164940" y="1340768"/>
            <a:ext cx="1825014" cy="230832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dirty="0"/>
              <a:t>The Strip Method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D887A1D-4093-4EFF-A6B2-A6A98153A613}"/>
                  </a:ext>
                </a:extLst>
              </p:cNvPr>
              <p:cNvSpPr txBox="1"/>
              <p:nvPr/>
            </p:nvSpPr>
            <p:spPr>
              <a:xfrm>
                <a:off x="2061964" y="1318106"/>
                <a:ext cx="8784976" cy="1016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solidFill>
                      <a:srgbClr val="FF0000"/>
                    </a:solidFill>
                  </a:rPr>
                  <a:t>If you had a strip of paper and you shaded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srgbClr val="FF0000"/>
                    </a:solidFill>
                  </a:rPr>
                  <a:t> of the strip </a:t>
                </a:r>
              </a:p>
              <a:p>
                <a:endParaRPr lang="en-AU" sz="24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D887A1D-4093-4EFF-A6B2-A6A98153A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1964" y="1318106"/>
                <a:ext cx="8784976" cy="1016689"/>
              </a:xfrm>
              <a:prstGeom prst="rect">
                <a:avLst/>
              </a:prstGeom>
              <a:blipFill>
                <a:blip r:embed="rId3"/>
                <a:stretch>
                  <a:fillRect l="-10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F20F1F17-51BB-4C22-B892-61724953978F}"/>
              </a:ext>
            </a:extLst>
          </p:cNvPr>
          <p:cNvSpPr/>
          <p:nvPr/>
        </p:nvSpPr>
        <p:spPr>
          <a:xfrm>
            <a:off x="4438229" y="2208932"/>
            <a:ext cx="6552724" cy="14401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1D282F-01C6-4D9D-8003-54FE54907B94}"/>
              </a:ext>
            </a:extLst>
          </p:cNvPr>
          <p:cNvSpPr/>
          <p:nvPr/>
        </p:nvSpPr>
        <p:spPr>
          <a:xfrm>
            <a:off x="4438229" y="2208932"/>
            <a:ext cx="2160232" cy="144016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855F8B-5E80-4DE6-B1D3-BED40E9AA1F6}"/>
              </a:ext>
            </a:extLst>
          </p:cNvPr>
          <p:cNvSpPr/>
          <p:nvPr/>
        </p:nvSpPr>
        <p:spPr>
          <a:xfrm>
            <a:off x="6598461" y="2208931"/>
            <a:ext cx="2160232" cy="1440160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BB8704-D5EC-4A85-A6CE-70FB89D97340}"/>
                  </a:ext>
                </a:extLst>
              </p:cNvPr>
              <p:cNvSpPr txBox="1"/>
              <p:nvPr/>
            </p:nvSpPr>
            <p:spPr>
              <a:xfrm>
                <a:off x="2205979" y="3790921"/>
                <a:ext cx="8136902" cy="11447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>
                    <a:solidFill>
                      <a:srgbClr val="FF0000"/>
                    </a:solidFill>
                  </a:rPr>
                  <a:t>Now you are told to shade in a darker colour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000" dirty="0">
                    <a:solidFill>
                      <a:srgbClr val="FF0000"/>
                    </a:solidFill>
                  </a:rPr>
                  <a:t> of your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000" dirty="0">
                    <a:solidFill>
                      <a:srgbClr val="FF0000"/>
                    </a:solidFill>
                  </a:rPr>
                  <a:t> strip</a:t>
                </a:r>
              </a:p>
              <a:p>
                <a:endParaRPr lang="en-AU" sz="2000" dirty="0">
                  <a:solidFill>
                    <a:srgbClr val="FF0000"/>
                  </a:solidFill>
                </a:endParaRPr>
              </a:p>
              <a:p>
                <a:r>
                  <a:rPr lang="en-AU" sz="2000" dirty="0">
                    <a:solidFill>
                      <a:srgbClr val="FF0000"/>
                    </a:solidFill>
                  </a:rPr>
                  <a:t>The final shaded amount is your answer  - What do you think it is?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BB8704-D5EC-4A85-A6CE-70FB89D97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5979" y="3790921"/>
                <a:ext cx="8136902" cy="1144737"/>
              </a:xfrm>
              <a:prstGeom prst="rect">
                <a:avLst/>
              </a:prstGeom>
              <a:blipFill>
                <a:blip r:embed="rId4"/>
                <a:stretch>
                  <a:fillRect l="-824" b="-85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774C1287-C9DE-4347-B1D7-2CE3BEEEB355}"/>
              </a:ext>
            </a:extLst>
          </p:cNvPr>
          <p:cNvSpPr/>
          <p:nvPr/>
        </p:nvSpPr>
        <p:spPr>
          <a:xfrm>
            <a:off x="4438229" y="3225621"/>
            <a:ext cx="4320455" cy="41940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68AFAF1-D8D6-4F36-BB45-AB8872DB0F26}"/>
              </a:ext>
            </a:extLst>
          </p:cNvPr>
          <p:cNvGrpSpPr/>
          <p:nvPr/>
        </p:nvGrpSpPr>
        <p:grpSpPr>
          <a:xfrm>
            <a:off x="4438229" y="2708920"/>
            <a:ext cx="4320464" cy="936102"/>
            <a:chOff x="4438229" y="2708920"/>
            <a:chExt cx="4320464" cy="93610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13C129E-7D45-4B1D-8EDD-642AFA7FD802}"/>
                </a:ext>
              </a:extLst>
            </p:cNvPr>
            <p:cNvCxnSpPr/>
            <p:nvPr/>
          </p:nvCxnSpPr>
          <p:spPr>
            <a:xfrm>
              <a:off x="4438229" y="3212976"/>
              <a:ext cx="4320464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624F7C1-B6DD-4445-AF59-9B3C94B9B6BC}"/>
                </a:ext>
              </a:extLst>
            </p:cNvPr>
            <p:cNvCxnSpPr/>
            <p:nvPr/>
          </p:nvCxnSpPr>
          <p:spPr>
            <a:xfrm>
              <a:off x="4438229" y="2708920"/>
              <a:ext cx="4320464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BF645BF-4BA1-47F6-AA9D-4F8610488332}"/>
                </a:ext>
              </a:extLst>
            </p:cNvPr>
            <p:cNvCxnSpPr>
              <a:stCxn id="12" idx="0"/>
              <a:endCxn id="12" idx="2"/>
            </p:cNvCxnSpPr>
            <p:nvPr/>
          </p:nvCxnSpPr>
          <p:spPr>
            <a:xfrm>
              <a:off x="6598457" y="3225621"/>
              <a:ext cx="0" cy="419401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5905EC8-7D39-4A9F-8CE7-5716D925821E}"/>
              </a:ext>
            </a:extLst>
          </p:cNvPr>
          <p:cNvCxnSpPr/>
          <p:nvPr/>
        </p:nvCxnSpPr>
        <p:spPr>
          <a:xfrm>
            <a:off x="8758684" y="2708920"/>
            <a:ext cx="2232269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EEAEB21-C9C1-4BFC-91B0-051F41945CD8}"/>
              </a:ext>
            </a:extLst>
          </p:cNvPr>
          <p:cNvCxnSpPr/>
          <p:nvPr/>
        </p:nvCxnSpPr>
        <p:spPr>
          <a:xfrm>
            <a:off x="8758684" y="3191341"/>
            <a:ext cx="2232269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C5962BF-3B3C-4094-A81B-AC20DF8A014C}"/>
                  </a:ext>
                </a:extLst>
              </p:cNvPr>
              <p:cNvSpPr txBox="1"/>
              <p:nvPr/>
            </p:nvSpPr>
            <p:spPr>
              <a:xfrm>
                <a:off x="5302324" y="5157192"/>
                <a:ext cx="1584173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C5962BF-3B3C-4094-A81B-AC20DF8A01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2324" y="5157192"/>
                <a:ext cx="1584173" cy="6347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397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7" grpId="0"/>
      <p:bldP spid="5" grpId="0" animBg="1"/>
      <p:bldP spid="6" grpId="0" animBg="1"/>
      <p:bldP spid="15" grpId="0" animBg="1"/>
      <p:bldP spid="12" grpId="0" animBg="1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Multiplying Fractions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I multiply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164940" y="1340768"/>
            <a:ext cx="1825014" cy="230832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dirty="0"/>
              <a:t>The Shading method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D887A1D-4093-4EFF-A6B2-A6A98153A613}"/>
                  </a:ext>
                </a:extLst>
              </p:cNvPr>
              <p:cNvSpPr txBox="1"/>
              <p:nvPr/>
            </p:nvSpPr>
            <p:spPr>
              <a:xfrm>
                <a:off x="2463857" y="1395501"/>
                <a:ext cx="8784976" cy="1016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solidFill>
                      <a:srgbClr val="FF0000"/>
                    </a:solidFill>
                  </a:rPr>
                  <a:t>Consider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dirty="0">
                    <a:solidFill>
                      <a:srgbClr val="FF0000"/>
                    </a:solidFill>
                  </a:rPr>
                  <a:t>of a square multiplied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sz="2400" dirty="0">
                  <a:solidFill>
                    <a:srgbClr val="FF0000"/>
                  </a:solidFill>
                </a:endParaRPr>
              </a:p>
              <a:p>
                <a:endParaRPr lang="en-AU" sz="24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D887A1D-4093-4EFF-A6B2-A6A98153A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3857" y="1395501"/>
                <a:ext cx="8784976" cy="1016689"/>
              </a:xfrm>
              <a:prstGeom prst="rect">
                <a:avLst/>
              </a:prstGeom>
              <a:blipFill>
                <a:blip r:embed="rId3"/>
                <a:stretch>
                  <a:fillRect l="-10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D218F6D0-3822-4EF9-9630-ABF3154E9C26}"/>
              </a:ext>
            </a:extLst>
          </p:cNvPr>
          <p:cNvSpPr/>
          <p:nvPr/>
        </p:nvSpPr>
        <p:spPr>
          <a:xfrm>
            <a:off x="3004204" y="2462012"/>
            <a:ext cx="432048" cy="17123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914E4CE-1DBD-454E-AFF3-38104EA78D89}"/>
                  </a:ext>
                </a:extLst>
              </p:cNvPr>
              <p:cNvSpPr txBox="1"/>
              <p:nvPr/>
            </p:nvSpPr>
            <p:spPr>
              <a:xfrm>
                <a:off x="5086300" y="3028455"/>
                <a:ext cx="2228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914E4CE-1DBD-454E-AFF3-38104EA78D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6300" y="3028455"/>
                <a:ext cx="222818" cy="276999"/>
              </a:xfrm>
              <a:prstGeom prst="rect">
                <a:avLst/>
              </a:prstGeom>
              <a:blipFill>
                <a:blip r:embed="rId4"/>
                <a:stretch>
                  <a:fillRect l="-16216" r="-16216" b="-22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13BE8D0-913A-49BC-B2DD-70E1E6F8742E}"/>
                  </a:ext>
                </a:extLst>
              </p:cNvPr>
              <p:cNvSpPr txBox="1"/>
              <p:nvPr/>
            </p:nvSpPr>
            <p:spPr>
              <a:xfrm>
                <a:off x="7545761" y="3028455"/>
                <a:ext cx="2308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13BE8D0-913A-49BC-B2DD-70E1E6F87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5761" y="3028455"/>
                <a:ext cx="230832" cy="276999"/>
              </a:xfrm>
              <a:prstGeom prst="rect">
                <a:avLst/>
              </a:prstGeom>
              <a:blipFill>
                <a:blip r:embed="rId5"/>
                <a:stretch>
                  <a:fillRect l="-10526" r="-789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631D4D79-2BF9-4D75-8BDE-074854E247E0}"/>
              </a:ext>
            </a:extLst>
          </p:cNvPr>
          <p:cNvGrpSpPr/>
          <p:nvPr/>
        </p:nvGrpSpPr>
        <p:grpSpPr>
          <a:xfrm>
            <a:off x="3004204" y="2455084"/>
            <a:ext cx="1872206" cy="1746940"/>
            <a:chOff x="3214092" y="2494930"/>
            <a:chExt cx="1872206" cy="174694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3B504F5-FD90-457A-8826-C4108749979E}"/>
                </a:ext>
              </a:extLst>
            </p:cNvPr>
            <p:cNvSpPr/>
            <p:nvPr/>
          </p:nvSpPr>
          <p:spPr>
            <a:xfrm>
              <a:off x="3214092" y="2494930"/>
              <a:ext cx="1872206" cy="172615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067B756-8BE2-41D9-8AD1-42DCAA7CCD1F}"/>
                </a:ext>
              </a:extLst>
            </p:cNvPr>
            <p:cNvCxnSpPr/>
            <p:nvPr/>
          </p:nvCxnSpPr>
          <p:spPr>
            <a:xfrm>
              <a:off x="3646140" y="2515712"/>
              <a:ext cx="0" cy="172615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91952BC-4AF9-42D9-A8D1-3971D326DB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4092" y="2924944"/>
              <a:ext cx="1872206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B4CFA9B-9810-4E02-B964-92490A9715BB}"/>
                </a:ext>
              </a:extLst>
            </p:cNvPr>
            <p:cNvCxnSpPr/>
            <p:nvPr/>
          </p:nvCxnSpPr>
          <p:spPr>
            <a:xfrm>
              <a:off x="4078188" y="2515712"/>
              <a:ext cx="0" cy="172615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FDFE741-9553-4EDC-A40B-CB9104A03B56}"/>
                </a:ext>
              </a:extLst>
            </p:cNvPr>
            <p:cNvCxnSpPr/>
            <p:nvPr/>
          </p:nvCxnSpPr>
          <p:spPr>
            <a:xfrm>
              <a:off x="4582244" y="2501857"/>
              <a:ext cx="0" cy="172615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780E47A-C411-45FC-BBE3-34DB9AB083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4092" y="3358009"/>
              <a:ext cx="1872206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CC4B17E-7DA0-4473-98F5-D148CBC983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4092" y="3789040"/>
              <a:ext cx="1872206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8558E7C-E5D1-4380-A256-9C468ADEB540}"/>
              </a:ext>
            </a:extLst>
          </p:cNvPr>
          <p:cNvGrpSpPr/>
          <p:nvPr/>
        </p:nvGrpSpPr>
        <p:grpSpPr>
          <a:xfrm>
            <a:off x="5426955" y="2436090"/>
            <a:ext cx="1879408" cy="876010"/>
            <a:chOff x="5426955" y="2436090"/>
            <a:chExt cx="1879408" cy="876010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1FF69CD6-8595-4DC5-8F4B-0170CD153F6B}"/>
                </a:ext>
              </a:extLst>
            </p:cNvPr>
            <p:cNvSpPr/>
            <p:nvPr/>
          </p:nvSpPr>
          <p:spPr>
            <a:xfrm rot="5400000">
              <a:off x="6142017" y="1721028"/>
              <a:ext cx="442081" cy="187220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AE808559-F1B2-4052-9ED4-8BBD03C6FD71}"/>
                </a:ext>
              </a:extLst>
            </p:cNvPr>
            <p:cNvSpPr/>
            <p:nvPr/>
          </p:nvSpPr>
          <p:spPr>
            <a:xfrm rot="5400000">
              <a:off x="6149219" y="2154957"/>
              <a:ext cx="442081" cy="187220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5B5C0829-FE2B-425D-891A-C0622E925EDC}"/>
              </a:ext>
            </a:extLst>
          </p:cNvPr>
          <p:cNvGrpSpPr/>
          <p:nvPr/>
        </p:nvGrpSpPr>
        <p:grpSpPr>
          <a:xfrm>
            <a:off x="7902588" y="2422471"/>
            <a:ext cx="1879408" cy="876010"/>
            <a:chOff x="5426955" y="2436090"/>
            <a:chExt cx="1879408" cy="876010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5E7B0691-C797-458E-933A-16619D490DE2}"/>
                </a:ext>
              </a:extLst>
            </p:cNvPr>
            <p:cNvSpPr/>
            <p:nvPr/>
          </p:nvSpPr>
          <p:spPr>
            <a:xfrm rot="5400000">
              <a:off x="6142017" y="1721028"/>
              <a:ext cx="442081" cy="187220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D250482B-A978-49CB-A40D-6874626BA532}"/>
                </a:ext>
              </a:extLst>
            </p:cNvPr>
            <p:cNvSpPr/>
            <p:nvPr/>
          </p:nvSpPr>
          <p:spPr>
            <a:xfrm rot="5400000">
              <a:off x="6149219" y="2154957"/>
              <a:ext cx="442081" cy="187220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69" name="Rectangle 68">
            <a:extLst>
              <a:ext uri="{FF2B5EF4-FFF2-40B4-BE49-F238E27FC236}">
                <a16:creationId xmlns:a16="http://schemas.microsoft.com/office/drawing/2014/main" id="{8C06EF2A-ACDC-477F-ADED-E83EE1BCED90}"/>
              </a:ext>
            </a:extLst>
          </p:cNvPr>
          <p:cNvSpPr/>
          <p:nvPr/>
        </p:nvSpPr>
        <p:spPr>
          <a:xfrm>
            <a:off x="7909789" y="2452769"/>
            <a:ext cx="432048" cy="17123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A03BE51-A548-4BDF-A87B-92E863C7AB38}"/>
              </a:ext>
            </a:extLst>
          </p:cNvPr>
          <p:cNvGrpSpPr/>
          <p:nvPr/>
        </p:nvGrpSpPr>
        <p:grpSpPr>
          <a:xfrm>
            <a:off x="5434157" y="2448157"/>
            <a:ext cx="1872206" cy="1746940"/>
            <a:chOff x="3214092" y="2494930"/>
            <a:chExt cx="1872206" cy="174694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A067E09-482B-4FB1-AFC4-66B996EA613C}"/>
                </a:ext>
              </a:extLst>
            </p:cNvPr>
            <p:cNvSpPr/>
            <p:nvPr/>
          </p:nvSpPr>
          <p:spPr>
            <a:xfrm>
              <a:off x="3214092" y="2494930"/>
              <a:ext cx="1872206" cy="172615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F705132-45DC-4B61-B176-9753C7822C0D}"/>
                </a:ext>
              </a:extLst>
            </p:cNvPr>
            <p:cNvCxnSpPr/>
            <p:nvPr/>
          </p:nvCxnSpPr>
          <p:spPr>
            <a:xfrm>
              <a:off x="3646140" y="2515712"/>
              <a:ext cx="0" cy="172615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5A6B46BE-4D1E-4275-8B94-42F2ACEC53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4092" y="2924944"/>
              <a:ext cx="1872206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EEE770B6-4335-4156-A064-97067AED7F68}"/>
                </a:ext>
              </a:extLst>
            </p:cNvPr>
            <p:cNvCxnSpPr/>
            <p:nvPr/>
          </p:nvCxnSpPr>
          <p:spPr>
            <a:xfrm>
              <a:off x="4078188" y="2515712"/>
              <a:ext cx="0" cy="172615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BC6C3B8-F163-443E-A2C6-450CAFE45410}"/>
                </a:ext>
              </a:extLst>
            </p:cNvPr>
            <p:cNvCxnSpPr/>
            <p:nvPr/>
          </p:nvCxnSpPr>
          <p:spPr>
            <a:xfrm>
              <a:off x="4582244" y="2501857"/>
              <a:ext cx="0" cy="172615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AC327EB-1305-40EC-9481-879959D05A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4092" y="3358009"/>
              <a:ext cx="1872206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BC927AC-FAE2-4244-848D-76D9091912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4092" y="3789040"/>
              <a:ext cx="1872206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7F73DDC-308D-4A99-952E-008027C3311D}"/>
              </a:ext>
            </a:extLst>
          </p:cNvPr>
          <p:cNvGrpSpPr/>
          <p:nvPr/>
        </p:nvGrpSpPr>
        <p:grpSpPr>
          <a:xfrm>
            <a:off x="7894612" y="2431984"/>
            <a:ext cx="1872206" cy="1746940"/>
            <a:chOff x="3214092" y="2494930"/>
            <a:chExt cx="1872206" cy="1746940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B894F8D-730D-4BB9-B3B4-75F0F9A1B0ED}"/>
                </a:ext>
              </a:extLst>
            </p:cNvPr>
            <p:cNvSpPr/>
            <p:nvPr/>
          </p:nvSpPr>
          <p:spPr>
            <a:xfrm>
              <a:off x="3214092" y="2494930"/>
              <a:ext cx="1872206" cy="172615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10B5BFD-0889-4299-803A-584DE3CBFAAE}"/>
                </a:ext>
              </a:extLst>
            </p:cNvPr>
            <p:cNvCxnSpPr/>
            <p:nvPr/>
          </p:nvCxnSpPr>
          <p:spPr>
            <a:xfrm>
              <a:off x="3646140" y="2515712"/>
              <a:ext cx="0" cy="172615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D4634A8-7C17-46E2-B9EE-88D16BE1D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4092" y="2924944"/>
              <a:ext cx="1872206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4973B1E-D7B7-4D3D-BE85-76658D6C08DB}"/>
                </a:ext>
              </a:extLst>
            </p:cNvPr>
            <p:cNvCxnSpPr/>
            <p:nvPr/>
          </p:nvCxnSpPr>
          <p:spPr>
            <a:xfrm>
              <a:off x="4078188" y="2515712"/>
              <a:ext cx="0" cy="172615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4551207-CE62-4635-9D75-B31CFDCCBF07}"/>
                </a:ext>
              </a:extLst>
            </p:cNvPr>
            <p:cNvCxnSpPr/>
            <p:nvPr/>
          </p:nvCxnSpPr>
          <p:spPr>
            <a:xfrm>
              <a:off x="4582244" y="2501857"/>
              <a:ext cx="0" cy="1726158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DC81D67-EFBF-48C7-8F68-3205462615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4092" y="3358009"/>
              <a:ext cx="1872206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EB077655-007E-4E90-9DC0-5C3DC04363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4092" y="3789040"/>
              <a:ext cx="1872206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4D2787FB-6DB4-4546-B511-302AB5A4F907}"/>
              </a:ext>
            </a:extLst>
          </p:cNvPr>
          <p:cNvSpPr/>
          <p:nvPr/>
        </p:nvSpPr>
        <p:spPr>
          <a:xfrm>
            <a:off x="7894612" y="2436090"/>
            <a:ext cx="432037" cy="8589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CB4EB16-DF03-42C5-B536-12379FDDE763}"/>
              </a:ext>
            </a:extLst>
          </p:cNvPr>
          <p:cNvSpPr txBox="1"/>
          <p:nvPr/>
        </p:nvSpPr>
        <p:spPr>
          <a:xfrm>
            <a:off x="2782044" y="4725144"/>
            <a:ext cx="5904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overlap area is the answer – what is the value?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4DCB8F9C-17C8-4197-A6E6-96ECB8798DE2}"/>
                  </a:ext>
                </a:extLst>
              </p:cNvPr>
              <p:cNvSpPr txBox="1"/>
              <p:nvPr/>
            </p:nvSpPr>
            <p:spPr>
              <a:xfrm>
                <a:off x="4510236" y="5445224"/>
                <a:ext cx="1584175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4DCB8F9C-17C8-4197-A6E6-96ECB8798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236" y="5445224"/>
                <a:ext cx="1584175" cy="6347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2947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7" grpId="0"/>
      <p:bldP spid="62" grpId="0" animBg="1"/>
      <p:bldP spid="13" grpId="0"/>
      <p:bldP spid="25" grpId="0"/>
      <p:bldP spid="69" grpId="0" animBg="1"/>
      <p:bldP spid="70" grpId="0" animBg="1"/>
      <p:bldP spid="71" grpId="0"/>
      <p:bldP spid="7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Multiplying Fractions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I multiply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235545" y="2826687"/>
            <a:ext cx="1745771" cy="2369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sz="2000" dirty="0"/>
              <a:t>The rule method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887A1D-4093-4EFF-A6B2-A6A98153A613}"/>
              </a:ext>
            </a:extLst>
          </p:cNvPr>
          <p:cNvSpPr txBox="1"/>
          <p:nvPr/>
        </p:nvSpPr>
        <p:spPr>
          <a:xfrm>
            <a:off x="2463857" y="1395501"/>
            <a:ext cx="87849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Are there any patterns between the fractions being multiplied and the answer fraction?</a:t>
            </a:r>
          </a:p>
          <a:p>
            <a:endParaRPr lang="en-AU" sz="24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446938F-10F6-47AE-89F8-376AD9A89EC1}"/>
              </a:ext>
            </a:extLst>
          </p:cNvPr>
          <p:cNvSpPr txBox="1"/>
          <p:nvPr/>
        </p:nvSpPr>
        <p:spPr>
          <a:xfrm>
            <a:off x="2147663" y="2938732"/>
            <a:ext cx="99234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Multiply the numerator together and multiply the denominators together</a:t>
            </a:r>
          </a:p>
          <a:p>
            <a:endParaRPr lang="en-AU" sz="2000" dirty="0"/>
          </a:p>
          <a:p>
            <a:r>
              <a:rPr lang="en-AU" sz="2000" dirty="0"/>
              <a:t>Then simplify if you can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3E302B-6187-4617-B150-612E5A55844D}"/>
                  </a:ext>
                </a:extLst>
              </p:cNvPr>
              <p:cNvSpPr txBox="1"/>
              <p:nvPr/>
            </p:nvSpPr>
            <p:spPr>
              <a:xfrm>
                <a:off x="4366220" y="4011627"/>
                <a:ext cx="3048912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2×1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5×3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3E302B-6187-4617-B150-612E5A558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6220" y="4011627"/>
                <a:ext cx="3048912" cy="8094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A08C94F-4677-4037-B19F-36E874E22004}"/>
                  </a:ext>
                </a:extLst>
              </p:cNvPr>
              <p:cNvSpPr txBox="1"/>
              <p:nvPr/>
            </p:nvSpPr>
            <p:spPr>
              <a:xfrm>
                <a:off x="4366220" y="5178675"/>
                <a:ext cx="3992247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3×2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4×5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A08C94F-4677-4037-B19F-36E874E22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6220" y="5178675"/>
                <a:ext cx="3992247" cy="8094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9601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7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C5C1B-CDC0-4AD9-9418-3B5C032CF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7948" y="343684"/>
            <a:ext cx="3733058" cy="762000"/>
          </a:xfrm>
        </p:spPr>
        <p:txBody>
          <a:bodyPr/>
          <a:lstStyle/>
          <a:p>
            <a:r>
              <a:rPr lang="en-AU" dirty="0"/>
              <a:t>Practice Time!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17DEEE-AEAB-4E74-91CD-31CB2050AB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90556" y="343684"/>
            <a:ext cx="4645152" cy="762000"/>
          </a:xfrm>
        </p:spPr>
        <p:txBody>
          <a:bodyPr/>
          <a:lstStyle/>
          <a:p>
            <a:r>
              <a:rPr lang="en-AU" dirty="0"/>
              <a:t>On your left hand side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1DAEC8-F728-48BB-8A6D-1191340104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374382" y="116632"/>
            <a:ext cx="1661326" cy="23660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9B14ABCD-1FD0-4FF4-8095-B012BFF994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4353150"/>
                  </p:ext>
                </p:extLst>
              </p:nvPr>
            </p:nvGraphicFramePr>
            <p:xfrm>
              <a:off x="1269876" y="1556792"/>
              <a:ext cx="8280920" cy="460851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140460">
                      <a:extLst>
                        <a:ext uri="{9D8B030D-6E8A-4147-A177-3AD203B41FA5}">
                          <a16:colId xmlns:a16="http://schemas.microsoft.com/office/drawing/2014/main" val="48837466"/>
                        </a:ext>
                      </a:extLst>
                    </a:gridCol>
                    <a:gridCol w="4140460">
                      <a:extLst>
                        <a:ext uri="{9D8B030D-6E8A-4147-A177-3AD203B41FA5}">
                          <a16:colId xmlns:a16="http://schemas.microsoft.com/office/drawing/2014/main" val="2221717847"/>
                        </a:ext>
                      </a:extLst>
                    </a:gridCol>
                  </a:tblGrid>
                  <a:tr h="230425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  <m:r>
                                  <a:rPr lang="en-AU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den>
                                </m:f>
                                <m:r>
                                  <a:rPr lang="en-AU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b="0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6960167"/>
                      </a:ext>
                    </a:extLst>
                  </a:tr>
                  <a:tr h="230425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den>
                                </m:f>
                                <m:r>
                                  <a:rPr lang="en-AU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den>
                                </m:f>
                                <m:r>
                                  <a:rPr lang="en-AU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394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9B14ABCD-1FD0-4FF4-8095-B012BFF994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4353150"/>
                  </p:ext>
                </p:extLst>
              </p:nvPr>
            </p:nvGraphicFramePr>
            <p:xfrm>
              <a:off x="1269876" y="1556792"/>
              <a:ext cx="8280920" cy="460851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140460">
                      <a:extLst>
                        <a:ext uri="{9D8B030D-6E8A-4147-A177-3AD203B41FA5}">
                          <a16:colId xmlns:a16="http://schemas.microsoft.com/office/drawing/2014/main" val="48837466"/>
                        </a:ext>
                      </a:extLst>
                    </a:gridCol>
                    <a:gridCol w="4140460">
                      <a:extLst>
                        <a:ext uri="{9D8B030D-6E8A-4147-A177-3AD203B41FA5}">
                          <a16:colId xmlns:a16="http://schemas.microsoft.com/office/drawing/2014/main" val="2221717847"/>
                        </a:ext>
                      </a:extLst>
                    </a:gridCol>
                  </a:tblGrid>
                  <a:tr h="23042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7" t="-264" r="-100441" b="-1002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5" t="-264" r="-589" b="-1002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6960167"/>
                      </a:ext>
                    </a:extLst>
                  </a:tr>
                  <a:tr h="23042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7" t="-100529" r="-100441" b="-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5" t="-100529" r="-589" b="-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394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15660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Multiplying Fractions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I multiply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244183" y="2153902"/>
            <a:ext cx="1745771" cy="2369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sz="2000" dirty="0"/>
              <a:t>Improper fractions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887A1D-4093-4EFF-A6B2-A6A98153A613}"/>
              </a:ext>
            </a:extLst>
          </p:cNvPr>
          <p:cNvSpPr txBox="1"/>
          <p:nvPr/>
        </p:nvSpPr>
        <p:spPr>
          <a:xfrm>
            <a:off x="2463857" y="1395501"/>
            <a:ext cx="87849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What about whole numbers, improper fractions, and mixed fractions?</a:t>
            </a:r>
          </a:p>
          <a:p>
            <a:endParaRPr lang="en-AU" sz="24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446938F-10F6-47AE-89F8-376AD9A89EC1}"/>
              </a:ext>
            </a:extLst>
          </p:cNvPr>
          <p:cNvSpPr txBox="1"/>
          <p:nvPr/>
        </p:nvSpPr>
        <p:spPr>
          <a:xfrm>
            <a:off x="2147664" y="2466505"/>
            <a:ext cx="9923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Same rule! Just more simplifying at the end!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3E302B-6187-4617-B150-612E5A55844D}"/>
                  </a:ext>
                </a:extLst>
              </p:cNvPr>
              <p:cNvSpPr txBox="1"/>
              <p:nvPr/>
            </p:nvSpPr>
            <p:spPr>
              <a:xfrm>
                <a:off x="4076774" y="3024274"/>
                <a:ext cx="3048912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9×1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4×3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3E302B-6187-4617-B150-612E5A558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774" y="3024274"/>
                <a:ext cx="3048912" cy="8094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99BBC04-C86A-41C9-A922-B7E4CAEF1F34}"/>
                  </a:ext>
                </a:extLst>
              </p:cNvPr>
              <p:cNvSpPr/>
              <p:nvPr/>
            </p:nvSpPr>
            <p:spPr>
              <a:xfrm>
                <a:off x="8951538" y="2959552"/>
                <a:ext cx="1175322" cy="8757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AU" dirty="0"/>
                  <a:t> </a:t>
                </a:r>
                <a:r>
                  <a:rPr lang="en-AU" sz="36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60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36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99BBC04-C86A-41C9-A922-B7E4CAEF1F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1538" y="2959552"/>
                <a:ext cx="1175322" cy="875753"/>
              </a:xfrm>
              <a:prstGeom prst="rect">
                <a:avLst/>
              </a:prstGeom>
              <a:blipFill>
                <a:blip r:embed="rId4"/>
                <a:stretch>
                  <a:fillRect b="-131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4C422CB1-1268-4159-AB99-F843EDFD9511}"/>
              </a:ext>
            </a:extLst>
          </p:cNvPr>
          <p:cNvGrpSpPr/>
          <p:nvPr/>
        </p:nvGrpSpPr>
        <p:grpSpPr>
          <a:xfrm>
            <a:off x="7293472" y="3001764"/>
            <a:ext cx="1512168" cy="469448"/>
            <a:chOff x="7246540" y="2959552"/>
            <a:chExt cx="1512168" cy="469448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68E8610-B41C-4F5C-A98E-A9AA534837F3}"/>
                </a:ext>
              </a:extLst>
            </p:cNvPr>
            <p:cNvCxnSpPr/>
            <p:nvPr/>
          </p:nvCxnSpPr>
          <p:spPr>
            <a:xfrm>
              <a:off x="7246540" y="3429000"/>
              <a:ext cx="151216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03DE55A-575A-405D-95E0-F57993812186}"/>
                </a:ext>
              </a:extLst>
            </p:cNvPr>
            <p:cNvSpPr txBox="1"/>
            <p:nvPr/>
          </p:nvSpPr>
          <p:spPr>
            <a:xfrm>
              <a:off x="7246540" y="2959552"/>
              <a:ext cx="1512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simplified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FA39135-5A56-4AEA-9BAA-18785CB3A39E}"/>
              </a:ext>
            </a:extLst>
          </p:cNvPr>
          <p:cNvSpPr txBox="1"/>
          <p:nvPr/>
        </p:nvSpPr>
        <p:spPr>
          <a:xfrm>
            <a:off x="390081" y="3825097"/>
            <a:ext cx="1745771" cy="126188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sz="2000" dirty="0"/>
              <a:t>mixed fractions</a:t>
            </a:r>
            <a:endParaRPr lang="en-AU" dirty="0"/>
          </a:p>
          <a:p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D23ED3-7FBF-4E8D-9F52-21A0344E945E}"/>
              </a:ext>
            </a:extLst>
          </p:cNvPr>
          <p:cNvSpPr txBox="1"/>
          <p:nvPr/>
        </p:nvSpPr>
        <p:spPr>
          <a:xfrm>
            <a:off x="2266450" y="4208404"/>
            <a:ext cx="5616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Convert to improper fraction and follow the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74FAE6-145E-41BE-9833-6FB32C38A99D}"/>
                  </a:ext>
                </a:extLst>
              </p:cNvPr>
              <p:cNvSpPr txBox="1"/>
              <p:nvPr/>
            </p:nvSpPr>
            <p:spPr>
              <a:xfrm>
                <a:off x="3753003" y="4682255"/>
                <a:ext cx="1161921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74FAE6-145E-41BE-9833-6FB32C38A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3003" y="4682255"/>
                <a:ext cx="1161921" cy="8094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FD0C3B8-C30E-43B8-91DD-C400633C4B94}"/>
                  </a:ext>
                </a:extLst>
              </p:cNvPr>
              <p:cNvSpPr/>
              <p:nvPr/>
            </p:nvSpPr>
            <p:spPr>
              <a:xfrm>
                <a:off x="7460787" y="4671034"/>
                <a:ext cx="4728038" cy="9017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</m:t>
                          </m:r>
                        </m:num>
                        <m:den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AU" sz="28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f>
                        <m:fPr>
                          <m:ctrlP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FD0C3B8-C30E-43B8-91DD-C400633C4B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0787" y="4671034"/>
                <a:ext cx="4728038" cy="9017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690450A5-2BB7-48AF-BCB3-9A708503D249}"/>
              </a:ext>
            </a:extLst>
          </p:cNvPr>
          <p:cNvGrpSpPr/>
          <p:nvPr/>
        </p:nvGrpSpPr>
        <p:grpSpPr>
          <a:xfrm>
            <a:off x="5124239" y="4671034"/>
            <a:ext cx="1762261" cy="451029"/>
            <a:chOff x="5124239" y="4671034"/>
            <a:chExt cx="1762261" cy="451029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A085AF1-6238-4C2F-AC56-7E68594D7D83}"/>
                </a:ext>
              </a:extLst>
            </p:cNvPr>
            <p:cNvCxnSpPr/>
            <p:nvPr/>
          </p:nvCxnSpPr>
          <p:spPr>
            <a:xfrm>
              <a:off x="5124239" y="5122063"/>
              <a:ext cx="151216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8F5AFA1-27FA-4659-88B3-FB8C6E6FC4CD}"/>
                </a:ext>
              </a:extLst>
            </p:cNvPr>
            <p:cNvSpPr txBox="1"/>
            <p:nvPr/>
          </p:nvSpPr>
          <p:spPr>
            <a:xfrm>
              <a:off x="5374332" y="4671034"/>
              <a:ext cx="1512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convert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2CD079-21BC-4D0B-8031-CAFD34913B25}"/>
                  </a:ext>
                </a:extLst>
              </p:cNvPr>
              <p:cNvSpPr txBox="1"/>
              <p:nvPr/>
            </p:nvSpPr>
            <p:spPr>
              <a:xfrm>
                <a:off x="6894246" y="4712885"/>
                <a:ext cx="903324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2CD079-21BC-4D0B-8031-CAFD34913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4246" y="4712885"/>
                <a:ext cx="903324" cy="8094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7538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7" grpId="0"/>
      <p:bldP spid="5" grpId="0"/>
      <p:bldP spid="6" grpId="0"/>
      <p:bldP spid="7" grpId="0"/>
      <p:bldP spid="17" grpId="0" animBg="1"/>
      <p:bldP spid="14" grpId="0"/>
      <p:bldP spid="19" grpId="0"/>
      <p:bldP spid="15" grpId="0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Multiplying Fractions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I multiply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348864" y="1168676"/>
            <a:ext cx="1745771" cy="2369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sz="2000" dirty="0"/>
              <a:t>Improper fractions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446938F-10F6-47AE-89F8-376AD9A89EC1}"/>
              </a:ext>
            </a:extLst>
          </p:cNvPr>
          <p:cNvSpPr txBox="1"/>
          <p:nvPr/>
        </p:nvSpPr>
        <p:spPr>
          <a:xfrm>
            <a:off x="2101471" y="1201126"/>
            <a:ext cx="9923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Same rule! Just more simplifying at the end!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3E302B-6187-4617-B150-612E5A55844D}"/>
                  </a:ext>
                </a:extLst>
              </p:cNvPr>
              <p:cNvSpPr txBox="1"/>
              <p:nvPr/>
            </p:nvSpPr>
            <p:spPr>
              <a:xfrm>
                <a:off x="2809507" y="1740837"/>
                <a:ext cx="3048912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9×1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4×3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3E302B-6187-4617-B150-612E5A558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9507" y="1740837"/>
                <a:ext cx="3048912" cy="8094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99BBC04-C86A-41C9-A922-B7E4CAEF1F34}"/>
                  </a:ext>
                </a:extLst>
              </p:cNvPr>
              <p:cNvSpPr/>
              <p:nvPr/>
            </p:nvSpPr>
            <p:spPr>
              <a:xfrm>
                <a:off x="8203996" y="1822505"/>
                <a:ext cx="1175322" cy="8757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AU" dirty="0"/>
                  <a:t> </a:t>
                </a:r>
                <a:r>
                  <a:rPr lang="en-AU" sz="36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60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36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99BBC04-C86A-41C9-A922-B7E4CAEF1F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3996" y="1822505"/>
                <a:ext cx="1175322" cy="875753"/>
              </a:xfrm>
              <a:prstGeom prst="rect">
                <a:avLst/>
              </a:prstGeom>
              <a:blipFill>
                <a:blip r:embed="rId4"/>
                <a:stretch>
                  <a:fillRect b="-131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4C422CB1-1268-4159-AB99-F843EDFD9511}"/>
              </a:ext>
            </a:extLst>
          </p:cNvPr>
          <p:cNvGrpSpPr/>
          <p:nvPr/>
        </p:nvGrpSpPr>
        <p:grpSpPr>
          <a:xfrm>
            <a:off x="6130416" y="1830156"/>
            <a:ext cx="1512168" cy="469448"/>
            <a:chOff x="7246540" y="2959552"/>
            <a:chExt cx="1512168" cy="469448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68E8610-B41C-4F5C-A98E-A9AA534837F3}"/>
                </a:ext>
              </a:extLst>
            </p:cNvPr>
            <p:cNvCxnSpPr/>
            <p:nvPr/>
          </p:nvCxnSpPr>
          <p:spPr>
            <a:xfrm>
              <a:off x="7246540" y="3429000"/>
              <a:ext cx="151216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03DE55A-575A-405D-95E0-F57993812186}"/>
                </a:ext>
              </a:extLst>
            </p:cNvPr>
            <p:cNvSpPr txBox="1"/>
            <p:nvPr/>
          </p:nvSpPr>
          <p:spPr>
            <a:xfrm>
              <a:off x="7246540" y="2959552"/>
              <a:ext cx="1512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simplified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FA39135-5A56-4AEA-9BAA-18785CB3A39E}"/>
              </a:ext>
            </a:extLst>
          </p:cNvPr>
          <p:cNvSpPr txBox="1"/>
          <p:nvPr/>
        </p:nvSpPr>
        <p:spPr>
          <a:xfrm>
            <a:off x="248003" y="2555617"/>
            <a:ext cx="1381913" cy="126188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sz="2000" dirty="0"/>
              <a:t>Mixed fractions</a:t>
            </a:r>
            <a:endParaRPr lang="en-AU" dirty="0"/>
          </a:p>
          <a:p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D23ED3-7FBF-4E8D-9F52-21A0344E945E}"/>
              </a:ext>
            </a:extLst>
          </p:cNvPr>
          <p:cNvSpPr txBox="1"/>
          <p:nvPr/>
        </p:nvSpPr>
        <p:spPr>
          <a:xfrm>
            <a:off x="2195496" y="2883429"/>
            <a:ext cx="5616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Convert to improper fraction and follow the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74FAE6-145E-41BE-9833-6FB32C38A99D}"/>
                  </a:ext>
                </a:extLst>
              </p:cNvPr>
              <p:cNvSpPr txBox="1"/>
              <p:nvPr/>
            </p:nvSpPr>
            <p:spPr>
              <a:xfrm>
                <a:off x="2573804" y="3467074"/>
                <a:ext cx="1161921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74FAE6-145E-41BE-9833-6FB32C38A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3804" y="3467074"/>
                <a:ext cx="1161921" cy="8094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FD0C3B8-C30E-43B8-91DD-C400633C4B94}"/>
                  </a:ext>
                </a:extLst>
              </p:cNvPr>
              <p:cNvSpPr/>
              <p:nvPr/>
            </p:nvSpPr>
            <p:spPr>
              <a:xfrm>
                <a:off x="6255674" y="3404112"/>
                <a:ext cx="4728038" cy="9017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16</m:t>
                          </m:r>
                        </m:num>
                        <m:den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AU" sz="28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f>
                        <m:fPr>
                          <m:ctrlP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FD0C3B8-C30E-43B8-91DD-C400633C4B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5674" y="3404112"/>
                <a:ext cx="4728038" cy="9017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690450A5-2BB7-48AF-BCB3-9A708503D249}"/>
              </a:ext>
            </a:extLst>
          </p:cNvPr>
          <p:cNvGrpSpPr/>
          <p:nvPr/>
        </p:nvGrpSpPr>
        <p:grpSpPr>
          <a:xfrm>
            <a:off x="4045660" y="3485673"/>
            <a:ext cx="1762261" cy="451029"/>
            <a:chOff x="5124239" y="4671034"/>
            <a:chExt cx="1762261" cy="451029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A085AF1-6238-4C2F-AC56-7E68594D7D83}"/>
                </a:ext>
              </a:extLst>
            </p:cNvPr>
            <p:cNvCxnSpPr/>
            <p:nvPr/>
          </p:nvCxnSpPr>
          <p:spPr>
            <a:xfrm>
              <a:off x="5124239" y="5122063"/>
              <a:ext cx="151216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8F5AFA1-27FA-4659-88B3-FB8C6E6FC4CD}"/>
                </a:ext>
              </a:extLst>
            </p:cNvPr>
            <p:cNvSpPr txBox="1"/>
            <p:nvPr/>
          </p:nvSpPr>
          <p:spPr>
            <a:xfrm>
              <a:off x="5374332" y="4671034"/>
              <a:ext cx="1512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convert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2CD079-21BC-4D0B-8031-CAFD34913B25}"/>
                  </a:ext>
                </a:extLst>
              </p:cNvPr>
              <p:cNvSpPr txBox="1"/>
              <p:nvPr/>
            </p:nvSpPr>
            <p:spPr>
              <a:xfrm>
                <a:off x="5798784" y="3481681"/>
                <a:ext cx="903324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2CD079-21BC-4D0B-8031-CAFD34913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8784" y="3481681"/>
                <a:ext cx="903324" cy="8094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711A508A-9AFA-40BC-B045-AEBC967E7D99}"/>
              </a:ext>
            </a:extLst>
          </p:cNvPr>
          <p:cNvSpPr txBox="1"/>
          <p:nvPr/>
        </p:nvSpPr>
        <p:spPr>
          <a:xfrm>
            <a:off x="234110" y="4232121"/>
            <a:ext cx="1381913" cy="126188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sz="2000" dirty="0"/>
              <a:t>Whole numbers</a:t>
            </a:r>
            <a:endParaRPr lang="en-AU" dirty="0"/>
          </a:p>
          <a:p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FC1F16-B469-460B-A787-BA89A52560DB}"/>
              </a:ext>
            </a:extLst>
          </p:cNvPr>
          <p:cNvSpPr txBox="1"/>
          <p:nvPr/>
        </p:nvSpPr>
        <p:spPr>
          <a:xfrm>
            <a:off x="2349996" y="4509120"/>
            <a:ext cx="86337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Whole numbers can be written with a denominator of 1. (this is because anything divided by 1 is itself)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E4744D5-828A-4459-8484-651D1C34E378}"/>
                  </a:ext>
                </a:extLst>
              </p:cNvPr>
              <p:cNvSpPr txBox="1"/>
              <p:nvPr/>
            </p:nvSpPr>
            <p:spPr>
              <a:xfrm>
                <a:off x="2676152" y="5343993"/>
                <a:ext cx="903324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E4744D5-828A-4459-8484-651D1C34E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6152" y="5343993"/>
                <a:ext cx="903324" cy="8066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1487283F-8CB2-498B-8CEF-9DF832D9B0E6}"/>
              </a:ext>
            </a:extLst>
          </p:cNvPr>
          <p:cNvGrpSpPr/>
          <p:nvPr/>
        </p:nvGrpSpPr>
        <p:grpSpPr>
          <a:xfrm>
            <a:off x="3920613" y="5436356"/>
            <a:ext cx="1762261" cy="451029"/>
            <a:chOff x="5124239" y="4671034"/>
            <a:chExt cx="1762261" cy="451029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FE7D6EA2-5CFA-4DC8-B2C5-1C6C62278A89}"/>
                </a:ext>
              </a:extLst>
            </p:cNvPr>
            <p:cNvCxnSpPr/>
            <p:nvPr/>
          </p:nvCxnSpPr>
          <p:spPr>
            <a:xfrm>
              <a:off x="5124239" y="5122063"/>
              <a:ext cx="151216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23D2501-C857-4A19-91A1-F9AC36A554DD}"/>
                </a:ext>
              </a:extLst>
            </p:cNvPr>
            <p:cNvSpPr txBox="1"/>
            <p:nvPr/>
          </p:nvSpPr>
          <p:spPr>
            <a:xfrm>
              <a:off x="5374332" y="4671034"/>
              <a:ext cx="1512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convert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8409744-D0C5-4F5A-9F9F-1F14BDDE323F}"/>
                  </a:ext>
                </a:extLst>
              </p:cNvPr>
              <p:cNvSpPr txBox="1"/>
              <p:nvPr/>
            </p:nvSpPr>
            <p:spPr>
              <a:xfrm>
                <a:off x="5594124" y="5357162"/>
                <a:ext cx="903324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8409744-D0C5-4F5A-9F9F-1F14BDDE3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4124" y="5357162"/>
                <a:ext cx="903324" cy="8066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EC82B3B-4C58-414A-B7D4-22C80A561D2C}"/>
                  </a:ext>
                </a:extLst>
              </p:cNvPr>
              <p:cNvSpPr/>
              <p:nvPr/>
            </p:nvSpPr>
            <p:spPr>
              <a:xfrm>
                <a:off x="6163318" y="5354795"/>
                <a:ext cx="4728038" cy="8989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8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f>
                        <m:fPr>
                          <m:ctrlP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8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f>
                        <m:fPr>
                          <m:ctrlP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EC82B3B-4C58-414A-B7D4-22C80A561D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3318" y="5354795"/>
                <a:ext cx="4728038" cy="89896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5057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  <p:bldP spid="17" grpId="0" animBg="1"/>
      <p:bldP spid="14" grpId="0"/>
      <p:bldP spid="19" grpId="0"/>
      <p:bldP spid="15" grpId="0"/>
      <p:bldP spid="24" grpId="0"/>
      <p:bldP spid="25" grpId="0" animBg="1"/>
      <p:bldP spid="26" grpId="0"/>
      <p:bldP spid="30" grpId="0"/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C5C1B-CDC0-4AD9-9418-3B5C032CF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7948" y="343684"/>
            <a:ext cx="3733058" cy="762000"/>
          </a:xfrm>
        </p:spPr>
        <p:txBody>
          <a:bodyPr/>
          <a:lstStyle/>
          <a:p>
            <a:r>
              <a:rPr lang="en-AU" dirty="0"/>
              <a:t>Practice Time!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17DEEE-AEAB-4E74-91CD-31CB2050AB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90556" y="343684"/>
            <a:ext cx="4645152" cy="762000"/>
          </a:xfrm>
        </p:spPr>
        <p:txBody>
          <a:bodyPr/>
          <a:lstStyle/>
          <a:p>
            <a:r>
              <a:rPr lang="en-AU" dirty="0"/>
              <a:t>On your left hand side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1DAEC8-F728-48BB-8A6D-1191340104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374382" y="116632"/>
            <a:ext cx="1661326" cy="23660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9B14ABCD-1FD0-4FF4-8095-B012BFF994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0569914"/>
                  </p:ext>
                </p:extLst>
              </p:nvPr>
            </p:nvGraphicFramePr>
            <p:xfrm>
              <a:off x="1269876" y="1556792"/>
              <a:ext cx="8280920" cy="460851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140460">
                      <a:extLst>
                        <a:ext uri="{9D8B030D-6E8A-4147-A177-3AD203B41FA5}">
                          <a16:colId xmlns:a16="http://schemas.microsoft.com/office/drawing/2014/main" val="48837466"/>
                        </a:ext>
                      </a:extLst>
                    </a:gridCol>
                    <a:gridCol w="4140460">
                      <a:extLst>
                        <a:ext uri="{9D8B030D-6E8A-4147-A177-3AD203B41FA5}">
                          <a16:colId xmlns:a16="http://schemas.microsoft.com/office/drawing/2014/main" val="2221717847"/>
                        </a:ext>
                      </a:extLst>
                    </a:gridCol>
                  </a:tblGrid>
                  <a:tr h="230425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  <m:r>
                                  <a:rPr lang="en-AU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  <m:r>
                                  <a:rPr lang="en-AU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b="0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6960167"/>
                      </a:ext>
                    </a:extLst>
                  </a:tr>
                  <a:tr h="230425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AU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𝟔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en-AU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394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9B14ABCD-1FD0-4FF4-8095-B012BFF994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0569914"/>
                  </p:ext>
                </p:extLst>
              </p:nvPr>
            </p:nvGraphicFramePr>
            <p:xfrm>
              <a:off x="1269876" y="1556792"/>
              <a:ext cx="8280920" cy="460851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140460">
                      <a:extLst>
                        <a:ext uri="{9D8B030D-6E8A-4147-A177-3AD203B41FA5}">
                          <a16:colId xmlns:a16="http://schemas.microsoft.com/office/drawing/2014/main" val="48837466"/>
                        </a:ext>
                      </a:extLst>
                    </a:gridCol>
                    <a:gridCol w="4140460">
                      <a:extLst>
                        <a:ext uri="{9D8B030D-6E8A-4147-A177-3AD203B41FA5}">
                          <a16:colId xmlns:a16="http://schemas.microsoft.com/office/drawing/2014/main" val="2221717847"/>
                        </a:ext>
                      </a:extLst>
                    </a:gridCol>
                  </a:tblGrid>
                  <a:tr h="23042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7" t="-264" r="-100441" b="-1002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5" t="-264" r="-589" b="-1002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6960167"/>
                      </a:ext>
                    </a:extLst>
                  </a:tr>
                  <a:tr h="23042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7" t="-100529" r="-100441" b="-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5" t="-100529" r="-589" b="-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394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80226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3529A8E-3990-4D9B-B02C-4639E4037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61964" y="1412776"/>
            <a:ext cx="6876254" cy="3352800"/>
          </a:xfrm>
        </p:spPr>
        <p:txBody>
          <a:bodyPr/>
          <a:lstStyle/>
          <a:p>
            <a:pPr marL="0" indent="0">
              <a:buNone/>
            </a:pPr>
            <a:r>
              <a:rPr lang="en-AU" dirty="0">
                <a:hlinkClick r:id="rId2"/>
              </a:rPr>
              <a:t>https://youtu.be/4ghdMifXuFE</a:t>
            </a:r>
            <a:r>
              <a:rPr lang="en-A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34840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4D50F-FB72-48C0-AC6D-C00ACD108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9797" y="239688"/>
            <a:ext cx="4645152" cy="762000"/>
          </a:xfrm>
        </p:spPr>
        <p:txBody>
          <a:bodyPr>
            <a:normAutofit/>
          </a:bodyPr>
          <a:lstStyle/>
          <a:p>
            <a:r>
              <a:rPr lang="en-AU" sz="3600" dirty="0">
                <a:solidFill>
                  <a:srgbClr val="0070C0"/>
                </a:solidFill>
              </a:rPr>
              <a:t>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96F3E1-D301-4296-9EE4-088E1ACB1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7788" y="1643844"/>
            <a:ext cx="11639028" cy="3570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dirty="0"/>
              <a:t>To multiply fractions we need to first _______________________, then we need to ________________________. The final step would be to ______________________.</a:t>
            </a:r>
          </a:p>
        </p:txBody>
      </p:sp>
    </p:spTree>
    <p:extLst>
      <p:ext uri="{BB962C8B-B14F-4D97-AF65-F5344CB8AC3E}">
        <p14:creationId xmlns:p14="http://schemas.microsoft.com/office/powerpoint/2010/main" val="2863838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atercolor_16x9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0001016.potx" id="{8AD53B0B-FC02-4342-9C97-FCB4E3E31C20}" vid="{17FAF719-7E74-4133-9EF7-340AA294087B}"/>
    </a:ext>
  </a:extLst>
</a:theme>
</file>

<file path=ppt/theme/theme2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Watercolor presentation (widescreen)</Template>
  <TotalTime>7387</TotalTime>
  <Words>534</Words>
  <Application>Microsoft Office PowerPoint</Application>
  <PresentationFormat>Custom</PresentationFormat>
  <Paragraphs>116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Cambria Math</vt:lpstr>
      <vt:lpstr>Palatino Linotype</vt:lpstr>
      <vt:lpstr>Watercolor_16x9</vt:lpstr>
      <vt:lpstr>Topic: Multiplying Fractions</vt:lpstr>
      <vt:lpstr>Warm Up Questions:</vt:lpstr>
      <vt:lpstr>Topic: Multiplying Fractions</vt:lpstr>
      <vt:lpstr>Topic: Multiplying Fractions</vt:lpstr>
      <vt:lpstr>Topic: Multiplying Fractions</vt:lpstr>
      <vt:lpstr>Practice Time! </vt:lpstr>
      <vt:lpstr>Topic: Multiplying Fractions</vt:lpstr>
      <vt:lpstr>Topic: Multiplying Fractions</vt:lpstr>
      <vt:lpstr>Practice Time!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</dc:title>
  <dc:creator>LATHAM Alexandria [Baldivis Secondary College]</dc:creator>
  <cp:lastModifiedBy>LATHAM Alexandria [Baldivis Secondary College]</cp:lastModifiedBy>
  <cp:revision>43</cp:revision>
  <dcterms:created xsi:type="dcterms:W3CDTF">2018-07-29T09:37:46Z</dcterms:created>
  <dcterms:modified xsi:type="dcterms:W3CDTF">2018-09-04T04:20:49Z</dcterms:modified>
</cp:coreProperties>
</file>
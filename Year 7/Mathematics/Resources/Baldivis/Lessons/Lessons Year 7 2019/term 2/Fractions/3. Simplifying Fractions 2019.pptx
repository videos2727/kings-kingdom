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75" r:id="rId3"/>
    <p:sldId id="261" r:id="rId4"/>
    <p:sldId id="269" r:id="rId5"/>
    <p:sldId id="268" r:id="rId6"/>
    <p:sldId id="263" r:id="rId7"/>
    <p:sldId id="264" r:id="rId8"/>
    <p:sldId id="265" r:id="rId9"/>
    <p:sldId id="276" r:id="rId10"/>
    <p:sldId id="279" r:id="rId11"/>
    <p:sldId id="278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3DC6A-6C43-496B-9F21-70B067E92827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667CF-0641-4706-A1E4-82E8C04DD7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23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9786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2 pieces become 8, which is four times greater.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each piece becomes 4 times smaller.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fraction 8/20 is the same size as the fraction 2/5.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08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15 pieces become 3, which is five times smaller.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size of each piece becomes 5 times greater. </a:t>
            </a:r>
          </a:p>
          <a:p>
            <a:pPr marL="228600" indent="-228600">
              <a:buAutoNum type="arabicPeriod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fraction 15/20 is the same size as the fraction 3/4.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2156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all these fractions are equivalent to one half, the denominator must be two times greater than the numerator.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given the numerator, it must be multiplied by two to find the denominator.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given the denominator, it must be divided by two to find the numerator. </a:t>
            </a:r>
          </a:p>
          <a:p>
            <a:pPr marL="628650" lvl="1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the multiplicative comparison of the numerator and denominator can be used to quickly identify equivalent forms of other unit fractions.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5400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all fractions equivalent to one third, the denominator must be three times greater than the numerator.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851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838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30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59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Explain that this is the multiplicative relationship between the numerator and denominator and can be used to identify fractions that are equivalent to one half.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80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0DD7-978A-41EE-ABC4-B7A02EE90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EEAE6-820E-4893-811A-C30172913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A4551-4D44-417A-84AE-7313FFC4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57A8E-7926-4DB9-BB75-357FA74A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1548A-FC8E-4E12-BAC4-8989A410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217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693D-F63C-476F-9471-850DB120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8196E-BDFB-4D4D-889B-F7A118C4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B9C53-C061-4F8A-AAFA-538E97167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6ED6C-72AE-4D02-8009-86B65FDC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CBAE8-26D7-4674-BE29-FE41356F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536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D122-9F8B-4A5B-9AB5-3CA172BF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28DF3-DC15-40F8-95D2-6D57813A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BB0BA-0B25-4EE9-A762-6F2C6837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9F2D4-3149-4990-AC6F-5908A36AA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D1046-02CF-4DFE-AC20-7D0A52EA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092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60B50-8E52-4CAB-9D09-C9A21E83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AA1E-CBAF-4AA2-8006-F98D96368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C5A62-D485-43E8-A3E2-BC98CDD7E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4E6F8-4737-4DCE-BFEA-1B029D28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5F3A0-927C-4CAB-AD50-F7051065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392A5-758E-43B8-BD63-A78E0FF3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203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BEB75-2167-419E-ADB6-5612FD99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532F2-09F5-4A79-B18E-B75B2425C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3A417-CC08-4FC9-B8E1-BA2337A58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438DB-EEE8-47B2-86BD-F490B9B4E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9B7B8-A439-4605-B78B-E25D46879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D6093-071E-477A-8D8B-DF15AE13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E8460-5B79-4116-B290-820410A6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EBA85-5D71-4EBA-873D-01D88E5C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4984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CE23-8FE9-43AC-B53E-0514BB24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1A682-1F3B-4F2B-92B1-4DA2DB6B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615C50-4913-4122-B8C6-476CEC8E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68A4E-0F6F-4223-BE57-97F31494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50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BB572-AAB4-485D-8BB5-66BFDBA1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D507B6-6735-471F-A8F7-0CA78CDD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55273-9DB8-4197-8E2D-62FFAD89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2427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E648-CA70-475C-8BFE-2DB53EF3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D889-8E02-44EB-A2C7-9167F442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C4EDE-1D53-4B5B-9DB3-4CA88F284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3761-5B02-40AD-BEE0-9FF754DC3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6FE4A-1042-413D-A05B-AEEE5439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039D3-168E-4814-A285-9EE88B62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935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B072-CEC4-4822-9845-04368867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A2AB6-D823-472D-9F92-A082C4CC0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E483A-7E43-48B8-A916-B14D52BA1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A2429-F8B8-4430-8941-FC26AEDC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DB2E2-30C4-49B1-B81F-D0ED724F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58CC5-0040-4DD5-BDA8-E64129D9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40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C097-D24E-457F-BBDF-90EEFF70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40064-B0AE-46EF-A93E-BFBE18A4F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E4632-72A0-46D1-B23F-947C59DA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08DB8-05CD-484A-87CC-E97ACE77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BB804-77D0-4BAC-98E9-5E0ABDD6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04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DA4-C899-4206-8779-9C1495262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68022-55D1-4769-904B-0561F4F0B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B2F10-D79A-4595-94C7-03346C25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7591B-2349-4A7E-BC26-EE222C71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F2139-C26A-4A45-8531-5F04228E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618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5628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73534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48957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87332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4343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20FC5-1ACB-45B9-B567-BAF06794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AA972-A91D-4D69-894F-92E1AC06F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DD66D-B450-4AEB-8704-456AA1E06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8800A-C93C-455C-A737-A32761BB50CA}" type="datetimeFigureOut">
              <a:rPr lang="en-AU" smtClean="0"/>
              <a:t>30/05/2019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CFEA8-3313-41E8-BFED-C5CC3CC20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89CDD-F1BB-493C-9532-5FE84C1A0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24603-F0F6-4479-8DF4-7C2AB6BAEE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41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Mrs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732180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B67BF-640F-4561-9AF5-99FFD208AAFD}"/>
              </a:ext>
            </a:extLst>
          </p:cNvPr>
          <p:cNvSpPr txBox="1"/>
          <p:nvPr/>
        </p:nvSpPr>
        <p:spPr>
          <a:xfrm>
            <a:off x="792185" y="3425701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5A098-B765-4F38-8E57-6FF8B3DD7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737" y="1673630"/>
            <a:ext cx="11136526" cy="3181436"/>
          </a:xfrm>
        </p:spPr>
        <p:txBody>
          <a:bodyPr/>
          <a:lstStyle/>
          <a:p>
            <a:r>
              <a:rPr lang="en-AU" dirty="0"/>
              <a:t>Fraction = 26/50       Decimal = _________   Percentage = ________</a:t>
            </a:r>
          </a:p>
          <a:p>
            <a:r>
              <a:rPr lang="en-AU" dirty="0"/>
              <a:t>Are the following fractions equivalent?  4/8 = 16/32 </a:t>
            </a:r>
          </a:p>
          <a:p>
            <a:r>
              <a:rPr lang="en-AU" dirty="0"/>
              <a:t>What is the area of a square 6 cm by 6 cm?</a:t>
            </a:r>
          </a:p>
          <a:p>
            <a:r>
              <a:rPr lang="en-AU" dirty="0"/>
              <a:t>What is half of 1/4 ?</a:t>
            </a:r>
          </a:p>
          <a:p>
            <a:r>
              <a:rPr lang="en-AU" dirty="0"/>
              <a:t>  </a:t>
            </a:r>
          </a:p>
          <a:p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075506-1356-427C-931F-B67CBDBFDB0D}"/>
              </a:ext>
            </a:extLst>
          </p:cNvPr>
          <p:cNvSpPr txBox="1">
            <a:spLocks/>
          </p:cNvSpPr>
          <p:nvPr/>
        </p:nvSpPr>
        <p:spPr>
          <a:xfrm>
            <a:off x="369761" y="387927"/>
            <a:ext cx="9446339" cy="74814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r>
              <a:rPr lang="en-AU" sz="4000" b="1">
                <a:solidFill>
                  <a:schemeClr val="tx1"/>
                </a:solidFill>
                <a:latin typeface="Fragment Core" panose="02000504040000020003" pitchFamily="50" charset="0"/>
              </a:rPr>
              <a:t>Simplifying Fractions</a:t>
            </a:r>
            <a:endParaRPr lang="en-AU" sz="40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48421-430E-494A-A99D-A6175C0C6368}"/>
              </a:ext>
            </a:extLst>
          </p:cNvPr>
          <p:cNvSpPr txBox="1"/>
          <p:nvPr/>
        </p:nvSpPr>
        <p:spPr>
          <a:xfrm>
            <a:off x="369761" y="109938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latin typeface="Fragment Core" panose="02000504040000020003" pitchFamily="50" charset="0"/>
              </a:rPr>
              <a:t>EQ – How do we simplify fractions?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D4DCB6-81DB-4009-B72D-8F07CD79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84" y="3726353"/>
            <a:ext cx="92773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3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/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Consider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800" u="none" strike="noStrike" baseline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. </a:t>
                </a:r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If the numerator and denominator of the fraction are multiplied by 4, what happens to the: </a:t>
                </a:r>
              </a:p>
              <a:p>
                <a:endParaRPr lang="en-GB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number of pieces?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each piece?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the fraction?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  <a:blipFill>
                <a:blip r:embed="rId3"/>
                <a:stretch>
                  <a:fillRect l="-1260" r="-2079" b="-25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901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/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Consider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GB" sz="2800" u="none" strike="noStrike" baseline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. </a:t>
                </a:r>
                <a:r>
                  <a:rPr lang="en-GB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If the numerator and denominator of the fraction are divided by 5, what happens to the: </a:t>
                </a:r>
              </a:p>
              <a:p>
                <a:endParaRPr lang="en-GB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number of pieces?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each piece?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size of the fraction?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FAC931-517C-4865-917A-F508A330D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88477"/>
                <a:ext cx="9671050" cy="4770537"/>
              </a:xfrm>
              <a:prstGeom prst="rect">
                <a:avLst/>
              </a:prstGeom>
              <a:blipFill>
                <a:blip r:embed="rId3"/>
                <a:stretch>
                  <a:fillRect l="-1260" r="-126" b="-26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79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1345" y="1493244"/>
                <a:ext cx="11790474" cy="4884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𝟓𝟎𝟎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</m:den>
                      </m:f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𝟏𝟕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𝟓𝟏</m:t>
                          </m:r>
                        </m:den>
                      </m:f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</m:den>
                      </m:f>
                    </m:oMath>
                  </m:oMathPara>
                </a14:m>
                <a:endParaRPr lang="en-US" sz="2399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endParaRPr lang="en-AU" dirty="0"/>
              </a:p>
              <a:p>
                <a:r>
                  <a:rPr lang="en-GB" sz="2800" dirty="0"/>
                  <a:t>Which fraction is not equivalent to one half? Explain your reasoning.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𝟓𝟏</m:t>
                        </m:r>
                      </m:den>
                    </m:f>
                  </m:oMath>
                </a14:m>
                <a:r>
                  <a:rPr lang="en-GB" sz="2400" i="1" dirty="0">
                    <a:solidFill>
                      <a:srgbClr val="FF0000"/>
                    </a:solidFill>
                  </a:rPr>
                  <a:t> is not equivalent to one half because 51 is not two times greater than 17. </a:t>
                </a:r>
              </a:p>
              <a:p>
                <a:endParaRPr lang="en-AU" dirty="0"/>
              </a:p>
              <a:p>
                <a:endParaRPr lang="en-GB" sz="2800" dirty="0"/>
              </a:p>
              <a:p>
                <a:r>
                  <a:rPr lang="en-GB" sz="2800" dirty="0"/>
                  <a:t>How many fractions have the same value as one half? Explain your reasoning. 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GB" sz="2400" i="1" dirty="0">
                    <a:solidFill>
                      <a:srgbClr val="FF0000"/>
                    </a:solidFill>
                  </a:rPr>
                  <a:t>There is an infinite number. Any fraction is equivalent to one half as long as the denominator is two times greater than the numerator.</a:t>
                </a:r>
              </a:p>
              <a:p>
                <a:pPr defTabSz="914126"/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5" y="1493244"/>
                <a:ext cx="11790474" cy="4884799"/>
              </a:xfrm>
              <a:prstGeom prst="rect">
                <a:avLst/>
              </a:prstGeo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39F1ED6-B101-4E86-845B-B594F7D4AD87}"/>
                  </a:ext>
                </a:extLst>
              </p:cNvPr>
              <p:cNvSpPr/>
              <p:nvPr/>
            </p:nvSpPr>
            <p:spPr>
              <a:xfrm>
                <a:off x="612076" y="1973498"/>
                <a:ext cx="10967847" cy="1543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/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den>
                      </m:f>
                      <m:r>
                        <a:rPr lang="en-AU" sz="4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/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AU" sz="4800" b="1" i="1"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/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𝟕𝟎𝟒</m:t>
                          </m:r>
                        </m:den>
                      </m:f>
                      <m:r>
                        <a:rPr lang="en-AU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1" i="1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AU" sz="4800" b="1" i="1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num>
                        <m:den/>
                      </m:f>
                    </m:oMath>
                  </m:oMathPara>
                </a14:m>
                <a:endParaRPr lang="en-AU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39F1ED6-B101-4E86-845B-B594F7D4AD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76" y="1973498"/>
                <a:ext cx="10967847" cy="1543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E504441-54D8-42DD-9D91-655797B8D2DC}"/>
              </a:ext>
            </a:extLst>
          </p:cNvPr>
          <p:cNvSpPr/>
          <p:nvPr/>
        </p:nvSpPr>
        <p:spPr>
          <a:xfrm>
            <a:off x="1712842" y="4487279"/>
            <a:ext cx="87663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GB" sz="3600" dirty="0">
                <a:solidFill>
                  <a:schemeClr val="accent6">
                    <a:lumMod val="75000"/>
                  </a:schemeClr>
                </a:solidFill>
              </a:rPr>
              <a:t>ow would you work out the missing numbers in this equation? </a:t>
            </a: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065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/>
              <p:nvPr/>
            </p:nvSpPr>
            <p:spPr>
              <a:xfrm>
                <a:off x="518722" y="840840"/>
                <a:ext cx="10275173" cy="50885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3200" dirty="0">
                    <a:solidFill>
                      <a:srgbClr val="000000"/>
                    </a:solidFill>
                  </a:rPr>
                  <a:t>W</a:t>
                </a:r>
                <a:r>
                  <a:rPr lang="en-GB" sz="3200" dirty="0">
                    <a:solidFill>
                      <a:srgbClr val="000000"/>
                    </a:solidFill>
                  </a:rPr>
                  <a:t>ork in pairs to write five fractions, with </a:t>
                </a:r>
                <a:r>
                  <a:rPr lang="en-GB" sz="3200" i="1" u="sng" dirty="0">
                    <a:solidFill>
                      <a:srgbClr val="000000"/>
                    </a:solidFill>
                  </a:rPr>
                  <a:t>four fractions </a:t>
                </a:r>
                <a:r>
                  <a:rPr lang="en-GB" sz="3200" dirty="0">
                    <a:solidFill>
                      <a:srgbClr val="000000"/>
                    </a:solidFill>
                  </a:rPr>
                  <a:t>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32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sz="3200" dirty="0">
                  <a:solidFill>
                    <a:srgbClr val="00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GB" sz="3200" dirty="0">
                  <a:solidFill>
                    <a:srgbClr val="00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3200" dirty="0">
                    <a:solidFill>
                      <a:srgbClr val="000000"/>
                    </a:solidFill>
                  </a:rPr>
                  <a:t>Swap your fractions with another pair of students to identify the fraction that is not equivalent. </a:t>
                </a:r>
              </a:p>
              <a:p>
                <a:r>
                  <a:rPr lang="en-GB" sz="3200" dirty="0">
                    <a:solidFill>
                      <a:srgbClr val="000000"/>
                    </a:solidFill>
                  </a:rPr>
                  <a:t> </a:t>
                </a:r>
              </a:p>
              <a:p>
                <a:endParaRPr lang="en-AU" dirty="0"/>
              </a:p>
              <a:p>
                <a:pPr algn="ctr"/>
                <a:r>
                  <a:rPr lang="en-GB" sz="2800" i="1" dirty="0">
                    <a:solidFill>
                      <a:srgbClr val="0070C0"/>
                    </a:solidFill>
                  </a:rPr>
                  <a:t>What is the multiplicative relationship between the numerator and the denominator of all fractions that are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sz="2800" i="1" dirty="0">
                    <a:solidFill>
                      <a:srgbClr val="0070C0"/>
                    </a:solidFill>
                  </a:rPr>
                  <a:t>? </a:t>
                </a:r>
                <a:endParaRPr lang="en-GB" sz="2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BCD0614-3AD5-4DCE-9465-0265FF9B8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22" y="840840"/>
                <a:ext cx="10275173" cy="5088573"/>
              </a:xfrm>
              <a:prstGeom prst="rect">
                <a:avLst/>
              </a:prstGeom>
              <a:blipFill>
                <a:blip r:embed="rId3"/>
                <a:stretch>
                  <a:fillRect l="-1542" t="-1916" b="-7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F82E5DB7-4546-496A-9A25-B83AB481E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895" y="4918586"/>
            <a:ext cx="892277" cy="89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FDAE5-3F4D-4EE1-9560-B94317E91589}"/>
              </a:ext>
            </a:extLst>
          </p:cNvPr>
          <p:cNvSpPr txBox="1"/>
          <p:nvPr/>
        </p:nvSpPr>
        <p:spPr>
          <a:xfrm>
            <a:off x="10695974" y="5877248"/>
            <a:ext cx="1088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</a:t>
            </a:r>
            <a:r>
              <a:rPr lang="en-AU" sz="2400" b="1" dirty="0">
                <a:solidFill>
                  <a:srgbClr val="FF0000"/>
                </a:solidFill>
              </a:rPr>
              <a:t>IC</a:t>
            </a:r>
            <a:r>
              <a:rPr lang="en-AU" sz="2400" b="1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86FBE07-15F7-44B1-B008-454DBE0EC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9253"/>
            <a:ext cx="12192000" cy="347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9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3844E1-9E9F-4327-811A-2367F34AAEC5}"/>
              </a:ext>
            </a:extLst>
          </p:cNvPr>
          <p:cNvSpPr txBox="1"/>
          <p:nvPr/>
        </p:nvSpPr>
        <p:spPr>
          <a:xfrm>
            <a:off x="191345" y="1482332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/>
              <a:t>How can we simplify this fraction?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6B03C0-C6C8-4DFA-B7F3-B254A869CD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162"/>
          <a:stretch/>
        </p:blipFill>
        <p:spPr>
          <a:xfrm>
            <a:off x="577502" y="2125355"/>
            <a:ext cx="1248203" cy="22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6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819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Simplifying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simplify fractions?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10B1CC9-ADD9-45F6-BE99-D41A897B4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77" y="2125355"/>
            <a:ext cx="1715041" cy="24147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3844E1-9E9F-4327-811A-2367F34AAEC5}"/>
              </a:ext>
            </a:extLst>
          </p:cNvPr>
          <p:cNvSpPr txBox="1"/>
          <p:nvPr/>
        </p:nvSpPr>
        <p:spPr>
          <a:xfrm>
            <a:off x="191345" y="1482332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/>
              <a:t>How can we simplify this fraction?</a:t>
            </a:r>
          </a:p>
        </p:txBody>
      </p:sp>
    </p:spTree>
    <p:extLst>
      <p:ext uri="{BB962C8B-B14F-4D97-AF65-F5344CB8AC3E}">
        <p14:creationId xmlns:p14="http://schemas.microsoft.com/office/powerpoint/2010/main" val="180897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6566F1-9A25-4543-8C03-8893E64C1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886"/>
            <a:ext cx="12192000" cy="277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9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3D4910-3179-423E-B257-DED7F385C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12"/>
            <a:ext cx="12192000" cy="28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0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640</Words>
  <Application>Microsoft Office PowerPoint</Application>
  <PresentationFormat>Widescreen</PresentationFormat>
  <Paragraphs>98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Fragment Core</vt:lpstr>
      <vt:lpstr>Office Theme</vt:lpstr>
      <vt:lpstr>Simplifying Fractions</vt:lpstr>
      <vt:lpstr>PowerPoint Presentation</vt:lpstr>
      <vt:lpstr>From Last Lesson</vt:lpstr>
      <vt:lpstr>From Last Lesson</vt:lpstr>
      <vt:lpstr>PowerPoint Presentation</vt:lpstr>
      <vt:lpstr>Practice</vt:lpstr>
      <vt:lpstr>Task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Simplifying Fractions</dc:title>
  <dc:creator>STRETCH Nine [Baldivis Secondary College]</dc:creator>
  <cp:lastModifiedBy>STRETCH Nine [Baldivis Secondary College]</cp:lastModifiedBy>
  <cp:revision>7</cp:revision>
  <dcterms:created xsi:type="dcterms:W3CDTF">2019-05-28T09:20:45Z</dcterms:created>
  <dcterms:modified xsi:type="dcterms:W3CDTF">2019-05-30T07:00:58Z</dcterms:modified>
</cp:coreProperties>
</file>
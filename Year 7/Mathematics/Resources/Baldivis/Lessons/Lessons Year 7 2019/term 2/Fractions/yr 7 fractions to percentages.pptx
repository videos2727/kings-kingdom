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"/>
  </p:notesMasterIdLst>
  <p:sldIdLst>
    <p:sldId id="256" r:id="rId2"/>
    <p:sldId id="268" r:id="rId3"/>
    <p:sldId id="270" r:id="rId4"/>
    <p:sldId id="27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D7AA1-67E6-4B9C-B95A-53AB554C5C51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832E7-78E6-4BF3-B4AA-FDE66D9DE6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915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can simplify them</a:t>
            </a:r>
            <a:r>
              <a:rPr lang="en-AU" baseline="0" dirty="0"/>
              <a:t> to ½ and ¾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284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1a. 86%	1b.</a:t>
            </a:r>
            <a:r>
              <a:rPr lang="en-AU" baseline="0" dirty="0"/>
              <a:t> 20%	2a. 120/100=12/10=6/5=1 1/5           2b. 180/100=18/10=9/5=1 4/5             2c. 237/100=2 37/100 	2d. 401/100=4 1/100	2e. 175/100=35/20=7/4=1 ¾</a:t>
            </a:r>
          </a:p>
          <a:p>
            <a:r>
              <a:rPr lang="en-AU" baseline="0" dirty="0"/>
              <a:t>2f. 110/100=11/10=1 1/10	2g. 316/100=79/25=3 4/25	2h. 840/100=84/10=8 4/10=8 2/5</a:t>
            </a:r>
          </a:p>
          <a:p>
            <a:r>
              <a:rPr lang="en-AU" baseline="0" dirty="0"/>
              <a:t>3a. ¾	3b. 75%	3c. ¼	3d. 25%</a:t>
            </a:r>
          </a:p>
          <a:p>
            <a:r>
              <a:rPr lang="en-AU" baseline="0" dirty="0"/>
              <a:t>4. 12.5%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8706C7-F2C3-48B6-8A22-C484D800B5D4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166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5885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59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720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9083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58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240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318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4768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2200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12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4008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907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8930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58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308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529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2F3BA-F131-4EF1-A722-7BC1831C05F2}" type="datetimeFigureOut">
              <a:rPr lang="en-AU" smtClean="0"/>
              <a:t>13/05/2019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73E641F-8F9B-475E-AA5A-74D4A2901E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304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4B1825-4501-4F04-9722-7AE38C407FCE}"/>
                  </a:ext>
                </a:extLst>
              </p:cNvPr>
              <p:cNvSpPr txBox="1"/>
              <p:nvPr/>
            </p:nvSpPr>
            <p:spPr>
              <a:xfrm>
                <a:off x="1862666" y="859600"/>
                <a:ext cx="9369778" cy="4085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Convert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into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decimal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then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percentage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AU" b="0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Find the area of this parallelogram.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r>
                  <a:rPr lang="en-AU" dirty="0"/>
                  <a:t>3. What is the value of 5</a:t>
                </a:r>
                <a:r>
                  <a:rPr lang="en-AU" baseline="30000" dirty="0"/>
                  <a:t>2</a:t>
                </a: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pPr marL="342900" indent="-342900">
                  <a:buAutoNum type="arabicPeriod" startAt="4"/>
                </a:pPr>
                <a:r>
                  <a:rPr lang="en-AU" dirty="0"/>
                  <a:t>How do I find 12% of $50</a:t>
                </a:r>
              </a:p>
              <a:p>
                <a:pPr marL="342900" indent="-342900">
                  <a:buAutoNum type="arabicPeriod" startAt="4"/>
                </a:pPr>
                <a:endParaRPr lang="en-AU" dirty="0"/>
              </a:p>
              <a:p>
                <a:pPr marL="342900" indent="-342900">
                  <a:buAutoNum type="arabicPeriod" startAt="4"/>
                </a:pPr>
                <a:endParaRPr lang="en-AU" dirty="0"/>
              </a:p>
              <a:p>
                <a:pPr marL="342900" indent="-342900">
                  <a:buAutoNum type="arabicPeriod" startAt="4"/>
                </a:pPr>
                <a:endParaRPr lang="en-AU" dirty="0"/>
              </a:p>
              <a:p>
                <a:r>
                  <a:rPr lang="en-AU" dirty="0"/>
                  <a:t>5.  If I travel at 80km/hr, how far would I go in 15 minutes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D4B1825-4501-4F04-9722-7AE38C407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666" y="859600"/>
                <a:ext cx="9369778" cy="4085477"/>
              </a:xfrm>
              <a:prstGeom prst="rect">
                <a:avLst/>
              </a:prstGeom>
              <a:blipFill>
                <a:blip r:embed="rId2"/>
                <a:stretch>
                  <a:fillRect l="-586" b="-13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arallelogram 4">
            <a:extLst>
              <a:ext uri="{FF2B5EF4-FFF2-40B4-BE49-F238E27FC236}">
                <a16:creationId xmlns:a16="http://schemas.microsoft.com/office/drawing/2014/main" id="{A6CB6470-7FC1-4216-9833-A04B1138E95A}"/>
              </a:ext>
            </a:extLst>
          </p:cNvPr>
          <p:cNvSpPr/>
          <p:nvPr/>
        </p:nvSpPr>
        <p:spPr>
          <a:xfrm>
            <a:off x="7936089" y="1591689"/>
            <a:ext cx="3296355" cy="1320800"/>
          </a:xfrm>
          <a:prstGeom prst="parallelogram">
            <a:avLst>
              <a:gd name="adj" fmla="val 4038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D4F7B-E9E7-478F-AD2B-C7F858F157D8}"/>
              </a:ext>
            </a:extLst>
          </p:cNvPr>
          <p:cNvSpPr txBox="1"/>
          <p:nvPr/>
        </p:nvSpPr>
        <p:spPr>
          <a:xfrm>
            <a:off x="9358488" y="1226445"/>
            <a:ext cx="112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15mm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AE868-0E96-4EE8-8E0C-95C13D2BBC8F}"/>
              </a:ext>
            </a:extLst>
          </p:cNvPr>
          <p:cNvSpPr txBox="1"/>
          <p:nvPr/>
        </p:nvSpPr>
        <p:spPr>
          <a:xfrm rot="17497687">
            <a:off x="7546620" y="1996002"/>
            <a:ext cx="112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E5646F-2FC9-4E1F-B1A5-065290976C49}"/>
              </a:ext>
            </a:extLst>
          </p:cNvPr>
          <p:cNvSpPr txBox="1"/>
          <p:nvPr/>
        </p:nvSpPr>
        <p:spPr>
          <a:xfrm rot="16200000">
            <a:off x="7792461" y="1996002"/>
            <a:ext cx="112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5mm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7899E5-9544-4D8F-9941-BDB801D60807}"/>
              </a:ext>
            </a:extLst>
          </p:cNvPr>
          <p:cNvCxnSpPr>
            <a:cxnSpLocks/>
          </p:cNvCxnSpPr>
          <p:nvPr/>
        </p:nvCxnSpPr>
        <p:spPr>
          <a:xfrm flipV="1">
            <a:off x="8490774" y="1591733"/>
            <a:ext cx="9759" cy="1320756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67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43345" y="273428"/>
            <a:ext cx="10821642" cy="1112058"/>
          </a:xfrm>
        </p:spPr>
        <p:txBody>
          <a:bodyPr>
            <a:noAutofit/>
          </a:bodyPr>
          <a:lstStyle/>
          <a:p>
            <a:r>
              <a:rPr lang="en-US" sz="2300" b="1" dirty="0">
                <a:solidFill>
                  <a:srgbClr val="0070C0"/>
                </a:solidFill>
              </a:rPr>
              <a:t>Topic: Fractions, decimals, &amp; percentages</a:t>
            </a:r>
            <a:br>
              <a:rPr lang="en-US" sz="2300" b="1" dirty="0">
                <a:solidFill>
                  <a:srgbClr val="0070C0"/>
                </a:solidFill>
              </a:rPr>
            </a:br>
            <a:r>
              <a:rPr lang="en-US" sz="2300" b="1" dirty="0">
                <a:solidFill>
                  <a:srgbClr val="0070C0"/>
                </a:solidFill>
              </a:rPr>
              <a:t>EQ: How do I convert between fractions, decimals and percentages?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3223529" y="2382781"/>
            <a:ext cx="3906943" cy="304820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b="1" dirty="0"/>
              <a:t>The symbol, %, means ‘per cent’, which means “out of 100”. </a:t>
            </a:r>
          </a:p>
          <a:p>
            <a:pPr marL="45720" indent="0">
              <a:buNone/>
            </a:pPr>
            <a:r>
              <a:rPr lang="en-US" sz="1800" b="1" dirty="0"/>
              <a:t>Therefore, 75% means 75 out of 100.</a:t>
            </a:r>
          </a:p>
          <a:p>
            <a:pPr marL="45720" indent="0">
              <a:buNone/>
            </a:pPr>
            <a:r>
              <a:rPr lang="en-US" sz="1800" b="1" dirty="0"/>
              <a:t>We can write percentages as fractions by changing the % sign to a denominator of 100 (meaning out of 100)</a:t>
            </a:r>
            <a:endParaRPr lang="en-US" sz="18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560941"/>
            <a:ext cx="1219200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38764" y="1570182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7375256" y="1574806"/>
            <a:ext cx="36945" cy="5287818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53999" y="2536669"/>
            <a:ext cx="2401455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sz="2000" b="1" dirty="0"/>
              <a:t>What is a percentage?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345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Question: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056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Explanation: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602" y="1662538"/>
            <a:ext cx="2022764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AU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50%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/>
                  <a:t>50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50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28" y="2523943"/>
                <a:ext cx="3805421" cy="710451"/>
              </a:xfrm>
              <a:prstGeom prst="rect">
                <a:avLst/>
              </a:prstGeom>
              <a:blipFill>
                <a:blip r:embed="rId3"/>
                <a:stretch>
                  <a:fillRect b="-8403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noFill/>
              <a:ln>
                <a:solidFill>
                  <a:schemeClr val="bg2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AU" sz="2400" dirty="0">
                    <a:sym typeface="Wingdings" panose="05000000000000000000" pitchFamily="2" charset="2"/>
                  </a:rPr>
                  <a:t>75%</a:t>
                </a:r>
                <a:r>
                  <a:rPr lang="en-AU" sz="28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</a:t>
                </a:r>
                <a:r>
                  <a:rPr lang="en-AU" sz="2800" dirty="0">
                    <a:sym typeface="Wingdings" panose="05000000000000000000" pitchFamily="2" charset="2"/>
                  </a:rPr>
                  <a:t> </a:t>
                </a:r>
                <a:r>
                  <a:rPr lang="en-AU" dirty="0">
                    <a:sym typeface="Wingdings" panose="05000000000000000000" pitchFamily="2" charset="2"/>
                  </a:rPr>
                  <a:t>75</a:t>
                </a:r>
                <a:r>
                  <a:rPr lang="en-AU" dirty="0"/>
                  <a:t> out of 100 </a:t>
                </a:r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75</m:t>
                        </m:r>
                      </m:num>
                      <m:den>
                        <m:r>
                          <a:rPr lang="en-AU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</m:oMath>
                </a14:m>
                <a:r>
                  <a:rPr lang="en-AU" sz="2400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 </a:t>
                </a:r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256" y="3551655"/>
                <a:ext cx="3805421" cy="710451"/>
              </a:xfrm>
              <a:prstGeom prst="rect">
                <a:avLst/>
              </a:prstGeom>
              <a:blipFill>
                <a:blip r:embed="rId4"/>
                <a:stretch>
                  <a:fillRect b="-8475"/>
                </a:stretch>
              </a:blipFill>
              <a:ln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loud Callout 1"/>
          <p:cNvSpPr/>
          <p:nvPr/>
        </p:nvSpPr>
        <p:spPr>
          <a:xfrm>
            <a:off x="9033201" y="5121563"/>
            <a:ext cx="3071111" cy="1616364"/>
          </a:xfrm>
          <a:prstGeom prst="cloudCallout">
            <a:avLst>
              <a:gd name="adj1" fmla="val -37975"/>
              <a:gd name="adj2" fmla="val -9921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Can we simplify these fractions?</a:t>
            </a:r>
          </a:p>
        </p:txBody>
      </p:sp>
    </p:spTree>
    <p:extLst>
      <p:ext uri="{BB962C8B-B14F-4D97-AF65-F5344CB8AC3E}">
        <p14:creationId xmlns:p14="http://schemas.microsoft.com/office/powerpoint/2010/main" val="398859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9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797241"/>
            <a:ext cx="7734300" cy="1243707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2</a:t>
            </a:r>
          </a:p>
        </p:txBody>
      </p:sp>
      <p:sp>
        <p:nvSpPr>
          <p:cNvPr id="6" name="Horizontal Scroll 5"/>
          <p:cNvSpPr/>
          <p:nvPr/>
        </p:nvSpPr>
        <p:spPr>
          <a:xfrm>
            <a:off x="1407507" y="3731609"/>
            <a:ext cx="7601527" cy="2272146"/>
          </a:xfrm>
          <a:prstGeom prst="horizontalScroll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>
                <a:solidFill>
                  <a:srgbClr val="0070C0"/>
                </a:solidFill>
              </a:rPr>
              <a:t>Check your answers!</a:t>
            </a:r>
          </a:p>
          <a:p>
            <a:pPr algn="ctr"/>
            <a:r>
              <a:rPr lang="en-AU" sz="2000" b="1" dirty="0"/>
              <a:t>a. 11/100 	b. 71/100	c. 43/100	d. 49/100      e. 1/4 		f. 3/10		g. 3/20		h. 22/25</a:t>
            </a:r>
          </a:p>
        </p:txBody>
      </p:sp>
    </p:spTree>
    <p:extLst>
      <p:ext uri="{BB962C8B-B14F-4D97-AF65-F5344CB8AC3E}">
        <p14:creationId xmlns:p14="http://schemas.microsoft.com/office/powerpoint/2010/main" val="393312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</p:spPr>
        <p:txBody>
          <a:bodyPr/>
          <a:lstStyle/>
          <a:p>
            <a:r>
              <a:rPr lang="en-AU" dirty="0"/>
              <a:t>Left-Hand-Side </a:t>
            </a:r>
            <a:r>
              <a:rPr lang="en-AU" dirty="0">
                <a:solidFill>
                  <a:srgbClr val="0070C0"/>
                </a:solidFill>
              </a:rPr>
              <a:t>Task 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1900088"/>
            <a:ext cx="8783866" cy="9620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120" y="3125066"/>
            <a:ext cx="6817953" cy="10206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20" y="4416721"/>
            <a:ext cx="8926081" cy="2066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512" y="204424"/>
            <a:ext cx="2598237" cy="110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</TotalTime>
  <Words>174</Words>
  <Application>Microsoft Office PowerPoint</Application>
  <PresentationFormat>Widescreen</PresentationFormat>
  <Paragraphs>39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Topic: Fractions, decimals, &amp; percentages EQ: How do I convert between fractions, decimals and percentages?</vt:lpstr>
      <vt:lpstr>Left-Hand-Side Task 2</vt:lpstr>
      <vt:lpstr>Left-Hand-Side Task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4</cp:revision>
  <dcterms:created xsi:type="dcterms:W3CDTF">2019-05-13T14:07:04Z</dcterms:created>
  <dcterms:modified xsi:type="dcterms:W3CDTF">2019-05-13T15:12:24Z</dcterms:modified>
</cp:coreProperties>
</file>
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68" r:id="rId3"/>
    <p:sldId id="269" r:id="rId4"/>
    <p:sldId id="270" r:id="rId5"/>
    <p:sldId id="263" r:id="rId6"/>
    <p:sldId id="265" r:id="rId7"/>
    <p:sldId id="276" r:id="rId8"/>
    <p:sldId id="277" r:id="rId9"/>
    <p:sldId id="278" r:id="rId10"/>
    <p:sldId id="281" r:id="rId11"/>
    <p:sldId id="282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86230-CEC2-4873-952F-D41159990830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940438-72B2-4C94-A92B-1CBE59249C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3824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2497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132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24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667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8055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8826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817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593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3682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136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1715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A500-0F23-45D7-B142-069A14F46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955723-5068-425A-BA7A-F27954B84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DBFAC-1D2C-445B-A628-EA425008E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630-4661-4997-83CD-8C7677AB778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7669A-850A-4B98-953F-F507B8E6A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3A719-E9BD-47F1-A2EB-8C90C3937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7F0D-AB07-4C8F-BE63-4BA9002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5233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796EE-4126-40E1-9550-CED93E900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582F1-23BE-4FCE-AA1A-85ABF22EB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B25AA-8F32-443E-8A64-25801645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630-4661-4997-83CD-8C7677AB778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C747-78CB-4912-B0F8-25C7FFFE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A49C6-B40E-4BEA-87BC-6245247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7F0D-AB07-4C8F-BE63-4BA9002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431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62007-3F91-4A41-B71C-A84D429FB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F3B27-0706-47D6-A1D1-2E228E954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6A6CD-2C2F-4B65-9F9B-AD41CF371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630-4661-4997-83CD-8C7677AB778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C0BF6-306B-43A0-9747-8171F35A0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7B954-8CB1-45F5-85C9-F74F8384F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7F0D-AB07-4C8F-BE63-4BA9002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2074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10543-37B6-4126-968F-55CB91562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3D79A-F976-4DA3-8474-F1D1E8D59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74082-48C1-46ED-B9CB-3646EDC16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F7B00-C93E-4CDB-A8CC-DF730D0CF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630-4661-4997-83CD-8C7677AB778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2B210-D5E5-4D78-86DE-08C78FAF1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67313-E425-4BDF-A9F1-FF90EA91F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7F0D-AB07-4C8F-BE63-4BA9002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784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F31AD-2189-4F72-B917-F880FA05D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A9D3C-262B-49C0-9F19-D8648D201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7A98E-0063-46BE-86DB-547670B8E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029B5F-AC4D-45EA-B2E2-0FE50EB01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E5260-4D07-4725-B65F-3E965D980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55329D-09C4-43EC-90FD-FF0C8FCA7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630-4661-4997-83CD-8C7677AB778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33B104-4575-4939-9B43-4D07DF7B2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CC7966-0BCD-489C-95BA-FA445347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7F0D-AB07-4C8F-BE63-4BA9002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418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48EE0-69B0-46F7-B331-D6EBA5AD1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BF8173-3386-459C-B012-6CFDFDFB2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630-4661-4997-83CD-8C7677AB778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51D340-074A-4A5F-A21D-3F333026C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0BC12-0555-49F5-A27B-83C8675DB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7F0D-AB07-4C8F-BE63-4BA9002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3846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DC9166-967C-49D6-92D8-4EE954BD0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630-4661-4997-83CD-8C7677AB778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0E4D2E-0413-430E-8E3E-1AFFCFAC1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E05B3-7481-48FD-B8A1-920B8BDD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7F0D-AB07-4C8F-BE63-4BA9002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7300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AA4ED-B268-441B-890D-F9EED466D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5678C-E885-4F40-908A-93F0617B4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C52826-D6F8-4B94-B32B-FCB1620A9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2DAF3-A7EF-485A-911F-C4CF3C217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630-4661-4997-83CD-8C7677AB778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0B9AC-C280-4B38-8821-920912569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4C1FF-E1B4-430F-ACED-8137B744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7F0D-AB07-4C8F-BE63-4BA9002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5200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3FD75-B531-4BD7-AECD-94FF19804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F8566B-05E9-4BCC-828F-F048BBAC52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878455-BC71-448F-9DD4-435A5B709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94320-D323-4197-8040-14D905738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630-4661-4997-83CD-8C7677AB778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EAD2B-732C-4809-B1E2-2834EDCEA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774C5-2627-4059-81A8-1EA2820FD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7F0D-AB07-4C8F-BE63-4BA9002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613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4942D-823E-4568-8FE1-E9062C77A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D67715-0092-43FD-830C-2B3510947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B064C-7A87-4B1A-890B-8FD365CE4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630-4661-4997-83CD-8C7677AB778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9E781-09B4-47DC-9051-61579A0A1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EBC4-0F33-4D14-8CA9-0C2936D46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7F0D-AB07-4C8F-BE63-4BA9002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2783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DE1303-E7EA-4AB4-B2EC-B09529B206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84F02-8D48-4D49-8075-9E5614735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8B1AA-0F33-45F2-8A16-1D46FE01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630-4661-4997-83CD-8C7677AB778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CF5D3-2DAB-4A8F-B1BC-0565ECA64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5935E-4D2F-4A4C-A601-C0A910D3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7F0D-AB07-4C8F-BE63-4BA9002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3864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26526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32973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53935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6DCEA0-F544-498E-9D1A-6ABDF7E9C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34B6F-9B77-41E6-B7F8-2F04DC04A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7F12B-2E7F-42FA-944F-2F24004C1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E2630-4661-4997-83CD-8C7677AB778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00241-7203-4167-9285-798B28A28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E10CB-E28B-497A-A0EB-33C8808A1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27F0D-AB07-4C8F-BE63-4BA9002854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0498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Mrs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7 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FFF56D21-5678-42DE-B701-CB12DC1F9E44}"/>
              </a:ext>
            </a:extLst>
          </p:cNvPr>
          <p:cNvSpPr txBox="1">
            <a:spLocks/>
          </p:cNvSpPr>
          <p:nvPr/>
        </p:nvSpPr>
        <p:spPr>
          <a:xfrm>
            <a:off x="1372830" y="2593571"/>
            <a:ext cx="9446339" cy="145756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 fontScale="90000" lnSpcReduction="20000"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 kern="1200">
                <a:solidFill>
                  <a:srgbClr val="7C7F91"/>
                </a:solidFill>
                <a:latin typeface="+mj-lt"/>
                <a:ea typeface="+mj-ea"/>
                <a:cs typeface="+mj-c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r>
              <a:rPr lang="en-AU" b="1" dirty="0">
                <a:latin typeface="Fragment Core" panose="02000504040000020003" pitchFamily="50" charset="0"/>
              </a:rPr>
              <a:t>Add and Subtract Fractions: Different Denominator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B0A9E8-4355-4E05-BF1F-67B69F9875ED}"/>
              </a:ext>
            </a:extLst>
          </p:cNvPr>
          <p:cNvSpPr txBox="1"/>
          <p:nvPr/>
        </p:nvSpPr>
        <p:spPr>
          <a:xfrm>
            <a:off x="792185" y="1165295"/>
            <a:ext cx="106076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solidFill>
                  <a:schemeClr val="bg2">
                    <a:lumMod val="50000"/>
                  </a:schemeClr>
                </a:solidFill>
                <a:latin typeface="Fragment Core" panose="02000504040000020003" pitchFamily="50" charset="0"/>
              </a:rPr>
              <a:t>EQ – How do we add and subtract fractions with different denominator?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Grids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73464" y="1458973"/>
                <a:ext cx="6593760" cy="3462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:r>
                  <a:rPr lang="en-AU" sz="3200" dirty="0">
                    <a:solidFill>
                      <a:prstClr val="black"/>
                    </a:solidFill>
                    <a:latin typeface="Calibri" panose="020F0502020204030204"/>
                  </a:rPr>
                  <a:t>Add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3600" dirty="0">
                    <a:solidFill>
                      <a:srgbClr val="FF0000"/>
                    </a:solidFill>
                    <a:latin typeface="Calibri" panose="020F0502020204030204"/>
                  </a:rPr>
                  <a:t> </a:t>
                </a:r>
                <a:r>
                  <a:rPr lang="en-US" sz="3200" dirty="0">
                    <a:solidFill>
                      <a:prstClr val="black"/>
                    </a:solidFill>
                    <a:latin typeface="Calibri" panose="020F0502020204030204"/>
                  </a:rPr>
                  <a:t>and </a:t>
                </a:r>
                <a:r>
                  <a:rPr lang="en-AU" sz="32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3600" dirty="0">
                    <a:solidFill>
                      <a:srgbClr val="FF0000"/>
                    </a:solidFill>
                  </a:rPr>
                  <a:t> </a:t>
                </a:r>
                <a:r>
                  <a:rPr lang="en-US" sz="3200" dirty="0">
                    <a:solidFill>
                      <a:prstClr val="black"/>
                    </a:solidFill>
                  </a:rPr>
                  <a:t>by using the grid method</a:t>
                </a:r>
              </a:p>
              <a:p>
                <a:pPr defTabSz="914126"/>
                <a:endParaRPr lang="en-US" sz="3200" dirty="0">
                  <a:solidFill>
                    <a:prstClr val="black"/>
                  </a:solidFill>
                </a:endParaRPr>
              </a:p>
              <a:p>
                <a:pPr defTabSz="914126"/>
                <a:r>
                  <a:rPr lang="en-US" sz="3200" b="1" dirty="0">
                    <a:solidFill>
                      <a:prstClr val="black"/>
                    </a:solidFill>
                  </a:rPr>
                  <a:t>Step 1: </a:t>
                </a:r>
                <a:r>
                  <a:rPr lang="en-US" sz="3200" dirty="0">
                    <a:solidFill>
                      <a:prstClr val="black"/>
                    </a:solidFill>
                  </a:rPr>
                  <a:t>Draw two identical rectangles. Divide them up according to the fractions and shade</a:t>
                </a:r>
                <a:r>
                  <a:rPr lang="en-US" sz="4000" dirty="0">
                    <a:solidFill>
                      <a:prstClr val="black"/>
                    </a:solidFill>
                  </a:rPr>
                  <a:t>.</a:t>
                </a:r>
                <a:r>
                  <a:rPr lang="en-US" sz="4000" dirty="0">
                    <a:solidFill>
                      <a:prstClr val="black"/>
                    </a:solidFill>
                    <a:latin typeface="Calibri" panose="020F0502020204030204"/>
                  </a:rPr>
                  <a:t> </a:t>
                </a: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464" y="1458973"/>
                <a:ext cx="6593760" cy="3462807"/>
              </a:xfrm>
              <a:prstGeom prst="rect">
                <a:avLst/>
              </a:prstGeom>
              <a:blipFill>
                <a:blip r:embed="rId3"/>
                <a:stretch>
                  <a:fillRect l="-2405" r="-12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C6AD37-64FD-4F40-9E98-3DC21954D8A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000257" y="3910415"/>
          <a:ext cx="2886939" cy="21035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2313">
                  <a:extLst>
                    <a:ext uri="{9D8B030D-6E8A-4147-A177-3AD203B41FA5}">
                      <a16:colId xmlns:a16="http://schemas.microsoft.com/office/drawing/2014/main" val="353913716"/>
                    </a:ext>
                  </a:extLst>
                </a:gridCol>
                <a:gridCol w="962313">
                  <a:extLst>
                    <a:ext uri="{9D8B030D-6E8A-4147-A177-3AD203B41FA5}">
                      <a16:colId xmlns:a16="http://schemas.microsoft.com/office/drawing/2014/main" val="1341278856"/>
                    </a:ext>
                  </a:extLst>
                </a:gridCol>
                <a:gridCol w="962313">
                  <a:extLst>
                    <a:ext uri="{9D8B030D-6E8A-4147-A177-3AD203B41FA5}">
                      <a16:colId xmlns:a16="http://schemas.microsoft.com/office/drawing/2014/main" val="1741178167"/>
                    </a:ext>
                  </a:extLst>
                </a:gridCol>
              </a:tblGrid>
              <a:tr h="2103523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7639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004535" y="1493244"/>
          <a:ext cx="2882661" cy="2103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2661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42070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42070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42070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420705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42070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7E06F59-B641-411E-BBE0-0DC7229F1F87}"/>
              </a:ext>
            </a:extLst>
          </p:cNvPr>
          <p:cNvSpPr txBox="1"/>
          <p:nvPr/>
        </p:nvSpPr>
        <p:spPr>
          <a:xfrm>
            <a:off x="450041" y="75738"/>
            <a:ext cx="9654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 and Subtract Fractions: Differ Denominator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73B261-1A27-401A-B0E6-37A9C4F10AF7}"/>
              </a:ext>
            </a:extLst>
          </p:cNvPr>
          <p:cNvSpPr txBox="1"/>
          <p:nvPr/>
        </p:nvSpPr>
        <p:spPr>
          <a:xfrm>
            <a:off x="191345" y="777754"/>
            <a:ext cx="1179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add and subtract fractions with the differ denominator?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Grids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73464" y="1458973"/>
                <a:ext cx="6593760" cy="2847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:r>
                  <a:rPr lang="en-AU" sz="3200" dirty="0">
                    <a:solidFill>
                      <a:prstClr val="black"/>
                    </a:solidFill>
                    <a:latin typeface="Calibri" panose="020F0502020204030204"/>
                  </a:rPr>
                  <a:t>Add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3600" dirty="0">
                    <a:solidFill>
                      <a:srgbClr val="FF0000"/>
                    </a:solidFill>
                    <a:latin typeface="Calibri" panose="020F0502020204030204"/>
                  </a:rPr>
                  <a:t> </a:t>
                </a:r>
                <a:r>
                  <a:rPr lang="en-US" sz="3200" dirty="0">
                    <a:solidFill>
                      <a:prstClr val="black"/>
                    </a:solidFill>
                    <a:latin typeface="Calibri" panose="020F0502020204030204"/>
                  </a:rPr>
                  <a:t>and </a:t>
                </a:r>
                <a:r>
                  <a:rPr lang="en-AU" sz="36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3600" dirty="0">
                    <a:solidFill>
                      <a:srgbClr val="FF0000"/>
                    </a:solidFill>
                  </a:rPr>
                  <a:t> </a:t>
                </a:r>
                <a:r>
                  <a:rPr lang="en-US" sz="3200" dirty="0">
                    <a:solidFill>
                      <a:prstClr val="black"/>
                    </a:solidFill>
                  </a:rPr>
                  <a:t>by using the grid method</a:t>
                </a:r>
              </a:p>
              <a:p>
                <a:pPr defTabSz="914126"/>
                <a:endParaRPr lang="en-US" sz="3200" dirty="0">
                  <a:solidFill>
                    <a:prstClr val="black"/>
                  </a:solidFill>
                </a:endParaRPr>
              </a:p>
              <a:p>
                <a:pPr defTabSz="914126"/>
                <a:r>
                  <a:rPr lang="en-US" sz="3200" b="1" dirty="0">
                    <a:solidFill>
                      <a:prstClr val="black"/>
                    </a:solidFill>
                  </a:rPr>
                  <a:t>Step 2: </a:t>
                </a:r>
                <a:r>
                  <a:rPr lang="en-US" sz="3200" dirty="0">
                    <a:solidFill>
                      <a:prstClr val="black"/>
                    </a:solidFill>
                  </a:rPr>
                  <a:t>Lay the two rectangles on top of each other</a:t>
                </a:r>
                <a:endParaRPr lang="en-US" sz="40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464" y="1458973"/>
                <a:ext cx="6593760" cy="2847254"/>
              </a:xfrm>
              <a:prstGeom prst="rect">
                <a:avLst/>
              </a:prstGeom>
              <a:blipFill>
                <a:blip r:embed="rId3"/>
                <a:stretch>
                  <a:fillRect l="-2405" r="-8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C6AD37-64FD-4F40-9E98-3DC21954D8A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903141" y="3666828"/>
          <a:ext cx="2886939" cy="21035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2313">
                  <a:extLst>
                    <a:ext uri="{9D8B030D-6E8A-4147-A177-3AD203B41FA5}">
                      <a16:colId xmlns:a16="http://schemas.microsoft.com/office/drawing/2014/main" val="353913716"/>
                    </a:ext>
                  </a:extLst>
                </a:gridCol>
                <a:gridCol w="962313">
                  <a:extLst>
                    <a:ext uri="{9D8B030D-6E8A-4147-A177-3AD203B41FA5}">
                      <a16:colId xmlns:a16="http://schemas.microsoft.com/office/drawing/2014/main" val="1341278856"/>
                    </a:ext>
                  </a:extLst>
                </a:gridCol>
                <a:gridCol w="962313">
                  <a:extLst>
                    <a:ext uri="{9D8B030D-6E8A-4147-A177-3AD203B41FA5}">
                      <a16:colId xmlns:a16="http://schemas.microsoft.com/office/drawing/2014/main" val="1741178167"/>
                    </a:ext>
                  </a:extLst>
                </a:gridCol>
              </a:tblGrid>
              <a:tr h="2103523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7639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907419" y="3666826"/>
          <a:ext cx="2882661" cy="2103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323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  <a:gridCol w="970669">
                  <a:extLst>
                    <a:ext uri="{9D8B030D-6E8A-4147-A177-3AD203B41FA5}">
                      <a16:colId xmlns:a16="http://schemas.microsoft.com/office/drawing/2014/main" val="1604844587"/>
                    </a:ext>
                  </a:extLst>
                </a:gridCol>
                <a:gridCol w="970669">
                  <a:extLst>
                    <a:ext uri="{9D8B030D-6E8A-4147-A177-3AD203B41FA5}">
                      <a16:colId xmlns:a16="http://schemas.microsoft.com/office/drawing/2014/main" val="3247007399"/>
                    </a:ext>
                  </a:extLst>
                </a:gridCol>
              </a:tblGrid>
              <a:tr h="42070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42070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42070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420705">
                <a:tc gridSpan="3"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420705">
                <a:tc gridSpan="3"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9F05632-377F-4601-BA68-5A978943970A}"/>
              </a:ext>
            </a:extLst>
          </p:cNvPr>
          <p:cNvSpPr txBox="1"/>
          <p:nvPr/>
        </p:nvSpPr>
        <p:spPr>
          <a:xfrm>
            <a:off x="450041" y="75738"/>
            <a:ext cx="9654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 and Subtract Fractions: Differ Denominator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AF6C83-9AE0-4BAA-9A26-95A69A6303E2}"/>
              </a:ext>
            </a:extLst>
          </p:cNvPr>
          <p:cNvSpPr txBox="1"/>
          <p:nvPr/>
        </p:nvSpPr>
        <p:spPr>
          <a:xfrm>
            <a:off x="191345" y="777754"/>
            <a:ext cx="1179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add and subtract fractions with the differ denominator?</a:t>
            </a:r>
          </a:p>
        </p:txBody>
      </p:sp>
    </p:spTree>
    <p:extLst>
      <p:ext uri="{BB962C8B-B14F-4D97-AF65-F5344CB8AC3E}">
        <p14:creationId xmlns:p14="http://schemas.microsoft.com/office/powerpoint/2010/main" val="2410386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Grids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66430" y="1365033"/>
                <a:ext cx="6593760" cy="4988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:r>
                  <a:rPr lang="en-AU" sz="3200" dirty="0">
                    <a:solidFill>
                      <a:prstClr val="black"/>
                    </a:solidFill>
                    <a:latin typeface="Calibri" panose="020F0502020204030204"/>
                  </a:rPr>
                  <a:t>Add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3600" dirty="0">
                    <a:solidFill>
                      <a:srgbClr val="FF0000"/>
                    </a:solidFill>
                    <a:latin typeface="Calibri" panose="020F0502020204030204"/>
                  </a:rPr>
                  <a:t> </a:t>
                </a:r>
                <a:r>
                  <a:rPr lang="en-US" sz="3200" dirty="0">
                    <a:solidFill>
                      <a:prstClr val="black"/>
                    </a:solidFill>
                    <a:latin typeface="Calibri" panose="020F0502020204030204"/>
                  </a:rPr>
                  <a:t>and </a:t>
                </a:r>
                <a:r>
                  <a:rPr lang="en-AU" sz="32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3600" dirty="0">
                    <a:solidFill>
                      <a:srgbClr val="FF0000"/>
                    </a:solidFill>
                  </a:rPr>
                  <a:t> </a:t>
                </a:r>
                <a:r>
                  <a:rPr lang="en-US" sz="3200" dirty="0">
                    <a:solidFill>
                      <a:prstClr val="black"/>
                    </a:solidFill>
                  </a:rPr>
                  <a:t>by using the grid method</a:t>
                </a:r>
              </a:p>
              <a:p>
                <a:pPr defTabSz="914126"/>
                <a:endParaRPr lang="en-US" sz="3200" dirty="0">
                  <a:solidFill>
                    <a:prstClr val="black"/>
                  </a:solidFill>
                </a:endParaRPr>
              </a:p>
              <a:p>
                <a:pPr defTabSz="914126"/>
                <a:r>
                  <a:rPr lang="en-US" sz="3200" b="1" dirty="0">
                    <a:solidFill>
                      <a:prstClr val="black"/>
                    </a:solidFill>
                  </a:rPr>
                  <a:t>Step 3: </a:t>
                </a:r>
                <a:r>
                  <a:rPr lang="en-US" sz="3200" dirty="0">
                    <a:solidFill>
                      <a:prstClr val="black"/>
                    </a:solidFill>
                  </a:rPr>
                  <a:t>Remove the overlay </a:t>
                </a: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US" sz="3200" dirty="0">
                    <a:solidFill>
                      <a:prstClr val="black"/>
                    </a:solidFill>
                    <a:latin typeface="Calibri" panose="020F0502020204030204"/>
                  </a:rPr>
                  <a:t>The shaded grid gives you the result to the answer.</a:t>
                </a: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AU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US" sz="4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430" y="1365033"/>
                <a:ext cx="6593760" cy="4988610"/>
              </a:xfrm>
              <a:prstGeom prst="rect">
                <a:avLst/>
              </a:prstGeom>
              <a:blipFill>
                <a:blip r:embed="rId3"/>
                <a:stretch>
                  <a:fillRect l="-2405" r="-32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C6AD37-64FD-4F40-9E98-3DC21954D8A0}"/>
              </a:ext>
            </a:extLst>
          </p:cNvPr>
          <p:cNvGraphicFramePr>
            <a:graphicFrameLocks noGrp="1"/>
          </p:cNvGraphicFramePr>
          <p:nvPr/>
        </p:nvGraphicFramePr>
        <p:xfrm>
          <a:off x="8903141" y="3666828"/>
          <a:ext cx="2886939" cy="21035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2313">
                  <a:extLst>
                    <a:ext uri="{9D8B030D-6E8A-4147-A177-3AD203B41FA5}">
                      <a16:colId xmlns:a16="http://schemas.microsoft.com/office/drawing/2014/main" val="353913716"/>
                    </a:ext>
                  </a:extLst>
                </a:gridCol>
                <a:gridCol w="962313">
                  <a:extLst>
                    <a:ext uri="{9D8B030D-6E8A-4147-A177-3AD203B41FA5}">
                      <a16:colId xmlns:a16="http://schemas.microsoft.com/office/drawing/2014/main" val="1341278856"/>
                    </a:ext>
                  </a:extLst>
                </a:gridCol>
                <a:gridCol w="962313">
                  <a:extLst>
                    <a:ext uri="{9D8B030D-6E8A-4147-A177-3AD203B41FA5}">
                      <a16:colId xmlns:a16="http://schemas.microsoft.com/office/drawing/2014/main" val="1741178167"/>
                    </a:ext>
                  </a:extLst>
                </a:gridCol>
              </a:tblGrid>
              <a:tr h="2103523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7639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907419" y="3666826"/>
          <a:ext cx="2882661" cy="2103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323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  <a:gridCol w="970669">
                  <a:extLst>
                    <a:ext uri="{9D8B030D-6E8A-4147-A177-3AD203B41FA5}">
                      <a16:colId xmlns:a16="http://schemas.microsoft.com/office/drawing/2014/main" val="1604844587"/>
                    </a:ext>
                  </a:extLst>
                </a:gridCol>
                <a:gridCol w="970669">
                  <a:extLst>
                    <a:ext uri="{9D8B030D-6E8A-4147-A177-3AD203B41FA5}">
                      <a16:colId xmlns:a16="http://schemas.microsoft.com/office/drawing/2014/main" val="3247007399"/>
                    </a:ext>
                  </a:extLst>
                </a:gridCol>
              </a:tblGrid>
              <a:tr h="42070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42070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42070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420705">
                <a:tc gridSpan="3"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420705">
                <a:tc gridSpan="3"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710316C-F2DC-4F52-9694-3F04EF3CAA1E}"/>
              </a:ext>
            </a:extLst>
          </p:cNvPr>
          <p:cNvSpPr txBox="1"/>
          <p:nvPr/>
        </p:nvSpPr>
        <p:spPr>
          <a:xfrm>
            <a:off x="450041" y="75738"/>
            <a:ext cx="9654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 and Subtract Fractions: Differ Denominator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448484-BB02-42E9-BA26-112738778959}"/>
              </a:ext>
            </a:extLst>
          </p:cNvPr>
          <p:cNvSpPr txBox="1"/>
          <p:nvPr/>
        </p:nvSpPr>
        <p:spPr>
          <a:xfrm>
            <a:off x="191345" y="777754"/>
            <a:ext cx="1179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add and subtract fractions with the differ denominator?</a:t>
            </a:r>
          </a:p>
        </p:txBody>
      </p:sp>
    </p:spTree>
    <p:extLst>
      <p:ext uri="{BB962C8B-B14F-4D97-AF65-F5344CB8AC3E}">
        <p14:creationId xmlns:p14="http://schemas.microsoft.com/office/powerpoint/2010/main" val="27016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077395-86C7-4E3B-B3B2-7E3DC7F87C33}"/>
                  </a:ext>
                </a:extLst>
              </p:cNvPr>
              <p:cNvSpPr txBox="1"/>
              <p:nvPr/>
            </p:nvSpPr>
            <p:spPr>
              <a:xfrm>
                <a:off x="654153" y="404664"/>
                <a:ext cx="8757132" cy="2233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4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3200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US" sz="3200" dirty="0">
                    <a:solidFill>
                      <a:prstClr val="black"/>
                    </a:solidFill>
                    <a:latin typeface="Calibri" panose="020F0502020204030204"/>
                  </a:rPr>
                  <a:t>Use the grid method to work this out…..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077395-86C7-4E3B-B3B2-7E3DC7F87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53" y="404664"/>
                <a:ext cx="8757132" cy="2233688"/>
              </a:xfrm>
              <a:prstGeom prst="rect">
                <a:avLst/>
              </a:prstGeom>
              <a:blipFill>
                <a:blip r:embed="rId3"/>
                <a:stretch>
                  <a:fillRect l="-1740" b="-79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>
                <a:solidFill>
                  <a:prstClr val="black"/>
                </a:solidFill>
                <a:latin typeface="Fragment Core" panose="02000504040000020003" pitchFamily="50" charset="0"/>
              </a:rPr>
              <a:t>Method 2</a:t>
            </a:r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Finding the Lowest Common Denominator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4018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US" sz="2800" b="1" dirty="0">
                    <a:solidFill>
                      <a:prstClr val="black"/>
                    </a:solidFill>
                    <a:latin typeface="Calibri" panose="020F0502020204030204"/>
                  </a:rPr>
                  <a:t>Step 1: </a:t>
                </a:r>
                <a:r>
                  <a:rPr lang="en-US" sz="2800" dirty="0">
                    <a:solidFill>
                      <a:prstClr val="black"/>
                    </a:solidFill>
                    <a:latin typeface="Calibri" panose="020F0502020204030204"/>
                  </a:rPr>
                  <a:t>Find the Lowest Common Denominator (LCD)</a:t>
                </a:r>
              </a:p>
              <a:p>
                <a:pPr algn="ctr" defTabSz="914126"/>
                <a:r>
                  <a:rPr lang="en-US" sz="3600" b="1" dirty="0">
                    <a:solidFill>
                      <a:srgbClr val="0070C0"/>
                    </a:solidFill>
                    <a:latin typeface="Calibri" panose="020F0502020204030204"/>
                  </a:rPr>
                  <a:t>12</a:t>
                </a:r>
              </a:p>
              <a:p>
                <a:pPr defTabSz="914126"/>
                <a:endParaRPr lang="en-US" sz="28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US" sz="2800" b="1" dirty="0">
                    <a:solidFill>
                      <a:prstClr val="black"/>
                    </a:solidFill>
                    <a:latin typeface="Calibri" panose="020F0502020204030204"/>
                  </a:rPr>
                  <a:t>Step 2: </a:t>
                </a:r>
                <a:r>
                  <a:rPr lang="en-US" sz="2800" dirty="0">
                    <a:solidFill>
                      <a:prstClr val="black"/>
                    </a:solidFill>
                    <a:latin typeface="Calibri" panose="020F0502020204030204"/>
                  </a:rPr>
                  <a:t>Multiply the denominators and numerators so the fractions reflect the LCD  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4018792"/>
              </a:xfrm>
              <a:prstGeom prst="rect">
                <a:avLst/>
              </a:prstGeom>
              <a:blipFill>
                <a:blip r:embed="rId3"/>
                <a:stretch>
                  <a:fillRect l="-1392" b="-33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8952A4D-9F27-4B6D-B0A3-75B8539929B2}"/>
              </a:ext>
            </a:extLst>
          </p:cNvPr>
          <p:cNvSpPr txBox="1"/>
          <p:nvPr/>
        </p:nvSpPr>
        <p:spPr>
          <a:xfrm>
            <a:off x="450041" y="75738"/>
            <a:ext cx="9654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 and Subtract Fractions: Differ Denominator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A2B5CD-36C0-4953-ABA7-739E28776210}"/>
              </a:ext>
            </a:extLst>
          </p:cNvPr>
          <p:cNvSpPr txBox="1"/>
          <p:nvPr/>
        </p:nvSpPr>
        <p:spPr>
          <a:xfrm>
            <a:off x="191345" y="777754"/>
            <a:ext cx="1179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add and subtract fractions with the differ denominator?</a:t>
            </a:r>
          </a:p>
        </p:txBody>
      </p:sp>
    </p:spTree>
    <p:extLst>
      <p:ext uri="{BB962C8B-B14F-4D97-AF65-F5344CB8AC3E}">
        <p14:creationId xmlns:p14="http://schemas.microsoft.com/office/powerpoint/2010/main" val="4185607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3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Finding the Lowest Common Denominator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5084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:r>
                  <a:rPr lang="en-US" sz="2800" b="1" dirty="0">
                    <a:solidFill>
                      <a:prstClr val="black"/>
                    </a:solidFill>
                    <a:latin typeface="Calibri" panose="020F0502020204030204"/>
                  </a:rPr>
                  <a:t>Step 2: </a:t>
                </a:r>
                <a:r>
                  <a:rPr lang="en-US" sz="2800" dirty="0">
                    <a:solidFill>
                      <a:prstClr val="black"/>
                    </a:solidFill>
                    <a:latin typeface="Calibri" panose="020F0502020204030204"/>
                  </a:rPr>
                  <a:t>Multiply the denominators and numerators so the fractions reflect the LCD</a:t>
                </a:r>
              </a:p>
              <a:p>
                <a:pPr defTabSz="914126"/>
                <a:endParaRPr lang="en-US" sz="28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ctr" defTabSz="914126"/>
                <a14:m>
                  <m:oMath xmlns:m="http://schemas.openxmlformats.org/officeDocument/2006/math">
                    <m:f>
                      <m:fPr>
                        <m:ctrlPr>
                          <a:rPr lang="en-AU" sz="7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7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7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AU" sz="7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AU" sz="72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    </m:t>
                    </m:r>
                    <m:f>
                      <m:fPr>
                        <m:ctrlPr>
                          <a:rPr lang="en-AU" sz="7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7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7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sz="7200" dirty="0">
                    <a:solidFill>
                      <a:prstClr val="black"/>
                    </a:solidFill>
                    <a:latin typeface="Calibri" panose="020F0502020204030204"/>
                  </a:rPr>
                  <a:t>  </a:t>
                </a:r>
              </a:p>
              <a:p>
                <a:pPr algn="ctr" defTabSz="914126"/>
                <a:endParaRPr lang="en-US" sz="54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  <m:r>
                        <a:rPr lang="en-AU" sz="4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AU" sz="44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  </m:t>
                      </m:r>
                      <m:f>
                        <m:fPr>
                          <m:ctrlP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  <m:r>
                        <a:rPr lang="en-AU" sz="44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AU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</m:oMath>
                  </m:oMathPara>
                </a14:m>
                <a:endParaRPr lang="en-US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5084084"/>
              </a:xfrm>
              <a:prstGeom prst="rect">
                <a:avLst/>
              </a:prstGeom>
              <a:blipFill>
                <a:blip r:embed="rId3"/>
                <a:stretch>
                  <a:fillRect l="-1392" t="-11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A9C6305-04CD-4B1D-9210-2E3F83B5D97D}"/>
              </a:ext>
            </a:extLst>
          </p:cNvPr>
          <p:cNvSpPr txBox="1"/>
          <p:nvPr/>
        </p:nvSpPr>
        <p:spPr>
          <a:xfrm>
            <a:off x="450041" y="75738"/>
            <a:ext cx="9654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 and Subtract Fractions: Differ Denominator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D71B0-D660-482D-87A3-AF51A5AB02E0}"/>
              </a:ext>
            </a:extLst>
          </p:cNvPr>
          <p:cNvSpPr txBox="1"/>
          <p:nvPr/>
        </p:nvSpPr>
        <p:spPr>
          <a:xfrm>
            <a:off x="191345" y="777754"/>
            <a:ext cx="1179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add and subtract fractions with the differ denominator?</a:t>
            </a:r>
          </a:p>
        </p:txBody>
      </p:sp>
    </p:spTree>
    <p:extLst>
      <p:ext uri="{BB962C8B-B14F-4D97-AF65-F5344CB8AC3E}">
        <p14:creationId xmlns:p14="http://schemas.microsoft.com/office/powerpoint/2010/main" val="364261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We do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9A24D-2D99-4E0E-ABB5-C47BAF625F74}"/>
              </a:ext>
            </a:extLst>
          </p:cNvPr>
          <p:cNvSpPr/>
          <p:nvPr/>
        </p:nvSpPr>
        <p:spPr>
          <a:xfrm>
            <a:off x="9036628" y="4225636"/>
            <a:ext cx="2708563" cy="11499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8C4479-B025-4EB2-9CA9-D8D9CB43C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6" y="489238"/>
            <a:ext cx="7811366" cy="545706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570AF9-80B6-4B8D-A25E-BDE9EA8CD4CE}"/>
              </a:ext>
            </a:extLst>
          </p:cNvPr>
          <p:cNvSpPr/>
          <p:nvPr/>
        </p:nvSpPr>
        <p:spPr>
          <a:xfrm>
            <a:off x="5031971" y="1252451"/>
            <a:ext cx="2698865" cy="49876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5252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Mixed Fractions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710316C-F2DC-4F52-9694-3F04EF3CAA1E}"/>
              </a:ext>
            </a:extLst>
          </p:cNvPr>
          <p:cNvSpPr txBox="1"/>
          <p:nvPr/>
        </p:nvSpPr>
        <p:spPr>
          <a:xfrm>
            <a:off x="450041" y="75738"/>
            <a:ext cx="9654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 and Subtract Fractions: Differ Denominator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448484-BB02-42E9-BA26-112738778959}"/>
              </a:ext>
            </a:extLst>
          </p:cNvPr>
          <p:cNvSpPr txBox="1"/>
          <p:nvPr/>
        </p:nvSpPr>
        <p:spPr>
          <a:xfrm>
            <a:off x="191345" y="777754"/>
            <a:ext cx="1179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add and subtract fractions with the differ denominator?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ACBDE8-4554-4467-91A0-98FA28227FB2}"/>
              </a:ext>
            </a:extLst>
          </p:cNvPr>
          <p:cNvSpPr txBox="1"/>
          <p:nvPr/>
        </p:nvSpPr>
        <p:spPr>
          <a:xfrm>
            <a:off x="1962062" y="1685328"/>
            <a:ext cx="5472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Step 1: Convert to improper fractions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8354C5-9541-4C68-8BFD-CC9A8B0B8010}"/>
              </a:ext>
            </a:extLst>
          </p:cNvPr>
          <p:cNvSpPr txBox="1"/>
          <p:nvPr/>
        </p:nvSpPr>
        <p:spPr>
          <a:xfrm>
            <a:off x="1950657" y="2995214"/>
            <a:ext cx="5472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Step 2: Find the LCD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56F930-F40E-4598-8D9F-03D1356721CE}"/>
              </a:ext>
            </a:extLst>
          </p:cNvPr>
          <p:cNvSpPr txBox="1"/>
          <p:nvPr/>
        </p:nvSpPr>
        <p:spPr>
          <a:xfrm>
            <a:off x="1916786" y="4330470"/>
            <a:ext cx="60765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Step 3: Multiply the fractions so they each have the LCD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E17764-A083-4AA8-BF28-51EDF904CDC6}"/>
              </a:ext>
            </a:extLst>
          </p:cNvPr>
          <p:cNvSpPr txBox="1"/>
          <p:nvPr/>
        </p:nvSpPr>
        <p:spPr>
          <a:xfrm>
            <a:off x="1916786" y="5640356"/>
            <a:ext cx="864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Step 4: Subtract the numerators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3A0C2A4-6347-450C-B607-D0C4294463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56" t="27537" r="83444" b="67455"/>
          <a:stretch/>
        </p:blipFill>
        <p:spPr>
          <a:xfrm>
            <a:off x="7736423" y="1431169"/>
            <a:ext cx="3476539" cy="11521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093297B-F5F6-405B-9337-421129F212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63" t="41798" r="83444" b="53151"/>
          <a:stretch/>
        </p:blipFill>
        <p:spPr>
          <a:xfrm>
            <a:off x="6901269" y="5308395"/>
            <a:ext cx="1666766" cy="94831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6B6B9C8-A6D7-4607-BF30-E90D59572B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63" t="32067" r="83444" b="62789"/>
          <a:stretch/>
        </p:blipFill>
        <p:spPr>
          <a:xfrm>
            <a:off x="8624736" y="3931765"/>
            <a:ext cx="1739132" cy="100780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F6E5A8D-9009-4E60-AAD8-F5251040912C}"/>
              </a:ext>
            </a:extLst>
          </p:cNvPr>
          <p:cNvSpPr txBox="1"/>
          <p:nvPr/>
        </p:nvSpPr>
        <p:spPr>
          <a:xfrm>
            <a:off x="5385728" y="3007226"/>
            <a:ext cx="713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16310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We do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9A24D-2D99-4E0E-ABB5-C47BAF625F74}"/>
              </a:ext>
            </a:extLst>
          </p:cNvPr>
          <p:cNvSpPr/>
          <p:nvPr/>
        </p:nvSpPr>
        <p:spPr>
          <a:xfrm>
            <a:off x="9036628" y="4225636"/>
            <a:ext cx="2708563" cy="11499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F1B377-C413-4073-A948-D2C7FC32C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26" y="3829508"/>
            <a:ext cx="2341245" cy="13935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3C5A36-086B-47A8-8713-AC9BC04AA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98" y="357092"/>
            <a:ext cx="2380038" cy="166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002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FF89E2-D44B-4B9E-8FD6-A4BAB22D4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09" y="340907"/>
            <a:ext cx="9722990" cy="32889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5983A7-0500-4260-B631-5DBFB70CE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0289" y="2355271"/>
            <a:ext cx="2866092" cy="437097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8C7C0EB-8CE3-4683-9C74-94BDF0057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540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b="1" dirty="0">
                <a:solidFill>
                  <a:srgbClr val="FF5050"/>
                </a:solidFill>
                <a:latin typeface="Fragment Core" panose="02000504040000020003" pitchFamily="50" charset="0"/>
              </a:rPr>
              <a:t>You do</a:t>
            </a:r>
            <a:endParaRPr lang="en-US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3B4A40-9DD1-46C9-B0D6-B76578FCC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1041" y="2495463"/>
            <a:ext cx="1657350" cy="1323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879A7C-89EF-4253-9DAA-0C81E093F85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6817"/>
          <a:stretch/>
        </p:blipFill>
        <p:spPr>
          <a:xfrm>
            <a:off x="7854835" y="2632364"/>
            <a:ext cx="1506139" cy="99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51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382</Words>
  <Application>Microsoft Office PowerPoint</Application>
  <PresentationFormat>Widescreen</PresentationFormat>
  <Paragraphs>98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Fragment Core</vt:lpstr>
      <vt:lpstr>Office Theme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We do</vt:lpstr>
      <vt:lpstr>PowerPoint Presentation</vt:lpstr>
      <vt:lpstr>We do</vt:lpstr>
      <vt:lpstr>You 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STRETCH Nine [Baldivis Secondary College]</dc:creator>
  <cp:lastModifiedBy>STRETCH Nine [Baldivis Secondary College]</cp:lastModifiedBy>
  <cp:revision>9</cp:revision>
  <dcterms:created xsi:type="dcterms:W3CDTF">2019-06-03T05:40:35Z</dcterms:created>
  <dcterms:modified xsi:type="dcterms:W3CDTF">2019-06-03T05:52:57Z</dcterms:modified>
</cp:coreProperties>
</file>
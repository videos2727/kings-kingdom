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4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04ED8-B765-4337-892F-2CD65109F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EE08D5-6103-4F53-BB36-41AE38D9CB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1AA1B-6887-4E58-8D00-823162340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1703-E829-4557-BB42-2BFBE9A0578C}" type="datetimeFigureOut">
              <a:rPr lang="en-AU" smtClean="0"/>
              <a:t>7/05/2019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2BBE1-EEB3-4021-81E6-BC19C779D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9B4C3-B217-4E86-8CD6-1BCC7E3CD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E641D-3240-471E-B9B1-68F5E99D90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2414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7750E-5F25-437B-B8C3-8D6B67970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5672E-CE5B-43DB-88AD-8F1AA26DF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0BA6C-0C30-4384-8F78-A531C0794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1703-E829-4557-BB42-2BFBE9A0578C}" type="datetimeFigureOut">
              <a:rPr lang="en-AU" smtClean="0"/>
              <a:t>7/05/2019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A2DAC-451B-4091-B287-D2084F580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9E6A7-0396-4D4C-B09D-74D6A42CD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E641D-3240-471E-B9B1-68F5E99D90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2071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55B2C-BBB6-421E-8602-3071B7C5B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82CF4-0A7C-4369-AD23-BC8479B99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14F12-1DC7-4F7D-A588-BF8D23DF0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1703-E829-4557-BB42-2BFBE9A0578C}" type="datetimeFigureOut">
              <a:rPr lang="en-AU" smtClean="0"/>
              <a:t>7/05/2019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EE51B-1FF1-40D5-BCDD-C3DB20C8E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CDA87-7C5C-4DC5-B094-60D84585A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E641D-3240-471E-B9B1-68F5E99D90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3551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EC23A-66E0-42E4-AA93-AF785FA5E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CCFF2-6535-420F-AF4E-DB6211A3A0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47772B-66D0-4ADA-BCF9-8D2C011D0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1E6BB-F55C-48CF-8004-F97C4EBE4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1703-E829-4557-BB42-2BFBE9A0578C}" type="datetimeFigureOut">
              <a:rPr lang="en-AU" smtClean="0"/>
              <a:t>7/05/2019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92B5C-BF7B-4CAD-B1CB-D4531446A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6C9060-A024-40E7-B235-1114610E9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E641D-3240-471E-B9B1-68F5E99D90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1384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34F66-54C4-4616-BA2D-328009ABC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298CF-8EF0-49C4-B56B-2C702BDE1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461D8-AF40-4AED-8F77-B6408F3DBA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2EABB8-8333-49F3-99D2-D90E74977D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1C0425-0D2A-4C75-97E1-0540A3D57A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1D9698-339D-4F1B-8EDD-98E01A701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1703-E829-4557-BB42-2BFBE9A0578C}" type="datetimeFigureOut">
              <a:rPr lang="en-AU" smtClean="0"/>
              <a:t>7/05/2019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36C46A-2E04-4428-9292-D05936A37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402509-ACFD-4A88-91B7-5341C233E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E641D-3240-471E-B9B1-68F5E99D90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877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33563-96C4-408F-985D-BAE78B0E7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9C9CF-9080-4DEC-ADB0-8933A2EBE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1703-E829-4557-BB42-2BFBE9A0578C}" type="datetimeFigureOut">
              <a:rPr lang="en-AU" smtClean="0"/>
              <a:t>7/05/2019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ECD3A4-54F9-405C-8159-513F0C67A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37381F-F0FA-4568-B771-621C2C31B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E641D-3240-471E-B9B1-68F5E99D90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06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91047D-EF7B-4F81-A3D5-6D85AE132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1703-E829-4557-BB42-2BFBE9A0578C}" type="datetimeFigureOut">
              <a:rPr lang="en-AU" smtClean="0"/>
              <a:t>7/05/2019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4A3B48-E5FE-4814-8C0A-CCC55B551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DBA9C-2160-4CC6-89E3-77C5E29D3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E641D-3240-471E-B9B1-68F5E99D90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488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58CE4-2FBA-485D-8870-9516F1A8C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B6EE8-67DD-49F5-B6E1-3499DB0F1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9E93A-40D2-4658-A1F1-800ED14D41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30732-42BD-4A58-AEA7-729B4A863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1703-E829-4557-BB42-2BFBE9A0578C}" type="datetimeFigureOut">
              <a:rPr lang="en-AU" smtClean="0"/>
              <a:t>7/05/2019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4D37B-C72F-4B83-9FF1-730C61441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08B9D-CC6F-4BB3-9F8A-F2C50819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E641D-3240-471E-B9B1-68F5E99D90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448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33AB7-D878-4CCE-AE49-D679DC8FE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26DC40-C6F1-4713-9E4F-FDD6B2009A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A2D20-612C-4771-9292-ED16BC485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E3F57C-BDE4-4625-9BD3-ACC08679C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1703-E829-4557-BB42-2BFBE9A0578C}" type="datetimeFigureOut">
              <a:rPr lang="en-AU" smtClean="0"/>
              <a:t>7/05/2019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CE068-D6D9-4E7C-85F8-3612C30F0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4163E-F5A3-4705-8850-95F6EB21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E641D-3240-471E-B9B1-68F5E99D90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8383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2F996-5A02-4146-AF8F-27C880A85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9CFFBA-A814-490C-937B-8485F30487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B25D7-6286-4456-9714-C6FC5B9C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1703-E829-4557-BB42-2BFBE9A0578C}" type="datetimeFigureOut">
              <a:rPr lang="en-AU" smtClean="0"/>
              <a:t>7/05/2019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75F97-C894-4203-9DBB-527E150AF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2874F-F0E7-42A8-9E55-EB8D8B5F7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E641D-3240-471E-B9B1-68F5E99D90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7816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C59EB1-3255-477F-A552-2ADA40C6A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A33AD1-4570-443D-BF0C-F3282198E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2010F-BA4F-47F1-B252-9380462B6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1703-E829-4557-BB42-2BFBE9A0578C}" type="datetimeFigureOut">
              <a:rPr lang="en-AU" smtClean="0"/>
              <a:t>7/05/2019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CB596-4F16-4021-B7C0-4E75818FA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4D085-2229-4A5E-905A-D91E0B0E0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E641D-3240-471E-B9B1-68F5E99D90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2530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9C0D52-451F-40AA-A18B-0112B82F1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23195-1B8D-461A-A3E0-C56B91148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B4B3C-29BE-48B4-AE99-09BB4AC984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C41703-E829-4557-BB42-2BFBE9A0578C}" type="datetimeFigureOut">
              <a:rPr lang="en-AU" smtClean="0"/>
              <a:t>7/05/2019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2213C-CB5E-402B-9A92-B452E6CEEB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082AE-AE44-418E-872E-1E4E5858B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E641D-3240-471E-B9B1-68F5E99D90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10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DE03D8-19EF-45A2-8469-33F2B8750055}"/>
              </a:ext>
            </a:extLst>
          </p:cNvPr>
          <p:cNvSpPr txBox="1"/>
          <p:nvPr/>
        </p:nvSpPr>
        <p:spPr>
          <a:xfrm>
            <a:off x="927652" y="1012954"/>
            <a:ext cx="1033669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sz="2800" dirty="0"/>
              <a:t>What is the perimeter of this shape?</a:t>
            </a:r>
          </a:p>
          <a:p>
            <a:pPr marL="342900" indent="-342900">
              <a:buAutoNum type="arabicPeriod"/>
            </a:pPr>
            <a:endParaRPr lang="en-AU" sz="2800" dirty="0"/>
          </a:p>
          <a:p>
            <a:pPr marL="342900" indent="-342900">
              <a:buAutoNum type="arabicPeriod"/>
            </a:pPr>
            <a:r>
              <a:rPr lang="en-AU" sz="2800" dirty="0"/>
              <a:t>What is the area of the shape?</a:t>
            </a:r>
          </a:p>
          <a:p>
            <a:pPr marL="342900" indent="-342900">
              <a:buAutoNum type="arabicPeriod"/>
            </a:pPr>
            <a:endParaRPr lang="en-AU" sz="2800" dirty="0"/>
          </a:p>
          <a:p>
            <a:pPr marL="342900" indent="-342900">
              <a:buAutoNum type="arabicPeriod"/>
            </a:pPr>
            <a:r>
              <a:rPr lang="en-AU" sz="2800" dirty="0"/>
              <a:t>What are the prime factors of 56?</a:t>
            </a:r>
          </a:p>
          <a:p>
            <a:pPr marL="342900" indent="-342900">
              <a:buAutoNum type="arabicPeriod"/>
            </a:pPr>
            <a:endParaRPr lang="en-AU" sz="2800" dirty="0"/>
          </a:p>
          <a:p>
            <a:pPr marL="342900" indent="-342900">
              <a:buAutoNum type="arabicPeriod"/>
            </a:pPr>
            <a:r>
              <a:rPr lang="en-AU" sz="2800" dirty="0"/>
              <a:t>A new computer is advertised as $300 and then discounted by 15%.  What is the new price</a:t>
            </a:r>
          </a:p>
          <a:p>
            <a:pPr marL="342900" indent="-342900">
              <a:buAutoNum type="arabicPeriod"/>
            </a:pPr>
            <a:endParaRPr lang="en-AU" sz="2800" dirty="0"/>
          </a:p>
          <a:p>
            <a:pPr marL="342900" indent="-342900">
              <a:buAutoNum type="arabicPeriod"/>
            </a:pPr>
            <a:r>
              <a:rPr lang="en-AU" sz="2800" dirty="0"/>
              <a:t>Three friends measure their heights as 110cm,  127cm and 123cm.  What is their average height?</a:t>
            </a:r>
          </a:p>
        </p:txBody>
      </p:sp>
    </p:spTree>
    <p:extLst>
      <p:ext uri="{BB962C8B-B14F-4D97-AF65-F5344CB8AC3E}">
        <p14:creationId xmlns:p14="http://schemas.microsoft.com/office/powerpoint/2010/main" val="1844483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A7792-57DD-4537-B407-F274B53E7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7227" y="-309348"/>
            <a:ext cx="10515600" cy="1325563"/>
          </a:xfrm>
        </p:spPr>
        <p:txBody>
          <a:bodyPr>
            <a:normAutofit/>
          </a:bodyPr>
          <a:lstStyle/>
          <a:p>
            <a:r>
              <a:rPr lang="en-AU" dirty="0"/>
              <a:t>How do I make a decimal out of a fraction?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B4F8D6-9036-4EC3-AD5C-87E3320A4149}"/>
              </a:ext>
            </a:extLst>
          </p:cNvPr>
          <p:cNvSpPr txBox="1"/>
          <p:nvPr/>
        </p:nvSpPr>
        <p:spPr>
          <a:xfrm>
            <a:off x="783535" y="600716"/>
            <a:ext cx="106249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Using the halving technique….</a:t>
            </a:r>
          </a:p>
          <a:p>
            <a:r>
              <a:rPr lang="en-AU" sz="2400" dirty="0"/>
              <a:t>Find half and a quarter of the following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EE9B8F2-47BD-4D16-91D4-D511898251C5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586410" y="1413984"/>
              <a:ext cx="5509590" cy="451739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836530">
                      <a:extLst>
                        <a:ext uri="{9D8B030D-6E8A-4147-A177-3AD203B41FA5}">
                          <a16:colId xmlns:a16="http://schemas.microsoft.com/office/drawing/2014/main" val="1241023571"/>
                        </a:ext>
                      </a:extLst>
                    </a:gridCol>
                    <a:gridCol w="1836530">
                      <a:extLst>
                        <a:ext uri="{9D8B030D-6E8A-4147-A177-3AD203B41FA5}">
                          <a16:colId xmlns:a16="http://schemas.microsoft.com/office/drawing/2014/main" val="1725743059"/>
                        </a:ext>
                      </a:extLst>
                    </a:gridCol>
                    <a:gridCol w="1836530">
                      <a:extLst>
                        <a:ext uri="{9D8B030D-6E8A-4147-A177-3AD203B41FA5}">
                          <a16:colId xmlns:a16="http://schemas.microsoft.com/office/drawing/2014/main" val="20379111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986872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sz="2800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12318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sz="28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198645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sz="28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38567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sz="2800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237652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sz="2800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44663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sz="28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40519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sz="28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83803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EE9B8F2-47BD-4D16-91D4-D511898251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6162053"/>
                  </p:ext>
                </p:extLst>
              </p:nvPr>
            </p:nvGraphicFramePr>
            <p:xfrm>
              <a:off x="586410" y="1413984"/>
              <a:ext cx="5509590" cy="451739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836530">
                      <a:extLst>
                        <a:ext uri="{9D8B030D-6E8A-4147-A177-3AD203B41FA5}">
                          <a16:colId xmlns:a16="http://schemas.microsoft.com/office/drawing/2014/main" val="1241023571"/>
                        </a:ext>
                      </a:extLst>
                    </a:gridCol>
                    <a:gridCol w="1836530">
                      <a:extLst>
                        <a:ext uri="{9D8B030D-6E8A-4147-A177-3AD203B41FA5}">
                          <a16:colId xmlns:a16="http://schemas.microsoft.com/office/drawing/2014/main" val="1725743059"/>
                        </a:ext>
                      </a:extLst>
                    </a:gridCol>
                    <a:gridCol w="1836530">
                      <a:extLst>
                        <a:ext uri="{9D8B030D-6E8A-4147-A177-3AD203B41FA5}">
                          <a16:colId xmlns:a16="http://schemas.microsoft.com/office/drawing/2014/main" val="2037911109"/>
                        </a:ext>
                      </a:extLst>
                    </a:gridCol>
                  </a:tblGrid>
                  <a:tr h="890270">
                    <a:tc>
                      <a:txBody>
                        <a:bodyPr/>
                        <a:lstStyle/>
                        <a:p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685" r="-101325" b="-428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664" t="-685" r="-1661" b="-428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868723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AU" sz="2800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123184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AU" sz="28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1986452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AU" sz="28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3856787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AU" sz="2800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2376524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AU" sz="2800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4466331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AU" sz="28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405199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AU" sz="28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838037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DB3DA32-C86B-400B-B989-DD010BB19666}"/>
              </a:ext>
            </a:extLst>
          </p:cNvPr>
          <p:cNvSpPr txBox="1"/>
          <p:nvPr/>
        </p:nvSpPr>
        <p:spPr>
          <a:xfrm>
            <a:off x="7572505" y="869546"/>
            <a:ext cx="10624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Now try this….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0371076-C141-453E-8536-9751EFCE108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556514" y="1600039"/>
          <a:ext cx="5509590" cy="4145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36530">
                  <a:extLst>
                    <a:ext uri="{9D8B030D-6E8A-4147-A177-3AD203B41FA5}">
                      <a16:colId xmlns:a16="http://schemas.microsoft.com/office/drawing/2014/main" val="1241023571"/>
                    </a:ext>
                  </a:extLst>
                </a:gridCol>
                <a:gridCol w="1836530">
                  <a:extLst>
                    <a:ext uri="{9D8B030D-6E8A-4147-A177-3AD203B41FA5}">
                      <a16:colId xmlns:a16="http://schemas.microsoft.com/office/drawing/2014/main" val="1725743059"/>
                    </a:ext>
                  </a:extLst>
                </a:gridCol>
                <a:gridCol w="1836530">
                  <a:extLst>
                    <a:ext uri="{9D8B030D-6E8A-4147-A177-3AD203B41FA5}">
                      <a16:colId xmlns:a16="http://schemas.microsoft.com/office/drawing/2014/main" val="20379111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÷2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÷4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687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8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231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8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864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567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800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765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8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663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051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38037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801E9D3-7CBB-4165-93CF-8591EA118D6A}"/>
              </a:ext>
            </a:extLst>
          </p:cNvPr>
          <p:cNvSpPr txBox="1"/>
          <p:nvPr/>
        </p:nvSpPr>
        <p:spPr>
          <a:xfrm>
            <a:off x="2024555" y="6099700"/>
            <a:ext cx="9063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What is the link between division and fractions?</a:t>
            </a:r>
          </a:p>
        </p:txBody>
      </p:sp>
    </p:spTree>
    <p:extLst>
      <p:ext uri="{BB962C8B-B14F-4D97-AF65-F5344CB8AC3E}">
        <p14:creationId xmlns:p14="http://schemas.microsoft.com/office/powerpoint/2010/main" val="2418835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43853D-2578-4A14-858E-035C2F030EB4}"/>
              </a:ext>
            </a:extLst>
          </p:cNvPr>
          <p:cNvSpPr txBox="1"/>
          <p:nvPr/>
        </p:nvSpPr>
        <p:spPr>
          <a:xfrm>
            <a:off x="410816" y="92765"/>
            <a:ext cx="4462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Topic: Fractions to decimals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6FBC4B-8514-4AF4-97A9-06558B145C99}"/>
              </a:ext>
            </a:extLst>
          </p:cNvPr>
          <p:cNvSpPr txBox="1"/>
          <p:nvPr/>
        </p:nvSpPr>
        <p:spPr>
          <a:xfrm>
            <a:off x="410816" y="582231"/>
            <a:ext cx="118165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How do we convert fractions to decimals and percentages?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567637-ADEA-42D1-A005-6129820B7561}"/>
                  </a:ext>
                </a:extLst>
              </p:cNvPr>
              <p:cNvSpPr txBox="1"/>
              <p:nvPr/>
            </p:nvSpPr>
            <p:spPr>
              <a:xfrm>
                <a:off x="1431234" y="1024160"/>
                <a:ext cx="4664766" cy="6469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To convert a fraction to a decimal we divide the top number of the fraction by the bottom number.</a:t>
                </a:r>
              </a:p>
              <a:p>
                <a:endParaRPr lang="en-AU" sz="2400" dirty="0"/>
              </a:p>
              <a:p>
                <a:r>
                  <a:rPr lang="en-AU" sz="2400" dirty="0" err="1"/>
                  <a:t>Eg</a:t>
                </a:r>
                <a:r>
                  <a:rPr lang="en-AU" sz="2400" dirty="0"/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 =1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÷2=0.5</m:t>
                    </m:r>
                  </m:oMath>
                </a14:m>
                <a:endParaRPr lang="en-AU" sz="2400" b="0" dirty="0">
                  <a:ea typeface="Cambria Math" panose="02040503050406030204" pitchFamily="18" charset="0"/>
                </a:endParaRPr>
              </a:p>
              <a:p>
                <a:endParaRPr lang="en-AU" sz="2400" dirty="0">
                  <a:ea typeface="Cambria Math" panose="02040503050406030204" pitchFamily="18" charset="0"/>
                </a:endParaRPr>
              </a:p>
              <a:p>
                <a:r>
                  <a:rPr lang="en-AU" sz="2400" dirty="0">
                    <a:ea typeface="Cambria Math" panose="02040503050406030204" pitchFamily="18" charset="0"/>
                  </a:rPr>
                  <a:t>        </a:t>
                </a:r>
                <a:endParaRPr lang="en-AU" sz="2400" b="0" dirty="0">
                  <a:ea typeface="Cambria Math" panose="02040503050406030204" pitchFamily="18" charset="0"/>
                </a:endParaRPr>
              </a:p>
              <a:p>
                <a:r>
                  <a:rPr lang="en-AU" sz="2400" b="0" dirty="0">
                    <a:ea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 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endParaRPr lang="en-AU" sz="2400" b="0" dirty="0">
                  <a:ea typeface="Cambria Math" panose="02040503050406030204" pitchFamily="18" charset="0"/>
                </a:endParaRPr>
              </a:p>
              <a:p>
                <a:endParaRPr lang="en-AU" sz="2400" b="0" dirty="0">
                  <a:ea typeface="Cambria Math" panose="02040503050406030204" pitchFamily="18" charset="0"/>
                </a:endParaRPr>
              </a:p>
              <a:p>
                <a:endParaRPr lang="en-AU" sz="2400" dirty="0">
                  <a:ea typeface="Cambria Math" panose="02040503050406030204" pitchFamily="18" charset="0"/>
                </a:endParaRPr>
              </a:p>
              <a:p>
                <a:endParaRPr lang="en-AU" sz="2400" b="0" dirty="0">
                  <a:ea typeface="Cambria Math" panose="02040503050406030204" pitchFamily="18" charset="0"/>
                </a:endParaRPr>
              </a:p>
              <a:p>
                <a:r>
                  <a:rPr lang="en-AU" sz="2400" dirty="0">
                    <a:ea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 =1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÷8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1.875</m:t>
                    </m:r>
                  </m:oMath>
                </a14:m>
                <a:endParaRPr lang="en-AU" sz="2400" b="0" dirty="0">
                  <a:ea typeface="Cambria Math" panose="02040503050406030204" pitchFamily="18" charset="0"/>
                </a:endParaRPr>
              </a:p>
              <a:p>
                <a:endParaRPr lang="en-AU" sz="2400" b="0" dirty="0">
                  <a:ea typeface="Cambria Math" panose="02040503050406030204" pitchFamily="18" charset="0"/>
                </a:endParaRPr>
              </a:p>
              <a:p>
                <a:endParaRPr lang="en-AU" sz="2400" b="0" dirty="0">
                  <a:ea typeface="Cambria Math" panose="02040503050406030204" pitchFamily="18" charset="0"/>
                </a:endParaRPr>
              </a:p>
              <a:p>
                <a:r>
                  <a:rPr lang="en-AU" sz="2400" dirty="0"/>
                  <a:t>	</a:t>
                </a:r>
              </a:p>
              <a:p>
                <a:endParaRPr lang="en-AU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567637-ADEA-42D1-A005-6129820B7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234" y="1024160"/>
                <a:ext cx="4664766" cy="6469913"/>
              </a:xfrm>
              <a:prstGeom prst="rect">
                <a:avLst/>
              </a:prstGeom>
              <a:blipFill>
                <a:blip r:embed="rId2"/>
                <a:stretch>
                  <a:fillRect l="-2092" t="-75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D0097F4-59C1-4F34-A7F2-90C2716648C6}"/>
                  </a:ext>
                </a:extLst>
              </p:cNvPr>
              <p:cNvSpPr txBox="1"/>
              <p:nvPr/>
            </p:nvSpPr>
            <p:spPr>
              <a:xfrm>
                <a:off x="6705600" y="1378226"/>
                <a:ext cx="5201475" cy="61623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To convert a decimal to a percentage we multiple it by 100.</a:t>
                </a:r>
              </a:p>
              <a:p>
                <a:endParaRPr lang="en-AU" sz="2400" dirty="0"/>
              </a:p>
              <a:p>
                <a:r>
                  <a:rPr lang="en-AU" sz="2400" dirty="0" err="1"/>
                  <a:t>Eg</a:t>
                </a:r>
                <a:r>
                  <a:rPr lang="en-AU" sz="2400" dirty="0"/>
                  <a:t>   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.5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×100=50%</m:t>
                    </m:r>
                  </m:oMath>
                </a14:m>
                <a:endParaRPr lang="en-AU" sz="2400" b="0" dirty="0">
                  <a:ea typeface="Cambria Math" panose="02040503050406030204" pitchFamily="18" charset="0"/>
                </a:endParaRPr>
              </a:p>
              <a:p>
                <a:endParaRPr lang="en-AU" sz="2400" dirty="0">
                  <a:ea typeface="Cambria Math" panose="02040503050406030204" pitchFamily="18" charset="0"/>
                </a:endParaRPr>
              </a:p>
              <a:p>
                <a:r>
                  <a:rPr lang="en-AU" sz="2400" dirty="0">
                    <a:ea typeface="Cambria Math" panose="02040503050406030204" pitchFamily="18" charset="0"/>
                  </a:rPr>
                  <a:t>        </a:t>
                </a:r>
              </a:p>
              <a:p>
                <a:endParaRPr lang="en-AU" sz="2400" b="0" dirty="0">
                  <a:ea typeface="Cambria Math" panose="02040503050406030204" pitchFamily="18" charset="0"/>
                </a:endParaRPr>
              </a:p>
              <a:p>
                <a:r>
                  <a:rPr lang="en-AU" sz="2400" b="0" dirty="0">
                    <a:ea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.3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×100=30%</m:t>
                    </m:r>
                  </m:oMath>
                </a14:m>
                <a:endParaRPr lang="en-AU" sz="2400" b="0" dirty="0">
                  <a:ea typeface="Cambria Math" panose="02040503050406030204" pitchFamily="18" charset="0"/>
                </a:endParaRPr>
              </a:p>
              <a:p>
                <a:endParaRPr lang="en-AU" sz="2400" b="0" dirty="0">
                  <a:ea typeface="Cambria Math" panose="02040503050406030204" pitchFamily="18" charset="0"/>
                </a:endParaRPr>
              </a:p>
              <a:p>
                <a:endParaRPr lang="en-AU" sz="2400" dirty="0">
                  <a:ea typeface="Cambria Math" panose="02040503050406030204" pitchFamily="18" charset="0"/>
                </a:endParaRPr>
              </a:p>
              <a:p>
                <a:endParaRPr lang="en-AU" sz="2400" b="0" dirty="0">
                  <a:ea typeface="Cambria Math" panose="02040503050406030204" pitchFamily="18" charset="0"/>
                </a:endParaRPr>
              </a:p>
              <a:p>
                <a:pPr/>
                <a:r>
                  <a:rPr lang="en-AU" sz="2400" b="0" dirty="0">
                    <a:ea typeface="Cambria Math" panose="02040503050406030204" pitchFamily="18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1.875 ×100=187.5%</m:t>
                    </m:r>
                  </m:oMath>
                </a14:m>
                <a:endParaRPr lang="en-AU" sz="2400" b="0" dirty="0">
                  <a:ea typeface="Cambria Math" panose="02040503050406030204" pitchFamily="18" charset="0"/>
                </a:endParaRPr>
              </a:p>
              <a:p>
                <a:endParaRPr lang="en-AU" sz="2400" b="0" dirty="0">
                  <a:ea typeface="Cambria Math" panose="02040503050406030204" pitchFamily="18" charset="0"/>
                </a:endParaRPr>
              </a:p>
              <a:p>
                <a:endParaRPr lang="en-AU" sz="2400" b="0" dirty="0">
                  <a:ea typeface="Cambria Math" panose="02040503050406030204" pitchFamily="18" charset="0"/>
                </a:endParaRPr>
              </a:p>
              <a:p>
                <a:r>
                  <a:rPr lang="en-AU" sz="2400" dirty="0"/>
                  <a:t>	</a:t>
                </a:r>
              </a:p>
              <a:p>
                <a:endParaRPr lang="en-AU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D0097F4-59C1-4F34-A7F2-90C271664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1378226"/>
                <a:ext cx="5201475" cy="6162393"/>
              </a:xfrm>
              <a:prstGeom prst="rect">
                <a:avLst/>
              </a:prstGeom>
              <a:blipFill>
                <a:blip r:embed="rId3"/>
                <a:stretch>
                  <a:fillRect l="-1758" t="-791" r="-222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C2151C-616B-4D6F-9FA5-2F820A9C1D69}"/>
              </a:ext>
            </a:extLst>
          </p:cNvPr>
          <p:cNvCxnSpPr/>
          <p:nvPr/>
        </p:nvCxnSpPr>
        <p:spPr>
          <a:xfrm>
            <a:off x="0" y="1043896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F8DBC31-C11E-4AA3-8076-68F0B993A43D}"/>
              </a:ext>
            </a:extLst>
          </p:cNvPr>
          <p:cNvCxnSpPr/>
          <p:nvPr/>
        </p:nvCxnSpPr>
        <p:spPr>
          <a:xfrm>
            <a:off x="0" y="54521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DDA91D2-1038-4C55-91B1-6BEF175F7E93}"/>
              </a:ext>
            </a:extLst>
          </p:cNvPr>
          <p:cNvCxnSpPr>
            <a:cxnSpLocks/>
          </p:cNvCxnSpPr>
          <p:nvPr/>
        </p:nvCxnSpPr>
        <p:spPr>
          <a:xfrm>
            <a:off x="1338469" y="1043896"/>
            <a:ext cx="0" cy="5814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054910F-9AC2-4727-9CA4-52F22F92A3A7}"/>
              </a:ext>
            </a:extLst>
          </p:cNvPr>
          <p:cNvCxnSpPr>
            <a:cxnSpLocks/>
          </p:cNvCxnSpPr>
          <p:nvPr/>
        </p:nvCxnSpPr>
        <p:spPr>
          <a:xfrm>
            <a:off x="6314660" y="1043896"/>
            <a:ext cx="0" cy="5814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50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D746B01-DAFB-4937-ADDF-9D8689D550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790555"/>
                  </p:ext>
                </p:extLst>
              </p:nvPr>
            </p:nvGraphicFramePr>
            <p:xfrm>
              <a:off x="1713948" y="177618"/>
              <a:ext cx="8127999" cy="60173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4194410642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973392527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47497099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sz="3200" dirty="0"/>
                            <a:t>Fraction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3200" dirty="0"/>
                            <a:t>Decimal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3200" dirty="0"/>
                            <a:t>Percentage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27662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A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73298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A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93377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den>
                                </m:f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A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54049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A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39953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A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7540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f>
                                  <m:fPr>
                                    <m:ctrlPr>
                                      <a:rPr lang="en-A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A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03669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den>
                                </m:f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A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355294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D746B01-DAFB-4937-ADDF-9D8689D550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790555"/>
                  </p:ext>
                </p:extLst>
              </p:nvPr>
            </p:nvGraphicFramePr>
            <p:xfrm>
              <a:off x="1713948" y="177618"/>
              <a:ext cx="8127999" cy="60173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4194410642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973392527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474970993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r>
                            <a:rPr lang="en-AU" sz="3200" dirty="0"/>
                            <a:t>Fraction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3200" dirty="0"/>
                            <a:t>Decimal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3200" dirty="0"/>
                            <a:t>Percentage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2766277"/>
                      </a:ext>
                    </a:extLst>
                  </a:tr>
                  <a:tr h="77622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" t="-84375" r="-200674" b="-5992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7329861"/>
                      </a:ext>
                    </a:extLst>
                  </a:tr>
                  <a:tr h="77857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" t="-185827" r="-200674" b="-5039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9337763"/>
                      </a:ext>
                    </a:extLst>
                  </a:tr>
                  <a:tr h="77616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" t="-283594" r="-200674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5404975"/>
                      </a:ext>
                    </a:extLst>
                  </a:tr>
                  <a:tr h="77622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" t="-386614" r="-200674" b="-3031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3995382"/>
                      </a:ext>
                    </a:extLst>
                  </a:tr>
                  <a:tr h="77622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" t="-482813" r="-200674" b="-2007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7540388"/>
                      </a:ext>
                    </a:extLst>
                  </a:tr>
                  <a:tr h="77622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" t="-587402" r="-200674" b="-1023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0366911"/>
                      </a:ext>
                    </a:extLst>
                  </a:tr>
                  <a:tr h="77857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" t="-682031" r="-200674" b="-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355294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75975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214</Words>
  <Application>Microsoft Office PowerPoint</Application>
  <PresentationFormat>Widescreen</PresentationFormat>
  <Paragraphs>71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Office Theme</vt:lpstr>
      <vt:lpstr>PowerPoint Presentation</vt:lpstr>
      <vt:lpstr>How do I make a decimal out of a fraction?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6</cp:revision>
  <dcterms:created xsi:type="dcterms:W3CDTF">2019-05-07T14:00:54Z</dcterms:created>
  <dcterms:modified xsi:type="dcterms:W3CDTF">2019-05-07T14:55:21Z</dcterms:modified>
</cp:coreProperties>
</file>
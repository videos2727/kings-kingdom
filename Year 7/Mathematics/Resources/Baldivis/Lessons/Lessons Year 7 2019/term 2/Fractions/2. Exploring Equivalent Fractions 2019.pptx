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77" r:id="rId3"/>
    <p:sldId id="261" r:id="rId4"/>
    <p:sldId id="269" r:id="rId5"/>
    <p:sldId id="268" r:id="rId6"/>
    <p:sldId id="270" r:id="rId7"/>
    <p:sldId id="272" r:id="rId8"/>
    <p:sldId id="271" r:id="rId9"/>
    <p:sldId id="273" r:id="rId10"/>
    <p:sldId id="265" r:id="rId11"/>
    <p:sldId id="274" r:id="rId12"/>
    <p:sldId id="275" r:id="rId13"/>
    <p:sldId id="276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73278" autoAdjust="0"/>
  </p:normalViewPr>
  <p:slideViewPr>
    <p:cSldViewPr snapToGrid="0">
      <p:cViewPr varScale="1">
        <p:scale>
          <a:sx n="66" d="100"/>
          <a:sy n="66" d="100"/>
        </p:scale>
        <p:origin x="82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76411-9A63-4930-9263-1E1D8E3CF4E5}" type="datetimeFigureOut">
              <a:rPr lang="en-AU" smtClean="0"/>
              <a:t>28/05/2019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45663-1115-4C81-9479-D921F23B6D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1378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8085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3414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Each student gets two circles.</a:t>
            </a:r>
          </a:p>
          <a:p>
            <a:endParaRPr lang="en-AU" dirty="0"/>
          </a:p>
          <a:p>
            <a:r>
              <a:rPr lang="en-AU" dirty="0"/>
              <a:t>Students may explain that the fractions, three quarters and six eights represent the same amount of pizza.</a:t>
            </a:r>
          </a:p>
          <a:p>
            <a:r>
              <a:rPr lang="en-AU" dirty="0"/>
              <a:t>Some can explain the concrete representation of the fractions but not understand the representation.</a:t>
            </a:r>
          </a:p>
          <a:p>
            <a:endParaRPr lang="en-AU" dirty="0"/>
          </a:p>
          <a:p>
            <a:r>
              <a:rPr lang="en-AU" dirty="0"/>
              <a:t>Ask the students what these fractions are called.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2E5913-6273-401C-85B4-645E21EF252F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3701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820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Students may explain that when quarters of a pizza are partitioned into eighths, the size of the pieces is halved and the number of pieces is doubled. </a:t>
            </a:r>
            <a:endParaRPr lang="en-AU" sz="1800" i="1" dirty="0">
              <a:solidFill>
                <a:prstClr val="black"/>
              </a:solidFill>
              <a:latin typeface="+mn-lt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78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Students may explain that when quarters of a pizza are partitioned into eighths, the size of the pieces is halved and the number of pieces is doubled. </a:t>
            </a:r>
            <a:endParaRPr lang="en-AU" sz="1800" i="1" dirty="0">
              <a:solidFill>
                <a:prstClr val="black"/>
              </a:solidFill>
              <a:latin typeface="+mn-lt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61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1. Explain to students how this is represented with numbers. The numerator, 3, of 3/4 that represents the three pieces of pizza is multiplied by 2 to become 6 pieces of pizza in 6/8. </a:t>
            </a:r>
          </a:p>
          <a:p>
            <a:endParaRPr lang="en-AU" dirty="0"/>
          </a:p>
          <a:p>
            <a:endParaRPr lang="en-A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Explain how this is represented with numbers. The denominator, 4, of 3/4 indicates the size of each piece of pizza is one quarter. When 4 is multiplied by 2 to become 8 in 6/8 the 8 indicates the size of each piece of pizza is one eighth.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21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9005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Students may explain that when quarters of a pizza are partitioned into eighths, the size of the pieces is halved and the number of pieces is doubled. </a:t>
            </a:r>
            <a:endParaRPr lang="en-AU" sz="1800" i="1" dirty="0">
              <a:solidFill>
                <a:prstClr val="black"/>
              </a:solidFill>
              <a:latin typeface="+mn-lt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26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how this is represented with numbers. The numerator, 6, of 6/8 that represents six pieces of pizza is divided by 2 to become 3 pieces of pizza in 3/4. </a:t>
            </a:r>
          </a:p>
          <a:p>
            <a:pPr marL="228600" indent="-228600">
              <a:buAutoNum type="arabicPeriod"/>
            </a:pPr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denominator, 8, of 6/8 indicates the size of each piece of pizza is one eighth. When 8 is divided by 2 to become 4 in 3/4 the size of each piece of pizza is one quarter.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7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how this is represented with numbers. The numerator, 6, of 6/8 that represents six pieces of pizza is divided by 2 to become 3 pieces of pizza in 3/4. </a:t>
            </a:r>
          </a:p>
          <a:p>
            <a:pPr marL="228600" indent="-228600">
              <a:buAutoNum type="arabicPeriod"/>
            </a:pPr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denominator, 8, of 6/8 indicates the size of each piece of pizza is one eighth. When 8 is divided by 2 to become 4 in 3/4 the size of each piece of pizza is one quarter. 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316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Explain to students that because the digits, 3 and 4, in the number 3/4 are smaller than the digits, 6 and 8, in the number 6/8 , 3/4 is called a </a:t>
            </a:r>
            <a:r>
              <a:rPr lang="en-GB" b="1" dirty="0"/>
              <a:t>simpler form of 6/8 .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942735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Students may explain that the fractions, two thirds and six ninths, represent the same amount or quantity of pizza. </a:t>
            </a:r>
          </a:p>
          <a:p>
            <a:pPr marL="228600" lvl="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Because two thirds and six ninths are different names for the same amount or number. </a:t>
            </a:r>
          </a:p>
          <a:p>
            <a:pPr marL="228600" lvl="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Students may explain that when thirds of a pizza are partitioned into ninths, the size of the pieces is three times smaller and the number of pieces is three times larger. </a:t>
            </a:r>
          </a:p>
          <a:p>
            <a:pPr marL="228600" lvl="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Multiplying the numerator by 3 makes the number of pieces three times greater. Multiplying the denominator by 3 makes each piece three times smaller. </a:t>
            </a:r>
            <a:r>
              <a:rPr lang="en-GB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Dividing the numerator by three makes the number of pieces three times smaller (or fewer), Dividing the denominator by 3 makes the size of the piece three times larger three times smaller (or greater).</a:t>
            </a:r>
          </a:p>
          <a:p>
            <a:pPr marL="228600" lvl="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endParaRPr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281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3F873-CE19-47FE-8B81-3D56735ED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CE7EB-96B5-4C01-B521-07962593A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9E535-EC7C-4714-AF9D-9D33C5A36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43917-8C23-4C35-B489-33EA80D8EC51}" type="datetimeFigureOut">
              <a:rPr lang="en-AU" smtClean="0"/>
              <a:t>28/05/2019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E4BAE-1C4E-4EFF-891E-78A1DB8E6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B8-4001-4973-873D-AE4AE3DA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B1701-D6C1-4593-9CA9-E78BB125E9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3989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27BB-A472-4999-BB90-3834C2AE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76628-D15A-46BD-BCF5-B0F005907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F0AC8-3417-4562-9C09-B865CF52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43917-8C23-4C35-B489-33EA80D8EC51}" type="datetimeFigureOut">
              <a:rPr lang="en-AU" smtClean="0"/>
              <a:t>28/05/2019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6FF28-05DA-4A9B-B3D8-09B5FA8B1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4013C-5FC9-4A37-9BBD-8F1DA773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B1701-D6C1-4593-9CA9-E78BB125E9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9375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F59F6-F59D-4D8D-BAC0-C5634DE7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6FDAB-7898-4E25-B6CC-8420EF85A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FD0D9-882A-46CB-92CC-219794CFA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43917-8C23-4C35-B489-33EA80D8EC51}" type="datetimeFigureOut">
              <a:rPr lang="en-AU" smtClean="0"/>
              <a:t>28/05/2019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9A930-6B74-46D8-B7CA-5CC6A0CD5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A055E-8F2D-43FD-AF72-EE86D9E3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B1701-D6C1-4593-9CA9-E78BB125E9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303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A5218-BA7E-430F-8580-D865BC3E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A7916-E89A-44E2-BFAB-4BB3F80E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2F09C-A5E7-4730-BC4A-191BE3007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73E10-F337-496F-AF57-EAE7342A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43917-8C23-4C35-B489-33EA80D8EC51}" type="datetimeFigureOut">
              <a:rPr lang="en-AU" smtClean="0"/>
              <a:t>28/05/2019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80C51-C6BC-4DB5-ADE1-FE6B06EC6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E3372-7A11-40C9-A96F-D3002ECF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B1701-D6C1-4593-9CA9-E78BB125E9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478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EB407-C2B9-466D-AE55-9364B0BD9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698A6-B48A-47E8-84FD-74DF080FC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841B3-E9AC-4BA8-AA52-28CFA8AE0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A610-988C-41BE-B6E1-79BAF0C3E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62273F-20EE-4E66-88BE-F14C414BD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301618-1C57-4CB5-82AE-ABCB1E00F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43917-8C23-4C35-B489-33EA80D8EC51}" type="datetimeFigureOut">
              <a:rPr lang="en-AU" smtClean="0"/>
              <a:t>28/05/2019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9EAA67-A0D4-476A-928D-FFF88317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F4E30D-456B-440E-9BE4-0D33ECA1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B1701-D6C1-4593-9CA9-E78BB125E9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601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7BC40-B477-45AB-9FCE-9B9FB273C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80B802-EF11-4295-9646-FCE0C6C7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43917-8C23-4C35-B489-33EA80D8EC51}" type="datetimeFigureOut">
              <a:rPr lang="en-AU" smtClean="0"/>
              <a:t>28/05/2019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1C9B5-EE1A-4A40-A856-906ABF5C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500AB-6D7E-4125-AAC9-4A14BDE3B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B1701-D6C1-4593-9CA9-E78BB125E9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691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FE35AA-B8ED-4786-AB7A-4F93FCA41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43917-8C23-4C35-B489-33EA80D8EC51}" type="datetimeFigureOut">
              <a:rPr lang="en-AU" smtClean="0"/>
              <a:t>28/05/2019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22EE73-3571-4655-B2C0-C658F6BEF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F434C-2107-4AF0-A5C0-80E84283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B1701-D6C1-4593-9CA9-E78BB125E9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1973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C4BE-2C83-42C9-8996-9906E8CFF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7556-4C96-466F-9E20-C4557DC3D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973D5-939F-4BED-8ED0-D8AD0BD53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3E72E-27FC-4DC9-A88D-65522D9AC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43917-8C23-4C35-B489-33EA80D8EC51}" type="datetimeFigureOut">
              <a:rPr lang="en-AU" smtClean="0"/>
              <a:t>28/05/2019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A1404-84E7-4ED5-A09D-B8D3E1B8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D51B7-423D-4A83-91CC-2328E401A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B1701-D6C1-4593-9CA9-E78BB125E9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956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C99D-2E48-432E-8050-DA8764785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EA6E61-4B03-46B9-8693-2B1523069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31230-4AB7-4CF1-8B40-25E175F07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FC60E-B8B0-4CC0-8A5F-5D7C51F5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43917-8C23-4C35-B489-33EA80D8EC51}" type="datetimeFigureOut">
              <a:rPr lang="en-AU" smtClean="0"/>
              <a:t>28/05/2019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F42C3-39C9-4370-A21D-FA8C4F72E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B1CA1-4E25-4E14-A46B-27D809569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B1701-D6C1-4593-9CA9-E78BB125E9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4785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6F288-B2B5-49AC-8065-B154CD568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A71BE6-C7F6-4F83-A93E-69455FA81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98E14-9AA7-4A1A-AF4E-16F6961DA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43917-8C23-4C35-B489-33EA80D8EC51}" type="datetimeFigureOut">
              <a:rPr lang="en-AU" smtClean="0"/>
              <a:t>28/05/2019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7BCD8-8CFB-4A8E-A812-8CDA93B00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BE2EE-CCAA-4EB9-9264-44405CDA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B1701-D6C1-4593-9CA9-E78BB125E9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9448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8220FF-067D-4033-9EAE-66B459960B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2A0D1-27DB-445D-A04E-A73A3E79F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66F19-291D-4D25-BD51-96ECBE836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43917-8C23-4C35-B489-33EA80D8EC51}" type="datetimeFigureOut">
              <a:rPr lang="en-AU" smtClean="0"/>
              <a:t>28/05/2019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6A398-90E2-4CB9-8A5D-6520BE1D4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3CC06-1D72-4C02-919B-3B6048C45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B1701-D6C1-4593-9CA9-E78BB125E9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4710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17599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58065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01048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25661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5591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CCE95-CDC5-402D-8CEE-5558AE3F5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D0D4D-FBCB-4227-972A-DA8840DAE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4FC87-8412-41A5-A70C-1063DF36C6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43917-8C23-4C35-B489-33EA80D8EC51}" type="datetimeFigureOut">
              <a:rPr lang="en-AU" smtClean="0"/>
              <a:t>28/05/2019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3CCA9-9138-4F71-87D1-CED9ED8AC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E2420-DB71-4E59-A556-CEFA80598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B1701-D6C1-4593-9CA9-E78BB125E9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3729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Mrs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7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29" y="544058"/>
            <a:ext cx="9446339" cy="2503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Exploring Equivalent Fractions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936A7-BBA8-462E-903F-31399C123F55}"/>
              </a:ext>
            </a:extLst>
          </p:cNvPr>
          <p:cNvSpPr txBox="1"/>
          <p:nvPr/>
        </p:nvSpPr>
        <p:spPr>
          <a:xfrm>
            <a:off x="792185" y="3429000"/>
            <a:ext cx="10607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equivalent fractions?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C9A47-A02E-419D-9671-F73C95C73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638" y="1752600"/>
            <a:ext cx="8835048" cy="4213600"/>
          </a:xfrm>
        </p:spPr>
        <p:txBody>
          <a:bodyPr/>
          <a:lstStyle/>
          <a:p>
            <a:r>
              <a:rPr lang="en-AU" dirty="0"/>
              <a:t>What is the perimeter of a shape?</a:t>
            </a:r>
          </a:p>
          <a:p>
            <a:r>
              <a:rPr lang="en-AU" dirty="0"/>
              <a:t>Round the decimal to 3 </a:t>
            </a:r>
            <a:r>
              <a:rPr lang="en-AU" dirty="0" err="1"/>
              <a:t>d.p</a:t>
            </a:r>
            <a:r>
              <a:rPr lang="en-AU" dirty="0"/>
              <a:t> = 64.356</a:t>
            </a:r>
          </a:p>
          <a:p>
            <a:r>
              <a:rPr lang="en-AU" dirty="0"/>
              <a:t>Multiply the following 25 x 30 (don’t use calculator)</a:t>
            </a:r>
          </a:p>
          <a:p>
            <a:r>
              <a:rPr lang="en-AU" dirty="0"/>
              <a:t>Add the two fractions </a:t>
            </a:r>
            <a:r>
              <a:rPr lang="en-AU" sz="3600" dirty="0"/>
              <a:t>½ + ½ </a:t>
            </a:r>
          </a:p>
          <a:p>
            <a:r>
              <a:rPr lang="en-AU" sz="3600" dirty="0"/>
              <a:t> </a:t>
            </a:r>
          </a:p>
          <a:p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D1CEB2-07D2-4584-8C33-DFBFCE2CC852}"/>
              </a:ext>
            </a:extLst>
          </p:cNvPr>
          <p:cNvSpPr txBox="1">
            <a:spLocks/>
          </p:cNvSpPr>
          <p:nvPr/>
        </p:nvSpPr>
        <p:spPr>
          <a:xfrm>
            <a:off x="352431" y="411661"/>
            <a:ext cx="9446339" cy="79125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 sz="4400" kern="1200">
                <a:solidFill>
                  <a:srgbClr val="F0C3A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r>
              <a:rPr lang="en-AU" sz="3200" b="1" dirty="0">
                <a:solidFill>
                  <a:srgbClr val="7030A0"/>
                </a:solidFill>
                <a:latin typeface="Fragment Core" panose="02000504040000020003" pitchFamily="50" charset="0"/>
              </a:rPr>
              <a:t>Exploring Equivalent Fractions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284959-6B5E-4531-A8A7-B82ED243A45E}"/>
              </a:ext>
            </a:extLst>
          </p:cNvPr>
          <p:cNvSpPr txBox="1"/>
          <p:nvPr/>
        </p:nvSpPr>
        <p:spPr>
          <a:xfrm>
            <a:off x="352431" y="1115944"/>
            <a:ext cx="8264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7030A0"/>
                </a:solidFill>
                <a:latin typeface="Fragment Core" panose="02000504040000020003" pitchFamily="50" charset="0"/>
              </a:rPr>
              <a:t>EQ – What are equivalent fractions?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9FD7B4-CB19-46B3-881F-5FB288DC3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514" y="3949481"/>
            <a:ext cx="10936102" cy="156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46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3901" y="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Starter Activity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3">
                <a:extLst>
                  <a:ext uri="{FF2B5EF4-FFF2-40B4-BE49-F238E27FC236}">
                    <a16:creationId xmlns:a16="http://schemas.microsoft.com/office/drawing/2014/main" id="{03C6AC60-0EEB-4482-9041-0A4971612E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3044" y="1362560"/>
                <a:ext cx="10820400" cy="5180713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rmAutofit/>
              </a:bodyPr>
              <a:lstStyle>
                <a:lvl1pPr marL="609585" lvl="0" indent="-474121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>
                    <a:srgbClr val="F0C3A3"/>
                  </a:buClr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219170" lvl="1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754" lvl="2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438339" lvl="3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47924" lvl="4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657509" lvl="5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267093" lvl="6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876678" lvl="7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486263" lvl="8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2800" dirty="0">
                    <a:latin typeface="Kiwi School Handwriting" panose="00000500000000000000" pitchFamily="2" charset="0"/>
                  </a:rPr>
                  <a:t>Student where asked which type of music they like best. It was found that:</a:t>
                </a:r>
              </a:p>
              <a:p>
                <a:pPr marL="1066785" lvl="1" indent="-457200"/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AU" sz="2800" dirty="0">
                    <a:latin typeface="Kiwi School Handwriting" panose="00000500000000000000" pitchFamily="2" charset="0"/>
                  </a:rPr>
                  <a:t>  of the students like rap music</a:t>
                </a:r>
              </a:p>
              <a:p>
                <a:pPr marL="1066785" lvl="1" indent="-457200"/>
                <a:endParaRPr lang="en-AU" sz="2800" dirty="0">
                  <a:latin typeface="Kiwi School Handwriting" panose="00000500000000000000" pitchFamily="2" charset="0"/>
                </a:endParaRPr>
              </a:p>
              <a:p>
                <a:pPr marL="1066785" lvl="1" indent="-457200"/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>
                    <a:latin typeface="Kiwi School Handwriting" panose="00000500000000000000" pitchFamily="2" charset="0"/>
                  </a:rPr>
                  <a:t>  of the students like pop music</a:t>
                </a:r>
              </a:p>
              <a:p>
                <a:pPr marL="1066785" lvl="1" indent="-457200"/>
                <a:endParaRPr lang="en-AU" sz="2800" dirty="0">
                  <a:latin typeface="Kiwi School Handwriting" panose="00000500000000000000" pitchFamily="2" charset="0"/>
                </a:endParaRPr>
              </a:p>
              <a:p>
                <a:pPr marL="1066785" lvl="1" indent="-457200"/>
                <a:r>
                  <a:rPr lang="en-AU" sz="2800" dirty="0">
                    <a:latin typeface="Kiwi School Handwriting" panose="00000500000000000000" pitchFamily="2" charset="0"/>
                  </a:rPr>
                  <a:t>The rest of the students like other types of music.</a:t>
                </a:r>
              </a:p>
              <a:p>
                <a:pPr marL="0" indent="0">
                  <a:buNone/>
                </a:pPr>
                <a:endParaRPr lang="en-AU" sz="2800" dirty="0">
                  <a:latin typeface="Kiwi School Handwriting" panose="00000500000000000000" pitchFamily="2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latin typeface="Kiwi School Handwriting" panose="00000500000000000000" pitchFamily="2" charset="0"/>
                  </a:rPr>
                  <a:t>Do more students like rap than pop music? Explain your answer.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latin typeface="Kiwi School Handwriting" panose="00000500000000000000" pitchFamily="2" charset="0"/>
                  </a:rPr>
                  <a:t>What fraction of students like other types of music? Explain your answer.</a:t>
                </a:r>
              </a:p>
            </p:txBody>
          </p:sp>
        </mc:Choice>
        <mc:Fallback xmlns="">
          <p:sp>
            <p:nvSpPr>
              <p:cNvPr id="13" name="Content Placeholder 13">
                <a:extLst>
                  <a:ext uri="{FF2B5EF4-FFF2-40B4-BE49-F238E27FC236}">
                    <a16:creationId xmlns:a16="http://schemas.microsoft.com/office/drawing/2014/main" id="{03C6AC60-0EEB-4482-9041-0A4971612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44" y="1362560"/>
                <a:ext cx="10820400" cy="5180713"/>
              </a:xfrm>
              <a:prstGeom prst="rect">
                <a:avLst/>
              </a:prstGeom>
              <a:blipFill>
                <a:blip r:embed="rId3"/>
                <a:stretch>
                  <a:fillRect l="-1183" b="-16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44" y="487447"/>
            <a:ext cx="875113" cy="87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2">
            <a:extLst>
              <a:ext uri="{FF2B5EF4-FFF2-40B4-BE49-F238E27FC236}">
                <a16:creationId xmlns:a16="http://schemas.microsoft.com/office/drawing/2014/main" id="{300F9871-20CC-4351-A9C9-A7D01B6E5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3901" y="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 Side: Activity 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07C567-2128-4C00-BE10-72515E9B43D1}"/>
                  </a:ext>
                </a:extLst>
              </p:cNvPr>
              <p:cNvSpPr txBox="1"/>
              <p:nvPr/>
            </p:nvSpPr>
            <p:spPr>
              <a:xfrm>
                <a:off x="459682" y="1426378"/>
                <a:ext cx="11272635" cy="476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AU" sz="2399" dirty="0">
                    <a:solidFill>
                      <a:prstClr val="black"/>
                    </a:solidFill>
                    <a:latin typeface="Calibri" panose="020F0502020204030204"/>
                  </a:rPr>
                  <a:t>Using your two circles:</a:t>
                </a:r>
              </a:p>
              <a:p>
                <a:pPr defTabSz="914126"/>
                <a:endParaRPr lang="en-AU" sz="2399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ctr" defTabSz="914126"/>
                <a:r>
                  <a:rPr lang="en-AU" sz="3200" b="1" dirty="0">
                    <a:solidFill>
                      <a:srgbClr val="7030A0"/>
                    </a:solidFill>
                    <a:latin typeface="Calibri" panose="020F0502020204030204"/>
                  </a:rPr>
                  <a:t>Is the statement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4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4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4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4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AU" sz="3200" b="1" dirty="0">
                    <a:solidFill>
                      <a:srgbClr val="00B050"/>
                    </a:solidFill>
                    <a:latin typeface="Calibri" panose="020F0502020204030204"/>
                  </a:rPr>
                  <a:t>  </a:t>
                </a:r>
                <a:r>
                  <a:rPr lang="en-AU" sz="3200" b="1" dirty="0">
                    <a:solidFill>
                      <a:srgbClr val="7030A0"/>
                    </a:solidFill>
                    <a:latin typeface="Calibri" panose="020F0502020204030204"/>
                  </a:rPr>
                  <a:t>true?</a:t>
                </a:r>
              </a:p>
              <a:p>
                <a:pPr defTabSz="914126"/>
                <a:endParaRPr lang="en-AU" sz="2399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AU" sz="2399" dirty="0">
                    <a:solidFill>
                      <a:prstClr val="black"/>
                    </a:solidFill>
                    <a:latin typeface="Calibri" panose="020F0502020204030204"/>
                  </a:rPr>
                  <a:t>Justify your answer by cutting, folding or drawing on the circle to support and demonstrate your answers.</a:t>
                </a:r>
              </a:p>
              <a:p>
                <a:pPr defTabSz="914126"/>
                <a:endParaRPr lang="en-AU" sz="2399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endParaRPr lang="en-AU" sz="2399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endParaRPr lang="en-AU" sz="2399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AU" sz="2399" i="1" dirty="0">
                    <a:solidFill>
                      <a:prstClr val="black"/>
                    </a:solidFill>
                    <a:latin typeface="Calibri" panose="020F0502020204030204"/>
                  </a:rPr>
                  <a:t>Extension: Represent this statement in another shape other than a circle.</a:t>
                </a:r>
              </a:p>
              <a:p>
                <a:pPr defTabSz="914126"/>
                <a:endParaRPr lang="en-AU" sz="2399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07C567-2128-4C00-BE10-72515E9B4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82" y="1426378"/>
                <a:ext cx="11272635" cy="4762586"/>
              </a:xfrm>
              <a:prstGeom prst="rect">
                <a:avLst/>
              </a:prstGeom>
              <a:blipFill>
                <a:blip r:embed="rId3"/>
                <a:stretch>
                  <a:fillRect l="-811" t="-10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0076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86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Equivalent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492040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equivalent fraction?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equivalent fractions?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2034" y="1418770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They are fractions that mark the same place on a number line.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C4F1DEA6-8312-495F-A986-DE37EFBB8F44}"/>
              </a:ext>
            </a:extLst>
          </p:cNvPr>
          <p:cNvGrpSpPr/>
          <p:nvPr/>
        </p:nvGrpSpPr>
        <p:grpSpPr>
          <a:xfrm>
            <a:off x="1915430" y="2092012"/>
            <a:ext cx="10203900" cy="4314468"/>
            <a:chOff x="1875691" y="1972831"/>
            <a:chExt cx="10203900" cy="431446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60DF254-8373-452C-91E1-58D5B11844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4659"/>
            <a:stretch/>
          </p:blipFill>
          <p:spPr>
            <a:xfrm>
              <a:off x="1875691" y="1972831"/>
              <a:ext cx="10106128" cy="4314468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1385224-1973-49E8-8E25-D3A240CE8C59}"/>
                </a:ext>
              </a:extLst>
            </p:cNvPr>
            <p:cNvSpPr/>
            <p:nvPr/>
          </p:nvSpPr>
          <p:spPr>
            <a:xfrm>
              <a:off x="1973464" y="2537791"/>
              <a:ext cx="6660314" cy="3644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BB7D086-F9B7-4F59-8448-C6521E7825B1}"/>
                </a:ext>
              </a:extLst>
            </p:cNvPr>
            <p:cNvSpPr/>
            <p:nvPr/>
          </p:nvSpPr>
          <p:spPr>
            <a:xfrm>
              <a:off x="9679602" y="2537791"/>
              <a:ext cx="2399989" cy="3644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86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Equivalent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equivalent fractions?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4651397"/>
            <a:ext cx="95449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number of pieces is </a:t>
            </a:r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doubled 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when the three pieces of pizza become six pieces. </a:t>
            </a:r>
          </a:p>
          <a:p>
            <a:pPr defTabSz="914126"/>
            <a:endParaRPr lang="en-AU" sz="2800" i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size of the pieces is</a:t>
            </a:r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 halved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2153132-9D2A-48E6-8397-3B75FFB7B6FE}"/>
                  </a:ext>
                </a:extLst>
              </p:cNvPr>
              <p:cNvSpPr/>
              <p:nvPr/>
            </p:nvSpPr>
            <p:spPr>
              <a:xfrm>
                <a:off x="5867217" y="2782541"/>
                <a:ext cx="1850186" cy="1292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914126"/>
                <a14:m>
                  <m:oMath xmlns:m="http://schemas.openxmlformats.org/officeDocument/2006/math">
                    <m:f>
                      <m:fPr>
                        <m:ctrlP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5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AU" sz="5400" b="1" dirty="0">
                    <a:solidFill>
                      <a:srgbClr val="00B050"/>
                    </a:solidFill>
                  </a:rPr>
                  <a:t> </a:t>
                </a:r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2153132-9D2A-48E6-8397-3B75FFB7B6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217" y="2782541"/>
                <a:ext cx="1850186" cy="12929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4B14F2B-CB6E-4F60-824A-B96373D1D007}"/>
              </a:ext>
            </a:extLst>
          </p:cNvPr>
          <p:cNvSpPr txBox="1"/>
          <p:nvPr/>
        </p:nvSpPr>
        <p:spPr>
          <a:xfrm>
            <a:off x="0" y="3612388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can I explain this in words?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FA0F68-8203-47B0-AF9D-DA88FA7FE7D0}"/>
              </a:ext>
            </a:extLst>
          </p:cNvPr>
          <p:cNvSpPr/>
          <p:nvPr/>
        </p:nvSpPr>
        <p:spPr>
          <a:xfrm>
            <a:off x="2030681" y="1471615"/>
            <a:ext cx="981623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Arial" panose="020B0604020202020204" pitchFamily="34" charset="0"/>
              </a:rPr>
              <a:t>What happens to the size of the pieces and the number of pieces when the quarters are divided into eighths? </a:t>
            </a:r>
          </a:p>
        </p:txBody>
      </p:sp>
    </p:spTree>
    <p:extLst>
      <p:ext uri="{BB962C8B-B14F-4D97-AF65-F5344CB8AC3E}">
        <p14:creationId xmlns:p14="http://schemas.microsoft.com/office/powerpoint/2010/main" val="218035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86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Equivalent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equivalent fractions?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46351" y="4446239"/>
            <a:ext cx="95449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number of pieces is </a:t>
            </a:r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doubled 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when the three pieces of pizza become six pieces. </a:t>
            </a:r>
          </a:p>
          <a:p>
            <a:pPr defTabSz="914126"/>
            <a:endParaRPr lang="en-AU" sz="2800" i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size of the pieces is</a:t>
            </a:r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 halved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4B14F2B-CB6E-4F60-824A-B96373D1D007}"/>
              </a:ext>
            </a:extLst>
          </p:cNvPr>
          <p:cNvSpPr txBox="1"/>
          <p:nvPr/>
        </p:nvSpPr>
        <p:spPr>
          <a:xfrm>
            <a:off x="0" y="3612388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can I explain this in words?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EE9D87-5176-45EA-8A1A-EE59CC984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299" y="1482849"/>
            <a:ext cx="2434858" cy="27286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EB6DCF-3790-4EE1-8E42-19314A90E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285" y="1465588"/>
            <a:ext cx="2477937" cy="277689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0925EB80-E78D-43F1-87BE-7B86B4271A35}"/>
              </a:ext>
            </a:extLst>
          </p:cNvPr>
          <p:cNvSpPr/>
          <p:nvPr/>
        </p:nvSpPr>
        <p:spPr>
          <a:xfrm>
            <a:off x="5859406" y="2532864"/>
            <a:ext cx="1159565" cy="6791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9890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1371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86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Equivalent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equivalent fractions?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0A2D387-4631-45D4-9D58-4076655F4D9B}"/>
                  </a:ext>
                </a:extLst>
              </p:cNvPr>
              <p:cNvSpPr/>
              <p:nvPr/>
            </p:nvSpPr>
            <p:spPr>
              <a:xfrm>
                <a:off x="5946730" y="2071765"/>
                <a:ext cx="1850186" cy="1292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914126"/>
                <a14:m>
                  <m:oMath xmlns:m="http://schemas.openxmlformats.org/officeDocument/2006/math">
                    <m:f>
                      <m:fPr>
                        <m:ctrlP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5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AU" sz="5400" b="1" dirty="0">
                    <a:solidFill>
                      <a:srgbClr val="00B050"/>
                    </a:solidFill>
                  </a:rPr>
                  <a:t> </a:t>
                </a:r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0A2D387-4631-45D4-9D58-4076655F4D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730" y="2071765"/>
                <a:ext cx="1850186" cy="12929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C2351C3-5D00-4035-A067-E7B0BD98265F}"/>
              </a:ext>
            </a:extLst>
          </p:cNvPr>
          <p:cNvSpPr txBox="1"/>
          <p:nvPr/>
        </p:nvSpPr>
        <p:spPr>
          <a:xfrm>
            <a:off x="0" y="1492040"/>
            <a:ext cx="2451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can I explain this mathematically?</a:t>
            </a:r>
          </a:p>
        </p:txBody>
      </p:sp>
      <p:sp>
        <p:nvSpPr>
          <p:cNvPr id="2" name="Arrow: Curved Down 1">
            <a:extLst>
              <a:ext uri="{FF2B5EF4-FFF2-40B4-BE49-F238E27FC236}">
                <a16:creationId xmlns:a16="http://schemas.microsoft.com/office/drawing/2014/main" id="{508BF233-7440-45CA-9914-AC38C59FE1DA}"/>
              </a:ext>
            </a:extLst>
          </p:cNvPr>
          <p:cNvSpPr/>
          <p:nvPr/>
        </p:nvSpPr>
        <p:spPr>
          <a:xfrm>
            <a:off x="6407544" y="1878388"/>
            <a:ext cx="861391" cy="31347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3BD779-24EE-43B1-8B87-B3FCD061F523}"/>
              </a:ext>
            </a:extLst>
          </p:cNvPr>
          <p:cNvSpPr txBox="1"/>
          <p:nvPr/>
        </p:nvSpPr>
        <p:spPr>
          <a:xfrm>
            <a:off x="6533339" y="1296351"/>
            <a:ext cx="676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x 2</a:t>
            </a:r>
            <a:endParaRPr lang="en-AU" sz="2800" i="1" dirty="0">
              <a:solidFill>
                <a:prstClr val="black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B4B2ED6-99FE-4831-B3EF-F5908EA96AD6}"/>
                  </a:ext>
                </a:extLst>
              </p:cNvPr>
              <p:cNvSpPr/>
              <p:nvPr/>
            </p:nvSpPr>
            <p:spPr>
              <a:xfrm>
                <a:off x="5946730" y="3997722"/>
                <a:ext cx="1850186" cy="1292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914126"/>
                <a14:m>
                  <m:oMath xmlns:m="http://schemas.openxmlformats.org/officeDocument/2006/math">
                    <m:f>
                      <m:fPr>
                        <m:ctrlP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5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AU" sz="5400" b="1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B4B2ED6-99FE-4831-B3EF-F5908EA96A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730" y="3997722"/>
                <a:ext cx="1850186" cy="12929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Curved Up 2">
            <a:extLst>
              <a:ext uri="{FF2B5EF4-FFF2-40B4-BE49-F238E27FC236}">
                <a16:creationId xmlns:a16="http://schemas.microsoft.com/office/drawing/2014/main" id="{01D7797F-15B7-41BC-9923-13E77320FFD7}"/>
              </a:ext>
            </a:extLst>
          </p:cNvPr>
          <p:cNvSpPr/>
          <p:nvPr/>
        </p:nvSpPr>
        <p:spPr>
          <a:xfrm>
            <a:off x="6430736" y="5290640"/>
            <a:ext cx="815006" cy="311426"/>
          </a:xfrm>
          <a:prstGeom prst="curved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290700-1EDD-4B76-81DB-D54D398263A7}"/>
              </a:ext>
            </a:extLst>
          </p:cNvPr>
          <p:cNvSpPr txBox="1"/>
          <p:nvPr/>
        </p:nvSpPr>
        <p:spPr>
          <a:xfrm>
            <a:off x="6499755" y="5685662"/>
            <a:ext cx="676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x 2</a:t>
            </a:r>
            <a:endParaRPr lang="en-AU" sz="2800" i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63A391-153D-4AF6-94BC-362E71C02807}"/>
              </a:ext>
            </a:extLst>
          </p:cNvPr>
          <p:cNvSpPr txBox="1"/>
          <p:nvPr/>
        </p:nvSpPr>
        <p:spPr>
          <a:xfrm>
            <a:off x="8087563" y="1594711"/>
            <a:ext cx="3957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The numerator: 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amount of pizza pieces double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FD4B94-B02E-460D-A565-1FE4D800879A}"/>
              </a:ext>
            </a:extLst>
          </p:cNvPr>
          <p:cNvSpPr txBox="1"/>
          <p:nvPr/>
        </p:nvSpPr>
        <p:spPr>
          <a:xfrm>
            <a:off x="8023953" y="4813586"/>
            <a:ext cx="3957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The denominator: 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size of each pizza halves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FF548-AC57-41A9-897E-BAC4CA46A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7788" y="1327666"/>
            <a:ext cx="2190825" cy="24423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BDC18B-EA4C-4669-B4B9-9B558EE0C7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7788" y="4274703"/>
            <a:ext cx="2187071" cy="244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9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 animBg="1"/>
      <p:bldP spid="14" grpId="0"/>
      <p:bldP spid="17" grpId="0"/>
      <p:bldP spid="3" grpId="0" animBg="1"/>
      <p:bldP spid="18" grpId="0"/>
      <p:bldP spid="19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0F2AB1-18D3-4891-9F90-70766E5395EC}"/>
              </a:ext>
            </a:extLst>
          </p:cNvPr>
          <p:cNvSpPr/>
          <p:nvPr/>
        </p:nvSpPr>
        <p:spPr>
          <a:xfrm>
            <a:off x="858078" y="469300"/>
            <a:ext cx="1047584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dirty="0">
                <a:solidFill>
                  <a:srgbClr val="000000"/>
                </a:solidFill>
                <a:latin typeface="Arial" panose="020B0604020202020204" pitchFamily="34" charset="0"/>
              </a:rPr>
              <a:t>If the number of pieces of pizza is two times greater and the size of each piece is two times smaller, the amount of pizza will remain the same. </a:t>
            </a:r>
          </a:p>
          <a:p>
            <a:pPr algn="ctr"/>
            <a:endParaRPr lang="en-GB" sz="3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GB" sz="3200" i="1" dirty="0">
                <a:solidFill>
                  <a:srgbClr val="000000"/>
                </a:solidFill>
                <a:latin typeface="Arial" panose="020B0604020202020204" pitchFamily="34" charset="0"/>
              </a:rPr>
              <a:t>Therefore they are equivalent fractions</a:t>
            </a:r>
            <a:endParaRPr lang="en-AU" sz="3200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324C4A-97D9-45DA-95C3-E4DE41CAE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393" y="3278722"/>
            <a:ext cx="2934696" cy="32557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1D9B94-AAEC-4D57-983B-52A69F794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799" y="3306884"/>
            <a:ext cx="2889548" cy="319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86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86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Equivalent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equivalent fractions?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4651397"/>
            <a:ext cx="95449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number of pieces is </a:t>
            </a:r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halved 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when the six pieces of pizza become three pieces. </a:t>
            </a:r>
          </a:p>
          <a:p>
            <a:pPr defTabSz="914126"/>
            <a:endParaRPr lang="en-AU" sz="2800" i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size of the pieces is</a:t>
            </a:r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 doubled.</a:t>
            </a:r>
            <a:endParaRPr lang="en-AU" sz="2800" i="1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2153132-9D2A-48E6-8397-3B75FFB7B6FE}"/>
                  </a:ext>
                </a:extLst>
              </p:cNvPr>
              <p:cNvSpPr/>
              <p:nvPr/>
            </p:nvSpPr>
            <p:spPr>
              <a:xfrm>
                <a:off x="5820834" y="2490993"/>
                <a:ext cx="1850186" cy="1292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914126"/>
                <a14:m>
                  <m:oMath xmlns:m="http://schemas.openxmlformats.org/officeDocument/2006/math">
                    <m:f>
                      <m:fPr>
                        <m:ctrlP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a:rPr lang="en-AU" sz="5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AU" sz="5400" b="1" dirty="0">
                    <a:solidFill>
                      <a:srgbClr val="00B050"/>
                    </a:solidFill>
                  </a:rPr>
                  <a:t> </a:t>
                </a:r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2153132-9D2A-48E6-8397-3B75FFB7B6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0834" y="2490993"/>
                <a:ext cx="1850186" cy="12929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4B14F2B-CB6E-4F60-824A-B96373D1D007}"/>
              </a:ext>
            </a:extLst>
          </p:cNvPr>
          <p:cNvSpPr txBox="1"/>
          <p:nvPr/>
        </p:nvSpPr>
        <p:spPr>
          <a:xfrm>
            <a:off x="0" y="2376213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can I explain this in words?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FA0F68-8203-47B0-AF9D-DA88FA7FE7D0}"/>
              </a:ext>
            </a:extLst>
          </p:cNvPr>
          <p:cNvSpPr/>
          <p:nvPr/>
        </p:nvSpPr>
        <p:spPr>
          <a:xfrm>
            <a:off x="2037824" y="1466115"/>
            <a:ext cx="98162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Arial" panose="020B0604020202020204" pitchFamily="34" charset="0"/>
              </a:rPr>
              <a:t>Can we go the other way?</a:t>
            </a:r>
          </a:p>
        </p:txBody>
      </p:sp>
    </p:spTree>
    <p:extLst>
      <p:ext uri="{BB962C8B-B14F-4D97-AF65-F5344CB8AC3E}">
        <p14:creationId xmlns:p14="http://schemas.microsoft.com/office/powerpoint/2010/main" val="2464894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86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Equivalent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equivalent fractions?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4B14F2B-CB6E-4F60-824A-B96373D1D007}"/>
              </a:ext>
            </a:extLst>
          </p:cNvPr>
          <p:cNvSpPr txBox="1"/>
          <p:nvPr/>
        </p:nvSpPr>
        <p:spPr>
          <a:xfrm>
            <a:off x="0" y="2879543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can I explain this in words?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EE9D87-5176-45EA-8A1A-EE59CC984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614" y="1350869"/>
            <a:ext cx="2434858" cy="27286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EB6DCF-3790-4EE1-8E42-19314A90E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6581" y="1435467"/>
            <a:ext cx="2477937" cy="277689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0925EB80-E78D-43F1-87BE-7B86B4271A35}"/>
              </a:ext>
            </a:extLst>
          </p:cNvPr>
          <p:cNvSpPr/>
          <p:nvPr/>
        </p:nvSpPr>
        <p:spPr>
          <a:xfrm>
            <a:off x="5859406" y="2532864"/>
            <a:ext cx="1159565" cy="6791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212DE5-0048-4EF8-BE4B-A320433F8D32}"/>
              </a:ext>
            </a:extLst>
          </p:cNvPr>
          <p:cNvSpPr txBox="1"/>
          <p:nvPr/>
        </p:nvSpPr>
        <p:spPr>
          <a:xfrm>
            <a:off x="2039725" y="4599190"/>
            <a:ext cx="95449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number of pieces is </a:t>
            </a:r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halved 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when the six pieces of pizza become three pieces. </a:t>
            </a:r>
          </a:p>
          <a:p>
            <a:pPr defTabSz="914126"/>
            <a:endParaRPr lang="en-AU" sz="2800" i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size of the pieces is</a:t>
            </a:r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 doubled.</a:t>
            </a:r>
            <a:endParaRPr lang="en-AU" sz="2800" i="1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68592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1371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86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Equivalent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equivalent fractions?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0A2D387-4631-45D4-9D58-4076655F4D9B}"/>
                  </a:ext>
                </a:extLst>
              </p:cNvPr>
              <p:cNvSpPr/>
              <p:nvPr/>
            </p:nvSpPr>
            <p:spPr>
              <a:xfrm>
                <a:off x="5946730" y="2071765"/>
                <a:ext cx="1850186" cy="1292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914126"/>
                <a14:m>
                  <m:oMath xmlns:m="http://schemas.openxmlformats.org/officeDocument/2006/math">
                    <m:f>
                      <m:fPr>
                        <m:ctrlP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a:rPr lang="en-AU" sz="5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AU" sz="5400" b="1" dirty="0">
                    <a:solidFill>
                      <a:srgbClr val="00B050"/>
                    </a:solidFill>
                  </a:rPr>
                  <a:t> </a:t>
                </a:r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0A2D387-4631-45D4-9D58-4076655F4D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730" y="2071765"/>
                <a:ext cx="1850186" cy="12929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C2351C3-5D00-4035-A067-E7B0BD98265F}"/>
              </a:ext>
            </a:extLst>
          </p:cNvPr>
          <p:cNvSpPr txBox="1"/>
          <p:nvPr/>
        </p:nvSpPr>
        <p:spPr>
          <a:xfrm>
            <a:off x="0" y="1492040"/>
            <a:ext cx="2451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can I explain this mathematically?</a:t>
            </a:r>
          </a:p>
        </p:txBody>
      </p:sp>
      <p:sp>
        <p:nvSpPr>
          <p:cNvPr id="2" name="Arrow: Curved Down 1">
            <a:extLst>
              <a:ext uri="{FF2B5EF4-FFF2-40B4-BE49-F238E27FC236}">
                <a16:creationId xmlns:a16="http://schemas.microsoft.com/office/drawing/2014/main" id="{508BF233-7440-45CA-9914-AC38C59FE1DA}"/>
              </a:ext>
            </a:extLst>
          </p:cNvPr>
          <p:cNvSpPr/>
          <p:nvPr/>
        </p:nvSpPr>
        <p:spPr>
          <a:xfrm>
            <a:off x="6407544" y="1878388"/>
            <a:ext cx="861391" cy="31347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3BD779-24EE-43B1-8B87-B3FCD061F523}"/>
                  </a:ext>
                </a:extLst>
              </p:cNvPr>
              <p:cNvSpPr txBox="1"/>
              <p:nvPr/>
            </p:nvSpPr>
            <p:spPr>
              <a:xfrm>
                <a:off x="6325120" y="1292792"/>
                <a:ext cx="10262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 xmlns:m="http://schemas.openxmlformats.org/officeDocument/2006/math">
                    <m:r>
                      <a:rPr lang="en-AU" sz="28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800" dirty="0">
                    <a:solidFill>
                      <a:prstClr val="black"/>
                    </a:solidFill>
                    <a:latin typeface="Calibri" panose="020F0502020204030204"/>
                  </a:rPr>
                  <a:t> 2</a:t>
                </a:r>
                <a:endParaRPr lang="en-AU" sz="2800" i="1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3BD779-24EE-43B1-8B87-B3FCD061F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120" y="1292792"/>
                <a:ext cx="1026237" cy="523220"/>
              </a:xfrm>
              <a:prstGeom prst="rect">
                <a:avLst/>
              </a:prstGeom>
              <a:blipFill>
                <a:blip r:embed="rId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B4B2ED6-99FE-4831-B3EF-F5908EA96AD6}"/>
                  </a:ext>
                </a:extLst>
              </p:cNvPr>
              <p:cNvSpPr/>
              <p:nvPr/>
            </p:nvSpPr>
            <p:spPr>
              <a:xfrm>
                <a:off x="5946730" y="3997722"/>
                <a:ext cx="1850186" cy="1292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914126"/>
                <a14:m>
                  <m:oMath xmlns:m="http://schemas.openxmlformats.org/officeDocument/2006/math">
                    <m:f>
                      <m:fPr>
                        <m:ctrlP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a:rPr lang="en-AU" sz="5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AU" sz="5400" b="1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B4B2ED6-99FE-4831-B3EF-F5908EA96A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730" y="3997722"/>
                <a:ext cx="1850186" cy="12929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Curved Up 2">
            <a:extLst>
              <a:ext uri="{FF2B5EF4-FFF2-40B4-BE49-F238E27FC236}">
                <a16:creationId xmlns:a16="http://schemas.microsoft.com/office/drawing/2014/main" id="{01D7797F-15B7-41BC-9923-13E77320FFD7}"/>
              </a:ext>
            </a:extLst>
          </p:cNvPr>
          <p:cNvSpPr/>
          <p:nvPr/>
        </p:nvSpPr>
        <p:spPr>
          <a:xfrm>
            <a:off x="6430736" y="5290640"/>
            <a:ext cx="815006" cy="311426"/>
          </a:xfrm>
          <a:prstGeom prst="curved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63A391-153D-4AF6-94BC-362E71C02807}"/>
              </a:ext>
            </a:extLst>
          </p:cNvPr>
          <p:cNvSpPr txBox="1"/>
          <p:nvPr/>
        </p:nvSpPr>
        <p:spPr>
          <a:xfrm>
            <a:off x="8087563" y="1594711"/>
            <a:ext cx="3957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The numerator: 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amount of pizza pieces is halved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FD4B94-B02E-460D-A565-1FE4D800879A}"/>
              </a:ext>
            </a:extLst>
          </p:cNvPr>
          <p:cNvSpPr txBox="1"/>
          <p:nvPr/>
        </p:nvSpPr>
        <p:spPr>
          <a:xfrm>
            <a:off x="8023953" y="4969299"/>
            <a:ext cx="3957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The denominator: 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size of each pizza doubles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FF548-AC57-41A9-897E-BAC4CA46A3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4412" y="4078331"/>
            <a:ext cx="2190825" cy="24423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BDC18B-EA4C-4669-B4B9-9B558EE0C7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6836" y="1428196"/>
            <a:ext cx="2187071" cy="24423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FDDA73-F1C1-460F-9D25-B30569AD86C9}"/>
                  </a:ext>
                </a:extLst>
              </p:cNvPr>
              <p:cNvSpPr txBox="1"/>
              <p:nvPr/>
            </p:nvSpPr>
            <p:spPr>
              <a:xfrm>
                <a:off x="6443701" y="5662069"/>
                <a:ext cx="10262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 xmlns:m="http://schemas.openxmlformats.org/officeDocument/2006/math">
                    <m:r>
                      <a:rPr lang="en-AU" sz="28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800" dirty="0">
                    <a:solidFill>
                      <a:prstClr val="black"/>
                    </a:solidFill>
                    <a:latin typeface="Calibri" panose="020F0502020204030204"/>
                  </a:rPr>
                  <a:t> 2</a:t>
                </a:r>
                <a:endParaRPr lang="en-AU" sz="2800" i="1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FDDA73-F1C1-460F-9D25-B30569AD8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701" y="5662069"/>
                <a:ext cx="1026237" cy="523220"/>
              </a:xfrm>
              <a:prstGeom prst="rect">
                <a:avLst/>
              </a:prstGeom>
              <a:blipFill>
                <a:blip r:embed="rId8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674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 animBg="1"/>
      <p:bldP spid="14" grpId="0"/>
      <p:bldP spid="17" grpId="0"/>
      <p:bldP spid="3" grpId="0" animBg="1"/>
      <p:bldP spid="19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6DE5B57-BC8D-4ED9-B843-C31107973DBD}"/>
                  </a:ext>
                </a:extLst>
              </p:cNvPr>
              <p:cNvSpPr/>
              <p:nvPr/>
            </p:nvSpPr>
            <p:spPr>
              <a:xfrm>
                <a:off x="747713" y="574426"/>
                <a:ext cx="10553700" cy="12962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3200" dirty="0"/>
                  <a:t>Which of the equivalent fractions</a:t>
                </a:r>
                <a:r>
                  <a:rPr lang="en-GB" sz="32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sz="3200" dirty="0">
                    <a:solidFill>
                      <a:schemeClr val="tx1"/>
                    </a:solidFill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GB" sz="3200" dirty="0">
                    <a:solidFill>
                      <a:schemeClr val="tx1"/>
                    </a:solidFill>
                  </a:rPr>
                  <a:t> </a:t>
                </a:r>
                <a:r>
                  <a:rPr lang="en-GB" sz="3200" dirty="0"/>
                  <a:t>is easier to visualise or imagine? Why?</a:t>
                </a:r>
                <a:endParaRPr lang="en-AU" sz="32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6DE5B57-BC8D-4ED9-B843-C31107973D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13" y="574426"/>
                <a:ext cx="10553700" cy="1296252"/>
              </a:xfrm>
              <a:prstGeom prst="rect">
                <a:avLst/>
              </a:prstGeom>
              <a:blipFill>
                <a:blip r:embed="rId3"/>
                <a:stretch>
                  <a:fillRect l="-1502" b="-145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5235AD8-ABEF-41F0-B846-449015A8D0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2854"/>
          <a:stretch/>
        </p:blipFill>
        <p:spPr>
          <a:xfrm>
            <a:off x="8903493" y="3271837"/>
            <a:ext cx="2834283" cy="32932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31273F-102B-48AA-A6F7-54E1B08F209F}"/>
                  </a:ext>
                </a:extLst>
              </p:cNvPr>
              <p:cNvSpPr/>
              <p:nvPr/>
            </p:nvSpPr>
            <p:spPr>
              <a:xfrm>
                <a:off x="690562" y="2403455"/>
                <a:ext cx="8396287" cy="27394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8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It is easier to visualise three quarters as the digits are smaller.</a:t>
                </a:r>
              </a:p>
              <a:p>
                <a:endParaRPr lang="en-GB" sz="2800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  <a:p>
                <a:endParaRPr lang="en-GB" sz="3600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sz="3600" dirty="0">
                    <a:solidFill>
                      <a:srgbClr val="0070C0"/>
                    </a:solidFill>
                  </a:rPr>
                  <a:t>  is the simpler or simplified form of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endParaRPr lang="en-AU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31273F-102B-48AA-A6F7-54E1B08F20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62" y="2403455"/>
                <a:ext cx="8396287" cy="2739404"/>
              </a:xfrm>
              <a:prstGeom prst="rect">
                <a:avLst/>
              </a:prstGeom>
              <a:blipFill>
                <a:blip r:embed="rId5"/>
                <a:stretch>
                  <a:fillRect l="-1451" t="-2222" b="-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41957DF-A478-4539-8320-7E26BC48C1EF}"/>
                  </a:ext>
                </a:extLst>
              </p:cNvPr>
              <p:cNvSpPr/>
              <p:nvPr/>
            </p:nvSpPr>
            <p:spPr>
              <a:xfrm>
                <a:off x="476251" y="429877"/>
                <a:ext cx="10553700" cy="59982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3200" dirty="0"/>
                  <a:t>Using your two circles answer the following questions.</a:t>
                </a:r>
                <a:endParaRPr lang="en-GB" sz="32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4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GB" sz="4000" dirty="0">
                    <a:solidFill>
                      <a:srgbClr val="7030A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4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  <m:r>
                      <a:rPr lang="en-AU" sz="4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4000" b="1" dirty="0">
                  <a:solidFill>
                    <a:srgbClr val="7030A0"/>
                  </a:solidFill>
                </a:endParaRPr>
              </a:p>
              <a:p>
                <a:endParaRPr lang="en-AU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800" i="1" dirty="0"/>
                  <a:t>Is the statement above true? Justify by folding, cutting or drawing on the circle to support and demonstrate your explanations.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GB" sz="2400" i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800" i="1" dirty="0"/>
                  <a:t>Explain why these two fractions are called equivalent fractions.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GB" sz="2800" i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800" i="1" dirty="0"/>
                  <a:t>What happens to the size of the pieces and the number of pieces when the thirds are partitioned into ninths?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GB" sz="2800" i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800" i="1" dirty="0"/>
                  <a:t>Explain how this is represented with numbers by multiplying and dividing.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41957DF-A478-4539-8320-7E26BC48C1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1" y="429877"/>
                <a:ext cx="10553700" cy="5998245"/>
              </a:xfrm>
              <a:prstGeom prst="rect">
                <a:avLst/>
              </a:prstGeom>
              <a:blipFill>
                <a:blip r:embed="rId3"/>
                <a:stretch>
                  <a:fillRect l="-1444" t="-1221" r="-578" b="-20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1239</Words>
  <Application>Microsoft Office PowerPoint</Application>
  <PresentationFormat>Widescreen</PresentationFormat>
  <Paragraphs>160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Fragment Core</vt:lpstr>
      <vt:lpstr>Kiwi School Handwriting</vt:lpstr>
      <vt:lpstr>Office Theme</vt:lpstr>
      <vt:lpstr>Exploring Equivalent Fractions</vt:lpstr>
      <vt:lpstr>PowerPoint Presentation</vt:lpstr>
      <vt:lpstr>Starter Activity</vt:lpstr>
      <vt:lpstr>Task Side: Activity 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Equivalent Fractions</dc:title>
  <dc:creator>STRETCH Nine [Baldivis Secondary College]</dc:creator>
  <cp:lastModifiedBy>STRETCH Nine [Baldivis Secondary College]</cp:lastModifiedBy>
  <cp:revision>3</cp:revision>
  <dcterms:created xsi:type="dcterms:W3CDTF">2019-05-28T09:16:30Z</dcterms:created>
  <dcterms:modified xsi:type="dcterms:W3CDTF">2019-05-28T09:30:17Z</dcterms:modified>
</cp:coreProperties>
</file>
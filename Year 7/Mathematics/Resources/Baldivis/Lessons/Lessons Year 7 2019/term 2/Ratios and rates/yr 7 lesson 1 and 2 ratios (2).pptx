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4" r:id="rId2"/>
  </p:sldMasterIdLst>
  <p:notesMasterIdLst>
    <p:notesMasterId r:id="rId15"/>
  </p:notesMasterIdLst>
  <p:handoutMasterIdLst>
    <p:handoutMasterId r:id="rId16"/>
  </p:handoutMasterIdLst>
  <p:sldIdLst>
    <p:sldId id="256" r:id="rId3"/>
    <p:sldId id="265" r:id="rId4"/>
    <p:sldId id="269" r:id="rId5"/>
    <p:sldId id="275" r:id="rId6"/>
    <p:sldId id="276" r:id="rId7"/>
    <p:sldId id="281" r:id="rId8"/>
    <p:sldId id="282" r:id="rId9"/>
    <p:sldId id="277" r:id="rId10"/>
    <p:sldId id="278" r:id="rId11"/>
    <p:sldId id="279" r:id="rId12"/>
    <p:sldId id="280" r:id="rId13"/>
    <p:sldId id="264" r:id="rId14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200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880">
          <p15:clr>
            <a:srgbClr val="A4A3A4"/>
          </p15:clr>
        </p15:guide>
        <p15:guide id="5" orient="horz" pos="3216">
          <p15:clr>
            <a:srgbClr val="A4A3A4"/>
          </p15:clr>
        </p15:guide>
        <p15:guide id="6" orient="horz" pos="816">
          <p15:clr>
            <a:srgbClr val="A4A3A4"/>
          </p15:clr>
        </p15:guide>
        <p15:guide id="7" orient="horz" pos="175">
          <p15:clr>
            <a:srgbClr val="A4A3A4"/>
          </p15:clr>
        </p15:guide>
        <p15:guide id="8" pos="3839">
          <p15:clr>
            <a:srgbClr val="A4A3A4"/>
          </p15:clr>
        </p15:guide>
        <p15:guide id="9" pos="959">
          <p15:clr>
            <a:srgbClr val="A4A3A4"/>
          </p15:clr>
        </p15:guide>
        <p15:guide id="10" pos="6719">
          <p15:clr>
            <a:srgbClr val="A4A3A4"/>
          </p15:clr>
        </p15:guide>
        <p15:guide id="11" pos="6143">
          <p15:clr>
            <a:srgbClr val="A4A3A4"/>
          </p15:clr>
        </p15:guide>
        <p15:guide id="12" pos="283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25E649-3F16-4E02-A733-19D2CDBF48F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58" autoAdjust="0"/>
    <p:restoredTop sz="74813" autoAdjust="0"/>
  </p:normalViewPr>
  <p:slideViewPr>
    <p:cSldViewPr>
      <p:cViewPr varScale="1">
        <p:scale>
          <a:sx n="74" d="100"/>
          <a:sy n="74" d="100"/>
        </p:scale>
        <p:origin x="1051" y="67"/>
      </p:cViewPr>
      <p:guideLst>
        <p:guide orient="horz" pos="2160"/>
        <p:guide orient="horz" pos="1200"/>
        <p:guide orient="horz" pos="3888"/>
        <p:guide orient="horz" pos="2880"/>
        <p:guide orient="horz" pos="3216"/>
        <p:guide orient="horz" pos="816"/>
        <p:guide orient="horz" pos="175"/>
        <p:guide pos="3839"/>
        <p:guide pos="959"/>
        <p:guide pos="6719"/>
        <p:guide pos="6143"/>
        <p:guide pos="28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76" d="100"/>
          <a:sy n="76" d="100"/>
        </p:scale>
        <p:origin x="2538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10/9/2018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10/9/2018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7037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8349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9295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" name="line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tx2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8551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85765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line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tx2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45632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6596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07442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95795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98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" name="frame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  <a:solidFill>
            <a:schemeClr val="tx2"/>
          </a:solidFill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  <a:grpFill/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grpFill/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grpFill/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  <a:grpFill/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grpFill/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grpFill/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57661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" name="frame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  <a:solidFill>
            <a:schemeClr val="tx2"/>
          </a:solidFill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  <a:grpFill/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grpFill/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grpFill/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  <a:grpFill/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grpFill/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grpFill/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05495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3416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line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58553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10/9/2018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64714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SzPct val="80000"/>
        <a:buFont typeface="Wingdings 3" panose="05040102010807070707" pitchFamily="18" charset="2"/>
        <a:buChar char="u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100000"/>
        <a:buFont typeface="Wingdings 3" panose="05040102010807070707" pitchFamily="18" charset="2"/>
        <a:buChar char="u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80000"/>
        <a:buFont typeface="Wingdings 3" panose="05040102010807070707" pitchFamily="18" charset="2"/>
        <a:buChar char="u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10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10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10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8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10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8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vimeo.com/18782842" TargetMode="Externa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374333" y="609600"/>
            <a:ext cx="529208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90000"/>
              </a:lnSpc>
            </a:pPr>
            <a:endParaRPr lang="en-US" sz="2400" dirty="0">
              <a:solidFill>
                <a:schemeClr val="bg1"/>
              </a:solidFill>
            </a:endParaRPr>
          </a:p>
          <a:p>
            <a:pPr algn="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</a:rPr>
              <a:t>Year 7 – Ratio &amp; Rates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7788" y="260648"/>
            <a:ext cx="457199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</a:rPr>
              <a:t>Term 4 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What are ratios and how do we use them?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837828" y="1988840"/>
            <a:ext cx="11052720" cy="2667000"/>
          </a:xfrm>
        </p:spPr>
        <p:txBody>
          <a:bodyPr/>
          <a:lstStyle/>
          <a:p>
            <a:r>
              <a:rPr lang="en-US" dirty="0"/>
              <a:t>Topic :Ratios</a:t>
            </a:r>
          </a:p>
        </p:txBody>
      </p:sp>
    </p:spTree>
    <p:extLst>
      <p:ext uri="{BB962C8B-B14F-4D97-AF65-F5344CB8AC3E}">
        <p14:creationId xmlns:p14="http://schemas.microsoft.com/office/powerpoint/2010/main" val="575311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480705-C379-402E-9BE6-420114E925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5931-3558-4E51-A6E2-AA850A0669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3DA3C0-AD6B-4283-B7F3-722CF29B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FC0C5-3197-4A1C-A26E-0DC6A9B1AB6B}"/>
              </a:ext>
            </a:extLst>
          </p:cNvPr>
          <p:cNvSpPr/>
          <p:nvPr/>
        </p:nvSpPr>
        <p:spPr>
          <a:xfrm>
            <a:off x="225761" y="156924"/>
            <a:ext cx="11737304" cy="6480720"/>
          </a:xfrm>
          <a:prstGeom prst="rect">
            <a:avLst/>
          </a:prstGeom>
          <a:solidFill>
            <a:schemeClr val="bg2"/>
          </a:solidFill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11B15E-B102-49A4-AFD0-8711AE39C186}"/>
              </a:ext>
            </a:extLst>
          </p:cNvPr>
          <p:cNvCxnSpPr/>
          <p:nvPr/>
        </p:nvCxnSpPr>
        <p:spPr>
          <a:xfrm>
            <a:off x="549796" y="764704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BD83C0-93C5-48B9-97BF-8ED8CE4E74BF}"/>
              </a:ext>
            </a:extLst>
          </p:cNvPr>
          <p:cNvCxnSpPr/>
          <p:nvPr/>
        </p:nvCxnSpPr>
        <p:spPr>
          <a:xfrm>
            <a:off x="549796" y="1262593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43D54B-CE33-493F-801C-CE3413DB4228}"/>
              </a:ext>
            </a:extLst>
          </p:cNvPr>
          <p:cNvCxnSpPr>
            <a:cxnSpLocks/>
          </p:cNvCxnSpPr>
          <p:nvPr/>
        </p:nvCxnSpPr>
        <p:spPr>
          <a:xfrm>
            <a:off x="2218903" y="1262593"/>
            <a:ext cx="0" cy="4968551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7A0B65-0FC0-461E-B527-EB25E129D614}"/>
              </a:ext>
            </a:extLst>
          </p:cNvPr>
          <p:cNvSpPr txBox="1"/>
          <p:nvPr/>
        </p:nvSpPr>
        <p:spPr>
          <a:xfrm>
            <a:off x="765820" y="274638"/>
            <a:ext cx="101531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Topic : Ratios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DF8641-1D39-42E1-A6C1-BEC9DC40BCA7}"/>
              </a:ext>
            </a:extLst>
          </p:cNvPr>
          <p:cNvSpPr txBox="1"/>
          <p:nvPr/>
        </p:nvSpPr>
        <p:spPr>
          <a:xfrm>
            <a:off x="773096" y="764703"/>
            <a:ext cx="10513168" cy="43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What are ratios and how do we use them?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B85E18-E650-457A-9FFE-34C82EC5CB52}"/>
              </a:ext>
            </a:extLst>
          </p:cNvPr>
          <p:cNvSpPr txBox="1"/>
          <p:nvPr/>
        </p:nvSpPr>
        <p:spPr>
          <a:xfrm>
            <a:off x="560655" y="1533873"/>
            <a:ext cx="259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000" dirty="0"/>
              <a:t>Ratio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357B38-2E80-4624-8255-5C9C542B033B}"/>
              </a:ext>
            </a:extLst>
          </p:cNvPr>
          <p:cNvSpPr txBox="1"/>
          <p:nvPr/>
        </p:nvSpPr>
        <p:spPr>
          <a:xfrm>
            <a:off x="2218903" y="1466289"/>
            <a:ext cx="6336706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A ratio is a comparison of two quantities of the same type in the same units</a:t>
            </a:r>
            <a:endParaRPr lang="en-AU" sz="2400" b="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8125A1-4470-465E-8D45-3A009E91B4C5}"/>
              </a:ext>
            </a:extLst>
          </p:cNvPr>
          <p:cNvSpPr txBox="1"/>
          <p:nvPr/>
        </p:nvSpPr>
        <p:spPr>
          <a:xfrm>
            <a:off x="429217" y="2697626"/>
            <a:ext cx="18914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000" dirty="0"/>
              <a:t>How can ratios be represented?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B97F849-6B1F-4E1D-AB87-3C08CBF98878}"/>
                  </a:ext>
                </a:extLst>
              </p:cNvPr>
              <p:cNvSpPr txBox="1"/>
              <p:nvPr/>
            </p:nvSpPr>
            <p:spPr>
              <a:xfrm>
                <a:off x="2255985" y="2632983"/>
                <a:ext cx="6179315" cy="1894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AU" sz="2400" dirty="0"/>
                  <a:t>Ratios can be written as two numbers separated by a colon (3 : 10)</a:t>
                </a:r>
              </a:p>
              <a:p>
                <a:pPr marL="342900" indent="-34290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AU" sz="2400" dirty="0"/>
                  <a:t>a fraction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AU" sz="2400" dirty="0"/>
              </a:p>
              <a:p>
                <a:pPr marL="342900" indent="-34290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AU" sz="2400" dirty="0"/>
                  <a:t>a decimal 0.3</a:t>
                </a:r>
              </a:p>
              <a:p>
                <a:pPr marL="342900" indent="-34290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AU" sz="2400" dirty="0"/>
                  <a:t>or as a percentage 30%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B97F849-6B1F-4E1D-AB87-3C08CBF98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985" y="2632983"/>
                <a:ext cx="6179315" cy="1894108"/>
              </a:xfrm>
              <a:prstGeom prst="rect">
                <a:avLst/>
              </a:prstGeom>
              <a:blipFill>
                <a:blip r:embed="rId3"/>
                <a:stretch>
                  <a:fillRect l="-1282" t="-4502" r="-986" b="-643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5060DD8-5C54-45DB-B434-68DC514AD31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930" t="30044" r="37603" b="47201"/>
          <a:stretch/>
        </p:blipFill>
        <p:spPr>
          <a:xfrm>
            <a:off x="2320661" y="4680536"/>
            <a:ext cx="4997888" cy="180366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DF5ECD4-862C-429E-A786-568FC9E535A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413" t="31353" r="22824" b="47201"/>
          <a:stretch/>
        </p:blipFill>
        <p:spPr>
          <a:xfrm>
            <a:off x="7890848" y="4805244"/>
            <a:ext cx="1516612" cy="169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622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1685B2-3A57-4A55-9FC5-10D460C62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884" y="692696"/>
            <a:ext cx="9324528" cy="602704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pPr algn="ctr"/>
            <a:r>
              <a:rPr lang="en-AU" dirty="0"/>
              <a:t>Practice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C3F20B-4CAC-49BB-A059-00C00A5D09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D6A0565-184E-471B-BC59-BBAF73FA3E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DC8774-B8BE-44AB-97D5-A8E1C5CDC2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779" t="27772" r="22234" b="32146"/>
          <a:stretch/>
        </p:blipFill>
        <p:spPr>
          <a:xfrm>
            <a:off x="556829" y="1369061"/>
            <a:ext cx="11075168" cy="4803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1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480705-C379-402E-9BE6-420114E925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5931-3558-4E51-A6E2-AA850A0669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3DA3C0-AD6B-4283-B7F3-722CF29B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FC0C5-3197-4A1C-A26E-0DC6A9B1AB6B}"/>
              </a:ext>
            </a:extLst>
          </p:cNvPr>
          <p:cNvSpPr/>
          <p:nvPr/>
        </p:nvSpPr>
        <p:spPr>
          <a:xfrm>
            <a:off x="225761" y="156924"/>
            <a:ext cx="11737304" cy="6480720"/>
          </a:xfrm>
          <a:prstGeom prst="rect">
            <a:avLst/>
          </a:prstGeom>
          <a:solidFill>
            <a:schemeClr val="bg2"/>
          </a:solidFill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11B15E-B102-49A4-AFD0-8711AE39C186}"/>
              </a:ext>
            </a:extLst>
          </p:cNvPr>
          <p:cNvCxnSpPr/>
          <p:nvPr/>
        </p:nvCxnSpPr>
        <p:spPr>
          <a:xfrm>
            <a:off x="549796" y="764704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BD83C0-93C5-48B9-97BF-8ED8CE4E74BF}"/>
              </a:ext>
            </a:extLst>
          </p:cNvPr>
          <p:cNvCxnSpPr/>
          <p:nvPr/>
        </p:nvCxnSpPr>
        <p:spPr>
          <a:xfrm>
            <a:off x="549796" y="1262593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43D54B-CE33-493F-801C-CE3413DB4228}"/>
              </a:ext>
            </a:extLst>
          </p:cNvPr>
          <p:cNvCxnSpPr>
            <a:cxnSpLocks/>
          </p:cNvCxnSpPr>
          <p:nvPr/>
        </p:nvCxnSpPr>
        <p:spPr>
          <a:xfrm>
            <a:off x="2926060" y="1295400"/>
            <a:ext cx="0" cy="4968551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7A0B65-0FC0-461E-B527-EB25E129D614}"/>
              </a:ext>
            </a:extLst>
          </p:cNvPr>
          <p:cNvSpPr txBox="1"/>
          <p:nvPr/>
        </p:nvSpPr>
        <p:spPr>
          <a:xfrm>
            <a:off x="765820" y="274638"/>
            <a:ext cx="101531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Topic : Ratios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DF8641-1D39-42E1-A6C1-BEC9DC40BCA7}"/>
              </a:ext>
            </a:extLst>
          </p:cNvPr>
          <p:cNvSpPr txBox="1"/>
          <p:nvPr/>
        </p:nvSpPr>
        <p:spPr>
          <a:xfrm>
            <a:off x="773096" y="764703"/>
            <a:ext cx="10513168" cy="43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What are ratios and how do we use them?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B85E18-E650-457A-9FFE-34C82EC5CB52}"/>
              </a:ext>
            </a:extLst>
          </p:cNvPr>
          <p:cNvSpPr txBox="1"/>
          <p:nvPr/>
        </p:nvSpPr>
        <p:spPr>
          <a:xfrm>
            <a:off x="560655" y="1533873"/>
            <a:ext cx="25922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000" dirty="0"/>
              <a:t>Converting between fraction decimal and percentage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357B38-2E80-4624-8255-5C9C542B033B}"/>
              </a:ext>
            </a:extLst>
          </p:cNvPr>
          <p:cNvSpPr txBox="1"/>
          <p:nvPr/>
        </p:nvSpPr>
        <p:spPr>
          <a:xfrm>
            <a:off x="3230864" y="1690406"/>
            <a:ext cx="6336706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b="0" dirty="0"/>
              <a:t>Fraction → decimal</a:t>
            </a:r>
          </a:p>
          <a:p>
            <a:pPr>
              <a:lnSpc>
                <a:spcPct val="90000"/>
              </a:lnSpc>
            </a:pPr>
            <a:endParaRPr lang="en-AU" sz="2400" dirty="0"/>
          </a:p>
          <a:p>
            <a:pPr>
              <a:lnSpc>
                <a:spcPct val="90000"/>
              </a:lnSpc>
            </a:pPr>
            <a:r>
              <a:rPr lang="en-AU" sz="2400" b="0" dirty="0"/>
              <a:t>	divide numerator by denominator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077723-4D69-4848-BD86-0D57D096B0BA}"/>
              </a:ext>
            </a:extLst>
          </p:cNvPr>
          <p:cNvSpPr txBox="1"/>
          <p:nvPr/>
        </p:nvSpPr>
        <p:spPr>
          <a:xfrm>
            <a:off x="3230863" y="3074496"/>
            <a:ext cx="8732201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b="0" dirty="0"/>
              <a:t>decimal → percentage</a:t>
            </a:r>
          </a:p>
          <a:p>
            <a:pPr>
              <a:lnSpc>
                <a:spcPct val="90000"/>
              </a:lnSpc>
            </a:pPr>
            <a:endParaRPr lang="en-AU" sz="2400" dirty="0"/>
          </a:p>
          <a:p>
            <a:pPr>
              <a:lnSpc>
                <a:spcPct val="90000"/>
              </a:lnSpc>
            </a:pPr>
            <a:r>
              <a:rPr lang="en-AU" sz="2400" b="0" dirty="0"/>
              <a:t>	multiply by 100 and add the percentage symbol %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D9F239-BE09-4910-B17E-5242095B36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868" t="51131" r="30505" b="17580"/>
          <a:stretch/>
        </p:blipFill>
        <p:spPr>
          <a:xfrm>
            <a:off x="3124419" y="4274026"/>
            <a:ext cx="5317735" cy="214523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187C922-0652-4F18-9C6B-91B17DB5A49A}"/>
              </a:ext>
            </a:extLst>
          </p:cNvPr>
          <p:cNvSpPr/>
          <p:nvPr/>
        </p:nvSpPr>
        <p:spPr>
          <a:xfrm>
            <a:off x="4397254" y="4757197"/>
            <a:ext cx="4003926" cy="1628874"/>
          </a:xfrm>
          <a:prstGeom prst="rect">
            <a:avLst/>
          </a:prstGeom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6304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  <p:bldP spid="22" grpId="0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1685B2-3A57-4A55-9FC5-10D460C62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884" y="692696"/>
            <a:ext cx="9324528" cy="602704"/>
          </a:xfrm>
          <a:solidFill>
            <a:schemeClr val="bg1">
              <a:lumMod val="5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Practice – add to your table on the left hand side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C3F20B-4CAC-49BB-A059-00C00A5D09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8244407" cy="426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600" dirty="0"/>
              <a:t>1: 2</a:t>
            </a:r>
          </a:p>
          <a:p>
            <a:pPr marL="0" indent="0">
              <a:buNone/>
            </a:pPr>
            <a:r>
              <a:rPr lang="en-AU" sz="3600" dirty="0"/>
              <a:t>And </a:t>
            </a:r>
          </a:p>
          <a:p>
            <a:pPr marL="0" indent="0">
              <a:buNone/>
            </a:pPr>
            <a:r>
              <a:rPr lang="en-AU" sz="3600" dirty="0"/>
              <a:t>2 : </a:t>
            </a:r>
            <a:r>
              <a:rPr lang="en-AU" sz="3600" dirty="0" smtClean="0"/>
              <a:t>5</a:t>
            </a:r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r>
              <a:rPr lang="en-AU" sz="3600" dirty="0" smtClean="0"/>
              <a:t>Complete </a:t>
            </a:r>
            <a:r>
              <a:rPr lang="en-AU" sz="3600" dirty="0" err="1" smtClean="0"/>
              <a:t>pg</a:t>
            </a:r>
            <a:r>
              <a:rPr lang="en-AU" sz="3600" dirty="0" smtClean="0"/>
              <a:t> 216 Dwyer 7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23140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9468543" cy="4267200"/>
          </a:xfrm>
        </p:spPr>
        <p:txBody>
          <a:bodyPr/>
          <a:lstStyle/>
          <a:p>
            <a:r>
              <a:rPr lang="en-AU" b="1" dirty="0" smtClean="0"/>
              <a:t>Sentence frame</a:t>
            </a:r>
          </a:p>
          <a:p>
            <a:pPr marL="0" indent="0">
              <a:buNone/>
            </a:pPr>
            <a:r>
              <a:rPr lang="en-AU" dirty="0" smtClean="0"/>
              <a:t>A ratio is ______________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We can use ratios to _______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To convert ratios to fractions we_________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Write your summary 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3916409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7380311" cy="4267200"/>
          </a:xfrm>
        </p:spPr>
        <p:txBody>
          <a:bodyPr/>
          <a:lstStyle/>
          <a:p>
            <a:pPr marL="0" indent="0">
              <a:buNone/>
            </a:pPr>
            <a:r>
              <a:rPr lang="en-AU" dirty="0" smtClean="0"/>
              <a:t>EQ: How do we simplify ratios?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Topic: Simplifying ratios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70143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480705-C379-402E-9BE6-420114E925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5931-3558-4E51-A6E2-AA850A0669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3DA3C0-AD6B-4283-B7F3-722CF29B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FC0C5-3197-4A1C-A26E-0DC6A9B1AB6B}"/>
              </a:ext>
            </a:extLst>
          </p:cNvPr>
          <p:cNvSpPr/>
          <p:nvPr/>
        </p:nvSpPr>
        <p:spPr>
          <a:xfrm>
            <a:off x="223082" y="188640"/>
            <a:ext cx="11737304" cy="6480720"/>
          </a:xfrm>
          <a:prstGeom prst="rect">
            <a:avLst/>
          </a:prstGeom>
          <a:solidFill>
            <a:schemeClr val="bg2"/>
          </a:solidFill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11B15E-B102-49A4-AFD0-8711AE39C186}"/>
              </a:ext>
            </a:extLst>
          </p:cNvPr>
          <p:cNvCxnSpPr/>
          <p:nvPr/>
        </p:nvCxnSpPr>
        <p:spPr>
          <a:xfrm>
            <a:off x="549796" y="764704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BD83C0-93C5-48B9-97BF-8ED8CE4E74BF}"/>
              </a:ext>
            </a:extLst>
          </p:cNvPr>
          <p:cNvCxnSpPr/>
          <p:nvPr/>
        </p:nvCxnSpPr>
        <p:spPr>
          <a:xfrm>
            <a:off x="549796" y="1262593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43D54B-CE33-493F-801C-CE3413DB4228}"/>
              </a:ext>
            </a:extLst>
          </p:cNvPr>
          <p:cNvCxnSpPr>
            <a:cxnSpLocks/>
          </p:cNvCxnSpPr>
          <p:nvPr/>
        </p:nvCxnSpPr>
        <p:spPr>
          <a:xfrm>
            <a:off x="2926060" y="1295400"/>
            <a:ext cx="0" cy="4968551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7A0B65-0FC0-461E-B527-EB25E129D614}"/>
              </a:ext>
            </a:extLst>
          </p:cNvPr>
          <p:cNvSpPr txBox="1"/>
          <p:nvPr/>
        </p:nvSpPr>
        <p:spPr>
          <a:xfrm>
            <a:off x="765820" y="274638"/>
            <a:ext cx="101531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Topic : Ratios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DF8641-1D39-42E1-A6C1-BEC9DC40BCA7}"/>
              </a:ext>
            </a:extLst>
          </p:cNvPr>
          <p:cNvSpPr txBox="1"/>
          <p:nvPr/>
        </p:nvSpPr>
        <p:spPr>
          <a:xfrm>
            <a:off x="773096" y="764703"/>
            <a:ext cx="10513168" cy="43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 smtClean="0"/>
              <a:t>How do we simplify ratios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B85E18-E650-457A-9FFE-34C82EC5CB52}"/>
              </a:ext>
            </a:extLst>
          </p:cNvPr>
          <p:cNvSpPr txBox="1"/>
          <p:nvPr/>
        </p:nvSpPr>
        <p:spPr>
          <a:xfrm>
            <a:off x="560655" y="1533873"/>
            <a:ext cx="259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000" dirty="0"/>
              <a:t>Simplifying ratios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357B38-2E80-4624-8255-5C9C542B033B}"/>
              </a:ext>
            </a:extLst>
          </p:cNvPr>
          <p:cNvSpPr txBox="1"/>
          <p:nvPr/>
        </p:nvSpPr>
        <p:spPr>
          <a:xfrm>
            <a:off x="2976627" y="1350360"/>
            <a:ext cx="6336706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When ratios are large or awkward we can simplify them</a:t>
            </a:r>
            <a:endParaRPr lang="en-AU" sz="24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5424C5-F77D-42A8-946F-61DD072920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745" t="24169" r="31628" b="53859"/>
          <a:stretch/>
        </p:blipFill>
        <p:spPr>
          <a:xfrm>
            <a:off x="3423588" y="2298189"/>
            <a:ext cx="5792800" cy="1954610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D38C1D91-BEC4-4613-85C7-42F3643BA26E}"/>
              </a:ext>
            </a:extLst>
          </p:cNvPr>
          <p:cNvSpPr/>
          <p:nvPr/>
        </p:nvSpPr>
        <p:spPr>
          <a:xfrm>
            <a:off x="5597632" y="3617882"/>
            <a:ext cx="864096" cy="792088"/>
          </a:xfrm>
          <a:prstGeom prst="ellipse">
            <a:avLst/>
          </a:prstGeom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24A7B2-060C-4B04-A95E-C684FCD89BE9}"/>
              </a:ext>
            </a:extLst>
          </p:cNvPr>
          <p:cNvSpPr txBox="1"/>
          <p:nvPr/>
        </p:nvSpPr>
        <p:spPr>
          <a:xfrm>
            <a:off x="2926060" y="4533955"/>
            <a:ext cx="677528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Find a number that </a:t>
            </a:r>
            <a:r>
              <a:rPr lang="en-AU" sz="2400" b="1" dirty="0"/>
              <a:t>both</a:t>
            </a:r>
            <a:r>
              <a:rPr lang="en-AU" sz="2400" dirty="0"/>
              <a:t> ratio parts can be divided by.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C5BB29-43B2-4F10-B7CB-B146F5559F32}"/>
              </a:ext>
            </a:extLst>
          </p:cNvPr>
          <p:cNvSpPr txBox="1"/>
          <p:nvPr/>
        </p:nvSpPr>
        <p:spPr>
          <a:xfrm>
            <a:off x="5922670" y="5052376"/>
            <a:ext cx="4536504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15 : 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3B065C-7501-41DA-A07C-9B6FD634FF47}"/>
              </a:ext>
            </a:extLst>
          </p:cNvPr>
          <p:cNvSpPr txBox="1"/>
          <p:nvPr/>
        </p:nvSpPr>
        <p:spPr>
          <a:xfrm>
            <a:off x="7583577" y="5043084"/>
            <a:ext cx="504056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Both can be divided by 3!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AE0351-D366-4DFA-A6A6-23F34C94646D}"/>
              </a:ext>
            </a:extLst>
          </p:cNvPr>
          <p:cNvSpPr txBox="1"/>
          <p:nvPr/>
        </p:nvSpPr>
        <p:spPr>
          <a:xfrm>
            <a:off x="4612700" y="5431301"/>
            <a:ext cx="403229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15 ÷ 3 = 5   and 9 ÷ 3 = 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9E0C21-D373-49A8-86AA-BE2F212E0387}"/>
              </a:ext>
            </a:extLst>
          </p:cNvPr>
          <p:cNvSpPr txBox="1"/>
          <p:nvPr/>
        </p:nvSpPr>
        <p:spPr>
          <a:xfrm>
            <a:off x="3680989" y="5991412"/>
            <a:ext cx="37593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Simplified ratio is 5 : 3</a:t>
            </a:r>
          </a:p>
        </p:txBody>
      </p:sp>
    </p:spTree>
    <p:extLst>
      <p:ext uri="{BB962C8B-B14F-4D97-AF65-F5344CB8AC3E}">
        <p14:creationId xmlns:p14="http://schemas.microsoft.com/office/powerpoint/2010/main" val="2827010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  <p:bldP spid="14" grpId="0" animBg="1"/>
      <p:bldP spid="15" grpId="0"/>
      <p:bldP spid="17" grpId="0"/>
      <p:bldP spid="19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1685B2-3A57-4A55-9FC5-10D460C62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884" y="692696"/>
            <a:ext cx="9324528" cy="602704"/>
          </a:xfrm>
          <a:solidFill>
            <a:schemeClr val="bg1">
              <a:lumMod val="5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Practice – simplifying ratios (pick 5 to do on LHS)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0CF57-62C0-44B3-8FDA-611D7ABA4A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FD168B-D05A-4C8B-96C0-36FC00246A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871" t="27772" r="23415" b="37397"/>
          <a:stretch/>
        </p:blipFill>
        <p:spPr>
          <a:xfrm>
            <a:off x="477788" y="1877489"/>
            <a:ext cx="11255752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652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F52692-FA01-4378-B987-FE1F96889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7788" y="1844824"/>
            <a:ext cx="11305256" cy="4267200"/>
          </a:xfrm>
        </p:spPr>
        <p:txBody>
          <a:bodyPr>
            <a:normAutofit/>
          </a:bodyPr>
          <a:lstStyle/>
          <a:p>
            <a:r>
              <a:rPr lang="en-AU" sz="3200" dirty="0"/>
              <a:t>Before we watch the video you need to fill out the estimation section of your worksheet</a:t>
            </a:r>
          </a:p>
          <a:p>
            <a:r>
              <a:rPr lang="en-AU" sz="3200" dirty="0"/>
              <a:t>As a class we will watch the quick video – Miniature Earth to find the actual ratios</a:t>
            </a:r>
          </a:p>
          <a:p>
            <a:r>
              <a:rPr lang="en-AU" sz="3200" dirty="0"/>
              <a:t>Then you can complete the rest of the questions </a:t>
            </a:r>
          </a:p>
          <a:p>
            <a:r>
              <a:rPr lang="en-AU" sz="3200" dirty="0"/>
              <a:t>Conclusion – discussion questions as a class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B4D50-FC4D-4A42-8D26-8DAA8AF208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633" y="0"/>
            <a:ext cx="4277580" cy="11247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dirty="0"/>
              <a:t>When do we use ratios??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EBB73FA-8F00-4315-9E50-CCECAED9E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2044" y="332656"/>
            <a:ext cx="9143998" cy="1020762"/>
          </a:xfrm>
        </p:spPr>
        <p:txBody>
          <a:bodyPr/>
          <a:lstStyle/>
          <a:p>
            <a:r>
              <a:rPr lang="en-AU" dirty="0"/>
              <a:t>Miniature Earth - </a:t>
            </a:r>
            <a:r>
              <a:rPr lang="en-AU" dirty="0">
                <a:hlinkClick r:id="rId2"/>
              </a:rPr>
              <a:t>https://vimeo.com/18782842</a:t>
            </a:r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91919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806F8-7A39-42AA-8FBD-5A1B983A55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3773" y="1556792"/>
            <a:ext cx="10945216" cy="4615408"/>
          </a:xfrm>
        </p:spPr>
        <p:txBody>
          <a:bodyPr>
            <a:normAutofit fontScale="92500" lnSpcReduction="10000"/>
          </a:bodyPr>
          <a:lstStyle/>
          <a:p>
            <a:r>
              <a:rPr lang="en-AU" sz="2800" dirty="0"/>
              <a:t>How many people in this village had a computer or went to university? Do you think it is important for people to have access to these resources?</a:t>
            </a:r>
          </a:p>
          <a:p>
            <a:endParaRPr lang="en-AU" sz="2800" dirty="0"/>
          </a:p>
          <a:p>
            <a:r>
              <a:rPr lang="en-AU" sz="2800" dirty="0"/>
              <a:t>Give some reasons why Australia’s capacity to sustain a large population is limited.</a:t>
            </a:r>
          </a:p>
          <a:p>
            <a:endParaRPr lang="en-AU" sz="2800" dirty="0"/>
          </a:p>
          <a:p>
            <a:r>
              <a:rPr lang="en-AU" sz="2800" dirty="0"/>
              <a:t>Given the ratios that you learnt about today, do you think that there is an imbalance of resources? Explain your answer.</a:t>
            </a:r>
          </a:p>
          <a:p>
            <a:r>
              <a:rPr lang="en-AU" sz="2800" dirty="0"/>
              <a:t>What other subjects dis this activity tie into?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3008A8-806B-49F0-8C69-40849B928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Discussion as a class</a:t>
            </a:r>
          </a:p>
        </p:txBody>
      </p:sp>
    </p:spTree>
    <p:extLst>
      <p:ext uri="{BB962C8B-B14F-4D97-AF65-F5344CB8AC3E}">
        <p14:creationId xmlns:p14="http://schemas.microsoft.com/office/powerpoint/2010/main" val="327187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Summary.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To simplify ratios we_________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818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tudent presentation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7Grunge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Student presentation" id="{61936DD2-5F1E-4CE5-AB4B-725D35FC9179}" vid="{60FEA300-D151-4B21-9955-901AC34D046A}"/>
    </a:ext>
  </a:extLst>
</a:theme>
</file>

<file path=ppt/theme/theme2.xml><?xml version="1.0" encoding="utf-8"?>
<a:theme xmlns:a="http://schemas.openxmlformats.org/drawingml/2006/main" name="Office Them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7Grunge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7Grunge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F98950B5-7B6B-4C28-8458-CAB8EA4CB24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Student scientific report presentation</Template>
  <TotalTime>0</TotalTime>
  <Words>378</Words>
  <Application>Microsoft Office PowerPoint</Application>
  <PresentationFormat>Custom</PresentationFormat>
  <Paragraphs>66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Cambria Math</vt:lpstr>
      <vt:lpstr>Century Gothic</vt:lpstr>
      <vt:lpstr>Wingdings 3</vt:lpstr>
      <vt:lpstr>Student presentation</vt:lpstr>
      <vt:lpstr>Topic :Ratios</vt:lpstr>
      <vt:lpstr>PowerPoint Presentation</vt:lpstr>
      <vt:lpstr>Practice</vt:lpstr>
      <vt:lpstr>PowerPoint Presentation</vt:lpstr>
      <vt:lpstr>Practice – add to your table on the left hand side</vt:lpstr>
      <vt:lpstr>Write your summary </vt:lpstr>
      <vt:lpstr>Topic: Simplifying ratios</vt:lpstr>
      <vt:lpstr>PowerPoint Presentation</vt:lpstr>
      <vt:lpstr>Practice – simplifying ratios (pick 5 to do on LHS)</vt:lpstr>
      <vt:lpstr>Miniature Earth - https://vimeo.com/18782842 </vt:lpstr>
      <vt:lpstr>Discussion as a class</vt:lpstr>
      <vt:lpstr>Summary.  To simplify ratios we_________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2017-10-29T10:47:27Z</dcterms:created>
  <dcterms:modified xsi:type="dcterms:W3CDTF">2018-10-09T01:02:08Z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TC034605859991</vt:lpwstr>
  </property>
</Properties>
</file>
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68" r:id="rId2"/>
    <p:sldId id="269" r:id="rId3"/>
    <p:sldId id="270" r:id="rId4"/>
    <p:sldId id="271" r:id="rId5"/>
    <p:sldId id="261" r:id="rId6"/>
    <p:sldId id="265" r:id="rId7"/>
    <p:sldId id="266" r:id="rId8"/>
    <p:sldId id="267" r:id="rId9"/>
    <p:sldId id="272" r:id="rId10"/>
    <p:sldId id="273" r:id="rId11"/>
    <p:sldId id="274" r:id="rId12"/>
    <p:sldId id="275" r:id="rId13"/>
    <p:sldId id="27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72" y="1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F74536-B818-4694-BE13-D64BBA2FF979}" type="datetimeFigureOut">
              <a:rPr lang="en-AU" smtClean="0"/>
              <a:t>3/04/2019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7DA55-C6E0-42E7-88E4-A71637640F8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3070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4/3/2019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4/3/2019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4/3/2019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4/3/2019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4/3/2019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4/3/2019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4/3/2019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ogebra.org/m/MyVgfMAg" TargetMode="External"/><Relationship Id="rId2" Type="http://schemas.openxmlformats.org/officeDocument/2006/relationships/hyperlink" Target="https://www.geogebra.org/m/wPHZ2VcU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ogebra.org/m/m8EdKBj5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6CBB3-C853-4A75-9FE5-89C98461DF0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500312" y="4392612"/>
            <a:ext cx="7594600" cy="2181226"/>
          </a:xfrm>
        </p:spPr>
        <p:txBody>
          <a:bodyPr>
            <a:normAutofit/>
          </a:bodyPr>
          <a:lstStyle/>
          <a:p>
            <a:r>
              <a:rPr lang="en-AU" sz="2800" dirty="0">
                <a:hlinkClick r:id="rId2"/>
              </a:rPr>
              <a:t>https://www.geogebra.org/m/wPHZ2VcU</a:t>
            </a:r>
            <a:endParaRPr lang="en-AU" sz="2800" dirty="0"/>
          </a:p>
          <a:p>
            <a:endParaRPr lang="en-AU" sz="2800" dirty="0"/>
          </a:p>
          <a:p>
            <a:r>
              <a:rPr lang="en-AU" sz="2800" dirty="0">
                <a:hlinkClick r:id="rId3"/>
              </a:rPr>
              <a:t>https://www.geogebra.org/m/MyVgfMAg</a:t>
            </a:r>
            <a:endParaRPr lang="en-AU" sz="2800" dirty="0"/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5FD36D-2427-49FD-A409-D74E0F6B53BA}"/>
              </a:ext>
            </a:extLst>
          </p:cNvPr>
          <p:cNvSpPr txBox="1"/>
          <p:nvPr/>
        </p:nvSpPr>
        <p:spPr>
          <a:xfrm>
            <a:off x="1028700" y="424546"/>
            <a:ext cx="95583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Yesterday we looked at the area of squares an rectangles, today we are looking at the area of triangles and parallelograms.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1C82A6-557D-402E-9C85-91EDEBA0B1B8}"/>
              </a:ext>
            </a:extLst>
          </p:cNvPr>
          <p:cNvSpPr txBox="1"/>
          <p:nvPr/>
        </p:nvSpPr>
        <p:spPr>
          <a:xfrm>
            <a:off x="1314450" y="1135527"/>
            <a:ext cx="5200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Revision from yesterday;</a:t>
            </a:r>
          </a:p>
          <a:p>
            <a:endParaRPr lang="en-AU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C705F1-E38D-4570-9912-0684BA7BC565}"/>
              </a:ext>
            </a:extLst>
          </p:cNvPr>
          <p:cNvSpPr/>
          <p:nvPr/>
        </p:nvSpPr>
        <p:spPr>
          <a:xfrm>
            <a:off x="657225" y="2176804"/>
            <a:ext cx="3457575" cy="11236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DFA832-9216-4A93-8148-22259FB7D1CF}"/>
              </a:ext>
            </a:extLst>
          </p:cNvPr>
          <p:cNvSpPr txBox="1"/>
          <p:nvPr/>
        </p:nvSpPr>
        <p:spPr>
          <a:xfrm>
            <a:off x="1571626" y="1807472"/>
            <a:ext cx="1084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12cm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CFE2C9-144D-45DA-BD48-1C400E15FAAB}"/>
              </a:ext>
            </a:extLst>
          </p:cNvPr>
          <p:cNvSpPr txBox="1"/>
          <p:nvPr/>
        </p:nvSpPr>
        <p:spPr>
          <a:xfrm>
            <a:off x="4267201" y="2553942"/>
            <a:ext cx="1084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4cm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5FB02F-4FF1-42DE-BEB7-D0DA83426E11}"/>
              </a:ext>
            </a:extLst>
          </p:cNvPr>
          <p:cNvSpPr txBox="1"/>
          <p:nvPr/>
        </p:nvSpPr>
        <p:spPr>
          <a:xfrm>
            <a:off x="6096000" y="2017752"/>
            <a:ext cx="2605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Area= </a:t>
            </a:r>
          </a:p>
        </p:txBody>
      </p:sp>
    </p:spTree>
    <p:extLst>
      <p:ext uri="{BB962C8B-B14F-4D97-AF65-F5344CB8AC3E}">
        <p14:creationId xmlns:p14="http://schemas.microsoft.com/office/powerpoint/2010/main" val="1955034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576A80-6A63-4B9B-BF8A-FE2DA65AE595}"/>
              </a:ext>
            </a:extLst>
          </p:cNvPr>
          <p:cNvSpPr/>
          <p:nvPr/>
        </p:nvSpPr>
        <p:spPr>
          <a:xfrm>
            <a:off x="954157" y="1275520"/>
            <a:ext cx="4876800" cy="426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6E885B65-B976-4DA1-8945-B705320E190D}"/>
              </a:ext>
            </a:extLst>
          </p:cNvPr>
          <p:cNvSpPr/>
          <p:nvPr/>
        </p:nvSpPr>
        <p:spPr>
          <a:xfrm>
            <a:off x="954157" y="1315279"/>
            <a:ext cx="4876800" cy="4227442"/>
          </a:xfrm>
          <a:prstGeom prst="triangle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C9F254-0B96-453F-8537-C51DCE87DB9F}"/>
              </a:ext>
            </a:extLst>
          </p:cNvPr>
          <p:cNvCxnSpPr>
            <a:cxnSpLocks/>
          </p:cNvCxnSpPr>
          <p:nvPr/>
        </p:nvCxnSpPr>
        <p:spPr>
          <a:xfrm>
            <a:off x="1934819" y="1275520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FA5A78-5C79-4202-8C81-E6F0A21616B1}"/>
              </a:ext>
            </a:extLst>
          </p:cNvPr>
          <p:cNvCxnSpPr>
            <a:cxnSpLocks/>
          </p:cNvCxnSpPr>
          <p:nvPr/>
        </p:nvCxnSpPr>
        <p:spPr>
          <a:xfrm>
            <a:off x="2948609" y="1275520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A8E32AE-9D20-4E2E-81AC-60B8F3B3AD0D}"/>
              </a:ext>
            </a:extLst>
          </p:cNvPr>
          <p:cNvCxnSpPr>
            <a:cxnSpLocks/>
          </p:cNvCxnSpPr>
          <p:nvPr/>
        </p:nvCxnSpPr>
        <p:spPr>
          <a:xfrm>
            <a:off x="3896139" y="1275520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0C13C4B-4EE8-436D-AAC0-56E51A5A0582}"/>
              </a:ext>
            </a:extLst>
          </p:cNvPr>
          <p:cNvCxnSpPr>
            <a:cxnSpLocks/>
          </p:cNvCxnSpPr>
          <p:nvPr/>
        </p:nvCxnSpPr>
        <p:spPr>
          <a:xfrm>
            <a:off x="4896678" y="1275520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948176-F35C-4DCD-8024-F8D0FE01A00D}"/>
              </a:ext>
            </a:extLst>
          </p:cNvPr>
          <p:cNvCxnSpPr>
            <a:cxnSpLocks/>
          </p:cNvCxnSpPr>
          <p:nvPr/>
        </p:nvCxnSpPr>
        <p:spPr>
          <a:xfrm>
            <a:off x="954157" y="2123660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1992B5C-A186-4D68-80AD-0A8D9F19769E}"/>
              </a:ext>
            </a:extLst>
          </p:cNvPr>
          <p:cNvCxnSpPr>
            <a:cxnSpLocks/>
          </p:cNvCxnSpPr>
          <p:nvPr/>
        </p:nvCxnSpPr>
        <p:spPr>
          <a:xfrm>
            <a:off x="954157" y="2991677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35D7524-9C95-405F-999E-6581EBD389FC}"/>
              </a:ext>
            </a:extLst>
          </p:cNvPr>
          <p:cNvCxnSpPr>
            <a:cxnSpLocks/>
          </p:cNvCxnSpPr>
          <p:nvPr/>
        </p:nvCxnSpPr>
        <p:spPr>
          <a:xfrm>
            <a:off x="954157" y="3806686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50CF90-8223-468D-A2BE-AB2AA1821B73}"/>
              </a:ext>
            </a:extLst>
          </p:cNvPr>
          <p:cNvCxnSpPr>
            <a:cxnSpLocks/>
          </p:cNvCxnSpPr>
          <p:nvPr/>
        </p:nvCxnSpPr>
        <p:spPr>
          <a:xfrm>
            <a:off x="954157" y="4687956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02CCB7A-39C5-4693-BF8F-72557166497F}"/>
              </a:ext>
            </a:extLst>
          </p:cNvPr>
          <p:cNvSpPr txBox="1"/>
          <p:nvPr/>
        </p:nvSpPr>
        <p:spPr>
          <a:xfrm>
            <a:off x="7142922" y="569843"/>
            <a:ext cx="4598504" cy="5221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Let’s try a few triangles to see how much area they take up.</a:t>
            </a:r>
          </a:p>
          <a:p>
            <a:endParaRPr lang="en-AU" sz="2000" dirty="0"/>
          </a:p>
          <a:p>
            <a:r>
              <a:rPr lang="en-AU" sz="2000" dirty="0"/>
              <a:t>We have a square that is 5cm x 5cm.</a:t>
            </a:r>
          </a:p>
          <a:p>
            <a:r>
              <a:rPr lang="en-AU" sz="2000" dirty="0"/>
              <a:t>	It’s area is 5x5 = 25cm</a:t>
            </a:r>
            <a:r>
              <a:rPr lang="en-AU" sz="2000" baseline="30000" dirty="0"/>
              <a:t>2</a:t>
            </a:r>
          </a:p>
          <a:p>
            <a:endParaRPr lang="en-AU" sz="2000" baseline="30000" dirty="0"/>
          </a:p>
          <a:p>
            <a:r>
              <a:rPr lang="en-AU" sz="2000" dirty="0"/>
              <a:t>Our triangle is also 5cm tall x 5cm wide.  How many area squares does it take op?</a:t>
            </a:r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454444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576A80-6A63-4B9B-BF8A-FE2DA65AE595}"/>
              </a:ext>
            </a:extLst>
          </p:cNvPr>
          <p:cNvSpPr/>
          <p:nvPr/>
        </p:nvSpPr>
        <p:spPr>
          <a:xfrm>
            <a:off x="954157" y="1275520"/>
            <a:ext cx="4876800" cy="426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6E885B65-B976-4DA1-8945-B705320E190D}"/>
              </a:ext>
            </a:extLst>
          </p:cNvPr>
          <p:cNvSpPr/>
          <p:nvPr/>
        </p:nvSpPr>
        <p:spPr>
          <a:xfrm>
            <a:off x="954157" y="1315279"/>
            <a:ext cx="4876800" cy="4227442"/>
          </a:xfrm>
          <a:prstGeom prst="triangle">
            <a:avLst>
              <a:gd name="adj" fmla="val 2010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C9F254-0B96-453F-8537-C51DCE87DB9F}"/>
              </a:ext>
            </a:extLst>
          </p:cNvPr>
          <p:cNvCxnSpPr>
            <a:cxnSpLocks/>
          </p:cNvCxnSpPr>
          <p:nvPr/>
        </p:nvCxnSpPr>
        <p:spPr>
          <a:xfrm>
            <a:off x="1934819" y="1275520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FA5A78-5C79-4202-8C81-E6F0A21616B1}"/>
              </a:ext>
            </a:extLst>
          </p:cNvPr>
          <p:cNvCxnSpPr>
            <a:cxnSpLocks/>
          </p:cNvCxnSpPr>
          <p:nvPr/>
        </p:nvCxnSpPr>
        <p:spPr>
          <a:xfrm>
            <a:off x="2948609" y="1275520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A8E32AE-9D20-4E2E-81AC-60B8F3B3AD0D}"/>
              </a:ext>
            </a:extLst>
          </p:cNvPr>
          <p:cNvCxnSpPr>
            <a:cxnSpLocks/>
          </p:cNvCxnSpPr>
          <p:nvPr/>
        </p:nvCxnSpPr>
        <p:spPr>
          <a:xfrm>
            <a:off x="3896139" y="1275520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0C13C4B-4EE8-436D-AAC0-56E51A5A0582}"/>
              </a:ext>
            </a:extLst>
          </p:cNvPr>
          <p:cNvCxnSpPr>
            <a:cxnSpLocks/>
          </p:cNvCxnSpPr>
          <p:nvPr/>
        </p:nvCxnSpPr>
        <p:spPr>
          <a:xfrm>
            <a:off x="4896678" y="1275520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948176-F35C-4DCD-8024-F8D0FE01A00D}"/>
              </a:ext>
            </a:extLst>
          </p:cNvPr>
          <p:cNvCxnSpPr>
            <a:cxnSpLocks/>
          </p:cNvCxnSpPr>
          <p:nvPr/>
        </p:nvCxnSpPr>
        <p:spPr>
          <a:xfrm>
            <a:off x="954157" y="2123660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1992B5C-A186-4D68-80AD-0A8D9F19769E}"/>
              </a:ext>
            </a:extLst>
          </p:cNvPr>
          <p:cNvCxnSpPr>
            <a:cxnSpLocks/>
          </p:cNvCxnSpPr>
          <p:nvPr/>
        </p:nvCxnSpPr>
        <p:spPr>
          <a:xfrm>
            <a:off x="954157" y="2991677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35D7524-9C95-405F-999E-6581EBD389FC}"/>
              </a:ext>
            </a:extLst>
          </p:cNvPr>
          <p:cNvCxnSpPr>
            <a:cxnSpLocks/>
          </p:cNvCxnSpPr>
          <p:nvPr/>
        </p:nvCxnSpPr>
        <p:spPr>
          <a:xfrm>
            <a:off x="954157" y="3806686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50CF90-8223-468D-A2BE-AB2AA1821B73}"/>
              </a:ext>
            </a:extLst>
          </p:cNvPr>
          <p:cNvCxnSpPr>
            <a:cxnSpLocks/>
          </p:cNvCxnSpPr>
          <p:nvPr/>
        </p:nvCxnSpPr>
        <p:spPr>
          <a:xfrm>
            <a:off x="954157" y="4687956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02CCB7A-39C5-4693-BF8F-72557166497F}"/>
              </a:ext>
            </a:extLst>
          </p:cNvPr>
          <p:cNvSpPr txBox="1"/>
          <p:nvPr/>
        </p:nvSpPr>
        <p:spPr>
          <a:xfrm>
            <a:off x="7185785" y="512693"/>
            <a:ext cx="4598504" cy="5221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Let’s try a few triangles to see how much area they take up.</a:t>
            </a:r>
          </a:p>
          <a:p>
            <a:endParaRPr lang="en-AU" sz="2000" dirty="0"/>
          </a:p>
          <a:p>
            <a:r>
              <a:rPr lang="en-AU" sz="2000" dirty="0"/>
              <a:t>We have a square that is 5cm x 5cm.</a:t>
            </a:r>
          </a:p>
          <a:p>
            <a:r>
              <a:rPr lang="en-AU" sz="2000" dirty="0"/>
              <a:t>	It’s area is 5x5 = 25cm</a:t>
            </a:r>
            <a:r>
              <a:rPr lang="en-AU" sz="2000" baseline="30000" dirty="0"/>
              <a:t>2</a:t>
            </a:r>
          </a:p>
          <a:p>
            <a:endParaRPr lang="en-AU" sz="2000" baseline="30000" dirty="0"/>
          </a:p>
          <a:p>
            <a:r>
              <a:rPr lang="en-AU" sz="2000" dirty="0"/>
              <a:t>This triangle is also 5cm tall x 5cm wide.  How many area squares does this triangle take up?</a:t>
            </a:r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898317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6FB6DB4-D75C-4F10-8DCF-C9D9FE537866}"/>
              </a:ext>
            </a:extLst>
          </p:cNvPr>
          <p:cNvSpPr/>
          <p:nvPr/>
        </p:nvSpPr>
        <p:spPr>
          <a:xfrm>
            <a:off x="2907922" y="1275519"/>
            <a:ext cx="4876800" cy="426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576A80-6A63-4B9B-BF8A-FE2DA65AE595}"/>
              </a:ext>
            </a:extLst>
          </p:cNvPr>
          <p:cNvSpPr/>
          <p:nvPr/>
        </p:nvSpPr>
        <p:spPr>
          <a:xfrm>
            <a:off x="954157" y="1275520"/>
            <a:ext cx="4876800" cy="426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6E885B65-B976-4DA1-8945-B705320E190D}"/>
              </a:ext>
            </a:extLst>
          </p:cNvPr>
          <p:cNvSpPr/>
          <p:nvPr/>
        </p:nvSpPr>
        <p:spPr>
          <a:xfrm>
            <a:off x="954156" y="1315279"/>
            <a:ext cx="6830549" cy="4241728"/>
          </a:xfrm>
          <a:custGeom>
            <a:avLst/>
            <a:gdLst>
              <a:gd name="connsiteX0" fmla="*/ 0 w 6830549"/>
              <a:gd name="connsiteY0" fmla="*/ 4227440 h 4227440"/>
              <a:gd name="connsiteX1" fmla="*/ 6830549 w 6830549"/>
              <a:gd name="connsiteY1" fmla="*/ 0 h 4227440"/>
              <a:gd name="connsiteX2" fmla="*/ 6830549 w 6830549"/>
              <a:gd name="connsiteY2" fmla="*/ 4227440 h 4227440"/>
              <a:gd name="connsiteX3" fmla="*/ 0 w 6830549"/>
              <a:gd name="connsiteY3" fmla="*/ 4227440 h 4227440"/>
              <a:gd name="connsiteX0" fmla="*/ 0 w 6830549"/>
              <a:gd name="connsiteY0" fmla="*/ 4227440 h 4241728"/>
              <a:gd name="connsiteX1" fmla="*/ 6830549 w 6830549"/>
              <a:gd name="connsiteY1" fmla="*/ 0 h 4241728"/>
              <a:gd name="connsiteX2" fmla="*/ 4787437 w 6830549"/>
              <a:gd name="connsiteY2" fmla="*/ 4241728 h 4241728"/>
              <a:gd name="connsiteX3" fmla="*/ 0 w 6830549"/>
              <a:gd name="connsiteY3" fmla="*/ 4227440 h 4241728"/>
              <a:gd name="connsiteX0" fmla="*/ 0 w 6830549"/>
              <a:gd name="connsiteY0" fmla="*/ 4227440 h 4241728"/>
              <a:gd name="connsiteX1" fmla="*/ 6830549 w 6830549"/>
              <a:gd name="connsiteY1" fmla="*/ 0 h 4241728"/>
              <a:gd name="connsiteX2" fmla="*/ 4887450 w 6830549"/>
              <a:gd name="connsiteY2" fmla="*/ 4241728 h 4241728"/>
              <a:gd name="connsiteX3" fmla="*/ 0 w 6830549"/>
              <a:gd name="connsiteY3" fmla="*/ 4227440 h 4241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0549" h="4241728">
                <a:moveTo>
                  <a:pt x="0" y="4227440"/>
                </a:moveTo>
                <a:lnTo>
                  <a:pt x="6830549" y="0"/>
                </a:lnTo>
                <a:lnTo>
                  <a:pt x="4887450" y="4241728"/>
                </a:lnTo>
                <a:lnTo>
                  <a:pt x="0" y="422744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C9F254-0B96-453F-8537-C51DCE87DB9F}"/>
              </a:ext>
            </a:extLst>
          </p:cNvPr>
          <p:cNvCxnSpPr>
            <a:cxnSpLocks/>
          </p:cNvCxnSpPr>
          <p:nvPr/>
        </p:nvCxnSpPr>
        <p:spPr>
          <a:xfrm>
            <a:off x="1934819" y="1275520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FA5A78-5C79-4202-8C81-E6F0A21616B1}"/>
              </a:ext>
            </a:extLst>
          </p:cNvPr>
          <p:cNvCxnSpPr>
            <a:cxnSpLocks/>
          </p:cNvCxnSpPr>
          <p:nvPr/>
        </p:nvCxnSpPr>
        <p:spPr>
          <a:xfrm>
            <a:off x="2948609" y="1275520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A8E32AE-9D20-4E2E-81AC-60B8F3B3AD0D}"/>
              </a:ext>
            </a:extLst>
          </p:cNvPr>
          <p:cNvCxnSpPr>
            <a:cxnSpLocks/>
          </p:cNvCxnSpPr>
          <p:nvPr/>
        </p:nvCxnSpPr>
        <p:spPr>
          <a:xfrm>
            <a:off x="3896139" y="1275520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0C13C4B-4EE8-436D-AAC0-56E51A5A0582}"/>
              </a:ext>
            </a:extLst>
          </p:cNvPr>
          <p:cNvCxnSpPr>
            <a:cxnSpLocks/>
          </p:cNvCxnSpPr>
          <p:nvPr/>
        </p:nvCxnSpPr>
        <p:spPr>
          <a:xfrm>
            <a:off x="4896678" y="1275520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948176-F35C-4DCD-8024-F8D0FE01A00D}"/>
              </a:ext>
            </a:extLst>
          </p:cNvPr>
          <p:cNvCxnSpPr>
            <a:cxnSpLocks/>
          </p:cNvCxnSpPr>
          <p:nvPr/>
        </p:nvCxnSpPr>
        <p:spPr>
          <a:xfrm>
            <a:off x="954157" y="2123660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1992B5C-A186-4D68-80AD-0A8D9F19769E}"/>
              </a:ext>
            </a:extLst>
          </p:cNvPr>
          <p:cNvCxnSpPr>
            <a:cxnSpLocks/>
          </p:cNvCxnSpPr>
          <p:nvPr/>
        </p:nvCxnSpPr>
        <p:spPr>
          <a:xfrm>
            <a:off x="954157" y="2991677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35D7524-9C95-405F-999E-6581EBD389FC}"/>
              </a:ext>
            </a:extLst>
          </p:cNvPr>
          <p:cNvCxnSpPr>
            <a:cxnSpLocks/>
          </p:cNvCxnSpPr>
          <p:nvPr/>
        </p:nvCxnSpPr>
        <p:spPr>
          <a:xfrm>
            <a:off x="954157" y="3806686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50CF90-8223-468D-A2BE-AB2AA1821B73}"/>
              </a:ext>
            </a:extLst>
          </p:cNvPr>
          <p:cNvCxnSpPr>
            <a:cxnSpLocks/>
          </p:cNvCxnSpPr>
          <p:nvPr/>
        </p:nvCxnSpPr>
        <p:spPr>
          <a:xfrm>
            <a:off x="954157" y="4687956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BB3D945-4E0E-47EF-817D-919B1DA85815}"/>
              </a:ext>
            </a:extLst>
          </p:cNvPr>
          <p:cNvCxnSpPr>
            <a:cxnSpLocks/>
          </p:cNvCxnSpPr>
          <p:nvPr/>
        </p:nvCxnSpPr>
        <p:spPr>
          <a:xfrm>
            <a:off x="3888584" y="1275519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2EE4F49-5960-4491-A989-0E2ECC4DE5D8}"/>
              </a:ext>
            </a:extLst>
          </p:cNvPr>
          <p:cNvCxnSpPr>
            <a:cxnSpLocks/>
          </p:cNvCxnSpPr>
          <p:nvPr/>
        </p:nvCxnSpPr>
        <p:spPr>
          <a:xfrm>
            <a:off x="4902374" y="1275519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21E0A8B-6A7B-4A67-B8E1-0724E8377105}"/>
              </a:ext>
            </a:extLst>
          </p:cNvPr>
          <p:cNvCxnSpPr>
            <a:cxnSpLocks/>
          </p:cNvCxnSpPr>
          <p:nvPr/>
        </p:nvCxnSpPr>
        <p:spPr>
          <a:xfrm>
            <a:off x="5849904" y="1275519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BF43D94-FF5E-4510-88EF-56A6B72E0293}"/>
              </a:ext>
            </a:extLst>
          </p:cNvPr>
          <p:cNvCxnSpPr>
            <a:cxnSpLocks/>
          </p:cNvCxnSpPr>
          <p:nvPr/>
        </p:nvCxnSpPr>
        <p:spPr>
          <a:xfrm>
            <a:off x="6850443" y="1275519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E2C85AB-6397-4C6D-9B7F-F3CA163BC04E}"/>
              </a:ext>
            </a:extLst>
          </p:cNvPr>
          <p:cNvCxnSpPr>
            <a:cxnSpLocks/>
          </p:cNvCxnSpPr>
          <p:nvPr/>
        </p:nvCxnSpPr>
        <p:spPr>
          <a:xfrm>
            <a:off x="2907922" y="2123659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507463-82EB-4128-9F0F-B69C66F65D93}"/>
              </a:ext>
            </a:extLst>
          </p:cNvPr>
          <p:cNvCxnSpPr>
            <a:cxnSpLocks/>
          </p:cNvCxnSpPr>
          <p:nvPr/>
        </p:nvCxnSpPr>
        <p:spPr>
          <a:xfrm>
            <a:off x="2907922" y="2991676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EC6F9E2-BEA3-4601-AFC7-D37DB4709F8F}"/>
              </a:ext>
            </a:extLst>
          </p:cNvPr>
          <p:cNvCxnSpPr>
            <a:cxnSpLocks/>
          </p:cNvCxnSpPr>
          <p:nvPr/>
        </p:nvCxnSpPr>
        <p:spPr>
          <a:xfrm>
            <a:off x="2907922" y="3806685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CC1EA38-FE36-42F4-B3CD-EA1D05678A49}"/>
              </a:ext>
            </a:extLst>
          </p:cNvPr>
          <p:cNvCxnSpPr>
            <a:cxnSpLocks/>
          </p:cNvCxnSpPr>
          <p:nvPr/>
        </p:nvCxnSpPr>
        <p:spPr>
          <a:xfrm>
            <a:off x="2907922" y="4687955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02CCB7A-39C5-4693-BF8F-72557166497F}"/>
              </a:ext>
            </a:extLst>
          </p:cNvPr>
          <p:cNvSpPr txBox="1"/>
          <p:nvPr/>
        </p:nvSpPr>
        <p:spPr>
          <a:xfrm>
            <a:off x="8303417" y="230833"/>
            <a:ext cx="393599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This triangle is also 5cm tall x 5cm wide.  How many area squares does this triangle take up?</a:t>
            </a:r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3573579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81FB38-7A82-486D-872C-7B2F50AE664C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40D263-48FF-4EF2-8B9A-DD8D51AA1CBD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7C9CE24-3EC0-400C-9606-1F69DD402696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75156B-232A-4C18-A70D-9A118E3BB47E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ADB2A38-402F-425E-ADA8-80CC4BE76282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E3A6B5-D827-435A-A59B-3FAFE65AB951}"/>
              </a:ext>
            </a:extLst>
          </p:cNvPr>
          <p:cNvSpPr txBox="1"/>
          <p:nvPr/>
        </p:nvSpPr>
        <p:spPr>
          <a:xfrm>
            <a:off x="1498262" y="192822"/>
            <a:ext cx="944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BC9351-4374-4B77-8989-80A21939EA0D}"/>
              </a:ext>
            </a:extLst>
          </p:cNvPr>
          <p:cNvSpPr txBox="1"/>
          <p:nvPr/>
        </p:nvSpPr>
        <p:spPr>
          <a:xfrm>
            <a:off x="1126057" y="769263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area of triangles and parallelograms?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0FCEC8-67B2-49BF-9F49-A7C8F5D42F53}"/>
              </a:ext>
            </a:extLst>
          </p:cNvPr>
          <p:cNvSpPr txBox="1"/>
          <p:nvPr/>
        </p:nvSpPr>
        <p:spPr>
          <a:xfrm>
            <a:off x="754672" y="1616020"/>
            <a:ext cx="17533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area of triangles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E15D1E-53BD-4891-B54C-367082C4487B}"/>
                  </a:ext>
                </a:extLst>
              </p:cNvPr>
              <p:cNvSpPr txBox="1"/>
              <p:nvPr/>
            </p:nvSpPr>
            <p:spPr>
              <a:xfrm>
                <a:off x="2634645" y="1513408"/>
                <a:ext cx="81824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b="1" dirty="0"/>
                  <a:t>Area = (Base x Height) </a:t>
                </a:r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A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A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800" b="1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E15D1E-53BD-4891-B54C-367082C44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4645" y="1513408"/>
                <a:ext cx="8182466" cy="523220"/>
              </a:xfrm>
              <a:prstGeom prst="rect">
                <a:avLst/>
              </a:prstGeom>
              <a:blipFill>
                <a:blip r:embed="rId2"/>
                <a:stretch>
                  <a:fillRect l="-1490" t="-12791" b="-302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9C6D6BB-6323-4A1B-9DEB-6B64E2EFA383}"/>
              </a:ext>
            </a:extLst>
          </p:cNvPr>
          <p:cNvSpPr txBox="1"/>
          <p:nvPr/>
        </p:nvSpPr>
        <p:spPr>
          <a:xfrm>
            <a:off x="3760725" y="4909229"/>
            <a:ext cx="207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Base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B94C3B4C-0A45-4678-BA33-30860F93BC0E}"/>
              </a:ext>
            </a:extLst>
          </p:cNvPr>
          <p:cNvSpPr/>
          <p:nvPr/>
        </p:nvSpPr>
        <p:spPr>
          <a:xfrm>
            <a:off x="2382459" y="2370176"/>
            <a:ext cx="3479552" cy="2418819"/>
          </a:xfrm>
          <a:prstGeom prst="triangl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78627C-2730-4825-98EB-838399F39344}"/>
              </a:ext>
            </a:extLst>
          </p:cNvPr>
          <p:cNvSpPr txBox="1"/>
          <p:nvPr/>
        </p:nvSpPr>
        <p:spPr>
          <a:xfrm>
            <a:off x="4151776" y="3502147"/>
            <a:ext cx="207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Height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7248E91-0D47-4A2C-B022-1FCE0B14D874}"/>
              </a:ext>
            </a:extLst>
          </p:cNvPr>
          <p:cNvCxnSpPr>
            <a:cxnSpLocks/>
          </p:cNvCxnSpPr>
          <p:nvPr/>
        </p:nvCxnSpPr>
        <p:spPr>
          <a:xfrm>
            <a:off x="4162664" y="2370176"/>
            <a:ext cx="0" cy="2418819"/>
          </a:xfrm>
          <a:prstGeom prst="line">
            <a:avLst/>
          </a:prstGeom>
          <a:ln w="571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B11237A7-CCC1-4B66-8B74-6D5C48BF8C9D}"/>
              </a:ext>
            </a:extLst>
          </p:cNvPr>
          <p:cNvSpPr/>
          <p:nvPr/>
        </p:nvSpPr>
        <p:spPr>
          <a:xfrm>
            <a:off x="8069344" y="2215299"/>
            <a:ext cx="2912883" cy="2573696"/>
          </a:xfrm>
          <a:prstGeom prst="rtTriangl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6009B5-6C39-4288-9CF0-B46EDB47A809}"/>
              </a:ext>
            </a:extLst>
          </p:cNvPr>
          <p:cNvSpPr txBox="1"/>
          <p:nvPr/>
        </p:nvSpPr>
        <p:spPr>
          <a:xfrm>
            <a:off x="8908330" y="4824583"/>
            <a:ext cx="207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EC5866-FDCC-405B-9959-A5D5C126D244}"/>
              </a:ext>
            </a:extLst>
          </p:cNvPr>
          <p:cNvSpPr txBox="1"/>
          <p:nvPr/>
        </p:nvSpPr>
        <p:spPr>
          <a:xfrm>
            <a:off x="7207631" y="3365548"/>
            <a:ext cx="207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Height</a:t>
            </a:r>
          </a:p>
        </p:txBody>
      </p:sp>
    </p:spTree>
    <p:extLst>
      <p:ext uri="{BB962C8B-B14F-4D97-AF65-F5344CB8AC3E}">
        <p14:creationId xmlns:p14="http://schemas.microsoft.com/office/powerpoint/2010/main" val="414434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2" grpId="0"/>
      <p:bldP spid="16" grpId="0" animBg="1"/>
      <p:bldP spid="13" grpId="0"/>
      <p:bldP spid="19" grpId="0" animBg="1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7A80-C0B7-4B11-9B8A-0B087B589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8E976-49D9-4C61-B8DA-A913E7F6F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1026" name="Picture 2" descr="Image result for area of triangles">
            <a:extLst>
              <a:ext uri="{FF2B5EF4-FFF2-40B4-BE49-F238E27FC236}">
                <a16:creationId xmlns:a16="http://schemas.microsoft.com/office/drawing/2014/main" id="{7472AAD3-B4EF-4FA8-B498-F7D1753CAD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9" t="27531" r="66398" b="54321"/>
          <a:stretch/>
        </p:blipFill>
        <p:spPr bwMode="auto">
          <a:xfrm>
            <a:off x="5673203" y="1156736"/>
            <a:ext cx="4692690" cy="3811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3651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B8AD8-9B85-4510-9562-C5E085F7F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WE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F1625-53BA-47DA-8197-335573800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2" descr="Image result for area of triangles">
            <a:extLst>
              <a:ext uri="{FF2B5EF4-FFF2-40B4-BE49-F238E27FC236}">
                <a16:creationId xmlns:a16="http://schemas.microsoft.com/office/drawing/2014/main" id="{7C7B6CA6-8223-4495-8F9C-C4BFD8F650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55" t="25697" r="-1018" b="56155"/>
          <a:stretch/>
        </p:blipFill>
        <p:spPr bwMode="auto">
          <a:xfrm>
            <a:off x="5822373" y="1037592"/>
            <a:ext cx="4883564" cy="3966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2045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3B15F-C2F4-4E2A-B1C9-15B3109B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003D1-06B4-4E8C-A64B-2A101B532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2" descr="Image result for area of triangles">
            <a:extLst>
              <a:ext uri="{FF2B5EF4-FFF2-40B4-BE49-F238E27FC236}">
                <a16:creationId xmlns:a16="http://schemas.microsoft.com/office/drawing/2014/main" id="{7EDAC6D3-188F-484C-9017-75CB938EE2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9" t="49155" r="34621" b="31711"/>
          <a:stretch/>
        </p:blipFill>
        <p:spPr bwMode="auto">
          <a:xfrm>
            <a:off x="4666268" y="1186542"/>
            <a:ext cx="7620639" cy="291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5568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F1D5A5-BB62-42DF-B1C0-0C781035CA03}"/>
              </a:ext>
            </a:extLst>
          </p:cNvPr>
          <p:cNvSpPr/>
          <p:nvPr/>
        </p:nvSpPr>
        <p:spPr>
          <a:xfrm>
            <a:off x="2952442" y="5044559"/>
            <a:ext cx="59547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dirty="0">
                <a:hlinkClick r:id="rId2"/>
              </a:rPr>
              <a:t>https://www.geogebra.org/m/m8EdKBj5</a:t>
            </a:r>
            <a:endParaRPr lang="en-AU" sz="2400" dirty="0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57E6EAAE-968B-4552-8DC9-2D7E97024A71}"/>
              </a:ext>
            </a:extLst>
          </p:cNvPr>
          <p:cNvSpPr/>
          <p:nvPr/>
        </p:nvSpPr>
        <p:spPr>
          <a:xfrm>
            <a:off x="714857" y="1351776"/>
            <a:ext cx="5214938" cy="2671762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81892C-42B1-4EEB-9FA0-F43FA167D0BC}"/>
              </a:ext>
            </a:extLst>
          </p:cNvPr>
          <p:cNvSpPr txBox="1"/>
          <p:nvPr/>
        </p:nvSpPr>
        <p:spPr>
          <a:xfrm>
            <a:off x="6486524" y="690056"/>
            <a:ext cx="53578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A parallelogram is a quadrilateral (4 sided shape) that has 2 sets of parallel sides.</a:t>
            </a:r>
          </a:p>
          <a:p>
            <a:r>
              <a:rPr lang="en-AU" sz="2000" dirty="0"/>
              <a:t>Think of it as a rectangle that has been pushed slightly on one corner.</a:t>
            </a:r>
          </a:p>
        </p:txBody>
      </p:sp>
    </p:spTree>
    <p:extLst>
      <p:ext uri="{BB962C8B-B14F-4D97-AF65-F5344CB8AC3E}">
        <p14:creationId xmlns:p14="http://schemas.microsoft.com/office/powerpoint/2010/main" val="3518670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6FB6DB4-D75C-4F10-8DCF-C9D9FE537866}"/>
              </a:ext>
            </a:extLst>
          </p:cNvPr>
          <p:cNvSpPr/>
          <p:nvPr/>
        </p:nvSpPr>
        <p:spPr>
          <a:xfrm>
            <a:off x="2907922" y="1275519"/>
            <a:ext cx="4876800" cy="426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576A80-6A63-4B9B-BF8A-FE2DA65AE595}"/>
              </a:ext>
            </a:extLst>
          </p:cNvPr>
          <p:cNvSpPr/>
          <p:nvPr/>
        </p:nvSpPr>
        <p:spPr>
          <a:xfrm>
            <a:off x="954157" y="1275520"/>
            <a:ext cx="4876800" cy="426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6D79C8-DF45-4D25-BE80-4A6D227F4EB7}"/>
              </a:ext>
            </a:extLst>
          </p:cNvPr>
          <p:cNvSpPr/>
          <p:nvPr/>
        </p:nvSpPr>
        <p:spPr>
          <a:xfrm>
            <a:off x="954158" y="2123659"/>
            <a:ext cx="5896286" cy="2564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C9F254-0B96-453F-8537-C51DCE87DB9F}"/>
              </a:ext>
            </a:extLst>
          </p:cNvPr>
          <p:cNvCxnSpPr>
            <a:cxnSpLocks/>
          </p:cNvCxnSpPr>
          <p:nvPr/>
        </p:nvCxnSpPr>
        <p:spPr>
          <a:xfrm>
            <a:off x="1934819" y="1275520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FA5A78-5C79-4202-8C81-E6F0A21616B1}"/>
              </a:ext>
            </a:extLst>
          </p:cNvPr>
          <p:cNvCxnSpPr>
            <a:cxnSpLocks/>
          </p:cNvCxnSpPr>
          <p:nvPr/>
        </p:nvCxnSpPr>
        <p:spPr>
          <a:xfrm>
            <a:off x="2948609" y="1275520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A8E32AE-9D20-4E2E-81AC-60B8F3B3AD0D}"/>
              </a:ext>
            </a:extLst>
          </p:cNvPr>
          <p:cNvCxnSpPr>
            <a:cxnSpLocks/>
          </p:cNvCxnSpPr>
          <p:nvPr/>
        </p:nvCxnSpPr>
        <p:spPr>
          <a:xfrm>
            <a:off x="3896139" y="1275520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0C13C4B-4EE8-436D-AAC0-56E51A5A0582}"/>
              </a:ext>
            </a:extLst>
          </p:cNvPr>
          <p:cNvCxnSpPr>
            <a:cxnSpLocks/>
          </p:cNvCxnSpPr>
          <p:nvPr/>
        </p:nvCxnSpPr>
        <p:spPr>
          <a:xfrm>
            <a:off x="4896678" y="1275520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948176-F35C-4DCD-8024-F8D0FE01A00D}"/>
              </a:ext>
            </a:extLst>
          </p:cNvPr>
          <p:cNvCxnSpPr>
            <a:cxnSpLocks/>
          </p:cNvCxnSpPr>
          <p:nvPr/>
        </p:nvCxnSpPr>
        <p:spPr>
          <a:xfrm>
            <a:off x="954157" y="2123660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1992B5C-A186-4D68-80AD-0A8D9F19769E}"/>
              </a:ext>
            </a:extLst>
          </p:cNvPr>
          <p:cNvCxnSpPr>
            <a:cxnSpLocks/>
          </p:cNvCxnSpPr>
          <p:nvPr/>
        </p:nvCxnSpPr>
        <p:spPr>
          <a:xfrm>
            <a:off x="954157" y="2991677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35D7524-9C95-405F-999E-6581EBD389FC}"/>
              </a:ext>
            </a:extLst>
          </p:cNvPr>
          <p:cNvCxnSpPr>
            <a:cxnSpLocks/>
          </p:cNvCxnSpPr>
          <p:nvPr/>
        </p:nvCxnSpPr>
        <p:spPr>
          <a:xfrm>
            <a:off x="954157" y="3806686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50CF90-8223-468D-A2BE-AB2AA1821B73}"/>
              </a:ext>
            </a:extLst>
          </p:cNvPr>
          <p:cNvCxnSpPr>
            <a:cxnSpLocks/>
          </p:cNvCxnSpPr>
          <p:nvPr/>
        </p:nvCxnSpPr>
        <p:spPr>
          <a:xfrm>
            <a:off x="954157" y="4687956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BB3D945-4E0E-47EF-817D-919B1DA85815}"/>
              </a:ext>
            </a:extLst>
          </p:cNvPr>
          <p:cNvCxnSpPr>
            <a:cxnSpLocks/>
          </p:cNvCxnSpPr>
          <p:nvPr/>
        </p:nvCxnSpPr>
        <p:spPr>
          <a:xfrm>
            <a:off x="3888584" y="1275519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2EE4F49-5960-4491-A989-0E2ECC4DE5D8}"/>
              </a:ext>
            </a:extLst>
          </p:cNvPr>
          <p:cNvCxnSpPr>
            <a:cxnSpLocks/>
          </p:cNvCxnSpPr>
          <p:nvPr/>
        </p:nvCxnSpPr>
        <p:spPr>
          <a:xfrm>
            <a:off x="4902374" y="1275519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21E0A8B-6A7B-4A67-B8E1-0724E8377105}"/>
              </a:ext>
            </a:extLst>
          </p:cNvPr>
          <p:cNvCxnSpPr>
            <a:cxnSpLocks/>
          </p:cNvCxnSpPr>
          <p:nvPr/>
        </p:nvCxnSpPr>
        <p:spPr>
          <a:xfrm>
            <a:off x="5849904" y="1275519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BF43D94-FF5E-4510-88EF-56A6B72E0293}"/>
              </a:ext>
            </a:extLst>
          </p:cNvPr>
          <p:cNvCxnSpPr>
            <a:cxnSpLocks/>
          </p:cNvCxnSpPr>
          <p:nvPr/>
        </p:nvCxnSpPr>
        <p:spPr>
          <a:xfrm>
            <a:off x="6850443" y="1275519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E2C85AB-6397-4C6D-9B7F-F3CA163BC04E}"/>
              </a:ext>
            </a:extLst>
          </p:cNvPr>
          <p:cNvCxnSpPr>
            <a:cxnSpLocks/>
          </p:cNvCxnSpPr>
          <p:nvPr/>
        </p:nvCxnSpPr>
        <p:spPr>
          <a:xfrm>
            <a:off x="2907922" y="2123659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507463-82EB-4128-9F0F-B69C66F65D93}"/>
              </a:ext>
            </a:extLst>
          </p:cNvPr>
          <p:cNvCxnSpPr>
            <a:cxnSpLocks/>
          </p:cNvCxnSpPr>
          <p:nvPr/>
        </p:nvCxnSpPr>
        <p:spPr>
          <a:xfrm>
            <a:off x="2907922" y="2991676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EC6F9E2-BEA3-4601-AFC7-D37DB4709F8F}"/>
              </a:ext>
            </a:extLst>
          </p:cNvPr>
          <p:cNvCxnSpPr>
            <a:cxnSpLocks/>
          </p:cNvCxnSpPr>
          <p:nvPr/>
        </p:nvCxnSpPr>
        <p:spPr>
          <a:xfrm>
            <a:off x="2907922" y="3806685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CC1EA38-FE36-42F4-B3CD-EA1D05678A49}"/>
              </a:ext>
            </a:extLst>
          </p:cNvPr>
          <p:cNvCxnSpPr>
            <a:cxnSpLocks/>
          </p:cNvCxnSpPr>
          <p:nvPr/>
        </p:nvCxnSpPr>
        <p:spPr>
          <a:xfrm>
            <a:off x="2907922" y="4687955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02CCB7A-39C5-4693-BF8F-72557166497F}"/>
              </a:ext>
            </a:extLst>
          </p:cNvPr>
          <p:cNvSpPr txBox="1"/>
          <p:nvPr/>
        </p:nvSpPr>
        <p:spPr>
          <a:xfrm>
            <a:off x="8103392" y="791073"/>
            <a:ext cx="359806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Let’s see how this looks.</a:t>
            </a:r>
          </a:p>
          <a:p>
            <a:endParaRPr lang="en-AU" sz="2000" dirty="0"/>
          </a:p>
          <a:p>
            <a:r>
              <a:rPr lang="en-AU" sz="2000" dirty="0"/>
              <a:t>A rectangle that is 6 x 3cm takes up 18cm</a:t>
            </a:r>
            <a:r>
              <a:rPr lang="en-AU" sz="2000" baseline="30000" dirty="0"/>
              <a:t>2</a:t>
            </a:r>
            <a:r>
              <a:rPr lang="en-AU" sz="2000" dirty="0"/>
              <a:t>.</a:t>
            </a:r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3917356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6FB6DB4-D75C-4F10-8DCF-C9D9FE537866}"/>
              </a:ext>
            </a:extLst>
          </p:cNvPr>
          <p:cNvSpPr/>
          <p:nvPr/>
        </p:nvSpPr>
        <p:spPr>
          <a:xfrm>
            <a:off x="2907922" y="1275519"/>
            <a:ext cx="4876800" cy="426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576A80-6A63-4B9B-BF8A-FE2DA65AE595}"/>
              </a:ext>
            </a:extLst>
          </p:cNvPr>
          <p:cNvSpPr/>
          <p:nvPr/>
        </p:nvSpPr>
        <p:spPr>
          <a:xfrm>
            <a:off x="992052" y="1275519"/>
            <a:ext cx="4876800" cy="426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64332466-7530-40E6-B7AA-1ECC8F42F927}"/>
              </a:ext>
            </a:extLst>
          </p:cNvPr>
          <p:cNvSpPr/>
          <p:nvPr/>
        </p:nvSpPr>
        <p:spPr>
          <a:xfrm>
            <a:off x="954157" y="2123658"/>
            <a:ext cx="6830553" cy="2564297"/>
          </a:xfrm>
          <a:prstGeom prst="parallelogram">
            <a:avLst>
              <a:gd name="adj" fmla="val 378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C9F254-0B96-453F-8537-C51DCE87DB9F}"/>
              </a:ext>
            </a:extLst>
          </p:cNvPr>
          <p:cNvCxnSpPr>
            <a:cxnSpLocks/>
          </p:cNvCxnSpPr>
          <p:nvPr/>
        </p:nvCxnSpPr>
        <p:spPr>
          <a:xfrm>
            <a:off x="1934819" y="1275520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FA5A78-5C79-4202-8C81-E6F0A21616B1}"/>
              </a:ext>
            </a:extLst>
          </p:cNvPr>
          <p:cNvCxnSpPr>
            <a:cxnSpLocks/>
          </p:cNvCxnSpPr>
          <p:nvPr/>
        </p:nvCxnSpPr>
        <p:spPr>
          <a:xfrm>
            <a:off x="2948609" y="1275520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A8E32AE-9D20-4E2E-81AC-60B8F3B3AD0D}"/>
              </a:ext>
            </a:extLst>
          </p:cNvPr>
          <p:cNvCxnSpPr>
            <a:cxnSpLocks/>
          </p:cNvCxnSpPr>
          <p:nvPr/>
        </p:nvCxnSpPr>
        <p:spPr>
          <a:xfrm>
            <a:off x="3896139" y="1275520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0C13C4B-4EE8-436D-AAC0-56E51A5A0582}"/>
              </a:ext>
            </a:extLst>
          </p:cNvPr>
          <p:cNvCxnSpPr>
            <a:cxnSpLocks/>
          </p:cNvCxnSpPr>
          <p:nvPr/>
        </p:nvCxnSpPr>
        <p:spPr>
          <a:xfrm>
            <a:off x="4896678" y="1275520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948176-F35C-4DCD-8024-F8D0FE01A00D}"/>
              </a:ext>
            </a:extLst>
          </p:cNvPr>
          <p:cNvCxnSpPr>
            <a:cxnSpLocks/>
          </p:cNvCxnSpPr>
          <p:nvPr/>
        </p:nvCxnSpPr>
        <p:spPr>
          <a:xfrm>
            <a:off x="954157" y="2123660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1992B5C-A186-4D68-80AD-0A8D9F19769E}"/>
              </a:ext>
            </a:extLst>
          </p:cNvPr>
          <p:cNvCxnSpPr>
            <a:cxnSpLocks/>
          </p:cNvCxnSpPr>
          <p:nvPr/>
        </p:nvCxnSpPr>
        <p:spPr>
          <a:xfrm>
            <a:off x="954157" y="2991677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35D7524-9C95-405F-999E-6581EBD389FC}"/>
              </a:ext>
            </a:extLst>
          </p:cNvPr>
          <p:cNvCxnSpPr>
            <a:cxnSpLocks/>
          </p:cNvCxnSpPr>
          <p:nvPr/>
        </p:nvCxnSpPr>
        <p:spPr>
          <a:xfrm>
            <a:off x="954157" y="3806686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50CF90-8223-468D-A2BE-AB2AA1821B73}"/>
              </a:ext>
            </a:extLst>
          </p:cNvPr>
          <p:cNvCxnSpPr>
            <a:cxnSpLocks/>
          </p:cNvCxnSpPr>
          <p:nvPr/>
        </p:nvCxnSpPr>
        <p:spPr>
          <a:xfrm>
            <a:off x="954157" y="4687956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BB3D945-4E0E-47EF-817D-919B1DA85815}"/>
              </a:ext>
            </a:extLst>
          </p:cNvPr>
          <p:cNvCxnSpPr>
            <a:cxnSpLocks/>
          </p:cNvCxnSpPr>
          <p:nvPr/>
        </p:nvCxnSpPr>
        <p:spPr>
          <a:xfrm>
            <a:off x="3888584" y="1275519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2EE4F49-5960-4491-A989-0E2ECC4DE5D8}"/>
              </a:ext>
            </a:extLst>
          </p:cNvPr>
          <p:cNvCxnSpPr>
            <a:cxnSpLocks/>
          </p:cNvCxnSpPr>
          <p:nvPr/>
        </p:nvCxnSpPr>
        <p:spPr>
          <a:xfrm>
            <a:off x="4902374" y="1275519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21E0A8B-6A7B-4A67-B8E1-0724E8377105}"/>
              </a:ext>
            </a:extLst>
          </p:cNvPr>
          <p:cNvCxnSpPr>
            <a:cxnSpLocks/>
          </p:cNvCxnSpPr>
          <p:nvPr/>
        </p:nvCxnSpPr>
        <p:spPr>
          <a:xfrm>
            <a:off x="5849904" y="1275519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BF43D94-FF5E-4510-88EF-56A6B72E0293}"/>
              </a:ext>
            </a:extLst>
          </p:cNvPr>
          <p:cNvCxnSpPr>
            <a:cxnSpLocks/>
          </p:cNvCxnSpPr>
          <p:nvPr/>
        </p:nvCxnSpPr>
        <p:spPr>
          <a:xfrm>
            <a:off x="6850443" y="1275519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E2C85AB-6397-4C6D-9B7F-F3CA163BC04E}"/>
              </a:ext>
            </a:extLst>
          </p:cNvPr>
          <p:cNvCxnSpPr>
            <a:cxnSpLocks/>
          </p:cNvCxnSpPr>
          <p:nvPr/>
        </p:nvCxnSpPr>
        <p:spPr>
          <a:xfrm>
            <a:off x="2907922" y="2123659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507463-82EB-4128-9F0F-B69C66F65D93}"/>
              </a:ext>
            </a:extLst>
          </p:cNvPr>
          <p:cNvCxnSpPr>
            <a:cxnSpLocks/>
          </p:cNvCxnSpPr>
          <p:nvPr/>
        </p:nvCxnSpPr>
        <p:spPr>
          <a:xfrm>
            <a:off x="2907922" y="2991676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EC6F9E2-BEA3-4601-AFC7-D37DB4709F8F}"/>
              </a:ext>
            </a:extLst>
          </p:cNvPr>
          <p:cNvCxnSpPr>
            <a:cxnSpLocks/>
          </p:cNvCxnSpPr>
          <p:nvPr/>
        </p:nvCxnSpPr>
        <p:spPr>
          <a:xfrm>
            <a:off x="2907922" y="3806685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CC1EA38-FE36-42F4-B3CD-EA1D05678A49}"/>
              </a:ext>
            </a:extLst>
          </p:cNvPr>
          <p:cNvCxnSpPr>
            <a:cxnSpLocks/>
          </p:cNvCxnSpPr>
          <p:nvPr/>
        </p:nvCxnSpPr>
        <p:spPr>
          <a:xfrm>
            <a:off x="2907922" y="4687955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02CCB7A-39C5-4693-BF8F-72557166497F}"/>
              </a:ext>
            </a:extLst>
          </p:cNvPr>
          <p:cNvSpPr txBox="1"/>
          <p:nvPr/>
        </p:nvSpPr>
        <p:spPr>
          <a:xfrm>
            <a:off x="8103392" y="791073"/>
            <a:ext cx="359806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Let’s see how this looks.</a:t>
            </a:r>
          </a:p>
          <a:p>
            <a:endParaRPr lang="en-AU" sz="2000" dirty="0"/>
          </a:p>
          <a:p>
            <a:r>
              <a:rPr lang="en-AU" sz="2000" dirty="0"/>
              <a:t>A rectangle that is 6 x 3cm takes up 18cm</a:t>
            </a:r>
            <a:r>
              <a:rPr lang="en-AU" sz="2000" baseline="30000" dirty="0"/>
              <a:t>2</a:t>
            </a:r>
            <a:r>
              <a:rPr lang="en-AU" sz="2000" dirty="0"/>
              <a:t>.</a:t>
            </a:r>
          </a:p>
          <a:p>
            <a:endParaRPr lang="en-AU" sz="2000" dirty="0"/>
          </a:p>
          <a:p>
            <a:r>
              <a:rPr lang="en-AU" sz="2000" dirty="0"/>
              <a:t>What about a </a:t>
            </a:r>
            <a:r>
              <a:rPr lang="en-AU" sz="2000" dirty="0" err="1"/>
              <a:t>paralellogram</a:t>
            </a:r>
            <a:r>
              <a:rPr lang="en-AU" sz="2000" dirty="0"/>
              <a:t> that is 6cm long and reaches 3cm high.</a:t>
            </a:r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477178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6FB6DB4-D75C-4F10-8DCF-C9D9FE537866}"/>
              </a:ext>
            </a:extLst>
          </p:cNvPr>
          <p:cNvSpPr/>
          <p:nvPr/>
        </p:nvSpPr>
        <p:spPr>
          <a:xfrm>
            <a:off x="3884750" y="1275518"/>
            <a:ext cx="4876800" cy="426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576A80-6A63-4B9B-BF8A-FE2DA65AE595}"/>
              </a:ext>
            </a:extLst>
          </p:cNvPr>
          <p:cNvSpPr/>
          <p:nvPr/>
        </p:nvSpPr>
        <p:spPr>
          <a:xfrm>
            <a:off x="992052" y="1275519"/>
            <a:ext cx="4876800" cy="426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64332466-7530-40E6-B7AA-1ECC8F42F927}"/>
              </a:ext>
            </a:extLst>
          </p:cNvPr>
          <p:cNvSpPr/>
          <p:nvPr/>
        </p:nvSpPr>
        <p:spPr>
          <a:xfrm>
            <a:off x="982431" y="2117074"/>
            <a:ext cx="7755366" cy="2585172"/>
          </a:xfrm>
          <a:prstGeom prst="parallelogram">
            <a:avLst>
              <a:gd name="adj" fmla="val 7681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C9F254-0B96-453F-8537-C51DCE87DB9F}"/>
              </a:ext>
            </a:extLst>
          </p:cNvPr>
          <p:cNvCxnSpPr>
            <a:cxnSpLocks/>
          </p:cNvCxnSpPr>
          <p:nvPr/>
        </p:nvCxnSpPr>
        <p:spPr>
          <a:xfrm>
            <a:off x="1934819" y="1275520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FA5A78-5C79-4202-8C81-E6F0A21616B1}"/>
              </a:ext>
            </a:extLst>
          </p:cNvPr>
          <p:cNvCxnSpPr>
            <a:cxnSpLocks/>
          </p:cNvCxnSpPr>
          <p:nvPr/>
        </p:nvCxnSpPr>
        <p:spPr>
          <a:xfrm>
            <a:off x="3915975" y="1278832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A8E32AE-9D20-4E2E-81AC-60B8F3B3AD0D}"/>
              </a:ext>
            </a:extLst>
          </p:cNvPr>
          <p:cNvCxnSpPr>
            <a:cxnSpLocks/>
          </p:cNvCxnSpPr>
          <p:nvPr/>
        </p:nvCxnSpPr>
        <p:spPr>
          <a:xfrm>
            <a:off x="4863505" y="1278832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0C13C4B-4EE8-436D-AAC0-56E51A5A0582}"/>
              </a:ext>
            </a:extLst>
          </p:cNvPr>
          <p:cNvCxnSpPr>
            <a:cxnSpLocks/>
          </p:cNvCxnSpPr>
          <p:nvPr/>
        </p:nvCxnSpPr>
        <p:spPr>
          <a:xfrm>
            <a:off x="5864044" y="1278832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948176-F35C-4DCD-8024-F8D0FE01A00D}"/>
              </a:ext>
            </a:extLst>
          </p:cNvPr>
          <p:cNvCxnSpPr>
            <a:cxnSpLocks/>
          </p:cNvCxnSpPr>
          <p:nvPr/>
        </p:nvCxnSpPr>
        <p:spPr>
          <a:xfrm>
            <a:off x="954157" y="2123660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1992B5C-A186-4D68-80AD-0A8D9F19769E}"/>
              </a:ext>
            </a:extLst>
          </p:cNvPr>
          <p:cNvCxnSpPr>
            <a:cxnSpLocks/>
          </p:cNvCxnSpPr>
          <p:nvPr/>
        </p:nvCxnSpPr>
        <p:spPr>
          <a:xfrm>
            <a:off x="954157" y="2991677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35D7524-9C95-405F-999E-6581EBD389FC}"/>
              </a:ext>
            </a:extLst>
          </p:cNvPr>
          <p:cNvCxnSpPr>
            <a:cxnSpLocks/>
          </p:cNvCxnSpPr>
          <p:nvPr/>
        </p:nvCxnSpPr>
        <p:spPr>
          <a:xfrm>
            <a:off x="954157" y="3806686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50CF90-8223-468D-A2BE-AB2AA1821B73}"/>
              </a:ext>
            </a:extLst>
          </p:cNvPr>
          <p:cNvCxnSpPr>
            <a:cxnSpLocks/>
          </p:cNvCxnSpPr>
          <p:nvPr/>
        </p:nvCxnSpPr>
        <p:spPr>
          <a:xfrm>
            <a:off x="954157" y="4687956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BB3D945-4E0E-47EF-817D-919B1DA85815}"/>
              </a:ext>
            </a:extLst>
          </p:cNvPr>
          <p:cNvCxnSpPr>
            <a:cxnSpLocks/>
          </p:cNvCxnSpPr>
          <p:nvPr/>
        </p:nvCxnSpPr>
        <p:spPr>
          <a:xfrm>
            <a:off x="4855950" y="1278831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2EE4F49-5960-4491-A989-0E2ECC4DE5D8}"/>
              </a:ext>
            </a:extLst>
          </p:cNvPr>
          <p:cNvCxnSpPr>
            <a:cxnSpLocks/>
          </p:cNvCxnSpPr>
          <p:nvPr/>
        </p:nvCxnSpPr>
        <p:spPr>
          <a:xfrm>
            <a:off x="5869740" y="1278831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21E0A8B-6A7B-4A67-B8E1-0724E8377105}"/>
              </a:ext>
            </a:extLst>
          </p:cNvPr>
          <p:cNvCxnSpPr>
            <a:cxnSpLocks/>
          </p:cNvCxnSpPr>
          <p:nvPr/>
        </p:nvCxnSpPr>
        <p:spPr>
          <a:xfrm>
            <a:off x="6817270" y="1278831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BF43D94-FF5E-4510-88EF-56A6B72E0293}"/>
              </a:ext>
            </a:extLst>
          </p:cNvPr>
          <p:cNvCxnSpPr>
            <a:cxnSpLocks/>
          </p:cNvCxnSpPr>
          <p:nvPr/>
        </p:nvCxnSpPr>
        <p:spPr>
          <a:xfrm>
            <a:off x="7817809" y="1278831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E2C85AB-6397-4C6D-9B7F-F3CA163BC04E}"/>
              </a:ext>
            </a:extLst>
          </p:cNvPr>
          <p:cNvCxnSpPr>
            <a:cxnSpLocks/>
          </p:cNvCxnSpPr>
          <p:nvPr/>
        </p:nvCxnSpPr>
        <p:spPr>
          <a:xfrm>
            <a:off x="3875288" y="2126971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507463-82EB-4128-9F0F-B69C66F65D93}"/>
              </a:ext>
            </a:extLst>
          </p:cNvPr>
          <p:cNvCxnSpPr>
            <a:cxnSpLocks/>
          </p:cNvCxnSpPr>
          <p:nvPr/>
        </p:nvCxnSpPr>
        <p:spPr>
          <a:xfrm>
            <a:off x="3875288" y="2994988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EC6F9E2-BEA3-4601-AFC7-D37DB4709F8F}"/>
              </a:ext>
            </a:extLst>
          </p:cNvPr>
          <p:cNvCxnSpPr>
            <a:cxnSpLocks/>
          </p:cNvCxnSpPr>
          <p:nvPr/>
        </p:nvCxnSpPr>
        <p:spPr>
          <a:xfrm>
            <a:off x="3875288" y="3809997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CC1EA38-FE36-42F4-B3CD-EA1D05678A49}"/>
              </a:ext>
            </a:extLst>
          </p:cNvPr>
          <p:cNvCxnSpPr>
            <a:cxnSpLocks/>
          </p:cNvCxnSpPr>
          <p:nvPr/>
        </p:nvCxnSpPr>
        <p:spPr>
          <a:xfrm>
            <a:off x="3875288" y="4691267"/>
            <a:ext cx="48768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02CCB7A-39C5-4693-BF8F-72557166497F}"/>
              </a:ext>
            </a:extLst>
          </p:cNvPr>
          <p:cNvSpPr txBox="1"/>
          <p:nvPr/>
        </p:nvSpPr>
        <p:spPr>
          <a:xfrm>
            <a:off x="8817369" y="458956"/>
            <a:ext cx="359806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Let’s see how this looks.</a:t>
            </a:r>
          </a:p>
          <a:p>
            <a:endParaRPr lang="en-AU" sz="2000" dirty="0"/>
          </a:p>
          <a:p>
            <a:r>
              <a:rPr lang="en-AU" sz="2000" dirty="0"/>
              <a:t>A rectangle that is 6 x 3cm takes up 18cm</a:t>
            </a:r>
            <a:r>
              <a:rPr lang="en-AU" sz="2000" baseline="30000" dirty="0"/>
              <a:t>2</a:t>
            </a:r>
            <a:r>
              <a:rPr lang="en-AU" sz="2000" dirty="0"/>
              <a:t>.</a:t>
            </a:r>
          </a:p>
          <a:p>
            <a:endParaRPr lang="en-AU" sz="2000" dirty="0"/>
          </a:p>
          <a:p>
            <a:r>
              <a:rPr lang="en-AU" sz="2000" dirty="0"/>
              <a:t>What about this </a:t>
            </a:r>
            <a:r>
              <a:rPr lang="en-AU" sz="2000" dirty="0" err="1"/>
              <a:t>paralellogram</a:t>
            </a:r>
            <a:r>
              <a:rPr lang="en-AU" sz="2000" dirty="0"/>
              <a:t> that is also 6cm long and reaches 3cm high.</a:t>
            </a:r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C0EFEEA-B620-466B-9B46-BB8C53B3A34A}"/>
              </a:ext>
            </a:extLst>
          </p:cNvPr>
          <p:cNvCxnSpPr>
            <a:cxnSpLocks/>
          </p:cNvCxnSpPr>
          <p:nvPr/>
        </p:nvCxnSpPr>
        <p:spPr>
          <a:xfrm>
            <a:off x="2950950" y="1275518"/>
            <a:ext cx="0" cy="42672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958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81FB38-7A82-486D-872C-7B2F50AE664C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40D263-48FF-4EF2-8B9A-DD8D51AA1CBD}"/>
              </a:ext>
            </a:extLst>
          </p:cNvPr>
          <p:cNvCxnSpPr>
            <a:cxnSpLocks/>
          </p:cNvCxnSpPr>
          <p:nvPr/>
        </p:nvCxnSpPr>
        <p:spPr>
          <a:xfrm flipV="1">
            <a:off x="0" y="1224621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7C9CE24-3EC0-400C-9606-1F69DD402696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75156B-232A-4C18-A70D-9A118E3BB47E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ADB2A38-402F-425E-ADA8-80CC4BE76282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E3A6B5-D827-435A-A59B-3FAFE65AB951}"/>
              </a:ext>
            </a:extLst>
          </p:cNvPr>
          <p:cNvSpPr txBox="1"/>
          <p:nvPr/>
        </p:nvSpPr>
        <p:spPr>
          <a:xfrm>
            <a:off x="1498262" y="192822"/>
            <a:ext cx="944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BC9351-4374-4B77-8989-80A21939EA0D}"/>
              </a:ext>
            </a:extLst>
          </p:cNvPr>
          <p:cNvSpPr txBox="1"/>
          <p:nvPr/>
        </p:nvSpPr>
        <p:spPr>
          <a:xfrm>
            <a:off x="1126057" y="769263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area of triangles and parallelograms?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0FCEC8-67B2-49BF-9F49-A7C8F5D42F53}"/>
              </a:ext>
            </a:extLst>
          </p:cNvPr>
          <p:cNvSpPr txBox="1"/>
          <p:nvPr/>
        </p:nvSpPr>
        <p:spPr>
          <a:xfrm>
            <a:off x="178608" y="1318199"/>
            <a:ext cx="2329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area of triangles?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E15D1E-53BD-4891-B54C-367082C4487B}"/>
                  </a:ext>
                </a:extLst>
              </p:cNvPr>
              <p:cNvSpPr txBox="1"/>
              <p:nvPr/>
            </p:nvSpPr>
            <p:spPr>
              <a:xfrm>
                <a:off x="2634645" y="1215587"/>
                <a:ext cx="81824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b="1" dirty="0"/>
                  <a:t>Area = (Base x Height) </a:t>
                </a:r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A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A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800" b="1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E15D1E-53BD-4891-B54C-367082C44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4645" y="1215587"/>
                <a:ext cx="8182466" cy="523220"/>
              </a:xfrm>
              <a:prstGeom prst="rect">
                <a:avLst/>
              </a:prstGeom>
              <a:blipFill>
                <a:blip r:embed="rId2"/>
                <a:stretch>
                  <a:fillRect l="-1490" t="-12791" b="-302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9C6D6BB-6323-4A1B-9DEB-6B64E2EFA383}"/>
              </a:ext>
            </a:extLst>
          </p:cNvPr>
          <p:cNvSpPr txBox="1"/>
          <p:nvPr/>
        </p:nvSpPr>
        <p:spPr>
          <a:xfrm>
            <a:off x="3873781" y="4216805"/>
            <a:ext cx="207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Base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B94C3B4C-0A45-4678-BA33-30860F93BC0E}"/>
              </a:ext>
            </a:extLst>
          </p:cNvPr>
          <p:cNvSpPr/>
          <p:nvPr/>
        </p:nvSpPr>
        <p:spPr>
          <a:xfrm>
            <a:off x="2495515" y="1677752"/>
            <a:ext cx="3479552" cy="2418819"/>
          </a:xfrm>
          <a:prstGeom prst="triangl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78627C-2730-4825-98EB-838399F39344}"/>
              </a:ext>
            </a:extLst>
          </p:cNvPr>
          <p:cNvSpPr txBox="1"/>
          <p:nvPr/>
        </p:nvSpPr>
        <p:spPr>
          <a:xfrm>
            <a:off x="4264832" y="2809723"/>
            <a:ext cx="207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Height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7248E91-0D47-4A2C-B022-1FCE0B14D874}"/>
              </a:ext>
            </a:extLst>
          </p:cNvPr>
          <p:cNvCxnSpPr>
            <a:cxnSpLocks/>
          </p:cNvCxnSpPr>
          <p:nvPr/>
        </p:nvCxnSpPr>
        <p:spPr>
          <a:xfrm>
            <a:off x="4275720" y="1677752"/>
            <a:ext cx="0" cy="2418819"/>
          </a:xfrm>
          <a:prstGeom prst="line">
            <a:avLst/>
          </a:prstGeom>
          <a:ln w="571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B11237A7-CCC1-4B66-8B74-6D5C48BF8C9D}"/>
              </a:ext>
            </a:extLst>
          </p:cNvPr>
          <p:cNvSpPr/>
          <p:nvPr/>
        </p:nvSpPr>
        <p:spPr>
          <a:xfrm>
            <a:off x="8182400" y="1522875"/>
            <a:ext cx="2912883" cy="2573696"/>
          </a:xfrm>
          <a:prstGeom prst="rtTriangl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6009B5-6C39-4288-9CF0-B46EDB47A809}"/>
              </a:ext>
            </a:extLst>
          </p:cNvPr>
          <p:cNvSpPr txBox="1"/>
          <p:nvPr/>
        </p:nvSpPr>
        <p:spPr>
          <a:xfrm>
            <a:off x="9021386" y="4132159"/>
            <a:ext cx="207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EC5866-FDCC-405B-9959-A5D5C126D244}"/>
              </a:ext>
            </a:extLst>
          </p:cNvPr>
          <p:cNvSpPr txBox="1"/>
          <p:nvPr/>
        </p:nvSpPr>
        <p:spPr>
          <a:xfrm>
            <a:off x="7320687" y="2673124"/>
            <a:ext cx="207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Height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B00D68-1EA1-4E94-A6E6-56C3B78B5C85}"/>
              </a:ext>
            </a:extLst>
          </p:cNvPr>
          <p:cNvSpPr txBox="1"/>
          <p:nvPr/>
        </p:nvSpPr>
        <p:spPr>
          <a:xfrm>
            <a:off x="129418" y="4345395"/>
            <a:ext cx="1993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area of parallelograms?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D4D88C-55FE-4ACC-B711-AF7E109BBA09}"/>
              </a:ext>
            </a:extLst>
          </p:cNvPr>
          <p:cNvSpPr txBox="1"/>
          <p:nvPr/>
        </p:nvSpPr>
        <p:spPr>
          <a:xfrm>
            <a:off x="2442816" y="4412730"/>
            <a:ext cx="8182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Area = Base x Height</a:t>
            </a: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44FE5739-096E-48FB-8684-5F3A9A997FBC}"/>
              </a:ext>
            </a:extLst>
          </p:cNvPr>
          <p:cNvSpPr/>
          <p:nvPr/>
        </p:nvSpPr>
        <p:spPr>
          <a:xfrm>
            <a:off x="2642224" y="4902296"/>
            <a:ext cx="3587100" cy="1642475"/>
          </a:xfrm>
          <a:prstGeom prst="parallelogram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F4078C0-BF92-490D-8F16-B9292B07AF06}"/>
              </a:ext>
            </a:extLst>
          </p:cNvPr>
          <p:cNvCxnSpPr>
            <a:cxnSpLocks/>
          </p:cNvCxnSpPr>
          <p:nvPr/>
        </p:nvCxnSpPr>
        <p:spPr>
          <a:xfrm>
            <a:off x="6229324" y="4902296"/>
            <a:ext cx="0" cy="1642475"/>
          </a:xfrm>
          <a:prstGeom prst="line">
            <a:avLst/>
          </a:prstGeom>
          <a:ln w="571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9EAC5CA-ED65-469F-8D6A-68F20FD43672}"/>
              </a:ext>
            </a:extLst>
          </p:cNvPr>
          <p:cNvSpPr txBox="1"/>
          <p:nvPr/>
        </p:nvSpPr>
        <p:spPr>
          <a:xfrm>
            <a:off x="6283738" y="5394520"/>
            <a:ext cx="207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Height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B55750-7D15-4CC0-B67F-DB3E4F85C14B}"/>
              </a:ext>
            </a:extLst>
          </p:cNvPr>
          <p:cNvSpPr txBox="1"/>
          <p:nvPr/>
        </p:nvSpPr>
        <p:spPr>
          <a:xfrm>
            <a:off x="3967103" y="6262048"/>
            <a:ext cx="207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Base</a:t>
            </a:r>
          </a:p>
        </p:txBody>
      </p:sp>
    </p:spTree>
    <p:extLst>
      <p:ext uri="{BB962C8B-B14F-4D97-AF65-F5344CB8AC3E}">
        <p14:creationId xmlns:p14="http://schemas.microsoft.com/office/powerpoint/2010/main" val="3213323461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3960F"/>
      </a:accent1>
      <a:accent2>
        <a:srgbClr val="E04116"/>
      </a:accent2>
      <a:accent3>
        <a:srgbClr val="9D4DE7"/>
      </a:accent3>
      <a:accent4>
        <a:srgbClr val="449EF3"/>
      </a:accent4>
      <a:accent5>
        <a:srgbClr val="39C6BE"/>
      </a:accent5>
      <a:accent6>
        <a:srgbClr val="88C933"/>
      </a:accent6>
      <a:hlink>
        <a:srgbClr val="EBB41F"/>
      </a:hlink>
      <a:folHlink>
        <a:srgbClr val="E1D676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29B3952A-A5A2-4E72-A5C9-A88B41734E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356</TotalTime>
  <Words>344</Words>
  <Application>Microsoft Office PowerPoint</Application>
  <PresentationFormat>Widescreen</PresentationFormat>
  <Paragraphs>111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Calibri Light</vt:lpstr>
      <vt:lpstr>Cambria Math</vt:lpstr>
      <vt:lpstr>Rockwell</vt:lpstr>
      <vt:lpstr>Wingdings</vt:lpstr>
      <vt:lpstr>Atlas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 DO</vt:lpstr>
      <vt:lpstr>WE DO</vt:lpstr>
      <vt:lpstr>YOU DO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D'SOUZA Jillian [Baldivis Secondary College]</dc:creator>
  <cp:lastModifiedBy>WILSON James [Baldivis Secondary College]</cp:lastModifiedBy>
  <cp:revision>28</cp:revision>
  <dcterms:created xsi:type="dcterms:W3CDTF">2018-02-28T07:24:22Z</dcterms:created>
  <dcterms:modified xsi:type="dcterms:W3CDTF">2019-04-03T08:14:25Z</dcterms:modified>
</cp:coreProperties>
</file>
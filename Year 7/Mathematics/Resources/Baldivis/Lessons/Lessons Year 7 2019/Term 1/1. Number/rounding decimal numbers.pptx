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71" r:id="rId4"/>
    <p:sldId id="272" r:id="rId5"/>
    <p:sldId id="273" r:id="rId6"/>
    <p:sldId id="257" r:id="rId7"/>
    <p:sldId id="260" r:id="rId8"/>
    <p:sldId id="274" r:id="rId9"/>
    <p:sldId id="275" r:id="rId10"/>
    <p:sldId id="276" r:id="rId11"/>
    <p:sldId id="277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3934F9-7C71-43DB-ABDD-A5A7F4A5C7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2216905"/>
      </p:ext>
    </p:extLst>
  </p:cSld>
  <p:clrMapOvr>
    <a:masterClrMapping/>
  </p:clrMapOvr>
  <p:transition>
    <p:wipe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84139-8CD9-4C2D-98F4-BCCAD0323E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5592487"/>
      </p:ext>
    </p:extLst>
  </p:cSld>
  <p:clrMapOvr>
    <a:masterClrMapping/>
  </p:clrMapOvr>
  <p:transition>
    <p:wipe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15FBD2-23E4-4CF7-B66B-01C66CA3B2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58762"/>
      </p:ext>
    </p:extLst>
  </p:cSld>
  <p:clrMapOvr>
    <a:masterClrMapping/>
  </p:clrMapOvr>
  <p:transition>
    <p:wipe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61ACDC-4340-4420-832A-9C348ABBD2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4610524"/>
      </p:ext>
    </p:extLst>
  </p:cSld>
  <p:clrMapOvr>
    <a:masterClrMapping/>
  </p:clrMapOvr>
  <p:transition>
    <p:wipe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C68524-6072-41FB-B5BE-F791FB5E5A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9821022"/>
      </p:ext>
    </p:extLst>
  </p:cSld>
  <p:clrMapOvr>
    <a:masterClrMapping/>
  </p:clrMapOvr>
  <p:transition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22B5E-6F83-4F16-BD61-CB1BDB3BD2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8259431"/>
      </p:ext>
    </p:extLst>
  </p:cSld>
  <p:clrMapOvr>
    <a:masterClrMapping/>
  </p:clrMapOvr>
  <p:transition>
    <p:wipe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1AB00-315F-419A-B799-3BEAF7AAF3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1703"/>
      </p:ext>
    </p:extLst>
  </p:cSld>
  <p:clrMapOvr>
    <a:masterClrMapping/>
  </p:clrMapOvr>
  <p:transition>
    <p:wipe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1443B-32D0-4BC6-92CA-25448723E1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5979251"/>
      </p:ext>
    </p:extLst>
  </p:cSld>
  <p:clrMapOvr>
    <a:masterClrMapping/>
  </p:clrMapOvr>
  <p:transition>
    <p:wipe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F195DF-1594-4C47-8A09-57A71639FD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3050965"/>
      </p:ext>
    </p:extLst>
  </p:cSld>
  <p:clrMapOvr>
    <a:masterClrMapping/>
  </p:clrMapOvr>
  <p:transition>
    <p:wipe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9747C-9DA8-4B96-AF75-93A1D04127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4541691"/>
      </p:ext>
    </p:extLst>
  </p:cSld>
  <p:clrMapOvr>
    <a:masterClrMapping/>
  </p:clrMapOvr>
  <p:transition>
    <p:wipe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C61DA7-0F93-4DA1-A100-19A7555714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6623963"/>
      </p:ext>
    </p:extLst>
  </p:cSld>
  <p:clrMapOvr>
    <a:masterClrMapping/>
  </p:clrMapOvr>
  <p:transition>
    <p:wipe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7D60C-CA30-4418-956C-2BD0E88CE44F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24/02/2019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53ACEA-43AF-47CC-899E-28D017AA7B2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152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7D60C-CA30-4418-956C-2BD0E88CE44F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24/02/2019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53ACEA-43AF-47CC-899E-28D017AA7B2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061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7D60C-CA30-4418-956C-2BD0E88CE44F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24/02/2019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53ACEA-43AF-47CC-899E-28D017AA7B2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3863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7D60C-CA30-4418-956C-2BD0E88CE44F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24/02/2019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53ACEA-43AF-47CC-899E-28D017AA7B2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1256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7D60C-CA30-4418-956C-2BD0E88CE44F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24/02/2019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53ACEA-43AF-47CC-899E-28D017AA7B2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46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7D60C-CA30-4418-956C-2BD0E88CE44F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24/02/2019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53ACEA-43AF-47CC-899E-28D017AA7B2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7033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7D60C-CA30-4418-956C-2BD0E88CE44F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24/02/2019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53ACEA-43AF-47CC-899E-28D017AA7B2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60604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7D60C-CA30-4418-956C-2BD0E88CE44F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24/02/2019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53ACEA-43AF-47CC-899E-28D017AA7B2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3594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7D60C-CA30-4418-956C-2BD0E88CE44F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24/02/2019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53ACEA-43AF-47CC-899E-28D017AA7B2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1833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7D60C-CA30-4418-956C-2BD0E88CE44F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24/02/2019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53ACEA-43AF-47CC-899E-28D017AA7B2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38029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7D60C-CA30-4418-956C-2BD0E88CE44F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24/02/2019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53ACEA-43AF-47CC-899E-28D017AA7B2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05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pitchFamily="-1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pitchFamily="-1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9768E826-EC46-4E29-A8BF-1E6C127E1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u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" charset="0"/>
          <a:ea typeface="ＭＳ Ｐゴシック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" charset="0"/>
          <a:ea typeface="ＭＳ Ｐゴシック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" charset="0"/>
          <a:ea typeface="ＭＳ Ｐゴシック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" charset="0"/>
          <a:ea typeface="ＭＳ Ｐゴシック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7D60C-CA30-4418-956C-2BD0E88CE44F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24/02/2019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53ACEA-43AF-47CC-899E-28D017AA7B2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75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143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Rounding Decimal Numbers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2590800"/>
            <a:ext cx="3048000" cy="17526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Sometimes close enough is good enough!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286000"/>
            <a:ext cx="4762500" cy="4114800"/>
          </a:xfrm>
          <a:prstGeom prst="rect">
            <a:avLst/>
          </a:prstGeom>
        </p:spPr>
      </p:pic>
    </p:spTree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autoUpdateAnimBg="0"/>
      <p:bldP spid="2051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391764"/>
            <a:ext cx="23621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Topic: </a:t>
            </a:r>
            <a:r>
              <a:rPr lang="en-AU" sz="2800" dirty="0" smtClean="0"/>
              <a:t>Number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round to </a:t>
            </a:r>
            <a:r>
              <a:rPr lang="en-AU" dirty="0" smtClean="0"/>
              <a:t>a specific number of decimal places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67208386"/>
      </p:ext>
    </p:ext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476672"/>
            <a:ext cx="741682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 smtClean="0"/>
              <a:t>BUT FIRST…</a:t>
            </a:r>
            <a:endParaRPr lang="en-AU" sz="3200" dirty="0"/>
          </a:p>
          <a:p>
            <a:r>
              <a:rPr lang="en-AU" sz="2400" dirty="0" smtClean="0"/>
              <a:t>Let’s review what we did last lesson.</a:t>
            </a:r>
          </a:p>
          <a:p>
            <a:r>
              <a:rPr lang="en-AU" sz="2400" dirty="0" smtClean="0"/>
              <a:t>Turn to the last set of notes we did.</a:t>
            </a:r>
          </a:p>
          <a:p>
            <a:endParaRPr lang="en-AU" sz="2400" dirty="0"/>
          </a:p>
          <a:p>
            <a:r>
              <a:rPr lang="en-AU" sz="2400" dirty="0" smtClean="0"/>
              <a:t>You have </a:t>
            </a:r>
            <a:r>
              <a:rPr lang="en-AU" sz="2400" dirty="0"/>
              <a:t>1</a:t>
            </a:r>
            <a:r>
              <a:rPr lang="en-AU" sz="2400" dirty="0" smtClean="0"/>
              <a:t> minute </a:t>
            </a:r>
            <a:r>
              <a:rPr lang="en-AU" dirty="0" smtClean="0"/>
              <a:t>57</a:t>
            </a:r>
            <a:r>
              <a:rPr lang="en-AU" sz="2400" dirty="0" smtClean="0"/>
              <a:t> seconds to talk to your shoulder partner about what we did. </a:t>
            </a:r>
          </a:p>
          <a:p>
            <a:endParaRPr lang="en-AU" sz="2400" dirty="0"/>
          </a:p>
          <a:p>
            <a:r>
              <a:rPr lang="en-AU" sz="2400" dirty="0" smtClean="0"/>
              <a:t>Let’s brainstorm…</a:t>
            </a:r>
          </a:p>
          <a:p>
            <a:endParaRPr lang="en-AU" sz="2400" dirty="0"/>
          </a:p>
          <a:p>
            <a:r>
              <a:rPr lang="en-AU" sz="2400" dirty="0" smtClean="0"/>
              <a:t>Are your notes complete? Do you need to add anything? Add extra information in a different colour. </a:t>
            </a:r>
          </a:p>
          <a:p>
            <a:endParaRPr lang="en-AU" sz="2400" dirty="0"/>
          </a:p>
          <a:p>
            <a:r>
              <a:rPr lang="en-AU" sz="2400" dirty="0" smtClean="0"/>
              <a:t>Do you have a summary? </a:t>
            </a:r>
          </a:p>
          <a:p>
            <a:endParaRPr lang="en-AU" sz="2400" dirty="0"/>
          </a:p>
          <a:p>
            <a:r>
              <a:rPr lang="en-AU" dirty="0" smtClean="0"/>
              <a:t>No? let’s make one together…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01177004"/>
      </p:ext>
    </p:extLst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476672"/>
            <a:ext cx="741682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 smtClean="0"/>
              <a:t>BUT FIRST…</a:t>
            </a:r>
            <a:endParaRPr lang="en-AU" sz="3200" dirty="0"/>
          </a:p>
          <a:p>
            <a:r>
              <a:rPr lang="en-AU" sz="2400" dirty="0" smtClean="0"/>
              <a:t>Let’s use a GIST summary technique…</a:t>
            </a:r>
          </a:p>
          <a:p>
            <a:endParaRPr lang="en-AU" dirty="0"/>
          </a:p>
          <a:p>
            <a:r>
              <a:rPr lang="en-AU" sz="2400" dirty="0" smtClean="0"/>
              <a:t>If you ‘get the gist’ it means you get the idea and know what’s happening and why it works. </a:t>
            </a:r>
          </a:p>
          <a:p>
            <a:endParaRPr lang="en-AU" dirty="0"/>
          </a:p>
          <a:p>
            <a:r>
              <a:rPr lang="en-AU" sz="2400" dirty="0" smtClean="0"/>
              <a:t>From our brainstorm, which are the 10 most important WORDS.</a:t>
            </a:r>
          </a:p>
          <a:p>
            <a:endParaRPr lang="en-AU" dirty="0"/>
          </a:p>
          <a:p>
            <a:r>
              <a:rPr lang="en-AU" sz="2400" dirty="0" smtClean="0"/>
              <a:t>Let’s come up with a sentence or two together that uses most of these words.</a:t>
            </a:r>
          </a:p>
          <a:p>
            <a:endParaRPr lang="en-AU" dirty="0"/>
          </a:p>
          <a:p>
            <a:r>
              <a:rPr lang="en-AU" sz="2400" dirty="0" smtClean="0"/>
              <a:t>Write it down.</a:t>
            </a:r>
          </a:p>
          <a:p>
            <a:endParaRPr lang="en-AU" sz="2400" dirty="0"/>
          </a:p>
          <a:p>
            <a:r>
              <a:rPr lang="en-AU" sz="2400" dirty="0" smtClean="0"/>
              <a:t>Add the topic and EQ to your contents page.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098796543"/>
      </p:ext>
    </p:extLst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295400" y="990600"/>
            <a:ext cx="670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4000"/>
              <a:t>Molly has $16 in her pocket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90600" y="1905000"/>
            <a:ext cx="7315200" cy="31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/>
              <a:t>She buys: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3600"/>
              <a:t>3 hotdogs @ $1.89 each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3600"/>
              <a:t>3 milkshakes @ $2.19 each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3600"/>
              <a:t>3 Large French fries @ $ $1.79 each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914400" y="5410200"/>
            <a:ext cx="7467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/>
              <a:t>Does she have enough money?</a:t>
            </a: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autoUpdateAnimBg="0"/>
      <p:bldP spid="3075" grpId="0" autoUpdateAnimBg="0"/>
      <p:bldP spid="307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rounding poem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609600" y="2438400"/>
            <a:ext cx="7924800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/>
              <a:t>Find your number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 smtClean="0"/>
              <a:t>Look </a:t>
            </a:r>
            <a:r>
              <a:rPr lang="en-US" altLang="en-US" sz="4000" dirty="0"/>
              <a:t>next door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/>
              <a:t>4 or less, just ignore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/>
              <a:t>5 or more add one more!</a:t>
            </a: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51520" y="404664"/>
            <a:ext cx="8626212" cy="609600"/>
          </a:xfrm>
          <a:prstGeom prst="roundRect">
            <a:avLst>
              <a:gd name="adj" fmla="val 21100"/>
            </a:avLst>
          </a:prstGeom>
          <a:solidFill>
            <a:srgbClr val="71A8F9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Rounding to  1 Decimal Place (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1dp)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3112" y="1126476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1403648" y="1196752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3995936" y="227687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</a:t>
            </a: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395536" y="123926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</a:t>
            </a:r>
            <a:r>
              <a:rPr kumimoji="0" lang="en-GB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8 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 </a:t>
            </a:r>
            <a:r>
              <a:rPr kumimoji="0" lang="en-GB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2 5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1043608" y="227687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1763688" y="1988840"/>
            <a:ext cx="1152128" cy="936104"/>
            <a:chOff x="1331640" y="3789040"/>
            <a:chExt cx="1152128" cy="936104"/>
          </a:xfrm>
        </p:grpSpPr>
        <p:sp>
          <p:nvSpPr>
            <p:cNvPr id="39" name="Cloud Callout 38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9369"/>
                <a:gd name="adj2" fmla="val -6908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5 or more?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417984" y="286513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4 . 8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203848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4322068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3316272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</a:t>
            </a:r>
            <a:r>
              <a:rPr kumimoji="0" lang="en-GB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8 4 2 5 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" name="Group 62"/>
          <p:cNvGrpSpPr/>
          <p:nvPr/>
        </p:nvGrpSpPr>
        <p:grpSpPr>
          <a:xfrm>
            <a:off x="4684424" y="1987108"/>
            <a:ext cx="1152128" cy="936104"/>
            <a:chOff x="1331640" y="3789040"/>
            <a:chExt cx="1152128" cy="936104"/>
          </a:xfrm>
        </p:grpSpPr>
        <p:sp>
          <p:nvSpPr>
            <p:cNvPr id="64" name="Cloud Callout 6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5 or more?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3310956" y="286339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</a:t>
            </a:r>
            <a:r>
              <a:rPr kumimoji="0" lang="en-GB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8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6876256" y="227687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098916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Line 7"/>
          <p:cNvSpPr>
            <a:spLocks noChangeShapeType="1"/>
          </p:cNvSpPr>
          <p:nvPr/>
        </p:nvSpPr>
        <p:spPr bwMode="auto">
          <a:xfrm>
            <a:off x="7363468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Text Box 4"/>
          <p:cNvSpPr txBox="1">
            <a:spLocks noChangeArrowheads="1"/>
          </p:cNvSpPr>
          <p:nvPr/>
        </p:nvSpPr>
        <p:spPr bwMode="auto">
          <a:xfrm>
            <a:off x="6343625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4 . 8 5 2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70"/>
          <p:cNvGrpSpPr/>
          <p:nvPr/>
        </p:nvGrpSpPr>
        <p:grpSpPr>
          <a:xfrm>
            <a:off x="7579492" y="1987108"/>
            <a:ext cx="1152128" cy="936104"/>
            <a:chOff x="1331640" y="3789040"/>
            <a:chExt cx="1152128" cy="936104"/>
          </a:xfrm>
        </p:grpSpPr>
        <p:sp>
          <p:nvSpPr>
            <p:cNvPr id="72" name="Cloud Callout 71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5 or more?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4" name="Text Box 4"/>
          <p:cNvSpPr txBox="1">
            <a:spLocks noChangeArrowheads="1"/>
          </p:cNvSpPr>
          <p:nvPr/>
        </p:nvSpPr>
        <p:spPr bwMode="auto">
          <a:xfrm>
            <a:off x="5907385" y="286339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4 . 9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99956" y="3862780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1418506" y="3933056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401278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412380" y="397556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4 . 8 7 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1060452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Yes</a:t>
            </a:r>
          </a:p>
        </p:txBody>
      </p:sp>
      <p:grpSp>
        <p:nvGrpSpPr>
          <p:cNvPr id="7" name="Group 40"/>
          <p:cNvGrpSpPr/>
          <p:nvPr/>
        </p:nvGrpSpPr>
        <p:grpSpPr>
          <a:xfrm>
            <a:off x="1780532" y="4725144"/>
            <a:ext cx="1152128" cy="936104"/>
            <a:chOff x="1331640" y="3789040"/>
            <a:chExt cx="1152128" cy="936104"/>
          </a:xfrm>
        </p:grpSpPr>
        <p:sp>
          <p:nvSpPr>
            <p:cNvPr id="34" name="Cloud Callout 3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5 or more?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407064" y="560143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4 . 9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220692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>
            <a:off x="4350643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 Box 4"/>
          <p:cNvSpPr txBox="1">
            <a:spLocks noChangeArrowheads="1"/>
          </p:cNvSpPr>
          <p:nvPr/>
        </p:nvSpPr>
        <p:spPr bwMode="auto">
          <a:xfrm>
            <a:off x="3333116" y="3973836"/>
            <a:ext cx="267904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5 . 2 6 7 1 4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" name="Group 62"/>
          <p:cNvGrpSpPr/>
          <p:nvPr/>
        </p:nvGrpSpPr>
        <p:grpSpPr>
          <a:xfrm>
            <a:off x="4701268" y="4723412"/>
            <a:ext cx="1152128" cy="936104"/>
            <a:chOff x="1331640" y="3789040"/>
            <a:chExt cx="1152128" cy="936104"/>
          </a:xfrm>
        </p:grpSpPr>
        <p:sp>
          <p:nvSpPr>
            <p:cNvPr id="47" name="Cloud Callout 46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5 or more?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3327800" y="559970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5 . 3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 Box 30"/>
          <p:cNvSpPr txBox="1">
            <a:spLocks noChangeArrowheads="1"/>
          </p:cNvSpPr>
          <p:nvPr/>
        </p:nvSpPr>
        <p:spPr bwMode="auto">
          <a:xfrm>
            <a:off x="689310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115760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marR="0" lvl="0" indent="-2698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Line 7"/>
          <p:cNvSpPr>
            <a:spLocks noChangeShapeType="1"/>
          </p:cNvSpPr>
          <p:nvPr/>
        </p:nvSpPr>
        <p:spPr bwMode="auto">
          <a:xfrm>
            <a:off x="7380312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6353150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1 . 9 6 7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Group 70"/>
          <p:cNvGrpSpPr/>
          <p:nvPr/>
        </p:nvGrpSpPr>
        <p:grpSpPr>
          <a:xfrm>
            <a:off x="7596336" y="4723412"/>
            <a:ext cx="1152128" cy="936104"/>
            <a:chOff x="1331640" y="3789040"/>
            <a:chExt cx="1152128" cy="936104"/>
          </a:xfrm>
        </p:grpSpPr>
        <p:sp>
          <p:nvSpPr>
            <p:cNvPr id="55" name="Cloud Callout 54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5 or more?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5940152" y="559970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2 . 0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6057274" y="419412"/>
            <a:ext cx="720080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3283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 animBg="1"/>
      <p:bldP spid="38" grpId="0" animBg="1"/>
      <p:bldP spid="42" grpId="0"/>
      <p:bldP spid="59" grpId="0" animBg="1"/>
      <p:bldP spid="60" grpId="0" animBg="1"/>
      <p:bldP spid="61" grpId="0"/>
      <p:bldP spid="66" grpId="0"/>
      <p:bldP spid="67" grpId="0" animBg="1"/>
      <p:bldP spid="68" grpId="0" animBg="1"/>
      <p:bldP spid="69" grpId="0" animBg="1"/>
      <p:bldP spid="70" grpId="0"/>
      <p:bldP spid="74" grpId="0"/>
      <p:bldP spid="27" grpId="0" animBg="1"/>
      <p:bldP spid="28" grpId="0" animBg="1"/>
      <p:bldP spid="30" grpId="0" animBg="1"/>
      <p:bldP spid="31" grpId="0"/>
      <p:bldP spid="32" grpId="0" animBg="1"/>
      <p:bldP spid="41" grpId="0"/>
      <p:bldP spid="43" grpId="0" animBg="1"/>
      <p:bldP spid="44" grpId="0" animBg="1"/>
      <p:bldP spid="45" grpId="0"/>
      <p:bldP spid="49" grpId="0"/>
      <p:bldP spid="50" grpId="0" animBg="1"/>
      <p:bldP spid="51" grpId="0" animBg="1"/>
      <p:bldP spid="52" grpId="0" animBg="1"/>
      <p:bldP spid="53" grpId="0"/>
      <p:bldP spid="57" grpId="0"/>
      <p:bldP spid="5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66268" y="404664"/>
            <a:ext cx="8626212" cy="609600"/>
          </a:xfrm>
          <a:prstGeom prst="roundRect">
            <a:avLst>
              <a:gd name="adj" fmla="val 21100"/>
            </a:avLst>
          </a:prstGeom>
          <a:solidFill>
            <a:srgbClr val="71A8F9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Rounding to Decimal Places: </a:t>
            </a:r>
            <a:r>
              <a:rPr lang="en-US" sz="2400" b="1" dirty="0" smtClean="0">
                <a:solidFill>
                  <a:schemeClr val="bg1"/>
                </a:solidFill>
              </a:rPr>
              <a:t>2dp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3112" y="1126476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1773213" y="122684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3995936" y="227687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395536" y="123926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</a:t>
            </a:r>
            <a:r>
              <a:rPr lang="en-GB" sz="4000" dirty="0">
                <a:latin typeface="+mj-lt"/>
              </a:rPr>
              <a:t>3 </a:t>
            </a:r>
            <a:r>
              <a:rPr lang="en-GB" sz="4000" dirty="0" smtClean="0">
                <a:latin typeface="+mj-lt"/>
              </a:rPr>
              <a:t>2 5</a:t>
            </a:r>
            <a:endParaRPr lang="en-GB" sz="4000" dirty="0">
              <a:latin typeface="+mj-lt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1043608" y="227687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  <a:endParaRPr lang="en-GB" sz="2000" dirty="0">
              <a:solidFill>
                <a:srgbClr val="009900"/>
              </a:solidFill>
              <a:latin typeface="+mj-lt"/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1763688" y="2060848"/>
            <a:ext cx="1152128" cy="936104"/>
            <a:chOff x="1331640" y="3789040"/>
            <a:chExt cx="1152128" cy="936104"/>
          </a:xfrm>
        </p:grpSpPr>
        <p:sp>
          <p:nvSpPr>
            <p:cNvPr id="39" name="Cloud Callout 38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4567"/>
                <a:gd name="adj2" fmla="val -72141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417984" y="286513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4 . 8 3</a:t>
            </a:r>
            <a:endParaRPr lang="en-GB" sz="4000" dirty="0">
              <a:latin typeface="+mj-lt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203848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4691633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3316272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4 6</a:t>
            </a:r>
            <a:endParaRPr lang="en-GB" sz="4000" dirty="0">
              <a:latin typeface="+mj-lt"/>
            </a:endParaRPr>
          </a:p>
        </p:txBody>
      </p:sp>
      <p:grpSp>
        <p:nvGrpSpPr>
          <p:cNvPr id="3" name="Group 62"/>
          <p:cNvGrpSpPr/>
          <p:nvPr/>
        </p:nvGrpSpPr>
        <p:grpSpPr>
          <a:xfrm>
            <a:off x="4684424" y="1987108"/>
            <a:ext cx="1152128" cy="936104"/>
            <a:chOff x="1331640" y="3789040"/>
            <a:chExt cx="1152128" cy="936104"/>
          </a:xfrm>
        </p:grpSpPr>
        <p:sp>
          <p:nvSpPr>
            <p:cNvPr id="64" name="Cloud Callout 6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1260"/>
                <a:gd name="adj2" fmla="val -6501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3310956" y="286339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5</a:t>
            </a:r>
            <a:endParaRPr lang="en-GB" sz="4000" dirty="0">
              <a:latin typeface="+mj-lt"/>
            </a:endParaRPr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6876256" y="227687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098916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9" name="Line 7"/>
          <p:cNvSpPr>
            <a:spLocks noChangeShapeType="1"/>
          </p:cNvSpPr>
          <p:nvPr/>
        </p:nvSpPr>
        <p:spPr bwMode="auto">
          <a:xfrm>
            <a:off x="7740352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70" name="Text Box 4"/>
          <p:cNvSpPr txBox="1">
            <a:spLocks noChangeArrowheads="1"/>
          </p:cNvSpPr>
          <p:nvPr/>
        </p:nvSpPr>
        <p:spPr bwMode="auto">
          <a:xfrm>
            <a:off x="6343624" y="1237532"/>
            <a:ext cx="254885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4 . 8 5 9 5 1</a:t>
            </a:r>
            <a:endParaRPr lang="en-GB" sz="4000" dirty="0">
              <a:latin typeface="+mj-lt"/>
            </a:endParaRPr>
          </a:p>
        </p:txBody>
      </p:sp>
      <p:grpSp>
        <p:nvGrpSpPr>
          <p:cNvPr id="4" name="Group 70"/>
          <p:cNvGrpSpPr/>
          <p:nvPr/>
        </p:nvGrpSpPr>
        <p:grpSpPr>
          <a:xfrm>
            <a:off x="7579492" y="1987108"/>
            <a:ext cx="1152128" cy="936104"/>
            <a:chOff x="1331640" y="3789040"/>
            <a:chExt cx="1152128" cy="936104"/>
          </a:xfrm>
        </p:grpSpPr>
        <p:sp>
          <p:nvSpPr>
            <p:cNvPr id="72" name="Cloud Callout 71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23820"/>
                <a:gd name="adj2" fmla="val -6908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74" name="Text Box 4"/>
          <p:cNvSpPr txBox="1">
            <a:spLocks noChangeArrowheads="1"/>
          </p:cNvSpPr>
          <p:nvPr/>
        </p:nvSpPr>
        <p:spPr bwMode="auto">
          <a:xfrm>
            <a:off x="5907385" y="286339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4 . 8 6</a:t>
            </a:r>
            <a:endParaRPr lang="en-GB" sz="4000" dirty="0"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99956" y="3862780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1792263" y="3933056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401278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412380" y="397556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1 . 6 9 4 9</a:t>
            </a:r>
            <a:endParaRPr lang="en-GB" sz="4000" dirty="0">
              <a:latin typeface="+mj-lt"/>
            </a:endParaRP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1060452" y="5013176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grpSp>
        <p:nvGrpSpPr>
          <p:cNvPr id="7" name="Group 40"/>
          <p:cNvGrpSpPr/>
          <p:nvPr/>
        </p:nvGrpSpPr>
        <p:grpSpPr>
          <a:xfrm>
            <a:off x="1835696" y="4797152"/>
            <a:ext cx="1152128" cy="936104"/>
            <a:chOff x="1331640" y="3789040"/>
            <a:chExt cx="1152128" cy="936104"/>
          </a:xfrm>
        </p:grpSpPr>
        <p:sp>
          <p:nvSpPr>
            <p:cNvPr id="34" name="Cloud Callout 3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7874"/>
                <a:gd name="adj2" fmla="val -7214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407064" y="560143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1 . 6 9</a:t>
            </a:r>
            <a:endParaRPr lang="en-GB" sz="4000" dirty="0">
              <a:latin typeface="+mj-lt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220692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>
            <a:off x="4716016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45" name="Text Box 4"/>
          <p:cNvSpPr txBox="1">
            <a:spLocks noChangeArrowheads="1"/>
          </p:cNvSpPr>
          <p:nvPr/>
        </p:nvSpPr>
        <p:spPr bwMode="auto">
          <a:xfrm>
            <a:off x="3333116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5 . 2 6 7 1</a:t>
            </a:r>
            <a:endParaRPr lang="en-GB" sz="4000" dirty="0">
              <a:latin typeface="+mj-lt"/>
            </a:endParaRPr>
          </a:p>
        </p:txBody>
      </p:sp>
      <p:grpSp>
        <p:nvGrpSpPr>
          <p:cNvPr id="8" name="Group 62"/>
          <p:cNvGrpSpPr/>
          <p:nvPr/>
        </p:nvGrpSpPr>
        <p:grpSpPr>
          <a:xfrm>
            <a:off x="4716016" y="4725144"/>
            <a:ext cx="1152128" cy="936104"/>
            <a:chOff x="1187624" y="3789040"/>
            <a:chExt cx="1152128" cy="936104"/>
          </a:xfrm>
        </p:grpSpPr>
        <p:sp>
          <p:nvSpPr>
            <p:cNvPr id="47" name="Cloud Callout 46"/>
            <p:cNvSpPr/>
            <p:nvPr/>
          </p:nvSpPr>
          <p:spPr>
            <a:xfrm>
              <a:off x="1187624" y="3789040"/>
              <a:ext cx="1152128" cy="936104"/>
            </a:xfrm>
            <a:prstGeom prst="cloudCallout">
              <a:avLst>
                <a:gd name="adj1" fmla="val -38701"/>
                <a:gd name="adj2" fmla="val -6807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259632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3327800" y="559970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5 . 2 7</a:t>
            </a:r>
            <a:endParaRPr lang="en-GB" sz="4000" dirty="0">
              <a:latin typeface="+mj-lt"/>
            </a:endParaRPr>
          </a:p>
        </p:txBody>
      </p:sp>
      <p:sp>
        <p:nvSpPr>
          <p:cNvPr id="50" name="Text Box 30"/>
          <p:cNvSpPr txBox="1">
            <a:spLocks noChangeArrowheads="1"/>
          </p:cNvSpPr>
          <p:nvPr/>
        </p:nvSpPr>
        <p:spPr bwMode="auto">
          <a:xfrm>
            <a:off x="689310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115760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52" name="Line 7"/>
          <p:cNvSpPr>
            <a:spLocks noChangeShapeType="1"/>
          </p:cNvSpPr>
          <p:nvPr/>
        </p:nvSpPr>
        <p:spPr bwMode="auto">
          <a:xfrm>
            <a:off x="7740352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6353150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1 . 8 9 7</a:t>
            </a:r>
            <a:endParaRPr lang="en-GB" sz="4000" dirty="0">
              <a:latin typeface="+mj-lt"/>
            </a:endParaRPr>
          </a:p>
        </p:txBody>
      </p:sp>
      <p:grpSp>
        <p:nvGrpSpPr>
          <p:cNvPr id="9" name="Group 70"/>
          <p:cNvGrpSpPr/>
          <p:nvPr/>
        </p:nvGrpSpPr>
        <p:grpSpPr>
          <a:xfrm>
            <a:off x="7596336" y="4723412"/>
            <a:ext cx="1152128" cy="936104"/>
            <a:chOff x="1331640" y="3789040"/>
            <a:chExt cx="1152128" cy="936104"/>
          </a:xfrm>
        </p:grpSpPr>
        <p:sp>
          <p:nvSpPr>
            <p:cNvPr id="55" name="Cloud Callout 54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22993"/>
                <a:gd name="adj2" fmla="val -6501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5940152" y="559970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1 . 9 0</a:t>
            </a:r>
            <a:endParaRPr lang="en-GB" sz="4000" dirty="0">
              <a:latin typeface="+mj-lt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025176" y="419412"/>
            <a:ext cx="720080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8413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 animBg="1"/>
      <p:bldP spid="38" grpId="0" animBg="1"/>
      <p:bldP spid="42" grpId="0"/>
      <p:bldP spid="59" grpId="0" animBg="1"/>
      <p:bldP spid="60" grpId="0" animBg="1"/>
      <p:bldP spid="61" grpId="0"/>
      <p:bldP spid="66" grpId="0"/>
      <p:bldP spid="67" grpId="0" animBg="1"/>
      <p:bldP spid="68" grpId="0" animBg="1"/>
      <p:bldP spid="69" grpId="0" animBg="1"/>
      <p:bldP spid="70" grpId="0"/>
      <p:bldP spid="74" grpId="0"/>
      <p:bldP spid="27" grpId="0" animBg="1"/>
      <p:bldP spid="28" grpId="0" animBg="1"/>
      <p:bldP spid="30" grpId="0" animBg="1"/>
      <p:bldP spid="31" grpId="0"/>
      <p:bldP spid="32" grpId="0" animBg="1"/>
      <p:bldP spid="41" grpId="0"/>
      <p:bldP spid="43" grpId="0" animBg="1"/>
      <p:bldP spid="44" grpId="0" animBg="1"/>
      <p:bldP spid="45" grpId="0"/>
      <p:bldP spid="49" grpId="0"/>
      <p:bldP spid="50" grpId="0" animBg="1"/>
      <p:bldP spid="51" grpId="0" animBg="1"/>
      <p:bldP spid="52" grpId="0" animBg="1"/>
      <p:bldP spid="53" grpId="0"/>
      <p:bldP spid="57" grpId="0"/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66268" y="404664"/>
            <a:ext cx="8626212" cy="609600"/>
          </a:xfrm>
          <a:prstGeom prst="roundRect">
            <a:avLst>
              <a:gd name="adj" fmla="val 21100"/>
            </a:avLst>
          </a:prstGeom>
          <a:solidFill>
            <a:srgbClr val="71A8F9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Rounding to Decimal Places: </a:t>
            </a:r>
            <a:r>
              <a:rPr lang="en-US" sz="2400" b="1" dirty="0" smtClean="0">
                <a:solidFill>
                  <a:schemeClr val="bg1"/>
                </a:solidFill>
              </a:rPr>
              <a:t>3dp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3112" y="1126476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2150622" y="122684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3995936" y="227687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395536" y="123926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</a:t>
            </a:r>
            <a:r>
              <a:rPr lang="en-GB" sz="4000" dirty="0">
                <a:latin typeface="+mj-lt"/>
              </a:rPr>
              <a:t>3 </a:t>
            </a:r>
            <a:r>
              <a:rPr lang="en-GB" sz="4000" dirty="0" smtClean="0">
                <a:latin typeface="+mj-lt"/>
              </a:rPr>
              <a:t>2 5</a:t>
            </a:r>
            <a:endParaRPr lang="en-GB" sz="4000" dirty="0">
              <a:latin typeface="+mj-lt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1043608" y="227687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</a:p>
        </p:txBody>
      </p:sp>
      <p:grpSp>
        <p:nvGrpSpPr>
          <p:cNvPr id="2" name="Group 40"/>
          <p:cNvGrpSpPr/>
          <p:nvPr/>
        </p:nvGrpSpPr>
        <p:grpSpPr>
          <a:xfrm>
            <a:off x="1763688" y="2060848"/>
            <a:ext cx="1152128" cy="936104"/>
            <a:chOff x="1331640" y="3789040"/>
            <a:chExt cx="1152128" cy="936104"/>
          </a:xfrm>
        </p:grpSpPr>
        <p:sp>
          <p:nvSpPr>
            <p:cNvPr id="39" name="Cloud Callout 38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1498"/>
                <a:gd name="adj2" fmla="val -73159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417984" y="286513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4 . 8 3 3</a:t>
            </a:r>
            <a:endParaRPr lang="en-GB" sz="4000" dirty="0">
              <a:latin typeface="+mj-lt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203848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5066531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3316272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4 6 2 </a:t>
            </a:r>
            <a:endParaRPr lang="en-GB" sz="4000" dirty="0">
              <a:latin typeface="+mj-lt"/>
            </a:endParaRPr>
          </a:p>
        </p:txBody>
      </p:sp>
      <p:grpSp>
        <p:nvGrpSpPr>
          <p:cNvPr id="3" name="Group 62"/>
          <p:cNvGrpSpPr/>
          <p:nvPr/>
        </p:nvGrpSpPr>
        <p:grpSpPr>
          <a:xfrm>
            <a:off x="4684424" y="1987108"/>
            <a:ext cx="1152128" cy="936104"/>
            <a:chOff x="1331640" y="3789040"/>
            <a:chExt cx="1152128" cy="936104"/>
          </a:xfrm>
        </p:grpSpPr>
        <p:sp>
          <p:nvSpPr>
            <p:cNvPr id="64" name="Cloud Callout 6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978"/>
                <a:gd name="adj2" fmla="val -6501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3310956" y="286339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4 6</a:t>
            </a:r>
            <a:endParaRPr lang="en-GB" sz="4000" dirty="0">
              <a:latin typeface="+mj-lt"/>
            </a:endParaRPr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6876256" y="227687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098916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9" name="Line 7"/>
          <p:cNvSpPr>
            <a:spLocks noChangeShapeType="1"/>
          </p:cNvSpPr>
          <p:nvPr/>
        </p:nvSpPr>
        <p:spPr bwMode="auto">
          <a:xfrm>
            <a:off x="8114109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70" name="Text Box 4"/>
          <p:cNvSpPr txBox="1">
            <a:spLocks noChangeArrowheads="1"/>
          </p:cNvSpPr>
          <p:nvPr/>
        </p:nvSpPr>
        <p:spPr bwMode="auto">
          <a:xfrm>
            <a:off x="6353150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4 . 8 5 9 5</a:t>
            </a:r>
            <a:endParaRPr lang="en-GB" sz="4000" dirty="0">
              <a:latin typeface="+mj-lt"/>
            </a:endParaRPr>
          </a:p>
        </p:txBody>
      </p:sp>
      <p:grpSp>
        <p:nvGrpSpPr>
          <p:cNvPr id="4" name="Group 70"/>
          <p:cNvGrpSpPr/>
          <p:nvPr/>
        </p:nvGrpSpPr>
        <p:grpSpPr>
          <a:xfrm>
            <a:off x="7579492" y="1987108"/>
            <a:ext cx="1152128" cy="936104"/>
            <a:chOff x="1331640" y="3789040"/>
            <a:chExt cx="1152128" cy="936104"/>
          </a:xfrm>
        </p:grpSpPr>
        <p:sp>
          <p:nvSpPr>
            <p:cNvPr id="72" name="Cloud Callout 71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10076"/>
                <a:gd name="adj2" fmla="val -67053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74" name="Text Box 4"/>
          <p:cNvSpPr txBox="1">
            <a:spLocks noChangeArrowheads="1"/>
          </p:cNvSpPr>
          <p:nvPr/>
        </p:nvSpPr>
        <p:spPr bwMode="auto">
          <a:xfrm>
            <a:off x="5907384" y="2863398"/>
            <a:ext cx="255304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4 . 8 6 0</a:t>
            </a:r>
            <a:endParaRPr lang="en-GB" sz="4000" dirty="0"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99956" y="3862780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2195736" y="396314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401278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412380" y="397556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1 . 6 9 4 2</a:t>
            </a:r>
            <a:endParaRPr lang="en-GB" sz="4000" dirty="0">
              <a:latin typeface="+mj-lt"/>
            </a:endParaRP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1060452" y="5013176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grpSp>
        <p:nvGrpSpPr>
          <p:cNvPr id="7" name="Group 40"/>
          <p:cNvGrpSpPr/>
          <p:nvPr/>
        </p:nvGrpSpPr>
        <p:grpSpPr>
          <a:xfrm>
            <a:off x="1835696" y="4797152"/>
            <a:ext cx="1152128" cy="936104"/>
            <a:chOff x="1331640" y="3789040"/>
            <a:chExt cx="1152128" cy="936104"/>
          </a:xfrm>
        </p:grpSpPr>
        <p:sp>
          <p:nvSpPr>
            <p:cNvPr id="34" name="Cloud Callout 3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631"/>
                <a:gd name="adj2" fmla="val -7315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407064" y="560143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1 . 6 9 4</a:t>
            </a:r>
            <a:endParaRPr lang="en-GB" sz="4000" dirty="0">
              <a:latin typeface="+mj-lt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220692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>
            <a:off x="5085581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45" name="Text Box 4"/>
          <p:cNvSpPr txBox="1">
            <a:spLocks noChangeArrowheads="1"/>
          </p:cNvSpPr>
          <p:nvPr/>
        </p:nvSpPr>
        <p:spPr bwMode="auto">
          <a:xfrm>
            <a:off x="3333116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5 . 2 6 2 7</a:t>
            </a:r>
            <a:endParaRPr lang="en-GB" sz="4000" dirty="0">
              <a:latin typeface="+mj-lt"/>
            </a:endParaRPr>
          </a:p>
        </p:txBody>
      </p:sp>
      <p:grpSp>
        <p:nvGrpSpPr>
          <p:cNvPr id="8" name="Group 62"/>
          <p:cNvGrpSpPr/>
          <p:nvPr/>
        </p:nvGrpSpPr>
        <p:grpSpPr>
          <a:xfrm>
            <a:off x="4716016" y="4725144"/>
            <a:ext cx="1152128" cy="936104"/>
            <a:chOff x="1187624" y="3789040"/>
            <a:chExt cx="1152128" cy="936104"/>
          </a:xfrm>
        </p:grpSpPr>
        <p:sp>
          <p:nvSpPr>
            <p:cNvPr id="47" name="Cloud Callout 46"/>
            <p:cNvSpPr/>
            <p:nvPr/>
          </p:nvSpPr>
          <p:spPr>
            <a:xfrm>
              <a:off x="1187624" y="3789040"/>
              <a:ext cx="1152128" cy="936104"/>
            </a:xfrm>
            <a:prstGeom prst="cloudCallout">
              <a:avLst>
                <a:gd name="adj1" fmla="val -2325"/>
                <a:gd name="adj2" fmla="val -6603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259632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3327800" y="559970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5 . 2 6 3</a:t>
            </a:r>
            <a:endParaRPr lang="en-GB" sz="4000" dirty="0">
              <a:latin typeface="+mj-lt"/>
            </a:endParaRPr>
          </a:p>
        </p:txBody>
      </p:sp>
      <p:sp>
        <p:nvSpPr>
          <p:cNvPr id="50" name="Text Box 30"/>
          <p:cNvSpPr txBox="1">
            <a:spLocks noChangeArrowheads="1"/>
          </p:cNvSpPr>
          <p:nvPr/>
        </p:nvSpPr>
        <p:spPr bwMode="auto">
          <a:xfrm>
            <a:off x="689310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115760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52" name="Line 7"/>
          <p:cNvSpPr>
            <a:spLocks noChangeShapeType="1"/>
          </p:cNvSpPr>
          <p:nvPr/>
        </p:nvSpPr>
        <p:spPr bwMode="auto">
          <a:xfrm>
            <a:off x="8100392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6353150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1 . 9 9 9 9</a:t>
            </a:r>
            <a:endParaRPr lang="en-GB" sz="4000" dirty="0">
              <a:latin typeface="+mj-lt"/>
            </a:endParaRPr>
          </a:p>
        </p:txBody>
      </p:sp>
      <p:grpSp>
        <p:nvGrpSpPr>
          <p:cNvPr id="9" name="Group 70"/>
          <p:cNvGrpSpPr/>
          <p:nvPr/>
        </p:nvGrpSpPr>
        <p:grpSpPr>
          <a:xfrm>
            <a:off x="7596336" y="4723412"/>
            <a:ext cx="1152128" cy="936104"/>
            <a:chOff x="1331640" y="3789040"/>
            <a:chExt cx="1152128" cy="936104"/>
          </a:xfrm>
        </p:grpSpPr>
        <p:sp>
          <p:nvSpPr>
            <p:cNvPr id="55" name="Cloud Callout 54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11730"/>
                <a:gd name="adj2" fmla="val -62983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5940152" y="5599702"/>
            <a:ext cx="252028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2 . 0 0 0</a:t>
            </a:r>
            <a:endParaRPr lang="en-GB" sz="4000" dirty="0">
              <a:latin typeface="+mj-lt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025176" y="419412"/>
            <a:ext cx="720080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38082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 animBg="1"/>
      <p:bldP spid="38" grpId="0" animBg="1"/>
      <p:bldP spid="42" grpId="0"/>
      <p:bldP spid="59" grpId="0" animBg="1"/>
      <p:bldP spid="60" grpId="0" animBg="1"/>
      <p:bldP spid="61" grpId="0"/>
      <p:bldP spid="66" grpId="0"/>
      <p:bldP spid="67" grpId="0" animBg="1"/>
      <p:bldP spid="68" grpId="0" animBg="1"/>
      <p:bldP spid="69" grpId="0" animBg="1"/>
      <p:bldP spid="70" grpId="0"/>
      <p:bldP spid="74" grpId="0"/>
      <p:bldP spid="27" grpId="0" animBg="1"/>
      <p:bldP spid="28" grpId="0" animBg="1"/>
      <p:bldP spid="30" grpId="0" animBg="1"/>
      <p:bldP spid="31" grpId="0"/>
      <p:bldP spid="32" grpId="0" animBg="1"/>
      <p:bldP spid="41" grpId="0"/>
      <p:bldP spid="43" grpId="0" animBg="1"/>
      <p:bldP spid="44" grpId="0" animBg="1"/>
      <p:bldP spid="45" grpId="0"/>
      <p:bldP spid="49" grpId="0"/>
      <p:bldP spid="50" grpId="0" animBg="1"/>
      <p:bldP spid="51" grpId="0" animBg="1"/>
      <p:bldP spid="52" grpId="0" animBg="1"/>
      <p:bldP spid="53" grpId="0"/>
      <p:bldP spid="57" grpId="0"/>
      <p:bldP spid="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6268" y="188640"/>
            <a:ext cx="8626212" cy="609600"/>
          </a:xfrm>
          <a:prstGeom prst="roundRect">
            <a:avLst>
              <a:gd name="adj" fmla="val 21100"/>
            </a:avLst>
          </a:prstGeom>
          <a:solidFill>
            <a:srgbClr val="71A8F9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Rounding to Decimal Places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Text Box 30"/>
          <p:cNvSpPr txBox="1">
            <a:spLocks noChangeArrowheads="1"/>
          </p:cNvSpPr>
          <p:nvPr/>
        </p:nvSpPr>
        <p:spPr bwMode="auto">
          <a:xfrm>
            <a:off x="6876256" y="210509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84168" y="95296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949057" y="102324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196592" y="106575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5 . 2 6 2 7</a:t>
            </a:r>
            <a:endParaRPr lang="en-GB" sz="4000" dirty="0">
              <a:latin typeface="+mj-lt"/>
            </a:endParaRPr>
          </a:p>
        </p:txBody>
      </p:sp>
      <p:grpSp>
        <p:nvGrpSpPr>
          <p:cNvPr id="2" name="Group 62"/>
          <p:cNvGrpSpPr/>
          <p:nvPr/>
        </p:nvGrpSpPr>
        <p:grpSpPr>
          <a:xfrm>
            <a:off x="7579492" y="1817060"/>
            <a:ext cx="1152128" cy="936104"/>
            <a:chOff x="1187624" y="3789040"/>
            <a:chExt cx="1152128" cy="936104"/>
          </a:xfrm>
        </p:grpSpPr>
        <p:sp>
          <p:nvSpPr>
            <p:cNvPr id="10" name="Cloud Callout 9"/>
            <p:cNvSpPr/>
            <p:nvPr/>
          </p:nvSpPr>
          <p:spPr>
            <a:xfrm>
              <a:off x="1187624" y="3789040"/>
              <a:ext cx="1152128" cy="936104"/>
            </a:xfrm>
            <a:prstGeom prst="cloudCallout">
              <a:avLst>
                <a:gd name="adj1" fmla="val -2325"/>
                <a:gd name="adj2" fmla="val -6603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259632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6191276" y="269161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5 . 2 6 3</a:t>
            </a:r>
            <a:endParaRPr lang="en-GB" sz="4000" dirty="0">
              <a:latin typeface="+mj-l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192928" y="93648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14" name="Line 7"/>
          <p:cNvSpPr>
            <a:spLocks noChangeShapeType="1"/>
          </p:cNvSpPr>
          <p:nvPr/>
        </p:nvSpPr>
        <p:spPr bwMode="auto">
          <a:xfrm>
            <a:off x="4685235" y="100676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305352" y="104927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1 . 6 9 4 9</a:t>
            </a:r>
            <a:endParaRPr lang="en-GB" sz="4000" dirty="0">
              <a:latin typeface="+mj-lt"/>
            </a:endParaRPr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3953424" y="2086880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grpSp>
        <p:nvGrpSpPr>
          <p:cNvPr id="3" name="Group 40"/>
          <p:cNvGrpSpPr/>
          <p:nvPr/>
        </p:nvGrpSpPr>
        <p:grpSpPr>
          <a:xfrm>
            <a:off x="4728668" y="1870856"/>
            <a:ext cx="1152128" cy="936104"/>
            <a:chOff x="1331640" y="3789040"/>
            <a:chExt cx="1152128" cy="936104"/>
          </a:xfrm>
        </p:grpSpPr>
        <p:sp>
          <p:nvSpPr>
            <p:cNvPr id="18" name="Cloud Callout 17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7874"/>
                <a:gd name="adj2" fmla="val -7214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3300036" y="267513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1 . 6 9</a:t>
            </a:r>
            <a:endParaRPr lang="en-GB" sz="4000" dirty="0">
              <a:latin typeface="+mj-lt"/>
            </a:endParaRPr>
          </a:p>
        </p:txBody>
      </p:sp>
      <p:sp>
        <p:nvSpPr>
          <p:cNvPr id="21" name="Text Box 30"/>
          <p:cNvSpPr txBox="1">
            <a:spLocks noChangeArrowheads="1"/>
          </p:cNvSpPr>
          <p:nvPr/>
        </p:nvSpPr>
        <p:spPr bwMode="auto">
          <a:xfrm>
            <a:off x="1071372" y="2060848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94032" y="908720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>
            <a:off x="1558584" y="978996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538741" y="102150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4 . 8 5 2</a:t>
            </a:r>
            <a:endParaRPr lang="en-GB" sz="4000" dirty="0">
              <a:latin typeface="+mj-lt"/>
            </a:endParaRPr>
          </a:p>
        </p:txBody>
      </p:sp>
      <p:grpSp>
        <p:nvGrpSpPr>
          <p:cNvPr id="9" name="Group 70"/>
          <p:cNvGrpSpPr/>
          <p:nvPr/>
        </p:nvGrpSpPr>
        <p:grpSpPr>
          <a:xfrm>
            <a:off x="1774608" y="1771084"/>
            <a:ext cx="1152128" cy="936104"/>
            <a:chOff x="1331640" y="3789040"/>
            <a:chExt cx="1152128" cy="936104"/>
          </a:xfrm>
        </p:grpSpPr>
        <p:sp>
          <p:nvSpPr>
            <p:cNvPr id="26" name="Cloud Callout 25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102501" y="263262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4 . 9</a:t>
            </a:r>
            <a:endParaRPr lang="en-GB" sz="4000" dirty="0">
              <a:latin typeface="+mj-lt"/>
            </a:endParaRPr>
          </a:p>
        </p:txBody>
      </p:sp>
      <p:sp>
        <p:nvSpPr>
          <p:cNvPr id="81" name="Rounded Rectangle 80"/>
          <p:cNvSpPr/>
          <p:nvPr/>
        </p:nvSpPr>
        <p:spPr>
          <a:xfrm rot="16200000">
            <a:off x="-863738" y="4906030"/>
            <a:ext cx="2806580" cy="576064"/>
          </a:xfrm>
          <a:prstGeom prst="roundRect">
            <a:avLst>
              <a:gd name="adj" fmla="val 21100"/>
            </a:avLst>
          </a:prstGeom>
          <a:solidFill>
            <a:srgbClr val="93D76E"/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Your Turn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971600" y="3818535"/>
            <a:ext cx="7920880" cy="2775641"/>
          </a:xfrm>
          <a:prstGeom prst="roundRect">
            <a:avLst>
              <a:gd name="adj" fmla="val 4579"/>
            </a:avLst>
          </a:prstGeom>
          <a:solidFill>
            <a:schemeClr val="bg1"/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>
              <a:buClr>
                <a:srgbClr val="008000"/>
              </a:buClr>
            </a:pPr>
            <a:r>
              <a:rPr lang="en-US" sz="2200" dirty="0" smtClean="0">
                <a:solidFill>
                  <a:schemeClr val="tx1"/>
                </a:solidFill>
              </a:rPr>
              <a:t> </a:t>
            </a:r>
          </a:p>
          <a:p>
            <a:pPr marL="176213" indent="-176213">
              <a:buClr>
                <a:srgbClr val="008000"/>
              </a:buClr>
            </a:pPr>
            <a:r>
              <a:rPr lang="en-US" sz="2200" dirty="0" smtClean="0">
                <a:solidFill>
                  <a:schemeClr val="tx1"/>
                </a:solidFill>
              </a:rPr>
              <a:t>	complete</a:t>
            </a:r>
          </a:p>
          <a:p>
            <a:pPr marL="176213" indent="-176213">
              <a:buClr>
                <a:srgbClr val="008000"/>
              </a:buClr>
            </a:pPr>
            <a:r>
              <a:rPr lang="en-US" sz="2200" dirty="0" smtClean="0">
                <a:solidFill>
                  <a:schemeClr val="tx1"/>
                </a:solidFill>
              </a:rPr>
              <a:t>	this table:</a:t>
            </a:r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2555776" y="4077072"/>
          <a:ext cx="6096000" cy="2225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Number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To 1DP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To 2DP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To 3DP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eaLnBrk="1" hangingPunct="1">
                        <a:spcBef>
                          <a:spcPct val="20000"/>
                        </a:spcBef>
                      </a:pPr>
                      <a:r>
                        <a:rPr lang="en-GB" dirty="0" smtClean="0">
                          <a:cs typeface="Arial" charset="0"/>
                        </a:rPr>
                        <a:t>63.4721 </a:t>
                      </a:r>
                      <a:endParaRPr lang="en-GB" dirty="0"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eaLnBrk="1" hangingPunct="1">
                        <a:spcBef>
                          <a:spcPct val="20000"/>
                        </a:spcBef>
                      </a:pPr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charset="0"/>
                        </a:rPr>
                        <a:t>87.6564</a:t>
                      </a:r>
                      <a:endParaRPr lang="en-GB" sz="1600" dirty="0">
                        <a:solidFill>
                          <a:schemeClr val="tx1"/>
                        </a:solidFill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eaLnBrk="1" hangingPunct="1">
                        <a:spcBef>
                          <a:spcPct val="20000"/>
                        </a:spcBef>
                      </a:pPr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charset="0"/>
                        </a:rPr>
                        <a:t>149.9875</a:t>
                      </a:r>
                      <a:endParaRPr lang="en-GB" sz="1600" dirty="0">
                        <a:solidFill>
                          <a:schemeClr val="tx1"/>
                        </a:solidFill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charset="0"/>
                        </a:rPr>
                        <a:t>3.54029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charset="0"/>
                        </a:rPr>
                        <a:t>0.59999</a:t>
                      </a:r>
                      <a:endParaRPr lang="en-GB" sz="1600" dirty="0" smtClean="0">
                        <a:solidFill>
                          <a:schemeClr val="tx1"/>
                        </a:solidFill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0" name="Text Box 39"/>
          <p:cNvSpPr txBox="1">
            <a:spLocks noChangeArrowheads="1"/>
          </p:cNvSpPr>
          <p:nvPr/>
        </p:nvSpPr>
        <p:spPr bwMode="auto">
          <a:xfrm>
            <a:off x="4256971" y="4437112"/>
            <a:ext cx="5934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63.5</a:t>
            </a:r>
          </a:p>
        </p:txBody>
      </p:sp>
      <p:sp>
        <p:nvSpPr>
          <p:cNvPr id="101" name="Text Box 40"/>
          <p:cNvSpPr txBox="1">
            <a:spLocks noChangeArrowheads="1"/>
          </p:cNvSpPr>
          <p:nvPr/>
        </p:nvSpPr>
        <p:spPr bwMode="auto">
          <a:xfrm>
            <a:off x="5733757" y="4437112"/>
            <a:ext cx="7104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63.47</a:t>
            </a:r>
          </a:p>
        </p:txBody>
      </p:sp>
      <p:sp>
        <p:nvSpPr>
          <p:cNvPr id="102" name="Text Box 41"/>
          <p:cNvSpPr txBox="1">
            <a:spLocks noChangeArrowheads="1"/>
          </p:cNvSpPr>
          <p:nvPr/>
        </p:nvSpPr>
        <p:spPr bwMode="auto">
          <a:xfrm>
            <a:off x="7372693" y="4437112"/>
            <a:ext cx="8274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63.472</a:t>
            </a:r>
          </a:p>
        </p:txBody>
      </p:sp>
      <p:sp>
        <p:nvSpPr>
          <p:cNvPr id="103" name="Text Box 43"/>
          <p:cNvSpPr txBox="1">
            <a:spLocks noChangeArrowheads="1"/>
          </p:cNvSpPr>
          <p:nvPr/>
        </p:nvSpPr>
        <p:spPr bwMode="auto">
          <a:xfrm>
            <a:off x="4256971" y="4839664"/>
            <a:ext cx="5934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87.7</a:t>
            </a:r>
          </a:p>
        </p:txBody>
      </p: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5733757" y="4839664"/>
            <a:ext cx="7104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87.66</a:t>
            </a:r>
          </a:p>
        </p:txBody>
      </p:sp>
      <p:sp>
        <p:nvSpPr>
          <p:cNvPr id="105" name="Text Box 45"/>
          <p:cNvSpPr txBox="1">
            <a:spLocks noChangeArrowheads="1"/>
          </p:cNvSpPr>
          <p:nvPr/>
        </p:nvSpPr>
        <p:spPr bwMode="auto">
          <a:xfrm>
            <a:off x="7372693" y="4839664"/>
            <a:ext cx="8274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87.656</a:t>
            </a:r>
          </a:p>
        </p:txBody>
      </p:sp>
      <p:sp>
        <p:nvSpPr>
          <p:cNvPr id="106" name="Text Box 47"/>
          <p:cNvSpPr txBox="1">
            <a:spLocks noChangeArrowheads="1"/>
          </p:cNvSpPr>
          <p:nvPr/>
        </p:nvSpPr>
        <p:spPr bwMode="auto">
          <a:xfrm>
            <a:off x="4139952" y="5186688"/>
            <a:ext cx="7104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150.0</a:t>
            </a:r>
          </a:p>
        </p:txBody>
      </p:sp>
      <p:sp>
        <p:nvSpPr>
          <p:cNvPr id="107" name="Text Box 48"/>
          <p:cNvSpPr txBox="1">
            <a:spLocks noChangeArrowheads="1"/>
          </p:cNvSpPr>
          <p:nvPr/>
        </p:nvSpPr>
        <p:spPr bwMode="auto">
          <a:xfrm>
            <a:off x="5616737" y="5186688"/>
            <a:ext cx="8274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149.99</a:t>
            </a:r>
          </a:p>
        </p:txBody>
      </p:sp>
      <p:sp>
        <p:nvSpPr>
          <p:cNvPr id="108" name="Text Box 49"/>
          <p:cNvSpPr txBox="1">
            <a:spLocks noChangeArrowheads="1"/>
          </p:cNvSpPr>
          <p:nvPr/>
        </p:nvSpPr>
        <p:spPr bwMode="auto">
          <a:xfrm>
            <a:off x="7255675" y="5186688"/>
            <a:ext cx="9444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149.988</a:t>
            </a:r>
          </a:p>
        </p:txBody>
      </p:sp>
      <p:sp>
        <p:nvSpPr>
          <p:cNvPr id="109" name="Text Box 51"/>
          <p:cNvSpPr txBox="1">
            <a:spLocks noChangeArrowheads="1"/>
          </p:cNvSpPr>
          <p:nvPr/>
        </p:nvSpPr>
        <p:spPr bwMode="auto">
          <a:xfrm>
            <a:off x="4373991" y="5574492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3.5</a:t>
            </a:r>
          </a:p>
        </p:txBody>
      </p:sp>
      <p:sp>
        <p:nvSpPr>
          <p:cNvPr id="110" name="Text Box 52"/>
          <p:cNvSpPr txBox="1">
            <a:spLocks noChangeArrowheads="1"/>
          </p:cNvSpPr>
          <p:nvPr/>
        </p:nvSpPr>
        <p:spPr bwMode="auto">
          <a:xfrm>
            <a:off x="5850776" y="5574492"/>
            <a:ext cx="5934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3.54</a:t>
            </a:r>
          </a:p>
        </p:txBody>
      </p:sp>
      <p:sp>
        <p:nvSpPr>
          <p:cNvPr id="111" name="Text Box 53"/>
          <p:cNvSpPr txBox="1">
            <a:spLocks noChangeArrowheads="1"/>
          </p:cNvSpPr>
          <p:nvPr/>
        </p:nvSpPr>
        <p:spPr bwMode="auto">
          <a:xfrm>
            <a:off x="7489713" y="5574492"/>
            <a:ext cx="7104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3.540</a:t>
            </a:r>
          </a:p>
        </p:txBody>
      </p:sp>
      <p:sp>
        <p:nvSpPr>
          <p:cNvPr id="112" name="Text Box 55"/>
          <p:cNvSpPr txBox="1">
            <a:spLocks noChangeArrowheads="1"/>
          </p:cNvSpPr>
          <p:nvPr/>
        </p:nvSpPr>
        <p:spPr bwMode="auto">
          <a:xfrm>
            <a:off x="4373991" y="5919784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0.6</a:t>
            </a:r>
          </a:p>
        </p:txBody>
      </p:sp>
      <p:sp>
        <p:nvSpPr>
          <p:cNvPr id="113" name="Text Box 56"/>
          <p:cNvSpPr txBox="1">
            <a:spLocks noChangeArrowheads="1"/>
          </p:cNvSpPr>
          <p:nvPr/>
        </p:nvSpPr>
        <p:spPr bwMode="auto">
          <a:xfrm>
            <a:off x="5850776" y="5919784"/>
            <a:ext cx="5934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0.60</a:t>
            </a:r>
          </a:p>
        </p:txBody>
      </p:sp>
      <p:sp>
        <p:nvSpPr>
          <p:cNvPr id="114" name="Text Box 57"/>
          <p:cNvSpPr txBox="1">
            <a:spLocks noChangeArrowheads="1"/>
          </p:cNvSpPr>
          <p:nvPr/>
        </p:nvSpPr>
        <p:spPr bwMode="auto">
          <a:xfrm>
            <a:off x="7489713" y="5919784"/>
            <a:ext cx="7104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0.600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16416" y="936484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3dp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5436096" y="908720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2dp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511532" y="893972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1dp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13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Remember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219200" y="1752600"/>
            <a:ext cx="7391400" cy="295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/>
              <a:t>If you are asked to round to the nearest </a:t>
            </a:r>
            <a:r>
              <a:rPr lang="en-US" altLang="en-US" sz="4000" dirty="0" smtClean="0"/>
              <a:t>tenth (or to 1 </a:t>
            </a:r>
            <a:r>
              <a:rPr lang="en-US" altLang="en-US" sz="4000" dirty="0" err="1" smtClean="0"/>
              <a:t>dp</a:t>
            </a:r>
            <a:r>
              <a:rPr lang="en-US" altLang="en-US" sz="4000" dirty="0" smtClean="0"/>
              <a:t>)…….your </a:t>
            </a:r>
            <a:r>
              <a:rPr lang="en-US" altLang="en-US" sz="4000" dirty="0"/>
              <a:t>answer </a:t>
            </a:r>
            <a:r>
              <a:rPr lang="en-US" altLang="en-US" sz="6600" dirty="0">
                <a:solidFill>
                  <a:srgbClr val="FF0000"/>
                </a:solidFill>
              </a:rPr>
              <a:t>stops</a:t>
            </a:r>
            <a:r>
              <a:rPr lang="en-US" altLang="en-US" sz="4000" dirty="0"/>
              <a:t> at the </a:t>
            </a:r>
            <a:r>
              <a:rPr lang="en-US" altLang="en-US" sz="4000" dirty="0" smtClean="0"/>
              <a:t>tenths </a:t>
            </a:r>
            <a:r>
              <a:rPr lang="en-US" altLang="en-US" sz="4000" dirty="0"/>
              <a:t>place!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066800" y="4876800"/>
            <a:ext cx="70866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/>
              <a:t>Example: Round 42.73 to the closest tenth would be 42.7</a:t>
            </a: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Special Case!</a:t>
            </a:r>
            <a:br>
              <a:rPr lang="en-US" altLang="en-US" smtClean="0"/>
            </a:br>
            <a:r>
              <a:rPr lang="en-US" altLang="en-US" smtClean="0"/>
              <a:t>Rounding a 9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143000" y="2438400"/>
            <a:ext cx="42672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/>
              <a:t>Round 2.197 to the closes hundredths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066800" y="4114800"/>
            <a:ext cx="723900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/>
              <a:t>Since there is a “9” in the hundredths place consider the tenth and hundredths together – 19 – do you leave it at 19 or move it to 20?</a:t>
            </a: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143000" y="914400"/>
            <a:ext cx="678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/>
              <a:t>Round 4.95 to the closest tenth</a:t>
            </a: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1066800" y="1981200"/>
            <a:ext cx="6858000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/>
              <a:t>Since there is a “9” in the tenth spot consider the ones and tenths together…… should you leave it at 49 or move it to 50?</a:t>
            </a:r>
          </a:p>
        </p:txBody>
      </p:sp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990600" y="4876800"/>
            <a:ext cx="71628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/>
              <a:t>4.95 rounded to the nearest tenth is 5.0</a:t>
            </a: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735</Words>
  <Application>Microsoft Office PowerPoint</Application>
  <PresentationFormat>On-screen Show (4:3)</PresentationFormat>
  <Paragraphs>173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ＭＳ Ｐゴシック</vt:lpstr>
      <vt:lpstr>Arial</vt:lpstr>
      <vt:lpstr>Calibri</vt:lpstr>
      <vt:lpstr>Times New Roman</vt:lpstr>
      <vt:lpstr>Wingdings</vt:lpstr>
      <vt:lpstr>Default Design</vt:lpstr>
      <vt:lpstr>Office Theme</vt:lpstr>
      <vt:lpstr>Rounding Decimal Numbers</vt:lpstr>
      <vt:lpstr>PowerPoint Presentation</vt:lpstr>
      <vt:lpstr>PowerPoint Presentation</vt:lpstr>
      <vt:lpstr>PowerPoint Presentation</vt:lpstr>
      <vt:lpstr>PowerPoint Presentation</vt:lpstr>
      <vt:lpstr>The rounding poem</vt:lpstr>
      <vt:lpstr>PowerPoint Presentation</vt:lpstr>
      <vt:lpstr>PowerPoint Presentation</vt:lpstr>
      <vt:lpstr>PowerPoint Presentation</vt:lpstr>
      <vt:lpstr>PowerPoint Presentation</vt:lpstr>
      <vt:lpstr>Remember</vt:lpstr>
      <vt:lpstr>Special Case! Rounding a 9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Rounding Decimal Numbers</dc:title>
  <dc:subject/>
  <dc:creator>E4038674</dc:creator>
  <cp:keywords/>
  <dc:description/>
  <cp:lastModifiedBy>KEEN Stephanie [Baldivis Secondary College]</cp:lastModifiedBy>
  <cp:revision>11</cp:revision>
  <dcterms:created xsi:type="dcterms:W3CDTF">2005-10-10T16:56:38Z</dcterms:created>
  <dcterms:modified xsi:type="dcterms:W3CDTF">2019-02-24T04:13:30Z</dcterms:modified>
  <cp:category/>
</cp:coreProperties>
</file>
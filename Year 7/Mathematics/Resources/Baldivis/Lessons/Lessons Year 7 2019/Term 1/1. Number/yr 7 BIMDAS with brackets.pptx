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5BB6-CC67-4F3C-B014-440C66238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EA72C1-22B7-4EB2-A4C5-435019842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0C31B-E1CC-46AD-99F7-D935A3C6B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7345-F912-4CBB-8358-1347CF968A5C}" type="datetimeFigureOut">
              <a:rPr lang="en-AU" smtClean="0"/>
              <a:t>23/02/2019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1A14D-0C9B-48D0-8F18-E8682F3C0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FBD76-82DA-45B1-A7E2-9BE7461B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EF052-7E13-402F-B523-30CED6E7DB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637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7B4C-705F-466C-A7DE-2B4533425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4649E-A3E6-4EB9-AE3C-C628E642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FF27C-BCF7-465A-B435-A175E1021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7345-F912-4CBB-8358-1347CF968A5C}" type="datetimeFigureOut">
              <a:rPr lang="en-AU" smtClean="0"/>
              <a:t>23/02/2019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25F52-DE60-487B-B7D3-93DF2A1F3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6E8EB-1E05-4525-9BC2-6B19B31F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EF052-7E13-402F-B523-30CED6E7DB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7184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13EDA-9A81-47AB-8D1E-34E3BE8E3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16E46-42F7-4352-A23F-217FC12C5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77ACC-EF1C-4BA3-92ED-5DF86DAF3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7345-F912-4CBB-8358-1347CF968A5C}" type="datetimeFigureOut">
              <a:rPr lang="en-AU" smtClean="0"/>
              <a:t>23/02/2019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DB8E3-ACC5-4E4C-9F04-231C25ED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28FED-647C-4AC4-B1FD-5B9F8D23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EF052-7E13-402F-B523-30CED6E7DB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920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03E66-C353-42FE-B903-5E176AD5A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62C84-32B0-4B52-AC04-D8B4AEDCC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E3BD6-899E-4AF9-8510-C3CFDE066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5D04C-1458-44D1-9E21-854DF6E8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7345-F912-4CBB-8358-1347CF968A5C}" type="datetimeFigureOut">
              <a:rPr lang="en-AU" smtClean="0"/>
              <a:t>23/02/2019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522EE-A9C3-459A-BC74-93C1BE4E3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34706-C869-4109-8939-7E24EEF29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EF052-7E13-402F-B523-30CED6E7DB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7970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F7B43-A675-4BBC-861D-14D4DD60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79DF0-0940-4B88-8036-2C626786B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053F1-31F0-419C-82CA-571065EBE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AD59DF-BEBB-4BDD-A064-F6A979367C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0FAAB4-FA26-4849-894B-A183273BE7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F1CB89-E303-47D2-A26A-08A8E57FC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7345-F912-4CBB-8358-1347CF968A5C}" type="datetimeFigureOut">
              <a:rPr lang="en-AU" smtClean="0"/>
              <a:t>23/02/2019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EFCCD1-6BF0-4144-A4CF-1E1377B9F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7D2FBA-46AA-4172-A4CC-6E3C22139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EF052-7E13-402F-B523-30CED6E7DB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967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B316A-C727-4730-8787-646FD6F08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D07854-3633-43A3-8E64-A3139B7C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7345-F912-4CBB-8358-1347CF968A5C}" type="datetimeFigureOut">
              <a:rPr lang="en-AU" smtClean="0"/>
              <a:t>23/02/2019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DF338-4EC9-4FE1-8126-9EC6739EF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D354F-A917-4CB4-92FD-A3BA67C8C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EF052-7E13-402F-B523-30CED6E7DB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5622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37F3AA-F827-4191-AA96-DF419E907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7345-F912-4CBB-8358-1347CF968A5C}" type="datetimeFigureOut">
              <a:rPr lang="en-AU" smtClean="0"/>
              <a:t>23/02/2019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0A426-55F6-4694-9F66-B91DBD4C1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30449-26C2-4B63-86AD-6D4EEE297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EF052-7E13-402F-B523-30CED6E7DB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5490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8BAF6-2F51-43D7-ADF8-6DF660EF6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67AFE-6A35-4B1A-B598-FFEFC0546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006D90-3513-4486-9258-83A2ACB01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33839-71BE-4860-95B5-BCC8E2E0E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7345-F912-4CBB-8358-1347CF968A5C}" type="datetimeFigureOut">
              <a:rPr lang="en-AU" smtClean="0"/>
              <a:t>23/02/2019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A9E49-26F7-4686-8705-0A44E7F9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F1BF9-4581-44C2-8F3E-05958A320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EF052-7E13-402F-B523-30CED6E7DB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2091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22E1E-115F-4457-80FC-F3A3683FD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6E9021-8F05-41E7-95AF-534371544E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1FAF9-13A2-4AEA-BE0C-C1606EC18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B5614-FC8B-47F9-A76B-77FF23EC7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7345-F912-4CBB-8358-1347CF968A5C}" type="datetimeFigureOut">
              <a:rPr lang="en-AU" smtClean="0"/>
              <a:t>23/02/2019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26202-5A2E-4999-9989-5DBA24D4F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E4AD9-F41D-4FAB-8E7E-4F31A1E5C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EF052-7E13-402F-B523-30CED6E7DB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0609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3616-0F99-4F8A-80B0-8F008775C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E2B27-4E40-4932-BBF4-6C157B667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2C4B3-8DA9-4032-A309-9448A6DC9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7345-F912-4CBB-8358-1347CF968A5C}" type="datetimeFigureOut">
              <a:rPr lang="en-AU" smtClean="0"/>
              <a:t>23/02/2019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D16F0-C0E3-434F-9F53-8D81C3FBA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567B2-06DA-409C-8251-3671C6B5E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EF052-7E13-402F-B523-30CED6E7DB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5385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C2731F-F9B4-461E-8082-9F477F0E96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20606-FD46-4FCB-B88E-A6F8595E3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8E226-9E59-4B26-AD49-2221829F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7345-F912-4CBB-8358-1347CF968A5C}" type="datetimeFigureOut">
              <a:rPr lang="en-AU" smtClean="0"/>
              <a:t>23/02/2019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D8675-B15F-4715-9354-62D1C4F62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C7412-870C-4189-9E44-68215F55D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EF052-7E13-402F-B523-30CED6E7DB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3136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04F10A-28F0-4430-BEDE-3D346A47B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E8CF5-7F75-4EC7-BA67-154682467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B1085-1BE0-42AC-B4BC-81091A02E4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B7345-F912-4CBB-8358-1347CF968A5C}" type="datetimeFigureOut">
              <a:rPr lang="en-AU" smtClean="0"/>
              <a:t>23/02/2019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903D8-06BC-4A45-BC69-4360ECC9BC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ED305-AF5B-43E4-8DD0-C1F0CB351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EF052-7E13-402F-B523-30CED6E7DB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2530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2F425-F90F-46D1-918F-00CFBD88F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423116"/>
            <a:ext cx="9144000" cy="948484"/>
          </a:xfrm>
        </p:spPr>
        <p:txBody>
          <a:bodyPr/>
          <a:lstStyle/>
          <a:p>
            <a:r>
              <a:rPr lang="en-AU" dirty="0"/>
              <a:t>BIMDAS with brackets</a:t>
            </a:r>
          </a:p>
        </p:txBody>
      </p:sp>
    </p:spTree>
    <p:extLst>
      <p:ext uri="{BB962C8B-B14F-4D97-AF65-F5344CB8AC3E}">
        <p14:creationId xmlns:p14="http://schemas.microsoft.com/office/powerpoint/2010/main" val="1419198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C0390D-A513-4C42-81BA-D0925B42AD8E}"/>
              </a:ext>
            </a:extLst>
          </p:cNvPr>
          <p:cNvSpPr txBox="1"/>
          <p:nvPr/>
        </p:nvSpPr>
        <p:spPr>
          <a:xfrm>
            <a:off x="788894" y="502024"/>
            <a:ext cx="101928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Starter</a:t>
            </a:r>
          </a:p>
          <a:p>
            <a:r>
              <a:rPr lang="en-AU" sz="2400" dirty="0"/>
              <a:t>Use a multiplication strategy to multiply the following.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A394F5-1728-4BE5-9BC8-1BD029FBBD10}"/>
              </a:ext>
            </a:extLst>
          </p:cNvPr>
          <p:cNvSpPr txBox="1"/>
          <p:nvPr/>
        </p:nvSpPr>
        <p:spPr>
          <a:xfrm>
            <a:off x="1021976" y="1532965"/>
            <a:ext cx="1550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21 x 45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4D1ED1-4FCF-43EA-8CDE-F1C82EEF374B}"/>
              </a:ext>
            </a:extLst>
          </p:cNvPr>
          <p:cNvSpPr txBox="1"/>
          <p:nvPr/>
        </p:nvSpPr>
        <p:spPr>
          <a:xfrm>
            <a:off x="4592174" y="1532965"/>
            <a:ext cx="1550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342 x 23 =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4B151C-CB2A-47A2-874B-98E36590A5B5}"/>
              </a:ext>
            </a:extLst>
          </p:cNvPr>
          <p:cNvSpPr txBox="1"/>
          <p:nvPr/>
        </p:nvSpPr>
        <p:spPr>
          <a:xfrm>
            <a:off x="8915402" y="1532965"/>
            <a:ext cx="1833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2.3 x 4.1 = </a:t>
            </a:r>
          </a:p>
        </p:txBody>
      </p:sp>
    </p:spTree>
    <p:extLst>
      <p:ext uri="{BB962C8B-B14F-4D97-AF65-F5344CB8AC3E}">
        <p14:creationId xmlns:p14="http://schemas.microsoft.com/office/powerpoint/2010/main" val="623509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31C1-8B0D-4C09-8DDE-49C9F9FCA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77" y="383053"/>
            <a:ext cx="10515600" cy="5650193"/>
          </a:xfrm>
        </p:spPr>
        <p:txBody>
          <a:bodyPr>
            <a:normAutofit/>
          </a:bodyPr>
          <a:lstStyle/>
          <a:p>
            <a:pPr algn="ctr"/>
            <a:r>
              <a:rPr lang="en-AU" sz="2400" dirty="0"/>
              <a:t>Last lesson we looked at the order we do Multiplication, Division, Subtraction and when completing sums.</a:t>
            </a:r>
            <a:br>
              <a:rPr lang="en-AU" sz="2400" dirty="0"/>
            </a:br>
            <a:br>
              <a:rPr lang="en-AU" sz="2400" dirty="0"/>
            </a:br>
            <a:r>
              <a:rPr lang="en-AU" sz="2400" dirty="0"/>
              <a:t>Let’s start by creating our summary for last lesson.</a:t>
            </a:r>
            <a:br>
              <a:rPr lang="en-AU" sz="2400" dirty="0"/>
            </a:br>
            <a:br>
              <a:rPr lang="en-AU" sz="2400" dirty="0"/>
            </a:br>
            <a:r>
              <a:rPr lang="en-AU" sz="2800" b="1" dirty="0"/>
              <a:t>EQ: What is the correct order to do sums?</a:t>
            </a:r>
            <a:br>
              <a:rPr lang="en-AU" sz="2400" b="1" dirty="0"/>
            </a:br>
            <a:br>
              <a:rPr lang="en-AU" sz="2400" dirty="0"/>
            </a:br>
            <a:r>
              <a:rPr lang="en-AU" sz="2400" dirty="0"/>
              <a:t>Try to come up with 1 sentence that explains what order you do Multiplication, Division, Subtraction and Addition.</a:t>
            </a:r>
            <a:br>
              <a:rPr lang="en-AU" sz="2400" dirty="0"/>
            </a:br>
            <a:br>
              <a:rPr lang="en-AU" sz="2400" dirty="0"/>
            </a:br>
            <a:r>
              <a:rPr lang="en-AU" sz="2400" dirty="0"/>
              <a:t>Be prepared to share your sentence.</a:t>
            </a:r>
            <a:br>
              <a:rPr lang="en-AU" sz="2400" dirty="0"/>
            </a:br>
            <a:br>
              <a:rPr lang="en-AU" sz="2400" dirty="0"/>
            </a:br>
            <a:br>
              <a:rPr lang="en-AU" sz="2400" dirty="0"/>
            </a:br>
            <a:endParaRPr lang="en-AU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7DEDF4-942F-4044-A4A3-948FD8AC9FEB}"/>
              </a:ext>
            </a:extLst>
          </p:cNvPr>
          <p:cNvSpPr/>
          <p:nvPr/>
        </p:nvSpPr>
        <p:spPr>
          <a:xfrm>
            <a:off x="1676401" y="4504330"/>
            <a:ext cx="95563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/>
              <a:t>Now show your sentence to your neighbour.  Are they similar?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1C1805-4E0B-4FCA-A825-164CD829442F}"/>
              </a:ext>
            </a:extLst>
          </p:cNvPr>
          <p:cNvSpPr/>
          <p:nvPr/>
        </p:nvSpPr>
        <p:spPr>
          <a:xfrm>
            <a:off x="2028266" y="4998213"/>
            <a:ext cx="7868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/>
              <a:t>Are you ready to share your sentence with the class?</a:t>
            </a:r>
          </a:p>
        </p:txBody>
      </p:sp>
    </p:spTree>
    <p:extLst>
      <p:ext uri="{BB962C8B-B14F-4D97-AF65-F5344CB8AC3E}">
        <p14:creationId xmlns:p14="http://schemas.microsoft.com/office/powerpoint/2010/main" val="262017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5D05C5-5448-46FB-B782-29FB27EA7A8E}"/>
              </a:ext>
            </a:extLst>
          </p:cNvPr>
          <p:cNvSpPr txBox="1"/>
          <p:nvPr/>
        </p:nvSpPr>
        <p:spPr>
          <a:xfrm>
            <a:off x="556968" y="70393"/>
            <a:ext cx="9055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Brackets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3D6AB-48C8-4558-8C74-447BA77BBA05}"/>
              </a:ext>
            </a:extLst>
          </p:cNvPr>
          <p:cNvSpPr txBox="1"/>
          <p:nvPr/>
        </p:nvSpPr>
        <p:spPr>
          <a:xfrm>
            <a:off x="530942" y="634803"/>
            <a:ext cx="9055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do we use brackets in an equation?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621C33-D93D-476A-8DD7-6E101F5A9EE8}"/>
              </a:ext>
            </a:extLst>
          </p:cNvPr>
          <p:cNvCxnSpPr>
            <a:cxnSpLocks/>
          </p:cNvCxnSpPr>
          <p:nvPr/>
        </p:nvCxnSpPr>
        <p:spPr>
          <a:xfrm>
            <a:off x="0" y="63480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63A097-E9B9-481D-BC65-43B885E6DAAE}"/>
              </a:ext>
            </a:extLst>
          </p:cNvPr>
          <p:cNvCxnSpPr/>
          <p:nvPr/>
        </p:nvCxnSpPr>
        <p:spPr>
          <a:xfrm>
            <a:off x="0" y="1096468"/>
            <a:ext cx="122952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0B9291-8ED0-4362-AED8-BDCB338AA9A9}"/>
              </a:ext>
            </a:extLst>
          </p:cNvPr>
          <p:cNvCxnSpPr>
            <a:cxnSpLocks/>
          </p:cNvCxnSpPr>
          <p:nvPr/>
        </p:nvCxnSpPr>
        <p:spPr>
          <a:xfrm flipV="1">
            <a:off x="1784555" y="1096469"/>
            <a:ext cx="0" cy="57615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BD3738-3F0B-4962-9BD7-84BAC049B355}"/>
              </a:ext>
            </a:extLst>
          </p:cNvPr>
          <p:cNvCxnSpPr>
            <a:cxnSpLocks/>
          </p:cNvCxnSpPr>
          <p:nvPr/>
        </p:nvCxnSpPr>
        <p:spPr>
          <a:xfrm flipV="1">
            <a:off x="6096000" y="2218181"/>
            <a:ext cx="0" cy="46398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0B4943C-4B93-4E90-BFAB-0C5E0E340FAA}"/>
              </a:ext>
            </a:extLst>
          </p:cNvPr>
          <p:cNvSpPr txBox="1"/>
          <p:nvPr/>
        </p:nvSpPr>
        <p:spPr>
          <a:xfrm>
            <a:off x="2099188" y="1151416"/>
            <a:ext cx="8757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Brackets are used to force us to do a particular part of a sum first.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327F7B-0272-47C7-9213-AA7C1E9D4E1A}"/>
              </a:ext>
            </a:extLst>
          </p:cNvPr>
          <p:cNvSpPr txBox="1"/>
          <p:nvPr/>
        </p:nvSpPr>
        <p:spPr>
          <a:xfrm>
            <a:off x="1862619" y="2028581"/>
            <a:ext cx="430318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/>
              <a:t>Order of Operations / BIMDAS</a:t>
            </a:r>
          </a:p>
          <a:p>
            <a:endParaRPr lang="en-AU" sz="2400" dirty="0"/>
          </a:p>
          <a:p>
            <a:r>
              <a:rPr lang="en-AU" sz="2400" dirty="0"/>
              <a:t>1. </a:t>
            </a:r>
            <a:r>
              <a:rPr lang="en-AU" sz="2400" b="1" u="sng" dirty="0"/>
              <a:t>B</a:t>
            </a:r>
            <a:r>
              <a:rPr lang="en-AU" sz="2400" dirty="0"/>
              <a:t>rackets</a:t>
            </a:r>
          </a:p>
          <a:p>
            <a:endParaRPr lang="en-AU" sz="2400" dirty="0"/>
          </a:p>
          <a:p>
            <a:r>
              <a:rPr lang="en-AU" sz="2400" dirty="0"/>
              <a:t>2. </a:t>
            </a:r>
            <a:r>
              <a:rPr lang="en-AU" sz="2400" b="1" u="sng" dirty="0" err="1"/>
              <a:t>I</a:t>
            </a:r>
            <a:r>
              <a:rPr lang="en-AU" sz="2400" dirty="0" err="1"/>
              <a:t>ndicies</a:t>
            </a:r>
            <a:r>
              <a:rPr lang="en-AU" sz="2400" dirty="0"/>
              <a:t> </a:t>
            </a:r>
            <a:r>
              <a:rPr lang="en-AU" sz="2000" dirty="0">
                <a:solidFill>
                  <a:schemeClr val="bg1"/>
                </a:solidFill>
                <a:highlight>
                  <a:srgbClr val="000080"/>
                </a:highlight>
              </a:rPr>
              <a:t>(we’ll look at these later)</a:t>
            </a:r>
            <a:endParaRPr lang="en-AU" sz="2400" dirty="0">
              <a:solidFill>
                <a:schemeClr val="bg1"/>
              </a:solidFill>
              <a:highlight>
                <a:srgbClr val="000080"/>
              </a:highlight>
            </a:endParaRPr>
          </a:p>
          <a:p>
            <a:endParaRPr lang="en-AU" sz="2400" dirty="0"/>
          </a:p>
          <a:p>
            <a:r>
              <a:rPr lang="en-AU" sz="2400" dirty="0"/>
              <a:t>3. </a:t>
            </a:r>
            <a:r>
              <a:rPr lang="en-AU" sz="2400" b="1" u="sng" dirty="0"/>
              <a:t>M</a:t>
            </a:r>
            <a:r>
              <a:rPr lang="en-AU" sz="2400" dirty="0"/>
              <a:t>ultiply and  </a:t>
            </a:r>
            <a:r>
              <a:rPr lang="en-AU" sz="2400" b="1" u="sng" dirty="0"/>
              <a:t>D</a:t>
            </a:r>
            <a:r>
              <a:rPr lang="en-AU" sz="2400" dirty="0"/>
              <a:t>ivide </a:t>
            </a:r>
          </a:p>
          <a:p>
            <a:r>
              <a:rPr lang="en-AU" sz="2400" dirty="0"/>
              <a:t>                   (from left to right)</a:t>
            </a:r>
          </a:p>
          <a:p>
            <a:endParaRPr lang="en-AU" sz="2400" b="1" u="sng" dirty="0"/>
          </a:p>
          <a:p>
            <a:r>
              <a:rPr lang="en-AU" sz="2400" dirty="0"/>
              <a:t>4. </a:t>
            </a:r>
            <a:r>
              <a:rPr lang="en-AU" sz="2400" b="1" u="sng" dirty="0"/>
              <a:t>A</a:t>
            </a:r>
            <a:r>
              <a:rPr lang="en-AU" sz="2400" dirty="0"/>
              <a:t>dd and </a:t>
            </a:r>
            <a:r>
              <a:rPr lang="en-AU" sz="2400" b="1" u="sng" dirty="0"/>
              <a:t>S</a:t>
            </a:r>
            <a:r>
              <a:rPr lang="en-AU" sz="2400" dirty="0"/>
              <a:t>ubtract </a:t>
            </a:r>
          </a:p>
          <a:p>
            <a:r>
              <a:rPr lang="en-AU" sz="2400" dirty="0"/>
              <a:t>                    (from left to right)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CB7593-F911-49F8-96E8-D764DE2509F3}"/>
                  </a:ext>
                </a:extLst>
              </p:cNvPr>
              <p:cNvSpPr txBox="1"/>
              <p:nvPr/>
            </p:nvSpPr>
            <p:spPr>
              <a:xfrm>
                <a:off x="6423637" y="2759246"/>
                <a:ext cx="562320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6+18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÷3 −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2+10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CB7593-F911-49F8-96E8-D764DE250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637" y="2759246"/>
                <a:ext cx="5623206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39B838-5BA4-49D4-B7F2-1C041E406404}"/>
                  </a:ext>
                </a:extLst>
              </p:cNvPr>
              <p:cNvSpPr txBox="1"/>
              <p:nvPr/>
            </p:nvSpPr>
            <p:spPr>
              <a:xfrm>
                <a:off x="7352278" y="4804147"/>
                <a:ext cx="360996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−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39B838-5BA4-49D4-B7F2-1C041E406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278" y="4804147"/>
                <a:ext cx="3609963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F74306-6C21-4756-BF2F-155E2D9F4656}"/>
                  </a:ext>
                </a:extLst>
              </p:cNvPr>
              <p:cNvSpPr txBox="1"/>
              <p:nvPr/>
            </p:nvSpPr>
            <p:spPr>
              <a:xfrm>
                <a:off x="7773397" y="5713682"/>
                <a:ext cx="224741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F74306-6C21-4756-BF2F-155E2D9F4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3397" y="5713682"/>
                <a:ext cx="224741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62302E1-F581-4796-8808-77E4628CBD1E}"/>
                  </a:ext>
                </a:extLst>
              </p:cNvPr>
              <p:cNvSpPr txBox="1"/>
              <p:nvPr/>
            </p:nvSpPr>
            <p:spPr>
              <a:xfrm>
                <a:off x="10108628" y="5706584"/>
                <a:ext cx="61395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38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62302E1-F581-4796-8808-77E4628CB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8628" y="5706584"/>
                <a:ext cx="613951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93767B-D34F-48BD-AED6-E5F3805E677D}"/>
                  </a:ext>
                </a:extLst>
              </p:cNvPr>
              <p:cNvSpPr txBox="1"/>
              <p:nvPr/>
            </p:nvSpPr>
            <p:spPr>
              <a:xfrm>
                <a:off x="7135072" y="4221448"/>
                <a:ext cx="404437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×24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÷3 −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93767B-D34F-48BD-AED6-E5F3805E6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072" y="4221448"/>
                <a:ext cx="4044377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CDE6F4C3-9F1B-48FB-86F7-94EA1650374B}"/>
              </a:ext>
            </a:extLst>
          </p:cNvPr>
          <p:cNvSpPr txBox="1"/>
          <p:nvPr/>
        </p:nvSpPr>
        <p:spPr>
          <a:xfrm>
            <a:off x="76196" y="-9919"/>
            <a:ext cx="6145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24</a:t>
            </a:r>
          </a:p>
          <a:p>
            <a:r>
              <a:rPr lang="en-AU" sz="1400" dirty="0"/>
              <a:t>7</a:t>
            </a:r>
          </a:p>
          <a:p>
            <a:r>
              <a:rPr lang="en-AU" sz="1400" dirty="0"/>
              <a:t>30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0CEB42-CDB5-45E5-8636-7C9FE135DBCD}"/>
              </a:ext>
            </a:extLst>
          </p:cNvPr>
          <p:cNvSpPr txBox="1"/>
          <p:nvPr/>
        </p:nvSpPr>
        <p:spPr>
          <a:xfrm>
            <a:off x="9464540" y="83787"/>
            <a:ext cx="2149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E9FEBA-A556-4970-B499-627CDA81441C}"/>
              </a:ext>
            </a:extLst>
          </p:cNvPr>
          <p:cNvSpPr txBox="1"/>
          <p:nvPr/>
        </p:nvSpPr>
        <p:spPr>
          <a:xfrm>
            <a:off x="6732496" y="2026422"/>
            <a:ext cx="5181586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This is the same sum as last lesson but with brackets added. Compare today’s answer with last lesson.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809969-832D-4880-B65E-9253CF93F8AC}"/>
              </a:ext>
            </a:extLst>
          </p:cNvPr>
          <p:cNvSpPr txBox="1"/>
          <p:nvPr/>
        </p:nvSpPr>
        <p:spPr>
          <a:xfrm>
            <a:off x="7189277" y="3428366"/>
            <a:ext cx="3935963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Additions normally happen last but the brackets tell us we must do them first. </a:t>
            </a: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8219A65D-46DE-44AA-8717-F75C3EB4788F}"/>
              </a:ext>
            </a:extLst>
          </p:cNvPr>
          <p:cNvSpPr/>
          <p:nvPr/>
        </p:nvSpPr>
        <p:spPr>
          <a:xfrm rot="16200000">
            <a:off x="7823181" y="2654389"/>
            <a:ext cx="204742" cy="1343207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6788FBEE-BBF5-4BB9-BB57-7CEE5B772C69}"/>
              </a:ext>
            </a:extLst>
          </p:cNvPr>
          <p:cNvSpPr/>
          <p:nvPr/>
        </p:nvSpPr>
        <p:spPr>
          <a:xfrm rot="16200000">
            <a:off x="10620208" y="2624465"/>
            <a:ext cx="204742" cy="1343207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069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7" grpId="0"/>
      <p:bldP spid="18" grpId="0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7BB6C-7B89-43BF-B546-9D64428FA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313" y="544088"/>
            <a:ext cx="10515600" cy="576169"/>
          </a:xfrm>
        </p:spPr>
        <p:txBody>
          <a:bodyPr>
            <a:normAutofit fontScale="90000"/>
          </a:bodyPr>
          <a:lstStyle/>
          <a:p>
            <a:r>
              <a:rPr lang="en-AU" dirty="0"/>
              <a:t>Nested brackets (brackets inside of brackets)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942AD0-8CB8-4A0C-B87A-4C9C3469FAB2}"/>
              </a:ext>
            </a:extLst>
          </p:cNvPr>
          <p:cNvSpPr txBox="1"/>
          <p:nvPr/>
        </p:nvSpPr>
        <p:spPr>
          <a:xfrm>
            <a:off x="1398493" y="1048870"/>
            <a:ext cx="8068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When we have brackets inside of brackets – do the inner most ones first.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5F72E2-2924-4643-AC12-BD4DB2C86663}"/>
                  </a:ext>
                </a:extLst>
              </p:cNvPr>
              <p:cNvSpPr txBox="1"/>
              <p:nvPr/>
            </p:nvSpPr>
            <p:spPr>
              <a:xfrm>
                <a:off x="2293427" y="1680460"/>
                <a:ext cx="561192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AU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12 −7</m:t>
                              </m:r>
                            </m:e>
                          </m:d>
                          <m: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×2</m:t>
                          </m:r>
                        </m:e>
                      </m:d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5F72E2-2924-4643-AC12-BD4DB2C86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427" y="1680460"/>
                <a:ext cx="561192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4AE9CC0-757B-4B3B-98CE-8CD222E832A1}"/>
              </a:ext>
            </a:extLst>
          </p:cNvPr>
          <p:cNvSpPr txBox="1"/>
          <p:nvPr/>
        </p:nvSpPr>
        <p:spPr>
          <a:xfrm>
            <a:off x="2763749" y="2428564"/>
            <a:ext cx="467984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This is the inside most bracket – we do this first. 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2048BE54-7AF5-4DDE-A9E7-D6C77DDFDA07}"/>
              </a:ext>
            </a:extLst>
          </p:cNvPr>
          <p:cNvSpPr/>
          <p:nvPr/>
        </p:nvSpPr>
        <p:spPr>
          <a:xfrm rot="16200000">
            <a:off x="4987514" y="1603670"/>
            <a:ext cx="204742" cy="1343207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494D4F-91C8-4794-98DE-26216E80B03A}"/>
                  </a:ext>
                </a:extLst>
              </p:cNvPr>
              <p:cNvSpPr txBox="1"/>
              <p:nvPr/>
            </p:nvSpPr>
            <p:spPr>
              <a:xfrm>
                <a:off x="3251105" y="2888071"/>
                <a:ext cx="423776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5×2</m:t>
                          </m:r>
                        </m:e>
                      </m:d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494D4F-91C8-4794-98DE-26216E80B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105" y="2888071"/>
                <a:ext cx="423776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A6E0DA6-D4C7-4BA2-9B80-EA22D31FE484}"/>
              </a:ext>
            </a:extLst>
          </p:cNvPr>
          <p:cNvSpPr txBox="1"/>
          <p:nvPr/>
        </p:nvSpPr>
        <p:spPr>
          <a:xfrm>
            <a:off x="3254820" y="3611994"/>
            <a:ext cx="414675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Inside the brackets we also follow BIMDAS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13E21B70-6EF3-4DC8-9D1F-E0D044F331C5}"/>
              </a:ext>
            </a:extLst>
          </p:cNvPr>
          <p:cNvSpPr/>
          <p:nvPr/>
        </p:nvSpPr>
        <p:spPr>
          <a:xfrm rot="16200000">
            <a:off x="5020051" y="2464033"/>
            <a:ext cx="204742" cy="2037704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D06FD7-2D77-4D86-B5E4-693039FE7505}"/>
                  </a:ext>
                </a:extLst>
              </p:cNvPr>
              <p:cNvSpPr txBox="1"/>
              <p:nvPr/>
            </p:nvSpPr>
            <p:spPr>
              <a:xfrm>
                <a:off x="3425157" y="4095682"/>
                <a:ext cx="401490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D06FD7-2D77-4D86-B5E4-693039FE7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157" y="4095682"/>
                <a:ext cx="4014906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CFD6FF-D905-4934-9BC8-2B682CA14E9C}"/>
                  </a:ext>
                </a:extLst>
              </p:cNvPr>
              <p:cNvSpPr txBox="1"/>
              <p:nvPr/>
            </p:nvSpPr>
            <p:spPr>
              <a:xfrm>
                <a:off x="3473961" y="4588125"/>
                <a:ext cx="401490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</m:t>
                          </m:r>
                        </m:e>
                      </m:d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CFD6FF-D905-4934-9BC8-2B682CA14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3961" y="4588125"/>
                <a:ext cx="4014906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220A7B-79EF-40B1-920B-DA6AA9608550}"/>
                  </a:ext>
                </a:extLst>
              </p:cNvPr>
              <p:cNvSpPr txBox="1"/>
              <p:nvPr/>
            </p:nvSpPr>
            <p:spPr>
              <a:xfrm>
                <a:off x="3473961" y="5148328"/>
                <a:ext cx="401490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220A7B-79EF-40B1-920B-DA6AA9608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3961" y="5148328"/>
                <a:ext cx="4014906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0398386-8201-4E4F-9754-2AA08A0A6A88}"/>
                  </a:ext>
                </a:extLst>
              </p:cNvPr>
              <p:cNvSpPr txBox="1"/>
              <p:nvPr/>
            </p:nvSpPr>
            <p:spPr>
              <a:xfrm>
                <a:off x="4418281" y="5154702"/>
                <a:ext cx="401490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0398386-8201-4E4F-9754-2AA08A0A6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281" y="5154702"/>
                <a:ext cx="4014906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828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 animBg="1"/>
      <p:bldP spid="11" grpId="0" animBg="1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8B6D9D-AF69-43F9-BB9E-D153874F6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122" y="786562"/>
            <a:ext cx="9439275" cy="742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BAD706-34A2-4B7C-B6E9-534402341145}"/>
              </a:ext>
            </a:extLst>
          </p:cNvPr>
          <p:cNvSpPr txBox="1"/>
          <p:nvPr/>
        </p:nvSpPr>
        <p:spPr>
          <a:xfrm>
            <a:off x="595901" y="308225"/>
            <a:ext cx="3554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Let’s try a few together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1F44D6-D5F1-4060-8E2E-F61F67064794}"/>
              </a:ext>
            </a:extLst>
          </p:cNvPr>
          <p:cNvSpPr txBox="1"/>
          <p:nvPr/>
        </p:nvSpPr>
        <p:spPr>
          <a:xfrm>
            <a:off x="5137079" y="131625"/>
            <a:ext cx="2722651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These dots mean multiply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A4948D9-AEA9-44E4-80EE-E3A271BFCA78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1735959" y="316291"/>
            <a:ext cx="3401120" cy="809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456418-0FB4-4243-A5ED-E67FA1484920}"/>
              </a:ext>
            </a:extLst>
          </p:cNvPr>
          <p:cNvCxnSpPr>
            <a:cxnSpLocks/>
          </p:cNvCxnSpPr>
          <p:nvPr/>
        </p:nvCxnSpPr>
        <p:spPr>
          <a:xfrm>
            <a:off x="7695344" y="338868"/>
            <a:ext cx="1150705" cy="794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2C85D72-0D67-435C-9E0F-5872354A1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69" y="3020700"/>
            <a:ext cx="9201686" cy="81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530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9D2E0-4F7A-4BE7-86E4-33443F744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8453"/>
          </a:xfrm>
        </p:spPr>
        <p:txBody>
          <a:bodyPr>
            <a:normAutofit fontScale="90000"/>
          </a:bodyPr>
          <a:lstStyle/>
          <a:p>
            <a:r>
              <a:rPr lang="en-AU" dirty="0"/>
              <a:t>Create a problem time.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FED75-DAAC-407C-902A-3F481B6CB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05" y="1044790"/>
            <a:ext cx="11414589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sz="2400" dirty="0"/>
              <a:t>Write you name on a piece of paper.</a:t>
            </a:r>
          </a:p>
          <a:p>
            <a:pPr marL="0" indent="0">
              <a:buNone/>
            </a:pPr>
            <a:r>
              <a:rPr lang="en-AU" sz="2400" dirty="0"/>
              <a:t>	1. Create a BIMDAS Problem using 5 numbers and 1 or  2 sets of brackets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	2. Pass the note to the person next to you. 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	3. Complete the BIMDAS Puzzle and create a new one.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	4. Pass the note along again. (lets see how many we can create before the end of the class).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	5. When it’s time to pack up, find the person whose name is at the top of the page and hand it back to them with all the completed BIMDAS questions.</a:t>
            </a:r>
          </a:p>
        </p:txBody>
      </p:sp>
    </p:spTree>
    <p:extLst>
      <p:ext uri="{BB962C8B-B14F-4D97-AF65-F5344CB8AC3E}">
        <p14:creationId xmlns:p14="http://schemas.microsoft.com/office/powerpoint/2010/main" val="1500021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1463</TotalTime>
  <Words>292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BIMDAS with brackets</vt:lpstr>
      <vt:lpstr>PowerPoint Presentation</vt:lpstr>
      <vt:lpstr>Last lesson we looked at the order we do Multiplication, Division, Subtraction and when completing sums.  Let’s start by creating our summary for last lesson.  EQ: What is the correct order to do sums?  Try to come up with 1 sentence that explains what order you do Multiplication, Division, Subtraction and Addition.  Be prepared to share your sentence.   </vt:lpstr>
      <vt:lpstr>PowerPoint Presentation</vt:lpstr>
      <vt:lpstr>Nested brackets (brackets inside of brackets)</vt:lpstr>
      <vt:lpstr>PowerPoint Presentation</vt:lpstr>
      <vt:lpstr>Create a problem time.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BIMDAS with brackets</dc:title>
  <dc:creator>James WILSON</dc:creator>
  <cp:lastModifiedBy>WILSON James [Baldivis Secondary College]</cp:lastModifiedBy>
  <cp:revision>10</cp:revision>
  <dcterms:created xsi:type="dcterms:W3CDTF">2019-02-23T06:47:57Z</dcterms:created>
  <dcterms:modified xsi:type="dcterms:W3CDTF">2019-02-24T07:11:15Z</dcterms:modified>
</cp:coreProperties>
</file>
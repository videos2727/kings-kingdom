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7" r:id="rId3"/>
    <p:sldId id="258" r:id="rId4"/>
    <p:sldId id="259" r:id="rId5"/>
    <p:sldId id="262" r:id="rId6"/>
    <p:sldId id="261" r:id="rId7"/>
    <p:sldId id="260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2" autoAdjust="0"/>
    <p:restoredTop sz="94660"/>
  </p:normalViewPr>
  <p:slideViewPr>
    <p:cSldViewPr snapToGrid="0">
      <p:cViewPr varScale="1">
        <p:scale>
          <a:sx n="88" d="100"/>
          <a:sy n="88" d="100"/>
        </p:scale>
        <p:origin x="72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0F861-1807-4F26-8964-F21244B2C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CDA611-C673-4533-AB5C-4A7E51E33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234D3-A80A-4680-8FAB-0EDDA26AB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DAED9-4D8C-47E1-970E-87EA2DB8047A}" type="datetimeFigureOut">
              <a:rPr lang="en-AU" smtClean="0"/>
              <a:t>17/02/2019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634DE-3598-4AB2-A740-97FDCEB70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9A528-E77A-474F-A5DA-A78C421AE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2242-3237-485E-B7F0-0368E81200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0533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B8412-32A8-47C2-BE29-2FEC293C4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68FC6-C78A-43A9-A15C-762890CAA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DF769-7985-4E87-957C-40E8ED24C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DAED9-4D8C-47E1-970E-87EA2DB8047A}" type="datetimeFigureOut">
              <a:rPr lang="en-AU" smtClean="0"/>
              <a:t>17/02/2019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D5B6C-7DB3-4166-B9C3-D539C3AF4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08043-CDBB-46ED-854F-846222050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2242-3237-485E-B7F0-0368E81200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3914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01D06-F1EC-402D-8CB9-1B8AC03F1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E8962-94B3-4E35-BFB1-641C31B48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1AADF-FDAA-4B90-9DB2-902DE84E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DAED9-4D8C-47E1-970E-87EA2DB8047A}" type="datetimeFigureOut">
              <a:rPr lang="en-AU" smtClean="0"/>
              <a:t>17/02/2019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CE4BA-E7AA-45BD-B57D-DE02C26C4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2B36E-3625-4C53-89D3-428130734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2242-3237-485E-B7F0-0368E81200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8415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D5E65-FEC2-49EE-9A39-0402F5F3E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A2F22-290C-418E-8778-D7B763A57C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5B233-7AB7-4CAB-87AF-A341F60B6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4BC21-70A4-41DF-9CE0-43C3DCDD3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DAED9-4D8C-47E1-970E-87EA2DB8047A}" type="datetimeFigureOut">
              <a:rPr lang="en-AU" smtClean="0"/>
              <a:t>17/02/2019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49780-7410-48B7-A62F-24BBE9B2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22B8E-7B62-475A-8334-F779603BB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2242-3237-485E-B7F0-0368E81200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3200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080D-E006-4A8D-A6C3-78FA0BB71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5A992B-BA0F-44BA-9B89-F5AFA6944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C95E8E-07AC-478C-9A6B-9E56FC232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7AEF16-4DF1-4E01-91C3-71DCA012C9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5C9B24-AE40-4EB0-9246-B34C2EC2E7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0AF474-B1F3-4645-9DF9-947F88947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DAED9-4D8C-47E1-970E-87EA2DB8047A}" type="datetimeFigureOut">
              <a:rPr lang="en-AU" smtClean="0"/>
              <a:t>17/02/2019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D42772-CD0C-4025-8173-C5F8FA0BA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A77900-EC70-4D16-84DD-2C33D0A3C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2242-3237-485E-B7F0-0368E81200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9060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6F54D-1DA8-4372-9A6C-02FC7F310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02C28D-1597-436D-97DE-BE6ED665D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DAED9-4D8C-47E1-970E-87EA2DB8047A}" type="datetimeFigureOut">
              <a:rPr lang="en-AU" smtClean="0"/>
              <a:t>17/02/2019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B53063-BC89-43D8-B23E-A40412B38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4F5BBD-0571-490A-97B2-DBE0F5974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2242-3237-485E-B7F0-0368E81200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76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C25CDF-2990-4574-89F9-E06553C3B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DAED9-4D8C-47E1-970E-87EA2DB8047A}" type="datetimeFigureOut">
              <a:rPr lang="en-AU" smtClean="0"/>
              <a:t>17/02/2019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0AD875-5D8A-4367-83BD-342A90FAF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8F749-EDC6-4C6B-A810-F2E2A2CB1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2242-3237-485E-B7F0-0368E81200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7986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83226-8D75-4E7E-BA93-9F8B2D594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C5AE2-B2FB-434D-96E3-49DAFC7C7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5CA66-E070-480C-9FB2-DF4BFFD20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418E7-CA53-46CC-814F-8F1A29962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DAED9-4D8C-47E1-970E-87EA2DB8047A}" type="datetimeFigureOut">
              <a:rPr lang="en-AU" smtClean="0"/>
              <a:t>17/02/2019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FCD30-EA95-4C47-9878-9BEBF716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1BA79-BC0D-48EE-8E75-90CE1D176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2242-3237-485E-B7F0-0368E81200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8371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EE9E3-1CC0-4B87-839E-58ED68685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118861-E36C-4D96-B5EF-10A91A39E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041D3C-4EAA-4ACE-A548-783E5C922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6D6DC-1C78-4DDC-A55D-F7D6020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DAED9-4D8C-47E1-970E-87EA2DB8047A}" type="datetimeFigureOut">
              <a:rPr lang="en-AU" smtClean="0"/>
              <a:t>17/02/2019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167BD-5117-48D6-B12A-49FE42BCE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79318-F2B2-445D-A702-EE099C1AA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2242-3237-485E-B7F0-0368E81200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5517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2A05-3C15-4025-8EF4-CED8EBB42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B6E258-63C6-4F3F-8856-CCD14289D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62A20-3365-4E48-BC72-762956A0F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DAED9-4D8C-47E1-970E-87EA2DB8047A}" type="datetimeFigureOut">
              <a:rPr lang="en-AU" smtClean="0"/>
              <a:t>17/02/2019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5DB8E-FD2C-49FB-AFDC-87F27B201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76289-A1A2-4E75-9BC6-5251BCA64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2242-3237-485E-B7F0-0368E81200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671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065410-2CE3-4978-BFD0-8C69E43AAE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0A6616-B8F6-4451-B3E1-656C2F36E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71ACB-7D05-4A2B-B3C1-075150B87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DAED9-4D8C-47E1-970E-87EA2DB8047A}" type="datetimeFigureOut">
              <a:rPr lang="en-AU" smtClean="0"/>
              <a:t>17/02/2019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AE648-E997-4350-A670-ADF4C05F7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8A409-AEDA-4BB0-8DE2-C9D70DE3E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62242-3237-485E-B7F0-0368E81200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8535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91A300-9B42-451F-8E37-3BA531553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C5C36-659D-4BD0-847D-84E85FAD4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C6FD6-247D-4A3D-99E8-8F8B1AB08E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DAED9-4D8C-47E1-970E-87EA2DB8047A}" type="datetimeFigureOut">
              <a:rPr lang="en-AU" smtClean="0"/>
              <a:t>17/02/2019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5998A-9C27-4D7C-8E4D-9C360F79AC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DAC9B-06CD-4711-833B-08F4EC2BCE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462242-3237-485E-B7F0-0368E81200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1601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DE5401-6322-4217-AA24-19364091D0AF}"/>
              </a:ext>
            </a:extLst>
          </p:cNvPr>
          <p:cNvSpPr/>
          <p:nvPr/>
        </p:nvSpPr>
        <p:spPr>
          <a:xfrm>
            <a:off x="1142999" y="1085488"/>
            <a:ext cx="9372600" cy="76944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4C32EE-8DB8-4435-90CA-D13A1A156B17}"/>
              </a:ext>
            </a:extLst>
          </p:cNvPr>
          <p:cNvSpPr txBox="1"/>
          <p:nvPr/>
        </p:nvSpPr>
        <p:spPr>
          <a:xfrm>
            <a:off x="1426027" y="1119273"/>
            <a:ext cx="6139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Topic: Laws of operations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6306BA-BC46-4CE4-875C-9769E85773FD}"/>
              </a:ext>
            </a:extLst>
          </p:cNvPr>
          <p:cNvSpPr txBox="1"/>
          <p:nvPr/>
        </p:nvSpPr>
        <p:spPr>
          <a:xfrm>
            <a:off x="1426026" y="1488605"/>
            <a:ext cx="8937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: How can the associative, commutative and distributive law make maths easier?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1CF34E-CF5D-4175-A481-E5C73CCBE04E}"/>
              </a:ext>
            </a:extLst>
          </p:cNvPr>
          <p:cNvSpPr txBox="1"/>
          <p:nvPr/>
        </p:nvSpPr>
        <p:spPr>
          <a:xfrm>
            <a:off x="919842" y="154164"/>
            <a:ext cx="9818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Today’s lesson is about the associative, commutative and distributive laws in maths and how we can use these to make maths easier.</a:t>
            </a:r>
          </a:p>
          <a:p>
            <a:pPr algn="ctr"/>
            <a:r>
              <a:rPr lang="en-AU" b="1" dirty="0"/>
              <a:t>You will need  your pens and your INB.  You will not need your device.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A8CD09-2F14-41A1-93B7-CB9D5DC3C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71" y="2472976"/>
            <a:ext cx="4685517" cy="17412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01F0BB-DDE9-44D2-8480-858E96EC7F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89445"/>
            <a:ext cx="5697890" cy="17045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42193D-9895-429C-B63F-807F21A564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275" y="4302368"/>
            <a:ext cx="4686840" cy="19508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94B7CA-F846-4F82-9491-1BABD66012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86" y="4584289"/>
            <a:ext cx="5836285" cy="15846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18E74DF-6605-45EC-B699-C5F0C20232F2}"/>
              </a:ext>
            </a:extLst>
          </p:cNvPr>
          <p:cNvSpPr txBox="1"/>
          <p:nvPr/>
        </p:nvSpPr>
        <p:spPr>
          <a:xfrm>
            <a:off x="163286" y="1982252"/>
            <a:ext cx="4537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While you are waiting to start, try these..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7FC659B-DDF2-4C71-927F-4517D612B96A}"/>
              </a:ext>
            </a:extLst>
          </p:cNvPr>
          <p:cNvSpPr/>
          <p:nvPr/>
        </p:nvSpPr>
        <p:spPr>
          <a:xfrm>
            <a:off x="1534886" y="4061334"/>
            <a:ext cx="195943" cy="1201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9B3B093-B1D7-411D-B099-4F6E1CE23B9E}"/>
              </a:ext>
            </a:extLst>
          </p:cNvPr>
          <p:cNvSpPr/>
          <p:nvPr/>
        </p:nvSpPr>
        <p:spPr>
          <a:xfrm>
            <a:off x="3962398" y="5824818"/>
            <a:ext cx="195943" cy="1201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63B6AAD-3FC2-4D29-B766-4C2C7E805956}"/>
              </a:ext>
            </a:extLst>
          </p:cNvPr>
          <p:cNvSpPr/>
          <p:nvPr/>
        </p:nvSpPr>
        <p:spPr>
          <a:xfrm>
            <a:off x="8789433" y="3828965"/>
            <a:ext cx="195943" cy="1201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94563A4-2F8E-4134-9136-01E4CC6D88C6}"/>
              </a:ext>
            </a:extLst>
          </p:cNvPr>
          <p:cNvSpPr/>
          <p:nvPr/>
        </p:nvSpPr>
        <p:spPr>
          <a:xfrm>
            <a:off x="6688492" y="6006589"/>
            <a:ext cx="195943" cy="1201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208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3E2356-378C-420C-9E71-1A6F2A5944F1}"/>
              </a:ext>
            </a:extLst>
          </p:cNvPr>
          <p:cNvSpPr txBox="1"/>
          <p:nvPr/>
        </p:nvSpPr>
        <p:spPr>
          <a:xfrm>
            <a:off x="7177085" y="949096"/>
            <a:ext cx="3683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Now let’s try these ones.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985E4A-ABD2-470B-AA1C-F4CC77985A8C}"/>
              </a:ext>
            </a:extLst>
          </p:cNvPr>
          <p:cNvSpPr txBox="1"/>
          <p:nvPr/>
        </p:nvSpPr>
        <p:spPr>
          <a:xfrm>
            <a:off x="581025" y="1634000"/>
            <a:ext cx="414337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AU" sz="2400" dirty="0"/>
              <a:t>7 + 2  = </a:t>
            </a:r>
          </a:p>
          <a:p>
            <a:pPr marL="342900" indent="-342900">
              <a:buAutoNum type="alphaLcParenR"/>
            </a:pPr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15 + 36 =</a:t>
            </a:r>
          </a:p>
          <a:p>
            <a:pPr marL="342900" indent="-342900">
              <a:buAutoNum type="alphaLcParenR"/>
            </a:pPr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171 + 487 =</a:t>
            </a:r>
          </a:p>
          <a:p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432 + 614=</a:t>
            </a:r>
          </a:p>
          <a:p>
            <a:pPr marL="342900" indent="-342900">
              <a:buAutoNum type="alphaLcParenR"/>
            </a:pPr>
            <a:endParaRPr lang="en-A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BDDDA-EB95-4A69-B467-4C1CC9141952}"/>
              </a:ext>
            </a:extLst>
          </p:cNvPr>
          <p:cNvSpPr txBox="1"/>
          <p:nvPr/>
        </p:nvSpPr>
        <p:spPr>
          <a:xfrm>
            <a:off x="2191249" y="1634000"/>
            <a:ext cx="51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50000"/>
                  </a:schemeClr>
                </a:solidFill>
              </a:rPr>
              <a:t>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FB0DA-82ED-480F-8CB5-C8DEB033254F}"/>
              </a:ext>
            </a:extLst>
          </p:cNvPr>
          <p:cNvSpPr txBox="1"/>
          <p:nvPr/>
        </p:nvSpPr>
        <p:spPr>
          <a:xfrm>
            <a:off x="2220000" y="2320561"/>
            <a:ext cx="51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50000"/>
                  </a:schemeClr>
                </a:solidFill>
              </a:rPr>
              <a:t>51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AD7014-A3C6-4826-8617-620C50652012}"/>
              </a:ext>
            </a:extLst>
          </p:cNvPr>
          <p:cNvSpPr txBox="1"/>
          <p:nvPr/>
        </p:nvSpPr>
        <p:spPr>
          <a:xfrm>
            <a:off x="2676522" y="3083403"/>
            <a:ext cx="723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50000"/>
                  </a:schemeClr>
                </a:solidFill>
              </a:rPr>
              <a:t>658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E30186-1D27-4920-81CB-EF56324810F0}"/>
              </a:ext>
            </a:extLst>
          </p:cNvPr>
          <p:cNvSpPr txBox="1"/>
          <p:nvPr/>
        </p:nvSpPr>
        <p:spPr>
          <a:xfrm>
            <a:off x="2540790" y="3842240"/>
            <a:ext cx="995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50000"/>
                  </a:schemeClr>
                </a:solidFill>
              </a:rPr>
              <a:t>1,046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AF1E0B-3432-4DB2-A14A-6BBF329CAEDF}"/>
              </a:ext>
            </a:extLst>
          </p:cNvPr>
          <p:cNvSpPr txBox="1"/>
          <p:nvPr/>
        </p:nvSpPr>
        <p:spPr>
          <a:xfrm>
            <a:off x="7081840" y="1990814"/>
            <a:ext cx="414337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AU" sz="2400" dirty="0"/>
              <a:t>2 + 7 = </a:t>
            </a:r>
          </a:p>
          <a:p>
            <a:pPr marL="342900" indent="-342900">
              <a:buAutoNum type="alphaLcParenR"/>
            </a:pPr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36 + 15 =</a:t>
            </a:r>
          </a:p>
          <a:p>
            <a:pPr marL="342900" indent="-342900">
              <a:buAutoNum type="alphaLcParenR"/>
            </a:pPr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487 + 171 =</a:t>
            </a:r>
          </a:p>
          <a:p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614 + 432=</a:t>
            </a:r>
          </a:p>
          <a:p>
            <a:pPr marL="342900" indent="-342900">
              <a:buAutoNum type="alphaLcParenR"/>
            </a:pPr>
            <a:endParaRPr lang="en-AU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FC3EE2-A964-4DBA-8135-5A65C7667289}"/>
              </a:ext>
            </a:extLst>
          </p:cNvPr>
          <p:cNvSpPr txBox="1"/>
          <p:nvPr/>
        </p:nvSpPr>
        <p:spPr>
          <a:xfrm>
            <a:off x="8504631" y="1990814"/>
            <a:ext cx="51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50000"/>
                  </a:schemeClr>
                </a:solidFill>
              </a:rPr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E8031F-1FD1-4158-8DDD-D4B5933CAED6}"/>
              </a:ext>
            </a:extLst>
          </p:cNvPr>
          <p:cNvSpPr txBox="1"/>
          <p:nvPr/>
        </p:nvSpPr>
        <p:spPr>
          <a:xfrm>
            <a:off x="8761806" y="2680922"/>
            <a:ext cx="51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50000"/>
                  </a:schemeClr>
                </a:solidFill>
              </a:rPr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C0F012-2F7C-4B7C-88F2-3C31C701C521}"/>
              </a:ext>
            </a:extLst>
          </p:cNvPr>
          <p:cNvSpPr txBox="1"/>
          <p:nvPr/>
        </p:nvSpPr>
        <p:spPr>
          <a:xfrm>
            <a:off x="9095699" y="3455981"/>
            <a:ext cx="723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50000"/>
                  </a:schemeClr>
                </a:solidFill>
              </a:rPr>
              <a:t>658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7A9AF7-13D2-412F-AD97-BAC58988D708}"/>
              </a:ext>
            </a:extLst>
          </p:cNvPr>
          <p:cNvSpPr txBox="1"/>
          <p:nvPr/>
        </p:nvSpPr>
        <p:spPr>
          <a:xfrm>
            <a:off x="9095699" y="4207900"/>
            <a:ext cx="995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50000"/>
                  </a:schemeClr>
                </a:solidFill>
              </a:rPr>
              <a:t>1,046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DB629B-02A4-4BE4-841F-D8A75CAFDA62}"/>
              </a:ext>
            </a:extLst>
          </p:cNvPr>
          <p:cNvSpPr txBox="1"/>
          <p:nvPr/>
        </p:nvSpPr>
        <p:spPr>
          <a:xfrm>
            <a:off x="3901165" y="1284506"/>
            <a:ext cx="2771774" cy="83099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2400" dirty="0"/>
              <a:t>What do you notice about the answers?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7A84E7-F2CC-45D9-8084-3591DE695ACF}"/>
              </a:ext>
            </a:extLst>
          </p:cNvPr>
          <p:cNvSpPr txBox="1"/>
          <p:nvPr/>
        </p:nvSpPr>
        <p:spPr>
          <a:xfrm>
            <a:off x="2540790" y="4742498"/>
            <a:ext cx="5315628" cy="83099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2400" dirty="0"/>
              <a:t>So what can we say about the order of the numbers when we do addition?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4A7339-40BF-4500-8C1C-0488F46CC655}"/>
              </a:ext>
            </a:extLst>
          </p:cNvPr>
          <p:cNvSpPr txBox="1"/>
          <p:nvPr/>
        </p:nvSpPr>
        <p:spPr>
          <a:xfrm>
            <a:off x="581025" y="453509"/>
            <a:ext cx="112844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On your Left Hand Side write out these sums and </a:t>
            </a:r>
            <a:r>
              <a:rPr lang="en-AU" sz="2400" b="1" u="sng" dirty="0"/>
              <a:t>solve</a:t>
            </a:r>
            <a:r>
              <a:rPr lang="en-AU" sz="2400" dirty="0"/>
              <a:t> each of them (no calculators).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D75E50-1BBF-4230-8734-B39522934DF0}"/>
              </a:ext>
            </a:extLst>
          </p:cNvPr>
          <p:cNvSpPr/>
          <p:nvPr/>
        </p:nvSpPr>
        <p:spPr>
          <a:xfrm>
            <a:off x="118066" y="84177"/>
            <a:ext cx="19627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Commutative Laws</a:t>
            </a:r>
          </a:p>
        </p:txBody>
      </p:sp>
    </p:spTree>
    <p:extLst>
      <p:ext uri="{BB962C8B-B14F-4D97-AF65-F5344CB8AC3E}">
        <p14:creationId xmlns:p14="http://schemas.microsoft.com/office/powerpoint/2010/main" val="904178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0" grpId="0"/>
      <p:bldP spid="12" grpId="0"/>
      <p:bldP spid="13" grpId="0"/>
      <p:bldP spid="14" grpId="0"/>
      <p:bldP spid="15" grpId="0"/>
      <p:bldP spid="17" grpId="0"/>
      <p:bldP spid="2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3E2356-378C-420C-9E71-1A6F2A5944F1}"/>
              </a:ext>
            </a:extLst>
          </p:cNvPr>
          <p:cNvSpPr txBox="1"/>
          <p:nvPr/>
        </p:nvSpPr>
        <p:spPr>
          <a:xfrm>
            <a:off x="668110" y="322107"/>
            <a:ext cx="105441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Now let’s try subtraction.</a:t>
            </a:r>
          </a:p>
          <a:p>
            <a:r>
              <a:rPr lang="en-AU" sz="2400" dirty="0"/>
              <a:t>On your Left Hand Side </a:t>
            </a:r>
            <a:r>
              <a:rPr lang="en-AU" sz="2400" b="1" u="sng" dirty="0"/>
              <a:t>find the solution</a:t>
            </a:r>
            <a:r>
              <a:rPr lang="en-AU" sz="2400" u="sng" dirty="0"/>
              <a:t> </a:t>
            </a:r>
            <a:r>
              <a:rPr lang="en-AU" sz="2400" dirty="0"/>
              <a:t>to each of these (no calculators).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985E4A-ABD2-470B-AA1C-F4CC77985A8C}"/>
              </a:ext>
            </a:extLst>
          </p:cNvPr>
          <p:cNvSpPr txBox="1"/>
          <p:nvPr/>
        </p:nvSpPr>
        <p:spPr>
          <a:xfrm>
            <a:off x="932087" y="1622804"/>
            <a:ext cx="41433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AU" sz="2400" dirty="0"/>
              <a:t>7 - 2  = </a:t>
            </a:r>
          </a:p>
          <a:p>
            <a:pPr marL="342900" indent="-342900">
              <a:buAutoNum type="alphaLcParenR"/>
            </a:pPr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36 -15 =</a:t>
            </a:r>
          </a:p>
          <a:p>
            <a:pPr marL="342900" indent="-342900">
              <a:buAutoNum type="alphaLcParenR"/>
            </a:pPr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432 - 212 =</a:t>
            </a:r>
          </a:p>
          <a:p>
            <a:pPr marL="342900" indent="-342900">
              <a:buAutoNum type="alphaLcParenR"/>
            </a:pPr>
            <a:endParaRPr lang="en-A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BDDDA-EB95-4A69-B467-4C1CC9141952}"/>
              </a:ext>
            </a:extLst>
          </p:cNvPr>
          <p:cNvSpPr txBox="1"/>
          <p:nvPr/>
        </p:nvSpPr>
        <p:spPr>
          <a:xfrm>
            <a:off x="2387373" y="1662793"/>
            <a:ext cx="51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50000"/>
                  </a:schemeClr>
                </a:solidFill>
              </a:rPr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FB0DA-82ED-480F-8CB5-C8DEB033254F}"/>
              </a:ext>
            </a:extLst>
          </p:cNvPr>
          <p:cNvSpPr txBox="1"/>
          <p:nvPr/>
        </p:nvSpPr>
        <p:spPr>
          <a:xfrm>
            <a:off x="2387373" y="2359920"/>
            <a:ext cx="51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50000"/>
                  </a:schemeClr>
                </a:solidFill>
              </a:rPr>
              <a:t>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56ADB1-82B6-4417-9A2A-D1CC0AB16DCB}"/>
              </a:ext>
            </a:extLst>
          </p:cNvPr>
          <p:cNvSpPr txBox="1"/>
          <p:nvPr/>
        </p:nvSpPr>
        <p:spPr>
          <a:xfrm>
            <a:off x="2901723" y="3060452"/>
            <a:ext cx="813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50000"/>
                  </a:schemeClr>
                </a:solidFill>
              </a:rPr>
              <a:t>220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5AFB67-CCBB-4028-9C41-AC651C6EBFEC}"/>
              </a:ext>
            </a:extLst>
          </p:cNvPr>
          <p:cNvSpPr txBox="1"/>
          <p:nvPr/>
        </p:nvSpPr>
        <p:spPr>
          <a:xfrm>
            <a:off x="7323368" y="2124458"/>
            <a:ext cx="41433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AU" sz="2400" dirty="0"/>
              <a:t>2 - 7  = </a:t>
            </a:r>
          </a:p>
          <a:p>
            <a:pPr marL="342900" indent="-342900">
              <a:buAutoNum type="alphaLcParenR"/>
            </a:pPr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15 – 36 =</a:t>
            </a:r>
          </a:p>
          <a:p>
            <a:pPr marL="342900" indent="-342900">
              <a:buAutoNum type="alphaLcParenR"/>
            </a:pPr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212 - 432 =</a:t>
            </a:r>
          </a:p>
          <a:p>
            <a:pPr marL="342900" indent="-342900">
              <a:buAutoNum type="alphaLcParenR"/>
            </a:pPr>
            <a:endParaRPr lang="en-AU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1CD615-929C-44E2-85EA-BE9B212D5ECD}"/>
              </a:ext>
            </a:extLst>
          </p:cNvPr>
          <p:cNvSpPr txBox="1"/>
          <p:nvPr/>
        </p:nvSpPr>
        <p:spPr>
          <a:xfrm>
            <a:off x="7247168" y="1293461"/>
            <a:ext cx="3896402" cy="83099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2400" dirty="0"/>
              <a:t>Would I get the same answer for these questions?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6A2340-DD47-4B9D-9D8C-4A59924B7C85}"/>
              </a:ext>
            </a:extLst>
          </p:cNvPr>
          <p:cNvSpPr txBox="1"/>
          <p:nvPr/>
        </p:nvSpPr>
        <p:spPr>
          <a:xfrm>
            <a:off x="2151804" y="4601560"/>
            <a:ext cx="7888392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2400" dirty="0"/>
              <a:t>So how can we say that subtraction and addition different?</a:t>
            </a:r>
          </a:p>
        </p:txBody>
      </p:sp>
    </p:spTree>
    <p:extLst>
      <p:ext uri="{BB962C8B-B14F-4D97-AF65-F5344CB8AC3E}">
        <p14:creationId xmlns:p14="http://schemas.microsoft.com/office/powerpoint/2010/main" val="426616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3" grpId="0"/>
      <p:bldP spid="14" grpId="0"/>
      <p:bldP spid="2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3E2356-378C-420C-9E71-1A6F2A5944F1}"/>
              </a:ext>
            </a:extLst>
          </p:cNvPr>
          <p:cNvSpPr txBox="1"/>
          <p:nvPr/>
        </p:nvSpPr>
        <p:spPr>
          <a:xfrm>
            <a:off x="668110" y="322107"/>
            <a:ext cx="105441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Multiplication and division.</a:t>
            </a:r>
          </a:p>
          <a:p>
            <a:r>
              <a:rPr lang="en-AU" sz="2400" dirty="0"/>
              <a:t>On your Left Hand Side </a:t>
            </a:r>
            <a:r>
              <a:rPr lang="en-AU" sz="2400" b="1" u="sng" dirty="0"/>
              <a:t>evaluate</a:t>
            </a:r>
            <a:r>
              <a:rPr lang="en-AU" sz="2400" dirty="0"/>
              <a:t> each of these (no calculators).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985E4A-ABD2-470B-AA1C-F4CC77985A8C}"/>
              </a:ext>
            </a:extLst>
          </p:cNvPr>
          <p:cNvSpPr txBox="1"/>
          <p:nvPr/>
        </p:nvSpPr>
        <p:spPr>
          <a:xfrm>
            <a:off x="725258" y="1662793"/>
            <a:ext cx="41433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AU" sz="2400" dirty="0"/>
              <a:t>7 x 2  = </a:t>
            </a:r>
          </a:p>
          <a:p>
            <a:pPr marL="342900" indent="-342900">
              <a:buAutoNum type="alphaLcParenR"/>
            </a:pPr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6  x 15 =</a:t>
            </a:r>
          </a:p>
          <a:p>
            <a:pPr marL="342900" indent="-342900">
              <a:buAutoNum type="alphaLcParenR"/>
            </a:pPr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24 x  5 =</a:t>
            </a:r>
          </a:p>
          <a:p>
            <a:pPr marL="342900" indent="-342900">
              <a:buAutoNum type="alphaLcParenR"/>
            </a:pPr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24 ÷ 6 =   </a:t>
            </a:r>
          </a:p>
          <a:p>
            <a:pPr marL="342900" indent="-342900">
              <a:buAutoNum type="alphaLcParenR"/>
            </a:pPr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48 ÷ 4 = </a:t>
            </a:r>
          </a:p>
          <a:p>
            <a:pPr marL="342900" indent="-342900">
              <a:buAutoNum type="alphaLcParenR"/>
            </a:pPr>
            <a:endParaRPr lang="en-A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BDDDA-EB95-4A69-B467-4C1CC9141952}"/>
              </a:ext>
            </a:extLst>
          </p:cNvPr>
          <p:cNvSpPr txBox="1"/>
          <p:nvPr/>
        </p:nvSpPr>
        <p:spPr>
          <a:xfrm>
            <a:off x="2282595" y="1649186"/>
            <a:ext cx="51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50000"/>
                  </a:schemeClr>
                </a:solidFill>
              </a:rPr>
              <a:t>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FB0DA-82ED-480F-8CB5-C8DEB033254F}"/>
              </a:ext>
            </a:extLst>
          </p:cNvPr>
          <p:cNvSpPr txBox="1"/>
          <p:nvPr/>
        </p:nvSpPr>
        <p:spPr>
          <a:xfrm>
            <a:off x="2387373" y="2359920"/>
            <a:ext cx="51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50000"/>
                  </a:schemeClr>
                </a:solidFill>
              </a:rPr>
              <a:t>90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56ADB1-82B6-4417-9A2A-D1CC0AB16DCB}"/>
              </a:ext>
            </a:extLst>
          </p:cNvPr>
          <p:cNvSpPr txBox="1"/>
          <p:nvPr/>
        </p:nvSpPr>
        <p:spPr>
          <a:xfrm>
            <a:off x="2495209" y="3143437"/>
            <a:ext cx="813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50000"/>
                  </a:schemeClr>
                </a:solidFill>
              </a:rPr>
              <a:t>120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1CD615-929C-44E2-85EA-BE9B212D5ECD}"/>
              </a:ext>
            </a:extLst>
          </p:cNvPr>
          <p:cNvSpPr txBox="1"/>
          <p:nvPr/>
        </p:nvSpPr>
        <p:spPr>
          <a:xfrm>
            <a:off x="4963886" y="1293461"/>
            <a:ext cx="6502856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2400" dirty="0"/>
              <a:t>Would I get the same answer for these questions?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6A2340-DD47-4B9D-9D8C-4A59924B7C85}"/>
              </a:ext>
            </a:extLst>
          </p:cNvPr>
          <p:cNvSpPr txBox="1"/>
          <p:nvPr/>
        </p:nvSpPr>
        <p:spPr>
          <a:xfrm>
            <a:off x="2539770" y="5366475"/>
            <a:ext cx="7057510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2400" dirty="0"/>
              <a:t>So what can we say about multiplication and division?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809600-C8DA-4807-BDC5-9DE75E481457}"/>
              </a:ext>
            </a:extLst>
          </p:cNvPr>
          <p:cNvSpPr txBox="1"/>
          <p:nvPr/>
        </p:nvSpPr>
        <p:spPr>
          <a:xfrm>
            <a:off x="2390431" y="3926954"/>
            <a:ext cx="813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82E40C-CACC-4E41-994A-0FBF0B19E78B}"/>
              </a:ext>
            </a:extLst>
          </p:cNvPr>
          <p:cNvSpPr txBox="1"/>
          <p:nvPr/>
        </p:nvSpPr>
        <p:spPr>
          <a:xfrm>
            <a:off x="2336343" y="4655741"/>
            <a:ext cx="813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50000"/>
                  </a:schemeClr>
                </a:solidFill>
              </a:rPr>
              <a:t>12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1D3498-A221-4177-8EF2-7F22AFB9EDAC}"/>
              </a:ext>
            </a:extLst>
          </p:cNvPr>
          <p:cNvSpPr txBox="1"/>
          <p:nvPr/>
        </p:nvSpPr>
        <p:spPr>
          <a:xfrm>
            <a:off x="7641937" y="1786969"/>
            <a:ext cx="41433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AU" sz="2400" dirty="0"/>
              <a:t>2x 7  = </a:t>
            </a:r>
          </a:p>
          <a:p>
            <a:pPr marL="342900" indent="-342900">
              <a:buAutoNum type="alphaLcParenR"/>
            </a:pPr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15 x 6 =</a:t>
            </a:r>
          </a:p>
          <a:p>
            <a:pPr marL="342900" indent="-342900">
              <a:buAutoNum type="alphaLcParenR"/>
            </a:pPr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5 x 24 =</a:t>
            </a:r>
          </a:p>
          <a:p>
            <a:pPr marL="342900" indent="-342900">
              <a:buAutoNum type="alphaLcParenR"/>
            </a:pPr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6 ÷ 24=   </a:t>
            </a:r>
          </a:p>
          <a:p>
            <a:pPr marL="342900" indent="-342900">
              <a:buAutoNum type="alphaLcParenR"/>
            </a:pPr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4 ÷ 48 = </a:t>
            </a:r>
          </a:p>
          <a:p>
            <a:pPr marL="342900" indent="-342900">
              <a:buAutoNum type="alphaLcParenR"/>
            </a:pP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292348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3" grpId="0"/>
      <p:bldP spid="2" grpId="0" animBg="1"/>
      <p:bldP spid="10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0B8E16-5EC8-4E14-B69E-8E8FFE08226B}"/>
              </a:ext>
            </a:extLst>
          </p:cNvPr>
          <p:cNvCxnSpPr/>
          <p:nvPr/>
        </p:nvCxnSpPr>
        <p:spPr>
          <a:xfrm>
            <a:off x="1654627" y="979714"/>
            <a:ext cx="0" cy="58782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D4C861A-2F2F-4786-8517-25BD6585351D}"/>
              </a:ext>
            </a:extLst>
          </p:cNvPr>
          <p:cNvSpPr/>
          <p:nvPr/>
        </p:nvSpPr>
        <p:spPr>
          <a:xfrm>
            <a:off x="38104" y="3353621"/>
            <a:ext cx="12115791" cy="28302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D15DC-55FB-487F-83A7-4F750271FAA7}"/>
              </a:ext>
            </a:extLst>
          </p:cNvPr>
          <p:cNvSpPr txBox="1"/>
          <p:nvPr/>
        </p:nvSpPr>
        <p:spPr>
          <a:xfrm>
            <a:off x="478970" y="109249"/>
            <a:ext cx="6139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Topic: Laws of operations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57EFB7-2D10-4BF9-8AD3-4C7AB941E643}"/>
              </a:ext>
            </a:extLst>
          </p:cNvPr>
          <p:cNvSpPr txBox="1"/>
          <p:nvPr/>
        </p:nvSpPr>
        <p:spPr>
          <a:xfrm>
            <a:off x="478969" y="478581"/>
            <a:ext cx="8937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: How can the associative, commutative and distributive law make maths easier?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EA381-7DD1-4625-886B-89731912B865}"/>
              </a:ext>
            </a:extLst>
          </p:cNvPr>
          <p:cNvSpPr txBox="1"/>
          <p:nvPr/>
        </p:nvSpPr>
        <p:spPr>
          <a:xfrm>
            <a:off x="1654627" y="1162130"/>
            <a:ext cx="95576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The "Commutative Laws" say we can </a:t>
            </a:r>
            <a:r>
              <a:rPr lang="en-AU" sz="2000" b="1" dirty="0"/>
              <a:t>swap numbers</a:t>
            </a:r>
            <a:r>
              <a:rPr lang="en-AU" sz="2000" dirty="0"/>
              <a:t> around and still get the same if the sum only contains addition </a:t>
            </a:r>
            <a:r>
              <a:rPr lang="en-AU" sz="2000" b="1" dirty="0"/>
              <a:t>or</a:t>
            </a:r>
            <a:r>
              <a:rPr lang="en-AU" sz="2000" dirty="0"/>
              <a:t> multiplication.</a:t>
            </a:r>
          </a:p>
          <a:p>
            <a:endParaRPr lang="en-AU" sz="2000" dirty="0"/>
          </a:p>
          <a:p>
            <a:r>
              <a:rPr lang="en-AU" sz="2000" dirty="0" err="1"/>
              <a:t>Eg</a:t>
            </a:r>
            <a:r>
              <a:rPr lang="en-AU" sz="2000" dirty="0"/>
              <a:t> 		4 + 12  = 12 + 4    	  or  	6 x 3  = 3 x 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92853D-0643-451E-94DC-2CAE6F9C4148}"/>
              </a:ext>
            </a:extLst>
          </p:cNvPr>
          <p:cNvCxnSpPr/>
          <p:nvPr/>
        </p:nvCxnSpPr>
        <p:spPr>
          <a:xfrm>
            <a:off x="0" y="97971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F21438-1DE0-4AD9-A4E6-F1BAE859E8B5}"/>
              </a:ext>
            </a:extLst>
          </p:cNvPr>
          <p:cNvCxnSpPr/>
          <p:nvPr/>
        </p:nvCxnSpPr>
        <p:spPr>
          <a:xfrm>
            <a:off x="0" y="47858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604CFDF-631F-4CE9-851A-B8C7D359C26E}"/>
              </a:ext>
            </a:extLst>
          </p:cNvPr>
          <p:cNvSpPr txBox="1"/>
          <p:nvPr/>
        </p:nvSpPr>
        <p:spPr>
          <a:xfrm>
            <a:off x="9459684" y="142297"/>
            <a:ext cx="1240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569A7D-04B3-47D4-A691-6792D6D44917}"/>
              </a:ext>
            </a:extLst>
          </p:cNvPr>
          <p:cNvSpPr txBox="1"/>
          <p:nvPr/>
        </p:nvSpPr>
        <p:spPr>
          <a:xfrm>
            <a:off x="76197" y="-4073"/>
            <a:ext cx="4027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E2DC56-3523-49AB-8E2E-ECFC4E588AD4}"/>
              </a:ext>
            </a:extLst>
          </p:cNvPr>
          <p:cNvSpPr txBox="1"/>
          <p:nvPr/>
        </p:nvSpPr>
        <p:spPr>
          <a:xfrm>
            <a:off x="261253" y="3399158"/>
            <a:ext cx="115170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Practise - On your  </a:t>
            </a:r>
            <a:r>
              <a:rPr lang="en-AU" sz="2000" b="1" dirty="0"/>
              <a:t>LHS</a:t>
            </a:r>
            <a:r>
              <a:rPr lang="en-AU" sz="2000" dirty="0"/>
              <a:t> page </a:t>
            </a:r>
          </a:p>
          <a:p>
            <a:r>
              <a:rPr lang="en-AU" sz="2000" dirty="0"/>
              <a:t> Use the commutative law to rewrite these (swap the numbers around) </a:t>
            </a:r>
            <a:r>
              <a:rPr lang="en-AU" sz="2000" b="1" dirty="0"/>
              <a:t>only if they can be swapped around.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C07B2F-FABB-4615-B873-35C36AFC6CB6}"/>
              </a:ext>
            </a:extLst>
          </p:cNvPr>
          <p:cNvSpPr txBox="1"/>
          <p:nvPr/>
        </p:nvSpPr>
        <p:spPr>
          <a:xfrm>
            <a:off x="478965" y="4058369"/>
            <a:ext cx="114408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err="1"/>
              <a:t>Eg</a:t>
            </a:r>
            <a:r>
              <a:rPr lang="en-AU" sz="2400" dirty="0"/>
              <a:t>  a) 2 x 5 = </a:t>
            </a:r>
            <a:r>
              <a:rPr lang="en-AU" sz="2400" u="sng" dirty="0"/>
              <a:t>5 x 2 </a:t>
            </a:r>
            <a:r>
              <a:rPr lang="en-AU" sz="2400" dirty="0"/>
              <a:t>		b)    15 ÷ 3  = </a:t>
            </a:r>
            <a:r>
              <a:rPr lang="en-AU" sz="2400" u="sng" dirty="0"/>
              <a:t>can’t do</a:t>
            </a:r>
            <a:r>
              <a:rPr lang="en-AU" sz="2400" dirty="0"/>
              <a:t>                 </a:t>
            </a:r>
          </a:p>
          <a:p>
            <a:endParaRPr lang="en-AU" sz="2400" dirty="0"/>
          </a:p>
          <a:p>
            <a:pPr marL="342900" indent="-342900">
              <a:buAutoNum type="alphaLcParenR" startAt="3"/>
            </a:pPr>
            <a:r>
              <a:rPr lang="en-AU" sz="2400" dirty="0"/>
              <a:t>9 x 12 = ________		d)   23 – 5 = ________		e) 45 + 23 = __________</a:t>
            </a:r>
          </a:p>
          <a:p>
            <a:pPr marL="342900" indent="-342900">
              <a:buAutoNum type="alphaLcParenR" startAt="3"/>
            </a:pPr>
            <a:endParaRPr lang="en-AU" sz="2400" dirty="0"/>
          </a:p>
          <a:p>
            <a:r>
              <a:rPr lang="en-AU" sz="2400" dirty="0"/>
              <a:t>f)    24 ÷  8  = ________	g)    12 + 7 = ________	h) 457 x 213 = _________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D926D3-C911-43F2-8FDC-6197AC36CECE}"/>
              </a:ext>
            </a:extLst>
          </p:cNvPr>
          <p:cNvSpPr txBox="1"/>
          <p:nvPr/>
        </p:nvSpPr>
        <p:spPr>
          <a:xfrm>
            <a:off x="2677883" y="2607887"/>
            <a:ext cx="6683827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2400" dirty="0"/>
              <a:t>There are more notes to come – please leave room</a:t>
            </a:r>
          </a:p>
        </p:txBody>
      </p:sp>
    </p:spTree>
    <p:extLst>
      <p:ext uri="{BB962C8B-B14F-4D97-AF65-F5344CB8AC3E}">
        <p14:creationId xmlns:p14="http://schemas.microsoft.com/office/powerpoint/2010/main" val="2193724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3E2356-378C-420C-9E71-1A6F2A5944F1}"/>
              </a:ext>
            </a:extLst>
          </p:cNvPr>
          <p:cNvSpPr txBox="1"/>
          <p:nvPr/>
        </p:nvSpPr>
        <p:spPr>
          <a:xfrm>
            <a:off x="7183046" y="1159817"/>
            <a:ext cx="40421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Does this work with division or subtraction?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985E4A-ABD2-470B-AA1C-F4CC77985A8C}"/>
              </a:ext>
            </a:extLst>
          </p:cNvPr>
          <p:cNvSpPr txBox="1"/>
          <p:nvPr/>
        </p:nvSpPr>
        <p:spPr>
          <a:xfrm>
            <a:off x="300712" y="1619093"/>
            <a:ext cx="414337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AU" sz="2400" dirty="0"/>
              <a:t>2 x 7 x 5  = </a:t>
            </a:r>
          </a:p>
          <a:p>
            <a:pPr marL="342900" indent="-342900">
              <a:buAutoNum type="alphaLcParenR"/>
            </a:pPr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2 x 5 x 7=</a:t>
            </a:r>
          </a:p>
          <a:p>
            <a:pPr marL="342900" indent="-342900">
              <a:buAutoNum type="alphaLcParenR"/>
            </a:pPr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6 + 9 + 7 + 1 + 3=</a:t>
            </a:r>
          </a:p>
          <a:p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7 + 3 + 9 + 1 + 6 =</a:t>
            </a:r>
          </a:p>
          <a:p>
            <a:pPr marL="342900" indent="-342900">
              <a:buAutoNum type="alphaLcParenR"/>
            </a:pPr>
            <a:endParaRPr lang="en-A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BDDDA-EB95-4A69-B467-4C1CC9141952}"/>
              </a:ext>
            </a:extLst>
          </p:cNvPr>
          <p:cNvSpPr txBox="1"/>
          <p:nvPr/>
        </p:nvSpPr>
        <p:spPr>
          <a:xfrm>
            <a:off x="2115224" y="1608821"/>
            <a:ext cx="51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50000"/>
                  </a:schemeClr>
                </a:solidFill>
              </a:rPr>
              <a:t>70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FB0DA-82ED-480F-8CB5-C8DEB033254F}"/>
              </a:ext>
            </a:extLst>
          </p:cNvPr>
          <p:cNvSpPr txBox="1"/>
          <p:nvPr/>
        </p:nvSpPr>
        <p:spPr>
          <a:xfrm>
            <a:off x="2220000" y="2320561"/>
            <a:ext cx="51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50000"/>
                  </a:schemeClr>
                </a:solidFill>
              </a:rPr>
              <a:t>70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E30186-1D27-4920-81CB-EF56324810F0}"/>
              </a:ext>
            </a:extLst>
          </p:cNvPr>
          <p:cNvSpPr txBox="1"/>
          <p:nvPr/>
        </p:nvSpPr>
        <p:spPr>
          <a:xfrm>
            <a:off x="3117733" y="3860525"/>
            <a:ext cx="995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50000"/>
                  </a:schemeClr>
                </a:solidFill>
              </a:rPr>
              <a:t>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AF1E0B-3432-4DB2-A14A-6BBF329CAEDF}"/>
              </a:ext>
            </a:extLst>
          </p:cNvPr>
          <p:cNvSpPr txBox="1"/>
          <p:nvPr/>
        </p:nvSpPr>
        <p:spPr>
          <a:xfrm>
            <a:off x="7024011" y="2101871"/>
            <a:ext cx="414337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AU" sz="2400" dirty="0"/>
              <a:t>24 ÷ 2 ÷ 3 = </a:t>
            </a:r>
          </a:p>
          <a:p>
            <a:pPr marL="342900" indent="-342900">
              <a:buAutoNum type="alphaLcParenR"/>
            </a:pPr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2 ÷ 3 ÷ 24 =</a:t>
            </a:r>
          </a:p>
          <a:p>
            <a:pPr marL="342900" indent="-342900">
              <a:buAutoNum type="alphaLcParenR"/>
            </a:pPr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15 – 7 – 6 =</a:t>
            </a:r>
          </a:p>
          <a:p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6 – 7 – 15 =</a:t>
            </a:r>
          </a:p>
          <a:p>
            <a:pPr marL="342900" indent="-342900">
              <a:buAutoNum type="alphaLcParenR"/>
            </a:pPr>
            <a:endParaRPr lang="en-AU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DB629B-02A4-4BE4-841F-D8A75CAFDA62}"/>
              </a:ext>
            </a:extLst>
          </p:cNvPr>
          <p:cNvSpPr txBox="1"/>
          <p:nvPr/>
        </p:nvSpPr>
        <p:spPr>
          <a:xfrm>
            <a:off x="3501709" y="1980959"/>
            <a:ext cx="2771774" cy="83099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2400" dirty="0"/>
              <a:t>What do you notice about the answers?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7A84E7-F2CC-45D9-8084-3591DE695ACF}"/>
              </a:ext>
            </a:extLst>
          </p:cNvPr>
          <p:cNvSpPr txBox="1"/>
          <p:nvPr/>
        </p:nvSpPr>
        <p:spPr>
          <a:xfrm>
            <a:off x="677974" y="4592611"/>
            <a:ext cx="4879517" cy="83099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2400" dirty="0"/>
              <a:t>Did you find calculating a or b easier? How about c or d?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4A7339-40BF-4500-8C1C-0488F46CC655}"/>
              </a:ext>
            </a:extLst>
          </p:cNvPr>
          <p:cNvSpPr txBox="1"/>
          <p:nvPr/>
        </p:nvSpPr>
        <p:spPr>
          <a:xfrm>
            <a:off x="581025" y="453509"/>
            <a:ext cx="112844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On your Left Hand Side </a:t>
            </a:r>
            <a:r>
              <a:rPr lang="en-AU" sz="2400" b="1" u="sng" dirty="0"/>
              <a:t>calculate each of the following </a:t>
            </a:r>
            <a:r>
              <a:rPr lang="en-AU" sz="2400" dirty="0"/>
              <a:t>(using you head – no calculators).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463126-F76E-43DB-A9B0-4320BF351364}"/>
              </a:ext>
            </a:extLst>
          </p:cNvPr>
          <p:cNvSpPr txBox="1"/>
          <p:nvPr/>
        </p:nvSpPr>
        <p:spPr>
          <a:xfrm>
            <a:off x="3038471" y="3064273"/>
            <a:ext cx="995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50000"/>
                  </a:schemeClr>
                </a:solidFill>
              </a:rPr>
              <a:t>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C45157-C14F-4137-A638-4D0D8896BC92}"/>
              </a:ext>
            </a:extLst>
          </p:cNvPr>
          <p:cNvSpPr/>
          <p:nvPr/>
        </p:nvSpPr>
        <p:spPr>
          <a:xfrm>
            <a:off x="300712" y="84177"/>
            <a:ext cx="16502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Associative Law</a:t>
            </a:r>
          </a:p>
        </p:txBody>
      </p:sp>
    </p:spTree>
    <p:extLst>
      <p:ext uri="{BB962C8B-B14F-4D97-AF65-F5344CB8AC3E}">
        <p14:creationId xmlns:p14="http://schemas.microsoft.com/office/powerpoint/2010/main" val="178383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0" grpId="0"/>
      <p:bldP spid="12" grpId="0"/>
      <p:bldP spid="2" grpId="0" animBg="1"/>
      <p:bldP spid="19" grpId="0" animBg="1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0B8E16-5EC8-4E14-B69E-8E8FFE08226B}"/>
              </a:ext>
            </a:extLst>
          </p:cNvPr>
          <p:cNvCxnSpPr/>
          <p:nvPr/>
        </p:nvCxnSpPr>
        <p:spPr>
          <a:xfrm>
            <a:off x="1654627" y="979714"/>
            <a:ext cx="0" cy="58782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FE992DAB-4389-45F1-AE74-98C5F78A67B0}"/>
              </a:ext>
            </a:extLst>
          </p:cNvPr>
          <p:cNvSpPr/>
          <p:nvPr/>
        </p:nvSpPr>
        <p:spPr>
          <a:xfrm>
            <a:off x="76209" y="3554516"/>
            <a:ext cx="12115791" cy="31611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D15DC-55FB-487F-83A7-4F750271FAA7}"/>
              </a:ext>
            </a:extLst>
          </p:cNvPr>
          <p:cNvSpPr txBox="1"/>
          <p:nvPr/>
        </p:nvSpPr>
        <p:spPr>
          <a:xfrm>
            <a:off x="478970" y="109249"/>
            <a:ext cx="6139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Topic: Laws of operations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57EFB7-2D10-4BF9-8AD3-4C7AB941E643}"/>
              </a:ext>
            </a:extLst>
          </p:cNvPr>
          <p:cNvSpPr txBox="1"/>
          <p:nvPr/>
        </p:nvSpPr>
        <p:spPr>
          <a:xfrm>
            <a:off x="478969" y="478581"/>
            <a:ext cx="8937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: How can the associative, commutative and distributive law make maths easier?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92853D-0643-451E-94DC-2CAE6F9C4148}"/>
              </a:ext>
            </a:extLst>
          </p:cNvPr>
          <p:cNvCxnSpPr/>
          <p:nvPr/>
        </p:nvCxnSpPr>
        <p:spPr>
          <a:xfrm>
            <a:off x="0" y="97971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F21438-1DE0-4AD9-A4E6-F1BAE859E8B5}"/>
              </a:ext>
            </a:extLst>
          </p:cNvPr>
          <p:cNvCxnSpPr/>
          <p:nvPr/>
        </p:nvCxnSpPr>
        <p:spPr>
          <a:xfrm>
            <a:off x="0" y="47858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604CFDF-631F-4CE9-851A-B8C7D359C26E}"/>
              </a:ext>
            </a:extLst>
          </p:cNvPr>
          <p:cNvSpPr txBox="1"/>
          <p:nvPr/>
        </p:nvSpPr>
        <p:spPr>
          <a:xfrm>
            <a:off x="9459684" y="142297"/>
            <a:ext cx="1240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569A7D-04B3-47D4-A691-6792D6D44917}"/>
              </a:ext>
            </a:extLst>
          </p:cNvPr>
          <p:cNvSpPr txBox="1"/>
          <p:nvPr/>
        </p:nvSpPr>
        <p:spPr>
          <a:xfrm>
            <a:off x="76197" y="-4073"/>
            <a:ext cx="4027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B8D8ED-36C5-4F71-AEA9-0C22542F84DC}"/>
              </a:ext>
            </a:extLst>
          </p:cNvPr>
          <p:cNvSpPr/>
          <p:nvPr/>
        </p:nvSpPr>
        <p:spPr>
          <a:xfrm>
            <a:off x="1894116" y="1324180"/>
            <a:ext cx="955765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0" i="0" dirty="0">
                <a:solidFill>
                  <a:srgbClr val="333333"/>
                </a:solidFill>
                <a:effectLst/>
              </a:rPr>
              <a:t>The "Associative Laws" say that it doesn't matter which we calculate first (when doing sums with </a:t>
            </a:r>
            <a:r>
              <a:rPr lang="en-AU" sz="2000" b="0" i="0" u="sng" dirty="0">
                <a:solidFill>
                  <a:srgbClr val="333333"/>
                </a:solidFill>
                <a:effectLst/>
              </a:rPr>
              <a:t>only all addition </a:t>
            </a:r>
            <a:r>
              <a:rPr lang="en-AU" sz="2000" b="1" i="0" u="sng" dirty="0">
                <a:solidFill>
                  <a:srgbClr val="333333"/>
                </a:solidFill>
                <a:effectLst/>
              </a:rPr>
              <a:t>or</a:t>
            </a:r>
            <a:r>
              <a:rPr lang="en-AU" sz="2000" b="0" i="0" u="sng" dirty="0">
                <a:solidFill>
                  <a:srgbClr val="333333"/>
                </a:solidFill>
                <a:effectLst/>
              </a:rPr>
              <a:t> all multiplication</a:t>
            </a:r>
            <a:r>
              <a:rPr lang="en-AU" sz="2000" b="0" i="0" dirty="0">
                <a:solidFill>
                  <a:srgbClr val="333333"/>
                </a:solidFill>
                <a:effectLst/>
              </a:rPr>
              <a:t>). So we can do the easy ones first.</a:t>
            </a:r>
          </a:p>
          <a:p>
            <a:endParaRPr lang="en-AU" sz="2000" dirty="0">
              <a:solidFill>
                <a:srgbClr val="333333"/>
              </a:solidFill>
            </a:endParaRPr>
          </a:p>
          <a:p>
            <a:r>
              <a:rPr lang="en-AU" sz="2000" b="0" i="0" dirty="0">
                <a:solidFill>
                  <a:srgbClr val="333333"/>
                </a:solidFill>
                <a:effectLst/>
              </a:rPr>
              <a:t>  </a:t>
            </a:r>
            <a:r>
              <a:rPr lang="en-AU" sz="2000" b="0" i="0" dirty="0" err="1">
                <a:solidFill>
                  <a:srgbClr val="333333"/>
                </a:solidFill>
                <a:effectLst/>
              </a:rPr>
              <a:t>eg</a:t>
            </a:r>
            <a:r>
              <a:rPr lang="en-AU" sz="2000" b="0" i="0" dirty="0">
                <a:solidFill>
                  <a:srgbClr val="333333"/>
                </a:solidFill>
                <a:effectLst/>
              </a:rPr>
              <a:t> 		        5 + 9 + 7 + 5 + 1</a:t>
            </a:r>
          </a:p>
          <a:p>
            <a:endParaRPr lang="en-AU" sz="2000" dirty="0">
              <a:solidFill>
                <a:srgbClr val="333333"/>
              </a:solidFill>
            </a:endParaRPr>
          </a:p>
          <a:p>
            <a:r>
              <a:rPr lang="en-AU" sz="2000" b="0" i="0" dirty="0">
                <a:solidFill>
                  <a:srgbClr val="333333"/>
                </a:solidFill>
                <a:effectLst/>
              </a:rPr>
              <a:t>		           5  + 5  +  9  + 1 +  7 =</a:t>
            </a:r>
          </a:p>
          <a:p>
            <a:r>
              <a:rPr lang="en-AU" sz="2000" dirty="0">
                <a:solidFill>
                  <a:srgbClr val="333333"/>
                </a:solidFill>
              </a:rPr>
              <a:t>			10  +  10  + 7 = 17</a:t>
            </a:r>
            <a:endParaRPr lang="en-AU" sz="2000" b="0" i="0" dirty="0">
              <a:solidFill>
                <a:srgbClr val="333333"/>
              </a:solidFill>
              <a:effectLst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42E7688-E310-4512-BB23-A68CB006C6E2}"/>
              </a:ext>
            </a:extLst>
          </p:cNvPr>
          <p:cNvCxnSpPr/>
          <p:nvPr/>
        </p:nvCxnSpPr>
        <p:spPr>
          <a:xfrm>
            <a:off x="4386946" y="2647619"/>
            <a:ext cx="206829" cy="298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429A5E0-444C-4253-A758-2735AF4695C4}"/>
              </a:ext>
            </a:extLst>
          </p:cNvPr>
          <p:cNvCxnSpPr/>
          <p:nvPr/>
        </p:nvCxnSpPr>
        <p:spPr>
          <a:xfrm flipH="1">
            <a:off x="5072746" y="2557518"/>
            <a:ext cx="261257" cy="421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CAA3524-382D-4764-BA39-E16CB265AF7C}"/>
              </a:ext>
            </a:extLst>
          </p:cNvPr>
          <p:cNvCxnSpPr/>
          <p:nvPr/>
        </p:nvCxnSpPr>
        <p:spPr>
          <a:xfrm>
            <a:off x="4680860" y="2586240"/>
            <a:ext cx="707572" cy="360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C345ED0-4266-4924-997F-AE1A6239A6C3}"/>
              </a:ext>
            </a:extLst>
          </p:cNvPr>
          <p:cNvCxnSpPr/>
          <p:nvPr/>
        </p:nvCxnSpPr>
        <p:spPr>
          <a:xfrm>
            <a:off x="5780318" y="2557518"/>
            <a:ext cx="0" cy="388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7A5D8B6-1761-42D5-8DD8-E732CE05F4FB}"/>
              </a:ext>
            </a:extLst>
          </p:cNvPr>
          <p:cNvCxnSpPr>
            <a:cxnSpLocks/>
          </p:cNvCxnSpPr>
          <p:nvPr/>
        </p:nvCxnSpPr>
        <p:spPr>
          <a:xfrm>
            <a:off x="5072746" y="2586240"/>
            <a:ext cx="1023257" cy="322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FD94132-0B91-4F47-BA1A-5F10C79D7840}"/>
              </a:ext>
            </a:extLst>
          </p:cNvPr>
          <p:cNvSpPr txBox="1"/>
          <p:nvPr/>
        </p:nvSpPr>
        <p:spPr>
          <a:xfrm>
            <a:off x="8512631" y="2278287"/>
            <a:ext cx="19811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   25 x 13  x 4</a:t>
            </a:r>
          </a:p>
          <a:p>
            <a:endParaRPr lang="en-AU" dirty="0"/>
          </a:p>
          <a:p>
            <a:r>
              <a:rPr lang="en-AU" dirty="0"/>
              <a:t>    25 x 4  x 13 = </a:t>
            </a:r>
          </a:p>
          <a:p>
            <a:r>
              <a:rPr lang="en-AU" dirty="0"/>
              <a:t>     100  x 13 = 1300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A66EDB0-633B-4DDA-A7B4-CBC125DC6CA6}"/>
              </a:ext>
            </a:extLst>
          </p:cNvPr>
          <p:cNvCxnSpPr>
            <a:cxnSpLocks/>
          </p:cNvCxnSpPr>
          <p:nvPr/>
        </p:nvCxnSpPr>
        <p:spPr>
          <a:xfrm>
            <a:off x="8904518" y="2609609"/>
            <a:ext cx="0" cy="298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A0BB4A-E4B5-4CFD-B1DF-112ACD9D9E45}"/>
              </a:ext>
            </a:extLst>
          </p:cNvPr>
          <p:cNvCxnSpPr>
            <a:cxnSpLocks/>
          </p:cNvCxnSpPr>
          <p:nvPr/>
        </p:nvCxnSpPr>
        <p:spPr>
          <a:xfrm flipH="1">
            <a:off x="9296405" y="2557518"/>
            <a:ext cx="500741" cy="350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523805E-7118-4461-8BB5-FEE3E9515D8F}"/>
              </a:ext>
            </a:extLst>
          </p:cNvPr>
          <p:cNvCxnSpPr>
            <a:cxnSpLocks/>
          </p:cNvCxnSpPr>
          <p:nvPr/>
        </p:nvCxnSpPr>
        <p:spPr>
          <a:xfrm>
            <a:off x="9397090" y="2557518"/>
            <a:ext cx="302083" cy="350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BDAA7EC-D05E-4255-A2AF-1F4E9D7296CB}"/>
              </a:ext>
            </a:extLst>
          </p:cNvPr>
          <p:cNvSpPr txBox="1"/>
          <p:nvPr/>
        </p:nvSpPr>
        <p:spPr>
          <a:xfrm>
            <a:off x="61825" y="845643"/>
            <a:ext cx="4564605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2400" dirty="0"/>
              <a:t>Add this to your RHS notes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A27DAE-CEC1-4639-BB17-CA494CAEF827}"/>
              </a:ext>
            </a:extLst>
          </p:cNvPr>
          <p:cNvSpPr txBox="1"/>
          <p:nvPr/>
        </p:nvSpPr>
        <p:spPr>
          <a:xfrm>
            <a:off x="76197" y="3502125"/>
            <a:ext cx="115170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On your LHS do the following practise.</a:t>
            </a:r>
          </a:p>
          <a:p>
            <a:r>
              <a:rPr lang="en-AU" sz="2000" dirty="0"/>
              <a:t>Use the associative law to make these calculations easier, then solve them.</a:t>
            </a:r>
            <a:endParaRPr lang="en-AU" sz="20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4572A1-7056-478C-AE33-CA2C01A71409}"/>
              </a:ext>
            </a:extLst>
          </p:cNvPr>
          <p:cNvSpPr txBox="1"/>
          <p:nvPr/>
        </p:nvSpPr>
        <p:spPr>
          <a:xfrm>
            <a:off x="500735" y="4204366"/>
            <a:ext cx="114408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err="1">
                <a:solidFill>
                  <a:srgbClr val="0070C0"/>
                </a:solidFill>
              </a:rPr>
              <a:t>Eg</a:t>
            </a:r>
            <a:r>
              <a:rPr lang="en-AU" sz="2400" dirty="0">
                <a:solidFill>
                  <a:srgbClr val="0070C0"/>
                </a:solidFill>
              </a:rPr>
              <a:t>  a) 2 x 9 x 5 = </a:t>
            </a:r>
            <a:r>
              <a:rPr lang="en-AU" sz="2400" u="sng" dirty="0">
                <a:solidFill>
                  <a:srgbClr val="0070C0"/>
                </a:solidFill>
              </a:rPr>
              <a:t>5 x 2 x 9 </a:t>
            </a:r>
            <a:r>
              <a:rPr lang="en-AU" sz="2400" dirty="0">
                <a:solidFill>
                  <a:srgbClr val="0070C0"/>
                </a:solidFill>
              </a:rPr>
              <a:t>		b)    14 + 21 + 6  = </a:t>
            </a:r>
            <a:r>
              <a:rPr lang="en-AU" sz="2400" u="sng" dirty="0">
                <a:solidFill>
                  <a:srgbClr val="0070C0"/>
                </a:solidFill>
              </a:rPr>
              <a:t>14 + 6 + 21</a:t>
            </a:r>
            <a:r>
              <a:rPr lang="en-AU" sz="2400" dirty="0">
                <a:solidFill>
                  <a:srgbClr val="0070C0"/>
                </a:solidFill>
              </a:rPr>
              <a:t>                </a:t>
            </a:r>
          </a:p>
          <a:p>
            <a:r>
              <a:rPr lang="en-AU" sz="2400" dirty="0">
                <a:solidFill>
                  <a:srgbClr val="0070C0"/>
                </a:solidFill>
              </a:rPr>
              <a:t>		= __</a:t>
            </a:r>
            <a:r>
              <a:rPr lang="en-AU" sz="2400" u="sng" dirty="0">
                <a:solidFill>
                  <a:srgbClr val="0070C0"/>
                </a:solidFill>
              </a:rPr>
              <a:t>90</a:t>
            </a:r>
            <a:r>
              <a:rPr lang="en-AU" sz="2400" dirty="0">
                <a:solidFill>
                  <a:srgbClr val="0070C0"/>
                </a:solidFill>
              </a:rPr>
              <a:t>__				  =  ___</a:t>
            </a:r>
            <a:r>
              <a:rPr lang="en-AU" sz="2400" u="sng" dirty="0">
                <a:solidFill>
                  <a:srgbClr val="0070C0"/>
                </a:solidFill>
              </a:rPr>
              <a:t>41</a:t>
            </a:r>
            <a:r>
              <a:rPr lang="en-AU" sz="2400" dirty="0">
                <a:solidFill>
                  <a:srgbClr val="0070C0"/>
                </a:solidFill>
              </a:rPr>
              <a:t>__	</a:t>
            </a:r>
          </a:p>
          <a:p>
            <a:pPr marL="342900" indent="-342900">
              <a:buAutoNum type="alphaLcParenR" startAt="3"/>
            </a:pPr>
            <a:r>
              <a:rPr lang="en-AU" sz="2400" dirty="0"/>
              <a:t>5 x 13 x 2= ________      d)   6 + 5 + 34 = _________     e) 9 + 13 + 21 + 8 + 7= _________</a:t>
            </a:r>
          </a:p>
          <a:p>
            <a:pPr lvl="3"/>
            <a:r>
              <a:rPr lang="en-AU" sz="2400" dirty="0"/>
              <a:t> = ________		       = ________ 			      = ________</a:t>
            </a:r>
          </a:p>
          <a:p>
            <a:r>
              <a:rPr lang="en-AU" sz="2400" dirty="0"/>
              <a:t>f) 4 x 3 x 5  = ________        g)    86 + 91 + 14 = ________  h) 50 x 7 x 2= _________</a:t>
            </a:r>
          </a:p>
          <a:p>
            <a:r>
              <a:rPr lang="en-AU" sz="2400" dirty="0"/>
              <a:t>	      = ________			 = ________		 = ________</a:t>
            </a:r>
          </a:p>
        </p:txBody>
      </p:sp>
    </p:spTree>
    <p:extLst>
      <p:ext uri="{BB962C8B-B14F-4D97-AF65-F5344CB8AC3E}">
        <p14:creationId xmlns:p14="http://schemas.microsoft.com/office/powerpoint/2010/main" val="424870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0" grpId="0"/>
      <p:bldP spid="4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985E4A-ABD2-470B-AA1C-F4CC77985A8C}"/>
              </a:ext>
            </a:extLst>
          </p:cNvPr>
          <p:cNvSpPr txBox="1"/>
          <p:nvPr/>
        </p:nvSpPr>
        <p:spPr>
          <a:xfrm>
            <a:off x="374786" y="1604497"/>
            <a:ext cx="414337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AU" sz="2400" dirty="0"/>
              <a:t>5 x 6  = </a:t>
            </a:r>
          </a:p>
          <a:p>
            <a:pPr marL="342900" indent="-342900">
              <a:buAutoNum type="alphaLcParenR"/>
            </a:pPr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5 x 4   +  5 x 2  =</a:t>
            </a:r>
          </a:p>
          <a:p>
            <a:pPr marL="342900" indent="-342900">
              <a:buAutoNum type="alphaLcParenR"/>
            </a:pPr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14 x 7 =</a:t>
            </a:r>
          </a:p>
          <a:p>
            <a:endParaRPr lang="en-AU" sz="2400" dirty="0"/>
          </a:p>
          <a:p>
            <a:pPr marL="342900" indent="-342900">
              <a:buAutoNum type="alphaLcParenR"/>
            </a:pPr>
            <a:r>
              <a:rPr lang="en-AU" sz="2400" dirty="0"/>
              <a:t>10 x 7 + 4 x 7 =</a:t>
            </a:r>
          </a:p>
          <a:p>
            <a:pPr marL="342900" indent="-342900">
              <a:buAutoNum type="alphaLcParenR"/>
            </a:pPr>
            <a:endParaRPr lang="en-A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BDDDA-EB95-4A69-B467-4C1CC9141952}"/>
              </a:ext>
            </a:extLst>
          </p:cNvPr>
          <p:cNvSpPr txBox="1"/>
          <p:nvPr/>
        </p:nvSpPr>
        <p:spPr>
          <a:xfrm>
            <a:off x="2115224" y="1608821"/>
            <a:ext cx="51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50000"/>
                  </a:schemeClr>
                </a:solidFill>
              </a:rPr>
              <a:t>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FB0DA-82ED-480F-8CB5-C8DEB033254F}"/>
              </a:ext>
            </a:extLst>
          </p:cNvPr>
          <p:cNvSpPr txBox="1"/>
          <p:nvPr/>
        </p:nvSpPr>
        <p:spPr>
          <a:xfrm>
            <a:off x="2875387" y="2343189"/>
            <a:ext cx="51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50000"/>
                  </a:schemeClr>
                </a:solidFill>
              </a:rPr>
              <a:t>30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E30186-1D27-4920-81CB-EF56324810F0}"/>
              </a:ext>
            </a:extLst>
          </p:cNvPr>
          <p:cNvSpPr txBox="1"/>
          <p:nvPr/>
        </p:nvSpPr>
        <p:spPr>
          <a:xfrm>
            <a:off x="2666511" y="3786284"/>
            <a:ext cx="995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50000"/>
                  </a:schemeClr>
                </a:solidFill>
              </a:rPr>
              <a:t>98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DB629B-02A4-4BE4-841F-D8A75CAFDA62}"/>
              </a:ext>
            </a:extLst>
          </p:cNvPr>
          <p:cNvSpPr txBox="1"/>
          <p:nvPr/>
        </p:nvSpPr>
        <p:spPr>
          <a:xfrm>
            <a:off x="3949048" y="1743024"/>
            <a:ext cx="3069713" cy="83099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2400" dirty="0"/>
              <a:t>What do you notice about the questions?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7A84E7-F2CC-45D9-8084-3591DE695ACF}"/>
              </a:ext>
            </a:extLst>
          </p:cNvPr>
          <p:cNvSpPr txBox="1"/>
          <p:nvPr/>
        </p:nvSpPr>
        <p:spPr>
          <a:xfrm>
            <a:off x="2078402" y="4726701"/>
            <a:ext cx="4879517" cy="83099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2400" dirty="0"/>
              <a:t>Did you find calculating a or b easier? How about c or d?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4A7339-40BF-4500-8C1C-0488F46CC655}"/>
              </a:ext>
            </a:extLst>
          </p:cNvPr>
          <p:cNvSpPr txBox="1"/>
          <p:nvPr/>
        </p:nvSpPr>
        <p:spPr>
          <a:xfrm>
            <a:off x="581025" y="453509"/>
            <a:ext cx="112844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On your Left Hand Side </a:t>
            </a:r>
            <a:r>
              <a:rPr lang="en-AU" sz="2400" b="1" u="sng" dirty="0"/>
              <a:t>calculate each of the following </a:t>
            </a:r>
            <a:r>
              <a:rPr lang="en-AU" sz="2400" dirty="0"/>
              <a:t>(using you head – no calculators).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463126-F76E-43DB-A9B0-4320BF351364}"/>
              </a:ext>
            </a:extLst>
          </p:cNvPr>
          <p:cNvSpPr txBox="1"/>
          <p:nvPr/>
        </p:nvSpPr>
        <p:spPr>
          <a:xfrm>
            <a:off x="1956278" y="3127991"/>
            <a:ext cx="995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chemeClr val="accent6">
                    <a:lumMod val="50000"/>
                  </a:schemeClr>
                </a:solidFill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488040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0" grpId="0"/>
      <p:bldP spid="2" grpId="0" animBg="1"/>
      <p:bldP spid="19" grpId="0" animBg="1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FD15DC-55FB-487F-83A7-4F750271FAA7}"/>
              </a:ext>
            </a:extLst>
          </p:cNvPr>
          <p:cNvSpPr txBox="1"/>
          <p:nvPr/>
        </p:nvSpPr>
        <p:spPr>
          <a:xfrm>
            <a:off x="478970" y="109249"/>
            <a:ext cx="6139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Topic: Laws of operations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57EFB7-2D10-4BF9-8AD3-4C7AB941E643}"/>
              </a:ext>
            </a:extLst>
          </p:cNvPr>
          <p:cNvSpPr txBox="1"/>
          <p:nvPr/>
        </p:nvSpPr>
        <p:spPr>
          <a:xfrm>
            <a:off x="478969" y="478581"/>
            <a:ext cx="8937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: How can the associative, commutative and distributive law make maths easier?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92853D-0643-451E-94DC-2CAE6F9C4148}"/>
              </a:ext>
            </a:extLst>
          </p:cNvPr>
          <p:cNvCxnSpPr/>
          <p:nvPr/>
        </p:nvCxnSpPr>
        <p:spPr>
          <a:xfrm>
            <a:off x="0" y="97971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F21438-1DE0-4AD9-A4E6-F1BAE859E8B5}"/>
              </a:ext>
            </a:extLst>
          </p:cNvPr>
          <p:cNvCxnSpPr/>
          <p:nvPr/>
        </p:nvCxnSpPr>
        <p:spPr>
          <a:xfrm>
            <a:off x="0" y="47858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0B8E16-5EC8-4E14-B69E-8E8FFE08226B}"/>
              </a:ext>
            </a:extLst>
          </p:cNvPr>
          <p:cNvCxnSpPr/>
          <p:nvPr/>
        </p:nvCxnSpPr>
        <p:spPr>
          <a:xfrm>
            <a:off x="1654627" y="979714"/>
            <a:ext cx="0" cy="58782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604CFDF-631F-4CE9-851A-B8C7D359C26E}"/>
              </a:ext>
            </a:extLst>
          </p:cNvPr>
          <p:cNvSpPr txBox="1"/>
          <p:nvPr/>
        </p:nvSpPr>
        <p:spPr>
          <a:xfrm>
            <a:off x="9459684" y="142297"/>
            <a:ext cx="1240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569A7D-04B3-47D4-A691-6792D6D44917}"/>
              </a:ext>
            </a:extLst>
          </p:cNvPr>
          <p:cNvSpPr txBox="1"/>
          <p:nvPr/>
        </p:nvSpPr>
        <p:spPr>
          <a:xfrm>
            <a:off x="76197" y="-4073"/>
            <a:ext cx="4027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768CB69-2B60-4900-A376-140339D20C43}"/>
              </a:ext>
            </a:extLst>
          </p:cNvPr>
          <p:cNvSpPr/>
          <p:nvPr/>
        </p:nvSpPr>
        <p:spPr>
          <a:xfrm>
            <a:off x="1654627" y="1456689"/>
            <a:ext cx="938892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0" i="0" dirty="0">
                <a:solidFill>
                  <a:srgbClr val="333333"/>
                </a:solidFill>
                <a:effectLst/>
              </a:rPr>
              <a:t>The “Distributive Law" allows us to break up a hard multiplication into easier pieces and then add the answers together to get the solution.</a:t>
            </a:r>
          </a:p>
          <a:p>
            <a:r>
              <a:rPr lang="en-AU" sz="2000" dirty="0">
                <a:solidFill>
                  <a:srgbClr val="333333"/>
                </a:solidFill>
              </a:rPr>
              <a:t>	</a:t>
            </a:r>
            <a:r>
              <a:rPr lang="en-AU" sz="2000" dirty="0" err="1">
                <a:solidFill>
                  <a:srgbClr val="333333"/>
                </a:solidFill>
              </a:rPr>
              <a:t>eg</a:t>
            </a:r>
            <a:r>
              <a:rPr lang="en-AU" sz="2000" dirty="0">
                <a:solidFill>
                  <a:srgbClr val="333333"/>
                </a:solidFill>
              </a:rPr>
              <a:t>    14  x  6   =     10 x 6   + 4 x 6</a:t>
            </a:r>
          </a:p>
          <a:p>
            <a:r>
              <a:rPr lang="en-AU" sz="2000" b="0" i="0" dirty="0">
                <a:solidFill>
                  <a:srgbClr val="333333"/>
                </a:solidFill>
                <a:effectLst/>
              </a:rPr>
              <a:t>		        =      60    +  24</a:t>
            </a:r>
          </a:p>
          <a:p>
            <a:r>
              <a:rPr lang="en-AU" sz="2000" dirty="0">
                <a:solidFill>
                  <a:srgbClr val="333333"/>
                </a:solidFill>
              </a:rPr>
              <a:t>		        =       84</a:t>
            </a:r>
            <a:endParaRPr lang="en-AU" sz="2000" b="0" i="0" dirty="0">
              <a:solidFill>
                <a:srgbClr val="333333"/>
              </a:solidFill>
              <a:effectLst/>
            </a:endParaRPr>
          </a:p>
          <a:p>
            <a:endParaRPr lang="en-AU" sz="2000" dirty="0">
              <a:solidFill>
                <a:srgbClr val="333333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A01487-6D68-47E2-8312-5523B910834B}"/>
              </a:ext>
            </a:extLst>
          </p:cNvPr>
          <p:cNvSpPr/>
          <p:nvPr/>
        </p:nvSpPr>
        <p:spPr>
          <a:xfrm>
            <a:off x="76197" y="3175965"/>
            <a:ext cx="12028704" cy="34316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C6DA01-631A-4063-896E-1E9ADA15C3FD}"/>
              </a:ext>
            </a:extLst>
          </p:cNvPr>
          <p:cNvSpPr txBox="1"/>
          <p:nvPr/>
        </p:nvSpPr>
        <p:spPr>
          <a:xfrm>
            <a:off x="76197" y="3154386"/>
            <a:ext cx="11517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Use the distributive law to make these calculations easier, the solve them.</a:t>
            </a:r>
            <a:endParaRPr lang="en-AU" sz="20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80172E-3119-41BF-932F-11B12070083B}"/>
              </a:ext>
            </a:extLst>
          </p:cNvPr>
          <p:cNvSpPr txBox="1"/>
          <p:nvPr/>
        </p:nvSpPr>
        <p:spPr>
          <a:xfrm>
            <a:off x="664013" y="3545062"/>
            <a:ext cx="114408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err="1">
                <a:solidFill>
                  <a:srgbClr val="0070C0"/>
                </a:solidFill>
              </a:rPr>
              <a:t>Eg</a:t>
            </a:r>
            <a:r>
              <a:rPr lang="en-AU" sz="2400" dirty="0">
                <a:solidFill>
                  <a:srgbClr val="0070C0"/>
                </a:solidFill>
              </a:rPr>
              <a:t>  a) 3 x 13 = </a:t>
            </a:r>
            <a:r>
              <a:rPr lang="en-AU" sz="2400" u="sng" dirty="0">
                <a:solidFill>
                  <a:srgbClr val="0070C0"/>
                </a:solidFill>
              </a:rPr>
              <a:t>3 x 10 + 3 x 3 </a:t>
            </a:r>
            <a:r>
              <a:rPr lang="en-AU" sz="2400" dirty="0">
                <a:solidFill>
                  <a:srgbClr val="0070C0"/>
                </a:solidFill>
              </a:rPr>
              <a:t>		b)    5 x 126 = </a:t>
            </a:r>
            <a:r>
              <a:rPr lang="en-AU" sz="2400" u="sng" dirty="0">
                <a:solidFill>
                  <a:srgbClr val="0070C0"/>
                </a:solidFill>
              </a:rPr>
              <a:t>5 x 100 + 5 x 20 + 5 x 6</a:t>
            </a:r>
            <a:endParaRPr lang="en-AU" sz="2400" dirty="0">
              <a:solidFill>
                <a:srgbClr val="0070C0"/>
              </a:solidFill>
            </a:endParaRPr>
          </a:p>
          <a:p>
            <a:r>
              <a:rPr lang="en-AU" sz="2400" dirty="0">
                <a:solidFill>
                  <a:srgbClr val="0070C0"/>
                </a:solidFill>
              </a:rPr>
              <a:t>	          = _</a:t>
            </a:r>
            <a:r>
              <a:rPr lang="en-AU" sz="2400" u="sng" dirty="0">
                <a:solidFill>
                  <a:srgbClr val="0070C0"/>
                </a:solidFill>
              </a:rPr>
              <a:t>30 + 9 </a:t>
            </a:r>
            <a:r>
              <a:rPr lang="en-AU" sz="2400" dirty="0">
                <a:solidFill>
                  <a:srgbClr val="0070C0"/>
                </a:solidFill>
              </a:rPr>
              <a:t>= </a:t>
            </a:r>
            <a:r>
              <a:rPr lang="en-AU" sz="2400" u="sng" dirty="0">
                <a:solidFill>
                  <a:srgbClr val="0070C0"/>
                </a:solidFill>
              </a:rPr>
              <a:t>39</a:t>
            </a:r>
            <a:r>
              <a:rPr lang="en-AU" sz="2400" dirty="0">
                <a:solidFill>
                  <a:srgbClr val="0070C0"/>
                </a:solidFill>
              </a:rPr>
              <a:t>			         = </a:t>
            </a:r>
            <a:r>
              <a:rPr lang="en-AU" sz="2400" u="sng" dirty="0">
                <a:solidFill>
                  <a:srgbClr val="0070C0"/>
                </a:solidFill>
              </a:rPr>
              <a:t>500 + 100 + 30</a:t>
            </a:r>
            <a:r>
              <a:rPr lang="en-AU" sz="2400" dirty="0">
                <a:solidFill>
                  <a:srgbClr val="0070C0"/>
                </a:solidFill>
              </a:rPr>
              <a:t>  =  </a:t>
            </a:r>
            <a:r>
              <a:rPr lang="en-AU" sz="2400" u="sng" dirty="0">
                <a:solidFill>
                  <a:srgbClr val="0070C0"/>
                </a:solidFill>
              </a:rPr>
              <a:t>630</a:t>
            </a:r>
          </a:p>
          <a:p>
            <a:endParaRPr lang="en-AU" sz="2400" u="sng" dirty="0">
              <a:solidFill>
                <a:srgbClr val="0070C0"/>
              </a:solidFill>
            </a:endParaRPr>
          </a:p>
          <a:p>
            <a:pPr marL="342900" indent="-342900">
              <a:buAutoNum type="alphaLcParenR" startAt="3"/>
            </a:pPr>
            <a:r>
              <a:rPr lang="en-AU" sz="2400" dirty="0"/>
              <a:t>5 x 13 x 2= ________      d)   6 + 5 + 34 = _________     e) 9 + 13 + 21 + 8 + 7= _________</a:t>
            </a:r>
          </a:p>
          <a:p>
            <a:pPr marL="342900" indent="-342900">
              <a:buAutoNum type="alphaLcParenR" startAt="3"/>
            </a:pPr>
            <a:endParaRPr lang="en-AU" sz="2400" dirty="0"/>
          </a:p>
          <a:p>
            <a:r>
              <a:rPr lang="en-AU" sz="2400" dirty="0"/>
              <a:t>f) 4 x 3 x 5  = ________        g)    86 + 91 + 14 = ________  h) 50 x 7 x 2= _________</a:t>
            </a:r>
          </a:p>
          <a:p>
            <a:endParaRPr lang="en-AU" sz="2400" dirty="0"/>
          </a:p>
          <a:p>
            <a:r>
              <a:rPr lang="en-AU" sz="2400" dirty="0" err="1"/>
              <a:t>i</a:t>
            </a:r>
            <a:r>
              <a:rPr lang="en-AU" sz="2400" dirty="0"/>
              <a:t>) 17 x 12  = _________        j)   327 x 3 = ________ 	         k) 2154 x 2 = _________	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F5A38B-9E1D-4E96-BA99-F64A3BEDE30B}"/>
              </a:ext>
            </a:extLst>
          </p:cNvPr>
          <p:cNvSpPr txBox="1"/>
          <p:nvPr/>
        </p:nvSpPr>
        <p:spPr>
          <a:xfrm>
            <a:off x="76197" y="845643"/>
            <a:ext cx="4564605" cy="46166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2400" dirty="0"/>
              <a:t>Add this to your RHS notes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73B4BD-D2DD-44D3-A8FF-42F5F393FB1B}"/>
              </a:ext>
            </a:extLst>
          </p:cNvPr>
          <p:cNvSpPr/>
          <p:nvPr/>
        </p:nvSpPr>
        <p:spPr>
          <a:xfrm>
            <a:off x="7995550" y="2064032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000" dirty="0">
                <a:solidFill>
                  <a:srgbClr val="333333"/>
                </a:solidFill>
              </a:rPr>
              <a:t>214  x  3   =     200 x 3 + 10 x 3 + 4 x 3</a:t>
            </a:r>
          </a:p>
          <a:p>
            <a:r>
              <a:rPr lang="en-AU" sz="2000" dirty="0">
                <a:solidFill>
                  <a:srgbClr val="333333"/>
                </a:solidFill>
              </a:rPr>
              <a:t>	=      600    +  30   + 12</a:t>
            </a:r>
          </a:p>
          <a:p>
            <a:r>
              <a:rPr lang="en-AU" sz="2000" dirty="0">
                <a:solidFill>
                  <a:srgbClr val="333333"/>
                </a:solidFill>
              </a:rPr>
              <a:t>	=       642</a:t>
            </a:r>
          </a:p>
        </p:txBody>
      </p:sp>
    </p:spTree>
    <p:extLst>
      <p:ext uri="{BB962C8B-B14F-4D97-AF65-F5344CB8AC3E}">
        <p14:creationId xmlns:p14="http://schemas.microsoft.com/office/powerpoint/2010/main" val="918594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A77AF23-FB81-4ABD-888F-8BAC98628B54}"/>
              </a:ext>
            </a:extLst>
          </p:cNvPr>
          <p:cNvSpPr txBox="1"/>
          <p:nvPr/>
        </p:nvSpPr>
        <p:spPr>
          <a:xfrm>
            <a:off x="587829" y="272143"/>
            <a:ext cx="91984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u="sng" dirty="0"/>
              <a:t>Think Pair Share</a:t>
            </a:r>
            <a:r>
              <a:rPr lang="en-AU" dirty="0"/>
              <a:t>.</a:t>
            </a:r>
          </a:p>
          <a:p>
            <a:r>
              <a:rPr lang="en-AU" dirty="0"/>
              <a:t>	Think – what was today’s lesson about?  How can I summarise it?</a:t>
            </a:r>
          </a:p>
          <a:p>
            <a:r>
              <a:rPr lang="en-AU" dirty="0"/>
              <a:t>	Pair  -  Share you idea for a summary with your neighbour.</a:t>
            </a:r>
          </a:p>
          <a:p>
            <a:r>
              <a:rPr lang="en-AU" dirty="0"/>
              <a:t>	Share – Do you have a good summary?  Share it with the class when asked.</a:t>
            </a:r>
          </a:p>
          <a:p>
            <a:endParaRPr lang="en-AU" dirty="0"/>
          </a:p>
          <a:p>
            <a:r>
              <a:rPr lang="en-AU" u="sng" dirty="0"/>
              <a:t>Add to your glossary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FC351C-EAF0-4413-B1F4-34E139249681}"/>
              </a:ext>
            </a:extLst>
          </p:cNvPr>
          <p:cNvSpPr/>
          <p:nvPr/>
        </p:nvSpPr>
        <p:spPr>
          <a:xfrm>
            <a:off x="1246414" y="2026469"/>
            <a:ext cx="96991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Commutative Laws  -  says we can swap numbers around if adding or multiplying.</a:t>
            </a:r>
          </a:p>
          <a:p>
            <a:r>
              <a:rPr lang="en-AU" dirty="0">
                <a:solidFill>
                  <a:srgbClr val="333333"/>
                </a:solidFill>
              </a:rPr>
              <a:t>Associative Laws -  says we can do the easy ones first when </a:t>
            </a:r>
            <a:r>
              <a:rPr lang="en-AU" dirty="0"/>
              <a:t>adding or multiplying.</a:t>
            </a:r>
          </a:p>
          <a:p>
            <a:r>
              <a:rPr lang="en-AU" dirty="0">
                <a:solidFill>
                  <a:srgbClr val="333333"/>
                </a:solidFill>
              </a:rPr>
              <a:t>Distributive Law – lets us break up multiplication into easier pieces then add the answers together.</a:t>
            </a:r>
            <a:endParaRPr lang="en-AU" dirty="0"/>
          </a:p>
          <a:p>
            <a:endParaRPr lang="en-A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C7E2DE-4537-4F96-94D3-B4515D346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2363" y="2998421"/>
            <a:ext cx="3561808" cy="362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129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802</Words>
  <Application>Microsoft Office PowerPoint</Application>
  <PresentationFormat>Widescreen</PresentationFormat>
  <Paragraphs>187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James WILSON</cp:lastModifiedBy>
  <cp:revision>20</cp:revision>
  <dcterms:created xsi:type="dcterms:W3CDTF">2019-02-17T01:41:53Z</dcterms:created>
  <dcterms:modified xsi:type="dcterms:W3CDTF">2019-02-17T08:21:39Z</dcterms:modified>
</cp:coreProperties>
</file>
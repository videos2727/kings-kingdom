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57" r:id="rId4"/>
    <p:sldId id="269" r:id="rId5"/>
    <p:sldId id="270" r:id="rId6"/>
    <p:sldId id="271" r:id="rId7"/>
    <p:sldId id="272" r:id="rId8"/>
    <p:sldId id="258" r:id="rId9"/>
    <p:sldId id="259" r:id="rId10"/>
    <p:sldId id="265" r:id="rId11"/>
    <p:sldId id="263" r:id="rId12"/>
    <p:sldId id="264" r:id="rId13"/>
    <p:sldId id="262" r:id="rId14"/>
    <p:sldId id="261" r:id="rId15"/>
    <p:sldId id="26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85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72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56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5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960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45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90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59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477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51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72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02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5808F-2BCA-49E3-A3C4-98EBB87D5707}" type="datetimeFigureOut">
              <a:rPr lang="en-GB" smtClean="0"/>
              <a:t>24/02/2019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D9299-708C-426D-B3DB-BFDD31DE3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61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476672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Topic: Number</a:t>
            </a:r>
          </a:p>
          <a:p>
            <a:r>
              <a:rPr lang="en-AU" sz="2400" dirty="0" smtClean="0"/>
              <a:t>EQ: How do I add and subtract decimals?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1307669"/>
            <a:ext cx="316230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4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476672"/>
            <a:ext cx="741682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/>
              <a:t>BUT FIRST…</a:t>
            </a:r>
            <a:endParaRPr lang="en-AU" sz="3200" dirty="0"/>
          </a:p>
          <a:p>
            <a:r>
              <a:rPr lang="en-AU" sz="2400" dirty="0" smtClean="0"/>
              <a:t>Let’s review what we did last lesson.</a:t>
            </a:r>
          </a:p>
          <a:p>
            <a:r>
              <a:rPr lang="en-AU" sz="2400" dirty="0" smtClean="0"/>
              <a:t>Turn to the last set of notes we did.</a:t>
            </a:r>
          </a:p>
          <a:p>
            <a:endParaRPr lang="en-AU" sz="2400" dirty="0"/>
          </a:p>
          <a:p>
            <a:r>
              <a:rPr lang="en-AU" sz="2400" dirty="0" smtClean="0"/>
              <a:t>You have </a:t>
            </a:r>
            <a:r>
              <a:rPr lang="en-AU" sz="2400" dirty="0"/>
              <a:t>1</a:t>
            </a:r>
            <a:r>
              <a:rPr lang="en-AU" sz="2400" dirty="0" smtClean="0"/>
              <a:t> minute 38 seconds to talk to your shoulder partner about what we did. </a:t>
            </a:r>
          </a:p>
          <a:p>
            <a:endParaRPr lang="en-AU" sz="2400" dirty="0"/>
          </a:p>
          <a:p>
            <a:r>
              <a:rPr lang="en-AU" sz="2400" dirty="0" smtClean="0"/>
              <a:t>Let’s brainstorm…</a:t>
            </a:r>
          </a:p>
          <a:p>
            <a:endParaRPr lang="en-AU" sz="2400" dirty="0"/>
          </a:p>
          <a:p>
            <a:r>
              <a:rPr lang="en-AU" sz="2400" dirty="0" smtClean="0"/>
              <a:t>Are your notes complete? Do you need to add anything? Add extra information in a different colour. </a:t>
            </a:r>
          </a:p>
          <a:p>
            <a:endParaRPr lang="en-AU" sz="2400" dirty="0"/>
          </a:p>
          <a:p>
            <a:r>
              <a:rPr lang="en-AU" sz="2400" dirty="0" smtClean="0"/>
              <a:t>Do you have a summary? If not, try to come up with a sentence to explain it.</a:t>
            </a:r>
          </a:p>
          <a:p>
            <a:endParaRPr lang="en-AU" sz="2400" dirty="0"/>
          </a:p>
          <a:p>
            <a:r>
              <a:rPr lang="en-AU" sz="2400" dirty="0" smtClean="0"/>
              <a:t>Add the topic and EQ to your contents page.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8107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116632"/>
            <a:ext cx="6192688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00B050"/>
                </a:solidFill>
              </a:rPr>
              <a:t>EQ: How do I </a:t>
            </a:r>
            <a:r>
              <a:rPr lang="en-GB" sz="2400" dirty="0" smtClean="0">
                <a:solidFill>
                  <a:srgbClr val="00B050"/>
                </a:solidFill>
              </a:rPr>
              <a:t>add and subtract </a:t>
            </a:r>
            <a:r>
              <a:rPr lang="en-GB" sz="2400" dirty="0" smtClean="0">
                <a:solidFill>
                  <a:srgbClr val="00B050"/>
                </a:solidFill>
              </a:rPr>
              <a:t>decimals?</a:t>
            </a:r>
            <a:endParaRPr lang="en-GB" sz="2400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6874" y="692696"/>
            <a:ext cx="8399582" cy="517064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36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STARTER:</a:t>
            </a:r>
            <a:endParaRPr lang="en-GB" sz="2400" dirty="0" smtClean="0"/>
          </a:p>
          <a:p>
            <a:pPr marL="457200" indent="-457200">
              <a:buAutoNum type="arabicParenR"/>
            </a:pPr>
            <a:r>
              <a:rPr lang="en-GB" sz="2400" dirty="0" smtClean="0"/>
              <a:t>56 - 21	2) </a:t>
            </a:r>
            <a:r>
              <a:rPr lang="en-GB" sz="2400" dirty="0" smtClean="0"/>
              <a:t>60+ </a:t>
            </a:r>
            <a:r>
              <a:rPr lang="en-GB" sz="2400" dirty="0" smtClean="0"/>
              <a:t>37	 3) 600 – 84	</a:t>
            </a:r>
            <a:r>
              <a:rPr lang="en-GB" sz="2400" dirty="0"/>
              <a:t>	</a:t>
            </a:r>
            <a:r>
              <a:rPr lang="en-GB" sz="2400" dirty="0" smtClean="0"/>
              <a:t>4) 1200 </a:t>
            </a:r>
            <a:r>
              <a:rPr lang="en-GB" sz="2400" dirty="0" smtClean="0"/>
              <a:t>+ </a:t>
            </a:r>
            <a:r>
              <a:rPr lang="en-GB" sz="2400" dirty="0" smtClean="0"/>
              <a:t>95</a:t>
            </a:r>
          </a:p>
          <a:p>
            <a:pPr marL="457200" indent="-457200">
              <a:buAutoNum type="arabicParenR"/>
            </a:pPr>
            <a:endParaRPr lang="en-GB" sz="2400" dirty="0"/>
          </a:p>
          <a:p>
            <a:pPr marL="457200" indent="-457200">
              <a:buAutoNum type="arabicParenR"/>
            </a:pPr>
            <a:endParaRPr lang="en-GB" sz="2400" dirty="0" smtClean="0"/>
          </a:p>
          <a:p>
            <a:pPr marL="457200" indent="-457200">
              <a:buAutoNum type="arabicParenR"/>
            </a:pPr>
            <a:endParaRPr lang="en-GB" sz="2400" dirty="0"/>
          </a:p>
          <a:p>
            <a:pPr marL="457200" indent="-457200">
              <a:buAutoNum type="arabicParenR"/>
            </a:pPr>
            <a:endParaRPr lang="en-GB" sz="2400" dirty="0" smtClean="0"/>
          </a:p>
          <a:p>
            <a:pPr marL="457200" indent="-457200">
              <a:buAutoNum type="arabicParenR"/>
            </a:pPr>
            <a:endParaRPr lang="en-GB" sz="2400" dirty="0"/>
          </a:p>
          <a:p>
            <a:endParaRPr lang="en-GB" sz="2400" dirty="0" smtClean="0"/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endParaRPr lang="en-GB" dirty="0" smtClean="0"/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endParaRPr lang="en-GB" dirty="0" smtClean="0"/>
          </a:p>
          <a:p>
            <a:pPr marL="342900" indent="-342900">
              <a:buAutoNum type="arabicParenR"/>
            </a:pPr>
            <a:endParaRPr lang="en-GB" dirty="0"/>
          </a:p>
          <a:p>
            <a:pPr marL="342900" indent="-342900">
              <a:buAutoNum type="arabicParenR"/>
            </a:pPr>
            <a:endParaRPr lang="en-GB" dirty="0" smtClean="0"/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7164288" y="116632"/>
            <a:ext cx="179364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chemeClr val="accent4">
                    <a:lumMod val="75000"/>
                  </a:schemeClr>
                </a:solidFill>
              </a:rPr>
              <a:t>__</a:t>
            </a:r>
            <a:r>
              <a:rPr lang="en-GB" sz="2400" b="1" dirty="0" smtClean="0">
                <a:solidFill>
                  <a:schemeClr val="accent4">
                    <a:lumMod val="75000"/>
                  </a:schemeClr>
                </a:solidFill>
              </a:rPr>
              <a:t>/02/2019</a:t>
            </a:r>
            <a:endParaRPr lang="en-GB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6292" y="5977741"/>
            <a:ext cx="7344816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00B050"/>
                </a:solidFill>
              </a:rPr>
              <a:t>Keywords: Sum, place values, decimal, adding, subtracting, column method. </a:t>
            </a:r>
            <a:endParaRPr lang="en-GB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56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0" y="214313"/>
            <a:ext cx="8715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What number goes with the following to make 10?</a:t>
            </a:r>
            <a:endParaRPr lang="en-US" altLang="en-US" sz="280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71500" y="1357313"/>
            <a:ext cx="9286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5.5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71500" y="1928813"/>
            <a:ext cx="9286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C00000"/>
                </a:solidFill>
                <a:latin typeface="Comic Sans MS" panose="030F0702030302020204" pitchFamily="66" charset="0"/>
              </a:rPr>
              <a:t>4.5</a:t>
            </a:r>
            <a:endParaRPr lang="en-US" altLang="en-US" sz="360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6786563" y="1643063"/>
            <a:ext cx="9286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4.2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143375" y="2714625"/>
            <a:ext cx="9286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3.7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1143000" y="4429125"/>
            <a:ext cx="9286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8.6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4143375" y="3286125"/>
            <a:ext cx="9286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C00000"/>
                </a:solidFill>
                <a:latin typeface="Comic Sans MS" panose="030F0702030302020204" pitchFamily="66" charset="0"/>
              </a:rPr>
              <a:t>6.3</a:t>
            </a:r>
            <a:endParaRPr lang="en-US" altLang="en-US" sz="360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6786563" y="2214563"/>
            <a:ext cx="9286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C00000"/>
                </a:solidFill>
                <a:latin typeface="Comic Sans MS" panose="030F0702030302020204" pitchFamily="66" charset="0"/>
              </a:rPr>
              <a:t>5.8</a:t>
            </a:r>
            <a:endParaRPr lang="en-US" altLang="en-US" sz="360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1143000" y="5000625"/>
            <a:ext cx="9286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C00000"/>
                </a:solidFill>
                <a:latin typeface="Comic Sans MS" panose="030F0702030302020204" pitchFamily="66" charset="0"/>
              </a:rPr>
              <a:t>1.4</a:t>
            </a:r>
            <a:endParaRPr lang="en-US" altLang="en-US" sz="360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247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3"/>
          <p:cNvSpPr txBox="1">
            <a:spLocks noChangeArrowheads="1"/>
          </p:cNvSpPr>
          <p:nvPr/>
        </p:nvSpPr>
        <p:spPr bwMode="auto">
          <a:xfrm>
            <a:off x="0" y="214313"/>
            <a:ext cx="8715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What decimal goes with these to make 1 ?</a:t>
            </a:r>
            <a:endParaRPr lang="en-US" altLang="en-US" sz="280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71500" y="1357313"/>
            <a:ext cx="13573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0.41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71500" y="1928813"/>
            <a:ext cx="12858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C00000"/>
                </a:solidFill>
                <a:latin typeface="Comic Sans MS" panose="030F0702030302020204" pitchFamily="66" charset="0"/>
              </a:rPr>
              <a:t>0.59</a:t>
            </a:r>
            <a:endParaRPr lang="en-US" altLang="en-US" sz="360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6786563" y="1643063"/>
            <a:ext cx="12858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0.91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143375" y="2714625"/>
            <a:ext cx="1428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0.35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1143000" y="4429125"/>
            <a:ext cx="12858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0.82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4143375" y="3286125"/>
            <a:ext cx="13573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C00000"/>
                </a:solidFill>
                <a:latin typeface="Comic Sans MS" panose="030F0702030302020204" pitchFamily="66" charset="0"/>
              </a:rPr>
              <a:t>0.65</a:t>
            </a:r>
            <a:endParaRPr lang="en-US" altLang="en-US" sz="360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6786563" y="2214563"/>
            <a:ext cx="1214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C00000"/>
                </a:solidFill>
                <a:latin typeface="Comic Sans MS" panose="030F0702030302020204" pitchFamily="66" charset="0"/>
              </a:rPr>
              <a:t>0.09</a:t>
            </a:r>
            <a:endParaRPr lang="en-US" altLang="en-US" sz="360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1143000" y="5000625"/>
            <a:ext cx="16430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C00000"/>
                </a:solidFill>
                <a:latin typeface="Comic Sans MS" panose="030F0702030302020204" pitchFamily="66" charset="0"/>
              </a:rPr>
              <a:t>0.18</a:t>
            </a:r>
            <a:endParaRPr lang="en-US" altLang="en-US" sz="360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78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"/>
          <p:cNvSpPr txBox="1">
            <a:spLocks noChangeArrowheads="1"/>
          </p:cNvSpPr>
          <p:nvPr/>
        </p:nvSpPr>
        <p:spPr bwMode="auto">
          <a:xfrm>
            <a:off x="0" y="0"/>
            <a:ext cx="87153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u="sng">
                <a:latin typeface="Comic Sans MS" panose="030F0702030302020204" pitchFamily="66" charset="0"/>
              </a:rPr>
              <a:t>What method could you use to solve these questions?</a:t>
            </a:r>
            <a:endParaRPr lang="en-US" altLang="en-US" sz="2800" u="sng">
              <a:latin typeface="Comic Sans MS" panose="030F0702030302020204" pitchFamily="66" charset="0"/>
            </a:endParaRPr>
          </a:p>
        </p:txBody>
      </p:sp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1857375" y="2786063"/>
            <a:ext cx="3429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31.745 - 1.75 =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4100" name="TextBox 4"/>
          <p:cNvSpPr txBox="1">
            <a:spLocks noChangeArrowheads="1"/>
          </p:cNvSpPr>
          <p:nvPr/>
        </p:nvSpPr>
        <p:spPr bwMode="auto">
          <a:xfrm>
            <a:off x="723900" y="1581150"/>
            <a:ext cx="3276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600">
                <a:latin typeface="Comic Sans MS" panose="030F0702030302020204" pitchFamily="66" charset="0"/>
              </a:rPr>
              <a:t>1.7 + 1.577 = 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6" name="Oval Callout 5"/>
          <p:cNvSpPr/>
          <p:nvPr/>
        </p:nvSpPr>
        <p:spPr>
          <a:xfrm>
            <a:off x="5857875" y="3214688"/>
            <a:ext cx="3286125" cy="3143250"/>
          </a:xfrm>
          <a:prstGeom prst="wedgeEllipseCallou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02" name="TextBox 9"/>
          <p:cNvSpPr txBox="1">
            <a:spLocks noChangeArrowheads="1"/>
          </p:cNvSpPr>
          <p:nvPr/>
        </p:nvSpPr>
        <p:spPr bwMode="auto">
          <a:xfrm>
            <a:off x="6357938" y="3571875"/>
            <a:ext cx="257175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Hint!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How are you going to set out the numbers.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latin typeface="Comic Sans MS" panose="030F0702030302020204" pitchFamily="66" charset="0"/>
              </a:rPr>
              <a:t>What do you need to remember?</a:t>
            </a:r>
            <a:endParaRPr lang="en-US" altLang="en-US" sz="2000">
              <a:latin typeface="Comic Sans MS" panose="030F0702030302020204" pitchFamily="66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830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3" y="1285875"/>
            <a:ext cx="1546225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4643438"/>
            <a:ext cx="1609725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2643188"/>
            <a:ext cx="1681163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Box 5"/>
          <p:cNvSpPr txBox="1">
            <a:spLocks noChangeArrowheads="1"/>
          </p:cNvSpPr>
          <p:nvPr/>
        </p:nvSpPr>
        <p:spPr bwMode="auto">
          <a:xfrm>
            <a:off x="5000625" y="0"/>
            <a:ext cx="41433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u="sng">
                <a:latin typeface="Comic Sans MS" panose="030F0702030302020204" pitchFamily="66" charset="0"/>
              </a:rPr>
              <a:t>Here’s the question!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 u="sng">
                <a:latin typeface="Comic Sans MS" panose="030F0702030302020204" pitchFamily="66" charset="0"/>
              </a:rPr>
              <a:t>3.9156 + 3.99 =</a:t>
            </a:r>
            <a:endParaRPr lang="en-US" altLang="en-US" sz="2800" b="1" u="sng">
              <a:latin typeface="Comic Sans MS" panose="030F0702030302020204" pitchFamily="66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0" y="1214438"/>
            <a:ext cx="2071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>
                <a:latin typeface="Comic Sans MS" panose="030F0702030302020204" pitchFamily="66" charset="0"/>
              </a:rPr>
              <a:t>3 . 9 1 5 6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857250" y="1714500"/>
            <a:ext cx="12858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>
                <a:latin typeface="Comic Sans MS" panose="030F0702030302020204" pitchFamily="66" charset="0"/>
              </a:rPr>
              <a:t>3.9 9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5143500" y="2643188"/>
            <a:ext cx="2071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>
                <a:latin typeface="Comic Sans MS" panose="030F0702030302020204" pitchFamily="66" charset="0"/>
              </a:rPr>
              <a:t>3 . 9 1 5 6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928688" y="4286250"/>
            <a:ext cx="2071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>
                <a:latin typeface="Comic Sans MS" panose="030F0702030302020204" pitchFamily="66" charset="0"/>
              </a:rPr>
              <a:t>3 . 9 1 5 6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42875" y="2286000"/>
            <a:ext cx="1857375" cy="0"/>
          </a:xfrm>
          <a:prstGeom prst="line">
            <a:avLst/>
          </a:prstGeom>
          <a:ln w="349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00125" y="5643563"/>
            <a:ext cx="1857375" cy="0"/>
          </a:xfrm>
          <a:prstGeom prst="line">
            <a:avLst/>
          </a:prstGeom>
          <a:ln w="349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214938" y="3286125"/>
            <a:ext cx="1857375" cy="0"/>
          </a:xfrm>
          <a:prstGeom prst="line">
            <a:avLst/>
          </a:prstGeom>
          <a:ln w="349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42875" y="2857500"/>
            <a:ext cx="1857375" cy="0"/>
          </a:xfrm>
          <a:prstGeom prst="line">
            <a:avLst/>
          </a:pr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14938" y="3857625"/>
            <a:ext cx="1857375" cy="0"/>
          </a:xfrm>
          <a:prstGeom prst="line">
            <a:avLst/>
          </a:prstGeom>
          <a:ln w="349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00125" y="6286500"/>
            <a:ext cx="1857375" cy="0"/>
          </a:xfrm>
          <a:prstGeom prst="line">
            <a:avLst/>
          </a:prstGeom>
          <a:ln w="349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92075" y="2382838"/>
            <a:ext cx="195263" cy="323850"/>
          </a:xfrm>
          <a:custGeom>
            <a:avLst/>
            <a:gdLst>
              <a:gd name="connsiteX0" fmla="*/ 0 w 195943"/>
              <a:gd name="connsiteY0" fmla="*/ 33147 h 323941"/>
              <a:gd name="connsiteX1" fmla="*/ 143691 w 195943"/>
              <a:gd name="connsiteY1" fmla="*/ 20084 h 323941"/>
              <a:gd name="connsiteX2" fmla="*/ 156754 w 195943"/>
              <a:gd name="connsiteY2" fmla="*/ 98461 h 323941"/>
              <a:gd name="connsiteX3" fmla="*/ 182880 w 195943"/>
              <a:gd name="connsiteY3" fmla="*/ 176838 h 323941"/>
              <a:gd name="connsiteX4" fmla="*/ 130629 w 195943"/>
              <a:gd name="connsiteY4" fmla="*/ 202964 h 323941"/>
              <a:gd name="connsiteX5" fmla="*/ 52251 w 195943"/>
              <a:gd name="connsiteY5" fmla="*/ 176838 h 323941"/>
              <a:gd name="connsiteX6" fmla="*/ 182880 w 195943"/>
              <a:gd name="connsiteY6" fmla="*/ 189901 h 323941"/>
              <a:gd name="connsiteX7" fmla="*/ 195943 w 195943"/>
              <a:gd name="connsiteY7" fmla="*/ 242152 h 323941"/>
              <a:gd name="connsiteX8" fmla="*/ 182880 w 195943"/>
              <a:gd name="connsiteY8" fmla="*/ 307467 h 323941"/>
              <a:gd name="connsiteX9" fmla="*/ 143691 w 195943"/>
              <a:gd name="connsiteY9" fmla="*/ 320529 h 323941"/>
              <a:gd name="connsiteX10" fmla="*/ 0 w 195943"/>
              <a:gd name="connsiteY10" fmla="*/ 320529 h 32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943" h="323941">
                <a:moveTo>
                  <a:pt x="0" y="33147"/>
                </a:moveTo>
                <a:cubicBezTo>
                  <a:pt x="99440" y="0"/>
                  <a:pt x="51373" y="1620"/>
                  <a:pt x="143691" y="20084"/>
                </a:cubicBezTo>
                <a:cubicBezTo>
                  <a:pt x="148045" y="46210"/>
                  <a:pt x="150330" y="72766"/>
                  <a:pt x="156754" y="98461"/>
                </a:cubicBezTo>
                <a:cubicBezTo>
                  <a:pt x="163433" y="125178"/>
                  <a:pt x="182880" y="176838"/>
                  <a:pt x="182880" y="176838"/>
                </a:cubicBezTo>
                <a:cubicBezTo>
                  <a:pt x="165463" y="185547"/>
                  <a:pt x="150102" y="202964"/>
                  <a:pt x="130629" y="202964"/>
                </a:cubicBezTo>
                <a:cubicBezTo>
                  <a:pt x="103090" y="202964"/>
                  <a:pt x="24848" y="174098"/>
                  <a:pt x="52251" y="176838"/>
                </a:cubicBezTo>
                <a:lnTo>
                  <a:pt x="182880" y="189901"/>
                </a:lnTo>
                <a:cubicBezTo>
                  <a:pt x="187234" y="207318"/>
                  <a:pt x="195943" y="224199"/>
                  <a:pt x="195943" y="242152"/>
                </a:cubicBezTo>
                <a:cubicBezTo>
                  <a:pt x="195943" y="264355"/>
                  <a:pt x="195196" y="288993"/>
                  <a:pt x="182880" y="307467"/>
                </a:cubicBezTo>
                <a:cubicBezTo>
                  <a:pt x="175242" y="318924"/>
                  <a:pt x="157426" y="319548"/>
                  <a:pt x="143691" y="320529"/>
                </a:cubicBezTo>
                <a:cubicBezTo>
                  <a:pt x="95916" y="323941"/>
                  <a:pt x="47897" y="320529"/>
                  <a:pt x="0" y="320529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404813" y="2560638"/>
            <a:ext cx="15875" cy="52387"/>
          </a:xfrm>
          <a:custGeom>
            <a:avLst/>
            <a:gdLst>
              <a:gd name="connsiteX0" fmla="*/ 0 w 15816"/>
              <a:gd name="connsiteY0" fmla="*/ 0 h 52959"/>
              <a:gd name="connsiteX1" fmla="*/ 13062 w 15816"/>
              <a:gd name="connsiteY1" fmla="*/ 13063 h 52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816" h="52959">
                <a:moveTo>
                  <a:pt x="0" y="0"/>
                </a:moveTo>
                <a:cubicBezTo>
                  <a:pt x="15816" y="47451"/>
                  <a:pt x="13062" y="52959"/>
                  <a:pt x="13062" y="13063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579438" y="2363788"/>
            <a:ext cx="177800" cy="431800"/>
          </a:xfrm>
          <a:custGeom>
            <a:avLst/>
            <a:gdLst>
              <a:gd name="connsiteX0" fmla="*/ 178307 w 178307"/>
              <a:gd name="connsiteY0" fmla="*/ 26367 h 431315"/>
              <a:gd name="connsiteX1" fmla="*/ 86867 w 178307"/>
              <a:gd name="connsiteY1" fmla="*/ 39430 h 431315"/>
              <a:gd name="connsiteX2" fmla="*/ 34615 w 178307"/>
              <a:gd name="connsiteY2" fmla="*/ 130870 h 431315"/>
              <a:gd name="connsiteX3" fmla="*/ 8490 w 178307"/>
              <a:gd name="connsiteY3" fmla="*/ 170058 h 431315"/>
              <a:gd name="connsiteX4" fmla="*/ 21552 w 178307"/>
              <a:gd name="connsiteY4" fmla="*/ 248435 h 431315"/>
              <a:gd name="connsiteX5" fmla="*/ 139118 w 178307"/>
              <a:gd name="connsiteY5" fmla="*/ 196184 h 431315"/>
              <a:gd name="connsiteX6" fmla="*/ 152181 w 178307"/>
              <a:gd name="connsiteY6" fmla="*/ 156995 h 431315"/>
              <a:gd name="connsiteX7" fmla="*/ 165244 w 178307"/>
              <a:gd name="connsiteY7" fmla="*/ 39430 h 431315"/>
              <a:gd name="connsiteX8" fmla="*/ 152181 w 178307"/>
              <a:gd name="connsiteY8" fmla="*/ 235373 h 431315"/>
              <a:gd name="connsiteX9" fmla="*/ 139118 w 178307"/>
              <a:gd name="connsiteY9" fmla="*/ 287624 h 431315"/>
              <a:gd name="connsiteX10" fmla="*/ 126055 w 178307"/>
              <a:gd name="connsiteY10" fmla="*/ 431315 h 431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8307" h="431315">
                <a:moveTo>
                  <a:pt x="178307" y="26367"/>
                </a:moveTo>
                <a:cubicBezTo>
                  <a:pt x="147827" y="30721"/>
                  <a:pt x="114406" y="25661"/>
                  <a:pt x="86867" y="39430"/>
                </a:cubicBezTo>
                <a:cubicBezTo>
                  <a:pt x="44751" y="60488"/>
                  <a:pt x="51189" y="97722"/>
                  <a:pt x="34615" y="130870"/>
                </a:cubicBezTo>
                <a:cubicBezTo>
                  <a:pt x="27594" y="144912"/>
                  <a:pt x="17198" y="156995"/>
                  <a:pt x="8490" y="170058"/>
                </a:cubicBezTo>
                <a:cubicBezTo>
                  <a:pt x="12844" y="196184"/>
                  <a:pt x="0" y="233040"/>
                  <a:pt x="21552" y="248435"/>
                </a:cubicBezTo>
                <a:cubicBezTo>
                  <a:pt x="68512" y="281978"/>
                  <a:pt x="115825" y="219478"/>
                  <a:pt x="139118" y="196184"/>
                </a:cubicBezTo>
                <a:cubicBezTo>
                  <a:pt x="143472" y="183121"/>
                  <a:pt x="149917" y="170577"/>
                  <a:pt x="152181" y="156995"/>
                </a:cubicBezTo>
                <a:cubicBezTo>
                  <a:pt x="158663" y="118102"/>
                  <a:pt x="165244" y="0"/>
                  <a:pt x="165244" y="39430"/>
                </a:cubicBezTo>
                <a:cubicBezTo>
                  <a:pt x="165244" y="104889"/>
                  <a:pt x="159034" y="170273"/>
                  <a:pt x="152181" y="235373"/>
                </a:cubicBezTo>
                <a:cubicBezTo>
                  <a:pt x="150302" y="253227"/>
                  <a:pt x="142330" y="269961"/>
                  <a:pt x="139118" y="287624"/>
                </a:cubicBezTo>
                <a:cubicBezTo>
                  <a:pt x="123592" y="373017"/>
                  <a:pt x="126055" y="361449"/>
                  <a:pt x="126055" y="431315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869950" y="2386013"/>
            <a:ext cx="214313" cy="404812"/>
          </a:xfrm>
          <a:custGeom>
            <a:avLst/>
            <a:gdLst>
              <a:gd name="connsiteX0" fmla="*/ 213837 w 213837"/>
              <a:gd name="connsiteY0" fmla="*/ 16782 h 404095"/>
              <a:gd name="connsiteX1" fmla="*/ 57083 w 213837"/>
              <a:gd name="connsiteY1" fmla="*/ 29845 h 404095"/>
              <a:gd name="connsiteX2" fmla="*/ 44020 w 213837"/>
              <a:gd name="connsiteY2" fmla="*/ 134347 h 404095"/>
              <a:gd name="connsiteX3" fmla="*/ 57083 w 213837"/>
              <a:gd name="connsiteY3" fmla="*/ 173536 h 404095"/>
              <a:gd name="connsiteX4" fmla="*/ 161586 w 213837"/>
              <a:gd name="connsiteY4" fmla="*/ 186599 h 404095"/>
              <a:gd name="connsiteX5" fmla="*/ 148523 w 213837"/>
              <a:gd name="connsiteY5" fmla="*/ 278039 h 404095"/>
              <a:gd name="connsiteX6" fmla="*/ 135460 w 213837"/>
              <a:gd name="connsiteY6" fmla="*/ 382542 h 404095"/>
              <a:gd name="connsiteX7" fmla="*/ 30957 w 213837"/>
              <a:gd name="connsiteY7" fmla="*/ 369479 h 404095"/>
              <a:gd name="connsiteX8" fmla="*/ 4831 w 213837"/>
              <a:gd name="connsiteY8" fmla="*/ 304165 h 404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37" h="404095">
                <a:moveTo>
                  <a:pt x="213837" y="16782"/>
                </a:moveTo>
                <a:cubicBezTo>
                  <a:pt x="161586" y="21136"/>
                  <a:pt x="100193" y="0"/>
                  <a:pt x="57083" y="29845"/>
                </a:cubicBezTo>
                <a:cubicBezTo>
                  <a:pt x="28220" y="49827"/>
                  <a:pt x="44020" y="99242"/>
                  <a:pt x="44020" y="134347"/>
                </a:cubicBezTo>
                <a:cubicBezTo>
                  <a:pt x="44020" y="148117"/>
                  <a:pt x="44500" y="167944"/>
                  <a:pt x="57083" y="173536"/>
                </a:cubicBezTo>
                <a:cubicBezTo>
                  <a:pt x="89163" y="187794"/>
                  <a:pt x="126752" y="182245"/>
                  <a:pt x="161586" y="186599"/>
                </a:cubicBezTo>
                <a:cubicBezTo>
                  <a:pt x="157232" y="217079"/>
                  <a:pt x="152592" y="247520"/>
                  <a:pt x="148523" y="278039"/>
                </a:cubicBezTo>
                <a:cubicBezTo>
                  <a:pt x="143883" y="312836"/>
                  <a:pt x="163171" y="360989"/>
                  <a:pt x="135460" y="382542"/>
                </a:cubicBezTo>
                <a:cubicBezTo>
                  <a:pt x="107749" y="404095"/>
                  <a:pt x="65791" y="373833"/>
                  <a:pt x="30957" y="369479"/>
                </a:cubicBezTo>
                <a:cubicBezTo>
                  <a:pt x="0" y="323044"/>
                  <a:pt x="4831" y="345990"/>
                  <a:pt x="4831" y="304165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Freeform 29"/>
          <p:cNvSpPr/>
          <p:nvPr/>
        </p:nvSpPr>
        <p:spPr>
          <a:xfrm>
            <a:off x="1201738" y="2573338"/>
            <a:ext cx="39687" cy="12700"/>
          </a:xfrm>
          <a:custGeom>
            <a:avLst/>
            <a:gdLst>
              <a:gd name="connsiteX0" fmla="*/ 0 w 39188"/>
              <a:gd name="connsiteY0" fmla="*/ 13063 h 13063"/>
              <a:gd name="connsiteX1" fmla="*/ 39188 w 39188"/>
              <a:gd name="connsiteY1" fmla="*/ 0 h 13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188" h="13063">
                <a:moveTo>
                  <a:pt x="0" y="13063"/>
                </a:moveTo>
                <a:lnTo>
                  <a:pt x="39188" y="0"/>
                </a:ln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1312863" y="2365375"/>
            <a:ext cx="228600" cy="374650"/>
          </a:xfrm>
          <a:custGeom>
            <a:avLst/>
            <a:gdLst>
              <a:gd name="connsiteX0" fmla="*/ 228498 w 228498"/>
              <a:gd name="connsiteY0" fmla="*/ 25107 h 374289"/>
              <a:gd name="connsiteX1" fmla="*/ 176247 w 228498"/>
              <a:gd name="connsiteY1" fmla="*/ 12044 h 374289"/>
              <a:gd name="connsiteX2" fmla="*/ 19492 w 228498"/>
              <a:gd name="connsiteY2" fmla="*/ 25107 h 374289"/>
              <a:gd name="connsiteX3" fmla="*/ 32555 w 228498"/>
              <a:gd name="connsiteY3" fmla="*/ 90421 h 374289"/>
              <a:gd name="connsiteX4" fmla="*/ 45618 w 228498"/>
              <a:gd name="connsiteY4" fmla="*/ 194924 h 374289"/>
              <a:gd name="connsiteX5" fmla="*/ 84807 w 228498"/>
              <a:gd name="connsiteY5" fmla="*/ 181861 h 374289"/>
              <a:gd name="connsiteX6" fmla="*/ 123995 w 228498"/>
              <a:gd name="connsiteY6" fmla="*/ 194924 h 374289"/>
              <a:gd name="connsiteX7" fmla="*/ 176247 w 228498"/>
              <a:gd name="connsiteY7" fmla="*/ 207987 h 374289"/>
              <a:gd name="connsiteX8" fmla="*/ 176247 w 228498"/>
              <a:gd name="connsiteY8" fmla="*/ 351678 h 374289"/>
              <a:gd name="connsiteX9" fmla="*/ 58681 w 228498"/>
              <a:gd name="connsiteY9" fmla="*/ 338615 h 374289"/>
              <a:gd name="connsiteX10" fmla="*/ 19492 w 228498"/>
              <a:gd name="connsiteY10" fmla="*/ 299427 h 374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8498" h="374289">
                <a:moveTo>
                  <a:pt x="228498" y="25107"/>
                </a:moveTo>
                <a:cubicBezTo>
                  <a:pt x="211081" y="20753"/>
                  <a:pt x="194200" y="12044"/>
                  <a:pt x="176247" y="12044"/>
                </a:cubicBezTo>
                <a:cubicBezTo>
                  <a:pt x="123814" y="12044"/>
                  <a:pt x="65523" y="0"/>
                  <a:pt x="19492" y="25107"/>
                </a:cubicBezTo>
                <a:cubicBezTo>
                  <a:pt x="0" y="35739"/>
                  <a:pt x="29179" y="68477"/>
                  <a:pt x="32555" y="90421"/>
                </a:cubicBezTo>
                <a:cubicBezTo>
                  <a:pt x="37893" y="125118"/>
                  <a:pt x="41264" y="160090"/>
                  <a:pt x="45618" y="194924"/>
                </a:cubicBezTo>
                <a:cubicBezTo>
                  <a:pt x="58681" y="190570"/>
                  <a:pt x="71037" y="181861"/>
                  <a:pt x="84807" y="181861"/>
                </a:cubicBezTo>
                <a:cubicBezTo>
                  <a:pt x="98576" y="181861"/>
                  <a:pt x="110756" y="191141"/>
                  <a:pt x="123995" y="194924"/>
                </a:cubicBezTo>
                <a:cubicBezTo>
                  <a:pt x="141258" y="199856"/>
                  <a:pt x="158830" y="203633"/>
                  <a:pt x="176247" y="207987"/>
                </a:cubicBezTo>
                <a:cubicBezTo>
                  <a:pt x="188981" y="246188"/>
                  <a:pt x="220161" y="320938"/>
                  <a:pt x="176247" y="351678"/>
                </a:cubicBezTo>
                <a:cubicBezTo>
                  <a:pt x="143945" y="374289"/>
                  <a:pt x="97870" y="342969"/>
                  <a:pt x="58681" y="338615"/>
                </a:cubicBezTo>
                <a:cubicBezTo>
                  <a:pt x="11230" y="322799"/>
                  <a:pt x="19492" y="339323"/>
                  <a:pt x="19492" y="299427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Freeform 31"/>
          <p:cNvSpPr/>
          <p:nvPr/>
        </p:nvSpPr>
        <p:spPr>
          <a:xfrm>
            <a:off x="1554163" y="2362200"/>
            <a:ext cx="366712" cy="393700"/>
          </a:xfrm>
          <a:custGeom>
            <a:avLst/>
            <a:gdLst>
              <a:gd name="connsiteX0" fmla="*/ 365956 w 365956"/>
              <a:gd name="connsiteY0" fmla="*/ 55221 h 394855"/>
              <a:gd name="connsiteX1" fmla="*/ 156950 w 365956"/>
              <a:gd name="connsiteY1" fmla="*/ 55221 h 394855"/>
              <a:gd name="connsiteX2" fmla="*/ 274516 w 365956"/>
              <a:gd name="connsiteY2" fmla="*/ 198912 h 394855"/>
              <a:gd name="connsiteX3" fmla="*/ 261453 w 365956"/>
              <a:gd name="connsiteY3" fmla="*/ 316478 h 394855"/>
              <a:gd name="connsiteX4" fmla="*/ 248390 w 365956"/>
              <a:gd name="connsiteY4" fmla="*/ 355666 h 394855"/>
              <a:gd name="connsiteX5" fmla="*/ 209202 w 365956"/>
              <a:gd name="connsiteY5" fmla="*/ 381792 h 394855"/>
              <a:gd name="connsiteX6" fmla="*/ 170013 w 365956"/>
              <a:gd name="connsiteY6" fmla="*/ 394855 h 394855"/>
              <a:gd name="connsiteX7" fmla="*/ 130825 w 365956"/>
              <a:gd name="connsiteY7" fmla="*/ 381792 h 394855"/>
              <a:gd name="connsiteX8" fmla="*/ 104699 w 365956"/>
              <a:gd name="connsiteY8" fmla="*/ 303415 h 394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5956" h="394855">
                <a:moveTo>
                  <a:pt x="365956" y="55221"/>
                </a:moveTo>
                <a:cubicBezTo>
                  <a:pt x="302814" y="34174"/>
                  <a:pt x="217191" y="0"/>
                  <a:pt x="156950" y="55221"/>
                </a:cubicBezTo>
                <a:cubicBezTo>
                  <a:pt x="0" y="199092"/>
                  <a:pt x="265783" y="197820"/>
                  <a:pt x="274516" y="198912"/>
                </a:cubicBezTo>
                <a:cubicBezTo>
                  <a:pt x="270162" y="238101"/>
                  <a:pt x="267935" y="277585"/>
                  <a:pt x="261453" y="316478"/>
                </a:cubicBezTo>
                <a:cubicBezTo>
                  <a:pt x="259189" y="330060"/>
                  <a:pt x="256992" y="344914"/>
                  <a:pt x="248390" y="355666"/>
                </a:cubicBezTo>
                <a:cubicBezTo>
                  <a:pt x="238583" y="367925"/>
                  <a:pt x="223244" y="374771"/>
                  <a:pt x="209202" y="381792"/>
                </a:cubicBezTo>
                <a:cubicBezTo>
                  <a:pt x="196886" y="387950"/>
                  <a:pt x="183076" y="390501"/>
                  <a:pt x="170013" y="394855"/>
                </a:cubicBezTo>
                <a:cubicBezTo>
                  <a:pt x="156950" y="390501"/>
                  <a:pt x="138828" y="392997"/>
                  <a:pt x="130825" y="381792"/>
                </a:cubicBezTo>
                <a:cubicBezTo>
                  <a:pt x="114818" y="359383"/>
                  <a:pt x="104699" y="303415"/>
                  <a:pt x="104699" y="303415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3" name="Freeform 32"/>
          <p:cNvSpPr/>
          <p:nvPr/>
        </p:nvSpPr>
        <p:spPr>
          <a:xfrm>
            <a:off x="1423988" y="2965450"/>
            <a:ext cx="20637" cy="247650"/>
          </a:xfrm>
          <a:custGeom>
            <a:avLst/>
            <a:gdLst>
              <a:gd name="connsiteX0" fmla="*/ 0 w 20453"/>
              <a:gd name="connsiteY0" fmla="*/ 0 h 248194"/>
              <a:gd name="connsiteX1" fmla="*/ 13063 w 20453"/>
              <a:gd name="connsiteY1" fmla="*/ 248194 h 248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453" h="248194">
                <a:moveTo>
                  <a:pt x="0" y="0"/>
                </a:moveTo>
                <a:cubicBezTo>
                  <a:pt x="20453" y="143166"/>
                  <a:pt x="13063" y="60651"/>
                  <a:pt x="13063" y="248194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979488" y="2965450"/>
            <a:ext cx="0" cy="287338"/>
          </a:xfrm>
          <a:custGeom>
            <a:avLst/>
            <a:gdLst>
              <a:gd name="connsiteX0" fmla="*/ 0 w 0"/>
              <a:gd name="connsiteY0" fmla="*/ 0 h 287382"/>
              <a:gd name="connsiteX1" fmla="*/ 0 w 0"/>
              <a:gd name="connsiteY1" fmla="*/ 287382 h 28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87382">
                <a:moveTo>
                  <a:pt x="0" y="0"/>
                </a:moveTo>
                <a:lnTo>
                  <a:pt x="0" y="287382"/>
                </a:ln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TextBox 4"/>
          <p:cNvSpPr txBox="1">
            <a:spLocks noChangeArrowheads="1"/>
          </p:cNvSpPr>
          <p:nvPr/>
        </p:nvSpPr>
        <p:spPr bwMode="auto">
          <a:xfrm>
            <a:off x="928688" y="4857750"/>
            <a:ext cx="14906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>
                <a:latin typeface="Comic Sans MS" panose="030F0702030302020204" pitchFamily="66" charset="0"/>
              </a:rPr>
              <a:t>3 . 9 9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36" name="TextBox 4"/>
          <p:cNvSpPr txBox="1">
            <a:spLocks noChangeArrowheads="1"/>
          </p:cNvSpPr>
          <p:nvPr/>
        </p:nvSpPr>
        <p:spPr bwMode="auto">
          <a:xfrm>
            <a:off x="5143500" y="2071688"/>
            <a:ext cx="14906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>
                <a:latin typeface="Comic Sans MS" panose="030F0702030302020204" pitchFamily="66" charset="0"/>
              </a:rPr>
              <a:t>3 . 9 9</a:t>
            </a:r>
            <a:r>
              <a:rPr lang="en-GB" altLang="en-US" sz="3600">
                <a:latin typeface="Comic Sans MS" panose="030F0702030302020204" pitchFamily="66" charset="0"/>
              </a:rPr>
              <a:t> </a:t>
            </a:r>
            <a:endParaRPr lang="en-US" altLang="en-US" sz="3600">
              <a:latin typeface="Comic Sans MS" panose="030F0702030302020204" pitchFamily="66" charset="0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933450" y="5773738"/>
            <a:ext cx="249238" cy="382587"/>
          </a:xfrm>
          <a:custGeom>
            <a:avLst/>
            <a:gdLst>
              <a:gd name="connsiteX0" fmla="*/ 216244 w 249204"/>
              <a:gd name="connsiteY0" fmla="*/ 0 h 383201"/>
              <a:gd name="connsiteX1" fmla="*/ 150930 w 249204"/>
              <a:gd name="connsiteY1" fmla="*/ 13063 h 383201"/>
              <a:gd name="connsiteX2" fmla="*/ 72553 w 249204"/>
              <a:gd name="connsiteY2" fmla="*/ 39188 h 383201"/>
              <a:gd name="connsiteX3" fmla="*/ 59490 w 249204"/>
              <a:gd name="connsiteY3" fmla="*/ 326571 h 383201"/>
              <a:gd name="connsiteX4" fmla="*/ 137867 w 249204"/>
              <a:gd name="connsiteY4" fmla="*/ 378823 h 383201"/>
              <a:gd name="connsiteX5" fmla="*/ 216244 w 249204"/>
              <a:gd name="connsiteY5" fmla="*/ 365760 h 383201"/>
              <a:gd name="connsiteX6" fmla="*/ 242370 w 249204"/>
              <a:gd name="connsiteY6" fmla="*/ 287383 h 383201"/>
              <a:gd name="connsiteX7" fmla="*/ 190119 w 249204"/>
              <a:gd name="connsiteY7" fmla="*/ 222068 h 383201"/>
              <a:gd name="connsiteX8" fmla="*/ 163993 w 249204"/>
              <a:gd name="connsiteY8" fmla="*/ 182880 h 383201"/>
              <a:gd name="connsiteX9" fmla="*/ 59490 w 249204"/>
              <a:gd name="connsiteY9" fmla="*/ 182880 h 38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9204" h="383201">
                <a:moveTo>
                  <a:pt x="216244" y="0"/>
                </a:moveTo>
                <a:cubicBezTo>
                  <a:pt x="194473" y="4354"/>
                  <a:pt x="172350" y="7221"/>
                  <a:pt x="150930" y="13063"/>
                </a:cubicBezTo>
                <a:cubicBezTo>
                  <a:pt x="124362" y="20309"/>
                  <a:pt x="72553" y="39188"/>
                  <a:pt x="72553" y="39188"/>
                </a:cubicBezTo>
                <a:cubicBezTo>
                  <a:pt x="9114" y="134346"/>
                  <a:pt x="0" y="131102"/>
                  <a:pt x="59490" y="326571"/>
                </a:cubicBezTo>
                <a:cubicBezTo>
                  <a:pt x="68632" y="356610"/>
                  <a:pt x="137867" y="378823"/>
                  <a:pt x="137867" y="378823"/>
                </a:cubicBezTo>
                <a:cubicBezTo>
                  <a:pt x="163993" y="374469"/>
                  <a:pt x="196311" y="383201"/>
                  <a:pt x="216244" y="365760"/>
                </a:cubicBezTo>
                <a:cubicBezTo>
                  <a:pt x="236969" y="347626"/>
                  <a:pt x="242370" y="287383"/>
                  <a:pt x="242370" y="287383"/>
                </a:cubicBezTo>
                <a:cubicBezTo>
                  <a:pt x="216940" y="211092"/>
                  <a:pt x="249204" y="281153"/>
                  <a:pt x="190119" y="222068"/>
                </a:cubicBezTo>
                <a:cubicBezTo>
                  <a:pt x="179018" y="210967"/>
                  <a:pt x="177306" y="191201"/>
                  <a:pt x="163993" y="182880"/>
                </a:cubicBezTo>
                <a:cubicBezTo>
                  <a:pt x="90096" y="136695"/>
                  <a:pt x="97860" y="144510"/>
                  <a:pt x="59490" y="182880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1254125" y="5969000"/>
            <a:ext cx="52388" cy="14288"/>
          </a:xfrm>
          <a:custGeom>
            <a:avLst/>
            <a:gdLst>
              <a:gd name="connsiteX0" fmla="*/ 0 w 52252"/>
              <a:gd name="connsiteY0" fmla="*/ 14440 h 14440"/>
              <a:gd name="connsiteX1" fmla="*/ 52252 w 52252"/>
              <a:gd name="connsiteY1" fmla="*/ 1377 h 14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2" h="14440">
                <a:moveTo>
                  <a:pt x="0" y="14440"/>
                </a:moveTo>
                <a:cubicBezTo>
                  <a:pt x="43320" y="0"/>
                  <a:pt x="25419" y="1377"/>
                  <a:pt x="52252" y="1377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1463675" y="5786438"/>
            <a:ext cx="0" cy="339725"/>
          </a:xfrm>
          <a:custGeom>
            <a:avLst/>
            <a:gdLst>
              <a:gd name="connsiteX0" fmla="*/ 0 w 0"/>
              <a:gd name="connsiteY0" fmla="*/ 0 h 339634"/>
              <a:gd name="connsiteX1" fmla="*/ 0 w 0"/>
              <a:gd name="connsiteY1" fmla="*/ 339634 h 33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39634">
                <a:moveTo>
                  <a:pt x="0" y="0"/>
                </a:moveTo>
                <a:lnTo>
                  <a:pt x="0" y="339634"/>
                </a:ln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" name="Freeform 40"/>
          <p:cNvSpPr/>
          <p:nvPr/>
        </p:nvSpPr>
        <p:spPr>
          <a:xfrm>
            <a:off x="1541463" y="5768975"/>
            <a:ext cx="182562" cy="385763"/>
          </a:xfrm>
          <a:custGeom>
            <a:avLst/>
            <a:gdLst>
              <a:gd name="connsiteX0" fmla="*/ 169817 w 182880"/>
              <a:gd name="connsiteY0" fmla="*/ 18332 h 386424"/>
              <a:gd name="connsiteX1" fmla="*/ 26126 w 182880"/>
              <a:gd name="connsiteY1" fmla="*/ 70583 h 386424"/>
              <a:gd name="connsiteX2" fmla="*/ 13063 w 182880"/>
              <a:gd name="connsiteY2" fmla="*/ 109772 h 386424"/>
              <a:gd name="connsiteX3" fmla="*/ 26126 w 182880"/>
              <a:gd name="connsiteY3" fmla="*/ 175086 h 386424"/>
              <a:gd name="connsiteX4" fmla="*/ 117566 w 182880"/>
              <a:gd name="connsiteY4" fmla="*/ 227337 h 386424"/>
              <a:gd name="connsiteX5" fmla="*/ 91440 w 182880"/>
              <a:gd name="connsiteY5" fmla="*/ 371029 h 386424"/>
              <a:gd name="connsiteX6" fmla="*/ 39189 w 182880"/>
              <a:gd name="connsiteY6" fmla="*/ 357966 h 386424"/>
              <a:gd name="connsiteX7" fmla="*/ 0 w 182880"/>
              <a:gd name="connsiteY7" fmla="*/ 279589 h 386424"/>
              <a:gd name="connsiteX8" fmla="*/ 65314 w 182880"/>
              <a:gd name="connsiteY8" fmla="*/ 162023 h 386424"/>
              <a:gd name="connsiteX9" fmla="*/ 104503 w 182880"/>
              <a:gd name="connsiteY9" fmla="*/ 135897 h 386424"/>
              <a:gd name="connsiteX10" fmla="*/ 169817 w 182880"/>
              <a:gd name="connsiteY10" fmla="*/ 18332 h 38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2880" h="386424">
                <a:moveTo>
                  <a:pt x="169817" y="18332"/>
                </a:moveTo>
                <a:cubicBezTo>
                  <a:pt x="156754" y="7446"/>
                  <a:pt x="61418" y="0"/>
                  <a:pt x="26126" y="70583"/>
                </a:cubicBezTo>
                <a:cubicBezTo>
                  <a:pt x="19968" y="82899"/>
                  <a:pt x="17417" y="96709"/>
                  <a:pt x="13063" y="109772"/>
                </a:cubicBezTo>
                <a:cubicBezTo>
                  <a:pt x="17417" y="131543"/>
                  <a:pt x="9269" y="160637"/>
                  <a:pt x="26126" y="175086"/>
                </a:cubicBezTo>
                <a:cubicBezTo>
                  <a:pt x="147717" y="279307"/>
                  <a:pt x="80722" y="116809"/>
                  <a:pt x="117566" y="227337"/>
                </a:cubicBezTo>
                <a:cubicBezTo>
                  <a:pt x="108857" y="275234"/>
                  <a:pt x="116487" y="329284"/>
                  <a:pt x="91440" y="371029"/>
                </a:cubicBezTo>
                <a:cubicBezTo>
                  <a:pt x="82203" y="386424"/>
                  <a:pt x="54127" y="367925"/>
                  <a:pt x="39189" y="357966"/>
                </a:cubicBezTo>
                <a:cubicBezTo>
                  <a:pt x="17484" y="343496"/>
                  <a:pt x="7452" y="301944"/>
                  <a:pt x="0" y="279589"/>
                </a:cubicBezTo>
                <a:cubicBezTo>
                  <a:pt x="13612" y="238752"/>
                  <a:pt x="26814" y="187690"/>
                  <a:pt x="65314" y="162023"/>
                </a:cubicBezTo>
                <a:lnTo>
                  <a:pt x="104503" y="135897"/>
                </a:lnTo>
                <a:cubicBezTo>
                  <a:pt x="145121" y="74971"/>
                  <a:pt x="182880" y="29218"/>
                  <a:pt x="169817" y="18332"/>
                </a:cubicBezTo>
                <a:close/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1893888" y="5786438"/>
            <a:ext cx="0" cy="379412"/>
          </a:xfrm>
          <a:custGeom>
            <a:avLst/>
            <a:gdLst>
              <a:gd name="connsiteX0" fmla="*/ 0 w 0"/>
              <a:gd name="connsiteY0" fmla="*/ 0 h 378823"/>
              <a:gd name="connsiteX1" fmla="*/ 0 w 0"/>
              <a:gd name="connsiteY1" fmla="*/ 378823 h 37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78823">
                <a:moveTo>
                  <a:pt x="0" y="0"/>
                </a:moveTo>
                <a:lnTo>
                  <a:pt x="0" y="378823"/>
                </a:ln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3" name="Freeform 42"/>
          <p:cNvSpPr/>
          <p:nvPr/>
        </p:nvSpPr>
        <p:spPr>
          <a:xfrm>
            <a:off x="1928813" y="5786438"/>
            <a:ext cx="200025" cy="379412"/>
          </a:xfrm>
          <a:custGeom>
            <a:avLst/>
            <a:gdLst>
              <a:gd name="connsiteX0" fmla="*/ 169915 w 200328"/>
              <a:gd name="connsiteY0" fmla="*/ 50074 h 380113"/>
              <a:gd name="connsiteX1" fmla="*/ 13161 w 200328"/>
              <a:gd name="connsiteY1" fmla="*/ 63137 h 380113"/>
              <a:gd name="connsiteX2" fmla="*/ 98 w 200328"/>
              <a:gd name="connsiteY2" fmla="*/ 102326 h 380113"/>
              <a:gd name="connsiteX3" fmla="*/ 13161 w 200328"/>
              <a:gd name="connsiteY3" fmla="*/ 376646 h 380113"/>
              <a:gd name="connsiteX4" fmla="*/ 104601 w 200328"/>
              <a:gd name="connsiteY4" fmla="*/ 363583 h 380113"/>
              <a:gd name="connsiteX5" fmla="*/ 169915 w 200328"/>
              <a:gd name="connsiteY5" fmla="*/ 50074 h 380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328" h="380113">
                <a:moveTo>
                  <a:pt x="169915" y="50074"/>
                </a:moveTo>
                <a:cubicBezTo>
                  <a:pt x="154675" y="0"/>
                  <a:pt x="63275" y="47717"/>
                  <a:pt x="13161" y="63137"/>
                </a:cubicBezTo>
                <a:cubicBezTo>
                  <a:pt x="0" y="67186"/>
                  <a:pt x="98" y="88556"/>
                  <a:pt x="98" y="102326"/>
                </a:cubicBezTo>
                <a:cubicBezTo>
                  <a:pt x="98" y="193870"/>
                  <a:pt x="8807" y="285206"/>
                  <a:pt x="13161" y="376646"/>
                </a:cubicBezTo>
                <a:cubicBezTo>
                  <a:pt x="43641" y="372292"/>
                  <a:pt x="78625" y="380113"/>
                  <a:pt x="104601" y="363583"/>
                </a:cubicBezTo>
                <a:cubicBezTo>
                  <a:pt x="200328" y="302666"/>
                  <a:pt x="185155" y="100148"/>
                  <a:pt x="169915" y="50074"/>
                </a:cubicBezTo>
                <a:close/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Freeform 43"/>
          <p:cNvSpPr/>
          <p:nvPr/>
        </p:nvSpPr>
        <p:spPr>
          <a:xfrm>
            <a:off x="2273300" y="5722938"/>
            <a:ext cx="222250" cy="385762"/>
          </a:xfrm>
          <a:custGeom>
            <a:avLst/>
            <a:gdLst>
              <a:gd name="connsiteX0" fmla="*/ 222069 w 222069"/>
              <a:gd name="connsiteY0" fmla="*/ 50963 h 385378"/>
              <a:gd name="connsiteX1" fmla="*/ 0 w 222069"/>
              <a:gd name="connsiteY1" fmla="*/ 103214 h 385378"/>
              <a:gd name="connsiteX2" fmla="*/ 13063 w 222069"/>
              <a:gd name="connsiteY2" fmla="*/ 220780 h 385378"/>
              <a:gd name="connsiteX3" fmla="*/ 52252 w 222069"/>
              <a:gd name="connsiteY3" fmla="*/ 207717 h 385378"/>
              <a:gd name="connsiteX4" fmla="*/ 156754 w 222069"/>
              <a:gd name="connsiteY4" fmla="*/ 233843 h 385378"/>
              <a:gd name="connsiteX5" fmla="*/ 143692 w 222069"/>
              <a:gd name="connsiteY5" fmla="*/ 364471 h 385378"/>
              <a:gd name="connsiteX6" fmla="*/ 65314 w 222069"/>
              <a:gd name="connsiteY6" fmla="*/ 351409 h 385378"/>
              <a:gd name="connsiteX7" fmla="*/ 26126 w 222069"/>
              <a:gd name="connsiteY7" fmla="*/ 325283 h 385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069" h="385378">
                <a:moveTo>
                  <a:pt x="222069" y="50963"/>
                </a:moveTo>
                <a:cubicBezTo>
                  <a:pt x="177454" y="53751"/>
                  <a:pt x="0" y="0"/>
                  <a:pt x="0" y="103214"/>
                </a:cubicBezTo>
                <a:cubicBezTo>
                  <a:pt x="0" y="142644"/>
                  <a:pt x="8709" y="181591"/>
                  <a:pt x="13063" y="220780"/>
                </a:cubicBezTo>
                <a:cubicBezTo>
                  <a:pt x="26126" y="216426"/>
                  <a:pt x="38539" y="206470"/>
                  <a:pt x="52252" y="207717"/>
                </a:cubicBezTo>
                <a:cubicBezTo>
                  <a:pt x="88011" y="210968"/>
                  <a:pt x="156754" y="233843"/>
                  <a:pt x="156754" y="233843"/>
                </a:cubicBezTo>
                <a:cubicBezTo>
                  <a:pt x="152400" y="277386"/>
                  <a:pt x="170558" y="329929"/>
                  <a:pt x="143692" y="364471"/>
                </a:cubicBezTo>
                <a:cubicBezTo>
                  <a:pt x="127431" y="385378"/>
                  <a:pt x="90441" y="359785"/>
                  <a:pt x="65314" y="351409"/>
                </a:cubicBezTo>
                <a:cubicBezTo>
                  <a:pt x="50420" y="346444"/>
                  <a:pt x="26126" y="325283"/>
                  <a:pt x="26126" y="325283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Freeform 44"/>
          <p:cNvSpPr/>
          <p:nvPr/>
        </p:nvSpPr>
        <p:spPr>
          <a:xfrm>
            <a:off x="2601913" y="5753100"/>
            <a:ext cx="219075" cy="369888"/>
          </a:xfrm>
          <a:custGeom>
            <a:avLst/>
            <a:gdLst>
              <a:gd name="connsiteX0" fmla="*/ 219662 w 219662"/>
              <a:gd name="connsiteY0" fmla="*/ 21439 h 371330"/>
              <a:gd name="connsiteX1" fmla="*/ 89034 w 219662"/>
              <a:gd name="connsiteY1" fmla="*/ 34502 h 371330"/>
              <a:gd name="connsiteX2" fmla="*/ 75971 w 219662"/>
              <a:gd name="connsiteY2" fmla="*/ 86753 h 371330"/>
              <a:gd name="connsiteX3" fmla="*/ 36782 w 219662"/>
              <a:gd name="connsiteY3" fmla="*/ 165130 h 371330"/>
              <a:gd name="connsiteX4" fmla="*/ 49845 w 219662"/>
              <a:gd name="connsiteY4" fmla="*/ 348010 h 371330"/>
              <a:gd name="connsiteX5" fmla="*/ 128222 w 219662"/>
              <a:gd name="connsiteY5" fmla="*/ 334947 h 371330"/>
              <a:gd name="connsiteX6" fmla="*/ 206599 w 219662"/>
              <a:gd name="connsiteY6" fmla="*/ 308822 h 371330"/>
              <a:gd name="connsiteX7" fmla="*/ 193536 w 219662"/>
              <a:gd name="connsiteY7" fmla="*/ 204319 h 371330"/>
              <a:gd name="connsiteX8" fmla="*/ 115159 w 219662"/>
              <a:gd name="connsiteY8" fmla="*/ 178193 h 371330"/>
              <a:gd name="connsiteX9" fmla="*/ 49845 w 219662"/>
              <a:gd name="connsiteY9" fmla="*/ 217382 h 37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9662" h="371330">
                <a:moveTo>
                  <a:pt x="219662" y="21439"/>
                </a:moveTo>
                <a:cubicBezTo>
                  <a:pt x="176119" y="25793"/>
                  <a:pt x="128872" y="16394"/>
                  <a:pt x="89034" y="34502"/>
                </a:cubicBezTo>
                <a:cubicBezTo>
                  <a:pt x="72690" y="41931"/>
                  <a:pt x="83043" y="70252"/>
                  <a:pt x="75971" y="86753"/>
                </a:cubicBezTo>
                <a:cubicBezTo>
                  <a:pt x="0" y="264016"/>
                  <a:pt x="91827" y="0"/>
                  <a:pt x="36782" y="165130"/>
                </a:cubicBezTo>
                <a:cubicBezTo>
                  <a:pt x="41136" y="226090"/>
                  <a:pt x="20870" y="294200"/>
                  <a:pt x="49845" y="348010"/>
                </a:cubicBezTo>
                <a:cubicBezTo>
                  <a:pt x="62402" y="371330"/>
                  <a:pt x="102527" y="341371"/>
                  <a:pt x="128222" y="334947"/>
                </a:cubicBezTo>
                <a:cubicBezTo>
                  <a:pt x="154939" y="328268"/>
                  <a:pt x="206599" y="308822"/>
                  <a:pt x="206599" y="308822"/>
                </a:cubicBezTo>
                <a:cubicBezTo>
                  <a:pt x="202245" y="273988"/>
                  <a:pt x="213668" y="233079"/>
                  <a:pt x="193536" y="204319"/>
                </a:cubicBezTo>
                <a:cubicBezTo>
                  <a:pt x="177744" y="181758"/>
                  <a:pt x="115159" y="178193"/>
                  <a:pt x="115159" y="178193"/>
                </a:cubicBezTo>
                <a:cubicBezTo>
                  <a:pt x="64287" y="195151"/>
                  <a:pt x="85707" y="181520"/>
                  <a:pt x="49845" y="217382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Freeform 45"/>
          <p:cNvSpPr/>
          <p:nvPr/>
        </p:nvSpPr>
        <p:spPr>
          <a:xfrm>
            <a:off x="6486525" y="3398838"/>
            <a:ext cx="214313" cy="381000"/>
          </a:xfrm>
          <a:custGeom>
            <a:avLst/>
            <a:gdLst>
              <a:gd name="connsiteX0" fmla="*/ 214133 w 214133"/>
              <a:gd name="connsiteY0" fmla="*/ 24201 h 382333"/>
              <a:gd name="connsiteX1" fmla="*/ 31253 w 214133"/>
              <a:gd name="connsiteY1" fmla="*/ 37263 h 382333"/>
              <a:gd name="connsiteX2" fmla="*/ 44316 w 214133"/>
              <a:gd name="connsiteY2" fmla="*/ 154829 h 382333"/>
              <a:gd name="connsiteX3" fmla="*/ 135756 w 214133"/>
              <a:gd name="connsiteY3" fmla="*/ 167892 h 382333"/>
              <a:gd name="connsiteX4" fmla="*/ 161881 w 214133"/>
              <a:gd name="connsiteY4" fmla="*/ 207081 h 382333"/>
              <a:gd name="connsiteX5" fmla="*/ 188007 w 214133"/>
              <a:gd name="connsiteY5" fmla="*/ 285458 h 382333"/>
              <a:gd name="connsiteX6" fmla="*/ 174944 w 214133"/>
              <a:gd name="connsiteY6" fmla="*/ 363835 h 382333"/>
              <a:gd name="connsiteX7" fmla="*/ 31253 w 214133"/>
              <a:gd name="connsiteY7" fmla="*/ 350772 h 382333"/>
              <a:gd name="connsiteX8" fmla="*/ 18190 w 214133"/>
              <a:gd name="connsiteY8" fmla="*/ 311583 h 38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133" h="382333">
                <a:moveTo>
                  <a:pt x="214133" y="24201"/>
                </a:moveTo>
                <a:cubicBezTo>
                  <a:pt x="153173" y="28555"/>
                  <a:pt x="79695" y="0"/>
                  <a:pt x="31253" y="37263"/>
                </a:cubicBezTo>
                <a:cubicBezTo>
                  <a:pt x="0" y="61304"/>
                  <a:pt x="19684" y="124039"/>
                  <a:pt x="44316" y="154829"/>
                </a:cubicBezTo>
                <a:cubicBezTo>
                  <a:pt x="63550" y="178872"/>
                  <a:pt x="105276" y="163538"/>
                  <a:pt x="135756" y="167892"/>
                </a:cubicBezTo>
                <a:cubicBezTo>
                  <a:pt x="144464" y="180955"/>
                  <a:pt x="155505" y="192735"/>
                  <a:pt x="161881" y="207081"/>
                </a:cubicBezTo>
                <a:cubicBezTo>
                  <a:pt x="173066" y="232246"/>
                  <a:pt x="188007" y="285458"/>
                  <a:pt x="188007" y="285458"/>
                </a:cubicBezTo>
                <a:cubicBezTo>
                  <a:pt x="183653" y="311584"/>
                  <a:pt x="199393" y="353648"/>
                  <a:pt x="174944" y="363835"/>
                </a:cubicBezTo>
                <a:cubicBezTo>
                  <a:pt x="130549" y="382333"/>
                  <a:pt x="76879" y="365981"/>
                  <a:pt x="31253" y="350772"/>
                </a:cubicBezTo>
                <a:cubicBezTo>
                  <a:pt x="18190" y="346418"/>
                  <a:pt x="18190" y="311583"/>
                  <a:pt x="18190" y="311583"/>
                </a:cubicBezTo>
              </a:path>
            </a:pathLst>
          </a:custGeom>
          <a:noFill/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Freeform 46"/>
          <p:cNvSpPr/>
          <p:nvPr/>
        </p:nvSpPr>
        <p:spPr>
          <a:xfrm>
            <a:off x="6815138" y="3402013"/>
            <a:ext cx="187325" cy="320675"/>
          </a:xfrm>
          <a:custGeom>
            <a:avLst/>
            <a:gdLst>
              <a:gd name="connsiteX0" fmla="*/ 185903 w 185903"/>
              <a:gd name="connsiteY0" fmla="*/ 7375 h 321262"/>
              <a:gd name="connsiteX1" fmla="*/ 16086 w 185903"/>
              <a:gd name="connsiteY1" fmla="*/ 46563 h 321262"/>
              <a:gd name="connsiteX2" fmla="*/ 3023 w 185903"/>
              <a:gd name="connsiteY2" fmla="*/ 85752 h 321262"/>
              <a:gd name="connsiteX3" fmla="*/ 16086 w 185903"/>
              <a:gd name="connsiteY3" fmla="*/ 307820 h 321262"/>
              <a:gd name="connsiteX4" fmla="*/ 55275 w 185903"/>
              <a:gd name="connsiteY4" fmla="*/ 320883 h 321262"/>
              <a:gd name="connsiteX5" fmla="*/ 146715 w 185903"/>
              <a:gd name="connsiteY5" fmla="*/ 294758 h 321262"/>
              <a:gd name="connsiteX6" fmla="*/ 146715 w 185903"/>
              <a:gd name="connsiteY6" fmla="*/ 203318 h 321262"/>
              <a:gd name="connsiteX7" fmla="*/ 107526 w 185903"/>
              <a:gd name="connsiteY7" fmla="*/ 190255 h 321262"/>
              <a:gd name="connsiteX8" fmla="*/ 68338 w 185903"/>
              <a:gd name="connsiteY8" fmla="*/ 164129 h 321262"/>
              <a:gd name="connsiteX9" fmla="*/ 16086 w 185903"/>
              <a:gd name="connsiteY9" fmla="*/ 190255 h 321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5903" h="321262">
                <a:moveTo>
                  <a:pt x="185903" y="7375"/>
                </a:moveTo>
                <a:cubicBezTo>
                  <a:pt x="146544" y="11311"/>
                  <a:pt x="53337" y="0"/>
                  <a:pt x="16086" y="46563"/>
                </a:cubicBezTo>
                <a:cubicBezTo>
                  <a:pt x="7484" y="57315"/>
                  <a:pt x="7377" y="72689"/>
                  <a:pt x="3023" y="85752"/>
                </a:cubicBezTo>
                <a:cubicBezTo>
                  <a:pt x="7377" y="159775"/>
                  <a:pt x="0" y="235435"/>
                  <a:pt x="16086" y="307820"/>
                </a:cubicBezTo>
                <a:cubicBezTo>
                  <a:pt x="19073" y="321262"/>
                  <a:pt x="41505" y="320883"/>
                  <a:pt x="55275" y="320883"/>
                </a:cubicBezTo>
                <a:cubicBezTo>
                  <a:pt x="71673" y="320883"/>
                  <a:pt x="128238" y="300916"/>
                  <a:pt x="146715" y="294758"/>
                </a:cubicBezTo>
                <a:cubicBezTo>
                  <a:pt x="157315" y="262958"/>
                  <a:pt x="173731" y="237087"/>
                  <a:pt x="146715" y="203318"/>
                </a:cubicBezTo>
                <a:cubicBezTo>
                  <a:pt x="138113" y="192566"/>
                  <a:pt x="120589" y="194609"/>
                  <a:pt x="107526" y="190255"/>
                </a:cubicBezTo>
                <a:cubicBezTo>
                  <a:pt x="94463" y="181546"/>
                  <a:pt x="83824" y="166710"/>
                  <a:pt x="68338" y="164129"/>
                </a:cubicBezTo>
                <a:cubicBezTo>
                  <a:pt x="42606" y="159840"/>
                  <a:pt x="30255" y="176086"/>
                  <a:pt x="16086" y="190255"/>
                </a:cubicBezTo>
              </a:path>
            </a:pathLst>
          </a:custGeom>
          <a:noFill/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8" name="Freeform 47"/>
          <p:cNvSpPr/>
          <p:nvPr/>
        </p:nvSpPr>
        <p:spPr>
          <a:xfrm>
            <a:off x="6153150" y="3444875"/>
            <a:ext cx="223838" cy="327025"/>
          </a:xfrm>
          <a:custGeom>
            <a:avLst/>
            <a:gdLst>
              <a:gd name="connsiteX0" fmla="*/ 156754 w 223828"/>
              <a:gd name="connsiteY0" fmla="*/ 4354 h 328249"/>
              <a:gd name="connsiteX1" fmla="*/ 13063 w 223828"/>
              <a:gd name="connsiteY1" fmla="*/ 43543 h 328249"/>
              <a:gd name="connsiteX2" fmla="*/ 0 w 223828"/>
              <a:gd name="connsiteY2" fmla="*/ 95794 h 328249"/>
              <a:gd name="connsiteX3" fmla="*/ 13063 w 223828"/>
              <a:gd name="connsiteY3" fmla="*/ 239486 h 328249"/>
              <a:gd name="connsiteX4" fmla="*/ 39188 w 223828"/>
              <a:gd name="connsiteY4" fmla="*/ 317863 h 328249"/>
              <a:gd name="connsiteX5" fmla="*/ 195943 w 223828"/>
              <a:gd name="connsiteY5" fmla="*/ 304800 h 328249"/>
              <a:gd name="connsiteX6" fmla="*/ 222068 w 223828"/>
              <a:gd name="connsiteY6" fmla="*/ 226423 h 328249"/>
              <a:gd name="connsiteX7" fmla="*/ 209005 w 223828"/>
              <a:gd name="connsiteY7" fmla="*/ 43543 h 328249"/>
              <a:gd name="connsiteX8" fmla="*/ 169817 w 223828"/>
              <a:gd name="connsiteY8" fmla="*/ 17417 h 328249"/>
              <a:gd name="connsiteX9" fmla="*/ 156754 w 223828"/>
              <a:gd name="connsiteY9" fmla="*/ 4354 h 328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3828" h="328249">
                <a:moveTo>
                  <a:pt x="156754" y="4354"/>
                </a:moveTo>
                <a:cubicBezTo>
                  <a:pt x="130628" y="8708"/>
                  <a:pt x="40008" y="3125"/>
                  <a:pt x="13063" y="43543"/>
                </a:cubicBezTo>
                <a:cubicBezTo>
                  <a:pt x="3104" y="58481"/>
                  <a:pt x="4354" y="78377"/>
                  <a:pt x="0" y="95794"/>
                </a:cubicBezTo>
                <a:cubicBezTo>
                  <a:pt x="4354" y="143691"/>
                  <a:pt x="4705" y="192123"/>
                  <a:pt x="13063" y="239486"/>
                </a:cubicBezTo>
                <a:cubicBezTo>
                  <a:pt x="17849" y="266606"/>
                  <a:pt x="39188" y="317863"/>
                  <a:pt x="39188" y="317863"/>
                </a:cubicBezTo>
                <a:cubicBezTo>
                  <a:pt x="91440" y="313509"/>
                  <a:pt x="149046" y="328249"/>
                  <a:pt x="195943" y="304800"/>
                </a:cubicBezTo>
                <a:cubicBezTo>
                  <a:pt x="220574" y="292484"/>
                  <a:pt x="222068" y="226423"/>
                  <a:pt x="222068" y="226423"/>
                </a:cubicBezTo>
                <a:cubicBezTo>
                  <a:pt x="217714" y="165463"/>
                  <a:pt x="223828" y="102834"/>
                  <a:pt x="209005" y="43543"/>
                </a:cubicBezTo>
                <a:cubicBezTo>
                  <a:pt x="205197" y="28312"/>
                  <a:pt x="179237" y="29977"/>
                  <a:pt x="169817" y="17417"/>
                </a:cubicBezTo>
                <a:cubicBezTo>
                  <a:pt x="164592" y="10450"/>
                  <a:pt x="182880" y="0"/>
                  <a:pt x="156754" y="4354"/>
                </a:cubicBezTo>
                <a:close/>
              </a:path>
            </a:pathLst>
          </a:cu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5721350" y="3395663"/>
            <a:ext cx="247650" cy="379412"/>
          </a:xfrm>
          <a:custGeom>
            <a:avLst/>
            <a:gdLst>
              <a:gd name="connsiteX0" fmla="*/ 222069 w 248195"/>
              <a:gd name="connsiteY0" fmla="*/ 26126 h 378920"/>
              <a:gd name="connsiteX1" fmla="*/ 26126 w 248195"/>
              <a:gd name="connsiteY1" fmla="*/ 39188 h 378920"/>
              <a:gd name="connsiteX2" fmla="*/ 0 w 248195"/>
              <a:gd name="connsiteY2" fmla="*/ 117566 h 378920"/>
              <a:gd name="connsiteX3" fmla="*/ 13063 w 248195"/>
              <a:gd name="connsiteY3" fmla="*/ 169817 h 378920"/>
              <a:gd name="connsiteX4" fmla="*/ 222069 w 248195"/>
              <a:gd name="connsiteY4" fmla="*/ 209006 h 378920"/>
              <a:gd name="connsiteX5" fmla="*/ 209006 w 248195"/>
              <a:gd name="connsiteY5" fmla="*/ 365760 h 378920"/>
              <a:gd name="connsiteX6" fmla="*/ 169818 w 248195"/>
              <a:gd name="connsiteY6" fmla="*/ 378823 h 378920"/>
              <a:gd name="connsiteX7" fmla="*/ 65315 w 248195"/>
              <a:gd name="connsiteY7" fmla="*/ 365760 h 378920"/>
              <a:gd name="connsiteX8" fmla="*/ 26126 w 248195"/>
              <a:gd name="connsiteY8" fmla="*/ 352697 h 378920"/>
              <a:gd name="connsiteX9" fmla="*/ 26126 w 248195"/>
              <a:gd name="connsiteY9" fmla="*/ 235131 h 378920"/>
              <a:gd name="connsiteX10" fmla="*/ 182880 w 248195"/>
              <a:gd name="connsiteY10" fmla="*/ 195943 h 378920"/>
              <a:gd name="connsiteX11" fmla="*/ 222069 w 248195"/>
              <a:gd name="connsiteY11" fmla="*/ 26126 h 378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8195" h="378920">
                <a:moveTo>
                  <a:pt x="222069" y="26126"/>
                </a:moveTo>
                <a:cubicBezTo>
                  <a:pt x="195943" y="0"/>
                  <a:pt x="86655" y="14264"/>
                  <a:pt x="26126" y="39188"/>
                </a:cubicBezTo>
                <a:cubicBezTo>
                  <a:pt x="661" y="49674"/>
                  <a:pt x="0" y="117566"/>
                  <a:pt x="0" y="117566"/>
                </a:cubicBezTo>
                <a:cubicBezTo>
                  <a:pt x="4354" y="134983"/>
                  <a:pt x="3104" y="154879"/>
                  <a:pt x="13063" y="169817"/>
                </a:cubicBezTo>
                <a:cubicBezTo>
                  <a:pt x="48880" y="223542"/>
                  <a:pt x="219612" y="208817"/>
                  <a:pt x="222069" y="209006"/>
                </a:cubicBezTo>
                <a:cubicBezTo>
                  <a:pt x="217715" y="261257"/>
                  <a:pt x="224426" y="315646"/>
                  <a:pt x="209006" y="365760"/>
                </a:cubicBezTo>
                <a:cubicBezTo>
                  <a:pt x="204957" y="378920"/>
                  <a:pt x="183587" y="378823"/>
                  <a:pt x="169818" y="378823"/>
                </a:cubicBezTo>
                <a:cubicBezTo>
                  <a:pt x="134713" y="378823"/>
                  <a:pt x="100149" y="370114"/>
                  <a:pt x="65315" y="365760"/>
                </a:cubicBezTo>
                <a:cubicBezTo>
                  <a:pt x="52252" y="361406"/>
                  <a:pt x="35863" y="362434"/>
                  <a:pt x="26126" y="352697"/>
                </a:cubicBezTo>
                <a:cubicBezTo>
                  <a:pt x="1019" y="327590"/>
                  <a:pt x="17856" y="251672"/>
                  <a:pt x="26126" y="235131"/>
                </a:cubicBezTo>
                <a:cubicBezTo>
                  <a:pt x="47301" y="192782"/>
                  <a:pt x="177350" y="196557"/>
                  <a:pt x="182880" y="195943"/>
                </a:cubicBezTo>
                <a:cubicBezTo>
                  <a:pt x="230744" y="124147"/>
                  <a:pt x="248195" y="52252"/>
                  <a:pt x="222069" y="26126"/>
                </a:cubicBezTo>
                <a:close/>
              </a:path>
            </a:pathLst>
          </a:cu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0" name="Freeform 49"/>
          <p:cNvSpPr/>
          <p:nvPr/>
        </p:nvSpPr>
        <p:spPr>
          <a:xfrm>
            <a:off x="5526088" y="3543300"/>
            <a:ext cx="92075" cy="98425"/>
          </a:xfrm>
          <a:custGeom>
            <a:avLst/>
            <a:gdLst>
              <a:gd name="connsiteX0" fmla="*/ 0 w 93305"/>
              <a:gd name="connsiteY0" fmla="*/ 62205 h 98066"/>
              <a:gd name="connsiteX1" fmla="*/ 13062 w 93305"/>
              <a:gd name="connsiteY1" fmla="*/ 75267 h 98066"/>
              <a:gd name="connsiteX2" fmla="*/ 52251 w 93305"/>
              <a:gd name="connsiteY2" fmla="*/ 88330 h 98066"/>
              <a:gd name="connsiteX3" fmla="*/ 0 w 93305"/>
              <a:gd name="connsiteY3" fmla="*/ 62205 h 98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305" h="98066">
                <a:moveTo>
                  <a:pt x="0" y="62205"/>
                </a:moveTo>
                <a:cubicBezTo>
                  <a:pt x="93305" y="0"/>
                  <a:pt x="6842" y="50387"/>
                  <a:pt x="13062" y="75267"/>
                </a:cubicBezTo>
                <a:cubicBezTo>
                  <a:pt x="16402" y="88625"/>
                  <a:pt x="42514" y="98066"/>
                  <a:pt x="52251" y="88330"/>
                </a:cubicBezTo>
                <a:lnTo>
                  <a:pt x="0" y="62205"/>
                </a:lnTo>
                <a:close/>
              </a:path>
            </a:pathLst>
          </a:custGeom>
          <a:noFill/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1" name="Freeform 50"/>
          <p:cNvSpPr/>
          <p:nvPr/>
        </p:nvSpPr>
        <p:spPr>
          <a:xfrm>
            <a:off x="5102225" y="3409950"/>
            <a:ext cx="300038" cy="339725"/>
          </a:xfrm>
          <a:custGeom>
            <a:avLst/>
            <a:gdLst>
              <a:gd name="connsiteX0" fmla="*/ 279710 w 300716"/>
              <a:gd name="connsiteY0" fmla="*/ 39188 h 340374"/>
              <a:gd name="connsiteX1" fmla="*/ 201333 w 300716"/>
              <a:gd name="connsiteY1" fmla="*/ 0 h 340374"/>
              <a:gd name="connsiteX2" fmla="*/ 136019 w 300716"/>
              <a:gd name="connsiteY2" fmla="*/ 13063 h 340374"/>
              <a:gd name="connsiteX3" fmla="*/ 96830 w 300716"/>
              <a:gd name="connsiteY3" fmla="*/ 39188 h 340374"/>
              <a:gd name="connsiteX4" fmla="*/ 44579 w 300716"/>
              <a:gd name="connsiteY4" fmla="*/ 117565 h 340374"/>
              <a:gd name="connsiteX5" fmla="*/ 96830 w 300716"/>
              <a:gd name="connsiteY5" fmla="*/ 313508 h 340374"/>
              <a:gd name="connsiteX6" fmla="*/ 149082 w 300716"/>
              <a:gd name="connsiteY6" fmla="*/ 326571 h 340374"/>
              <a:gd name="connsiteX7" fmla="*/ 279710 w 300716"/>
              <a:gd name="connsiteY7" fmla="*/ 313508 h 340374"/>
              <a:gd name="connsiteX8" fmla="*/ 240522 w 300716"/>
              <a:gd name="connsiteY8" fmla="*/ 195943 h 340374"/>
              <a:gd name="connsiteX9" fmla="*/ 201333 w 300716"/>
              <a:gd name="connsiteY9" fmla="*/ 182880 h 340374"/>
              <a:gd name="connsiteX10" fmla="*/ 83767 w 300716"/>
              <a:gd name="connsiteY10" fmla="*/ 222068 h 340374"/>
              <a:gd name="connsiteX11" fmla="*/ 83767 w 300716"/>
              <a:gd name="connsiteY11" fmla="*/ 300445 h 34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0716" h="340374">
                <a:moveTo>
                  <a:pt x="279710" y="39188"/>
                </a:moveTo>
                <a:cubicBezTo>
                  <a:pt x="259896" y="25979"/>
                  <a:pt x="228374" y="0"/>
                  <a:pt x="201333" y="0"/>
                </a:cubicBezTo>
                <a:cubicBezTo>
                  <a:pt x="179130" y="0"/>
                  <a:pt x="157790" y="8709"/>
                  <a:pt x="136019" y="13063"/>
                </a:cubicBezTo>
                <a:cubicBezTo>
                  <a:pt x="122956" y="21771"/>
                  <a:pt x="107168" y="27373"/>
                  <a:pt x="96830" y="39188"/>
                </a:cubicBezTo>
                <a:cubicBezTo>
                  <a:pt x="76153" y="62818"/>
                  <a:pt x="44579" y="117565"/>
                  <a:pt x="44579" y="117565"/>
                </a:cubicBezTo>
                <a:cubicBezTo>
                  <a:pt x="57125" y="293212"/>
                  <a:pt x="0" y="285842"/>
                  <a:pt x="96830" y="313508"/>
                </a:cubicBezTo>
                <a:cubicBezTo>
                  <a:pt x="114093" y="318440"/>
                  <a:pt x="131665" y="322217"/>
                  <a:pt x="149082" y="326571"/>
                </a:cubicBezTo>
                <a:cubicBezTo>
                  <a:pt x="192625" y="322217"/>
                  <a:pt x="245168" y="340374"/>
                  <a:pt x="279710" y="313508"/>
                </a:cubicBezTo>
                <a:cubicBezTo>
                  <a:pt x="300716" y="297170"/>
                  <a:pt x="259615" y="211217"/>
                  <a:pt x="240522" y="195943"/>
                </a:cubicBezTo>
                <a:cubicBezTo>
                  <a:pt x="229770" y="187341"/>
                  <a:pt x="214396" y="187234"/>
                  <a:pt x="201333" y="182880"/>
                </a:cubicBezTo>
                <a:cubicBezTo>
                  <a:pt x="190105" y="184751"/>
                  <a:pt x="96012" y="189415"/>
                  <a:pt x="83767" y="222068"/>
                </a:cubicBezTo>
                <a:cubicBezTo>
                  <a:pt x="74594" y="246530"/>
                  <a:pt x="83767" y="274319"/>
                  <a:pt x="83767" y="300445"/>
                </a:cubicBezTo>
              </a:path>
            </a:pathLst>
          </a:custGeom>
          <a:noFill/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2" name="Freeform 51"/>
          <p:cNvSpPr/>
          <p:nvPr/>
        </p:nvSpPr>
        <p:spPr>
          <a:xfrm>
            <a:off x="5264150" y="3944938"/>
            <a:ext cx="0" cy="222250"/>
          </a:xfrm>
          <a:custGeom>
            <a:avLst/>
            <a:gdLst>
              <a:gd name="connsiteX0" fmla="*/ 0 w 0"/>
              <a:gd name="connsiteY0" fmla="*/ 0 h 222068"/>
              <a:gd name="connsiteX1" fmla="*/ 0 w 0"/>
              <a:gd name="connsiteY1" fmla="*/ 222068 h 22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22068">
                <a:moveTo>
                  <a:pt x="0" y="0"/>
                </a:moveTo>
                <a:lnTo>
                  <a:pt x="0" y="222068"/>
                </a:lnTo>
              </a:path>
            </a:pathLst>
          </a:custGeom>
          <a:noFill/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3" name="Freeform 52"/>
          <p:cNvSpPr/>
          <p:nvPr/>
        </p:nvSpPr>
        <p:spPr>
          <a:xfrm>
            <a:off x="5813425" y="3957638"/>
            <a:ext cx="0" cy="261937"/>
          </a:xfrm>
          <a:custGeom>
            <a:avLst/>
            <a:gdLst>
              <a:gd name="connsiteX0" fmla="*/ 0 w 0"/>
              <a:gd name="connsiteY0" fmla="*/ 0 h 261257"/>
              <a:gd name="connsiteX1" fmla="*/ 0 w 0"/>
              <a:gd name="connsiteY1" fmla="*/ 261257 h 26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61257">
                <a:moveTo>
                  <a:pt x="0" y="0"/>
                </a:moveTo>
                <a:lnTo>
                  <a:pt x="0" y="261257"/>
                </a:lnTo>
              </a:path>
            </a:pathLst>
          </a:custGeom>
          <a:noFill/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6072188" y="857250"/>
            <a:ext cx="3071812" cy="1785938"/>
            <a:chOff x="1643042" y="0"/>
            <a:chExt cx="2928958" cy="1355869"/>
          </a:xfrm>
        </p:grpSpPr>
        <p:sp>
          <p:nvSpPr>
            <p:cNvPr id="54" name="Oval Callout 53"/>
            <p:cNvSpPr/>
            <p:nvPr/>
          </p:nvSpPr>
          <p:spPr>
            <a:xfrm>
              <a:off x="1643042" y="0"/>
              <a:ext cx="2857816" cy="1285966"/>
            </a:xfrm>
            <a:prstGeom prst="wedgeEllipseCallou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75" name="TextBox 9"/>
            <p:cNvSpPr txBox="1">
              <a:spLocks noChangeArrowheads="1"/>
            </p:cNvSpPr>
            <p:nvPr/>
          </p:nvSpPr>
          <p:spPr bwMode="auto">
            <a:xfrm>
              <a:off x="2000264" y="159258"/>
              <a:ext cx="2571736" cy="1196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latin typeface="Comic Sans MS" panose="030F0702030302020204" pitchFamily="66" charset="0"/>
                </a:rPr>
                <a:t>I am right.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latin typeface="Comic Sans MS" panose="030F0702030302020204" pitchFamily="66" charset="0"/>
                </a:rPr>
                <a:t>My decimal place is in a line and all my numbers are in column.</a:t>
              </a:r>
            </a:p>
          </p:txBody>
        </p:sp>
      </p:grp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1714500" y="0"/>
            <a:ext cx="2928938" cy="1285875"/>
            <a:chOff x="1643042" y="0"/>
            <a:chExt cx="2928958" cy="1285860"/>
          </a:xfrm>
        </p:grpSpPr>
        <p:sp>
          <p:nvSpPr>
            <p:cNvPr id="60" name="Oval Callout 59"/>
            <p:cNvSpPr/>
            <p:nvPr/>
          </p:nvSpPr>
          <p:spPr>
            <a:xfrm>
              <a:off x="1643042" y="0"/>
              <a:ext cx="2857520" cy="1285860"/>
            </a:xfrm>
            <a:prstGeom prst="wedgeEllipseCallou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73" name="TextBox 9"/>
            <p:cNvSpPr txBox="1">
              <a:spLocks noChangeArrowheads="1"/>
            </p:cNvSpPr>
            <p:nvPr/>
          </p:nvSpPr>
          <p:spPr bwMode="auto">
            <a:xfrm>
              <a:off x="2000232" y="142852"/>
              <a:ext cx="2571768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latin typeface="Comic Sans MS" panose="030F0702030302020204" pitchFamily="66" charset="0"/>
                </a:rPr>
                <a:t>I am right.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latin typeface="Comic Sans MS" panose="030F0702030302020204" pitchFamily="66" charset="0"/>
                </a:rPr>
                <a:t>I have lined all the numbers up.</a:t>
              </a:r>
            </a:p>
          </p:txBody>
        </p:sp>
      </p:grpSp>
      <p:grpSp>
        <p:nvGrpSpPr>
          <p:cNvPr id="4" name="Group 61"/>
          <p:cNvGrpSpPr>
            <a:grpSpLocks/>
          </p:cNvGrpSpPr>
          <p:nvPr/>
        </p:nvGrpSpPr>
        <p:grpSpPr bwMode="auto">
          <a:xfrm flipH="1">
            <a:off x="2857500" y="4143375"/>
            <a:ext cx="2887663" cy="1344613"/>
            <a:chOff x="-1323180" y="0"/>
            <a:chExt cx="2966222" cy="1363718"/>
          </a:xfrm>
        </p:grpSpPr>
        <p:sp>
          <p:nvSpPr>
            <p:cNvPr id="63" name="Oval Callout 62"/>
            <p:cNvSpPr/>
            <p:nvPr/>
          </p:nvSpPr>
          <p:spPr>
            <a:xfrm>
              <a:off x="-1213923" y="0"/>
              <a:ext cx="2856965" cy="1286435"/>
            </a:xfrm>
            <a:prstGeom prst="wedgeEllipseCallou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71" name="TextBox 9"/>
            <p:cNvSpPr txBox="1">
              <a:spLocks noChangeArrowheads="1"/>
            </p:cNvSpPr>
            <p:nvPr/>
          </p:nvSpPr>
          <p:spPr bwMode="auto">
            <a:xfrm>
              <a:off x="-1323180" y="144944"/>
              <a:ext cx="2746138" cy="1218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000">
                  <a:latin typeface="Comic Sans MS" panose="030F0702030302020204" pitchFamily="66" charset="0"/>
                </a:rPr>
                <a:t>Doh! I don’t have a clue what to do next?!</a:t>
              </a:r>
            </a:p>
          </p:txBody>
        </p:sp>
      </p:grpSp>
      <p:sp>
        <p:nvSpPr>
          <p:cNvPr id="65" name="Freeform 64"/>
          <p:cNvSpPr/>
          <p:nvPr/>
        </p:nvSpPr>
        <p:spPr>
          <a:xfrm>
            <a:off x="2286000" y="5040313"/>
            <a:ext cx="157163" cy="301625"/>
          </a:xfrm>
          <a:custGeom>
            <a:avLst/>
            <a:gdLst>
              <a:gd name="connsiteX0" fmla="*/ 0 w 157166"/>
              <a:gd name="connsiteY0" fmla="*/ 2146 h 302592"/>
              <a:gd name="connsiteX1" fmla="*/ 143691 w 157166"/>
              <a:gd name="connsiteY1" fmla="*/ 15209 h 302592"/>
              <a:gd name="connsiteX2" fmla="*/ 156754 w 157166"/>
              <a:gd name="connsiteY2" fmla="*/ 54397 h 302592"/>
              <a:gd name="connsiteX3" fmla="*/ 143691 w 157166"/>
              <a:gd name="connsiteY3" fmla="*/ 171963 h 302592"/>
              <a:gd name="connsiteX4" fmla="*/ 26126 w 157166"/>
              <a:gd name="connsiteY4" fmla="*/ 211152 h 302592"/>
              <a:gd name="connsiteX5" fmla="*/ 26126 w 157166"/>
              <a:gd name="connsiteY5" fmla="*/ 302592 h 302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166" h="302592">
                <a:moveTo>
                  <a:pt x="0" y="2146"/>
                </a:moveTo>
                <a:cubicBezTo>
                  <a:pt x="47897" y="6500"/>
                  <a:pt x="98065" y="0"/>
                  <a:pt x="143691" y="15209"/>
                </a:cubicBezTo>
                <a:cubicBezTo>
                  <a:pt x="156754" y="19563"/>
                  <a:pt x="156754" y="40628"/>
                  <a:pt x="156754" y="54397"/>
                </a:cubicBezTo>
                <a:cubicBezTo>
                  <a:pt x="156754" y="93827"/>
                  <a:pt x="157166" y="134907"/>
                  <a:pt x="143691" y="171963"/>
                </a:cubicBezTo>
                <a:cubicBezTo>
                  <a:pt x="126684" y="218732"/>
                  <a:pt x="45389" y="185468"/>
                  <a:pt x="26126" y="211152"/>
                </a:cubicBezTo>
                <a:cubicBezTo>
                  <a:pt x="7838" y="235536"/>
                  <a:pt x="26126" y="272112"/>
                  <a:pt x="26126" y="302592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6" name="Freeform 65"/>
          <p:cNvSpPr/>
          <p:nvPr/>
        </p:nvSpPr>
        <p:spPr>
          <a:xfrm>
            <a:off x="2268538" y="5480050"/>
            <a:ext cx="63500" cy="71438"/>
          </a:xfrm>
          <a:custGeom>
            <a:avLst/>
            <a:gdLst>
              <a:gd name="connsiteX0" fmla="*/ 4354 w 63274"/>
              <a:gd name="connsiteY0" fmla="*/ 45347 h 71472"/>
              <a:gd name="connsiteX1" fmla="*/ 17417 w 63274"/>
              <a:gd name="connsiteY1" fmla="*/ 6158 h 71472"/>
              <a:gd name="connsiteX2" fmla="*/ 56606 w 63274"/>
              <a:gd name="connsiteY2" fmla="*/ 19221 h 71472"/>
              <a:gd name="connsiteX3" fmla="*/ 43543 w 63274"/>
              <a:gd name="connsiteY3" fmla="*/ 71472 h 71472"/>
              <a:gd name="connsiteX4" fmla="*/ 4354 w 63274"/>
              <a:gd name="connsiteY4" fmla="*/ 45347 h 71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274" h="71472">
                <a:moveTo>
                  <a:pt x="4354" y="45347"/>
                </a:moveTo>
                <a:cubicBezTo>
                  <a:pt x="0" y="34461"/>
                  <a:pt x="5101" y="12316"/>
                  <a:pt x="17417" y="6158"/>
                </a:cubicBezTo>
                <a:cubicBezTo>
                  <a:pt x="29733" y="0"/>
                  <a:pt x="51492" y="6436"/>
                  <a:pt x="56606" y="19221"/>
                </a:cubicBezTo>
                <a:cubicBezTo>
                  <a:pt x="63274" y="35890"/>
                  <a:pt x="47897" y="54055"/>
                  <a:pt x="43543" y="71472"/>
                </a:cubicBezTo>
                <a:cubicBezTo>
                  <a:pt x="1275" y="29205"/>
                  <a:pt x="8708" y="56233"/>
                  <a:pt x="4354" y="45347"/>
                </a:cubicBezTo>
                <a:close/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7" name="Freeform 66"/>
          <p:cNvSpPr/>
          <p:nvPr/>
        </p:nvSpPr>
        <p:spPr>
          <a:xfrm>
            <a:off x="2617788" y="4935538"/>
            <a:ext cx="219075" cy="446087"/>
          </a:xfrm>
          <a:custGeom>
            <a:avLst/>
            <a:gdLst>
              <a:gd name="connsiteX0" fmla="*/ 7605 w 218503"/>
              <a:gd name="connsiteY0" fmla="*/ 120105 h 446676"/>
              <a:gd name="connsiteX1" fmla="*/ 59857 w 218503"/>
              <a:gd name="connsiteY1" fmla="*/ 2539 h 446676"/>
              <a:gd name="connsiteX2" fmla="*/ 112108 w 218503"/>
              <a:gd name="connsiteY2" fmla="*/ 15602 h 446676"/>
              <a:gd name="connsiteX3" fmla="*/ 138234 w 218503"/>
              <a:gd name="connsiteY3" fmla="*/ 54790 h 446676"/>
              <a:gd name="connsiteX4" fmla="*/ 177422 w 218503"/>
              <a:gd name="connsiteY4" fmla="*/ 67853 h 446676"/>
              <a:gd name="connsiteX5" fmla="*/ 190485 w 218503"/>
              <a:gd name="connsiteY5" fmla="*/ 120105 h 446676"/>
              <a:gd name="connsiteX6" fmla="*/ 216611 w 218503"/>
              <a:gd name="connsiteY6" fmla="*/ 159293 h 446676"/>
              <a:gd name="connsiteX7" fmla="*/ 203548 w 218503"/>
              <a:gd name="connsiteY7" fmla="*/ 289922 h 446676"/>
              <a:gd name="connsiteX8" fmla="*/ 164360 w 218503"/>
              <a:gd name="connsiteY8" fmla="*/ 302985 h 446676"/>
              <a:gd name="connsiteX9" fmla="*/ 46794 w 218503"/>
              <a:gd name="connsiteY9" fmla="*/ 316048 h 446676"/>
              <a:gd name="connsiteX10" fmla="*/ 33731 w 218503"/>
              <a:gd name="connsiteY10" fmla="*/ 368299 h 446676"/>
              <a:gd name="connsiteX11" fmla="*/ 46794 w 218503"/>
              <a:gd name="connsiteY11" fmla="*/ 433613 h 446676"/>
              <a:gd name="connsiteX12" fmla="*/ 46794 w 218503"/>
              <a:gd name="connsiteY12" fmla="*/ 446676 h 446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8503" h="446676">
                <a:moveTo>
                  <a:pt x="7605" y="120105"/>
                </a:moveTo>
                <a:cubicBezTo>
                  <a:pt x="13179" y="81084"/>
                  <a:pt x="0" y="11090"/>
                  <a:pt x="59857" y="2539"/>
                </a:cubicBezTo>
                <a:cubicBezTo>
                  <a:pt x="77630" y="0"/>
                  <a:pt x="94691" y="11248"/>
                  <a:pt x="112108" y="15602"/>
                </a:cubicBezTo>
                <a:cubicBezTo>
                  <a:pt x="120817" y="28665"/>
                  <a:pt x="125975" y="44983"/>
                  <a:pt x="138234" y="54790"/>
                </a:cubicBezTo>
                <a:cubicBezTo>
                  <a:pt x="148986" y="63392"/>
                  <a:pt x="168820" y="57101"/>
                  <a:pt x="177422" y="67853"/>
                </a:cubicBezTo>
                <a:cubicBezTo>
                  <a:pt x="188637" y="81872"/>
                  <a:pt x="183413" y="103603"/>
                  <a:pt x="190485" y="120105"/>
                </a:cubicBezTo>
                <a:cubicBezTo>
                  <a:pt x="196669" y="134535"/>
                  <a:pt x="207902" y="146230"/>
                  <a:pt x="216611" y="159293"/>
                </a:cubicBezTo>
                <a:cubicBezTo>
                  <a:pt x="212257" y="202836"/>
                  <a:pt x="218503" y="248796"/>
                  <a:pt x="203548" y="289922"/>
                </a:cubicBezTo>
                <a:cubicBezTo>
                  <a:pt x="198842" y="302862"/>
                  <a:pt x="177942" y="300721"/>
                  <a:pt x="164360" y="302985"/>
                </a:cubicBezTo>
                <a:cubicBezTo>
                  <a:pt x="125467" y="309467"/>
                  <a:pt x="85983" y="311694"/>
                  <a:pt x="46794" y="316048"/>
                </a:cubicBezTo>
                <a:cubicBezTo>
                  <a:pt x="42440" y="333465"/>
                  <a:pt x="33731" y="350346"/>
                  <a:pt x="33731" y="368299"/>
                </a:cubicBezTo>
                <a:cubicBezTo>
                  <a:pt x="33731" y="390502"/>
                  <a:pt x="43144" y="411713"/>
                  <a:pt x="46794" y="433613"/>
                </a:cubicBezTo>
                <a:cubicBezTo>
                  <a:pt x="47510" y="437908"/>
                  <a:pt x="46794" y="442322"/>
                  <a:pt x="46794" y="446676"/>
                </a:cubicBezTo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8" name="Freeform 67"/>
          <p:cNvSpPr/>
          <p:nvPr/>
        </p:nvSpPr>
        <p:spPr>
          <a:xfrm>
            <a:off x="2660650" y="5465763"/>
            <a:ext cx="61913" cy="68262"/>
          </a:xfrm>
          <a:custGeom>
            <a:avLst/>
            <a:gdLst>
              <a:gd name="connsiteX0" fmla="*/ 4354 w 62763"/>
              <a:gd name="connsiteY0" fmla="*/ 60514 h 69475"/>
              <a:gd name="connsiteX1" fmla="*/ 17417 w 62763"/>
              <a:gd name="connsiteY1" fmla="*/ 8262 h 69475"/>
              <a:gd name="connsiteX2" fmla="*/ 56605 w 62763"/>
              <a:gd name="connsiteY2" fmla="*/ 21325 h 69475"/>
              <a:gd name="connsiteX3" fmla="*/ 43542 w 62763"/>
              <a:gd name="connsiteY3" fmla="*/ 60514 h 69475"/>
              <a:gd name="connsiteX4" fmla="*/ 4354 w 62763"/>
              <a:gd name="connsiteY4" fmla="*/ 60514 h 6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63" h="69475">
                <a:moveTo>
                  <a:pt x="4354" y="60514"/>
                </a:moveTo>
                <a:cubicBezTo>
                  <a:pt x="0" y="51805"/>
                  <a:pt x="3054" y="19034"/>
                  <a:pt x="17417" y="8262"/>
                </a:cubicBezTo>
                <a:cubicBezTo>
                  <a:pt x="28432" y="0"/>
                  <a:pt x="50447" y="9009"/>
                  <a:pt x="56605" y="21325"/>
                </a:cubicBezTo>
                <a:cubicBezTo>
                  <a:pt x="62763" y="33641"/>
                  <a:pt x="55349" y="53430"/>
                  <a:pt x="43542" y="60514"/>
                </a:cubicBezTo>
                <a:cubicBezTo>
                  <a:pt x="28607" y="69475"/>
                  <a:pt x="8708" y="69223"/>
                  <a:pt x="4354" y="60514"/>
                </a:cubicBezTo>
                <a:close/>
              </a:path>
            </a:pathLst>
          </a:custGeom>
          <a:ln w="22225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557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3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10"/>
          <p:cNvSpPr txBox="1">
            <a:spLocks noChangeArrowheads="1"/>
          </p:cNvSpPr>
          <p:nvPr/>
        </p:nvSpPr>
        <p:spPr bwMode="auto">
          <a:xfrm>
            <a:off x="323528" y="116632"/>
            <a:ext cx="7786688" cy="637097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GB" altLang="en-US" sz="2400" dirty="0" smtClean="0">
                <a:latin typeface="Comic Sans MS" pitchFamily="66" charset="0"/>
              </a:rPr>
              <a:t>Examples:</a:t>
            </a:r>
          </a:p>
          <a:p>
            <a:pPr eaLnBrk="1" hangingPunct="1"/>
            <a:endParaRPr lang="en-GB" altLang="en-US" sz="2400" dirty="0" smtClean="0">
              <a:latin typeface="Comic Sans MS" pitchFamily="66" charset="0"/>
            </a:endParaRPr>
          </a:p>
          <a:p>
            <a:pPr eaLnBrk="1" hangingPunct="1"/>
            <a:r>
              <a:rPr lang="en-GB" altLang="en-US" sz="2400" dirty="0" smtClean="0">
                <a:latin typeface="Comic Sans MS" pitchFamily="66" charset="0"/>
              </a:rPr>
              <a:t>1) 17. 5 </a:t>
            </a:r>
            <a:r>
              <a:rPr lang="en-GB" altLang="en-US" sz="2400" dirty="0">
                <a:latin typeface="Comic Sans MS" pitchFamily="66" charset="0"/>
              </a:rPr>
              <a:t>+ </a:t>
            </a:r>
            <a:r>
              <a:rPr lang="en-GB" altLang="en-US" sz="2400" dirty="0" smtClean="0">
                <a:latin typeface="Comic Sans MS" pitchFamily="66" charset="0"/>
              </a:rPr>
              <a:t>6</a:t>
            </a:r>
          </a:p>
          <a:p>
            <a:pPr eaLnBrk="1" hangingPunct="1"/>
            <a:endParaRPr lang="en-GB" altLang="en-US" sz="2400" dirty="0" smtClean="0">
              <a:latin typeface="Comic Sans MS" pitchFamily="66" charset="0"/>
            </a:endParaRPr>
          </a:p>
          <a:p>
            <a:pPr eaLnBrk="1" hangingPunct="1"/>
            <a:endParaRPr lang="en-GB" altLang="en-US" sz="2400" dirty="0">
              <a:latin typeface="Comic Sans MS" pitchFamily="66" charset="0"/>
            </a:endParaRPr>
          </a:p>
          <a:p>
            <a:pPr eaLnBrk="1" hangingPunct="1"/>
            <a:endParaRPr lang="en-GB" altLang="en-US" sz="2400" dirty="0" smtClean="0">
              <a:latin typeface="Comic Sans MS" pitchFamily="66" charset="0"/>
            </a:endParaRPr>
          </a:p>
          <a:p>
            <a:pPr eaLnBrk="1" hangingPunct="1"/>
            <a:endParaRPr lang="en-GB" altLang="en-US" sz="2400" dirty="0">
              <a:latin typeface="Comic Sans MS" pitchFamily="66" charset="0"/>
            </a:endParaRPr>
          </a:p>
          <a:p>
            <a:pPr eaLnBrk="1" hangingPunct="1"/>
            <a:endParaRPr lang="en-GB" altLang="en-US" sz="2400" dirty="0" smtClean="0">
              <a:latin typeface="Comic Sans MS" pitchFamily="66" charset="0"/>
            </a:endParaRPr>
          </a:p>
          <a:p>
            <a:pPr eaLnBrk="1" hangingPunct="1"/>
            <a:endParaRPr lang="en-GB" altLang="en-US" sz="2400" dirty="0">
              <a:latin typeface="Comic Sans MS" pitchFamily="66" charset="0"/>
            </a:endParaRPr>
          </a:p>
          <a:p>
            <a:pPr eaLnBrk="1" hangingPunct="1"/>
            <a:endParaRPr lang="en-GB" altLang="en-US" sz="2400" dirty="0">
              <a:latin typeface="Comic Sans MS" pitchFamily="66" charset="0"/>
            </a:endParaRPr>
          </a:p>
          <a:p>
            <a:pPr eaLnBrk="1" hangingPunct="1"/>
            <a:r>
              <a:rPr lang="en-GB" altLang="en-US" sz="2400" dirty="0" smtClean="0">
                <a:latin typeface="Comic Sans MS" pitchFamily="66" charset="0"/>
              </a:rPr>
              <a:t>2) 21.9 </a:t>
            </a:r>
            <a:r>
              <a:rPr lang="en-GB" altLang="en-US" sz="2400" dirty="0">
                <a:latin typeface="Comic Sans MS" pitchFamily="66" charset="0"/>
              </a:rPr>
              <a:t>– </a:t>
            </a:r>
            <a:r>
              <a:rPr lang="en-GB" altLang="en-US" sz="2400" dirty="0" smtClean="0">
                <a:latin typeface="Comic Sans MS" pitchFamily="66" charset="0"/>
              </a:rPr>
              <a:t>8</a:t>
            </a:r>
          </a:p>
          <a:p>
            <a:pPr eaLnBrk="1" hangingPunct="1"/>
            <a:endParaRPr lang="en-GB" altLang="en-US" dirty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r>
              <a:rPr lang="en-GB" altLang="en-US" dirty="0" smtClean="0">
                <a:solidFill>
                  <a:srgbClr val="C00000"/>
                </a:solidFill>
                <a:latin typeface="Comic Sans MS" pitchFamily="66" charset="0"/>
              </a:rPr>
              <a:t> </a:t>
            </a:r>
            <a:endParaRPr lang="en-US" altLang="en-US" dirty="0">
              <a:solidFill>
                <a:srgbClr val="C00000"/>
              </a:solidFill>
              <a:latin typeface="Comic Sans MS" pitchFamily="66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35" t="29914" r="21960" b="31786"/>
          <a:stretch/>
        </p:blipFill>
        <p:spPr bwMode="auto">
          <a:xfrm>
            <a:off x="3563888" y="447836"/>
            <a:ext cx="3024336" cy="3125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073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583" y="25354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>
                <a:solidFill>
                  <a:schemeClr val="tx1"/>
                </a:solidFill>
              </a:rPr>
              <a:t>You try these: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8050" y="908720"/>
            <a:ext cx="4896544" cy="52629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 smtClean="0"/>
              <a:t>13.5 + 5</a:t>
            </a:r>
          </a:p>
          <a:p>
            <a:pPr marL="342900" indent="-342900">
              <a:buAutoNum type="arabicPeriod"/>
            </a:pP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 smtClean="0"/>
              <a:t>7.79 - 3</a:t>
            </a:r>
          </a:p>
          <a:p>
            <a:pPr marL="342900" indent="-342900">
              <a:buAutoNum type="arabicPeriod"/>
            </a:pP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 smtClean="0"/>
              <a:t>34.6 – 10 </a:t>
            </a:r>
          </a:p>
          <a:p>
            <a:pPr marL="342900" indent="-342900">
              <a:buAutoNum type="arabicPeriod"/>
            </a:pP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 smtClean="0"/>
              <a:t>12 + 5.8 </a:t>
            </a:r>
          </a:p>
          <a:p>
            <a:pPr marL="342900" indent="-342900">
              <a:buAutoNum type="arabicPeriod"/>
            </a:pP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 smtClean="0"/>
              <a:t>18. 2 – 3.14</a:t>
            </a:r>
          </a:p>
          <a:p>
            <a:endParaRPr lang="en-GB" sz="2400" dirty="0" smtClean="0"/>
          </a:p>
          <a:p>
            <a:r>
              <a:rPr lang="en-GB" sz="2400" b="1" dirty="0" smtClean="0">
                <a:solidFill>
                  <a:srgbClr val="7030A0"/>
                </a:solidFill>
              </a:rPr>
              <a:t>Extension:</a:t>
            </a:r>
            <a:endParaRPr lang="en-GB" sz="2400" b="1" dirty="0">
              <a:solidFill>
                <a:srgbClr val="7030A0"/>
              </a:solidFill>
            </a:endParaRPr>
          </a:p>
          <a:p>
            <a:pPr marL="342900" indent="-342900">
              <a:buAutoNum type="arabicPeriod"/>
            </a:pPr>
            <a:r>
              <a:rPr lang="en-GB" sz="2400" dirty="0" smtClean="0"/>
              <a:t>11.2 + 0.7</a:t>
            </a:r>
          </a:p>
          <a:p>
            <a:pPr marL="342900" indent="-342900">
              <a:buAutoNum type="arabicPeriod"/>
            </a:pPr>
            <a:endParaRPr lang="en-GB" sz="2400" dirty="0" smtClean="0"/>
          </a:p>
          <a:p>
            <a:pPr marL="342900" indent="-342900">
              <a:buAutoNum type="arabicPeriod"/>
            </a:pPr>
            <a:r>
              <a:rPr lang="en-GB" sz="2400" dirty="0" smtClean="0"/>
              <a:t>9 – 0.15  </a:t>
            </a:r>
            <a:endParaRPr lang="en-GB" sz="24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35" t="29914" r="21960" b="31786"/>
          <a:stretch/>
        </p:blipFill>
        <p:spPr bwMode="auto">
          <a:xfrm>
            <a:off x="5465779" y="1114938"/>
            <a:ext cx="3481914" cy="418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511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2583" y="25354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>
                <a:solidFill>
                  <a:schemeClr val="tx1"/>
                </a:solidFill>
              </a:rPr>
              <a:t>Answers: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8050" y="908720"/>
            <a:ext cx="4896544" cy="52629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 smtClean="0"/>
              <a:t>13.5 + 5 = </a:t>
            </a:r>
            <a:r>
              <a:rPr lang="en-GB" sz="2400" dirty="0" smtClean="0">
                <a:solidFill>
                  <a:srgbClr val="00B050"/>
                </a:solidFill>
              </a:rPr>
              <a:t>18.5</a:t>
            </a:r>
          </a:p>
          <a:p>
            <a:pPr marL="342900" indent="-342900">
              <a:buAutoNum type="arabicPeriod"/>
            </a:pP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 smtClean="0"/>
              <a:t>7.79 – 3 = </a:t>
            </a:r>
            <a:r>
              <a:rPr lang="en-GB" sz="2400" dirty="0" smtClean="0">
                <a:solidFill>
                  <a:srgbClr val="00B050"/>
                </a:solidFill>
              </a:rPr>
              <a:t>4.79</a:t>
            </a:r>
          </a:p>
          <a:p>
            <a:pPr marL="342900" indent="-342900">
              <a:buAutoNum type="arabicPeriod"/>
            </a:pP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 smtClean="0"/>
              <a:t>34.6 – 10 = </a:t>
            </a:r>
            <a:r>
              <a:rPr lang="en-GB" sz="2400" dirty="0" smtClean="0">
                <a:solidFill>
                  <a:srgbClr val="00B050"/>
                </a:solidFill>
              </a:rPr>
              <a:t>24.6</a:t>
            </a:r>
          </a:p>
          <a:p>
            <a:pPr marL="342900" indent="-342900">
              <a:buAutoNum type="arabicPeriod"/>
            </a:pP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 smtClean="0"/>
              <a:t>12 + 5.8 = </a:t>
            </a:r>
            <a:r>
              <a:rPr lang="en-GB" sz="2400" dirty="0" smtClean="0">
                <a:solidFill>
                  <a:srgbClr val="00B050"/>
                </a:solidFill>
              </a:rPr>
              <a:t>17.8</a:t>
            </a:r>
          </a:p>
          <a:p>
            <a:pPr marL="342900" indent="-342900">
              <a:buAutoNum type="arabicPeriod"/>
            </a:pPr>
            <a:endParaRPr lang="en-GB" sz="2400" dirty="0"/>
          </a:p>
          <a:p>
            <a:pPr marL="342900" indent="-342900">
              <a:buAutoNum type="arabicPeriod"/>
            </a:pPr>
            <a:r>
              <a:rPr lang="en-GB" sz="2400" dirty="0" smtClean="0"/>
              <a:t>18. 2 – 3.14 = </a:t>
            </a:r>
            <a:r>
              <a:rPr lang="en-GB" sz="2400" dirty="0" smtClean="0">
                <a:solidFill>
                  <a:srgbClr val="00B050"/>
                </a:solidFill>
              </a:rPr>
              <a:t>15.06</a:t>
            </a:r>
          </a:p>
          <a:p>
            <a:endParaRPr lang="en-GB" sz="2400" dirty="0" smtClean="0"/>
          </a:p>
          <a:p>
            <a:r>
              <a:rPr lang="en-GB" sz="2400" b="1" dirty="0" smtClean="0">
                <a:solidFill>
                  <a:srgbClr val="7030A0"/>
                </a:solidFill>
              </a:rPr>
              <a:t>Extension:</a:t>
            </a:r>
            <a:endParaRPr lang="en-GB" sz="2400" b="1" dirty="0">
              <a:solidFill>
                <a:srgbClr val="7030A0"/>
              </a:solidFill>
            </a:endParaRPr>
          </a:p>
          <a:p>
            <a:pPr marL="342900" indent="-342900">
              <a:buAutoNum type="arabicPeriod"/>
            </a:pPr>
            <a:r>
              <a:rPr lang="en-GB" sz="2400" dirty="0" smtClean="0"/>
              <a:t>11.4 + 0.7 = </a:t>
            </a:r>
            <a:r>
              <a:rPr lang="en-GB" sz="2400" dirty="0" smtClean="0">
                <a:solidFill>
                  <a:srgbClr val="00B050"/>
                </a:solidFill>
              </a:rPr>
              <a:t>12.1</a:t>
            </a:r>
          </a:p>
          <a:p>
            <a:pPr marL="342900" indent="-342900">
              <a:buAutoNum type="arabicPeriod"/>
            </a:pPr>
            <a:endParaRPr lang="en-GB" sz="2400" dirty="0" smtClean="0"/>
          </a:p>
          <a:p>
            <a:pPr marL="342900" indent="-342900">
              <a:buAutoNum type="arabicPeriod"/>
            </a:pPr>
            <a:r>
              <a:rPr lang="en-GB" sz="2400" dirty="0" smtClean="0"/>
              <a:t>9 – 0.15  = </a:t>
            </a:r>
            <a:r>
              <a:rPr lang="en-GB" sz="2400" dirty="0" smtClean="0">
                <a:solidFill>
                  <a:srgbClr val="00B050"/>
                </a:solidFill>
              </a:rPr>
              <a:t>8.85</a:t>
            </a:r>
            <a:endParaRPr lang="en-GB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67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35" y="0"/>
            <a:ext cx="864096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 smtClean="0"/>
              <a:t>Answers:</a:t>
            </a:r>
          </a:p>
          <a:p>
            <a:pPr lvl="0"/>
            <a:r>
              <a:rPr lang="en-GB" sz="2400" dirty="0" smtClean="0"/>
              <a:t>1. Carla </a:t>
            </a:r>
            <a:r>
              <a:rPr lang="en-GB" sz="2400" dirty="0"/>
              <a:t>bought a CD for </a:t>
            </a:r>
            <a:r>
              <a:rPr lang="en-GB" sz="2400" dirty="0" smtClean="0"/>
              <a:t>$4.65 </a:t>
            </a:r>
            <a:r>
              <a:rPr lang="en-GB" sz="2400" dirty="0"/>
              <a:t>and some sweets for </a:t>
            </a:r>
            <a:r>
              <a:rPr lang="en-GB" sz="2400" dirty="0" smtClean="0"/>
              <a:t>$2</a:t>
            </a:r>
            <a:r>
              <a:rPr lang="en-GB" sz="2400" dirty="0"/>
              <a:t>. What is the total cost</a:t>
            </a:r>
            <a:r>
              <a:rPr lang="en-GB" sz="2400" dirty="0" smtClean="0"/>
              <a:t>? </a:t>
            </a:r>
            <a:r>
              <a:rPr lang="en-GB" sz="2400" b="1" dirty="0">
                <a:solidFill>
                  <a:srgbClr val="00B050"/>
                </a:solidFill>
              </a:rPr>
              <a:t>$</a:t>
            </a:r>
            <a:r>
              <a:rPr lang="en-GB" sz="2400" b="1" dirty="0" smtClean="0">
                <a:solidFill>
                  <a:srgbClr val="00B050"/>
                </a:solidFill>
              </a:rPr>
              <a:t>6.65</a:t>
            </a:r>
            <a:endParaRPr lang="en-GB" sz="2400" b="1" dirty="0">
              <a:solidFill>
                <a:srgbClr val="00B050"/>
              </a:solidFill>
            </a:endParaRPr>
          </a:p>
          <a:p>
            <a:r>
              <a:rPr lang="en-GB" sz="2400" dirty="0"/>
              <a:t> </a:t>
            </a:r>
          </a:p>
          <a:p>
            <a:pPr lvl="0"/>
            <a:r>
              <a:rPr lang="en-GB" sz="2400" dirty="0" smtClean="0"/>
              <a:t>2. Peter </a:t>
            </a:r>
            <a:r>
              <a:rPr lang="en-GB" sz="2400" dirty="0"/>
              <a:t>is re-wiring his house. For upstairs he needs a length for 6.8m, for downstairs he needs a length of 10m. Work out the total length that Peter needs</a:t>
            </a:r>
            <a:r>
              <a:rPr lang="en-GB" sz="2400" dirty="0" smtClean="0"/>
              <a:t>? </a:t>
            </a:r>
            <a:r>
              <a:rPr lang="en-GB" sz="2400" b="1" dirty="0" smtClean="0">
                <a:solidFill>
                  <a:srgbClr val="00B050"/>
                </a:solidFill>
              </a:rPr>
              <a:t>16.8m</a:t>
            </a:r>
            <a:endParaRPr lang="en-GB" sz="2400" b="1" dirty="0">
              <a:solidFill>
                <a:srgbClr val="00B050"/>
              </a:solidFill>
            </a:endParaRPr>
          </a:p>
          <a:p>
            <a:r>
              <a:rPr lang="en-GB" sz="2400" dirty="0"/>
              <a:t> </a:t>
            </a:r>
          </a:p>
          <a:p>
            <a:pPr lvl="0"/>
            <a:r>
              <a:rPr lang="en-GB" sz="2400" dirty="0" smtClean="0"/>
              <a:t>3. Jim </a:t>
            </a:r>
            <a:r>
              <a:rPr lang="en-GB" sz="2400" dirty="0"/>
              <a:t>bought a magazine for </a:t>
            </a:r>
            <a:r>
              <a:rPr lang="en-GB" sz="2400" dirty="0" smtClean="0"/>
              <a:t>$2.65</a:t>
            </a:r>
            <a:r>
              <a:rPr lang="en-GB" sz="2400" dirty="0"/>
              <a:t>. How much change did he get if he paid for it with a </a:t>
            </a:r>
            <a:r>
              <a:rPr lang="en-GB" sz="2400" dirty="0" smtClean="0"/>
              <a:t>$5 </a:t>
            </a:r>
            <a:r>
              <a:rPr lang="en-GB" sz="2400" dirty="0"/>
              <a:t>note</a:t>
            </a:r>
            <a:r>
              <a:rPr lang="en-GB" sz="2400" dirty="0" smtClean="0"/>
              <a:t>? </a:t>
            </a:r>
            <a:r>
              <a:rPr lang="en-GB" sz="2400" b="1" dirty="0">
                <a:solidFill>
                  <a:srgbClr val="00B050"/>
                </a:solidFill>
              </a:rPr>
              <a:t>$</a:t>
            </a:r>
            <a:r>
              <a:rPr lang="en-GB" sz="2400" b="1" dirty="0" smtClean="0">
                <a:solidFill>
                  <a:srgbClr val="00B050"/>
                </a:solidFill>
              </a:rPr>
              <a:t>2.35</a:t>
            </a:r>
            <a:endParaRPr lang="en-GB" sz="2400" b="1" dirty="0">
              <a:solidFill>
                <a:srgbClr val="00B050"/>
              </a:solidFill>
            </a:endParaRPr>
          </a:p>
          <a:p>
            <a:r>
              <a:rPr lang="en-GB" sz="2400" dirty="0"/>
              <a:t> </a:t>
            </a:r>
          </a:p>
          <a:p>
            <a:pPr lvl="0"/>
            <a:r>
              <a:rPr lang="en-GB" sz="2400" dirty="0" smtClean="0"/>
              <a:t>4. In </a:t>
            </a:r>
            <a:r>
              <a:rPr lang="en-GB" sz="2400" dirty="0"/>
              <a:t>a year, Sarah's weight (mass) decreased from 48.2 kg to 45 kg. How much weight did she lose in the year</a:t>
            </a:r>
            <a:r>
              <a:rPr lang="en-GB" sz="2400" dirty="0" smtClean="0"/>
              <a:t>? </a:t>
            </a:r>
            <a:r>
              <a:rPr lang="en-GB" sz="2400" b="1" dirty="0" smtClean="0">
                <a:solidFill>
                  <a:srgbClr val="00B050"/>
                </a:solidFill>
              </a:rPr>
              <a:t>2.8kg</a:t>
            </a:r>
            <a:endParaRPr lang="en-GB" sz="2400" b="1" dirty="0">
              <a:solidFill>
                <a:srgbClr val="00B050"/>
              </a:solidFill>
            </a:endParaRPr>
          </a:p>
          <a:p>
            <a:r>
              <a:rPr lang="en-GB" sz="2400" dirty="0"/>
              <a:t> </a:t>
            </a:r>
          </a:p>
          <a:p>
            <a:pPr lvl="0"/>
            <a:r>
              <a:rPr lang="en-GB" sz="2400" dirty="0" smtClean="0"/>
              <a:t>5.A </a:t>
            </a:r>
            <a:r>
              <a:rPr lang="en-GB" sz="2400" dirty="0"/>
              <a:t>big bar of chocolate costs </a:t>
            </a:r>
            <a:r>
              <a:rPr lang="en-GB" sz="2400" dirty="0" smtClean="0"/>
              <a:t>95c, </a:t>
            </a:r>
            <a:r>
              <a:rPr lang="en-GB" sz="2400" dirty="0"/>
              <a:t>3 small bars of chocolate costs </a:t>
            </a:r>
            <a:r>
              <a:rPr lang="en-GB" sz="2400" dirty="0" smtClean="0"/>
              <a:t>$1.35</a:t>
            </a:r>
            <a:r>
              <a:rPr lang="en-GB" sz="2400" dirty="0"/>
              <a:t>, Work out the difference between these two prices? </a:t>
            </a:r>
            <a:r>
              <a:rPr lang="en-GB" sz="2400" b="1" dirty="0" smtClean="0">
                <a:solidFill>
                  <a:srgbClr val="00B050"/>
                </a:solidFill>
              </a:rPr>
              <a:t>40c</a:t>
            </a:r>
            <a:endParaRPr lang="en-GB" sz="2400" b="1" dirty="0">
              <a:solidFill>
                <a:srgbClr val="00B050"/>
              </a:solidFill>
            </a:endParaRPr>
          </a:p>
          <a:p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92356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6632"/>
            <a:ext cx="90364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2400" dirty="0" smtClean="0"/>
              <a:t>6. A </a:t>
            </a:r>
            <a:r>
              <a:rPr lang="en-GB" sz="2400" dirty="0"/>
              <a:t>sunflower plant is 1.47 m tall at the start of the week. It is 2m tall at the end of the week. How many cm did it grow during the week?</a:t>
            </a:r>
          </a:p>
          <a:p>
            <a:r>
              <a:rPr lang="en-GB" sz="2400" dirty="0"/>
              <a:t> </a:t>
            </a:r>
            <a:r>
              <a:rPr lang="en-GB" sz="2400" b="1" dirty="0" smtClean="0">
                <a:solidFill>
                  <a:srgbClr val="00B050"/>
                </a:solidFill>
              </a:rPr>
              <a:t>0.23 m </a:t>
            </a:r>
            <a:endParaRPr lang="en-GB" sz="2400" b="1" dirty="0">
              <a:solidFill>
                <a:srgbClr val="00B050"/>
              </a:solidFill>
            </a:endParaRPr>
          </a:p>
          <a:p>
            <a:pPr lvl="0"/>
            <a:r>
              <a:rPr lang="en-GB" sz="2400" dirty="0" smtClean="0"/>
              <a:t>7. Sarah </a:t>
            </a:r>
            <a:r>
              <a:rPr lang="en-GB" sz="2400" dirty="0"/>
              <a:t>used 34.5g of sugar to make a cheesecake and 9g to make a lime pie. How many grams of sugar has Sarah used</a:t>
            </a:r>
            <a:r>
              <a:rPr lang="en-GB" sz="2400" dirty="0" smtClean="0"/>
              <a:t>?</a:t>
            </a:r>
            <a:r>
              <a:rPr lang="en-GB" sz="2400" dirty="0"/>
              <a:t> </a:t>
            </a:r>
            <a:r>
              <a:rPr lang="en-GB" sz="2400" b="1" dirty="0" smtClean="0">
                <a:solidFill>
                  <a:srgbClr val="00B050"/>
                </a:solidFill>
              </a:rPr>
              <a:t>43.5g</a:t>
            </a:r>
          </a:p>
          <a:p>
            <a:pPr lvl="0"/>
            <a:endParaRPr lang="en-GB" sz="2400" b="1" dirty="0">
              <a:solidFill>
                <a:srgbClr val="00B050"/>
              </a:solidFill>
            </a:endParaRPr>
          </a:p>
          <a:p>
            <a:pPr lvl="0"/>
            <a:r>
              <a:rPr lang="en-GB" sz="2400" dirty="0" smtClean="0"/>
              <a:t>8. A </a:t>
            </a:r>
            <a:r>
              <a:rPr lang="en-GB" sz="2400" dirty="0"/>
              <a:t>calculator costs </a:t>
            </a:r>
            <a:r>
              <a:rPr lang="en-GB" sz="2400" dirty="0" smtClean="0"/>
              <a:t>$2.99</a:t>
            </a:r>
            <a:r>
              <a:rPr lang="en-GB" sz="2400" dirty="0"/>
              <a:t>, </a:t>
            </a:r>
            <a:r>
              <a:rPr lang="en-GB" sz="2400" dirty="0" smtClean="0"/>
              <a:t>an eraser </a:t>
            </a:r>
            <a:r>
              <a:rPr lang="en-GB" sz="2400" dirty="0"/>
              <a:t>costs </a:t>
            </a:r>
            <a:r>
              <a:rPr lang="en-GB" sz="2400" dirty="0" smtClean="0"/>
              <a:t>25c </a:t>
            </a:r>
            <a:r>
              <a:rPr lang="en-GB" sz="2400" dirty="0"/>
              <a:t>and a ruler costs </a:t>
            </a:r>
            <a:r>
              <a:rPr lang="en-GB" sz="2400" dirty="0" smtClean="0"/>
              <a:t>45c, </a:t>
            </a:r>
            <a:r>
              <a:rPr lang="en-GB" sz="2400" dirty="0"/>
              <a:t>how much do they </a:t>
            </a:r>
            <a:r>
              <a:rPr lang="en-GB" sz="2400" dirty="0" smtClean="0"/>
              <a:t>cost </a:t>
            </a:r>
            <a:r>
              <a:rPr lang="en-GB" sz="2400" dirty="0"/>
              <a:t>in total</a:t>
            </a:r>
            <a:r>
              <a:rPr lang="en-GB" sz="2400" dirty="0" smtClean="0"/>
              <a:t>? </a:t>
            </a:r>
            <a:r>
              <a:rPr lang="en-GB" sz="2400" b="1" dirty="0">
                <a:solidFill>
                  <a:srgbClr val="00B050"/>
                </a:solidFill>
              </a:rPr>
              <a:t>$</a:t>
            </a:r>
            <a:r>
              <a:rPr lang="en-GB" sz="2400" b="1" dirty="0" smtClean="0">
                <a:solidFill>
                  <a:srgbClr val="00B050"/>
                </a:solidFill>
              </a:rPr>
              <a:t>3.70 ($3.69 but we need to round to </a:t>
            </a:r>
            <a:r>
              <a:rPr lang="en-GB" sz="2400" b="1" smtClean="0">
                <a:solidFill>
                  <a:srgbClr val="00B050"/>
                </a:solidFill>
              </a:rPr>
              <a:t>the nearest 5c)</a:t>
            </a:r>
            <a:endParaRPr lang="en-GB" sz="2400" b="1" dirty="0">
              <a:solidFill>
                <a:srgbClr val="00B050"/>
              </a:solidFill>
            </a:endParaRPr>
          </a:p>
          <a:p>
            <a:r>
              <a:rPr lang="en-GB" sz="2400" dirty="0"/>
              <a:t> </a:t>
            </a:r>
          </a:p>
          <a:p>
            <a:pPr lvl="0"/>
            <a:r>
              <a:rPr lang="en-GB" sz="2400" dirty="0" smtClean="0"/>
              <a:t>9. A </a:t>
            </a:r>
            <a:r>
              <a:rPr lang="en-GB" sz="2400" dirty="0"/>
              <a:t>large bottle of juice weighs 38.7g, the bottle itself weighs 5.1g. How much does the juice itself weigh</a:t>
            </a:r>
            <a:r>
              <a:rPr lang="en-GB" sz="2400" dirty="0" smtClean="0"/>
              <a:t>? </a:t>
            </a:r>
            <a:r>
              <a:rPr lang="en-GB" sz="2400" b="1" dirty="0" smtClean="0">
                <a:solidFill>
                  <a:srgbClr val="00B050"/>
                </a:solidFill>
              </a:rPr>
              <a:t>33.6g</a:t>
            </a:r>
            <a:endParaRPr lang="en-GB" sz="2400" b="1" dirty="0">
              <a:solidFill>
                <a:srgbClr val="00B050"/>
              </a:solidFill>
            </a:endParaRPr>
          </a:p>
          <a:p>
            <a:r>
              <a:rPr lang="en-GB" sz="2400" dirty="0"/>
              <a:t> </a:t>
            </a:r>
            <a:endParaRPr lang="en-GB" sz="2400" dirty="0" smtClean="0"/>
          </a:p>
          <a:p>
            <a:r>
              <a:rPr lang="en-GB" sz="2400" dirty="0" smtClean="0"/>
              <a:t>10. Olly </a:t>
            </a:r>
            <a:r>
              <a:rPr lang="en-GB" sz="2400" dirty="0"/>
              <a:t>bought 350ml of orange juice in bottle, he drank 121.15ml of that. How much orange juice was left in the bottle? </a:t>
            </a:r>
            <a:r>
              <a:rPr lang="en-GB" sz="2400" b="1" dirty="0" smtClean="0">
                <a:solidFill>
                  <a:srgbClr val="00B050"/>
                </a:solidFill>
              </a:rPr>
              <a:t>228.85ml</a:t>
            </a:r>
            <a:endParaRPr lang="en-GB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6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823" y="116632"/>
            <a:ext cx="8327571" cy="6403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3561" b="1" dirty="0" smtClean="0">
                <a:latin typeface="Gisha - 22"/>
              </a:rPr>
              <a:t>Activity: Decimal </a:t>
            </a:r>
            <a:r>
              <a:rPr lang="en-GB" sz="3561" b="1" dirty="0">
                <a:latin typeface="Gisha - 22"/>
              </a:rPr>
              <a:t>Pyramid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284" y="747247"/>
            <a:ext cx="7686271" cy="6403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3561" dirty="0">
                <a:latin typeface="Comic Sans MS - 22"/>
              </a:rPr>
              <a:t>Find the (?) in this addition pyramid.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8493" y="4509120"/>
            <a:ext cx="7297665" cy="10055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sz="2967" dirty="0">
                <a:latin typeface="Comic Sans MS - 20"/>
              </a:rPr>
              <a:t>Remember: To find each brick add the two bricks directly below it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6949" y="1390091"/>
            <a:ext cx="5892717" cy="2950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1603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10"/>
          <p:cNvSpPr txBox="1">
            <a:spLocks noChangeArrowheads="1"/>
          </p:cNvSpPr>
          <p:nvPr/>
        </p:nvSpPr>
        <p:spPr bwMode="auto">
          <a:xfrm>
            <a:off x="395536" y="116632"/>
            <a:ext cx="7920880" cy="6463308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GB" altLang="en-US" sz="2400" dirty="0" smtClean="0">
                <a:latin typeface="Comic Sans MS" pitchFamily="66" charset="0"/>
              </a:rPr>
              <a:t>Examples:</a:t>
            </a:r>
          </a:p>
          <a:p>
            <a:pPr eaLnBrk="1" hangingPunct="1"/>
            <a:r>
              <a:rPr lang="en-GB" altLang="en-US" sz="2400" dirty="0" smtClean="0">
                <a:latin typeface="Comic Sans MS" pitchFamily="66" charset="0"/>
              </a:rPr>
              <a:t>1) Jerry has </a:t>
            </a:r>
            <a:r>
              <a:rPr lang="en-GB" altLang="en-US" sz="2400" dirty="0" smtClean="0">
                <a:latin typeface="Comic Sans MS" pitchFamily="66" charset="0"/>
              </a:rPr>
              <a:t>$13.7 </a:t>
            </a:r>
            <a:r>
              <a:rPr lang="en-GB" altLang="en-US" sz="2400" dirty="0" smtClean="0">
                <a:latin typeface="Comic Sans MS" pitchFamily="66" charset="0"/>
              </a:rPr>
              <a:t>and Jenny has </a:t>
            </a:r>
            <a:r>
              <a:rPr lang="en-GB" altLang="en-US" sz="2400" dirty="0" smtClean="0">
                <a:latin typeface="Comic Sans MS" pitchFamily="66" charset="0"/>
              </a:rPr>
              <a:t>$8</a:t>
            </a:r>
            <a:r>
              <a:rPr lang="en-GB" altLang="en-US" sz="2400" dirty="0" smtClean="0">
                <a:latin typeface="Comic Sans MS" pitchFamily="66" charset="0"/>
              </a:rPr>
              <a:t>, how much do they have altogether?</a:t>
            </a:r>
          </a:p>
          <a:p>
            <a:pPr eaLnBrk="1" hangingPunct="1"/>
            <a:endParaRPr lang="en-GB" altLang="en-US" sz="2400" dirty="0" smtClean="0">
              <a:latin typeface="Comic Sans MS" pitchFamily="66" charset="0"/>
            </a:endParaRPr>
          </a:p>
          <a:p>
            <a:pPr eaLnBrk="1" hangingPunct="1"/>
            <a:endParaRPr lang="en-GB" altLang="en-US" sz="2400" dirty="0">
              <a:latin typeface="Comic Sans MS" pitchFamily="66" charset="0"/>
            </a:endParaRPr>
          </a:p>
          <a:p>
            <a:pPr eaLnBrk="1" hangingPunct="1"/>
            <a:endParaRPr lang="en-GB" altLang="en-US" sz="2400" dirty="0" smtClean="0">
              <a:latin typeface="Comic Sans MS" pitchFamily="66" charset="0"/>
            </a:endParaRPr>
          </a:p>
          <a:p>
            <a:pPr eaLnBrk="1" hangingPunct="1"/>
            <a:endParaRPr lang="en-GB" altLang="en-US" sz="2400" dirty="0">
              <a:latin typeface="Comic Sans MS" pitchFamily="66" charset="0"/>
            </a:endParaRPr>
          </a:p>
          <a:p>
            <a:pPr eaLnBrk="1" hangingPunct="1"/>
            <a:endParaRPr lang="en-GB" altLang="en-US" sz="2400" dirty="0">
              <a:latin typeface="Comic Sans MS" pitchFamily="66" charset="0"/>
            </a:endParaRPr>
          </a:p>
          <a:p>
            <a:pPr eaLnBrk="1" hangingPunct="1"/>
            <a:r>
              <a:rPr lang="en-GB" altLang="en-US" sz="2400" dirty="0" smtClean="0">
                <a:latin typeface="Comic Sans MS" pitchFamily="66" charset="0"/>
              </a:rPr>
              <a:t>2) Holly went shopping with </a:t>
            </a:r>
            <a:r>
              <a:rPr lang="en-GB" altLang="en-US" sz="2400" dirty="0" smtClean="0">
                <a:latin typeface="Comic Sans MS" pitchFamily="66" charset="0"/>
              </a:rPr>
              <a:t>$24.05 </a:t>
            </a:r>
            <a:r>
              <a:rPr lang="en-GB" altLang="en-US" sz="2400" dirty="0" smtClean="0">
                <a:latin typeface="Comic Sans MS" pitchFamily="66" charset="0"/>
              </a:rPr>
              <a:t>in her purse. She spends </a:t>
            </a:r>
            <a:r>
              <a:rPr lang="en-GB" altLang="en-US" sz="2400" dirty="0" smtClean="0">
                <a:latin typeface="Comic Sans MS" pitchFamily="66" charset="0"/>
              </a:rPr>
              <a:t>$6 </a:t>
            </a:r>
            <a:r>
              <a:rPr lang="en-GB" altLang="en-US" sz="2400" dirty="0" smtClean="0">
                <a:latin typeface="Comic Sans MS" pitchFamily="66" charset="0"/>
              </a:rPr>
              <a:t>on a make up bag. How much does she have left?</a:t>
            </a:r>
          </a:p>
          <a:p>
            <a:pPr eaLnBrk="1" hangingPunct="1"/>
            <a:endParaRPr lang="en-GB" altLang="en-US" sz="2400" dirty="0" smtClean="0">
              <a:latin typeface="Comic Sans MS" pitchFamily="66" charset="0"/>
            </a:endParaRPr>
          </a:p>
          <a:p>
            <a:pPr eaLnBrk="1" hangingPunct="1"/>
            <a:endParaRPr lang="en-GB" altLang="en-US" dirty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eaLnBrk="1" hangingPunct="1"/>
            <a:endParaRPr lang="en-GB" altLang="en-US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174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836712"/>
            <a:ext cx="8640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Plenary:</a:t>
            </a:r>
          </a:p>
          <a:p>
            <a:endParaRPr lang="en-GB" sz="2400" dirty="0" smtClean="0"/>
          </a:p>
          <a:p>
            <a:r>
              <a:rPr lang="en-GB" sz="2400" dirty="0" smtClean="0"/>
              <a:t>Jason </a:t>
            </a:r>
            <a:r>
              <a:rPr lang="en-GB" sz="2400" dirty="0"/>
              <a:t>has a </a:t>
            </a:r>
            <a:r>
              <a:rPr lang="en-GB" sz="2400" dirty="0"/>
              <a:t>$</a:t>
            </a:r>
            <a:r>
              <a:rPr lang="en-GB" sz="2400" dirty="0" smtClean="0"/>
              <a:t>5 </a:t>
            </a:r>
            <a:r>
              <a:rPr lang="en-GB" sz="2400" dirty="0"/>
              <a:t>note when he leaves home. He spends </a:t>
            </a:r>
            <a:r>
              <a:rPr lang="en-GB" sz="2400" dirty="0" smtClean="0"/>
              <a:t>25c </a:t>
            </a:r>
            <a:r>
              <a:rPr lang="en-GB" sz="2400" dirty="0"/>
              <a:t>on sweets in one </a:t>
            </a:r>
            <a:r>
              <a:rPr lang="en-GB" sz="2400" dirty="0" smtClean="0"/>
              <a:t>shop and </a:t>
            </a:r>
            <a:r>
              <a:rPr lang="en-GB" sz="2400" dirty="0"/>
              <a:t>$</a:t>
            </a:r>
            <a:r>
              <a:rPr lang="en-GB" sz="2400" dirty="0" smtClean="0"/>
              <a:t>3.50 </a:t>
            </a:r>
            <a:r>
              <a:rPr lang="en-GB" sz="2400" dirty="0"/>
              <a:t>on a book in another shop. How much money does he have left?</a:t>
            </a:r>
          </a:p>
        </p:txBody>
      </p:sp>
    </p:spTree>
    <p:extLst>
      <p:ext uri="{BB962C8B-B14F-4D97-AF65-F5344CB8AC3E}">
        <p14:creationId xmlns:p14="http://schemas.microsoft.com/office/powerpoint/2010/main" val="68279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550</Words>
  <Application>Microsoft Office PowerPoint</Application>
  <PresentationFormat>On-screen Show (4:3)</PresentationFormat>
  <Paragraphs>156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Comic Sans MS</vt:lpstr>
      <vt:lpstr>Comic Sans MS - 20</vt:lpstr>
      <vt:lpstr>Comic Sans MS - 22</vt:lpstr>
      <vt:lpstr>Gisha - 22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Thomas Aveling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Baoyan Lin</dc:creator>
  <cp:lastModifiedBy>KEEN Stephanie [Baldivis Secondary College]</cp:lastModifiedBy>
  <cp:revision>27</cp:revision>
  <dcterms:created xsi:type="dcterms:W3CDTF">2014-11-21T14:59:19Z</dcterms:created>
  <dcterms:modified xsi:type="dcterms:W3CDTF">2019-02-24T03:17:45Z</dcterms:modified>
</cp:coreProperties>
</file>
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57" r:id="rId2"/>
    <p:sldId id="279" r:id="rId3"/>
    <p:sldId id="271" r:id="rId4"/>
    <p:sldId id="270" r:id="rId5"/>
    <p:sldId id="277" r:id="rId6"/>
    <p:sldId id="278" r:id="rId7"/>
    <p:sldId id="276" r:id="rId8"/>
    <p:sldId id="274" r:id="rId9"/>
    <p:sldId id="266" r:id="rId10"/>
    <p:sldId id="272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B14C6-2662-4912-B9C4-5013EC331855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07C57-0D2B-4237-94E1-7FBACFCC16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71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2C977AA-85DD-448D-8B28-AAC8E3911519}" type="slidenum">
              <a:rPr lang="en-US" altLang="en-US" sz="1200"/>
              <a:pPr algn="r" eaLnBrk="1" hangingPunct="1"/>
              <a:t>5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069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2C977AA-85DD-448D-8B28-AAC8E3911519}" type="slidenum">
              <a:rPr lang="en-US" altLang="en-US" sz="1200"/>
              <a:pPr algn="r" eaLnBrk="1" hangingPunct="1"/>
              <a:t>6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069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2C977AA-85DD-448D-8B28-AAC8E3911519}" type="slidenum">
              <a:rPr lang="en-US" altLang="en-US" sz="1200"/>
              <a:pPr algn="r" eaLnBrk="1" hangingPunct="1"/>
              <a:t>8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33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6416CB2-6974-4AEF-A982-E2D4C6E9270C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1CA3D92-D287-4829-911D-388B08F4E186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mtClean="0"/>
          </a:p>
        </p:txBody>
      </p:sp>
      <p:sp>
        <p:nvSpPr>
          <p:cNvPr id="25604" name="AutoShape 2" descr="http://mediameasurement.yolasite.com/resources/measureTap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pic>
        <p:nvPicPr>
          <p:cNvPr id="25605" name="Picture 4" descr="http://mediameasurement.yolasite.com/resources/measureTap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6" name="TextBox 5"/>
          <p:cNvSpPr txBox="1">
            <a:spLocks noChangeArrowheads="1"/>
          </p:cNvSpPr>
          <p:nvPr/>
        </p:nvSpPr>
        <p:spPr bwMode="auto">
          <a:xfrm>
            <a:off x="265683" y="160338"/>
            <a:ext cx="4018285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3200" b="1" dirty="0" smtClean="0"/>
              <a:t>Ordering Decimals </a:t>
            </a:r>
            <a:endParaRPr lang="en-GB" sz="3200" b="1" dirty="0"/>
          </a:p>
          <a:p>
            <a:endParaRPr lang="en-GB" sz="3200" b="1" dirty="0"/>
          </a:p>
          <a:p>
            <a:r>
              <a:rPr lang="en-GB" sz="3200" b="1" dirty="0" smtClean="0"/>
              <a:t>EQ: How does place value relate to decimals?</a:t>
            </a:r>
            <a:endParaRPr lang="en-GB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16631"/>
            <a:ext cx="6804248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32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Ordering Decimals </a:t>
            </a:r>
            <a:endParaRPr lang="en-GB" sz="2400" b="1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EQ</a:t>
            </a: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GB" sz="2400" b="1" dirty="0" smtClean="0">
                <a:solidFill>
                  <a:srgbClr val="00B05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How does place </a:t>
            </a:r>
            <a:r>
              <a:rPr lang="en-GB" sz="2400" b="1" dirty="0" err="1" smtClean="0">
                <a:solidFill>
                  <a:srgbClr val="00B05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vaue</a:t>
            </a:r>
            <a:r>
              <a:rPr lang="en-GB" sz="2400" b="1" dirty="0" smtClean="0">
                <a:solidFill>
                  <a:srgbClr val="00B05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relate to decimals</a:t>
            </a:r>
            <a:endParaRPr lang="en-GB" sz="2400" b="1" dirty="0">
              <a:solidFill>
                <a:srgbClr val="00B05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045" y="1057187"/>
            <a:ext cx="8136904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b="1" dirty="0" smtClean="0">
                <a:solidFill>
                  <a:schemeClr val="accent5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Starter: </a:t>
            </a:r>
            <a:r>
              <a:rPr lang="en-US" altLang="en-US" sz="28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What </a:t>
            </a:r>
            <a:r>
              <a:rPr lang="en-US" altLang="en-US" sz="28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place </a:t>
            </a:r>
            <a:r>
              <a:rPr lang="en-US" altLang="en-US" sz="28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value is </a:t>
            </a:r>
            <a:r>
              <a:rPr lang="en-US" altLang="en-US" sz="28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underlined digit?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en-US" sz="24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4.2</a:t>
            </a:r>
            <a:r>
              <a:rPr lang="en-US" altLang="en-US" sz="2400" u="sng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en-US" altLang="en-US" sz="24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8      </a:t>
            </a:r>
            <a:r>
              <a:rPr lang="en-US" altLang="en-US" sz="2400" u="sng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en-US" altLang="en-US" sz="24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4.18      </a:t>
            </a:r>
            <a:r>
              <a:rPr lang="en-US" altLang="en-US" sz="24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4.</a:t>
            </a:r>
            <a:r>
              <a:rPr lang="en-US" altLang="en-US" sz="2400" u="sng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altLang="en-US" sz="24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06      </a:t>
            </a:r>
            <a:r>
              <a:rPr lang="en-US" altLang="en-US" sz="24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en-US" altLang="en-US" sz="2400" u="sng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en-US" altLang="en-US" sz="24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.832      5.1</a:t>
            </a:r>
            <a:r>
              <a:rPr lang="en-US" altLang="en-US" sz="2400" u="sng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altLang="en-US" sz="2400" dirty="0" smtClean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en-US" altLang="en-US" sz="24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61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942521" y="764704"/>
            <a:ext cx="4032448" cy="3462471"/>
          </a:xfrm>
          <a:prstGeom prst="rect">
            <a:avLst/>
          </a:prstGeom>
        </p:spPr>
      </p:pic>
      <p:pic>
        <p:nvPicPr>
          <p:cNvPr id="16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4591606" y="1196752"/>
            <a:ext cx="4032448" cy="3462471"/>
          </a:xfrm>
          <a:prstGeom prst="rect">
            <a:avLst/>
          </a:prstGeom>
        </p:spPr>
      </p:pic>
      <p:pic>
        <p:nvPicPr>
          <p:cNvPr id="18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4591606" y="3408633"/>
            <a:ext cx="4032448" cy="3462471"/>
          </a:xfrm>
          <a:prstGeom prst="rect">
            <a:avLst/>
          </a:prstGeom>
        </p:spPr>
      </p:pic>
      <p:pic>
        <p:nvPicPr>
          <p:cNvPr id="17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942521" y="3408633"/>
            <a:ext cx="4032448" cy="3462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-243408"/>
            <a:ext cx="7498080" cy="1143000"/>
          </a:xfrm>
        </p:spPr>
        <p:txBody>
          <a:bodyPr/>
          <a:lstStyle/>
          <a:p>
            <a:pPr>
              <a:defRPr/>
            </a:pPr>
            <a:r>
              <a:rPr lang="en-GB" dirty="0" smtClean="0"/>
              <a:t>Examples...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1115616" y="577885"/>
            <a:ext cx="750843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1. Put </a:t>
            </a:r>
            <a:r>
              <a:rPr lang="en-GB" sz="2400" dirty="0" smtClean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GB" sz="2400" dirty="0">
                <a:solidFill>
                  <a:schemeClr val="tx2">
                    <a:satMod val="130000"/>
                  </a:schemeClr>
                </a:solidFill>
              </a:rPr>
              <a:t>decimals in order from smallest to </a:t>
            </a:r>
            <a:r>
              <a:rPr lang="en-GB" sz="2400" dirty="0" smtClean="0">
                <a:solidFill>
                  <a:schemeClr val="tx2">
                    <a:satMod val="130000"/>
                  </a:schemeClr>
                </a:solidFill>
              </a:rPr>
              <a:t>largest: </a:t>
            </a:r>
            <a:endParaRPr lang="en-GB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165272"/>
              </p:ext>
            </p:extLst>
          </p:nvPr>
        </p:nvGraphicFramePr>
        <p:xfrm>
          <a:off x="1187624" y="1084258"/>
          <a:ext cx="5909310" cy="6883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solidFill>
                            <a:schemeClr val="tx1"/>
                          </a:solidFill>
                          <a:effectLst/>
                        </a:rPr>
                        <a:t>20.5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solidFill>
                            <a:schemeClr val="tx1"/>
                          </a:solidFill>
                          <a:effectLst/>
                        </a:rPr>
                        <a:t>10.5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solidFill>
                            <a:schemeClr val="tx1"/>
                          </a:solidFill>
                          <a:effectLst/>
                        </a:rPr>
                        <a:t>3.5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solidFill>
                            <a:schemeClr val="tx1"/>
                          </a:solidFill>
                          <a:effectLst/>
                        </a:rPr>
                        <a:t>7.5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07704" y="1963546"/>
                <a:ext cx="5184576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T    U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GB" sz="2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2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</m:oMath>
                </a14:m>
                <a:r>
                  <a:rPr lang="en-GB" dirty="0" smtClean="0"/>
                  <a:t>     </a:t>
                </a:r>
                <a:endParaRPr lang="en-GB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1963546"/>
                <a:ext cx="5184576" cy="625812"/>
              </a:xfrm>
              <a:prstGeom prst="rect">
                <a:avLst/>
              </a:prstGeom>
              <a:blipFill rotWithShape="1">
                <a:blip r:embed="rId3"/>
                <a:stretch>
                  <a:fillRect l="-1882" b="-77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153"/>
          <p:cNvSpPr>
            <a:spLocks noChangeArrowheads="1"/>
          </p:cNvSpPr>
          <p:nvPr/>
        </p:nvSpPr>
        <p:spPr bwMode="auto">
          <a:xfrm>
            <a:off x="2915816" y="2132856"/>
            <a:ext cx="124732" cy="142336"/>
          </a:xfrm>
          <a:prstGeom prst="ellipse">
            <a:avLst/>
          </a:prstGeom>
          <a:solidFill>
            <a:schemeClr val="tx1"/>
          </a:solidFill>
          <a:ln w="762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44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942521" y="764704"/>
            <a:ext cx="4032448" cy="3462471"/>
          </a:xfrm>
          <a:prstGeom prst="rect">
            <a:avLst/>
          </a:prstGeom>
        </p:spPr>
      </p:pic>
      <p:pic>
        <p:nvPicPr>
          <p:cNvPr id="16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4591606" y="1196752"/>
            <a:ext cx="4032448" cy="3462471"/>
          </a:xfrm>
          <a:prstGeom prst="rect">
            <a:avLst/>
          </a:prstGeom>
        </p:spPr>
      </p:pic>
      <p:pic>
        <p:nvPicPr>
          <p:cNvPr id="18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4591606" y="3408633"/>
            <a:ext cx="4032448" cy="3462471"/>
          </a:xfrm>
          <a:prstGeom prst="rect">
            <a:avLst/>
          </a:prstGeom>
        </p:spPr>
      </p:pic>
      <p:pic>
        <p:nvPicPr>
          <p:cNvPr id="17" name="table"/>
          <p:cNvPicPr>
            <a:picLocks noChangeAspect="1"/>
          </p:cNvPicPr>
          <p:nvPr/>
        </p:nvPicPr>
        <p:blipFill rotWithShape="1">
          <a:blip r:embed="rId2"/>
          <a:srcRect l="21622" t="11893" r="2810" b="10504"/>
          <a:stretch/>
        </p:blipFill>
        <p:spPr>
          <a:xfrm>
            <a:off x="942521" y="3408633"/>
            <a:ext cx="4032448" cy="3462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-243408"/>
            <a:ext cx="7498080" cy="1143000"/>
          </a:xfrm>
        </p:spPr>
        <p:txBody>
          <a:bodyPr/>
          <a:lstStyle/>
          <a:p>
            <a:pPr>
              <a:defRPr/>
            </a:pPr>
            <a:r>
              <a:rPr lang="en-GB" dirty="0" smtClean="0"/>
              <a:t>Examples...</a:t>
            </a: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784415"/>
              </p:ext>
            </p:extLst>
          </p:nvPr>
        </p:nvGraphicFramePr>
        <p:xfrm>
          <a:off x="1763688" y="1165109"/>
          <a:ext cx="5909310" cy="6163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6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3.27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32.7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3.07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effectLst/>
                        </a:rPr>
                        <a:t>3.72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solidFill>
                            <a:schemeClr val="tx1"/>
                          </a:solidFill>
                          <a:effectLst/>
                        </a:rPr>
                        <a:t>27.3</a:t>
                      </a:r>
                      <a:endParaRPr lang="en-GB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28200" y="642837"/>
            <a:ext cx="7595854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2. Put </a:t>
            </a:r>
            <a:r>
              <a:rPr lang="en-GB" sz="2400" dirty="0" smtClean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GB" sz="2400" dirty="0">
                <a:solidFill>
                  <a:schemeClr val="tx2">
                    <a:satMod val="130000"/>
                  </a:schemeClr>
                </a:solidFill>
              </a:rPr>
              <a:t>decimals in order from </a:t>
            </a:r>
            <a:r>
              <a:rPr lang="en-GB" sz="2400" dirty="0" smtClean="0">
                <a:solidFill>
                  <a:schemeClr val="tx2">
                    <a:satMod val="130000"/>
                  </a:schemeClr>
                </a:solidFill>
              </a:rPr>
              <a:t>smallest to biggest: 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37792" y="1891118"/>
                <a:ext cx="5184576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   T   U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GB" sz="2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2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</m:oMath>
                </a14:m>
                <a:r>
                  <a:rPr lang="en-GB" sz="2400" dirty="0" smtClean="0"/>
                  <a:t>     </a:t>
                </a:r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792" y="1891118"/>
                <a:ext cx="5184576" cy="625812"/>
              </a:xfrm>
              <a:prstGeom prst="rect">
                <a:avLst/>
              </a:prstGeom>
              <a:blipFill rotWithShape="1">
                <a:blip r:embed="rId3"/>
                <a:stretch>
                  <a:fillRect b="-77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53"/>
          <p:cNvSpPr>
            <a:spLocks noChangeArrowheads="1"/>
          </p:cNvSpPr>
          <p:nvPr/>
        </p:nvSpPr>
        <p:spPr bwMode="auto">
          <a:xfrm>
            <a:off x="2915816" y="2132856"/>
            <a:ext cx="124732" cy="142336"/>
          </a:xfrm>
          <a:prstGeom prst="ellipse">
            <a:avLst/>
          </a:prstGeom>
          <a:solidFill>
            <a:schemeClr val="tx1"/>
          </a:solidFill>
          <a:ln w="762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22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3" name="Text Box 40"/>
          <p:cNvSpPr txBox="1">
            <a:spLocks noChangeArrowheads="1"/>
          </p:cNvSpPr>
          <p:nvPr/>
        </p:nvSpPr>
        <p:spPr bwMode="auto">
          <a:xfrm>
            <a:off x="82374" y="32144"/>
            <a:ext cx="4024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 u="sng" dirty="0">
                <a:solidFill>
                  <a:srgbClr val="FF0000"/>
                </a:solidFill>
              </a:rPr>
              <a:t>TASK </a:t>
            </a:r>
            <a:endParaRPr lang="en-US" alt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7194" name="Rectangle 2"/>
          <p:cNvSpPr>
            <a:spLocks noChangeArrowheads="1"/>
          </p:cNvSpPr>
          <p:nvPr/>
        </p:nvSpPr>
        <p:spPr bwMode="auto">
          <a:xfrm>
            <a:off x="82375" y="404664"/>
            <a:ext cx="5425730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en-US" sz="2800" b="1" dirty="0">
                <a:solidFill>
                  <a:srgbClr val="FF0000"/>
                </a:solidFill>
              </a:rPr>
              <a:t>1) </a:t>
            </a:r>
            <a:r>
              <a:rPr lang="en-US" altLang="en-US" sz="2400" dirty="0"/>
              <a:t>List the following numbers in ascending order.</a:t>
            </a:r>
          </a:p>
          <a:p>
            <a:pPr marL="457200" indent="-457200" eaLnBrk="1" hangingPunct="1">
              <a:spcAft>
                <a:spcPts val="1200"/>
              </a:spcAft>
              <a:buAutoNum type="alphaLcParenBoth"/>
            </a:pPr>
            <a:r>
              <a:rPr lang="en-US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0.6</a:t>
            </a:r>
            <a:r>
              <a:rPr lang="en-US" altLang="en-US" sz="2400" b="1" dirty="0">
                <a:solidFill>
                  <a:schemeClr val="bg2">
                    <a:lumMod val="50000"/>
                  </a:schemeClr>
                </a:solidFill>
              </a:rPr>
              <a:t>, 0.23, 0.8, 0.1	</a:t>
            </a:r>
            <a:r>
              <a:rPr lang="en-US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……………………</a:t>
            </a:r>
          </a:p>
          <a:p>
            <a:pPr marL="457200" indent="-457200" eaLnBrk="1" hangingPunct="1">
              <a:spcAft>
                <a:spcPts val="1200"/>
              </a:spcAft>
              <a:buAutoNum type="alphaLcParenBoth" startAt="2"/>
            </a:pPr>
            <a:r>
              <a:rPr lang="en-US" altLang="en-US" sz="2400" b="1" dirty="0" smtClean="0">
                <a:solidFill>
                  <a:srgbClr val="00B050"/>
                </a:solidFill>
              </a:rPr>
              <a:t>4</a:t>
            </a:r>
            <a:r>
              <a:rPr lang="en-US" altLang="en-US" sz="2400" b="1" dirty="0">
                <a:solidFill>
                  <a:srgbClr val="00B050"/>
                </a:solidFill>
              </a:rPr>
              <a:t>, 0.7, 3.6, 1.9		</a:t>
            </a:r>
            <a:r>
              <a:rPr lang="en-US" altLang="en-US" sz="2400" b="1" dirty="0" smtClean="0">
                <a:solidFill>
                  <a:srgbClr val="00B050"/>
                </a:solidFill>
              </a:rPr>
              <a:t>……………………</a:t>
            </a:r>
          </a:p>
          <a:p>
            <a:pPr marL="457200" indent="-457200" eaLnBrk="1" hangingPunct="1">
              <a:spcAft>
                <a:spcPts val="1200"/>
              </a:spcAft>
              <a:buAutoNum type="alphaLcParenBoth" startAt="2"/>
            </a:pPr>
            <a:r>
              <a:rPr lang="en-US" altLang="en-US" sz="2400" b="1" dirty="0" smtClean="0">
                <a:solidFill>
                  <a:srgbClr val="7030A0"/>
                </a:solidFill>
              </a:rPr>
              <a:t>1.43</a:t>
            </a:r>
            <a:r>
              <a:rPr lang="en-US" altLang="en-US" sz="2400" b="1" dirty="0">
                <a:solidFill>
                  <a:srgbClr val="7030A0"/>
                </a:solidFill>
              </a:rPr>
              <a:t>, 1.5, 1.7, 1.099	</a:t>
            </a:r>
            <a:r>
              <a:rPr lang="en-US" altLang="en-US" sz="2400" b="1" dirty="0" smtClean="0">
                <a:solidFill>
                  <a:srgbClr val="7030A0"/>
                </a:solidFill>
              </a:rPr>
              <a:t>……………………</a:t>
            </a:r>
            <a:endParaRPr lang="en-US" altLang="en-US" sz="2400" b="1" dirty="0">
              <a:solidFill>
                <a:srgbClr val="7030A0"/>
              </a:solidFill>
            </a:endParaRPr>
          </a:p>
          <a:p>
            <a:pPr marL="457200" indent="-457200" eaLnBrk="1" hangingPunct="1">
              <a:spcAft>
                <a:spcPts val="1200"/>
              </a:spcAft>
              <a:buAutoNum type="alphaLcParenBoth" startAt="4"/>
            </a:pPr>
            <a:r>
              <a:rPr lang="en-US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0</a:t>
            </a:r>
            <a:r>
              <a:rPr lang="en-US" altLang="en-US" sz="2400" b="1" dirty="0">
                <a:solidFill>
                  <a:schemeClr val="bg2">
                    <a:lumMod val="50000"/>
                  </a:schemeClr>
                </a:solidFill>
              </a:rPr>
              <a:t>, 1.0, 0.87, 1.25	</a:t>
            </a:r>
            <a:r>
              <a:rPr lang="en-US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……………………</a:t>
            </a:r>
          </a:p>
          <a:p>
            <a:pPr marL="457200" indent="-457200" eaLnBrk="1" hangingPunct="1">
              <a:spcAft>
                <a:spcPts val="1200"/>
              </a:spcAft>
              <a:buAutoNum type="alphaLcParenBoth" startAt="4"/>
            </a:pPr>
            <a:r>
              <a:rPr lang="en-US" altLang="en-US" sz="2400" b="1" dirty="0" smtClean="0"/>
              <a:t>1.09</a:t>
            </a:r>
            <a:r>
              <a:rPr lang="en-US" altLang="en-US" sz="2400" b="1" dirty="0"/>
              <a:t>, 1.90, 1.11, 1.2	</a:t>
            </a:r>
            <a:r>
              <a:rPr lang="en-US" altLang="en-US" sz="2400" b="1" dirty="0" smtClean="0"/>
              <a:t>……………………</a:t>
            </a:r>
          </a:p>
          <a:p>
            <a:endParaRPr lang="en-US" altLang="en-US" sz="2400" dirty="0"/>
          </a:p>
        </p:txBody>
      </p:sp>
      <p:sp>
        <p:nvSpPr>
          <p:cNvPr id="7195" name="Title 1"/>
          <p:cNvSpPr txBox="1">
            <a:spLocks/>
          </p:cNvSpPr>
          <p:nvPr/>
        </p:nvSpPr>
        <p:spPr bwMode="auto">
          <a:xfrm>
            <a:off x="82374" y="-10886"/>
            <a:ext cx="8147227" cy="488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 dirty="0">
                <a:solidFill>
                  <a:schemeClr val="tx2"/>
                </a:solidFill>
              </a:rPr>
              <a:t>ORDERING DECIMALS</a:t>
            </a:r>
            <a:endParaRPr lang="en-GB" altLang="en-US" sz="2800" dirty="0">
              <a:solidFill>
                <a:schemeClr val="tx2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69838" y="667890"/>
            <a:ext cx="5184576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400" b="1" dirty="0">
                <a:solidFill>
                  <a:srgbClr val="7030A0"/>
                </a:solidFill>
              </a:rPr>
              <a:t>(f) 0.420, 0.4   0.415, 0.48, 0.469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............................................................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 </a:t>
            </a:r>
            <a:r>
              <a:rPr lang="en-GB" sz="2400" b="1" dirty="0" smtClean="0"/>
              <a:t>(</a:t>
            </a:r>
            <a:r>
              <a:rPr lang="en-GB" sz="2400" b="1" dirty="0"/>
              <a:t>g) 0.08, 0.25, 0.81, 0.2, </a:t>
            </a:r>
            <a:r>
              <a:rPr lang="en-GB" sz="2400" b="1" dirty="0" smtClean="0"/>
              <a:t>0.68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................................................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00B050"/>
                </a:solidFill>
              </a:rPr>
              <a:t>(</a:t>
            </a:r>
            <a:r>
              <a:rPr lang="en-GB" sz="2400" b="1" dirty="0">
                <a:solidFill>
                  <a:srgbClr val="00B050"/>
                </a:solidFill>
              </a:rPr>
              <a:t>h) 0.507, 0.75, 0.5, 0.078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................................................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sz="2400" b="1" dirty="0">
                <a:solidFill>
                  <a:schemeClr val="bg2">
                    <a:lumMod val="50000"/>
                  </a:schemeClr>
                </a:solidFill>
              </a:rPr>
              <a:t>(I) 14.2, 0.93, 1.2, 5.01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....................................................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002060"/>
                </a:solidFill>
              </a:rPr>
              <a:t> (</a:t>
            </a:r>
            <a:r>
              <a:rPr lang="en-GB" sz="2400" b="1" dirty="0">
                <a:solidFill>
                  <a:srgbClr val="002060"/>
                </a:solidFill>
              </a:rPr>
              <a:t>j) 0.92, 0.901, 0.99, 0.099, 0.909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...................................................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7030A0"/>
                </a:solidFill>
              </a:rPr>
              <a:t> (</a:t>
            </a:r>
            <a:r>
              <a:rPr lang="en-GB" sz="2400" b="1" dirty="0">
                <a:solidFill>
                  <a:srgbClr val="7030A0"/>
                </a:solidFill>
              </a:rPr>
              <a:t>k</a:t>
            </a:r>
            <a:r>
              <a:rPr lang="en-GB" sz="2400" b="1" dirty="0" smtClean="0">
                <a:solidFill>
                  <a:srgbClr val="7030A0"/>
                </a:solidFill>
              </a:rPr>
              <a:t>) 4.2</a:t>
            </a:r>
            <a:r>
              <a:rPr lang="en-GB" sz="2400" b="1" dirty="0">
                <a:solidFill>
                  <a:srgbClr val="7030A0"/>
                </a:solidFill>
              </a:rPr>
              <a:t>, 0.42, 0.024, 0.93, </a:t>
            </a:r>
            <a:r>
              <a:rPr lang="en-GB" sz="2400" b="1" dirty="0" smtClean="0">
                <a:solidFill>
                  <a:srgbClr val="7030A0"/>
                </a:solidFill>
              </a:rPr>
              <a:t>0.039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...........................................................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912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3" name="Text Box 40"/>
          <p:cNvSpPr txBox="1">
            <a:spLocks noChangeArrowheads="1"/>
          </p:cNvSpPr>
          <p:nvPr/>
        </p:nvSpPr>
        <p:spPr bwMode="auto">
          <a:xfrm>
            <a:off x="82374" y="32144"/>
            <a:ext cx="4024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 u="sng" dirty="0">
                <a:solidFill>
                  <a:srgbClr val="FF0000"/>
                </a:solidFill>
              </a:rPr>
              <a:t>TASK </a:t>
            </a:r>
            <a:endParaRPr lang="en-US" alt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7194" name="Rectangle 2"/>
          <p:cNvSpPr>
            <a:spLocks noChangeArrowheads="1"/>
          </p:cNvSpPr>
          <p:nvPr/>
        </p:nvSpPr>
        <p:spPr bwMode="auto">
          <a:xfrm>
            <a:off x="82375" y="404664"/>
            <a:ext cx="5425730" cy="7232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en-US" sz="2800" b="1" dirty="0">
                <a:solidFill>
                  <a:srgbClr val="FF0000"/>
                </a:solidFill>
              </a:rPr>
              <a:t>1) </a:t>
            </a:r>
            <a:r>
              <a:rPr lang="en-US" altLang="en-US" sz="2400" dirty="0"/>
              <a:t>List the following numbers in ascending order.</a:t>
            </a:r>
          </a:p>
          <a:p>
            <a:pPr marL="457200" indent="-457200" eaLnBrk="1" hangingPunct="1">
              <a:spcAft>
                <a:spcPts val="1200"/>
              </a:spcAft>
              <a:buAutoNum type="alphaLcParenBoth"/>
            </a:pPr>
            <a:r>
              <a:rPr lang="en-US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0.6</a:t>
            </a:r>
            <a:r>
              <a:rPr lang="en-US" altLang="en-US" sz="2400" b="1" dirty="0">
                <a:solidFill>
                  <a:schemeClr val="bg2">
                    <a:lumMod val="50000"/>
                  </a:schemeClr>
                </a:solidFill>
              </a:rPr>
              <a:t>, 0.23, 0.8, 0.1	</a:t>
            </a:r>
            <a:endParaRPr lang="en-US" altLang="en-US" sz="24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 eaLnBrk="1" hangingPunct="1">
              <a:spcAft>
                <a:spcPts val="1200"/>
              </a:spcAft>
              <a:buAutoNum type="alphaLcParenBoth"/>
            </a:pPr>
            <a:endParaRPr lang="en-US" alt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 eaLnBrk="1" hangingPunct="1">
              <a:spcAft>
                <a:spcPts val="1200"/>
              </a:spcAft>
              <a:buAutoNum type="alphaLcParenBoth"/>
            </a:pPr>
            <a:r>
              <a:rPr lang="en-US" altLang="en-US" sz="2400" b="1" dirty="0" smtClean="0">
                <a:solidFill>
                  <a:srgbClr val="00B050"/>
                </a:solidFill>
              </a:rPr>
              <a:t>4</a:t>
            </a:r>
            <a:r>
              <a:rPr lang="en-US" altLang="en-US" sz="2400" b="1" dirty="0">
                <a:solidFill>
                  <a:srgbClr val="00B050"/>
                </a:solidFill>
              </a:rPr>
              <a:t>, 0.7, 3.6, 1.9	</a:t>
            </a:r>
            <a:endParaRPr lang="en-US" altLang="en-US" sz="2400" b="1" dirty="0" smtClean="0">
              <a:solidFill>
                <a:srgbClr val="00B050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en-US" sz="2400" b="1" dirty="0">
                <a:solidFill>
                  <a:srgbClr val="00B050"/>
                </a:solidFill>
              </a:rPr>
              <a:t>	</a:t>
            </a:r>
            <a:endParaRPr lang="en-US" altLang="en-US" sz="2400" b="1" dirty="0" smtClean="0">
              <a:solidFill>
                <a:srgbClr val="00B050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en-US" sz="2400" b="1" dirty="0" smtClean="0">
                <a:solidFill>
                  <a:srgbClr val="7030A0"/>
                </a:solidFill>
              </a:rPr>
              <a:t>c) 1.43</a:t>
            </a:r>
            <a:r>
              <a:rPr lang="en-US" altLang="en-US" sz="2400" b="1" dirty="0">
                <a:solidFill>
                  <a:srgbClr val="7030A0"/>
                </a:solidFill>
              </a:rPr>
              <a:t>, 1.5, 1.7, 1.099	</a:t>
            </a:r>
            <a:endParaRPr lang="en-US" altLang="en-US" sz="2400" b="1" dirty="0" smtClean="0">
              <a:solidFill>
                <a:srgbClr val="7030A0"/>
              </a:solidFill>
            </a:endParaRPr>
          </a:p>
          <a:p>
            <a:pPr marL="457200" indent="-457200" eaLnBrk="1" hangingPunct="1">
              <a:spcAft>
                <a:spcPts val="1200"/>
              </a:spcAft>
              <a:buAutoNum type="alphaLcParenBoth"/>
            </a:pPr>
            <a:endParaRPr lang="en-US" altLang="en-US" sz="2400" b="1" dirty="0">
              <a:solidFill>
                <a:srgbClr val="7030A0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d) 0</a:t>
            </a:r>
            <a:r>
              <a:rPr lang="en-US" altLang="en-US" sz="2400" b="1" dirty="0">
                <a:solidFill>
                  <a:schemeClr val="bg2">
                    <a:lumMod val="50000"/>
                  </a:schemeClr>
                </a:solidFill>
              </a:rPr>
              <a:t>, 1.0, 0.87, 1.25	</a:t>
            </a:r>
            <a:endParaRPr lang="en-US" altLang="en-US" sz="24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eaLnBrk="1" hangingPunct="1">
              <a:spcAft>
                <a:spcPts val="1200"/>
              </a:spcAft>
            </a:pPr>
            <a:endParaRPr lang="en-US" altLang="en-US" sz="24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en-US" sz="2400" b="1" dirty="0" smtClean="0"/>
              <a:t>e) 1.09</a:t>
            </a:r>
            <a:r>
              <a:rPr lang="en-US" altLang="en-US" sz="2400" b="1" dirty="0"/>
              <a:t>, 1.90, 1.11, </a:t>
            </a:r>
            <a:r>
              <a:rPr lang="en-US" altLang="en-US" sz="2400" b="1" dirty="0" smtClean="0"/>
              <a:t>1.2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sz="2800" b="1" dirty="0" smtClean="0">
                <a:solidFill>
                  <a:srgbClr val="FF0000"/>
                </a:solidFill>
              </a:rPr>
              <a:t>1.09</a:t>
            </a:r>
            <a:r>
              <a:rPr lang="en-US" altLang="en-US" sz="2800" b="1" dirty="0">
                <a:solidFill>
                  <a:srgbClr val="FF0000"/>
                </a:solidFill>
              </a:rPr>
              <a:t>, 1.11, 1.2, 1.90</a:t>
            </a:r>
          </a:p>
          <a:p>
            <a:pPr eaLnBrk="1" hangingPunct="1">
              <a:spcAft>
                <a:spcPts val="1200"/>
              </a:spcAft>
            </a:pPr>
            <a:endParaRPr lang="en-US" altLang="en-US" sz="2400" b="1" dirty="0" smtClean="0"/>
          </a:p>
          <a:p>
            <a:pPr eaLnBrk="1" hangingPunct="1">
              <a:spcAft>
                <a:spcPts val="1200"/>
              </a:spcAft>
            </a:pPr>
            <a:endParaRPr lang="en-US" altLang="en-US" sz="2400" dirty="0"/>
          </a:p>
        </p:txBody>
      </p:sp>
      <p:sp>
        <p:nvSpPr>
          <p:cNvPr id="7195" name="Title 1"/>
          <p:cNvSpPr txBox="1">
            <a:spLocks/>
          </p:cNvSpPr>
          <p:nvPr/>
        </p:nvSpPr>
        <p:spPr bwMode="auto">
          <a:xfrm>
            <a:off x="82374" y="-10886"/>
            <a:ext cx="8147227" cy="488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 dirty="0">
                <a:solidFill>
                  <a:schemeClr val="tx2"/>
                </a:solidFill>
              </a:rPr>
              <a:t>ORDERING DECIMALS</a:t>
            </a:r>
            <a:endParaRPr lang="en-GB" altLang="en-US" sz="2800" dirty="0">
              <a:solidFill>
                <a:schemeClr val="tx2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69838" y="667890"/>
            <a:ext cx="5184576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400" b="1" dirty="0">
                <a:solidFill>
                  <a:srgbClr val="7030A0"/>
                </a:solidFill>
              </a:rPr>
              <a:t>(f) 0.420, 0.4   0.415, 0.48, 0.469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FF0000"/>
                </a:solidFill>
              </a:rPr>
              <a:t>0.4, 0.415, 0.420, 0.469, 0.48</a:t>
            </a:r>
          </a:p>
          <a:p>
            <a:pPr>
              <a:spcAft>
                <a:spcPts val="1200"/>
              </a:spcAft>
            </a:pPr>
            <a:r>
              <a:rPr lang="en-GB" sz="2400" dirty="0" smtClean="0"/>
              <a:t> </a:t>
            </a:r>
            <a:r>
              <a:rPr lang="en-GB" sz="2400" b="1" dirty="0" smtClean="0"/>
              <a:t>(</a:t>
            </a:r>
            <a:r>
              <a:rPr lang="en-GB" sz="2400" b="1" dirty="0"/>
              <a:t>g) 0.08, 0.25, 0.81, 0.2, </a:t>
            </a:r>
            <a:r>
              <a:rPr lang="en-GB" sz="2400" b="1" dirty="0" smtClean="0"/>
              <a:t>0.68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FF0000"/>
                </a:solidFill>
              </a:rPr>
              <a:t>0.08, 0.2, 0.25, 0.68. 0.80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00B050"/>
                </a:solidFill>
              </a:rPr>
              <a:t>(</a:t>
            </a:r>
            <a:r>
              <a:rPr lang="en-GB" sz="2400" b="1" dirty="0">
                <a:solidFill>
                  <a:srgbClr val="00B050"/>
                </a:solidFill>
              </a:rPr>
              <a:t>h) 0.507, 0.75, 0.5, 0.078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FF0000"/>
                </a:solidFill>
              </a:rPr>
              <a:t>0.078, 0.5, 0.507, 0.75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sz="2400" b="1" dirty="0">
                <a:solidFill>
                  <a:schemeClr val="bg2">
                    <a:lumMod val="50000"/>
                  </a:schemeClr>
                </a:solidFill>
              </a:rPr>
              <a:t>(I) 14.2, 0.93, 1.2, 5.01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FF0000"/>
                </a:solidFill>
              </a:rPr>
              <a:t>0.93, 1.2, 5.01, 14.2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002060"/>
                </a:solidFill>
              </a:rPr>
              <a:t> (</a:t>
            </a:r>
            <a:r>
              <a:rPr lang="en-GB" sz="2400" b="1" dirty="0">
                <a:solidFill>
                  <a:srgbClr val="002060"/>
                </a:solidFill>
              </a:rPr>
              <a:t>j) 0.92, 0.901, 0.99, 0.099, 0.909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FF0000"/>
                </a:solidFill>
              </a:rPr>
              <a:t>0.099, 0.901, 0.909, 0.92, 0.99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7030A0"/>
                </a:solidFill>
              </a:rPr>
              <a:t> (</a:t>
            </a:r>
            <a:r>
              <a:rPr lang="en-GB" sz="2400" b="1" dirty="0">
                <a:solidFill>
                  <a:srgbClr val="7030A0"/>
                </a:solidFill>
              </a:rPr>
              <a:t>k</a:t>
            </a:r>
            <a:r>
              <a:rPr lang="en-GB" sz="2400" b="1" dirty="0" smtClean="0">
                <a:solidFill>
                  <a:srgbClr val="7030A0"/>
                </a:solidFill>
              </a:rPr>
              <a:t>) 4.2</a:t>
            </a:r>
            <a:r>
              <a:rPr lang="en-GB" sz="2400" b="1" dirty="0">
                <a:solidFill>
                  <a:srgbClr val="7030A0"/>
                </a:solidFill>
              </a:rPr>
              <a:t>, 0.42, 0.024, 0.93, </a:t>
            </a:r>
            <a:r>
              <a:rPr lang="en-GB" sz="2400" b="1" dirty="0" smtClean="0">
                <a:solidFill>
                  <a:srgbClr val="7030A0"/>
                </a:solidFill>
              </a:rPr>
              <a:t>0.039</a:t>
            </a:r>
          </a:p>
          <a:p>
            <a:pPr>
              <a:spcAft>
                <a:spcPts val="1200"/>
              </a:spcAft>
            </a:pPr>
            <a:r>
              <a:rPr lang="en-GB" sz="2400" b="1" dirty="0" smtClean="0">
                <a:solidFill>
                  <a:srgbClr val="FF0000"/>
                </a:solidFill>
              </a:rPr>
              <a:t>0.024, 0.039, 0.42, 0.93, 4.2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2375" y="1729602"/>
            <a:ext cx="4392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0.1, 0.23, 0.6, 0.8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3264" y="2852936"/>
            <a:ext cx="43926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0.7, 1.9, 3.6, 4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03799" y="3885059"/>
            <a:ext cx="4392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1.099, 1.43, 1.5, 1.7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79512" y="4941168"/>
            <a:ext cx="4392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0, 0.87, 1.0, 1.25</a:t>
            </a:r>
          </a:p>
        </p:txBody>
      </p:sp>
    </p:spTree>
    <p:extLst>
      <p:ext uri="{BB962C8B-B14F-4D97-AF65-F5344CB8AC3E}">
        <p14:creationId xmlns:p14="http://schemas.microsoft.com/office/powerpoint/2010/main" val="5243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1482"/>
            <a:ext cx="73533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8165" y="0"/>
            <a:ext cx="62646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		               Women’s </a:t>
            </a:r>
            <a:r>
              <a:rPr lang="en-GB" b="1" dirty="0"/>
              <a:t>100m sprint </a:t>
            </a:r>
            <a:endParaRPr lang="en-GB" dirty="0"/>
          </a:p>
          <a:p>
            <a:r>
              <a:rPr lang="en-GB" b="1" dirty="0"/>
              <a:t>Men’s 100m sprint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5580112" y="4509120"/>
            <a:ext cx="3240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Extension </a:t>
            </a:r>
            <a:endParaRPr lang="en-GB" dirty="0"/>
          </a:p>
          <a:p>
            <a:r>
              <a:rPr lang="en-GB" b="1" dirty="0"/>
              <a:t>10.78 </a:t>
            </a:r>
            <a:r>
              <a:rPr lang="en-GB" dirty="0"/>
              <a:t>10.775 to 10.785 </a:t>
            </a:r>
          </a:p>
          <a:p>
            <a:r>
              <a:rPr lang="en-GB" b="1" dirty="0"/>
              <a:t>10.94 </a:t>
            </a:r>
            <a:r>
              <a:rPr lang="en-GB" dirty="0"/>
              <a:t>10.935 to 10.945 </a:t>
            </a:r>
          </a:p>
          <a:p>
            <a:r>
              <a:rPr lang="en-GB" b="1" dirty="0"/>
              <a:t>11.00 </a:t>
            </a:r>
            <a:r>
              <a:rPr lang="en-GB" dirty="0"/>
              <a:t>10.995 to 11.005 </a:t>
            </a:r>
          </a:p>
        </p:txBody>
      </p:sp>
    </p:spTree>
    <p:extLst>
      <p:ext uri="{BB962C8B-B14F-4D97-AF65-F5344CB8AC3E}">
        <p14:creationId xmlns:p14="http://schemas.microsoft.com/office/powerpoint/2010/main" val="2556155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3" name="Text Box 40"/>
          <p:cNvSpPr txBox="1">
            <a:spLocks noChangeArrowheads="1"/>
          </p:cNvSpPr>
          <p:nvPr/>
        </p:nvSpPr>
        <p:spPr bwMode="auto">
          <a:xfrm>
            <a:off x="34925" y="73663"/>
            <a:ext cx="4024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 u="sng" dirty="0">
                <a:solidFill>
                  <a:srgbClr val="FF0000"/>
                </a:solidFill>
              </a:rPr>
              <a:t>TASK </a:t>
            </a:r>
            <a:endParaRPr lang="en-US" alt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7194" name="Rectangle 2"/>
          <p:cNvSpPr>
            <a:spLocks noChangeArrowheads="1"/>
          </p:cNvSpPr>
          <p:nvPr/>
        </p:nvSpPr>
        <p:spPr bwMode="auto">
          <a:xfrm>
            <a:off x="34925" y="836712"/>
            <a:ext cx="799306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</a:rPr>
              <a:t>1) </a:t>
            </a:r>
            <a:endParaRPr lang="en-US" altLang="en-US" sz="3200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800" b="1" dirty="0" smtClean="0">
                <a:solidFill>
                  <a:srgbClr val="FF0000"/>
                </a:solidFill>
              </a:rPr>
              <a:t>(a)</a:t>
            </a:r>
            <a:r>
              <a:rPr lang="en-US" altLang="en-US" sz="2800" dirty="0" smtClean="0"/>
              <a:t>	0.6, 0.23, 0.8, 0.1	………………………………………</a:t>
            </a:r>
          </a:p>
          <a:p>
            <a:pPr eaLnBrk="1" hangingPunct="1"/>
            <a:r>
              <a:rPr lang="en-US" altLang="en-US" sz="2800" b="1" dirty="0" smtClean="0">
                <a:solidFill>
                  <a:srgbClr val="FF0000"/>
                </a:solidFill>
              </a:rPr>
              <a:t>(b)</a:t>
            </a:r>
            <a:r>
              <a:rPr lang="en-US" altLang="en-US" sz="2800" dirty="0" smtClean="0"/>
              <a:t>	4, 0.7, 3.6, 1.9		………………………………………</a:t>
            </a:r>
          </a:p>
          <a:p>
            <a:pPr eaLnBrk="1" hangingPunct="1"/>
            <a:r>
              <a:rPr lang="en-US" altLang="en-US" sz="2800" b="1" dirty="0" smtClean="0">
                <a:solidFill>
                  <a:srgbClr val="FF0000"/>
                </a:solidFill>
              </a:rPr>
              <a:t>(</a:t>
            </a:r>
            <a:r>
              <a:rPr lang="en-US" altLang="en-US" sz="2800" b="1" dirty="0">
                <a:solidFill>
                  <a:srgbClr val="FF0000"/>
                </a:solidFill>
              </a:rPr>
              <a:t>c)</a:t>
            </a:r>
            <a:r>
              <a:rPr lang="en-US" altLang="en-US" sz="2800" dirty="0"/>
              <a:t>	1.43, 1.5, 1.7, 1.099	………………………………………</a:t>
            </a:r>
          </a:p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(d)</a:t>
            </a:r>
            <a:r>
              <a:rPr lang="en-US" altLang="en-US" sz="2800" dirty="0"/>
              <a:t>	0, 1.0, 0.87, 1.25	………………………………………</a:t>
            </a:r>
          </a:p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(e)</a:t>
            </a:r>
            <a:r>
              <a:rPr lang="en-US" altLang="en-US" sz="2800" dirty="0"/>
              <a:t>	1.09, 1.90, 1.11, 1.2	………………………………………</a:t>
            </a:r>
          </a:p>
        </p:txBody>
      </p:sp>
      <p:sp>
        <p:nvSpPr>
          <p:cNvPr id="7195" name="Title 1"/>
          <p:cNvSpPr txBox="1">
            <a:spLocks/>
          </p:cNvSpPr>
          <p:nvPr/>
        </p:nvSpPr>
        <p:spPr bwMode="auto">
          <a:xfrm>
            <a:off x="-83345" y="51439"/>
            <a:ext cx="8229601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 dirty="0">
                <a:solidFill>
                  <a:schemeClr val="tx2"/>
                </a:solidFill>
              </a:rPr>
              <a:t>ORDERING DECIMALS</a:t>
            </a:r>
            <a:endParaRPr lang="en-GB" altLang="en-US" sz="28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71550" y="1684437"/>
            <a:ext cx="4392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</a:rPr>
              <a:t>0.1, 0.23, 0.6, 0.8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899592" y="2538456"/>
            <a:ext cx="43926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</a:rPr>
              <a:t>0.7, 1.9, 3.6, 4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1000150" y="3356992"/>
            <a:ext cx="4392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</a:rPr>
              <a:t>1.099, 1.43, 1.5, 1.7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985838" y="4249837"/>
            <a:ext cx="4392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</a:rPr>
              <a:t>0, 0.87, 1.0, 1.25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971550" y="5094387"/>
            <a:ext cx="4392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</a:rPr>
              <a:t>1.09, 1.11, 1.2, 1.90</a:t>
            </a:r>
          </a:p>
        </p:txBody>
      </p:sp>
    </p:spTree>
    <p:extLst>
      <p:ext uri="{BB962C8B-B14F-4D97-AF65-F5344CB8AC3E}">
        <p14:creationId xmlns:p14="http://schemas.microsoft.com/office/powerpoint/2010/main" val="252476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GB" dirty="0" smtClean="0"/>
              <a:t>Put these lengths in order, from shortest to longest.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9388" y="1557338"/>
          <a:ext cx="8712969" cy="5005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4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5077">
                <a:tc>
                  <a:txBody>
                    <a:bodyPr/>
                    <a:lstStyle/>
                    <a:p>
                      <a:r>
                        <a:rPr lang="en-GB" dirty="0" smtClean="0"/>
                        <a:t>SNAKE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ELEPHANT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077">
                <a:tc>
                  <a:txBody>
                    <a:bodyPr/>
                    <a:lstStyle/>
                    <a:p>
                      <a:r>
                        <a:rPr lang="en-GB" dirty="0" smtClean="0"/>
                        <a:t>1)  4.2m   4m</a:t>
                      </a:r>
                      <a:r>
                        <a:rPr lang="en-GB" baseline="0" dirty="0" smtClean="0"/>
                        <a:t>    2.9m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1) 6.6m</a:t>
                      </a:r>
                      <a:r>
                        <a:rPr lang="en-GB" baseline="0" dirty="0" smtClean="0"/>
                        <a:t>   6.33m   6.58m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1) 5.5m   55cm</a:t>
                      </a:r>
                      <a:r>
                        <a:rPr lang="en-GB" baseline="0" dirty="0" smtClean="0"/>
                        <a:t>   555cm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077">
                <a:tc>
                  <a:txBody>
                    <a:bodyPr/>
                    <a:lstStyle/>
                    <a:p>
                      <a:r>
                        <a:rPr lang="en-GB" dirty="0" smtClean="0"/>
                        <a:t>2) </a:t>
                      </a:r>
                      <a:r>
                        <a:rPr lang="en-GB" baseline="0" dirty="0" smtClean="0"/>
                        <a:t> 20m  201cm    22m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2)   3.21</a:t>
                      </a:r>
                      <a:r>
                        <a:rPr lang="en-GB" baseline="0" dirty="0" smtClean="0"/>
                        <a:t>m   2.3cm     90mm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2) 4.33cm  3.68m   3.69cm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77">
                <a:tc>
                  <a:txBody>
                    <a:bodyPr/>
                    <a:lstStyle/>
                    <a:p>
                      <a:r>
                        <a:rPr lang="en-GB" dirty="0" smtClean="0"/>
                        <a:t>3) </a:t>
                      </a:r>
                      <a:r>
                        <a:rPr lang="en-GB" sz="1600" dirty="0" smtClean="0"/>
                        <a:t>12.4m   21.4m   4.12m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3) 2.4m   2.39m   2.399m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3) 9.2m</a:t>
                      </a:r>
                      <a:r>
                        <a:rPr lang="en-GB" baseline="0" dirty="0" smtClean="0"/>
                        <a:t>   9.9m    9.09m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077">
                <a:tc>
                  <a:txBody>
                    <a:bodyPr/>
                    <a:lstStyle/>
                    <a:p>
                      <a:r>
                        <a:rPr lang="en-GB" dirty="0" smtClean="0"/>
                        <a:t>4) 6.6m</a:t>
                      </a:r>
                      <a:r>
                        <a:rPr lang="en-GB" baseline="0" dirty="0" smtClean="0"/>
                        <a:t>   6.33m   6.58m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4) 5.5m   55cm</a:t>
                      </a:r>
                      <a:r>
                        <a:rPr lang="en-GB" baseline="0" dirty="0" smtClean="0"/>
                        <a:t>   555cm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4) 6.11m  6.12cm</a:t>
                      </a:r>
                      <a:r>
                        <a:rPr lang="en-GB" baseline="0" dirty="0" smtClean="0"/>
                        <a:t>  61.12cm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5077">
                <a:tc>
                  <a:txBody>
                    <a:bodyPr/>
                    <a:lstStyle/>
                    <a:p>
                      <a:r>
                        <a:rPr lang="en-GB" dirty="0" smtClean="0"/>
                        <a:t>5)   3.21</a:t>
                      </a:r>
                      <a:r>
                        <a:rPr lang="en-GB" baseline="0" dirty="0" smtClean="0"/>
                        <a:t>m   2.3cm     90mm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5) 4.33cm  3.68m   3.69cm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5) 2.11cm   2.4cm    2.32cm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5077">
                <a:tc>
                  <a:txBody>
                    <a:bodyPr/>
                    <a:lstStyle/>
                    <a:p>
                      <a:r>
                        <a:rPr lang="en-GB" dirty="0" smtClean="0"/>
                        <a:t>6) 2.4m   2.39m   2.399m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6) 9.2m</a:t>
                      </a:r>
                      <a:r>
                        <a:rPr lang="en-GB" baseline="0" dirty="0" smtClean="0"/>
                        <a:t>   9.9m    9.09m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6)  5.6cm</a:t>
                      </a:r>
                      <a:r>
                        <a:rPr lang="en-GB" baseline="0" dirty="0" smtClean="0"/>
                        <a:t>   5.61m    5.55m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0"/>
            <a:ext cx="7498080" cy="1143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GB" sz="28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GB" sz="2800" dirty="0" smtClean="0">
                <a:solidFill>
                  <a:schemeClr val="tx2">
                    <a:satMod val="130000"/>
                  </a:schemeClr>
                </a:solidFill>
              </a:rPr>
              <a:t>For each question, put the decimals in order from smallest to largest.</a:t>
            </a:r>
            <a:endParaRPr lang="en-GB" sz="2800" dirty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535849"/>
              </p:ext>
            </p:extLst>
          </p:nvPr>
        </p:nvGraphicFramePr>
        <p:xfrm>
          <a:off x="1075805" y="1340768"/>
          <a:ext cx="7890700" cy="475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872"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Snake</a:t>
                      </a:r>
                      <a:endParaRPr lang="en-GB" sz="1800" dirty="0"/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Lion</a:t>
                      </a:r>
                      <a:endParaRPr lang="en-GB" sz="1800" dirty="0"/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Elephant</a:t>
                      </a:r>
                      <a:endParaRPr lang="en-GB" sz="1800" dirty="0"/>
                    </a:p>
                  </a:txBody>
                  <a:tcPr marL="91431" marR="91431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872"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1.5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1.8        1.4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 4.43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4.3      4.40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7.41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74.01   7.39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72"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5.32     4.99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5.2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6.2    06.22    6.26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12.41   12.53   12.11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872"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 4.3     4.22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4.2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13.57    1.41     14.04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£14.11  £14.09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£14.63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872"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£1.42   £1.64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£1.46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£2.31  £2.39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£2.41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£0.09  8p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£1.03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872"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  £3.20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£2.34    230p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£19.21  £19.52  £20.14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 £7.22  740p   £7.20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8872"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6)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£11.32   £11.24    £12.01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6) 210p    £2.01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£2.11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GB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6)  £99.12</a:t>
                      </a:r>
                      <a:r>
                        <a:rPr lang="en-GB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£99.00  £99.49</a:t>
                      </a:r>
                      <a:endParaRPr lang="en-GB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1" marR="91431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42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0"/>
            <a:ext cx="842493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4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PLENARY</a:t>
            </a:r>
          </a:p>
          <a:p>
            <a:pPr>
              <a:spcAft>
                <a:spcPts val="0"/>
              </a:spcAf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Can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you order the following measurements in ascending order: </a:t>
            </a:r>
          </a:p>
          <a:p>
            <a:pPr>
              <a:spcAft>
                <a:spcPts val="0"/>
              </a:spcAf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en-GB" sz="2000" b="1" dirty="0">
                <a:latin typeface="Comic Sans MS" panose="030F0702030302020204" pitchFamily="66" charset="0"/>
                <a:ea typeface="Times New Roman" panose="02020603050405020304" pitchFamily="18" charset="0"/>
              </a:rPr>
              <a:t>124cm		0.75m		65mm		1.4m		1.1km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11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231</TotalTime>
  <Words>635</Words>
  <Application>Microsoft Office PowerPoint</Application>
  <PresentationFormat>On-screen Show (4:3)</PresentationFormat>
  <Paragraphs>143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Cambria Math</vt:lpstr>
      <vt:lpstr>Comic Sans MS</vt:lpstr>
      <vt:lpstr>Gill Sans MT</vt:lpstr>
      <vt:lpstr>Segoe UI</vt:lpstr>
      <vt:lpstr>Times New Roman</vt:lpstr>
      <vt:lpstr>Verdana</vt:lpstr>
      <vt:lpstr>Wingdings 2</vt:lpstr>
      <vt:lpstr>Solstice</vt:lpstr>
      <vt:lpstr>PowerPoint Presentation</vt:lpstr>
      <vt:lpstr>PowerPoint Presentation</vt:lpstr>
      <vt:lpstr>Examples...</vt:lpstr>
      <vt:lpstr>Examples...</vt:lpstr>
      <vt:lpstr>PowerPoint Presentation</vt:lpstr>
      <vt:lpstr>PowerPoint Presentation</vt:lpstr>
      <vt:lpstr>PowerPoint Presentation</vt:lpstr>
      <vt:lpstr>PowerPoint Presentation</vt:lpstr>
      <vt:lpstr>Put these lengths in order, from shortest to longest.</vt:lpstr>
      <vt:lpstr> For each question, put the decimals in order from smallest to largest.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teacher</dc:creator>
  <cp:lastModifiedBy>KEEN Stephanie [Baldivis Secondary College]</cp:lastModifiedBy>
  <cp:revision>23</cp:revision>
  <dcterms:created xsi:type="dcterms:W3CDTF">2012-01-04T21:27:21Z</dcterms:created>
  <dcterms:modified xsi:type="dcterms:W3CDTF">2019-02-24T05:31:09Z</dcterms:modified>
</cp:coreProperties>
</file>
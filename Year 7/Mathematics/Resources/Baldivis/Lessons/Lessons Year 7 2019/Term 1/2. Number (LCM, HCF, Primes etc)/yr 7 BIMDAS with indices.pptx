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7" r:id="rId3"/>
    <p:sldId id="258" r:id="rId4"/>
    <p:sldId id="259" r:id="rId5"/>
    <p:sldId id="269" r:id="rId6"/>
    <p:sldId id="268" r:id="rId7"/>
    <p:sldId id="264" r:id="rId8"/>
    <p:sldId id="266" r:id="rId9"/>
    <p:sldId id="265" r:id="rId10"/>
    <p:sldId id="270"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5BB6-CC67-4F3C-B014-440C66238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CEA72C1-22B7-4EB2-A4C5-435019842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100C31B-E1CC-46AD-99F7-D935A3C6BCD8}"/>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4471A14D-0C9B-48D0-8F18-E8682F3C09B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15FBD76-82DA-45B1-A7E2-9BE7461B7478}"/>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182637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7B4C-705F-466C-A7DE-2B45334259F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A24649E-A3E6-4EB9-AE3C-C628E642688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BEFF27C-BCF7-465A-B435-A175E102199B}"/>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FE325F52-DE60-487B-B7D3-93DF2A1F3CD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776E8EB-1E05-4525-9BC2-6B19B31F7080}"/>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78718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13EDA-9A81-47AB-8D1E-34E3BE8E33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1516E46-42F7-4352-A23F-217FC12C5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F77ACC-EF1C-4BA3-92ED-5DF86DAF3080}"/>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569DB8E3-ACC5-4E4C-9F04-231C25ED0C0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328FED-647C-4AC4-B1FD-5B9F8D23BD67}"/>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639206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03E66-C353-42FE-B903-5E176AD5A72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D262C84-32B0-4B52-AC04-D8B4AEDCC84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5BE3BD6-899E-4AF9-8510-C3CFDE0661D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3B5D04C-1458-44D1-9E21-854DF6E8AD30}"/>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6" name="Footer Placeholder 5">
            <a:extLst>
              <a:ext uri="{FF2B5EF4-FFF2-40B4-BE49-F238E27FC236}">
                <a16:creationId xmlns:a16="http://schemas.microsoft.com/office/drawing/2014/main" id="{A43522EE-A9C3-459A-BC74-93C1BE4E360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D234706-C869-4109-8939-7E24EEF299B6}"/>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3697970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F7B43-A675-4BBC-861D-14D4DD602731}"/>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EB79DF0-0940-4B88-8036-2C626786B5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05053F1-31F0-419C-82CA-571065EBEC8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4AD59DF-BEBB-4BDD-A064-F6A979367C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C0FAAB4-FA26-4849-894B-A183273BE7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5F1CB89-E303-47D2-A26A-08A8E57FC658}"/>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8" name="Footer Placeholder 7">
            <a:extLst>
              <a:ext uri="{FF2B5EF4-FFF2-40B4-BE49-F238E27FC236}">
                <a16:creationId xmlns:a16="http://schemas.microsoft.com/office/drawing/2014/main" id="{CDEFCCD1-6BF0-4144-A4CF-1E1377B9FDD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187D2FBA-46AA-4172-A4CC-6E3C22139A8D}"/>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78967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B316A-C727-4730-8787-646FD6F084F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DD07854-3633-43A3-8E64-A3139B7CFD68}"/>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4" name="Footer Placeholder 3">
            <a:extLst>
              <a:ext uri="{FF2B5EF4-FFF2-40B4-BE49-F238E27FC236}">
                <a16:creationId xmlns:a16="http://schemas.microsoft.com/office/drawing/2014/main" id="{E59DF338-4EC9-4FE1-8126-9EC6739EF7E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8FD354F-A917-4CB4-92FD-A3BA67C8C1AD}"/>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344562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37F3AA-F827-4191-AA96-DF419E907F13}"/>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3" name="Footer Placeholder 2">
            <a:extLst>
              <a:ext uri="{FF2B5EF4-FFF2-40B4-BE49-F238E27FC236}">
                <a16:creationId xmlns:a16="http://schemas.microsoft.com/office/drawing/2014/main" id="{0BF0A426-55F6-4694-9F66-B91DBD4C109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E930449-26C2-4B63-86AD-6D4EEE297CCD}"/>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3665490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8BAF6-2F51-43D7-ADF8-6DF660EF6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F067AFE-6A35-4B1A-B598-FFEFC05462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B006D90-3513-4486-9258-83A2ACB01D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3E33839-71BE-4860-95B5-BCC8E2E0E787}"/>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6" name="Footer Placeholder 5">
            <a:extLst>
              <a:ext uri="{FF2B5EF4-FFF2-40B4-BE49-F238E27FC236}">
                <a16:creationId xmlns:a16="http://schemas.microsoft.com/office/drawing/2014/main" id="{066A9E49-26F7-4686-8705-0A44E7F9A7E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53F1BF9-4581-44C2-8F3E-05958A32056F}"/>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17209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22E1E-115F-4457-80FC-F3A3683FD1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36E9021-8F05-41E7-95AF-534371544E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221FAF9-13A2-4AEA-BE0C-C1606EC187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AB5614-FC8B-47F9-A76B-77FF23EC7258}"/>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6" name="Footer Placeholder 5">
            <a:extLst>
              <a:ext uri="{FF2B5EF4-FFF2-40B4-BE49-F238E27FC236}">
                <a16:creationId xmlns:a16="http://schemas.microsoft.com/office/drawing/2014/main" id="{ADE26202-5A2E-4999-9989-5DBA24D4FC7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02E4AD9-F41D-4FAB-8E7E-4F31A1E5CB5B}"/>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970609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3616-0F99-4F8A-80B0-8F008775C4F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80E2B27-4E40-4932-BBF4-6C157B667D3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C42C4B3-8DA9-4032-A309-9448A6DC9F17}"/>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DFDD16F0-C0E3-434F-9F53-8D81C3FBAE9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C567B2-06DA-409C-8251-3671C6B5ECFF}"/>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3665385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C2731F-F9B4-461E-8082-9F477F0E96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D720606-FD46-4FCB-B88E-A6F8595E398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3C8E226-9E59-4B26-AD49-2221829F8635}"/>
              </a:ext>
            </a:extLst>
          </p:cNvPr>
          <p:cNvSpPr>
            <a:spLocks noGrp="1"/>
          </p:cNvSpPr>
          <p:nvPr>
            <p:ph type="dt" sz="half" idx="10"/>
          </p:nvPr>
        </p:nvSpPr>
        <p:spPr/>
        <p:txBody>
          <a:body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AD1D8675-B15F-4715-9354-62D1C4F626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83C7412-870C-4189-9E44-68215F55D032}"/>
              </a:ext>
            </a:extLst>
          </p:cNvPr>
          <p:cNvSpPr>
            <a:spLocks noGrp="1"/>
          </p:cNvSpPr>
          <p:nvPr>
            <p:ph type="sldNum" sz="quarter" idx="12"/>
          </p:nvPr>
        </p:nvSpPr>
        <p:spPr/>
        <p:txBody>
          <a:bodyPr/>
          <a:lstStyle/>
          <a:p>
            <a:fld id="{855EF052-7E13-402F-B523-30CED6E7DB8C}" type="slidenum">
              <a:rPr lang="en-AU" smtClean="0"/>
              <a:t>‹#›</a:t>
            </a:fld>
            <a:endParaRPr lang="en-AU"/>
          </a:p>
        </p:txBody>
      </p:sp>
    </p:spTree>
    <p:extLst>
      <p:ext uri="{BB962C8B-B14F-4D97-AF65-F5344CB8AC3E}">
        <p14:creationId xmlns:p14="http://schemas.microsoft.com/office/powerpoint/2010/main" val="2313136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04F10A-28F0-4430-BEDE-3D346A47B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ACE8CF5-7F75-4EC7-BA67-1546824672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BCB1085-1BE0-42AC-B4BC-81091A02E4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AB7345-F912-4CBB-8358-1347CF968A5C}" type="datetimeFigureOut">
              <a:rPr lang="en-AU" smtClean="0"/>
              <a:t>24/03/2019</a:t>
            </a:fld>
            <a:endParaRPr lang="en-AU"/>
          </a:p>
        </p:txBody>
      </p:sp>
      <p:sp>
        <p:nvSpPr>
          <p:cNvPr id="5" name="Footer Placeholder 4">
            <a:extLst>
              <a:ext uri="{FF2B5EF4-FFF2-40B4-BE49-F238E27FC236}">
                <a16:creationId xmlns:a16="http://schemas.microsoft.com/office/drawing/2014/main" id="{224903D8-06BC-4A45-BC69-4360ECC9BC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42AED305-AF5B-43E4-8DD0-C1F0CB3514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EF052-7E13-402F-B523-30CED6E7DB8C}" type="slidenum">
              <a:rPr lang="en-AU" smtClean="0"/>
              <a:t>‹#›</a:t>
            </a:fld>
            <a:endParaRPr lang="en-AU"/>
          </a:p>
        </p:txBody>
      </p:sp>
    </p:spTree>
    <p:extLst>
      <p:ext uri="{BB962C8B-B14F-4D97-AF65-F5344CB8AC3E}">
        <p14:creationId xmlns:p14="http://schemas.microsoft.com/office/powerpoint/2010/main" val="1252530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43872" y="3717033"/>
            <a:ext cx="5324128" cy="1470025"/>
          </a:xfrm>
        </p:spPr>
        <p:txBody>
          <a:bodyPr>
            <a:noAutofit/>
          </a:bodyPr>
          <a:lstStyle/>
          <a:p>
            <a:r>
              <a:rPr lang="en-GB" sz="8000" dirty="0" smtClean="0">
                <a:latin typeface="Comic Sans MS" pitchFamily="66" charset="0"/>
              </a:rPr>
              <a:t>BIMDAS</a:t>
            </a:r>
            <a:br>
              <a:rPr lang="en-GB" sz="8000" dirty="0" smtClean="0">
                <a:latin typeface="Comic Sans MS" pitchFamily="66" charset="0"/>
              </a:rPr>
            </a:br>
            <a:r>
              <a:rPr lang="en-GB" sz="4000" dirty="0" smtClean="0">
                <a:latin typeface="Comic Sans MS" pitchFamily="66" charset="0"/>
              </a:rPr>
              <a:t>(now with indices)</a:t>
            </a:r>
            <a:endParaRPr lang="en-GB" sz="8000" dirty="0">
              <a:latin typeface="Comic Sans MS" pitchFamily="66" charset="0"/>
            </a:endParaRPr>
          </a:p>
        </p:txBody>
      </p:sp>
      <p:pic>
        <p:nvPicPr>
          <p:cNvPr id="28674" name="Picture 2" descr="http://us.123rf.com/400wm/400/400/antonbrand/antonbrand1103/antonbrand110300034/9100611-drill-sargaent-pointing-his-finger-isolated-on-white.jpg"/>
          <p:cNvPicPr>
            <a:picLocks noChangeAspect="1" noChangeArrowheads="1"/>
          </p:cNvPicPr>
          <p:nvPr/>
        </p:nvPicPr>
        <p:blipFill>
          <a:blip r:embed="rId2" cstate="print"/>
          <a:srcRect/>
          <a:stretch>
            <a:fillRect/>
          </a:stretch>
        </p:blipFill>
        <p:spPr bwMode="auto">
          <a:xfrm>
            <a:off x="1524001" y="980729"/>
            <a:ext cx="3819525" cy="5619751"/>
          </a:xfrm>
          <a:prstGeom prst="rect">
            <a:avLst/>
          </a:prstGeom>
          <a:noFill/>
        </p:spPr>
      </p:pic>
      <p:sp>
        <p:nvSpPr>
          <p:cNvPr id="5" name="Oval Callout 4"/>
          <p:cNvSpPr/>
          <p:nvPr/>
        </p:nvSpPr>
        <p:spPr>
          <a:xfrm>
            <a:off x="6312024" y="980728"/>
            <a:ext cx="3456384" cy="1944216"/>
          </a:xfrm>
          <a:prstGeom prst="wedgeEllipseCallout">
            <a:avLst>
              <a:gd name="adj1" fmla="val -86972"/>
              <a:gd name="adj2" fmla="val 3114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You think you can just do your sums in any order you like? THINK AGAIN! Listen up! </a:t>
            </a:r>
          </a:p>
        </p:txBody>
      </p:sp>
    </p:spTree>
    <p:extLst>
      <p:ext uri="{BB962C8B-B14F-4D97-AF65-F5344CB8AC3E}">
        <p14:creationId xmlns:p14="http://schemas.microsoft.com/office/powerpoint/2010/main" val="5358822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C0390D-A513-4C42-81BA-D0925B42AD8E}"/>
              </a:ext>
            </a:extLst>
          </p:cNvPr>
          <p:cNvSpPr txBox="1"/>
          <p:nvPr/>
        </p:nvSpPr>
        <p:spPr>
          <a:xfrm>
            <a:off x="788894" y="502024"/>
            <a:ext cx="10192871" cy="830997"/>
          </a:xfrm>
          <a:prstGeom prst="rect">
            <a:avLst/>
          </a:prstGeom>
          <a:noFill/>
        </p:spPr>
        <p:txBody>
          <a:bodyPr wrap="square" rtlCol="0">
            <a:spAutoFit/>
          </a:bodyPr>
          <a:lstStyle/>
          <a:p>
            <a:r>
              <a:rPr lang="en-AU" sz="2400" dirty="0"/>
              <a:t>Starter</a:t>
            </a:r>
          </a:p>
          <a:p>
            <a:r>
              <a:rPr lang="en-AU" sz="2400" dirty="0"/>
              <a:t>Use a multiplication strategy to multiply the following.</a:t>
            </a:r>
          </a:p>
        </p:txBody>
      </p:sp>
      <p:sp>
        <p:nvSpPr>
          <p:cNvPr id="5" name="TextBox 4">
            <a:extLst>
              <a:ext uri="{FF2B5EF4-FFF2-40B4-BE49-F238E27FC236}">
                <a16:creationId xmlns:a16="http://schemas.microsoft.com/office/drawing/2014/main" id="{59A394F5-1728-4BE5-9BC8-1BD029FBBD10}"/>
              </a:ext>
            </a:extLst>
          </p:cNvPr>
          <p:cNvSpPr txBox="1"/>
          <p:nvPr/>
        </p:nvSpPr>
        <p:spPr>
          <a:xfrm>
            <a:off x="1021976" y="1532965"/>
            <a:ext cx="1550895" cy="461665"/>
          </a:xfrm>
          <a:prstGeom prst="rect">
            <a:avLst/>
          </a:prstGeom>
          <a:noFill/>
        </p:spPr>
        <p:txBody>
          <a:bodyPr wrap="square" rtlCol="0">
            <a:spAutoFit/>
          </a:bodyPr>
          <a:lstStyle/>
          <a:p>
            <a:r>
              <a:rPr lang="en-AU" sz="2400" dirty="0"/>
              <a:t>21 x 45 = </a:t>
            </a:r>
          </a:p>
        </p:txBody>
      </p:sp>
      <p:sp>
        <p:nvSpPr>
          <p:cNvPr id="6" name="TextBox 5">
            <a:extLst>
              <a:ext uri="{FF2B5EF4-FFF2-40B4-BE49-F238E27FC236}">
                <a16:creationId xmlns:a16="http://schemas.microsoft.com/office/drawing/2014/main" id="{474D1ED1-4FCF-43EA-8CDE-F1C82EEF374B}"/>
              </a:ext>
            </a:extLst>
          </p:cNvPr>
          <p:cNvSpPr txBox="1"/>
          <p:nvPr/>
        </p:nvSpPr>
        <p:spPr>
          <a:xfrm>
            <a:off x="4592174" y="1532965"/>
            <a:ext cx="1550894" cy="461665"/>
          </a:xfrm>
          <a:prstGeom prst="rect">
            <a:avLst/>
          </a:prstGeom>
          <a:noFill/>
        </p:spPr>
        <p:txBody>
          <a:bodyPr wrap="square" rtlCol="0">
            <a:spAutoFit/>
          </a:bodyPr>
          <a:lstStyle/>
          <a:p>
            <a:r>
              <a:rPr lang="en-AU" sz="2400" dirty="0"/>
              <a:t>342 x 23 = </a:t>
            </a:r>
          </a:p>
        </p:txBody>
      </p:sp>
      <p:sp>
        <p:nvSpPr>
          <p:cNvPr id="7" name="TextBox 6">
            <a:extLst>
              <a:ext uri="{FF2B5EF4-FFF2-40B4-BE49-F238E27FC236}">
                <a16:creationId xmlns:a16="http://schemas.microsoft.com/office/drawing/2014/main" id="{AB4B151C-CB2A-47A2-874B-98E36590A5B5}"/>
              </a:ext>
            </a:extLst>
          </p:cNvPr>
          <p:cNvSpPr txBox="1"/>
          <p:nvPr/>
        </p:nvSpPr>
        <p:spPr>
          <a:xfrm>
            <a:off x="8915402" y="1532965"/>
            <a:ext cx="1833280" cy="461665"/>
          </a:xfrm>
          <a:prstGeom prst="rect">
            <a:avLst/>
          </a:prstGeom>
          <a:noFill/>
        </p:spPr>
        <p:txBody>
          <a:bodyPr wrap="square" rtlCol="0">
            <a:spAutoFit/>
          </a:bodyPr>
          <a:lstStyle/>
          <a:p>
            <a:r>
              <a:rPr lang="en-AU" sz="2400" dirty="0"/>
              <a:t>2.3 x 4.1 = </a:t>
            </a:r>
          </a:p>
        </p:txBody>
      </p:sp>
    </p:spTree>
    <p:extLst>
      <p:ext uri="{BB962C8B-B14F-4D97-AF65-F5344CB8AC3E}">
        <p14:creationId xmlns:p14="http://schemas.microsoft.com/office/powerpoint/2010/main" val="6235098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931C1-8B0D-4C09-8DDE-49C9F9FCA779}"/>
              </a:ext>
            </a:extLst>
          </p:cNvPr>
          <p:cNvSpPr>
            <a:spLocks noGrp="1"/>
          </p:cNvSpPr>
          <p:nvPr>
            <p:ph type="title"/>
          </p:nvPr>
        </p:nvSpPr>
        <p:spPr>
          <a:xfrm>
            <a:off x="717177" y="383053"/>
            <a:ext cx="10515600" cy="5650193"/>
          </a:xfrm>
        </p:spPr>
        <p:txBody>
          <a:bodyPr>
            <a:normAutofit/>
          </a:bodyPr>
          <a:lstStyle/>
          <a:p>
            <a:pPr algn="ctr"/>
            <a:r>
              <a:rPr lang="en-AU" sz="2400" dirty="0"/>
              <a:t>Last lesson we looked at </a:t>
            </a:r>
            <a:r>
              <a:rPr lang="en-AU" sz="2400" dirty="0" smtClean="0"/>
              <a:t>cubed numbers and index notation.</a:t>
            </a:r>
            <a:r>
              <a:rPr lang="en-AU" sz="2400" dirty="0"/>
              <a:t/>
            </a:r>
            <a:br>
              <a:rPr lang="en-AU" sz="2400" dirty="0"/>
            </a:br>
            <a:r>
              <a:rPr lang="en-AU" sz="2400" dirty="0"/>
              <a:t/>
            </a:r>
            <a:br>
              <a:rPr lang="en-AU" sz="2400" dirty="0"/>
            </a:br>
            <a:r>
              <a:rPr lang="en-AU" sz="2400" dirty="0"/>
              <a:t>Let’s start by </a:t>
            </a:r>
            <a:r>
              <a:rPr lang="en-AU" sz="2400" dirty="0" smtClean="0"/>
              <a:t>checking our notes and summary </a:t>
            </a:r>
            <a:r>
              <a:rPr lang="en-AU" sz="2400" dirty="0"/>
              <a:t>for last lesson.</a:t>
            </a:r>
            <a:br>
              <a:rPr lang="en-AU" sz="2400" dirty="0"/>
            </a:br>
            <a:r>
              <a:rPr lang="en-AU" sz="2400" dirty="0"/>
              <a:t/>
            </a:r>
            <a:br>
              <a:rPr lang="en-AU" sz="2400" dirty="0"/>
            </a:br>
            <a:r>
              <a:rPr lang="en-AU" sz="2800" b="1" dirty="0" smtClean="0"/>
              <a:t>Shoulder partners! Check your partner’s notes.</a:t>
            </a:r>
            <a:r>
              <a:rPr lang="en-AU" sz="2400" dirty="0"/>
              <a:t/>
            </a:r>
            <a:br>
              <a:rPr lang="en-AU" sz="2400" dirty="0"/>
            </a:br>
            <a:r>
              <a:rPr lang="en-AU" sz="2400" dirty="0" smtClean="0"/>
              <a:t>Are they complete and correct? Do you need to add anything to </a:t>
            </a:r>
            <a:r>
              <a:rPr lang="en-AU" sz="2400" u="sng" dirty="0" smtClean="0"/>
              <a:t>your</a:t>
            </a:r>
            <a:r>
              <a:rPr lang="en-AU" sz="2400" dirty="0" smtClean="0"/>
              <a:t> notes?</a:t>
            </a:r>
            <a:endParaRPr lang="en-AU" sz="2400" dirty="0"/>
          </a:p>
        </p:txBody>
      </p:sp>
      <p:pic>
        <p:nvPicPr>
          <p:cNvPr id="1026" name="Picture 2" descr="Image result for image shoulder partn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880" y="4340470"/>
            <a:ext cx="2024925" cy="229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1749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5D05C5-5448-46FB-B782-29FB27EA7A8E}"/>
              </a:ext>
            </a:extLst>
          </p:cNvPr>
          <p:cNvSpPr txBox="1"/>
          <p:nvPr/>
        </p:nvSpPr>
        <p:spPr>
          <a:xfrm>
            <a:off x="556968" y="31205"/>
            <a:ext cx="9055510" cy="461665"/>
          </a:xfrm>
          <a:prstGeom prst="rect">
            <a:avLst/>
          </a:prstGeom>
          <a:noFill/>
        </p:spPr>
        <p:txBody>
          <a:bodyPr wrap="square" rtlCol="0">
            <a:spAutoFit/>
          </a:bodyPr>
          <a:lstStyle/>
          <a:p>
            <a:r>
              <a:rPr lang="en-AU" sz="2400" dirty="0"/>
              <a:t>Topic: </a:t>
            </a:r>
            <a:r>
              <a:rPr lang="en-AU" sz="2400" dirty="0" smtClean="0"/>
              <a:t>BIMDAS</a:t>
            </a:r>
            <a:endParaRPr lang="en-AU" sz="2400" dirty="0"/>
          </a:p>
        </p:txBody>
      </p:sp>
      <p:sp>
        <p:nvSpPr>
          <p:cNvPr id="5" name="TextBox 4">
            <a:extLst>
              <a:ext uri="{FF2B5EF4-FFF2-40B4-BE49-F238E27FC236}">
                <a16:creationId xmlns:a16="http://schemas.microsoft.com/office/drawing/2014/main" id="{99B3D6AB-48C8-4558-8C74-447BA77BBA05}"/>
              </a:ext>
            </a:extLst>
          </p:cNvPr>
          <p:cNvSpPr txBox="1"/>
          <p:nvPr/>
        </p:nvSpPr>
        <p:spPr>
          <a:xfrm>
            <a:off x="530942" y="634803"/>
            <a:ext cx="9055510" cy="461665"/>
          </a:xfrm>
          <a:prstGeom prst="rect">
            <a:avLst/>
          </a:prstGeom>
          <a:noFill/>
        </p:spPr>
        <p:txBody>
          <a:bodyPr wrap="square" rtlCol="0">
            <a:spAutoFit/>
          </a:bodyPr>
          <a:lstStyle/>
          <a:p>
            <a:r>
              <a:rPr lang="en-AU" sz="2400" dirty="0"/>
              <a:t>EQ: How do we use </a:t>
            </a:r>
            <a:r>
              <a:rPr lang="en-AU" sz="2400" dirty="0" smtClean="0"/>
              <a:t>indices </a:t>
            </a:r>
            <a:r>
              <a:rPr lang="en-AU" sz="2400" dirty="0"/>
              <a:t>in an equation?</a:t>
            </a:r>
          </a:p>
        </p:txBody>
      </p:sp>
      <p:cxnSp>
        <p:nvCxnSpPr>
          <p:cNvPr id="6" name="Straight Connector 5">
            <a:extLst>
              <a:ext uri="{FF2B5EF4-FFF2-40B4-BE49-F238E27FC236}">
                <a16:creationId xmlns:a16="http://schemas.microsoft.com/office/drawing/2014/main" id="{C7621C33-D93D-476A-8DD7-6E101F5A9EE8}"/>
              </a:ext>
            </a:extLst>
          </p:cNvPr>
          <p:cNvCxnSpPr>
            <a:cxnSpLocks/>
          </p:cNvCxnSpPr>
          <p:nvPr/>
        </p:nvCxnSpPr>
        <p:spPr>
          <a:xfrm>
            <a:off x="0" y="634803"/>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163A097-E9B9-481D-BC65-43B885E6DAAE}"/>
              </a:ext>
            </a:extLst>
          </p:cNvPr>
          <p:cNvCxnSpPr/>
          <p:nvPr/>
        </p:nvCxnSpPr>
        <p:spPr>
          <a:xfrm>
            <a:off x="0" y="1096468"/>
            <a:ext cx="1229523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50B9291-8ED0-4362-AED8-BDCB338AA9A9}"/>
              </a:ext>
            </a:extLst>
          </p:cNvPr>
          <p:cNvCxnSpPr>
            <a:cxnSpLocks/>
          </p:cNvCxnSpPr>
          <p:nvPr/>
        </p:nvCxnSpPr>
        <p:spPr>
          <a:xfrm flipV="1">
            <a:off x="1784555" y="1096469"/>
            <a:ext cx="0" cy="57615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1BD3738-3F0B-4962-9BD7-84BAC049B355}"/>
              </a:ext>
            </a:extLst>
          </p:cNvPr>
          <p:cNvCxnSpPr>
            <a:cxnSpLocks/>
          </p:cNvCxnSpPr>
          <p:nvPr/>
        </p:nvCxnSpPr>
        <p:spPr>
          <a:xfrm flipV="1">
            <a:off x="6096000" y="2218181"/>
            <a:ext cx="0" cy="46398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B4943C-4B93-4E90-BFAB-0C5E0E340FAA}"/>
              </a:ext>
            </a:extLst>
          </p:cNvPr>
          <p:cNvSpPr txBox="1"/>
          <p:nvPr/>
        </p:nvSpPr>
        <p:spPr>
          <a:xfrm>
            <a:off x="2099188" y="1151416"/>
            <a:ext cx="8757353" cy="461665"/>
          </a:xfrm>
          <a:prstGeom prst="rect">
            <a:avLst/>
          </a:prstGeom>
          <a:noFill/>
        </p:spPr>
        <p:txBody>
          <a:bodyPr wrap="square" rtlCol="0">
            <a:spAutoFit/>
          </a:bodyPr>
          <a:lstStyle/>
          <a:p>
            <a:r>
              <a:rPr lang="en-AU" sz="2400" dirty="0" smtClean="0"/>
              <a:t>Now we can use ALL of the BIMDAS process.</a:t>
            </a:r>
            <a:endParaRPr lang="en-AU" sz="2400" dirty="0"/>
          </a:p>
        </p:txBody>
      </p:sp>
      <p:sp>
        <p:nvSpPr>
          <p:cNvPr id="11" name="TextBox 10">
            <a:extLst>
              <a:ext uri="{FF2B5EF4-FFF2-40B4-BE49-F238E27FC236}">
                <a16:creationId xmlns:a16="http://schemas.microsoft.com/office/drawing/2014/main" id="{5E327F7B-0272-47C7-9213-AA7C1E9D4E1A}"/>
              </a:ext>
            </a:extLst>
          </p:cNvPr>
          <p:cNvSpPr txBox="1"/>
          <p:nvPr/>
        </p:nvSpPr>
        <p:spPr>
          <a:xfrm>
            <a:off x="1862619" y="2028581"/>
            <a:ext cx="4303181" cy="4154984"/>
          </a:xfrm>
          <a:prstGeom prst="rect">
            <a:avLst/>
          </a:prstGeom>
          <a:noFill/>
        </p:spPr>
        <p:txBody>
          <a:bodyPr wrap="square" rtlCol="0">
            <a:spAutoFit/>
          </a:bodyPr>
          <a:lstStyle/>
          <a:p>
            <a:r>
              <a:rPr lang="en-AU" sz="2400" u="sng" dirty="0"/>
              <a:t>Order of Operations / BIMDAS</a:t>
            </a:r>
          </a:p>
          <a:p>
            <a:endParaRPr lang="en-AU" sz="2400" dirty="0"/>
          </a:p>
          <a:p>
            <a:r>
              <a:rPr lang="en-AU" sz="2400" dirty="0"/>
              <a:t>1. </a:t>
            </a:r>
            <a:r>
              <a:rPr lang="en-AU" sz="2400" b="1" u="sng" dirty="0"/>
              <a:t>B</a:t>
            </a:r>
            <a:r>
              <a:rPr lang="en-AU" sz="2400" dirty="0"/>
              <a:t>rackets</a:t>
            </a:r>
          </a:p>
          <a:p>
            <a:endParaRPr lang="en-AU" sz="2400" dirty="0"/>
          </a:p>
          <a:p>
            <a:r>
              <a:rPr lang="en-AU" sz="2400" dirty="0"/>
              <a:t>2. </a:t>
            </a:r>
            <a:r>
              <a:rPr lang="en-AU" sz="2400" b="1" u="sng" dirty="0" err="1"/>
              <a:t>I</a:t>
            </a:r>
            <a:r>
              <a:rPr lang="en-AU" sz="2400" dirty="0" err="1"/>
              <a:t>ndicies</a:t>
            </a:r>
            <a:r>
              <a:rPr lang="en-AU" sz="2400" dirty="0"/>
              <a:t> </a:t>
            </a:r>
            <a:endParaRPr lang="en-AU" sz="2400" dirty="0">
              <a:solidFill>
                <a:schemeClr val="bg1"/>
              </a:solidFill>
              <a:highlight>
                <a:srgbClr val="000080"/>
              </a:highlight>
            </a:endParaRPr>
          </a:p>
          <a:p>
            <a:endParaRPr lang="en-AU" sz="2400" dirty="0"/>
          </a:p>
          <a:p>
            <a:r>
              <a:rPr lang="en-AU" sz="2400" dirty="0"/>
              <a:t>3. </a:t>
            </a:r>
            <a:r>
              <a:rPr lang="en-AU" sz="2400" b="1" u="sng" dirty="0"/>
              <a:t>M</a:t>
            </a:r>
            <a:r>
              <a:rPr lang="en-AU" sz="2400" dirty="0"/>
              <a:t>ultiply and  </a:t>
            </a:r>
            <a:r>
              <a:rPr lang="en-AU" sz="2400" b="1" u="sng" dirty="0"/>
              <a:t>D</a:t>
            </a:r>
            <a:r>
              <a:rPr lang="en-AU" sz="2400" dirty="0"/>
              <a:t>ivide </a:t>
            </a:r>
          </a:p>
          <a:p>
            <a:r>
              <a:rPr lang="en-AU" sz="2400" dirty="0"/>
              <a:t>                   (from left to right)</a:t>
            </a:r>
          </a:p>
          <a:p>
            <a:endParaRPr lang="en-AU" sz="2400" b="1" u="sng" dirty="0"/>
          </a:p>
          <a:p>
            <a:r>
              <a:rPr lang="en-AU" sz="2400" dirty="0"/>
              <a:t>4. </a:t>
            </a:r>
            <a:r>
              <a:rPr lang="en-AU" sz="2400" b="1" u="sng" dirty="0"/>
              <a:t>A</a:t>
            </a:r>
            <a:r>
              <a:rPr lang="en-AU" sz="2400" dirty="0"/>
              <a:t>dd and </a:t>
            </a:r>
            <a:r>
              <a:rPr lang="en-AU" sz="2400" b="1" u="sng" dirty="0"/>
              <a:t>S</a:t>
            </a:r>
            <a:r>
              <a:rPr lang="en-AU" sz="2400" dirty="0"/>
              <a:t>ubtract </a:t>
            </a:r>
          </a:p>
          <a:p>
            <a:r>
              <a:rPr lang="en-AU" sz="2400" dirty="0"/>
              <a:t>                    (from left to right)</a:t>
            </a:r>
          </a:p>
        </p:txBody>
      </p:sp>
      <p:sp>
        <p:nvSpPr>
          <p:cNvPr id="19" name="TextBox 18">
            <a:extLst>
              <a:ext uri="{FF2B5EF4-FFF2-40B4-BE49-F238E27FC236}">
                <a16:creationId xmlns:a16="http://schemas.microsoft.com/office/drawing/2014/main" id="{CDE6F4C3-9F1B-48FB-86F7-94EA1650374B}"/>
              </a:ext>
            </a:extLst>
          </p:cNvPr>
          <p:cNvSpPr txBox="1"/>
          <p:nvPr/>
        </p:nvSpPr>
        <p:spPr>
          <a:xfrm>
            <a:off x="76196" y="-9919"/>
            <a:ext cx="614521" cy="738664"/>
          </a:xfrm>
          <a:prstGeom prst="rect">
            <a:avLst/>
          </a:prstGeom>
          <a:noFill/>
        </p:spPr>
        <p:txBody>
          <a:bodyPr wrap="square" rtlCol="0">
            <a:spAutoFit/>
          </a:bodyPr>
          <a:lstStyle/>
          <a:p>
            <a:r>
              <a:rPr lang="en-AU" sz="1400" dirty="0"/>
              <a:t>24</a:t>
            </a:r>
          </a:p>
          <a:p>
            <a:r>
              <a:rPr lang="en-AU" sz="1400" dirty="0"/>
              <a:t>7</a:t>
            </a:r>
          </a:p>
          <a:p>
            <a:r>
              <a:rPr lang="en-AU" sz="1400" dirty="0"/>
              <a:t>30</a:t>
            </a:r>
          </a:p>
        </p:txBody>
      </p:sp>
      <p:sp>
        <p:nvSpPr>
          <p:cNvPr id="20" name="TextBox 19">
            <a:extLst>
              <a:ext uri="{FF2B5EF4-FFF2-40B4-BE49-F238E27FC236}">
                <a16:creationId xmlns:a16="http://schemas.microsoft.com/office/drawing/2014/main" id="{310CEB42-CDB5-45E5-8636-7C9FE135DBCD}"/>
              </a:ext>
            </a:extLst>
          </p:cNvPr>
          <p:cNvSpPr txBox="1"/>
          <p:nvPr/>
        </p:nvSpPr>
        <p:spPr>
          <a:xfrm>
            <a:off x="9464540" y="83787"/>
            <a:ext cx="2149572" cy="461665"/>
          </a:xfrm>
          <a:prstGeom prst="rect">
            <a:avLst/>
          </a:prstGeom>
          <a:noFill/>
        </p:spPr>
        <p:txBody>
          <a:bodyPr wrap="square" rtlCol="0">
            <a:spAutoFit/>
          </a:bodyPr>
          <a:lstStyle/>
          <a:p>
            <a:r>
              <a:rPr lang="en-AU" sz="2400" dirty="0"/>
              <a:t>Date</a:t>
            </a:r>
          </a:p>
        </p:txBody>
      </p:sp>
    </p:spTree>
    <p:extLst>
      <p:ext uri="{BB962C8B-B14F-4D97-AF65-F5344CB8AC3E}">
        <p14:creationId xmlns:p14="http://schemas.microsoft.com/office/powerpoint/2010/main" val="6406970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45028" y="0"/>
            <a:ext cx="9836331" cy="6837626"/>
          </a:xfrm>
          <a:prstGeom prst="rect">
            <a:avLst/>
          </a:prstGeom>
        </p:spPr>
      </p:pic>
    </p:spTree>
    <p:extLst>
      <p:ext uri="{BB962C8B-B14F-4D97-AF65-F5344CB8AC3E}">
        <p14:creationId xmlns:p14="http://schemas.microsoft.com/office/powerpoint/2010/main" val="4190584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66888" y="465138"/>
            <a:ext cx="1116012" cy="584200"/>
          </a:xfrm>
          <a:prstGeom prst="rect">
            <a:avLst/>
          </a:prstGeom>
          <a:solidFill>
            <a:schemeClr val="accent6">
              <a:lumMod val="60000"/>
              <a:lumOff val="40000"/>
            </a:schemeClr>
          </a:solidFill>
        </p:spPr>
        <p:txBody>
          <a:bodyPr>
            <a:spAutoFit/>
          </a:bodyPr>
          <a:lstStyle/>
          <a:p>
            <a:pPr algn="ctr">
              <a:defRPr/>
            </a:pPr>
            <a:r>
              <a:rPr lang="en-AU" sz="3200" dirty="0">
                <a:latin typeface="Arial" charset="0"/>
              </a:rPr>
              <a:t>Start</a:t>
            </a:r>
          </a:p>
        </p:txBody>
      </p:sp>
      <p:sp>
        <p:nvSpPr>
          <p:cNvPr id="5" name="Chevron 4"/>
          <p:cNvSpPr/>
          <p:nvPr/>
        </p:nvSpPr>
        <p:spPr>
          <a:xfrm>
            <a:off x="3000375" y="549276"/>
            <a:ext cx="431800" cy="358775"/>
          </a:xfrm>
          <a:prstGeom prst="chevron">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AU">
              <a:solidFill>
                <a:schemeClr val="tx1"/>
              </a:solidFill>
            </a:endParaRPr>
          </a:p>
        </p:txBody>
      </p:sp>
      <p:sp>
        <p:nvSpPr>
          <p:cNvPr id="5124" name="TextBox 5"/>
          <p:cNvSpPr txBox="1">
            <a:spLocks noChangeArrowheads="1"/>
          </p:cNvSpPr>
          <p:nvPr/>
        </p:nvSpPr>
        <p:spPr bwMode="auto">
          <a:xfrm>
            <a:off x="3575050" y="465138"/>
            <a:ext cx="1873250" cy="584200"/>
          </a:xfrm>
          <a:prstGeom prst="rect">
            <a:avLst/>
          </a:prstGeom>
          <a:solidFill>
            <a:srgbClr val="EF6E4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Brackets</a:t>
            </a:r>
          </a:p>
        </p:txBody>
      </p:sp>
      <p:cxnSp>
        <p:nvCxnSpPr>
          <p:cNvPr id="8" name="Straight Connector 7"/>
          <p:cNvCxnSpPr>
            <a:stCxn id="5124" idx="3"/>
          </p:cNvCxnSpPr>
          <p:nvPr/>
        </p:nvCxnSpPr>
        <p:spPr>
          <a:xfrm flipV="1">
            <a:off x="5448300" y="757238"/>
            <a:ext cx="719138"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26" name="TextBox 8"/>
          <p:cNvSpPr txBox="1">
            <a:spLocks noChangeArrowheads="1"/>
          </p:cNvSpPr>
          <p:nvPr/>
        </p:nvSpPr>
        <p:spPr bwMode="auto">
          <a:xfrm>
            <a:off x="6167439" y="57150"/>
            <a:ext cx="1081087" cy="585788"/>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Yes</a:t>
            </a:r>
          </a:p>
        </p:txBody>
      </p:sp>
      <p:sp>
        <p:nvSpPr>
          <p:cNvPr id="5127" name="TextBox 9"/>
          <p:cNvSpPr txBox="1">
            <a:spLocks noChangeArrowheads="1"/>
          </p:cNvSpPr>
          <p:nvPr/>
        </p:nvSpPr>
        <p:spPr bwMode="auto">
          <a:xfrm>
            <a:off x="6167439" y="893763"/>
            <a:ext cx="1081087" cy="5842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No</a:t>
            </a:r>
          </a:p>
        </p:txBody>
      </p:sp>
      <p:sp>
        <p:nvSpPr>
          <p:cNvPr id="5128" name="TextBox 11"/>
          <p:cNvSpPr txBox="1">
            <a:spLocks noChangeArrowheads="1"/>
          </p:cNvSpPr>
          <p:nvPr/>
        </p:nvSpPr>
        <p:spPr bwMode="auto">
          <a:xfrm>
            <a:off x="7824789" y="84138"/>
            <a:ext cx="2700337" cy="1077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Solve what’s in the ( )</a:t>
            </a:r>
          </a:p>
        </p:txBody>
      </p:sp>
      <p:cxnSp>
        <p:nvCxnSpPr>
          <p:cNvPr id="11" name="Straight Connector 10"/>
          <p:cNvCxnSpPr/>
          <p:nvPr/>
        </p:nvCxnSpPr>
        <p:spPr>
          <a:xfrm flipV="1">
            <a:off x="7248525" y="350838"/>
            <a:ext cx="719138"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2855913" y="1841501"/>
            <a:ext cx="3854450" cy="317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710363" y="1477963"/>
            <a:ext cx="0" cy="3667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855913" y="1814513"/>
            <a:ext cx="0" cy="366712"/>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33" name="TextBox 31"/>
          <p:cNvSpPr txBox="1">
            <a:spLocks noChangeArrowheads="1"/>
          </p:cNvSpPr>
          <p:nvPr/>
        </p:nvSpPr>
        <p:spPr bwMode="auto">
          <a:xfrm>
            <a:off x="1766888" y="2181225"/>
            <a:ext cx="2241550" cy="584200"/>
          </a:xfrm>
          <a:prstGeom prst="rect">
            <a:avLst/>
          </a:prstGeom>
          <a:solidFill>
            <a:srgbClr val="EF6E4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Indices</a:t>
            </a:r>
          </a:p>
        </p:txBody>
      </p:sp>
      <p:grpSp>
        <p:nvGrpSpPr>
          <p:cNvPr id="5134" name="Group 43"/>
          <p:cNvGrpSpPr>
            <a:grpSpLocks/>
          </p:cNvGrpSpPr>
          <p:nvPr/>
        </p:nvGrpSpPr>
        <p:grpSpPr bwMode="auto">
          <a:xfrm>
            <a:off x="6710363" y="1049339"/>
            <a:ext cx="1911350" cy="809625"/>
            <a:chOff x="5186222" y="1049385"/>
            <a:chExt cx="1911115" cy="809309"/>
          </a:xfrm>
        </p:grpSpPr>
        <p:cxnSp>
          <p:nvCxnSpPr>
            <p:cNvPr id="35" name="Straight Arrow Connector 34"/>
            <p:cNvCxnSpPr/>
            <p:nvPr/>
          </p:nvCxnSpPr>
          <p:spPr>
            <a:xfrm>
              <a:off x="7078289" y="1049385"/>
              <a:ext cx="0" cy="382438"/>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7078289" y="1392151"/>
              <a:ext cx="0" cy="449087"/>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5400000">
              <a:off x="5760032" y="1667424"/>
              <a:ext cx="0" cy="382541"/>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6906067" y="1649967"/>
              <a:ext cx="0" cy="382541"/>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a:off x="5377492" y="1657902"/>
              <a:ext cx="0" cy="382540"/>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6523527" y="1649967"/>
              <a:ext cx="0" cy="382540"/>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a:off x="6141780" y="1658696"/>
              <a:ext cx="0" cy="380953"/>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45" name="Straight Connector 44"/>
          <p:cNvCxnSpPr/>
          <p:nvPr/>
        </p:nvCxnSpPr>
        <p:spPr>
          <a:xfrm flipV="1">
            <a:off x="4008438" y="2733675"/>
            <a:ext cx="774700"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36" name="TextBox 45"/>
          <p:cNvSpPr txBox="1">
            <a:spLocks noChangeArrowheads="1"/>
          </p:cNvSpPr>
          <p:nvPr/>
        </p:nvSpPr>
        <p:spPr bwMode="auto">
          <a:xfrm>
            <a:off x="4783138" y="2025650"/>
            <a:ext cx="1079500" cy="584200"/>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Yes</a:t>
            </a:r>
          </a:p>
        </p:txBody>
      </p:sp>
      <p:sp>
        <p:nvSpPr>
          <p:cNvPr id="5137" name="TextBox 46"/>
          <p:cNvSpPr txBox="1">
            <a:spLocks noChangeArrowheads="1"/>
          </p:cNvSpPr>
          <p:nvPr/>
        </p:nvSpPr>
        <p:spPr bwMode="auto">
          <a:xfrm>
            <a:off x="4783138" y="2860675"/>
            <a:ext cx="1079500" cy="5842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No</a:t>
            </a:r>
          </a:p>
        </p:txBody>
      </p:sp>
      <p:sp>
        <p:nvSpPr>
          <p:cNvPr id="5138" name="TextBox 47"/>
          <p:cNvSpPr txBox="1">
            <a:spLocks noChangeArrowheads="1"/>
          </p:cNvSpPr>
          <p:nvPr/>
        </p:nvSpPr>
        <p:spPr bwMode="auto">
          <a:xfrm>
            <a:off x="6438901" y="2051051"/>
            <a:ext cx="4086225" cy="1077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Solve indices</a:t>
            </a:r>
          </a:p>
          <a:p>
            <a:pPr algn="ctr" eaLnBrk="1" hangingPunct="1"/>
            <a:r>
              <a:rPr lang="en-AU" altLang="en-US" sz="3200"/>
              <a:t>e.g. 2</a:t>
            </a:r>
            <a:r>
              <a:rPr lang="en-AU" altLang="en-US" sz="3200" baseline="30000"/>
              <a:t>3</a:t>
            </a:r>
            <a:r>
              <a:rPr lang="en-AU" altLang="en-US" sz="3200"/>
              <a:t> = 2x2x2 = 8</a:t>
            </a:r>
          </a:p>
        </p:txBody>
      </p:sp>
      <p:cxnSp>
        <p:nvCxnSpPr>
          <p:cNvPr id="49" name="Straight Connector 48"/>
          <p:cNvCxnSpPr/>
          <p:nvPr/>
        </p:nvCxnSpPr>
        <p:spPr>
          <a:xfrm flipV="1">
            <a:off x="5862639" y="2317750"/>
            <a:ext cx="1112837"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140" name="Group 49"/>
          <p:cNvGrpSpPr>
            <a:grpSpLocks/>
          </p:cNvGrpSpPr>
          <p:nvPr/>
        </p:nvGrpSpPr>
        <p:grpSpPr bwMode="auto">
          <a:xfrm>
            <a:off x="5324475" y="3016251"/>
            <a:ext cx="1911350" cy="809625"/>
            <a:chOff x="5186222" y="1049385"/>
            <a:chExt cx="1911115" cy="809309"/>
          </a:xfrm>
        </p:grpSpPr>
        <p:cxnSp>
          <p:nvCxnSpPr>
            <p:cNvPr id="51" name="Straight Arrow Connector 50"/>
            <p:cNvCxnSpPr/>
            <p:nvPr/>
          </p:nvCxnSpPr>
          <p:spPr>
            <a:xfrm>
              <a:off x="7078289" y="1049385"/>
              <a:ext cx="0" cy="382439"/>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7078289" y="1392151"/>
              <a:ext cx="0" cy="449088"/>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a:off x="5760033" y="1667424"/>
              <a:ext cx="0" cy="382540"/>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5400000">
              <a:off x="6906068" y="1649968"/>
              <a:ext cx="0" cy="382540"/>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rot="5400000">
              <a:off x="5377492" y="1657902"/>
              <a:ext cx="0" cy="382541"/>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rot="5400000">
              <a:off x="6523527" y="1649968"/>
              <a:ext cx="0" cy="382541"/>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6141780" y="1658696"/>
              <a:ext cx="0" cy="380953"/>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71" name="Straight Connector 70"/>
          <p:cNvCxnSpPr/>
          <p:nvPr/>
        </p:nvCxnSpPr>
        <p:spPr>
          <a:xfrm flipV="1">
            <a:off x="2495550" y="3825876"/>
            <a:ext cx="2901950" cy="317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5397500" y="3462338"/>
            <a:ext cx="0" cy="3667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2495550" y="3798888"/>
            <a:ext cx="0" cy="366712"/>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44" name="TextBox 73"/>
          <p:cNvSpPr txBox="1">
            <a:spLocks noChangeArrowheads="1"/>
          </p:cNvSpPr>
          <p:nvPr/>
        </p:nvSpPr>
        <p:spPr bwMode="auto">
          <a:xfrm>
            <a:off x="1609725" y="4165601"/>
            <a:ext cx="2541588" cy="830263"/>
          </a:xfrm>
          <a:prstGeom prst="rect">
            <a:avLst/>
          </a:prstGeom>
          <a:solidFill>
            <a:srgbClr val="EF6E4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2400"/>
              <a:t>Multiplication and division</a:t>
            </a:r>
          </a:p>
        </p:txBody>
      </p:sp>
      <p:cxnSp>
        <p:nvCxnSpPr>
          <p:cNvPr id="76" name="Straight Connector 75"/>
          <p:cNvCxnSpPr/>
          <p:nvPr/>
        </p:nvCxnSpPr>
        <p:spPr>
          <a:xfrm flipV="1">
            <a:off x="4162425" y="4689475"/>
            <a:ext cx="774700"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46" name="TextBox 76"/>
          <p:cNvSpPr txBox="1">
            <a:spLocks noChangeArrowheads="1"/>
          </p:cNvSpPr>
          <p:nvPr/>
        </p:nvSpPr>
        <p:spPr bwMode="auto">
          <a:xfrm>
            <a:off x="4937125" y="3981450"/>
            <a:ext cx="1081088" cy="584200"/>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Yes</a:t>
            </a:r>
          </a:p>
        </p:txBody>
      </p:sp>
      <p:sp>
        <p:nvSpPr>
          <p:cNvPr id="5147" name="TextBox 77"/>
          <p:cNvSpPr txBox="1">
            <a:spLocks noChangeArrowheads="1"/>
          </p:cNvSpPr>
          <p:nvPr/>
        </p:nvSpPr>
        <p:spPr bwMode="auto">
          <a:xfrm>
            <a:off x="4937125" y="4816475"/>
            <a:ext cx="1081088" cy="5857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No</a:t>
            </a:r>
          </a:p>
        </p:txBody>
      </p:sp>
      <p:sp>
        <p:nvSpPr>
          <p:cNvPr id="5148" name="TextBox 78"/>
          <p:cNvSpPr txBox="1">
            <a:spLocks noChangeArrowheads="1"/>
          </p:cNvSpPr>
          <p:nvPr/>
        </p:nvSpPr>
        <p:spPr bwMode="auto">
          <a:xfrm>
            <a:off x="6594476" y="4008439"/>
            <a:ext cx="4086225" cy="1076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Solve operations left to right</a:t>
            </a:r>
          </a:p>
        </p:txBody>
      </p:sp>
      <p:cxnSp>
        <p:nvCxnSpPr>
          <p:cNvPr id="80" name="Straight Connector 79"/>
          <p:cNvCxnSpPr/>
          <p:nvPr/>
        </p:nvCxnSpPr>
        <p:spPr>
          <a:xfrm flipV="1">
            <a:off x="6018214" y="4273550"/>
            <a:ext cx="719137"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8494713" y="5267325"/>
            <a:ext cx="0" cy="344488"/>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8483600" y="4953001"/>
            <a:ext cx="0" cy="347663"/>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rot="5400000">
            <a:off x="6020594" y="5420519"/>
            <a:ext cx="0" cy="382588"/>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rot="5400000">
            <a:off x="7166769" y="5403056"/>
            <a:ext cx="0" cy="382588"/>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a:off x="5638007" y="5410995"/>
            <a:ext cx="0" cy="382587"/>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rot="5400000">
            <a:off x="6784182" y="5403057"/>
            <a:ext cx="0" cy="382587"/>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rot="5400000">
            <a:off x="6402388" y="5411788"/>
            <a:ext cx="0" cy="381000"/>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2517775" y="5624514"/>
            <a:ext cx="2901950" cy="317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5419725" y="5400676"/>
            <a:ext cx="0" cy="18256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2517775" y="5643563"/>
            <a:ext cx="0" cy="18415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60" name="TextBox 91"/>
          <p:cNvSpPr txBox="1">
            <a:spLocks noChangeArrowheads="1"/>
          </p:cNvSpPr>
          <p:nvPr/>
        </p:nvSpPr>
        <p:spPr bwMode="auto">
          <a:xfrm>
            <a:off x="1631950" y="5846763"/>
            <a:ext cx="2541588" cy="831850"/>
          </a:xfrm>
          <a:prstGeom prst="rect">
            <a:avLst/>
          </a:prstGeom>
          <a:solidFill>
            <a:srgbClr val="EF6E4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2400"/>
              <a:t>Addition and Subtraction</a:t>
            </a:r>
          </a:p>
        </p:txBody>
      </p:sp>
      <p:cxnSp>
        <p:nvCxnSpPr>
          <p:cNvPr id="101" name="Straight Arrow Connector 100"/>
          <p:cNvCxnSpPr/>
          <p:nvPr/>
        </p:nvCxnSpPr>
        <p:spPr>
          <a:xfrm rot="5400000">
            <a:off x="7549357" y="5403057"/>
            <a:ext cx="0" cy="382587"/>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rot="5400000">
            <a:off x="7857332" y="5391945"/>
            <a:ext cx="0" cy="382587"/>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flipH="1" flipV="1">
            <a:off x="8048625" y="5583238"/>
            <a:ext cx="446088" cy="11112"/>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4173539" y="6332538"/>
            <a:ext cx="776287"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65" name="TextBox 105"/>
          <p:cNvSpPr txBox="1">
            <a:spLocks noChangeArrowheads="1"/>
          </p:cNvSpPr>
          <p:nvPr/>
        </p:nvSpPr>
        <p:spPr bwMode="auto">
          <a:xfrm>
            <a:off x="4930775" y="5688014"/>
            <a:ext cx="1081088" cy="585787"/>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Yes</a:t>
            </a:r>
          </a:p>
        </p:txBody>
      </p:sp>
      <p:sp>
        <p:nvSpPr>
          <p:cNvPr id="5166" name="TextBox 106"/>
          <p:cNvSpPr txBox="1">
            <a:spLocks noChangeArrowheads="1"/>
          </p:cNvSpPr>
          <p:nvPr/>
        </p:nvSpPr>
        <p:spPr bwMode="auto">
          <a:xfrm>
            <a:off x="4930775" y="6273800"/>
            <a:ext cx="1081088" cy="5842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No</a:t>
            </a:r>
          </a:p>
        </p:txBody>
      </p:sp>
      <p:sp>
        <p:nvSpPr>
          <p:cNvPr id="5167" name="TextBox 107"/>
          <p:cNvSpPr txBox="1">
            <a:spLocks noChangeArrowheads="1"/>
          </p:cNvSpPr>
          <p:nvPr/>
        </p:nvSpPr>
        <p:spPr bwMode="auto">
          <a:xfrm>
            <a:off x="6592888" y="5643563"/>
            <a:ext cx="4087812" cy="10779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AU" altLang="en-US" sz="3200"/>
              <a:t>Solve operations left to right</a:t>
            </a:r>
          </a:p>
        </p:txBody>
      </p:sp>
      <p:cxnSp>
        <p:nvCxnSpPr>
          <p:cNvPr id="109" name="Straight Connector 108"/>
          <p:cNvCxnSpPr/>
          <p:nvPr/>
        </p:nvCxnSpPr>
        <p:spPr>
          <a:xfrm flipV="1">
            <a:off x="5994401" y="5980113"/>
            <a:ext cx="906463"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V="1">
            <a:off x="6010275" y="6569075"/>
            <a:ext cx="774700" cy="0"/>
          </a:xfrm>
          <a:prstGeom prst="line">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70" name="TextBox 110"/>
          <p:cNvSpPr txBox="1">
            <a:spLocks noChangeArrowheads="1"/>
          </p:cNvSpPr>
          <p:nvPr/>
        </p:nvSpPr>
        <p:spPr bwMode="auto">
          <a:xfrm>
            <a:off x="6802439" y="6246813"/>
            <a:ext cx="1692275" cy="584200"/>
          </a:xfrm>
          <a:prstGeom prst="rect">
            <a:avLst/>
          </a:prstGeom>
          <a:solidFill>
            <a:srgbClr val="7030A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AU" altLang="en-US" sz="3200"/>
              <a:t>Done </a:t>
            </a:r>
            <a:r>
              <a:rPr lang="en-AU" altLang="en-US" sz="3200">
                <a:sym typeface="Wingdings" panose="05000000000000000000" pitchFamily="2" charset="2"/>
              </a:rPr>
              <a:t></a:t>
            </a:r>
            <a:endParaRPr lang="en-AU" altLang="en-US" sz="3200"/>
          </a:p>
        </p:txBody>
      </p:sp>
      <p:cxnSp>
        <p:nvCxnSpPr>
          <p:cNvPr id="114" name="Straight Arrow Connector 113"/>
          <p:cNvCxnSpPr/>
          <p:nvPr/>
        </p:nvCxnSpPr>
        <p:spPr>
          <a:xfrm flipH="1" flipV="1">
            <a:off x="8904288" y="6480176"/>
            <a:ext cx="374650" cy="15875"/>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flipH="1" flipV="1">
            <a:off x="8458201" y="6469063"/>
            <a:ext cx="447675" cy="11112"/>
          </a:xfrm>
          <a:prstGeom prst="straightConnector1">
            <a:avLst/>
          </a:prstGeom>
          <a:ln w="381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9819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freewebs.com/2muchfood/photos/The-Simpsons/lenny-leonard.png"/>
          <p:cNvPicPr>
            <a:picLocks noChangeAspect="1" noChangeArrowheads="1"/>
          </p:cNvPicPr>
          <p:nvPr/>
        </p:nvPicPr>
        <p:blipFill>
          <a:blip r:embed="rId2" cstate="print"/>
          <a:srcRect/>
          <a:stretch>
            <a:fillRect/>
          </a:stretch>
        </p:blipFill>
        <p:spPr bwMode="auto">
          <a:xfrm>
            <a:off x="1703512" y="2970510"/>
            <a:ext cx="2016224" cy="3887491"/>
          </a:xfrm>
          <a:prstGeom prst="rect">
            <a:avLst/>
          </a:prstGeom>
          <a:noFill/>
        </p:spPr>
      </p:pic>
      <p:pic>
        <p:nvPicPr>
          <p:cNvPr id="3076" name="Picture 4" descr="http://simpsonswiki.net/w/images/c/c6/Carl_Carlson_-_shading.png"/>
          <p:cNvPicPr>
            <a:picLocks noChangeAspect="1" noChangeArrowheads="1"/>
          </p:cNvPicPr>
          <p:nvPr/>
        </p:nvPicPr>
        <p:blipFill>
          <a:blip r:embed="rId3" cstate="print"/>
          <a:srcRect/>
          <a:stretch>
            <a:fillRect/>
          </a:stretch>
        </p:blipFill>
        <p:spPr bwMode="auto">
          <a:xfrm>
            <a:off x="9155832" y="2944152"/>
            <a:ext cx="1512168" cy="3913848"/>
          </a:xfrm>
          <a:prstGeom prst="rect">
            <a:avLst/>
          </a:prstGeom>
          <a:noFill/>
        </p:spPr>
      </p:pic>
      <p:sp>
        <p:nvSpPr>
          <p:cNvPr id="7" name="TextBox 6"/>
          <p:cNvSpPr txBox="1"/>
          <p:nvPr/>
        </p:nvSpPr>
        <p:spPr>
          <a:xfrm>
            <a:off x="2783632" y="980728"/>
            <a:ext cx="6912768" cy="1107996"/>
          </a:xfrm>
          <a:prstGeom prst="rect">
            <a:avLst/>
          </a:prstGeom>
          <a:noFill/>
        </p:spPr>
        <p:txBody>
          <a:bodyPr wrap="square" rtlCol="0">
            <a:spAutoFit/>
          </a:bodyPr>
          <a:lstStyle/>
          <a:p>
            <a:pPr algn="ctr"/>
            <a:r>
              <a:rPr lang="en-GB" sz="6600" dirty="0">
                <a:latin typeface="Comic Sans MS" pitchFamily="66" charset="0"/>
              </a:rPr>
              <a:t>6 + 4 x 3 =</a:t>
            </a:r>
          </a:p>
        </p:txBody>
      </p:sp>
      <p:sp>
        <p:nvSpPr>
          <p:cNvPr id="8" name="Oval Callout 7"/>
          <p:cNvSpPr/>
          <p:nvPr/>
        </p:nvSpPr>
        <p:spPr>
          <a:xfrm>
            <a:off x="3359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30</a:t>
            </a:r>
          </a:p>
        </p:txBody>
      </p:sp>
      <p:sp>
        <p:nvSpPr>
          <p:cNvPr id="9" name="Oval Callout 8"/>
          <p:cNvSpPr/>
          <p:nvPr/>
        </p:nvSpPr>
        <p:spPr>
          <a:xfrm>
            <a:off x="6960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smtClean="0">
                <a:solidFill>
                  <a:schemeClr val="tx1"/>
                </a:solidFill>
                <a:latin typeface="Comic Sans MS" pitchFamily="66" charset="0"/>
              </a:rPr>
              <a:t>18</a:t>
            </a:r>
            <a:endParaRPr lang="en-GB" sz="7200" dirty="0">
              <a:solidFill>
                <a:schemeClr val="tx1"/>
              </a:solidFill>
              <a:latin typeface="Comic Sans MS" pitchFamily="66" charset="0"/>
            </a:endParaRPr>
          </a:p>
        </p:txBody>
      </p:sp>
      <p:pic>
        <p:nvPicPr>
          <p:cNvPr id="3077" name="Picture 5"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8544273" y="3068960"/>
            <a:ext cx="877713" cy="920012"/>
          </a:xfrm>
          <a:prstGeom prst="rect">
            <a:avLst/>
          </a:prstGeom>
          <a:noFill/>
        </p:spPr>
      </p:pic>
      <p:sp>
        <p:nvSpPr>
          <p:cNvPr id="11" name="TextBox 10"/>
          <p:cNvSpPr txBox="1"/>
          <p:nvPr/>
        </p:nvSpPr>
        <p:spPr>
          <a:xfrm>
            <a:off x="4871864" y="2924945"/>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2" name="TextBox 11"/>
          <p:cNvSpPr txBox="1"/>
          <p:nvPr/>
        </p:nvSpPr>
        <p:spPr>
          <a:xfrm>
            <a:off x="2927648" y="4941169"/>
            <a:ext cx="6912768" cy="584775"/>
          </a:xfrm>
          <a:prstGeom prst="rect">
            <a:avLst/>
          </a:prstGeom>
          <a:noFill/>
        </p:spPr>
        <p:txBody>
          <a:bodyPr wrap="square" rtlCol="0">
            <a:spAutoFit/>
          </a:bodyPr>
          <a:lstStyle/>
          <a:p>
            <a:pPr algn="ctr"/>
            <a:r>
              <a:rPr lang="en-GB" sz="3200" dirty="0">
                <a:latin typeface="Comic Sans MS" pitchFamily="66" charset="0"/>
              </a:rPr>
              <a:t>Who do you agree with?</a:t>
            </a:r>
          </a:p>
        </p:txBody>
      </p:sp>
    </p:spTree>
    <p:extLst>
      <p:ext uri="{BB962C8B-B14F-4D97-AF65-F5344CB8AC3E}">
        <p14:creationId xmlns:p14="http://schemas.microsoft.com/office/powerpoint/2010/main" val="59648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freewebs.com/2muchfood/photos/The-Simpsons/lenny-leonard.png"/>
          <p:cNvPicPr>
            <a:picLocks noChangeAspect="1" noChangeArrowheads="1"/>
          </p:cNvPicPr>
          <p:nvPr/>
        </p:nvPicPr>
        <p:blipFill>
          <a:blip r:embed="rId2" cstate="print"/>
          <a:srcRect/>
          <a:stretch>
            <a:fillRect/>
          </a:stretch>
        </p:blipFill>
        <p:spPr bwMode="auto">
          <a:xfrm>
            <a:off x="1703512" y="2970510"/>
            <a:ext cx="2016224" cy="3887491"/>
          </a:xfrm>
          <a:prstGeom prst="rect">
            <a:avLst/>
          </a:prstGeom>
          <a:noFill/>
        </p:spPr>
      </p:pic>
      <p:pic>
        <p:nvPicPr>
          <p:cNvPr id="3076" name="Picture 4" descr="http://simpsonswiki.net/w/images/c/c6/Carl_Carlson_-_shading.png"/>
          <p:cNvPicPr>
            <a:picLocks noChangeAspect="1" noChangeArrowheads="1"/>
          </p:cNvPicPr>
          <p:nvPr/>
        </p:nvPicPr>
        <p:blipFill>
          <a:blip r:embed="rId3" cstate="print"/>
          <a:srcRect/>
          <a:stretch>
            <a:fillRect/>
          </a:stretch>
        </p:blipFill>
        <p:spPr bwMode="auto">
          <a:xfrm>
            <a:off x="9155832" y="2944152"/>
            <a:ext cx="1512168" cy="3913848"/>
          </a:xfrm>
          <a:prstGeom prst="rect">
            <a:avLst/>
          </a:prstGeom>
          <a:noFill/>
        </p:spPr>
      </p:pic>
      <p:sp>
        <p:nvSpPr>
          <p:cNvPr id="7" name="TextBox 6"/>
          <p:cNvSpPr txBox="1"/>
          <p:nvPr/>
        </p:nvSpPr>
        <p:spPr>
          <a:xfrm>
            <a:off x="2783632" y="980728"/>
            <a:ext cx="6912768" cy="1107996"/>
          </a:xfrm>
          <a:prstGeom prst="rect">
            <a:avLst/>
          </a:prstGeom>
          <a:noFill/>
        </p:spPr>
        <p:txBody>
          <a:bodyPr wrap="square" rtlCol="0">
            <a:spAutoFit/>
          </a:bodyPr>
          <a:lstStyle/>
          <a:p>
            <a:pPr algn="ctr"/>
            <a:r>
              <a:rPr lang="en-GB" sz="6600" dirty="0">
                <a:latin typeface="Comic Sans MS" pitchFamily="66" charset="0"/>
              </a:rPr>
              <a:t>1 + 4 x 3</a:t>
            </a:r>
            <a:r>
              <a:rPr lang="en-GB" sz="6600" baseline="30000" dirty="0">
                <a:latin typeface="Comic Sans MS" pitchFamily="66" charset="0"/>
              </a:rPr>
              <a:t>2</a:t>
            </a:r>
            <a:r>
              <a:rPr lang="en-GB" sz="6600" dirty="0">
                <a:latin typeface="Comic Sans MS" pitchFamily="66" charset="0"/>
              </a:rPr>
              <a:t> =</a:t>
            </a:r>
          </a:p>
        </p:txBody>
      </p:sp>
      <p:sp>
        <p:nvSpPr>
          <p:cNvPr id="8" name="Oval Callout 7"/>
          <p:cNvSpPr/>
          <p:nvPr/>
        </p:nvSpPr>
        <p:spPr>
          <a:xfrm>
            <a:off x="3359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dirty="0" smtClean="0">
                <a:solidFill>
                  <a:schemeClr val="tx1"/>
                </a:solidFill>
                <a:latin typeface="Comic Sans MS" pitchFamily="66" charset="0"/>
              </a:rPr>
              <a:t>45</a:t>
            </a:r>
            <a:endParaRPr lang="en-GB" sz="5400" dirty="0">
              <a:solidFill>
                <a:schemeClr val="tx1"/>
              </a:solidFill>
              <a:latin typeface="Comic Sans MS" pitchFamily="66" charset="0"/>
            </a:endParaRPr>
          </a:p>
        </p:txBody>
      </p:sp>
      <p:sp>
        <p:nvSpPr>
          <p:cNvPr id="9" name="Oval Callout 8"/>
          <p:cNvSpPr/>
          <p:nvPr/>
        </p:nvSpPr>
        <p:spPr>
          <a:xfrm>
            <a:off x="6960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smtClean="0">
                <a:solidFill>
                  <a:schemeClr val="tx1"/>
                </a:solidFill>
                <a:latin typeface="Comic Sans MS" pitchFamily="66" charset="0"/>
              </a:rPr>
              <a:t>28</a:t>
            </a:r>
            <a:endParaRPr lang="en-GB" sz="7200" dirty="0">
              <a:solidFill>
                <a:schemeClr val="tx1"/>
              </a:solidFill>
              <a:latin typeface="Comic Sans MS" pitchFamily="66" charset="0"/>
            </a:endParaRPr>
          </a:p>
        </p:txBody>
      </p:sp>
      <p:pic>
        <p:nvPicPr>
          <p:cNvPr id="3077" name="Picture 5"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8544273" y="3068960"/>
            <a:ext cx="877713" cy="920012"/>
          </a:xfrm>
          <a:prstGeom prst="rect">
            <a:avLst/>
          </a:prstGeom>
          <a:noFill/>
        </p:spPr>
      </p:pic>
      <p:sp>
        <p:nvSpPr>
          <p:cNvPr id="11" name="TextBox 10"/>
          <p:cNvSpPr txBox="1"/>
          <p:nvPr/>
        </p:nvSpPr>
        <p:spPr>
          <a:xfrm>
            <a:off x="4871864" y="2924945"/>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2" name="TextBox 11"/>
          <p:cNvSpPr txBox="1"/>
          <p:nvPr/>
        </p:nvSpPr>
        <p:spPr>
          <a:xfrm>
            <a:off x="2927648" y="4941169"/>
            <a:ext cx="6912768" cy="584775"/>
          </a:xfrm>
          <a:prstGeom prst="rect">
            <a:avLst/>
          </a:prstGeom>
          <a:noFill/>
        </p:spPr>
        <p:txBody>
          <a:bodyPr wrap="square" rtlCol="0">
            <a:spAutoFit/>
          </a:bodyPr>
          <a:lstStyle/>
          <a:p>
            <a:pPr algn="ctr"/>
            <a:r>
              <a:rPr lang="en-GB" sz="3200" dirty="0">
                <a:latin typeface="Comic Sans MS" pitchFamily="66" charset="0"/>
              </a:rPr>
              <a:t>Who do you agree with?</a:t>
            </a:r>
          </a:p>
        </p:txBody>
      </p:sp>
    </p:spTree>
    <p:extLst>
      <p:ext uri="{BB962C8B-B14F-4D97-AF65-F5344CB8AC3E}">
        <p14:creationId xmlns:p14="http://schemas.microsoft.com/office/powerpoint/2010/main" val="362600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freewebs.com/2muchfood/photos/The-Simpsons/lenny-leonard.png"/>
          <p:cNvPicPr>
            <a:picLocks noChangeAspect="1" noChangeArrowheads="1"/>
          </p:cNvPicPr>
          <p:nvPr/>
        </p:nvPicPr>
        <p:blipFill>
          <a:blip r:embed="rId2" cstate="print"/>
          <a:srcRect/>
          <a:stretch>
            <a:fillRect/>
          </a:stretch>
        </p:blipFill>
        <p:spPr bwMode="auto">
          <a:xfrm>
            <a:off x="1703512" y="2970510"/>
            <a:ext cx="2016224" cy="3887491"/>
          </a:xfrm>
          <a:prstGeom prst="rect">
            <a:avLst/>
          </a:prstGeom>
          <a:noFill/>
        </p:spPr>
      </p:pic>
      <p:pic>
        <p:nvPicPr>
          <p:cNvPr id="3076" name="Picture 4" descr="http://simpsonswiki.net/w/images/c/c6/Carl_Carlson_-_shading.png"/>
          <p:cNvPicPr>
            <a:picLocks noChangeAspect="1" noChangeArrowheads="1"/>
          </p:cNvPicPr>
          <p:nvPr/>
        </p:nvPicPr>
        <p:blipFill>
          <a:blip r:embed="rId3" cstate="print"/>
          <a:srcRect/>
          <a:stretch>
            <a:fillRect/>
          </a:stretch>
        </p:blipFill>
        <p:spPr bwMode="auto">
          <a:xfrm>
            <a:off x="9155832" y="2944152"/>
            <a:ext cx="1512168" cy="3913848"/>
          </a:xfrm>
          <a:prstGeom prst="rect">
            <a:avLst/>
          </a:prstGeom>
          <a:noFill/>
        </p:spPr>
      </p:pic>
      <p:sp>
        <p:nvSpPr>
          <p:cNvPr id="7" name="TextBox 6"/>
          <p:cNvSpPr txBox="1"/>
          <p:nvPr/>
        </p:nvSpPr>
        <p:spPr>
          <a:xfrm>
            <a:off x="2783632" y="980728"/>
            <a:ext cx="6912768" cy="1107996"/>
          </a:xfrm>
          <a:prstGeom prst="rect">
            <a:avLst/>
          </a:prstGeom>
          <a:noFill/>
        </p:spPr>
        <p:txBody>
          <a:bodyPr wrap="square" rtlCol="0">
            <a:spAutoFit/>
          </a:bodyPr>
          <a:lstStyle/>
          <a:p>
            <a:pPr algn="ctr"/>
            <a:r>
              <a:rPr lang="en-GB" sz="6600" dirty="0">
                <a:latin typeface="Comic Sans MS" pitchFamily="66" charset="0"/>
              </a:rPr>
              <a:t>2</a:t>
            </a:r>
            <a:r>
              <a:rPr lang="en-GB" sz="6600" dirty="0" smtClean="0">
                <a:latin typeface="Comic Sans MS" pitchFamily="66" charset="0"/>
              </a:rPr>
              <a:t>0 </a:t>
            </a:r>
            <a:r>
              <a:rPr lang="en-GB" sz="6600" dirty="0">
                <a:latin typeface="Comic Sans MS" pitchFamily="66" charset="0"/>
              </a:rPr>
              <a:t>– </a:t>
            </a:r>
            <a:r>
              <a:rPr lang="en-GB" sz="6600" dirty="0">
                <a:latin typeface="Comic Sans MS" pitchFamily="66" charset="0"/>
              </a:rPr>
              <a:t>8</a:t>
            </a:r>
            <a:r>
              <a:rPr lang="en-GB" sz="6600" dirty="0" smtClean="0">
                <a:latin typeface="Comic Sans MS" pitchFamily="66" charset="0"/>
              </a:rPr>
              <a:t> </a:t>
            </a:r>
            <a:r>
              <a:rPr lang="en-GB" sz="6600" dirty="0">
                <a:latin typeface="Comic Sans MS" pitchFamily="66" charset="0"/>
              </a:rPr>
              <a:t>÷ </a:t>
            </a:r>
            <a:r>
              <a:rPr lang="en-GB" sz="6600" dirty="0" smtClean="0">
                <a:latin typeface="Comic Sans MS" pitchFamily="66" charset="0"/>
              </a:rPr>
              <a:t>2</a:t>
            </a:r>
            <a:r>
              <a:rPr lang="en-GB" sz="6600" baseline="30000" dirty="0" smtClean="0">
                <a:latin typeface="Comic Sans MS" pitchFamily="66" charset="0"/>
              </a:rPr>
              <a:t>2</a:t>
            </a:r>
            <a:r>
              <a:rPr lang="en-GB" sz="6600" dirty="0" smtClean="0">
                <a:latin typeface="Comic Sans MS" pitchFamily="66" charset="0"/>
              </a:rPr>
              <a:t> </a:t>
            </a:r>
            <a:r>
              <a:rPr lang="en-GB" sz="6600" dirty="0">
                <a:latin typeface="Comic Sans MS" pitchFamily="66" charset="0"/>
              </a:rPr>
              <a:t>=</a:t>
            </a:r>
          </a:p>
        </p:txBody>
      </p:sp>
      <p:sp>
        <p:nvSpPr>
          <p:cNvPr id="8" name="Oval Callout 7"/>
          <p:cNvSpPr/>
          <p:nvPr/>
        </p:nvSpPr>
        <p:spPr>
          <a:xfrm>
            <a:off x="3359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smtClean="0">
                <a:solidFill>
                  <a:schemeClr val="tx1"/>
                </a:solidFill>
                <a:latin typeface="Comic Sans MS" pitchFamily="66" charset="0"/>
              </a:rPr>
              <a:t>18</a:t>
            </a:r>
            <a:endParaRPr lang="en-GB" sz="7200" dirty="0">
              <a:solidFill>
                <a:schemeClr val="tx1"/>
              </a:solidFill>
              <a:latin typeface="Comic Sans MS" pitchFamily="66" charset="0"/>
            </a:endParaRPr>
          </a:p>
        </p:txBody>
      </p:sp>
      <p:sp>
        <p:nvSpPr>
          <p:cNvPr id="9" name="Oval Callout 8"/>
          <p:cNvSpPr/>
          <p:nvPr/>
        </p:nvSpPr>
        <p:spPr>
          <a:xfrm>
            <a:off x="6960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a:solidFill>
                  <a:schemeClr val="tx1"/>
                </a:solidFill>
                <a:latin typeface="Comic Sans MS" pitchFamily="66" charset="0"/>
              </a:rPr>
              <a:t>3</a:t>
            </a:r>
            <a:endParaRPr lang="en-GB" sz="7200" dirty="0">
              <a:solidFill>
                <a:schemeClr val="tx1"/>
              </a:solidFill>
              <a:latin typeface="Comic Sans MS" pitchFamily="66" charset="0"/>
            </a:endParaRPr>
          </a:p>
        </p:txBody>
      </p:sp>
      <p:pic>
        <p:nvPicPr>
          <p:cNvPr id="3077" name="Picture 5"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4655841" y="3140968"/>
            <a:ext cx="877713" cy="920012"/>
          </a:xfrm>
          <a:prstGeom prst="rect">
            <a:avLst/>
          </a:prstGeom>
          <a:noFill/>
        </p:spPr>
      </p:pic>
      <p:sp>
        <p:nvSpPr>
          <p:cNvPr id="11" name="TextBox 10"/>
          <p:cNvSpPr txBox="1"/>
          <p:nvPr/>
        </p:nvSpPr>
        <p:spPr>
          <a:xfrm>
            <a:off x="8184232" y="2924945"/>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2" name="TextBox 11"/>
          <p:cNvSpPr txBox="1"/>
          <p:nvPr/>
        </p:nvSpPr>
        <p:spPr>
          <a:xfrm>
            <a:off x="2927648" y="4941169"/>
            <a:ext cx="6912768" cy="584775"/>
          </a:xfrm>
          <a:prstGeom prst="rect">
            <a:avLst/>
          </a:prstGeom>
          <a:noFill/>
        </p:spPr>
        <p:txBody>
          <a:bodyPr wrap="square" rtlCol="0">
            <a:spAutoFit/>
          </a:bodyPr>
          <a:lstStyle/>
          <a:p>
            <a:pPr algn="ctr"/>
            <a:r>
              <a:rPr lang="en-GB" sz="3200" dirty="0">
                <a:latin typeface="Comic Sans MS" pitchFamily="66" charset="0"/>
              </a:rPr>
              <a:t>Who do you agree with?</a:t>
            </a:r>
          </a:p>
        </p:txBody>
      </p:sp>
    </p:spTree>
    <p:extLst>
      <p:ext uri="{BB962C8B-B14F-4D97-AF65-F5344CB8AC3E}">
        <p14:creationId xmlns:p14="http://schemas.microsoft.com/office/powerpoint/2010/main" val="407355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freewebs.com/2muchfood/photos/The-Simpsons/lenny-leonard.png"/>
          <p:cNvPicPr>
            <a:picLocks noChangeAspect="1" noChangeArrowheads="1"/>
          </p:cNvPicPr>
          <p:nvPr/>
        </p:nvPicPr>
        <p:blipFill>
          <a:blip r:embed="rId2" cstate="print"/>
          <a:srcRect/>
          <a:stretch>
            <a:fillRect/>
          </a:stretch>
        </p:blipFill>
        <p:spPr bwMode="auto">
          <a:xfrm>
            <a:off x="1703512" y="2970510"/>
            <a:ext cx="2016224" cy="3887491"/>
          </a:xfrm>
          <a:prstGeom prst="rect">
            <a:avLst/>
          </a:prstGeom>
          <a:noFill/>
        </p:spPr>
      </p:pic>
      <p:pic>
        <p:nvPicPr>
          <p:cNvPr id="3076" name="Picture 4" descr="http://simpsonswiki.net/w/images/c/c6/Carl_Carlson_-_shading.png"/>
          <p:cNvPicPr>
            <a:picLocks noChangeAspect="1" noChangeArrowheads="1"/>
          </p:cNvPicPr>
          <p:nvPr/>
        </p:nvPicPr>
        <p:blipFill>
          <a:blip r:embed="rId3" cstate="print"/>
          <a:srcRect/>
          <a:stretch>
            <a:fillRect/>
          </a:stretch>
        </p:blipFill>
        <p:spPr bwMode="auto">
          <a:xfrm>
            <a:off x="9155832" y="2944152"/>
            <a:ext cx="1512168" cy="3913848"/>
          </a:xfrm>
          <a:prstGeom prst="rect">
            <a:avLst/>
          </a:prstGeom>
          <a:noFill/>
        </p:spPr>
      </p:pic>
      <p:sp>
        <p:nvSpPr>
          <p:cNvPr id="7" name="TextBox 6"/>
          <p:cNvSpPr txBox="1"/>
          <p:nvPr/>
        </p:nvSpPr>
        <p:spPr>
          <a:xfrm>
            <a:off x="2783632" y="980728"/>
            <a:ext cx="6912768" cy="1107996"/>
          </a:xfrm>
          <a:prstGeom prst="rect">
            <a:avLst/>
          </a:prstGeom>
          <a:noFill/>
        </p:spPr>
        <p:txBody>
          <a:bodyPr wrap="square" rtlCol="0">
            <a:spAutoFit/>
          </a:bodyPr>
          <a:lstStyle/>
          <a:p>
            <a:pPr algn="ctr"/>
            <a:r>
              <a:rPr lang="en-GB" sz="6600" dirty="0" smtClean="0">
                <a:latin typeface="Comic Sans MS" pitchFamily="66" charset="0"/>
              </a:rPr>
              <a:t>2</a:t>
            </a:r>
            <a:r>
              <a:rPr lang="en-GB" sz="6600" dirty="0">
                <a:latin typeface="Comic Sans MS" pitchFamily="66" charset="0"/>
              </a:rPr>
              <a:t>0</a:t>
            </a:r>
            <a:r>
              <a:rPr lang="en-GB" sz="6600" dirty="0" smtClean="0">
                <a:latin typeface="Comic Sans MS" pitchFamily="66" charset="0"/>
              </a:rPr>
              <a:t> </a:t>
            </a:r>
            <a:r>
              <a:rPr lang="en-GB" sz="6600" dirty="0">
                <a:latin typeface="Comic Sans MS" pitchFamily="66" charset="0"/>
              </a:rPr>
              <a:t>+</a:t>
            </a:r>
            <a:r>
              <a:rPr lang="en-GB" sz="6600" dirty="0" smtClean="0">
                <a:latin typeface="Comic Sans MS" pitchFamily="66" charset="0"/>
              </a:rPr>
              <a:t> </a:t>
            </a:r>
            <a:r>
              <a:rPr lang="en-GB" sz="6600" dirty="0" smtClean="0">
                <a:latin typeface="Comic Sans MS" pitchFamily="66" charset="0"/>
              </a:rPr>
              <a:t>8</a:t>
            </a:r>
            <a:r>
              <a:rPr lang="en-GB" sz="6600" baseline="30000" dirty="0" smtClean="0">
                <a:latin typeface="Comic Sans MS" pitchFamily="66" charset="0"/>
              </a:rPr>
              <a:t>2</a:t>
            </a:r>
            <a:r>
              <a:rPr lang="en-GB" sz="6600" dirty="0" smtClean="0">
                <a:latin typeface="Comic Sans MS" pitchFamily="66" charset="0"/>
              </a:rPr>
              <a:t> </a:t>
            </a:r>
            <a:r>
              <a:rPr lang="en-GB" sz="6600" dirty="0">
                <a:latin typeface="Comic Sans MS" pitchFamily="66" charset="0"/>
              </a:rPr>
              <a:t>÷ </a:t>
            </a:r>
            <a:r>
              <a:rPr lang="en-GB" sz="6600" dirty="0" smtClean="0">
                <a:latin typeface="Comic Sans MS" pitchFamily="66" charset="0"/>
              </a:rPr>
              <a:t>2 </a:t>
            </a:r>
            <a:r>
              <a:rPr lang="en-GB" sz="6600" dirty="0">
                <a:latin typeface="Comic Sans MS" pitchFamily="66" charset="0"/>
              </a:rPr>
              <a:t>=</a:t>
            </a:r>
          </a:p>
        </p:txBody>
      </p:sp>
      <p:sp>
        <p:nvSpPr>
          <p:cNvPr id="8" name="Oval Callout 7"/>
          <p:cNvSpPr/>
          <p:nvPr/>
        </p:nvSpPr>
        <p:spPr>
          <a:xfrm>
            <a:off x="3359696" y="2708920"/>
            <a:ext cx="2016224" cy="1872208"/>
          </a:xfrm>
          <a:prstGeom prst="wedgeEllipseCallout">
            <a:avLst>
              <a:gd name="adj1" fmla="val -59256"/>
              <a:gd name="adj2" fmla="val 17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smtClean="0">
                <a:solidFill>
                  <a:schemeClr val="tx1"/>
                </a:solidFill>
                <a:latin typeface="Comic Sans MS" pitchFamily="66" charset="0"/>
              </a:rPr>
              <a:t>42</a:t>
            </a:r>
            <a:endParaRPr lang="en-GB" sz="7200" dirty="0">
              <a:solidFill>
                <a:schemeClr val="tx1"/>
              </a:solidFill>
              <a:latin typeface="Comic Sans MS" pitchFamily="66" charset="0"/>
            </a:endParaRPr>
          </a:p>
        </p:txBody>
      </p:sp>
      <p:sp>
        <p:nvSpPr>
          <p:cNvPr id="9" name="Oval Callout 8"/>
          <p:cNvSpPr/>
          <p:nvPr/>
        </p:nvSpPr>
        <p:spPr>
          <a:xfrm>
            <a:off x="6960096" y="2636912"/>
            <a:ext cx="2016224" cy="1872208"/>
          </a:xfrm>
          <a:prstGeom prst="wedgeEllipseCallout">
            <a:avLst>
              <a:gd name="adj1" fmla="val 67982"/>
              <a:gd name="adj2" fmla="val 1230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7200" dirty="0" smtClean="0">
                <a:solidFill>
                  <a:schemeClr val="tx1"/>
                </a:solidFill>
                <a:latin typeface="Comic Sans MS" pitchFamily="66" charset="0"/>
              </a:rPr>
              <a:t>52</a:t>
            </a:r>
            <a:endParaRPr lang="en-GB" sz="7200" dirty="0">
              <a:solidFill>
                <a:schemeClr val="tx1"/>
              </a:solidFill>
              <a:latin typeface="Comic Sans MS" pitchFamily="66" charset="0"/>
            </a:endParaRPr>
          </a:p>
        </p:txBody>
      </p:sp>
      <p:pic>
        <p:nvPicPr>
          <p:cNvPr id="3077" name="Picture 5" descr="C:\Users\Ben\AppData\Local\Microsoft\Windows\Temporary Internet Files\Content.IE5\TW17W6A2\MC900434713[1].wmf"/>
          <p:cNvPicPr>
            <a:picLocks noChangeAspect="1" noChangeArrowheads="1"/>
          </p:cNvPicPr>
          <p:nvPr/>
        </p:nvPicPr>
        <p:blipFill>
          <a:blip r:embed="rId4" cstate="print"/>
          <a:srcRect/>
          <a:stretch>
            <a:fillRect/>
          </a:stretch>
        </p:blipFill>
        <p:spPr bwMode="auto">
          <a:xfrm>
            <a:off x="8586801" y="2993876"/>
            <a:ext cx="877713" cy="920012"/>
          </a:xfrm>
          <a:prstGeom prst="rect">
            <a:avLst/>
          </a:prstGeom>
          <a:noFill/>
        </p:spPr>
      </p:pic>
      <p:sp>
        <p:nvSpPr>
          <p:cNvPr id="11" name="TextBox 10"/>
          <p:cNvSpPr txBox="1"/>
          <p:nvPr/>
        </p:nvSpPr>
        <p:spPr>
          <a:xfrm>
            <a:off x="4871864" y="2983304"/>
            <a:ext cx="864096" cy="1323439"/>
          </a:xfrm>
          <a:prstGeom prst="rect">
            <a:avLst/>
          </a:prstGeom>
          <a:noFill/>
        </p:spPr>
        <p:txBody>
          <a:bodyPr wrap="square" rtlCol="0">
            <a:spAutoFit/>
          </a:bodyPr>
          <a:lstStyle/>
          <a:p>
            <a:pPr algn="ctr"/>
            <a:r>
              <a:rPr lang="en-GB" sz="8000" b="1" dirty="0">
                <a:ln w="19050">
                  <a:solidFill>
                    <a:sysClr val="windowText" lastClr="000000"/>
                  </a:solidFill>
                </a:ln>
                <a:solidFill>
                  <a:srgbClr val="FF0000"/>
                </a:solidFill>
                <a:latin typeface="Comic Sans MS" pitchFamily="66" charset="0"/>
              </a:rPr>
              <a:t>x</a:t>
            </a:r>
          </a:p>
        </p:txBody>
      </p:sp>
      <p:sp>
        <p:nvSpPr>
          <p:cNvPr id="12" name="TextBox 11"/>
          <p:cNvSpPr txBox="1"/>
          <p:nvPr/>
        </p:nvSpPr>
        <p:spPr>
          <a:xfrm>
            <a:off x="2927648" y="4941169"/>
            <a:ext cx="6912768" cy="584775"/>
          </a:xfrm>
          <a:prstGeom prst="rect">
            <a:avLst/>
          </a:prstGeom>
          <a:noFill/>
        </p:spPr>
        <p:txBody>
          <a:bodyPr wrap="square" rtlCol="0">
            <a:spAutoFit/>
          </a:bodyPr>
          <a:lstStyle/>
          <a:p>
            <a:pPr algn="ctr"/>
            <a:r>
              <a:rPr lang="en-GB" sz="3200" dirty="0">
                <a:latin typeface="Comic Sans MS" pitchFamily="66" charset="0"/>
              </a:rPr>
              <a:t>Who do you agree with?</a:t>
            </a:r>
          </a:p>
        </p:txBody>
      </p:sp>
    </p:spTree>
    <p:extLst>
      <p:ext uri="{BB962C8B-B14F-4D97-AF65-F5344CB8AC3E}">
        <p14:creationId xmlns:p14="http://schemas.microsoft.com/office/powerpoint/2010/main" val="250269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http://upload.wikimedia.org/wikipedia/en/thumb/1/14/Ralph_Wiggum.png/220px-Ralph_Wiggum.png"/>
          <p:cNvPicPr>
            <a:picLocks noChangeAspect="1" noChangeArrowheads="1"/>
          </p:cNvPicPr>
          <p:nvPr/>
        </p:nvPicPr>
        <p:blipFill>
          <a:blip r:embed="rId2" cstate="print"/>
          <a:srcRect/>
          <a:stretch>
            <a:fillRect/>
          </a:stretch>
        </p:blipFill>
        <p:spPr bwMode="auto">
          <a:xfrm>
            <a:off x="1703512" y="3068961"/>
            <a:ext cx="2095500" cy="3429001"/>
          </a:xfrm>
          <a:prstGeom prst="rect">
            <a:avLst/>
          </a:prstGeom>
          <a:noFill/>
        </p:spPr>
      </p:pic>
      <p:sp>
        <p:nvSpPr>
          <p:cNvPr id="5" name="TextBox 4"/>
          <p:cNvSpPr txBox="1"/>
          <p:nvPr/>
        </p:nvSpPr>
        <p:spPr>
          <a:xfrm>
            <a:off x="2855639" y="1556792"/>
            <a:ext cx="8260851" cy="1107996"/>
          </a:xfrm>
          <a:prstGeom prst="rect">
            <a:avLst/>
          </a:prstGeom>
          <a:noFill/>
        </p:spPr>
        <p:txBody>
          <a:bodyPr wrap="square" rtlCol="0">
            <a:spAutoFit/>
          </a:bodyPr>
          <a:lstStyle/>
          <a:p>
            <a:pPr algn="ctr"/>
            <a:r>
              <a:rPr lang="en-GB" sz="6600" dirty="0">
                <a:latin typeface="Comic Sans MS" pitchFamily="66" charset="0"/>
              </a:rPr>
              <a:t>3 + </a:t>
            </a:r>
            <a:r>
              <a:rPr lang="en-GB" sz="6600" dirty="0">
                <a:latin typeface="Comic Sans MS" pitchFamily="66" charset="0"/>
              </a:rPr>
              <a:t>5</a:t>
            </a:r>
            <a:r>
              <a:rPr lang="en-GB" sz="6600" baseline="30000" dirty="0" smtClean="0">
                <a:latin typeface="Comic Sans MS" pitchFamily="66" charset="0"/>
              </a:rPr>
              <a:t>2</a:t>
            </a:r>
            <a:r>
              <a:rPr lang="en-GB" sz="6600" dirty="0" smtClean="0">
                <a:latin typeface="Comic Sans MS" pitchFamily="66" charset="0"/>
              </a:rPr>
              <a:t> </a:t>
            </a:r>
            <a:r>
              <a:rPr lang="en-GB" sz="6600" dirty="0">
                <a:latin typeface="Comic Sans MS" pitchFamily="66" charset="0"/>
              </a:rPr>
              <a:t>x 3 + 1  =  </a:t>
            </a:r>
            <a:r>
              <a:rPr lang="en-GB" sz="6600" dirty="0" smtClean="0">
                <a:latin typeface="Comic Sans MS" pitchFamily="66" charset="0"/>
              </a:rPr>
              <a:t>103</a:t>
            </a:r>
            <a:endParaRPr lang="en-GB" sz="6600" dirty="0">
              <a:latin typeface="Comic Sans MS" pitchFamily="66" charset="0"/>
            </a:endParaRPr>
          </a:p>
        </p:txBody>
      </p:sp>
      <p:sp>
        <p:nvSpPr>
          <p:cNvPr id="6" name="TextBox 5"/>
          <p:cNvSpPr txBox="1"/>
          <p:nvPr/>
        </p:nvSpPr>
        <p:spPr>
          <a:xfrm>
            <a:off x="3431704" y="2924945"/>
            <a:ext cx="6912768" cy="830997"/>
          </a:xfrm>
          <a:prstGeom prst="rect">
            <a:avLst/>
          </a:prstGeom>
          <a:noFill/>
        </p:spPr>
        <p:txBody>
          <a:bodyPr wrap="square" rtlCol="0">
            <a:spAutoFit/>
          </a:bodyPr>
          <a:lstStyle/>
          <a:p>
            <a:pPr algn="ctr"/>
            <a:r>
              <a:rPr lang="en-GB" sz="4800" dirty="0">
                <a:latin typeface="Comic Sans MS" pitchFamily="66" charset="0"/>
              </a:rPr>
              <a:t>Ralph’s sum is wrong</a:t>
            </a:r>
          </a:p>
        </p:txBody>
      </p:sp>
      <p:sp>
        <p:nvSpPr>
          <p:cNvPr id="7" name="TextBox 6"/>
          <p:cNvSpPr txBox="1"/>
          <p:nvPr/>
        </p:nvSpPr>
        <p:spPr>
          <a:xfrm>
            <a:off x="3503712" y="3789041"/>
            <a:ext cx="6912768" cy="830997"/>
          </a:xfrm>
          <a:prstGeom prst="rect">
            <a:avLst/>
          </a:prstGeom>
          <a:noFill/>
        </p:spPr>
        <p:txBody>
          <a:bodyPr wrap="square" rtlCol="0">
            <a:spAutoFit/>
          </a:bodyPr>
          <a:lstStyle/>
          <a:p>
            <a:pPr algn="ctr"/>
            <a:r>
              <a:rPr lang="en-GB" sz="2400" dirty="0">
                <a:latin typeface="Comic Sans MS" pitchFamily="66" charset="0"/>
              </a:rPr>
              <a:t>We can make it right be adding a pair of brackets. Where do they need to go?</a:t>
            </a:r>
          </a:p>
        </p:txBody>
      </p:sp>
      <p:sp>
        <p:nvSpPr>
          <p:cNvPr id="8" name="TextBox 7"/>
          <p:cNvSpPr txBox="1"/>
          <p:nvPr/>
        </p:nvSpPr>
        <p:spPr>
          <a:xfrm>
            <a:off x="3359696" y="1628801"/>
            <a:ext cx="6912768" cy="830997"/>
          </a:xfrm>
          <a:prstGeom prst="rect">
            <a:avLst/>
          </a:prstGeom>
          <a:noFill/>
        </p:spPr>
        <p:txBody>
          <a:bodyPr wrap="square" rtlCol="0">
            <a:spAutoFit/>
          </a:bodyPr>
          <a:lstStyle/>
          <a:p>
            <a:pPr algn="ctr"/>
            <a:r>
              <a:rPr lang="en-GB" sz="4800" dirty="0" smtClean="0">
                <a:latin typeface="Comic Sans MS" pitchFamily="66" charset="0"/>
              </a:rPr>
              <a:t>          </a:t>
            </a:r>
            <a:endParaRPr lang="en-GB" sz="4800" dirty="0">
              <a:latin typeface="Comic Sans MS" pitchFamily="66" charset="0"/>
            </a:endParaRPr>
          </a:p>
        </p:txBody>
      </p:sp>
    </p:spTree>
    <p:extLst>
      <p:ext uri="{BB962C8B-B14F-4D97-AF65-F5344CB8AC3E}">
        <p14:creationId xmlns:p14="http://schemas.microsoft.com/office/powerpoint/2010/main" val="402303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D2E0-4F7A-4BE7-86E4-33443F744C5A}"/>
              </a:ext>
            </a:extLst>
          </p:cNvPr>
          <p:cNvSpPr>
            <a:spLocks noGrp="1"/>
          </p:cNvSpPr>
          <p:nvPr>
            <p:ph type="title"/>
          </p:nvPr>
        </p:nvSpPr>
        <p:spPr>
          <a:xfrm>
            <a:off x="838200" y="365125"/>
            <a:ext cx="10515600" cy="518453"/>
          </a:xfrm>
        </p:spPr>
        <p:txBody>
          <a:bodyPr>
            <a:normAutofit fontScale="90000"/>
          </a:bodyPr>
          <a:lstStyle/>
          <a:p>
            <a:r>
              <a:rPr lang="en-AU" dirty="0"/>
              <a:t>Create a problem time.</a:t>
            </a:r>
          </a:p>
        </p:txBody>
      </p:sp>
      <p:sp>
        <p:nvSpPr>
          <p:cNvPr id="3" name="Content Placeholder 2">
            <a:extLst>
              <a:ext uri="{FF2B5EF4-FFF2-40B4-BE49-F238E27FC236}">
                <a16:creationId xmlns:a16="http://schemas.microsoft.com/office/drawing/2014/main" id="{730FED75-DAAC-407C-902A-3F481B6CBA97}"/>
              </a:ext>
            </a:extLst>
          </p:cNvPr>
          <p:cNvSpPr>
            <a:spLocks noGrp="1"/>
          </p:cNvSpPr>
          <p:nvPr>
            <p:ph idx="1"/>
          </p:nvPr>
        </p:nvSpPr>
        <p:spPr>
          <a:xfrm>
            <a:off x="388705" y="1044790"/>
            <a:ext cx="11414589" cy="4351338"/>
          </a:xfrm>
        </p:spPr>
        <p:txBody>
          <a:bodyPr>
            <a:normAutofit fontScale="92500" lnSpcReduction="20000"/>
          </a:bodyPr>
          <a:lstStyle/>
          <a:p>
            <a:pPr marL="0" indent="0">
              <a:buNone/>
            </a:pPr>
            <a:r>
              <a:rPr lang="en-AU" sz="2400" dirty="0"/>
              <a:t>Write </a:t>
            </a:r>
            <a:r>
              <a:rPr lang="en-AU" sz="2400" dirty="0" smtClean="0"/>
              <a:t>your </a:t>
            </a:r>
            <a:r>
              <a:rPr lang="en-AU" sz="2400" dirty="0"/>
              <a:t>name on a piece of paper.</a:t>
            </a:r>
          </a:p>
          <a:p>
            <a:pPr marL="0" indent="0">
              <a:buNone/>
            </a:pPr>
            <a:r>
              <a:rPr lang="en-AU" sz="2400" dirty="0"/>
              <a:t>	1. Create a BIMDAS Problem </a:t>
            </a:r>
            <a:r>
              <a:rPr lang="en-AU" sz="2400" dirty="0" smtClean="0"/>
              <a:t>using </a:t>
            </a:r>
            <a:r>
              <a:rPr lang="en-AU" sz="2400" dirty="0"/>
              <a:t>1 or  2 sets of </a:t>
            </a:r>
            <a:r>
              <a:rPr lang="en-AU" sz="2400" dirty="0" smtClean="0"/>
              <a:t>brackets and indices</a:t>
            </a:r>
            <a:endParaRPr lang="en-AU" sz="2400" dirty="0"/>
          </a:p>
          <a:p>
            <a:pPr marL="0" indent="0">
              <a:buNone/>
            </a:pPr>
            <a:endParaRPr lang="en-AU" sz="2400" dirty="0"/>
          </a:p>
          <a:p>
            <a:pPr marL="0" indent="0">
              <a:buNone/>
            </a:pPr>
            <a:r>
              <a:rPr lang="en-AU" sz="2400" dirty="0"/>
              <a:t>	2. Pass the note to the person next to you. </a:t>
            </a:r>
          </a:p>
          <a:p>
            <a:pPr marL="0" indent="0">
              <a:buNone/>
            </a:pPr>
            <a:endParaRPr lang="en-AU" sz="2400" dirty="0"/>
          </a:p>
          <a:p>
            <a:pPr marL="0" indent="0">
              <a:buNone/>
            </a:pPr>
            <a:r>
              <a:rPr lang="en-AU" sz="2400" dirty="0"/>
              <a:t>	3. Complete the BIMDAS Puzzle and create a new one.</a:t>
            </a:r>
          </a:p>
          <a:p>
            <a:pPr marL="0" indent="0">
              <a:buNone/>
            </a:pPr>
            <a:endParaRPr lang="en-AU" sz="2400" dirty="0"/>
          </a:p>
          <a:p>
            <a:pPr marL="0" indent="0">
              <a:buNone/>
            </a:pPr>
            <a:r>
              <a:rPr lang="en-AU" sz="2400" dirty="0"/>
              <a:t>	4. Pass the note along again. (lets see how many we can create before the end of the class).</a:t>
            </a:r>
          </a:p>
          <a:p>
            <a:pPr marL="0" indent="0">
              <a:buNone/>
            </a:pPr>
            <a:endParaRPr lang="en-AU" sz="2400" dirty="0"/>
          </a:p>
          <a:p>
            <a:pPr marL="0" indent="0">
              <a:buNone/>
            </a:pPr>
            <a:r>
              <a:rPr lang="en-AU" sz="2400" dirty="0"/>
              <a:t>	5. When it’s time to pack up, find the person whose name is at the top of the page and hand it back to them with all the completed BIMDAS questions.</a:t>
            </a:r>
          </a:p>
        </p:txBody>
      </p:sp>
    </p:spTree>
    <p:extLst>
      <p:ext uri="{BB962C8B-B14F-4D97-AF65-F5344CB8AC3E}">
        <p14:creationId xmlns:p14="http://schemas.microsoft.com/office/powerpoint/2010/main" val="1500021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1518</TotalTime>
  <Words>268</Words>
  <Application>Microsoft Office PowerPoint</Application>
  <PresentationFormat>Widescreen</PresentationFormat>
  <Paragraphs>80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Comic Sans MS</vt:lpstr>
      <vt:lpstr>Wingdings</vt:lpstr>
      <vt:lpstr>Office Theme</vt:lpstr>
      <vt:lpstr>BIMDAS (now with indices)</vt:lpstr>
      <vt:lpstr>PowerPoint Presentation</vt:lpstr>
      <vt:lpstr>Last lesson we looked at cubed numbers and index notation.  Let’s start by checking our notes and summary for last lesson.  Shoulder partners! Check your partner’s notes. Are they complete and correct? Do you need to add anything to your notes?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Create a problem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BIMDAS with brackets</dc:title>
  <dc:creator>James WILSON</dc:creator>
  <cp:lastModifiedBy>KEEN Stephanie [Baldivis Secondary College]</cp:lastModifiedBy>
  <cp:revision>16</cp:revision>
  <dcterms:created xsi:type="dcterms:W3CDTF">2019-02-23T06:47:57Z</dcterms:created>
  <dcterms:modified xsi:type="dcterms:W3CDTF">2019-03-24T06:26:15Z</dcterms:modified>
</cp:coreProperties>
</file>
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notesMasterIdLst>
    <p:notesMasterId r:id="rId23"/>
  </p:notesMasterIdLst>
  <p:sldIdLst>
    <p:sldId id="257" r:id="rId2"/>
    <p:sldId id="258" r:id="rId3"/>
    <p:sldId id="263" r:id="rId4"/>
    <p:sldId id="259" r:id="rId5"/>
    <p:sldId id="260" r:id="rId6"/>
    <p:sldId id="264" r:id="rId7"/>
    <p:sldId id="266" r:id="rId8"/>
    <p:sldId id="265" r:id="rId9"/>
    <p:sldId id="275" r:id="rId10"/>
    <p:sldId id="267" r:id="rId11"/>
    <p:sldId id="268" r:id="rId12"/>
    <p:sldId id="269" r:id="rId13"/>
    <p:sldId id="270" r:id="rId14"/>
    <p:sldId id="276" r:id="rId15"/>
    <p:sldId id="261" r:id="rId16"/>
    <p:sldId id="272" r:id="rId17"/>
    <p:sldId id="273" r:id="rId18"/>
    <p:sldId id="274" r:id="rId19"/>
    <p:sldId id="277" r:id="rId20"/>
    <p:sldId id="279" r:id="rId21"/>
    <p:sldId id="278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83" autoAdjust="0"/>
    <p:restoredTop sz="94660"/>
  </p:normalViewPr>
  <p:slideViewPr>
    <p:cSldViewPr snapToGrid="0">
      <p:cViewPr varScale="1">
        <p:scale>
          <a:sx n="72" d="100"/>
          <a:sy n="72" d="100"/>
        </p:scale>
        <p:origin x="56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772E2BD-18D9-4AC8-A425-BFF3B2EE283D}" type="datetimeFigureOut">
              <a:rPr lang="en-AU" smtClean="0"/>
              <a:t>8/10/2017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C3360F-154F-4D2E-8DE3-FEB4531B9E3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210073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650678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513098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Guide students through the question.</a:t>
            </a:r>
          </a:p>
          <a:p>
            <a:r>
              <a:rPr lang="en-AU" dirty="0"/>
              <a:t>Option</a:t>
            </a:r>
            <a:r>
              <a:rPr lang="en-AU" baseline="0" dirty="0"/>
              <a:t> 2: Dot plots handout (Scaffolded for kids who may need </a:t>
            </a:r>
            <a:r>
              <a:rPr lang="en-AU" baseline="0"/>
              <a:t>extra help)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419376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394863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Guide students through the question.</a:t>
            </a:r>
          </a:p>
          <a:p>
            <a:r>
              <a:rPr lang="en-AU" dirty="0"/>
              <a:t>Option</a:t>
            </a:r>
            <a:r>
              <a:rPr lang="en-AU" baseline="0" dirty="0"/>
              <a:t> 2: Dot plots handout (Scaffolded for kids who may need </a:t>
            </a:r>
            <a:r>
              <a:rPr lang="en-AU" baseline="0"/>
              <a:t>extra help)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724477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Guide students through the question.</a:t>
            </a:r>
          </a:p>
          <a:p>
            <a:r>
              <a:rPr lang="en-AU" dirty="0"/>
              <a:t>Option</a:t>
            </a:r>
            <a:r>
              <a:rPr lang="en-AU" baseline="0" dirty="0"/>
              <a:t> 2: Dot plots handout (Scaffolded for kids who may need </a:t>
            </a:r>
            <a:r>
              <a:rPr lang="en-AU" baseline="0"/>
              <a:t>extra help)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114957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Guide students through the question.</a:t>
            </a:r>
          </a:p>
          <a:p>
            <a:r>
              <a:rPr lang="en-AU" dirty="0"/>
              <a:t>Option</a:t>
            </a:r>
            <a:r>
              <a:rPr lang="en-AU" baseline="0" dirty="0"/>
              <a:t> 2: Dot plots handout (Scaffolded for kids who may need </a:t>
            </a:r>
            <a:r>
              <a:rPr lang="en-AU" baseline="0"/>
              <a:t>extra help)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418854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Guide students through the question.</a:t>
            </a:r>
          </a:p>
          <a:p>
            <a:r>
              <a:rPr lang="en-AU" dirty="0"/>
              <a:t>Option</a:t>
            </a:r>
            <a:r>
              <a:rPr lang="en-AU" baseline="0" dirty="0"/>
              <a:t> 2: Dot plots handout (Scaffolded for kids who may need </a:t>
            </a:r>
            <a:r>
              <a:rPr lang="en-AU" baseline="0"/>
              <a:t>extra help)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293627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Guide students through the question.</a:t>
            </a:r>
          </a:p>
          <a:p>
            <a:r>
              <a:rPr lang="en-AU" dirty="0"/>
              <a:t>Option</a:t>
            </a:r>
            <a:r>
              <a:rPr lang="en-AU" baseline="0" dirty="0"/>
              <a:t> 2: Dot plots handout (Scaffolded for kids who may need </a:t>
            </a:r>
            <a:r>
              <a:rPr lang="en-AU" baseline="0"/>
              <a:t>extra help)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784225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Guide students through the question.</a:t>
            </a:r>
          </a:p>
          <a:p>
            <a:r>
              <a:rPr lang="en-AU" dirty="0"/>
              <a:t>Option</a:t>
            </a:r>
            <a:r>
              <a:rPr lang="en-AU" baseline="0" dirty="0"/>
              <a:t> 2: Dot plots handout (Scaffolded for kids who may need </a:t>
            </a:r>
            <a:r>
              <a:rPr lang="en-AU" baseline="0"/>
              <a:t>extra help)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052147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Guide students through the question.</a:t>
            </a:r>
          </a:p>
          <a:p>
            <a:r>
              <a:rPr lang="en-AU" dirty="0"/>
              <a:t>Option</a:t>
            </a:r>
            <a:r>
              <a:rPr lang="en-AU" baseline="0" dirty="0"/>
              <a:t> 2: Dot plots handout (Scaffolded for kids who may need </a:t>
            </a:r>
            <a:r>
              <a:rPr lang="en-AU" baseline="0"/>
              <a:t>extra help)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208479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178628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992405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749233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537751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12306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Guide students through the question.</a:t>
            </a:r>
          </a:p>
          <a:p>
            <a:r>
              <a:rPr lang="en-AU" dirty="0"/>
              <a:t>Option</a:t>
            </a:r>
            <a:r>
              <a:rPr lang="en-AU" baseline="0" dirty="0"/>
              <a:t> 2: Dot plots handout (Scaffolded for kids who may need </a:t>
            </a:r>
            <a:r>
              <a:rPr lang="en-AU" baseline="0"/>
              <a:t>extra help)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68461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03405"/>
            <a:ext cx="94488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32201"/>
            <a:ext cx="94488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09561" y="4314328"/>
            <a:ext cx="2910840" cy="374642"/>
          </a:xfrm>
        </p:spPr>
        <p:txBody>
          <a:bodyPr/>
          <a:lstStyle/>
          <a:p>
            <a:fld id="{460534CC-4EA5-46B9-971F-0F4E8A526976}" type="datetimeFigureOut">
              <a:rPr lang="en-AU" smtClean="0"/>
              <a:t>8/10/2017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4323845"/>
            <a:ext cx="6400800" cy="365125"/>
          </a:xfrm>
        </p:spPr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1430866"/>
            <a:ext cx="2743200" cy="365125"/>
          </a:xfrm>
        </p:spPr>
        <p:txBody>
          <a:bodyPr/>
          <a:lstStyle/>
          <a:p>
            <a:fld id="{A86C2E37-CF63-4348-8ABF-9EB4529E25A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810671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0534CC-4EA5-46B9-971F-0F4E8A526976}" type="datetimeFigureOut">
              <a:rPr lang="en-AU" smtClean="0"/>
              <a:t>8/10/2017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6C2E37-CF63-4348-8ABF-9EB4529E25A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558373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3"/>
            <a:ext cx="10820399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467" y="3641725"/>
            <a:ext cx="10490200" cy="955675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60534CC-4EA5-46B9-971F-0F4E8A526976}" type="datetimeFigureOut">
              <a:rPr lang="en-AU" smtClean="0"/>
              <a:t>8/10/2017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1"/>
            <a:ext cx="6991492" cy="364065"/>
          </a:xfrm>
        </p:spPr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A86C2E37-CF63-4348-8ABF-9EB4529E25A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301956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0534CC-4EA5-46B9-971F-0F4E8A526976}" type="datetimeFigureOut">
              <a:rPr lang="en-AU" smtClean="0"/>
              <a:t>8/10/2017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6C2E37-CF63-4348-8ABF-9EB4529E25A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210632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600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9" y="2183802"/>
            <a:ext cx="50799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3132666"/>
            <a:ext cx="5311775" cy="308601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0" y="2183802"/>
            <a:ext cx="5105400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132666"/>
            <a:ext cx="5334000" cy="308601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0534CC-4EA5-46B9-971F-0F4E8A526976}" type="datetimeFigureOut">
              <a:rPr lang="en-AU" smtClean="0"/>
              <a:t>8/10/2017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6C2E37-CF63-4348-8ABF-9EB4529E25A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758965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0534CC-4EA5-46B9-971F-0F4E8A526976}" type="datetimeFigureOut">
              <a:rPr lang="en-AU" smtClean="0"/>
              <a:t>8/10/2017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6C2E37-CF63-4348-8ABF-9EB4529E25A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942621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0534CC-4EA5-46B9-971F-0F4E8A526976}" type="datetimeFigureOut">
              <a:rPr lang="en-AU" smtClean="0"/>
              <a:t>8/10/2017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6C2E37-CF63-4348-8ABF-9EB4529E25A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41492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41148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95582" y="746759"/>
            <a:ext cx="6510618" cy="5471925"/>
          </a:xfrm>
        </p:spPr>
        <p:txBody>
          <a:bodyPr anchor="ctr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411480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0534CC-4EA5-46B9-971F-0F4E8A526976}" type="datetimeFigureOut">
              <a:rPr lang="en-AU" smtClean="0"/>
              <a:t>8/10/2017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6C2E37-CF63-4348-8ABF-9EB4529E25A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949041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687324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861238" y="751241"/>
            <a:ext cx="3644962" cy="546744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687324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0534CC-4EA5-46B9-971F-0F4E8A526976}" type="datetimeFigureOut">
              <a:rPr lang="en-AU" smtClean="0"/>
              <a:t>8/10/2017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6C2E37-CF63-4348-8ABF-9EB4529E25A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518318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77" y="4697360"/>
            <a:ext cx="10822034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1727" y="941439"/>
            <a:ext cx="10821840" cy="3478161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516715"/>
            <a:ext cx="10820400" cy="701969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0534CC-4EA5-46B9-971F-0F4E8A526976}" type="datetimeFigureOut">
              <a:rPr lang="en-AU" smtClean="0"/>
              <a:t>8/10/2017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6C2E37-CF63-4348-8ABF-9EB4529E25A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212496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2"/>
            <a:ext cx="1082040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9133"/>
            <a:ext cx="10130516" cy="99906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60534CC-4EA5-46B9-971F-0F4E8A526976}" type="datetimeFigureOut">
              <a:rPr lang="en-AU" smtClean="0"/>
              <a:t>8/10/2017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A86C2E37-CF63-4348-8ABF-9EB4529E25A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9210604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67" y="753533"/>
            <a:ext cx="10151533" cy="2604495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303865" y="3365556"/>
            <a:ext cx="9592736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959862"/>
            <a:ext cx="10151533" cy="679871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60534CC-4EA5-46B9-971F-0F4E8A526976}" type="datetimeFigureOut">
              <a:rPr lang="en-AU" smtClean="0"/>
              <a:t>8/10/2017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A86C2E37-CF63-4348-8ABF-9EB4529E25A6}" type="slidenum">
              <a:rPr lang="en-AU" smtClean="0"/>
              <a:t>‹#›</a:t>
            </a:fld>
            <a:endParaRPr lang="en-AU"/>
          </a:p>
        </p:txBody>
      </p:sp>
      <p:sp>
        <p:nvSpPr>
          <p:cNvPr id="9" name="TextBox 8"/>
          <p:cNvSpPr txBox="1"/>
          <p:nvPr/>
        </p:nvSpPr>
        <p:spPr>
          <a:xfrm>
            <a:off x="476250" y="93345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84230" y="270129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2727192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95" y="1124701"/>
            <a:ext cx="10146186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8315"/>
            <a:ext cx="10144654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78883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60534CC-4EA5-46B9-971F-0F4E8A526976}" type="datetimeFigureOut">
              <a:rPr lang="en-AU" smtClean="0"/>
              <a:t>8/10/2017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8883"/>
            <a:ext cx="6991492" cy="365125"/>
          </a:xfrm>
        </p:spPr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A86C2E37-CF63-4348-8ABF-9EB4529E25A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1796536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895600" y="761999"/>
            <a:ext cx="8610599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0" y="2202080"/>
            <a:ext cx="3456432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799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68800" y="2201333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366858" y="2904067"/>
            <a:ext cx="3456432" cy="331461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51800" y="2192866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8051801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0534CC-4EA5-46B9-971F-0F4E8A526976}" type="datetimeFigureOut">
              <a:rPr lang="en-AU" smtClean="0"/>
              <a:t>8/10/2017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6C2E37-CF63-4348-8ABF-9EB4529E25A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093622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599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8618" y="4191000"/>
            <a:ext cx="3451582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8618" y="2362200"/>
            <a:ext cx="3451582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8618" y="4873764"/>
            <a:ext cx="3451582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74263" y="4191000"/>
            <a:ext cx="3448935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374263" y="2362200"/>
            <a:ext cx="3448936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374264" y="4873763"/>
            <a:ext cx="344893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49731" y="4191000"/>
            <a:ext cx="3456469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49855" y="2362200"/>
            <a:ext cx="3447878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8049731" y="4873761"/>
            <a:ext cx="345244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0534CC-4EA5-46B9-971F-0F4E8A526976}" type="datetimeFigureOut">
              <a:rPr lang="en-AU" smtClean="0"/>
              <a:t>8/10/2017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6C2E37-CF63-4348-8ABF-9EB4529E25A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3193113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194559"/>
            <a:ext cx="10820400" cy="4024125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0534CC-4EA5-46B9-971F-0F4E8A526976}" type="datetimeFigureOut">
              <a:rPr lang="en-AU" smtClean="0"/>
              <a:t>8/10/2017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6C2E37-CF63-4348-8ABF-9EB4529E25A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1369148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48800" y="745066"/>
            <a:ext cx="2057400" cy="3903133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4466" y="745067"/>
            <a:ext cx="8204201" cy="3903133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79941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60534CC-4EA5-46B9-971F-0F4E8A526976}" type="datetimeFigureOut">
              <a:rPr lang="en-AU" smtClean="0"/>
              <a:t>8/10/2017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0"/>
            <a:ext cx="6991492" cy="365125"/>
          </a:xfrm>
        </p:spPr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A86C2E37-CF63-4348-8ABF-9EB4529E25A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047617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2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60534CC-4EA5-46B9-971F-0F4E8A526976}" type="datetimeFigureOut">
              <a:rPr lang="en-AU" smtClean="0"/>
              <a:t>8/10/2017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6C2E37-CF63-4348-8ABF-9EB4529E25A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359211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11" Type="http://schemas.openxmlformats.org/officeDocument/2006/relationships/image" Target="../media/image26.png"/><Relationship Id="rId5" Type="http://schemas.openxmlformats.org/officeDocument/2006/relationships/image" Target="../media/image20.gif"/><Relationship Id="rId10" Type="http://schemas.openxmlformats.org/officeDocument/2006/relationships/image" Target="../media/image25.png"/><Relationship Id="rId4" Type="http://schemas.openxmlformats.org/officeDocument/2006/relationships/image" Target="../media/image19.png"/><Relationship Id="rId9" Type="http://schemas.openxmlformats.org/officeDocument/2006/relationships/image" Target="../media/image2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8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67875" y="1706423"/>
            <a:ext cx="9448800" cy="1825096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  <a:latin typeface="Kiwi School Handwriting" panose="00000500000000000000" pitchFamily="2" charset="0"/>
              </a:rPr>
              <a:t>Types of angles</a:t>
            </a:r>
            <a:endParaRPr lang="en-US" b="1" dirty="0">
              <a:solidFill>
                <a:srgbClr val="0070C0"/>
              </a:solidFill>
              <a:latin typeface="DJB Fancy Nancy" panose="02000500000000000000" pitchFamily="2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67875" y="3628501"/>
            <a:ext cx="9446339" cy="1384675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chemeClr val="accent2">
                    <a:lumMod val="75000"/>
                  </a:schemeClr>
                </a:solidFill>
                <a:latin typeface="Kiwi School Handwriting" panose="00000500000000000000" pitchFamily="2" charset="0"/>
              </a:rPr>
              <a:t>Miss L</a:t>
            </a:r>
          </a:p>
          <a:p>
            <a:r>
              <a:rPr lang="en-US" sz="3200" b="1" dirty="0">
                <a:solidFill>
                  <a:schemeClr val="accent2">
                    <a:lumMod val="75000"/>
                  </a:schemeClr>
                </a:solidFill>
                <a:latin typeface="Kiwi School Handwriting" panose="00000500000000000000" pitchFamily="2" charset="0"/>
              </a:rPr>
              <a:t>Year 7</a:t>
            </a:r>
          </a:p>
        </p:txBody>
      </p:sp>
    </p:spTree>
    <p:extLst>
      <p:ext uri="{BB962C8B-B14F-4D97-AF65-F5344CB8AC3E}">
        <p14:creationId xmlns:p14="http://schemas.microsoft.com/office/powerpoint/2010/main" val="5067614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5400" b="1" dirty="0">
                <a:solidFill>
                  <a:schemeClr val="accent2">
                    <a:lumMod val="75000"/>
                  </a:schemeClr>
                </a:solidFill>
                <a:latin typeface="Kiwi School Handwriting" panose="00000500000000000000" pitchFamily="2" charset="0"/>
              </a:rPr>
              <a:t>Learning Intentions</a:t>
            </a:r>
          </a:p>
        </p:txBody>
      </p:sp>
      <p:sp>
        <p:nvSpPr>
          <p:cNvPr id="14" name="Content Placeholder 1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AU" sz="4400" dirty="0">
                <a:latin typeface="Kiwi School Handwriting" panose="00000500000000000000" pitchFamily="2" charset="0"/>
              </a:rPr>
              <a:t>Students will be able to</a:t>
            </a:r>
          </a:p>
          <a:p>
            <a:r>
              <a:rPr lang="en-AU" sz="3600" dirty="0"/>
              <a:t>Label the 6 types of angles</a:t>
            </a:r>
          </a:p>
          <a:p>
            <a:r>
              <a:rPr lang="en-AU" sz="3600" dirty="0"/>
              <a:t>Learn how to use a protractor </a:t>
            </a:r>
          </a:p>
        </p:txBody>
      </p:sp>
    </p:spTree>
    <p:extLst>
      <p:ext uri="{BB962C8B-B14F-4D97-AF65-F5344CB8AC3E}">
        <p14:creationId xmlns:p14="http://schemas.microsoft.com/office/powerpoint/2010/main" val="17204263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99656" y="404664"/>
            <a:ext cx="8608358" cy="1293028"/>
          </a:xfrm>
        </p:spPr>
        <p:txBody>
          <a:bodyPr>
            <a:normAutofit/>
          </a:bodyPr>
          <a:lstStyle/>
          <a:p>
            <a:r>
              <a:rPr lang="en-AU" sz="5400" b="1" dirty="0">
                <a:solidFill>
                  <a:schemeClr val="accent1">
                    <a:lumMod val="50000"/>
                  </a:schemeClr>
                </a:solidFill>
                <a:latin typeface="Kiwi School Handwriting" panose="00000500000000000000" pitchFamily="2" charset="0"/>
              </a:rPr>
              <a:t>Think-pair-share</a:t>
            </a:r>
            <a:endParaRPr lang="en-US" sz="5400" b="1" dirty="0">
              <a:solidFill>
                <a:schemeClr val="accent1">
                  <a:lumMod val="50000"/>
                </a:schemeClr>
              </a:solidFill>
              <a:latin typeface="Kiwi School Handwriting" panose="00000500000000000000" pitchFamily="2" charset="0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DAFF9EF6-86A2-42A5-AE9A-3FB82E18F8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6513" y="1677420"/>
            <a:ext cx="10895559" cy="50217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AU" sz="3200" b="1" dirty="0">
                <a:solidFill>
                  <a:srgbClr val="FF0000"/>
                </a:solidFill>
              </a:rPr>
              <a:t>Think</a:t>
            </a:r>
          </a:p>
          <a:p>
            <a:pPr lvl="1"/>
            <a:r>
              <a:rPr lang="en-AU" sz="3000" dirty="0"/>
              <a:t>What do you think an angle is? </a:t>
            </a:r>
          </a:p>
          <a:p>
            <a:pPr lvl="1"/>
            <a:r>
              <a:rPr lang="en-AU" sz="3000" dirty="0"/>
              <a:t>How many types of angles can you name?</a:t>
            </a:r>
          </a:p>
          <a:p>
            <a:pPr marL="457200" lvl="1" indent="0">
              <a:buNone/>
            </a:pPr>
            <a:endParaRPr lang="en-AU" sz="3000" dirty="0"/>
          </a:p>
          <a:p>
            <a:pPr marL="0" indent="0">
              <a:buNone/>
            </a:pPr>
            <a:r>
              <a:rPr lang="en-AU" sz="3200" b="1" dirty="0">
                <a:solidFill>
                  <a:schemeClr val="accent4">
                    <a:lumMod val="50000"/>
                  </a:schemeClr>
                </a:solidFill>
              </a:rPr>
              <a:t>Pair</a:t>
            </a:r>
          </a:p>
          <a:p>
            <a:pPr lvl="1"/>
            <a:r>
              <a:rPr lang="en-AU" sz="3000" dirty="0"/>
              <a:t>Share your answers with the person next to you.</a:t>
            </a:r>
          </a:p>
          <a:p>
            <a:pPr marL="0" indent="0">
              <a:buNone/>
            </a:pPr>
            <a:endParaRPr lang="en-AU" sz="3200" dirty="0"/>
          </a:p>
          <a:p>
            <a:pPr marL="0" indent="0">
              <a:buNone/>
            </a:pPr>
            <a:r>
              <a:rPr lang="en-AU" sz="3200" b="1" dirty="0">
                <a:solidFill>
                  <a:srgbClr val="00B050"/>
                </a:solidFill>
              </a:rPr>
              <a:t>Share</a:t>
            </a:r>
          </a:p>
          <a:p>
            <a:pPr lvl="1"/>
            <a:r>
              <a:rPr lang="en-AU" sz="3000" dirty="0"/>
              <a:t>Put your hand up to share your answers with the class.</a:t>
            </a:r>
          </a:p>
          <a:p>
            <a:pPr lvl="1"/>
            <a:endParaRPr lang="en-AU" sz="3000" dirty="0"/>
          </a:p>
          <a:p>
            <a:pPr marL="0" indent="0">
              <a:buNone/>
            </a:pPr>
            <a:endParaRPr lang="en-AU" sz="3200" b="1" dirty="0">
              <a:cs typeface="Calibri" panose="020F0502020204030204" pitchFamily="34" charset="0"/>
            </a:endParaRPr>
          </a:p>
          <a:p>
            <a:pPr marL="0" indent="0">
              <a:buNone/>
            </a:pPr>
            <a:endParaRPr lang="en-US" sz="3200"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E44AAAA-DCBD-4F5B-A953-64366E6052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8539" y="1333447"/>
            <a:ext cx="2236340" cy="3274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59393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847528" y="1298662"/>
            <a:ext cx="0" cy="5559338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77502" y="139888"/>
            <a:ext cx="409439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Topic: Type of Angles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69643" y="133060"/>
            <a:ext cx="1196534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0" y="5128901"/>
            <a:ext cx="1720003" cy="8307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What is an Angle?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060762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EQ – What are the different types of angles and how do I measure them? 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95329" y="4851773"/>
            <a:ext cx="9544926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800" dirty="0"/>
              <a:t>The amount of space between two straight lines. Measured in degrees. </a:t>
            </a:r>
          </a:p>
          <a:p>
            <a:pPr defTabSz="914126"/>
            <a:r>
              <a:rPr lang="en-AU" sz="2800" dirty="0"/>
              <a:t>Example: 45° </a:t>
            </a:r>
            <a:endParaRPr lang="en-US" sz="3200" dirty="0">
              <a:solidFill>
                <a:prstClr val="black"/>
              </a:solidFill>
              <a:latin typeface="Calibri" panose="020F0502020204030204"/>
            </a:endParaRP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1CBE7AA4-7B1E-40AC-ABF2-53B319996E18}"/>
              </a:ext>
            </a:extLst>
          </p:cNvPr>
          <p:cNvSpPr txBox="1"/>
          <p:nvPr/>
        </p:nvSpPr>
        <p:spPr>
          <a:xfrm>
            <a:off x="0" y="1477612"/>
            <a:ext cx="1720003" cy="11999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What does an Angle look like?</a:t>
            </a: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AD98DDA3-CFBE-406D-B74D-6042166900C9}"/>
              </a:ext>
            </a:extLst>
          </p:cNvPr>
          <p:cNvCxnSpPr>
            <a:cxnSpLocks/>
          </p:cNvCxnSpPr>
          <p:nvPr/>
        </p:nvCxnSpPr>
        <p:spPr>
          <a:xfrm>
            <a:off x="5029200" y="2917315"/>
            <a:ext cx="2563698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D7F19E6C-3BDB-4D5E-A5B4-B82C9303733B}"/>
              </a:ext>
            </a:extLst>
          </p:cNvPr>
          <p:cNvCxnSpPr>
            <a:cxnSpLocks/>
          </p:cNvCxnSpPr>
          <p:nvPr/>
        </p:nvCxnSpPr>
        <p:spPr>
          <a:xfrm flipV="1">
            <a:off x="5029200" y="1586056"/>
            <a:ext cx="2043953" cy="1331259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Arc 13">
            <a:extLst>
              <a:ext uri="{FF2B5EF4-FFF2-40B4-BE49-F238E27FC236}">
                <a16:creationId xmlns:a16="http://schemas.microsoft.com/office/drawing/2014/main" id="{6758A8B0-A6C0-4C5A-90F3-D44794E0CD0F}"/>
              </a:ext>
            </a:extLst>
          </p:cNvPr>
          <p:cNvSpPr/>
          <p:nvPr/>
        </p:nvSpPr>
        <p:spPr>
          <a:xfrm>
            <a:off x="5473927" y="2463455"/>
            <a:ext cx="422829" cy="708272"/>
          </a:xfrm>
          <a:prstGeom prst="arc">
            <a:avLst>
              <a:gd name="adj1" fmla="val 16460566"/>
              <a:gd name="adj2" fmla="val 1514975"/>
            </a:avLst>
          </a:prstGeom>
          <a:ln w="38100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96AB1CBA-03EA-4D01-A59B-DF69D200A566}"/>
              </a:ext>
            </a:extLst>
          </p:cNvPr>
          <p:cNvCxnSpPr>
            <a:cxnSpLocks/>
          </p:cNvCxnSpPr>
          <p:nvPr/>
        </p:nvCxnSpPr>
        <p:spPr>
          <a:xfrm>
            <a:off x="5401444" y="1869470"/>
            <a:ext cx="694557" cy="26034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B91B2723-B88C-4343-A2D5-5E5CB5BAB418}"/>
              </a:ext>
            </a:extLst>
          </p:cNvPr>
          <p:cNvCxnSpPr>
            <a:cxnSpLocks/>
          </p:cNvCxnSpPr>
          <p:nvPr/>
        </p:nvCxnSpPr>
        <p:spPr>
          <a:xfrm flipV="1">
            <a:off x="6153157" y="3068306"/>
            <a:ext cx="591670" cy="43579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57E48994-45B9-41A6-AE17-17CBF32CC539}"/>
              </a:ext>
            </a:extLst>
          </p:cNvPr>
          <p:cNvSpPr txBox="1"/>
          <p:nvPr/>
        </p:nvSpPr>
        <p:spPr>
          <a:xfrm>
            <a:off x="4509455" y="1512166"/>
            <a:ext cx="79861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dirty="0">
                <a:solidFill>
                  <a:schemeClr val="accent1">
                    <a:lumMod val="75000"/>
                  </a:schemeClr>
                </a:solidFill>
              </a:rPr>
              <a:t>Arm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338DB87-4B4C-4B97-9C6C-F86DF19AB039}"/>
              </a:ext>
            </a:extLst>
          </p:cNvPr>
          <p:cNvSpPr txBox="1"/>
          <p:nvPr/>
        </p:nvSpPr>
        <p:spPr>
          <a:xfrm>
            <a:off x="5354540" y="3264977"/>
            <a:ext cx="79861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dirty="0">
                <a:solidFill>
                  <a:schemeClr val="accent1">
                    <a:lumMod val="75000"/>
                  </a:schemeClr>
                </a:solidFill>
              </a:rPr>
              <a:t>Arm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64EED548-3CA2-4E8C-8102-CC3B0AD6DEE3}"/>
              </a:ext>
            </a:extLst>
          </p:cNvPr>
          <p:cNvCxnSpPr>
            <a:cxnSpLocks/>
          </p:cNvCxnSpPr>
          <p:nvPr/>
        </p:nvCxnSpPr>
        <p:spPr>
          <a:xfrm flipH="1">
            <a:off x="5975971" y="2362402"/>
            <a:ext cx="1836770" cy="264949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367FCAE1-330E-4E37-9AA5-A938E83FC9D9}"/>
              </a:ext>
            </a:extLst>
          </p:cNvPr>
          <p:cNvSpPr txBox="1"/>
          <p:nvPr/>
        </p:nvSpPr>
        <p:spPr>
          <a:xfrm>
            <a:off x="7891956" y="2110546"/>
            <a:ext cx="107112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dirty="0">
                <a:solidFill>
                  <a:schemeClr val="accent4">
                    <a:lumMod val="50000"/>
                  </a:schemeClr>
                </a:solidFill>
              </a:rPr>
              <a:t>Angle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AD3DDC72-9C21-4D5D-A2A2-74D2254BB17D}"/>
              </a:ext>
            </a:extLst>
          </p:cNvPr>
          <p:cNvCxnSpPr>
            <a:cxnSpLocks/>
          </p:cNvCxnSpPr>
          <p:nvPr/>
        </p:nvCxnSpPr>
        <p:spPr>
          <a:xfrm>
            <a:off x="4334643" y="2654009"/>
            <a:ext cx="694557" cy="26034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54850F08-5476-45D7-816D-A1B333207B1B}"/>
              </a:ext>
            </a:extLst>
          </p:cNvPr>
          <p:cNvSpPr txBox="1"/>
          <p:nvPr/>
        </p:nvSpPr>
        <p:spPr>
          <a:xfrm>
            <a:off x="3169122" y="2306832"/>
            <a:ext cx="11576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dirty="0">
                <a:solidFill>
                  <a:srgbClr val="00B050"/>
                </a:solidFill>
              </a:rPr>
              <a:t>Vertex</a:t>
            </a:r>
          </a:p>
        </p:txBody>
      </p:sp>
    </p:spTree>
    <p:extLst>
      <p:ext uri="{BB962C8B-B14F-4D97-AF65-F5344CB8AC3E}">
        <p14:creationId xmlns:p14="http://schemas.microsoft.com/office/powerpoint/2010/main" val="10133664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  <p:bldP spid="14" grpId="0" animBg="1"/>
      <p:bldP spid="23" grpId="0"/>
      <p:bldP spid="26" grpId="0"/>
      <p:bldP spid="30" grpId="0"/>
      <p:bldP spid="3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69074D7-7189-401B-B22C-96E7385E16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3671" y="0"/>
            <a:ext cx="5298884" cy="6850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42578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CD2358-5877-4EBD-AF8D-A8380B5DFF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AU" sz="3600" dirty="0"/>
              <a:t>Complete the following in your Graphic Organiser</a:t>
            </a:r>
          </a:p>
          <a:p>
            <a:endParaRPr lang="en-AU" sz="3600" dirty="0"/>
          </a:p>
          <a:p>
            <a:r>
              <a:rPr lang="en-AU" sz="3600" dirty="0"/>
              <a:t>Once complete, glue it in your notebook</a:t>
            </a:r>
          </a:p>
        </p:txBody>
      </p:sp>
    </p:spTree>
    <p:extLst>
      <p:ext uri="{BB962C8B-B14F-4D97-AF65-F5344CB8AC3E}">
        <p14:creationId xmlns:p14="http://schemas.microsoft.com/office/powerpoint/2010/main" val="41406281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26550" y="404664"/>
            <a:ext cx="8608358" cy="1293028"/>
          </a:xfrm>
        </p:spPr>
        <p:txBody>
          <a:bodyPr>
            <a:normAutofit/>
          </a:bodyPr>
          <a:lstStyle/>
          <a:p>
            <a:r>
              <a:rPr lang="en-AU" sz="5400" b="1" dirty="0">
                <a:solidFill>
                  <a:schemeClr val="accent1">
                    <a:lumMod val="50000"/>
                  </a:schemeClr>
                </a:solidFill>
                <a:latin typeface="Kiwi School Handwriting" panose="00000500000000000000" pitchFamily="2" charset="0"/>
              </a:rPr>
              <a:t>Acute angle</a:t>
            </a:r>
            <a:endParaRPr lang="en-US" sz="5400" b="1" dirty="0">
              <a:solidFill>
                <a:schemeClr val="accent1">
                  <a:lumMod val="50000"/>
                </a:schemeClr>
              </a:solidFill>
              <a:latin typeface="Kiwi School Handwriting" panose="00000500000000000000" pitchFamily="2" charset="0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DAFF9EF6-86A2-42A5-AE9A-3FB82E18F8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9893" y="1697692"/>
            <a:ext cx="9689835" cy="384249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AU" sz="2800" b="1" dirty="0">
                <a:latin typeface="Century Gothic" panose="020B0502020202020204" pitchFamily="34" charset="0"/>
              </a:rPr>
              <a:t>Name: </a:t>
            </a:r>
            <a:r>
              <a:rPr lang="en-AU" sz="2800" b="1" dirty="0">
                <a:solidFill>
                  <a:schemeClr val="accent3">
                    <a:lumMod val="75000"/>
                  </a:schemeClr>
                </a:solidFill>
                <a:latin typeface="Century Gothic" panose="020B0502020202020204" pitchFamily="34" charset="0"/>
              </a:rPr>
              <a:t>Acute angle</a:t>
            </a:r>
          </a:p>
          <a:p>
            <a:pPr marL="0" indent="0">
              <a:buNone/>
            </a:pPr>
            <a:endParaRPr lang="en-AU" sz="2800" dirty="0">
              <a:latin typeface="Century Gothic" panose="020B0502020202020204" pitchFamily="34" charset="0"/>
            </a:endParaRPr>
          </a:p>
          <a:p>
            <a:pPr marL="0" indent="0">
              <a:buNone/>
            </a:pPr>
            <a:r>
              <a:rPr lang="en-AU" sz="2800" b="1" dirty="0">
                <a:latin typeface="Century Gothic" panose="020B0502020202020204" pitchFamily="34" charset="0"/>
              </a:rPr>
              <a:t>Size: </a:t>
            </a:r>
            <a:r>
              <a:rPr lang="en-AU" sz="2800" dirty="0">
                <a:latin typeface="Century Gothic" panose="020B0502020202020204" pitchFamily="34" charset="0"/>
              </a:rPr>
              <a:t>less than 90°</a:t>
            </a:r>
          </a:p>
          <a:p>
            <a:pPr marL="0" indent="0">
              <a:buNone/>
            </a:pPr>
            <a:endParaRPr lang="en-AU" sz="28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AU" sz="2800" b="1" dirty="0">
                <a:latin typeface="Calibri" panose="020F0502020204030204" pitchFamily="34" charset="0"/>
                <a:cs typeface="Calibri" panose="020F0502020204030204" pitchFamily="34" charset="0"/>
              </a:rPr>
              <a:t>Diagram: </a:t>
            </a:r>
          </a:p>
          <a:p>
            <a:pPr marL="0" indent="0">
              <a:buNone/>
            </a:pPr>
            <a:endParaRPr lang="en-US" sz="3200"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84A626C-2E8F-41AF-9B34-F86B082BD1B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0844" r="30955"/>
          <a:stretch/>
        </p:blipFill>
        <p:spPr>
          <a:xfrm>
            <a:off x="26727" y="4570900"/>
            <a:ext cx="2357570" cy="22871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B8E5EEB-375E-47A0-9A3B-4EA1804F261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74975" y="3860084"/>
            <a:ext cx="2153500" cy="180355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EF901C1-6FA9-40E8-9223-892934A3312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39451" y="1697692"/>
            <a:ext cx="6425359" cy="45355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657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26550" y="404664"/>
            <a:ext cx="8608358" cy="1293028"/>
          </a:xfrm>
        </p:spPr>
        <p:txBody>
          <a:bodyPr>
            <a:normAutofit/>
          </a:bodyPr>
          <a:lstStyle/>
          <a:p>
            <a:r>
              <a:rPr lang="en-AU" sz="5400" b="1" dirty="0">
                <a:solidFill>
                  <a:schemeClr val="accent1">
                    <a:lumMod val="50000"/>
                  </a:schemeClr>
                </a:solidFill>
                <a:latin typeface="Kiwi School Handwriting" panose="00000500000000000000" pitchFamily="2" charset="0"/>
              </a:rPr>
              <a:t>Right angle</a:t>
            </a:r>
            <a:endParaRPr lang="en-US" sz="5400" b="1" dirty="0">
              <a:solidFill>
                <a:schemeClr val="accent1">
                  <a:lumMod val="50000"/>
                </a:schemeClr>
              </a:solidFill>
              <a:latin typeface="Kiwi School Handwriting" panose="00000500000000000000" pitchFamily="2" charset="0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DAFF9EF6-86A2-42A5-AE9A-3FB82E18F8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9893" y="1697692"/>
            <a:ext cx="9689835" cy="384249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AU" sz="2800" b="1" dirty="0">
                <a:latin typeface="Century Gothic" panose="020B0502020202020204" pitchFamily="34" charset="0"/>
              </a:rPr>
              <a:t>Name: </a:t>
            </a:r>
            <a:r>
              <a:rPr lang="en-AU" sz="2800" b="1" dirty="0">
                <a:solidFill>
                  <a:schemeClr val="accent4">
                    <a:lumMod val="75000"/>
                  </a:schemeClr>
                </a:solidFill>
                <a:latin typeface="Century Gothic" panose="020B0502020202020204" pitchFamily="34" charset="0"/>
              </a:rPr>
              <a:t>Right angle</a:t>
            </a:r>
          </a:p>
          <a:p>
            <a:pPr marL="0" indent="0">
              <a:buNone/>
            </a:pPr>
            <a:endParaRPr lang="en-AU" sz="2800" dirty="0">
              <a:latin typeface="Century Gothic" panose="020B0502020202020204" pitchFamily="34" charset="0"/>
            </a:endParaRPr>
          </a:p>
          <a:p>
            <a:pPr marL="0" indent="0">
              <a:buNone/>
            </a:pPr>
            <a:r>
              <a:rPr lang="en-AU" sz="2800" b="1" dirty="0">
                <a:latin typeface="Century Gothic" panose="020B0502020202020204" pitchFamily="34" charset="0"/>
              </a:rPr>
              <a:t>Size: </a:t>
            </a:r>
            <a:r>
              <a:rPr lang="en-AU" sz="2800" dirty="0">
                <a:latin typeface="Century Gothic" panose="020B0502020202020204" pitchFamily="34" charset="0"/>
              </a:rPr>
              <a:t>exactly 90°</a:t>
            </a:r>
          </a:p>
          <a:p>
            <a:pPr marL="0" indent="0">
              <a:buNone/>
            </a:pPr>
            <a:endParaRPr lang="en-AU" sz="28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AU" sz="2800" b="1" dirty="0">
                <a:latin typeface="Calibri" panose="020F0502020204030204" pitchFamily="34" charset="0"/>
                <a:cs typeface="Calibri" panose="020F0502020204030204" pitchFamily="34" charset="0"/>
              </a:rPr>
              <a:t>Diagram: </a:t>
            </a:r>
          </a:p>
          <a:p>
            <a:pPr marL="0" indent="0">
              <a:buNone/>
            </a:pPr>
            <a:endParaRPr lang="en-US" sz="3200" b="1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94ABC78-F054-452E-90DA-14EFD0CD09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30502" y="3650651"/>
            <a:ext cx="2009128" cy="1889537"/>
          </a:xfrm>
          <a:prstGeom prst="rect">
            <a:avLst/>
          </a:prstGeom>
        </p:spPr>
      </p:pic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1F41CC44-91EC-4745-A6D0-8DA2780DA9C9}"/>
              </a:ext>
            </a:extLst>
          </p:cNvPr>
          <p:cNvCxnSpPr/>
          <p:nvPr/>
        </p:nvCxnSpPr>
        <p:spPr>
          <a:xfrm flipV="1">
            <a:off x="1788459" y="4988859"/>
            <a:ext cx="1465729" cy="76648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7F756D0A-EC33-427F-A4CD-20EC54E23B3E}"/>
              </a:ext>
            </a:extLst>
          </p:cNvPr>
          <p:cNvSpPr txBox="1"/>
          <p:nvPr/>
        </p:nvSpPr>
        <p:spPr>
          <a:xfrm>
            <a:off x="683664" y="5782235"/>
            <a:ext cx="434285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dirty="0">
                <a:solidFill>
                  <a:schemeClr val="accent1">
                    <a:lumMod val="75000"/>
                  </a:schemeClr>
                </a:solidFill>
              </a:rPr>
              <a:t>That means it’s a right angle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D767BA88-AC57-48E1-85FD-AB72D744F25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81673" y="1224586"/>
            <a:ext cx="6418569" cy="4530755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10F5D27D-56BF-4F15-9ED7-36E6BDA05C70}"/>
              </a:ext>
            </a:extLst>
          </p:cNvPr>
          <p:cNvSpPr txBox="1"/>
          <p:nvPr/>
        </p:nvSpPr>
        <p:spPr>
          <a:xfrm>
            <a:off x="5764810" y="5936059"/>
            <a:ext cx="5936240" cy="584775"/>
          </a:xfrm>
          <a:prstGeom prst="rect">
            <a:avLst/>
          </a:prstGeom>
          <a:noFill/>
          <a:ln w="38100">
            <a:solidFill>
              <a:schemeClr val="accent6"/>
            </a:solidFill>
          </a:ln>
        </p:spPr>
        <p:txBody>
          <a:bodyPr wrap="none" rtlCol="0">
            <a:spAutoFit/>
          </a:bodyPr>
          <a:lstStyle/>
          <a:p>
            <a:r>
              <a:rPr lang="en-AU" sz="3200" b="1" dirty="0"/>
              <a:t>A right angle is a quarter turn</a:t>
            </a:r>
          </a:p>
        </p:txBody>
      </p:sp>
    </p:spTree>
    <p:extLst>
      <p:ext uri="{BB962C8B-B14F-4D97-AF65-F5344CB8AC3E}">
        <p14:creationId xmlns:p14="http://schemas.microsoft.com/office/powerpoint/2010/main" val="17766592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5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69074D7-7189-401B-B22C-96E7385E16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3671" y="0"/>
            <a:ext cx="5298884" cy="6850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42127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26550" y="404664"/>
            <a:ext cx="8608358" cy="1293028"/>
          </a:xfrm>
        </p:spPr>
        <p:txBody>
          <a:bodyPr>
            <a:normAutofit/>
          </a:bodyPr>
          <a:lstStyle/>
          <a:p>
            <a:r>
              <a:rPr lang="en-AU" sz="5400" b="1" dirty="0">
                <a:solidFill>
                  <a:schemeClr val="accent1">
                    <a:lumMod val="50000"/>
                  </a:schemeClr>
                </a:solidFill>
                <a:latin typeface="Kiwi School Handwriting" panose="00000500000000000000" pitchFamily="2" charset="0"/>
              </a:rPr>
              <a:t>Obtuse angle</a:t>
            </a:r>
            <a:endParaRPr lang="en-US" sz="5400" b="1" dirty="0">
              <a:solidFill>
                <a:schemeClr val="accent1">
                  <a:lumMod val="50000"/>
                </a:schemeClr>
              </a:solidFill>
              <a:latin typeface="Kiwi School Handwriting" panose="00000500000000000000" pitchFamily="2" charset="0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DAFF9EF6-86A2-42A5-AE9A-3FB82E18F8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4776" y="1697692"/>
            <a:ext cx="9689835" cy="384249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AU" sz="2800" b="1" dirty="0">
                <a:latin typeface="Century Gothic" panose="020B0502020202020204" pitchFamily="34" charset="0"/>
              </a:rPr>
              <a:t>Name: </a:t>
            </a:r>
            <a:r>
              <a:rPr lang="en-AU" sz="28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Century Gothic" panose="020B0502020202020204" pitchFamily="34" charset="0"/>
              </a:rPr>
              <a:t>Obtuse angle</a:t>
            </a:r>
          </a:p>
          <a:p>
            <a:pPr marL="0" indent="0">
              <a:buNone/>
            </a:pPr>
            <a:endParaRPr lang="en-AU" sz="2800" dirty="0">
              <a:latin typeface="Century Gothic" panose="020B0502020202020204" pitchFamily="34" charset="0"/>
            </a:endParaRPr>
          </a:p>
          <a:p>
            <a:pPr marL="0" indent="0">
              <a:buNone/>
            </a:pPr>
            <a:r>
              <a:rPr lang="en-AU" sz="2800" b="1" dirty="0">
                <a:latin typeface="Century Gothic" panose="020B0502020202020204" pitchFamily="34" charset="0"/>
              </a:rPr>
              <a:t>Size: </a:t>
            </a:r>
            <a:r>
              <a:rPr lang="en-AU" sz="2800" dirty="0">
                <a:latin typeface="Century Gothic" panose="020B0502020202020204" pitchFamily="34" charset="0"/>
              </a:rPr>
              <a:t>between 90° and 180 °</a:t>
            </a:r>
          </a:p>
          <a:p>
            <a:pPr marL="0" indent="0">
              <a:buNone/>
            </a:pPr>
            <a:endParaRPr lang="en-AU" sz="28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AU" sz="2800" b="1" dirty="0">
                <a:latin typeface="Calibri" panose="020F0502020204030204" pitchFamily="34" charset="0"/>
                <a:cs typeface="Calibri" panose="020F0502020204030204" pitchFamily="34" charset="0"/>
              </a:rPr>
              <a:t>Diagram: </a:t>
            </a:r>
          </a:p>
          <a:p>
            <a:pPr marL="0" indent="0">
              <a:buNone/>
            </a:pPr>
            <a:endParaRPr lang="en-US" sz="3200"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B87E380-A03E-4EF4-8874-D5FA3E37CE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12112" y="3618940"/>
            <a:ext cx="2428875" cy="143827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1B357A7-8581-4E58-BA7E-1A13691F7B0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80529" y="1440516"/>
            <a:ext cx="6611471" cy="46669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88863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26550" y="404664"/>
            <a:ext cx="8608358" cy="1293028"/>
          </a:xfrm>
        </p:spPr>
        <p:txBody>
          <a:bodyPr>
            <a:normAutofit/>
          </a:bodyPr>
          <a:lstStyle/>
          <a:p>
            <a:r>
              <a:rPr lang="en-AU" sz="5400" b="1" dirty="0">
                <a:solidFill>
                  <a:schemeClr val="accent1">
                    <a:lumMod val="50000"/>
                  </a:schemeClr>
                </a:solidFill>
                <a:latin typeface="Kiwi School Handwriting" panose="00000500000000000000" pitchFamily="2" charset="0"/>
              </a:rPr>
              <a:t>straight angle</a:t>
            </a:r>
            <a:endParaRPr lang="en-US" sz="5400" b="1" dirty="0">
              <a:solidFill>
                <a:schemeClr val="accent1">
                  <a:lumMod val="50000"/>
                </a:schemeClr>
              </a:solidFill>
              <a:latin typeface="Kiwi School Handwriting" panose="00000500000000000000" pitchFamily="2" charset="0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DAFF9EF6-86A2-42A5-AE9A-3FB82E18F8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9893" y="1697692"/>
            <a:ext cx="9689835" cy="384249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AU" sz="2800" b="1" dirty="0">
                <a:latin typeface="Century Gothic" panose="020B0502020202020204" pitchFamily="34" charset="0"/>
              </a:rPr>
              <a:t>Name: </a:t>
            </a:r>
            <a:r>
              <a:rPr lang="en-AU" sz="2800" b="1" dirty="0">
                <a:solidFill>
                  <a:srgbClr val="00B050"/>
                </a:solidFill>
                <a:latin typeface="Century Gothic" panose="020B0502020202020204" pitchFamily="34" charset="0"/>
              </a:rPr>
              <a:t>Straight angle</a:t>
            </a:r>
          </a:p>
          <a:p>
            <a:pPr marL="0" indent="0">
              <a:buNone/>
            </a:pPr>
            <a:endParaRPr lang="en-AU" sz="2800" dirty="0">
              <a:latin typeface="Century Gothic" panose="020B0502020202020204" pitchFamily="34" charset="0"/>
            </a:endParaRPr>
          </a:p>
          <a:p>
            <a:pPr marL="0" indent="0">
              <a:buNone/>
            </a:pPr>
            <a:r>
              <a:rPr lang="en-AU" sz="2800" b="1" dirty="0">
                <a:latin typeface="Century Gothic" panose="020B0502020202020204" pitchFamily="34" charset="0"/>
              </a:rPr>
              <a:t>Size: </a:t>
            </a:r>
            <a:r>
              <a:rPr lang="en-AU" sz="2800" dirty="0">
                <a:latin typeface="Century Gothic" panose="020B0502020202020204" pitchFamily="34" charset="0"/>
              </a:rPr>
              <a:t>exactly 180°</a:t>
            </a:r>
          </a:p>
          <a:p>
            <a:pPr marL="0" indent="0">
              <a:buNone/>
            </a:pPr>
            <a:endParaRPr lang="en-AU" sz="28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AU" sz="2800" b="1" dirty="0">
                <a:latin typeface="Calibri" panose="020F0502020204030204" pitchFamily="34" charset="0"/>
                <a:cs typeface="Calibri" panose="020F0502020204030204" pitchFamily="34" charset="0"/>
              </a:rPr>
              <a:t>Diagram: </a:t>
            </a:r>
          </a:p>
          <a:p>
            <a:pPr marL="0" indent="0">
              <a:buNone/>
            </a:pPr>
            <a:endParaRPr lang="en-US" sz="3200" b="1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0F5D27D-56BF-4F15-9ED7-36E6BDA05C70}"/>
              </a:ext>
            </a:extLst>
          </p:cNvPr>
          <p:cNvSpPr txBox="1"/>
          <p:nvPr/>
        </p:nvSpPr>
        <p:spPr>
          <a:xfrm>
            <a:off x="543375" y="5247800"/>
            <a:ext cx="5920210" cy="584775"/>
          </a:xfrm>
          <a:prstGeom prst="rect">
            <a:avLst/>
          </a:prstGeom>
          <a:noFill/>
          <a:ln w="38100">
            <a:solidFill>
              <a:schemeClr val="accent6"/>
            </a:solidFill>
          </a:ln>
        </p:spPr>
        <p:txBody>
          <a:bodyPr wrap="none" rtlCol="0">
            <a:spAutoFit/>
          </a:bodyPr>
          <a:lstStyle/>
          <a:p>
            <a:r>
              <a:rPr lang="en-AU" sz="3200" b="1" dirty="0"/>
              <a:t>A straight angle is a half turn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ACEE8CD-8406-41E4-BF2B-FE9499EAA0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35903" y="3509682"/>
            <a:ext cx="3195469" cy="112843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7567264-530F-4FEA-A9CC-228F3ECCABD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90790" y="1542490"/>
            <a:ext cx="4476750" cy="3095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33576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26550" y="404664"/>
            <a:ext cx="8608358" cy="1293028"/>
          </a:xfrm>
        </p:spPr>
        <p:txBody>
          <a:bodyPr>
            <a:normAutofit/>
          </a:bodyPr>
          <a:lstStyle/>
          <a:p>
            <a:r>
              <a:rPr lang="en-AU" sz="5400" b="1" dirty="0">
                <a:solidFill>
                  <a:schemeClr val="accent1">
                    <a:lumMod val="50000"/>
                  </a:schemeClr>
                </a:solidFill>
                <a:latin typeface="Kiwi School Handwriting" panose="00000500000000000000" pitchFamily="2" charset="0"/>
              </a:rPr>
              <a:t>reflex angle</a:t>
            </a:r>
            <a:endParaRPr lang="en-US" sz="5400" b="1" dirty="0">
              <a:solidFill>
                <a:schemeClr val="accent1">
                  <a:lumMod val="50000"/>
                </a:schemeClr>
              </a:solidFill>
              <a:latin typeface="Kiwi School Handwriting" panose="00000500000000000000" pitchFamily="2" charset="0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DAFF9EF6-86A2-42A5-AE9A-3FB82E18F8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9893" y="1697692"/>
            <a:ext cx="9689835" cy="384249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AU" sz="2800" b="1" dirty="0">
                <a:latin typeface="Century Gothic" panose="020B0502020202020204" pitchFamily="34" charset="0"/>
              </a:rPr>
              <a:t>Name: </a:t>
            </a:r>
            <a:r>
              <a:rPr lang="en-AU" sz="2800" b="1" dirty="0">
                <a:solidFill>
                  <a:srgbClr val="FFC000"/>
                </a:solidFill>
                <a:latin typeface="Century Gothic" panose="020B0502020202020204" pitchFamily="34" charset="0"/>
              </a:rPr>
              <a:t>Reflex angle</a:t>
            </a:r>
          </a:p>
          <a:p>
            <a:pPr marL="0" indent="0">
              <a:buNone/>
            </a:pPr>
            <a:endParaRPr lang="en-AU" sz="2800" dirty="0">
              <a:latin typeface="Century Gothic" panose="020B0502020202020204" pitchFamily="34" charset="0"/>
            </a:endParaRPr>
          </a:p>
          <a:p>
            <a:pPr marL="0" indent="0">
              <a:buNone/>
            </a:pPr>
            <a:r>
              <a:rPr lang="en-AU" sz="2800" b="1" dirty="0">
                <a:latin typeface="Century Gothic" panose="020B0502020202020204" pitchFamily="34" charset="0"/>
              </a:rPr>
              <a:t>Size: </a:t>
            </a:r>
            <a:r>
              <a:rPr lang="en-AU" sz="2800" dirty="0">
                <a:latin typeface="Century Gothic" panose="020B0502020202020204" pitchFamily="34" charset="0"/>
              </a:rPr>
              <a:t>between 180° and 360°</a:t>
            </a:r>
          </a:p>
          <a:p>
            <a:pPr marL="0" indent="0">
              <a:buNone/>
            </a:pPr>
            <a:endParaRPr lang="en-AU" sz="2800" dirty="0">
              <a:latin typeface="Century Gothic" panose="020B0502020202020204" pitchFamily="34" charset="0"/>
            </a:endParaRPr>
          </a:p>
          <a:p>
            <a:pPr marL="0" indent="0">
              <a:buNone/>
            </a:pPr>
            <a:endParaRPr lang="en-AU" sz="28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AU" sz="2800" b="1" dirty="0">
                <a:latin typeface="Calibri" panose="020F0502020204030204" pitchFamily="34" charset="0"/>
                <a:cs typeface="Calibri" panose="020F0502020204030204" pitchFamily="34" charset="0"/>
              </a:rPr>
              <a:t>Diagram: </a:t>
            </a:r>
          </a:p>
          <a:p>
            <a:pPr marL="0" indent="0">
              <a:buNone/>
            </a:pPr>
            <a:endParaRPr lang="en-US" sz="32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A1749A2-D158-4530-98FB-88B5E7EDAB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86330" y="3531048"/>
            <a:ext cx="2436999" cy="142436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5E88FEE-46F3-46C0-8E82-BBCAE287E68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36307" y="1475347"/>
            <a:ext cx="6255693" cy="44247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03290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26550" y="404664"/>
            <a:ext cx="8608358" cy="1293028"/>
          </a:xfrm>
        </p:spPr>
        <p:txBody>
          <a:bodyPr>
            <a:normAutofit/>
          </a:bodyPr>
          <a:lstStyle/>
          <a:p>
            <a:r>
              <a:rPr lang="en-AU" sz="5400" b="1" dirty="0">
                <a:solidFill>
                  <a:schemeClr val="accent1">
                    <a:lumMod val="50000"/>
                  </a:schemeClr>
                </a:solidFill>
                <a:latin typeface="Kiwi School Handwriting" panose="00000500000000000000" pitchFamily="2" charset="0"/>
              </a:rPr>
              <a:t>revolution angle</a:t>
            </a:r>
            <a:endParaRPr lang="en-US" sz="5400" b="1" dirty="0">
              <a:solidFill>
                <a:schemeClr val="accent1">
                  <a:lumMod val="50000"/>
                </a:schemeClr>
              </a:solidFill>
              <a:latin typeface="Kiwi School Handwriting" panose="00000500000000000000" pitchFamily="2" charset="0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DAFF9EF6-86A2-42A5-AE9A-3FB82E18F8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9893" y="1697692"/>
            <a:ext cx="9689835" cy="384249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AU" sz="2800" b="1" dirty="0">
                <a:latin typeface="Century Gothic" panose="020B0502020202020204" pitchFamily="34" charset="0"/>
              </a:rPr>
              <a:t>Name: </a:t>
            </a:r>
            <a:r>
              <a:rPr lang="en-AU" sz="2800" b="1" dirty="0">
                <a:solidFill>
                  <a:srgbClr val="002060"/>
                </a:solidFill>
                <a:latin typeface="Century Gothic" panose="020B0502020202020204" pitchFamily="34" charset="0"/>
              </a:rPr>
              <a:t>Revolution angle</a:t>
            </a:r>
          </a:p>
          <a:p>
            <a:pPr marL="0" indent="0">
              <a:buNone/>
            </a:pPr>
            <a:endParaRPr lang="en-AU" sz="2800" dirty="0">
              <a:latin typeface="Century Gothic" panose="020B0502020202020204" pitchFamily="34" charset="0"/>
            </a:endParaRPr>
          </a:p>
          <a:p>
            <a:pPr marL="0" indent="0">
              <a:buNone/>
            </a:pPr>
            <a:r>
              <a:rPr lang="en-AU" sz="2800" b="1" dirty="0">
                <a:latin typeface="Century Gothic" panose="020B0502020202020204" pitchFamily="34" charset="0"/>
              </a:rPr>
              <a:t>Size: </a:t>
            </a:r>
            <a:r>
              <a:rPr lang="en-AU" sz="2800" dirty="0">
                <a:latin typeface="Century Gothic" panose="020B0502020202020204" pitchFamily="34" charset="0"/>
              </a:rPr>
              <a:t>exactly 360°</a:t>
            </a:r>
          </a:p>
          <a:p>
            <a:pPr marL="0" indent="0">
              <a:buNone/>
            </a:pPr>
            <a:endParaRPr lang="en-AU" sz="2800" dirty="0">
              <a:latin typeface="Century Gothic" panose="020B0502020202020204" pitchFamily="34" charset="0"/>
            </a:endParaRPr>
          </a:p>
          <a:p>
            <a:pPr marL="0" indent="0">
              <a:buNone/>
            </a:pPr>
            <a:endParaRPr lang="en-AU" sz="28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AU" sz="2800" b="1" dirty="0">
                <a:latin typeface="Calibri" panose="020F0502020204030204" pitchFamily="34" charset="0"/>
                <a:cs typeface="Calibri" panose="020F0502020204030204" pitchFamily="34" charset="0"/>
              </a:rPr>
              <a:t>Diagram: </a:t>
            </a:r>
          </a:p>
          <a:p>
            <a:pPr marL="0" indent="0">
              <a:buNone/>
            </a:pPr>
            <a:endParaRPr lang="en-US" sz="3200"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9974E8B-062A-45FE-A026-42DB2E2A82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89691" y="3520825"/>
            <a:ext cx="2326062" cy="143833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0D32810-DF53-4F07-B5D3-B0EB6BBF6AD2}"/>
              </a:ext>
            </a:extLst>
          </p:cNvPr>
          <p:cNvSpPr txBox="1"/>
          <p:nvPr/>
        </p:nvSpPr>
        <p:spPr>
          <a:xfrm>
            <a:off x="583717" y="5538313"/>
            <a:ext cx="8021748" cy="584775"/>
          </a:xfrm>
          <a:prstGeom prst="rect">
            <a:avLst/>
          </a:prstGeom>
          <a:noFill/>
          <a:ln w="38100">
            <a:solidFill>
              <a:schemeClr val="accent6"/>
            </a:solidFill>
          </a:ln>
        </p:spPr>
        <p:txBody>
          <a:bodyPr wrap="none" rtlCol="0">
            <a:spAutoFit/>
          </a:bodyPr>
          <a:lstStyle/>
          <a:p>
            <a:r>
              <a:rPr lang="en-AU" sz="3200" b="1" dirty="0"/>
              <a:t>A revolution angle is one complete turn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BA9EA39-D862-4A1A-8625-4F482C33DFE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95883" y="2000120"/>
            <a:ext cx="4239026" cy="26799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91297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69074D7-7189-401B-B22C-96E7385E16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3671" y="0"/>
            <a:ext cx="5298884" cy="6850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811616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99656" y="404664"/>
            <a:ext cx="8608358" cy="1293028"/>
          </a:xfrm>
        </p:spPr>
        <p:txBody>
          <a:bodyPr>
            <a:normAutofit/>
          </a:bodyPr>
          <a:lstStyle/>
          <a:p>
            <a:r>
              <a:rPr lang="en-AU" sz="5400" b="1" dirty="0">
                <a:solidFill>
                  <a:schemeClr val="accent1">
                    <a:lumMod val="50000"/>
                  </a:schemeClr>
                </a:solidFill>
                <a:latin typeface="Kiwi School Handwriting" panose="00000500000000000000" pitchFamily="2" charset="0"/>
              </a:rPr>
              <a:t>Practice</a:t>
            </a:r>
            <a:endParaRPr lang="en-US" sz="5400" b="1" dirty="0">
              <a:solidFill>
                <a:schemeClr val="accent1">
                  <a:lumMod val="50000"/>
                </a:schemeClr>
              </a:solidFill>
              <a:latin typeface="Kiwi School Handwriting" panose="00000500000000000000" pitchFamily="2" charset="0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DAFF9EF6-86A2-42A5-AE9A-3FB82E18F8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83750" y="953061"/>
            <a:ext cx="4893768" cy="97827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AU" sz="3200" b="1" dirty="0">
                <a:latin typeface="Century Gothic" panose="020B0502020202020204" pitchFamily="34" charset="0"/>
              </a:rPr>
              <a:t>Which angle is which?!</a:t>
            </a:r>
          </a:p>
          <a:p>
            <a:pPr marL="0" indent="0">
              <a:buNone/>
            </a:pPr>
            <a:endParaRPr lang="en-AU" sz="32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endParaRPr lang="en-US" sz="3600" b="1" dirty="0"/>
          </a:p>
        </p:txBody>
      </p:sp>
      <p:pic>
        <p:nvPicPr>
          <p:cNvPr id="2050" name="Picture 2" descr="Related image">
            <a:extLst>
              <a:ext uri="{FF2B5EF4-FFF2-40B4-BE49-F238E27FC236}">
                <a16:creationId xmlns:a16="http://schemas.microsoft.com/office/drawing/2014/main" id="{5023107C-E100-41F9-A81A-F8C28FA4BF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8696" y="4532069"/>
            <a:ext cx="2404655" cy="22183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EFECF57-7E23-4C4C-9D2D-E4C926D4B5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74243" y="1596278"/>
            <a:ext cx="2772616" cy="2260932"/>
          </a:xfrm>
          <a:prstGeom prst="rect">
            <a:avLst/>
          </a:prstGeom>
        </p:spPr>
      </p:pic>
      <p:pic>
        <p:nvPicPr>
          <p:cNvPr id="2052" name="Picture 4" descr="Image result for obtuse angle">
            <a:extLst>
              <a:ext uri="{FF2B5EF4-FFF2-40B4-BE49-F238E27FC236}">
                <a16:creationId xmlns:a16="http://schemas.microsoft.com/office/drawing/2014/main" id="{EFA8900C-3B1F-4D0A-A57E-7AC3684863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969" y="1634381"/>
            <a:ext cx="3396101" cy="1690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B308C1E-BA0C-4047-A369-E69FED41F07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68497" y="4224013"/>
            <a:ext cx="3208534" cy="2074594"/>
          </a:xfrm>
          <a:prstGeom prst="rect">
            <a:avLst/>
          </a:prstGeom>
        </p:spPr>
      </p:pic>
      <p:pic>
        <p:nvPicPr>
          <p:cNvPr id="2054" name="Picture 6" descr="Image result for right angle">
            <a:extLst>
              <a:ext uri="{FF2B5EF4-FFF2-40B4-BE49-F238E27FC236}">
                <a16:creationId xmlns:a16="http://schemas.microsoft.com/office/drawing/2014/main" id="{6AB12A0C-0897-4D31-AA28-FF6CBBEE47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3072574">
            <a:off x="4458736" y="1820590"/>
            <a:ext cx="2183605" cy="20914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FABFC7B-0D2A-4C84-A2BA-D0FAF9B799F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17465422">
            <a:off x="9624522" y="4289344"/>
            <a:ext cx="2442376" cy="1943932"/>
          </a:xfrm>
          <a:prstGeom prst="rect">
            <a:avLst/>
          </a:prstGeom>
        </p:spPr>
      </p:pic>
      <p:pic>
        <p:nvPicPr>
          <p:cNvPr id="2056" name="Picture 8" descr="Image result for straight angle">
            <a:extLst>
              <a:ext uri="{FF2B5EF4-FFF2-40B4-BE49-F238E27FC236}">
                <a16:creationId xmlns:a16="http://schemas.microsoft.com/office/drawing/2014/main" id="{9E439A8C-15AB-4A7D-A0F5-A24FB3FBA0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89143" y="1751460"/>
            <a:ext cx="2363310" cy="23633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BF5205E4-0715-4DCA-B1E6-83A11D0C48CD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940244" y="4372423"/>
            <a:ext cx="3267075" cy="1476375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6B81F9E2-69C7-43B2-9F05-8326FDE01F30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5176" y="3432860"/>
            <a:ext cx="1644708" cy="1475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83040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0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0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0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847528" y="1298662"/>
            <a:ext cx="0" cy="5559338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77502" y="139888"/>
            <a:ext cx="409439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Topic: Type of Angles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69643" y="133060"/>
            <a:ext cx="1196534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060762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EQ – What are the different types of angles and how do I measure them?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1CBE7AA4-7B1E-40AC-ABF2-53B319996E18}"/>
              </a:ext>
            </a:extLst>
          </p:cNvPr>
          <p:cNvSpPr txBox="1"/>
          <p:nvPr/>
        </p:nvSpPr>
        <p:spPr>
          <a:xfrm>
            <a:off x="0" y="1477612"/>
            <a:ext cx="1720003" cy="11999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How to measure angles?</a:t>
            </a:r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AFB09015-7C9B-43F6-92CC-F579467E2D4E}"/>
              </a:ext>
            </a:extLst>
          </p:cNvPr>
          <p:cNvSpPr txBox="1">
            <a:spLocks/>
          </p:cNvSpPr>
          <p:nvPr/>
        </p:nvSpPr>
        <p:spPr>
          <a:xfrm>
            <a:off x="1995329" y="1700616"/>
            <a:ext cx="8936800" cy="4020671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AU" sz="2800" dirty="0">
                <a:latin typeface="Century Gothic" panose="020B0502020202020204" pitchFamily="34" charset="0"/>
              </a:rPr>
              <a:t>We use a nifty device called a </a:t>
            </a:r>
            <a:r>
              <a:rPr lang="en-AU" sz="2800" b="1" dirty="0">
                <a:latin typeface="Century Gothic" panose="020B0502020202020204" pitchFamily="34" charset="0"/>
              </a:rPr>
              <a:t>protractor</a:t>
            </a:r>
            <a:r>
              <a:rPr lang="en-AU" sz="2800" dirty="0">
                <a:latin typeface="Century Gothic" panose="020B0502020202020204" pitchFamily="34" charset="0"/>
              </a:rPr>
              <a:t>!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AU" sz="28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3200" b="1" dirty="0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B73F1C5B-1424-4B06-BBC7-97CFDED84C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45466" y="2762291"/>
            <a:ext cx="5705468" cy="29589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38883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B73F1C5B-1424-4B06-BBC7-97CFDED84C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7528" y="4525857"/>
            <a:ext cx="4355956" cy="2259106"/>
          </a:xfrm>
          <a:prstGeom prst="rect">
            <a:avLst/>
          </a:prstGeom>
        </p:spPr>
      </p:pic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847528" y="1298662"/>
            <a:ext cx="0" cy="5559338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77502" y="139888"/>
            <a:ext cx="409439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Topic: Type of Angles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69643" y="133060"/>
            <a:ext cx="1196534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060762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EQ – What are the different types of angles and how do I measure them?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1CBE7AA4-7B1E-40AC-ABF2-53B319996E18}"/>
              </a:ext>
            </a:extLst>
          </p:cNvPr>
          <p:cNvSpPr txBox="1"/>
          <p:nvPr/>
        </p:nvSpPr>
        <p:spPr>
          <a:xfrm>
            <a:off x="0" y="1477612"/>
            <a:ext cx="1720003" cy="11999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How to measure angles?</a:t>
            </a:r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AFB09015-7C9B-43F6-92CC-F579467E2D4E}"/>
              </a:ext>
            </a:extLst>
          </p:cNvPr>
          <p:cNvSpPr txBox="1">
            <a:spLocks/>
          </p:cNvSpPr>
          <p:nvPr/>
        </p:nvSpPr>
        <p:spPr>
          <a:xfrm>
            <a:off x="1975053" y="1477612"/>
            <a:ext cx="9791123" cy="4020671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AU" sz="2800" dirty="0">
                <a:latin typeface="Century Gothic" panose="020B0502020202020204" pitchFamily="34" charset="0"/>
              </a:rPr>
              <a:t>Step 1: Line up the bottom of the angle with the straight line of the protractor.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AU" sz="2800" b="1" dirty="0">
              <a:latin typeface="Century Gothic" panose="020B0502020202020204" pitchFamily="34" charset="0"/>
              <a:cs typeface="Calibri" panose="020F050202020403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AU" sz="28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74982CF-2A97-4DB5-B043-1F52695674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30019" y="2440507"/>
            <a:ext cx="4068215" cy="23708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58586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26 0.14583 L 0.00026 0.14629 C 0.00065 0.12361 0.00091 0.10115 0.00143 0.07893 C 0.00169 0.0699 0.00247 0.06134 0.00247 0.05231 C 0.00247 0.00046 0.00351 0.01111 0.00026 -0.01412 C -0.00222 -0.07084 0.00117 -0.01135 -0.00287 -0.05232 C -0.00339 -0.05787 -0.00352 -0.06389 -0.00391 -0.06945 C -0.0043 -0.07361 -0.00469 -0.07732 -0.00508 -0.08125 C -0.00547 -0.08588 -0.00573 -0.09121 -0.00612 -0.09584 C -0.0069 -0.10348 -0.00833 -0.11898 -0.00833 -0.11852 C -0.01016 -0.1588 -0.00781 -0.12848 -0.01159 -0.15394 C -0.01237 -0.15973 -0.0138 -0.17153 -0.0138 -0.17107 C -0.01458 -0.18588 -0.01458 -0.19098 -0.01602 -0.20348 C -0.01667 -0.20926 -0.01823 -0.22084 -0.01823 -0.2206 C -0.01849 -0.22685 -0.01875 -0.23264 -0.01914 -0.23843 C -0.0194 -0.24121 -0.02005 -0.24398 -0.02018 -0.24699 C -0.0207 -0.25278 -0.02083 -0.2588 -0.02136 -0.26459 C -0.02201 -0.27246 -0.02214 -0.28079 -0.02357 -0.28797 C -0.02435 -0.29167 -0.02513 -0.29537 -0.02578 -0.29954 C -0.02682 -0.30672 -0.02669 -0.31297 -0.028 -0.31991 C -0.02839 -0.32292 -0.0293 -0.3257 -0.03008 -0.32848 L -0.03229 -0.34584 C -0.03255 -0.34908 -0.03281 -0.35209 -0.03333 -0.35486 C -0.03516 -0.36412 -0.03659 -0.37246 -0.03867 -0.38102 C -0.03932 -0.3831 -0.04024 -0.38473 -0.04089 -0.38681 C -0.05091 -0.41713 -0.0418 -0.3919 -0.05182 -0.41875 C -0.05781 -0.4507 -0.04987 -0.41158 -0.05716 -0.43912 C -0.0582 -0.44283 -0.05847 -0.44723 -0.05938 -0.4507 C -0.06068 -0.4551 -0.0625 -0.45834 -0.0638 -0.46227 C -0.06458 -0.46505 -0.06511 -0.46852 -0.06589 -0.4713 C -0.06732 -0.47547 -0.06901 -0.47848 -0.07031 -0.48264 C -0.07149 -0.48681 -0.07487 -0.50324 -0.07565 -0.50903 C -0.07656 -0.51459 -0.07682 -0.52107 -0.07787 -0.52616 C -0.07943 -0.53403 -0.08047 -0.54236 -0.08229 -0.54954 C -0.08294 -0.55278 -0.08386 -0.55533 -0.08438 -0.55857 C -0.08529 -0.56297 -0.0862 -0.57477 -0.08659 -0.57871 C -0.08737 -0.58565 -0.08815 -0.59213 -0.0888 -0.59908 C -0.08919 -0.60324 -0.08945 -0.60695 -0.08998 -0.61065 C -0.09063 -0.61667 -0.09193 -0.62824 -0.09193 -0.62801 C -0.09024 -0.64861 -0.09271 -0.63449 -0.08438 -0.64584 C -0.07643 -0.65648 -0.08386 -0.64792 -0.07461 -0.6544 C -0.07253 -0.65602 -0.07031 -0.6588 -0.0681 -0.66019 C -0.06667 -0.66111 -0.06511 -0.66181 -0.0638 -0.6632 C -0.06159 -0.66505 -0.05951 -0.66806 -0.05716 -0.66922 L -0.05078 -0.67176 C -0.04323 -0.67871 -0.04258 -0.68033 -0.03333 -0.68033 C -0.03008 -0.68033 -0.02682 -0.67871 -0.02357 -0.67778 C -0.02279 -0.6757 -0.02227 -0.67361 -0.02136 -0.67176 C -0.01745 -0.66459 -0.01706 -0.66667 -0.01263 -0.6632 C -0.01042 -0.66158 -0.00847 -0.6588 -0.00612 -0.65741 L 0.00247 -0.65162 C 0.01042 -0.63033 -0.00065 -0.6581 0.01458 -0.63102 C 0.01562 -0.62917 0.01667 -0.62685 0.01771 -0.62547 C 0.01979 -0.62269 0.02213 -0.62176 0.02435 -0.61968 C 0.03542 -0.60857 0.02448 -0.61898 0.03411 -0.60787 C 0.04036 -0.6007 0.03437 -0.61042 0.04062 -0.59908 C 0.04127 -0.5963 0.04206 -0.59329 0.04284 -0.59051 C 0.04388 -0.58635 0.04505 -0.58287 0.04596 -0.57871 C 0.05078 -0.55857 0.04544 -0.5757 0.05039 -0.54954 L 0.0526 -0.53797 C 0.05573 -0.50348 0.05091 -0.5581 0.05469 -0.50602 C 0.05547 -0.4956 0.05599 -0.48218 0.05911 -0.47408 C 0.06002 -0.47153 0.06133 -0.47037 0.06237 -0.46829 C 0.06419 -0.45348 0.06211 -0.46435 0.06667 -0.45371 C 0.07187 -0.44167 0.07135 -0.44213 0.07422 -0.43033 C 0.07487 -0.42246 0.07604 -0.40463 0.0776 -0.39838 C 0.07903 -0.3926 0.08008 -0.38588 0.0819 -0.38102 C 0.08385 -0.37547 0.08489 -0.37385 0.08633 -0.36644 C 0.08685 -0.36389 0.08698 -0.36065 0.08737 -0.35764 C 0.08776 -0.35 0.08815 -0.34213 0.08854 -0.33426 C 0.08893 -0.3257 0.08906 -0.31667 0.08958 -0.3081 C 0.09062 -0.28889 0.09062 -0.30579 0.09062 -0.29653 L 0.09062 -0.29607 " pathEditMode="relative" rAng="0" ptsTypes="AAAAAAAAAAAAAAAAAAAAAAAAAAAAAAAAAAAAAAAAAAAAAAAAAAAAAAAAAAAAAAAAAAAAAAAAA">
                                      <p:cBhvr>
                                        <p:cTn id="11" dur="2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91" y="-4129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B73F1C5B-1424-4B06-BBC7-97CFDED84C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52041" y="2453103"/>
            <a:ext cx="4355956" cy="2259106"/>
          </a:xfrm>
          <a:prstGeom prst="rect">
            <a:avLst/>
          </a:prstGeom>
        </p:spPr>
      </p:pic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847528" y="1298662"/>
            <a:ext cx="0" cy="5559338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77502" y="139888"/>
            <a:ext cx="409439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Topic: Type of Angles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69643" y="133060"/>
            <a:ext cx="1196534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060762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EQ – What are the different types of angles and how do I measure them?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1CBE7AA4-7B1E-40AC-ABF2-53B319996E18}"/>
              </a:ext>
            </a:extLst>
          </p:cNvPr>
          <p:cNvSpPr txBox="1"/>
          <p:nvPr/>
        </p:nvSpPr>
        <p:spPr>
          <a:xfrm>
            <a:off x="0" y="1477612"/>
            <a:ext cx="1720003" cy="11999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How to measure angles?</a:t>
            </a:r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AFB09015-7C9B-43F6-92CC-F579467E2D4E}"/>
              </a:ext>
            </a:extLst>
          </p:cNvPr>
          <p:cNvSpPr txBox="1">
            <a:spLocks/>
          </p:cNvSpPr>
          <p:nvPr/>
        </p:nvSpPr>
        <p:spPr>
          <a:xfrm>
            <a:off x="1975053" y="1477612"/>
            <a:ext cx="9791123" cy="4909936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AU" sz="2800" dirty="0">
                <a:latin typeface="Century Gothic" panose="020B0502020202020204" pitchFamily="34" charset="0"/>
              </a:rPr>
              <a:t>Step 2: Measure from the bottom arm to the top arm of the angle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AU" sz="2800" dirty="0">
              <a:latin typeface="Century Gothic" panose="020B0502020202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AU" sz="2800" dirty="0">
              <a:latin typeface="Century Gothic" panose="020B0502020202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AU" sz="2800" dirty="0">
              <a:latin typeface="Century Gothic" panose="020B0502020202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AU" sz="2800" dirty="0">
              <a:latin typeface="Century Gothic" panose="020B0502020202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AU" sz="2800" dirty="0">
              <a:latin typeface="Century Gothic" panose="020B0502020202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AU" sz="2800" dirty="0">
              <a:latin typeface="Century Gothic" panose="020B0502020202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AU" sz="2800" i="1" dirty="0">
                <a:latin typeface="Century Gothic" panose="020B0502020202020204" pitchFamily="34" charset="0"/>
              </a:rPr>
              <a:t>Make sure the vertex is lined up with the middle of the protractor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AU" sz="2800" b="1" dirty="0">
              <a:latin typeface="Century Gothic" panose="020B0502020202020204" pitchFamily="34" charset="0"/>
              <a:cs typeface="Calibri" panose="020F050202020403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AU" sz="28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74982CF-2A97-4DB5-B043-1F52695674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30019" y="2440507"/>
            <a:ext cx="4068215" cy="2370819"/>
          </a:xfrm>
          <a:prstGeom prst="rect">
            <a:avLst/>
          </a:prstGeom>
        </p:spPr>
      </p:pic>
      <p:sp>
        <p:nvSpPr>
          <p:cNvPr id="3" name="Freeform: Shape 2">
            <a:extLst>
              <a:ext uri="{FF2B5EF4-FFF2-40B4-BE49-F238E27FC236}">
                <a16:creationId xmlns:a16="http://schemas.microsoft.com/office/drawing/2014/main" id="{01BBAE57-962C-4036-994B-B98429263B86}"/>
              </a:ext>
            </a:extLst>
          </p:cNvPr>
          <p:cNvSpPr/>
          <p:nvPr/>
        </p:nvSpPr>
        <p:spPr>
          <a:xfrm>
            <a:off x="6917635" y="3498574"/>
            <a:ext cx="304800" cy="1099930"/>
          </a:xfrm>
          <a:custGeom>
            <a:avLst/>
            <a:gdLst>
              <a:gd name="connsiteX0" fmla="*/ 304800 w 304800"/>
              <a:gd name="connsiteY0" fmla="*/ 1099930 h 1099930"/>
              <a:gd name="connsiteX1" fmla="*/ 291548 w 304800"/>
              <a:gd name="connsiteY1" fmla="*/ 927652 h 1099930"/>
              <a:gd name="connsiteX2" fmla="*/ 278295 w 304800"/>
              <a:gd name="connsiteY2" fmla="*/ 887896 h 1099930"/>
              <a:gd name="connsiteX3" fmla="*/ 265043 w 304800"/>
              <a:gd name="connsiteY3" fmla="*/ 821635 h 1099930"/>
              <a:gd name="connsiteX4" fmla="*/ 238539 w 304800"/>
              <a:gd name="connsiteY4" fmla="*/ 636104 h 1099930"/>
              <a:gd name="connsiteX5" fmla="*/ 225287 w 304800"/>
              <a:gd name="connsiteY5" fmla="*/ 596348 h 1099930"/>
              <a:gd name="connsiteX6" fmla="*/ 212035 w 304800"/>
              <a:gd name="connsiteY6" fmla="*/ 543339 h 1099930"/>
              <a:gd name="connsiteX7" fmla="*/ 198782 w 304800"/>
              <a:gd name="connsiteY7" fmla="*/ 503583 h 1099930"/>
              <a:gd name="connsiteX8" fmla="*/ 172278 w 304800"/>
              <a:gd name="connsiteY8" fmla="*/ 397565 h 1099930"/>
              <a:gd name="connsiteX9" fmla="*/ 159026 w 304800"/>
              <a:gd name="connsiteY9" fmla="*/ 344556 h 1099930"/>
              <a:gd name="connsiteX10" fmla="*/ 132522 w 304800"/>
              <a:gd name="connsiteY10" fmla="*/ 265043 h 1099930"/>
              <a:gd name="connsiteX11" fmla="*/ 119269 w 304800"/>
              <a:gd name="connsiteY11" fmla="*/ 225287 h 1099930"/>
              <a:gd name="connsiteX12" fmla="*/ 92765 w 304800"/>
              <a:gd name="connsiteY12" fmla="*/ 185530 h 1099930"/>
              <a:gd name="connsiteX13" fmla="*/ 53008 w 304800"/>
              <a:gd name="connsiteY13" fmla="*/ 106017 h 1099930"/>
              <a:gd name="connsiteX14" fmla="*/ 0 w 304800"/>
              <a:gd name="connsiteY14" fmla="*/ 0 h 10999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304800" h="1099930">
                <a:moveTo>
                  <a:pt x="304800" y="1099930"/>
                </a:moveTo>
                <a:cubicBezTo>
                  <a:pt x="300383" y="1042504"/>
                  <a:pt x="298692" y="984803"/>
                  <a:pt x="291548" y="927652"/>
                </a:cubicBezTo>
                <a:cubicBezTo>
                  <a:pt x="289815" y="913791"/>
                  <a:pt x="281683" y="901448"/>
                  <a:pt x="278295" y="887896"/>
                </a:cubicBezTo>
                <a:cubicBezTo>
                  <a:pt x="272832" y="866044"/>
                  <a:pt x="268228" y="843933"/>
                  <a:pt x="265043" y="821635"/>
                </a:cubicBezTo>
                <a:cubicBezTo>
                  <a:pt x="251300" y="725430"/>
                  <a:pt x="258512" y="715996"/>
                  <a:pt x="238539" y="636104"/>
                </a:cubicBezTo>
                <a:cubicBezTo>
                  <a:pt x="235151" y="622552"/>
                  <a:pt x="229124" y="609779"/>
                  <a:pt x="225287" y="596348"/>
                </a:cubicBezTo>
                <a:cubicBezTo>
                  <a:pt x="220283" y="578835"/>
                  <a:pt x="217039" y="560852"/>
                  <a:pt x="212035" y="543339"/>
                </a:cubicBezTo>
                <a:cubicBezTo>
                  <a:pt x="208197" y="529908"/>
                  <a:pt x="202458" y="517060"/>
                  <a:pt x="198782" y="503583"/>
                </a:cubicBezTo>
                <a:cubicBezTo>
                  <a:pt x="189197" y="468440"/>
                  <a:pt x="181113" y="432904"/>
                  <a:pt x="172278" y="397565"/>
                </a:cubicBezTo>
                <a:cubicBezTo>
                  <a:pt x="167861" y="379895"/>
                  <a:pt x="164786" y="361835"/>
                  <a:pt x="159026" y="344556"/>
                </a:cubicBezTo>
                <a:lnTo>
                  <a:pt x="132522" y="265043"/>
                </a:lnTo>
                <a:cubicBezTo>
                  <a:pt x="128105" y="251791"/>
                  <a:pt x="127017" y="236910"/>
                  <a:pt x="119269" y="225287"/>
                </a:cubicBezTo>
                <a:cubicBezTo>
                  <a:pt x="110434" y="212035"/>
                  <a:pt x="99888" y="199776"/>
                  <a:pt x="92765" y="185530"/>
                </a:cubicBezTo>
                <a:cubicBezTo>
                  <a:pt x="37903" y="75805"/>
                  <a:pt x="128963" y="219948"/>
                  <a:pt x="53008" y="106017"/>
                </a:cubicBezTo>
                <a:cubicBezTo>
                  <a:pt x="22553" y="14651"/>
                  <a:pt x="46259" y="46259"/>
                  <a:pt x="0" y="0"/>
                </a:cubicBezTo>
              </a:path>
            </a:pathLst>
          </a:cu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767250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B73F1C5B-1424-4B06-BBC7-97CFDED84C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40431" y="2319130"/>
            <a:ext cx="5570029" cy="2888754"/>
          </a:xfrm>
          <a:prstGeom prst="rect">
            <a:avLst/>
          </a:prstGeom>
        </p:spPr>
      </p:pic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847528" y="1298662"/>
            <a:ext cx="0" cy="5559338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77502" y="139888"/>
            <a:ext cx="409439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Topic: Type of Angles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69643" y="133060"/>
            <a:ext cx="1196534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060762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EQ – What are the different types of angles and how do I measure them?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1CBE7AA4-7B1E-40AC-ABF2-53B319996E18}"/>
              </a:ext>
            </a:extLst>
          </p:cNvPr>
          <p:cNvSpPr txBox="1"/>
          <p:nvPr/>
        </p:nvSpPr>
        <p:spPr>
          <a:xfrm>
            <a:off x="0" y="1477612"/>
            <a:ext cx="1720003" cy="11999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How to measure angles?</a:t>
            </a:r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AFB09015-7C9B-43F6-92CC-F579467E2D4E}"/>
              </a:ext>
            </a:extLst>
          </p:cNvPr>
          <p:cNvSpPr txBox="1">
            <a:spLocks/>
          </p:cNvSpPr>
          <p:nvPr/>
        </p:nvSpPr>
        <p:spPr>
          <a:xfrm>
            <a:off x="1975053" y="1477612"/>
            <a:ext cx="9791123" cy="4020671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AU" sz="2800" dirty="0">
                <a:latin typeface="Century Gothic" panose="020B0502020202020204" pitchFamily="34" charset="0"/>
              </a:rPr>
              <a:t>Step 3: Read the protractor = 31°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AU" sz="2800" b="1" dirty="0">
              <a:latin typeface="Century Gothic" panose="020B0502020202020204" pitchFamily="34" charset="0"/>
              <a:cs typeface="Calibri" panose="020F050202020403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AU" sz="28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74982CF-2A97-4DB5-B043-1F52695674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34843" y="2077584"/>
            <a:ext cx="5551233" cy="3235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87150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847528" y="1298662"/>
            <a:ext cx="0" cy="5559338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77502" y="139888"/>
            <a:ext cx="409439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Topic: Type of Angles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69643" y="133060"/>
            <a:ext cx="1196534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060762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EQ – What are the different types of angles and how do I measure them?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1CBE7AA4-7B1E-40AC-ABF2-53B319996E18}"/>
              </a:ext>
            </a:extLst>
          </p:cNvPr>
          <p:cNvSpPr txBox="1"/>
          <p:nvPr/>
        </p:nvSpPr>
        <p:spPr>
          <a:xfrm>
            <a:off x="0" y="1477612"/>
            <a:ext cx="1720003" cy="15691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How to measure reflex angles?</a:t>
            </a:r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AFB09015-7C9B-43F6-92CC-F579467E2D4E}"/>
              </a:ext>
            </a:extLst>
          </p:cNvPr>
          <p:cNvSpPr txBox="1">
            <a:spLocks/>
          </p:cNvSpPr>
          <p:nvPr/>
        </p:nvSpPr>
        <p:spPr>
          <a:xfrm>
            <a:off x="1975053" y="1477612"/>
            <a:ext cx="9791123" cy="4020671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AU" sz="2800" b="1" dirty="0">
                <a:latin typeface="Century Gothic" panose="020B0502020202020204" pitchFamily="34" charset="0"/>
              </a:rPr>
              <a:t>Step 1: </a:t>
            </a:r>
            <a:r>
              <a:rPr lang="en-AU" sz="2800" dirty="0">
                <a:latin typeface="Century Gothic" panose="020B0502020202020204" pitchFamily="34" charset="0"/>
              </a:rPr>
              <a:t>Measure the inside angle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AU" sz="2800" dirty="0">
              <a:latin typeface="Century Gothic" panose="020B0502020202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AU" sz="2800" dirty="0">
                <a:latin typeface="Century Gothic" panose="020B0502020202020204" pitchFamily="34" charset="0"/>
              </a:rPr>
              <a:t>Inside angle = 100°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AU" sz="2800" dirty="0">
              <a:latin typeface="Century Gothic" panose="020B0502020202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AU" sz="2800" b="1" dirty="0">
                <a:latin typeface="Century Gothic" panose="020B0502020202020204" pitchFamily="34" charset="0"/>
              </a:rPr>
              <a:t>Step 2: </a:t>
            </a:r>
            <a:r>
              <a:rPr lang="en-AU" sz="2800" dirty="0">
                <a:latin typeface="Century Gothic" panose="020B0502020202020204" pitchFamily="34" charset="0"/>
              </a:rPr>
              <a:t>Reflex angle = 360 – 100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AU" sz="2800" dirty="0">
                <a:latin typeface="Century Gothic" panose="020B0502020202020204" pitchFamily="34" charset="0"/>
              </a:rPr>
              <a:t>			        </a:t>
            </a:r>
            <a:r>
              <a:rPr lang="en-AU" sz="2800" b="1" dirty="0">
                <a:solidFill>
                  <a:srgbClr val="FF0000"/>
                </a:solidFill>
                <a:latin typeface="Century Gothic" panose="020B0502020202020204" pitchFamily="34" charset="0"/>
              </a:rPr>
              <a:t>= 260°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AU" sz="2800" b="1" dirty="0">
              <a:latin typeface="Century Gothic" panose="020B0502020202020204" pitchFamily="34" charset="0"/>
              <a:cs typeface="Calibri" panose="020F050202020403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AU" sz="28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559984D-EAB3-4F24-8674-F18F9603B8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18052" y="1389371"/>
            <a:ext cx="3114675" cy="2905125"/>
          </a:xfrm>
          <a:prstGeom prst="rect">
            <a:avLst/>
          </a:prstGeom>
        </p:spPr>
      </p:pic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0EC9EF7D-1A70-4984-92DF-3932E74E83E0}"/>
              </a:ext>
            </a:extLst>
          </p:cNvPr>
          <p:cNvCxnSpPr>
            <a:cxnSpLocks/>
          </p:cNvCxnSpPr>
          <p:nvPr/>
        </p:nvCxnSpPr>
        <p:spPr>
          <a:xfrm flipH="1">
            <a:off x="9474379" y="2703028"/>
            <a:ext cx="601011" cy="62049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24014865-F225-4D49-B85F-392A11955A88}"/>
              </a:ext>
            </a:extLst>
          </p:cNvPr>
          <p:cNvSpPr txBox="1"/>
          <p:nvPr/>
        </p:nvSpPr>
        <p:spPr>
          <a:xfrm>
            <a:off x="9386282" y="2166496"/>
            <a:ext cx="250741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000" b="1" dirty="0"/>
              <a:t>Inside acute angle</a:t>
            </a:r>
          </a:p>
        </p:txBody>
      </p:sp>
    </p:spTree>
    <p:extLst>
      <p:ext uri="{BB962C8B-B14F-4D97-AF65-F5344CB8AC3E}">
        <p14:creationId xmlns:p14="http://schemas.microsoft.com/office/powerpoint/2010/main" val="13139989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2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2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99656" y="404664"/>
            <a:ext cx="8608358" cy="1293028"/>
          </a:xfrm>
        </p:spPr>
        <p:txBody>
          <a:bodyPr>
            <a:normAutofit/>
          </a:bodyPr>
          <a:lstStyle/>
          <a:p>
            <a:r>
              <a:rPr lang="en-AU" sz="5400" b="1" dirty="0">
                <a:solidFill>
                  <a:schemeClr val="accent1">
                    <a:lumMod val="50000"/>
                  </a:schemeClr>
                </a:solidFill>
                <a:latin typeface="Kiwi School Handwriting" panose="00000500000000000000" pitchFamily="2" charset="0"/>
              </a:rPr>
              <a:t>Practice</a:t>
            </a:r>
            <a:endParaRPr lang="en-US" sz="5400" b="1" dirty="0">
              <a:solidFill>
                <a:schemeClr val="accent1">
                  <a:lumMod val="50000"/>
                </a:schemeClr>
              </a:solidFill>
              <a:latin typeface="Kiwi School Handwriting" panose="00000500000000000000" pitchFamily="2" charset="0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DAFF9EF6-86A2-42A5-AE9A-3FB82E18F8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3227" y="2331287"/>
            <a:ext cx="6826442" cy="393699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AU" sz="3200" b="1" dirty="0">
                <a:latin typeface="Century Gothic" panose="020B0502020202020204" pitchFamily="34" charset="0"/>
              </a:rPr>
              <a:t>Stickman Angles Worksheet</a:t>
            </a:r>
          </a:p>
          <a:p>
            <a:pPr marL="0" indent="0">
              <a:buNone/>
            </a:pPr>
            <a:endParaRPr lang="en-AU" sz="3200" b="1" dirty="0">
              <a:latin typeface="Century Gothic" panose="020B0502020202020204" pitchFamily="34" charset="0"/>
            </a:endParaRPr>
          </a:p>
          <a:p>
            <a:pPr marL="0" indent="0">
              <a:buNone/>
            </a:pPr>
            <a:r>
              <a:rPr lang="en-AU" sz="3200" dirty="0">
                <a:latin typeface="Century Gothic" panose="020B0502020202020204" pitchFamily="34" charset="0"/>
              </a:rPr>
              <a:t>Find and label as many angles as you can on the stickmen</a:t>
            </a:r>
          </a:p>
          <a:p>
            <a:pPr marL="0" indent="0">
              <a:buNone/>
            </a:pPr>
            <a:endParaRPr lang="en-AU" sz="32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sz="3600" b="1" dirty="0">
                <a:solidFill>
                  <a:schemeClr val="accent3"/>
                </a:solidFill>
              </a:rPr>
              <a:t>Complete your summery!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922FCCE-D807-43E9-A057-14FA7F64AB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77600" y="1472513"/>
            <a:ext cx="2809875" cy="5305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7078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Vapor Trail">
  <a:themeElements>
    <a:clrScheme name="Vapor Trail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E5224E"/>
      </a:accent1>
      <a:accent2>
        <a:srgbClr val="9D074E"/>
      </a:accent2>
      <a:accent3>
        <a:srgbClr val="7F2294"/>
      </a:accent3>
      <a:accent4>
        <a:srgbClr val="8D65EA"/>
      </a:accent4>
      <a:accent5>
        <a:srgbClr val="588FE2"/>
      </a:accent5>
      <a:accent6>
        <a:srgbClr val="127CA4"/>
      </a:accent6>
      <a:hlink>
        <a:srgbClr val="FB4AB6"/>
      </a:hlink>
      <a:folHlink>
        <a:srgbClr val="F98FE9"/>
      </a:folHlink>
    </a:clrScheme>
    <a:fontScheme name="Vapor Trail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Vapor Trail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6DB8EB18-3657-4051-A897-2ED38832359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Vapor Trail</Template>
  <TotalTime>199</TotalTime>
  <Words>740</Words>
  <Application>Microsoft Office PowerPoint</Application>
  <PresentationFormat>Widescreen</PresentationFormat>
  <Paragraphs>173</Paragraphs>
  <Slides>21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7" baseType="lpstr">
      <vt:lpstr>Arial</vt:lpstr>
      <vt:lpstr>Calibri</vt:lpstr>
      <vt:lpstr>Century Gothic</vt:lpstr>
      <vt:lpstr>DJB Fancy Nancy</vt:lpstr>
      <vt:lpstr>Kiwi School Handwriting</vt:lpstr>
      <vt:lpstr>Vapor Trail</vt:lpstr>
      <vt:lpstr>Types of angles</vt:lpstr>
      <vt:lpstr>Learning Intentions</vt:lpstr>
      <vt:lpstr>Think-pair-share</vt:lpstr>
      <vt:lpstr>PowerPoint Presentation</vt:lpstr>
      <vt:lpstr>PowerPoint Presentation</vt:lpstr>
      <vt:lpstr>PowerPoint Presentation</vt:lpstr>
      <vt:lpstr>Acute angle</vt:lpstr>
      <vt:lpstr>Right angle</vt:lpstr>
      <vt:lpstr>PowerPoint Presentation</vt:lpstr>
      <vt:lpstr>Obtuse angle</vt:lpstr>
      <vt:lpstr>straight angle</vt:lpstr>
      <vt:lpstr>reflex angle</vt:lpstr>
      <vt:lpstr>revolution angle</vt:lpstr>
      <vt:lpstr>PowerPoint Presentation</vt:lpstr>
      <vt:lpstr>Practice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Practice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Nine Labuschagne</dc:creator>
  <cp:lastModifiedBy>Nine Labuschagne</cp:lastModifiedBy>
  <cp:revision>17</cp:revision>
  <dcterms:created xsi:type="dcterms:W3CDTF">2017-10-04T08:09:40Z</dcterms:created>
  <dcterms:modified xsi:type="dcterms:W3CDTF">2017-10-08T10:24:22Z</dcterms:modified>
</cp:coreProperties>
</file>
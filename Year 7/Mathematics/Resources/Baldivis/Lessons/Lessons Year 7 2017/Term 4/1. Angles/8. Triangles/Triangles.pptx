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3" r:id="rId2"/>
    <p:sldId id="284" r:id="rId3"/>
    <p:sldId id="263" r:id="rId4"/>
    <p:sldId id="269" r:id="rId5"/>
    <p:sldId id="270" r:id="rId6"/>
    <p:sldId id="271" r:id="rId7"/>
    <p:sldId id="272" r:id="rId8"/>
    <p:sldId id="273" r:id="rId9"/>
    <p:sldId id="274" r:id="rId10"/>
    <p:sldId id="257" r:id="rId11"/>
    <p:sldId id="26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65" r:id="rId21"/>
    <p:sldId id="26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There is an extra worksheet</a:t>
            </a:r>
            <a:r>
              <a:rPr lang="en-AU" baseline="0" dirty="0" smtClean="0"/>
              <a:t> available to assign as homework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2482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You</a:t>
            </a:r>
            <a:r>
              <a:rPr lang="en-AU" baseline="0" dirty="0" smtClean="0"/>
              <a:t> can either deliver this as expert groups or just present the notes on the board and have student fill them in</a:t>
            </a:r>
          </a:p>
          <a:p>
            <a:endParaRPr lang="en-AU" baseline="0" dirty="0" smtClean="0"/>
          </a:p>
          <a:p>
            <a:r>
              <a:rPr lang="en-AU" baseline="0" dirty="0" smtClean="0"/>
              <a:t>Hand out fish bone template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93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Closure/ exit pass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Closure/ exit pass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6299535-61B3-4665-92F4-98122280E7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512072B-701F-41FB-912D-67C15517EE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2AD38DF-5EAC-4FCE-88A8-D6B9A4FA0F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24866B-4CD1-4790-9D6B-9EAC472D74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776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19/10/2017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Naming Angles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This angle is called 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0" dirty="0" smtClean="0">
                <a:ea typeface="Cambria Math"/>
              </a:rPr>
              <a:t>∠ABC</a:t>
            </a:r>
            <a:br>
              <a:rPr lang="en-AU" b="0" dirty="0" smtClean="0">
                <a:ea typeface="Cambria Math"/>
              </a:rPr>
            </a:br>
            <a:r>
              <a:rPr lang="en-AU" dirty="0" smtClean="0">
                <a:ea typeface="Cambria Math"/>
              </a:rPr>
              <a:t>∠B</a:t>
            </a:r>
            <a:endParaRPr lang="en-AU" dirty="0">
              <a:ea typeface="Cambria Math"/>
            </a:endParaRPr>
          </a:p>
          <a:p>
            <a:pPr marL="0" indent="0">
              <a:buNone/>
            </a:pPr>
            <a:r>
              <a:rPr lang="en-AU" dirty="0" smtClean="0">
                <a:ea typeface="Cambria Math"/>
              </a:rPr>
              <a:t>∠CAB</a:t>
            </a:r>
            <a:endParaRPr lang="en-AU" dirty="0">
              <a:ea typeface="Cambria Math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28800"/>
            <a:ext cx="2905125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472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Name these angles</a:t>
            </a:r>
            <a:endParaRPr lang="en-AU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3507"/>
            <a:ext cx="3024336" cy="2238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623507"/>
            <a:ext cx="1743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046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Fish Bone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Complete the fish bone</a:t>
            </a: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For types of Triangles</a:t>
            </a:r>
            <a:endParaRPr lang="en-AU" dirty="0" smtClean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WIC</a:t>
            </a:r>
            <a:r>
              <a:rPr lang="en-AU" b="1" dirty="0" smtClean="0">
                <a:solidFill>
                  <a:srgbClr val="00B050"/>
                </a:solidFill>
              </a:rPr>
              <a:t>O</a:t>
            </a:r>
            <a:r>
              <a:rPr lang="en-AU" b="1" dirty="0" smtClean="0"/>
              <a:t>R</a:t>
            </a:r>
            <a:endParaRPr lang="en-AU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15" y="2996952"/>
            <a:ext cx="7326982" cy="3450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Isosceles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smtClean="0"/>
              <a:t>Two sides are equal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r>
              <a:rPr lang="en-AU" b="1" dirty="0" smtClean="0"/>
              <a:t>Two angles are equal</a:t>
            </a:r>
            <a:endParaRPr lang="en-AU" b="1" dirty="0"/>
          </a:p>
        </p:txBody>
      </p:sp>
      <p:sp>
        <p:nvSpPr>
          <p:cNvPr id="4" name="Isosceles Triangle 3"/>
          <p:cNvSpPr/>
          <p:nvPr/>
        </p:nvSpPr>
        <p:spPr>
          <a:xfrm>
            <a:off x="4788024" y="2060848"/>
            <a:ext cx="2520280" cy="266429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 rot="19591701">
            <a:off x="6422268" y="3356991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 rot="1464954">
            <a:off x="5162928" y="3356992"/>
            <a:ext cx="504056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/>
          <p:cNvSpPr/>
          <p:nvPr/>
        </p:nvSpPr>
        <p:spPr>
          <a:xfrm>
            <a:off x="4912691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/>
          <p:cNvSpPr/>
          <p:nvPr/>
        </p:nvSpPr>
        <p:spPr>
          <a:xfrm>
            <a:off x="6904385" y="4437112"/>
            <a:ext cx="24437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851920" y="1916832"/>
            <a:ext cx="259228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851920" y="1916832"/>
            <a:ext cx="1182957" cy="13071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067944" y="4221088"/>
            <a:ext cx="260635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67944" y="4221088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6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Scalene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smtClean="0"/>
              <a:t>No sides equal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b="1" dirty="0" smtClean="0"/>
              <a:t>No angles equal</a:t>
            </a:r>
            <a:endParaRPr lang="en-AU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44824"/>
            <a:ext cx="5271280" cy="2297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40" y="4077072"/>
            <a:ext cx="135255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Equilateral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All sides are equal</a:t>
            </a:r>
          </a:p>
          <a:p>
            <a:endParaRPr lang="en-AU" dirty="0" smtClean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All Angles are equal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916832"/>
            <a:ext cx="3384376" cy="253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635896" y="2060848"/>
            <a:ext cx="1656184" cy="7920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635896" y="2060848"/>
            <a:ext cx="3240360" cy="86409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635896" y="2060848"/>
            <a:ext cx="2376264" cy="1800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52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Right angle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1" dirty="0" smtClean="0"/>
              <a:t>One Right Angle (90°)</a:t>
            </a:r>
            <a:endParaRPr lang="en-AU" b="1" dirty="0"/>
          </a:p>
        </p:txBody>
      </p:sp>
      <p:sp>
        <p:nvSpPr>
          <p:cNvPr id="4" name="Right Triangle 3"/>
          <p:cNvSpPr/>
          <p:nvPr/>
        </p:nvSpPr>
        <p:spPr>
          <a:xfrm>
            <a:off x="6012160" y="1931787"/>
            <a:ext cx="2160240" cy="324036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6012160" y="4797152"/>
            <a:ext cx="360040" cy="3749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11960" y="2708920"/>
            <a:ext cx="1656184" cy="20882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8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Acute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smtClean="0"/>
              <a:t>Three Acute angles </a:t>
            </a:r>
          </a:p>
          <a:p>
            <a:pPr marL="0" indent="0">
              <a:buNone/>
            </a:pPr>
            <a:r>
              <a:rPr lang="en-AU" dirty="0" smtClean="0"/>
              <a:t>(less than 90°)</a:t>
            </a:r>
            <a:endParaRPr lang="en-AU" dirty="0"/>
          </a:p>
        </p:txBody>
      </p:sp>
      <p:sp>
        <p:nvSpPr>
          <p:cNvPr id="4" name="Isosceles Triangle 3"/>
          <p:cNvSpPr/>
          <p:nvPr/>
        </p:nvSpPr>
        <p:spPr>
          <a:xfrm>
            <a:off x="4499992" y="2780928"/>
            <a:ext cx="2448272" cy="2088232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835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Obtuse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r>
              <a:rPr lang="en-AU" b="1" dirty="0" smtClean="0"/>
              <a:t>One angle greater than 90°</a:t>
            </a:r>
            <a:endParaRPr lang="en-AU" b="1" dirty="0"/>
          </a:p>
        </p:txBody>
      </p:sp>
      <p:sp>
        <p:nvSpPr>
          <p:cNvPr id="4" name="Isosceles Triangle 3"/>
          <p:cNvSpPr/>
          <p:nvPr/>
        </p:nvSpPr>
        <p:spPr>
          <a:xfrm>
            <a:off x="3995936" y="3717032"/>
            <a:ext cx="3888432" cy="792088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44008" y="2636912"/>
            <a:ext cx="1080120" cy="10801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0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Lesson objective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 smtClean="0"/>
              <a:t>Classify the different types of triangles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89289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73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Triangles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can we classify different triangles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23928" y="3501545"/>
            <a:ext cx="257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Glue your Fish Bone here</a:t>
            </a:r>
            <a:endParaRPr lang="en-A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678604" y="2164214"/>
            <a:ext cx="3785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Angles inside a triangle add up to 180°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8" y="333375"/>
            <a:ext cx="6523037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356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 smtClean="0"/>
              <a:t>We can use this fact to find an unknown angle in a triangle. </a:t>
            </a:r>
            <a:endParaRPr lang="en-US" altLang="en-US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 smtClean="0"/>
              <a:t>Example: Find the unknown angle x</a:t>
            </a:r>
            <a:r>
              <a:rPr lang="en-US" altLang="en-US" sz="2800" smtClean="0"/>
              <a:t>º.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smtClean="0">
                <a:solidFill>
                  <a:srgbClr val="FF0000"/>
                </a:solidFill>
              </a:rPr>
              <a:t>Answer: Since we know the sum of all three angles must equal 180</a:t>
            </a:r>
            <a:r>
              <a:rPr lang="en-US" altLang="en-US" sz="2800" smtClean="0">
                <a:solidFill>
                  <a:srgbClr val="FF0000"/>
                </a:solidFill>
              </a:rPr>
              <a:t>º it follows that: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smtClean="0">
                <a:solidFill>
                  <a:srgbClr val="FF0000"/>
                </a:solidFill>
              </a:rPr>
              <a:t>x</a:t>
            </a:r>
            <a:r>
              <a:rPr lang="en-US" altLang="en-US" sz="2800" smtClean="0">
                <a:solidFill>
                  <a:srgbClr val="FF0000"/>
                </a:solidFill>
              </a:rPr>
              <a:t>º + 61º + 43º = 180º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0000"/>
                </a:solidFill>
              </a:rPr>
              <a:t>xº = (180 - 61 - 43)º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0000"/>
                </a:solidFill>
              </a:rPr>
              <a:t>xº = 76º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628775"/>
            <a:ext cx="3524250" cy="2008188"/>
          </a:xfrm>
          <a:noFill/>
        </p:spPr>
      </p:pic>
    </p:spTree>
    <p:extLst>
      <p:ext uri="{BB962C8B-B14F-4D97-AF65-F5344CB8AC3E}">
        <p14:creationId xmlns:p14="http://schemas.microsoft.com/office/powerpoint/2010/main" val="244416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 smtClean="0"/>
              <a:t>We can use this fact to find an unknown angle in a triangle. </a:t>
            </a:r>
            <a:endParaRPr lang="en-US" altLang="en-US" sz="400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 sz="2800" smtClean="0"/>
              <a:t>Example: Find the unknown angle x</a:t>
            </a:r>
            <a:r>
              <a:rPr lang="en-US" altLang="en-US" sz="2800" smtClean="0"/>
              <a:t>º.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smtClean="0">
                <a:solidFill>
                  <a:srgbClr val="FF0000"/>
                </a:solidFill>
              </a:rPr>
              <a:t>Answer: Since we know the sum of all three angles must equal 180</a:t>
            </a:r>
            <a:r>
              <a:rPr lang="en-US" altLang="en-US" sz="2800" smtClean="0">
                <a:solidFill>
                  <a:srgbClr val="FF0000"/>
                </a:solidFill>
              </a:rPr>
              <a:t>º it follows that: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800" smtClean="0">
                <a:solidFill>
                  <a:srgbClr val="FF0000"/>
                </a:solidFill>
              </a:rPr>
              <a:t>x</a:t>
            </a:r>
            <a:r>
              <a:rPr lang="en-US" altLang="en-US" sz="2800" smtClean="0">
                <a:solidFill>
                  <a:srgbClr val="FF0000"/>
                </a:solidFill>
              </a:rPr>
              <a:t>º + 61º + 43º = 180º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0000"/>
                </a:solidFill>
              </a:rPr>
              <a:t>xº = (180 - 61 - 43)º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>
                <a:solidFill>
                  <a:srgbClr val="FF0000"/>
                </a:solidFill>
              </a:rPr>
              <a:t>xº = 76º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628775"/>
            <a:ext cx="3524250" cy="2008188"/>
          </a:xfrm>
          <a:noFill/>
        </p:spPr>
      </p:pic>
    </p:spTree>
    <p:extLst>
      <p:ext uri="{BB962C8B-B14F-4D97-AF65-F5344CB8AC3E}">
        <p14:creationId xmlns:p14="http://schemas.microsoft.com/office/powerpoint/2010/main" val="25393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pPr eaLnBrk="1" hangingPunct="1"/>
            <a:r>
              <a:rPr lang="en-AU" altLang="en-US" b="1" smtClean="0"/>
              <a:t>EXTERIOR ANGLES</a:t>
            </a:r>
          </a:p>
        </p:txBody>
      </p:sp>
      <p:sp>
        <p:nvSpPr>
          <p:cNvPr id="7171" name="AutoShape 6"/>
          <p:cNvSpPr>
            <a:spLocks noChangeArrowheads="1"/>
          </p:cNvSpPr>
          <p:nvPr/>
        </p:nvSpPr>
        <p:spPr bwMode="auto">
          <a:xfrm>
            <a:off x="2700338" y="2205038"/>
            <a:ext cx="4967287" cy="28797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rgbClr val="66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2" name="Line 7"/>
          <p:cNvSpPr>
            <a:spLocks noChangeShapeType="1"/>
          </p:cNvSpPr>
          <p:nvPr/>
        </p:nvSpPr>
        <p:spPr bwMode="auto">
          <a:xfrm flipH="1">
            <a:off x="827088" y="5084763"/>
            <a:ext cx="1873250" cy="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3" name="Freeform 8"/>
          <p:cNvSpPr>
            <a:spLocks/>
          </p:cNvSpPr>
          <p:nvPr/>
        </p:nvSpPr>
        <p:spPr bwMode="auto">
          <a:xfrm>
            <a:off x="1908175" y="4508500"/>
            <a:ext cx="1295400" cy="576263"/>
          </a:xfrm>
          <a:custGeom>
            <a:avLst/>
            <a:gdLst>
              <a:gd name="T0" fmla="*/ 1295400 w 816"/>
              <a:gd name="T1" fmla="*/ 0 h 363"/>
              <a:gd name="T2" fmla="*/ 503238 w 816"/>
              <a:gd name="T3" fmla="*/ 144463 h 363"/>
              <a:gd name="T4" fmla="*/ 0 w 816"/>
              <a:gd name="T5" fmla="*/ 576263 h 363"/>
              <a:gd name="T6" fmla="*/ 0 60000 65536"/>
              <a:gd name="T7" fmla="*/ 0 60000 65536"/>
              <a:gd name="T8" fmla="*/ 0 60000 65536"/>
              <a:gd name="T9" fmla="*/ 0 w 816"/>
              <a:gd name="T10" fmla="*/ 0 h 363"/>
              <a:gd name="T11" fmla="*/ 816 w 816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363">
                <a:moveTo>
                  <a:pt x="816" y="0"/>
                </a:moveTo>
                <a:cubicBezTo>
                  <a:pt x="634" y="15"/>
                  <a:pt x="453" y="31"/>
                  <a:pt x="317" y="91"/>
                </a:cubicBezTo>
                <a:cubicBezTo>
                  <a:pt x="181" y="151"/>
                  <a:pt x="53" y="318"/>
                  <a:pt x="0" y="363"/>
                </a:cubicBezTo>
              </a:path>
            </a:pathLst>
          </a:custGeom>
          <a:noFill/>
          <a:ln w="28575" cmpd="sng">
            <a:solidFill>
              <a:srgbClr val="66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7174" name="Text Box 9"/>
          <p:cNvSpPr txBox="1">
            <a:spLocks noChangeArrowheads="1"/>
          </p:cNvSpPr>
          <p:nvPr/>
        </p:nvSpPr>
        <p:spPr bwMode="auto">
          <a:xfrm>
            <a:off x="1835150" y="4005263"/>
            <a:ext cx="647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l-GR" altLang="en-US">
                <a:solidFill>
                  <a:srgbClr val="660066"/>
                </a:solidFill>
              </a:rPr>
              <a:t>θ</a:t>
            </a:r>
            <a:r>
              <a:rPr lang="en-AU" altLang="en-US" b="1" baseline="30000">
                <a:solidFill>
                  <a:srgbClr val="660066"/>
                </a:solidFill>
              </a:rPr>
              <a:t>o</a:t>
            </a:r>
            <a:endParaRPr lang="el-GR" altLang="en-US" b="1" baseline="3000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1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/>
            <a:r>
              <a:rPr lang="en-AU" altLang="en-US" sz="3200" b="1" smtClean="0"/>
              <a:t>Two things we now know about angles…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3573463"/>
            <a:ext cx="8642350" cy="2552700"/>
          </a:xfrm>
        </p:spPr>
        <p:txBody>
          <a:bodyPr/>
          <a:lstStyle/>
          <a:p>
            <a:pPr eaLnBrk="1" hangingPunct="1"/>
            <a:r>
              <a:rPr lang="en-AU" altLang="en-US" smtClean="0"/>
              <a:t>1. The internal angles of a triangle add up to 180</a:t>
            </a:r>
            <a:r>
              <a:rPr lang="en-US" altLang="en-US" smtClean="0"/>
              <a:t>º. So from above </a:t>
            </a:r>
            <a:r>
              <a:rPr lang="en-US" altLang="en-US" i="1" smtClean="0">
                <a:solidFill>
                  <a:srgbClr val="660066"/>
                </a:solidFill>
              </a:rPr>
              <a:t>aº + bº + cº = 180º</a:t>
            </a:r>
          </a:p>
          <a:p>
            <a:pPr eaLnBrk="1" hangingPunct="1"/>
            <a:r>
              <a:rPr lang="en-US" altLang="en-US" smtClean="0"/>
              <a:t>2. The angle of a straight line = </a:t>
            </a:r>
            <a:r>
              <a:rPr lang="en-AU" altLang="en-US" smtClean="0"/>
              <a:t>180</a:t>
            </a:r>
            <a:r>
              <a:rPr lang="en-US" altLang="en-US" smtClean="0"/>
              <a:t>º. So from above </a:t>
            </a:r>
            <a:r>
              <a:rPr lang="en-US" altLang="en-US" smtClean="0">
                <a:solidFill>
                  <a:srgbClr val="660066"/>
                </a:solidFill>
              </a:rPr>
              <a:t>c</a:t>
            </a:r>
            <a:r>
              <a:rPr lang="en-US" altLang="en-US" i="1" smtClean="0">
                <a:solidFill>
                  <a:srgbClr val="660066"/>
                </a:solidFill>
              </a:rPr>
              <a:t>º + dº = 180º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484313"/>
            <a:ext cx="3190875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752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 smtClean="0"/>
              <a:t>We can use these two facts to help us find out the exterior angle, d</a:t>
            </a:r>
            <a:r>
              <a:rPr lang="en-US" altLang="en-US" sz="4000" smtClean="0"/>
              <a:t>º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229600" cy="43529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AU" altLang="en-US" sz="2800" smtClean="0"/>
              <a:t>We know: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 smtClean="0">
                <a:solidFill>
                  <a:srgbClr val="660066"/>
                </a:solidFill>
              </a:rPr>
              <a:t>aº + bº + cº = 180º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>
                <a:solidFill>
                  <a:srgbClr val="660066"/>
                </a:solidFill>
              </a:rPr>
              <a:t>c</a:t>
            </a:r>
            <a:r>
              <a:rPr lang="en-US" altLang="en-US" sz="2800" i="1" smtClean="0">
                <a:solidFill>
                  <a:srgbClr val="660066"/>
                </a:solidFill>
              </a:rPr>
              <a:t>º + dº = 180º</a:t>
            </a:r>
          </a:p>
          <a:p>
            <a:pPr eaLnBrk="1" hangingPunct="1">
              <a:lnSpc>
                <a:spcPct val="80000"/>
              </a:lnSpc>
            </a:pPr>
            <a:r>
              <a:rPr lang="en-AU" altLang="en-US" sz="2800" smtClean="0"/>
              <a:t>As both equal 180</a:t>
            </a:r>
            <a:r>
              <a:rPr lang="en-US" altLang="en-US" sz="2800" smtClean="0"/>
              <a:t>º, we can see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 smtClean="0">
                <a:solidFill>
                  <a:srgbClr val="660066"/>
                </a:solidFill>
              </a:rPr>
              <a:t>aº + bº + cº = </a:t>
            </a:r>
            <a:r>
              <a:rPr lang="en-US" altLang="en-US" sz="2800" smtClean="0">
                <a:solidFill>
                  <a:srgbClr val="660066"/>
                </a:solidFill>
              </a:rPr>
              <a:t>c</a:t>
            </a:r>
            <a:r>
              <a:rPr lang="en-US" altLang="en-US" sz="2800" i="1" smtClean="0">
                <a:solidFill>
                  <a:srgbClr val="660066"/>
                </a:solidFill>
              </a:rPr>
              <a:t>º +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i="1" smtClean="0">
                <a:solidFill>
                  <a:srgbClr val="660066"/>
                </a:solidFill>
              </a:rPr>
              <a:t>aº + bº = dº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smtClean="0"/>
              <a:t>The above equation tells us that: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 i="1" smtClean="0">
                <a:solidFill>
                  <a:srgbClr val="660066"/>
                </a:solidFill>
              </a:rPr>
              <a:t>THE EXTERIOR ANGLE IS EQUAL TO THE SUM OF THE TWO OPPOSITE INTERIOR ANGLES.</a:t>
            </a:r>
          </a:p>
          <a:p>
            <a:pPr eaLnBrk="1" hangingPunct="1">
              <a:lnSpc>
                <a:spcPct val="80000"/>
              </a:lnSpc>
            </a:pPr>
            <a:endParaRPr lang="en-AU" altLang="en-US" sz="2800" smtClean="0">
              <a:solidFill>
                <a:srgbClr val="660066"/>
              </a:solidFill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628775"/>
            <a:ext cx="2303463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55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8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9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8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U" altLang="en-US" sz="4000" smtClean="0"/>
              <a:t>Worked example: finding an exterior angle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059488" cy="4525963"/>
          </a:xfrm>
        </p:spPr>
        <p:txBody>
          <a:bodyPr/>
          <a:lstStyle/>
          <a:p>
            <a:pPr eaLnBrk="1" hangingPunct="1"/>
            <a:r>
              <a:rPr lang="en-AU" altLang="en-US" smtClean="0"/>
              <a:t>Find the exterior angle, </a:t>
            </a:r>
            <a:r>
              <a:rPr lang="en-AU" altLang="en-US" i="1" smtClean="0"/>
              <a:t>x</a:t>
            </a:r>
            <a:r>
              <a:rPr lang="en-US" altLang="en-US" i="1" smtClean="0"/>
              <a:t>º</a:t>
            </a:r>
          </a:p>
          <a:p>
            <a:pPr eaLnBrk="1" hangingPunct="1"/>
            <a:r>
              <a:rPr lang="en-US" altLang="en-US" i="1" smtClean="0">
                <a:solidFill>
                  <a:srgbClr val="660066"/>
                </a:solidFill>
              </a:rPr>
              <a:t>The two opposite interior angles are 66º and 62º.</a:t>
            </a:r>
          </a:p>
          <a:p>
            <a:pPr eaLnBrk="1" hangingPunct="1"/>
            <a:r>
              <a:rPr lang="en-US" altLang="en-US" i="1" smtClean="0">
                <a:solidFill>
                  <a:srgbClr val="660066"/>
                </a:solidFill>
              </a:rPr>
              <a:t>We know the sum of these angles must equal xº.</a:t>
            </a:r>
            <a:br>
              <a:rPr lang="en-US" altLang="en-US" i="1" smtClean="0">
                <a:solidFill>
                  <a:srgbClr val="660066"/>
                </a:solidFill>
              </a:rPr>
            </a:br>
            <a:r>
              <a:rPr lang="en-US" altLang="en-US" i="1" smtClean="0">
                <a:solidFill>
                  <a:srgbClr val="660066"/>
                </a:solidFill>
              </a:rPr>
              <a:t>66º + 62º = xº</a:t>
            </a:r>
          </a:p>
          <a:p>
            <a:pPr eaLnBrk="1" hangingPunct="1"/>
            <a:r>
              <a:rPr lang="en-US" altLang="en-US" b="1" i="1" smtClean="0">
                <a:solidFill>
                  <a:srgbClr val="660066"/>
                </a:solidFill>
              </a:rPr>
              <a:t>128º = xº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1700213"/>
            <a:ext cx="1749425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10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/>
            <a:r>
              <a:rPr lang="en-AU" altLang="en-US" sz="4000" smtClean="0"/>
              <a:t>Worked example 2: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5111750" cy="5029200"/>
          </a:xfrm>
        </p:spPr>
        <p:txBody>
          <a:bodyPr/>
          <a:lstStyle/>
          <a:p>
            <a:pPr eaLnBrk="1" hangingPunct="1"/>
            <a:r>
              <a:rPr lang="en-AU" altLang="en-US" sz="2800" smtClean="0"/>
              <a:t>Find x</a:t>
            </a:r>
            <a:r>
              <a:rPr lang="en-US" altLang="en-US" sz="2800" smtClean="0"/>
              <a:t>º.</a:t>
            </a:r>
          </a:p>
          <a:p>
            <a:pPr eaLnBrk="1" hangingPunct="1"/>
            <a:r>
              <a:rPr lang="en-US" altLang="en-US" sz="2800" i="1" smtClean="0">
                <a:solidFill>
                  <a:srgbClr val="660066"/>
                </a:solidFill>
              </a:rPr>
              <a:t>We seem to be only given one of the two opposite internal angles.</a:t>
            </a:r>
          </a:p>
          <a:p>
            <a:pPr eaLnBrk="1" hangingPunct="1"/>
            <a:r>
              <a:rPr lang="en-US" altLang="en-US" sz="2800" i="1" smtClean="0">
                <a:solidFill>
                  <a:srgbClr val="660066"/>
                </a:solidFill>
              </a:rPr>
              <a:t>However the triangle is an </a:t>
            </a:r>
            <a:r>
              <a:rPr lang="en-US" altLang="en-US" sz="2800" b="1" i="1" smtClean="0">
                <a:solidFill>
                  <a:srgbClr val="660066"/>
                </a:solidFill>
              </a:rPr>
              <a:t>isosceles</a:t>
            </a:r>
            <a:r>
              <a:rPr lang="en-US" altLang="en-US" sz="2800" i="1" smtClean="0">
                <a:solidFill>
                  <a:srgbClr val="660066"/>
                </a:solidFill>
              </a:rPr>
              <a:t> triangle, therefore the other opposite internal angle must also be 50º.</a:t>
            </a:r>
          </a:p>
          <a:p>
            <a:pPr eaLnBrk="1" hangingPunct="1"/>
            <a:r>
              <a:rPr lang="en-US" altLang="en-US" sz="2800" i="1" smtClean="0">
                <a:solidFill>
                  <a:srgbClr val="660066"/>
                </a:solidFill>
              </a:rPr>
              <a:t>So 50º + 50º = xº</a:t>
            </a:r>
          </a:p>
          <a:p>
            <a:pPr eaLnBrk="1" hangingPunct="1"/>
            <a:r>
              <a:rPr lang="en-US" altLang="en-US" sz="2800" b="1" i="1" smtClean="0">
                <a:solidFill>
                  <a:srgbClr val="660066"/>
                </a:solidFill>
              </a:rPr>
              <a:t>100º = xº</a:t>
            </a:r>
          </a:p>
          <a:p>
            <a:pPr eaLnBrk="1" hangingPunct="1"/>
            <a:endParaRPr lang="en-US" altLang="en-US" sz="2800" b="1" i="1" smtClean="0">
              <a:solidFill>
                <a:srgbClr val="660066"/>
              </a:solidFill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196975"/>
            <a:ext cx="28797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1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Exit Pass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 smtClean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 smtClean="0"/>
              <a:t>I have all side and angles equal</a:t>
            </a:r>
            <a:br>
              <a:rPr lang="en-AU" dirty="0" smtClean="0"/>
            </a:br>
            <a:endParaRPr lang="en-AU" dirty="0" smtClean="0"/>
          </a:p>
          <a:p>
            <a:pPr marL="514350" indent="-514350">
              <a:buAutoNum type="arabicPeriod"/>
            </a:pPr>
            <a:r>
              <a:rPr lang="en-AU" dirty="0" smtClean="0"/>
              <a:t>I have two side of equal length</a:t>
            </a:r>
            <a:br>
              <a:rPr lang="en-AU" dirty="0" smtClean="0"/>
            </a:br>
            <a:endParaRPr lang="en-AU" dirty="0" smtClean="0"/>
          </a:p>
          <a:p>
            <a:pPr marL="514350" indent="-514350">
              <a:buAutoNum type="arabicPeriod"/>
            </a:pPr>
            <a:r>
              <a:rPr lang="en-AU" dirty="0" smtClean="0"/>
              <a:t>All my angles are less than 90°</a:t>
            </a:r>
            <a:br>
              <a:rPr lang="en-AU" dirty="0" smtClean="0"/>
            </a:br>
            <a:endParaRPr lang="en-AU" dirty="0" smtClean="0"/>
          </a:p>
          <a:p>
            <a:pPr marL="514350" indent="-514350">
              <a:buAutoNum type="arabicPeriod"/>
            </a:pPr>
            <a:r>
              <a:rPr lang="en-AU" dirty="0" smtClean="0"/>
              <a:t>I have 2 sides of equal length and I have an angle greater than </a:t>
            </a:r>
            <a:r>
              <a:rPr lang="en-AU" dirty="0"/>
              <a:t>90</a:t>
            </a:r>
            <a:r>
              <a:rPr lang="en-AU" dirty="0" smtClean="0"/>
              <a:t>°</a:t>
            </a:r>
            <a:br>
              <a:rPr lang="en-AU" dirty="0" smtClean="0"/>
            </a:br>
            <a:endParaRPr lang="en-AU" dirty="0" smtClean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88640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96336" y="1988840"/>
            <a:ext cx="861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00B050"/>
                </a:solidFill>
              </a:rPr>
              <a:t>W</a:t>
            </a:r>
            <a:r>
              <a:rPr lang="en-AU" b="1" dirty="0" smtClean="0"/>
              <a:t>ICOR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Exit Pass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 smtClean="0"/>
              <a:t>Name the triangle</a:t>
            </a:r>
          </a:p>
          <a:p>
            <a:pPr marL="514350" indent="-514350">
              <a:buAutoNum type="arabicPeriod"/>
            </a:pPr>
            <a:r>
              <a:rPr lang="en-AU" dirty="0" smtClean="0"/>
              <a:t>I have all side and angles equal</a:t>
            </a:r>
            <a:br>
              <a:rPr lang="en-AU" dirty="0" smtClean="0"/>
            </a:br>
            <a:r>
              <a:rPr lang="en-AU" dirty="0" smtClean="0">
                <a:solidFill>
                  <a:srgbClr val="FF0000"/>
                </a:solidFill>
              </a:rPr>
              <a:t>Equilateral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 smtClean="0"/>
              <a:t>I have two side of equal length</a:t>
            </a:r>
            <a:br>
              <a:rPr lang="en-AU" dirty="0" smtClean="0"/>
            </a:br>
            <a:r>
              <a:rPr lang="en-AU" dirty="0" smtClean="0">
                <a:solidFill>
                  <a:srgbClr val="FF0000"/>
                </a:solidFill>
              </a:rPr>
              <a:t>Isosceles Triangle</a:t>
            </a:r>
            <a:endParaRPr lang="en-AU" dirty="0"/>
          </a:p>
          <a:p>
            <a:pPr marL="514350" indent="-514350">
              <a:buAutoNum type="arabicPeriod"/>
            </a:pPr>
            <a:r>
              <a:rPr lang="en-AU" dirty="0" smtClean="0"/>
              <a:t>All my angles are less than 90°</a:t>
            </a:r>
            <a:br>
              <a:rPr lang="en-AU" dirty="0" smtClean="0"/>
            </a:br>
            <a:r>
              <a:rPr lang="en-AU" dirty="0" smtClean="0">
                <a:solidFill>
                  <a:srgbClr val="FF0000"/>
                </a:solidFill>
              </a:rPr>
              <a:t>Acute Triangle</a:t>
            </a:r>
            <a:endParaRPr lang="en-AU" dirty="0"/>
          </a:p>
          <a:p>
            <a:pPr marL="514350" indent="-514350">
              <a:buFont typeface="Arial" pitchFamily="34" charset="0"/>
              <a:buAutoNum type="arabicPeriod"/>
            </a:pPr>
            <a:r>
              <a:rPr lang="en-AU" dirty="0" smtClean="0"/>
              <a:t>I have 2 sides of equal length and I have an angle greater than </a:t>
            </a:r>
            <a:r>
              <a:rPr lang="en-AU" dirty="0"/>
              <a:t>90</a:t>
            </a:r>
            <a:r>
              <a:rPr lang="en-AU" dirty="0" smtClean="0"/>
              <a:t>°</a:t>
            </a:r>
            <a:br>
              <a:rPr lang="en-AU" dirty="0" smtClean="0"/>
            </a:br>
            <a:r>
              <a:rPr lang="en-AU" dirty="0" smtClean="0">
                <a:solidFill>
                  <a:srgbClr val="FF0000"/>
                </a:solidFill>
              </a:rPr>
              <a:t>Obtuse Isosceles Triangle</a:t>
            </a:r>
            <a:endParaRPr lang="en-AU" dirty="0"/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306711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546</Words>
  <Application>Microsoft Office PowerPoint</Application>
  <PresentationFormat>On-screen Show (4:3)</PresentationFormat>
  <Paragraphs>114</Paragraphs>
  <Slides>21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Naming Angles</vt:lpstr>
      <vt:lpstr>Name these angles</vt:lpstr>
      <vt:lpstr>Fish Bone</vt:lpstr>
      <vt:lpstr>Isosceles </vt:lpstr>
      <vt:lpstr>Scalene</vt:lpstr>
      <vt:lpstr>Equilateral</vt:lpstr>
      <vt:lpstr>Right angle</vt:lpstr>
      <vt:lpstr>Acute</vt:lpstr>
      <vt:lpstr>Obtuse</vt:lpstr>
      <vt:lpstr>Lesson objective</vt:lpstr>
      <vt:lpstr>PowerPoint Presentation</vt:lpstr>
      <vt:lpstr>PowerPoint Presentation</vt:lpstr>
      <vt:lpstr>We can use this fact to find an unknown angle in a triangle. </vt:lpstr>
      <vt:lpstr>We can use this fact to find an unknown angle in a triangle. </vt:lpstr>
      <vt:lpstr>EXTERIOR ANGLES</vt:lpstr>
      <vt:lpstr>Two things we now know about angles…</vt:lpstr>
      <vt:lpstr>We can use these two facts to help us find out the exterior angle, dº</vt:lpstr>
      <vt:lpstr>Worked example: finding an exterior angle</vt:lpstr>
      <vt:lpstr>Worked example 2:</vt:lpstr>
      <vt:lpstr>Exit Pass</vt:lpstr>
      <vt:lpstr>Exit Pass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18</cp:revision>
  <dcterms:created xsi:type="dcterms:W3CDTF">2016-10-20T03:14:06Z</dcterms:created>
  <dcterms:modified xsi:type="dcterms:W3CDTF">2017-10-20T07:30:20Z</dcterms:modified>
</cp:coreProperties>
</file>
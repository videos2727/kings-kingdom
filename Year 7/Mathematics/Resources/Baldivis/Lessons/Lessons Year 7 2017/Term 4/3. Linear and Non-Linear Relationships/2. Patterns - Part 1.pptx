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17"/>
  </p:notesMasterIdLst>
  <p:sldIdLst>
    <p:sldId id="257" r:id="rId2"/>
    <p:sldId id="258" r:id="rId3"/>
    <p:sldId id="263" r:id="rId4"/>
    <p:sldId id="259" r:id="rId5"/>
    <p:sldId id="270" r:id="rId6"/>
    <p:sldId id="267" r:id="rId7"/>
    <p:sldId id="264" r:id="rId8"/>
    <p:sldId id="266" r:id="rId9"/>
    <p:sldId id="268" r:id="rId10"/>
    <p:sldId id="269" r:id="rId11"/>
    <p:sldId id="260" r:id="rId12"/>
    <p:sldId id="261" r:id="rId13"/>
    <p:sldId id="272" r:id="rId14"/>
    <p:sldId id="271" r:id="rId15"/>
    <p:sldId id="262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F7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2205" autoAdjust="0"/>
  </p:normalViewPr>
  <p:slideViewPr>
    <p:cSldViewPr snapToGrid="0">
      <p:cViewPr varScale="1">
        <p:scale>
          <a:sx n="65" d="100"/>
          <a:sy n="65" d="100"/>
        </p:scale>
        <p:origin x="36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2E702E-2617-43B8-80CF-A6B0D5727595}" type="datetimeFigureOut">
              <a:rPr lang="en-AU" smtClean="0"/>
              <a:t>19/11/2017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F0BACD-8D61-4B67-AD38-FF78A6ECEF9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20290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3375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1671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0563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7097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7778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4580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5476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Give kids numbers 1 and 2 before you start.  Make it clear that no match stick must not be broken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F0BACD-8D61-4B67-AD38-FF78A6ECEF98}" type="slidenum">
              <a:rPr lang="en-AU" smtClean="0"/>
              <a:t>14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99822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4686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0EC6D0BA-3769-434C-A6CA-BD5FA4657446}" type="datetimeFigureOut">
              <a:rPr lang="en-AU" smtClean="0"/>
              <a:t>19/11/2017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784C7255-30F7-4936-BFE3-F2BB401A1E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379030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6D0BA-3769-434C-A6CA-BD5FA4657446}" type="datetimeFigureOut">
              <a:rPr lang="en-AU" smtClean="0"/>
              <a:t>19/11/2017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C7255-30F7-4936-BFE3-F2BB401A1E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729929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0EC6D0BA-3769-434C-A6CA-BD5FA4657446}" type="datetimeFigureOut">
              <a:rPr lang="en-AU" smtClean="0"/>
              <a:t>19/11/2017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784C7255-30F7-4936-BFE3-F2BB401A1E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680038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6D0BA-3769-434C-A6CA-BD5FA4657446}" type="datetimeFigureOut">
              <a:rPr lang="en-AU" smtClean="0"/>
              <a:t>19/11/2017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C7255-30F7-4936-BFE3-F2BB401A1E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000477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6D0BA-3769-434C-A6CA-BD5FA4657446}" type="datetimeFigureOut">
              <a:rPr lang="en-AU" smtClean="0"/>
              <a:t>19/11/2017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C7255-30F7-4936-BFE3-F2BB401A1E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20859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6D0BA-3769-434C-A6CA-BD5FA4657446}" type="datetimeFigureOut">
              <a:rPr lang="en-AU" smtClean="0"/>
              <a:t>19/11/2017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C7255-30F7-4936-BFE3-F2BB401A1E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699769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6D0BA-3769-434C-A6CA-BD5FA4657446}" type="datetimeFigureOut">
              <a:rPr lang="en-AU" smtClean="0"/>
              <a:t>19/11/2017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C7255-30F7-4936-BFE3-F2BB401A1E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7772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6D0BA-3769-434C-A6CA-BD5FA4657446}" type="datetimeFigureOut">
              <a:rPr lang="en-AU" smtClean="0"/>
              <a:t>19/11/2017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C7255-30F7-4936-BFE3-F2BB401A1E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838889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6D0BA-3769-434C-A6CA-BD5FA4657446}" type="datetimeFigureOut">
              <a:rPr lang="en-AU" smtClean="0"/>
              <a:t>19/11/2017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C7255-30F7-4936-BFE3-F2BB401A1E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58288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6D0BA-3769-434C-A6CA-BD5FA4657446}" type="datetimeFigureOut">
              <a:rPr lang="en-AU" smtClean="0"/>
              <a:t>19/11/2017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C7255-30F7-4936-BFE3-F2BB401A1E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34273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0EC6D0BA-3769-434C-A6CA-BD5FA4657446}" type="datetimeFigureOut">
              <a:rPr lang="en-AU" smtClean="0"/>
              <a:t>19/11/2017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784C7255-30F7-4936-BFE3-F2BB401A1E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333983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0EC6D0BA-3769-434C-A6CA-BD5FA4657446}" type="datetimeFigureOut">
              <a:rPr lang="en-AU" smtClean="0"/>
              <a:t>19/11/2017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784C7255-30F7-4936-BFE3-F2BB401A1EF9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671934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0EC6D0BA-3769-434C-A6CA-BD5FA4657446}" type="datetimeFigureOut">
              <a:rPr lang="en-AU" smtClean="0"/>
              <a:t>19/11/2017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784C7255-30F7-4936-BFE3-F2BB401A1E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658619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6D0BA-3769-434C-A6CA-BD5FA4657446}" type="datetimeFigureOut">
              <a:rPr lang="en-AU" smtClean="0"/>
              <a:t>19/11/2017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C7255-30F7-4936-BFE3-F2BB401A1E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283415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6D0BA-3769-434C-A6CA-BD5FA4657446}" type="datetimeFigureOut">
              <a:rPr lang="en-AU" smtClean="0"/>
              <a:t>19/11/2017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C7255-30F7-4936-BFE3-F2BB401A1E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788103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6D0BA-3769-434C-A6CA-BD5FA4657446}" type="datetimeFigureOut">
              <a:rPr lang="en-AU" smtClean="0"/>
              <a:t>19/11/2017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C7255-30F7-4936-BFE3-F2BB401A1E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701635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0EC6D0BA-3769-434C-A6CA-BD5FA4657446}" type="datetimeFigureOut">
              <a:rPr lang="en-AU" smtClean="0"/>
              <a:t>19/11/2017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784C7255-30F7-4936-BFE3-F2BB401A1E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22070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C6D0BA-3769-434C-A6CA-BD5FA4657446}" type="datetimeFigureOut">
              <a:rPr lang="en-AU" smtClean="0"/>
              <a:t>19/11/2017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4C7255-30F7-4936-BFE3-F2BB401A1E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4022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Kiwi School Handwriting" panose="00000500000000000000" pitchFamily="2" charset="0"/>
              </a:rPr>
              <a:t>Patterns - part 1</a:t>
            </a:r>
            <a:endParaRPr lang="en-US" b="1" dirty="0">
              <a:solidFill>
                <a:srgbClr val="0070C0"/>
              </a:solidFill>
              <a:latin typeface="DJB Fancy Nancy" panose="02000500000000000000" pitchFamily="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7875" y="3628501"/>
            <a:ext cx="9446339" cy="1384675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Miss L</a:t>
            </a:r>
          </a:p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Year 7</a:t>
            </a:r>
          </a:p>
        </p:txBody>
      </p:sp>
    </p:spTree>
    <p:extLst>
      <p:ext uri="{BB962C8B-B14F-4D97-AF65-F5344CB8AC3E}">
        <p14:creationId xmlns:p14="http://schemas.microsoft.com/office/powerpoint/2010/main" val="50676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Learning Intentions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sz="4400" dirty="0">
                <a:latin typeface="Kiwi School Handwriting" panose="00000500000000000000" pitchFamily="2" charset="0"/>
              </a:rPr>
              <a:t>Students will be able to</a:t>
            </a:r>
          </a:p>
          <a:p>
            <a:r>
              <a:rPr lang="en-AU" sz="3600" dirty="0">
                <a:latin typeface="Kiwi School Handwriting" panose="00000500000000000000" pitchFamily="2" charset="0"/>
              </a:rPr>
              <a:t>Complete a number pattern</a:t>
            </a:r>
          </a:p>
          <a:p>
            <a:r>
              <a:rPr lang="en-AU" sz="3600" dirty="0">
                <a:latin typeface="Kiwi School Handwriting" panose="00000500000000000000" pitchFamily="2" charset="0"/>
              </a:rPr>
              <a:t>Complete a spatial pattern</a:t>
            </a:r>
          </a:p>
        </p:txBody>
      </p:sp>
    </p:spTree>
    <p:extLst>
      <p:ext uri="{BB962C8B-B14F-4D97-AF65-F5344CB8AC3E}">
        <p14:creationId xmlns:p14="http://schemas.microsoft.com/office/powerpoint/2010/main" val="1720426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Think - Pair - Share 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508378" y="1566763"/>
            <a:ext cx="11392469" cy="510699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AU" sz="4400" b="1" dirty="0">
                <a:solidFill>
                  <a:srgbClr val="0070C0"/>
                </a:solidFill>
                <a:latin typeface="Kiwi School Handwriting" panose="00000500000000000000" pitchFamily="2" charset="0"/>
              </a:rPr>
              <a:t>Think: </a:t>
            </a:r>
          </a:p>
          <a:p>
            <a:pPr lvl="1"/>
            <a:r>
              <a:rPr lang="en-AU" sz="3400" dirty="0">
                <a:solidFill>
                  <a:srgbClr val="0070C0"/>
                </a:solidFill>
              </a:rPr>
              <a:t>Write down what you think a pattern is.</a:t>
            </a:r>
          </a:p>
          <a:p>
            <a:pPr lvl="1"/>
            <a:r>
              <a:rPr lang="en-AU" sz="3400" dirty="0">
                <a:solidFill>
                  <a:srgbClr val="0070C0"/>
                </a:solidFill>
              </a:rPr>
              <a:t>Write or draw an example of a pattern</a:t>
            </a:r>
          </a:p>
          <a:p>
            <a:pPr marL="0" indent="0">
              <a:buNone/>
            </a:pPr>
            <a:r>
              <a:rPr lang="en-AU" sz="4400" b="1" dirty="0">
                <a:solidFill>
                  <a:schemeClr val="accent3">
                    <a:lumMod val="75000"/>
                  </a:schemeClr>
                </a:solidFill>
                <a:latin typeface="Kiwi School Handwriting" panose="00000500000000000000" pitchFamily="2" charset="0"/>
              </a:rPr>
              <a:t>Pair:</a:t>
            </a:r>
          </a:p>
          <a:p>
            <a:pPr lvl="1"/>
            <a:r>
              <a:rPr lang="en-AU" sz="3400" dirty="0">
                <a:solidFill>
                  <a:schemeClr val="accent3">
                    <a:lumMod val="75000"/>
                  </a:schemeClr>
                </a:solidFill>
              </a:rPr>
              <a:t>Share with the person next to you, your pattern.</a:t>
            </a:r>
          </a:p>
          <a:p>
            <a:pPr lvl="1"/>
            <a:r>
              <a:rPr lang="en-AU" sz="3400" dirty="0">
                <a:solidFill>
                  <a:schemeClr val="accent3">
                    <a:lumMod val="75000"/>
                  </a:schemeClr>
                </a:solidFill>
              </a:rPr>
              <a:t>Write down your partners pattern in your book </a:t>
            </a:r>
          </a:p>
          <a:p>
            <a:pPr marL="0" indent="0">
              <a:buNone/>
            </a:pPr>
            <a:r>
              <a:rPr lang="en-AU" sz="3600" b="1" dirty="0">
                <a:solidFill>
                  <a:srgbClr val="00B050"/>
                </a:solidFill>
              </a:rPr>
              <a:t>Share:</a:t>
            </a:r>
          </a:p>
          <a:p>
            <a:pPr lvl="1"/>
            <a:r>
              <a:rPr lang="en-AU" sz="3400" dirty="0">
                <a:solidFill>
                  <a:srgbClr val="00B050"/>
                </a:solidFill>
              </a:rPr>
              <a:t>Your teacher will call on some of you to:</a:t>
            </a:r>
          </a:p>
          <a:p>
            <a:pPr lvl="2"/>
            <a:r>
              <a:rPr lang="en-AU" sz="3200" dirty="0">
                <a:solidFill>
                  <a:srgbClr val="00B050"/>
                </a:solidFill>
              </a:rPr>
              <a:t>Share your definition of a pattern</a:t>
            </a:r>
          </a:p>
          <a:p>
            <a:pPr lvl="2"/>
            <a:r>
              <a:rPr lang="en-AU" sz="3200" dirty="0">
                <a:solidFill>
                  <a:srgbClr val="00B050"/>
                </a:solidFill>
              </a:rPr>
              <a:t>To come and draw your pattern on the board</a:t>
            </a:r>
          </a:p>
          <a:p>
            <a:pPr lvl="1"/>
            <a:endParaRPr lang="en-AU" sz="3400" dirty="0"/>
          </a:p>
        </p:txBody>
      </p:sp>
      <p:pic>
        <p:nvPicPr>
          <p:cNvPr id="5" name="Picture 2" descr="Related image">
            <a:extLst>
              <a:ext uri="{FF2B5EF4-FFF2-40B4-BE49-F238E27FC236}">
                <a16:creationId xmlns:a16="http://schemas.microsoft.com/office/drawing/2014/main" id="{6F4D433B-B737-42CE-B294-40E91F21AB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8248" y="1674221"/>
            <a:ext cx="1433736" cy="1433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291E979-6097-405C-B4FA-2F9AAF2E3C33}"/>
              </a:ext>
            </a:extLst>
          </p:cNvPr>
          <p:cNvSpPr txBox="1"/>
          <p:nvPr/>
        </p:nvSpPr>
        <p:spPr>
          <a:xfrm>
            <a:off x="10572608" y="3306909"/>
            <a:ext cx="12250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solidFill>
                  <a:srgbClr val="7030A0"/>
                </a:solidFill>
              </a:rPr>
              <a:t>W</a:t>
            </a:r>
            <a:r>
              <a:rPr lang="en-AU" sz="2400" b="1" dirty="0"/>
              <a:t>I</a:t>
            </a:r>
            <a:r>
              <a:rPr lang="en-AU" sz="2400" b="1" dirty="0">
                <a:solidFill>
                  <a:srgbClr val="7030A0"/>
                </a:solidFill>
              </a:rPr>
              <a:t>C</a:t>
            </a:r>
            <a:r>
              <a:rPr lang="en-AU" sz="2400" b="1" dirty="0"/>
              <a:t>OR</a:t>
            </a:r>
          </a:p>
        </p:txBody>
      </p:sp>
    </p:spTree>
    <p:extLst>
      <p:ext uri="{BB962C8B-B14F-4D97-AF65-F5344CB8AC3E}">
        <p14:creationId xmlns:p14="http://schemas.microsoft.com/office/powerpoint/2010/main" val="2260191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3009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Linear Equations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9" y="1507607"/>
            <a:ext cx="1845936" cy="853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What is a pattern?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What is a pattern and how does it work?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51676" y="1323731"/>
            <a:ext cx="10238735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3200" dirty="0">
                <a:solidFill>
                  <a:prstClr val="black"/>
                </a:solidFill>
                <a:latin typeface="Calibri" panose="020F0502020204030204"/>
              </a:rPr>
              <a:t>When a sequence of numbers or shapes follows the same </a:t>
            </a:r>
            <a:r>
              <a:rPr lang="en-AU" sz="3200" b="1" dirty="0">
                <a:solidFill>
                  <a:prstClr val="black"/>
                </a:solidFill>
                <a:latin typeface="Calibri" panose="020F0502020204030204"/>
              </a:rPr>
              <a:t>rule</a:t>
            </a:r>
          </a:p>
          <a:p>
            <a:pPr defTabSz="914126"/>
            <a:endParaRPr lang="en-AU" sz="3200" dirty="0">
              <a:solidFill>
                <a:prstClr val="black"/>
              </a:solidFill>
              <a:latin typeface="Calibri" panose="020F0502020204030204"/>
            </a:endParaRPr>
          </a:p>
          <a:p>
            <a:pPr defTabSz="914126"/>
            <a:r>
              <a:rPr lang="en-AU" sz="3200" dirty="0">
                <a:solidFill>
                  <a:prstClr val="black"/>
                </a:solidFill>
                <a:latin typeface="Calibri" panose="020F0502020204030204"/>
              </a:rPr>
              <a:t>This means they increase or decrease by the same amount each time</a:t>
            </a:r>
          </a:p>
          <a:p>
            <a:pPr defTabSz="914126"/>
            <a:endParaRPr lang="en-AU" sz="3200" dirty="0">
              <a:solidFill>
                <a:prstClr val="black"/>
              </a:solidFill>
              <a:latin typeface="Calibri" panose="020F0502020204030204"/>
            </a:endParaRPr>
          </a:p>
          <a:p>
            <a:pPr defTabSz="914126"/>
            <a:r>
              <a:rPr lang="en-AU" sz="3200" dirty="0">
                <a:solidFill>
                  <a:prstClr val="black"/>
                </a:solidFill>
                <a:latin typeface="Calibri" panose="020F0502020204030204"/>
              </a:rPr>
              <a:t>Who knows this famous pattern: </a:t>
            </a:r>
          </a:p>
          <a:p>
            <a:pPr algn="ctr" defTabSz="914126"/>
            <a:r>
              <a:rPr lang="en-AU" sz="3200" b="1" dirty="0"/>
              <a:t>0, 1, 1, 2, 3, 5, 8, 13, 21, 34, ...</a:t>
            </a:r>
          </a:p>
          <a:p>
            <a:pPr algn="ctr" defTabSz="914126"/>
            <a:endParaRPr lang="en-AU" sz="3200" b="1" dirty="0">
              <a:solidFill>
                <a:prstClr val="black"/>
              </a:solidFill>
            </a:endParaRPr>
          </a:p>
          <a:p>
            <a:pPr algn="ctr" defTabSz="914126"/>
            <a:r>
              <a:rPr lang="en-AU" sz="3200" b="1" dirty="0">
                <a:solidFill>
                  <a:srgbClr val="7030A0"/>
                </a:solidFill>
              </a:rPr>
              <a:t>It’s the Fibonacci Sequence. </a:t>
            </a:r>
          </a:p>
          <a:p>
            <a:pPr algn="ctr" defTabSz="914126"/>
            <a:r>
              <a:rPr lang="en-US" sz="3200" dirty="0"/>
              <a:t>What is the next number in the sequence?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9074D7-7189-401B-B22C-96E7385E1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1083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B887830-9831-4518-83D5-48832FB9572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76464"/>
          <a:stretch/>
        </p:blipFill>
        <p:spPr>
          <a:xfrm>
            <a:off x="0" y="661938"/>
            <a:ext cx="12192000" cy="142616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2605C90-1D7E-4F55-9DF0-D9B2987CD5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24585"/>
            <a:ext cx="12192000" cy="4767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552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26F9C83-11DC-4A26-90F3-E4D548F3F0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086" y="2251881"/>
            <a:ext cx="11619827" cy="3429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BC01A5C-4140-48CF-8A63-5108518296B4}"/>
              </a:ext>
            </a:extLst>
          </p:cNvPr>
          <p:cNvSpPr txBox="1"/>
          <p:nvPr/>
        </p:nvSpPr>
        <p:spPr>
          <a:xfrm>
            <a:off x="4476512" y="968890"/>
            <a:ext cx="7233267" cy="70788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7150">
            <a:solidFill>
              <a:schemeClr val="accent3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defTabSz="914126"/>
            <a:r>
              <a:rPr lang="en-AU" sz="4000" dirty="0">
                <a:solidFill>
                  <a:prstClr val="black"/>
                </a:solidFill>
                <a:latin typeface="Calibri" panose="020F0502020204030204"/>
              </a:rPr>
              <a:t>What picture should fill the gap?</a:t>
            </a:r>
            <a:endParaRPr lang="en-US" sz="4000" dirty="0"/>
          </a:p>
        </p:txBody>
      </p:sp>
      <p:sp>
        <p:nvSpPr>
          <p:cNvPr id="5" name="Cloud 4">
            <a:extLst>
              <a:ext uri="{FF2B5EF4-FFF2-40B4-BE49-F238E27FC236}">
                <a16:creationId xmlns:a16="http://schemas.microsoft.com/office/drawing/2014/main" id="{B6AAB7BE-0179-4688-8F4C-7E24F38D3EE2}"/>
              </a:ext>
            </a:extLst>
          </p:cNvPr>
          <p:cNvSpPr/>
          <p:nvPr/>
        </p:nvSpPr>
        <p:spPr>
          <a:xfrm>
            <a:off x="4339988" y="3758152"/>
            <a:ext cx="2306472" cy="2130958"/>
          </a:xfrm>
          <a:prstGeom prst="cloud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73477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EE190BB-DE61-4A9E-BACE-6CE70C319E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08465"/>
            <a:ext cx="11980692" cy="36645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BC01A5C-4140-48CF-8A63-5108518296B4}"/>
              </a:ext>
            </a:extLst>
          </p:cNvPr>
          <p:cNvSpPr txBox="1"/>
          <p:nvPr/>
        </p:nvSpPr>
        <p:spPr>
          <a:xfrm>
            <a:off x="4476512" y="968890"/>
            <a:ext cx="7233267" cy="70788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7150">
            <a:solidFill>
              <a:schemeClr val="accent3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defTabSz="914126"/>
            <a:r>
              <a:rPr lang="en-AU" sz="4000" dirty="0">
                <a:solidFill>
                  <a:prstClr val="black"/>
                </a:solidFill>
                <a:latin typeface="Calibri" panose="020F0502020204030204"/>
              </a:rPr>
              <a:t>What picture should fill the gap?</a:t>
            </a:r>
            <a:endParaRPr lang="en-US" sz="4000" dirty="0"/>
          </a:p>
        </p:txBody>
      </p:sp>
      <p:sp>
        <p:nvSpPr>
          <p:cNvPr id="5" name="Cloud 4">
            <a:extLst>
              <a:ext uri="{FF2B5EF4-FFF2-40B4-BE49-F238E27FC236}">
                <a16:creationId xmlns:a16="http://schemas.microsoft.com/office/drawing/2014/main" id="{B6AAB7BE-0179-4688-8F4C-7E24F38D3EE2}"/>
              </a:ext>
            </a:extLst>
          </p:cNvPr>
          <p:cNvSpPr/>
          <p:nvPr/>
        </p:nvSpPr>
        <p:spPr>
          <a:xfrm>
            <a:off x="2129051" y="3889612"/>
            <a:ext cx="2483939" cy="2315079"/>
          </a:xfrm>
          <a:prstGeom prst="cloud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08455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821" y="123165"/>
            <a:ext cx="33009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Linear Equations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2778" y="1498589"/>
            <a:ext cx="6590280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8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What is a spatial pattern?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What is a pattern and how does it work?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4D023862-F455-4A12-B8C4-9491E32145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68638"/>
            <a:ext cx="12192000" cy="348650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B4D5D60-45AC-4ADF-AC07-FE406E6891FF}"/>
              </a:ext>
            </a:extLst>
          </p:cNvPr>
          <p:cNvSpPr/>
          <p:nvPr/>
        </p:nvSpPr>
        <p:spPr>
          <a:xfrm>
            <a:off x="0" y="3821373"/>
            <a:ext cx="12190414" cy="14193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6D5BD0D-B848-45BA-8422-08EED80D1B07}"/>
              </a:ext>
            </a:extLst>
          </p:cNvPr>
          <p:cNvSpPr/>
          <p:nvPr/>
        </p:nvSpPr>
        <p:spPr>
          <a:xfrm>
            <a:off x="1586" y="5234195"/>
            <a:ext cx="12190414" cy="14193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28728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821" y="123165"/>
            <a:ext cx="33009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Linear Equations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2778" y="1498589"/>
            <a:ext cx="6590280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8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What is a spatial pattern?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What is a pattern and how does it work?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4F7ED370-718D-44E8-86D4-62EC4B2BA6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99913"/>
            <a:ext cx="12170525" cy="396887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2C41C55-9CF6-423E-8C57-A13210251F65}"/>
              </a:ext>
            </a:extLst>
          </p:cNvPr>
          <p:cNvSpPr/>
          <p:nvPr/>
        </p:nvSpPr>
        <p:spPr>
          <a:xfrm>
            <a:off x="0" y="5431809"/>
            <a:ext cx="12170525" cy="73697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D5EB2E8-0AA5-4E05-A7B7-E5F934DC3EF5}"/>
              </a:ext>
            </a:extLst>
          </p:cNvPr>
          <p:cNvSpPr txBox="1"/>
          <p:nvPr/>
        </p:nvSpPr>
        <p:spPr>
          <a:xfrm>
            <a:off x="1176617" y="6226559"/>
            <a:ext cx="9817290" cy="52322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800" b="1" dirty="0">
                <a:solidFill>
                  <a:prstClr val="black"/>
                </a:solidFill>
              </a:rPr>
              <a:t>Can you come up with the rule for this pattern?</a:t>
            </a:r>
          </a:p>
        </p:txBody>
      </p:sp>
    </p:spTree>
    <p:extLst>
      <p:ext uri="{BB962C8B-B14F-4D97-AF65-F5344CB8AC3E}">
        <p14:creationId xmlns:p14="http://schemas.microsoft.com/office/powerpoint/2010/main" val="3040048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9074D7-7189-401B-B22C-96E7385E1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2578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4404" y="280220"/>
            <a:ext cx="8608358" cy="1293028"/>
          </a:xfrm>
        </p:spPr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Practice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2228BE-80C9-4F62-92C7-AC996EC9BE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19033"/>
            <a:ext cx="12196357" cy="516378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BC43296-EF0F-41D7-AFEF-C80DC5DC439B}"/>
              </a:ext>
            </a:extLst>
          </p:cNvPr>
          <p:cNvSpPr/>
          <p:nvPr/>
        </p:nvSpPr>
        <p:spPr>
          <a:xfrm>
            <a:off x="4630994" y="2412061"/>
            <a:ext cx="3421625" cy="1864971"/>
          </a:xfrm>
          <a:prstGeom prst="rect">
            <a:avLst/>
          </a:prstGeom>
          <a:solidFill>
            <a:srgbClr val="F4F7CC"/>
          </a:solidFill>
          <a:ln>
            <a:solidFill>
              <a:srgbClr val="F4F7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88304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78AD2CA-CEDC-4A24-A498-F3ECC6FA34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818" y="0"/>
            <a:ext cx="11542363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3FBBE13-8A7F-446B-AD82-7B4E9C99F751}"/>
              </a:ext>
            </a:extLst>
          </p:cNvPr>
          <p:cNvSpPr/>
          <p:nvPr/>
        </p:nvSpPr>
        <p:spPr>
          <a:xfrm>
            <a:off x="796413" y="604684"/>
            <a:ext cx="4513006" cy="3318387"/>
          </a:xfrm>
          <a:prstGeom prst="rect">
            <a:avLst/>
          </a:prstGeom>
          <a:solidFill>
            <a:srgbClr val="F4F7CC"/>
          </a:solidFill>
          <a:ln>
            <a:solidFill>
              <a:srgbClr val="F4F7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E571B0-C3E5-485C-B4AF-4466CCD5D4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805" y="604684"/>
            <a:ext cx="2371725" cy="14287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35D2DF6-53B5-48B4-A279-3BC79E05EA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7805" y="2263877"/>
            <a:ext cx="3067050" cy="134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47925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D318FA-BA54-4498-A0D1-A99D62D2CE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945" y="1592825"/>
            <a:ext cx="11952027" cy="513243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AU" sz="3200" b="1" cap="all" dirty="0">
                <a:solidFill>
                  <a:srgbClr val="FFC000"/>
                </a:solidFill>
                <a:latin typeface="Kiwi School Handwriting" panose="00000500000000000000" pitchFamily="2" charset="0"/>
                <a:ea typeface="+mj-ea"/>
                <a:cs typeface="+mj-cs"/>
              </a:rPr>
              <a:t>When</a:t>
            </a:r>
          </a:p>
          <a:p>
            <a:pPr lvl="1"/>
            <a:r>
              <a:rPr lang="en-AU" sz="3000" dirty="0"/>
              <a:t>When your teachers says you may go…..</a:t>
            </a:r>
          </a:p>
          <a:p>
            <a:pPr lvl="1"/>
            <a:endParaRPr lang="en-AU" sz="3000" dirty="0"/>
          </a:p>
          <a:p>
            <a:pPr marL="0" indent="0">
              <a:buNone/>
            </a:pPr>
            <a:r>
              <a:rPr lang="en-AU" sz="3200" b="1" cap="all" dirty="0">
                <a:solidFill>
                  <a:schemeClr val="accent6">
                    <a:lumMod val="75000"/>
                  </a:schemeClr>
                </a:solidFill>
                <a:latin typeface="Kiwi School Handwriting" panose="00000500000000000000" pitchFamily="2" charset="0"/>
                <a:ea typeface="+mj-ea"/>
                <a:cs typeface="+mj-cs"/>
              </a:rPr>
              <a:t>What</a:t>
            </a:r>
          </a:p>
          <a:p>
            <a:pPr lvl="1"/>
            <a:r>
              <a:rPr lang="en-AU" sz="3000" dirty="0"/>
              <a:t>You will come and get a set of match sticks for you and your partner and 2 worksheets</a:t>
            </a:r>
          </a:p>
          <a:p>
            <a:pPr lvl="1"/>
            <a:endParaRPr lang="en-AU" sz="3000" dirty="0"/>
          </a:p>
          <a:p>
            <a:pPr marL="0" indent="0">
              <a:buNone/>
            </a:pPr>
            <a:r>
              <a:rPr lang="en-AU" sz="3200" b="1" cap="all" dirty="0">
                <a:solidFill>
                  <a:srgbClr val="00B050"/>
                </a:solidFill>
                <a:latin typeface="Kiwi School Handwriting" panose="00000500000000000000" pitchFamily="2" charset="0"/>
                <a:ea typeface="+mj-ea"/>
                <a:cs typeface="+mj-cs"/>
              </a:rPr>
              <a:t>Who </a:t>
            </a:r>
          </a:p>
          <a:p>
            <a:pPr lvl="1"/>
            <a:r>
              <a:rPr lang="en-AU" sz="3000" dirty="0"/>
              <a:t>Number 2 person </a:t>
            </a:r>
          </a:p>
          <a:p>
            <a:pPr lvl="1"/>
            <a:endParaRPr lang="en-AU" sz="3000" dirty="0"/>
          </a:p>
          <a:p>
            <a:pPr marL="457200" lvl="1" indent="0" algn="ctr">
              <a:buNone/>
            </a:pPr>
            <a:r>
              <a:rPr lang="en-AU" sz="6000" b="1" dirty="0">
                <a:solidFill>
                  <a:srgbClr val="C00000"/>
                </a:solidFill>
              </a:rPr>
              <a:t>GO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DC5EBD6-7142-4093-939E-FB358ADF3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Transition 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4946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6103D6C-965C-4FE7-AD07-E91A12A47D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9302"/>
            <a:ext cx="9193018" cy="667939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3642" y="0"/>
            <a:ext cx="8608358" cy="1293028"/>
          </a:xfrm>
        </p:spPr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Task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AFF9EF6-86A2-42A5-AE9A-3FB82E18F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0" y="937335"/>
            <a:ext cx="4572000" cy="498332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AU" sz="2800" b="1" dirty="0">
                <a:latin typeface="Century Gothic" panose="020B0502020202020204" pitchFamily="34" charset="0"/>
              </a:rPr>
              <a:t>For each of the following spatial patterns: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AU" sz="2800" dirty="0">
                <a:latin typeface="Century Gothic" panose="020B0502020202020204" pitchFamily="34" charset="0"/>
              </a:rPr>
              <a:t>Make the next two shapes in the pattern</a:t>
            </a:r>
          </a:p>
          <a:p>
            <a:pPr marL="914400" lvl="1" indent="-457200">
              <a:buFont typeface="+mj-lt"/>
              <a:buAutoNum type="arabicPeriod"/>
            </a:pPr>
            <a:endParaRPr lang="en-AU" sz="2800" dirty="0">
              <a:latin typeface="Century Gothic" panose="020B0502020202020204" pitchFamily="34" charset="0"/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en-AU" sz="2800" dirty="0">
                <a:latin typeface="Century Gothic" panose="020B0502020202020204" pitchFamily="34" charset="0"/>
              </a:rPr>
              <a:t>Write the spatial pattern as a number pattern</a:t>
            </a:r>
          </a:p>
          <a:p>
            <a:pPr marL="914400" lvl="1" indent="-457200">
              <a:buFont typeface="+mj-lt"/>
              <a:buAutoNum type="arabicPeriod"/>
            </a:pPr>
            <a:endParaRPr lang="en-AU" sz="2800" dirty="0">
              <a:latin typeface="Century Gothic" panose="020B0502020202020204" pitchFamily="34" charset="0"/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en-AU" sz="2800" dirty="0">
                <a:latin typeface="Century Gothic" panose="020B0502020202020204" pitchFamily="34" charset="0"/>
              </a:rPr>
              <a:t>Describe the pattern by stating how many sticks are required to make the </a:t>
            </a:r>
            <a:r>
              <a:rPr lang="en-AU" sz="2800" b="1" dirty="0">
                <a:latin typeface="Century Gothic" panose="020B0502020202020204" pitchFamily="34" charset="0"/>
              </a:rPr>
              <a:t>first term</a:t>
            </a:r>
            <a:r>
              <a:rPr lang="en-AU" sz="2800" dirty="0">
                <a:latin typeface="Century Gothic" panose="020B0502020202020204" pitchFamily="34" charset="0"/>
              </a:rPr>
              <a:t> and how many more sticks are required to make the </a:t>
            </a:r>
            <a:r>
              <a:rPr lang="en-AU" sz="2800" b="1" dirty="0">
                <a:latin typeface="Century Gothic" panose="020B0502020202020204" pitchFamily="34" charset="0"/>
              </a:rPr>
              <a:t>next term in the pattern.</a:t>
            </a:r>
            <a:endParaRPr lang="en-AU" sz="2800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744282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E5224E"/>
      </a:accent1>
      <a:accent2>
        <a:srgbClr val="9D074E"/>
      </a:accent2>
      <a:accent3>
        <a:srgbClr val="7F2294"/>
      </a:accent3>
      <a:accent4>
        <a:srgbClr val="8D65EA"/>
      </a:accent4>
      <a:accent5>
        <a:srgbClr val="588FE2"/>
      </a:accent5>
      <a:accent6>
        <a:srgbClr val="127CA4"/>
      </a:accent6>
      <a:hlink>
        <a:srgbClr val="FB4AB6"/>
      </a:hlink>
      <a:folHlink>
        <a:srgbClr val="F98FE9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6DB8EB18-3657-4051-A897-2ED38832359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64</TotalTime>
  <Words>380</Words>
  <Application>Microsoft Office PowerPoint</Application>
  <PresentationFormat>Widescreen</PresentationFormat>
  <Paragraphs>81</Paragraphs>
  <Slides>15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Century Gothic</vt:lpstr>
      <vt:lpstr>DJB Fancy Nancy</vt:lpstr>
      <vt:lpstr>Kiwi School Handwriting</vt:lpstr>
      <vt:lpstr>Vapor Trail</vt:lpstr>
      <vt:lpstr>Patterns - part 1</vt:lpstr>
      <vt:lpstr>Learning Intentions</vt:lpstr>
      <vt:lpstr>Think - Pair - Share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Practice</vt:lpstr>
      <vt:lpstr>PowerPoint Presentation</vt:lpstr>
      <vt:lpstr>Transition </vt:lpstr>
      <vt:lpstr>Task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Patterns - part 1</dc:title>
  <dc:creator>Nine Labuschagne</dc:creator>
  <cp:lastModifiedBy>Nine Labuschagne</cp:lastModifiedBy>
  <cp:revision>17</cp:revision>
  <dcterms:created xsi:type="dcterms:W3CDTF">2017-11-19T07:36:14Z</dcterms:created>
  <dcterms:modified xsi:type="dcterms:W3CDTF">2017-11-19T08:40:44Z</dcterms:modified>
</cp:coreProperties>
</file>
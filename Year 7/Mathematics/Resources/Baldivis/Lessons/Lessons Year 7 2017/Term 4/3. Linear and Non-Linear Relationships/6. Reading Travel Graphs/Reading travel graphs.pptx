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7" r:id="rId2"/>
    <p:sldId id="258" r:id="rId3"/>
    <p:sldId id="263" r:id="rId4"/>
    <p:sldId id="264" r:id="rId5"/>
    <p:sldId id="259" r:id="rId6"/>
    <p:sldId id="266" r:id="rId7"/>
    <p:sldId id="260" r:id="rId8"/>
    <p:sldId id="261" r:id="rId9"/>
    <p:sldId id="267" r:id="rId10"/>
    <p:sldId id="265" r:id="rId11"/>
    <p:sldId id="268" r:id="rId12"/>
    <p:sldId id="269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8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BF4A3-9E71-42E6-BA39-6425B5406E09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99BD5-CC0D-4F5D-85B7-93EEAD13CB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046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52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39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23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94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90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52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82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2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94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15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1903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615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4386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0988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1676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894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145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068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207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210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772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032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3092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644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6215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7929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788E7-DE56-4BCF-9290-30EFAED36FDA}" type="datetimeFigureOut">
              <a:rPr lang="en-AU" smtClean="0"/>
              <a:t>26/11/2017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95DE8-2C55-4667-BFBD-84505F9D6C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6191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Reading travel graphs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4000" dirty="0">
                <a:latin typeface="Kiwi School Handwriting" panose="00000500000000000000" pitchFamily="2" charset="0"/>
              </a:rPr>
              <a:t>Interpret a travel graph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Quick-write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85800" y="2057401"/>
            <a:ext cx="9664148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b="1" dirty="0">
                <a:latin typeface="Franklin Gothic Book" panose="020B0503020102020204" pitchFamily="34" charset="0"/>
              </a:rPr>
              <a:t>You have 2 minutes to tell me how you got to school today…..</a:t>
            </a:r>
          </a:p>
          <a:p>
            <a:pPr marL="0" indent="0">
              <a:buNone/>
            </a:pPr>
            <a:endParaRPr lang="en-AU" sz="4400" b="1" dirty="0">
              <a:latin typeface="Franklin Gothic Book" panose="020B0503020102020204" pitchFamily="34" charset="0"/>
            </a:endParaRPr>
          </a:p>
          <a:p>
            <a:pPr lvl="1"/>
            <a:r>
              <a:rPr lang="en-AU" sz="3800" b="1" dirty="0">
                <a:latin typeface="Franklin Gothic Book" panose="020B0503020102020204" pitchFamily="34" charset="0"/>
              </a:rPr>
              <a:t>Include any stops like picking up a friend.</a:t>
            </a:r>
          </a:p>
          <a:p>
            <a:pPr lvl="1"/>
            <a:r>
              <a:rPr lang="en-AU" sz="3800" b="1" dirty="0">
                <a:latin typeface="Franklin Gothic Book" panose="020B0503020102020204" pitchFamily="34" charset="0"/>
              </a:rPr>
              <a:t>How long did it take you to get to school?</a:t>
            </a: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DDE2BA40-28F0-4CA8-B0D1-A0A7C2033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289" y="1760551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5D1C9-0000-4308-A15C-121A5D4D718F}"/>
              </a:ext>
            </a:extLst>
          </p:cNvPr>
          <p:cNvSpPr txBox="1"/>
          <p:nvPr/>
        </p:nvSpPr>
        <p:spPr>
          <a:xfrm>
            <a:off x="10663649" y="3429000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W</a:t>
            </a:r>
            <a:r>
              <a:rPr lang="en-AU" sz="2400" b="1" dirty="0"/>
              <a:t>ICOR</a:t>
            </a:r>
          </a:p>
        </p:txBody>
      </p:sp>
    </p:spTree>
    <p:extLst>
      <p:ext uri="{BB962C8B-B14F-4D97-AF65-F5344CB8AC3E}">
        <p14:creationId xmlns:p14="http://schemas.microsoft.com/office/powerpoint/2010/main" val="362037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756533" y="2059563"/>
            <a:ext cx="9664148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b="1" dirty="0">
                <a:latin typeface="Franklin Gothic Book" panose="020B0503020102020204" pitchFamily="34" charset="0"/>
              </a:rPr>
              <a:t>So the information that you have just written down, how can we display it?</a:t>
            </a:r>
          </a:p>
          <a:p>
            <a:pPr marL="0" indent="0">
              <a:buNone/>
            </a:pPr>
            <a:endParaRPr lang="en-AU" sz="4400" b="1" dirty="0">
              <a:latin typeface="Franklin Gothic Book" panose="020B0503020102020204" pitchFamily="34" charset="0"/>
            </a:endParaRPr>
          </a:p>
          <a:p>
            <a:pPr lvl="1"/>
            <a:r>
              <a:rPr lang="en-AU" sz="3600" b="1" dirty="0">
                <a:latin typeface="Franklin Gothic Book" panose="020B0503020102020204" pitchFamily="34" charset="0"/>
              </a:rPr>
              <a:t>Can we put it into a graph?</a:t>
            </a:r>
          </a:p>
        </p:txBody>
      </p:sp>
    </p:spTree>
    <p:extLst>
      <p:ext uri="{BB962C8B-B14F-4D97-AF65-F5344CB8AC3E}">
        <p14:creationId xmlns:p14="http://schemas.microsoft.com/office/powerpoint/2010/main" val="328265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073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Travel Graphs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29430"/>
            <a:ext cx="1847527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distance-time graph?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read travel graphs?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8364" y="1437418"/>
            <a:ext cx="4551832" cy="452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A graph that compares the time and distance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Features of a Time-Distance Graph: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399" b="1" dirty="0">
                <a:solidFill>
                  <a:schemeClr val="accent3">
                    <a:lumMod val="75000"/>
                  </a:schemeClr>
                </a:solidFill>
                <a:latin typeface="Calibri" panose="020F0502020204030204"/>
              </a:rPr>
              <a:t>Time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 is the independent variable so Time is marked on the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horizontal x-axis.</a:t>
            </a:r>
          </a:p>
          <a:p>
            <a:pPr lvl="1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399" b="1" dirty="0">
                <a:solidFill>
                  <a:schemeClr val="accent5">
                    <a:lumMod val="75000"/>
                  </a:schemeClr>
                </a:solidFill>
                <a:latin typeface="Calibri" panose="020F0502020204030204"/>
              </a:rPr>
              <a:t>Distance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 is the dependent variable so Distance is marked on the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vertical y-axis</a:t>
            </a:r>
          </a:p>
          <a:p>
            <a:pPr marL="800100" lvl="1" indent="-342900" defTabSz="914126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F8D8501-E19B-4348-8D45-9679E0F97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311" y="1912622"/>
            <a:ext cx="5538097" cy="415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75A80A-24EA-44AE-9E52-7679B3050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438" y="0"/>
            <a:ext cx="670363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1B8C8C-9C4A-4493-A0BE-B7AA102F1FD9}"/>
              </a:ext>
            </a:extLst>
          </p:cNvPr>
          <p:cNvSpPr txBox="1"/>
          <p:nvPr/>
        </p:nvSpPr>
        <p:spPr>
          <a:xfrm>
            <a:off x="212035" y="5425569"/>
            <a:ext cx="1847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Leaves home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7A0038-D9E8-4E25-B2EC-E04A719F8E74}"/>
              </a:ext>
            </a:extLst>
          </p:cNvPr>
          <p:cNvCxnSpPr>
            <a:cxnSpLocks/>
          </p:cNvCxnSpPr>
          <p:nvPr/>
        </p:nvCxnSpPr>
        <p:spPr>
          <a:xfrm flipV="1">
            <a:off x="1895061" y="5817704"/>
            <a:ext cx="1497496" cy="14647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403DB3-194A-47C0-9FF6-86A634C72783}"/>
              </a:ext>
            </a:extLst>
          </p:cNvPr>
          <p:cNvSpPr txBox="1"/>
          <p:nvPr/>
        </p:nvSpPr>
        <p:spPr>
          <a:xfrm>
            <a:off x="-95068" y="4152284"/>
            <a:ext cx="2186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Traveling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E3DBAC-9EB1-499D-ADFB-183230458550}"/>
              </a:ext>
            </a:extLst>
          </p:cNvPr>
          <p:cNvCxnSpPr>
            <a:cxnSpLocks/>
          </p:cNvCxnSpPr>
          <p:nvPr/>
        </p:nvCxnSpPr>
        <p:spPr>
          <a:xfrm>
            <a:off x="2030897" y="4531747"/>
            <a:ext cx="1454425" cy="355213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B717C74-FF79-4173-93A7-8EE625D40061}"/>
              </a:ext>
            </a:extLst>
          </p:cNvPr>
          <p:cNvSpPr txBox="1"/>
          <p:nvPr/>
        </p:nvSpPr>
        <p:spPr>
          <a:xfrm>
            <a:off x="0" y="576996"/>
            <a:ext cx="2186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Stopping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7AD585-8362-49D8-9C03-7BFFA6656D1A}"/>
              </a:ext>
            </a:extLst>
          </p:cNvPr>
          <p:cNvCxnSpPr>
            <a:cxnSpLocks/>
          </p:cNvCxnSpPr>
          <p:nvPr/>
        </p:nvCxnSpPr>
        <p:spPr>
          <a:xfrm>
            <a:off x="2030897" y="991667"/>
            <a:ext cx="2568812" cy="316061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2DF8E9-B713-4CFD-820B-A43F043B615D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091541" y="2424546"/>
            <a:ext cx="3782786" cy="2020126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017E06-5AB9-432D-A295-DD7958F0C2AE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186609" y="869384"/>
            <a:ext cx="4507086" cy="442288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238B35D-9CA7-4BDB-84A0-C99692BD18BA}"/>
              </a:ext>
            </a:extLst>
          </p:cNvPr>
          <p:cNvSpPr txBox="1"/>
          <p:nvPr/>
        </p:nvSpPr>
        <p:spPr>
          <a:xfrm>
            <a:off x="9589906" y="2844225"/>
            <a:ext cx="21866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Going home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0C954D5-D7D6-4EEB-80A3-8201F2922742}"/>
              </a:ext>
            </a:extLst>
          </p:cNvPr>
          <p:cNvCxnSpPr>
            <a:cxnSpLocks/>
          </p:cNvCxnSpPr>
          <p:nvPr/>
        </p:nvCxnSpPr>
        <p:spPr>
          <a:xfrm flipH="1">
            <a:off x="8326582" y="3186545"/>
            <a:ext cx="1537854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25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1971C-965F-428D-85A3-0D3BBB64F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930" y="1239494"/>
            <a:ext cx="7100070" cy="55266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40630C-143E-4699-9B33-B03F7C604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091930" cy="42021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5A4CC2-FE1C-402F-B6E7-8F1C6D07229C}"/>
              </a:ext>
            </a:extLst>
          </p:cNvPr>
          <p:cNvSpPr txBox="1"/>
          <p:nvPr/>
        </p:nvSpPr>
        <p:spPr>
          <a:xfrm>
            <a:off x="0" y="4402291"/>
            <a:ext cx="4551832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914126">
              <a:buAutoNum type="alphaLcParenR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10 minutes</a:t>
            </a:r>
          </a:p>
          <a:p>
            <a:pPr marL="457200" indent="-457200" defTabSz="914126">
              <a:buAutoNum type="alphaLcParenR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b)   10 minutes</a:t>
            </a:r>
          </a:p>
          <a:p>
            <a:pPr defTabSz="914126"/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c)   10 minutes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1971C-965F-428D-85A3-0D3BBB64F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930" y="1239494"/>
            <a:ext cx="7100070" cy="55266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40630C-143E-4699-9B33-B03F7C6044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9600"/>
          <a:stretch/>
        </p:blipFill>
        <p:spPr>
          <a:xfrm>
            <a:off x="0" y="0"/>
            <a:ext cx="5091930" cy="16976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5A4CC2-FE1C-402F-B6E7-8F1C6D07229C}"/>
              </a:ext>
            </a:extLst>
          </p:cNvPr>
          <p:cNvSpPr txBox="1"/>
          <p:nvPr/>
        </p:nvSpPr>
        <p:spPr>
          <a:xfrm>
            <a:off x="0" y="3429000"/>
            <a:ext cx="50919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4400" b="1" dirty="0">
                <a:solidFill>
                  <a:schemeClr val="accent5">
                    <a:lumMod val="75000"/>
                  </a:schemeClr>
                </a:solidFill>
                <a:latin typeface="Calibri" panose="020F0502020204030204"/>
              </a:rPr>
              <a:t>How do we calculate speed???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58FF0-8592-48EA-9962-D61D2F23C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00273"/>
            <a:ext cx="5091930" cy="83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84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FDF728-7AA0-409B-90B8-B2E19879741D}"/>
              </a:ext>
            </a:extLst>
          </p:cNvPr>
          <p:cNvSpPr txBox="1"/>
          <p:nvPr/>
        </p:nvSpPr>
        <p:spPr>
          <a:xfrm>
            <a:off x="4904508" y="519546"/>
            <a:ext cx="71489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4400" b="1" dirty="0">
                <a:solidFill>
                  <a:schemeClr val="accent5">
                    <a:lumMod val="75000"/>
                  </a:schemeClr>
                </a:solidFill>
                <a:latin typeface="Calibri" panose="020F0502020204030204"/>
              </a:rPr>
              <a:t>Calculating Speed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783E33-1A31-4B65-B010-B4B23CF2D844}"/>
                  </a:ext>
                </a:extLst>
              </p:cNvPr>
              <p:cNvSpPr txBox="1"/>
              <p:nvPr/>
            </p:nvSpPr>
            <p:spPr>
              <a:xfrm>
                <a:off x="969818" y="2368613"/>
                <a:ext cx="9545782" cy="3326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:r>
                  <a:rPr lang="en-AU" sz="4400" b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/>
                  </a:rPr>
                  <a:t>Speed = Distance ÷ Time</a:t>
                </a:r>
              </a:p>
              <a:p>
                <a:pPr algn="ctr" defTabSz="914126"/>
                <a:endParaRPr lang="en-AU" sz="4400" b="1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/>
                </a:endParaRPr>
              </a:p>
              <a:p>
                <a:pPr algn="ctr" defTabSz="914126"/>
                <a:endParaRPr lang="en-AU" sz="4400" b="1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/>
                </a:endParaRPr>
              </a:p>
              <a:p>
                <a:pPr algn="ctr" defTabSz="914126"/>
                <a:r>
                  <a:rPr lang="en-AU" sz="5400" b="1" dirty="0">
                    <a:solidFill>
                      <a:srgbClr val="7030A0"/>
                    </a:solidFill>
                    <a:latin typeface="Calibri" panose="020F0502020204030204"/>
                  </a:rPr>
                  <a:t>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5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5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𝑫𝒊𝒔𝒕𝒂𝒏𝒄𝒆</m:t>
                        </m:r>
                      </m:num>
                      <m:den>
                        <m:r>
                          <a:rPr lang="en-AU" sz="5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𝑻𝒊𝒎𝒆</m:t>
                        </m:r>
                      </m:den>
                    </m:f>
                  </m:oMath>
                </a14:m>
                <a:endParaRPr lang="en-AU" sz="5400" b="1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783E33-1A31-4B65-B010-B4B23CF2D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18" y="2368613"/>
                <a:ext cx="9545782" cy="3326488"/>
              </a:xfrm>
              <a:prstGeom prst="rect">
                <a:avLst/>
              </a:prstGeom>
              <a:blipFill>
                <a:blip r:embed="rId2"/>
                <a:stretch>
                  <a:fillRect t="-3853" b="-53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320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1971C-965F-428D-85A3-0D3BBB64F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930" y="1239494"/>
            <a:ext cx="7100070" cy="55266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40630C-143E-4699-9B33-B03F7C6044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9600"/>
          <a:stretch/>
        </p:blipFill>
        <p:spPr>
          <a:xfrm>
            <a:off x="0" y="0"/>
            <a:ext cx="5091930" cy="16976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5A4CC2-FE1C-402F-B6E7-8F1C6D07229C}"/>
              </a:ext>
            </a:extLst>
          </p:cNvPr>
          <p:cNvSpPr txBox="1"/>
          <p:nvPr/>
        </p:nvSpPr>
        <p:spPr>
          <a:xfrm>
            <a:off x="0" y="2705725"/>
            <a:ext cx="533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dirty="0">
                <a:latin typeface="Calibri" panose="020F0502020204030204"/>
              </a:rPr>
              <a:t>d) Speed = distance ÷ time</a:t>
            </a:r>
          </a:p>
          <a:p>
            <a:pPr defTabSz="914126"/>
            <a:endParaRPr lang="en-AU" sz="3200" dirty="0">
              <a:latin typeface="Calibri" panose="020F0502020204030204"/>
            </a:endParaRPr>
          </a:p>
          <a:p>
            <a:pPr defTabSz="914126"/>
            <a:r>
              <a:rPr lang="en-AU" sz="3200" dirty="0">
                <a:latin typeface="Calibri" panose="020F0502020204030204"/>
              </a:rPr>
              <a:t>Distance = 9 km </a:t>
            </a:r>
          </a:p>
          <a:p>
            <a:pPr defTabSz="914126"/>
            <a:r>
              <a:rPr lang="en-AU" sz="3200" dirty="0">
                <a:latin typeface="Calibri" panose="020F0502020204030204"/>
              </a:rPr>
              <a:t>Time = 10min</a:t>
            </a:r>
          </a:p>
          <a:p>
            <a:pPr defTabSz="914126"/>
            <a:endParaRPr lang="en-AU" sz="3200" dirty="0">
              <a:latin typeface="Calibri" panose="020F0502020204030204"/>
            </a:endParaRPr>
          </a:p>
          <a:p>
            <a:pPr defTabSz="914126"/>
            <a:r>
              <a:rPr lang="en-AU" sz="3200" dirty="0">
                <a:latin typeface="Calibri" panose="020F0502020204030204"/>
              </a:rPr>
              <a:t>9km ÷ 10 min = 0.9km per min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58FF0-8592-48EA-9962-D61D2F23C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00273"/>
            <a:ext cx="5091930" cy="83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94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1971C-965F-428D-85A3-0D3BBB64F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930" y="1239494"/>
            <a:ext cx="7100070" cy="55266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40630C-143E-4699-9B33-B03F7C6044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9600"/>
          <a:stretch/>
        </p:blipFill>
        <p:spPr>
          <a:xfrm>
            <a:off x="0" y="0"/>
            <a:ext cx="5091930" cy="16976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5A4CC2-FE1C-402F-B6E7-8F1C6D07229C}"/>
              </a:ext>
            </a:extLst>
          </p:cNvPr>
          <p:cNvSpPr txBox="1"/>
          <p:nvPr/>
        </p:nvSpPr>
        <p:spPr>
          <a:xfrm>
            <a:off x="0" y="2705725"/>
            <a:ext cx="533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dirty="0">
                <a:latin typeface="Calibri" panose="020F0502020204030204"/>
              </a:rPr>
              <a:t>e) Speed = distance ÷ time</a:t>
            </a:r>
          </a:p>
          <a:p>
            <a:pPr defTabSz="914126"/>
            <a:endParaRPr lang="en-AU" sz="3200" dirty="0">
              <a:latin typeface="Calibri" panose="020F0502020204030204"/>
            </a:endParaRPr>
          </a:p>
          <a:p>
            <a:pPr defTabSz="914126"/>
            <a:r>
              <a:rPr lang="en-AU" sz="3200" dirty="0">
                <a:latin typeface="Calibri" panose="020F0502020204030204"/>
              </a:rPr>
              <a:t>Distance = 1 km </a:t>
            </a:r>
          </a:p>
          <a:p>
            <a:pPr defTabSz="914126"/>
            <a:r>
              <a:rPr lang="en-AU" sz="3200" dirty="0">
                <a:latin typeface="Calibri" panose="020F0502020204030204"/>
              </a:rPr>
              <a:t>Time = 10 min</a:t>
            </a:r>
          </a:p>
          <a:p>
            <a:pPr defTabSz="914126"/>
            <a:endParaRPr lang="en-AU" sz="3200" dirty="0">
              <a:latin typeface="Calibri" panose="020F0502020204030204"/>
            </a:endParaRPr>
          </a:p>
          <a:p>
            <a:pPr defTabSz="914126"/>
            <a:r>
              <a:rPr lang="en-AU" sz="3200" dirty="0">
                <a:latin typeface="Calibri" panose="020F0502020204030204"/>
              </a:rPr>
              <a:t>1 km ÷ 10 min = 0.1km per min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58FF0-8592-48EA-9962-D61D2F23C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00273"/>
            <a:ext cx="5091930" cy="83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4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092" y="1968627"/>
            <a:ext cx="7281815" cy="3348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b="1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</a:rPr>
              <a:t>Complete Worksheet</a:t>
            </a:r>
          </a:p>
          <a:p>
            <a:pPr marL="0" indent="0">
              <a:buNone/>
            </a:pPr>
            <a:endParaRPr lang="en-AU" sz="4400" b="1" dirty="0">
              <a:solidFill>
                <a:schemeClr val="accent5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44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Complete Summary</a:t>
            </a:r>
          </a:p>
          <a:p>
            <a:pPr marL="0" indent="0">
              <a:buNone/>
            </a:pPr>
            <a:endParaRPr lang="en-AU" sz="4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186</TotalTime>
  <Words>329</Words>
  <Application>Microsoft Office PowerPoint</Application>
  <PresentationFormat>Widescreen</PresentationFormat>
  <Paragraphs>84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 Math</vt:lpstr>
      <vt:lpstr>Century Gothic</vt:lpstr>
      <vt:lpstr>DJB Fancy Nancy</vt:lpstr>
      <vt:lpstr>Franklin Gothic Book</vt:lpstr>
      <vt:lpstr>Kiwi School Handwriting</vt:lpstr>
      <vt:lpstr>Vapor Trail</vt:lpstr>
      <vt:lpstr>Reading travel graphs</vt:lpstr>
      <vt:lpstr>Learning Intentions</vt:lpstr>
      <vt:lpstr>Quick-write</vt:lpstr>
      <vt:lpstr>PowerPoint Presentation</vt:lpstr>
      <vt:lpstr>PowerPoint Presentation</vt:lpstr>
      <vt:lpstr>PowerPoint Presentation</vt:lpstr>
      <vt:lpstr>PowerPoint Presentation</vt:lpstr>
      <vt:lpstr>Practice</vt:lpstr>
      <vt:lpstr>Practice</vt:lpstr>
      <vt:lpstr>PowerPoint Presentation</vt:lpstr>
      <vt:lpstr>Practice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Nine Labuschagne</dc:creator>
  <cp:lastModifiedBy>Nine Labuschagne</cp:lastModifiedBy>
  <cp:revision>13</cp:revision>
  <dcterms:created xsi:type="dcterms:W3CDTF">2017-11-24T01:09:38Z</dcterms:created>
  <dcterms:modified xsi:type="dcterms:W3CDTF">2017-11-26T10:33:13Z</dcterms:modified>
</cp:coreProperties>
</file>
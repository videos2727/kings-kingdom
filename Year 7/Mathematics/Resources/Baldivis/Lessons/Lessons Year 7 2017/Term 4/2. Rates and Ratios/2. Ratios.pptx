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3"/>
  </p:notesMasterIdLst>
  <p:handoutMasterIdLst>
    <p:handoutMasterId r:id="rId14"/>
  </p:handoutMasterIdLst>
  <p:sldIdLst>
    <p:sldId id="256" r:id="rId3"/>
    <p:sldId id="265" r:id="rId4"/>
    <p:sldId id="269" r:id="rId5"/>
    <p:sldId id="275" r:id="rId6"/>
    <p:sldId id="276" r:id="rId7"/>
    <p:sldId id="277" r:id="rId8"/>
    <p:sldId id="278" r:id="rId9"/>
    <p:sldId id="279" r:id="rId10"/>
    <p:sldId id="280" r:id="rId11"/>
    <p:sldId id="264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8" autoAdjust="0"/>
    <p:restoredTop sz="74813" autoAdjust="0"/>
  </p:normalViewPr>
  <p:slideViewPr>
    <p:cSldViewPr>
      <p:cViewPr varScale="1">
        <p:scale>
          <a:sx n="64" d="100"/>
          <a:sy n="64" d="100"/>
        </p:scale>
        <p:origin x="1435" y="72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11/1/2017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11/1/2017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03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34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29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11/1/2017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8782842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Ms. Latham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7 – Ratio &amp;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– Week 4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ratios and how do we use them?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828" y="1988840"/>
            <a:ext cx="11052720" cy="2667000"/>
          </a:xfrm>
        </p:spPr>
        <p:txBody>
          <a:bodyPr/>
          <a:lstStyle/>
          <a:p>
            <a:r>
              <a:rPr lang="en-US" dirty="0"/>
              <a:t>Topic :Ratios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218903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218903" y="1466289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A ratio is a comparison of two quantities of the same type in the same units</a:t>
            </a:r>
            <a:endParaRPr lang="en-AU" sz="2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125A1-4470-465E-8D45-3A009E91B4C5}"/>
              </a:ext>
            </a:extLst>
          </p:cNvPr>
          <p:cNvSpPr txBox="1"/>
          <p:nvPr/>
        </p:nvSpPr>
        <p:spPr>
          <a:xfrm>
            <a:off x="429217" y="2697626"/>
            <a:ext cx="1891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can ratios be represented?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/>
              <p:nvPr/>
            </p:nvSpPr>
            <p:spPr>
              <a:xfrm>
                <a:off x="2255985" y="2632983"/>
                <a:ext cx="6179315" cy="1894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Ratios can be written as two numbers separated by a colon (3 : 10)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a decimal 0.3</a:t>
                </a:r>
              </a:p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AU" sz="2400" dirty="0"/>
                  <a:t>or as a percentage 30%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B97F849-6B1F-4E1D-AB87-3C08CBF9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85" y="2632983"/>
                <a:ext cx="6179315" cy="1894108"/>
              </a:xfrm>
              <a:prstGeom prst="rect">
                <a:avLst/>
              </a:prstGeom>
              <a:blipFill>
                <a:blip r:embed="rId3"/>
                <a:stretch>
                  <a:fillRect l="-1282" t="-4502" r="-986" b="-6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5060DD8-5C54-45DB-B434-68DC514AD3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930" t="30044" r="37603" b="47201"/>
          <a:stretch/>
        </p:blipFill>
        <p:spPr>
          <a:xfrm>
            <a:off x="2320661" y="4680536"/>
            <a:ext cx="4997888" cy="1803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F5ECD4-862C-429E-A786-568FC9E535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13" t="31353" r="22824" b="47201"/>
          <a:stretch/>
        </p:blipFill>
        <p:spPr>
          <a:xfrm>
            <a:off x="7890848" y="4805244"/>
            <a:ext cx="1516612" cy="169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pPr algn="ctr"/>
            <a:r>
              <a:rPr lang="en-AU" dirty="0"/>
              <a:t>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3F20B-4CAC-49BB-A059-00C00A5D0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6A0565-184E-471B-BC59-BBAF73FA3E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C8774-B8BE-44AB-97D5-A8E1C5CDC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79" t="27772" r="22234" b="32146"/>
          <a:stretch/>
        </p:blipFill>
        <p:spPr>
          <a:xfrm>
            <a:off x="556829" y="1369061"/>
            <a:ext cx="11075168" cy="480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56924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926060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Converting between fraction decimal and percentage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3230864" y="1690406"/>
            <a:ext cx="633670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Fraction → decimal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divide numerator by denominator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77723-4D69-4848-BD86-0D57D096B0BA}"/>
              </a:ext>
            </a:extLst>
          </p:cNvPr>
          <p:cNvSpPr txBox="1"/>
          <p:nvPr/>
        </p:nvSpPr>
        <p:spPr>
          <a:xfrm>
            <a:off x="3230863" y="3074496"/>
            <a:ext cx="87322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b="0" dirty="0"/>
              <a:t>decimal → percentage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b="0" dirty="0"/>
              <a:t>	multiply by 100 and add the percentage symbol %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D9F239-BE09-4910-B17E-5242095B3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68" t="51131" r="30505" b="17580"/>
          <a:stretch/>
        </p:blipFill>
        <p:spPr>
          <a:xfrm>
            <a:off x="3124419" y="4274026"/>
            <a:ext cx="5317735" cy="214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87C922-0652-4F18-9C6B-91B17DB5A49A}"/>
              </a:ext>
            </a:extLst>
          </p:cNvPr>
          <p:cNvSpPr/>
          <p:nvPr/>
        </p:nvSpPr>
        <p:spPr>
          <a:xfrm>
            <a:off x="4397254" y="4757197"/>
            <a:ext cx="4003926" cy="1628874"/>
          </a:xfrm>
          <a:prstGeom prst="rect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30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Practice – add to your table on the left hand side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3F20B-4CAC-49BB-A059-00C00A5D0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1: 2</a:t>
            </a:r>
          </a:p>
          <a:p>
            <a:pPr marL="0" indent="0">
              <a:buNone/>
            </a:pPr>
            <a:r>
              <a:rPr lang="en-AU" sz="3600" dirty="0"/>
              <a:t>And </a:t>
            </a:r>
          </a:p>
          <a:p>
            <a:pPr marL="0" indent="0">
              <a:buNone/>
            </a:pPr>
            <a:r>
              <a:rPr lang="en-AU" sz="3600" dirty="0"/>
              <a:t>2 : 5</a:t>
            </a:r>
          </a:p>
        </p:txBody>
      </p:sp>
    </p:spTree>
    <p:extLst>
      <p:ext uri="{BB962C8B-B14F-4D97-AF65-F5344CB8AC3E}">
        <p14:creationId xmlns:p14="http://schemas.microsoft.com/office/powerpoint/2010/main" val="12314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3082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2926060" y="1295400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Ratios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ratios and how do we use them?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60655" y="153387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Simplifying ratios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57B38-2E80-4624-8255-5C9C542B033B}"/>
              </a:ext>
            </a:extLst>
          </p:cNvPr>
          <p:cNvSpPr txBox="1"/>
          <p:nvPr/>
        </p:nvSpPr>
        <p:spPr>
          <a:xfrm>
            <a:off x="2976627" y="1350360"/>
            <a:ext cx="633670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When ratios are large or awkward we can simplify them</a:t>
            </a:r>
            <a:endParaRPr lang="en-AU" sz="24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424C5-F77D-42A8-946F-61DD072920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45" t="24169" r="31628" b="53859"/>
          <a:stretch/>
        </p:blipFill>
        <p:spPr>
          <a:xfrm>
            <a:off x="3423588" y="2298189"/>
            <a:ext cx="5792800" cy="195461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38C1D91-BEC4-4613-85C7-42F3643BA26E}"/>
              </a:ext>
            </a:extLst>
          </p:cNvPr>
          <p:cNvSpPr/>
          <p:nvPr/>
        </p:nvSpPr>
        <p:spPr>
          <a:xfrm>
            <a:off x="5597632" y="3617882"/>
            <a:ext cx="864096" cy="792088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4A7B2-060C-4B04-A95E-C684FCD89BE9}"/>
              </a:ext>
            </a:extLst>
          </p:cNvPr>
          <p:cNvSpPr txBox="1"/>
          <p:nvPr/>
        </p:nvSpPr>
        <p:spPr>
          <a:xfrm>
            <a:off x="2926060" y="4533955"/>
            <a:ext cx="67752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Find a number that </a:t>
            </a:r>
            <a:r>
              <a:rPr lang="en-AU" sz="2400" b="1" dirty="0"/>
              <a:t>both</a:t>
            </a:r>
            <a:r>
              <a:rPr lang="en-AU" sz="2400" dirty="0"/>
              <a:t> ratio parts can be divided by.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C5BB29-43B2-4F10-B7CB-B146F5559F32}"/>
              </a:ext>
            </a:extLst>
          </p:cNvPr>
          <p:cNvSpPr txBox="1"/>
          <p:nvPr/>
        </p:nvSpPr>
        <p:spPr>
          <a:xfrm>
            <a:off x="5922670" y="5052376"/>
            <a:ext cx="453650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15 : 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B065C-7501-41DA-A07C-9B6FD634FF47}"/>
              </a:ext>
            </a:extLst>
          </p:cNvPr>
          <p:cNvSpPr txBox="1"/>
          <p:nvPr/>
        </p:nvSpPr>
        <p:spPr>
          <a:xfrm>
            <a:off x="7583577" y="5043084"/>
            <a:ext cx="50405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Both can be divided by 3!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E0351-D366-4DFA-A6A6-23F34C94646D}"/>
              </a:ext>
            </a:extLst>
          </p:cNvPr>
          <p:cNvSpPr txBox="1"/>
          <p:nvPr/>
        </p:nvSpPr>
        <p:spPr>
          <a:xfrm>
            <a:off x="4612700" y="5431301"/>
            <a:ext cx="403229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15 ÷ 3 = 5   and 9 ÷ 3 =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E0C21-D373-49A8-86AA-BE2F212E0387}"/>
              </a:ext>
            </a:extLst>
          </p:cNvPr>
          <p:cNvSpPr txBox="1"/>
          <p:nvPr/>
        </p:nvSpPr>
        <p:spPr>
          <a:xfrm>
            <a:off x="3680989" y="5991412"/>
            <a:ext cx="37593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Simplified ratio is 5 : 3</a:t>
            </a:r>
          </a:p>
        </p:txBody>
      </p:sp>
    </p:spTree>
    <p:extLst>
      <p:ext uri="{BB962C8B-B14F-4D97-AF65-F5344CB8AC3E}">
        <p14:creationId xmlns:p14="http://schemas.microsoft.com/office/powerpoint/2010/main" val="282701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14" grpId="0" animBg="1"/>
      <p:bldP spid="15" grpId="0"/>
      <p:bldP spid="17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692696"/>
            <a:ext cx="9324528" cy="602704"/>
          </a:xfrm>
          <a:solidFill>
            <a:schemeClr val="bg1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Practice – simplifying ratios (pick 5 to do on 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CF57-62C0-44B3-8FDA-611D7ABA4A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D168B-D05A-4C8B-96C0-36FC00246A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71" t="27772" r="23415" b="37397"/>
          <a:stretch/>
        </p:blipFill>
        <p:spPr>
          <a:xfrm>
            <a:off x="477788" y="1877489"/>
            <a:ext cx="11255752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5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52692-FA01-4378-B987-FE1F96889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844824"/>
            <a:ext cx="11305256" cy="4267200"/>
          </a:xfrm>
        </p:spPr>
        <p:txBody>
          <a:bodyPr>
            <a:normAutofit/>
          </a:bodyPr>
          <a:lstStyle/>
          <a:p>
            <a:r>
              <a:rPr lang="en-AU" sz="3200" dirty="0"/>
              <a:t>Before we watch the video you need to fill out the estimation section of your worksheet</a:t>
            </a:r>
          </a:p>
          <a:p>
            <a:r>
              <a:rPr lang="en-AU" sz="3200" dirty="0"/>
              <a:t>As a class we will watch the quick video – Miniature Earth to find the actual ratios</a:t>
            </a:r>
          </a:p>
          <a:p>
            <a:r>
              <a:rPr lang="en-AU" sz="3200" dirty="0"/>
              <a:t>Then you can complete the rest of the questions </a:t>
            </a:r>
          </a:p>
          <a:p>
            <a:r>
              <a:rPr lang="en-AU" sz="3200" dirty="0"/>
              <a:t>Conclusion – discussion questions as a class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B4D50-FC4D-4A42-8D26-8DAA8AF20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633" y="0"/>
            <a:ext cx="4277580" cy="112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When do we use ratios??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BB73FA-8F00-4315-9E50-CCECAED9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044" y="332656"/>
            <a:ext cx="9143998" cy="1020762"/>
          </a:xfrm>
        </p:spPr>
        <p:txBody>
          <a:bodyPr/>
          <a:lstStyle/>
          <a:p>
            <a:r>
              <a:rPr lang="en-AU" dirty="0"/>
              <a:t>Miniature Earth - </a:t>
            </a:r>
            <a:r>
              <a:rPr lang="en-AU" dirty="0">
                <a:hlinkClick r:id="rId2"/>
              </a:rPr>
              <a:t>https://vimeo.com/18782842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191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06F8-7A39-42AA-8FBD-5A1B983A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3773" y="1556792"/>
            <a:ext cx="10945216" cy="4615408"/>
          </a:xfrm>
        </p:spPr>
        <p:txBody>
          <a:bodyPr>
            <a:normAutofit fontScale="92500" lnSpcReduction="10000"/>
          </a:bodyPr>
          <a:lstStyle/>
          <a:p>
            <a:r>
              <a:rPr lang="en-AU" sz="2800" dirty="0"/>
              <a:t>How many people in this village had a computer or went to university? Do you think it is important for people to have access to these resources?</a:t>
            </a:r>
          </a:p>
          <a:p>
            <a:endParaRPr lang="en-AU" sz="2800" dirty="0"/>
          </a:p>
          <a:p>
            <a:r>
              <a:rPr lang="en-AU" sz="2800" dirty="0"/>
              <a:t>Give some reasons why Australia’s capacity to sustain a large population is limited.</a:t>
            </a:r>
          </a:p>
          <a:p>
            <a:endParaRPr lang="en-AU" sz="2800" dirty="0"/>
          </a:p>
          <a:p>
            <a:r>
              <a:rPr lang="en-AU" sz="2800" dirty="0"/>
              <a:t>Given the ratios that you learnt about today, do you think that there is an imbalance of resources? Explain your answer.</a:t>
            </a:r>
          </a:p>
          <a:p>
            <a:r>
              <a:rPr lang="en-AU" sz="2800" dirty="0"/>
              <a:t>What other subjects dis this activity tie into?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008A8-806B-49F0-8C69-40849B92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Discussion as a class</a:t>
            </a:r>
          </a:p>
        </p:txBody>
      </p:sp>
    </p:spTree>
    <p:extLst>
      <p:ext uri="{BB962C8B-B14F-4D97-AF65-F5344CB8AC3E}">
        <p14:creationId xmlns:p14="http://schemas.microsoft.com/office/powerpoint/2010/main" val="327187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your summaries</a:t>
            </a:r>
          </a:p>
        </p:txBody>
      </p:sp>
    </p:spTree>
    <p:extLst>
      <p:ext uri="{BB962C8B-B14F-4D97-AF65-F5344CB8AC3E}">
        <p14:creationId xmlns:p14="http://schemas.microsoft.com/office/powerpoint/2010/main" val="3752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364</Words>
  <Application>Microsoft Office PowerPoint</Application>
  <PresentationFormat>Custom</PresentationFormat>
  <Paragraphs>55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Century Gothic</vt:lpstr>
      <vt:lpstr>Wingdings 3</vt:lpstr>
      <vt:lpstr>Student presentation</vt:lpstr>
      <vt:lpstr>Topic :Ratios</vt:lpstr>
      <vt:lpstr>PowerPoint Presentation</vt:lpstr>
      <vt:lpstr>Practice</vt:lpstr>
      <vt:lpstr>PowerPoint Presentation</vt:lpstr>
      <vt:lpstr>Practice – add to your table on the left hand side</vt:lpstr>
      <vt:lpstr>PowerPoint Presentation</vt:lpstr>
      <vt:lpstr>Practice – simplifying ratios (pick 5 to do on LHS)</vt:lpstr>
      <vt:lpstr>Miniature Earth - https://vimeo.com/18782842 </vt:lpstr>
      <vt:lpstr>Discussion as a class</vt:lpstr>
      <vt:lpstr>Write your summaries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2017-11-01T06:38:12Z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
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8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84416" autoAdjust="0"/>
  </p:normalViewPr>
  <p:slideViewPr>
    <p:cSldViewPr>
      <p:cViewPr varScale="1">
        <p:scale>
          <a:sx n="61" d="100"/>
          <a:sy n="61" d="100"/>
        </p:scale>
        <p:origin x="165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65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44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37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3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94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474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437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23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73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621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320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EADFD-91F4-4207-BFAF-E95A14A19A93}" type="datetimeFigureOut">
              <a:rPr lang="en-GB" smtClean="0"/>
              <a:t>07/12/2017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644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of the letters in the alphabet have lines of symmetry? How many?</a:t>
            </a:r>
          </a:p>
          <a:p>
            <a:endParaRPr lang="en-GB" dirty="0"/>
          </a:p>
          <a:p>
            <a:r>
              <a:rPr lang="en-GB" dirty="0"/>
              <a:t>What is </a:t>
            </a:r>
            <a:r>
              <a:rPr lang="en-GB"/>
              <a:t>the ‘value’ </a:t>
            </a:r>
            <a:r>
              <a:rPr lang="en-GB" dirty="0"/>
              <a:t>of your name?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3933056"/>
            <a:ext cx="81369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latin typeface="Arial" pitchFamily="34" charset="0"/>
                <a:cs typeface="Arial" pitchFamily="34" charset="0"/>
              </a:rPr>
              <a:t>A B C D E F G H I J K L M N O P Q R S T U V W X Y 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3933056"/>
            <a:ext cx="81369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60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C </a:t>
            </a:r>
            <a:r>
              <a:rPr lang="en-GB" sz="60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60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F G </a:t>
            </a:r>
            <a:r>
              <a:rPr lang="en-GB" sz="60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60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J K L </a:t>
            </a:r>
            <a:r>
              <a:rPr lang="en-GB" sz="60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N </a:t>
            </a:r>
            <a:r>
              <a:rPr lang="en-GB" sz="60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P Q R S </a:t>
            </a:r>
            <a:r>
              <a:rPr lang="en-GB" sz="60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60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U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60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V W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60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60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GB" sz="6000" b="1" dirty="0">
                <a:latin typeface="Arial" pitchFamily="34" charset="0"/>
                <a:cs typeface="Arial" pitchFamily="34" charset="0"/>
              </a:rPr>
              <a:t> Z</a:t>
            </a:r>
          </a:p>
        </p:txBody>
      </p:sp>
    </p:spTree>
    <p:extLst>
      <p:ext uri="{BB962C8B-B14F-4D97-AF65-F5344CB8AC3E}">
        <p14:creationId xmlns:p14="http://schemas.microsoft.com/office/powerpoint/2010/main" val="274079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1"/>
                </a:solidFill>
              </a:rPr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Able to reflect shapes in a horizontal or vertical mirror line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Able to reflect shapes in a diagonal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   mirror line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76256" y="621565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9A3B12-BDC6-49D9-9C58-9B514B1E9A39}" type="datetime1">
              <a:rPr lang="en-GB" u="sng" smtClean="0">
                <a:solidFill>
                  <a:schemeClr val="bg1"/>
                </a:solidFill>
              </a:rPr>
              <a:t>07/12/2017</a:t>
            </a:fld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560" y="621565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bg1"/>
                </a:solidFill>
              </a:rPr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425890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8772"/>
            <a:ext cx="9252520" cy="1066130"/>
          </a:xfrm>
        </p:spPr>
        <p:txBody>
          <a:bodyPr>
            <a:noAutofit/>
          </a:bodyPr>
          <a:lstStyle/>
          <a:p>
            <a:pPr algn="l"/>
            <a:r>
              <a:rPr lang="en-GB" sz="3200" dirty="0"/>
              <a:t>Topic: Reflection</a:t>
            </a:r>
            <a:br>
              <a:rPr lang="en-GB" sz="3200" dirty="0"/>
            </a:br>
            <a:r>
              <a:rPr lang="en-GB" sz="3200" dirty="0"/>
              <a:t>EQ: How do we reflect shapes over a line of symmetry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1440" y="1484784"/>
            <a:ext cx="7200793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When reflecting images in a mirror line, each point must be the same distance away from the mirror line on each side</a:t>
            </a:r>
          </a:p>
          <a:p>
            <a:pPr marL="0" indent="0">
              <a:buNone/>
            </a:pPr>
            <a:r>
              <a:rPr lang="en-GB" sz="2800" dirty="0"/>
              <a:t>Points are reflect at right angles to the mirror line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ABFD66-FEC1-40B2-B9B8-B93C767707FF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0" y="73183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C1BD23-21F8-4311-B3E4-B20965667F56}"/>
              </a:ext>
            </a:extLst>
          </p:cNvPr>
          <p:cNvCxnSpPr>
            <a:cxnSpLocks/>
          </p:cNvCxnSpPr>
          <p:nvPr/>
        </p:nvCxnSpPr>
        <p:spPr>
          <a:xfrm>
            <a:off x="0" y="127694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582CDA-8E4B-442C-9A87-CC14957F8932}"/>
              </a:ext>
            </a:extLst>
          </p:cNvPr>
          <p:cNvCxnSpPr>
            <a:cxnSpLocks/>
          </p:cNvCxnSpPr>
          <p:nvPr/>
        </p:nvCxnSpPr>
        <p:spPr>
          <a:xfrm>
            <a:off x="1619672" y="1264902"/>
            <a:ext cx="0" cy="5593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table">
            <a:extLst>
              <a:ext uri="{FF2B5EF4-FFF2-40B4-BE49-F238E27FC236}">
                <a16:creationId xmlns:a16="http://schemas.microsoft.com/office/drawing/2014/main" id="{20C142C9-2960-4A62-919D-A45807570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618" y="4056972"/>
            <a:ext cx="2740741" cy="247833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100C5B-F881-41EE-AB05-DCD59DC3F34D}"/>
              </a:ext>
            </a:extLst>
          </p:cNvPr>
          <p:cNvCxnSpPr/>
          <p:nvPr/>
        </p:nvCxnSpPr>
        <p:spPr>
          <a:xfrm>
            <a:off x="3131840" y="3789040"/>
            <a:ext cx="0" cy="306896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418F42-312B-49A2-8721-0EC328AEE9A6}"/>
              </a:ext>
            </a:extLst>
          </p:cNvPr>
          <p:cNvCxnSpPr>
            <a:cxnSpLocks/>
          </p:cNvCxnSpPr>
          <p:nvPr/>
        </p:nvCxnSpPr>
        <p:spPr>
          <a:xfrm>
            <a:off x="2749864" y="5015524"/>
            <a:ext cx="720080" cy="0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594BCB-97E1-44F4-95B7-71F21722CB01}"/>
              </a:ext>
            </a:extLst>
          </p:cNvPr>
          <p:cNvCxnSpPr>
            <a:cxnSpLocks/>
          </p:cNvCxnSpPr>
          <p:nvPr/>
        </p:nvCxnSpPr>
        <p:spPr>
          <a:xfrm>
            <a:off x="2447764" y="5001525"/>
            <a:ext cx="1368152" cy="0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D5CB98B-CAAC-4CAA-A565-9F60C89D5344}"/>
              </a:ext>
            </a:extLst>
          </p:cNvPr>
          <p:cNvCxnSpPr>
            <a:cxnSpLocks/>
          </p:cNvCxnSpPr>
          <p:nvPr/>
        </p:nvCxnSpPr>
        <p:spPr>
          <a:xfrm flipV="1">
            <a:off x="2447764" y="5894363"/>
            <a:ext cx="1350513" cy="11045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E6A590-6CDF-44C2-B1A1-09F2547C51A7}"/>
              </a:ext>
            </a:extLst>
          </p:cNvPr>
          <p:cNvCxnSpPr/>
          <p:nvPr/>
        </p:nvCxnSpPr>
        <p:spPr>
          <a:xfrm>
            <a:off x="2771800" y="6237312"/>
            <a:ext cx="720080" cy="0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FCA217-A8FB-49AD-9CD1-F6274615076A}"/>
              </a:ext>
            </a:extLst>
          </p:cNvPr>
          <p:cNvCxnSpPr>
            <a:cxnSpLocks/>
          </p:cNvCxnSpPr>
          <p:nvPr/>
        </p:nvCxnSpPr>
        <p:spPr>
          <a:xfrm flipV="1">
            <a:off x="2123728" y="5929845"/>
            <a:ext cx="2043408" cy="19435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58BEAB-7B08-4634-A04B-184DE4D6981D}"/>
              </a:ext>
            </a:extLst>
          </p:cNvPr>
          <p:cNvCxnSpPr>
            <a:cxnSpLocks/>
          </p:cNvCxnSpPr>
          <p:nvPr/>
        </p:nvCxnSpPr>
        <p:spPr>
          <a:xfrm flipV="1">
            <a:off x="2123728" y="6217877"/>
            <a:ext cx="2043408" cy="19435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C9F184F-8C71-44B3-B86D-D9C4C7881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149673"/>
              </p:ext>
            </p:extLst>
          </p:nvPr>
        </p:nvGraphicFramePr>
        <p:xfrm>
          <a:off x="5648965" y="3609165"/>
          <a:ext cx="2672584" cy="2926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4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4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40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40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4230E86-25B6-409A-8DFE-37D4FA31C686}"/>
              </a:ext>
            </a:extLst>
          </p:cNvPr>
          <p:cNvCxnSpPr>
            <a:cxnSpLocks/>
          </p:cNvCxnSpPr>
          <p:nvPr/>
        </p:nvCxnSpPr>
        <p:spPr>
          <a:xfrm>
            <a:off x="5596759" y="3547241"/>
            <a:ext cx="2900855" cy="3137338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E3D2D58-6593-40F7-BA57-7C7FE5F6FB83}"/>
              </a:ext>
            </a:extLst>
          </p:cNvPr>
          <p:cNvCxnSpPr>
            <a:cxnSpLocks/>
          </p:cNvCxnSpPr>
          <p:nvPr/>
        </p:nvCxnSpPr>
        <p:spPr>
          <a:xfrm flipV="1">
            <a:off x="5960573" y="3957145"/>
            <a:ext cx="1354627" cy="1462295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E64F241-ACBC-4688-B156-BB8A4AA40D6E}"/>
              </a:ext>
            </a:extLst>
          </p:cNvPr>
          <p:cNvCxnSpPr>
            <a:cxnSpLocks/>
          </p:cNvCxnSpPr>
          <p:nvPr/>
        </p:nvCxnSpPr>
        <p:spPr>
          <a:xfrm flipV="1">
            <a:off x="6369872" y="4314253"/>
            <a:ext cx="1354627" cy="1462295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99FE41C-B816-402C-9458-42B1F8FED9D1}"/>
              </a:ext>
            </a:extLst>
          </p:cNvPr>
          <p:cNvCxnSpPr>
            <a:cxnSpLocks/>
          </p:cNvCxnSpPr>
          <p:nvPr/>
        </p:nvCxnSpPr>
        <p:spPr>
          <a:xfrm flipV="1">
            <a:off x="6650012" y="4688292"/>
            <a:ext cx="1354627" cy="1462295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EC13013-6457-47B1-B4EB-AA00A7C54F46}"/>
              </a:ext>
            </a:extLst>
          </p:cNvPr>
          <p:cNvCxnSpPr>
            <a:cxnSpLocks/>
          </p:cNvCxnSpPr>
          <p:nvPr/>
        </p:nvCxnSpPr>
        <p:spPr>
          <a:xfrm flipV="1">
            <a:off x="7343564" y="5419439"/>
            <a:ext cx="661075" cy="731149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436290-EB85-4B5E-9AB4-5A849FC7CDD6}"/>
              </a:ext>
            </a:extLst>
          </p:cNvPr>
          <p:cNvCxnSpPr>
            <a:cxnSpLocks/>
          </p:cNvCxnSpPr>
          <p:nvPr/>
        </p:nvCxnSpPr>
        <p:spPr>
          <a:xfrm flipV="1">
            <a:off x="5994040" y="3961436"/>
            <a:ext cx="661075" cy="731149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C5ED333-92E6-451E-A3F0-85CA5249B960}"/>
              </a:ext>
            </a:extLst>
          </p:cNvPr>
          <p:cNvCxnSpPr>
            <a:cxnSpLocks/>
          </p:cNvCxnSpPr>
          <p:nvPr/>
        </p:nvCxnSpPr>
        <p:spPr>
          <a:xfrm flipV="1">
            <a:off x="6305648" y="4396931"/>
            <a:ext cx="317455" cy="302768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54F0EDD-558B-406C-B054-DDCD3F0264C1}"/>
              </a:ext>
            </a:extLst>
          </p:cNvPr>
          <p:cNvCxnSpPr>
            <a:cxnSpLocks/>
          </p:cNvCxnSpPr>
          <p:nvPr/>
        </p:nvCxnSpPr>
        <p:spPr>
          <a:xfrm flipV="1">
            <a:off x="6631019" y="4754509"/>
            <a:ext cx="317455" cy="302768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529C24C-50A0-4ACC-9803-16B0C12574C0}"/>
              </a:ext>
            </a:extLst>
          </p:cNvPr>
          <p:cNvCxnSpPr>
            <a:cxnSpLocks/>
          </p:cNvCxnSpPr>
          <p:nvPr/>
        </p:nvCxnSpPr>
        <p:spPr>
          <a:xfrm flipV="1">
            <a:off x="6993964" y="5111650"/>
            <a:ext cx="317455" cy="302768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305DD7B-CA16-46A3-BDC5-0A16CC48FEDB}"/>
              </a:ext>
            </a:extLst>
          </p:cNvPr>
          <p:cNvCxnSpPr>
            <a:cxnSpLocks/>
          </p:cNvCxnSpPr>
          <p:nvPr/>
        </p:nvCxnSpPr>
        <p:spPr>
          <a:xfrm flipV="1">
            <a:off x="7336349" y="5473780"/>
            <a:ext cx="317455" cy="302768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77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663785"/>
              </p:ext>
            </p:extLst>
          </p:nvPr>
        </p:nvGraphicFramePr>
        <p:xfrm>
          <a:off x="0" y="1"/>
          <a:ext cx="9144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cxnSp>
        <p:nvCxnSpPr>
          <p:cNvPr id="4" name="Straight Connector 3"/>
          <p:cNvCxnSpPr/>
          <p:nvPr/>
        </p:nvCxnSpPr>
        <p:spPr>
          <a:xfrm flipV="1">
            <a:off x="2267744" y="1700808"/>
            <a:ext cx="3788714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own Arrow 8"/>
          <p:cNvSpPr/>
          <p:nvPr/>
        </p:nvSpPr>
        <p:spPr>
          <a:xfrm>
            <a:off x="1835696" y="908720"/>
            <a:ext cx="1800200" cy="1800200"/>
          </a:xfrm>
          <a:prstGeom prst="downArrow">
            <a:avLst>
              <a:gd name="adj1" fmla="val 50000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2669349" y="2661889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096997" y="83671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2195736" y="83671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2195736" y="171820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5868144" y="450912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3559667" y="175521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1763688" y="173681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2741357" y="2736630"/>
            <a:ext cx="1177617" cy="1196426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rot="2700000">
            <a:off x="3797107" y="3639906"/>
            <a:ext cx="216024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/>
          <p:cNvCxnSpPr/>
          <p:nvPr/>
        </p:nvCxnSpPr>
        <p:spPr>
          <a:xfrm>
            <a:off x="3877409" y="3905346"/>
            <a:ext cx="1177617" cy="1196426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955308" y="4971611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3174079" y="876908"/>
            <a:ext cx="1830485" cy="1859722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 rot="2700000">
            <a:off x="4919305" y="2475865"/>
            <a:ext cx="216024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5027316" y="2741357"/>
            <a:ext cx="1830485" cy="1859722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787660" y="450912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5868144" y="406321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3112873" y="173681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5868144" y="544522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5868144" y="587727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6785793" y="5403903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Down Arrow 35"/>
          <p:cNvSpPr/>
          <p:nvPr/>
        </p:nvSpPr>
        <p:spPr>
          <a:xfrm rot="5400000">
            <a:off x="5055980" y="4149080"/>
            <a:ext cx="1800200" cy="1800200"/>
          </a:xfrm>
          <a:prstGeom prst="downArrow">
            <a:avLst>
              <a:gd name="adj1" fmla="val 50000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55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3" grpId="0" animBg="1"/>
      <p:bldP spid="23" grpId="1" animBg="1"/>
      <p:bldP spid="25" grpId="0" animBg="1"/>
      <p:bldP spid="28" grpId="0" animBg="1"/>
      <p:bldP spid="28" grpId="1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3">
            <a:extLst>
              <a:ext uri="{FF2B5EF4-FFF2-40B4-BE49-F238E27FC236}">
                <a16:creationId xmlns:a16="http://schemas.microsoft.com/office/drawing/2014/main" id="{D497C8A1-2662-4C58-A3E4-8D0AF677C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150"/>
            <a:ext cx="3348038" cy="384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200"/>
              <a:t>What letter would you get if you reflected each shape in its corresponding mirror line?</a:t>
            </a:r>
          </a:p>
          <a:p>
            <a:pPr>
              <a:spcBef>
                <a:spcPct val="50000"/>
              </a:spcBef>
            </a:pPr>
            <a:endParaRPr lang="en-GB" altLang="en-US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  <p:grpSp>
        <p:nvGrpSpPr>
          <p:cNvPr id="3084" name="Group 12">
            <a:extLst>
              <a:ext uri="{FF2B5EF4-FFF2-40B4-BE49-F238E27FC236}">
                <a16:creationId xmlns:a16="http://schemas.microsoft.com/office/drawing/2014/main" id="{4068D14B-1AF3-4BBD-9E62-963F812AE54C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765175"/>
            <a:ext cx="5400675" cy="5400675"/>
            <a:chOff x="2200" y="482"/>
            <a:chExt cx="3402" cy="3402"/>
          </a:xfrm>
        </p:grpSpPr>
        <p:pic>
          <p:nvPicPr>
            <p:cNvPr id="3082" name="Picture 10" descr="t reflect copy">
              <a:extLst>
                <a:ext uri="{FF2B5EF4-FFF2-40B4-BE49-F238E27FC236}">
                  <a16:creationId xmlns:a16="http://schemas.microsoft.com/office/drawing/2014/main" id="{F6910729-6208-4D82-9346-F994DC2630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482"/>
              <a:ext cx="3402" cy="3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83" name="Rectangle 11">
              <a:extLst>
                <a:ext uri="{FF2B5EF4-FFF2-40B4-BE49-F238E27FC236}">
                  <a16:creationId xmlns:a16="http://schemas.microsoft.com/office/drawing/2014/main" id="{07F2BCC8-862C-4C49-892D-377B34C2F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750"/>
              <a:ext cx="454" cy="907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97953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9654E9A2-0DE1-4FC4-A1C9-F59BA7E9B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150"/>
            <a:ext cx="3348038" cy="384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200"/>
              <a:t>What letter would you get if you reflected each shape in its corresponding mirror line?</a:t>
            </a:r>
          </a:p>
          <a:p>
            <a:pPr>
              <a:spcBef>
                <a:spcPct val="50000"/>
              </a:spcBef>
            </a:pPr>
            <a:endParaRPr lang="en-GB" altLang="en-US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  <p:grpSp>
        <p:nvGrpSpPr>
          <p:cNvPr id="4115" name="Group 19">
            <a:extLst>
              <a:ext uri="{FF2B5EF4-FFF2-40B4-BE49-F238E27FC236}">
                <a16:creationId xmlns:a16="http://schemas.microsoft.com/office/drawing/2014/main" id="{4914D3DB-7D9C-4141-8AA4-8D15872D1F9B}"/>
              </a:ext>
            </a:extLst>
          </p:cNvPr>
          <p:cNvGrpSpPr>
            <a:grpSpLocks/>
          </p:cNvGrpSpPr>
          <p:nvPr/>
        </p:nvGrpSpPr>
        <p:grpSpPr bwMode="auto">
          <a:xfrm>
            <a:off x="3494088" y="752475"/>
            <a:ext cx="5400675" cy="5400675"/>
            <a:chOff x="2200" y="482"/>
            <a:chExt cx="3402" cy="3402"/>
          </a:xfrm>
        </p:grpSpPr>
        <p:pic>
          <p:nvPicPr>
            <p:cNvPr id="4101" name="Picture 5" descr="t reflect copy">
              <a:extLst>
                <a:ext uri="{FF2B5EF4-FFF2-40B4-BE49-F238E27FC236}">
                  <a16:creationId xmlns:a16="http://schemas.microsoft.com/office/drawing/2014/main" id="{3A891D53-14B6-4054-BB18-37458485D2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482"/>
              <a:ext cx="3402" cy="3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02" name="Rectangle 6">
              <a:extLst>
                <a:ext uri="{FF2B5EF4-FFF2-40B4-BE49-F238E27FC236}">
                  <a16:creationId xmlns:a16="http://schemas.microsoft.com/office/drawing/2014/main" id="{540F0B2A-8C63-4B8F-A467-7402494D5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750"/>
              <a:ext cx="454" cy="907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4103" name="Line 7">
            <a:extLst>
              <a:ext uri="{FF2B5EF4-FFF2-40B4-BE49-F238E27FC236}">
                <a16:creationId xmlns:a16="http://schemas.microsoft.com/office/drawing/2014/main" id="{DFB664CE-7E47-41FA-8B39-0BE6385DD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2205038"/>
            <a:ext cx="0" cy="719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4" name="Line 8">
            <a:extLst>
              <a:ext uri="{FF2B5EF4-FFF2-40B4-BE49-F238E27FC236}">
                <a16:creationId xmlns:a16="http://schemas.microsoft.com/office/drawing/2014/main" id="{F3EC8B9D-4B79-4ACE-91B1-37FBE33B23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2205038"/>
            <a:ext cx="0" cy="719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7" name="Line 11">
            <a:extLst>
              <a:ext uri="{FF2B5EF4-FFF2-40B4-BE49-F238E27FC236}">
                <a16:creationId xmlns:a16="http://schemas.microsoft.com/office/drawing/2014/main" id="{B6C9ED50-1EBD-4A0F-8DDC-F40FDC50C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2924175"/>
            <a:ext cx="0" cy="719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8" name="Line 12">
            <a:extLst>
              <a:ext uri="{FF2B5EF4-FFF2-40B4-BE49-F238E27FC236}">
                <a16:creationId xmlns:a16="http://schemas.microsoft.com/office/drawing/2014/main" id="{84F2C750-A4AB-4ED1-BBAA-A0C78E3EC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3338" y="2952750"/>
            <a:ext cx="0" cy="719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26EEFCD4-27EF-4B73-AE1F-D4541F190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3657600"/>
            <a:ext cx="2182813" cy="70961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110" name="Line 14">
            <a:extLst>
              <a:ext uri="{FF2B5EF4-FFF2-40B4-BE49-F238E27FC236}">
                <a16:creationId xmlns:a16="http://schemas.microsoft.com/office/drawing/2014/main" id="{69E1B925-E610-4713-BB86-45BDEE3ADC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4367213"/>
            <a:ext cx="105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1" name="Line 15">
            <a:extLst>
              <a:ext uri="{FF2B5EF4-FFF2-40B4-BE49-F238E27FC236}">
                <a16:creationId xmlns:a16="http://schemas.microsoft.com/office/drawing/2014/main" id="{AA0C74EE-B3BC-4E8B-928B-24A124FBDD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5788025"/>
            <a:ext cx="105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2" name="Line 16">
            <a:extLst>
              <a:ext uri="{FF2B5EF4-FFF2-40B4-BE49-F238E27FC236}">
                <a16:creationId xmlns:a16="http://schemas.microsoft.com/office/drawing/2014/main" id="{FF072D40-E52B-4FE2-8863-7DB95FD11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0075" y="4378325"/>
            <a:ext cx="105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3" name="Line 17">
            <a:extLst>
              <a:ext uri="{FF2B5EF4-FFF2-40B4-BE49-F238E27FC236}">
                <a16:creationId xmlns:a16="http://schemas.microsoft.com/office/drawing/2014/main" id="{96DA7CB1-E160-43D8-8C00-322AC997B6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8963" y="5788025"/>
            <a:ext cx="105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4" name="Rectangle 18">
            <a:extLst>
              <a:ext uri="{FF2B5EF4-FFF2-40B4-BE49-F238E27FC236}">
                <a16:creationId xmlns:a16="http://schemas.microsoft.com/office/drawing/2014/main" id="{5EEB0D23-D95A-4FA1-AD23-3E6C16D1D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4367213"/>
            <a:ext cx="731838" cy="1420812"/>
          </a:xfrm>
          <a:prstGeom prst="rect">
            <a:avLst/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891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0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0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0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0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0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2" presetID="49" presetClass="exit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63250072-C8BD-43F1-B461-1E8512290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150"/>
            <a:ext cx="3348038" cy="384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200"/>
              <a:t>What letter would you get if you reflected each shape in its corresponding mirror line?</a:t>
            </a:r>
          </a:p>
          <a:p>
            <a:pPr>
              <a:spcBef>
                <a:spcPct val="50000"/>
              </a:spcBef>
            </a:pPr>
            <a:endParaRPr lang="en-GB" altLang="en-US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5127" name="Picture 7" descr="e reflect copy">
            <a:extLst>
              <a:ext uri="{FF2B5EF4-FFF2-40B4-BE49-F238E27FC236}">
                <a16:creationId xmlns:a16="http://schemas.microsoft.com/office/drawing/2014/main" id="{FD2DD41E-41EC-45FD-9978-CDA5921E3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663" y="2076450"/>
            <a:ext cx="6119812" cy="431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8" name="Line 8">
            <a:extLst>
              <a:ext uri="{FF2B5EF4-FFF2-40B4-BE49-F238E27FC236}">
                <a16:creationId xmlns:a16="http://schemas.microsoft.com/office/drawing/2014/main" id="{8D8C50A6-FD77-4594-85E6-7A5F9D069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2065338"/>
            <a:ext cx="0" cy="431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695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0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73838E0F-9A11-4717-B781-C8E9D9F6F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150"/>
            <a:ext cx="3348038" cy="384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200"/>
              <a:t>What letter would you get if you reflected each shape in its corresponding mirror line?</a:t>
            </a:r>
          </a:p>
          <a:p>
            <a:pPr>
              <a:spcBef>
                <a:spcPct val="50000"/>
              </a:spcBef>
            </a:pPr>
            <a:endParaRPr lang="en-GB" altLang="en-US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  <p:grpSp>
        <p:nvGrpSpPr>
          <p:cNvPr id="6162" name="Group 18">
            <a:extLst>
              <a:ext uri="{FF2B5EF4-FFF2-40B4-BE49-F238E27FC236}">
                <a16:creationId xmlns:a16="http://schemas.microsoft.com/office/drawing/2014/main" id="{26715C71-EFCB-4612-B08F-6B9B86E4B802}"/>
              </a:ext>
            </a:extLst>
          </p:cNvPr>
          <p:cNvGrpSpPr>
            <a:grpSpLocks/>
          </p:cNvGrpSpPr>
          <p:nvPr/>
        </p:nvGrpSpPr>
        <p:grpSpPr bwMode="auto">
          <a:xfrm>
            <a:off x="2887663" y="2065338"/>
            <a:ext cx="6119812" cy="4330700"/>
            <a:chOff x="1819" y="1301"/>
            <a:chExt cx="3855" cy="2728"/>
          </a:xfrm>
        </p:grpSpPr>
        <p:pic>
          <p:nvPicPr>
            <p:cNvPr id="6147" name="Picture 3" descr="e reflect copy">
              <a:extLst>
                <a:ext uri="{FF2B5EF4-FFF2-40B4-BE49-F238E27FC236}">
                  <a16:creationId xmlns:a16="http://schemas.microsoft.com/office/drawing/2014/main" id="{AF5E2264-3D5A-4096-B2EB-0BA4993A39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9" y="1308"/>
              <a:ext cx="3855" cy="2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48" name="Line 4">
              <a:extLst>
                <a:ext uri="{FF2B5EF4-FFF2-40B4-BE49-F238E27FC236}">
                  <a16:creationId xmlns:a16="http://schemas.microsoft.com/office/drawing/2014/main" id="{1FE18DD9-2E68-453F-AEB4-15703BF07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3" y="1301"/>
              <a:ext cx="0" cy="27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153" name="Group 9">
            <a:extLst>
              <a:ext uri="{FF2B5EF4-FFF2-40B4-BE49-F238E27FC236}">
                <a16:creationId xmlns:a16="http://schemas.microsoft.com/office/drawing/2014/main" id="{D667FFA6-727B-469E-809B-C1C61496BCB8}"/>
              </a:ext>
            </a:extLst>
          </p:cNvPr>
          <p:cNvGrpSpPr>
            <a:grpSpLocks/>
          </p:cNvGrpSpPr>
          <p:nvPr/>
        </p:nvGrpSpPr>
        <p:grpSpPr bwMode="auto">
          <a:xfrm>
            <a:off x="5411788" y="4238625"/>
            <a:ext cx="1441450" cy="1797050"/>
            <a:chOff x="3409" y="2670"/>
            <a:chExt cx="908" cy="1132"/>
          </a:xfrm>
        </p:grpSpPr>
        <p:sp>
          <p:nvSpPr>
            <p:cNvPr id="6149" name="Rectangle 5">
              <a:extLst>
                <a:ext uri="{FF2B5EF4-FFF2-40B4-BE49-F238E27FC236}">
                  <a16:creationId xmlns:a16="http://schemas.microsoft.com/office/drawing/2014/main" id="{D0EAE8C7-B939-408A-BDF6-1CC0F9B71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2670"/>
              <a:ext cx="223" cy="11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50" name="Rectangle 6">
              <a:extLst>
                <a:ext uri="{FF2B5EF4-FFF2-40B4-BE49-F238E27FC236}">
                  <a16:creationId xmlns:a16="http://schemas.microsoft.com/office/drawing/2014/main" id="{A9B09086-2B8F-4B10-A0F1-E47E3205E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3571"/>
              <a:ext cx="685" cy="23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6151" name="Rectangle 7">
            <a:extLst>
              <a:ext uri="{FF2B5EF4-FFF2-40B4-BE49-F238E27FC236}">
                <a16:creationId xmlns:a16="http://schemas.microsoft.com/office/drawing/2014/main" id="{B81D91DB-DB35-4974-ABB8-3F2741D65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4970463"/>
            <a:ext cx="709612" cy="333375"/>
          </a:xfrm>
          <a:prstGeom prst="rect">
            <a:avLst/>
          </a:prstGeom>
          <a:solidFill>
            <a:srgbClr val="00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13E28BDA-C9BA-4E28-B9B8-8C023CCCA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238625"/>
            <a:ext cx="1076325" cy="365125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154" name="Line 10">
            <a:extLst>
              <a:ext uri="{FF2B5EF4-FFF2-40B4-BE49-F238E27FC236}">
                <a16:creationId xmlns:a16="http://schemas.microsoft.com/office/drawing/2014/main" id="{DB1E9A67-D673-4D80-9858-17154251C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938" y="4238625"/>
            <a:ext cx="3127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5" name="Line 11">
            <a:extLst>
              <a:ext uri="{FF2B5EF4-FFF2-40B4-BE49-F238E27FC236}">
                <a16:creationId xmlns:a16="http://schemas.microsoft.com/office/drawing/2014/main" id="{3CA0E2F1-6457-4FD6-A5C5-5B1E1CB01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227513"/>
            <a:ext cx="3127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6" name="Line 12">
            <a:extLst>
              <a:ext uri="{FF2B5EF4-FFF2-40B4-BE49-F238E27FC236}">
                <a16:creationId xmlns:a16="http://schemas.microsoft.com/office/drawing/2014/main" id="{3F7DC935-EDFB-45F8-9A69-87A6CD498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9138" y="6022975"/>
            <a:ext cx="1765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7" name="Line 13">
            <a:extLst>
              <a:ext uri="{FF2B5EF4-FFF2-40B4-BE49-F238E27FC236}">
                <a16:creationId xmlns:a16="http://schemas.microsoft.com/office/drawing/2014/main" id="{6598EEE4-7352-487C-B95D-C463779941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7300" y="6022975"/>
            <a:ext cx="1765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8" name="Line 14">
            <a:extLst>
              <a:ext uri="{FF2B5EF4-FFF2-40B4-BE49-F238E27FC236}">
                <a16:creationId xmlns:a16="http://schemas.microsoft.com/office/drawing/2014/main" id="{961EAA26-F076-4CD6-A2D0-4B9ED22D9E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4688" y="2817813"/>
            <a:ext cx="0" cy="646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9" name="Line 15">
            <a:extLst>
              <a:ext uri="{FF2B5EF4-FFF2-40B4-BE49-F238E27FC236}">
                <a16:creationId xmlns:a16="http://schemas.microsoft.com/office/drawing/2014/main" id="{73B2D26B-D105-496C-A870-8067461ED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4688" y="3571875"/>
            <a:ext cx="0" cy="646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60" name="Line 16">
            <a:extLst>
              <a:ext uri="{FF2B5EF4-FFF2-40B4-BE49-F238E27FC236}">
                <a16:creationId xmlns:a16="http://schemas.microsoft.com/office/drawing/2014/main" id="{4B2EDC47-76FF-4262-8DA6-F0812BE37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8363" y="4981575"/>
            <a:ext cx="698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61" name="Line 17">
            <a:extLst>
              <a:ext uri="{FF2B5EF4-FFF2-40B4-BE49-F238E27FC236}">
                <a16:creationId xmlns:a16="http://schemas.microsoft.com/office/drawing/2014/main" id="{8D597088-96D3-4AF6-ADB9-93C3A97AF3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5888" y="4981575"/>
            <a:ext cx="698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35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0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0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0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20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8" presetID="49" presetClass="exit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E13A5E59-233C-4BCD-86A5-F6CC78526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150"/>
            <a:ext cx="3348038" cy="384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200"/>
              <a:t>What letter would you get if you reflected each shape in its corresponding mirror line?</a:t>
            </a:r>
          </a:p>
          <a:p>
            <a:pPr>
              <a:spcBef>
                <a:spcPct val="50000"/>
              </a:spcBef>
            </a:pPr>
            <a:endParaRPr lang="en-GB" altLang="en-US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7175" name="Picture 7" descr="u reflect copy">
            <a:extLst>
              <a:ext uri="{FF2B5EF4-FFF2-40B4-BE49-F238E27FC236}">
                <a16:creationId xmlns:a16="http://schemas.microsoft.com/office/drawing/2014/main" id="{9A70E930-37FE-430C-BD18-F86FE533E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38" y="1557338"/>
            <a:ext cx="5400675" cy="432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93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837DCD4B-C6FD-489D-8130-F3742F108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150"/>
            <a:ext cx="3348038" cy="384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200"/>
              <a:t>What letter would you get if you reflected each shape in its corresponding mirror line?</a:t>
            </a:r>
          </a:p>
          <a:p>
            <a:pPr>
              <a:spcBef>
                <a:spcPct val="50000"/>
              </a:spcBef>
            </a:pPr>
            <a:endParaRPr lang="en-GB" altLang="en-US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8195" name="Picture 3" descr="u reflect copy">
            <a:extLst>
              <a:ext uri="{FF2B5EF4-FFF2-40B4-BE49-F238E27FC236}">
                <a16:creationId xmlns:a16="http://schemas.microsoft.com/office/drawing/2014/main" id="{BB3DDCC1-77AE-4E06-95DE-5A0CCCF74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38" y="1557338"/>
            <a:ext cx="5400675" cy="432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6" name="Line 4">
            <a:extLst>
              <a:ext uri="{FF2B5EF4-FFF2-40B4-BE49-F238E27FC236}">
                <a16:creationId xmlns:a16="http://schemas.microsoft.com/office/drawing/2014/main" id="{155B1B7C-9F4E-4950-85D2-13C975954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6650" y="2270125"/>
            <a:ext cx="2698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324F5BAE-5FA8-4986-B700-35C3EA69D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2638" y="2270125"/>
            <a:ext cx="2698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86798BF0-8C21-4AE1-BE9D-88F80D470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425" y="2270125"/>
            <a:ext cx="396875" cy="18288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id="{8D392F82-0113-4F5A-AA36-C9E1431C84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9488" y="3389313"/>
            <a:ext cx="1000125" cy="1000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0" name="Line 8">
            <a:extLst>
              <a:ext uri="{FF2B5EF4-FFF2-40B4-BE49-F238E27FC236}">
                <a16:creationId xmlns:a16="http://schemas.microsoft.com/office/drawing/2014/main" id="{EFAE7780-7791-4E16-A9AC-17ADAB9703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06925" y="2303463"/>
            <a:ext cx="1000125" cy="1000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1" name="Line 9">
            <a:extLst>
              <a:ext uri="{FF2B5EF4-FFF2-40B4-BE49-F238E27FC236}">
                <a16:creationId xmlns:a16="http://schemas.microsoft.com/office/drawing/2014/main" id="{EEFB6ABF-C3E5-4223-9630-2DDD651F3B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8763" y="4852988"/>
            <a:ext cx="635000" cy="63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2" name="Line 10">
            <a:extLst>
              <a:ext uri="{FF2B5EF4-FFF2-40B4-BE49-F238E27FC236}">
                <a16:creationId xmlns:a16="http://schemas.microsoft.com/office/drawing/2014/main" id="{473D4451-B1ED-4743-BE13-6BD492C90B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8375" y="4122738"/>
            <a:ext cx="635000" cy="63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22883F74-85A3-43CD-827B-AB329F42EA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4263" y="4292600"/>
            <a:ext cx="527050" cy="527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8207" name="Group 15">
            <a:extLst>
              <a:ext uri="{FF2B5EF4-FFF2-40B4-BE49-F238E27FC236}">
                <a16:creationId xmlns:a16="http://schemas.microsoft.com/office/drawing/2014/main" id="{69EEADEF-8E39-44D8-87EF-7E7D696A2A51}"/>
              </a:ext>
            </a:extLst>
          </p:cNvPr>
          <p:cNvGrpSpPr>
            <a:grpSpLocks/>
          </p:cNvGrpSpPr>
          <p:nvPr/>
        </p:nvGrpSpPr>
        <p:grpSpPr bwMode="auto">
          <a:xfrm>
            <a:off x="5637213" y="2259013"/>
            <a:ext cx="1076325" cy="1839912"/>
            <a:chOff x="3551" y="1423"/>
            <a:chExt cx="678" cy="1159"/>
          </a:xfrm>
        </p:grpSpPr>
        <p:sp>
          <p:nvSpPr>
            <p:cNvPr id="8205" name="Rectangle 13">
              <a:extLst>
                <a:ext uri="{FF2B5EF4-FFF2-40B4-BE49-F238E27FC236}">
                  <a16:creationId xmlns:a16="http://schemas.microsoft.com/office/drawing/2014/main" id="{CD3BD900-BC59-41F5-BDC4-3B082003A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" y="1423"/>
              <a:ext cx="230" cy="11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8206" name="Rectangle 14">
              <a:extLst>
                <a:ext uri="{FF2B5EF4-FFF2-40B4-BE49-F238E27FC236}">
                  <a16:creationId xmlns:a16="http://schemas.microsoft.com/office/drawing/2014/main" id="{36BE7167-1A25-432F-98C7-4DB97E52A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" y="2345"/>
              <a:ext cx="515" cy="23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8204" name="Line 12">
            <a:extLst>
              <a:ext uri="{FF2B5EF4-FFF2-40B4-BE49-F238E27FC236}">
                <a16:creationId xmlns:a16="http://schemas.microsoft.com/office/drawing/2014/main" id="{59819FCB-C72F-4AC9-87D7-B99EA1E5AD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75288" y="3711575"/>
            <a:ext cx="527050" cy="527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381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0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0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0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9" presetClass="exit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3207103-B563-439C-A944-12210B9E64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Now it’s your turn…</a:t>
            </a:r>
            <a:endParaRPr lang="en-US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38E7E49-7360-4A27-BB01-EBBF3FE0E8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On your worksheet, reflect every shape in the corresponding mirror line. </a:t>
            </a:r>
          </a:p>
          <a:p>
            <a:r>
              <a:rPr lang="en-GB" altLang="en-US"/>
              <a:t>Use tracing paper to help you.</a:t>
            </a:r>
          </a:p>
          <a:p>
            <a:r>
              <a:rPr lang="en-GB" altLang="en-US"/>
              <a:t>All the shapes should fit together to form a word.</a:t>
            </a:r>
          </a:p>
          <a:p>
            <a:r>
              <a:rPr lang="en-GB" altLang="en-US"/>
              <a:t>Draw in pencil in case you make any mistakes.</a:t>
            </a:r>
          </a:p>
          <a:p>
            <a:pPr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992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transformations - reflections">
            <a:extLst>
              <a:ext uri="{FF2B5EF4-FFF2-40B4-BE49-F238E27FC236}">
                <a16:creationId xmlns:a16="http://schemas.microsoft.com/office/drawing/2014/main" id="{E3DC7E70-A2C6-46A1-B398-DA5DA29F9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5" name="Line 5">
            <a:extLst>
              <a:ext uri="{FF2B5EF4-FFF2-40B4-BE49-F238E27FC236}">
                <a16:creationId xmlns:a16="http://schemas.microsoft.com/office/drawing/2014/main" id="{D7845027-B639-45D8-8F96-5DE97ED16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4188" y="171450"/>
            <a:ext cx="0" cy="1614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0C4F5620-F309-41A4-B105-7D46601EE4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4188" y="1849438"/>
            <a:ext cx="0" cy="1614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C6EEB332-5750-4AF1-8D5B-7F97DD4D5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6363" y="1473200"/>
            <a:ext cx="0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89182F4E-C54C-42BC-B8E5-0416B42065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6363" y="1817688"/>
            <a:ext cx="0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50" name="Freeform 10">
            <a:extLst>
              <a:ext uri="{FF2B5EF4-FFF2-40B4-BE49-F238E27FC236}">
                <a16:creationId xmlns:a16="http://schemas.microsoft.com/office/drawing/2014/main" id="{81BFA06F-EBE7-4A19-B5C9-A20539E14823}"/>
              </a:ext>
            </a:extLst>
          </p:cNvPr>
          <p:cNvSpPr>
            <a:spLocks/>
          </p:cNvSpPr>
          <p:nvPr/>
        </p:nvSpPr>
        <p:spPr bwMode="auto">
          <a:xfrm>
            <a:off x="1376363" y="2119313"/>
            <a:ext cx="323850" cy="1322387"/>
          </a:xfrm>
          <a:custGeom>
            <a:avLst/>
            <a:gdLst>
              <a:gd name="T0" fmla="*/ 7 w 204"/>
              <a:gd name="T1" fmla="*/ 0 h 833"/>
              <a:gd name="T2" fmla="*/ 204 w 204"/>
              <a:gd name="T3" fmla="*/ 0 h 833"/>
              <a:gd name="T4" fmla="*/ 204 w 204"/>
              <a:gd name="T5" fmla="*/ 833 h 833"/>
              <a:gd name="T6" fmla="*/ 0 w 204"/>
              <a:gd name="T7" fmla="*/ 210 h 833"/>
              <a:gd name="T8" fmla="*/ 7 w 204"/>
              <a:gd name="T9" fmla="*/ 0 h 8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4" h="833">
                <a:moveTo>
                  <a:pt x="7" y="0"/>
                </a:moveTo>
                <a:cubicBezTo>
                  <a:pt x="73" y="0"/>
                  <a:pt x="138" y="0"/>
                  <a:pt x="204" y="0"/>
                </a:cubicBezTo>
                <a:cubicBezTo>
                  <a:pt x="204" y="278"/>
                  <a:pt x="204" y="555"/>
                  <a:pt x="204" y="833"/>
                </a:cubicBezTo>
                <a:lnTo>
                  <a:pt x="0" y="210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51" name="Text Box 11">
            <a:extLst>
              <a:ext uri="{FF2B5EF4-FFF2-40B4-BE49-F238E27FC236}">
                <a16:creationId xmlns:a16="http://schemas.microsoft.com/office/drawing/2014/main" id="{9A393140-E3F8-4917-8EA7-88B28DAAD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130175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3200"/>
              <a:t>e.g.</a:t>
            </a:r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131274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0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Reflect each shape in the associated mirror line (indicated by the relevant letters) to spell out a key word in the centre</a:t>
            </a:r>
          </a:p>
        </p:txBody>
      </p:sp>
    </p:spTree>
    <p:extLst>
      <p:ext uri="{BB962C8B-B14F-4D97-AF65-F5344CB8AC3E}">
        <p14:creationId xmlns:p14="http://schemas.microsoft.com/office/powerpoint/2010/main" val="656607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314</Words>
  <Application>Microsoft Office PowerPoint</Application>
  <PresentationFormat>On-screen Show (4:3)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Starter</vt:lpstr>
      <vt:lpstr>Reflection</vt:lpstr>
      <vt:lpstr>Topic: Reflection EQ: How do we reflect shapes over a line of symmetry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Now it’s your turn…</vt:lpstr>
      <vt:lpstr>PowerPoint Presentation</vt:lpstr>
      <vt:lpstr>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Starter</dc:title>
  <dc:creator>Daniel Burke</dc:creator>
  <cp:lastModifiedBy>WILSON James [Baldivis Secondary College]</cp:lastModifiedBy>
  <cp:revision>15</cp:revision>
  <dcterms:created xsi:type="dcterms:W3CDTF">2012-03-08T23:49:47Z</dcterms:created>
  <dcterms:modified xsi:type="dcterms:W3CDTF">2017-12-08T00:40:59Z</dcterms:modified>
</cp:coreProperties>
</file>
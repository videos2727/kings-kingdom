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257" r:id="rId3"/>
    <p:sldId id="262" r:id="rId4"/>
    <p:sldId id="258" r:id="rId5"/>
    <p:sldId id="259" r:id="rId6"/>
    <p:sldId id="263" r:id="rId7"/>
    <p:sldId id="264" r:id="rId8"/>
    <p:sldId id="269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1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0D22C8-78E3-42D1-81EF-CDE47C7288FD}" type="datetimeFigureOut">
              <a:rPr lang="en-AU" smtClean="0"/>
              <a:t>18/06/2017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FB7852-AFBE-45DD-AB37-2EED86D548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4425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6646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8706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9531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43259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6717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18/06/2017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4445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18/06/2017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929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18/06/2017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953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18/06/2017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9005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18/06/2017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7183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18/06/2017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5083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18/06/2017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3986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18/06/2017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374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18/06/2017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225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18/06/2017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5585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7A97-5D80-492F-A0C6-4DB72A3B530A}" type="datetimeFigureOut">
              <a:rPr lang="en-AU" smtClean="0"/>
              <a:t>18/06/2017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1533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C7A97-5D80-492F-A0C6-4DB72A3B530A}" type="datetimeFigureOut">
              <a:rPr lang="en-AU" smtClean="0"/>
              <a:t>18/06/2017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9AEAE-3615-4C61-B785-AF9617DDEC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022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9536" y="548680"/>
            <a:ext cx="8373616" cy="54006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4400" dirty="0"/>
              <a:t>We are setting up a </a:t>
            </a:r>
            <a:r>
              <a:rPr lang="en-US" sz="4400" b="1" dirty="0"/>
              <a:t>NEW</a:t>
            </a:r>
            <a:r>
              <a:rPr lang="en-US" sz="4400" dirty="0"/>
              <a:t> section of your interactive notebooks for the next topic!</a:t>
            </a:r>
          </a:p>
          <a:p>
            <a:pPr marL="0" indent="0">
              <a:buNone/>
            </a:pPr>
            <a:endParaRPr lang="en-US" sz="4400" dirty="0"/>
          </a:p>
          <a:p>
            <a:pPr marL="0" indent="0">
              <a:buNone/>
            </a:pPr>
            <a:r>
              <a:rPr lang="en-US" sz="4400" dirty="0"/>
              <a:t>From your last page of the previous notebook skip one page and we will set up the new notebook. </a:t>
            </a:r>
          </a:p>
          <a:p>
            <a:pPr marL="0" indent="0">
              <a:buNone/>
            </a:pPr>
            <a:endParaRPr lang="en-US" sz="4400" dirty="0"/>
          </a:p>
          <a:p>
            <a:pPr marL="0" indent="0">
              <a:buNone/>
            </a:pPr>
            <a:r>
              <a:rPr lang="en-US" sz="4400" dirty="0">
                <a:solidFill>
                  <a:srgbClr val="FF0000"/>
                </a:solidFill>
              </a:rPr>
              <a:t>You will have the page numbers start over again!</a:t>
            </a:r>
          </a:p>
          <a:p>
            <a:pPr marL="0" indent="0">
              <a:buNone/>
            </a:pP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784644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9576" y="260649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Rounded MT Bold" panose="020F0704030504030204" pitchFamily="34" charset="0"/>
              </a:rPr>
              <a:t>My Volume</a:t>
            </a:r>
            <a:br>
              <a:rPr lang="en-AU" dirty="0">
                <a:solidFill>
                  <a:srgbClr val="0070C0"/>
                </a:solidFill>
                <a:latin typeface="Arial Rounded MT Bold" panose="020F0704030504030204" pitchFamily="34" charset="0"/>
              </a:rPr>
            </a:br>
            <a:r>
              <a:rPr lang="en-AU" dirty="0">
                <a:solidFill>
                  <a:srgbClr val="0070C0"/>
                </a:solidFill>
                <a:latin typeface="Arial Rounded MT Bold" panose="020F0704030504030204" pitchFamily="34" charset="0"/>
              </a:rPr>
              <a:t>Interactive Notebook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362305" y="4739856"/>
            <a:ext cx="6400800" cy="1752600"/>
          </a:xfrm>
        </p:spPr>
        <p:txBody>
          <a:bodyPr>
            <a:normAutofit lnSpcReduction="10000"/>
          </a:bodyPr>
          <a:lstStyle/>
          <a:p>
            <a:pPr algn="l"/>
            <a:r>
              <a:rPr lang="en-AU" dirty="0"/>
              <a:t>Name:</a:t>
            </a:r>
          </a:p>
          <a:p>
            <a:pPr algn="l"/>
            <a:r>
              <a:rPr lang="en-AU" dirty="0"/>
              <a:t>Class: 7 - 2 </a:t>
            </a:r>
          </a:p>
          <a:p>
            <a:pPr algn="l"/>
            <a:r>
              <a:rPr lang="en-AU" dirty="0"/>
              <a:t>Teacher: Miss L </a:t>
            </a:r>
          </a:p>
          <a:p>
            <a:pPr algn="l"/>
            <a:r>
              <a:rPr lang="en-AU" dirty="0"/>
              <a:t>Term 2 Semester 1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908" y="2235642"/>
            <a:ext cx="2475221" cy="320211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9798" y="2115150"/>
            <a:ext cx="456247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617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 flipH="1">
            <a:off x="6024082" y="0"/>
            <a:ext cx="1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0" y="620688"/>
            <a:ext cx="6024082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39616" y="620688"/>
            <a:ext cx="0" cy="623731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01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75521" y="260648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3647728" y="620688"/>
            <a:ext cx="20082" cy="623731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7648" y="260648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9776" y="332656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20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2238034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12" y="1128720"/>
            <a:ext cx="11655188" cy="5729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2012" y="206725"/>
            <a:ext cx="11655188" cy="707886"/>
          </a:xfrm>
          <a:prstGeom prst="rect">
            <a:avLst/>
          </a:prstGeom>
          <a:solidFill>
            <a:srgbClr val="33CCFF"/>
          </a:solidFill>
          <a:ln w="38100" cmpd="sng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Lesson Objectives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533400" y="1310640"/>
            <a:ext cx="9020033" cy="5308524"/>
          </a:xfrm>
        </p:spPr>
        <p:txBody>
          <a:bodyPr/>
          <a:lstStyle/>
          <a:p>
            <a:pPr marL="514350" indent="-514350">
              <a:buAutoNum type="arabicPeriod"/>
            </a:pPr>
            <a:endParaRPr lang="en-AU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AU" dirty="0">
              <a:solidFill>
                <a:schemeClr val="bg1"/>
              </a:solidFill>
            </a:endParaRPr>
          </a:p>
          <a:p>
            <a:r>
              <a:rPr lang="en-AU" sz="3200" dirty="0">
                <a:solidFill>
                  <a:schemeClr val="bg1"/>
                </a:solidFill>
              </a:rPr>
              <a:t>Describe what volume is</a:t>
            </a:r>
          </a:p>
          <a:p>
            <a:r>
              <a:rPr lang="en-AU" sz="3200" dirty="0">
                <a:solidFill>
                  <a:schemeClr val="bg1"/>
                </a:solidFill>
              </a:rPr>
              <a:t>Using the volume formula, finding the volume of rectangular prisms </a:t>
            </a:r>
          </a:p>
        </p:txBody>
      </p:sp>
    </p:spTree>
    <p:extLst>
      <p:ext uri="{BB962C8B-B14F-4D97-AF65-F5344CB8AC3E}">
        <p14:creationId xmlns:p14="http://schemas.microsoft.com/office/powerpoint/2010/main" val="14500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>
                <a:cs typeface="Chalkboard"/>
              </a:rPr>
              <a:t>– What is volume, and how to we find 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1977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Volume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3164" y="1549513"/>
            <a:ext cx="23930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What is volume?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9243" y="1294223"/>
            <a:ext cx="779985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Volume is the amount of space occupied in three dimensions</a:t>
            </a:r>
          </a:p>
          <a:p>
            <a:endParaRPr lang="en-US" sz="2800" dirty="0"/>
          </a:p>
          <a:p>
            <a:r>
              <a:rPr lang="en-US" sz="2800" dirty="0"/>
              <a:t>Liquids are measured in volumes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Like your water bottle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Or cat……</a:t>
            </a:r>
            <a:endParaRPr lang="en-AU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6234" r="5877" b="17720"/>
          <a:stretch/>
        </p:blipFill>
        <p:spPr>
          <a:xfrm>
            <a:off x="73634" y="3897525"/>
            <a:ext cx="2203073" cy="275106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/>
          <a:srcRect l="9891" t="16573" r="10176" b="13161"/>
          <a:stretch/>
        </p:blipFill>
        <p:spPr>
          <a:xfrm>
            <a:off x="4049223" y="4093698"/>
            <a:ext cx="2818083" cy="242769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3130729"/>
            <a:ext cx="4996343" cy="372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276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>
                <a:cs typeface="Chalkboard"/>
              </a:rPr>
              <a:t>– What is volume, and how to we find 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1977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Volume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1173" y="1522225"/>
            <a:ext cx="23930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How to find volume?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566" y="3128693"/>
            <a:ext cx="3932234" cy="32337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0959" y="1728690"/>
            <a:ext cx="3126918" cy="376313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085" y="2850163"/>
            <a:ext cx="3233735" cy="379080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609244" y="1294223"/>
            <a:ext cx="62917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How would I find the volume of the following three shapes?</a:t>
            </a:r>
          </a:p>
          <a:p>
            <a:endParaRPr lang="en-US" sz="2800" dirty="0"/>
          </a:p>
          <a:p>
            <a:r>
              <a:rPr lang="en-US" sz="2800" b="1" dirty="0">
                <a:solidFill>
                  <a:srgbClr val="00B050"/>
                </a:solidFill>
              </a:rPr>
              <a:t>You add the blocks up</a:t>
            </a:r>
          </a:p>
          <a:p>
            <a:endParaRPr lang="en-US" sz="2800" dirty="0"/>
          </a:p>
        </p:txBody>
      </p:sp>
      <p:sp>
        <p:nvSpPr>
          <p:cNvPr id="16" name="Rectangle 15"/>
          <p:cNvSpPr/>
          <p:nvPr/>
        </p:nvSpPr>
        <p:spPr>
          <a:xfrm>
            <a:off x="4000795" y="5717638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65141" y="4794308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82159" y="5439108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421541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2012" y="206725"/>
            <a:ext cx="11655188" cy="707886"/>
          </a:xfrm>
          <a:prstGeom prst="rect">
            <a:avLst/>
          </a:prstGeom>
          <a:solidFill>
            <a:srgbClr val="99FF99"/>
          </a:solidFill>
          <a:ln w="38100" cmpd="sng">
            <a:solidFill>
              <a:srgbClr val="0099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Task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1311"/>
            <a:ext cx="6666231" cy="34218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910" y="2702257"/>
            <a:ext cx="6091090" cy="4155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7257" y="5246741"/>
            <a:ext cx="62917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Find the volume of the following blocks</a:t>
            </a:r>
            <a:endParaRPr lang="en-US" sz="2800" b="1" dirty="0">
              <a:solidFill>
                <a:srgbClr val="00B050"/>
              </a:solidFill>
            </a:endParaRP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98952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93834" y="1922020"/>
            <a:ext cx="81315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Block Activity</a:t>
            </a:r>
          </a:p>
          <a:p>
            <a:endParaRPr lang="en-US" sz="2800" b="1" dirty="0"/>
          </a:p>
          <a:p>
            <a:r>
              <a:rPr lang="en-US" sz="2800" dirty="0"/>
              <a:t>Cut out the template and glue together leaving a gap at the top. Fill it in with blocks to find the volume of the shape</a:t>
            </a:r>
            <a:endParaRPr lang="en-US" sz="2800" b="1" dirty="0">
              <a:solidFill>
                <a:srgbClr val="00B050"/>
              </a:solidFill>
            </a:endParaRPr>
          </a:p>
          <a:p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232012" y="206725"/>
            <a:ext cx="11655188" cy="707886"/>
          </a:xfrm>
          <a:prstGeom prst="rect">
            <a:avLst/>
          </a:prstGeom>
          <a:solidFill>
            <a:srgbClr val="99FF99"/>
          </a:solidFill>
          <a:ln w="38100" cmpd="sng">
            <a:solidFill>
              <a:srgbClr val="0099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Activity</a:t>
            </a:r>
          </a:p>
        </p:txBody>
      </p:sp>
    </p:spTree>
    <p:extLst>
      <p:ext uri="{BB962C8B-B14F-4D97-AF65-F5344CB8AC3E}">
        <p14:creationId xmlns:p14="http://schemas.microsoft.com/office/powerpoint/2010/main" val="3555112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>
                <a:cs typeface="Chalkboard"/>
              </a:rPr>
              <a:t>– What is volume, and how to we find 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1977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Volume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1173" y="1522225"/>
            <a:ext cx="23930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How to find volume?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9244" y="1294223"/>
            <a:ext cx="62917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Is there an easier way than just adding up blocks?? Imagine adding all these blocks</a:t>
            </a:r>
            <a:endParaRPr lang="en-US" sz="2800" b="1" dirty="0">
              <a:solidFill>
                <a:srgbClr val="00B050"/>
              </a:solidFill>
            </a:endParaRPr>
          </a:p>
          <a:p>
            <a:endParaRPr lang="en-US" sz="2800" dirty="0"/>
          </a:p>
        </p:txBody>
      </p:sp>
      <p:grpSp>
        <p:nvGrpSpPr>
          <p:cNvPr id="22" name="Group 21"/>
          <p:cNvGrpSpPr/>
          <p:nvPr/>
        </p:nvGrpSpPr>
        <p:grpSpPr>
          <a:xfrm>
            <a:off x="2509506" y="2424899"/>
            <a:ext cx="4656011" cy="3990004"/>
            <a:chOff x="6602430" y="2260671"/>
            <a:chExt cx="4656011" cy="3990004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3"/>
            <a:srcRect l="25842" t="-329" b="13511"/>
            <a:stretch/>
          </p:blipFill>
          <p:spPr>
            <a:xfrm>
              <a:off x="7397087" y="2260671"/>
              <a:ext cx="3861354" cy="3990004"/>
            </a:xfrm>
            <a:prstGeom prst="rect">
              <a:avLst/>
            </a:prstGeom>
          </p:spPr>
        </p:pic>
        <p:sp>
          <p:nvSpPr>
            <p:cNvPr id="17" name="Rectangle 16"/>
            <p:cNvSpPr/>
            <p:nvPr/>
          </p:nvSpPr>
          <p:spPr>
            <a:xfrm rot="8462310">
              <a:off x="6602430" y="2705917"/>
              <a:ext cx="1685076" cy="7601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5961" y="2424899"/>
            <a:ext cx="456247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495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</a:t>
            </a:r>
            <a:r>
              <a:rPr lang="en-AU" sz="2400" b="1" dirty="0">
                <a:cs typeface="Chalkboard"/>
              </a:rPr>
              <a:t>– What is volume, and how to we find 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1977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Volume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1173" y="1522225"/>
            <a:ext cx="23930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How to find volume?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5721" y="1999278"/>
            <a:ext cx="62917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Volume = Length x Width x Height</a:t>
            </a:r>
            <a:endParaRPr lang="en-US" sz="2800" b="1" dirty="0">
              <a:solidFill>
                <a:srgbClr val="00B050"/>
              </a:solidFill>
            </a:endParaRPr>
          </a:p>
          <a:p>
            <a:endParaRPr lang="en-US" sz="28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563" y="1149600"/>
            <a:ext cx="3279514" cy="218406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6719" y="3422701"/>
            <a:ext cx="6137844" cy="312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139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2012" y="206725"/>
            <a:ext cx="11655188" cy="707886"/>
          </a:xfrm>
          <a:prstGeom prst="rect">
            <a:avLst/>
          </a:prstGeom>
          <a:solidFill>
            <a:srgbClr val="99FF99"/>
          </a:solidFill>
          <a:ln w="38100" cmpd="sng">
            <a:solidFill>
              <a:srgbClr val="0099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Examples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11" y="1121404"/>
            <a:ext cx="3549561" cy="27797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83202" y="1040619"/>
            <a:ext cx="62917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Volume = Length x Width x Height</a:t>
            </a:r>
            <a:endParaRPr lang="en-US" sz="2800" b="1" dirty="0">
              <a:solidFill>
                <a:srgbClr val="00B050"/>
              </a:solidFill>
            </a:endParaRPr>
          </a:p>
          <a:p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5161" y="1707146"/>
            <a:ext cx="3279514" cy="218406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011" y="4107975"/>
            <a:ext cx="2973364" cy="263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432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883" y="1071348"/>
            <a:ext cx="9785445" cy="56590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2012" y="206725"/>
            <a:ext cx="11655188" cy="707886"/>
          </a:xfrm>
          <a:prstGeom prst="rect">
            <a:avLst/>
          </a:prstGeom>
          <a:solidFill>
            <a:srgbClr val="99FF99"/>
          </a:solidFill>
          <a:ln w="38100" cmpd="sng">
            <a:solidFill>
              <a:srgbClr val="0099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Task</a:t>
            </a:r>
          </a:p>
        </p:txBody>
      </p:sp>
    </p:spTree>
    <p:extLst>
      <p:ext uri="{BB962C8B-B14F-4D97-AF65-F5344CB8AC3E}">
        <p14:creationId xmlns:p14="http://schemas.microsoft.com/office/powerpoint/2010/main" val="285727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1118</TotalTime>
  <Words>305</Words>
  <Application>Microsoft Office PowerPoint</Application>
  <PresentationFormat>Widescreen</PresentationFormat>
  <Paragraphs>77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Rounded MT Bold</vt:lpstr>
      <vt:lpstr>Calibri</vt:lpstr>
      <vt:lpstr>Calibri Light</vt:lpstr>
      <vt:lpstr>Chalkboard</vt:lpstr>
      <vt:lpstr>Office Theme</vt:lpstr>
      <vt:lpstr>PowerPoint Presentation</vt:lpstr>
      <vt:lpstr>My Volume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Nine Labuschagne</dc:creator>
  <cp:lastModifiedBy>Nine Labuschagne</cp:lastModifiedBy>
  <cp:revision>14</cp:revision>
  <dcterms:created xsi:type="dcterms:W3CDTF">2017-06-18T04:43:14Z</dcterms:created>
  <dcterms:modified xsi:type="dcterms:W3CDTF">2017-06-18T23:21:14Z</dcterms:modified>
</cp:coreProperties>
</file>
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3" r:id="rId2"/>
    <p:sldId id="257" r:id="rId3"/>
    <p:sldId id="273" r:id="rId4"/>
    <p:sldId id="274" r:id="rId5"/>
    <p:sldId id="264" r:id="rId6"/>
    <p:sldId id="275" r:id="rId7"/>
    <p:sldId id="276" r:id="rId8"/>
    <p:sldId id="279" r:id="rId9"/>
    <p:sldId id="278" r:id="rId10"/>
    <p:sldId id="28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0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8" d="100"/>
          <a:sy n="68" d="100"/>
        </p:scale>
        <p:origin x="56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  <a:p>
            <a:r>
              <a:rPr lang="en-AU" dirty="0"/>
              <a:t>Complete in left</a:t>
            </a:r>
            <a:r>
              <a:rPr lang="en-AU" baseline="0" dirty="0"/>
              <a:t> hand side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0042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21/05/2017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800" dirty="0">
                <a:solidFill>
                  <a:srgbClr val="7030A0"/>
                </a:solidFill>
                <a:latin typeface="AR HERMANN" panose="02000000000000000000" pitchFamily="2" charset="0"/>
              </a:rPr>
              <a:t>Fraction of the Day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B50B7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solidFill>
                                <a:srgbClr val="B50B78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3600" b="0" i="1" smtClean="0">
                              <a:solidFill>
                                <a:srgbClr val="B50B78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971600" y="4725144"/>
                <a:ext cx="6696744" cy="7912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2060"/>
                    </a:solidFill>
                  </a:rPr>
                  <a:t>Then practice with these :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f>
                      <m:fPr>
                        <m:ctrlPr>
                          <a:rPr lang="en-US" sz="3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3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rgbClr val="002060"/>
                    </a:solidFill>
                  </a:rPr>
                  <a:t>     and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3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002060"/>
                    </a:solidFill>
                  </a:rPr>
                  <a:t> </a:t>
                </a:r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4725144"/>
                <a:ext cx="6696744" cy="791242"/>
              </a:xfrm>
              <a:prstGeom prst="rect">
                <a:avLst/>
              </a:prstGeom>
              <a:blipFill>
                <a:blip r:embed="rId4"/>
                <a:stretch>
                  <a:fillRect l="-1365" b="-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Add and subtract fractions with unlike denominators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576701"/>
            <a:ext cx="9381728" cy="96470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4300" b="1" u="sng" dirty="0">
                <a:solidFill>
                  <a:srgbClr val="C00000"/>
                </a:solidFill>
              </a:rPr>
              <a:t>What did we learn during the last lesson?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1541405"/>
            <a:ext cx="80648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How to add and subtract fractions when they have the </a:t>
            </a:r>
            <a:r>
              <a:rPr lang="en-US" sz="3200" b="1" i="1" dirty="0">
                <a:solidFill>
                  <a:srgbClr val="7030A0"/>
                </a:solidFill>
              </a:rPr>
              <a:t>same</a:t>
            </a:r>
            <a:r>
              <a:rPr lang="en-US" sz="3200" b="1" dirty="0">
                <a:solidFill>
                  <a:srgbClr val="7030A0"/>
                </a:solidFill>
              </a:rPr>
              <a:t> denominator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772" y="3583327"/>
            <a:ext cx="92732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B50B78"/>
                </a:solidFill>
                <a:highlight>
                  <a:srgbClr val="FFFF00"/>
                </a:highlight>
              </a:rPr>
              <a:t>Today: </a:t>
            </a:r>
          </a:p>
          <a:p>
            <a:r>
              <a:rPr lang="en-US" sz="3200" b="1" dirty="0">
                <a:solidFill>
                  <a:srgbClr val="B50B78"/>
                </a:solidFill>
              </a:rPr>
              <a:t>What if the fractions have a </a:t>
            </a:r>
            <a:r>
              <a:rPr lang="en-US" sz="3200" b="1" i="1" dirty="0">
                <a:solidFill>
                  <a:srgbClr val="B50B78"/>
                </a:solidFill>
              </a:rPr>
              <a:t>different</a:t>
            </a:r>
            <a:r>
              <a:rPr lang="en-US" sz="3200" b="1" dirty="0">
                <a:solidFill>
                  <a:srgbClr val="B50B78"/>
                </a:solidFill>
              </a:rPr>
              <a:t> denominator?</a:t>
            </a:r>
          </a:p>
        </p:txBody>
      </p:sp>
    </p:spTree>
    <p:extLst>
      <p:ext uri="{BB962C8B-B14F-4D97-AF65-F5344CB8AC3E}">
        <p14:creationId xmlns:p14="http://schemas.microsoft.com/office/powerpoint/2010/main" val="28398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to add and subtract fractions with different denominators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03365" y="2490830"/>
            <a:ext cx="418814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1</a:t>
            </a:r>
            <a:r>
              <a:rPr lang="en-AU" sz="2400" baseline="30000" dirty="0"/>
              <a:t>st</a:t>
            </a:r>
            <a:r>
              <a:rPr lang="en-AU" sz="2400" dirty="0"/>
              <a:t> Step: Make the denominators the same</a:t>
            </a:r>
          </a:p>
          <a:p>
            <a:endParaRPr lang="en-AU" sz="2400" dirty="0"/>
          </a:p>
          <a:p>
            <a:r>
              <a:rPr lang="en-AU" sz="2400" dirty="0">
                <a:highlight>
                  <a:srgbClr val="FFFF00"/>
                </a:highlight>
              </a:rPr>
              <a:t>(using equivalent fractions!)</a:t>
            </a:r>
          </a:p>
          <a:p>
            <a:endParaRPr lang="en-AU" sz="2400" dirty="0"/>
          </a:p>
          <a:p>
            <a:r>
              <a:rPr lang="en-AU" sz="2400" dirty="0"/>
              <a:t>Whatever you do to the denominator you </a:t>
            </a:r>
            <a:r>
              <a:rPr lang="en-AU" sz="2400" b="1" dirty="0"/>
              <a:t>ALSO</a:t>
            </a:r>
            <a:r>
              <a:rPr lang="en-AU" sz="2400" dirty="0"/>
              <a:t> have to do to the numerator!</a:t>
            </a:r>
          </a:p>
        </p:txBody>
      </p:sp>
      <p:sp>
        <p:nvSpPr>
          <p:cNvPr id="5" name="TextBox 4"/>
          <p:cNvSpPr txBox="1"/>
          <p:nvPr/>
        </p:nvSpPr>
        <p:spPr>
          <a:xfrm flipH="1">
            <a:off x="0" y="2830536"/>
            <a:ext cx="20517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How to make the denominators the same?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641577" y="2535270"/>
                <a:ext cx="1433021" cy="13065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b="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br>
                  <a:rPr lang="en-AU" sz="2400" b="0" i="1" dirty="0">
                    <a:solidFill>
                      <a:schemeClr val="accent6">
                        <a:lumMod val="75000"/>
                      </a:schemeClr>
                    </a:solidFill>
                    <a:latin typeface="Cambria Math"/>
                  </a:rPr>
                </a:br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577" y="2535270"/>
                <a:ext cx="1433021" cy="13065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 rot="702954">
            <a:off x="6673286" y="2127861"/>
            <a:ext cx="1455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rgbClr val="7030A0"/>
                </a:solidFill>
              </a:rPr>
              <a:t>Examples</a:t>
            </a:r>
            <a:r>
              <a:rPr lang="en-AU" dirty="0"/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156176" y="3841782"/>
                <a:ext cx="2583760" cy="101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3200" i="1">
                          <a:solidFill>
                            <a:srgbClr val="C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32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3841782"/>
                <a:ext cx="2583760" cy="10175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5812910" y="4392194"/>
                <a:ext cx="14072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2910" y="4392194"/>
                <a:ext cx="140726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5823885" y="3900057"/>
                <a:ext cx="14072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885" y="3900057"/>
                <a:ext cx="1407269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6109330" y="5003819"/>
                <a:ext cx="2583760" cy="1017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AU" sz="3200" i="1">
                          <a:solidFill>
                            <a:srgbClr val="C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32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330" y="5003819"/>
                <a:ext cx="2583760" cy="10175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531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4" grpId="0"/>
      <p:bldP spid="15" grpId="0"/>
      <p:bldP spid="16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512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to add and subtract fractions with different denominators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03366" y="2490830"/>
            <a:ext cx="380171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</a:t>
            </a:r>
            <a:r>
              <a:rPr lang="en-AU" sz="2400" baseline="30000" dirty="0"/>
              <a:t>nd</a:t>
            </a:r>
            <a:r>
              <a:rPr lang="en-AU" sz="2400" dirty="0"/>
              <a:t> Step:</a:t>
            </a:r>
          </a:p>
          <a:p>
            <a:r>
              <a:rPr lang="en-AU" sz="2400" dirty="0"/>
              <a:t>When the denominator is the same add or subtract the numerators</a:t>
            </a:r>
          </a:p>
          <a:p>
            <a:endParaRPr lang="en-AU" sz="2400" dirty="0"/>
          </a:p>
          <a:p>
            <a:r>
              <a:rPr lang="en-AU" sz="2400" dirty="0"/>
              <a:t>3</a:t>
            </a:r>
            <a:r>
              <a:rPr lang="en-AU" sz="2400" baseline="30000" dirty="0"/>
              <a:t>rd</a:t>
            </a:r>
            <a:r>
              <a:rPr lang="en-AU" sz="2400" dirty="0"/>
              <a:t> Step: </a:t>
            </a:r>
          </a:p>
          <a:p>
            <a:r>
              <a:rPr lang="en-AU" sz="2400" dirty="0"/>
              <a:t>Then simplify your answer when possible.</a:t>
            </a:r>
          </a:p>
        </p:txBody>
      </p:sp>
      <p:sp>
        <p:nvSpPr>
          <p:cNvPr id="5" name="TextBox 4"/>
          <p:cNvSpPr txBox="1"/>
          <p:nvPr/>
        </p:nvSpPr>
        <p:spPr>
          <a:xfrm flipH="1">
            <a:off x="0" y="2830536"/>
            <a:ext cx="20517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do we do when the denominators are the same?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7652811" y="2490830"/>
                <a:ext cx="1297727" cy="32147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400" i="1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10</m:t>
                          </m:r>
                        </m:den>
                      </m:f>
                      <m:r>
                        <a:rPr lang="en-AU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10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sz="24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AU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10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sz="24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2811" y="2490830"/>
                <a:ext cx="1297727" cy="32147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 rot="702954">
            <a:off x="6673286" y="2127861"/>
            <a:ext cx="1455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rgbClr val="7030A0"/>
                </a:solidFill>
              </a:rPr>
              <a:t>Examples</a:t>
            </a:r>
            <a:r>
              <a:rPr lang="en-AU" dirty="0"/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846897" y="2800554"/>
                <a:ext cx="1964100" cy="28520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AU" sz="2400" i="1">
                          <a:solidFill>
                            <a:srgbClr val="C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24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  <a:p>
                <a:endParaRPr lang="en-US" sz="2400" dirty="0">
                  <a:solidFill>
                    <a:srgbClr val="C0000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4+3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897" y="2800554"/>
                <a:ext cx="1964100" cy="28520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39752" y="40283"/>
            <a:ext cx="62646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Guided Practice: Task Side</a:t>
            </a:r>
          </a:p>
          <a:p>
            <a:pPr algn="ctr"/>
            <a:r>
              <a:rPr lang="en-US" sz="2800" dirty="0"/>
              <a:t> How to make denominators the same?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39552" y="1484784"/>
                <a:ext cx="2592288" cy="901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484784"/>
                <a:ext cx="2592288" cy="9017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699792" y="1465778"/>
            <a:ext cx="6300192" cy="830997"/>
          </a:xfrm>
          <a:prstGeom prst="rect">
            <a:avLst/>
          </a:prstGeom>
          <a:noFill/>
          <a:ln>
            <a:solidFill>
              <a:srgbClr val="B50B78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What number can we multiply by to get the same denominators?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2403" y="1951586"/>
                <a:ext cx="14072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03" y="1951586"/>
                <a:ext cx="140726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33337" y="102844"/>
            <a:ext cx="2150505" cy="132343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Whatever we do to the bottom we also need to do to the top!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89247" y="1458102"/>
                <a:ext cx="14072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47" y="1458102"/>
                <a:ext cx="140726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508295" y="2754093"/>
                <a:ext cx="2592288" cy="901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95" y="2754093"/>
                <a:ext cx="2592288" cy="9017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131840" y="2884175"/>
            <a:ext cx="5400847" cy="461665"/>
          </a:xfrm>
          <a:prstGeom prst="rect">
            <a:avLst/>
          </a:prstGeom>
          <a:noFill/>
          <a:ln>
            <a:solidFill>
              <a:srgbClr val="B50B78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Now we just need to add the numerators!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08295" y="3775887"/>
                <a:ext cx="2592288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6+2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28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95" y="3775887"/>
                <a:ext cx="2592288" cy="8989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08295" y="4806616"/>
                <a:ext cx="2592288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95" y="4806616"/>
                <a:ext cx="2592288" cy="8989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644008" y="4444018"/>
            <a:ext cx="2088479" cy="461665"/>
          </a:xfrm>
          <a:prstGeom prst="rect">
            <a:avLst/>
          </a:prstGeom>
          <a:noFill/>
          <a:ln>
            <a:solidFill>
              <a:srgbClr val="B50B78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Then simplify!</a:t>
            </a:r>
          </a:p>
        </p:txBody>
      </p:sp>
    </p:spTree>
    <p:extLst>
      <p:ext uri="{BB962C8B-B14F-4D97-AF65-F5344CB8AC3E}">
        <p14:creationId xmlns:p14="http://schemas.microsoft.com/office/powerpoint/2010/main" val="3211963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 animBg="1"/>
      <p:bldP spid="8" grpId="0"/>
      <p:bldP spid="10" grpId="0"/>
      <p:bldP spid="11" grpId="0" animBg="1"/>
      <p:bldP spid="12" grpId="0"/>
      <p:bldP spid="13" grpId="0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39752" y="40283"/>
            <a:ext cx="62646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Guided Practice: Task Side</a:t>
            </a:r>
          </a:p>
          <a:p>
            <a:pPr algn="ctr"/>
            <a:r>
              <a:rPr lang="en-US" sz="2800" dirty="0"/>
              <a:t> How to make denominators the same?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39552" y="1484784"/>
                <a:ext cx="2592288" cy="901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484784"/>
                <a:ext cx="2592288" cy="9017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699792" y="1465778"/>
            <a:ext cx="6300192" cy="830997"/>
          </a:xfrm>
          <a:prstGeom prst="rect">
            <a:avLst/>
          </a:prstGeom>
          <a:noFill/>
          <a:ln>
            <a:solidFill>
              <a:srgbClr val="B50B78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What number can we multiply by to get the same denominators?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2403" y="1951586"/>
                <a:ext cx="14072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03" y="1951586"/>
                <a:ext cx="140726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33337" y="102844"/>
            <a:ext cx="2150505" cy="132343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Whatever we do to the bottom we also need to do to the top!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89247" y="1458102"/>
                <a:ext cx="14072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3×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47" y="1458102"/>
                <a:ext cx="140726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508295" y="2754093"/>
                <a:ext cx="2592288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95" y="2754093"/>
                <a:ext cx="2592288" cy="8989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131840" y="2884175"/>
            <a:ext cx="5400847" cy="461665"/>
          </a:xfrm>
          <a:prstGeom prst="rect">
            <a:avLst/>
          </a:prstGeom>
          <a:noFill/>
          <a:ln>
            <a:solidFill>
              <a:srgbClr val="B50B78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Now we just need to add the numerators!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08295" y="3775887"/>
                <a:ext cx="2592288" cy="936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3+2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28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95" y="3775887"/>
                <a:ext cx="2592288" cy="9361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08295" y="4806616"/>
                <a:ext cx="2592288" cy="938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95" y="4806616"/>
                <a:ext cx="2592288" cy="9389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644008" y="4444018"/>
            <a:ext cx="2088479" cy="461665"/>
          </a:xfrm>
          <a:prstGeom prst="rect">
            <a:avLst/>
          </a:prstGeom>
          <a:noFill/>
          <a:ln>
            <a:solidFill>
              <a:srgbClr val="B50B78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Then simplify!</a:t>
            </a:r>
          </a:p>
        </p:txBody>
      </p:sp>
    </p:spTree>
    <p:extLst>
      <p:ext uri="{BB962C8B-B14F-4D97-AF65-F5344CB8AC3E}">
        <p14:creationId xmlns:p14="http://schemas.microsoft.com/office/powerpoint/2010/main" val="3582322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 animBg="1"/>
      <p:bldP spid="8" grpId="0"/>
      <p:bldP spid="10" grpId="0"/>
      <p:bldP spid="11" grpId="0" animBg="1"/>
      <p:bldP spid="12" grpId="0"/>
      <p:bldP spid="13" grpId="0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39752" y="40283"/>
            <a:ext cx="62646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Guided Practice: Task Side</a:t>
            </a:r>
          </a:p>
          <a:p>
            <a:pPr algn="ctr"/>
            <a:r>
              <a:rPr lang="en-US" sz="2800" dirty="0"/>
              <a:t> How to make denominators the same?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81452" y="1468874"/>
                <a:ext cx="2592288" cy="901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52" y="1468874"/>
                <a:ext cx="2592288" cy="9017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699792" y="1465778"/>
            <a:ext cx="6300192" cy="830997"/>
          </a:xfrm>
          <a:prstGeom prst="rect">
            <a:avLst/>
          </a:prstGeom>
          <a:noFill/>
          <a:ln>
            <a:solidFill>
              <a:srgbClr val="B50B78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What number can we multiply by to get the same denominators?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-68688" y="1965653"/>
                <a:ext cx="14072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688" y="1965653"/>
                <a:ext cx="140726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33337" y="102844"/>
            <a:ext cx="2150505" cy="132343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Whatever we do to the bottom we also need to do to the top!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-68687" y="1458101"/>
                <a:ext cx="14072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3×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687" y="1458101"/>
                <a:ext cx="140726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141577" y="2627015"/>
                <a:ext cx="2592288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77" y="2627015"/>
                <a:ext cx="2592288" cy="8989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190956" y="3082734"/>
            <a:ext cx="5400847" cy="461665"/>
          </a:xfrm>
          <a:prstGeom prst="rect">
            <a:avLst/>
          </a:prstGeom>
          <a:noFill/>
          <a:ln>
            <a:solidFill>
              <a:srgbClr val="B50B78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Now we just need to add the numerators!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83712" y="3775886"/>
                <a:ext cx="2592288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3+4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sz="28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2" y="3775886"/>
                <a:ext cx="2592288" cy="8989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07504" y="4816679"/>
                <a:ext cx="2592288" cy="896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816679"/>
                <a:ext cx="2592288" cy="8961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644008" y="4444018"/>
            <a:ext cx="2088479" cy="461665"/>
          </a:xfrm>
          <a:prstGeom prst="rect">
            <a:avLst/>
          </a:prstGeom>
          <a:noFill/>
          <a:ln>
            <a:solidFill>
              <a:srgbClr val="B50B78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Then simplify!</a:t>
            </a:r>
          </a:p>
        </p:txBody>
      </p:sp>
      <p:sp>
        <p:nvSpPr>
          <p:cNvPr id="15" name="TextBox 14"/>
          <p:cNvSpPr txBox="1"/>
          <p:nvPr/>
        </p:nvSpPr>
        <p:spPr>
          <a:xfrm flipH="1">
            <a:off x="3333248" y="2283346"/>
            <a:ext cx="5482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</a:rPr>
              <a:t>Sometimes you have to multiply both fractions!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1925979" y="1476022"/>
                <a:ext cx="14072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2</a:t>
                </a: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979" y="1476022"/>
                <a:ext cx="1407269" cy="461665"/>
              </a:xfrm>
              <a:prstGeom prst="rect">
                <a:avLst/>
              </a:prstGeom>
              <a:blipFill>
                <a:blip r:embed="rId8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1925979" y="1965653"/>
                <a:ext cx="14072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2</a:t>
                </a: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979" y="1965653"/>
                <a:ext cx="1407269" cy="461665"/>
              </a:xfrm>
              <a:prstGeom prst="rect">
                <a:avLst/>
              </a:prstGeom>
              <a:blipFill>
                <a:blip r:embed="rId9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874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 animBg="1"/>
      <p:bldP spid="8" grpId="0"/>
      <p:bldP spid="10" grpId="0"/>
      <p:bldP spid="11" grpId="0" animBg="1"/>
      <p:bldP spid="12" grpId="0"/>
      <p:bldP spid="13" grpId="0"/>
      <p:bldP spid="14" grpId="0" animBg="1"/>
      <p:bldP spid="15" grpId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7030A0"/>
                </a:solidFill>
              </a:rPr>
              <a:t>Independent Practice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US" b="0" dirty="0"/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b="0" dirty="0"/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 flipH="1">
            <a:off x="2771800" y="3284984"/>
            <a:ext cx="5482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</a:rPr>
              <a:t>Sometimes you have to multiply both fractions!</a:t>
            </a:r>
          </a:p>
        </p:txBody>
      </p:sp>
      <p:pic>
        <p:nvPicPr>
          <p:cNvPr id="5" name="Picture 4" descr="... image 5-Free-Summer-Clipart-Illustration-Of-A-Happy-Smiling-&lt;strong&gt;Sun&lt;/strong&gt;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8" y="0"/>
            <a:ext cx="2680969" cy="226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870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chemeClr val="accent2"/>
                </a:solidFill>
              </a:rPr>
              <a:t>Go back through your fractions of the day and complete the add it sections!</a:t>
            </a:r>
          </a:p>
          <a:p>
            <a:pPr marL="0" indent="0">
              <a:buNone/>
            </a:pPr>
            <a:endParaRPr lang="en-US" sz="40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chemeClr val="accent1">
                    <a:lumMod val="50000"/>
                  </a:schemeClr>
                </a:solidFill>
              </a:rPr>
              <a:t>Complete your summary</a:t>
            </a:r>
          </a:p>
        </p:txBody>
      </p:sp>
      <p:pic>
        <p:nvPicPr>
          <p:cNvPr id="4" name="Picture 3" descr="Here Come the &lt;strong&gt;Happy&lt;/strong&gt; Housing &lt;strong&gt;Numbers&lt;/strong&gt;, but Foreclosures Up Year-Over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4192588"/>
            <a:ext cx="2362200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46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409</Words>
  <Application>Microsoft Office PowerPoint</Application>
  <PresentationFormat>On-screen Show (4:3)</PresentationFormat>
  <Paragraphs>107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 HERMANN</vt:lpstr>
      <vt:lpstr>Arial</vt:lpstr>
      <vt:lpstr>Calibri</vt:lpstr>
      <vt:lpstr>Cambria Math</vt:lpstr>
      <vt:lpstr>Office Theme</vt:lpstr>
      <vt:lpstr>Fraction of the Day</vt:lpstr>
      <vt:lpstr>Lesson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Independent Practice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Alexandria Latham</cp:lastModifiedBy>
  <cp:revision>20</cp:revision>
  <dcterms:created xsi:type="dcterms:W3CDTF">2016-10-20T03:14:06Z</dcterms:created>
  <dcterms:modified xsi:type="dcterms:W3CDTF">2017-05-22T06:46:14Z</dcterms:modified>
</cp:coreProperties>
</file>
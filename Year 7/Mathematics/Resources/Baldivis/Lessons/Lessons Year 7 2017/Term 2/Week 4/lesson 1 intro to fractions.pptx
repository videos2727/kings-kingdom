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8" r:id="rId3"/>
    <p:sldId id="269" r:id="rId4"/>
    <p:sldId id="270" r:id="rId5"/>
    <p:sldId id="271" r:id="rId6"/>
    <p:sldId id="272" r:id="rId7"/>
    <p:sldId id="27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Use</a:t>
            </a:r>
            <a:r>
              <a:rPr lang="en-AU" baseline="0" dirty="0" smtClean="0"/>
              <a:t> </a:t>
            </a:r>
            <a:r>
              <a:rPr lang="en-AU" baseline="0" smtClean="0"/>
              <a:t>the fraction of the day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>
                <a:solidFill>
                  <a:prstClr val="black"/>
                </a:solidFill>
              </a:rPr>
              <a:pPr/>
              <a:t>5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41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Once</a:t>
            </a:r>
            <a:r>
              <a:rPr lang="en-AU" baseline="0" dirty="0" smtClean="0"/>
              <a:t> they have drawn the fraction, get them to hold up there answer so you can see they have the correct answer. If you have time do more fractions.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12/05/2017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u="sng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Fraction of the Day</a:t>
            </a:r>
            <a:endParaRPr lang="en-AU" u="sng" dirty="0">
              <a:solidFill>
                <a:schemeClr val="tx2">
                  <a:lumMod val="60000"/>
                  <a:lumOff val="4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AU" dirty="0" smtClean="0"/>
                  <a:t>Today’s fraction is</a:t>
                </a:r>
              </a:p>
              <a:p>
                <a:pPr marL="0" indent="0">
                  <a:buNone/>
                </a:pPr>
                <a:r>
                  <a:rPr lang="en-AU" dirty="0" smtClean="0"/>
                  <a:t/>
                </a:r>
                <a:br>
                  <a:rPr lang="en-AU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 smtClean="0"/>
              </a:p>
              <a:p>
                <a:pPr marL="0" indent="0">
                  <a:buNone/>
                </a:pPr>
                <a:endParaRPr lang="en-AU" sz="6600" dirty="0" smtClean="0"/>
              </a:p>
              <a:p>
                <a:pPr marL="0" indent="0">
                  <a:buNone/>
                </a:pPr>
                <a:r>
                  <a:rPr lang="en-AU" sz="2400" dirty="0" smtClean="0"/>
                  <a:t>Complete the worksheet </a:t>
                </a:r>
                <a:endParaRPr lang="en-AU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852" t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Setup new INB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Cover page</a:t>
            </a:r>
          </a:p>
          <a:p>
            <a:r>
              <a:rPr lang="en-AU" dirty="0" smtClean="0"/>
              <a:t>Contents</a:t>
            </a:r>
          </a:p>
          <a:p>
            <a:r>
              <a:rPr lang="en-AU" dirty="0" smtClean="0"/>
              <a:t>Glossary/ formula page</a:t>
            </a:r>
          </a:p>
          <a:p>
            <a:r>
              <a:rPr lang="en-AU" dirty="0" smtClean="0"/>
              <a:t>Cornell notes ready to begin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47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9144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7359" y="1916832"/>
            <a:ext cx="5573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4287" y="517265"/>
            <a:ext cx="5579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Introduction to fractions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31664" y="512677"/>
            <a:ext cx="187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</a:t>
            </a:r>
            <a:r>
              <a:rPr lang="en-AU" sz="2800" dirty="0" smtClean="0">
                <a:solidFill>
                  <a:prstClr val="black"/>
                </a:solidFill>
              </a:rPr>
              <a:t>: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235951"/>
            <a:ext cx="9054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Correctly identify and describe the numerator and denominator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814138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361" y="1879011"/>
            <a:ext cx="218686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the denominator?</a:t>
            </a:r>
          </a:p>
          <a:p>
            <a:endParaRPr lang="en-AU" sz="2000" dirty="0">
              <a:solidFill>
                <a:prstClr val="black"/>
              </a:solidFill>
            </a:endParaRPr>
          </a:p>
          <a:p>
            <a:endParaRPr lang="en-AU" sz="2000" dirty="0" smtClean="0">
              <a:solidFill>
                <a:prstClr val="black"/>
              </a:solidFill>
            </a:endParaRPr>
          </a:p>
          <a:p>
            <a:endParaRPr lang="en-AU" sz="2000" dirty="0">
              <a:solidFill>
                <a:prstClr val="black"/>
              </a:solidFill>
            </a:endParaRPr>
          </a:p>
          <a:p>
            <a:r>
              <a:rPr lang="en-AU" sz="2000" dirty="0" smtClean="0">
                <a:solidFill>
                  <a:prstClr val="black"/>
                </a:solidFill>
              </a:rPr>
              <a:t>What is the numerator?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425726" y="2143288"/>
                <a:ext cx="6536692" cy="4257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endParaRPr lang="en-AU" sz="20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000" u="sng" dirty="0" smtClean="0">
                    <a:solidFill>
                      <a:prstClr val="black"/>
                    </a:solidFill>
                  </a:rPr>
                  <a:t>The denominator goes below the fraction line 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and tells us how many pieces the whole has been divided into.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AU" sz="20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000" u="sng" dirty="0" smtClean="0">
                    <a:solidFill>
                      <a:prstClr val="black"/>
                    </a:solidFill>
                  </a:rPr>
                  <a:t>The numerator sits above the fraction line </a:t>
                </a:r>
                <a:r>
                  <a:rPr lang="en-AU" sz="2000" dirty="0" smtClean="0">
                    <a:solidFill>
                      <a:prstClr val="black"/>
                    </a:solidFill>
                  </a:rPr>
                  <a:t>and says how many parts of the whole have been shaded or selected.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	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     					</a:t>
                </a:r>
                <a:r>
                  <a:rPr lang="en-AU" sz="2400" dirty="0" smtClean="0">
                    <a:solidFill>
                      <a:srgbClr val="C00000"/>
                    </a:solidFill>
                  </a:rPr>
                  <a:t>Numerator</a:t>
                </a:r>
                <a:endParaRPr lang="en-AU" sz="2400" dirty="0" smtClean="0">
                  <a:solidFill>
                    <a:srgbClr val="C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40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726" y="2143288"/>
                <a:ext cx="6536692" cy="4257512"/>
              </a:xfrm>
              <a:prstGeom prst="rect">
                <a:avLst/>
              </a:prstGeom>
              <a:blipFill rotWithShape="1">
                <a:blip r:embed="rId3"/>
                <a:stretch>
                  <a:fillRect l="-1026" t="-716" r="-6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850794" y="8502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73922" y="6400800"/>
            <a:ext cx="39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7" name="Oval 6"/>
          <p:cNvSpPr/>
          <p:nvPr/>
        </p:nvSpPr>
        <p:spPr>
          <a:xfrm>
            <a:off x="5370491" y="4868214"/>
            <a:ext cx="647163" cy="70833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156176" y="4952450"/>
            <a:ext cx="792088" cy="150626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89571" y="6056837"/>
            <a:ext cx="1062597" cy="14288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366303" y="5747192"/>
            <a:ext cx="647163" cy="70833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/>
          <p:cNvSpPr txBox="1"/>
          <p:nvPr/>
        </p:nvSpPr>
        <p:spPr>
          <a:xfrm>
            <a:off x="2627784" y="5576552"/>
            <a:ext cx="184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70C0"/>
                </a:solidFill>
              </a:rPr>
              <a:t>Denominator</a:t>
            </a:r>
            <a:endParaRPr lang="en-AU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39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shaded frac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1397000"/>
            <a:ext cx="1629966" cy="511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shaded fra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778" y="1396999"/>
            <a:ext cx="6316094" cy="327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6479" y="1600200"/>
            <a:ext cx="49291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125141" y="228601"/>
            <a:ext cx="6911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Identify the shaded fraction of the shapes below: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9449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9144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7359" y="1916832"/>
            <a:ext cx="5573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" y="97179"/>
            <a:ext cx="5579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Title</a:t>
            </a:r>
            <a:r>
              <a:rPr lang="en-AU" sz="2400" dirty="0" smtClean="0">
                <a:solidFill>
                  <a:prstClr val="black"/>
                </a:solidFill>
              </a:rPr>
              <a:t>: Different types of fractions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31664" y="512677"/>
            <a:ext cx="1872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59" y="1065326"/>
            <a:ext cx="9054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Identify and describe the three types of fractions proper, improper and mixed numerals.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814138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361" y="1879011"/>
            <a:ext cx="2186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  <a:p>
            <a:endParaRPr lang="en-AU" sz="800" dirty="0" smtClean="0">
              <a:solidFill>
                <a:prstClr val="black"/>
              </a:solidFill>
            </a:endParaRPr>
          </a:p>
          <a:p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420145" y="1954655"/>
                <a:ext cx="6536692" cy="462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Notes: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0070C0"/>
                    </a:solidFill>
                  </a:rPr>
                  <a:t>Proper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0070C0"/>
                    </a:solidFill>
                  </a:rPr>
                  <a:t>fractions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have a numerator that is less than the denominator. Examples: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7030A0"/>
                    </a:solidFill>
                  </a:rPr>
                  <a:t>Improper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AU" sz="2400" dirty="0" smtClean="0">
                    <a:solidFill>
                      <a:srgbClr val="7030A0"/>
                    </a:solidFill>
                  </a:rPr>
                  <a:t>fractions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 have a numerator that is more than the denominator. </a:t>
                </a:r>
                <a:r>
                  <a:rPr lang="en-AU" sz="2400" dirty="0">
                    <a:solidFill>
                      <a:prstClr val="black"/>
                    </a:solidFill>
                  </a:rPr>
                  <a:t>Examples: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AU" sz="2400" dirty="0" smtClean="0">
                    <a:solidFill>
                      <a:srgbClr val="C00000"/>
                    </a:solidFill>
                  </a:rPr>
                  <a:t>Mixed numerals </a:t>
                </a:r>
                <a:r>
                  <a:rPr lang="en-AU" sz="2400" dirty="0" smtClean="0"/>
                  <a:t>have</a:t>
                </a:r>
                <a:r>
                  <a:rPr lang="en-AU" sz="2400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a whole part and a fraction part. </a:t>
                </a:r>
              </a:p>
              <a:p>
                <a:r>
                  <a:rPr lang="en-AU" sz="2400" dirty="0" smtClean="0">
                    <a:solidFill>
                      <a:prstClr val="black"/>
                    </a:solidFill>
                  </a:rPr>
                  <a:t>     Examples</a:t>
                </a:r>
                <a:r>
                  <a:rPr lang="en-AU" sz="2400" dirty="0">
                    <a:solidFill>
                      <a:prstClr val="black"/>
                    </a:solidFill>
                  </a:rPr>
                  <a:t>:</a:t>
                </a:r>
              </a:p>
              <a:p>
                <a:r>
                  <a:rPr lang="en-AU" sz="2400" dirty="0">
                    <a:solidFill>
                      <a:prstClr val="black"/>
                    </a:solidFill>
                  </a:rPr>
                  <a:t>				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, </a:t>
                </a:r>
                <a:r>
                  <a:rPr lang="en-AU" sz="2400" dirty="0" smtClean="0">
                    <a:solidFill>
                      <a:prstClr val="black"/>
                    </a:solidFill>
                  </a:rPr>
                  <a:t>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860" y="1954655"/>
                <a:ext cx="8715589" cy="4251548"/>
              </a:xfrm>
              <a:prstGeom prst="rect">
                <a:avLst/>
              </a:prstGeom>
              <a:blipFill rotWithShape="0">
                <a:blip r:embed="rId3"/>
                <a:stretch>
                  <a:fillRect l="-1049" t="-1148" b="-5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850794" y="85028"/>
            <a:ext cx="648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73922" y="6400800"/>
            <a:ext cx="39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21</a:t>
            </a:r>
            <a:endParaRPr lang="en-AU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968" y="2356063"/>
            <a:ext cx="23829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What is a proper fraction?</a:t>
            </a:r>
          </a:p>
          <a:p>
            <a:endParaRPr lang="en-AU" sz="2200" dirty="0"/>
          </a:p>
          <a:p>
            <a:endParaRPr lang="en-AU" sz="1200" dirty="0" smtClean="0"/>
          </a:p>
          <a:p>
            <a:endParaRPr lang="en-AU" sz="1200" dirty="0"/>
          </a:p>
          <a:p>
            <a:endParaRPr lang="en-AU" sz="1200" dirty="0" smtClean="0"/>
          </a:p>
          <a:p>
            <a:r>
              <a:rPr lang="en-AU" sz="2200" dirty="0" smtClean="0"/>
              <a:t>What is an improper fraction?</a:t>
            </a:r>
          </a:p>
          <a:p>
            <a:endParaRPr lang="en-AU" sz="2200" dirty="0"/>
          </a:p>
          <a:p>
            <a:endParaRPr lang="en-AU" sz="2200" dirty="0" smtClean="0"/>
          </a:p>
          <a:p>
            <a:r>
              <a:rPr lang="en-AU" sz="2200" dirty="0" smtClean="0"/>
              <a:t>What is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69065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2269901" y="0"/>
            <a:ext cx="0" cy="6858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925" y="1"/>
            <a:ext cx="14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9902" y="0"/>
            <a:ext cx="1000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Notes: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90251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269902" y="571500"/>
                <a:ext cx="6874099" cy="576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sz="2200" dirty="0" smtClean="0">
                  <a:solidFill>
                    <a:srgbClr val="0070C0"/>
                  </a:solidFill>
                </a:endParaRPr>
              </a:p>
              <a:p>
                <a:r>
                  <a:rPr lang="en-AU" sz="2200" dirty="0" smtClean="0">
                    <a:solidFill>
                      <a:srgbClr val="0070C0"/>
                    </a:solidFill>
                  </a:rPr>
                  <a:t>Mixed </a:t>
                </a:r>
                <a:r>
                  <a:rPr lang="en-AU" sz="2200" dirty="0" smtClean="0">
                    <a:solidFill>
                      <a:srgbClr val="0070C0"/>
                    </a:solidFill>
                  </a:rPr>
                  <a:t>numeral </a:t>
                </a:r>
                <a:r>
                  <a:rPr lang="en-AU" sz="2200" dirty="0" smtClean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Improper fraction</a:t>
                </a:r>
              </a:p>
              <a:p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1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 is made up of 1 whole plus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>
                    <a:solidFill>
                      <a:prstClr val="black"/>
                    </a:solidFill>
                  </a:rPr>
                  <a:t> </a:t>
                </a:r>
                <a:r>
                  <a:rPr lang="en-AU" sz="2200" dirty="0" smtClean="0">
                    <a:solidFill>
                      <a:prstClr val="black"/>
                    </a:solidFill>
                  </a:rPr>
                  <a:t>we can write this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 smtClean="0">
                  <a:solidFill>
                    <a:prstClr val="black"/>
                  </a:solidFill>
                </a:endParaRPr>
              </a:p>
              <a:p>
                <a:endParaRPr lang="en-AU" sz="1200" dirty="0" smtClean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</a:rPr>
                  <a:t>Now try converting 5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</a:rPr>
                  <a:t> to an improper fraction</a:t>
                </a:r>
              </a:p>
              <a:p>
                <a:endParaRPr lang="en-AU" sz="2200" dirty="0" smtClean="0">
                  <a:solidFill>
                    <a:prstClr val="black"/>
                  </a:solidFill>
                </a:endParaRP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  <a:p>
                <a:r>
                  <a:rPr lang="en-AU" sz="2200" dirty="0" smtClean="0">
                    <a:solidFill>
                      <a:srgbClr val="7030A0"/>
                    </a:solidFill>
                  </a:rPr>
                  <a:t>Improper fraction </a:t>
                </a:r>
                <a:r>
                  <a:rPr lang="en-AU" sz="2200" dirty="0" smtClean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 Mixed numeral</a:t>
                </a: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We need to divide the numerator by the denominator and </a:t>
                </a:r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writethe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remainder as  a proper fraction.</a:t>
                </a:r>
              </a:p>
              <a:p>
                <a:r>
                  <a:rPr lang="en-AU" sz="2200" dirty="0" err="1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Eg</a:t>
                </a:r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38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 =	12 remainder 2	=12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endParaRPr lang="en-AU" sz="2200" dirty="0" smtClean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endParaRPr lang="en-AU" sz="2200" dirty="0">
                  <a:solidFill>
                    <a:prstClr val="black"/>
                  </a:solidFill>
                  <a:sym typeface="Wingdings" panose="05000000000000000000" pitchFamily="2" charset="2"/>
                </a:endParaRPr>
              </a:p>
              <a:p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Now try converting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200" i="1" smtClean="0">
                            <a:solidFill>
                              <a:prstClr val="black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num>
                      <m:den>
                        <m:r>
                          <a:rPr lang="en-AU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den>
                    </m:f>
                    <m:r>
                      <a:rPr lang="en-AU" sz="2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sz="2200" dirty="0" smtClean="0">
                    <a:solidFill>
                      <a:prstClr val="black"/>
                    </a:solidFill>
                    <a:sym typeface="Wingdings" panose="05000000000000000000" pitchFamily="2" charset="2"/>
                  </a:rPr>
                  <a:t>to a mixed numeral</a:t>
                </a:r>
              </a:p>
              <a:p>
                <a:endParaRPr lang="en-AU" sz="22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902" y="571500"/>
                <a:ext cx="6874099" cy="5763694"/>
              </a:xfrm>
              <a:prstGeom prst="rect">
                <a:avLst/>
              </a:prstGeom>
              <a:blipFill rotWithShape="1">
                <a:blip r:embed="rId2"/>
                <a:stretch>
                  <a:fillRect l="-1064" r="-7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1926" y="714375"/>
            <a:ext cx="20619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200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926" y="714376"/>
            <a:ext cx="206191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dirty="0"/>
          </a:p>
          <a:p>
            <a:r>
              <a:rPr lang="en-AU" sz="2200" dirty="0" smtClean="0"/>
              <a:t>How do we convert a mixed numeral to an improper fraction?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How do we convert an improper fraction to a mixed numeral?</a:t>
            </a:r>
          </a:p>
        </p:txBody>
      </p:sp>
    </p:spTree>
    <p:extLst>
      <p:ext uri="{BB962C8B-B14F-4D97-AF65-F5344CB8AC3E}">
        <p14:creationId xmlns:p14="http://schemas.microsoft.com/office/powerpoint/2010/main" val="58706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1.1  and 1.2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rgbClr val="FF0000"/>
                </a:solidFill>
              </a:rPr>
              <a:t>Handout for the moment</a:t>
            </a:r>
            <a:endParaRPr lang="en-AU" b="1" dirty="0">
              <a:solidFill>
                <a:srgbClr val="FF0000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8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Draw the following Fraction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f>
                        <m:fPr>
                          <m:ctrlPr>
                            <a:rPr lang="en-AU" sz="4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4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AU" sz="4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AU" sz="4800" b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48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AU" sz="4800" b="1" dirty="0" smtClean="0">
                    <a:solidFill>
                      <a:srgbClr val="FF0000"/>
                    </a:solidFill>
                  </a:rPr>
                  <a:t>You have 30 seconds to draw this fraction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3243</TotalTime>
  <Words>374</Words>
  <Application>Microsoft Office PowerPoint</Application>
  <PresentationFormat>On-screen Show (4:3)</PresentationFormat>
  <Paragraphs>98</Paragraphs>
  <Slides>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Fraction of the Day</vt:lpstr>
      <vt:lpstr>Setup new INB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Draw the following Fraction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8</cp:revision>
  <dcterms:created xsi:type="dcterms:W3CDTF">2016-10-20T03:14:06Z</dcterms:created>
  <dcterms:modified xsi:type="dcterms:W3CDTF">2017-05-14T12:11:25Z</dcterms:modified>
</cp:coreProperties>
</file>
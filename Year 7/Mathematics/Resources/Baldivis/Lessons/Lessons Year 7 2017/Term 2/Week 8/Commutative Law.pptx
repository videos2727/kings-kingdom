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7" r:id="rId2"/>
    <p:sldId id="258" r:id="rId3"/>
    <p:sldId id="260" r:id="rId4"/>
    <p:sldId id="265" r:id="rId5"/>
    <p:sldId id="269" r:id="rId6"/>
    <p:sldId id="270" r:id="rId7"/>
    <p:sldId id="267" r:id="rId8"/>
    <p:sldId id="272" r:id="rId9"/>
    <p:sldId id="273" r:id="rId10"/>
    <p:sldId id="275" r:id="rId11"/>
    <p:sldId id="276" r:id="rId12"/>
    <p:sldId id="26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5C08"/>
    <a:srgbClr val="A50021"/>
    <a:srgbClr val="800080"/>
    <a:srgbClr val="FFCCFF"/>
    <a:srgbClr val="FF3300"/>
    <a:srgbClr val="FFFF66"/>
    <a:srgbClr val="D4EF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0" autoAdjust="0"/>
    <p:restoredTop sz="87638" autoAdjust="0"/>
  </p:normalViewPr>
  <p:slideViewPr>
    <p:cSldViewPr snapToGrid="0">
      <p:cViewPr>
        <p:scale>
          <a:sx n="62" d="100"/>
          <a:sy n="62" d="100"/>
        </p:scale>
        <p:origin x="10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F945C9-44DC-4CC5-9C0E-780E74684A75}" type="datetimeFigureOut">
              <a:rPr lang="en-AU" smtClean="0"/>
              <a:t>11/06/2017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65FA9E-68E8-472A-837D-561854B8A5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25088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235041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65FA9E-68E8-472A-837D-561854B8A56B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251884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</a:t>
            </a:r>
            <a:r>
              <a:rPr lang="en-US" baseline="0" dirty="0"/>
              <a:t> animations take a little bit of time but are very good visual aids for this.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65FA9E-68E8-472A-837D-561854B8A56B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829939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do not need to write this down yet they will add it to the table in their notes after subtraction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65FA9E-68E8-472A-837D-561854B8A56B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62640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Students</a:t>
            </a:r>
            <a:r>
              <a:rPr lang="en-AU" baseline="0" dirty="0"/>
              <a:t> to create table and record the information in their notes, encourage the students to create their own examples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65FA9E-68E8-472A-837D-561854B8A56B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057430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65FA9E-68E8-472A-837D-561854B8A56B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210779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If students</a:t>
            </a:r>
            <a:r>
              <a:rPr lang="en-AU" baseline="0" dirty="0"/>
              <a:t> are still finishing the table write on board information from next slide: </a:t>
            </a:r>
          </a:p>
          <a:p>
            <a:r>
              <a:rPr lang="en-US" sz="1200" dirty="0"/>
              <a:t>Once your table is complete and done neatly please complete Task 7.5 (Page 92).</a:t>
            </a:r>
            <a:r>
              <a:rPr lang="en-US" sz="1200" baseline="0" dirty="0"/>
              <a:t> </a:t>
            </a:r>
            <a:r>
              <a:rPr lang="en-US" sz="1200" dirty="0"/>
              <a:t>And then complete your summary  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65FA9E-68E8-472A-837D-561854B8A56B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999095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521AC-A83B-4F32-9230-AC882130CCD6}" type="datetimeFigureOut">
              <a:rPr lang="en-AU" smtClean="0"/>
              <a:t>11/06/2017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C2E7D-3560-43DF-9893-44BC43C53A7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888796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521AC-A83B-4F32-9230-AC882130CCD6}" type="datetimeFigureOut">
              <a:rPr lang="en-AU" smtClean="0"/>
              <a:t>11/06/2017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C2E7D-3560-43DF-9893-44BC43C53A7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05166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521AC-A83B-4F32-9230-AC882130CCD6}" type="datetimeFigureOut">
              <a:rPr lang="en-AU" smtClean="0"/>
              <a:t>11/06/2017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C2E7D-3560-43DF-9893-44BC43C53A7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956236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521AC-A83B-4F32-9230-AC882130CCD6}" type="datetimeFigureOut">
              <a:rPr lang="en-AU" smtClean="0"/>
              <a:t>11/06/2017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C2E7D-3560-43DF-9893-44BC43C53A7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39659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521AC-A83B-4F32-9230-AC882130CCD6}" type="datetimeFigureOut">
              <a:rPr lang="en-AU" smtClean="0"/>
              <a:t>11/06/2017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C2E7D-3560-43DF-9893-44BC43C53A7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1628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521AC-A83B-4F32-9230-AC882130CCD6}" type="datetimeFigureOut">
              <a:rPr lang="en-AU" smtClean="0"/>
              <a:t>11/06/2017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C2E7D-3560-43DF-9893-44BC43C53A7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531542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521AC-A83B-4F32-9230-AC882130CCD6}" type="datetimeFigureOut">
              <a:rPr lang="en-AU" smtClean="0"/>
              <a:t>11/06/2017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C2E7D-3560-43DF-9893-44BC43C53A7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030739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521AC-A83B-4F32-9230-AC882130CCD6}" type="datetimeFigureOut">
              <a:rPr lang="en-AU" smtClean="0"/>
              <a:t>11/06/2017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C2E7D-3560-43DF-9893-44BC43C53A7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00237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521AC-A83B-4F32-9230-AC882130CCD6}" type="datetimeFigureOut">
              <a:rPr lang="en-AU" smtClean="0"/>
              <a:t>11/06/2017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C2E7D-3560-43DF-9893-44BC43C53A7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734538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521AC-A83B-4F32-9230-AC882130CCD6}" type="datetimeFigureOut">
              <a:rPr lang="en-AU" smtClean="0"/>
              <a:t>11/06/2017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C2E7D-3560-43DF-9893-44BC43C53A7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23892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521AC-A83B-4F32-9230-AC882130CCD6}" type="datetimeFigureOut">
              <a:rPr lang="en-AU" smtClean="0"/>
              <a:t>11/06/2017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C2E7D-3560-43DF-9893-44BC43C53A7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50269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0521AC-A83B-4F32-9230-AC882130CCD6}" type="datetimeFigureOut">
              <a:rPr lang="en-AU" smtClean="0"/>
              <a:t>11/06/2017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EC2E7D-3560-43DF-9893-44BC43C53A7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0902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9576" y="260649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AU" dirty="0">
                <a:latin typeface="Arial Rounded MT Bold" panose="020F0704030504030204" pitchFamily="34" charset="0"/>
              </a:rPr>
              <a:t>My Algebra</a:t>
            </a:r>
            <a:br>
              <a:rPr lang="en-AU" dirty="0">
                <a:latin typeface="Arial Rounded MT Bold" panose="020F0704030504030204" pitchFamily="34" charset="0"/>
              </a:rPr>
            </a:br>
            <a:r>
              <a:rPr lang="en-AU" dirty="0">
                <a:latin typeface="Arial Rounded MT Bold" panose="020F0704030504030204" pitchFamily="34" charset="0"/>
              </a:rPr>
              <a:t>Interactive Notebook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2305" y="4739856"/>
            <a:ext cx="6400800" cy="1752600"/>
          </a:xfrm>
        </p:spPr>
        <p:txBody>
          <a:bodyPr>
            <a:normAutofit lnSpcReduction="10000"/>
          </a:bodyPr>
          <a:lstStyle/>
          <a:p>
            <a:pPr algn="l"/>
            <a:r>
              <a:rPr lang="en-AU" dirty="0"/>
              <a:t>Name:</a:t>
            </a:r>
          </a:p>
          <a:p>
            <a:pPr algn="l"/>
            <a:r>
              <a:rPr lang="en-AU" dirty="0"/>
              <a:t>Class:  </a:t>
            </a:r>
          </a:p>
          <a:p>
            <a:pPr algn="l"/>
            <a:r>
              <a:rPr lang="en-AU" dirty="0"/>
              <a:t>Teacher: </a:t>
            </a:r>
          </a:p>
          <a:p>
            <a:pPr algn="l"/>
            <a:r>
              <a:rPr lang="en-AU" dirty="0"/>
              <a:t>Term 2 Semester 1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5948" y="2883679"/>
            <a:ext cx="3183284" cy="371383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9576" y="2142958"/>
            <a:ext cx="6233491" cy="2493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6171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989" y="1128721"/>
            <a:ext cx="7885342" cy="5729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32012" y="206725"/>
            <a:ext cx="11655188" cy="707886"/>
          </a:xfrm>
          <a:prstGeom prst="rect">
            <a:avLst/>
          </a:prstGeom>
          <a:solidFill>
            <a:srgbClr val="33CCFF"/>
          </a:solidFill>
          <a:ln w="38100" cmpd="sng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atin typeface="Chalkboard"/>
                <a:cs typeface="Chalkboard"/>
              </a:rPr>
              <a:t>Lesson Objectives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2251880" y="1419368"/>
            <a:ext cx="7301553" cy="5199796"/>
          </a:xfrm>
        </p:spPr>
        <p:txBody>
          <a:bodyPr/>
          <a:lstStyle/>
          <a:p>
            <a:pPr marL="514350" indent="-514350">
              <a:buAutoNum type="arabicPeriod"/>
            </a:pPr>
            <a:endParaRPr lang="en-AU" dirty="0">
              <a:solidFill>
                <a:schemeClr val="bg1"/>
              </a:solidFill>
            </a:endParaRPr>
          </a:p>
          <a:p>
            <a:pPr marL="514350" indent="-514350">
              <a:buAutoNum type="arabicPeriod"/>
            </a:pPr>
            <a:endParaRPr lang="en-AU" dirty="0">
              <a:solidFill>
                <a:schemeClr val="bg1"/>
              </a:solidFill>
            </a:endParaRPr>
          </a:p>
          <a:p>
            <a:pPr marL="514350" indent="-514350">
              <a:buAutoNum type="arabicPeriod"/>
            </a:pPr>
            <a:r>
              <a:rPr lang="en-AU" sz="3200" dirty="0">
                <a:solidFill>
                  <a:schemeClr val="bg1"/>
                </a:solidFill>
              </a:rPr>
              <a:t>Explain and understand what a commutative law is</a:t>
            </a:r>
          </a:p>
        </p:txBody>
      </p:sp>
    </p:spTree>
    <p:extLst>
      <p:ext uri="{BB962C8B-B14F-4D97-AF65-F5344CB8AC3E}">
        <p14:creationId xmlns:p14="http://schemas.microsoft.com/office/powerpoint/2010/main" val="14500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0" y="553404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1060559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42791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394461" y="1045417"/>
            <a:ext cx="0" cy="5797441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747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6216" y="583752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 </a:t>
            </a:r>
            <a:r>
              <a:rPr lang="en-AU" sz="2400" b="1" dirty="0">
                <a:cs typeface="Chalkboard"/>
              </a:rPr>
              <a:t>– Which operations are commutative</a:t>
            </a:r>
            <a:r>
              <a:rPr lang="en-AU" sz="2400" b="1" dirty="0"/>
              <a:t>?</a:t>
            </a:r>
            <a:endParaRPr lang="en-AU" sz="2400" b="1" dirty="0">
              <a:cs typeface="Chalkboard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16607" y="29706"/>
            <a:ext cx="38022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Commutative Law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97051" y="2978362"/>
            <a:ext cx="239302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/>
              <a:t>What is commutative law?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90078" y="2875129"/>
            <a:ext cx="779985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An operation is commutative if changing the order of the numbers does not change the final result 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2644154" y="5037513"/>
            <a:ext cx="4172282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highlight>
                  <a:srgbClr val="FFFF00"/>
                </a:highlight>
              </a:rPr>
              <a:t>When you finish writing this down add this key word to your glossary!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l="72645" t="16746" r="10234" b="48750"/>
          <a:stretch/>
        </p:blipFill>
        <p:spPr>
          <a:xfrm>
            <a:off x="9346228" y="3854950"/>
            <a:ext cx="2398226" cy="271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276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0" grpId="0"/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 descr="MC90029038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2400" y="772594"/>
            <a:ext cx="750208" cy="454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5" name="Picture 7" descr="MC90029038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9943" y="777650"/>
            <a:ext cx="877739" cy="531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3" name="Picture 5" descr="MC90029038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6775" y="824483"/>
            <a:ext cx="973372" cy="589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MC90029038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6620" y="853622"/>
            <a:ext cx="1032325" cy="625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7" name="Picture 9" descr="MC90029038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4674" y="895350"/>
            <a:ext cx="1139753" cy="690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MC90028734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142" y="545306"/>
            <a:ext cx="1493934" cy="1363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MC90029038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6371" y="2908753"/>
            <a:ext cx="913298" cy="553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1" name="Picture 13" descr="MC90029038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3202" y="2975938"/>
            <a:ext cx="904221" cy="547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MC90029038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8723" y="3022828"/>
            <a:ext cx="971505" cy="588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3" name="Picture 15" descr="MC90028734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406" y="2668702"/>
            <a:ext cx="1315670" cy="1200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65" name="Text Box 17"/>
          <p:cNvSpPr txBox="1">
            <a:spLocks noChangeArrowheads="1"/>
          </p:cNvSpPr>
          <p:nvPr/>
        </p:nvSpPr>
        <p:spPr bwMode="auto">
          <a:xfrm>
            <a:off x="2014538" y="390526"/>
            <a:ext cx="5032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800" b="1" dirty="0">
                <a:solidFill>
                  <a:srgbClr val="660066"/>
                </a:solidFill>
              </a:rPr>
              <a:t>1</a:t>
            </a:r>
          </a:p>
        </p:txBody>
      </p:sp>
      <p:sp>
        <p:nvSpPr>
          <p:cNvPr id="2066" name="Text Box 18"/>
          <p:cNvSpPr txBox="1">
            <a:spLocks noChangeArrowheads="1"/>
          </p:cNvSpPr>
          <p:nvPr/>
        </p:nvSpPr>
        <p:spPr bwMode="auto">
          <a:xfrm>
            <a:off x="2906523" y="342446"/>
            <a:ext cx="5032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800" b="1">
                <a:solidFill>
                  <a:srgbClr val="660066"/>
                </a:solidFill>
              </a:rPr>
              <a:t>2</a:t>
            </a:r>
          </a:p>
        </p:txBody>
      </p:sp>
      <p:sp>
        <p:nvSpPr>
          <p:cNvPr id="2067" name="Text Box 19"/>
          <p:cNvSpPr txBox="1">
            <a:spLocks noChangeArrowheads="1"/>
          </p:cNvSpPr>
          <p:nvPr/>
        </p:nvSpPr>
        <p:spPr bwMode="auto">
          <a:xfrm>
            <a:off x="4637193" y="222820"/>
            <a:ext cx="50323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800" b="1">
                <a:solidFill>
                  <a:srgbClr val="660066"/>
                </a:solidFill>
              </a:rPr>
              <a:t>4</a:t>
            </a:r>
          </a:p>
        </p:txBody>
      </p:sp>
      <p:sp>
        <p:nvSpPr>
          <p:cNvPr id="2068" name="Text Box 20"/>
          <p:cNvSpPr txBox="1">
            <a:spLocks noChangeArrowheads="1"/>
          </p:cNvSpPr>
          <p:nvPr/>
        </p:nvSpPr>
        <p:spPr bwMode="auto">
          <a:xfrm>
            <a:off x="3833020" y="258538"/>
            <a:ext cx="50323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800" b="1">
                <a:solidFill>
                  <a:srgbClr val="660066"/>
                </a:solidFill>
              </a:rPr>
              <a:t>3</a:t>
            </a:r>
          </a:p>
        </p:txBody>
      </p:sp>
      <p:sp>
        <p:nvSpPr>
          <p:cNvPr id="2069" name="Text Box 21"/>
          <p:cNvSpPr txBox="1">
            <a:spLocks noChangeArrowheads="1"/>
          </p:cNvSpPr>
          <p:nvPr/>
        </p:nvSpPr>
        <p:spPr bwMode="auto">
          <a:xfrm>
            <a:off x="2026410" y="2456826"/>
            <a:ext cx="5032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800" b="1">
                <a:solidFill>
                  <a:srgbClr val="660066"/>
                </a:solidFill>
              </a:rPr>
              <a:t>1</a:t>
            </a:r>
          </a:p>
        </p:txBody>
      </p:sp>
      <p:sp>
        <p:nvSpPr>
          <p:cNvPr id="2070" name="Text Box 22"/>
          <p:cNvSpPr txBox="1">
            <a:spLocks noChangeArrowheads="1"/>
          </p:cNvSpPr>
          <p:nvPr/>
        </p:nvSpPr>
        <p:spPr bwMode="auto">
          <a:xfrm>
            <a:off x="5341220" y="240670"/>
            <a:ext cx="5032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800" b="1">
                <a:solidFill>
                  <a:srgbClr val="660066"/>
                </a:solidFill>
              </a:rPr>
              <a:t>5</a:t>
            </a:r>
          </a:p>
        </p:txBody>
      </p:sp>
      <p:sp>
        <p:nvSpPr>
          <p:cNvPr id="2071" name="Text Box 23"/>
          <p:cNvSpPr txBox="1">
            <a:spLocks noChangeArrowheads="1"/>
          </p:cNvSpPr>
          <p:nvPr/>
        </p:nvSpPr>
        <p:spPr bwMode="auto">
          <a:xfrm>
            <a:off x="3620224" y="2351087"/>
            <a:ext cx="5032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800" b="1" dirty="0">
                <a:solidFill>
                  <a:srgbClr val="660066"/>
                </a:solidFill>
              </a:rPr>
              <a:t>3</a:t>
            </a:r>
          </a:p>
        </p:txBody>
      </p:sp>
      <p:sp>
        <p:nvSpPr>
          <p:cNvPr id="2072" name="Text Box 24"/>
          <p:cNvSpPr txBox="1">
            <a:spLocks noChangeArrowheads="1"/>
          </p:cNvSpPr>
          <p:nvPr/>
        </p:nvSpPr>
        <p:spPr bwMode="auto">
          <a:xfrm>
            <a:off x="2773693" y="2507116"/>
            <a:ext cx="5032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800" b="1" dirty="0">
                <a:solidFill>
                  <a:srgbClr val="660066"/>
                </a:solidFill>
              </a:rPr>
              <a:t>2</a:t>
            </a:r>
          </a:p>
        </p:txBody>
      </p:sp>
      <p:sp>
        <p:nvSpPr>
          <p:cNvPr id="2073" name="Text Box 25"/>
          <p:cNvSpPr txBox="1">
            <a:spLocks noChangeArrowheads="1"/>
          </p:cNvSpPr>
          <p:nvPr/>
        </p:nvSpPr>
        <p:spPr bwMode="auto">
          <a:xfrm>
            <a:off x="2688577" y="1613324"/>
            <a:ext cx="573314" cy="86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4800" b="1" dirty="0">
                <a:latin typeface="Comic Sans MS" panose="030F0702030302020204" pitchFamily="66" charset="0"/>
              </a:rPr>
              <a:t>5</a:t>
            </a:r>
          </a:p>
        </p:txBody>
      </p:sp>
      <p:sp>
        <p:nvSpPr>
          <p:cNvPr id="2074" name="Text Box 26"/>
          <p:cNvSpPr txBox="1">
            <a:spLocks noChangeArrowheads="1"/>
          </p:cNvSpPr>
          <p:nvPr/>
        </p:nvSpPr>
        <p:spPr bwMode="auto">
          <a:xfrm>
            <a:off x="3626295" y="1683204"/>
            <a:ext cx="576263" cy="823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4800" b="1" dirty="0">
                <a:latin typeface="Comic Sans MS" panose="030F0702030302020204" pitchFamily="66" charset="0"/>
              </a:rPr>
              <a:t>3</a:t>
            </a:r>
          </a:p>
        </p:txBody>
      </p:sp>
      <p:sp>
        <p:nvSpPr>
          <p:cNvPr id="2075" name="Text Box 27"/>
          <p:cNvSpPr txBox="1">
            <a:spLocks noChangeArrowheads="1"/>
          </p:cNvSpPr>
          <p:nvPr/>
        </p:nvSpPr>
        <p:spPr bwMode="auto">
          <a:xfrm>
            <a:off x="3121628" y="1632914"/>
            <a:ext cx="576263" cy="823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4800" b="1" dirty="0">
                <a:latin typeface="Comic Sans MS" panose="030F0702030302020204" pitchFamily="66" charset="0"/>
              </a:rPr>
              <a:t>+</a:t>
            </a:r>
          </a:p>
        </p:txBody>
      </p:sp>
      <p:sp>
        <p:nvSpPr>
          <p:cNvPr id="2076" name="Text Box 28"/>
          <p:cNvSpPr txBox="1">
            <a:spLocks noChangeArrowheads="1"/>
          </p:cNvSpPr>
          <p:nvPr/>
        </p:nvSpPr>
        <p:spPr bwMode="auto">
          <a:xfrm>
            <a:off x="4187031" y="1632913"/>
            <a:ext cx="576263" cy="823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4800" b="1" dirty="0">
                <a:latin typeface="Comic Sans MS" panose="030F0702030302020204" pitchFamily="66" charset="0"/>
              </a:rPr>
              <a:t>=</a:t>
            </a:r>
          </a:p>
        </p:txBody>
      </p:sp>
      <p:sp>
        <p:nvSpPr>
          <p:cNvPr id="2077" name="Text Box 29"/>
          <p:cNvSpPr txBox="1">
            <a:spLocks noChangeArrowheads="1"/>
          </p:cNvSpPr>
          <p:nvPr/>
        </p:nvSpPr>
        <p:spPr bwMode="auto">
          <a:xfrm>
            <a:off x="4600679" y="3050154"/>
            <a:ext cx="576263" cy="823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4800" b="1" dirty="0">
                <a:latin typeface="Comic Sans MS" panose="030F0702030302020204" pitchFamily="66" charset="0"/>
              </a:rPr>
              <a:t>8</a:t>
            </a:r>
          </a:p>
        </p:txBody>
      </p:sp>
      <p:sp>
        <p:nvSpPr>
          <p:cNvPr id="2078" name="Text Box 30"/>
          <p:cNvSpPr txBox="1">
            <a:spLocks noChangeArrowheads="1"/>
          </p:cNvSpPr>
          <p:nvPr/>
        </p:nvSpPr>
        <p:spPr bwMode="auto">
          <a:xfrm>
            <a:off x="1982856" y="2409145"/>
            <a:ext cx="503238" cy="5191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800" b="1">
                <a:solidFill>
                  <a:srgbClr val="660066"/>
                </a:solidFill>
              </a:rPr>
              <a:t>6</a:t>
            </a:r>
          </a:p>
        </p:txBody>
      </p:sp>
      <p:sp>
        <p:nvSpPr>
          <p:cNvPr id="2079" name="Text Box 31"/>
          <p:cNvSpPr txBox="1">
            <a:spLocks noChangeArrowheads="1"/>
          </p:cNvSpPr>
          <p:nvPr/>
        </p:nvSpPr>
        <p:spPr bwMode="auto">
          <a:xfrm>
            <a:off x="2773693" y="2389640"/>
            <a:ext cx="503238" cy="5191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800" b="1" dirty="0">
                <a:solidFill>
                  <a:srgbClr val="660066"/>
                </a:solidFill>
              </a:rPr>
              <a:t>7</a:t>
            </a:r>
          </a:p>
        </p:txBody>
      </p:sp>
      <p:sp>
        <p:nvSpPr>
          <p:cNvPr id="2080" name="Text Box 32"/>
          <p:cNvSpPr txBox="1">
            <a:spLocks noChangeArrowheads="1"/>
          </p:cNvSpPr>
          <p:nvPr/>
        </p:nvSpPr>
        <p:spPr bwMode="auto">
          <a:xfrm>
            <a:off x="3652009" y="2370365"/>
            <a:ext cx="503237" cy="51911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800" b="1" dirty="0">
                <a:solidFill>
                  <a:srgbClr val="660066"/>
                </a:solidFill>
              </a:rPr>
              <a:t>8</a:t>
            </a:r>
          </a:p>
        </p:txBody>
      </p:sp>
      <p:pic>
        <p:nvPicPr>
          <p:cNvPr id="28" name="Picture 4" descr="MC90029038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29517" y="4905094"/>
            <a:ext cx="1042988" cy="631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5" descr="MC90029038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5218" y="4940586"/>
            <a:ext cx="1139752" cy="690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6" descr="MC90029038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8206" y="5075538"/>
            <a:ext cx="969441" cy="587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7" descr="MC90029038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7427" y="5089758"/>
            <a:ext cx="1172824" cy="710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8" descr="MC90029038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7362" y="5185658"/>
            <a:ext cx="1074148" cy="650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9" descr="MC90028734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7935" y="4870118"/>
            <a:ext cx="1365484" cy="1246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 Box 10"/>
          <p:cNvSpPr txBox="1">
            <a:spLocks noChangeArrowheads="1"/>
          </p:cNvSpPr>
          <p:nvPr/>
        </p:nvSpPr>
        <p:spPr bwMode="auto">
          <a:xfrm>
            <a:off x="6483804" y="4508776"/>
            <a:ext cx="50323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800" b="1" dirty="0">
                <a:solidFill>
                  <a:srgbClr val="660066"/>
                </a:solidFill>
              </a:rPr>
              <a:t>1</a:t>
            </a:r>
          </a:p>
        </p:txBody>
      </p:sp>
      <p:sp>
        <p:nvSpPr>
          <p:cNvPr id="35" name="Text Box 11"/>
          <p:cNvSpPr txBox="1">
            <a:spLocks noChangeArrowheads="1"/>
          </p:cNvSpPr>
          <p:nvPr/>
        </p:nvSpPr>
        <p:spPr bwMode="auto">
          <a:xfrm>
            <a:off x="7417627" y="4451407"/>
            <a:ext cx="5032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800" b="1" dirty="0">
                <a:solidFill>
                  <a:srgbClr val="660066"/>
                </a:solidFill>
              </a:rPr>
              <a:t>2</a:t>
            </a:r>
          </a:p>
        </p:txBody>
      </p:sp>
      <p:sp>
        <p:nvSpPr>
          <p:cNvPr id="36" name="Text Box 12"/>
          <p:cNvSpPr txBox="1">
            <a:spLocks noChangeArrowheads="1"/>
          </p:cNvSpPr>
          <p:nvPr/>
        </p:nvSpPr>
        <p:spPr bwMode="auto">
          <a:xfrm flipH="1">
            <a:off x="9473825" y="4346898"/>
            <a:ext cx="51460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800" b="1" dirty="0">
                <a:solidFill>
                  <a:srgbClr val="660066"/>
                </a:solidFill>
              </a:rPr>
              <a:t>4</a:t>
            </a:r>
          </a:p>
        </p:txBody>
      </p:sp>
      <p:sp>
        <p:nvSpPr>
          <p:cNvPr id="37" name="Text Box 13"/>
          <p:cNvSpPr txBox="1">
            <a:spLocks noChangeArrowheads="1"/>
          </p:cNvSpPr>
          <p:nvPr/>
        </p:nvSpPr>
        <p:spPr bwMode="auto">
          <a:xfrm>
            <a:off x="8405846" y="4341771"/>
            <a:ext cx="5032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800" b="1" dirty="0">
                <a:solidFill>
                  <a:srgbClr val="660066"/>
                </a:solidFill>
              </a:rPr>
              <a:t>3</a:t>
            </a:r>
          </a:p>
        </p:txBody>
      </p:sp>
      <p:sp>
        <p:nvSpPr>
          <p:cNvPr id="38" name="Text Box 14"/>
          <p:cNvSpPr txBox="1">
            <a:spLocks noChangeArrowheads="1"/>
          </p:cNvSpPr>
          <p:nvPr/>
        </p:nvSpPr>
        <p:spPr bwMode="auto">
          <a:xfrm>
            <a:off x="10479274" y="4296869"/>
            <a:ext cx="5032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800" b="1" dirty="0">
                <a:solidFill>
                  <a:srgbClr val="660066"/>
                </a:solidFill>
              </a:rPr>
              <a:t>5</a:t>
            </a:r>
          </a:p>
        </p:txBody>
      </p:sp>
      <p:pic>
        <p:nvPicPr>
          <p:cNvPr id="39" name="Picture 15" descr="MC90029038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6329" y="417709"/>
            <a:ext cx="929820" cy="56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16" descr="MC90029038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9832" y="429879"/>
            <a:ext cx="1030067" cy="624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17" descr="MC90029038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7848" y="482376"/>
            <a:ext cx="1000581" cy="606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Text Box 22"/>
          <p:cNvSpPr txBox="1">
            <a:spLocks noChangeArrowheads="1"/>
          </p:cNvSpPr>
          <p:nvPr/>
        </p:nvSpPr>
        <p:spPr bwMode="auto">
          <a:xfrm>
            <a:off x="8767087" y="2661002"/>
            <a:ext cx="576262" cy="823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4800" b="1" dirty="0">
                <a:latin typeface="Comic Sans MS" panose="030F0702030302020204" pitchFamily="66" charset="0"/>
              </a:rPr>
              <a:t>3</a:t>
            </a:r>
          </a:p>
        </p:txBody>
      </p:sp>
      <p:sp>
        <p:nvSpPr>
          <p:cNvPr id="43" name="Text Box 23"/>
          <p:cNvSpPr txBox="1">
            <a:spLocks noChangeArrowheads="1"/>
          </p:cNvSpPr>
          <p:nvPr/>
        </p:nvSpPr>
        <p:spPr bwMode="auto">
          <a:xfrm>
            <a:off x="9866499" y="2699883"/>
            <a:ext cx="576263" cy="823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4800" b="1" dirty="0">
                <a:latin typeface="Comic Sans MS" panose="030F0702030302020204" pitchFamily="66" charset="0"/>
              </a:rPr>
              <a:t>5</a:t>
            </a:r>
          </a:p>
        </p:txBody>
      </p:sp>
      <p:sp>
        <p:nvSpPr>
          <p:cNvPr id="44" name="Text Box 24"/>
          <p:cNvSpPr txBox="1">
            <a:spLocks noChangeArrowheads="1"/>
          </p:cNvSpPr>
          <p:nvPr/>
        </p:nvSpPr>
        <p:spPr bwMode="auto">
          <a:xfrm>
            <a:off x="9290237" y="2585244"/>
            <a:ext cx="576263" cy="823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4800" b="1" dirty="0">
                <a:latin typeface="Comic Sans MS" panose="030F0702030302020204" pitchFamily="66" charset="0"/>
              </a:rPr>
              <a:t>+</a:t>
            </a:r>
          </a:p>
        </p:txBody>
      </p:sp>
      <p:sp>
        <p:nvSpPr>
          <p:cNvPr id="45" name="Text Box 25"/>
          <p:cNvSpPr txBox="1">
            <a:spLocks noChangeArrowheads="1"/>
          </p:cNvSpPr>
          <p:nvPr/>
        </p:nvSpPr>
        <p:spPr bwMode="auto">
          <a:xfrm>
            <a:off x="10442762" y="2679373"/>
            <a:ext cx="576263" cy="823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4800" b="1" dirty="0">
                <a:latin typeface="Comic Sans MS" panose="030F0702030302020204" pitchFamily="66" charset="0"/>
              </a:rPr>
              <a:t>=</a:t>
            </a:r>
          </a:p>
        </p:txBody>
      </p:sp>
      <p:sp>
        <p:nvSpPr>
          <p:cNvPr id="46" name="Text Box 26"/>
          <p:cNvSpPr txBox="1">
            <a:spLocks noChangeArrowheads="1"/>
          </p:cNvSpPr>
          <p:nvPr/>
        </p:nvSpPr>
        <p:spPr bwMode="auto">
          <a:xfrm>
            <a:off x="11277155" y="4036970"/>
            <a:ext cx="576263" cy="823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4800" b="1" dirty="0">
                <a:latin typeface="Comic Sans MS" panose="030F0702030302020204" pitchFamily="66" charset="0"/>
              </a:rPr>
              <a:t>8</a:t>
            </a:r>
          </a:p>
        </p:txBody>
      </p:sp>
      <p:sp>
        <p:nvSpPr>
          <p:cNvPr id="47" name="Text Box 27"/>
          <p:cNvSpPr txBox="1">
            <a:spLocks noChangeArrowheads="1"/>
          </p:cNvSpPr>
          <p:nvPr/>
        </p:nvSpPr>
        <p:spPr bwMode="auto">
          <a:xfrm>
            <a:off x="6504544" y="4519320"/>
            <a:ext cx="503237" cy="5191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800" b="1" dirty="0">
                <a:solidFill>
                  <a:srgbClr val="660066"/>
                </a:solidFill>
              </a:rPr>
              <a:t>4</a:t>
            </a:r>
          </a:p>
        </p:txBody>
      </p:sp>
      <p:sp>
        <p:nvSpPr>
          <p:cNvPr id="48" name="Text Box 28"/>
          <p:cNvSpPr txBox="1">
            <a:spLocks noChangeArrowheads="1"/>
          </p:cNvSpPr>
          <p:nvPr/>
        </p:nvSpPr>
        <p:spPr bwMode="auto">
          <a:xfrm flipH="1">
            <a:off x="7372336" y="4483879"/>
            <a:ext cx="1038519" cy="52322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800" b="1" dirty="0">
                <a:solidFill>
                  <a:srgbClr val="660066"/>
                </a:solidFill>
              </a:rPr>
              <a:t>5</a:t>
            </a:r>
          </a:p>
        </p:txBody>
      </p:sp>
      <p:sp>
        <p:nvSpPr>
          <p:cNvPr id="49" name="Text Box 29"/>
          <p:cNvSpPr txBox="1">
            <a:spLocks noChangeArrowheads="1"/>
          </p:cNvSpPr>
          <p:nvPr/>
        </p:nvSpPr>
        <p:spPr bwMode="auto">
          <a:xfrm>
            <a:off x="8436597" y="4351677"/>
            <a:ext cx="503238" cy="51911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800" b="1" dirty="0">
                <a:solidFill>
                  <a:srgbClr val="660066"/>
                </a:solidFill>
              </a:rPr>
              <a:t>6</a:t>
            </a:r>
          </a:p>
        </p:txBody>
      </p:sp>
      <p:sp>
        <p:nvSpPr>
          <p:cNvPr id="50" name="Text Box 30"/>
          <p:cNvSpPr txBox="1">
            <a:spLocks noChangeArrowheads="1"/>
          </p:cNvSpPr>
          <p:nvPr/>
        </p:nvSpPr>
        <p:spPr bwMode="auto">
          <a:xfrm>
            <a:off x="9488138" y="4341770"/>
            <a:ext cx="503237" cy="5191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800" b="1" dirty="0">
                <a:solidFill>
                  <a:srgbClr val="660066"/>
                </a:solidFill>
              </a:rPr>
              <a:t>7</a:t>
            </a:r>
          </a:p>
        </p:txBody>
      </p:sp>
      <p:sp>
        <p:nvSpPr>
          <p:cNvPr id="51" name="Text Box 31"/>
          <p:cNvSpPr txBox="1">
            <a:spLocks noChangeArrowheads="1"/>
          </p:cNvSpPr>
          <p:nvPr/>
        </p:nvSpPr>
        <p:spPr bwMode="auto">
          <a:xfrm>
            <a:off x="10459668" y="4235532"/>
            <a:ext cx="503238" cy="5191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800" b="1" dirty="0">
                <a:solidFill>
                  <a:srgbClr val="660066"/>
                </a:solidFill>
              </a:rPr>
              <a:t>8</a:t>
            </a:r>
          </a:p>
        </p:txBody>
      </p:sp>
      <p:pic>
        <p:nvPicPr>
          <p:cNvPr id="52" name="Picture 18" descr="MC90028734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8059" y="187896"/>
            <a:ext cx="1357075" cy="1238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" name="Text Box 19"/>
          <p:cNvSpPr txBox="1">
            <a:spLocks noChangeArrowheads="1"/>
          </p:cNvSpPr>
          <p:nvPr/>
        </p:nvSpPr>
        <p:spPr bwMode="auto">
          <a:xfrm>
            <a:off x="4583114" y="765176"/>
            <a:ext cx="5032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800" b="1" dirty="0">
                <a:solidFill>
                  <a:srgbClr val="660066"/>
                </a:solidFill>
              </a:rPr>
              <a:t>1</a:t>
            </a:r>
          </a:p>
        </p:txBody>
      </p:sp>
      <p:sp>
        <p:nvSpPr>
          <p:cNvPr id="55" name="Text Box 21"/>
          <p:cNvSpPr txBox="1">
            <a:spLocks noChangeArrowheads="1"/>
          </p:cNvSpPr>
          <p:nvPr/>
        </p:nvSpPr>
        <p:spPr bwMode="auto">
          <a:xfrm>
            <a:off x="11081346" y="-38101"/>
            <a:ext cx="5032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800" b="1" dirty="0">
                <a:solidFill>
                  <a:srgbClr val="660066"/>
                </a:solidFill>
              </a:rPr>
              <a:t>3</a:t>
            </a:r>
          </a:p>
        </p:txBody>
      </p:sp>
      <p:sp>
        <p:nvSpPr>
          <p:cNvPr id="56" name="Text Box 20"/>
          <p:cNvSpPr txBox="1">
            <a:spLocks noChangeArrowheads="1"/>
          </p:cNvSpPr>
          <p:nvPr/>
        </p:nvSpPr>
        <p:spPr bwMode="auto">
          <a:xfrm>
            <a:off x="10154445" y="0"/>
            <a:ext cx="5032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800" b="1" dirty="0">
                <a:solidFill>
                  <a:srgbClr val="660066"/>
                </a:solidFill>
              </a:rPr>
              <a:t>2</a:t>
            </a:r>
          </a:p>
        </p:txBody>
      </p:sp>
      <p:sp>
        <p:nvSpPr>
          <p:cNvPr id="57" name="Text Box 20"/>
          <p:cNvSpPr txBox="1">
            <a:spLocks noChangeArrowheads="1"/>
          </p:cNvSpPr>
          <p:nvPr/>
        </p:nvSpPr>
        <p:spPr bwMode="auto">
          <a:xfrm>
            <a:off x="9298664" y="3924"/>
            <a:ext cx="50323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800" b="1" dirty="0">
                <a:solidFill>
                  <a:srgbClr val="660066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818643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20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20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0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0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6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0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20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1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36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0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0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2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42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0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0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48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0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0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54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0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0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2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60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0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0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2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66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0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0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0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0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2000" fill="hold"/>
                                        <p:tgtEl>
                                          <p:spTgt spid="20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2000" fill="hold"/>
                                        <p:tgtEl>
                                          <p:spTgt spid="20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000" fill="hold"/>
                                        <p:tgtEl>
                                          <p:spTgt spid="20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1000" fill="hold"/>
                                        <p:tgtEl>
                                          <p:spTgt spid="20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000" fill="hold"/>
                                        <p:tgtEl>
                                          <p:spTgt spid="20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1000" fill="hold"/>
                                        <p:tgtEl>
                                          <p:spTgt spid="20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000" fill="hold"/>
                                        <p:tgtEl>
                                          <p:spTgt spid="20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1000" fill="hold"/>
                                        <p:tgtEl>
                                          <p:spTgt spid="20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9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20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0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2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01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20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0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2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107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20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20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" dur="1000"/>
                                        <p:tgtEl>
                                          <p:spTgt spid="2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113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2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2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20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20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" dur="1000" tmFilter="0, 0; .2, .5; .8, .5; 1, 0"/>
                                        <p:tgtEl>
                                          <p:spTgt spid="206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3" dur="500" autoRev="1" fill="hold"/>
                                        <p:tgtEl>
                                          <p:spTgt spid="206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4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5" dur="1000" tmFilter="0, 0; .2, .5; .8, .5; 1, 0"/>
                                        <p:tgtEl>
                                          <p:spTgt spid="205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6" dur="500" autoRev="1" fill="hold"/>
                                        <p:tgtEl>
                                          <p:spTgt spid="205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8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9" dur="1000" tmFilter="0, 0; .2, .5; .8, .5; 1, 0"/>
                                        <p:tgtEl>
                                          <p:spTgt spid="206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0" dur="500" autoRev="1" fill="hold"/>
                                        <p:tgtEl>
                                          <p:spTgt spid="206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1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2" dur="1000" tmFilter="0, 0; .2, .5; .8, .5; 1, 0"/>
                                        <p:tgtEl>
                                          <p:spTgt spid="205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3" dur="500" autoRev="1" fill="hold"/>
                                        <p:tgtEl>
                                          <p:spTgt spid="205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5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6" dur="1000" tmFilter="0, 0; .2, .5; .8, .5; 1, 0"/>
                                        <p:tgtEl>
                                          <p:spTgt spid="206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7" dur="500" autoRev="1" fill="hold"/>
                                        <p:tgtEl>
                                          <p:spTgt spid="206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8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9" dur="1000" tmFilter="0, 0; .2, .5; .8, .5; 1, 0"/>
                                        <p:tgtEl>
                                          <p:spTgt spid="205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0" dur="500" autoRev="1" fill="hold"/>
                                        <p:tgtEl>
                                          <p:spTgt spid="205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42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3" dur="1000" tmFilter="0, 0; .2, .5; .8, .5; 1, 0"/>
                                        <p:tgtEl>
                                          <p:spTgt spid="206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4" dur="500" autoRev="1" fill="hold"/>
                                        <p:tgtEl>
                                          <p:spTgt spid="206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4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6" dur="1000" tmFilter="0, 0; .2, .5; .8, .5; 1, 0"/>
                                        <p:tgtEl>
                                          <p:spTgt spid="205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7" dur="500" autoRev="1" fill="hold"/>
                                        <p:tgtEl>
                                          <p:spTgt spid="205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49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0" dur="1000" tmFilter="0, 0; .2, .5; .8, .5; 1, 0"/>
                                        <p:tgtEl>
                                          <p:spTgt spid="207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1" dur="500" autoRev="1" fill="hold"/>
                                        <p:tgtEl>
                                          <p:spTgt spid="207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52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3" dur="1000" tmFilter="0, 0; .2, .5; .8, .5; 1, 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4" dur="500" autoRev="1" fill="hold"/>
                                        <p:tgtEl>
                                          <p:spTgt spid="205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156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8" dur="500" fill="hold"/>
                                        <p:tgtEl>
                                          <p:spTgt spid="20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500" fill="hold"/>
                                        <p:tgtEl>
                                          <p:spTgt spid="20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2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2" dur="1000" tmFilter="0, 0; .2, .5; .8, .5; 1, 0"/>
                                        <p:tgtEl>
                                          <p:spTgt spid="206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3" dur="500" autoRev="1" fill="hold"/>
                                        <p:tgtEl>
                                          <p:spTgt spid="206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16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7" dur="500" fill="hold"/>
                                        <p:tgtEl>
                                          <p:spTgt spid="20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20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2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1" dur="1000" tmFilter="0, 0; .2, .5; .8, .5; 1, 0"/>
                                        <p:tgtEl>
                                          <p:spTgt spid="206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2" dur="500" autoRev="1" fill="hold"/>
                                        <p:tgtEl>
                                          <p:spTgt spid="206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174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20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500" fill="hold"/>
                                        <p:tgtEl>
                                          <p:spTgt spid="20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2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0" dur="1000" tmFilter="0, 0; .2, .5; .8, .5; 1, 0"/>
                                        <p:tgtEl>
                                          <p:spTgt spid="206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1" dur="500" autoRev="1" fill="hold"/>
                                        <p:tgtEl>
                                          <p:spTgt spid="206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183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5" dur="500" fill="hold"/>
                                        <p:tgtEl>
                                          <p:spTgt spid="20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500" fill="hold"/>
                                        <p:tgtEl>
                                          <p:spTgt spid="20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7" dur="500" fill="hold"/>
                                        <p:tgtEl>
                                          <p:spTgt spid="20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8" dur="500" fill="hold"/>
                                        <p:tgtEl>
                                          <p:spTgt spid="20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9" fill="hold" nodeType="afterGroup">
                            <p:stCondLst>
                              <p:cond delay="8500"/>
                            </p:stCondLst>
                            <p:childTnLst>
                              <p:par>
                                <p:cTn id="190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1" dur="2000" tmFilter="0, 0; .2, .5; .8, .5; 1, 0"/>
                                        <p:tgtEl>
                                          <p:spTgt spid="207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2" dur="1000" autoRev="1" fill="hold"/>
                                        <p:tgtEl>
                                          <p:spTgt spid="207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93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4" dur="2000" fill="hold"/>
                                        <p:tgtEl>
                                          <p:spTgt spid="207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 nodeType="clickPar">
                      <p:stCondLst>
                        <p:cond delay="indefinite"/>
                      </p:stCondLst>
                      <p:childTnLst>
                        <p:par>
                          <p:cTn id="1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7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9" dur="500" fill="hold"/>
                                        <p:tgtEl>
                                          <p:spTgt spid="2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500" fill="hold"/>
                                        <p:tgtEl>
                                          <p:spTgt spid="2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1" dur="500" fill="hold"/>
                                        <p:tgtEl>
                                          <p:spTgt spid="20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2" dur="500" fill="hold"/>
                                        <p:tgtEl>
                                          <p:spTgt spid="20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 nodeType="clickPar">
                      <p:stCondLst>
                        <p:cond delay="indefinite"/>
                      </p:stCondLst>
                      <p:childTnLst>
                        <p:par>
                          <p:cTn id="2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5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7" dur="500" fill="hold"/>
                                        <p:tgtEl>
                                          <p:spTgt spid="2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8" dur="500" fill="hold"/>
                                        <p:tgtEl>
                                          <p:spTgt spid="2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9" dur="500" fill="hold"/>
                                        <p:tgtEl>
                                          <p:spTgt spid="20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0" dur="500" fill="hold"/>
                                        <p:tgtEl>
                                          <p:spTgt spid="20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1" presetID="0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3.7037E-7 L -0.0069 -0.19977 " pathEditMode="relative" rAng="0" ptsTypes="AA">
                                      <p:cBhvr>
                                        <p:cTn id="212" dur="2000" fill="hold"/>
                                        <p:tgtEl>
                                          <p:spTgt spid="20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2" y="-10000"/>
                                    </p:animMotion>
                                  </p:childTnLst>
                                </p:cTn>
                              </p:par>
                              <p:par>
                                <p:cTn id="21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5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6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1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2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3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4" dur="1000" tmFilter="0, 0; .2, .5; .8, .5; 1, 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5" dur="500" autoRev="1" fill="hold"/>
                                        <p:tgtEl>
                                          <p:spTgt spid="4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27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9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0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1" fill="hold">
                            <p:stCondLst>
                              <p:cond delay="2000"/>
                            </p:stCondLst>
                            <p:childTnLst>
                              <p:par>
                                <p:cTn id="232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4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5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6" fill="hold">
                            <p:stCondLst>
                              <p:cond delay="3000"/>
                            </p:stCondLst>
                            <p:childTnLst>
                              <p:par>
                                <p:cTn id="237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7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8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indefinite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5" fill="hold">
                            <p:stCondLst>
                              <p:cond delay="1000"/>
                            </p:stCondLst>
                            <p:childTnLst>
                              <p:par>
                                <p:cTn id="256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0" fill="hold">
                            <p:stCondLst>
                              <p:cond delay="2000"/>
                            </p:stCondLst>
                            <p:childTnLst>
                              <p:par>
                                <p:cTn id="261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5" fill="hold">
                            <p:stCondLst>
                              <p:cond delay="3000"/>
                            </p:stCondLst>
                            <p:childTnLst>
                              <p:par>
                                <p:cTn id="266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0" fill="hold">
                            <p:stCondLst>
                              <p:cond delay="4000"/>
                            </p:stCondLst>
                            <p:childTnLst>
                              <p:par>
                                <p:cTn id="271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5" fill="hold">
                            <p:stCondLst>
                              <p:cond delay="5000"/>
                            </p:stCondLst>
                            <p:childTnLst>
                              <p:par>
                                <p:cTn id="276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0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1" fill="hold">
                            <p:stCondLst>
                              <p:cond delay="6000"/>
                            </p:stCondLst>
                            <p:childTnLst>
                              <p:par>
                                <p:cTn id="282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5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6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7" fill="hold">
                            <p:stCondLst>
                              <p:cond delay="7000"/>
                            </p:stCondLst>
                            <p:childTnLst>
                              <p:par>
                                <p:cTn id="288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0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1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2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3" fill="hold">
                            <p:stCondLst>
                              <p:cond delay="8000"/>
                            </p:stCondLst>
                            <p:childTnLst>
                              <p:par>
                                <p:cTn id="294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6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7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8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9" fill="hold">
                            <p:stCondLst>
                              <p:cond delay="9000"/>
                            </p:stCondLst>
                            <p:childTnLst>
                              <p:par>
                                <p:cTn id="300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2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3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4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5" fill="hold">
                            <p:stCondLst>
                              <p:cond delay="10000"/>
                            </p:stCondLst>
                            <p:childTnLst>
                              <p:par>
                                <p:cTn id="306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2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3" dur="1000" tmFilter="0, 0; .2, .5; .8, .5; 1, 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14" dur="500" autoRev="1" fill="hold"/>
                                        <p:tgtEl>
                                          <p:spTgt spid="4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5" fill="hold">
                            <p:stCondLst>
                              <p:cond delay="11000"/>
                            </p:stCondLst>
                            <p:childTnLst>
                              <p:par>
                                <p:cTn id="316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8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9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0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1" fill="hold">
                            <p:stCondLst>
                              <p:cond delay="12000"/>
                            </p:stCondLst>
                            <p:childTnLst>
                              <p:par>
                                <p:cTn id="322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4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5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6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7" fill="hold">
                            <p:stCondLst>
                              <p:cond delay="13000"/>
                            </p:stCondLst>
                            <p:childTnLst>
                              <p:par>
                                <p:cTn id="328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9" dur="1000" tmFilter="0, 0; .2, .5; .8, .5; 1, 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0" dur="500" autoRev="1" fill="hold"/>
                                        <p:tgtEl>
                                          <p:spTgt spid="5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1" fill="hold">
                            <p:stCondLst>
                              <p:cond delay="14000"/>
                            </p:stCondLst>
                            <p:childTnLst>
                              <p:par>
                                <p:cTn id="332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3" dur="1000" tmFilter="0, 0; .2, .5; .8, .5; 1, 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4" dur="500" autoRev="1" fill="hold"/>
                                        <p:tgtEl>
                                          <p:spTgt spid="5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5" fill="hold">
                            <p:stCondLst>
                              <p:cond delay="15000"/>
                            </p:stCondLst>
                            <p:childTnLst>
                              <p:par>
                                <p:cTn id="336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8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9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0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1" fill="hold">
                            <p:stCondLst>
                              <p:cond delay="16000"/>
                            </p:stCondLst>
                            <p:childTnLst>
                              <p:par>
                                <p:cTn id="342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4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5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6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7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8" dur="1000" tmFilter="0, 0; .2, .5; .8, .5; 1, 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49" dur="500" autoRev="1" fill="hold"/>
                                        <p:tgtEl>
                                          <p:spTgt spid="3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0" fill="hold">
                            <p:stCondLst>
                              <p:cond delay="17000"/>
                            </p:stCondLst>
                            <p:childTnLst>
                              <p:par>
                                <p:cTn id="351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6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7" dur="1000" tmFilter="0, 0; .2, .5; .8, .5; 1, 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58" dur="500" autoRev="1" fill="hold"/>
                                        <p:tgtEl>
                                          <p:spTgt spid="3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9" fill="hold">
                            <p:stCondLst>
                              <p:cond delay="18000"/>
                            </p:stCondLst>
                            <p:childTnLst>
                              <p:par>
                                <p:cTn id="360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6" dur="1000" tmFilter="0, 0; .2, .5; .8, .5; 1, 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67" dur="500" autoRev="1" fill="hold"/>
                                        <p:tgtEl>
                                          <p:spTgt spid="3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8" fill="hold">
                            <p:stCondLst>
                              <p:cond delay="19000"/>
                            </p:stCondLst>
                            <p:childTnLst>
                              <p:par>
                                <p:cTn id="36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4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5" dur="1000" tmFilter="0, 0; .2, .5; .8, .5; 1, 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76" dur="500" autoRev="1" fill="hold"/>
                                        <p:tgtEl>
                                          <p:spTgt spid="3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7" fill="hold">
                            <p:stCondLst>
                              <p:cond delay="20000"/>
                            </p:stCondLst>
                            <p:childTnLst>
                              <p:par>
                                <p:cTn id="378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3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4" dur="1000" tmFilter="0, 0; .2, .5; .8, .5; 1, 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85" dur="500" autoRev="1" fill="hold"/>
                                        <p:tgtEl>
                                          <p:spTgt spid="2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6" fill="hold">
                            <p:stCondLst>
                              <p:cond delay="21000"/>
                            </p:stCondLst>
                            <p:childTnLst>
                              <p:par>
                                <p:cTn id="387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2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3" dur="1000" tmFilter="0, 0; .2, .5; .8, .5; 1, 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94" dur="500" autoRev="1" fill="hold"/>
                                        <p:tgtEl>
                                          <p:spTgt spid="2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5" fill="hold">
                            <p:stCondLst>
                              <p:cond delay="22000"/>
                            </p:stCondLst>
                            <p:childTnLst>
                              <p:par>
                                <p:cTn id="396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2" fill="hold">
                            <p:stCondLst>
                              <p:cond delay="22500"/>
                            </p:stCondLst>
                            <p:childTnLst>
                              <p:par>
                                <p:cTn id="403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4" dur="2000" tmFilter="0, 0; .2, .5; .8, .5; 1, 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05" dur="1000" autoRev="1" fill="hold"/>
                                        <p:tgtEl>
                                          <p:spTgt spid="4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06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7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8" fill="hold">
                      <p:stCondLst>
                        <p:cond delay="indefinite"/>
                      </p:stCondLst>
                      <p:childTnLst>
                        <p:par>
                          <p:cTn id="409" fill="hold">
                            <p:stCondLst>
                              <p:cond delay="0"/>
                            </p:stCondLst>
                            <p:childTnLst>
                              <p:par>
                                <p:cTn id="410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6" fill="hold">
                      <p:stCondLst>
                        <p:cond delay="indefinite"/>
                      </p:stCondLst>
                      <p:childTnLst>
                        <p:par>
                          <p:cTn id="417" fill="hold">
                            <p:stCondLst>
                              <p:cond delay="0"/>
                            </p:stCondLst>
                            <p:childTnLst>
                              <p:par>
                                <p:cTn id="418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4" presetID="0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167E-6 -1.11111E-6 L -0.02995 -0.20393 " pathEditMode="relative" rAng="0" ptsTypes="AA">
                                      <p:cBhvr>
                                        <p:cTn id="425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97" y="-102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6" fill="hold">
                      <p:stCondLst>
                        <p:cond delay="indefinite"/>
                      </p:stCondLst>
                      <p:childTnLst>
                        <p:par>
                          <p:cTn id="427" fill="hold">
                            <p:stCondLst>
                              <p:cond delay="0"/>
                            </p:stCondLst>
                            <p:childTnLst>
                              <p:par>
                                <p:cTn id="428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9" dur="1000" tmFilter="0, 0; .2, .5; .8, .5; 1, 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30" dur="500" autoRev="1" fill="hold"/>
                                        <p:tgtEl>
                                          <p:spTgt spid="5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1" fill="hold">
                            <p:stCondLst>
                              <p:cond delay="1000"/>
                            </p:stCondLst>
                            <p:childTnLst>
                              <p:par>
                                <p:cTn id="432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3" dur="1000" tmFilter="0, 0; .2, .5; .8, .5; 1, 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34" dur="500" autoRev="1" fill="hold"/>
                                        <p:tgtEl>
                                          <p:spTgt spid="5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65" grpId="0"/>
      <p:bldP spid="2065" grpId="1"/>
      <p:bldP spid="2066" grpId="0"/>
      <p:bldP spid="2066" grpId="1"/>
      <p:bldP spid="2067" grpId="0"/>
      <p:bldP spid="2067" grpId="1"/>
      <p:bldP spid="2068" grpId="0"/>
      <p:bldP spid="2068" grpId="1"/>
      <p:bldP spid="2069" grpId="0"/>
      <p:bldP spid="2070" grpId="0"/>
      <p:bldP spid="2070" grpId="1"/>
      <p:bldP spid="2071" grpId="0"/>
      <p:bldP spid="2072" grpId="0"/>
      <p:bldP spid="2073" grpId="0"/>
      <p:bldP spid="2074" grpId="0"/>
      <p:bldP spid="2075" grpId="0"/>
      <p:bldP spid="2076" grpId="0"/>
      <p:bldP spid="2077" grpId="0"/>
      <p:bldP spid="2077" grpId="1"/>
      <p:bldP spid="2077" grpId="2"/>
      <p:bldP spid="2077" grpId="3"/>
      <p:bldP spid="2078" grpId="0" animBg="1"/>
      <p:bldP spid="2079" grpId="0" animBg="1"/>
      <p:bldP spid="2080" grpId="0" animBg="1"/>
      <p:bldP spid="34" grpId="0"/>
      <p:bldP spid="35" grpId="0"/>
      <p:bldP spid="36" grpId="0"/>
      <p:bldP spid="37" grpId="0"/>
      <p:bldP spid="38" grpId="0"/>
      <p:bldP spid="42" grpId="0"/>
      <p:bldP spid="43" grpId="0"/>
      <p:bldP spid="44" grpId="0"/>
      <p:bldP spid="45" grpId="0"/>
      <p:bldP spid="46" grpId="0"/>
      <p:bldP spid="46" grpId="1"/>
      <p:bldP spid="46" grpId="2"/>
      <p:bldP spid="46" grpId="3"/>
      <p:bldP spid="47" grpId="0" animBg="1"/>
      <p:bldP spid="48" grpId="0" animBg="1"/>
      <p:bldP spid="49" grpId="0" animBg="1"/>
      <p:bldP spid="50" grpId="0" animBg="1"/>
      <p:bldP spid="51" grpId="0" animBg="1"/>
      <p:bldP spid="53" grpId="0"/>
      <p:bldP spid="53" grpId="1"/>
      <p:bldP spid="55" grpId="0"/>
      <p:bldP spid="55" grpId="1"/>
      <p:bldP spid="56" grpId="0"/>
      <p:bldP spid="56" grpId="1"/>
      <p:bldP spid="57" grpId="0"/>
      <p:bldP spid="57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</p:sp>
      <p:pic>
        <p:nvPicPr>
          <p:cNvPr id="8" name="Content Placeholder 4"/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97829" y="3323772"/>
            <a:ext cx="4368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A50021"/>
                </a:solidFill>
                <a:latin typeface="AR CENA" panose="02000000000000000000" pitchFamily="2" charset="0"/>
              </a:rPr>
              <a:t>Addition is Commutative!</a:t>
            </a:r>
          </a:p>
        </p:txBody>
      </p:sp>
    </p:spTree>
    <p:extLst>
      <p:ext uri="{BB962C8B-B14F-4D97-AF65-F5344CB8AC3E}">
        <p14:creationId xmlns:p14="http://schemas.microsoft.com/office/powerpoint/2010/main" val="27264888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13943" y="406400"/>
            <a:ext cx="415108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u="sng" dirty="0">
                <a:solidFill>
                  <a:srgbClr val="A50021"/>
                </a:solidFill>
              </a:rPr>
              <a:t>Subtraction</a:t>
            </a:r>
          </a:p>
        </p:txBody>
      </p:sp>
      <p:pic>
        <p:nvPicPr>
          <p:cNvPr id="3" name="Picture 2" descr="Red Apple Clipart Free Stock Photo - Public Domain Picture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662" y="2206170"/>
            <a:ext cx="1048504" cy="82345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77371" y="1451429"/>
            <a:ext cx="34979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We start with 5 apples</a:t>
            </a:r>
          </a:p>
        </p:txBody>
      </p:sp>
      <p:pic>
        <p:nvPicPr>
          <p:cNvPr id="5" name="Picture 4" descr="Red Apple Clipart Free Stock Photo - Public Domain Picture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5813" y="2154547"/>
            <a:ext cx="1179965" cy="926704"/>
          </a:xfrm>
          <a:prstGeom prst="rect">
            <a:avLst/>
          </a:prstGeom>
        </p:spPr>
      </p:pic>
      <p:pic>
        <p:nvPicPr>
          <p:cNvPr id="6" name="Picture 5" descr="Red Apple Clipart Free Stock Photo - Public Domain Picture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25" y="2153157"/>
            <a:ext cx="1179965" cy="926704"/>
          </a:xfrm>
          <a:prstGeom prst="rect">
            <a:avLst/>
          </a:prstGeom>
        </p:spPr>
      </p:pic>
      <p:pic>
        <p:nvPicPr>
          <p:cNvPr id="7" name="Picture 6" descr="Red Apple Clipart Free Stock Photo - Public Domain Picture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0076" y="2153157"/>
            <a:ext cx="1179965" cy="926704"/>
          </a:xfrm>
          <a:prstGeom prst="rect">
            <a:avLst/>
          </a:prstGeom>
        </p:spPr>
      </p:pic>
      <p:pic>
        <p:nvPicPr>
          <p:cNvPr id="8" name="Picture 7" descr="Red Apple Clipart Free Stock Photo - Public Domain Picture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0688" y="2206170"/>
            <a:ext cx="1179965" cy="9267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77370" y="3234437"/>
            <a:ext cx="34979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Take away 3 apples</a:t>
            </a:r>
          </a:p>
        </p:txBody>
      </p:sp>
      <p:pic>
        <p:nvPicPr>
          <p:cNvPr id="10" name="Picture 9" descr="Red Apple Clipart Free Stock Photo - Public Domain Picture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0093" y="3761537"/>
            <a:ext cx="1179965" cy="926704"/>
          </a:xfrm>
          <a:prstGeom prst="rect">
            <a:avLst/>
          </a:prstGeom>
        </p:spPr>
      </p:pic>
      <p:pic>
        <p:nvPicPr>
          <p:cNvPr id="11" name="Picture 10" descr="Red Apple Clipart Free Stock Photo - Public Domain Picture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5207" y="3761537"/>
            <a:ext cx="1179965" cy="926704"/>
          </a:xfrm>
          <a:prstGeom prst="rect">
            <a:avLst/>
          </a:prstGeom>
        </p:spPr>
      </p:pic>
      <p:pic>
        <p:nvPicPr>
          <p:cNvPr id="12" name="Picture 11" descr="Red Apple Clipart Free Stock Photo - Public Domain Picture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242" y="3761537"/>
            <a:ext cx="1179965" cy="926704"/>
          </a:xfrm>
          <a:prstGeom prst="rect">
            <a:avLst/>
          </a:prstGeom>
        </p:spPr>
      </p:pic>
      <p:pic>
        <p:nvPicPr>
          <p:cNvPr id="13" name="Picture 12" descr="Red Apple Clipart Free Stock Photo - Public Domain Picture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8305" y="5401064"/>
            <a:ext cx="1179965" cy="926704"/>
          </a:xfrm>
          <a:prstGeom prst="rect">
            <a:avLst/>
          </a:prstGeom>
        </p:spPr>
      </p:pic>
      <p:pic>
        <p:nvPicPr>
          <p:cNvPr id="14" name="Picture 13" descr="Red Apple Clipart Free Stock Photo - Public Domain Picture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370" y="5401064"/>
            <a:ext cx="1179965" cy="92670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55224" y="4844597"/>
            <a:ext cx="34979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2 apples left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5257" y="1460293"/>
            <a:ext cx="34979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We start with 3 apples</a:t>
            </a:r>
          </a:p>
        </p:txBody>
      </p:sp>
      <p:pic>
        <p:nvPicPr>
          <p:cNvPr id="17" name="Picture 16" descr="Red Apple Clipart Free Stock Photo - Public Domain Picture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1539" y="1883653"/>
            <a:ext cx="1179965" cy="926704"/>
          </a:xfrm>
          <a:prstGeom prst="rect">
            <a:avLst/>
          </a:prstGeom>
        </p:spPr>
      </p:pic>
      <p:pic>
        <p:nvPicPr>
          <p:cNvPr id="18" name="Picture 17" descr="Red Apple Clipart Free Stock Photo - Public Domain Picture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7814" y="1883653"/>
            <a:ext cx="1179965" cy="926704"/>
          </a:xfrm>
          <a:prstGeom prst="rect">
            <a:avLst/>
          </a:prstGeom>
        </p:spPr>
      </p:pic>
      <p:pic>
        <p:nvPicPr>
          <p:cNvPr id="19" name="Picture 18" descr="Red Apple Clipart Free Stock Photo - Public Domain Picture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1939" y="1851539"/>
            <a:ext cx="1179965" cy="92670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162967" y="3234437"/>
            <a:ext cx="34979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Take away 5 apples</a:t>
            </a:r>
          </a:p>
        </p:txBody>
      </p:sp>
      <p:pic>
        <p:nvPicPr>
          <p:cNvPr id="21" name="Picture 20" descr="Red Apple Clipart Free Stock Photo - Public Domain Picture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0042" y="3688925"/>
            <a:ext cx="1179965" cy="926704"/>
          </a:xfrm>
          <a:prstGeom prst="rect">
            <a:avLst/>
          </a:prstGeom>
        </p:spPr>
      </p:pic>
      <p:pic>
        <p:nvPicPr>
          <p:cNvPr id="22" name="Picture 21" descr="Red Apple Clipart Free Stock Photo - Public Domain Picture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0007" y="3688925"/>
            <a:ext cx="1179965" cy="926704"/>
          </a:xfrm>
          <a:prstGeom prst="rect">
            <a:avLst/>
          </a:prstGeom>
        </p:spPr>
      </p:pic>
      <p:pic>
        <p:nvPicPr>
          <p:cNvPr id="23" name="Picture 22" descr="Red Apple Clipart Free Stock Photo - Public Domain Picture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4993" y="3688925"/>
            <a:ext cx="1179965" cy="926704"/>
          </a:xfrm>
          <a:prstGeom prst="rect">
            <a:avLst/>
          </a:prstGeom>
        </p:spPr>
      </p:pic>
      <p:pic>
        <p:nvPicPr>
          <p:cNvPr id="24" name="Picture 23" descr="Red Apple Clipart Free Stock Photo - Public Domain Picture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4356" y="3688925"/>
            <a:ext cx="1179965" cy="926704"/>
          </a:xfrm>
          <a:prstGeom prst="rect">
            <a:avLst/>
          </a:prstGeom>
        </p:spPr>
      </p:pic>
      <p:pic>
        <p:nvPicPr>
          <p:cNvPr id="25" name="Picture 24" descr="Red Apple Clipart Free Stock Photo - Public Domain Picture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1921" y="3688925"/>
            <a:ext cx="1179965" cy="92670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870008" y="4844597"/>
            <a:ext cx="5029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We don’t have enough apples = </a:t>
            </a:r>
            <a:r>
              <a:rPr lang="en-US" sz="2000" b="1" dirty="0"/>
              <a:t>-2</a:t>
            </a:r>
          </a:p>
        </p:txBody>
      </p:sp>
      <p:pic>
        <p:nvPicPr>
          <p:cNvPr id="27" name="Picture 26" descr="Red Apple Clipart Free Stock Photo - Public Domain Pictures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7482" y="5249167"/>
            <a:ext cx="1179965" cy="926704"/>
          </a:xfrm>
          <a:prstGeom prst="rect">
            <a:avLst/>
          </a:prstGeom>
        </p:spPr>
      </p:pic>
      <p:pic>
        <p:nvPicPr>
          <p:cNvPr id="28" name="Picture 27" descr="Red Apple Clipart Free Stock Photo - Public Domain Pictures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1938" y="5249167"/>
            <a:ext cx="1179965" cy="92670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875313" y="5401064"/>
            <a:ext cx="428765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Subtraction Is </a:t>
            </a:r>
            <a:r>
              <a:rPr lang="en-US" sz="2800" b="1" u="sng" dirty="0">
                <a:latin typeface="Arial" panose="020B0604020202020204" pitchFamily="34" charset="0"/>
                <a:cs typeface="Arial" panose="020B0604020202020204" pitchFamily="34" charset="0"/>
              </a:rPr>
              <a:t>Not</a:t>
            </a:r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Commutative </a:t>
            </a:r>
          </a:p>
        </p:txBody>
      </p:sp>
    </p:spTree>
    <p:extLst>
      <p:ext uri="{BB962C8B-B14F-4D97-AF65-F5344CB8AC3E}">
        <p14:creationId xmlns:p14="http://schemas.microsoft.com/office/powerpoint/2010/main" val="2431742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7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  <p:bldP spid="15" grpId="0"/>
      <p:bldP spid="16" grpId="0"/>
      <p:bldP spid="20" grpId="0"/>
      <p:bldP spid="26" grpId="0"/>
      <p:bldP spid="2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0" y="553404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1060559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42791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394461" y="1045417"/>
            <a:ext cx="0" cy="5797441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747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6216" y="583752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 </a:t>
            </a:r>
            <a:r>
              <a:rPr lang="en-AU" sz="2400" b="1" dirty="0">
                <a:cs typeface="Chalkboard"/>
              </a:rPr>
              <a:t>– Which operations are commutative</a:t>
            </a:r>
            <a:r>
              <a:rPr lang="en-AU" sz="2400" b="1" dirty="0"/>
              <a:t>?</a:t>
            </a:r>
            <a:endParaRPr lang="en-AU" sz="2400" b="1" dirty="0">
              <a:cs typeface="Chalkboard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16607" y="29706"/>
            <a:ext cx="38022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Commutative Law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4709" y="2801234"/>
            <a:ext cx="239302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/>
              <a:t>Which operations are commutative?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2064596"/>
              </p:ext>
            </p:extLst>
          </p:nvPr>
        </p:nvGraphicFramePr>
        <p:xfrm>
          <a:off x="2583541" y="1349827"/>
          <a:ext cx="9376230" cy="50654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7830">
                  <a:extLst>
                    <a:ext uri="{9D8B030D-6E8A-4147-A177-3AD203B41FA5}">
                      <a16:colId xmlns:a16="http://schemas.microsoft.com/office/drawing/2014/main" val="3728935664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539558543"/>
                    </a:ext>
                  </a:extLst>
                </a:gridCol>
                <a:gridCol w="1901372">
                  <a:extLst>
                    <a:ext uri="{9D8B030D-6E8A-4147-A177-3AD203B41FA5}">
                      <a16:colId xmlns:a16="http://schemas.microsoft.com/office/drawing/2014/main" val="496565223"/>
                    </a:ext>
                  </a:extLst>
                </a:gridCol>
                <a:gridCol w="2336800">
                  <a:extLst>
                    <a:ext uri="{9D8B030D-6E8A-4147-A177-3AD203B41FA5}">
                      <a16:colId xmlns:a16="http://schemas.microsoft.com/office/drawing/2014/main" val="617504021"/>
                    </a:ext>
                  </a:extLst>
                </a:gridCol>
                <a:gridCol w="1756228">
                  <a:extLst>
                    <a:ext uri="{9D8B030D-6E8A-4147-A177-3AD203B41FA5}">
                      <a16:colId xmlns:a16="http://schemas.microsoft.com/office/drawing/2014/main" val="4061803434"/>
                    </a:ext>
                  </a:extLst>
                </a:gridCol>
              </a:tblGrid>
              <a:tr h="1134296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A50021"/>
                          </a:solidFill>
                        </a:rPr>
                        <a:t>Operation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Addition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Subtraction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Multiplication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Division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9885647"/>
                  </a:ext>
                </a:extLst>
              </a:tr>
              <a:tr h="1134296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A50021"/>
                          </a:solidFill>
                        </a:rPr>
                        <a:t>Commutative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2837151"/>
                  </a:ext>
                </a:extLst>
              </a:tr>
              <a:tr h="2796894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A50021"/>
                          </a:solidFill>
                        </a:rPr>
                        <a:t>Example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5 + 3 = 8 </a:t>
                      </a:r>
                    </a:p>
                    <a:p>
                      <a:pPr algn="ctr"/>
                      <a:r>
                        <a:rPr lang="en-US" sz="2800" dirty="0"/>
                        <a:t>3 + 5 = 8</a:t>
                      </a:r>
                      <a:endParaRPr lang="en-AU" sz="2800" dirty="0"/>
                    </a:p>
                    <a:p>
                      <a:pPr algn="ctr"/>
                      <a:endParaRPr 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5 - 3 = 2</a:t>
                      </a:r>
                    </a:p>
                    <a:p>
                      <a:pPr algn="ctr"/>
                      <a:r>
                        <a:rPr lang="en-US" sz="2800" dirty="0"/>
                        <a:t>3 - 5 = -2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90944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7654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432784" y="481164"/>
            <a:ext cx="31727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u="sng" dirty="0">
                <a:solidFill>
                  <a:srgbClr val="002060"/>
                </a:solidFill>
              </a:rPr>
              <a:t>Multiplication</a:t>
            </a:r>
          </a:p>
        </p:txBody>
      </p:sp>
      <p:pic>
        <p:nvPicPr>
          <p:cNvPr id="3" name="Picture 2" descr="Red Apple Clipart Free Stock Photo - Public Domain Picture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662" y="2206170"/>
            <a:ext cx="1048504" cy="82345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192099" y="1271426"/>
            <a:ext cx="34979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2 groups of 5</a:t>
            </a:r>
          </a:p>
        </p:txBody>
      </p:sp>
      <p:pic>
        <p:nvPicPr>
          <p:cNvPr id="5" name="Picture 4" descr="Red Apple Clipart Free Stock Photo - Public Domain Picture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5813" y="2154547"/>
            <a:ext cx="1179965" cy="926704"/>
          </a:xfrm>
          <a:prstGeom prst="rect">
            <a:avLst/>
          </a:prstGeom>
        </p:spPr>
      </p:pic>
      <p:pic>
        <p:nvPicPr>
          <p:cNvPr id="6" name="Picture 5" descr="Red Apple Clipart Free Stock Photo - Public Domain Picture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25" y="2153157"/>
            <a:ext cx="1179965" cy="926704"/>
          </a:xfrm>
          <a:prstGeom prst="rect">
            <a:avLst/>
          </a:prstGeom>
        </p:spPr>
      </p:pic>
      <p:pic>
        <p:nvPicPr>
          <p:cNvPr id="7" name="Picture 6" descr="Red Apple Clipart Free Stock Photo - Public Domain Picture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0076" y="2153157"/>
            <a:ext cx="1179965" cy="926704"/>
          </a:xfrm>
          <a:prstGeom prst="rect">
            <a:avLst/>
          </a:prstGeom>
        </p:spPr>
      </p:pic>
      <p:pic>
        <p:nvPicPr>
          <p:cNvPr id="8" name="Picture 7" descr="Red Apple Clipart Free Stock Photo - Public Domain Picture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0688" y="2206170"/>
            <a:ext cx="1179965" cy="9267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798" y="1812956"/>
            <a:ext cx="11509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</a:t>
            </a:r>
            <a:r>
              <a:rPr lang="en-US" sz="2000" baseline="30000" dirty="0"/>
              <a:t>st</a:t>
            </a:r>
            <a:r>
              <a:rPr lang="en-US" sz="2000" dirty="0"/>
              <a:t> group </a:t>
            </a:r>
          </a:p>
        </p:txBody>
      </p:sp>
      <p:pic>
        <p:nvPicPr>
          <p:cNvPr id="10" name="Picture 9" descr="Red Apple Clipart Free Stock Photo - Public Domain Picture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8287" y="3199197"/>
            <a:ext cx="1179965" cy="926704"/>
          </a:xfrm>
          <a:prstGeom prst="rect">
            <a:avLst/>
          </a:prstGeom>
        </p:spPr>
      </p:pic>
      <p:pic>
        <p:nvPicPr>
          <p:cNvPr id="11" name="Picture 10" descr="Red Apple Clipart Free Stock Photo - Public Domain Picture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1560" y="3234437"/>
            <a:ext cx="1179965" cy="926704"/>
          </a:xfrm>
          <a:prstGeom prst="rect">
            <a:avLst/>
          </a:prstGeom>
        </p:spPr>
      </p:pic>
      <p:pic>
        <p:nvPicPr>
          <p:cNvPr id="12" name="Picture 11" descr="Red Apple Clipart Free Stock Photo - Public Domain Picture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895" y="3220007"/>
            <a:ext cx="1179965" cy="926704"/>
          </a:xfrm>
          <a:prstGeom prst="rect">
            <a:avLst/>
          </a:prstGeom>
        </p:spPr>
      </p:pic>
      <p:pic>
        <p:nvPicPr>
          <p:cNvPr id="13" name="Picture 12" descr="Red Apple Clipart Free Stock Photo - Public Domain Picture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3948" y="3216817"/>
            <a:ext cx="1179965" cy="926704"/>
          </a:xfrm>
          <a:prstGeom prst="rect">
            <a:avLst/>
          </a:prstGeom>
        </p:spPr>
      </p:pic>
      <p:pic>
        <p:nvPicPr>
          <p:cNvPr id="14" name="Picture 13" descr="Red Apple Clipart Free Stock Photo - Public Domain Picture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1513" y="3216817"/>
            <a:ext cx="1179965" cy="92670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86288" y="5608997"/>
            <a:ext cx="19195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10 apples total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5257" y="1460293"/>
            <a:ext cx="12097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</a:t>
            </a:r>
            <a:r>
              <a:rPr lang="en-US" sz="2000" baseline="30000" dirty="0"/>
              <a:t>st</a:t>
            </a:r>
            <a:r>
              <a:rPr lang="en-US" sz="2000" dirty="0"/>
              <a:t> group </a:t>
            </a:r>
          </a:p>
        </p:txBody>
      </p:sp>
      <p:pic>
        <p:nvPicPr>
          <p:cNvPr id="17" name="Picture 16" descr="Red Apple Clipart Free Stock Photo - Public Domain Picture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1995" y="2085526"/>
            <a:ext cx="1179965" cy="926704"/>
          </a:xfrm>
          <a:prstGeom prst="rect">
            <a:avLst/>
          </a:prstGeom>
        </p:spPr>
      </p:pic>
      <p:pic>
        <p:nvPicPr>
          <p:cNvPr id="18" name="Picture 17" descr="Red Apple Clipart Free Stock Photo - Public Domain Picture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3847" y="1236614"/>
            <a:ext cx="1179965" cy="926704"/>
          </a:xfrm>
          <a:prstGeom prst="rect">
            <a:avLst/>
          </a:prstGeom>
        </p:spPr>
      </p:pic>
      <p:pic>
        <p:nvPicPr>
          <p:cNvPr id="19" name="Picture 18" descr="Red Apple Clipart Free Stock Photo - Public Domain Picture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2658" y="1279466"/>
            <a:ext cx="1179965" cy="926704"/>
          </a:xfrm>
          <a:prstGeom prst="rect">
            <a:avLst/>
          </a:prstGeom>
        </p:spPr>
      </p:pic>
      <p:pic>
        <p:nvPicPr>
          <p:cNvPr id="21" name="Picture 20" descr="Red Apple Clipart Free Stock Photo - Public Domain Picture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1871" y="3874415"/>
            <a:ext cx="1179965" cy="926704"/>
          </a:xfrm>
          <a:prstGeom prst="rect">
            <a:avLst/>
          </a:prstGeom>
        </p:spPr>
      </p:pic>
      <p:pic>
        <p:nvPicPr>
          <p:cNvPr id="22" name="Picture 21" descr="Red Apple Clipart Free Stock Photo - Public Domain Picture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4270" y="3812564"/>
            <a:ext cx="1179965" cy="926704"/>
          </a:xfrm>
          <a:prstGeom prst="rect">
            <a:avLst/>
          </a:prstGeom>
        </p:spPr>
      </p:pic>
      <p:pic>
        <p:nvPicPr>
          <p:cNvPr id="23" name="Picture 22" descr="Red Apple Clipart Free Stock Photo - Public Domain Picture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2182" y="2112715"/>
            <a:ext cx="1179965" cy="926704"/>
          </a:xfrm>
          <a:prstGeom prst="rect">
            <a:avLst/>
          </a:prstGeom>
        </p:spPr>
      </p:pic>
      <p:pic>
        <p:nvPicPr>
          <p:cNvPr id="24" name="Picture 23" descr="Red Apple Clipart Free Stock Photo - Public Domain Picture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8930" y="2960050"/>
            <a:ext cx="1179965" cy="926704"/>
          </a:xfrm>
          <a:prstGeom prst="rect">
            <a:avLst/>
          </a:prstGeom>
        </p:spPr>
      </p:pic>
      <p:pic>
        <p:nvPicPr>
          <p:cNvPr id="25" name="Picture 24" descr="Red Apple Clipart Free Stock Photo - Public Domain Picture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5818" y="2960502"/>
            <a:ext cx="1179965" cy="92670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875313" y="5401064"/>
            <a:ext cx="302143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Multiplication Is  Commutative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4927" y="2957985"/>
            <a:ext cx="13029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2</a:t>
            </a:r>
            <a:r>
              <a:rPr lang="en-US" sz="2000" baseline="30000" dirty="0"/>
              <a:t>nd</a:t>
            </a:r>
            <a:r>
              <a:rPr lang="en-US" sz="2000" dirty="0"/>
              <a:t> group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/>
              <p:cNvSpPr txBox="1"/>
              <p:nvPr/>
            </p:nvSpPr>
            <p:spPr>
              <a:xfrm>
                <a:off x="781578" y="4964003"/>
                <a:ext cx="182421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  <m:r>
                        <a:rPr lang="en-US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</m:t>
                      </m:r>
                      <m:r>
                        <a:rPr lang="en-US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𝟏𝟎</m:t>
                      </m:r>
                    </m:oMath>
                  </m:oMathPara>
                </a14:m>
                <a:endParaRPr lang="en-US" sz="2800" b="1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578" y="4964003"/>
                <a:ext cx="1824217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/>
          <p:cNvSpPr txBox="1"/>
          <p:nvPr/>
        </p:nvSpPr>
        <p:spPr>
          <a:xfrm>
            <a:off x="8401504" y="884144"/>
            <a:ext cx="34979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5 groups of 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05479" y="2216873"/>
            <a:ext cx="12097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2</a:t>
            </a:r>
            <a:r>
              <a:rPr lang="en-US" sz="2000" baseline="30000" dirty="0"/>
              <a:t>nd</a:t>
            </a:r>
            <a:r>
              <a:rPr lang="en-US" sz="2000" dirty="0"/>
              <a:t> group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97307" y="3023292"/>
            <a:ext cx="12097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3</a:t>
            </a:r>
            <a:r>
              <a:rPr lang="en-US" sz="2000" baseline="30000" dirty="0"/>
              <a:t>rd</a:t>
            </a:r>
            <a:r>
              <a:rPr lang="en-US" sz="2000" dirty="0"/>
              <a:t> group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12987" y="3829711"/>
            <a:ext cx="12097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4</a:t>
            </a:r>
            <a:r>
              <a:rPr lang="en-US" sz="2000" baseline="30000" dirty="0"/>
              <a:t>th</a:t>
            </a:r>
            <a:r>
              <a:rPr lang="en-US" sz="2000" dirty="0"/>
              <a:t> group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70098" y="4864762"/>
            <a:ext cx="12097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5</a:t>
            </a:r>
            <a:r>
              <a:rPr lang="en-US" sz="2000" baseline="30000" dirty="0"/>
              <a:t>th</a:t>
            </a:r>
            <a:r>
              <a:rPr lang="en-US" sz="2000" dirty="0"/>
              <a:t> group </a:t>
            </a:r>
          </a:p>
        </p:txBody>
      </p:sp>
      <p:pic>
        <p:nvPicPr>
          <p:cNvPr id="37" name="Picture 36" descr="Red Apple Clipart Free Stock Photo - Public Domain Picture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1314" y="4748530"/>
            <a:ext cx="1179965" cy="926704"/>
          </a:xfrm>
          <a:prstGeom prst="rect">
            <a:avLst/>
          </a:prstGeom>
        </p:spPr>
      </p:pic>
      <p:pic>
        <p:nvPicPr>
          <p:cNvPr id="38" name="Picture 37" descr="Red Apple Clipart Free Stock Photo - Public Domain Picture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3053" y="4763745"/>
            <a:ext cx="1179965" cy="92670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/>
              <p:cNvSpPr txBox="1"/>
              <p:nvPr/>
            </p:nvSpPr>
            <p:spPr>
              <a:xfrm>
                <a:off x="8648836" y="5801215"/>
                <a:ext cx="182421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</m:t>
                      </m:r>
                      <m:r>
                        <a:rPr lang="en-US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  <m:r>
                        <a:rPr lang="en-US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𝟏𝟎</m:t>
                      </m:r>
                    </m:oMath>
                  </m:oMathPara>
                </a14:m>
                <a:endParaRPr lang="en-US" sz="2800" b="1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8836" y="5801215"/>
                <a:ext cx="1824217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Box 39"/>
          <p:cNvSpPr txBox="1"/>
          <p:nvPr/>
        </p:nvSpPr>
        <p:spPr>
          <a:xfrm>
            <a:off x="8740107" y="6257300"/>
            <a:ext cx="19195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10 apples total</a:t>
            </a:r>
          </a:p>
        </p:txBody>
      </p:sp>
    </p:spTree>
    <p:extLst>
      <p:ext uri="{BB962C8B-B14F-4D97-AF65-F5344CB8AC3E}">
        <p14:creationId xmlns:p14="http://schemas.microsoft.com/office/powerpoint/2010/main" val="471304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2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  <p:bldP spid="15" grpId="0"/>
      <p:bldP spid="16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9" grpId="0"/>
      <p:bldP spid="4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0" y="553404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1060559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42791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394461" y="1045417"/>
            <a:ext cx="0" cy="5797441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747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6216" y="583752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 </a:t>
            </a:r>
            <a:r>
              <a:rPr lang="en-AU" sz="2400" b="1" dirty="0">
                <a:cs typeface="Chalkboard"/>
              </a:rPr>
              <a:t>– Which operations are commutative</a:t>
            </a:r>
            <a:r>
              <a:rPr lang="en-AU" sz="2400" b="1" dirty="0"/>
              <a:t>?</a:t>
            </a:r>
            <a:endParaRPr lang="en-AU" sz="2400" b="1" dirty="0">
              <a:cs typeface="Chalkboard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16607" y="29706"/>
            <a:ext cx="38022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Commutative Law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4709" y="2801234"/>
            <a:ext cx="239302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/>
              <a:t>Which operations are commutative?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98123307"/>
                  </p:ext>
                </p:extLst>
              </p:nvPr>
            </p:nvGraphicFramePr>
            <p:xfrm>
              <a:off x="2583541" y="1349827"/>
              <a:ext cx="9376230" cy="506548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57830">
                      <a:extLst>
                        <a:ext uri="{9D8B030D-6E8A-4147-A177-3AD203B41FA5}">
                          <a16:colId xmlns:a16="http://schemas.microsoft.com/office/drawing/2014/main" val="3728935664"/>
                        </a:ext>
                      </a:extLst>
                    </a:gridCol>
                    <a:gridCol w="1524000">
                      <a:extLst>
                        <a:ext uri="{9D8B030D-6E8A-4147-A177-3AD203B41FA5}">
                          <a16:colId xmlns:a16="http://schemas.microsoft.com/office/drawing/2014/main" val="2539558543"/>
                        </a:ext>
                      </a:extLst>
                    </a:gridCol>
                    <a:gridCol w="1901372">
                      <a:extLst>
                        <a:ext uri="{9D8B030D-6E8A-4147-A177-3AD203B41FA5}">
                          <a16:colId xmlns:a16="http://schemas.microsoft.com/office/drawing/2014/main" val="496565223"/>
                        </a:ext>
                      </a:extLst>
                    </a:gridCol>
                    <a:gridCol w="2336800">
                      <a:extLst>
                        <a:ext uri="{9D8B030D-6E8A-4147-A177-3AD203B41FA5}">
                          <a16:colId xmlns:a16="http://schemas.microsoft.com/office/drawing/2014/main" val="617504021"/>
                        </a:ext>
                      </a:extLst>
                    </a:gridCol>
                    <a:gridCol w="1756228">
                      <a:extLst>
                        <a:ext uri="{9D8B030D-6E8A-4147-A177-3AD203B41FA5}">
                          <a16:colId xmlns:a16="http://schemas.microsoft.com/office/drawing/2014/main" val="4061803434"/>
                        </a:ext>
                      </a:extLst>
                    </a:gridCol>
                  </a:tblGrid>
                  <a:tr h="113429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solidFill>
                                <a:srgbClr val="A50021"/>
                              </a:solidFill>
                            </a:rPr>
                            <a:t>Operation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Addition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Subtraction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Multiplication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Division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89885647"/>
                      </a:ext>
                    </a:extLst>
                  </a:tr>
                  <a:tr h="113429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rgbClr val="A50021"/>
                              </a:solidFill>
                            </a:rPr>
                            <a:t>Commutative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YES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NO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YES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12837151"/>
                      </a:ext>
                    </a:extLst>
                  </a:tr>
                  <a:tr h="279689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solidFill>
                                <a:srgbClr val="A50021"/>
                              </a:solidFill>
                            </a:rPr>
                            <a:t>Example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5 + 3 = 8</a:t>
                          </a:r>
                        </a:p>
                        <a:p>
                          <a:pPr algn="ctr"/>
                          <a:r>
                            <a:rPr lang="en-US" sz="2800" dirty="0"/>
                            <a:t> </a:t>
                          </a:r>
                        </a:p>
                        <a:p>
                          <a:pPr algn="ctr"/>
                          <a:r>
                            <a:rPr lang="en-US" sz="2800" dirty="0"/>
                            <a:t>3 + 5 = 8</a:t>
                          </a:r>
                          <a:endParaRPr lang="en-AU" sz="2800" dirty="0"/>
                        </a:p>
                        <a:p>
                          <a:pPr algn="ctr"/>
                          <a:endParaRPr lang="en-US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5 - 3 = 2</a:t>
                          </a:r>
                        </a:p>
                        <a:p>
                          <a:pPr algn="ctr"/>
                          <a:endParaRPr lang="en-US" sz="2800" dirty="0"/>
                        </a:p>
                        <a:p>
                          <a:pPr algn="ctr"/>
                          <a:r>
                            <a:rPr lang="en-US" sz="2800" dirty="0"/>
                            <a:t>3 - 5 = -2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×5=10</m:t>
                                </m:r>
                              </m:oMath>
                            </m:oMathPara>
                          </a14:m>
                          <a:endParaRPr lang="en-US" sz="2800" b="0" dirty="0">
                            <a:ea typeface="Cambria Math" panose="02040503050406030204" pitchFamily="18" charset="0"/>
                          </a:endParaRPr>
                        </a:p>
                        <a:p>
                          <a:pPr algn="ctr"/>
                          <a:endParaRPr lang="en-US" sz="2800" b="0" dirty="0">
                            <a:ea typeface="Cambria Math" panose="02040503050406030204" pitchFamily="18" charset="0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×2=10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3909444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98123307"/>
                  </p:ext>
                </p:extLst>
              </p:nvPr>
            </p:nvGraphicFramePr>
            <p:xfrm>
              <a:off x="2583541" y="1349827"/>
              <a:ext cx="9376230" cy="506548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57830">
                      <a:extLst>
                        <a:ext uri="{9D8B030D-6E8A-4147-A177-3AD203B41FA5}">
                          <a16:colId xmlns:a16="http://schemas.microsoft.com/office/drawing/2014/main" val="3728935664"/>
                        </a:ext>
                      </a:extLst>
                    </a:gridCol>
                    <a:gridCol w="1524000">
                      <a:extLst>
                        <a:ext uri="{9D8B030D-6E8A-4147-A177-3AD203B41FA5}">
                          <a16:colId xmlns:a16="http://schemas.microsoft.com/office/drawing/2014/main" val="2539558543"/>
                        </a:ext>
                      </a:extLst>
                    </a:gridCol>
                    <a:gridCol w="1901372">
                      <a:extLst>
                        <a:ext uri="{9D8B030D-6E8A-4147-A177-3AD203B41FA5}">
                          <a16:colId xmlns:a16="http://schemas.microsoft.com/office/drawing/2014/main" val="496565223"/>
                        </a:ext>
                      </a:extLst>
                    </a:gridCol>
                    <a:gridCol w="2336800">
                      <a:extLst>
                        <a:ext uri="{9D8B030D-6E8A-4147-A177-3AD203B41FA5}">
                          <a16:colId xmlns:a16="http://schemas.microsoft.com/office/drawing/2014/main" val="617504021"/>
                        </a:ext>
                      </a:extLst>
                    </a:gridCol>
                    <a:gridCol w="1756228">
                      <a:extLst>
                        <a:ext uri="{9D8B030D-6E8A-4147-A177-3AD203B41FA5}">
                          <a16:colId xmlns:a16="http://schemas.microsoft.com/office/drawing/2014/main" val="4061803434"/>
                        </a:ext>
                      </a:extLst>
                    </a:gridCol>
                  </a:tblGrid>
                  <a:tr h="113429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solidFill>
                                <a:srgbClr val="A50021"/>
                              </a:solidFill>
                            </a:rPr>
                            <a:t>Operation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Addition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Subtraction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Multiplication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Division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89885647"/>
                      </a:ext>
                    </a:extLst>
                  </a:tr>
                  <a:tr h="113429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rgbClr val="A50021"/>
                              </a:solidFill>
                            </a:rPr>
                            <a:t>Commutative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YES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NO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YES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12837151"/>
                      </a:ext>
                    </a:extLst>
                  </a:tr>
                  <a:tr h="279689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solidFill>
                                <a:srgbClr val="A50021"/>
                              </a:solidFill>
                            </a:rPr>
                            <a:t>Example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5 + 3 = 8</a:t>
                          </a:r>
                        </a:p>
                        <a:p>
                          <a:pPr algn="ctr"/>
                          <a:r>
                            <a:rPr lang="en-US" sz="2800" dirty="0"/>
                            <a:t> </a:t>
                          </a:r>
                        </a:p>
                        <a:p>
                          <a:pPr algn="ctr"/>
                          <a:r>
                            <a:rPr lang="en-US" sz="2800" dirty="0"/>
                            <a:t>3 + 5 = 8</a:t>
                          </a:r>
                          <a:endParaRPr lang="en-AU" sz="2800" dirty="0"/>
                        </a:p>
                        <a:p>
                          <a:pPr algn="ctr"/>
                          <a:endParaRPr lang="en-US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5 - 3 = 2</a:t>
                          </a:r>
                        </a:p>
                        <a:p>
                          <a:pPr algn="ctr"/>
                          <a:endParaRPr lang="en-US" sz="2800" dirty="0"/>
                        </a:p>
                        <a:p>
                          <a:pPr algn="ctr"/>
                          <a:r>
                            <a:rPr lang="en-US" sz="2800" dirty="0"/>
                            <a:t>3 - 5 = -2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26042" t="-81481" r="-76302" b="-4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3909444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8862726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243163" y="10234"/>
            <a:ext cx="18808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u="sng" dirty="0">
                <a:solidFill>
                  <a:srgbClr val="F25C08"/>
                </a:solidFill>
              </a:rPr>
              <a:t>Division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0178" y="509263"/>
            <a:ext cx="389432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6 lollies </a:t>
            </a:r>
          </a:p>
          <a:p>
            <a:r>
              <a:rPr lang="en-US" sz="2800" b="1" dirty="0">
                <a:solidFill>
                  <a:srgbClr val="002060"/>
                </a:solidFill>
              </a:rPr>
              <a:t>We can divide them into 3 groups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16679" y="446438"/>
            <a:ext cx="447043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3 lollies</a:t>
            </a:r>
          </a:p>
          <a:p>
            <a:r>
              <a:rPr lang="en-US" sz="2800" b="1" dirty="0">
                <a:solidFill>
                  <a:srgbClr val="002060"/>
                </a:solidFill>
              </a:rPr>
              <a:t>We can divide them into 6 groups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3436" y="4329865"/>
            <a:ext cx="38943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2 lollies in each group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/>
              <p:cNvSpPr txBox="1"/>
              <p:nvPr/>
            </p:nvSpPr>
            <p:spPr>
              <a:xfrm>
                <a:off x="870460" y="5164152"/>
                <a:ext cx="1851469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solidFill>
                            <a:srgbClr val="F25C08"/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US" sz="3200" b="1" i="1" smtClean="0">
                          <a:solidFill>
                            <a:srgbClr val="F25C08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US" sz="3200" b="1" i="1" smtClean="0">
                          <a:solidFill>
                            <a:srgbClr val="F25C08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</m:t>
                      </m:r>
                      <m:r>
                        <a:rPr lang="en-US" sz="3200" b="1" i="1" smtClean="0">
                          <a:solidFill>
                            <a:srgbClr val="F25C08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3200" b="1" i="1" smtClean="0">
                          <a:solidFill>
                            <a:srgbClr val="F25C08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sz="3200" b="1" dirty="0">
                  <a:solidFill>
                    <a:srgbClr val="F25C08"/>
                  </a:solidFill>
                </a:endParaRPr>
              </a:p>
            </p:txBody>
          </p:sp>
        </mc:Choice>
        <mc:Fallback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460" y="5164152"/>
                <a:ext cx="1851469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1" name="Group 40"/>
          <p:cNvGrpSpPr/>
          <p:nvPr/>
        </p:nvGrpSpPr>
        <p:grpSpPr>
          <a:xfrm>
            <a:off x="2557340" y="1346961"/>
            <a:ext cx="1772633" cy="1716727"/>
            <a:chOff x="10600597" y="2330503"/>
            <a:chExt cx="1772633" cy="1716727"/>
          </a:xfrm>
        </p:grpSpPr>
        <p:pic>
          <p:nvPicPr>
            <p:cNvPr id="30" name="Picture 29" descr="Clipart - &lt;strong&gt;Candy&lt;/strong&gt; yellow &quot;Nimm 2&quot;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00597" y="2330503"/>
              <a:ext cx="1726482" cy="1136777"/>
            </a:xfrm>
            <a:prstGeom prst="rect">
              <a:avLst/>
            </a:prstGeom>
          </p:spPr>
        </p:pic>
        <p:pic>
          <p:nvPicPr>
            <p:cNvPr id="31" name="Picture 30" descr="Clipart - &lt;strong&gt;Candy&lt;/strong&gt; yellow &quot;Nimm 2&quot;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46748" y="2910453"/>
              <a:ext cx="1726482" cy="1136777"/>
            </a:xfrm>
            <a:prstGeom prst="rect">
              <a:avLst/>
            </a:prstGeom>
          </p:spPr>
        </p:pic>
      </p:grpSp>
      <p:grpSp>
        <p:nvGrpSpPr>
          <p:cNvPr id="44" name="Group 43"/>
          <p:cNvGrpSpPr/>
          <p:nvPr/>
        </p:nvGrpSpPr>
        <p:grpSpPr>
          <a:xfrm>
            <a:off x="1796194" y="2686931"/>
            <a:ext cx="1726482" cy="1700019"/>
            <a:chOff x="1796194" y="2686931"/>
            <a:chExt cx="1726482" cy="1700019"/>
          </a:xfrm>
        </p:grpSpPr>
        <p:pic>
          <p:nvPicPr>
            <p:cNvPr id="32" name="Picture 31" descr="Clipart - &lt;strong&gt;Candy&lt;/strong&gt; yellow &quot;Nimm 2&quot;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96194" y="2686931"/>
              <a:ext cx="1726482" cy="1136777"/>
            </a:xfrm>
            <a:prstGeom prst="rect">
              <a:avLst/>
            </a:prstGeom>
          </p:spPr>
        </p:pic>
        <p:pic>
          <p:nvPicPr>
            <p:cNvPr id="33" name="Picture 32" descr="Clipart - &lt;strong&gt;Candy&lt;/strong&gt; yellow &quot;Nimm 2&quot;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96194" y="3250173"/>
              <a:ext cx="1726482" cy="1136777"/>
            </a:xfrm>
            <a:prstGeom prst="rect">
              <a:avLst/>
            </a:prstGeom>
          </p:spPr>
        </p:pic>
      </p:grpSp>
      <p:grpSp>
        <p:nvGrpSpPr>
          <p:cNvPr id="40" name="Group 39"/>
          <p:cNvGrpSpPr/>
          <p:nvPr/>
        </p:nvGrpSpPr>
        <p:grpSpPr>
          <a:xfrm>
            <a:off x="273436" y="1767075"/>
            <a:ext cx="1751414" cy="1700205"/>
            <a:chOff x="8310348" y="2374685"/>
            <a:chExt cx="1751414" cy="1700205"/>
          </a:xfrm>
        </p:grpSpPr>
        <p:pic>
          <p:nvPicPr>
            <p:cNvPr id="29" name="Picture 28" descr="Clipart - &lt;strong&gt;Candy&lt;/strong&gt; yellow &quot;Nimm 2&quot;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35280" y="2374685"/>
              <a:ext cx="1726482" cy="1136777"/>
            </a:xfrm>
            <a:prstGeom prst="rect">
              <a:avLst/>
            </a:prstGeom>
          </p:spPr>
        </p:pic>
        <p:pic>
          <p:nvPicPr>
            <p:cNvPr id="34" name="Picture 33" descr="Clipart - &lt;strong&gt;Candy&lt;/strong&gt; yellow &quot;Nimm 2&quot;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10348" y="2938113"/>
              <a:ext cx="1726482" cy="1136777"/>
            </a:xfrm>
            <a:prstGeom prst="rect">
              <a:avLst/>
            </a:prstGeom>
          </p:spPr>
        </p:pic>
      </p:grpSp>
      <p:sp>
        <p:nvSpPr>
          <p:cNvPr id="35" name="TextBox 34"/>
          <p:cNvSpPr txBox="1"/>
          <p:nvPr/>
        </p:nvSpPr>
        <p:spPr>
          <a:xfrm>
            <a:off x="7803688" y="4434392"/>
            <a:ext cx="38943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½ </a:t>
            </a:r>
            <a:r>
              <a:rPr lang="en-US" sz="2800" b="1" dirty="0" err="1">
                <a:solidFill>
                  <a:srgbClr val="002060"/>
                </a:solidFill>
              </a:rPr>
              <a:t>lolly</a:t>
            </a:r>
            <a:r>
              <a:rPr lang="en-US" sz="2800" b="1" dirty="0">
                <a:solidFill>
                  <a:srgbClr val="002060"/>
                </a:solidFill>
              </a:rPr>
              <a:t> in each group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/>
              <p:cNvSpPr txBox="1"/>
              <p:nvPr/>
            </p:nvSpPr>
            <p:spPr>
              <a:xfrm>
                <a:off x="8498487" y="5078726"/>
                <a:ext cx="1851468" cy="9219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0" smtClean="0">
                          <a:solidFill>
                            <a:srgbClr val="F25C08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</m:t>
                      </m:r>
                      <m:r>
                        <a:rPr lang="en-US" sz="3200" b="1" i="1" smtClean="0">
                          <a:solidFill>
                            <a:srgbClr val="F25C08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US" sz="3200" b="1" i="1" smtClean="0">
                          <a:solidFill>
                            <a:srgbClr val="F25C08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𝟔</m:t>
                      </m:r>
                      <m:r>
                        <a:rPr lang="en-US" sz="3200" b="1" i="1" smtClean="0">
                          <a:solidFill>
                            <a:srgbClr val="F25C08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b="1" i="0" smtClean="0">
                              <a:solidFill>
                                <a:srgbClr val="F25C08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b="1" i="0" smtClean="0">
                              <a:solidFill>
                                <a:srgbClr val="F25C08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3200" b="1" i="0" smtClean="0">
                              <a:solidFill>
                                <a:srgbClr val="F25C08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US" sz="3200" b="1" dirty="0">
                  <a:solidFill>
                    <a:srgbClr val="F25C08"/>
                  </a:solidFill>
                </a:endParaRPr>
              </a:p>
            </p:txBody>
          </p:sp>
        </mc:Choice>
        <mc:Fallback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8487" y="5078726"/>
                <a:ext cx="1851468" cy="92198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/>
          <p:cNvSpPr txBox="1"/>
          <p:nvPr/>
        </p:nvSpPr>
        <p:spPr>
          <a:xfrm>
            <a:off x="4968095" y="5522788"/>
            <a:ext cx="321501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Division Is </a:t>
            </a:r>
            <a:r>
              <a:rPr lang="en-US" sz="2800" b="1" u="sng" dirty="0">
                <a:latin typeface="Arial" panose="020B0604020202020204" pitchFamily="34" charset="0"/>
                <a:cs typeface="Arial" panose="020B0604020202020204" pitchFamily="34" charset="0"/>
              </a:rPr>
              <a:t>NOT</a:t>
            </a:r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Commutative </a:t>
            </a:r>
          </a:p>
        </p:txBody>
      </p:sp>
      <p:grpSp>
        <p:nvGrpSpPr>
          <p:cNvPr id="53" name="Group 52"/>
          <p:cNvGrpSpPr/>
          <p:nvPr/>
        </p:nvGrpSpPr>
        <p:grpSpPr>
          <a:xfrm>
            <a:off x="7292699" y="1346106"/>
            <a:ext cx="4522854" cy="3206739"/>
            <a:chOff x="7292699" y="1346106"/>
            <a:chExt cx="4522854" cy="3206739"/>
          </a:xfrm>
        </p:grpSpPr>
        <p:pic>
          <p:nvPicPr>
            <p:cNvPr id="47" name="Picture 46" descr="Clipart - &lt;strong&gt;Candy&lt;/strong&gt; yellow &quot;Nimm 2&quot;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" r="48428"/>
            <a:stretch/>
          </p:blipFill>
          <p:spPr>
            <a:xfrm>
              <a:off x="7292699" y="2297906"/>
              <a:ext cx="890406" cy="1136777"/>
            </a:xfrm>
            <a:prstGeom prst="rect">
              <a:avLst/>
            </a:prstGeom>
          </p:spPr>
        </p:pic>
        <p:pic>
          <p:nvPicPr>
            <p:cNvPr id="48" name="Picture 47" descr="Clipart - &lt;strong&gt;Candy&lt;/strong&gt; yellow &quot;Nimm 2&quot;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3174" r="1"/>
            <a:stretch/>
          </p:blipFill>
          <p:spPr>
            <a:xfrm>
              <a:off x="8620803" y="1689357"/>
              <a:ext cx="1018039" cy="1136777"/>
            </a:xfrm>
            <a:prstGeom prst="rect">
              <a:avLst/>
            </a:prstGeom>
          </p:spPr>
        </p:pic>
        <p:pic>
          <p:nvPicPr>
            <p:cNvPr id="49" name="Picture 48" descr="Clipart - &lt;strong&gt;Candy&lt;/strong&gt; yellow &quot;Nimm 2&quot;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3174" r="1"/>
            <a:stretch/>
          </p:blipFill>
          <p:spPr>
            <a:xfrm>
              <a:off x="9295714" y="2703967"/>
              <a:ext cx="1018039" cy="1136777"/>
            </a:xfrm>
            <a:prstGeom prst="rect">
              <a:avLst/>
            </a:prstGeom>
          </p:spPr>
        </p:pic>
        <p:pic>
          <p:nvPicPr>
            <p:cNvPr id="50" name="Picture 49" descr="Clipart - &lt;strong&gt;Candy&lt;/strong&gt; yellow &quot;Nimm 2&quot;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3174" r="1"/>
            <a:stretch/>
          </p:blipFill>
          <p:spPr>
            <a:xfrm>
              <a:off x="10797514" y="1346106"/>
              <a:ext cx="1018039" cy="1136777"/>
            </a:xfrm>
            <a:prstGeom prst="rect">
              <a:avLst/>
            </a:prstGeom>
          </p:spPr>
        </p:pic>
        <p:pic>
          <p:nvPicPr>
            <p:cNvPr id="51" name="Picture 50" descr="Clipart - &lt;strong&gt;Candy&lt;/strong&gt; yellow &quot;Nimm 2&quot;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" r="48428"/>
            <a:stretch/>
          </p:blipFill>
          <p:spPr>
            <a:xfrm>
              <a:off x="9638842" y="2079031"/>
              <a:ext cx="890406" cy="1136777"/>
            </a:xfrm>
            <a:prstGeom prst="rect">
              <a:avLst/>
            </a:prstGeom>
          </p:spPr>
        </p:pic>
        <p:pic>
          <p:nvPicPr>
            <p:cNvPr id="52" name="Picture 51" descr="Clipart - &lt;strong&gt;Candy&lt;/strong&gt; yellow &quot;Nimm 2&quot;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" r="48428"/>
            <a:stretch/>
          </p:blipFill>
          <p:spPr>
            <a:xfrm>
              <a:off x="8175600" y="3416068"/>
              <a:ext cx="890406" cy="113677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56230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4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27" grpId="0"/>
      <p:bldP spid="28" grpId="0"/>
      <p:bldP spid="35" grpId="0"/>
      <p:bldP spid="36" grpId="0"/>
      <p:bldP spid="3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0" y="553404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1060559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42791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394461" y="1045417"/>
            <a:ext cx="0" cy="5797441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747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6216" y="583752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 </a:t>
            </a:r>
            <a:r>
              <a:rPr lang="en-AU" sz="2400" b="1" dirty="0">
                <a:cs typeface="Chalkboard"/>
              </a:rPr>
              <a:t>– Which operations are commutative</a:t>
            </a:r>
            <a:r>
              <a:rPr lang="en-AU" sz="2400" b="1" dirty="0"/>
              <a:t>?</a:t>
            </a:r>
            <a:endParaRPr lang="en-AU" sz="2400" b="1" dirty="0">
              <a:cs typeface="Chalkboard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16607" y="29706"/>
            <a:ext cx="38022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Commutative Law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4709" y="2801234"/>
            <a:ext cx="239302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/>
              <a:t>Which operations are commutative?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80846534"/>
                  </p:ext>
                </p:extLst>
              </p:nvPr>
            </p:nvGraphicFramePr>
            <p:xfrm>
              <a:off x="2583541" y="1349827"/>
              <a:ext cx="9376230" cy="506548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57830">
                      <a:extLst>
                        <a:ext uri="{9D8B030D-6E8A-4147-A177-3AD203B41FA5}">
                          <a16:colId xmlns:a16="http://schemas.microsoft.com/office/drawing/2014/main" val="3728935664"/>
                        </a:ext>
                      </a:extLst>
                    </a:gridCol>
                    <a:gridCol w="1524000">
                      <a:extLst>
                        <a:ext uri="{9D8B030D-6E8A-4147-A177-3AD203B41FA5}">
                          <a16:colId xmlns:a16="http://schemas.microsoft.com/office/drawing/2014/main" val="2539558543"/>
                        </a:ext>
                      </a:extLst>
                    </a:gridCol>
                    <a:gridCol w="1901372">
                      <a:extLst>
                        <a:ext uri="{9D8B030D-6E8A-4147-A177-3AD203B41FA5}">
                          <a16:colId xmlns:a16="http://schemas.microsoft.com/office/drawing/2014/main" val="496565223"/>
                        </a:ext>
                      </a:extLst>
                    </a:gridCol>
                    <a:gridCol w="2238152">
                      <a:extLst>
                        <a:ext uri="{9D8B030D-6E8A-4147-A177-3AD203B41FA5}">
                          <a16:colId xmlns:a16="http://schemas.microsoft.com/office/drawing/2014/main" val="617504021"/>
                        </a:ext>
                      </a:extLst>
                    </a:gridCol>
                    <a:gridCol w="1854876">
                      <a:extLst>
                        <a:ext uri="{9D8B030D-6E8A-4147-A177-3AD203B41FA5}">
                          <a16:colId xmlns:a16="http://schemas.microsoft.com/office/drawing/2014/main" val="4061803434"/>
                        </a:ext>
                      </a:extLst>
                    </a:gridCol>
                  </a:tblGrid>
                  <a:tr h="113429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solidFill>
                                <a:srgbClr val="A50021"/>
                              </a:solidFill>
                            </a:rPr>
                            <a:t>Operation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Addition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Subtraction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Multiplication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Division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89885647"/>
                      </a:ext>
                    </a:extLst>
                  </a:tr>
                  <a:tr h="113429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rgbClr val="A50021"/>
                              </a:solidFill>
                            </a:rPr>
                            <a:t>Commutative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YES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NO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YES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NO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12837151"/>
                      </a:ext>
                    </a:extLst>
                  </a:tr>
                  <a:tr h="279689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solidFill>
                                <a:srgbClr val="A50021"/>
                              </a:solidFill>
                            </a:rPr>
                            <a:t>Example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5 + 3 = 8</a:t>
                          </a:r>
                        </a:p>
                        <a:p>
                          <a:pPr algn="ctr"/>
                          <a:r>
                            <a:rPr lang="en-US" sz="2800" dirty="0"/>
                            <a:t> </a:t>
                          </a:r>
                        </a:p>
                        <a:p>
                          <a:pPr algn="ctr"/>
                          <a:r>
                            <a:rPr lang="en-US" sz="2800" dirty="0"/>
                            <a:t>3 + 5 = 8</a:t>
                          </a:r>
                          <a:endParaRPr lang="en-AU" sz="2800" dirty="0"/>
                        </a:p>
                        <a:p>
                          <a:pPr algn="ctr"/>
                          <a:endParaRPr lang="en-US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5 - 3 = 2</a:t>
                          </a:r>
                        </a:p>
                        <a:p>
                          <a:pPr algn="ctr"/>
                          <a:endParaRPr lang="en-US" sz="2800" dirty="0"/>
                        </a:p>
                        <a:p>
                          <a:pPr algn="ctr"/>
                          <a:r>
                            <a:rPr lang="en-US" sz="2800" dirty="0"/>
                            <a:t>3 - 5 = -2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×5=10</m:t>
                                </m:r>
                              </m:oMath>
                            </m:oMathPara>
                          </a14:m>
                          <a:endParaRPr lang="en-US" sz="2800" b="0" dirty="0">
                            <a:ea typeface="Cambria Math" panose="02040503050406030204" pitchFamily="18" charset="0"/>
                          </a:endParaRPr>
                        </a:p>
                        <a:p>
                          <a:pPr algn="ctr"/>
                          <a:endParaRPr lang="en-US" sz="2800" b="0" dirty="0">
                            <a:ea typeface="Cambria Math" panose="02040503050406030204" pitchFamily="18" charset="0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×2=10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÷3=2</m:t>
                                </m:r>
                              </m:oMath>
                            </m:oMathPara>
                          </a14:m>
                          <a:endParaRPr lang="en-US" sz="2800" b="0" dirty="0">
                            <a:ea typeface="Cambria Math" panose="02040503050406030204" pitchFamily="18" charset="0"/>
                          </a:endParaRPr>
                        </a:p>
                        <a:p>
                          <a:pPr algn="ctr"/>
                          <a:endParaRPr lang="en-US" sz="2800" b="0" dirty="0">
                            <a:ea typeface="Cambria Math" panose="02040503050406030204" pitchFamily="18" charset="0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÷6=</m:t>
                                </m:r>
                                <m:f>
                                  <m:f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3909444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80846534"/>
                  </p:ext>
                </p:extLst>
              </p:nvPr>
            </p:nvGraphicFramePr>
            <p:xfrm>
              <a:off x="2583541" y="1349827"/>
              <a:ext cx="9376230" cy="506548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57830">
                      <a:extLst>
                        <a:ext uri="{9D8B030D-6E8A-4147-A177-3AD203B41FA5}">
                          <a16:colId xmlns:a16="http://schemas.microsoft.com/office/drawing/2014/main" val="3728935664"/>
                        </a:ext>
                      </a:extLst>
                    </a:gridCol>
                    <a:gridCol w="1524000">
                      <a:extLst>
                        <a:ext uri="{9D8B030D-6E8A-4147-A177-3AD203B41FA5}">
                          <a16:colId xmlns:a16="http://schemas.microsoft.com/office/drawing/2014/main" val="2539558543"/>
                        </a:ext>
                      </a:extLst>
                    </a:gridCol>
                    <a:gridCol w="1901372">
                      <a:extLst>
                        <a:ext uri="{9D8B030D-6E8A-4147-A177-3AD203B41FA5}">
                          <a16:colId xmlns:a16="http://schemas.microsoft.com/office/drawing/2014/main" val="496565223"/>
                        </a:ext>
                      </a:extLst>
                    </a:gridCol>
                    <a:gridCol w="2238152">
                      <a:extLst>
                        <a:ext uri="{9D8B030D-6E8A-4147-A177-3AD203B41FA5}">
                          <a16:colId xmlns:a16="http://schemas.microsoft.com/office/drawing/2014/main" val="617504021"/>
                        </a:ext>
                      </a:extLst>
                    </a:gridCol>
                    <a:gridCol w="1854876">
                      <a:extLst>
                        <a:ext uri="{9D8B030D-6E8A-4147-A177-3AD203B41FA5}">
                          <a16:colId xmlns:a16="http://schemas.microsoft.com/office/drawing/2014/main" val="4061803434"/>
                        </a:ext>
                      </a:extLst>
                    </a:gridCol>
                  </a:tblGrid>
                  <a:tr h="113429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solidFill>
                                <a:srgbClr val="A50021"/>
                              </a:solidFill>
                            </a:rPr>
                            <a:t>Operation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Addition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Subtraction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Multiplication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Division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89885647"/>
                      </a:ext>
                    </a:extLst>
                  </a:tr>
                  <a:tr h="113429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rgbClr val="A50021"/>
                              </a:solidFill>
                            </a:rPr>
                            <a:t>Commutative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YES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NO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YES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NO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12837151"/>
                      </a:ext>
                    </a:extLst>
                  </a:tr>
                  <a:tr h="279689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solidFill>
                                <a:srgbClr val="A50021"/>
                              </a:solidFill>
                            </a:rPr>
                            <a:t>Example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5 + 3 = 8</a:t>
                          </a:r>
                        </a:p>
                        <a:p>
                          <a:pPr algn="ctr"/>
                          <a:r>
                            <a:rPr lang="en-US" sz="2800" dirty="0"/>
                            <a:t> </a:t>
                          </a:r>
                        </a:p>
                        <a:p>
                          <a:pPr algn="ctr"/>
                          <a:r>
                            <a:rPr lang="en-US" sz="2800" dirty="0"/>
                            <a:t>3 + 5 = 8</a:t>
                          </a:r>
                          <a:endParaRPr lang="en-AU" sz="2800" dirty="0"/>
                        </a:p>
                        <a:p>
                          <a:pPr algn="ctr"/>
                          <a:endParaRPr lang="en-US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5 - 3 = 2</a:t>
                          </a:r>
                        </a:p>
                        <a:p>
                          <a:pPr algn="ctr"/>
                          <a:endParaRPr lang="en-US" sz="2800" dirty="0"/>
                        </a:p>
                        <a:p>
                          <a:pPr algn="ctr"/>
                          <a:r>
                            <a:rPr lang="en-US" sz="2800" dirty="0"/>
                            <a:t>3 - 5 = -2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35870" t="-81481" r="-83967" b="-4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06579" t="-81481" r="-1645" b="-4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3909444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592078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2012" y="206725"/>
            <a:ext cx="11655188" cy="707886"/>
          </a:xfrm>
          <a:prstGeom prst="rect">
            <a:avLst/>
          </a:prstGeom>
          <a:solidFill>
            <a:srgbClr val="FFFF66"/>
          </a:solidFill>
          <a:ln w="38100" cmpd="sng">
            <a:solidFill>
              <a:srgbClr val="FF33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atin typeface="Chalkboard"/>
                <a:cs typeface="Chalkboard"/>
              </a:rPr>
              <a:t>Task Side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80827" y="1766807"/>
            <a:ext cx="791165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Once your table is complete and done neatly please complete Task 7.5 (Page 92)</a:t>
            </a:r>
          </a:p>
          <a:p>
            <a:endParaRPr lang="en-US" sz="2800" dirty="0"/>
          </a:p>
          <a:p>
            <a:endParaRPr lang="en-US" sz="2800" dirty="0"/>
          </a:p>
          <a:p>
            <a:r>
              <a:rPr lang="en-US" sz="2800" dirty="0"/>
              <a:t>And then complete your summary  </a:t>
            </a:r>
          </a:p>
        </p:txBody>
      </p:sp>
    </p:spTree>
    <p:extLst>
      <p:ext uri="{BB962C8B-B14F-4D97-AF65-F5344CB8AC3E}">
        <p14:creationId xmlns:p14="http://schemas.microsoft.com/office/powerpoint/2010/main" val="28800774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500</TotalTime>
  <Words>520</Words>
  <Application>Microsoft Office PowerPoint</Application>
  <PresentationFormat>Widescreen</PresentationFormat>
  <Paragraphs>180</Paragraphs>
  <Slides>12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AR CENA</vt:lpstr>
      <vt:lpstr>Arial</vt:lpstr>
      <vt:lpstr>Arial Rounded MT Bold</vt:lpstr>
      <vt:lpstr>Calibri</vt:lpstr>
      <vt:lpstr>Calibri Light</vt:lpstr>
      <vt:lpstr>Cambria Math</vt:lpstr>
      <vt:lpstr>Chalkboard</vt:lpstr>
      <vt:lpstr>Comic Sans MS</vt:lpstr>
      <vt:lpstr>Office Theme</vt:lpstr>
      <vt:lpstr>My Algebra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Algebra Interactive Notebook</dc:title>
  <dc:creator>Nine Labuschagne</dc:creator>
  <cp:lastModifiedBy>Alexandria Latham</cp:lastModifiedBy>
  <cp:revision>26</cp:revision>
  <dcterms:created xsi:type="dcterms:W3CDTF">2017-06-07T01:11:15Z</dcterms:created>
  <dcterms:modified xsi:type="dcterms:W3CDTF">2017-06-11T05:33:07Z</dcterms:modified>
</cp:coreProperties>
</file>
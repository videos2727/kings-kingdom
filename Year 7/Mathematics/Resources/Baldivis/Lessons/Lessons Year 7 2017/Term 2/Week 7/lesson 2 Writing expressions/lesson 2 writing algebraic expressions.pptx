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4" r:id="rId2"/>
    <p:sldId id="263" r:id="rId3"/>
    <p:sldId id="268" r:id="rId4"/>
    <p:sldId id="269" r:id="rId5"/>
    <p:sldId id="270" r:id="rId6"/>
    <p:sldId id="271" r:id="rId7"/>
    <p:sldId id="272" r:id="rId8"/>
    <p:sldId id="273" r:id="rId9"/>
    <p:sldId id="267" r:id="rId10"/>
    <p:sldId id="257" r:id="rId11"/>
    <p:sldId id="260" r:id="rId12"/>
    <p:sldId id="266" r:id="rId13"/>
    <p:sldId id="275" r:id="rId14"/>
    <p:sldId id="262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</a:p>
          <a:p>
            <a:r>
              <a:rPr lang="en-AU" dirty="0" smtClean="0"/>
              <a:t>Each group should have cards as well as</a:t>
            </a:r>
            <a:r>
              <a:rPr lang="en-AU" baseline="0" dirty="0" smtClean="0"/>
              <a:t> a sheet to glue them onto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Make sure each</a:t>
            </a:r>
            <a:r>
              <a:rPr lang="en-AU" baseline="0" dirty="0" smtClean="0"/>
              <a:t> student gets a copy of this. Would definitely be good for their glossaries </a:t>
            </a:r>
          </a:p>
          <a:p>
            <a:endParaRPr lang="en-AU" baseline="0" dirty="0" smtClean="0"/>
          </a:p>
          <a:p>
            <a:r>
              <a:rPr lang="en-AU" baseline="0" dirty="0" smtClean="0"/>
              <a:t>Get students to glue the cards in the correct places (you now have some posters for your room)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6164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5/06/2017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Mental maths</a:t>
            </a:r>
            <a:endParaRPr lang="en-AU" dirty="0">
              <a:latin typeface="Algerian" panose="04020705040A02060702" pitchFamily="82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8201025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589096" y="20644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536065" y="2336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1208609" y="26890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20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810920" y="206448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32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365373" y="23366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457707" y="27059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1528542" y="359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1109838" y="396640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49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876411" y="3597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7301477" y="35927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423850" y="3956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6877853" y="39563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368396" y="41510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1363580" y="576461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6826217" y="60526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36</a:t>
            </a:r>
            <a:endParaRPr lang="en-AU" dirty="0"/>
          </a:p>
        </p:txBody>
      </p:sp>
      <p:sp>
        <p:nvSpPr>
          <p:cNvPr id="20" name="Rectangle 19"/>
          <p:cNvSpPr/>
          <p:nvPr/>
        </p:nvSpPr>
        <p:spPr>
          <a:xfrm>
            <a:off x="539552" y="2064483"/>
            <a:ext cx="7416824" cy="1148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/>
          <p:cNvSpPr/>
          <p:nvPr/>
        </p:nvSpPr>
        <p:spPr>
          <a:xfrm>
            <a:off x="691952" y="3751449"/>
            <a:ext cx="7416824" cy="1148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/>
          <p:cNvSpPr/>
          <p:nvPr/>
        </p:nvSpPr>
        <p:spPr>
          <a:xfrm>
            <a:off x="931652" y="5273485"/>
            <a:ext cx="7416824" cy="1148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881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Silent card shuffle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In groups of 4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Each group should have</a:t>
            </a:r>
          </a:p>
          <a:p>
            <a:pPr marL="0" indent="0">
              <a:buNone/>
            </a:pPr>
            <a:r>
              <a:rPr lang="en-AU" dirty="0" smtClean="0"/>
              <a:t>- 1 A3 page with a table on it</a:t>
            </a:r>
          </a:p>
          <a:p>
            <a:pPr marL="0" indent="0">
              <a:buNone/>
            </a:pPr>
            <a:r>
              <a:rPr lang="en-AU" dirty="0" smtClean="0"/>
              <a:t>- 20 cards (5 each)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Rules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AU" dirty="0" smtClean="0"/>
              <a:t>You may only touch your 5 cards when </a:t>
            </a:r>
            <a:r>
              <a:rPr lang="en-AU" b="1" u="sng" dirty="0" smtClean="0"/>
              <a:t>I say</a:t>
            </a:r>
          </a:p>
          <a:p>
            <a:pPr marL="514350" indent="-514350">
              <a:buAutoNum type="arabicPeriod"/>
            </a:pPr>
            <a:r>
              <a:rPr lang="en-AU" dirty="0" smtClean="0"/>
              <a:t>You can only touch </a:t>
            </a:r>
            <a:r>
              <a:rPr lang="en-AU" b="1" u="sng" dirty="0" smtClean="0"/>
              <a:t>your own 5 </a:t>
            </a:r>
            <a:r>
              <a:rPr lang="en-AU" dirty="0" smtClean="0"/>
              <a:t>cards!</a:t>
            </a:r>
          </a:p>
          <a:p>
            <a:pPr marL="514350" indent="-514350">
              <a:buAutoNum type="arabicPeriod"/>
            </a:pPr>
            <a:r>
              <a:rPr lang="en-AU" dirty="0" smtClean="0"/>
              <a:t>You cannot talk to each other</a:t>
            </a:r>
          </a:p>
          <a:p>
            <a:pPr marL="514350" indent="-514350">
              <a:buAutoNum type="arabicPeriod"/>
            </a:pPr>
            <a:r>
              <a:rPr lang="en-AU" dirty="0" smtClean="0"/>
              <a:t>Don’t be afraid to make mistakes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3958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Start 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(you have 3 mins)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Stay silent!!!</a:t>
            </a:r>
            <a:endParaRPr lang="en-AU" dirty="0"/>
          </a:p>
        </p:txBody>
      </p:sp>
      <p:pic>
        <p:nvPicPr>
          <p:cNvPr id="2050" name="Picture 2" descr="C:\Users\e4075868\AppData\Local\Microsoft\Windows\Temporary Internet Files\Content.IE5\J801ZEEM\shh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92896"/>
            <a:ext cx="568642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45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Lets check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(You have 1 minute)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Discuss with your group</a:t>
            </a:r>
          </a:p>
          <a:p>
            <a:r>
              <a:rPr lang="en-AU" dirty="0" smtClean="0"/>
              <a:t>Make some changes if you think you need to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295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Gallery Walk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Walk around the room in a clock wise direction and have a look at what other groups have done.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510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Make some final changes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Is your group’s correct?</a:t>
            </a:r>
          </a:p>
          <a:p>
            <a:r>
              <a:rPr lang="en-AU" dirty="0" smtClean="0"/>
              <a:t>Do you need to make some changes?</a:t>
            </a:r>
          </a:p>
          <a:p>
            <a:endParaRPr lang="en-AU" dirty="0"/>
          </a:p>
          <a:p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 algn="ctr">
              <a:buNone/>
            </a:pPr>
            <a:r>
              <a:rPr lang="en-AU" u="sng" dirty="0" smtClean="0"/>
              <a:t>Be prepared to share you group’s response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31825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lgerian" panose="04020705040A02060702" pitchFamily="82" charset="0"/>
              </a:rPr>
              <a:t>Are you ready for the answer reveal?</a:t>
            </a:r>
            <a:endParaRPr lang="en-AU" dirty="0">
              <a:latin typeface="Algerian" panose="04020705040A02060702" pitchFamily="82" charset="0"/>
            </a:endParaRPr>
          </a:p>
        </p:txBody>
      </p:sp>
      <p:pic>
        <p:nvPicPr>
          <p:cNvPr id="4098" name="Picture 2" descr="C:\Users\e4075868\AppData\Local\Microsoft\Windows\Temporary Internet Files\Content.IE5\J801ZEEM\are-you-ready[1]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276872"/>
            <a:ext cx="4078443" cy="2532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79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99939"/>
              </p:ext>
            </p:extLst>
          </p:nvPr>
        </p:nvGraphicFramePr>
        <p:xfrm>
          <a:off x="826661" y="1428404"/>
          <a:ext cx="7632848" cy="396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212"/>
                <a:gridCol w="1908212"/>
                <a:gridCol w="1908212"/>
                <a:gridCol w="1908212"/>
              </a:tblGrid>
              <a:tr h="696656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+</a:t>
                      </a:r>
                      <a:endParaRPr lang="en-A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-</a:t>
                      </a:r>
                      <a:endParaRPr lang="en-A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x</a:t>
                      </a:r>
                      <a:endParaRPr lang="en-A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÷</a:t>
                      </a:r>
                      <a:endParaRPr lang="en-AU" sz="3200" dirty="0"/>
                    </a:p>
                  </a:txBody>
                  <a:tcPr/>
                </a:tc>
              </a:tr>
              <a:tr h="3263784">
                <a:tc>
                  <a:txBody>
                    <a:bodyPr/>
                    <a:lstStyle/>
                    <a:p>
                      <a:r>
                        <a:rPr lang="en-AU" dirty="0" smtClean="0"/>
                        <a:t>Add</a:t>
                      </a:r>
                    </a:p>
                    <a:p>
                      <a:r>
                        <a:rPr lang="en-AU" dirty="0" smtClean="0"/>
                        <a:t>Sum</a:t>
                      </a:r>
                    </a:p>
                    <a:p>
                      <a:r>
                        <a:rPr lang="en-AU" dirty="0" smtClean="0"/>
                        <a:t>Increased by</a:t>
                      </a:r>
                    </a:p>
                    <a:p>
                      <a:r>
                        <a:rPr lang="en-AU" dirty="0" smtClean="0"/>
                        <a:t>Total</a:t>
                      </a:r>
                    </a:p>
                    <a:p>
                      <a:r>
                        <a:rPr lang="en-AU" dirty="0" smtClean="0"/>
                        <a:t>plus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Decreased by</a:t>
                      </a:r>
                    </a:p>
                    <a:p>
                      <a:r>
                        <a:rPr lang="en-AU" dirty="0" smtClean="0"/>
                        <a:t>Difference</a:t>
                      </a:r>
                    </a:p>
                    <a:p>
                      <a:r>
                        <a:rPr lang="en-AU" dirty="0" smtClean="0"/>
                        <a:t>Less than</a:t>
                      </a:r>
                    </a:p>
                    <a:p>
                      <a:r>
                        <a:rPr lang="en-AU" dirty="0" smtClean="0"/>
                        <a:t>Subtract</a:t>
                      </a:r>
                    </a:p>
                    <a:p>
                      <a:r>
                        <a:rPr lang="en-AU" dirty="0" smtClean="0"/>
                        <a:t>Take</a:t>
                      </a:r>
                      <a:r>
                        <a:rPr lang="en-AU" baseline="0" dirty="0" smtClean="0"/>
                        <a:t> away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By (dimensions)</a:t>
                      </a:r>
                    </a:p>
                    <a:p>
                      <a:r>
                        <a:rPr lang="en-AU" dirty="0" smtClean="0"/>
                        <a:t>Double</a:t>
                      </a:r>
                    </a:p>
                    <a:p>
                      <a:r>
                        <a:rPr lang="en-AU" dirty="0" smtClean="0"/>
                        <a:t>Product</a:t>
                      </a:r>
                    </a:p>
                    <a:p>
                      <a:r>
                        <a:rPr lang="en-AU" dirty="0" smtClean="0"/>
                        <a:t>Times</a:t>
                      </a:r>
                    </a:p>
                    <a:p>
                      <a:r>
                        <a:rPr lang="en-AU" dirty="0" smtClean="0"/>
                        <a:t>multiply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Halve</a:t>
                      </a:r>
                    </a:p>
                    <a:p>
                      <a:r>
                        <a:rPr lang="en-AU" dirty="0" smtClean="0"/>
                        <a:t>Quotient</a:t>
                      </a:r>
                    </a:p>
                    <a:p>
                      <a:r>
                        <a:rPr lang="en-AU" dirty="0" smtClean="0"/>
                        <a:t>Divide</a:t>
                      </a:r>
                    </a:p>
                    <a:p>
                      <a:r>
                        <a:rPr lang="en-AU" dirty="0" smtClean="0"/>
                        <a:t>Share</a:t>
                      </a:r>
                    </a:p>
                    <a:p>
                      <a:r>
                        <a:rPr lang="en-AU" dirty="0" smtClean="0"/>
                        <a:t>split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987824" y="505074"/>
            <a:ext cx="3310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5400" dirty="0" smtClean="0">
                <a:latin typeface="Algerian" panose="04020705040A02060702" pitchFamily="82" charset="0"/>
              </a:rPr>
              <a:t>Answers</a:t>
            </a:r>
            <a:endParaRPr lang="en-AU" sz="5400" dirty="0">
              <a:latin typeface="Algerian" panose="04020705040A02060702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5840297"/>
            <a:ext cx="6280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Take a photo of the correct answers (This can go in your glossary)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2308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Lesson objective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Turn sentences into algebraic expressions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96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Algebra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do we write algebraic expressions?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889951" y="2167727"/>
            <a:ext cx="4808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>
                <a:solidFill>
                  <a:srgbClr val="0070C0"/>
                </a:solidFill>
              </a:rPr>
              <a:t>expression</a:t>
            </a:r>
            <a:r>
              <a:rPr lang="en-US" dirty="0"/>
              <a:t> is a group of terms 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/>
              <a:t>the terms are separated by + or – signs)</a:t>
            </a:r>
            <a:endParaRPr lang="en-AU" dirty="0"/>
          </a:p>
        </p:txBody>
      </p:sp>
      <p:pic>
        <p:nvPicPr>
          <p:cNvPr id="14" name="Picture 13" descr="http://www.mathsisfun.com/algebra/images/expression-term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830" y="2767429"/>
            <a:ext cx="2016224" cy="1327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771800" y="4725144"/>
            <a:ext cx="2836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 an expression</a:t>
            </a:r>
          </a:p>
          <a:p>
            <a:r>
              <a:rPr lang="en-AU" dirty="0" smtClean="0"/>
              <a:t>Example:</a:t>
            </a:r>
            <a:br>
              <a:rPr lang="en-AU" dirty="0" smtClean="0"/>
            </a:br>
            <a:r>
              <a:rPr lang="en-AU" dirty="0" smtClean="0"/>
              <a:t>a) the sum of three and four</a:t>
            </a:r>
            <a:endParaRPr lang="en-AU" dirty="0"/>
          </a:p>
        </p:txBody>
      </p:sp>
      <p:sp>
        <p:nvSpPr>
          <p:cNvPr id="8" name="Rounded Rectangle 7"/>
          <p:cNvSpPr/>
          <p:nvPr/>
        </p:nvSpPr>
        <p:spPr>
          <a:xfrm>
            <a:off x="5880306" y="3803256"/>
            <a:ext cx="3635896" cy="27363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AU" sz="2400" dirty="0" smtClean="0"/>
              <a:t>What are the numbers?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What are you being asked to do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Write the expression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742481" y="5976297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3         4</a:t>
            </a:r>
            <a:endParaRPr lang="en-AU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995936" y="5517232"/>
            <a:ext cx="433789" cy="4590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4637278" y="5648474"/>
            <a:ext cx="510786" cy="3278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984534" y="5976297"/>
                <a:ext cx="4106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534" y="5976297"/>
                <a:ext cx="41068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-80898" y="2306226"/>
            <a:ext cx="239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an expression? 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119515" y="4869159"/>
            <a:ext cx="1860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we write an expression from a sentence?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e4075868\AppData\Local\Microsoft\Windows\Temporary Internet Files\Content.IE5\J801ZEEM\school_clipart_boy_writting_1156372780[1]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120" y="4631492"/>
            <a:ext cx="2497460" cy="199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43608" y="365755"/>
            <a:ext cx="33297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 smtClean="0">
                <a:latin typeface="Algerian" panose="04020705040A02060702" pitchFamily="82" charset="0"/>
              </a:rPr>
              <a:t>Try these</a:t>
            </a:r>
            <a:endParaRPr lang="en-AU" sz="4800" dirty="0">
              <a:latin typeface="Algerian" panose="04020705040A02060702" pitchFamily="8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64088" y="197932"/>
            <a:ext cx="3635896" cy="27363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AU" sz="2400" dirty="0" smtClean="0"/>
              <a:t>What are the numbers?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What are you being asked to do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Write the expression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467544" y="1844824"/>
            <a:ext cx="656340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AU" sz="2400" dirty="0" smtClean="0"/>
              <a:t>Write an expression for these;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 smtClean="0"/>
              <a:t>The sum of six and seven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 smtClean="0"/>
              <a:t>the product of nine and three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 smtClean="0"/>
              <a:t>The difference between twenty and thirteen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sz="2400" dirty="0" smtClean="0"/>
              <a:t>The sum of six and nine is shared between three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3608" y="365755"/>
            <a:ext cx="29642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 smtClean="0">
                <a:latin typeface="Algerian" panose="04020705040A02060702" pitchFamily="82" charset="0"/>
              </a:rPr>
              <a:t>Answers</a:t>
            </a:r>
            <a:endParaRPr lang="en-AU" sz="4800" dirty="0">
              <a:latin typeface="Algerian" panose="04020705040A02060702" pitchFamily="82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364088" y="197932"/>
            <a:ext cx="3635896" cy="27363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AU" sz="2400" dirty="0" smtClean="0"/>
              <a:t>What are the numbers?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What are you being asked to do</a:t>
            </a:r>
          </a:p>
          <a:p>
            <a:pPr marL="342900" indent="-342900">
              <a:buAutoNum type="arabicPeriod"/>
            </a:pPr>
            <a:r>
              <a:rPr lang="en-AU" sz="2400" dirty="0" smtClean="0"/>
              <a:t>Write the expression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67544" y="1844824"/>
                <a:ext cx="8130687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AU" sz="2400" dirty="0" smtClean="0"/>
                  <a:t>The sum of six and seven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6+7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AU" sz="2400" dirty="0" smtClean="0"/>
                  <a:t>the product of nine and three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9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×3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AU" sz="2400" dirty="0" smtClean="0"/>
                  <a:t>The difference between twenty and thirteen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20−13</m:t>
                    </m:r>
                  </m:oMath>
                </a14:m>
                <a:endParaRPr lang="en-AU" sz="2400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lnSpc>
                    <a:spcPct val="200000"/>
                  </a:lnSpc>
                  <a:buAutoNum type="arabicPeriod"/>
                </a:pPr>
                <a:r>
                  <a:rPr lang="en-AU" sz="2400" dirty="0" smtClean="0"/>
                  <a:t>The sum of six and nine is shared between three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(6+9)</m:t>
                    </m:r>
                    <m:r>
                      <a:rPr lang="en-AU" sz="2400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÷3</m:t>
                    </m:r>
                  </m:oMath>
                </a14:m>
                <a:endParaRPr lang="en-AU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844824"/>
                <a:ext cx="8130687" cy="3046988"/>
              </a:xfrm>
              <a:prstGeom prst="rect">
                <a:avLst/>
              </a:prstGeom>
              <a:blipFill rotWithShape="1">
                <a:blip r:embed="rId3"/>
                <a:stretch>
                  <a:fillRect l="-1200" b="-4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C:\Users\e4075868\AppData\Local\Microsoft\Windows\Temporary Internet Files\Content.IE5\4JPRA91W\objectif4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402" y="4891812"/>
            <a:ext cx="1598969" cy="159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75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Activity</a:t>
            </a:r>
            <a:endParaRPr lang="en-AU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AU" b="1" dirty="0" smtClean="0"/>
              <a:t>Page 90 </a:t>
            </a:r>
            <a:r>
              <a:rPr lang="en-AU" dirty="0" smtClean="0"/>
              <a:t>exercise </a:t>
            </a:r>
            <a:r>
              <a:rPr lang="en-AU" b="1" dirty="0" smtClean="0"/>
              <a:t>7.3</a:t>
            </a:r>
            <a:endParaRPr lang="en-AU" b="1" dirty="0"/>
          </a:p>
        </p:txBody>
      </p:sp>
      <p:pic>
        <p:nvPicPr>
          <p:cNvPr id="3074" name="Picture 2" descr="C:\Users\e4075868\AppData\Local\Microsoft\Windows\Temporary Internet Files\Content.IE5\RP2BT71J\7615529-math-kids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23867"/>
            <a:ext cx="5940152" cy="405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lgerian" panose="04020705040A02060702" pitchFamily="82" charset="0"/>
              </a:rPr>
              <a:t>Lets make sentences</a:t>
            </a:r>
            <a:endParaRPr lang="en-AU" dirty="0"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Turn these into a sentences</a:t>
                </a:r>
              </a:p>
              <a:p>
                <a:pPr marL="0" indent="0">
                  <a:buNone/>
                </a:pPr>
                <a:r>
                  <a:rPr lang="en-AU" dirty="0" err="1" smtClean="0"/>
                  <a:t>Eg</a:t>
                </a:r>
                <a:r>
                  <a:rPr lang="en-AU" dirty="0" smtClean="0"/>
                  <a:t>. 3+4            three is increased by four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6−9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3×4+12</m:t>
                    </m:r>
                  </m:oMath>
                </a14:m>
                <a:endParaRPr lang="en-AU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Arrow 3"/>
          <p:cNvSpPr/>
          <p:nvPr/>
        </p:nvSpPr>
        <p:spPr>
          <a:xfrm>
            <a:off x="2195736" y="2348880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5330</TotalTime>
  <Words>488</Words>
  <Application>Microsoft Office PowerPoint</Application>
  <PresentationFormat>On-screen Show (4:3)</PresentationFormat>
  <Paragraphs>134</Paragraphs>
  <Slides>15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Mental maths</vt:lpstr>
      <vt:lpstr>Silent card shuffle</vt:lpstr>
      <vt:lpstr>Rules</vt:lpstr>
      <vt:lpstr>Start  (you have 3 mins)</vt:lpstr>
      <vt:lpstr>Lets check (You have 1 minute)</vt:lpstr>
      <vt:lpstr>Gallery Walk</vt:lpstr>
      <vt:lpstr>Make some final changes</vt:lpstr>
      <vt:lpstr>Are you ready for the answer reveal?</vt:lpstr>
      <vt:lpstr>PowerPoint Presentation</vt:lpstr>
      <vt:lpstr>Lesson objective</vt:lpstr>
      <vt:lpstr>PowerPoint Presentation</vt:lpstr>
      <vt:lpstr>PowerPoint Presentation</vt:lpstr>
      <vt:lpstr>PowerPoint Presentation</vt:lpstr>
      <vt:lpstr>Activity</vt:lpstr>
      <vt:lpstr>Lets make sentences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21</cp:revision>
  <dcterms:created xsi:type="dcterms:W3CDTF">2016-10-20T03:14:06Z</dcterms:created>
  <dcterms:modified xsi:type="dcterms:W3CDTF">2017-06-05T13:33:44Z</dcterms:modified>
</cp:coreProperties>
</file>
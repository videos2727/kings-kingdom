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7" r:id="rId3"/>
    <p:sldId id="266" r:id="rId4"/>
    <p:sldId id="258" r:id="rId5"/>
    <p:sldId id="260" r:id="rId6"/>
    <p:sldId id="263" r:id="rId7"/>
    <p:sldId id="264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674" autoAdjust="0"/>
  </p:normalViewPr>
  <p:slideViewPr>
    <p:cSldViewPr snapToGrid="0" snapToObjects="1">
      <p:cViewPr varScale="1">
        <p:scale>
          <a:sx n="107" d="100"/>
          <a:sy n="107" d="100"/>
        </p:scale>
        <p:origin x="-2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66110-1BEE-7348-ABD8-091244265342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5058B-A270-1946-9BA3-FC521E8DB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7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Link to past experiences or knowledge of the students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Actively involve the students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Relevant to the objective of the upcoming lesson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Practise the skill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Encouragement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Practise the skill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Encouragement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8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4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7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60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6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5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9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1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4700-A5CF-604A-9717-8642DD66B2A1}" type="datetimeFigureOut">
              <a:rPr lang="en-US" smtClean="0"/>
              <a:t>19/03/17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E5FD5-5A73-6942-AE0E-B7961F74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2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67073"/>
            <a:ext cx="7772400" cy="2033378"/>
          </a:xfrm>
        </p:spPr>
        <p:txBody>
          <a:bodyPr>
            <a:normAutofit/>
          </a:bodyPr>
          <a:lstStyle/>
          <a:p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halkboard"/>
                <a:cs typeface="Chalkboard"/>
              </a:rPr>
              <a:t>Sample space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Year </a:t>
            </a:r>
            <a:r>
              <a:rPr lang="en-US" b="1" dirty="0" smtClean="0"/>
              <a:t>7</a:t>
            </a:r>
            <a:endParaRPr lang="en-US" b="1" dirty="0" smtClean="0"/>
          </a:p>
          <a:p>
            <a:r>
              <a:rPr lang="en-US" dirty="0" smtClean="0"/>
              <a:t>Week </a:t>
            </a:r>
            <a:r>
              <a:rPr lang="en-US" dirty="0" smtClean="0"/>
              <a:t>8</a:t>
            </a:r>
            <a:endParaRPr lang="en-US" dirty="0" smtClean="0"/>
          </a:p>
          <a:p>
            <a:r>
              <a:rPr lang="en-US" dirty="0" smtClean="0"/>
              <a:t>Lesson </a:t>
            </a:r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503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Mental Math</a:t>
            </a:r>
            <a:endParaRPr lang="en-US" sz="4000" dirty="0">
              <a:latin typeface="Chalkboard"/>
              <a:cs typeface="Chalkbo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165" y="1050976"/>
            <a:ext cx="7267561" cy="563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(Do this on your task side of your book)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Write the following words as fractions: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 smtClean="0"/>
              <a:t>one – half   </a:t>
            </a:r>
            <a:r>
              <a:rPr lang="en-US" sz="2400" dirty="0" smtClean="0">
                <a:solidFill>
                  <a:srgbClr val="FF0000"/>
                </a:solidFill>
              </a:rPr>
              <a:t>     </a:t>
            </a:r>
            <a:endParaRPr lang="en-US" sz="2400" dirty="0" smtClean="0"/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 smtClean="0"/>
              <a:t>four – fifths     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Write the following fractions as words: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 smtClean="0"/>
              <a:t>3/4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 smtClean="0"/>
              <a:t>1/8</a:t>
            </a:r>
            <a:endParaRPr lang="en-US" sz="2400" dirty="0" smtClean="0">
              <a:solidFill>
                <a:srgbClr val="FF0000"/>
              </a:solidFill>
            </a:endParaRPr>
          </a:p>
          <a:p>
            <a:pPr lvl="1"/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81 – 19 =</a:t>
            </a:r>
          </a:p>
          <a:p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30 x 7 =  </a:t>
            </a:r>
          </a:p>
          <a:p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57 + 8 =  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868831" y="2195985"/>
            <a:ext cx="615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1/2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3612" y="3650919"/>
            <a:ext cx="206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three – fourths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68831" y="2622039"/>
            <a:ext cx="615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4/5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33612" y="4099441"/>
            <a:ext cx="1869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one – eighths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1069" y="4756760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62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12322" y="5419577"/>
            <a:ext cx="652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210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05076" y="6221621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65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4309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 your learning log out to show me what you have learnt about Measurement</a:t>
            </a:r>
          </a:p>
        </p:txBody>
      </p:sp>
    </p:spTree>
    <p:extLst>
      <p:ext uri="{BB962C8B-B14F-4D97-AF65-F5344CB8AC3E}">
        <p14:creationId xmlns:p14="http://schemas.microsoft.com/office/powerpoint/2010/main" val="907487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rgbClr val="DBEEF4"/>
          </a:solidFill>
          <a:ln w="19050" cmpd="sng">
            <a:solidFill>
              <a:srgbClr val="21596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Last </a:t>
            </a:r>
            <a:r>
              <a:rPr lang="en-US" sz="4000" dirty="0">
                <a:latin typeface="Chalkboard"/>
                <a:cs typeface="Chalkboard"/>
              </a:rPr>
              <a:t>L</a:t>
            </a:r>
            <a:r>
              <a:rPr lang="en-US" sz="4000" dirty="0" smtClean="0">
                <a:latin typeface="Chalkboard"/>
                <a:cs typeface="Chalkboard"/>
              </a:rPr>
              <a:t>esson </a:t>
            </a:r>
            <a:r>
              <a:rPr lang="en-US" sz="4000" dirty="0">
                <a:latin typeface="Chalkboard"/>
                <a:cs typeface="Chalkboard"/>
              </a:rPr>
              <a:t>R</a:t>
            </a:r>
            <a:r>
              <a:rPr lang="en-US" sz="4000" dirty="0" smtClean="0">
                <a:latin typeface="Chalkboard"/>
                <a:cs typeface="Chalkboard"/>
              </a:rPr>
              <a:t>ecap</a:t>
            </a:r>
            <a:endParaRPr lang="en-US" sz="40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165" y="1107910"/>
            <a:ext cx="3927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probability?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5738" y="1661132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800" dirty="0" smtClean="0"/>
              <a:t>The probability of an event is the </a:t>
            </a:r>
            <a:r>
              <a:rPr lang="en-AU" sz="2800" u="sng" dirty="0" smtClean="0"/>
              <a:t>chance of that event happening </a:t>
            </a:r>
            <a:r>
              <a:rPr lang="en-AU" sz="2800" dirty="0" smtClean="0"/>
              <a:t>between 0 and 1. </a:t>
            </a:r>
            <a:endParaRPr lang="en-AU" sz="2800" dirty="0" smtClean="0"/>
          </a:p>
        </p:txBody>
      </p:sp>
      <p:pic>
        <p:nvPicPr>
          <p:cNvPr id="5" name="Picture 4" descr="&lt;strong&gt;Probability&lt;/strong&gt; - Wikipedi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256" y="900383"/>
            <a:ext cx="2145744" cy="2145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164" y="3915801"/>
            <a:ext cx="5512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the probability scale?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2495739" y="4670843"/>
            <a:ext cx="457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</a:rPr>
              <a:t>A </a:t>
            </a:r>
            <a:r>
              <a:rPr lang="en-AU" sz="2800" b="1" dirty="0">
                <a:solidFill>
                  <a:srgbClr val="000000"/>
                </a:solidFill>
              </a:rPr>
              <a:t>probability scale</a:t>
            </a:r>
            <a:r>
              <a:rPr lang="en-AU" sz="2800" dirty="0">
                <a:solidFill>
                  <a:srgbClr val="000000"/>
                </a:solidFill>
              </a:rPr>
              <a:t>, starting at 0 (impossible) and ending at 1 (certain).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655230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What is the meaning of Sample Space?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9351" y="45022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Sample Space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6174" y="1574002"/>
            <a:ext cx="20230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What is Sample Space??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614187" y="1574002"/>
            <a:ext cx="510291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 Sample Space is a complete list of </a:t>
            </a:r>
            <a:r>
              <a:rPr lang="en-US" sz="2800" b="1" dirty="0" smtClean="0"/>
              <a:t>all</a:t>
            </a:r>
            <a:r>
              <a:rPr lang="en-US" sz="2800" dirty="0" smtClean="0"/>
              <a:t> possible outcomes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614187" y="3224612"/>
            <a:ext cx="5102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</a:t>
            </a:r>
          </a:p>
          <a:p>
            <a:endParaRPr lang="en-US" sz="2800" dirty="0"/>
          </a:p>
          <a:p>
            <a:r>
              <a:rPr lang="en-US" sz="2800" dirty="0" smtClean="0"/>
              <a:t>Tossing a coin: There are two possibilities: heads or tails</a:t>
            </a:r>
          </a:p>
          <a:p>
            <a:endParaRPr lang="en-US" sz="2800" dirty="0"/>
          </a:p>
          <a:p>
            <a:pPr algn="ctr"/>
            <a:r>
              <a:rPr lang="en-US" sz="2800" b="1" dirty="0" smtClean="0"/>
              <a:t>The Sample Space is: S = { H, T }</a:t>
            </a:r>
            <a:endParaRPr lang="en-US" sz="2800" b="1" dirty="0"/>
          </a:p>
        </p:txBody>
      </p:sp>
      <p:pic>
        <p:nvPicPr>
          <p:cNvPr id="5" name="Picture 4" descr="graphics-coins-691670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478" y="3744774"/>
            <a:ext cx="15113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85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mpd="sng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Examples</a:t>
            </a:r>
            <a:endParaRPr lang="en-US" sz="40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165" y="1158410"/>
            <a:ext cx="885173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/>
              <a:t>Sample Space for the toss of a die: </a:t>
            </a:r>
            <a:r>
              <a:rPr lang="en-US" sz="2800" b="1" dirty="0" smtClean="0"/>
              <a:t>S = { 1,2,3,4,5,6 }</a:t>
            </a:r>
          </a:p>
          <a:p>
            <a:pPr marL="457200" indent="-457200">
              <a:buFont typeface="Arial"/>
              <a:buChar char="•"/>
            </a:pPr>
            <a:endParaRPr lang="en-US" sz="2800" b="1" dirty="0" smtClean="0"/>
          </a:p>
          <a:p>
            <a:pPr marL="457200" indent="-457200">
              <a:buFont typeface="Arial"/>
              <a:buChar char="•"/>
            </a:pPr>
            <a:endParaRPr lang="en-US" sz="2800" b="1" dirty="0"/>
          </a:p>
          <a:p>
            <a:pPr marL="457200" indent="-457200">
              <a:buFont typeface="Arial"/>
              <a:buChar char="•"/>
            </a:pPr>
            <a:r>
              <a:rPr lang="en-US" sz="2800" dirty="0" smtClean="0"/>
              <a:t>Sample Space for choosing a card from a deck</a:t>
            </a:r>
          </a:p>
          <a:p>
            <a:r>
              <a:rPr lang="en-US" sz="2800" dirty="0"/>
              <a:t>	</a:t>
            </a:r>
            <a:r>
              <a:rPr lang="en-US" sz="2800" b="1" dirty="0" smtClean="0"/>
              <a:t>S = {</a:t>
            </a:r>
            <a:r>
              <a:rPr lang="cs-CZ" sz="2800" b="1" dirty="0" smtClean="0"/>
              <a:t>Hearts: 2, 3, 4, 5, 6, 7, 8, 9, 10, j, </a:t>
            </a:r>
            <a:r>
              <a:rPr lang="cs-CZ" sz="2800" b="1" dirty="0" err="1" smtClean="0"/>
              <a:t>q</a:t>
            </a:r>
            <a:r>
              <a:rPr lang="cs-CZ" sz="2800" b="1" dirty="0" smtClean="0"/>
              <a:t>, k, A.</a:t>
            </a:r>
          </a:p>
          <a:p>
            <a:r>
              <a:rPr lang="cs-CZ" sz="2800" b="1" dirty="0" smtClean="0"/>
              <a:t>		  Clubs: 2, 3, 4, 5, 6, 7, 8, 9, 10, j, </a:t>
            </a:r>
            <a:r>
              <a:rPr lang="cs-CZ" sz="2800" b="1" dirty="0" err="1" smtClean="0"/>
              <a:t>q</a:t>
            </a:r>
            <a:r>
              <a:rPr lang="cs-CZ" sz="2800" b="1" dirty="0" smtClean="0"/>
              <a:t>, k, A.</a:t>
            </a:r>
          </a:p>
          <a:p>
            <a:r>
              <a:rPr lang="cs-CZ" sz="2800" b="1" dirty="0" smtClean="0"/>
              <a:t>		  Spades: 2, 3, 4, 5, 6, 7, 8, 9, 10, j, </a:t>
            </a:r>
            <a:r>
              <a:rPr lang="cs-CZ" sz="2800" b="1" dirty="0" err="1" smtClean="0"/>
              <a:t>q</a:t>
            </a:r>
            <a:r>
              <a:rPr lang="cs-CZ" sz="2800" b="1" dirty="0" smtClean="0"/>
              <a:t>, k, A.</a:t>
            </a:r>
          </a:p>
          <a:p>
            <a:r>
              <a:rPr lang="cs-CZ" sz="2800" b="1" dirty="0" smtClean="0"/>
              <a:t>		  Diamonds: 2, 3, 4, 5, 6, 7, 8, 9, 10, j, </a:t>
            </a:r>
            <a:r>
              <a:rPr lang="cs-CZ" sz="2800" b="1" dirty="0" err="1" smtClean="0"/>
              <a:t>q</a:t>
            </a:r>
            <a:r>
              <a:rPr lang="cs-CZ" sz="2800" b="1" dirty="0" smtClean="0"/>
              <a:t>, k, A.}</a:t>
            </a:r>
            <a:endParaRPr lang="en-US" sz="2800" b="1" dirty="0" smtClean="0"/>
          </a:p>
          <a:p>
            <a:r>
              <a:rPr lang="en-US" sz="2800" b="1" dirty="0" smtClean="0"/>
              <a:t> </a:t>
            </a:r>
          </a:p>
          <a:p>
            <a:endParaRPr lang="en-US" sz="2800" b="1" dirty="0"/>
          </a:p>
          <a:p>
            <a:endParaRPr lang="en-US" sz="2800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r>
              <a:rPr lang="en-US" sz="2800" dirty="0" smtClean="0"/>
              <a:t> </a:t>
            </a:r>
            <a:endParaRPr lang="en-US" sz="2800" dirty="0"/>
          </a:p>
        </p:txBody>
      </p:sp>
      <p:pic>
        <p:nvPicPr>
          <p:cNvPr id="4" name="Picture 3" descr="graphics-dice-231882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374" y="1809181"/>
            <a:ext cx="1345526" cy="1374462"/>
          </a:xfrm>
          <a:prstGeom prst="rect">
            <a:avLst/>
          </a:prstGeom>
        </p:spPr>
      </p:pic>
      <p:pic>
        <p:nvPicPr>
          <p:cNvPr id="6" name="Picture 5" descr="graphics-cards-778788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81" y="4772263"/>
            <a:ext cx="4119099" cy="136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21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mpd="sng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lkboard"/>
                <a:cs typeface="Chalkboard"/>
              </a:rPr>
              <a:t>Task</a:t>
            </a:r>
            <a:endParaRPr lang="en-US" sz="32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165" y="1103926"/>
            <a:ext cx="8851735" cy="6494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Write the Sample Space for spinning the spinner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Calculate the probability of getting blue.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Calculate the probability of getting yellow.</a:t>
            </a:r>
            <a:endParaRPr lang="en-US" dirty="0" smtClean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Spin the spinner 50 times and tally up the amount of times it lands on a colour in the table. 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 marL="800100" lvl="1" indent="-342900">
              <a:spcAft>
                <a:spcPts val="1200"/>
              </a:spcAft>
              <a:buFont typeface="+mj-lt"/>
              <a:buAutoNum type="alphaLcPeriod"/>
            </a:pPr>
            <a:r>
              <a:rPr lang="en-US" dirty="0" smtClean="0"/>
              <a:t>What fraction of the spins are blue?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lphaLcPeriod"/>
            </a:pPr>
            <a:r>
              <a:rPr lang="en-US" dirty="0" smtClean="0"/>
              <a:t>What fraction of the spins are green?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lphaLcPeriod"/>
            </a:pPr>
            <a:r>
              <a:rPr lang="en-US" dirty="0" smtClean="0"/>
              <a:t>What fraction of the spins are yellow?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lphaLcPeriod"/>
            </a:pPr>
            <a:r>
              <a:rPr lang="en-US" dirty="0" smtClean="0"/>
              <a:t>What fraction of the spins are red?</a:t>
            </a:r>
            <a:endParaRPr lang="en-US" dirty="0" smtClean="0"/>
          </a:p>
          <a:p>
            <a:r>
              <a:rPr lang="en-US" dirty="0"/>
              <a:t>Is your answer to 2</a:t>
            </a:r>
            <a:r>
              <a:rPr lang="en-US" dirty="0" smtClean="0"/>
              <a:t> and 3 different to answer a and c? </a:t>
            </a:r>
            <a:r>
              <a:rPr lang="en-US" dirty="0"/>
              <a:t>Which answer is more reliable? </a:t>
            </a:r>
          </a:p>
          <a:p>
            <a:r>
              <a:rPr lang="en-US" dirty="0"/>
              <a:t>The answers are different. The Sample Space gives the theoretical answer. The spinner is experimental - the more spins, the more likely the answer will be 0.25. 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Screen Shot 2017-03-19 at 8.41.5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61" y="3888511"/>
            <a:ext cx="1543041" cy="15810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686793"/>
              </p:ext>
            </p:extLst>
          </p:nvPr>
        </p:nvGraphicFramePr>
        <p:xfrm>
          <a:off x="372655" y="3043681"/>
          <a:ext cx="6298028" cy="84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507"/>
                <a:gridCol w="1574507"/>
                <a:gridCol w="1574507"/>
                <a:gridCol w="1574507"/>
              </a:tblGrid>
              <a:tr h="473990"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Blue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Yellow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8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9857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mpd="sng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lkboard"/>
                <a:cs typeface="Chalkboard"/>
              </a:rPr>
              <a:t>Task</a:t>
            </a:r>
            <a:endParaRPr lang="en-US" sz="3200" dirty="0">
              <a:latin typeface="Chalkboard"/>
              <a:cs typeface="Chalkbo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5691" y="1572122"/>
            <a:ext cx="37291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Complete Worksheet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77210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417</Words>
  <Application>Microsoft Macintosh PowerPoint</Application>
  <PresentationFormat>On-screen Show (4:3)</PresentationFormat>
  <Paragraphs>97</Paragraphs>
  <Slides>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Sample space</vt:lpstr>
      <vt:lpstr>PowerPoint Presentation</vt:lpstr>
      <vt:lpstr>Learning Log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space</dc:title>
  <dc:creator>E4093549</dc:creator>
  <cp:lastModifiedBy>E4093549</cp:lastModifiedBy>
  <cp:revision>13</cp:revision>
  <dcterms:created xsi:type="dcterms:W3CDTF">2017-03-19T11:45:10Z</dcterms:created>
  <dcterms:modified xsi:type="dcterms:W3CDTF">2017-03-19T13:00:01Z</dcterms:modified>
</cp:coreProperties>
</file>
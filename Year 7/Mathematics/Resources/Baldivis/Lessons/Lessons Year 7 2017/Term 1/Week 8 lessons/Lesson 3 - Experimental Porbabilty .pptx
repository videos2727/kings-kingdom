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159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39387-69DD-1448-9F35-E7FAAF82243E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15BE9-1550-BA42-A36C-A6CAFE1A3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2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Share with students what they are learning or will be able to do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Why the lesson is important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the opportunity to practise with teacher guidance 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Provide immediate and specific feedback with knowledge of results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7CFEC14-1EC7-334A-B2DD-63AE84B1EC29}" type="slidenum">
              <a:rPr lang="en-US"/>
              <a:pPr eaLnBrk="1" hangingPunct="1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9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03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9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0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5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9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7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2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9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03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08A0D0-1162-FA4F-A6D8-8634BF1570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7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CB761-73BB-8648-860F-03A98DC534A3}" type="datetimeFigureOut">
              <a:rPr lang="en-US" smtClean="0"/>
              <a:t>21/03/17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Year 7 Seating Pla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6416"/>
            <a:ext cx="9144000" cy="47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55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67073"/>
            <a:ext cx="7772400" cy="2033378"/>
          </a:xfrm>
        </p:spPr>
        <p:txBody>
          <a:bodyPr>
            <a:normAutofit/>
          </a:bodyPr>
          <a:lstStyle/>
          <a:p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halkboard"/>
                <a:cs typeface="Chalkboard"/>
              </a:rPr>
              <a:t>Experimental Probability </a:t>
            </a:r>
            <a:endParaRPr lang="en-U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Chalkboard"/>
              <a:cs typeface="Chalkboa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Year </a:t>
            </a:r>
            <a:r>
              <a:rPr lang="en-US" b="1" dirty="0" smtClean="0"/>
              <a:t>7</a:t>
            </a:r>
            <a:endParaRPr lang="en-US" b="1" dirty="0" smtClean="0"/>
          </a:p>
          <a:p>
            <a:r>
              <a:rPr lang="en-US" dirty="0" smtClean="0"/>
              <a:t>Week </a:t>
            </a:r>
            <a:r>
              <a:rPr lang="en-US" dirty="0" smtClean="0"/>
              <a:t>8</a:t>
            </a:r>
            <a:endParaRPr lang="en-US" dirty="0" smtClean="0"/>
          </a:p>
          <a:p>
            <a:r>
              <a:rPr lang="en-US" smtClean="0"/>
              <a:t>Lesson </a:t>
            </a:r>
            <a:r>
              <a:rPr lang="en-US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8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mpd="sng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halkboard"/>
                <a:cs typeface="Chalkboard"/>
              </a:rPr>
              <a:t>Last Lesson Recap</a:t>
            </a:r>
            <a:endParaRPr lang="en-US" sz="40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7164" y="1196243"/>
            <a:ext cx="4591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What is Theoretical Probability?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459456" y="1676708"/>
            <a:ext cx="6912768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Theoretical probability is determining the chance of an event occurring</a:t>
            </a:r>
          </a:p>
          <a:p>
            <a:endParaRPr lang="en-AU" sz="2400" dirty="0"/>
          </a:p>
        </p:txBody>
      </p:sp>
      <p:pic>
        <p:nvPicPr>
          <p:cNvPr id="5" name="Picture 4" descr="definiti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19" y="3639615"/>
            <a:ext cx="6543284" cy="228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896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experimental probability 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4691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Experimental Probability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16424"/>
            <a:ext cx="2189228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What is Experimental Probability?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300528" y="1593332"/>
            <a:ext cx="65062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Is the number of times an event happens over the total number of trials 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Experimental Probability =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number of times the event occurred</a:t>
            </a:r>
          </a:p>
          <a:p>
            <a:pPr algn="ctr"/>
            <a:r>
              <a:rPr lang="en-US" sz="2400" dirty="0" smtClean="0"/>
              <a:t>------------------------------------------------</a:t>
            </a:r>
          </a:p>
          <a:p>
            <a:pPr algn="ctr"/>
            <a:r>
              <a:rPr lang="en-US" sz="2400" dirty="0" smtClean="0"/>
              <a:t>number of trials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42076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experimental probability 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4691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Experimental Probability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1642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Difference between Theoretical and Experimental Probability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2286000" y="1674489"/>
            <a:ext cx="65207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Theoretical probability </a:t>
            </a:r>
            <a:r>
              <a:rPr lang="en-US" sz="2400" dirty="0"/>
              <a:t>is what we</a:t>
            </a:r>
            <a:r>
              <a:rPr lang="en-US" sz="2400" u="sng" dirty="0"/>
              <a:t> expect </a:t>
            </a:r>
            <a:r>
              <a:rPr lang="en-US" sz="2400" dirty="0"/>
              <a:t>to </a:t>
            </a:r>
            <a:r>
              <a:rPr lang="en-US" sz="2400" dirty="0" smtClean="0"/>
              <a:t>happen</a:t>
            </a:r>
          </a:p>
          <a:p>
            <a:endParaRPr lang="en-US" sz="2400" dirty="0" smtClean="0"/>
          </a:p>
          <a:p>
            <a:r>
              <a:rPr lang="en-US" sz="2400" b="1" dirty="0" smtClean="0"/>
              <a:t>Experimental </a:t>
            </a:r>
            <a:r>
              <a:rPr lang="en-US" sz="2400" b="1" dirty="0"/>
              <a:t>probability </a:t>
            </a:r>
            <a:r>
              <a:rPr lang="en-US" sz="2400" dirty="0"/>
              <a:t>is what </a:t>
            </a:r>
            <a:r>
              <a:rPr lang="en-US" sz="2400" u="sng" dirty="0"/>
              <a:t>actually</a:t>
            </a:r>
            <a:r>
              <a:rPr lang="en-US" sz="2400" dirty="0"/>
              <a:t> happens when we try it out. </a:t>
            </a:r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8676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mpd="sng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halkboard"/>
                <a:cs typeface="Chalkboard"/>
              </a:rPr>
              <a:t>Examples</a:t>
            </a:r>
            <a:endParaRPr lang="en-US" sz="4000" dirty="0">
              <a:latin typeface="Chalkboard"/>
              <a:cs typeface="Chalkboard"/>
            </a:endParaRPr>
          </a:p>
        </p:txBody>
      </p:sp>
      <p:pic>
        <p:nvPicPr>
          <p:cNvPr id="3" name="Picture 2" descr="Screen Shot 2017-03-21 at 8.56.3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8052"/>
            <a:ext cx="9144000" cy="529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710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>
            <a:spLocks noChangeArrowheads="1"/>
          </p:cNvSpPr>
          <p:nvPr/>
        </p:nvSpPr>
        <p:spPr bwMode="auto">
          <a:xfrm>
            <a:off x="0" y="76200"/>
            <a:ext cx="9144000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6600" b="1">
                <a:latin typeface="Lucida Sans" charset="0"/>
              </a:rPr>
              <a:t>M&amp;M Experiment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3200" b="1">
                <a:latin typeface="Lucida Sans" charset="0"/>
              </a:rPr>
              <a:t>Which color are you most likely to get?</a:t>
            </a:r>
          </a:p>
        </p:txBody>
      </p:sp>
      <p:pic>
        <p:nvPicPr>
          <p:cNvPr id="2051" name="Picture 6" descr="280px-Plain-M%26Ms-P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58988"/>
            <a:ext cx="5029200" cy="380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4780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/>
          <p:cNvSpPr txBox="1">
            <a:spLocks noChangeArrowheads="1"/>
          </p:cNvSpPr>
          <p:nvPr/>
        </p:nvSpPr>
        <p:spPr bwMode="auto">
          <a:xfrm>
            <a:off x="0" y="76200"/>
            <a:ext cx="9144000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6600" b="1">
                <a:latin typeface="Lucida Sans" charset="0"/>
              </a:rPr>
              <a:t>Step 1</a:t>
            </a:r>
          </a:p>
          <a:p>
            <a:pPr algn="ctr" eaLnBrk="1" hangingPunct="1">
              <a:spcBef>
                <a:spcPct val="50000"/>
              </a:spcBef>
            </a:pPr>
            <a:endParaRPr lang="en-US" sz="6600" b="1">
              <a:latin typeface="Lucida Sans" charset="0"/>
            </a:endParaRPr>
          </a:p>
        </p:txBody>
      </p:sp>
      <p:pic>
        <p:nvPicPr>
          <p:cNvPr id="3075" name="Picture 6" descr="colormyworld_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257800"/>
            <a:ext cx="2133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8" descr="colormyworld_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257800"/>
            <a:ext cx="2133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69" descr="colormyworld_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257800"/>
            <a:ext cx="2133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70" descr="colormyworld_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257800"/>
            <a:ext cx="2133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7678" y="1590605"/>
            <a:ext cx="8713828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 smtClean="0">
                <a:latin typeface="+mj-lt"/>
              </a:rPr>
              <a:t>Glue the table into your book on the task page</a:t>
            </a:r>
          </a:p>
          <a:p>
            <a:pPr lvl="0" defTabSz="914400" fontAlgn="base">
              <a:spcBef>
                <a:spcPct val="50000"/>
              </a:spcBef>
              <a:spcAft>
                <a:spcPct val="0"/>
              </a:spcAft>
            </a:pPr>
            <a:endParaRPr lang="en-US" sz="2000" dirty="0" smtClean="0">
              <a:latin typeface="+mj-lt"/>
            </a:endParaRPr>
          </a:p>
          <a:p>
            <a:pPr lvl="0"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 smtClean="0">
                <a:latin typeface="+mj-lt"/>
              </a:rPr>
              <a:t>Count </a:t>
            </a:r>
            <a:r>
              <a:rPr lang="en-US" sz="2000" dirty="0">
                <a:latin typeface="+mj-lt"/>
              </a:rPr>
              <a:t>the number of </a:t>
            </a:r>
            <a:r>
              <a:rPr lang="en-US" sz="2000" dirty="0" smtClean="0">
                <a:latin typeface="+mj-lt"/>
              </a:rPr>
              <a:t>all M&amp;Ms in your packet</a:t>
            </a:r>
            <a:endParaRPr lang="en-US" sz="2000" dirty="0">
              <a:latin typeface="+mj-lt"/>
            </a:endParaRPr>
          </a:p>
          <a:p>
            <a:pPr lvl="0" defTabSz="914400" fontAlgn="base">
              <a:spcBef>
                <a:spcPct val="50000"/>
              </a:spcBef>
              <a:spcAft>
                <a:spcPct val="0"/>
              </a:spcAft>
            </a:pPr>
            <a:endParaRPr lang="en-US" sz="2000" dirty="0">
              <a:latin typeface="+mj-lt"/>
            </a:endParaRP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latin typeface="+mj-lt"/>
              </a:rPr>
              <a:t>Count the number of </a:t>
            </a:r>
            <a:r>
              <a:rPr lang="en-US" sz="2000" dirty="0"/>
              <a:t>M&amp;</a:t>
            </a:r>
            <a:r>
              <a:rPr lang="en-US" sz="2000" dirty="0" smtClean="0"/>
              <a:t>Ms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for each color. </a:t>
            </a:r>
            <a:endParaRPr lang="en-US" sz="2000" dirty="0" smtClean="0">
              <a:latin typeface="+mj-lt"/>
            </a:endParaRP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endParaRPr lang="en-US" sz="2000" dirty="0">
              <a:latin typeface="+mj-lt"/>
            </a:endParaRP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 smtClean="0">
                <a:latin typeface="+mj-lt"/>
              </a:rPr>
              <a:t>Fill in your table</a:t>
            </a:r>
            <a:endParaRPr lang="en-US" sz="2000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813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533400" y="76200"/>
            <a:ext cx="8077200" cy="7140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6600" b="1" dirty="0">
                <a:latin typeface="Lucida Sans" charset="0"/>
              </a:rPr>
              <a:t>Step </a:t>
            </a:r>
            <a:r>
              <a:rPr lang="en-US" sz="6600" b="1" dirty="0" smtClean="0">
                <a:latin typeface="Lucida Sans" charset="0"/>
              </a:rPr>
              <a:t>2</a:t>
            </a:r>
            <a:endParaRPr lang="en-US" sz="6600" b="1" dirty="0">
              <a:latin typeface="Lucida Sans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sz="2000" b="1" dirty="0">
                <a:latin typeface="Lucida Sans" charset="0"/>
              </a:rPr>
              <a:t>Analyze your results by responding to the following questions.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According to your results, which color is most likely? Which color is least likely?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What is the sample space for picking an M&amp;M in your package?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Is picking a blue or orange candy more likely? Why?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Do you have any colors that have equally likely outcomes? Explain!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 smtClean="0">
                <a:latin typeface="+mj-lt"/>
              </a:rPr>
              <a:t>What </a:t>
            </a:r>
            <a:r>
              <a:rPr lang="en-US" sz="2000" dirty="0">
                <a:latin typeface="+mj-lt"/>
              </a:rPr>
              <a:t>is the probability </a:t>
            </a:r>
            <a:r>
              <a:rPr lang="en-US" sz="2000" dirty="0" smtClean="0">
                <a:latin typeface="+mj-lt"/>
              </a:rPr>
              <a:t>of:</a:t>
            </a: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r>
              <a:rPr lang="en-US" sz="2000" dirty="0" smtClean="0">
                <a:latin typeface="+mj-lt"/>
              </a:rPr>
              <a:t>picking </a:t>
            </a:r>
            <a:r>
              <a:rPr lang="en-US" sz="2000" dirty="0">
                <a:latin typeface="+mj-lt"/>
              </a:rPr>
              <a:t>an orange M&amp;M?               </a:t>
            </a: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r>
              <a:rPr lang="en-US" sz="2000" dirty="0" smtClean="0">
                <a:latin typeface="+mj-lt"/>
              </a:rPr>
              <a:t>picking </a:t>
            </a:r>
            <a:r>
              <a:rPr lang="en-US" sz="2000" dirty="0">
                <a:latin typeface="+mj-lt"/>
              </a:rPr>
              <a:t>an orange or a yellow </a:t>
            </a:r>
            <a:r>
              <a:rPr lang="en-US" sz="2000" dirty="0" smtClean="0">
                <a:latin typeface="+mj-lt"/>
              </a:rPr>
              <a:t>M</a:t>
            </a:r>
            <a:r>
              <a:rPr lang="en-US" sz="2000" dirty="0">
                <a:latin typeface="+mj-lt"/>
              </a:rPr>
              <a:t>&amp;M? </a:t>
            </a:r>
            <a:endParaRPr lang="en-US" sz="2000" dirty="0" smtClean="0">
              <a:latin typeface="+mj-lt"/>
            </a:endParaRP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r>
              <a:rPr lang="en-US" sz="2000" dirty="0" smtClean="0">
                <a:latin typeface="+mj-lt"/>
              </a:rPr>
              <a:t>not </a:t>
            </a:r>
            <a:r>
              <a:rPr lang="en-US" sz="2000" dirty="0">
                <a:latin typeface="+mj-lt"/>
              </a:rPr>
              <a:t>picking an orange </a:t>
            </a:r>
            <a:r>
              <a:rPr lang="en-US" sz="2000" dirty="0" smtClean="0">
                <a:latin typeface="+mj-lt"/>
              </a:rPr>
              <a:t>M</a:t>
            </a:r>
            <a:r>
              <a:rPr lang="en-US" sz="2000" dirty="0">
                <a:latin typeface="+mj-lt"/>
              </a:rPr>
              <a:t>&amp;M? </a:t>
            </a:r>
            <a:endParaRPr lang="en-US" sz="2000" dirty="0" smtClean="0">
              <a:latin typeface="+mj-lt"/>
            </a:endParaRP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r>
              <a:rPr lang="en-US" sz="2000" dirty="0" smtClean="0">
                <a:latin typeface="+mj-lt"/>
              </a:rPr>
              <a:t>not </a:t>
            </a:r>
            <a:r>
              <a:rPr lang="en-US" sz="2000" dirty="0">
                <a:latin typeface="+mj-lt"/>
              </a:rPr>
              <a:t>picking an orange or a yellow </a:t>
            </a:r>
            <a:r>
              <a:rPr lang="en-US" sz="2000" dirty="0" smtClean="0">
                <a:latin typeface="+mj-lt"/>
              </a:rPr>
              <a:t>M</a:t>
            </a:r>
            <a:r>
              <a:rPr lang="en-US" sz="2000" dirty="0">
                <a:latin typeface="+mj-lt"/>
              </a:rPr>
              <a:t>&amp;M</a:t>
            </a:r>
            <a:r>
              <a:rPr lang="en-US" sz="2000" dirty="0" smtClean="0">
                <a:latin typeface="+mj-lt"/>
              </a:rPr>
              <a:t>?</a:t>
            </a: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endParaRPr lang="en-US" sz="2000" dirty="0" smtClean="0">
              <a:latin typeface="+mj-lt"/>
            </a:endParaRPr>
          </a:p>
          <a:p>
            <a:pPr marL="0" indent="0" eaLnBrk="1" hangingPunct="1">
              <a:spcAft>
                <a:spcPts val="600"/>
              </a:spcAft>
            </a:pPr>
            <a:r>
              <a:rPr lang="en-US" sz="2000" dirty="0" smtClean="0">
                <a:latin typeface="+mj-lt"/>
              </a:rPr>
              <a:t>Did </a:t>
            </a:r>
            <a:r>
              <a:rPr lang="en-US" sz="2000" dirty="0">
                <a:latin typeface="+mj-lt"/>
              </a:rPr>
              <a:t>we calculate and examine theoretical or experimental probability? How do you know? Elaborate!!!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endParaRPr lang="en-US" b="1" dirty="0">
              <a:latin typeface="Lucida Sans" charset="0"/>
            </a:endParaRPr>
          </a:p>
        </p:txBody>
      </p:sp>
      <p:pic>
        <p:nvPicPr>
          <p:cNvPr id="5123" name="Picture 6" descr="mmgro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0"/>
            <a:ext cx="1371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7" descr="mmgro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0"/>
            <a:ext cx="1371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2423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533400" y="304800"/>
            <a:ext cx="8153400" cy="630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 b="1" dirty="0">
                <a:latin typeface="Lucida Sans" charset="0"/>
              </a:rPr>
              <a:t>Step </a:t>
            </a:r>
            <a:r>
              <a:rPr lang="en-US" sz="4400" b="1" dirty="0" smtClean="0">
                <a:latin typeface="Lucida Sans" charset="0"/>
              </a:rPr>
              <a:t>3</a:t>
            </a:r>
            <a:endParaRPr lang="en-US" sz="4400" b="1" dirty="0">
              <a:latin typeface="Lucida Sans" charset="0"/>
            </a:endParaRPr>
          </a:p>
          <a:p>
            <a:r>
              <a:rPr lang="en-US" sz="2400" b="1" dirty="0">
                <a:latin typeface="Lucida Sans" charset="0"/>
              </a:rPr>
              <a:t>According to the M&amp;M website, each package of milk chocolate M&amp;M contains…</a:t>
            </a:r>
          </a:p>
          <a:p>
            <a:endParaRPr lang="en-US" sz="2400" b="1" dirty="0">
              <a:latin typeface="Lucida Sans" charset="0"/>
            </a:endParaRPr>
          </a:p>
          <a:p>
            <a:endParaRPr lang="en-US" sz="2400" b="1" dirty="0">
              <a:latin typeface="Lucida Sans" charset="0"/>
            </a:endParaRP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24% Blue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14% Brown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16% Green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20% Orange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13% Red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14% Yellow</a:t>
            </a:r>
          </a:p>
          <a:p>
            <a:pPr lvl="1">
              <a:buFontTx/>
              <a:buChar char="•"/>
            </a:pPr>
            <a:endParaRPr lang="en-US" sz="2400" b="1" dirty="0">
              <a:latin typeface="Lucida Sans" charset="0"/>
            </a:endParaRPr>
          </a:p>
          <a:p>
            <a:pPr lvl="1">
              <a:buFontTx/>
              <a:buChar char="•"/>
            </a:pPr>
            <a:endParaRPr lang="en-US" sz="2400" b="1" dirty="0">
              <a:latin typeface="Lucida Sans" charset="0"/>
            </a:endParaRPr>
          </a:p>
          <a:p>
            <a:r>
              <a:rPr lang="en-US" sz="2400" b="1" dirty="0" smtClean="0">
                <a:latin typeface="Lucida Sans" charset="0"/>
              </a:rPr>
              <a:t>How does your M&amp;M data compare to the theoretical data?</a:t>
            </a:r>
          </a:p>
          <a:p>
            <a:pPr algn="ctr"/>
            <a:r>
              <a:rPr lang="en-US" sz="2400" b="1" dirty="0" smtClean="0">
                <a:solidFill>
                  <a:srgbClr val="953735"/>
                </a:solidFill>
                <a:latin typeface="Lucida Sans" charset="0"/>
              </a:rPr>
              <a:t>You can now EAT your M&amp;Ms</a:t>
            </a:r>
            <a:endParaRPr lang="en-US" sz="2400" b="1" dirty="0">
              <a:solidFill>
                <a:srgbClr val="953735"/>
              </a:solidFill>
              <a:latin typeface="Lucida Sans" charset="0"/>
            </a:endParaRPr>
          </a:p>
        </p:txBody>
      </p:sp>
      <p:pic>
        <p:nvPicPr>
          <p:cNvPr id="6147" name="Picture 6" descr="M-and-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057400"/>
            <a:ext cx="4267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30051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Macintosh PowerPoint</Application>
  <PresentationFormat>On-screen Show (4:3)</PresentationFormat>
  <Paragraphs>78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Experimental Probability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E4093549</cp:lastModifiedBy>
  <cp:revision>1</cp:revision>
  <dcterms:created xsi:type="dcterms:W3CDTF">2017-03-21T01:31:55Z</dcterms:created>
  <dcterms:modified xsi:type="dcterms:W3CDTF">2017-03-21T01:32:38Z</dcterms:modified>
</cp:coreProperties>
</file>
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256" r:id="rId2"/>
    <p:sldId id="279" r:id="rId3"/>
    <p:sldId id="278" r:id="rId4"/>
    <p:sldId id="257" r:id="rId5"/>
    <p:sldId id="259" r:id="rId6"/>
    <p:sldId id="267" r:id="rId7"/>
    <p:sldId id="268" r:id="rId8"/>
    <p:sldId id="269" r:id="rId9"/>
    <p:sldId id="280" r:id="rId10"/>
    <p:sldId id="282" r:id="rId11"/>
    <p:sldId id="281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660"/>
  </p:normalViewPr>
  <p:slideViewPr>
    <p:cSldViewPr>
      <p:cViewPr>
        <p:scale>
          <a:sx n="100" d="100"/>
          <a:sy n="100" d="100"/>
        </p:scale>
        <p:origin x="480" y="-13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C5A2A-14F4-48BA-91EA-BAE624AB886F}" type="datetimeFigureOut">
              <a:rPr lang="en-US" smtClean="0"/>
              <a:t>2/20/2017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FCCF1-3136-445B-ADBD-C14BD50CC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2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FCCF1-3136-445B-ADBD-C14BD50CCE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5E51-1CE4-456F-B200-B7CC21BA3F36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82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43B7-1DF4-4DFB-9EBF-CCAA4A5960B8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763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3C1A2-C0FA-4BAB-BFF3-C092CE2EA77B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37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E5D-410E-4D12-8510-CDF173972A55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699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7313-C9AD-47F4-BA49-F6DD32637AB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021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ACD-327E-4399-B38C-67D01D2F53B6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45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EDE6-4E6E-47E3-AC7E-ABEA7017410F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985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32E9-1DC3-408D-8BCB-9C36571EF5AA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559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8109-8281-45AB-92B9-77D58AB05D5D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929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943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5082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723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2084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4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5032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C0E9-559A-4394-A8C1-E3130FC2DE2D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2620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2499-FE6B-4885-941C-2D27A843C59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527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3B91B3-E50F-4EFF-8D5F-21DA810ECD9F}" type="datetimeFigureOut">
              <a:rPr lang="en-AU" smtClean="0"/>
              <a:t>20/02/2017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2491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0" Type="http://schemas.openxmlformats.org/officeDocument/2006/relationships/image" Target="../media/image19.emf"/><Relationship Id="rId4" Type="http://schemas.openxmlformats.org/officeDocument/2006/relationships/image" Target="../media/image13.emf"/><Relationship Id="rId9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0688"/>
            <a:ext cx="7772400" cy="125031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Rounding Numbers and Estimation </a:t>
            </a:r>
          </a:p>
        </p:txBody>
      </p:sp>
      <p:grpSp>
        <p:nvGrpSpPr>
          <p:cNvPr id="13314" name="Group 39"/>
          <p:cNvGrpSpPr>
            <a:grpSpLocks/>
          </p:cNvGrpSpPr>
          <p:nvPr/>
        </p:nvGrpSpPr>
        <p:grpSpPr bwMode="auto">
          <a:xfrm>
            <a:off x="685800" y="2286000"/>
            <a:ext cx="6629400" cy="1676400"/>
            <a:chOff x="432" y="1440"/>
            <a:chExt cx="4176" cy="1056"/>
          </a:xfrm>
        </p:grpSpPr>
        <p:grpSp>
          <p:nvGrpSpPr>
            <p:cNvPr id="13319" name="Group 3"/>
            <p:cNvGrpSpPr>
              <a:grpSpLocks/>
            </p:cNvGrpSpPr>
            <p:nvPr/>
          </p:nvGrpSpPr>
          <p:grpSpPr bwMode="auto">
            <a:xfrm>
              <a:off x="432" y="1440"/>
              <a:ext cx="4176" cy="672"/>
              <a:chOff x="192" y="3120"/>
              <a:chExt cx="4176" cy="672"/>
            </a:xfrm>
          </p:grpSpPr>
          <p:grpSp>
            <p:nvGrpSpPr>
              <p:cNvPr id="13329" name="Group 4"/>
              <p:cNvGrpSpPr>
                <a:grpSpLocks/>
              </p:cNvGrpSpPr>
              <p:nvPr/>
            </p:nvGrpSpPr>
            <p:grpSpPr bwMode="auto">
              <a:xfrm>
                <a:off x="288" y="3120"/>
                <a:ext cx="4080" cy="336"/>
                <a:chOff x="288" y="3120"/>
                <a:chExt cx="4080" cy="336"/>
              </a:xfrm>
            </p:grpSpPr>
            <p:sp>
              <p:nvSpPr>
                <p:cNvPr id="13333" name="Line 5"/>
                <p:cNvSpPr>
                  <a:spLocks noChangeShapeType="1"/>
                </p:cNvSpPr>
                <p:nvPr/>
              </p:nvSpPr>
              <p:spPr bwMode="auto">
                <a:xfrm>
                  <a:off x="288" y="3120"/>
                  <a:ext cx="40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4" name="Line 6"/>
                <p:cNvSpPr>
                  <a:spLocks noChangeShapeType="1"/>
                </p:cNvSpPr>
                <p:nvPr/>
              </p:nvSpPr>
              <p:spPr bwMode="auto">
                <a:xfrm>
                  <a:off x="28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5" name="Line 7"/>
                <p:cNvSpPr>
                  <a:spLocks noChangeShapeType="1"/>
                </p:cNvSpPr>
                <p:nvPr/>
              </p:nvSpPr>
              <p:spPr bwMode="auto">
                <a:xfrm>
                  <a:off x="48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6" name="Line 8"/>
                <p:cNvSpPr>
                  <a:spLocks noChangeShapeType="1"/>
                </p:cNvSpPr>
                <p:nvPr/>
              </p:nvSpPr>
              <p:spPr bwMode="auto">
                <a:xfrm>
                  <a:off x="67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7" name="Line 9"/>
                <p:cNvSpPr>
                  <a:spLocks noChangeShapeType="1"/>
                </p:cNvSpPr>
                <p:nvPr/>
              </p:nvSpPr>
              <p:spPr bwMode="auto">
                <a:xfrm>
                  <a:off x="86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8" name="Line 10"/>
                <p:cNvSpPr>
                  <a:spLocks noChangeShapeType="1"/>
                </p:cNvSpPr>
                <p:nvPr/>
              </p:nvSpPr>
              <p:spPr bwMode="auto">
                <a:xfrm>
                  <a:off x="105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9" name="Line 11"/>
                <p:cNvSpPr>
                  <a:spLocks noChangeShapeType="1"/>
                </p:cNvSpPr>
                <p:nvPr/>
              </p:nvSpPr>
              <p:spPr bwMode="auto">
                <a:xfrm>
                  <a:off x="1248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0" name="Line 12"/>
                <p:cNvSpPr>
                  <a:spLocks noChangeShapeType="1"/>
                </p:cNvSpPr>
                <p:nvPr/>
              </p:nvSpPr>
              <p:spPr bwMode="auto">
                <a:xfrm>
                  <a:off x="144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1" name="Line 13"/>
                <p:cNvSpPr>
                  <a:spLocks noChangeShapeType="1"/>
                </p:cNvSpPr>
                <p:nvPr/>
              </p:nvSpPr>
              <p:spPr bwMode="auto">
                <a:xfrm>
                  <a:off x="163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2" name="Line 14"/>
                <p:cNvSpPr>
                  <a:spLocks noChangeShapeType="1"/>
                </p:cNvSpPr>
                <p:nvPr/>
              </p:nvSpPr>
              <p:spPr bwMode="auto">
                <a:xfrm>
                  <a:off x="182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3" name="Line 15"/>
                <p:cNvSpPr>
                  <a:spLocks noChangeShapeType="1"/>
                </p:cNvSpPr>
                <p:nvPr/>
              </p:nvSpPr>
              <p:spPr bwMode="auto">
                <a:xfrm>
                  <a:off x="201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4" name="Line 16"/>
                <p:cNvSpPr>
                  <a:spLocks noChangeShapeType="1"/>
                </p:cNvSpPr>
                <p:nvPr/>
              </p:nvSpPr>
              <p:spPr bwMode="auto">
                <a:xfrm>
                  <a:off x="220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5" name="Line 17"/>
                <p:cNvSpPr>
                  <a:spLocks noChangeShapeType="1"/>
                </p:cNvSpPr>
                <p:nvPr/>
              </p:nvSpPr>
              <p:spPr bwMode="auto">
                <a:xfrm>
                  <a:off x="240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6" name="Line 18"/>
                <p:cNvSpPr>
                  <a:spLocks noChangeShapeType="1"/>
                </p:cNvSpPr>
                <p:nvPr/>
              </p:nvSpPr>
              <p:spPr bwMode="auto">
                <a:xfrm>
                  <a:off x="259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7" name="Line 19"/>
                <p:cNvSpPr>
                  <a:spLocks noChangeShapeType="1"/>
                </p:cNvSpPr>
                <p:nvPr/>
              </p:nvSpPr>
              <p:spPr bwMode="auto">
                <a:xfrm>
                  <a:off x="278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8" name="Line 20"/>
                <p:cNvSpPr>
                  <a:spLocks noChangeShapeType="1"/>
                </p:cNvSpPr>
                <p:nvPr/>
              </p:nvSpPr>
              <p:spPr bwMode="auto">
                <a:xfrm>
                  <a:off x="297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9" name="Line 21"/>
                <p:cNvSpPr>
                  <a:spLocks noChangeShapeType="1"/>
                </p:cNvSpPr>
                <p:nvPr/>
              </p:nvSpPr>
              <p:spPr bwMode="auto">
                <a:xfrm>
                  <a:off x="3168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0" name="Line 22"/>
                <p:cNvSpPr>
                  <a:spLocks noChangeShapeType="1"/>
                </p:cNvSpPr>
                <p:nvPr/>
              </p:nvSpPr>
              <p:spPr bwMode="auto">
                <a:xfrm>
                  <a:off x="336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1" name="Line 23"/>
                <p:cNvSpPr>
                  <a:spLocks noChangeShapeType="1"/>
                </p:cNvSpPr>
                <p:nvPr/>
              </p:nvSpPr>
              <p:spPr bwMode="auto">
                <a:xfrm>
                  <a:off x="355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2" name="Line 24"/>
                <p:cNvSpPr>
                  <a:spLocks noChangeShapeType="1"/>
                </p:cNvSpPr>
                <p:nvPr/>
              </p:nvSpPr>
              <p:spPr bwMode="auto">
                <a:xfrm>
                  <a:off x="374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3" name="Line 25"/>
                <p:cNvSpPr>
                  <a:spLocks noChangeShapeType="1"/>
                </p:cNvSpPr>
                <p:nvPr/>
              </p:nvSpPr>
              <p:spPr bwMode="auto">
                <a:xfrm>
                  <a:off x="393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4" name="Line 26"/>
                <p:cNvSpPr>
                  <a:spLocks noChangeShapeType="1"/>
                </p:cNvSpPr>
                <p:nvPr/>
              </p:nvSpPr>
              <p:spPr bwMode="auto">
                <a:xfrm>
                  <a:off x="412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30" name="Text Box 27"/>
              <p:cNvSpPr txBox="1">
                <a:spLocks noChangeArrowheads="1"/>
              </p:cNvSpPr>
              <p:nvPr/>
            </p:nvSpPr>
            <p:spPr bwMode="auto">
              <a:xfrm>
                <a:off x="192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6</a:t>
                </a:r>
              </a:p>
            </p:txBody>
          </p:sp>
          <p:sp>
            <p:nvSpPr>
              <p:cNvPr id="13331" name="Text Box 28"/>
              <p:cNvSpPr txBox="1">
                <a:spLocks noChangeArrowheads="1"/>
              </p:cNvSpPr>
              <p:nvPr/>
            </p:nvSpPr>
            <p:spPr bwMode="auto">
              <a:xfrm>
                <a:off x="2112" y="350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7</a:t>
                </a:r>
              </a:p>
            </p:txBody>
          </p:sp>
          <p:sp>
            <p:nvSpPr>
              <p:cNvPr id="13332" name="Text Box 29"/>
              <p:cNvSpPr txBox="1">
                <a:spLocks noChangeArrowheads="1"/>
              </p:cNvSpPr>
              <p:nvPr/>
            </p:nvSpPr>
            <p:spPr bwMode="auto">
              <a:xfrm>
                <a:off x="4032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</p:grpSp>
        <p:sp>
          <p:nvSpPr>
            <p:cNvPr id="13320" name="Text Box 30"/>
            <p:cNvSpPr txBox="1">
              <a:spLocks noChangeArrowheads="1"/>
            </p:cNvSpPr>
            <p:nvPr/>
          </p:nvSpPr>
          <p:spPr bwMode="auto">
            <a:xfrm>
              <a:off x="864" y="21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6.3</a:t>
              </a:r>
            </a:p>
          </p:txBody>
        </p:sp>
        <p:sp>
          <p:nvSpPr>
            <p:cNvPr id="13321" name="Line 31"/>
            <p:cNvSpPr>
              <a:spLocks noChangeShapeType="1"/>
            </p:cNvSpPr>
            <p:nvPr/>
          </p:nvSpPr>
          <p:spPr bwMode="auto">
            <a:xfrm>
              <a:off x="1104" y="168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32"/>
            <p:cNvSpPr>
              <a:spLocks noChangeShapeType="1"/>
            </p:cNvSpPr>
            <p:nvPr/>
          </p:nvSpPr>
          <p:spPr bwMode="auto">
            <a:xfrm flipH="1" flipV="1">
              <a:off x="672" y="1872"/>
              <a:ext cx="336" cy="24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Text Box 33"/>
            <p:cNvSpPr txBox="1">
              <a:spLocks noChangeArrowheads="1"/>
            </p:cNvSpPr>
            <p:nvPr/>
          </p:nvSpPr>
          <p:spPr bwMode="auto">
            <a:xfrm>
              <a:off x="2640" y="211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7.2</a:t>
              </a:r>
            </a:p>
          </p:txBody>
        </p:sp>
        <p:sp>
          <p:nvSpPr>
            <p:cNvPr id="13324" name="Line 34"/>
            <p:cNvSpPr>
              <a:spLocks noChangeShapeType="1"/>
            </p:cNvSpPr>
            <p:nvPr/>
          </p:nvSpPr>
          <p:spPr bwMode="auto">
            <a:xfrm>
              <a:off x="2832" y="1632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35"/>
            <p:cNvSpPr>
              <a:spLocks noChangeShapeType="1"/>
            </p:cNvSpPr>
            <p:nvPr/>
          </p:nvSpPr>
          <p:spPr bwMode="auto">
            <a:xfrm flipH="1" flipV="1">
              <a:off x="2544" y="1872"/>
              <a:ext cx="144" cy="24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Text Box 36"/>
            <p:cNvSpPr txBox="1">
              <a:spLocks noChangeArrowheads="1"/>
            </p:cNvSpPr>
            <p:nvPr/>
          </p:nvSpPr>
          <p:spPr bwMode="auto">
            <a:xfrm>
              <a:off x="3792" y="220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7.8</a:t>
              </a:r>
            </a:p>
          </p:txBody>
        </p:sp>
        <p:sp>
          <p:nvSpPr>
            <p:cNvPr id="13327" name="Line 37"/>
            <p:cNvSpPr>
              <a:spLocks noChangeShapeType="1"/>
            </p:cNvSpPr>
            <p:nvPr/>
          </p:nvSpPr>
          <p:spPr bwMode="auto">
            <a:xfrm>
              <a:off x="3984" y="1680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38"/>
            <p:cNvSpPr>
              <a:spLocks noChangeShapeType="1"/>
            </p:cNvSpPr>
            <p:nvPr/>
          </p:nvSpPr>
          <p:spPr bwMode="auto">
            <a:xfrm flipV="1">
              <a:off x="4080" y="2016"/>
              <a:ext cx="192" cy="192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5" name="Text Box 40"/>
          <p:cNvSpPr txBox="1">
            <a:spLocks noChangeArrowheads="1"/>
          </p:cNvSpPr>
          <p:nvPr/>
        </p:nvSpPr>
        <p:spPr bwMode="auto">
          <a:xfrm>
            <a:off x="1066800" y="4495800"/>
            <a:ext cx="19812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2035 ≈ 2040 </a:t>
            </a:r>
          </a:p>
        </p:txBody>
      </p:sp>
      <p:sp>
        <p:nvSpPr>
          <p:cNvPr id="13316" name="Text Box 41"/>
          <p:cNvSpPr txBox="1">
            <a:spLocks noChangeArrowheads="1"/>
          </p:cNvSpPr>
          <p:nvPr/>
        </p:nvSpPr>
        <p:spPr bwMode="auto">
          <a:xfrm>
            <a:off x="4419600" y="5410199"/>
            <a:ext cx="1905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8985 ≈ 9000</a:t>
            </a:r>
          </a:p>
        </p:txBody>
      </p:sp>
      <p:sp>
        <p:nvSpPr>
          <p:cNvPr id="13317" name="Text Box 42"/>
          <p:cNvSpPr txBox="1">
            <a:spLocks noChangeArrowheads="1"/>
          </p:cNvSpPr>
          <p:nvPr/>
        </p:nvSpPr>
        <p:spPr bwMode="auto">
          <a:xfrm>
            <a:off x="1524000" y="5657557"/>
            <a:ext cx="1676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6.89 ≈ 6.9</a:t>
            </a:r>
          </a:p>
        </p:txBody>
      </p:sp>
      <p:sp>
        <p:nvSpPr>
          <p:cNvPr id="13318" name="Text Box 43"/>
          <p:cNvSpPr txBox="1">
            <a:spLocks noChangeArrowheads="1"/>
          </p:cNvSpPr>
          <p:nvPr/>
        </p:nvSpPr>
        <p:spPr bwMode="auto">
          <a:xfrm>
            <a:off x="5715000" y="4419600"/>
            <a:ext cx="2286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67 890 ≈ 68 000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587500"/>
            <a:ext cx="4240486" cy="132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I'm </a:t>
            </a:r>
            <a:r>
              <a:rPr lang="en-AU" sz="2600" dirty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gonna</a:t>
            </a: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pop some tags</a:t>
            </a:r>
            <a:b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</a:b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Only got twenty dollars in my pocket</a:t>
            </a:r>
            <a:endParaRPr lang="en-US" sz="2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87500"/>
            <a:ext cx="4176464" cy="5905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1997330"/>
            <a:ext cx="3528995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Milk (2L)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Nutella 750 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Avocado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Marshmallows Bag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74094"/>
              </p:ext>
            </p:extLst>
          </p:nvPr>
        </p:nvGraphicFramePr>
        <p:xfrm>
          <a:off x="4716016" y="4267593"/>
          <a:ext cx="4240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243">
                  <a:extLst>
                    <a:ext uri="{9D8B030D-6E8A-4147-A177-3AD203B41FA5}">
                      <a16:colId xmlns:a16="http://schemas.microsoft.com/office/drawing/2014/main" val="3543554502"/>
                    </a:ext>
                  </a:extLst>
                </a:gridCol>
                <a:gridCol w="2120243">
                  <a:extLst>
                    <a:ext uri="{9D8B030D-6E8A-4147-A177-3AD203B41FA5}">
                      <a16:colId xmlns:a16="http://schemas.microsoft.com/office/drawing/2014/main" val="154680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1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</a:t>
                      </a:r>
                      <a:r>
                        <a:rPr lang="en-US" baseline="0" dirty="0"/>
                        <a:t> (2 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37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Nutella (750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5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Avocado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0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Marshmallows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4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8742"/>
                  </a:ext>
                </a:extLst>
              </a:tr>
            </a:tbl>
          </a:graphicData>
        </a:graphic>
      </p:graphicFrame>
      <p:pic>
        <p:nvPicPr>
          <p:cNvPr id="7" name="Picture 6" descr="Mary Reibey &lt;strong&gt;Australian&lt;/strong&gt; $&lt;strong&gt;20&lt;/strong&gt; note (front) | Mary Reibey Convi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2" y="4393226"/>
            <a:ext cx="3603209" cy="1535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016" y="2204864"/>
            <a:ext cx="42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Can I buy the products in the shopping list with $20?</a:t>
            </a:r>
          </a:p>
        </p:txBody>
      </p:sp>
      <p:pic>
        <p:nvPicPr>
          <p:cNvPr id="10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2400" y="32007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8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</a:t>
            </a:r>
            <a:r>
              <a:rPr kumimoji="0" lang="en-AU" sz="24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rounding?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55776" y="2229832"/>
            <a:ext cx="6192691" cy="163121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To find the closest value, decide which is the last digit required;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Leave it the same if the next digit to the right is less than 5.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Increase it by 1 if the next digit is 5 or more.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77" y="2278613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round numbers?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5776" y="1556792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to estimate, we must round the numbers first.</a:t>
            </a:r>
          </a:p>
        </p:txBody>
      </p:sp>
    </p:spTree>
    <p:extLst>
      <p:ext uri="{BB962C8B-B14F-4D97-AF65-F5344CB8AC3E}">
        <p14:creationId xmlns:p14="http://schemas.microsoft.com/office/powerpoint/2010/main" val="280331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3200" dirty="0">
                <a:solidFill>
                  <a:schemeClr val="bg1"/>
                </a:solidFill>
              </a:rPr>
              <a:t>Rounding To The Nearest Whole Number.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685800" y="960438"/>
            <a:ext cx="2971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Consider the number:  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974123" y="838200"/>
            <a:ext cx="7620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dirty="0">
                <a:solidFill>
                  <a:schemeClr val="bg1"/>
                </a:solidFill>
              </a:rPr>
              <a:t>6.7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457200" y="1772816"/>
            <a:ext cx="6248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It is our task to decide if the number is closer to : 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609600" y="2438400"/>
            <a:ext cx="5334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371600" y="251460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or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2133600" y="2438400"/>
            <a:ext cx="5334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895600" y="2438400"/>
            <a:ext cx="5257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Look at the number line below: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81000" y="3200400"/>
            <a:ext cx="6629400" cy="1066800"/>
            <a:chOff x="192" y="3120"/>
            <a:chExt cx="4176" cy="672"/>
          </a:xfrm>
        </p:grpSpPr>
        <p:grpSp>
          <p:nvGrpSpPr>
            <p:cNvPr id="15383" name="Group 33"/>
            <p:cNvGrpSpPr>
              <a:grpSpLocks/>
            </p:cNvGrpSpPr>
            <p:nvPr/>
          </p:nvGrpSpPr>
          <p:grpSpPr bwMode="auto">
            <a:xfrm>
              <a:off x="288" y="3120"/>
              <a:ext cx="4080" cy="336"/>
              <a:chOff x="288" y="3120"/>
              <a:chExt cx="4080" cy="336"/>
            </a:xfrm>
          </p:grpSpPr>
          <p:sp>
            <p:nvSpPr>
              <p:cNvPr id="15387" name="Line 11"/>
              <p:cNvSpPr>
                <a:spLocks noChangeShapeType="1"/>
              </p:cNvSpPr>
              <p:nvPr/>
            </p:nvSpPr>
            <p:spPr bwMode="auto">
              <a:xfrm>
                <a:off x="288" y="3120"/>
                <a:ext cx="40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8" name="Line 12"/>
              <p:cNvSpPr>
                <a:spLocks noChangeShapeType="1"/>
              </p:cNvSpPr>
              <p:nvPr/>
            </p:nvSpPr>
            <p:spPr bwMode="auto">
              <a:xfrm>
                <a:off x="28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9" name="Line 13"/>
              <p:cNvSpPr>
                <a:spLocks noChangeShapeType="1"/>
              </p:cNvSpPr>
              <p:nvPr/>
            </p:nvSpPr>
            <p:spPr bwMode="auto">
              <a:xfrm>
                <a:off x="48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Line 14"/>
              <p:cNvSpPr>
                <a:spLocks noChangeShapeType="1"/>
              </p:cNvSpPr>
              <p:nvPr/>
            </p:nvSpPr>
            <p:spPr bwMode="auto">
              <a:xfrm>
                <a:off x="67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Line 15"/>
              <p:cNvSpPr>
                <a:spLocks noChangeShapeType="1"/>
              </p:cNvSpPr>
              <p:nvPr/>
            </p:nvSpPr>
            <p:spPr bwMode="auto">
              <a:xfrm>
                <a:off x="86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2" name="Line 16"/>
              <p:cNvSpPr>
                <a:spLocks noChangeShapeType="1"/>
              </p:cNvSpPr>
              <p:nvPr/>
            </p:nvSpPr>
            <p:spPr bwMode="auto">
              <a:xfrm>
                <a:off x="105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3" name="Line 17"/>
              <p:cNvSpPr>
                <a:spLocks noChangeShapeType="1"/>
              </p:cNvSpPr>
              <p:nvPr/>
            </p:nvSpPr>
            <p:spPr bwMode="auto">
              <a:xfrm>
                <a:off x="1248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4" name="Line 18"/>
              <p:cNvSpPr>
                <a:spLocks noChangeShapeType="1"/>
              </p:cNvSpPr>
              <p:nvPr/>
            </p:nvSpPr>
            <p:spPr bwMode="auto">
              <a:xfrm>
                <a:off x="144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5" name="Line 19"/>
              <p:cNvSpPr>
                <a:spLocks noChangeShapeType="1"/>
              </p:cNvSpPr>
              <p:nvPr/>
            </p:nvSpPr>
            <p:spPr bwMode="auto">
              <a:xfrm>
                <a:off x="163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6" name="Line 20"/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7" name="Line 21"/>
              <p:cNvSpPr>
                <a:spLocks noChangeShapeType="1"/>
              </p:cNvSpPr>
              <p:nvPr/>
            </p:nvSpPr>
            <p:spPr bwMode="auto">
              <a:xfrm>
                <a:off x="201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8" name="Line 22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9" name="Line 23"/>
              <p:cNvSpPr>
                <a:spLocks noChangeShapeType="1"/>
              </p:cNvSpPr>
              <p:nvPr/>
            </p:nvSpPr>
            <p:spPr bwMode="auto">
              <a:xfrm>
                <a:off x="240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0" name="Line 24"/>
              <p:cNvSpPr>
                <a:spLocks noChangeShapeType="1"/>
              </p:cNvSpPr>
              <p:nvPr/>
            </p:nvSpPr>
            <p:spPr bwMode="auto">
              <a:xfrm>
                <a:off x="259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1" name="Line 25"/>
              <p:cNvSpPr>
                <a:spLocks noChangeShapeType="1"/>
              </p:cNvSpPr>
              <p:nvPr/>
            </p:nvSpPr>
            <p:spPr bwMode="auto">
              <a:xfrm>
                <a:off x="278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Line 26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3" name="Line 27"/>
              <p:cNvSpPr>
                <a:spLocks noChangeShapeType="1"/>
              </p:cNvSpPr>
              <p:nvPr/>
            </p:nvSpPr>
            <p:spPr bwMode="auto">
              <a:xfrm>
                <a:off x="3168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4" name="Line 28"/>
              <p:cNvSpPr>
                <a:spLocks noChangeShapeType="1"/>
              </p:cNvSpPr>
              <p:nvPr/>
            </p:nvSpPr>
            <p:spPr bwMode="auto">
              <a:xfrm>
                <a:off x="336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5" name="Line 29"/>
              <p:cNvSpPr>
                <a:spLocks noChangeShapeType="1"/>
              </p:cNvSpPr>
              <p:nvPr/>
            </p:nvSpPr>
            <p:spPr bwMode="auto">
              <a:xfrm>
                <a:off x="355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6" name="Line 30"/>
              <p:cNvSpPr>
                <a:spLocks noChangeShapeType="1"/>
              </p:cNvSpPr>
              <p:nvPr/>
            </p:nvSpPr>
            <p:spPr bwMode="auto">
              <a:xfrm>
                <a:off x="374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7" name="Line 31"/>
              <p:cNvSpPr>
                <a:spLocks noChangeShapeType="1"/>
              </p:cNvSpPr>
              <p:nvPr/>
            </p:nvSpPr>
            <p:spPr bwMode="auto">
              <a:xfrm>
                <a:off x="393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Line 32"/>
              <p:cNvSpPr>
                <a:spLocks noChangeShapeType="1"/>
              </p:cNvSpPr>
              <p:nvPr/>
            </p:nvSpPr>
            <p:spPr bwMode="auto">
              <a:xfrm>
                <a:off x="412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84" name="Text Box 34"/>
            <p:cNvSpPr txBox="1">
              <a:spLocks noChangeArrowheads="1"/>
            </p:cNvSpPr>
            <p:nvPr/>
          </p:nvSpPr>
          <p:spPr bwMode="auto">
            <a:xfrm>
              <a:off x="19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15385" name="Text Box 35"/>
            <p:cNvSpPr txBox="1">
              <a:spLocks noChangeArrowheads="1"/>
            </p:cNvSpPr>
            <p:nvPr/>
          </p:nvSpPr>
          <p:spPr bwMode="auto">
            <a:xfrm>
              <a:off x="2112" y="350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15386" name="Text Box 36"/>
            <p:cNvSpPr txBox="1">
              <a:spLocks noChangeArrowheads="1"/>
            </p:cNvSpPr>
            <p:nvPr/>
          </p:nvSpPr>
          <p:spPr bwMode="auto">
            <a:xfrm>
              <a:off x="403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752600" y="3505200"/>
            <a:ext cx="609600" cy="838200"/>
            <a:chOff x="1104" y="2208"/>
            <a:chExt cx="384" cy="528"/>
          </a:xfrm>
        </p:grpSpPr>
        <p:sp>
          <p:nvSpPr>
            <p:cNvPr id="15381" name="Text Box 39"/>
            <p:cNvSpPr txBox="1">
              <a:spLocks noChangeArrowheads="1"/>
            </p:cNvSpPr>
            <p:nvPr/>
          </p:nvSpPr>
          <p:spPr bwMode="auto">
            <a:xfrm>
              <a:off x="1104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/>
                <a:t>6.5</a:t>
              </a:r>
            </a:p>
          </p:txBody>
        </p:sp>
        <p:sp>
          <p:nvSpPr>
            <p:cNvPr id="15382" name="Line 40"/>
            <p:cNvSpPr>
              <a:spLocks noChangeShapeType="1"/>
            </p:cNvSpPr>
            <p:nvPr/>
          </p:nvSpPr>
          <p:spPr bwMode="auto">
            <a:xfrm flipV="1">
              <a:off x="1296" y="220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2514600" y="3505200"/>
            <a:ext cx="609600" cy="838200"/>
            <a:chOff x="1584" y="2208"/>
            <a:chExt cx="384" cy="528"/>
          </a:xfrm>
        </p:grpSpPr>
        <p:sp>
          <p:nvSpPr>
            <p:cNvPr id="15379" name="Text Box 42"/>
            <p:cNvSpPr txBox="1">
              <a:spLocks noChangeArrowheads="1"/>
            </p:cNvSpPr>
            <p:nvPr/>
          </p:nvSpPr>
          <p:spPr bwMode="auto">
            <a:xfrm>
              <a:off x="1584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6.7</a:t>
              </a:r>
            </a:p>
          </p:txBody>
        </p:sp>
        <p:sp>
          <p:nvSpPr>
            <p:cNvPr id="15380" name="Line 43"/>
            <p:cNvSpPr>
              <a:spLocks noChangeShapeType="1"/>
            </p:cNvSpPr>
            <p:nvPr/>
          </p:nvSpPr>
          <p:spPr bwMode="auto">
            <a:xfrm flipV="1">
              <a:off x="1680" y="220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16" name="Text Box 44"/>
          <p:cNvSpPr txBox="1">
            <a:spLocks noChangeArrowheads="1"/>
          </p:cNvSpPr>
          <p:nvPr/>
        </p:nvSpPr>
        <p:spPr bwMode="auto">
          <a:xfrm>
            <a:off x="381000" y="5055846"/>
            <a:ext cx="3124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6.7 closer to 6 or 7 ?</a:t>
            </a:r>
          </a:p>
        </p:txBody>
      </p:sp>
      <p:sp>
        <p:nvSpPr>
          <p:cNvPr id="3117" name="Text Box 45"/>
          <p:cNvSpPr txBox="1">
            <a:spLocks noChangeArrowheads="1"/>
          </p:cNvSpPr>
          <p:nvPr/>
        </p:nvSpPr>
        <p:spPr bwMode="auto">
          <a:xfrm>
            <a:off x="470095" y="5867400"/>
            <a:ext cx="4800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6.7 ≈ 7 (to the nearest whole number)</a:t>
            </a:r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auto">
          <a:xfrm>
            <a:off x="495300" y="4316754"/>
            <a:ext cx="464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6.5 is the midpoint between 6 and 7.</a:t>
            </a:r>
          </a:p>
        </p:txBody>
      </p:sp>
      <p:sp>
        <p:nvSpPr>
          <p:cNvPr id="3121" name="Text Box 49"/>
          <p:cNvSpPr txBox="1">
            <a:spLocks noChangeArrowheads="1"/>
          </p:cNvSpPr>
          <p:nvPr/>
        </p:nvSpPr>
        <p:spPr bwMode="auto">
          <a:xfrm>
            <a:off x="3710354" y="5029200"/>
            <a:ext cx="373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Is 6.7 above or below 6.5 ?</a:t>
            </a:r>
          </a:p>
        </p:txBody>
      </p:sp>
      <p:sp>
        <p:nvSpPr>
          <p:cNvPr id="3122" name="Text Box 50"/>
          <p:cNvSpPr txBox="1">
            <a:spLocks noChangeArrowheads="1"/>
          </p:cNvSpPr>
          <p:nvPr/>
        </p:nvSpPr>
        <p:spPr bwMode="auto">
          <a:xfrm>
            <a:off x="7700303" y="5055846"/>
            <a:ext cx="1143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7" grpId="0" animBg="1" autoUpdateAnimBg="0"/>
      <p:bldP spid="312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6397"/>
            <a:ext cx="7772400" cy="685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What Goes In The Box ?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6324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Round the following to the nearest whole number: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(1) 4.8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304800" y="3048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(2) 7.4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07504" y="1752600"/>
            <a:ext cx="90364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NB: always round 0.5 up . I.e.  12.5 ≈ 13 (to the nearest whole number).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04800" y="3886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(3) 44.6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04800" y="4724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(4) 87.5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81000" y="5486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(5) 56.3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505200" y="2438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(6) 287.6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429000" y="3276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(7) 9.8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505200" y="4038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(8) 49.6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3505200" y="4800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(9) 99.7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3352800" y="55626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(10) 399.5</a:t>
            </a:r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1524000" y="22860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1524000" y="3124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1524000" y="3886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1524000" y="4724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1524000" y="5486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4953000" y="2362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4953000" y="3200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4953000" y="3962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4" name="Rectangle 24"/>
          <p:cNvSpPr>
            <a:spLocks noChangeArrowheads="1"/>
          </p:cNvSpPr>
          <p:nvPr/>
        </p:nvSpPr>
        <p:spPr bwMode="auto">
          <a:xfrm>
            <a:off x="4953000" y="4800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4953000" y="5562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1676400" y="2362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1676400" y="3200400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1676400" y="3933056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1600200" y="48006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88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1676400" y="5562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5029200" y="24384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288</a:t>
            </a:r>
          </a:p>
        </p:txBody>
      </p:sp>
      <p:sp>
        <p:nvSpPr>
          <p:cNvPr id="5152" name="Text Box 32"/>
          <p:cNvSpPr txBox="1">
            <a:spLocks noChangeArrowheads="1"/>
          </p:cNvSpPr>
          <p:nvPr/>
        </p:nvSpPr>
        <p:spPr bwMode="auto">
          <a:xfrm>
            <a:off x="5029200" y="3276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153" name="Text Box 33"/>
          <p:cNvSpPr txBox="1">
            <a:spLocks noChangeArrowheads="1"/>
          </p:cNvSpPr>
          <p:nvPr/>
        </p:nvSpPr>
        <p:spPr bwMode="auto">
          <a:xfrm>
            <a:off x="5105400" y="4038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5029200" y="4800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5029200" y="56388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6" grpId="0" autoUpdateAnimBg="0"/>
      <p:bldP spid="5147" grpId="0" autoUpdateAnimBg="0"/>
      <p:bldP spid="5148" grpId="0" autoUpdateAnimBg="0"/>
      <p:bldP spid="5149" grpId="0" autoUpdateAnimBg="0"/>
      <p:bldP spid="5150" grpId="0" autoUpdateAnimBg="0"/>
      <p:bldP spid="5151" grpId="0" autoUpdateAnimBg="0"/>
      <p:bldP spid="5152" grpId="0" autoUpdateAnimBg="0"/>
      <p:bldP spid="5153" grpId="0" autoUpdateAnimBg="0"/>
      <p:bldP spid="5154" grpId="0" autoUpdateAnimBg="0"/>
      <p:bldP spid="515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Rounding To The Nearest 10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57200" y="1698674"/>
            <a:ext cx="3962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Round 467 to the nearest ten.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81000" y="2590800"/>
            <a:ext cx="4572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Which number is the tens number ?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600200" y="2133600"/>
            <a:ext cx="4076700" cy="914400"/>
            <a:chOff x="1008" y="1344"/>
            <a:chExt cx="2568" cy="576"/>
          </a:xfrm>
        </p:grpSpPr>
        <p:sp>
          <p:nvSpPr>
            <p:cNvPr id="24605" name="Text Box 5"/>
            <p:cNvSpPr txBox="1">
              <a:spLocks noChangeArrowheads="1"/>
            </p:cNvSpPr>
            <p:nvPr/>
          </p:nvSpPr>
          <p:spPr bwMode="auto">
            <a:xfrm>
              <a:off x="3240" y="1632"/>
              <a:ext cx="336" cy="2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4606" name="Line 7"/>
            <p:cNvSpPr>
              <a:spLocks noChangeShapeType="1"/>
            </p:cNvSpPr>
            <p:nvPr/>
          </p:nvSpPr>
          <p:spPr bwMode="auto">
            <a:xfrm>
              <a:off x="1008" y="1344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81000" y="33528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6 greater or smaller than 5 ?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7308304" y="333756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7 &gt; 5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829300" y="3903662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 dirty="0">
                <a:solidFill>
                  <a:schemeClr val="bg1"/>
                </a:solidFill>
              </a:rPr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 dirty="0">
                <a:solidFill>
                  <a:schemeClr val="bg1"/>
                </a:solidFill>
              </a:rPr>
              <a:t>If the number is greater than or equal to 5 then round up.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81000" y="4191000"/>
            <a:ext cx="434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Now round 467 to the nearest ten.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81000" y="5029200"/>
            <a:ext cx="4114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467 ≈ 470 (to the nearest ten).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81000" y="5746576"/>
            <a:ext cx="6781800" cy="1066800"/>
            <a:chOff x="240" y="3552"/>
            <a:chExt cx="4272" cy="672"/>
          </a:xfrm>
        </p:grpSpPr>
        <p:grpSp>
          <p:nvGrpSpPr>
            <p:cNvPr id="24587" name="Group 15"/>
            <p:cNvGrpSpPr>
              <a:grpSpLocks/>
            </p:cNvGrpSpPr>
            <p:nvPr/>
          </p:nvGrpSpPr>
          <p:grpSpPr bwMode="auto">
            <a:xfrm>
              <a:off x="240" y="3552"/>
              <a:ext cx="4272" cy="624"/>
              <a:chOff x="192" y="1536"/>
              <a:chExt cx="4272" cy="624"/>
            </a:xfrm>
          </p:grpSpPr>
          <p:grpSp>
            <p:nvGrpSpPr>
              <p:cNvPr id="24590" name="Group 16"/>
              <p:cNvGrpSpPr>
                <a:grpSpLocks/>
              </p:cNvGrpSpPr>
              <p:nvPr/>
            </p:nvGrpSpPr>
            <p:grpSpPr bwMode="auto">
              <a:xfrm>
                <a:off x="288" y="1536"/>
                <a:ext cx="4080" cy="336"/>
                <a:chOff x="336" y="2016"/>
                <a:chExt cx="4080" cy="336"/>
              </a:xfrm>
            </p:grpSpPr>
            <p:sp>
              <p:nvSpPr>
                <p:cNvPr id="24593" name="Line 17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40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4" name="Line 18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5" name="Line 19"/>
                <p:cNvSpPr>
                  <a:spLocks noChangeShapeType="1"/>
                </p:cNvSpPr>
                <p:nvPr/>
              </p:nvSpPr>
              <p:spPr bwMode="auto">
                <a:xfrm>
                  <a:off x="72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6" name="Line 20"/>
                <p:cNvSpPr>
                  <a:spLocks noChangeShapeType="1"/>
                </p:cNvSpPr>
                <p:nvPr/>
              </p:nvSpPr>
              <p:spPr bwMode="auto">
                <a:xfrm>
                  <a:off x="110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7" name="Line 21"/>
                <p:cNvSpPr>
                  <a:spLocks noChangeShapeType="1"/>
                </p:cNvSpPr>
                <p:nvPr/>
              </p:nvSpPr>
              <p:spPr bwMode="auto">
                <a:xfrm>
                  <a:off x="148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8" name="Line 22"/>
                <p:cNvSpPr>
                  <a:spLocks noChangeShapeType="1"/>
                </p:cNvSpPr>
                <p:nvPr/>
              </p:nvSpPr>
              <p:spPr bwMode="auto">
                <a:xfrm>
                  <a:off x="187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9" name="Line 23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0" name="Line 24"/>
                <p:cNvSpPr>
                  <a:spLocks noChangeShapeType="1"/>
                </p:cNvSpPr>
                <p:nvPr/>
              </p:nvSpPr>
              <p:spPr bwMode="auto">
                <a:xfrm>
                  <a:off x="264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1" name="Line 25"/>
                <p:cNvSpPr>
                  <a:spLocks noChangeShapeType="1"/>
                </p:cNvSpPr>
                <p:nvPr/>
              </p:nvSpPr>
              <p:spPr bwMode="auto">
                <a:xfrm>
                  <a:off x="302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2" name="Line 26"/>
                <p:cNvSpPr>
                  <a:spLocks noChangeShapeType="1"/>
                </p:cNvSpPr>
                <p:nvPr/>
              </p:nvSpPr>
              <p:spPr bwMode="auto">
                <a:xfrm>
                  <a:off x="340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3" name="Line 27"/>
                <p:cNvSpPr>
                  <a:spLocks noChangeShapeType="1"/>
                </p:cNvSpPr>
                <p:nvPr/>
              </p:nvSpPr>
              <p:spPr bwMode="auto">
                <a:xfrm>
                  <a:off x="379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4" name="Line 28"/>
                <p:cNvSpPr>
                  <a:spLocks noChangeShapeType="1"/>
                </p:cNvSpPr>
                <p:nvPr/>
              </p:nvSpPr>
              <p:spPr bwMode="auto">
                <a:xfrm>
                  <a:off x="417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591" name="Text Box 29"/>
              <p:cNvSpPr txBox="1">
                <a:spLocks noChangeArrowheads="1"/>
              </p:cNvSpPr>
              <p:nvPr/>
            </p:nvSpPr>
            <p:spPr bwMode="auto">
              <a:xfrm>
                <a:off x="192" y="1872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460</a:t>
                </a:r>
              </a:p>
            </p:txBody>
          </p:sp>
          <p:sp>
            <p:nvSpPr>
              <p:cNvPr id="24592" name="Text Box 30"/>
              <p:cNvSpPr txBox="1">
                <a:spLocks noChangeArrowheads="1"/>
              </p:cNvSpPr>
              <p:nvPr/>
            </p:nvSpPr>
            <p:spPr bwMode="auto">
              <a:xfrm>
                <a:off x="4032" y="18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470</a:t>
                </a:r>
              </a:p>
            </p:txBody>
          </p:sp>
        </p:grpSp>
        <p:sp>
          <p:nvSpPr>
            <p:cNvPr id="24588" name="Text Box 31"/>
            <p:cNvSpPr txBox="1">
              <a:spLocks noChangeArrowheads="1"/>
            </p:cNvSpPr>
            <p:nvPr/>
          </p:nvSpPr>
          <p:spPr bwMode="auto">
            <a:xfrm>
              <a:off x="2784" y="3936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467</a:t>
              </a:r>
            </a:p>
          </p:txBody>
        </p:sp>
        <p:sp>
          <p:nvSpPr>
            <p:cNvPr id="24589" name="Line 32"/>
            <p:cNvSpPr>
              <a:spLocks noChangeShapeType="1"/>
            </p:cNvSpPr>
            <p:nvPr/>
          </p:nvSpPr>
          <p:spPr bwMode="auto">
            <a:xfrm flipV="1">
              <a:off x="3024" y="374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 autoUpdateAnimBg="0"/>
      <p:bldP spid="13321" grpId="0" animBg="1" autoUpdateAnimBg="0"/>
      <p:bldP spid="13323" grpId="0" animBg="1" autoUpdateAnimBg="0"/>
      <p:bldP spid="13324" grpId="0" animBg="1" autoUpdateAnimBg="0"/>
      <p:bldP spid="1332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5105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23 438 to the nearest hundred.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04800" y="1219200"/>
            <a:ext cx="5181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Which number is the hundreds number ?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600200" y="671733"/>
            <a:ext cx="4572000" cy="990600"/>
            <a:chOff x="1008" y="432"/>
            <a:chExt cx="2880" cy="62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5627" name="Text Box 6"/>
            <p:cNvSpPr txBox="1">
              <a:spLocks noChangeArrowheads="1"/>
            </p:cNvSpPr>
            <p:nvPr/>
          </p:nvSpPr>
          <p:spPr bwMode="auto">
            <a:xfrm>
              <a:off x="3552" y="768"/>
              <a:ext cx="336" cy="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>
              <a:off x="1008" y="432"/>
              <a:ext cx="96" cy="0"/>
            </a:xfrm>
            <a:prstGeom prst="line">
              <a:avLst/>
            </a:prstGeom>
            <a:grp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04800" y="19812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4 greater or smaller than 5 ?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7236296" y="198884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3 &lt; 5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867400" y="3429000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>
                <a:solidFill>
                  <a:schemeClr val="bg1"/>
                </a:solidFill>
              </a:rPr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>
                <a:solidFill>
                  <a:schemeClr val="bg1"/>
                </a:solidFill>
              </a:rPr>
              <a:t>If the number is greater than or equal to 5 then round up.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04800" y="2819400"/>
            <a:ext cx="5562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Now round 23 438 to the nearest hundred.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04800" y="3657600"/>
            <a:ext cx="5334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23 438= 23 400 (to the nearest hundred).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81000" y="5410200"/>
            <a:ext cx="7391400" cy="1219200"/>
            <a:chOff x="240" y="3408"/>
            <a:chExt cx="4656" cy="768"/>
          </a:xfrm>
        </p:grpSpPr>
        <p:grpSp>
          <p:nvGrpSpPr>
            <p:cNvPr id="25610" name="Group 16"/>
            <p:cNvGrpSpPr>
              <a:grpSpLocks/>
            </p:cNvGrpSpPr>
            <p:nvPr/>
          </p:nvGrpSpPr>
          <p:grpSpPr bwMode="auto">
            <a:xfrm>
              <a:off x="336" y="3408"/>
              <a:ext cx="4080" cy="336"/>
              <a:chOff x="336" y="2016"/>
              <a:chExt cx="4080" cy="336"/>
            </a:xfrm>
          </p:grpSpPr>
          <p:sp>
            <p:nvSpPr>
              <p:cNvPr id="25615" name="Line 17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40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6" name="Line 18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7" name="Line 19"/>
              <p:cNvSpPr>
                <a:spLocks noChangeShapeType="1"/>
              </p:cNvSpPr>
              <p:nvPr/>
            </p:nvSpPr>
            <p:spPr bwMode="auto">
              <a:xfrm>
                <a:off x="72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8" name="Line 20"/>
              <p:cNvSpPr>
                <a:spLocks noChangeShapeType="1"/>
              </p:cNvSpPr>
              <p:nvPr/>
            </p:nvSpPr>
            <p:spPr bwMode="auto">
              <a:xfrm>
                <a:off x="110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9" name="Line 21"/>
              <p:cNvSpPr>
                <a:spLocks noChangeShapeType="1"/>
              </p:cNvSpPr>
              <p:nvPr/>
            </p:nvSpPr>
            <p:spPr bwMode="auto">
              <a:xfrm>
                <a:off x="148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0" name="Line 22"/>
              <p:cNvSpPr>
                <a:spLocks noChangeShapeType="1"/>
              </p:cNvSpPr>
              <p:nvPr/>
            </p:nvSpPr>
            <p:spPr bwMode="auto">
              <a:xfrm>
                <a:off x="187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1" name="Line 23"/>
              <p:cNvSpPr>
                <a:spLocks noChangeShapeType="1"/>
              </p:cNvSpPr>
              <p:nvPr/>
            </p:nvSpPr>
            <p:spPr bwMode="auto">
              <a:xfrm>
                <a:off x="225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2" name="Line 24"/>
              <p:cNvSpPr>
                <a:spLocks noChangeShapeType="1"/>
              </p:cNvSpPr>
              <p:nvPr/>
            </p:nvSpPr>
            <p:spPr bwMode="auto">
              <a:xfrm>
                <a:off x="264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3" name="Line 25"/>
              <p:cNvSpPr>
                <a:spLocks noChangeShapeType="1"/>
              </p:cNvSpPr>
              <p:nvPr/>
            </p:nvSpPr>
            <p:spPr bwMode="auto">
              <a:xfrm>
                <a:off x="302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4" name="Line 26"/>
              <p:cNvSpPr>
                <a:spLocks noChangeShapeType="1"/>
              </p:cNvSpPr>
              <p:nvPr/>
            </p:nvSpPr>
            <p:spPr bwMode="auto">
              <a:xfrm>
                <a:off x="340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5" name="Line 27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28"/>
              <p:cNvSpPr>
                <a:spLocks noChangeShapeType="1"/>
              </p:cNvSpPr>
              <p:nvPr/>
            </p:nvSpPr>
            <p:spPr bwMode="auto">
              <a:xfrm>
                <a:off x="417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11" name="Text Box 29"/>
            <p:cNvSpPr txBox="1">
              <a:spLocks noChangeArrowheads="1"/>
            </p:cNvSpPr>
            <p:nvPr/>
          </p:nvSpPr>
          <p:spPr bwMode="auto">
            <a:xfrm>
              <a:off x="240" y="374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23 400</a:t>
              </a:r>
            </a:p>
          </p:txBody>
        </p:sp>
        <p:sp>
          <p:nvSpPr>
            <p:cNvPr id="25612" name="Text Box 30"/>
            <p:cNvSpPr txBox="1">
              <a:spLocks noChangeArrowheads="1"/>
            </p:cNvSpPr>
            <p:nvPr/>
          </p:nvSpPr>
          <p:spPr bwMode="auto">
            <a:xfrm>
              <a:off x="4080" y="3744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23 500</a:t>
              </a:r>
            </a:p>
          </p:txBody>
        </p:sp>
        <p:sp>
          <p:nvSpPr>
            <p:cNvPr id="25613" name="Text Box 31"/>
            <p:cNvSpPr txBox="1">
              <a:spLocks noChangeArrowheads="1"/>
            </p:cNvSpPr>
            <p:nvPr/>
          </p:nvSpPr>
          <p:spPr bwMode="auto">
            <a:xfrm>
              <a:off x="1488" y="388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23 438</a:t>
              </a:r>
            </a:p>
          </p:txBody>
        </p:sp>
        <p:sp>
          <p:nvSpPr>
            <p:cNvPr id="25614" name="Line 32"/>
            <p:cNvSpPr>
              <a:spLocks noChangeShapeType="1"/>
            </p:cNvSpPr>
            <p:nvPr/>
          </p:nvSpPr>
          <p:spPr bwMode="auto">
            <a:xfrm flipV="1">
              <a:off x="1776" y="355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 autoUpdateAnimBg="0"/>
      <p:bldP spid="14345" grpId="0" animBg="1" autoUpdateAnimBg="0"/>
      <p:bldP spid="14346" grpId="0" animBg="1" autoUpdateAnimBg="0"/>
      <p:bldP spid="14347" grpId="0" animBg="1" autoUpdateAnimBg="0"/>
      <p:bldP spid="1434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2597"/>
            <a:ext cx="7772400" cy="762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What Goes In The Box ? 2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381000" y="1371600"/>
            <a:ext cx="5943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the numbers below to the required unit: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2209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(1) 67 to the nearest ten = 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28600" y="30480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(2) 943 to the nearest hundred = 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40386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(3) 518 to the nearest ten = 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04800" y="48768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(4) 5 218 to the nearest hundred = 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220072" y="2095128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257800" y="29718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257800" y="38862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5562600" y="48006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410200" y="225200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70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410200" y="3048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900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334000" y="3962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520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5715000" y="4876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5 200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2" grpId="0" autoUpdateAnimBg="0"/>
      <p:bldP spid="15373" grpId="0" autoUpdateAnimBg="0"/>
      <p:bldP spid="15374" grpId="0" autoUpdateAnimBg="0"/>
      <p:bldP spid="1537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5120" y="2867774"/>
            <a:ext cx="6263347" cy="109260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0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287681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496770" y="4366221"/>
                <a:ext cx="6254818" cy="235449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 defTabSz="914400"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.36+3.78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2.1×3.72</m:t>
                    </m:r>
                  </m:oMath>
                </a14:m>
                <a:endParaRPr lang="en-US" sz="2400" b="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896÷3.12</m:t>
                    </m:r>
                  </m:oMath>
                </a14:m>
                <a:endParaRPr lang="en-US" sz="2400" kern="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70" y="4366221"/>
                <a:ext cx="6254818" cy="2354491"/>
              </a:xfrm>
              <a:prstGeom prst="rect">
                <a:avLst/>
              </a:prstGeom>
              <a:blipFill>
                <a:blip r:embed="rId2"/>
                <a:stretch>
                  <a:fillRect l="-1559" t="-2073" b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485120" y="2779504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3871554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496770" y="4366221"/>
                <a:ext cx="6254818" cy="2289473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 defTabSz="914400"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.36+3.78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4+4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2.1×3.72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60×4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240</m:t>
                    </m:r>
                  </m:oMath>
                </a14:m>
                <a:endParaRPr lang="en-US" sz="2400" b="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896÷3.12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900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</m:oMath>
                </a14:m>
                <a:endParaRPr lang="en-US" sz="2400" kern="0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70" y="4366221"/>
                <a:ext cx="6254818" cy="2289473"/>
              </a:xfrm>
              <a:prstGeom prst="rect">
                <a:avLst/>
              </a:prstGeom>
              <a:blipFill>
                <a:blip r:embed="rId2"/>
                <a:stretch>
                  <a:fillRect l="-1559" t="-2128" b="-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485120" y="2779504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15459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Tasks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83566" y="1937676"/>
            <a:ext cx="2259013" cy="3579556"/>
            <a:chOff x="683566" y="1937676"/>
            <a:chExt cx="2259013" cy="357955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46" y="1937676"/>
              <a:ext cx="286735" cy="26718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193137"/>
              <a:ext cx="322577" cy="29390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/>
            <a:srcRect t="18004" b="-1"/>
            <a:stretch/>
          </p:blipFill>
          <p:spPr>
            <a:xfrm>
              <a:off x="683567" y="2460325"/>
              <a:ext cx="322577" cy="3943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/>
            <a:srcRect l="11269" t="25632" r="42368" b="-1369"/>
            <a:stretch/>
          </p:blipFill>
          <p:spPr>
            <a:xfrm>
              <a:off x="683566" y="2854674"/>
              <a:ext cx="216025" cy="5126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6"/>
            <a:srcRect t="3451" b="5205"/>
            <a:stretch/>
          </p:blipFill>
          <p:spPr>
            <a:xfrm>
              <a:off x="899592" y="1937676"/>
              <a:ext cx="2042987" cy="357955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3566" y="3353392"/>
              <a:ext cx="286735" cy="50765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3566" y="3829676"/>
              <a:ext cx="286735" cy="36515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9"/>
            <a:srcRect l="1" r="18182" b="-6935"/>
            <a:stretch/>
          </p:blipFill>
          <p:spPr>
            <a:xfrm>
              <a:off x="683569" y="4194832"/>
              <a:ext cx="322576" cy="31428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10"/>
            <a:srcRect r="38462"/>
            <a:stretch/>
          </p:blipFill>
          <p:spPr>
            <a:xfrm>
              <a:off x="683566" y="4433856"/>
              <a:ext cx="286735" cy="64125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11"/>
            <a:srcRect l="2" t="1" r="20000" b="3671"/>
            <a:stretch/>
          </p:blipFill>
          <p:spPr>
            <a:xfrm>
              <a:off x="683567" y="5051247"/>
              <a:ext cx="286734" cy="465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21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587500"/>
            <a:ext cx="4240486" cy="132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I'm </a:t>
            </a:r>
            <a:r>
              <a:rPr lang="en-AU" sz="2600" dirty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gonna</a:t>
            </a: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pop some tags</a:t>
            </a:r>
            <a:b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</a:b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Only got twenty dollars in my pocket</a:t>
            </a:r>
            <a:endParaRPr lang="en-US" sz="2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87500"/>
            <a:ext cx="4176464" cy="5905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1997330"/>
            <a:ext cx="3528995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Milk (2L)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Nutella 750 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Avocado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Marshmallows Bag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16016" y="4267593"/>
          <a:ext cx="4240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243">
                  <a:extLst>
                    <a:ext uri="{9D8B030D-6E8A-4147-A177-3AD203B41FA5}">
                      <a16:colId xmlns:a16="http://schemas.microsoft.com/office/drawing/2014/main" val="3543554502"/>
                    </a:ext>
                  </a:extLst>
                </a:gridCol>
                <a:gridCol w="2120243">
                  <a:extLst>
                    <a:ext uri="{9D8B030D-6E8A-4147-A177-3AD203B41FA5}">
                      <a16:colId xmlns:a16="http://schemas.microsoft.com/office/drawing/2014/main" val="154680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1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</a:t>
                      </a:r>
                      <a:r>
                        <a:rPr lang="en-US" baseline="0" dirty="0"/>
                        <a:t> (2 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37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Nutella (750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5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Avocado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0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Marshmallows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4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8742"/>
                  </a:ext>
                </a:extLst>
              </a:tr>
            </a:tbl>
          </a:graphicData>
        </a:graphic>
      </p:graphicFrame>
      <p:pic>
        <p:nvPicPr>
          <p:cNvPr id="7" name="Picture 6" descr="Mary Reibey &lt;strong&gt;Australian&lt;/strong&gt; $&lt;strong&gt;20&lt;/strong&gt; note (front) | Mary Reibey Convi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2" y="4393226"/>
            <a:ext cx="3603209" cy="1535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016" y="2204864"/>
            <a:ext cx="42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Can I buy the products in the shopping list with $20?</a:t>
            </a:r>
          </a:p>
        </p:txBody>
      </p:sp>
      <p:pic>
        <p:nvPicPr>
          <p:cNvPr id="10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2400" y="32007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7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24878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1368</TotalTime>
  <Words>839</Words>
  <Application>Microsoft Office PowerPoint</Application>
  <PresentationFormat>On-screen Show (4:3)</PresentationFormat>
  <Paragraphs>181</Paragraphs>
  <Slides>14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MS PGothic</vt:lpstr>
      <vt:lpstr>Arial</vt:lpstr>
      <vt:lpstr>Calibri</vt:lpstr>
      <vt:lpstr>Calisto MT</vt:lpstr>
      <vt:lpstr>Cambria Math</vt:lpstr>
      <vt:lpstr>Comic Sans MS</vt:lpstr>
      <vt:lpstr>Lucida Handwriting</vt:lpstr>
      <vt:lpstr>Times New Roman</vt:lpstr>
      <vt:lpstr>Trebuchet MS</vt:lpstr>
      <vt:lpstr>Wingdings 2</vt:lpstr>
      <vt:lpstr>Slate</vt:lpstr>
      <vt:lpstr>Rounding Numbers and Estimation </vt:lpstr>
      <vt:lpstr>I'm gonna pop some tags Only got twenty dollars in my pocket</vt:lpstr>
      <vt:lpstr>PowerPoint Presentation</vt:lpstr>
      <vt:lpstr>Rounding To The Nearest Whole Number.</vt:lpstr>
      <vt:lpstr>What Goes In The Box ?</vt:lpstr>
      <vt:lpstr>Rounding To The Nearest 10</vt:lpstr>
      <vt:lpstr>PowerPoint Presentation</vt:lpstr>
      <vt:lpstr>What Goes In The Box ? 2</vt:lpstr>
      <vt:lpstr>PowerPoint Presentation</vt:lpstr>
      <vt:lpstr>PowerPoint Presentation</vt:lpstr>
      <vt:lpstr>PowerPoint Presentation</vt:lpstr>
      <vt:lpstr>Tasks</vt:lpstr>
      <vt:lpstr>I'm gonna pop some tags Only got twenty dollars in my pocket</vt:lpstr>
      <vt:lpstr>Summary</vt:lpstr>
    </vt:vector>
  </TitlesOfParts>
  <Company>Home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Numbers.</dc:title>
  <dc:creator>LT Scotland</dc:creator>
  <cp:lastModifiedBy>Saad Parekh</cp:lastModifiedBy>
  <cp:revision>86</cp:revision>
  <dcterms:created xsi:type="dcterms:W3CDTF">2003-06-21T13:40:04Z</dcterms:created>
  <dcterms:modified xsi:type="dcterms:W3CDTF">2017-02-20T13:08:20Z</dcterms:modified>
</cp:coreProperties>
</file>
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1"/>
  </p:notesMasterIdLst>
  <p:sldIdLst>
    <p:sldId id="319" r:id="rId2"/>
    <p:sldId id="317" r:id="rId3"/>
    <p:sldId id="303" r:id="rId4"/>
    <p:sldId id="309" r:id="rId5"/>
    <p:sldId id="304" r:id="rId6"/>
    <p:sldId id="308" r:id="rId7"/>
    <p:sldId id="306" r:id="rId8"/>
    <p:sldId id="310" r:id="rId9"/>
    <p:sldId id="320" r:id="rId10"/>
    <p:sldId id="311" r:id="rId11"/>
    <p:sldId id="307" r:id="rId12"/>
    <p:sldId id="312" r:id="rId13"/>
    <p:sldId id="313" r:id="rId14"/>
    <p:sldId id="314" r:id="rId15"/>
    <p:sldId id="315" r:id="rId16"/>
    <p:sldId id="316" r:id="rId17"/>
    <p:sldId id="321" r:id="rId18"/>
    <p:sldId id="301" r:id="rId19"/>
    <p:sldId id="318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7" autoAdjust="0"/>
    <p:restoredTop sz="85080" autoAdjust="0"/>
  </p:normalViewPr>
  <p:slideViewPr>
    <p:cSldViewPr>
      <p:cViewPr>
        <p:scale>
          <a:sx n="70" d="100"/>
          <a:sy n="70" d="100"/>
        </p:scale>
        <p:origin x="-1410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A22D00-A6DD-48BB-8570-EF7E02AA70C0}" type="datetimeFigureOut">
              <a:rPr lang="en-AU" smtClean="0"/>
              <a:t>17/02/2017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A2C615-846E-4129-A435-82EB3F544A2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57226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Students just need to the EQ and topic written down.</a:t>
            </a:r>
            <a:r>
              <a:rPr lang="en-AU" baseline="0" dirty="0" smtClean="0"/>
              <a:t> Their notes start later in Green or </a:t>
            </a:r>
            <a:r>
              <a:rPr lang="en-AU" baseline="0" smtClean="0"/>
              <a:t>blue rectangles</a:t>
            </a:r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A2C615-846E-4129-A435-82EB3F544A21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63251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Teachers need to prepare</a:t>
            </a:r>
            <a:r>
              <a:rPr lang="en-AU" baseline="0" dirty="0" smtClean="0"/>
              <a:t> 4 sheets of paper in the corners of the room A, B, C and D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A2C615-846E-4129-A435-82EB3F544A21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45854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Students to copy</a:t>
            </a:r>
            <a:r>
              <a:rPr lang="en-AU" baseline="0" dirty="0" smtClean="0"/>
              <a:t> what is in the green rectangles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A2C615-846E-4129-A435-82EB3F544A21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70479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Give</a:t>
            </a:r>
            <a:r>
              <a:rPr lang="en-AU" baseline="0" dirty="0" smtClean="0"/>
              <a:t> students 15 mins to complete the questions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A2C615-846E-4129-A435-82EB3F544A21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62619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Using</a:t>
            </a:r>
            <a:r>
              <a:rPr lang="en-AU" baseline="0" dirty="0" smtClean="0"/>
              <a:t> the fraction made at the start of the lesson determine the percentage of students in the class with long hair.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2A2C615-846E-4129-A435-82EB3F544A21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6340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6304"/>
            <a:ext cx="8814816" cy="2505456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64234" y="381001"/>
            <a:ext cx="8229600" cy="2209800"/>
          </a:xfrm>
        </p:spPr>
        <p:txBody>
          <a:bodyPr lIns="45720" rIns="228600" anchor="b">
            <a:normAutofit/>
          </a:bodyPr>
          <a:lstStyle>
            <a:lvl1pPr marL="0" algn="r">
              <a:defRPr sz="480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133600" y="2819400"/>
            <a:ext cx="6560234" cy="1752600"/>
          </a:xfrm>
        </p:spPr>
        <p:txBody>
          <a:bodyPr lIns="45720" rIns="246888"/>
          <a:lstStyle>
            <a:lvl1pPr marL="0" indent="0" algn="r">
              <a:spcBef>
                <a:spcPts val="0"/>
              </a:spcBef>
              <a:buNone/>
              <a:defRPr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303B91B3-E50F-4EFF-8D5F-21DA810ECD9F}" type="datetimeFigureOut">
              <a:rPr lang="en-AU" smtClean="0"/>
              <a:t>17/02/2017</a:t>
            </a:fld>
            <a:endParaRPr lang="en-AU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A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3B91B3-E50F-4EFF-8D5F-21DA810ECD9F}" type="datetimeFigureOut">
              <a:rPr lang="en-AU" smtClean="0"/>
              <a:t>17/02/2017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0128" y="3267456"/>
            <a:ext cx="74066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498230"/>
            <a:ext cx="7772400" cy="2731008"/>
          </a:xfrm>
        </p:spPr>
        <p:txBody>
          <a:bodyPr rIns="100584"/>
          <a:lstStyle>
            <a:lvl1pPr algn="r">
              <a:buNone/>
              <a:defRPr sz="4000" b="1" cap="none">
                <a:solidFill>
                  <a:schemeClr val="accent1">
                    <a:tint val="95000"/>
                    <a:satMod val="200000"/>
                  </a:schemeClr>
                </a:solidFill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287713"/>
            <a:ext cx="7772400" cy="1509712"/>
          </a:xfrm>
        </p:spPr>
        <p:txBody>
          <a:bodyPr rIns="128016" anchor="t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303B91B3-E50F-4EFF-8D5F-21DA810ECD9F}" type="datetimeFigureOut">
              <a:rPr lang="en-AU" smtClean="0"/>
              <a:t>17/02/2017</a:t>
            </a:fld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A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45920"/>
            <a:ext cx="4038600" cy="452628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3B91B3-E50F-4EFF-8D5F-21DA810ECD9F}" type="datetimeFigureOut">
              <a:rPr lang="en-AU" smtClean="0"/>
              <a:t>17/02/2017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0" name="Rectangle 9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16744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4800600" y="216521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b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1948"/>
            <a:ext cx="8229600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Autofit/>
          </a:bodyPr>
          <a:lstStyle>
            <a:lvl1pPr marL="91440" indent="0" algn="l">
              <a:spcBef>
                <a:spcPts val="0"/>
              </a:spcBef>
              <a:buNone/>
              <a:defRPr sz="2200" b="0" cap="all" baseline="0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4040188" cy="3941763"/>
          </a:xfrm>
        </p:spPr>
        <p:txBody>
          <a:bodyPr lIns="9144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362200"/>
            <a:ext cx="4041775" cy="3941763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3B91B3-E50F-4EFF-8D5F-21DA810ECD9F}" type="datetimeFigureOut">
              <a:rPr lang="en-AU" smtClean="0"/>
              <a:t>17/02/2017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41080" y="6514568"/>
            <a:ext cx="464288" cy="274320"/>
          </a:xfrm>
        </p:spPr>
        <p:txBody>
          <a:bodyPr/>
          <a:lstStyle>
            <a:extLst/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3218"/>
            <a:ext cx="8229600" cy="1143000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3B91B3-E50F-4EFF-8D5F-21DA810ECD9F}" type="datetimeFigureOut">
              <a:rPr lang="en-AU" smtClean="0"/>
              <a:t>17/02/2017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7" name="Rectangle 6"/>
          <p:cNvSpPr/>
          <p:nvPr/>
        </p:nvSpPr>
        <p:spPr>
          <a:xfrm>
            <a:off x="588392" y="1424588"/>
            <a:ext cx="800100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3B91B3-E50F-4EFF-8D5F-21DA810ECD9F}" type="datetimeFigureOut">
              <a:rPr lang="en-AU" smtClean="0"/>
              <a:t>17/02/2017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5057552" y="1057656"/>
            <a:ext cx="3749040" cy="9144"/>
          </a:xfrm>
          <a:prstGeom prst="rect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>
            <a:outerShdw blurRad="12700" dist="12900" dir="5400000" algn="tl" rotWithShape="0">
              <a:srgbClr val="000000">
                <a:alpha val="75000"/>
              </a:srgb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63136" y="304800"/>
            <a:ext cx="3931920" cy="762000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963136" y="1107560"/>
            <a:ext cx="3931920" cy="1066800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228600" y="2209800"/>
            <a:ext cx="8666456" cy="3977640"/>
          </a:xfrm>
        </p:spPr>
        <p:txBody>
          <a:bodyPr/>
          <a:lstStyle>
            <a:lvl1pPr marL="292608">
              <a:defRPr sz="3200"/>
            </a:lvl1pPr>
            <a:lvl2pPr marL="594360">
              <a:defRPr sz="2800"/>
            </a:lvl2pPr>
            <a:lvl3pPr marL="822960">
              <a:defRPr sz="2400"/>
            </a:lvl3pPr>
            <a:lvl4pPr marL="1051560">
              <a:defRPr sz="2000"/>
            </a:lvl4pPr>
            <a:lvl5pPr marL="1261872"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5562600" y="6513670"/>
            <a:ext cx="3002280" cy="274320"/>
          </a:xfrm>
        </p:spPr>
        <p:txBody>
          <a:bodyPr vert="horz" rtlCol="0"/>
          <a:lstStyle>
            <a:extLst/>
          </a:lstStyle>
          <a:p>
            <a:fld id="{303B91B3-E50F-4EFF-8D5F-21DA810ECD9F}" type="datetimeFigureOut">
              <a:rPr lang="en-AU" smtClean="0"/>
              <a:t>17/02/2017</a:t>
            </a:fld>
            <a:endParaRPr lang="en-AU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1"/>
          </p:nvPr>
        </p:nvSpPr>
        <p:spPr>
          <a:xfrm>
            <a:off x="8638952" y="6513670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2"/>
          </p:nvPr>
        </p:nvSpPr>
        <p:spPr>
          <a:xfrm>
            <a:off x="1600200" y="6513670"/>
            <a:ext cx="3907464" cy="274320"/>
          </a:xfrm>
        </p:spPr>
        <p:txBody>
          <a:bodyPr vert="horz" rtlCol="0"/>
          <a:lstStyle>
            <a:extLst/>
          </a:lstStyle>
          <a:p>
            <a:endParaRPr lang="en-AU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0443" y="4724400"/>
            <a:ext cx="5486400" cy="664536"/>
          </a:xfrm>
        </p:spPr>
        <p:txBody>
          <a:bodyPr anchor="b"/>
          <a:lstStyle>
            <a:lvl1pPr marL="0" algn="r">
              <a:buNone/>
              <a:defRPr sz="20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0443" y="5388936"/>
            <a:ext cx="5486400" cy="912255"/>
          </a:xfrm>
        </p:spPr>
        <p:txBody>
          <a:bodyPr/>
          <a:lstStyle>
            <a:lvl1pPr marL="0" indent="0" algn="r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Picture Placeholder 12"/>
          <p:cNvSpPr>
            <a:spLocks noGrp="1"/>
          </p:cNvSpPr>
          <p:nvPr>
            <p:ph type="pic" idx="1"/>
          </p:nvPr>
        </p:nvSpPr>
        <p:spPr>
          <a:xfrm>
            <a:off x="304800" y="249864"/>
            <a:ext cx="8534400" cy="4343400"/>
          </a:xfrm>
          <a:prstGeom prst="round2DiagRect">
            <a:avLst>
              <a:gd name="adj1" fmla="val 11403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t"/>
          <a:lstStyle>
            <a:lvl1pPr indent="0">
              <a:buNone/>
              <a:defRPr sz="3200"/>
            </a:lvl1pPr>
            <a:extLst/>
          </a:lstStyle>
          <a:p>
            <a:pPr marL="0" algn="l" rtl="0" eaLnBrk="1" latinLnBrk="0" hangingPunct="1"/>
            <a:r>
              <a:rPr kumimoji="0" lang="en-US" smtClean="0">
                <a:solidFill>
                  <a:schemeClr val="lt1"/>
                </a:solidFill>
                <a:latin typeface="+mn-lt"/>
                <a:ea typeface="+mn-ea"/>
                <a:cs typeface="+mn-cs"/>
              </a:rPr>
              <a:t>Click icon to add picture</a:t>
            </a:r>
            <a:endParaRPr kumimoji="0" lang="en-US" dirty="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62600" y="6509004"/>
            <a:ext cx="3002280" cy="274320"/>
          </a:xfrm>
        </p:spPr>
        <p:txBody>
          <a:bodyPr vert="horz" rtlCol="0"/>
          <a:lstStyle>
            <a:extLst/>
          </a:lstStyle>
          <a:p>
            <a:fld id="{303B91B3-E50F-4EFF-8D5F-21DA810ECD9F}" type="datetimeFigureOut">
              <a:rPr lang="en-AU" smtClean="0"/>
              <a:t>17/02/2017</a:t>
            </a:fld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>
          <a:xfrm>
            <a:off x="8638952" y="6509004"/>
            <a:ext cx="464288" cy="274320"/>
          </a:xfrm>
        </p:spPr>
        <p:txBody>
          <a:bodyPr vert="horz" rtlCol="0"/>
          <a:lstStyle>
            <a:lvl1pPr>
              <a:defRPr>
                <a:solidFill>
                  <a:schemeClr val="tx2">
                    <a:shade val="90000"/>
                  </a:schemeClr>
                </a:solidFill>
              </a:defRPr>
            </a:lvl1pPr>
            <a:extLst/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>
          <a:xfrm>
            <a:off x="1600200" y="6509004"/>
            <a:ext cx="3907464" cy="274320"/>
          </a:xfrm>
        </p:spPr>
        <p:txBody>
          <a:bodyPr vert="horz" rtlCol="0"/>
          <a:lstStyle>
            <a:extLst/>
          </a:lstStyle>
          <a:p>
            <a:endParaRPr lang="en-A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3B91B3-E50F-4EFF-8D5F-21DA810ECD9F}" type="datetimeFigureOut">
              <a:rPr lang="en-AU" smtClean="0"/>
              <a:t>17/02/2017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>
            <a:lvl1pPr algn="l"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303B91B3-E50F-4EFF-8D5F-21DA810ECD9F}" type="datetimeFigureOut">
              <a:rPr lang="en-AU" smtClean="0"/>
              <a:t>17/02/2017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Diagonal Corner Rectangle 6"/>
          <p:cNvSpPr/>
          <p:nvPr/>
        </p:nvSpPr>
        <p:spPr>
          <a:xfrm>
            <a:off x="164592" y="147085"/>
            <a:ext cx="8810846" cy="6565392"/>
          </a:xfrm>
          <a:prstGeom prst="round2DiagRect">
            <a:avLst>
              <a:gd name="adj1" fmla="val 11807"/>
              <a:gd name="adj2" fmla="val 0"/>
            </a:avLst>
          </a:prstGeom>
          <a:solidFill>
            <a:schemeClr val="bg2">
              <a:tint val="85000"/>
              <a:shade val="90000"/>
              <a:satMod val="150000"/>
              <a:alpha val="65000"/>
            </a:schemeClr>
          </a:solidFill>
          <a:ln w="11000" cap="rnd" cmpd="sng" algn="ctr">
            <a:solidFill>
              <a:schemeClr val="bg2">
                <a:tint val="78000"/>
                <a:satMod val="180000"/>
                <a:alpha val="88000"/>
              </a:schemeClr>
            </a:solidFill>
            <a:prstDash val="solid"/>
          </a:ln>
          <a:effectLst>
            <a:innerShdw blurRad="114300">
              <a:srgbClr val="000000">
                <a:alpha val="10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295400" y="6400800"/>
            <a:ext cx="4212264" cy="274320"/>
          </a:xfrm>
          <a:prstGeom prst="rect">
            <a:avLst/>
          </a:prstGeom>
        </p:spPr>
        <p:txBody>
          <a:bodyPr/>
          <a:lstStyle>
            <a:lvl1pPr algn="r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endParaRPr lang="en-AU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562600" y="6400800"/>
            <a:ext cx="3002280" cy="274320"/>
          </a:xfrm>
          <a:prstGeom prst="rect">
            <a:avLst/>
          </a:prstGeom>
        </p:spPr>
        <p:txBody>
          <a:bodyPr/>
          <a:lstStyle>
            <a:lvl1pPr algn="l" eaLnBrk="1" latinLnBrk="0" hangingPunct="1">
              <a:defRPr kumimoji="0" sz="1300">
                <a:solidFill>
                  <a:schemeClr val="bg2">
                    <a:tint val="60000"/>
                    <a:satMod val="155000"/>
                  </a:schemeClr>
                </a:solidFill>
              </a:defRPr>
            </a:lvl1pPr>
            <a:extLst/>
          </a:lstStyle>
          <a:p>
            <a:fld id="{303B91B3-E50F-4EFF-8D5F-21DA810ECD9F}" type="datetimeFigureOut">
              <a:rPr lang="en-AU" smtClean="0"/>
              <a:t>17/02/2017</a:t>
            </a:fld>
            <a:endParaRPr lang="en-AU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638952" y="6514568"/>
            <a:ext cx="464288" cy="274320"/>
          </a:xfrm>
          <a:prstGeom prst="rect">
            <a:avLst/>
          </a:prstGeom>
        </p:spPr>
        <p:txBody>
          <a:bodyPr anchor="ctr"/>
          <a:lstStyle>
            <a:lvl1pPr algn="r" eaLnBrk="1" latinLnBrk="0" hangingPunct="1">
              <a:defRPr kumimoji="0" sz="1600">
                <a:solidFill>
                  <a:schemeClr val="tx2">
                    <a:shade val="90000"/>
                  </a:schemeClr>
                </a:solidFill>
                <a:effectLst/>
              </a:defRPr>
            </a:lvl1pPr>
            <a:extLst/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53536"/>
            <a:ext cx="8229600" cy="1143000"/>
          </a:xfrm>
          <a:prstGeom prst="rect">
            <a:avLst/>
          </a:prstGeom>
        </p:spPr>
        <p:txBody>
          <a:bodyPr rIns="91440" anchor="b">
            <a:normAutofit/>
            <a:scene3d>
              <a:camera prst="orthographicFront"/>
              <a:lightRig rig="soft" dir="t">
                <a:rot lat="0" lon="0" rev="2400000"/>
              </a:lightRig>
            </a:scene3d>
            <a:sp3d>
              <a:bevelT w="19050" h="127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46237"/>
            <a:ext cx="8229600" cy="452628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marL="54864" algn="r" rtl="0" eaLnBrk="1" latinLnBrk="0" hangingPunct="1">
        <a:spcBef>
          <a:spcPct val="0"/>
        </a:spcBef>
        <a:buNone/>
        <a:defRPr kumimoji="0" sz="4600" kern="1200">
          <a:solidFill>
            <a:schemeClr val="tx2">
              <a:tint val="100000"/>
              <a:shade val="90000"/>
              <a:satMod val="250000"/>
              <a:alpha val="100000"/>
            </a:schemeClr>
          </a:solidFill>
          <a:effectLst>
            <a:outerShdw blurRad="38100" dist="25500" dir="5400000" algn="tl" rotWithShape="0">
              <a:srgbClr val="000000">
                <a:satMod val="180000"/>
                <a:alpha val="7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292100" indent="-292100" algn="l" rtl="0" eaLnBrk="1" latinLnBrk="0" hangingPunct="1">
        <a:spcBef>
          <a:spcPts val="0"/>
        </a:spcBef>
        <a:buClr>
          <a:schemeClr val="accent1"/>
        </a:buClr>
        <a:buSzPct val="70000"/>
        <a:buFont typeface="Wingdings 2"/>
        <a:buChar char="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rtl="0" eaLnBrk="1" latinLnBrk="0" hangingPunct="1">
        <a:spcBef>
          <a:spcPts val="400"/>
        </a:spcBef>
        <a:buClr>
          <a:schemeClr val="accent2"/>
        </a:buClr>
        <a:buSzPct val="90000"/>
        <a:buFontTx/>
        <a:buChar char="•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192024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82880" algn="l" rtl="0" eaLnBrk="1" latinLnBrk="0" hangingPunct="1">
        <a:spcBef>
          <a:spcPts val="400"/>
        </a:spcBef>
        <a:buClr>
          <a:schemeClr val="accent3"/>
        </a:buClr>
        <a:buSzPct val="100000"/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73736" algn="l" rtl="0" eaLnBrk="1" latinLnBrk="0" hangingPunct="1">
        <a:spcBef>
          <a:spcPts val="400"/>
        </a:spcBef>
        <a:buClr>
          <a:schemeClr val="accent4"/>
        </a:buClr>
        <a:buFont typeface="Wingdings 2"/>
        <a:buChar char="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27584" y="692696"/>
            <a:ext cx="730251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6">
                        <a:tint val="90000"/>
                        <a:satMod val="120000"/>
                      </a:schemeClr>
                    </a:gs>
                    <a:gs pos="25000">
                      <a:schemeClr val="accent6">
                        <a:tint val="93000"/>
                        <a:satMod val="120000"/>
                      </a:schemeClr>
                    </a:gs>
                    <a:gs pos="50000">
                      <a:schemeClr val="accent6">
                        <a:shade val="89000"/>
                        <a:satMod val="110000"/>
                      </a:schemeClr>
                    </a:gs>
                    <a:gs pos="75000">
                      <a:schemeClr val="accent6">
                        <a:tint val="93000"/>
                        <a:satMod val="120000"/>
                      </a:schemeClr>
                    </a:gs>
                    <a:gs pos="100000">
                      <a:schemeClr val="accent6">
                        <a:tint val="90000"/>
                        <a:satMod val="120000"/>
                      </a:schemeClr>
                    </a:gs>
                  </a:gsLst>
                  <a:lin ang="5400000"/>
                </a:gra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Why am I standing here?</a:t>
            </a:r>
            <a:endParaRPr lang="en-US" sz="5400" b="1" cap="none" spc="0" dirty="0">
              <a:ln w="11430"/>
              <a:gradFill>
                <a:gsLst>
                  <a:gs pos="0">
                    <a:schemeClr val="accent6">
                      <a:tint val="90000"/>
                      <a:satMod val="120000"/>
                    </a:schemeClr>
                  </a:gs>
                  <a:gs pos="25000">
                    <a:schemeClr val="accent6">
                      <a:tint val="93000"/>
                      <a:satMod val="120000"/>
                    </a:schemeClr>
                  </a:gs>
                  <a:gs pos="50000">
                    <a:schemeClr val="accent6">
                      <a:shade val="89000"/>
                      <a:satMod val="110000"/>
                    </a:schemeClr>
                  </a:gs>
                  <a:gs pos="75000">
                    <a:schemeClr val="accent6">
                      <a:tint val="93000"/>
                      <a:satMod val="120000"/>
                    </a:schemeClr>
                  </a:gs>
                  <a:gs pos="100000">
                    <a:schemeClr val="accent6">
                      <a:tint val="90000"/>
                      <a:satMod val="120000"/>
                    </a:schemeClr>
                  </a:gs>
                </a:gsLst>
                <a:lin ang="5400000"/>
              </a:gra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1" y="2132856"/>
            <a:ext cx="878497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800" dirty="0" smtClean="0"/>
              <a:t>Stand in the section of the classroom where the Teacher tells you.</a:t>
            </a:r>
          </a:p>
          <a:p>
            <a:pPr algn="ctr"/>
            <a:endParaRPr lang="en-AU" sz="2800" dirty="0"/>
          </a:p>
          <a:p>
            <a:pPr algn="ctr"/>
            <a:r>
              <a:rPr lang="en-AU" sz="2800" b="1" u="sng" dirty="0" smtClean="0"/>
              <a:t>QUIETLY</a:t>
            </a:r>
            <a:r>
              <a:rPr lang="en-AU" sz="2800" dirty="0" smtClean="0"/>
              <a:t> </a:t>
            </a:r>
          </a:p>
          <a:p>
            <a:pPr algn="ctr"/>
            <a:r>
              <a:rPr lang="en-AU" sz="2800" dirty="0" smtClean="0"/>
              <a:t>think about why you are standing where you are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40514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5268" y="426671"/>
            <a:ext cx="85689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What Percentage of the class have long hair? </a:t>
            </a:r>
            <a:endParaRPr lang="en-A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632992" y="2276872"/>
                <a:ext cx="6624736" cy="22803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Make a fraction.</a:t>
                </a:r>
              </a:p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𝑤𝑖𝑡h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𝑙𝑜𝑛𝑔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h𝑎𝑖𝑟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𝑖𝑛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𝑐𝑙𝑎𝑠𝑠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992" y="2276872"/>
                <a:ext cx="6624736" cy="2280304"/>
              </a:xfrm>
              <a:prstGeom prst="rect">
                <a:avLst/>
              </a:prstGeom>
              <a:blipFill rotWithShape="1">
                <a:blip r:embed="rId3"/>
                <a:stretch>
                  <a:fillRect l="-828" t="-133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7" name="Picture 3" descr="C:\Users\e4075868\AppData\Local\Microsoft\Windows\Temporary Internet Files\Content.IE5\4JPRA91W\cartoon-of-barber-cutting-hair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789040"/>
            <a:ext cx="3121884" cy="263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87169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38491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Fractions to % to decimal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275856" y="213803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dirty="0"/>
              <a:t>Decimals, Fractions and Percentages are just different ways of showing the same value:</a:t>
            </a:r>
            <a:endParaRPr lang="en-AU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590" y="3789040"/>
            <a:ext cx="6293371" cy="205633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99592" y="5845372"/>
            <a:ext cx="585557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This can come in handy  when shopping with specials</a:t>
            </a:r>
          </a:p>
          <a:p>
            <a:r>
              <a:rPr lang="en-AU" dirty="0" smtClean="0"/>
              <a:t>Half price is 50% off </a:t>
            </a:r>
          </a:p>
          <a:p>
            <a:r>
              <a:rPr lang="en-AU" dirty="0" smtClean="0"/>
              <a:t>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257738" y="2027840"/>
            <a:ext cx="4973525" cy="10437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275856" y="2027840"/>
            <a:ext cx="3962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u="sng" dirty="0" smtClean="0"/>
              <a:t>Converting From a Percent </a:t>
            </a:r>
            <a:r>
              <a:rPr lang="en-AU" b="1" u="sng" dirty="0"/>
              <a:t>to </a:t>
            </a:r>
            <a:r>
              <a:rPr lang="en-AU" b="1" u="sng" dirty="0" smtClean="0"/>
              <a:t>a Decimal</a:t>
            </a:r>
            <a:endParaRPr lang="en-AU" u="sng" dirty="0"/>
          </a:p>
        </p:txBody>
      </p:sp>
      <p:sp>
        <p:nvSpPr>
          <p:cNvPr id="8" name="Rectangle 7"/>
          <p:cNvSpPr/>
          <p:nvPr/>
        </p:nvSpPr>
        <p:spPr>
          <a:xfrm>
            <a:off x="3257738" y="233690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 smtClean="0"/>
              <a:t>Step 1: </a:t>
            </a:r>
            <a:r>
              <a:rPr lang="en-AU" dirty="0"/>
              <a:t>divide by 100, and remove the "%" 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7738" y="307162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The easiest way to divide by 100 is to </a:t>
            </a:r>
            <a:r>
              <a:rPr lang="en-AU" b="1" dirty="0"/>
              <a:t>move the decimal point 2 places to the left</a:t>
            </a:r>
            <a:r>
              <a:rPr lang="en-AU" dirty="0"/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9334518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to connect decimals to fractions and percentages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2319549"/>
            <a:ext cx="6789462" cy="2289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6104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3131840" y="2027840"/>
            <a:ext cx="4968552" cy="10437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275856" y="2027840"/>
            <a:ext cx="39626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b="1" u="sng" dirty="0" smtClean="0"/>
              <a:t>Converting From a Percent </a:t>
            </a:r>
            <a:r>
              <a:rPr lang="en-AU" b="1" u="sng" dirty="0"/>
              <a:t>to </a:t>
            </a:r>
            <a:r>
              <a:rPr lang="en-AU" b="1" u="sng" dirty="0" smtClean="0"/>
              <a:t>a Decimal</a:t>
            </a:r>
            <a:endParaRPr lang="en-AU" u="sng" dirty="0"/>
          </a:p>
        </p:txBody>
      </p:sp>
      <p:sp>
        <p:nvSpPr>
          <p:cNvPr id="8" name="Rectangle 7"/>
          <p:cNvSpPr/>
          <p:nvPr/>
        </p:nvSpPr>
        <p:spPr>
          <a:xfrm>
            <a:off x="3257738" y="2336908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 smtClean="0"/>
              <a:t>Step 1: </a:t>
            </a:r>
            <a:r>
              <a:rPr lang="en-AU" dirty="0"/>
              <a:t>divide by 100, and remove the "%" sign.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57738" y="307162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dirty="0"/>
              <a:t>The easiest way to divide by 100 is to </a:t>
            </a:r>
            <a:r>
              <a:rPr lang="en-AU" b="1" dirty="0"/>
              <a:t>move the decimal point 2 places to the left</a:t>
            </a:r>
            <a:r>
              <a:rPr lang="en-AU" dirty="0"/>
              <a:t>: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4016" y="4005064"/>
            <a:ext cx="6305550" cy="19240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7738" y="5773793"/>
            <a:ext cx="57245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75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31840" y="2059684"/>
            <a:ext cx="4176464" cy="1225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131840" y="2059684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u="sng" dirty="0"/>
              <a:t>From Decimal to </a:t>
            </a:r>
            <a:r>
              <a:rPr lang="en-AU" b="1" u="sng" dirty="0" smtClean="0"/>
              <a:t>Percent</a:t>
            </a:r>
          </a:p>
          <a:p>
            <a:endParaRPr lang="en-AU" b="1" u="sng" dirty="0"/>
          </a:p>
          <a:p>
            <a:r>
              <a:rPr lang="en-AU" dirty="0" smtClean="0"/>
              <a:t>Step 1: </a:t>
            </a:r>
            <a:r>
              <a:rPr lang="en-AU" dirty="0"/>
              <a:t>multiply by 100, and add a "%" sign.</a:t>
            </a:r>
          </a:p>
          <a:p>
            <a:endParaRPr lang="en-AU" dirty="0" smtClean="0"/>
          </a:p>
          <a:p>
            <a:r>
              <a:rPr lang="en-AU" dirty="0" smtClean="0"/>
              <a:t>The </a:t>
            </a:r>
            <a:r>
              <a:rPr lang="en-AU" dirty="0"/>
              <a:t>easiest way to multiply by 100 is to </a:t>
            </a:r>
            <a:r>
              <a:rPr lang="en-AU" b="1" dirty="0"/>
              <a:t>move the decimal point 2 places to the right</a:t>
            </a:r>
            <a:r>
              <a:rPr lang="en-AU" dirty="0"/>
              <a:t>: </a:t>
            </a:r>
            <a:endParaRPr lang="en-A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31058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2980292" y="1950238"/>
            <a:ext cx="4904076" cy="1262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012786" y="2178730"/>
            <a:ext cx="576817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b="1" u="sng" dirty="0"/>
              <a:t>From Decimal to </a:t>
            </a:r>
            <a:r>
              <a:rPr lang="en-AU" b="1" u="sng" dirty="0" smtClean="0"/>
              <a:t>Percent</a:t>
            </a:r>
          </a:p>
          <a:p>
            <a:endParaRPr lang="en-AU" b="1" u="sng" dirty="0"/>
          </a:p>
          <a:p>
            <a:r>
              <a:rPr lang="en-AU" dirty="0" smtClean="0"/>
              <a:t>Step 1: </a:t>
            </a:r>
            <a:r>
              <a:rPr lang="en-AU" dirty="0"/>
              <a:t>multiply by 100, and add a "%" sign.</a:t>
            </a:r>
          </a:p>
          <a:p>
            <a:endParaRPr lang="en-AU" dirty="0" smtClean="0"/>
          </a:p>
          <a:p>
            <a:r>
              <a:rPr lang="en-AU" dirty="0" smtClean="0"/>
              <a:t>The </a:t>
            </a:r>
            <a:r>
              <a:rPr lang="en-AU" dirty="0"/>
              <a:t>easiest way to multiply by 100 is to </a:t>
            </a:r>
            <a:r>
              <a:rPr lang="en-AU" b="1" dirty="0"/>
              <a:t>move the decimal point 2 places to the right</a:t>
            </a:r>
            <a:r>
              <a:rPr lang="en-AU" dirty="0"/>
              <a:t>: </a:t>
            </a:r>
            <a:endParaRPr lang="en-AU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9640" y="3933056"/>
            <a:ext cx="6276975" cy="19812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12786" y="5458031"/>
            <a:ext cx="6343650" cy="135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451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91680" y="54868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/>
              <a:t>Point to </a:t>
            </a:r>
            <a:r>
              <a:rPr lang="en-AU" sz="4400" dirty="0"/>
              <a:t>c</a:t>
            </a:r>
            <a:r>
              <a:rPr lang="en-AU" sz="4400" dirty="0" smtClean="0"/>
              <a:t>orrect answer</a:t>
            </a:r>
            <a:endParaRPr lang="en-AU" sz="4400" dirty="0"/>
          </a:p>
        </p:txBody>
      </p:sp>
      <p:sp>
        <p:nvSpPr>
          <p:cNvPr id="4" name="TextBox 3"/>
          <p:cNvSpPr txBox="1"/>
          <p:nvPr/>
        </p:nvSpPr>
        <p:spPr>
          <a:xfrm>
            <a:off x="1475656" y="2420888"/>
            <a:ext cx="266429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Convert to a decimal</a:t>
            </a:r>
          </a:p>
          <a:p>
            <a:endParaRPr lang="en-AU" dirty="0"/>
          </a:p>
          <a:p>
            <a:pPr marL="342900" indent="-342900">
              <a:buAutoNum type="arabicPeriod"/>
            </a:pPr>
            <a:r>
              <a:rPr lang="en-AU" dirty="0" smtClean="0"/>
              <a:t>30%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0.4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0.03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3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0.30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80" y="4797152"/>
            <a:ext cx="26642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2. 67%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0.76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0.67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0.067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67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5222330" y="2420888"/>
            <a:ext cx="275158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Convert to a percentage</a:t>
            </a:r>
          </a:p>
          <a:p>
            <a:endParaRPr lang="en-AU" dirty="0" smtClean="0"/>
          </a:p>
          <a:p>
            <a:pPr marL="342900" indent="-342900">
              <a:buAutoNum type="arabicPeriod" startAt="3"/>
            </a:pPr>
            <a:r>
              <a:rPr lang="en-AU" dirty="0" smtClean="0"/>
              <a:t>0.8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8%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88%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80%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13%</a:t>
            </a:r>
            <a:endParaRPr lang="en-AU" dirty="0"/>
          </a:p>
          <a:p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5436096" y="4832265"/>
            <a:ext cx="1659429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 startAt="4"/>
            </a:pPr>
            <a:r>
              <a:rPr lang="en-AU" dirty="0" smtClean="0"/>
              <a:t>0.03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30%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3%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0.03%</a:t>
            </a:r>
          </a:p>
          <a:p>
            <a:pPr marL="800100" lvl="1" indent="-342900">
              <a:buAutoNum type="alphaLcParenR"/>
            </a:pPr>
            <a:r>
              <a:rPr lang="en-AU" dirty="0" smtClean="0"/>
              <a:t>60%</a:t>
            </a:r>
            <a:endParaRPr lang="en-AU" dirty="0"/>
          </a:p>
        </p:txBody>
      </p:sp>
      <p:sp>
        <p:nvSpPr>
          <p:cNvPr id="10" name="Left Arrow 9"/>
          <p:cNvSpPr/>
          <p:nvPr/>
        </p:nvSpPr>
        <p:spPr>
          <a:xfrm>
            <a:off x="3023828" y="4005064"/>
            <a:ext cx="612068" cy="5801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Left Arrow 10"/>
          <p:cNvSpPr/>
          <p:nvPr/>
        </p:nvSpPr>
        <p:spPr>
          <a:xfrm>
            <a:off x="3059832" y="5247784"/>
            <a:ext cx="576064" cy="5760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Left Arrow 11"/>
          <p:cNvSpPr/>
          <p:nvPr/>
        </p:nvSpPr>
        <p:spPr>
          <a:xfrm>
            <a:off x="6629830" y="3657085"/>
            <a:ext cx="572819" cy="5911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Left Arrow 12"/>
          <p:cNvSpPr/>
          <p:nvPr/>
        </p:nvSpPr>
        <p:spPr>
          <a:xfrm>
            <a:off x="6770601" y="5247784"/>
            <a:ext cx="432048" cy="5760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0461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712" y="88567"/>
            <a:ext cx="6512511" cy="1143000"/>
          </a:xfrm>
        </p:spPr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251520" y="1423180"/>
            <a:ext cx="381642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u="sng" dirty="0"/>
              <a:t>Write these percentages as decimals: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708920"/>
            <a:ext cx="1066800" cy="3505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004048" y="1448116"/>
            <a:ext cx="38884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800" b="1" u="sng" dirty="0"/>
              <a:t>Write these decimals as percentages: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0319" y="2708920"/>
            <a:ext cx="1038225" cy="344805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303890" y="6334780"/>
            <a:ext cx="6597290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FFC000"/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You Have 15 </a:t>
            </a:r>
            <a:r>
              <a:rPr lang="en-US" sz="2800" b="1" cap="none" spc="0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FFC000"/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mins</a:t>
            </a:r>
            <a:r>
              <a:rPr lang="en-US" sz="28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FFC000"/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 to complete</a:t>
            </a:r>
            <a:endParaRPr lang="en-US" sz="28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solidFill>
                <a:srgbClr val="FFC000"/>
              </a:soli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64006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059832" y="2114270"/>
            <a:ext cx="4379343" cy="1314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3059832" y="2197313"/>
            <a:ext cx="4572000" cy="203132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u="sng" dirty="0"/>
              <a:t>From Fraction to </a:t>
            </a:r>
            <a:r>
              <a:rPr lang="en-AU" b="1" u="sng" dirty="0" smtClean="0"/>
              <a:t>Decimal</a:t>
            </a:r>
          </a:p>
          <a:p>
            <a:endParaRPr lang="en-AU" b="1" u="sng" dirty="0"/>
          </a:p>
          <a:p>
            <a:r>
              <a:rPr lang="en-AU" dirty="0" smtClean="0"/>
              <a:t>Step 1: Divide </a:t>
            </a:r>
            <a:r>
              <a:rPr lang="en-AU" dirty="0"/>
              <a:t>the top number by the bottom number </a:t>
            </a:r>
            <a:endParaRPr lang="en-AU" dirty="0" smtClean="0"/>
          </a:p>
          <a:p>
            <a:endParaRPr lang="en-AU" dirty="0" smtClean="0"/>
          </a:p>
          <a:p>
            <a:r>
              <a:rPr lang="en-AU" dirty="0" smtClean="0"/>
              <a:t>(</a:t>
            </a:r>
            <a:r>
              <a:rPr lang="en-AU" dirty="0"/>
              <a:t>divide the numerator by the denominator in mathematical language)</a:t>
            </a:r>
            <a:endParaRPr lang="en-A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86499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917763" y="1916832"/>
            <a:ext cx="4102509" cy="12961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2917763" y="1873196"/>
            <a:ext cx="4572000" cy="21236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sz="2400" b="1" u="sng" dirty="0"/>
              <a:t>From Fraction to </a:t>
            </a:r>
            <a:r>
              <a:rPr lang="en-AU" sz="2400" b="1" u="sng" dirty="0" smtClean="0"/>
              <a:t>Decimal</a:t>
            </a:r>
          </a:p>
          <a:p>
            <a:endParaRPr lang="en-AU" b="1" u="sng" dirty="0"/>
          </a:p>
          <a:p>
            <a:r>
              <a:rPr lang="en-AU" dirty="0" smtClean="0"/>
              <a:t>Step 1: Divide </a:t>
            </a:r>
            <a:r>
              <a:rPr lang="en-AU" dirty="0"/>
              <a:t>the top number by the bottom number </a:t>
            </a:r>
            <a:endParaRPr lang="en-AU" dirty="0" smtClean="0"/>
          </a:p>
          <a:p>
            <a:endParaRPr lang="en-AU" dirty="0"/>
          </a:p>
          <a:p>
            <a:r>
              <a:rPr lang="en-AU" dirty="0" smtClean="0"/>
              <a:t>(</a:t>
            </a:r>
            <a:r>
              <a:rPr lang="en-AU" dirty="0"/>
              <a:t>divide the numerator by the denominator in mathematical language)</a:t>
            </a:r>
            <a:endParaRPr lang="en-AU" dirty="0">
              <a:effectLst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3604" y="4069977"/>
            <a:ext cx="5867400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86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to connect decimals to fractions and percentages</a:t>
            </a:r>
            <a:endParaRPr lang="en-AU" sz="2400" dirty="0"/>
          </a:p>
        </p:txBody>
      </p:sp>
      <p:sp>
        <p:nvSpPr>
          <p:cNvPr id="5" name="Rectangle 4"/>
          <p:cNvSpPr/>
          <p:nvPr/>
        </p:nvSpPr>
        <p:spPr>
          <a:xfrm>
            <a:off x="3059832" y="2152017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AU" b="1" u="sng" dirty="0"/>
              <a:t>From Decimal to </a:t>
            </a:r>
            <a:r>
              <a:rPr lang="en-AU" b="1" u="sng" dirty="0" smtClean="0"/>
              <a:t>Fraction</a:t>
            </a:r>
          </a:p>
          <a:p>
            <a:endParaRPr lang="en-AU" b="1" u="sng" dirty="0"/>
          </a:p>
          <a:p>
            <a:r>
              <a:rPr lang="en-AU" dirty="0"/>
              <a:t>To </a:t>
            </a:r>
            <a:r>
              <a:rPr lang="en-AU" dirty="0" smtClean="0"/>
              <a:t>convert a decimal to a fraction needs </a:t>
            </a:r>
            <a:r>
              <a:rPr lang="en-AU" dirty="0"/>
              <a:t>a little more work.</a:t>
            </a:r>
            <a:endParaRPr lang="en-AU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968038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93471" y="2276538"/>
            <a:ext cx="2521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/>
              <a:t>Example: To convert 0.75 to a fraction</a:t>
            </a:r>
            <a:endParaRPr lang="en-AU" sz="20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5" y="3328169"/>
            <a:ext cx="8856984" cy="228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6348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to connect decimals to fractions and percentages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93471" y="2276538"/>
            <a:ext cx="252127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dirty="0"/>
              <a:t>Example: To convert 0.75 to a fraction</a:t>
            </a:r>
            <a:endParaRPr lang="en-AU" sz="20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471" y="3027109"/>
            <a:ext cx="8856984" cy="228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213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4991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Decimals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to connect decimals to fractions and percentages</a:t>
            </a:r>
            <a:endParaRPr lang="en-AU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368" y="2357856"/>
            <a:ext cx="7087691" cy="1782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7259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91680" y="548680"/>
            <a:ext cx="62646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400" dirty="0" smtClean="0"/>
              <a:t>Point to </a:t>
            </a:r>
            <a:r>
              <a:rPr lang="en-AU" sz="4400" dirty="0"/>
              <a:t>c</a:t>
            </a:r>
            <a:r>
              <a:rPr lang="en-AU" sz="4400" dirty="0" smtClean="0"/>
              <a:t>orrect answer</a:t>
            </a:r>
            <a:endParaRPr lang="en-AU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834672" y="1309884"/>
                <a:ext cx="2664296" cy="32027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Convert to a Fraction</a:t>
                </a:r>
              </a:p>
              <a:p>
                <a:endParaRPr lang="en-AU" dirty="0"/>
              </a:p>
              <a:p>
                <a:pPr marL="342900" indent="-342900">
                  <a:lnSpc>
                    <a:spcPct val="150000"/>
                  </a:lnSpc>
                  <a:buAutoNum type="arabicPeriod"/>
                </a:pPr>
                <a:r>
                  <a:rPr lang="en-AU" dirty="0" smtClean="0"/>
                  <a:t>30%</a:t>
                </a:r>
              </a:p>
              <a:p>
                <a:pPr marL="800100" lvl="1" indent="-342900">
                  <a:lnSpc>
                    <a:spcPct val="150000"/>
                  </a:lnSpc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800100" lvl="1" indent="-342900">
                  <a:lnSpc>
                    <a:spcPct val="150000"/>
                  </a:lnSpc>
                  <a:buAutoNum type="alphaLcParenR"/>
                </a:pPr>
                <a:r>
                  <a:rPr lang="en-AU" dirty="0" smtClean="0"/>
                  <a:t>0.03</a:t>
                </a:r>
              </a:p>
              <a:p>
                <a:pPr marL="800100" lvl="1" indent="-342900">
                  <a:lnSpc>
                    <a:spcPct val="150000"/>
                  </a:lnSpc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800100" lvl="1" indent="-342900">
                  <a:lnSpc>
                    <a:spcPct val="150000"/>
                  </a:lnSpc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50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700</m:t>
                        </m:r>
                      </m:den>
                    </m:f>
                  </m:oMath>
                </a14:m>
                <a:endParaRPr lang="en-AU" dirty="0" smtClean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672" y="1309884"/>
                <a:ext cx="2664296" cy="3202736"/>
              </a:xfrm>
              <a:prstGeom prst="rect">
                <a:avLst/>
              </a:prstGeom>
              <a:blipFill rotWithShape="1">
                <a:blip r:embed="rId4"/>
                <a:stretch>
                  <a:fillRect l="-2059" t="-95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771800" y="3965269"/>
                <a:ext cx="2664296" cy="26852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AU" dirty="0" smtClean="0"/>
                  <a:t>2.     25%</a:t>
                </a:r>
              </a:p>
              <a:p>
                <a:pPr marL="800100" lvl="1" indent="-342900">
                  <a:lnSpc>
                    <a:spcPct val="150000"/>
                  </a:lnSpc>
                  <a:buAutoNum type="alphaLcParenR"/>
                </a:pPr>
                <a:r>
                  <a:rPr lang="en-AU" dirty="0" smtClean="0"/>
                  <a:t>0.76</a:t>
                </a:r>
              </a:p>
              <a:p>
                <a:pPr marL="800100" lvl="1" indent="-342900">
                  <a:lnSpc>
                    <a:spcPct val="150000"/>
                  </a:lnSpc>
                  <a:buAutoNum type="alphaLcParenR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lvl="1">
                  <a:lnSpc>
                    <a:spcPct val="150000"/>
                  </a:lnSpc>
                </a:pPr>
                <a:r>
                  <a:rPr lang="en-AU" dirty="0" smtClean="0"/>
                  <a:t>c)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8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12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lvl="1">
                  <a:lnSpc>
                    <a:spcPct val="150000"/>
                  </a:lnSpc>
                </a:pPr>
                <a:r>
                  <a:rPr lang="en-AU" dirty="0" smtClean="0"/>
                  <a:t>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4</m:t>
                        </m:r>
                      </m:den>
                    </m:f>
                  </m:oMath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800" y="3965269"/>
                <a:ext cx="2664296" cy="2685222"/>
              </a:xfrm>
              <a:prstGeom prst="rect">
                <a:avLst/>
              </a:prstGeom>
              <a:blipFill rotWithShape="1">
                <a:blip r:embed="rId5"/>
                <a:stretch>
                  <a:fillRect l="-205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547820" y="2001430"/>
                <a:ext cx="2751587" cy="244752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 smtClean="0"/>
                  <a:t>Convert to a percentage</a:t>
                </a:r>
              </a:p>
              <a:p>
                <a:endParaRPr lang="en-AU" dirty="0" smtClean="0"/>
              </a:p>
              <a:p>
                <a:pPr marL="342900" indent="-342900">
                  <a:buAutoNum type="arabicPeriod" startAt="3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80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800100" lvl="1" indent="-342900">
                  <a:buAutoNum type="alphaLcParenR"/>
                </a:pPr>
                <a:r>
                  <a:rPr lang="en-AU" dirty="0" smtClean="0"/>
                  <a:t>8%</a:t>
                </a:r>
              </a:p>
              <a:p>
                <a:pPr marL="800100" lvl="1" indent="-342900">
                  <a:buAutoNum type="alphaLcParenR"/>
                </a:pPr>
                <a:r>
                  <a:rPr lang="en-AU" dirty="0" smtClean="0"/>
                  <a:t>88%</a:t>
                </a:r>
              </a:p>
              <a:p>
                <a:pPr marL="800100" lvl="1" indent="-342900">
                  <a:buAutoNum type="alphaLcParenR"/>
                </a:pPr>
                <a:r>
                  <a:rPr lang="en-AU" dirty="0" smtClean="0"/>
                  <a:t>80%</a:t>
                </a:r>
              </a:p>
              <a:p>
                <a:pPr marL="800100" lvl="1" indent="-342900">
                  <a:buAutoNum type="alphaLcParenR"/>
                </a:pPr>
                <a:r>
                  <a:rPr lang="en-AU" dirty="0" smtClean="0"/>
                  <a:t>13%</a:t>
                </a:r>
                <a:endParaRPr lang="en-AU" dirty="0"/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7820" y="2001430"/>
                <a:ext cx="2751587" cy="2447529"/>
              </a:xfrm>
              <a:prstGeom prst="rect">
                <a:avLst/>
              </a:prstGeom>
              <a:blipFill rotWithShape="1">
                <a:blip r:embed="rId6"/>
                <a:stretch>
                  <a:fillRect l="-1774" t="-1244" r="-17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139252" y="4834907"/>
                <a:ext cx="1659429" cy="1616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342900" indent="-342900">
                  <a:buAutoNum type="arabicPeriod" startAt="4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50</m:t>
                        </m:r>
                      </m:den>
                    </m:f>
                  </m:oMath>
                </a14:m>
                <a:endParaRPr lang="en-AU" dirty="0" smtClean="0"/>
              </a:p>
              <a:p>
                <a:pPr marL="800100" lvl="1" indent="-342900">
                  <a:buAutoNum type="alphaLcParenR"/>
                </a:pPr>
                <a:r>
                  <a:rPr lang="en-AU" dirty="0"/>
                  <a:t>6</a:t>
                </a:r>
                <a:r>
                  <a:rPr lang="en-AU" dirty="0" smtClean="0"/>
                  <a:t>0%</a:t>
                </a:r>
              </a:p>
              <a:p>
                <a:pPr marL="800100" lvl="1" indent="-342900">
                  <a:buAutoNum type="alphaLcParenR"/>
                </a:pPr>
                <a:r>
                  <a:rPr lang="en-AU" dirty="0" smtClean="0"/>
                  <a:t>3%</a:t>
                </a:r>
              </a:p>
              <a:p>
                <a:pPr marL="800100" lvl="1" indent="-342900">
                  <a:buAutoNum type="alphaLcParenR"/>
                </a:pPr>
                <a:r>
                  <a:rPr lang="en-AU" dirty="0" smtClean="0"/>
                  <a:t>0.03%</a:t>
                </a:r>
              </a:p>
              <a:p>
                <a:pPr marL="800100" lvl="1" indent="-342900">
                  <a:buAutoNum type="alphaLcParenR"/>
                </a:pPr>
                <a:r>
                  <a:rPr lang="en-AU" dirty="0" smtClean="0"/>
                  <a:t>6%</a:t>
                </a:r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9252" y="4834907"/>
                <a:ext cx="1659429" cy="1616533"/>
              </a:xfrm>
              <a:prstGeom prst="rect">
                <a:avLst/>
              </a:prstGeom>
              <a:blipFill rotWithShape="1">
                <a:blip r:embed="rId7"/>
                <a:stretch>
                  <a:fillRect l="-2574" r="-3309" b="-377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Left Arrow 8"/>
          <p:cNvSpPr/>
          <p:nvPr/>
        </p:nvSpPr>
        <p:spPr>
          <a:xfrm>
            <a:off x="2020531" y="3350896"/>
            <a:ext cx="612068" cy="5801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Left Arrow 9"/>
          <p:cNvSpPr/>
          <p:nvPr/>
        </p:nvSpPr>
        <p:spPr>
          <a:xfrm>
            <a:off x="3918854" y="4995387"/>
            <a:ext cx="576064" cy="5760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Left Arrow 10"/>
          <p:cNvSpPr/>
          <p:nvPr/>
        </p:nvSpPr>
        <p:spPr>
          <a:xfrm>
            <a:off x="6968967" y="3374104"/>
            <a:ext cx="572819" cy="591165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Left Arrow 11"/>
          <p:cNvSpPr/>
          <p:nvPr/>
        </p:nvSpPr>
        <p:spPr>
          <a:xfrm>
            <a:off x="7410746" y="5878018"/>
            <a:ext cx="432048" cy="576064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5686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 animBg="1"/>
      <p:bldP spid="10" grpId="0" animBg="1"/>
      <p:bldP spid="11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229600" cy="1143000"/>
          </a:xfrm>
        </p:spPr>
        <p:txBody>
          <a:bodyPr/>
          <a:lstStyle/>
          <a:p>
            <a:r>
              <a:rPr lang="en-AU" dirty="0" smtClean="0"/>
              <a:t>Questions</a:t>
            </a:r>
            <a:endParaRPr lang="en-AU" dirty="0"/>
          </a:p>
        </p:txBody>
      </p:sp>
      <p:sp>
        <p:nvSpPr>
          <p:cNvPr id="3" name="Rectangle 2"/>
          <p:cNvSpPr/>
          <p:nvPr/>
        </p:nvSpPr>
        <p:spPr>
          <a:xfrm>
            <a:off x="467544" y="1196752"/>
            <a:ext cx="367240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u="sng" dirty="0"/>
              <a:t>Write these percentages as fractions in their simplest form: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8646" y="1981065"/>
            <a:ext cx="838200" cy="4695825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716017" y="1248807"/>
            <a:ext cx="383711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b="1" u="sng" dirty="0"/>
              <a:t>Write these fractions as percentages: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339" y="1981065"/>
            <a:ext cx="942781" cy="463615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963430" y="3212976"/>
            <a:ext cx="3428938" cy="9541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FFC000"/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You Have 15 </a:t>
            </a:r>
            <a:r>
              <a:rPr lang="en-US" sz="2800" b="1" cap="none" spc="0" dirty="0" err="1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FFC000"/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mins</a:t>
            </a:r>
            <a:r>
              <a:rPr lang="en-US" sz="2800" b="1" cap="none" spc="0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solidFill>
                  <a:srgbClr val="FFC000"/>
                </a:solidFill>
                <a:effectLst>
                  <a:outerShdw blurRad="50800" algn="tl" rotWithShape="0">
                    <a:srgbClr val="000000"/>
                  </a:outerShdw>
                </a:effectLst>
              </a:rPr>
              <a:t> to complete</a:t>
            </a:r>
            <a:endParaRPr lang="en-US" sz="2800" b="1" cap="none" spc="0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solidFill>
                <a:srgbClr val="FFC000"/>
              </a:soli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7093192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15268" y="188640"/>
            <a:ext cx="85689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4000" dirty="0" smtClean="0"/>
              <a:t>What Percentage of the class have long hair? </a:t>
            </a:r>
            <a:endParaRPr lang="en-AU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287376" y="1916832"/>
                <a:ext cx="6624736" cy="28343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AU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𝑤𝑖𝑡h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𝑙𝑜𝑛𝑔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h𝑎𝑖𝑟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𝑁𝑢𝑚𝑏𝑒𝑟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𝑖𝑛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𝑡h𝑒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𝑐𝑙𝑎𝑠𝑠</m:t>
                          </m:r>
                        </m:den>
                      </m:f>
                    </m:oMath>
                  </m:oMathPara>
                </a14:m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 smtClean="0"/>
              </a:p>
              <a:p>
                <a:endParaRPr lang="en-AU" dirty="0"/>
              </a:p>
              <a:p>
                <a:endParaRPr lang="en-AU" dirty="0" smtClean="0"/>
              </a:p>
              <a:p>
                <a:endParaRPr lang="en-AU" dirty="0"/>
              </a:p>
              <a:p>
                <a:pPr algn="ctr"/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7376" y="1916832"/>
                <a:ext cx="6624736" cy="2834302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3" descr="C:\Users\e4075868\AppData\Local\Microsoft\Windows\Temporary Internet Files\Content.IE5\4JPRA91W\cartoon-of-barber-cutting-hair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3789040"/>
            <a:ext cx="3121884" cy="2637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1809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oundry">
  <a:themeElements>
    <a:clrScheme name="Foundry">
      <a:dk1>
        <a:sysClr val="windowText" lastClr="000000"/>
      </a:dk1>
      <a:lt1>
        <a:sysClr val="window" lastClr="FFFFFF"/>
      </a:lt1>
      <a:dk2>
        <a:srgbClr val="676A55"/>
      </a:dk2>
      <a:lt2>
        <a:srgbClr val="EAEBDE"/>
      </a:lt2>
      <a:accent1>
        <a:srgbClr val="72A376"/>
      </a:accent1>
      <a:accent2>
        <a:srgbClr val="B0CCB0"/>
      </a:accent2>
      <a:accent3>
        <a:srgbClr val="A8CDD7"/>
      </a:accent3>
      <a:accent4>
        <a:srgbClr val="C0BEAF"/>
      </a:accent4>
      <a:accent5>
        <a:srgbClr val="CEC597"/>
      </a:accent5>
      <a:accent6>
        <a:srgbClr val="E8B7B7"/>
      </a:accent6>
      <a:hlink>
        <a:srgbClr val="DB5353"/>
      </a:hlink>
      <a:folHlink>
        <a:srgbClr val="903638"/>
      </a:folHlink>
    </a:clrScheme>
    <a:fontScheme name="Foundry">
      <a:maj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Rockwell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Foundry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80000"/>
              </a:schemeClr>
            </a:gs>
            <a:gs pos="62000">
              <a:schemeClr val="phClr">
                <a:tint val="30000"/>
                <a:satMod val="180000"/>
              </a:schemeClr>
            </a:gs>
            <a:gs pos="100000">
              <a:schemeClr val="phClr">
                <a:tint val="22000"/>
                <a:satMod val="18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8000"/>
                <a:satMod val="150000"/>
              </a:schemeClr>
            </a:gs>
            <a:gs pos="72000">
              <a:schemeClr val="phClr">
                <a:tint val="90000"/>
                <a:satMod val="135000"/>
              </a:schemeClr>
            </a:gs>
            <a:gs pos="100000">
              <a:schemeClr val="phClr">
                <a:tint val="8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80000"/>
            </a:schemeClr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000000"/>
            </a:lightRig>
          </a:scene3d>
          <a:sp3d prstMaterial="matte">
            <a:bevelT w="63500" h="635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5000"/>
                <a:satMod val="400000"/>
              </a:schemeClr>
            </a:gs>
            <a:gs pos="20000">
              <a:schemeClr val="phClr">
                <a:tint val="80000"/>
                <a:satMod val="355000"/>
              </a:schemeClr>
            </a:gs>
            <a:gs pos="100000">
              <a:schemeClr val="phClr">
                <a:tint val="95000"/>
                <a:shade val="55000"/>
                <a:satMod val="355000"/>
              </a:schemeClr>
            </a:gs>
          </a:gsLst>
          <a:path path="circle">
            <a:fillToRect l="67500" t="35000" r="32500" b="65000"/>
          </a:path>
        </a:gradFill>
        <a:blipFill>
          <a:blip xmlns:r="http://schemas.openxmlformats.org/officeDocument/2006/relationships" r:embed="rId1">
            <a:duotone>
              <a:schemeClr val="phClr">
                <a:shade val="30000"/>
                <a:satMod val="120000"/>
              </a:schemeClr>
              <a:schemeClr val="phClr">
                <a:tint val="70000"/>
                <a:satMod val="250000"/>
              </a:schemeClr>
            </a:duotone>
          </a:blip>
          <a:tile tx="0" ty="0" sx="50000" sy="50000" flip="none" algn="t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3567</TotalTime>
  <Words>801</Words>
  <Application>Microsoft Office PowerPoint</Application>
  <PresentationFormat>On-screen Show (4:3)</PresentationFormat>
  <Paragraphs>201</Paragraphs>
  <Slides>19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Foundry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Questions</vt:lpstr>
      <vt:lpstr>PowerPoint Presentation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MORGAN Adam</cp:lastModifiedBy>
  <cp:revision>66</cp:revision>
  <dcterms:created xsi:type="dcterms:W3CDTF">2014-05-14T02:58:57Z</dcterms:created>
  <dcterms:modified xsi:type="dcterms:W3CDTF">2017-02-17T06:40:36Z</dcterms:modified>
</cp:coreProperties>
</file>
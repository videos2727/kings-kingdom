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3" r:id="rId2"/>
    <p:sldId id="274" r:id="rId3"/>
    <p:sldId id="275" r:id="rId4"/>
    <p:sldId id="257" r:id="rId5"/>
    <p:sldId id="259" r:id="rId6"/>
    <p:sldId id="260" r:id="rId7"/>
    <p:sldId id="261" r:id="rId8"/>
    <p:sldId id="262" r:id="rId9"/>
    <p:sldId id="276" r:id="rId10"/>
    <p:sldId id="263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3B831-A380-430A-B75E-D4F0D104AA11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B384F-B7BA-48E2-BF58-AFB01A2C91C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030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8268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812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42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904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85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636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09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62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78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5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802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3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7DFE5-32D4-4885-B469-A6C8D531D6A7}" type="datetimeFigureOut">
              <a:rPr lang="en-AU" smtClean="0"/>
              <a:t>16/03/2017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F88E9-24E1-40B3-B7A1-ECAB766DE63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8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DO NOT RULE UP YOUR PAGE YET!</a:t>
            </a:r>
          </a:p>
          <a:p>
            <a:pPr marL="0" indent="0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Put your thinking cap on!</a:t>
            </a:r>
          </a:p>
        </p:txBody>
      </p:sp>
      <p:pic>
        <p:nvPicPr>
          <p:cNvPr id="4" name="Picture 3" descr="Clipart - &lt;strong&gt;thinking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70" y="3284984"/>
            <a:ext cx="5783916" cy="34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66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33265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DO NOT RULE UP YOUR PAGE YET!</a:t>
            </a:r>
          </a:p>
          <a:p>
            <a:pPr marL="0" indent="0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Put your thinking cap on!</a:t>
            </a:r>
          </a:p>
        </p:txBody>
      </p:sp>
      <p:pic>
        <p:nvPicPr>
          <p:cNvPr id="4" name="Picture 3" descr="Clipart - &lt;strong&gt;thinking&lt;/strong&gt;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370" y="3284984"/>
            <a:ext cx="5783916" cy="34366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223536" y="3861048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probability?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43353" y="5733256"/>
            <a:ext cx="3635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THINK – PAIR - SHARE</a:t>
            </a:r>
          </a:p>
        </p:txBody>
      </p:sp>
    </p:spTree>
    <p:extLst>
      <p:ext uri="{BB962C8B-B14F-4D97-AF65-F5344CB8AC3E}">
        <p14:creationId xmlns:p14="http://schemas.microsoft.com/office/powerpoint/2010/main" val="340734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548680"/>
            <a:ext cx="8373616" cy="5400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400" dirty="0"/>
              <a:t>We are setting up a NEW section of your interactive notebooks for the next section!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/>
              <a:t>From your last page of the measurement notebook skip one page and we will set up the new notebook. 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4400" dirty="0">
                <a:solidFill>
                  <a:schemeClr val="accent4">
                    <a:lumMod val="75000"/>
                  </a:schemeClr>
                </a:solidFill>
              </a:rPr>
              <a:t>You will have the page numbers start over again!</a:t>
            </a: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8464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260648"/>
            <a:ext cx="7772400" cy="1470025"/>
          </a:xfrm>
        </p:spPr>
        <p:txBody>
          <a:bodyPr/>
          <a:lstStyle/>
          <a:p>
            <a:r>
              <a:rPr lang="en-AU" dirty="0"/>
              <a:t>My Probability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844" y="446767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8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775573"/>
            <a:ext cx="4135264" cy="352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72816"/>
            <a:ext cx="2798440" cy="279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61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620688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223803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318247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42517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meaning of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78" y="3041956"/>
            <a:ext cx="2796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probability?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0481" y="2708667"/>
            <a:ext cx="59635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 probability of an event is the chance of that event happening between 0 and 1. it can be written as words, a fraction, decimal or percentage.</a:t>
            </a:r>
          </a:p>
        </p:txBody>
      </p:sp>
      <p:pic>
        <p:nvPicPr>
          <p:cNvPr id="5" name="Picture 4" descr="&lt;strong&gt;Probability&lt;/strong&gt; - Wikipedi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08" y="4342924"/>
            <a:ext cx="2145744" cy="214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6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4" y="188640"/>
            <a:ext cx="9289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What are some things that involve probability?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592" y="1484784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Insurance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2469947" y="4439880"/>
            <a:ext cx="6674053" cy="2353444"/>
            <a:chOff x="2469947" y="4439880"/>
            <a:chExt cx="6674053" cy="2353444"/>
          </a:xfrm>
        </p:grpSpPr>
        <p:sp>
          <p:nvSpPr>
            <p:cNvPr id="6" name="TextBox 5"/>
            <p:cNvSpPr txBox="1"/>
            <p:nvPr/>
          </p:nvSpPr>
          <p:spPr>
            <a:xfrm>
              <a:off x="2469947" y="4581128"/>
              <a:ext cx="437962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rgbClr val="00B050"/>
                  </a:solidFill>
                </a:rPr>
                <a:t>Coin tosses – sporting events</a:t>
              </a:r>
            </a:p>
          </p:txBody>
        </p:sp>
        <p:pic>
          <p:nvPicPr>
            <p:cNvPr id="9" name="Picture 8" descr="&lt;strong&gt;Soccer&lt;/strong&gt;_ball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0556" y="4439880"/>
              <a:ext cx="2353444" cy="2353444"/>
            </a:xfrm>
            <a:prstGeom prst="rect">
              <a:avLst/>
            </a:prstGeom>
          </p:spPr>
        </p:pic>
      </p:grpSp>
      <p:grpSp>
        <p:nvGrpSpPr>
          <p:cNvPr id="15" name="Group 14"/>
          <p:cNvGrpSpPr/>
          <p:nvPr/>
        </p:nvGrpSpPr>
        <p:grpSpPr>
          <a:xfrm>
            <a:off x="5547699" y="1113157"/>
            <a:ext cx="5622482" cy="2929808"/>
            <a:chOff x="5547699" y="1113157"/>
            <a:chExt cx="5622482" cy="2929808"/>
          </a:xfrm>
        </p:grpSpPr>
        <p:sp>
          <p:nvSpPr>
            <p:cNvPr id="5" name="TextBox 4"/>
            <p:cNvSpPr txBox="1"/>
            <p:nvPr/>
          </p:nvSpPr>
          <p:spPr>
            <a:xfrm>
              <a:off x="6790556" y="1113157"/>
              <a:ext cx="4379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FF0000"/>
                  </a:solidFill>
                </a:rPr>
                <a:t>Gambling</a:t>
              </a:r>
            </a:p>
          </p:txBody>
        </p:sp>
        <p:pic>
          <p:nvPicPr>
            <p:cNvPr id="10" name="Picture 9" descr="Playing &lt;strong&gt;Cards&lt;/strong&gt; by Fluffgar on DeviantArt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7699" y="1699422"/>
              <a:ext cx="2830410" cy="2343543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558307" y="1254988"/>
            <a:ext cx="4684508" cy="3070701"/>
            <a:chOff x="558307" y="1254988"/>
            <a:chExt cx="4684508" cy="3070701"/>
          </a:xfrm>
        </p:grpSpPr>
        <p:sp>
          <p:nvSpPr>
            <p:cNvPr id="4" name="TextBox 3"/>
            <p:cNvSpPr txBox="1"/>
            <p:nvPr/>
          </p:nvSpPr>
          <p:spPr>
            <a:xfrm>
              <a:off x="558307" y="3665715"/>
              <a:ext cx="4379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accent6">
                      <a:lumMod val="75000"/>
                    </a:schemeClr>
                  </a:solidFill>
                </a:rPr>
                <a:t>Weather Prediction</a:t>
              </a:r>
            </a:p>
          </p:txBody>
        </p:sp>
        <p:pic>
          <p:nvPicPr>
            <p:cNvPr id="11" name="Picture 10" descr="Raincloud by halattas - sign &lt;strong&gt;rain&lt;/strong&gt;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790" y="1254988"/>
              <a:ext cx="2172025" cy="3070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035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8265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043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Introduction to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the meaning of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514" y="2855571"/>
            <a:ext cx="26522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What is the probability scale?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610" y="2876607"/>
            <a:ext cx="56698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0000"/>
                </a:solidFill>
              </a:rPr>
              <a:t>A </a:t>
            </a:r>
            <a:r>
              <a:rPr lang="en-AU" sz="2400" b="1" dirty="0">
                <a:solidFill>
                  <a:srgbClr val="000000"/>
                </a:solidFill>
              </a:rPr>
              <a:t>probability scale</a:t>
            </a:r>
            <a:r>
              <a:rPr lang="en-AU" sz="2400" dirty="0">
                <a:solidFill>
                  <a:srgbClr val="000000"/>
                </a:solidFill>
              </a:rPr>
              <a:t>, starting at 0 (impossible) and ending at 1 (certain).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40395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8668" y="260648"/>
            <a:ext cx="7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Task : Create a Probability Scale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15616" y="3284984"/>
            <a:ext cx="684076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5637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99992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176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35896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9208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519" y="2478550"/>
            <a:ext cx="1728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9308" y="24313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413" y="2503935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021" y="974168"/>
            <a:ext cx="439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tx2">
                    <a:lumMod val="75000"/>
                  </a:schemeClr>
                </a:solidFill>
              </a:rPr>
              <a:t>Draw this </a:t>
            </a:r>
          </a:p>
        </p:txBody>
      </p:sp>
    </p:spTree>
    <p:extLst>
      <p:ext uri="{BB962C8B-B14F-4D97-AF65-F5344CB8AC3E}">
        <p14:creationId xmlns:p14="http://schemas.microsoft.com/office/powerpoint/2010/main" val="2021155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8668" y="260648"/>
            <a:ext cx="7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Task : Create a Probability Scale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15616" y="3284984"/>
            <a:ext cx="684076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5637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99992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176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35896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9208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519" y="2478550"/>
            <a:ext cx="1728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9308" y="24313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413" y="2503935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800" y="4226177"/>
            <a:ext cx="847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Decimal    0.0                                        0.4                           0.6                                               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938616"/>
            <a:ext cx="500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tx2">
                    <a:lumMod val="75000"/>
                  </a:schemeClr>
                </a:solidFill>
              </a:rPr>
              <a:t>Add the decimal values to each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 few have been done for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2624" y="5489357"/>
            <a:ext cx="8136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We will go over all the answers at the end</a:t>
            </a:r>
          </a:p>
        </p:txBody>
      </p:sp>
    </p:spTree>
    <p:extLst>
      <p:ext uri="{BB962C8B-B14F-4D97-AF65-F5344CB8AC3E}">
        <p14:creationId xmlns:p14="http://schemas.microsoft.com/office/powerpoint/2010/main" val="324413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8668" y="260648"/>
            <a:ext cx="7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Task : Create a Probability Scale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15616" y="3284984"/>
            <a:ext cx="684076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5637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99992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176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35896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9208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519" y="2478550"/>
            <a:ext cx="1728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9308" y="24313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413" y="2503935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800" y="4226177"/>
            <a:ext cx="847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Decimal    0.0                                        0.4                           0.6                                                1.0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Fraction    </a:t>
                </a:r>
                <a:r>
                  <a:rPr lang="en-US" sz="2400" b="1" dirty="0"/>
                  <a:t> 0              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                   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                    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/>
                  <a:t>                                                                    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blipFill>
                <a:blip r:embed="rId2"/>
                <a:stretch>
                  <a:fillRect l="-576" b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0" y="938616"/>
            <a:ext cx="50088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tx2">
                    <a:lumMod val="75000"/>
                  </a:schemeClr>
                </a:solidFill>
              </a:rPr>
              <a:t>Add the fraction values to each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 few have been done for you</a:t>
            </a:r>
          </a:p>
        </p:txBody>
      </p:sp>
    </p:spTree>
    <p:extLst>
      <p:ext uri="{BB962C8B-B14F-4D97-AF65-F5344CB8AC3E}">
        <p14:creationId xmlns:p14="http://schemas.microsoft.com/office/powerpoint/2010/main" val="394496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8668" y="260648"/>
            <a:ext cx="7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Task : Create a Probability Scale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15616" y="3284984"/>
            <a:ext cx="684076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5637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99992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176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35896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9208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519" y="2478550"/>
            <a:ext cx="1728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9308" y="24313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413" y="2503935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800" y="4226177"/>
            <a:ext cx="847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Decimal    0.0                                        0.4                           0.6                                                1.0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Fraction    </a:t>
                </a:r>
                <a:r>
                  <a:rPr lang="en-US" sz="2400" b="1" dirty="0"/>
                  <a:t> 0              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                   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                    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/>
                  <a:t>                                                                    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blipFill>
                <a:blip r:embed="rId2"/>
                <a:stretch>
                  <a:fillRect l="-576" b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-14591" y="5827911"/>
            <a:ext cx="868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Percentage  0%               20%                                               60%                                              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19" y="882451"/>
            <a:ext cx="5367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tx2">
                    <a:lumMod val="75000"/>
                  </a:schemeClr>
                </a:solidFill>
              </a:rPr>
              <a:t>Add the percentage values to each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 few have been done for you</a:t>
            </a:r>
          </a:p>
        </p:txBody>
      </p:sp>
    </p:spTree>
    <p:extLst>
      <p:ext uri="{BB962C8B-B14F-4D97-AF65-F5344CB8AC3E}">
        <p14:creationId xmlns:p14="http://schemas.microsoft.com/office/powerpoint/2010/main" val="290763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8668" y="260648"/>
            <a:ext cx="7344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Task : Create a Probability Scale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15616" y="3284984"/>
            <a:ext cx="6840760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561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956376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99992" y="3068960"/>
            <a:ext cx="0" cy="5040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41176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35896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292080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3068960"/>
            <a:ext cx="0" cy="50405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519" y="2478550"/>
            <a:ext cx="1728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Impossible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9308" y="243135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0413" y="2503935"/>
            <a:ext cx="1728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 Chances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9800" y="4226177"/>
            <a:ext cx="8470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Decimal    </a:t>
            </a:r>
            <a:r>
              <a:rPr lang="en-US" b="1" dirty="0"/>
              <a:t>0.0                   </a:t>
            </a:r>
            <a:r>
              <a:rPr lang="en-US" b="1" dirty="0">
                <a:highlight>
                  <a:srgbClr val="FFFF00"/>
                </a:highlight>
              </a:rPr>
              <a:t>0.2</a:t>
            </a:r>
            <a:r>
              <a:rPr lang="en-US" b="1" dirty="0"/>
              <a:t>                </a:t>
            </a:r>
            <a:r>
              <a:rPr lang="en-US" b="1" dirty="0"/>
              <a:t>0.4             </a:t>
            </a:r>
            <a:r>
              <a:rPr lang="en-US" b="1" dirty="0">
                <a:highlight>
                  <a:srgbClr val="FFFF00"/>
                </a:highlight>
              </a:rPr>
              <a:t>0.5</a:t>
            </a:r>
            <a:r>
              <a:rPr lang="en-US" b="1" dirty="0"/>
              <a:t>          0.6                    </a:t>
            </a:r>
            <a:r>
              <a:rPr lang="en-US" b="1" dirty="0">
                <a:highlight>
                  <a:srgbClr val="FFFF00"/>
                </a:highlight>
              </a:rPr>
              <a:t>0.8</a:t>
            </a:r>
            <a:r>
              <a:rPr lang="en-US" b="1" dirty="0"/>
              <a:t>                  1.0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Fraction    </a:t>
                </a:r>
                <a:r>
                  <a:rPr lang="en-US" sz="2400" b="1" dirty="0"/>
                  <a:t> 0              </a:t>
                </a:r>
                <a:r>
                  <a:rPr lang="en-US" sz="36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              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highlight>
                      <a:srgbClr val="FFFF00"/>
                    </a:highlight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/>
                  <a:t>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b="1" dirty="0"/>
                  <a:t>            </a:t>
                </a:r>
                <a:r>
                  <a:rPr lang="en-US" b="1" dirty="0">
                    <a:highlight>
                      <a:srgbClr val="FFFF00"/>
                    </a:highlight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highlight>
                      <a:srgbClr val="FFFF00"/>
                    </a:highlight>
                  </a:rPr>
                  <a:t> </a:t>
                </a:r>
                <a:r>
                  <a:rPr lang="en-US" b="1" dirty="0"/>
                  <a:t>                 </a:t>
                </a:r>
                <a:r>
                  <a:rPr lang="en-US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/>
                  <a:t>                       1                                         </a:t>
                </a: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69160"/>
                <a:ext cx="8460431" cy="714683"/>
              </a:xfrm>
              <a:prstGeom prst="rect">
                <a:avLst/>
              </a:prstGeom>
              <a:blipFill>
                <a:blip r:embed="rId2"/>
                <a:stretch>
                  <a:fillRect l="-576" r="-2226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-14591" y="5827911"/>
            <a:ext cx="868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Percentage  0%               20%              </a:t>
            </a:r>
            <a:r>
              <a:rPr lang="en-US" b="1" dirty="0">
                <a:highlight>
                  <a:srgbClr val="FFFF00"/>
                </a:highlight>
              </a:rPr>
              <a:t>40%</a:t>
            </a:r>
            <a:r>
              <a:rPr lang="en-US" b="1" dirty="0"/>
              <a:t>          </a:t>
            </a:r>
            <a:r>
              <a:rPr lang="en-US" b="1" dirty="0">
                <a:highlight>
                  <a:srgbClr val="FFFF00"/>
                </a:highlight>
              </a:rPr>
              <a:t>50%</a:t>
            </a:r>
            <a:r>
              <a:rPr lang="en-US" b="1" dirty="0"/>
              <a:t>         60%                  </a:t>
            </a:r>
            <a:r>
              <a:rPr lang="en-US" b="1" dirty="0">
                <a:highlight>
                  <a:srgbClr val="FFFF00"/>
                </a:highlight>
              </a:rPr>
              <a:t>80% </a:t>
            </a:r>
            <a:r>
              <a:rPr lang="en-US" b="1" dirty="0"/>
              <a:t>              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519" y="882451"/>
            <a:ext cx="5367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chemeClr val="tx2">
                    <a:lumMod val="75000"/>
                  </a:schemeClr>
                </a:solidFill>
              </a:rPr>
              <a:t>Check Your Answers!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4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2060848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Exercise 3.1 page 34  </a:t>
            </a:r>
          </a:p>
        </p:txBody>
      </p:sp>
    </p:spTree>
    <p:extLst>
      <p:ext uri="{BB962C8B-B14F-4D97-AF65-F5344CB8AC3E}">
        <p14:creationId xmlns:p14="http://schemas.microsoft.com/office/powerpoint/2010/main" val="1776964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764704"/>
            <a:ext cx="6840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/>
              <a:t>Learning Logs</a:t>
            </a:r>
          </a:p>
        </p:txBody>
      </p:sp>
    </p:spTree>
    <p:extLst>
      <p:ext uri="{BB962C8B-B14F-4D97-AF65-F5344CB8AC3E}">
        <p14:creationId xmlns:p14="http://schemas.microsoft.com/office/powerpoint/2010/main" val="1640792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2585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272537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436</Words>
  <Application>Microsoft Office PowerPoint</Application>
  <PresentationFormat>On-screen Show (4:3)</PresentationFormat>
  <Paragraphs>119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My Probability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Probability Interactive Notebook</dc:title>
  <dc:creator>MCALLISTER Robert</dc:creator>
  <cp:lastModifiedBy>Alexandria Latham</cp:lastModifiedBy>
  <cp:revision>16</cp:revision>
  <dcterms:created xsi:type="dcterms:W3CDTF">2016-02-28T07:23:20Z</dcterms:created>
  <dcterms:modified xsi:type="dcterms:W3CDTF">2017-03-16T09:29:37Z</dcterms:modified>
</cp:coreProperties>
</file>
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3" r:id="rId2"/>
    <p:sldId id="257" r:id="rId3"/>
    <p:sldId id="268" r:id="rId4"/>
    <p:sldId id="264" r:id="rId5"/>
    <p:sldId id="260" r:id="rId6"/>
    <p:sldId id="266" r:id="rId7"/>
    <p:sldId id="269" r:id="rId8"/>
    <p:sldId id="267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27/03/2017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</a:t>
            </a:r>
            <a:r>
              <a:rPr lang="en-AU" baseline="0" dirty="0" smtClean="0"/>
              <a:t>understanding/guided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Guided </a:t>
            </a:r>
            <a:r>
              <a:rPr lang="en-AU" dirty="0" smtClean="0"/>
              <a:t>practice/ independent</a:t>
            </a:r>
            <a:r>
              <a:rPr lang="en-AU" baseline="0" dirty="0" smtClean="0"/>
              <a:t>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Closure:</a:t>
            </a:r>
          </a:p>
          <a:p>
            <a:r>
              <a:rPr lang="en-AU" dirty="0" smtClean="0"/>
              <a:t>Students must complete this to leave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27/03/2017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b="1" dirty="0" smtClean="0">
                <a:solidFill>
                  <a:srgbClr val="00B050"/>
                </a:solidFill>
                <a:latin typeface="Baskerville Old Face" pitchFamily="18" charset="0"/>
              </a:rPr>
              <a:t>Quick Write</a:t>
            </a:r>
            <a:endParaRPr lang="en-AU" b="1" dirty="0">
              <a:solidFill>
                <a:srgbClr val="00B050"/>
              </a:solidFill>
              <a:latin typeface="Baskerville Old Face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dirty="0">
                <a:solidFill>
                  <a:srgbClr val="7030A0"/>
                </a:solidFill>
              </a:rPr>
              <a:t>How does the government make money</a:t>
            </a:r>
            <a:r>
              <a:rPr lang="en-AU" b="1" dirty="0" smtClean="0">
                <a:solidFill>
                  <a:srgbClr val="7030A0"/>
                </a:solidFill>
              </a:rPr>
              <a:t>?</a:t>
            </a:r>
          </a:p>
          <a:p>
            <a:pPr>
              <a:buFontTx/>
              <a:buChar char="-"/>
            </a:pPr>
            <a:r>
              <a:rPr lang="en-AU" dirty="0" smtClean="0"/>
              <a:t>Write </a:t>
            </a:r>
            <a:r>
              <a:rPr lang="en-AU" dirty="0" smtClean="0"/>
              <a:t>for </a:t>
            </a:r>
            <a:r>
              <a:rPr lang="en-AU" dirty="0" smtClean="0"/>
              <a:t>1 minute</a:t>
            </a:r>
          </a:p>
          <a:p>
            <a:pPr>
              <a:buFontTx/>
              <a:buChar char="-"/>
            </a:pPr>
            <a:r>
              <a:rPr lang="en-AU" dirty="0" smtClean="0"/>
              <a:t>Compare what you have written with your partner for 1 minute.</a:t>
            </a:r>
          </a:p>
          <a:p>
            <a:pPr>
              <a:buFontTx/>
              <a:buChar char="-"/>
            </a:pPr>
            <a:r>
              <a:rPr lang="en-AU" dirty="0" smtClean="0"/>
              <a:t>Add to your ideas</a:t>
            </a:r>
          </a:p>
          <a:p>
            <a:pPr>
              <a:buFontTx/>
              <a:buChar char="-"/>
            </a:pPr>
            <a:r>
              <a:rPr lang="en-AU" dirty="0" smtClean="0"/>
              <a:t>Be prepared to share</a:t>
            </a:r>
            <a:endParaRPr lang="en-AU" dirty="0" smtClean="0"/>
          </a:p>
          <a:p>
            <a:pPr>
              <a:buFontTx/>
              <a:buChar char="-"/>
            </a:pPr>
            <a:endParaRPr lang="en-AU" dirty="0"/>
          </a:p>
        </p:txBody>
      </p:sp>
      <p:pic>
        <p:nvPicPr>
          <p:cNvPr id="5122" name="Picture 2" descr="C:\Users\e4075868\AppData\Local\Microsoft\Windows\Temporary Internet Files\Content.IE5\JODDZX2B\Coat_of_Arms_of_Australia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304" y="4509120"/>
            <a:ext cx="2844986" cy="2204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Lesson objective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By the end of this lesson you will be able to</a:t>
            </a:r>
            <a:r>
              <a:rPr lang="en-AU" dirty="0" smtClean="0"/>
              <a:t>;</a:t>
            </a:r>
          </a:p>
          <a:p>
            <a:pPr marL="0" indent="0">
              <a:buNone/>
            </a:pPr>
            <a:endParaRPr lang="en-AU" dirty="0" smtClean="0"/>
          </a:p>
          <a:p>
            <a:pPr>
              <a:buFontTx/>
              <a:buChar char="-"/>
            </a:pPr>
            <a:r>
              <a:rPr lang="en-AU" dirty="0" smtClean="0"/>
              <a:t>Find the percentage of a number to calculate GST and Discounts.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How to find a percentages?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AU" dirty="0" smtClean="0"/>
                  <a:t>Find 10% of 70</a:t>
                </a:r>
              </a:p>
              <a:p>
                <a:pPr marL="0" indent="0">
                  <a:buNone/>
                </a:pPr>
                <a:r>
                  <a:rPr lang="en-AU" dirty="0" smtClean="0"/>
                  <a:t>Write the percentage as a fraction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10%=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10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100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pPr marL="0" indent="0">
                  <a:buNone/>
                </a:pPr>
                <a:r>
                  <a:rPr lang="en-AU" b="0" dirty="0" smtClean="0"/>
                  <a:t>Multiply by the fraction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70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70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=70÷10=7</m:t>
                      </m:r>
                    </m:oMath>
                  </m:oMathPara>
                </a14:m>
                <a:endParaRPr lang="en-AU" b="0" dirty="0" smtClean="0"/>
              </a:p>
              <a:p>
                <a:pPr marL="0" indent="0">
                  <a:buNone/>
                </a:pPr>
                <a:endParaRPr lang="en-AU" b="0" dirty="0" smtClean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6372200" y="2924944"/>
            <a:ext cx="2160240" cy="1440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To find 10% we just divide by 10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6823301" y="3055470"/>
            <a:ext cx="1275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 smtClean="0">
                <a:solidFill>
                  <a:srgbClr val="FF0000"/>
                </a:solidFill>
              </a:rPr>
              <a:t>SHORT CUT</a:t>
            </a:r>
            <a:endParaRPr lang="en-AU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 rot="19368926">
            <a:off x="-273086" y="346808"/>
            <a:ext cx="257559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Revision </a:t>
            </a:r>
            <a:endParaRPr lang="en-U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93566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481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GST and discounts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method of calculating GST and discounts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521416" y="2132856"/>
            <a:ext cx="1415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GST?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203848" y="2132856"/>
            <a:ext cx="51839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GST: </a:t>
            </a:r>
            <a:r>
              <a:rPr lang="en-AU" b="1" dirty="0" smtClean="0"/>
              <a:t>G</a:t>
            </a:r>
            <a:r>
              <a:rPr lang="en-AU" dirty="0" smtClean="0"/>
              <a:t>oods and </a:t>
            </a:r>
            <a:r>
              <a:rPr lang="en-AU" b="1" dirty="0" smtClean="0"/>
              <a:t>S</a:t>
            </a:r>
            <a:r>
              <a:rPr lang="en-AU" dirty="0" smtClean="0"/>
              <a:t>ervices </a:t>
            </a:r>
            <a:r>
              <a:rPr lang="en-AU" b="1" dirty="0" smtClean="0"/>
              <a:t>T</a:t>
            </a:r>
            <a:r>
              <a:rPr lang="en-AU" dirty="0" smtClean="0"/>
              <a:t>ax</a:t>
            </a:r>
          </a:p>
          <a:p>
            <a:endParaRPr lang="en-AU" dirty="0" smtClean="0"/>
          </a:p>
          <a:p>
            <a:r>
              <a:rPr lang="en-AU" dirty="0" smtClean="0"/>
              <a:t>GST is a 10% tax on all goods and services in Australia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521416" y="3838083"/>
            <a:ext cx="1938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can find GST?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275856" y="3861048"/>
                <a:ext cx="5544616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To calculate 10% of the cost of an item</a:t>
                </a:r>
              </a:p>
              <a:p>
                <a:endParaRPr lang="en-AU" dirty="0"/>
              </a:p>
              <a:p>
                <a:r>
                  <a:rPr lang="en-AU" dirty="0" smtClean="0"/>
                  <a:t>Example: find the GST on a Air Nikes that cost $120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𝐺𝑆𝑇</m:t>
                      </m:r>
                      <m:r>
                        <a:rPr lang="en-AU" b="0" i="1" smtClean="0">
                          <a:latin typeface="Cambria Math"/>
                        </a:rPr>
                        <m:t>=10%</m:t>
                      </m:r>
                      <m:r>
                        <a:rPr lang="en-AU" b="0" i="1" smtClean="0">
                          <a:latin typeface="Cambria Math"/>
                        </a:rPr>
                        <m:t>𝑜𝑓</m:t>
                      </m:r>
                      <m:r>
                        <a:rPr lang="en-AU" b="0" i="1" smtClean="0">
                          <a:latin typeface="Cambria Math"/>
                        </a:rPr>
                        <m:t> $120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=10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×120÷100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=$12</m:t>
                      </m:r>
                    </m:oMath>
                  </m:oMathPara>
                </a14:m>
                <a:endParaRPr lang="en-AU" b="0" dirty="0" smtClean="0">
                  <a:ea typeface="Cambria Math"/>
                </a:endParaRPr>
              </a:p>
              <a:p>
                <a:r>
                  <a:rPr lang="en-AU" dirty="0" smtClean="0"/>
                  <a:t>The GST is $12</a:t>
                </a:r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3861048"/>
                <a:ext cx="5544616" cy="2031325"/>
              </a:xfrm>
              <a:prstGeom prst="rect">
                <a:avLst/>
              </a:prstGeom>
              <a:blipFill rotWithShape="1">
                <a:blip r:embed="rId3"/>
                <a:stretch>
                  <a:fillRect l="-879" t="-1497" b="-35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C:\Users\e4075868\AppData\Local\Microsoft\Windows\Temporary Internet Files\Content.IE5\JODDZX2B\Mario-Dunks[1]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4315" y="5013176"/>
            <a:ext cx="2011077" cy="1508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e4075868\AppData\Local\Microsoft\Windows\Temporary Internet Files\Content.IE5\RP2BT71J\Malaysia-GST-Registration-150x150[1]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260" y="4800804"/>
            <a:ext cx="1933052" cy="1933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950965" y="457508"/>
            <a:ext cx="28481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GST and discounts</a:t>
            </a:r>
            <a:endParaRPr lang="en-AU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271914" y="12158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method of calculating GST and discounts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7549" y="2178790"/>
            <a:ext cx="2798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can we find discounts?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203848" y="2086457"/>
            <a:ext cx="51430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 smtClean="0"/>
              <a:t>Step 1: </a:t>
            </a:r>
            <a:r>
              <a:rPr lang="en-AU" dirty="0" smtClean="0"/>
              <a:t>Find the percentage of the total amount</a:t>
            </a:r>
          </a:p>
          <a:p>
            <a:endParaRPr lang="en-AU" dirty="0"/>
          </a:p>
          <a:p>
            <a:r>
              <a:rPr lang="en-AU" b="1" dirty="0" smtClean="0"/>
              <a:t>Step 2: </a:t>
            </a:r>
            <a:r>
              <a:rPr lang="en-AU" dirty="0" smtClean="0"/>
              <a:t>Take the amount away from the total amount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374214" y="3460358"/>
            <a:ext cx="4660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 store has a sale of 20% off hats that cost $40</a:t>
            </a:r>
            <a:endParaRPr lang="en-AU" dirty="0"/>
          </a:p>
        </p:txBody>
      </p:sp>
      <p:pic>
        <p:nvPicPr>
          <p:cNvPr id="3074" name="Picture 2" descr="C:\Users\e4075868\AppData\Local\Microsoft\Windows\Temporary Internet Files\Content.IE5\JODDZX2B\00127848-01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7662" y="3829690"/>
            <a:ext cx="2062881" cy="3028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63367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b="1" u="sng" dirty="0" smtClean="0">
                <a:solidFill>
                  <a:srgbClr val="FF0000"/>
                </a:solidFill>
              </a:rPr>
              <a:t>SALE </a:t>
            </a:r>
            <a:r>
              <a:rPr lang="en-AU" sz="4000" b="1" u="sng" dirty="0" err="1" smtClean="0">
                <a:solidFill>
                  <a:srgbClr val="FF0000"/>
                </a:solidFill>
              </a:rPr>
              <a:t>SALE</a:t>
            </a:r>
            <a:r>
              <a:rPr lang="en-AU" sz="4000" b="1" u="sng" dirty="0" smtClean="0">
                <a:solidFill>
                  <a:srgbClr val="FF0000"/>
                </a:solidFill>
              </a:rPr>
              <a:t> </a:t>
            </a:r>
            <a:r>
              <a:rPr lang="en-AU" sz="4000" b="1" u="sng" dirty="0" err="1" smtClean="0">
                <a:solidFill>
                  <a:srgbClr val="FF0000"/>
                </a:solidFill>
              </a:rPr>
              <a:t>SALE</a:t>
            </a:r>
            <a:endParaRPr lang="en-AU" sz="4000" b="1" u="sng" dirty="0" smtClean="0">
              <a:solidFill>
                <a:srgbClr val="FF0000"/>
              </a:solidFill>
            </a:endParaRPr>
          </a:p>
          <a:p>
            <a:pPr algn="ctr"/>
            <a:r>
              <a:rPr lang="en-AU" sz="4000" dirty="0" smtClean="0"/>
              <a:t>10% off shoes and 20% hats</a:t>
            </a:r>
            <a:endParaRPr lang="en-AU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755576" y="1835532"/>
            <a:ext cx="6146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price of each of the following by applying </a:t>
            </a:r>
            <a:r>
              <a:rPr lang="en-AU" smtClean="0"/>
              <a:t>the discount. </a:t>
            </a:r>
            <a:endParaRPr lang="en-AU" dirty="0"/>
          </a:p>
        </p:txBody>
      </p:sp>
      <p:pic>
        <p:nvPicPr>
          <p:cNvPr id="2050" name="Picture 2" descr="C:\Users\e4075868\AppData\Local\Microsoft\Windows\Temporary Internet Files\Content.IE5\JODDZX2B\2nvrzhz[1]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492896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e4075868\AppData\Local\Microsoft\Windows\Temporary Internet Files\Content.IE5\RP2BT71J\372704-142-나이키-조던-1-플라이트-(흰파)-NIKE-JO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4016896"/>
            <a:ext cx="1973152" cy="2060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C:\Users\e4075868\AppData\Local\Microsoft\Windows\Temporary Internet Files\Content.IE5\J801ZEEM\k3wxlj[1]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0565" y="4797152"/>
            <a:ext cx="1957189" cy="1214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:\Users\e4075868\AppData\Local\Microsoft\Windows\Temporary Internet Files\Content.IE5\RP2BT71J\pizza-snap-back[1]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9596" y="2348880"/>
            <a:ext cx="1762878" cy="1470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059832" y="270892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$80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7020272" y="2348880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$30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3767754" y="479715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$50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7956376" y="571661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$150</a:t>
            </a:r>
            <a:endParaRPr lang="en-AU" dirty="0"/>
          </a:p>
        </p:txBody>
      </p:sp>
      <p:pic>
        <p:nvPicPr>
          <p:cNvPr id="2055" name="Picture 7" descr="C:\Users\e4075868\AppData\Local\Microsoft\Windows\Temporary Internet Files\Content.IE5\4JPRA91W\SALE_SIGN_2-430x389[1]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56" y="-8593"/>
            <a:ext cx="1491582" cy="1349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7" descr="C:\Users\e4075868\AppData\Local\Microsoft\Windows\Temporary Internet Files\Content.IE5\4JPRA91W\SALE_SIGN_2-430x389[1]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5442" y="-8593"/>
            <a:ext cx="1491582" cy="1349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63367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b="1" u="sng" dirty="0" smtClean="0">
                <a:solidFill>
                  <a:srgbClr val="FF0000"/>
                </a:solidFill>
              </a:rPr>
              <a:t>SALE </a:t>
            </a:r>
            <a:r>
              <a:rPr lang="en-AU" sz="4000" b="1" u="sng" dirty="0" err="1" smtClean="0">
                <a:solidFill>
                  <a:srgbClr val="FF0000"/>
                </a:solidFill>
              </a:rPr>
              <a:t>SALE</a:t>
            </a:r>
            <a:r>
              <a:rPr lang="en-AU" sz="4000" b="1" u="sng" dirty="0" smtClean="0">
                <a:solidFill>
                  <a:srgbClr val="FF0000"/>
                </a:solidFill>
              </a:rPr>
              <a:t> </a:t>
            </a:r>
            <a:r>
              <a:rPr lang="en-AU" sz="4000" b="1" u="sng" dirty="0" err="1" smtClean="0">
                <a:solidFill>
                  <a:srgbClr val="FF0000"/>
                </a:solidFill>
              </a:rPr>
              <a:t>SALE</a:t>
            </a:r>
            <a:endParaRPr lang="en-AU" sz="4000" b="1" u="sng" dirty="0" smtClean="0">
              <a:solidFill>
                <a:srgbClr val="FF0000"/>
              </a:solidFill>
            </a:endParaRPr>
          </a:p>
          <a:p>
            <a:pPr algn="ctr"/>
            <a:r>
              <a:rPr lang="en-AU" sz="4000" dirty="0" smtClean="0"/>
              <a:t>10% off shoes and 20% hats</a:t>
            </a:r>
            <a:endParaRPr lang="en-AU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755576" y="1835532"/>
            <a:ext cx="6146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price of each of the following by applying </a:t>
            </a:r>
            <a:r>
              <a:rPr lang="en-AU" smtClean="0"/>
              <a:t>the discount. </a:t>
            </a:r>
            <a:endParaRPr lang="en-AU" dirty="0"/>
          </a:p>
        </p:txBody>
      </p:sp>
      <p:pic>
        <p:nvPicPr>
          <p:cNvPr id="4" name="Picture 2" descr="C:\Users\e4075868\AppData\Local\Microsoft\Windows\Temporary Internet Files\Content.IE5\JODDZX2B\2nvrzhz[1]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492896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C:\Users\e4075868\AppData\Local\Microsoft\Windows\Temporary Internet Files\Content.IE5\RP2BT71J\372704-142-나이키-조던-1-플라이트-(흰파)-NIKE-JO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4016896"/>
            <a:ext cx="1973152" cy="2060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C:\Users\e4075868\AppData\Local\Microsoft\Windows\Temporary Internet Files\Content.IE5\J801ZEEM\k3wxlj[1]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0565" y="4797152"/>
            <a:ext cx="1957189" cy="1214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C:\Users\e4075868\AppData\Local\Microsoft\Windows\Temporary Internet Files\Content.IE5\RP2BT71J\pizza-snap-back[1]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9596" y="2348880"/>
            <a:ext cx="1762878" cy="1470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059832" y="270892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$80</a:t>
            </a:r>
            <a:endParaRPr lang="en-AU" dirty="0"/>
          </a:p>
        </p:txBody>
      </p:sp>
      <p:sp>
        <p:nvSpPr>
          <p:cNvPr id="9" name="TextBox 8"/>
          <p:cNvSpPr txBox="1"/>
          <p:nvPr/>
        </p:nvSpPr>
        <p:spPr>
          <a:xfrm>
            <a:off x="7020272" y="2348880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$30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3767754" y="479715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$50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7956376" y="571661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$150</a:t>
            </a:r>
            <a:endParaRPr lang="en-AU" dirty="0"/>
          </a:p>
        </p:txBody>
      </p:sp>
      <p:sp>
        <p:nvSpPr>
          <p:cNvPr id="12" name="7-Point Star 11"/>
          <p:cNvSpPr/>
          <p:nvPr/>
        </p:nvSpPr>
        <p:spPr>
          <a:xfrm>
            <a:off x="2400269" y="2424158"/>
            <a:ext cx="1854849" cy="1102350"/>
          </a:xfrm>
          <a:prstGeom prst="star7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4000" dirty="0" smtClean="0">
                <a:latin typeface="Bernard MT Condensed" pitchFamily="18" charset="0"/>
              </a:rPr>
              <a:t>$72</a:t>
            </a:r>
            <a:endParaRPr lang="en-AU" sz="4000" dirty="0">
              <a:latin typeface="Bernard MT Condensed" pitchFamily="18" charset="0"/>
            </a:endParaRPr>
          </a:p>
        </p:txBody>
      </p:sp>
      <p:sp>
        <p:nvSpPr>
          <p:cNvPr id="24" name="7-Point Star 23"/>
          <p:cNvSpPr/>
          <p:nvPr/>
        </p:nvSpPr>
        <p:spPr>
          <a:xfrm>
            <a:off x="6560899" y="2111896"/>
            <a:ext cx="1854849" cy="762000"/>
          </a:xfrm>
          <a:prstGeom prst="star7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4000" dirty="0" smtClean="0">
                <a:latin typeface="Bernard MT Condensed" pitchFamily="18" charset="0"/>
              </a:rPr>
              <a:t>$24</a:t>
            </a:r>
            <a:endParaRPr lang="en-AU" sz="4000" dirty="0">
              <a:latin typeface="Bernard MT Condensed" pitchFamily="18" charset="0"/>
            </a:endParaRPr>
          </a:p>
        </p:txBody>
      </p:sp>
      <p:sp>
        <p:nvSpPr>
          <p:cNvPr id="25" name="7-Point Star 24"/>
          <p:cNvSpPr/>
          <p:nvPr/>
        </p:nvSpPr>
        <p:spPr>
          <a:xfrm>
            <a:off x="3294747" y="4642555"/>
            <a:ext cx="1854849" cy="762000"/>
          </a:xfrm>
          <a:prstGeom prst="star7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4000" dirty="0" smtClean="0">
                <a:latin typeface="Bernard MT Condensed" pitchFamily="18" charset="0"/>
              </a:rPr>
              <a:t>$40</a:t>
            </a:r>
            <a:endParaRPr lang="en-AU" sz="4000" dirty="0">
              <a:latin typeface="Bernard MT Condensed" pitchFamily="18" charset="0"/>
            </a:endParaRPr>
          </a:p>
        </p:txBody>
      </p:sp>
      <p:sp>
        <p:nvSpPr>
          <p:cNvPr id="26" name="7-Point Star 25"/>
          <p:cNvSpPr/>
          <p:nvPr/>
        </p:nvSpPr>
        <p:spPr>
          <a:xfrm>
            <a:off x="7020273" y="5520278"/>
            <a:ext cx="2128024" cy="762000"/>
          </a:xfrm>
          <a:prstGeom prst="star7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4000" dirty="0" smtClean="0">
                <a:latin typeface="Bernard MT Condensed" pitchFamily="18" charset="0"/>
              </a:rPr>
              <a:t>$135</a:t>
            </a:r>
            <a:endParaRPr lang="en-AU" sz="4000" dirty="0">
              <a:latin typeface="Bernard MT Condense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976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e4075868\AppData\Local\Microsoft\Windows\Temporary Internet Files\Content.IE5\RP2BT71J\money2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0102" y="692696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2947646" y="1268760"/>
            <a:ext cx="332071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US" sz="54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Practice</a:t>
            </a:r>
            <a:endParaRPr lang="en-US" sz="54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19672" y="2707179"/>
            <a:ext cx="62646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 smtClean="0">
                <a:solidFill>
                  <a:srgbClr val="00B0F0"/>
                </a:solidFill>
                <a:latin typeface="Algerian" pitchFamily="82" charset="0"/>
              </a:rPr>
              <a:t>Complete Exercise 4.2 </a:t>
            </a:r>
          </a:p>
          <a:p>
            <a:pPr algn="ctr"/>
            <a:r>
              <a:rPr lang="en-AU" sz="3600" b="1" dirty="0" smtClean="0">
                <a:solidFill>
                  <a:srgbClr val="00B0F0"/>
                </a:solidFill>
                <a:latin typeface="Algerian" pitchFamily="82" charset="0"/>
              </a:rPr>
              <a:t>on page 51</a:t>
            </a:r>
            <a:endParaRPr lang="en-AU" sz="3600" b="1" dirty="0">
              <a:solidFill>
                <a:srgbClr val="00B0F0"/>
              </a:solidFill>
              <a:latin typeface="Algeri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>
                <a:latin typeface="Bauhaus 93" pitchFamily="82" charset="0"/>
              </a:rPr>
              <a:t>What do you currently want to buy?</a:t>
            </a:r>
            <a:endParaRPr lang="en-AU" dirty="0">
              <a:latin typeface="Bauhaus 93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dirty="0" smtClean="0"/>
              <a:t>Task: </a:t>
            </a:r>
            <a:r>
              <a:rPr lang="en-AU" dirty="0" smtClean="0"/>
              <a:t>Use your </a:t>
            </a:r>
            <a:r>
              <a:rPr lang="en-AU" dirty="0" err="1" smtClean="0"/>
              <a:t>Ipad</a:t>
            </a:r>
            <a:r>
              <a:rPr lang="en-AU" dirty="0" smtClean="0"/>
              <a:t> to research the price of the item you want to buy.</a:t>
            </a:r>
          </a:p>
          <a:p>
            <a:pPr marL="0" indent="0">
              <a:buNone/>
            </a:pPr>
            <a:r>
              <a:rPr lang="en-AU" dirty="0" smtClean="0"/>
              <a:t>a) Calculate the GST on the item you want to buy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b) If the store has a sale of 20% off, what would you item cost now?</a:t>
            </a:r>
            <a:endParaRPr lang="en-AU" dirty="0" smtClean="0"/>
          </a:p>
        </p:txBody>
      </p:sp>
      <p:sp>
        <p:nvSpPr>
          <p:cNvPr id="4" name="Rectangle 3"/>
          <p:cNvSpPr/>
          <p:nvPr/>
        </p:nvSpPr>
        <p:spPr>
          <a:xfrm rot="19174401">
            <a:off x="6459288" y="5222593"/>
            <a:ext cx="298460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u="sng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EXIT PASS</a:t>
            </a:r>
            <a:endParaRPr lang="en-US" sz="5400" b="1" u="sng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401</Words>
  <Application>Microsoft Office PowerPoint</Application>
  <PresentationFormat>On-screen Show (4:3)</PresentationFormat>
  <Paragraphs>90</Paragraphs>
  <Slides>9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Quick Write</vt:lpstr>
      <vt:lpstr>Lesson objective</vt:lpstr>
      <vt:lpstr>How to find a percentages?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do you currently want to buy?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</cp:lastModifiedBy>
  <cp:revision>14</cp:revision>
  <dcterms:created xsi:type="dcterms:W3CDTF">2016-10-20T03:14:06Z</dcterms:created>
  <dcterms:modified xsi:type="dcterms:W3CDTF">2017-03-27T07:48:36Z</dcterms:modified>
</cp:coreProperties>
</file>
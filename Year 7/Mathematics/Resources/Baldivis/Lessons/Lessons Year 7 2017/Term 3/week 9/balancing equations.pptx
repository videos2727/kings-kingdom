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3"/>
  </p:notesMasterIdLst>
  <p:sldIdLst>
    <p:sldId id="263" r:id="rId2"/>
    <p:sldId id="256" r:id="rId3"/>
    <p:sldId id="258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6052" autoAdjust="0"/>
  </p:normalViewPr>
  <p:slideViewPr>
    <p:cSldViewPr snapToGrid="0">
      <p:cViewPr varScale="1">
        <p:scale>
          <a:sx n="74" d="100"/>
          <a:sy n="74" d="100"/>
        </p:scale>
        <p:origin x="2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86D1BD-C5B1-4337-A6CD-DEDADFE99225}" type="datetimeFigureOut">
              <a:rPr lang="en-AU" smtClean="0"/>
              <a:t>10/09/2017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31573-92E8-43F9-9E4D-72B00DCA88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6785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70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Go back to the NLVM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31573-92E8-43F9-9E4D-72B00DCA8892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9846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9/10/2017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490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9/10/2017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825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9/10/2017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692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9/10/2017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70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9/10/2017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588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9/10/2017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201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9/10/2017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369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7DE6118-2437-4B30-8E3C-4D2BE6020583}" type="datetimeFigureOut">
              <a:rPr lang="en-US" smtClean="0"/>
              <a:pPr/>
              <a:t>9/10/2017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16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9/10/2017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088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9/10/2017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051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9/10/2017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65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9/10/2017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76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nlvm.usu.edu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502-2250-400A-BDCB-A28C52F28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Warm Up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D2C487B-F5FC-49A6-917D-2CCFE3E10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3238" y="120348"/>
            <a:ext cx="6152442" cy="615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608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26A22-073F-4E2B-B2D1-2E0482F0C6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AU" cap="none" dirty="0"/>
              <a:t>Balancing Equations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0AAB36-3758-42D4-A132-F5FD6DD5F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744" y="5715000"/>
            <a:ext cx="10058400" cy="1143000"/>
          </a:xfrm>
        </p:spPr>
        <p:txBody>
          <a:bodyPr>
            <a:normAutofit/>
          </a:bodyPr>
          <a:lstStyle/>
          <a:p>
            <a:r>
              <a:rPr lang="en-AU" sz="2800" dirty="0"/>
              <a:t>Ms. Latham</a:t>
            </a:r>
          </a:p>
        </p:txBody>
      </p:sp>
    </p:spTree>
    <p:extLst>
      <p:ext uri="{BB962C8B-B14F-4D97-AF65-F5344CB8AC3E}">
        <p14:creationId xmlns:p14="http://schemas.microsoft.com/office/powerpoint/2010/main" val="296232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3104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Balancing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700" y="92736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 How and why do we balance equations?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407700" y="1595005"/>
            <a:ext cx="21061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Why do we solve equations?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DD0C10-B2E4-47CC-9964-EBBF1581C6F1}"/>
              </a:ext>
            </a:extLst>
          </p:cNvPr>
          <p:cNvSpPr txBox="1"/>
          <p:nvPr/>
        </p:nvSpPr>
        <p:spPr>
          <a:xfrm>
            <a:off x="3662632" y="1595005"/>
            <a:ext cx="57832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To find the value of the unknown, which is represented by a variable.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52511F-7193-45B5-8605-905C7F967B2E}"/>
              </a:ext>
            </a:extLst>
          </p:cNvPr>
          <p:cNvSpPr txBox="1"/>
          <p:nvPr/>
        </p:nvSpPr>
        <p:spPr>
          <a:xfrm>
            <a:off x="407700" y="2892329"/>
            <a:ext cx="2220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is balancing equations?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FEE151-130F-4AF1-B274-77D84B29B16C}"/>
              </a:ext>
            </a:extLst>
          </p:cNvPr>
          <p:cNvSpPr txBox="1"/>
          <p:nvPr/>
        </p:nvSpPr>
        <p:spPr>
          <a:xfrm>
            <a:off x="3359696" y="2916747"/>
            <a:ext cx="7779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Because the expressions are equal, we MUST do the same to both sides.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9F9F5C-89BD-4EA8-B215-31DDAD5F87FA}"/>
              </a:ext>
            </a:extLst>
          </p:cNvPr>
          <p:cNvSpPr txBox="1"/>
          <p:nvPr/>
        </p:nvSpPr>
        <p:spPr>
          <a:xfrm>
            <a:off x="421307" y="4284514"/>
            <a:ext cx="24988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are our opposite operations?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EB8E49-1022-4F52-8DBB-E13979CF0777}"/>
              </a:ext>
            </a:extLst>
          </p:cNvPr>
          <p:cNvSpPr txBox="1"/>
          <p:nvPr/>
        </p:nvSpPr>
        <p:spPr>
          <a:xfrm>
            <a:off x="3701499" y="3664608"/>
            <a:ext cx="242998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rgbClr val="0070C0"/>
                </a:solidFill>
              </a:rPr>
              <a:t>Opposite of :</a:t>
            </a:r>
          </a:p>
          <a:p>
            <a:endParaRPr lang="en-AU" sz="2000" dirty="0">
              <a:solidFill>
                <a:srgbClr val="0070C0"/>
              </a:solidFill>
            </a:endParaRPr>
          </a:p>
          <a:p>
            <a:r>
              <a:rPr lang="en-AU" sz="2400" dirty="0"/>
              <a:t>Addition +</a:t>
            </a:r>
          </a:p>
          <a:p>
            <a:r>
              <a:rPr lang="en-AU" sz="2400" dirty="0"/>
              <a:t>Subtraction -</a:t>
            </a:r>
          </a:p>
          <a:p>
            <a:r>
              <a:rPr lang="en-AU" sz="2400" dirty="0"/>
              <a:t>Multiplication ×</a:t>
            </a:r>
          </a:p>
          <a:p>
            <a:r>
              <a:rPr lang="en-AU" sz="2400" dirty="0"/>
              <a:t>Division ÷</a:t>
            </a:r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09F3D9-1BBB-44C5-AA10-6C361522F11E}"/>
              </a:ext>
            </a:extLst>
          </p:cNvPr>
          <p:cNvSpPr txBox="1"/>
          <p:nvPr/>
        </p:nvSpPr>
        <p:spPr>
          <a:xfrm>
            <a:off x="6145915" y="3961348"/>
            <a:ext cx="26289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FF0000"/>
                </a:solidFill>
              </a:rPr>
              <a:t>-</a:t>
            </a:r>
          </a:p>
          <a:p>
            <a:r>
              <a:rPr lang="en-AU" sz="3200" dirty="0">
                <a:solidFill>
                  <a:srgbClr val="FF0000"/>
                </a:solidFill>
              </a:rPr>
              <a:t>+</a:t>
            </a:r>
          </a:p>
          <a:p>
            <a:r>
              <a:rPr lang="en-AU" sz="3200" dirty="0">
                <a:solidFill>
                  <a:srgbClr val="FF0000"/>
                </a:solidFill>
              </a:rPr>
              <a:t>÷</a:t>
            </a:r>
          </a:p>
          <a:p>
            <a:r>
              <a:rPr lang="en-AU" sz="3200" dirty="0">
                <a:solidFill>
                  <a:srgbClr val="FF0000"/>
                </a:solidFill>
              </a:rPr>
              <a:t>×</a:t>
            </a:r>
            <a:endParaRPr lang="en-AU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" grpId="0"/>
      <p:bldP spid="22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0947C1-93FD-4E9E-BE20-E53AFBFF7F63}"/>
              </a:ext>
            </a:extLst>
          </p:cNvPr>
          <p:cNvSpPr txBox="1"/>
          <p:nvPr/>
        </p:nvSpPr>
        <p:spPr>
          <a:xfrm>
            <a:off x="1808018" y="852055"/>
            <a:ext cx="61098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NLVM – National Library of Virtual Manipulatives</a:t>
            </a:r>
          </a:p>
          <a:p>
            <a:endParaRPr lang="en-AU" dirty="0"/>
          </a:p>
          <a:p>
            <a:r>
              <a:rPr lang="en-AU" dirty="0">
                <a:hlinkClick r:id="rId2"/>
              </a:rPr>
              <a:t>http://nlvm.usu.edu/</a:t>
            </a:r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0118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BC1F08-7EC3-415E-B689-0754EC02E888}"/>
              </a:ext>
            </a:extLst>
          </p:cNvPr>
          <p:cNvSpPr txBox="1"/>
          <p:nvPr/>
        </p:nvSpPr>
        <p:spPr>
          <a:xfrm>
            <a:off x="-3501736" y="111793"/>
            <a:ext cx="10120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Pairs Practice!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9DF64A-E949-4C24-8DB2-AB9D985843D5}"/>
              </a:ext>
            </a:extLst>
          </p:cNvPr>
          <p:cNvSpPr txBox="1"/>
          <p:nvPr/>
        </p:nvSpPr>
        <p:spPr>
          <a:xfrm>
            <a:off x="3013362" y="129553"/>
            <a:ext cx="8541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highlight>
                  <a:srgbClr val="FFFF00"/>
                </a:highlight>
              </a:rPr>
              <a:t>You will need: 1 dry erase marker, 15 counters, sticky notes and a tissue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E22FE5-826F-498A-81B7-429BD8C39791}"/>
              </a:ext>
            </a:extLst>
          </p:cNvPr>
          <p:cNvSpPr/>
          <p:nvPr/>
        </p:nvSpPr>
        <p:spPr>
          <a:xfrm>
            <a:off x="904009" y="2514600"/>
            <a:ext cx="4634345" cy="33147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4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FF2646-33A6-4C94-963C-E685F0C48C68}"/>
              </a:ext>
            </a:extLst>
          </p:cNvPr>
          <p:cNvSpPr/>
          <p:nvPr/>
        </p:nvSpPr>
        <p:spPr>
          <a:xfrm>
            <a:off x="6276109" y="2514600"/>
            <a:ext cx="4634345" cy="33147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14075-3BC5-4C16-A89A-2AD8B244E3B3}"/>
              </a:ext>
            </a:extLst>
          </p:cNvPr>
          <p:cNvSpPr txBox="1"/>
          <p:nvPr/>
        </p:nvSpPr>
        <p:spPr>
          <a:xfrm>
            <a:off x="3751117" y="595355"/>
            <a:ext cx="4426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what you will be doing on your desks!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E19EF8-D91C-4605-B568-CEAC2E620963}"/>
              </a:ext>
            </a:extLst>
          </p:cNvPr>
          <p:cNvSpPr txBox="1"/>
          <p:nvPr/>
        </p:nvSpPr>
        <p:spPr>
          <a:xfrm>
            <a:off x="5517573" y="3382241"/>
            <a:ext cx="20158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0" dirty="0"/>
              <a:t>=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6864757-AD2D-4E0A-AAD6-8EA1AB63D773}"/>
              </a:ext>
            </a:extLst>
          </p:cNvPr>
          <p:cNvGrpSpPr/>
          <p:nvPr/>
        </p:nvGrpSpPr>
        <p:grpSpPr>
          <a:xfrm>
            <a:off x="4852555" y="1298864"/>
            <a:ext cx="3740727" cy="2628899"/>
            <a:chOff x="4852555" y="1298864"/>
            <a:chExt cx="3740727" cy="262889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921F48A-4D28-4C0B-B38F-69B5938A881A}"/>
                </a:ext>
              </a:extLst>
            </p:cNvPr>
            <p:cNvSpPr txBox="1"/>
            <p:nvPr/>
          </p:nvSpPr>
          <p:spPr>
            <a:xfrm>
              <a:off x="4852555" y="1298864"/>
              <a:ext cx="3740727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2000" dirty="0"/>
                <a:t>Imagine that the gap between the desks is the equal symbol!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4F637C2-DDC0-4B48-91CF-54799A0FCA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1254" y="2100268"/>
              <a:ext cx="0" cy="182749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DEA4586-321B-4E38-A8B4-7BA88DFF7731}"/>
              </a:ext>
            </a:extLst>
          </p:cNvPr>
          <p:cNvSpPr txBox="1"/>
          <p:nvPr/>
        </p:nvSpPr>
        <p:spPr>
          <a:xfrm>
            <a:off x="1433945" y="1101436"/>
            <a:ext cx="3252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FF0000"/>
                </a:solidFill>
              </a:rPr>
              <a:t>X+5=9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6B7A316-C49F-4355-AEEF-069420FE3CA1}"/>
              </a:ext>
            </a:extLst>
          </p:cNvPr>
          <p:cNvSpPr/>
          <p:nvPr/>
        </p:nvSpPr>
        <p:spPr>
          <a:xfrm>
            <a:off x="1589809" y="3034145"/>
            <a:ext cx="914400" cy="893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315AEF-FAF9-460D-8C92-8BF48B8E5689}"/>
              </a:ext>
            </a:extLst>
          </p:cNvPr>
          <p:cNvSpPr txBox="1"/>
          <p:nvPr/>
        </p:nvSpPr>
        <p:spPr>
          <a:xfrm>
            <a:off x="2738004" y="3157788"/>
            <a:ext cx="904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+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AB13FB5-E809-487D-82D1-A291695DE61A}"/>
              </a:ext>
            </a:extLst>
          </p:cNvPr>
          <p:cNvGrpSpPr/>
          <p:nvPr/>
        </p:nvGrpSpPr>
        <p:grpSpPr>
          <a:xfrm>
            <a:off x="3642013" y="2874391"/>
            <a:ext cx="6215929" cy="954658"/>
            <a:chOff x="3642014" y="2860277"/>
            <a:chExt cx="6215928" cy="968772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86BA4AF-F2CD-454C-9BD2-02E5A25EFF16}"/>
                </a:ext>
              </a:extLst>
            </p:cNvPr>
            <p:cNvGrpSpPr/>
            <p:nvPr/>
          </p:nvGrpSpPr>
          <p:grpSpPr>
            <a:xfrm>
              <a:off x="3642014" y="2860277"/>
              <a:ext cx="1590675" cy="968772"/>
              <a:chOff x="3642014" y="2860277"/>
              <a:chExt cx="1590675" cy="968772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573EC12-93AE-4279-97C7-F3296493416B}"/>
                  </a:ext>
                </a:extLst>
              </p:cNvPr>
              <p:cNvSpPr/>
              <p:nvPr/>
            </p:nvSpPr>
            <p:spPr>
              <a:xfrm>
                <a:off x="3642014" y="3146891"/>
                <a:ext cx="368876" cy="348096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5CE342B-8C9D-41FA-B248-C5DA62300B64}"/>
                  </a:ext>
                </a:extLst>
              </p:cNvPr>
              <p:cNvSpPr/>
              <p:nvPr/>
            </p:nvSpPr>
            <p:spPr>
              <a:xfrm>
                <a:off x="4169352" y="3480953"/>
                <a:ext cx="368876" cy="348096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3888319-D2DB-4C84-B231-13BA1A0B8BD1}"/>
                  </a:ext>
                </a:extLst>
              </p:cNvPr>
              <p:cNvSpPr/>
              <p:nvPr/>
            </p:nvSpPr>
            <p:spPr>
              <a:xfrm>
                <a:off x="4169352" y="2888028"/>
                <a:ext cx="368876" cy="348096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6EF6EBF-E6AD-4DED-A3EE-9AE71A4DEEF6}"/>
                  </a:ext>
                </a:extLst>
              </p:cNvPr>
              <p:cNvSpPr/>
              <p:nvPr/>
            </p:nvSpPr>
            <p:spPr>
              <a:xfrm>
                <a:off x="4863813" y="3456023"/>
                <a:ext cx="368876" cy="348096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4EBA9B2-1276-4A2E-B7C1-E4E3940E06DD}"/>
                  </a:ext>
                </a:extLst>
              </p:cNvPr>
              <p:cNvSpPr/>
              <p:nvPr/>
            </p:nvSpPr>
            <p:spPr>
              <a:xfrm>
                <a:off x="4863813" y="2860277"/>
                <a:ext cx="368876" cy="348096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CC00580-9CC0-4EF3-9CD2-973219387A1C}"/>
                </a:ext>
              </a:extLst>
            </p:cNvPr>
            <p:cNvSpPr/>
            <p:nvPr/>
          </p:nvSpPr>
          <p:spPr>
            <a:xfrm>
              <a:off x="7019059" y="2874391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DC75E0A-D4A5-441A-977B-B58BE4B48624}"/>
                </a:ext>
              </a:extLst>
            </p:cNvPr>
            <p:cNvSpPr/>
            <p:nvPr/>
          </p:nvSpPr>
          <p:spPr>
            <a:xfrm>
              <a:off x="7533409" y="2881745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7904580-C619-467B-878C-53DAEB334C67}"/>
                </a:ext>
              </a:extLst>
            </p:cNvPr>
            <p:cNvSpPr/>
            <p:nvPr/>
          </p:nvSpPr>
          <p:spPr>
            <a:xfrm>
              <a:off x="7007153" y="3445451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FA42CF1-BCA1-464F-A3A7-3A009617B4E7}"/>
                </a:ext>
              </a:extLst>
            </p:cNvPr>
            <p:cNvSpPr/>
            <p:nvPr/>
          </p:nvSpPr>
          <p:spPr>
            <a:xfrm>
              <a:off x="7533409" y="3445451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F2FCC5-BED6-48AB-AD45-739DF18E8FE3}"/>
                </a:ext>
              </a:extLst>
            </p:cNvPr>
            <p:cNvSpPr/>
            <p:nvPr/>
          </p:nvSpPr>
          <p:spPr>
            <a:xfrm>
              <a:off x="9489066" y="3166447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DA77125-6D02-4CC8-B6E2-C4489601C739}"/>
                </a:ext>
              </a:extLst>
            </p:cNvPr>
            <p:cNvSpPr/>
            <p:nvPr/>
          </p:nvSpPr>
          <p:spPr>
            <a:xfrm>
              <a:off x="8143878" y="3429000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14961D4-D182-4DEC-97DE-866F60E03763}"/>
                </a:ext>
              </a:extLst>
            </p:cNvPr>
            <p:cNvSpPr/>
            <p:nvPr/>
          </p:nvSpPr>
          <p:spPr>
            <a:xfrm>
              <a:off x="8805430" y="3422938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77D0A76-FBD3-471E-82DF-FA05D8D597B1}"/>
                </a:ext>
              </a:extLst>
            </p:cNvPr>
            <p:cNvSpPr/>
            <p:nvPr/>
          </p:nvSpPr>
          <p:spPr>
            <a:xfrm>
              <a:off x="8790709" y="2881745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A0A86B8-B219-45B7-B07D-60B0EBBD5BEE}"/>
                </a:ext>
              </a:extLst>
            </p:cNvPr>
            <p:cNvSpPr/>
            <p:nvPr/>
          </p:nvSpPr>
          <p:spPr>
            <a:xfrm>
              <a:off x="8136082" y="2879587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41E7979-2DEE-467B-978A-12E9B30A56B7}"/>
              </a:ext>
            </a:extLst>
          </p:cNvPr>
          <p:cNvSpPr txBox="1"/>
          <p:nvPr/>
        </p:nvSpPr>
        <p:spPr>
          <a:xfrm>
            <a:off x="10446327" y="3655001"/>
            <a:ext cx="1651507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Subtract 5 from both sides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17D2C4-650B-4C44-9219-14B062B0840D}"/>
              </a:ext>
            </a:extLst>
          </p:cNvPr>
          <p:cNvSpPr txBox="1"/>
          <p:nvPr/>
        </p:nvSpPr>
        <p:spPr>
          <a:xfrm>
            <a:off x="1055218" y="4004588"/>
            <a:ext cx="1500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- 5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559B0C-AE76-434C-8F5B-8E50EE6926B7}"/>
              </a:ext>
            </a:extLst>
          </p:cNvPr>
          <p:cNvSpPr txBox="1"/>
          <p:nvPr/>
        </p:nvSpPr>
        <p:spPr>
          <a:xfrm>
            <a:off x="9857942" y="4123354"/>
            <a:ext cx="1500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- 5 </a:t>
            </a:r>
          </a:p>
        </p:txBody>
      </p:sp>
    </p:spTree>
    <p:extLst>
      <p:ext uri="{BB962C8B-B14F-4D97-AF65-F5344CB8AC3E}">
        <p14:creationId xmlns:p14="http://schemas.microsoft.com/office/powerpoint/2010/main" val="415081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 animBg="1"/>
      <p:bldP spid="14" grpId="0"/>
      <p:bldP spid="29" grpId="0" animBg="1"/>
      <p:bldP spid="30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BC1F08-7EC3-415E-B689-0754EC02E888}"/>
              </a:ext>
            </a:extLst>
          </p:cNvPr>
          <p:cNvSpPr txBox="1"/>
          <p:nvPr/>
        </p:nvSpPr>
        <p:spPr>
          <a:xfrm>
            <a:off x="-3501736" y="111793"/>
            <a:ext cx="10120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Pairs Practice!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9DF64A-E949-4C24-8DB2-AB9D985843D5}"/>
              </a:ext>
            </a:extLst>
          </p:cNvPr>
          <p:cNvSpPr txBox="1"/>
          <p:nvPr/>
        </p:nvSpPr>
        <p:spPr>
          <a:xfrm>
            <a:off x="3013362" y="129553"/>
            <a:ext cx="8541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highlight>
                  <a:srgbClr val="FFFF00"/>
                </a:highlight>
              </a:rPr>
              <a:t>You will need: 1 dry erase marker, 15 counters, sticky notes and a tissue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E22FE5-826F-498A-81B7-429BD8C39791}"/>
              </a:ext>
            </a:extLst>
          </p:cNvPr>
          <p:cNvSpPr/>
          <p:nvPr/>
        </p:nvSpPr>
        <p:spPr>
          <a:xfrm>
            <a:off x="904009" y="2514600"/>
            <a:ext cx="4634345" cy="33147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4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FF2646-33A6-4C94-963C-E685F0C48C68}"/>
              </a:ext>
            </a:extLst>
          </p:cNvPr>
          <p:cNvSpPr/>
          <p:nvPr/>
        </p:nvSpPr>
        <p:spPr>
          <a:xfrm>
            <a:off x="6264328" y="2466004"/>
            <a:ext cx="4634345" cy="33147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14075-3BC5-4C16-A89A-2AD8B244E3B3}"/>
              </a:ext>
            </a:extLst>
          </p:cNvPr>
          <p:cNvSpPr txBox="1"/>
          <p:nvPr/>
        </p:nvSpPr>
        <p:spPr>
          <a:xfrm>
            <a:off x="3751117" y="595355"/>
            <a:ext cx="4426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what you will be doing on your desks!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21F48A-4D28-4C0B-B38F-69B5938A881A}"/>
              </a:ext>
            </a:extLst>
          </p:cNvPr>
          <p:cNvSpPr txBox="1"/>
          <p:nvPr/>
        </p:nvSpPr>
        <p:spPr>
          <a:xfrm>
            <a:off x="4852555" y="1298864"/>
            <a:ext cx="3740727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dirty="0"/>
              <a:t>Imagine that the gap between the desks is the equal symbol!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E19EF8-D91C-4605-B568-CEAC2E620963}"/>
              </a:ext>
            </a:extLst>
          </p:cNvPr>
          <p:cNvSpPr txBox="1"/>
          <p:nvPr/>
        </p:nvSpPr>
        <p:spPr>
          <a:xfrm>
            <a:off x="5517573" y="3382241"/>
            <a:ext cx="20158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0" dirty="0"/>
              <a:t>=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F637C2-DDC0-4B48-91CF-54799A0FCAC7}"/>
              </a:ext>
            </a:extLst>
          </p:cNvPr>
          <p:cNvCxnSpPr>
            <a:cxnSpLocks/>
          </p:cNvCxnSpPr>
          <p:nvPr/>
        </p:nvCxnSpPr>
        <p:spPr>
          <a:xfrm flipV="1">
            <a:off x="5881254" y="2100268"/>
            <a:ext cx="0" cy="18274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DEA4586-321B-4E38-A8B4-7BA88DFF7731}"/>
              </a:ext>
            </a:extLst>
          </p:cNvPr>
          <p:cNvSpPr txBox="1"/>
          <p:nvPr/>
        </p:nvSpPr>
        <p:spPr>
          <a:xfrm>
            <a:off x="1433945" y="1101436"/>
            <a:ext cx="3252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FF0000"/>
                </a:solidFill>
              </a:rPr>
              <a:t>X+5=9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6B7A316-C49F-4355-AEEF-069420FE3CA1}"/>
              </a:ext>
            </a:extLst>
          </p:cNvPr>
          <p:cNvSpPr/>
          <p:nvPr/>
        </p:nvSpPr>
        <p:spPr>
          <a:xfrm>
            <a:off x="1589809" y="3034145"/>
            <a:ext cx="914400" cy="893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315AEF-FAF9-460D-8C92-8BF48B8E5689}"/>
              </a:ext>
            </a:extLst>
          </p:cNvPr>
          <p:cNvSpPr txBox="1"/>
          <p:nvPr/>
        </p:nvSpPr>
        <p:spPr>
          <a:xfrm>
            <a:off x="2738004" y="3157788"/>
            <a:ext cx="904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+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73EC12-93AE-4279-97C7-F3296493416B}"/>
              </a:ext>
            </a:extLst>
          </p:cNvPr>
          <p:cNvSpPr/>
          <p:nvPr/>
        </p:nvSpPr>
        <p:spPr>
          <a:xfrm>
            <a:off x="3642014" y="3146891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CE342B-8C9D-41FA-B248-C5DA62300B64}"/>
              </a:ext>
            </a:extLst>
          </p:cNvPr>
          <p:cNvSpPr/>
          <p:nvPr/>
        </p:nvSpPr>
        <p:spPr>
          <a:xfrm>
            <a:off x="4169352" y="3480953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888319-D2DB-4C84-B231-13BA1A0B8BD1}"/>
              </a:ext>
            </a:extLst>
          </p:cNvPr>
          <p:cNvSpPr/>
          <p:nvPr/>
        </p:nvSpPr>
        <p:spPr>
          <a:xfrm>
            <a:off x="4169352" y="2888028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EF6EBF-E6AD-4DED-A3EE-9AE71A4DEEF6}"/>
              </a:ext>
            </a:extLst>
          </p:cNvPr>
          <p:cNvSpPr/>
          <p:nvPr/>
        </p:nvSpPr>
        <p:spPr>
          <a:xfrm>
            <a:off x="4863813" y="3456023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EBA9B2-1276-4A2E-B7C1-E4E3940E06DD}"/>
              </a:ext>
            </a:extLst>
          </p:cNvPr>
          <p:cNvSpPr/>
          <p:nvPr/>
        </p:nvSpPr>
        <p:spPr>
          <a:xfrm>
            <a:off x="4863813" y="2860277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C00580-9CC0-4EF3-9CD2-973219387A1C}"/>
              </a:ext>
            </a:extLst>
          </p:cNvPr>
          <p:cNvSpPr/>
          <p:nvPr/>
        </p:nvSpPr>
        <p:spPr>
          <a:xfrm>
            <a:off x="7019059" y="2874391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C75E0A-D4A5-441A-977B-B58BE4B48624}"/>
              </a:ext>
            </a:extLst>
          </p:cNvPr>
          <p:cNvSpPr/>
          <p:nvPr/>
        </p:nvSpPr>
        <p:spPr>
          <a:xfrm>
            <a:off x="7533409" y="2881745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904580-C619-467B-878C-53DAEB334C67}"/>
              </a:ext>
            </a:extLst>
          </p:cNvPr>
          <p:cNvSpPr/>
          <p:nvPr/>
        </p:nvSpPr>
        <p:spPr>
          <a:xfrm>
            <a:off x="7007153" y="3445451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A42CF1-BCA1-464F-A3A7-3A009617B4E7}"/>
              </a:ext>
            </a:extLst>
          </p:cNvPr>
          <p:cNvSpPr/>
          <p:nvPr/>
        </p:nvSpPr>
        <p:spPr>
          <a:xfrm>
            <a:off x="7533409" y="3445451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F2FCC5-BED6-48AB-AD45-739DF18E8FE3}"/>
              </a:ext>
            </a:extLst>
          </p:cNvPr>
          <p:cNvSpPr/>
          <p:nvPr/>
        </p:nvSpPr>
        <p:spPr>
          <a:xfrm>
            <a:off x="9489066" y="3166447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A77125-6D02-4CC8-B6E2-C4489601C739}"/>
              </a:ext>
            </a:extLst>
          </p:cNvPr>
          <p:cNvSpPr/>
          <p:nvPr/>
        </p:nvSpPr>
        <p:spPr>
          <a:xfrm>
            <a:off x="8143878" y="3429000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4961D4-D182-4DEC-97DE-866F60E03763}"/>
              </a:ext>
            </a:extLst>
          </p:cNvPr>
          <p:cNvSpPr/>
          <p:nvPr/>
        </p:nvSpPr>
        <p:spPr>
          <a:xfrm>
            <a:off x="8805430" y="3422938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7D0A76-FBD3-471E-82DF-FA05D8D597B1}"/>
              </a:ext>
            </a:extLst>
          </p:cNvPr>
          <p:cNvSpPr/>
          <p:nvPr/>
        </p:nvSpPr>
        <p:spPr>
          <a:xfrm>
            <a:off x="8790709" y="2881745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0A86B8-B219-45B7-B07D-60B0EBBD5BEE}"/>
              </a:ext>
            </a:extLst>
          </p:cNvPr>
          <p:cNvSpPr/>
          <p:nvPr/>
        </p:nvSpPr>
        <p:spPr>
          <a:xfrm>
            <a:off x="8136082" y="2879587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1E7979-2DEE-467B-978A-12E9B30A56B7}"/>
              </a:ext>
            </a:extLst>
          </p:cNvPr>
          <p:cNvSpPr txBox="1"/>
          <p:nvPr/>
        </p:nvSpPr>
        <p:spPr>
          <a:xfrm>
            <a:off x="10446327" y="3655001"/>
            <a:ext cx="1651507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Subtract 5 from both sides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17D2C4-650B-4C44-9219-14B062B0840D}"/>
              </a:ext>
            </a:extLst>
          </p:cNvPr>
          <p:cNvSpPr txBox="1"/>
          <p:nvPr/>
        </p:nvSpPr>
        <p:spPr>
          <a:xfrm>
            <a:off x="1055218" y="4004588"/>
            <a:ext cx="1500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- 5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559B0C-AE76-434C-8F5B-8E50EE6926B7}"/>
              </a:ext>
            </a:extLst>
          </p:cNvPr>
          <p:cNvSpPr txBox="1"/>
          <p:nvPr/>
        </p:nvSpPr>
        <p:spPr>
          <a:xfrm>
            <a:off x="9857942" y="4123354"/>
            <a:ext cx="1500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- 5 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93820DD-811D-42F5-BA05-396AB1307793}"/>
              </a:ext>
            </a:extLst>
          </p:cNvPr>
          <p:cNvGrpSpPr/>
          <p:nvPr/>
        </p:nvGrpSpPr>
        <p:grpSpPr>
          <a:xfrm>
            <a:off x="3618794" y="3101341"/>
            <a:ext cx="431062" cy="457558"/>
            <a:chOff x="3618794" y="3101341"/>
            <a:chExt cx="431062" cy="45755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45F7238-37C6-45FC-8D4D-D99801864D0E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95CCE90-0E67-4312-8201-ECC163D73E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C23573-2E32-40EB-9710-81698B123C32}"/>
              </a:ext>
            </a:extLst>
          </p:cNvPr>
          <p:cNvGrpSpPr/>
          <p:nvPr/>
        </p:nvGrpSpPr>
        <p:grpSpPr>
          <a:xfrm>
            <a:off x="4134603" y="2837980"/>
            <a:ext cx="431062" cy="457558"/>
            <a:chOff x="3618794" y="3101341"/>
            <a:chExt cx="431062" cy="457558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01B3CD7-3C86-4324-AE56-B3F6CDC1CAB8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C327625-6A92-474A-B629-6B3D960547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02EDAD5-B069-478B-8175-4A42D136C754}"/>
              </a:ext>
            </a:extLst>
          </p:cNvPr>
          <p:cNvGrpSpPr/>
          <p:nvPr/>
        </p:nvGrpSpPr>
        <p:grpSpPr>
          <a:xfrm>
            <a:off x="4824847" y="2813050"/>
            <a:ext cx="431062" cy="457558"/>
            <a:chOff x="3618794" y="3101341"/>
            <a:chExt cx="431062" cy="457558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7437F0D-53FD-41A7-912B-D37D5E1661B3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C0A682C-DF97-4AAB-9A49-32234EB601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1DA64C3-6A6F-4A17-9FD9-AA6530C46391}"/>
              </a:ext>
            </a:extLst>
          </p:cNvPr>
          <p:cNvGrpSpPr/>
          <p:nvPr/>
        </p:nvGrpSpPr>
        <p:grpSpPr>
          <a:xfrm>
            <a:off x="4132004" y="3426222"/>
            <a:ext cx="431062" cy="457558"/>
            <a:chOff x="3618794" y="3101341"/>
            <a:chExt cx="431062" cy="457558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624EDEA-8C6B-4A26-AD01-FDC715EE2EBD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0B889B1-0711-4BEB-97EB-654A160C29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8CE89A3-6FE5-4134-B931-BBB1DCB2DF90}"/>
              </a:ext>
            </a:extLst>
          </p:cNvPr>
          <p:cNvGrpSpPr/>
          <p:nvPr/>
        </p:nvGrpSpPr>
        <p:grpSpPr>
          <a:xfrm>
            <a:off x="4807389" y="3406027"/>
            <a:ext cx="431062" cy="457558"/>
            <a:chOff x="3618794" y="3101341"/>
            <a:chExt cx="431062" cy="457558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5FADB65-BB1A-4899-9C9B-C5A8A09C907B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34C009D-8045-4D82-8C9D-4CBA4559F1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E4AFD12-53DE-4881-B2BA-240805AE175B}"/>
              </a:ext>
            </a:extLst>
          </p:cNvPr>
          <p:cNvGrpSpPr/>
          <p:nvPr/>
        </p:nvGrpSpPr>
        <p:grpSpPr>
          <a:xfrm>
            <a:off x="6965558" y="2819660"/>
            <a:ext cx="431062" cy="457558"/>
            <a:chOff x="3618794" y="3101341"/>
            <a:chExt cx="431062" cy="457558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72AB30F-AB7E-445E-B076-2883885418ED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0FF8B2B-37F1-404E-A96A-7796E8E4D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8F267A4-653C-4FD8-A202-14D444B2C042}"/>
              </a:ext>
            </a:extLst>
          </p:cNvPr>
          <p:cNvGrpSpPr/>
          <p:nvPr/>
        </p:nvGrpSpPr>
        <p:grpSpPr>
          <a:xfrm>
            <a:off x="7510570" y="2824856"/>
            <a:ext cx="431062" cy="457558"/>
            <a:chOff x="3618794" y="3101341"/>
            <a:chExt cx="431062" cy="457558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65650C5-9184-4883-9203-A3154F7F905E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74A107F-7A19-456F-B7FD-094DB0F23B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798A2BF-9F19-4785-91FB-F4B6D341001B}"/>
              </a:ext>
            </a:extLst>
          </p:cNvPr>
          <p:cNvGrpSpPr/>
          <p:nvPr/>
        </p:nvGrpSpPr>
        <p:grpSpPr>
          <a:xfrm>
            <a:off x="6983604" y="3401292"/>
            <a:ext cx="431062" cy="457558"/>
            <a:chOff x="3618794" y="3101341"/>
            <a:chExt cx="431062" cy="457558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E604FDC-8F8F-4FAA-8261-DB69DBB5F850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97F6527-CC7A-4DC3-B00F-23F22B7A88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0D31161-64BD-4916-82C1-7510855CA9A9}"/>
              </a:ext>
            </a:extLst>
          </p:cNvPr>
          <p:cNvGrpSpPr/>
          <p:nvPr/>
        </p:nvGrpSpPr>
        <p:grpSpPr>
          <a:xfrm>
            <a:off x="7490566" y="3386666"/>
            <a:ext cx="431062" cy="457558"/>
            <a:chOff x="3618794" y="3101341"/>
            <a:chExt cx="431062" cy="457558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76C92D6-EF94-4D34-B064-AE7BC9174AAA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F622BDE-5FBC-47AF-9572-E8532B80CD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2C1F80B-4C99-42A2-8F4B-C694380D3050}"/>
              </a:ext>
            </a:extLst>
          </p:cNvPr>
          <p:cNvGrpSpPr/>
          <p:nvPr/>
        </p:nvGrpSpPr>
        <p:grpSpPr>
          <a:xfrm>
            <a:off x="8146768" y="3387430"/>
            <a:ext cx="431062" cy="457558"/>
            <a:chOff x="3618794" y="3101341"/>
            <a:chExt cx="431062" cy="457558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ED8E87C-7DC7-4BE5-9D40-C8AD99EEB01E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76E8E42-BD4F-4164-9F12-21CD372B90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Oval 70">
            <a:extLst>
              <a:ext uri="{FF2B5EF4-FFF2-40B4-BE49-F238E27FC236}">
                <a16:creationId xmlns:a16="http://schemas.microsoft.com/office/drawing/2014/main" id="{632C891F-3E91-4834-B68E-ADCA94574AB0}"/>
              </a:ext>
            </a:extLst>
          </p:cNvPr>
          <p:cNvSpPr/>
          <p:nvPr/>
        </p:nvSpPr>
        <p:spPr>
          <a:xfrm>
            <a:off x="4261356" y="4497968"/>
            <a:ext cx="914400" cy="893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/>
              <a:t>X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426A845-AA6D-4F9D-858D-9C991E3E7C17}"/>
              </a:ext>
            </a:extLst>
          </p:cNvPr>
          <p:cNvGrpSpPr/>
          <p:nvPr/>
        </p:nvGrpSpPr>
        <p:grpSpPr>
          <a:xfrm>
            <a:off x="6495402" y="4646574"/>
            <a:ext cx="973061" cy="963677"/>
            <a:chOff x="6495402" y="4646574"/>
            <a:chExt cx="973061" cy="963677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1F01C08-FC83-4427-AA61-7CCF616B5B9B}"/>
                </a:ext>
              </a:extLst>
            </p:cNvPr>
            <p:cNvSpPr/>
            <p:nvPr/>
          </p:nvSpPr>
          <p:spPr>
            <a:xfrm>
              <a:off x="6495402" y="4646574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EBB9FA9-E81B-4822-82F6-222D4DB56DE9}"/>
                </a:ext>
              </a:extLst>
            </p:cNvPr>
            <p:cNvSpPr/>
            <p:nvPr/>
          </p:nvSpPr>
          <p:spPr>
            <a:xfrm>
              <a:off x="6495402" y="5237937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E92B7C0-F332-4115-B772-7C5133D170F0}"/>
                </a:ext>
              </a:extLst>
            </p:cNvPr>
            <p:cNvSpPr/>
            <p:nvPr/>
          </p:nvSpPr>
          <p:spPr>
            <a:xfrm>
              <a:off x="7099587" y="4646574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220CDF6-1594-4395-8E45-DC5D312370FD}"/>
                </a:ext>
              </a:extLst>
            </p:cNvPr>
            <p:cNvSpPr/>
            <p:nvPr/>
          </p:nvSpPr>
          <p:spPr>
            <a:xfrm>
              <a:off x="7092358" y="5262155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9B6650CB-6FCE-4294-B9CA-71BF4B30AC0B}"/>
              </a:ext>
            </a:extLst>
          </p:cNvPr>
          <p:cNvSpPr txBox="1"/>
          <p:nvPr/>
        </p:nvSpPr>
        <p:spPr>
          <a:xfrm>
            <a:off x="3387652" y="594135"/>
            <a:ext cx="6953251" cy="17543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numCol="2" rtlCol="0">
            <a:spAutoFit/>
          </a:bodyPr>
          <a:lstStyle/>
          <a:p>
            <a:r>
              <a:rPr lang="en-AU" dirty="0"/>
              <a:t>Try these : </a:t>
            </a:r>
          </a:p>
          <a:p>
            <a:pPr marL="342900" indent="-342900">
              <a:buAutoNum type="arabicPeriod"/>
            </a:pPr>
            <a:r>
              <a:rPr lang="en-AU" dirty="0"/>
              <a:t>y + 4 = 6</a:t>
            </a:r>
          </a:p>
          <a:p>
            <a:pPr marL="342900" indent="-342900">
              <a:buAutoNum type="arabicPeriod"/>
            </a:pPr>
            <a:r>
              <a:rPr lang="en-AU" dirty="0"/>
              <a:t>b – 2 =8</a:t>
            </a:r>
          </a:p>
          <a:p>
            <a:pPr marL="342900" indent="-342900">
              <a:buAutoNum type="arabicPeriod"/>
            </a:pPr>
            <a:r>
              <a:rPr lang="en-AU" dirty="0"/>
              <a:t>a + 7 = 10</a:t>
            </a:r>
          </a:p>
          <a:p>
            <a:pPr marL="342900" indent="-342900">
              <a:buAutoNum type="arabicPeriod"/>
            </a:pPr>
            <a:r>
              <a:rPr lang="en-AU" dirty="0"/>
              <a:t>x + 6=9</a:t>
            </a:r>
          </a:p>
          <a:p>
            <a:pPr marL="342900" indent="-342900">
              <a:buAutoNum type="arabicPeriod"/>
            </a:pPr>
            <a:r>
              <a:rPr lang="en-AU" dirty="0"/>
              <a:t>y – 4 = 7</a:t>
            </a:r>
          </a:p>
          <a:p>
            <a:r>
              <a:rPr lang="en-AU" dirty="0"/>
              <a:t>Extension: </a:t>
            </a:r>
          </a:p>
          <a:p>
            <a:r>
              <a:rPr lang="en-AU" dirty="0"/>
              <a:t>Think about how you would solve these: </a:t>
            </a:r>
          </a:p>
          <a:p>
            <a:r>
              <a:rPr lang="en-AU" dirty="0"/>
              <a:t> 3x = 9 </a:t>
            </a:r>
          </a:p>
          <a:p>
            <a:r>
              <a:rPr lang="en-AU" dirty="0"/>
              <a:t>2x = 6 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73462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BC1F08-7EC3-415E-B689-0754EC02E888}"/>
              </a:ext>
            </a:extLst>
          </p:cNvPr>
          <p:cNvSpPr txBox="1"/>
          <p:nvPr/>
        </p:nvSpPr>
        <p:spPr>
          <a:xfrm>
            <a:off x="-3501736" y="111793"/>
            <a:ext cx="10120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Pairs Practice!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9DF64A-E949-4C24-8DB2-AB9D985843D5}"/>
              </a:ext>
            </a:extLst>
          </p:cNvPr>
          <p:cNvSpPr txBox="1"/>
          <p:nvPr/>
        </p:nvSpPr>
        <p:spPr>
          <a:xfrm>
            <a:off x="3013362" y="129553"/>
            <a:ext cx="8541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highlight>
                  <a:srgbClr val="FFFF00"/>
                </a:highlight>
              </a:rPr>
              <a:t>You will need: 1 dry erase marker, 15 counters, sticky notes and a tissue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E22FE5-826F-498A-81B7-429BD8C39791}"/>
              </a:ext>
            </a:extLst>
          </p:cNvPr>
          <p:cNvSpPr/>
          <p:nvPr/>
        </p:nvSpPr>
        <p:spPr>
          <a:xfrm>
            <a:off x="904009" y="2514600"/>
            <a:ext cx="4634345" cy="33147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4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FF2646-33A6-4C94-963C-E685F0C48C68}"/>
              </a:ext>
            </a:extLst>
          </p:cNvPr>
          <p:cNvSpPr/>
          <p:nvPr/>
        </p:nvSpPr>
        <p:spPr>
          <a:xfrm>
            <a:off x="6264328" y="2466004"/>
            <a:ext cx="4634345" cy="33147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14075-3BC5-4C16-A89A-2AD8B244E3B3}"/>
              </a:ext>
            </a:extLst>
          </p:cNvPr>
          <p:cNvSpPr txBox="1"/>
          <p:nvPr/>
        </p:nvSpPr>
        <p:spPr>
          <a:xfrm>
            <a:off x="3751117" y="595355"/>
            <a:ext cx="4426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what you will be doing on your desks!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21F48A-4D28-4C0B-B38F-69B5938A881A}"/>
              </a:ext>
            </a:extLst>
          </p:cNvPr>
          <p:cNvSpPr txBox="1"/>
          <p:nvPr/>
        </p:nvSpPr>
        <p:spPr>
          <a:xfrm>
            <a:off x="4852555" y="1298864"/>
            <a:ext cx="3740727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dirty="0"/>
              <a:t>Imagine that the gap between the desks is the equal symbol!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E19EF8-D91C-4605-B568-CEAC2E620963}"/>
              </a:ext>
            </a:extLst>
          </p:cNvPr>
          <p:cNvSpPr txBox="1"/>
          <p:nvPr/>
        </p:nvSpPr>
        <p:spPr>
          <a:xfrm>
            <a:off x="5517573" y="3382241"/>
            <a:ext cx="20158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0" dirty="0"/>
              <a:t>=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F637C2-DDC0-4B48-91CF-54799A0FCAC7}"/>
              </a:ext>
            </a:extLst>
          </p:cNvPr>
          <p:cNvCxnSpPr>
            <a:cxnSpLocks/>
          </p:cNvCxnSpPr>
          <p:nvPr/>
        </p:nvCxnSpPr>
        <p:spPr>
          <a:xfrm flipV="1">
            <a:off x="5881254" y="2100268"/>
            <a:ext cx="0" cy="18274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DEA4586-321B-4E38-A8B4-7BA88DFF7731}"/>
              </a:ext>
            </a:extLst>
          </p:cNvPr>
          <p:cNvSpPr txBox="1"/>
          <p:nvPr/>
        </p:nvSpPr>
        <p:spPr>
          <a:xfrm>
            <a:off x="1433945" y="1101436"/>
            <a:ext cx="3252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FF0000"/>
                </a:solidFill>
              </a:rPr>
              <a:t>X+5=9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6B7A316-C49F-4355-AEEF-069420FE3CA1}"/>
              </a:ext>
            </a:extLst>
          </p:cNvPr>
          <p:cNvSpPr/>
          <p:nvPr/>
        </p:nvSpPr>
        <p:spPr>
          <a:xfrm>
            <a:off x="1589809" y="3034145"/>
            <a:ext cx="914400" cy="893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315AEF-FAF9-460D-8C92-8BF48B8E5689}"/>
              </a:ext>
            </a:extLst>
          </p:cNvPr>
          <p:cNvSpPr txBox="1"/>
          <p:nvPr/>
        </p:nvSpPr>
        <p:spPr>
          <a:xfrm>
            <a:off x="2738004" y="3157788"/>
            <a:ext cx="904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+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73EC12-93AE-4279-97C7-F3296493416B}"/>
              </a:ext>
            </a:extLst>
          </p:cNvPr>
          <p:cNvSpPr/>
          <p:nvPr/>
        </p:nvSpPr>
        <p:spPr>
          <a:xfrm>
            <a:off x="3642014" y="3146891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CE342B-8C9D-41FA-B248-C5DA62300B64}"/>
              </a:ext>
            </a:extLst>
          </p:cNvPr>
          <p:cNvSpPr/>
          <p:nvPr/>
        </p:nvSpPr>
        <p:spPr>
          <a:xfrm>
            <a:off x="4169352" y="3480953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888319-D2DB-4C84-B231-13BA1A0B8BD1}"/>
              </a:ext>
            </a:extLst>
          </p:cNvPr>
          <p:cNvSpPr/>
          <p:nvPr/>
        </p:nvSpPr>
        <p:spPr>
          <a:xfrm>
            <a:off x="4169352" y="2888028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EF6EBF-E6AD-4DED-A3EE-9AE71A4DEEF6}"/>
              </a:ext>
            </a:extLst>
          </p:cNvPr>
          <p:cNvSpPr/>
          <p:nvPr/>
        </p:nvSpPr>
        <p:spPr>
          <a:xfrm>
            <a:off x="4863813" y="3456023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EBA9B2-1276-4A2E-B7C1-E4E3940E06DD}"/>
              </a:ext>
            </a:extLst>
          </p:cNvPr>
          <p:cNvSpPr/>
          <p:nvPr/>
        </p:nvSpPr>
        <p:spPr>
          <a:xfrm>
            <a:off x="4863813" y="2860277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C00580-9CC0-4EF3-9CD2-973219387A1C}"/>
              </a:ext>
            </a:extLst>
          </p:cNvPr>
          <p:cNvSpPr/>
          <p:nvPr/>
        </p:nvSpPr>
        <p:spPr>
          <a:xfrm>
            <a:off x="7019059" y="2874391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C75E0A-D4A5-441A-977B-B58BE4B48624}"/>
              </a:ext>
            </a:extLst>
          </p:cNvPr>
          <p:cNvSpPr/>
          <p:nvPr/>
        </p:nvSpPr>
        <p:spPr>
          <a:xfrm>
            <a:off x="7533409" y="2881745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904580-C619-467B-878C-53DAEB334C67}"/>
              </a:ext>
            </a:extLst>
          </p:cNvPr>
          <p:cNvSpPr/>
          <p:nvPr/>
        </p:nvSpPr>
        <p:spPr>
          <a:xfrm>
            <a:off x="7007153" y="3445451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A42CF1-BCA1-464F-A3A7-3A009617B4E7}"/>
              </a:ext>
            </a:extLst>
          </p:cNvPr>
          <p:cNvSpPr/>
          <p:nvPr/>
        </p:nvSpPr>
        <p:spPr>
          <a:xfrm>
            <a:off x="7533409" y="3445451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F2FCC5-BED6-48AB-AD45-739DF18E8FE3}"/>
              </a:ext>
            </a:extLst>
          </p:cNvPr>
          <p:cNvSpPr/>
          <p:nvPr/>
        </p:nvSpPr>
        <p:spPr>
          <a:xfrm>
            <a:off x="9489066" y="3166447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A77125-6D02-4CC8-B6E2-C4489601C739}"/>
              </a:ext>
            </a:extLst>
          </p:cNvPr>
          <p:cNvSpPr/>
          <p:nvPr/>
        </p:nvSpPr>
        <p:spPr>
          <a:xfrm>
            <a:off x="8143878" y="3429000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4961D4-D182-4DEC-97DE-866F60E03763}"/>
              </a:ext>
            </a:extLst>
          </p:cNvPr>
          <p:cNvSpPr/>
          <p:nvPr/>
        </p:nvSpPr>
        <p:spPr>
          <a:xfrm>
            <a:off x="8805430" y="3422938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7D0A76-FBD3-471E-82DF-FA05D8D597B1}"/>
              </a:ext>
            </a:extLst>
          </p:cNvPr>
          <p:cNvSpPr/>
          <p:nvPr/>
        </p:nvSpPr>
        <p:spPr>
          <a:xfrm>
            <a:off x="8790709" y="2881745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0A86B8-B219-45B7-B07D-60B0EBBD5BEE}"/>
              </a:ext>
            </a:extLst>
          </p:cNvPr>
          <p:cNvSpPr/>
          <p:nvPr/>
        </p:nvSpPr>
        <p:spPr>
          <a:xfrm>
            <a:off x="8136082" y="2879587"/>
            <a:ext cx="368876" cy="34809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1E7979-2DEE-467B-978A-12E9B30A56B7}"/>
              </a:ext>
            </a:extLst>
          </p:cNvPr>
          <p:cNvSpPr txBox="1"/>
          <p:nvPr/>
        </p:nvSpPr>
        <p:spPr>
          <a:xfrm>
            <a:off x="10446327" y="3655001"/>
            <a:ext cx="1651507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Subtract 5 from both sides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17D2C4-650B-4C44-9219-14B062B0840D}"/>
              </a:ext>
            </a:extLst>
          </p:cNvPr>
          <p:cNvSpPr txBox="1"/>
          <p:nvPr/>
        </p:nvSpPr>
        <p:spPr>
          <a:xfrm>
            <a:off x="1055218" y="4004588"/>
            <a:ext cx="1500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- 5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559B0C-AE76-434C-8F5B-8E50EE6926B7}"/>
              </a:ext>
            </a:extLst>
          </p:cNvPr>
          <p:cNvSpPr txBox="1"/>
          <p:nvPr/>
        </p:nvSpPr>
        <p:spPr>
          <a:xfrm>
            <a:off x="9857942" y="4123354"/>
            <a:ext cx="1500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- 5 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93820DD-811D-42F5-BA05-396AB1307793}"/>
              </a:ext>
            </a:extLst>
          </p:cNvPr>
          <p:cNvGrpSpPr/>
          <p:nvPr/>
        </p:nvGrpSpPr>
        <p:grpSpPr>
          <a:xfrm>
            <a:off x="3618794" y="3101341"/>
            <a:ext cx="431062" cy="457558"/>
            <a:chOff x="3618794" y="3101341"/>
            <a:chExt cx="431062" cy="45755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45F7238-37C6-45FC-8D4D-D99801864D0E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95CCE90-0E67-4312-8201-ECC163D73E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C23573-2E32-40EB-9710-81698B123C32}"/>
              </a:ext>
            </a:extLst>
          </p:cNvPr>
          <p:cNvGrpSpPr/>
          <p:nvPr/>
        </p:nvGrpSpPr>
        <p:grpSpPr>
          <a:xfrm>
            <a:off x="4134603" y="2837980"/>
            <a:ext cx="431062" cy="457558"/>
            <a:chOff x="3618794" y="3101341"/>
            <a:chExt cx="431062" cy="457558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01B3CD7-3C86-4324-AE56-B3F6CDC1CAB8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C327625-6A92-474A-B629-6B3D960547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02EDAD5-B069-478B-8175-4A42D136C754}"/>
              </a:ext>
            </a:extLst>
          </p:cNvPr>
          <p:cNvGrpSpPr/>
          <p:nvPr/>
        </p:nvGrpSpPr>
        <p:grpSpPr>
          <a:xfrm>
            <a:off x="4824847" y="2813050"/>
            <a:ext cx="431062" cy="457558"/>
            <a:chOff x="3618794" y="3101341"/>
            <a:chExt cx="431062" cy="457558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7437F0D-53FD-41A7-912B-D37D5E1661B3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C0A682C-DF97-4AAB-9A49-32234EB601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1DA64C3-6A6F-4A17-9FD9-AA6530C46391}"/>
              </a:ext>
            </a:extLst>
          </p:cNvPr>
          <p:cNvGrpSpPr/>
          <p:nvPr/>
        </p:nvGrpSpPr>
        <p:grpSpPr>
          <a:xfrm>
            <a:off x="4132004" y="3426222"/>
            <a:ext cx="431062" cy="457558"/>
            <a:chOff x="3618794" y="3101341"/>
            <a:chExt cx="431062" cy="457558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624EDEA-8C6B-4A26-AD01-FDC715EE2EBD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0B889B1-0711-4BEB-97EB-654A160C29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8CE89A3-6FE5-4134-B931-BBB1DCB2DF90}"/>
              </a:ext>
            </a:extLst>
          </p:cNvPr>
          <p:cNvGrpSpPr/>
          <p:nvPr/>
        </p:nvGrpSpPr>
        <p:grpSpPr>
          <a:xfrm>
            <a:off x="4807389" y="3406027"/>
            <a:ext cx="431062" cy="457558"/>
            <a:chOff x="3618794" y="3101341"/>
            <a:chExt cx="431062" cy="457558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5FADB65-BB1A-4899-9C9B-C5A8A09C907B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34C009D-8045-4D82-8C9D-4CBA4559F1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E4AFD12-53DE-4881-B2BA-240805AE175B}"/>
              </a:ext>
            </a:extLst>
          </p:cNvPr>
          <p:cNvGrpSpPr/>
          <p:nvPr/>
        </p:nvGrpSpPr>
        <p:grpSpPr>
          <a:xfrm>
            <a:off x="6965558" y="2819660"/>
            <a:ext cx="431062" cy="457558"/>
            <a:chOff x="3618794" y="3101341"/>
            <a:chExt cx="431062" cy="457558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72AB30F-AB7E-445E-B076-2883885418ED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0FF8B2B-37F1-404E-A96A-7796E8E4D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8F267A4-653C-4FD8-A202-14D444B2C042}"/>
              </a:ext>
            </a:extLst>
          </p:cNvPr>
          <p:cNvGrpSpPr/>
          <p:nvPr/>
        </p:nvGrpSpPr>
        <p:grpSpPr>
          <a:xfrm>
            <a:off x="7510570" y="2824856"/>
            <a:ext cx="431062" cy="457558"/>
            <a:chOff x="3618794" y="3101341"/>
            <a:chExt cx="431062" cy="457558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65650C5-9184-4883-9203-A3154F7F905E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74A107F-7A19-456F-B7FD-094DB0F23B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798A2BF-9F19-4785-91FB-F4B6D341001B}"/>
              </a:ext>
            </a:extLst>
          </p:cNvPr>
          <p:cNvGrpSpPr/>
          <p:nvPr/>
        </p:nvGrpSpPr>
        <p:grpSpPr>
          <a:xfrm>
            <a:off x="6983604" y="3401292"/>
            <a:ext cx="431062" cy="457558"/>
            <a:chOff x="3618794" y="3101341"/>
            <a:chExt cx="431062" cy="457558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E604FDC-8F8F-4FAA-8261-DB69DBB5F850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97F6527-CC7A-4DC3-B00F-23F22B7A88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0D31161-64BD-4916-82C1-7510855CA9A9}"/>
              </a:ext>
            </a:extLst>
          </p:cNvPr>
          <p:cNvGrpSpPr/>
          <p:nvPr/>
        </p:nvGrpSpPr>
        <p:grpSpPr>
          <a:xfrm>
            <a:off x="7490566" y="3386666"/>
            <a:ext cx="431062" cy="457558"/>
            <a:chOff x="3618794" y="3101341"/>
            <a:chExt cx="431062" cy="457558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76C92D6-EF94-4D34-B064-AE7BC9174AAA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F622BDE-5FBC-47AF-9572-E8532B80CD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2C1F80B-4C99-42A2-8F4B-C694380D3050}"/>
              </a:ext>
            </a:extLst>
          </p:cNvPr>
          <p:cNvGrpSpPr/>
          <p:nvPr/>
        </p:nvGrpSpPr>
        <p:grpSpPr>
          <a:xfrm>
            <a:off x="8146768" y="3387430"/>
            <a:ext cx="431062" cy="457558"/>
            <a:chOff x="3618794" y="3101341"/>
            <a:chExt cx="431062" cy="457558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ED8E87C-7DC7-4BE5-9D40-C8AD99EEB01E}"/>
                </a:ext>
              </a:extLst>
            </p:cNvPr>
            <p:cNvCxnSpPr>
              <a:cxnSpLocks/>
            </p:cNvCxnSpPr>
            <p:nvPr/>
          </p:nvCxnSpPr>
          <p:spPr>
            <a:xfrm>
              <a:off x="3618794" y="3101341"/>
              <a:ext cx="410333" cy="4575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76E8E42-BD4F-4164-9F12-21CD372B90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300" y="3101341"/>
              <a:ext cx="415556" cy="4360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Oval 70">
            <a:extLst>
              <a:ext uri="{FF2B5EF4-FFF2-40B4-BE49-F238E27FC236}">
                <a16:creationId xmlns:a16="http://schemas.microsoft.com/office/drawing/2014/main" id="{632C891F-3E91-4834-B68E-ADCA94574AB0}"/>
              </a:ext>
            </a:extLst>
          </p:cNvPr>
          <p:cNvSpPr/>
          <p:nvPr/>
        </p:nvSpPr>
        <p:spPr>
          <a:xfrm>
            <a:off x="4261356" y="4497968"/>
            <a:ext cx="914400" cy="893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/>
              <a:t>X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426A845-AA6D-4F9D-858D-9C991E3E7C17}"/>
              </a:ext>
            </a:extLst>
          </p:cNvPr>
          <p:cNvGrpSpPr/>
          <p:nvPr/>
        </p:nvGrpSpPr>
        <p:grpSpPr>
          <a:xfrm>
            <a:off x="6495402" y="4646574"/>
            <a:ext cx="973061" cy="963677"/>
            <a:chOff x="6495402" y="4646574"/>
            <a:chExt cx="973061" cy="963677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1F01C08-FC83-4427-AA61-7CCF616B5B9B}"/>
                </a:ext>
              </a:extLst>
            </p:cNvPr>
            <p:cNvSpPr/>
            <p:nvPr/>
          </p:nvSpPr>
          <p:spPr>
            <a:xfrm>
              <a:off x="6495402" y="4646574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EBB9FA9-E81B-4822-82F6-222D4DB56DE9}"/>
                </a:ext>
              </a:extLst>
            </p:cNvPr>
            <p:cNvSpPr/>
            <p:nvPr/>
          </p:nvSpPr>
          <p:spPr>
            <a:xfrm>
              <a:off x="6495402" y="5237937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E92B7C0-F332-4115-B772-7C5133D170F0}"/>
                </a:ext>
              </a:extLst>
            </p:cNvPr>
            <p:cNvSpPr/>
            <p:nvPr/>
          </p:nvSpPr>
          <p:spPr>
            <a:xfrm>
              <a:off x="7099587" y="4646574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220CDF6-1594-4395-8E45-DC5D312370FD}"/>
                </a:ext>
              </a:extLst>
            </p:cNvPr>
            <p:cNvSpPr/>
            <p:nvPr/>
          </p:nvSpPr>
          <p:spPr>
            <a:xfrm>
              <a:off x="7092358" y="5262155"/>
              <a:ext cx="368876" cy="34809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9B6650CB-6FCE-4294-B9CA-71BF4B30AC0B}"/>
              </a:ext>
            </a:extLst>
          </p:cNvPr>
          <p:cNvSpPr txBox="1"/>
          <p:nvPr/>
        </p:nvSpPr>
        <p:spPr>
          <a:xfrm>
            <a:off x="3387652" y="594135"/>
            <a:ext cx="6953251" cy="17543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numCol="2" rtlCol="0">
            <a:spAutoFit/>
          </a:bodyPr>
          <a:lstStyle/>
          <a:p>
            <a:r>
              <a:rPr lang="en-AU" dirty="0"/>
              <a:t>Try these : </a:t>
            </a:r>
          </a:p>
          <a:p>
            <a:pPr marL="342900" indent="-342900">
              <a:buAutoNum type="arabicPeriod"/>
            </a:pPr>
            <a:r>
              <a:rPr lang="en-AU" dirty="0"/>
              <a:t>y + 4 = 6   </a:t>
            </a:r>
            <a:r>
              <a:rPr lang="en-AU" b="1" dirty="0">
                <a:solidFill>
                  <a:srgbClr val="FF0000"/>
                </a:solidFill>
              </a:rPr>
              <a:t>y= 2</a:t>
            </a:r>
          </a:p>
          <a:p>
            <a:pPr marL="342900" indent="-342900">
              <a:buAutoNum type="arabicPeriod"/>
            </a:pPr>
            <a:r>
              <a:rPr lang="en-AU" dirty="0"/>
              <a:t>b – 2 =8     </a:t>
            </a:r>
            <a:r>
              <a:rPr lang="en-AU" b="1" dirty="0">
                <a:solidFill>
                  <a:srgbClr val="FF0000"/>
                </a:solidFill>
              </a:rPr>
              <a:t>b = 10</a:t>
            </a:r>
          </a:p>
          <a:p>
            <a:pPr marL="342900" indent="-342900">
              <a:buAutoNum type="arabicPeriod"/>
            </a:pPr>
            <a:r>
              <a:rPr lang="en-AU" dirty="0"/>
              <a:t>a + 7 = 10    </a:t>
            </a:r>
            <a:r>
              <a:rPr lang="en-AU" b="1" dirty="0">
                <a:solidFill>
                  <a:srgbClr val="FF0000"/>
                </a:solidFill>
              </a:rPr>
              <a:t>a = 3</a:t>
            </a:r>
          </a:p>
          <a:p>
            <a:pPr marL="342900" indent="-342900">
              <a:buAutoNum type="arabicPeriod"/>
            </a:pPr>
            <a:r>
              <a:rPr lang="en-AU" dirty="0"/>
              <a:t>x + 6 = 9     </a:t>
            </a:r>
            <a:r>
              <a:rPr lang="en-AU" b="1" dirty="0">
                <a:solidFill>
                  <a:srgbClr val="FF0000"/>
                </a:solidFill>
              </a:rPr>
              <a:t>x = 3</a:t>
            </a:r>
          </a:p>
          <a:p>
            <a:pPr marL="342900" indent="-342900">
              <a:buAutoNum type="arabicPeriod"/>
            </a:pPr>
            <a:r>
              <a:rPr lang="en-AU" dirty="0"/>
              <a:t>y – 4 = 7   </a:t>
            </a:r>
            <a:r>
              <a:rPr lang="en-AU" b="1" dirty="0">
                <a:solidFill>
                  <a:srgbClr val="FF0000"/>
                </a:solidFill>
              </a:rPr>
              <a:t>y = 11</a:t>
            </a:r>
          </a:p>
          <a:p>
            <a:r>
              <a:rPr lang="en-AU" dirty="0"/>
              <a:t>Extension: </a:t>
            </a:r>
          </a:p>
          <a:p>
            <a:r>
              <a:rPr lang="en-AU" dirty="0"/>
              <a:t>Think about how you would solve these: </a:t>
            </a:r>
          </a:p>
          <a:p>
            <a:r>
              <a:rPr lang="en-AU" dirty="0"/>
              <a:t> 3x = 9 </a:t>
            </a:r>
          </a:p>
          <a:p>
            <a:r>
              <a:rPr lang="en-AU" dirty="0"/>
              <a:t>2x = 6 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239789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7854C4-3CFC-412C-A4B9-590EE6A6B4C4}"/>
              </a:ext>
            </a:extLst>
          </p:cNvPr>
          <p:cNvSpPr txBox="1"/>
          <p:nvPr/>
        </p:nvSpPr>
        <p:spPr>
          <a:xfrm>
            <a:off x="2036617" y="852055"/>
            <a:ext cx="785552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What about multiplication?</a:t>
            </a:r>
          </a:p>
          <a:p>
            <a:endParaRPr lang="en-AU" sz="3200" dirty="0"/>
          </a:p>
          <a:p>
            <a:r>
              <a:rPr lang="en-AU" sz="3200" dirty="0"/>
              <a:t>How would we solve these?  </a:t>
            </a:r>
          </a:p>
          <a:p>
            <a:r>
              <a:rPr lang="en-AU" sz="3200" dirty="0"/>
              <a:t> 3x = 9 </a:t>
            </a:r>
          </a:p>
          <a:p>
            <a:r>
              <a:rPr lang="en-AU" sz="3200" dirty="0"/>
              <a:t>2x = 6 </a:t>
            </a:r>
          </a:p>
          <a:p>
            <a:endParaRPr lang="en-AU" sz="3200" dirty="0"/>
          </a:p>
          <a:p>
            <a:r>
              <a:rPr lang="en-AU" sz="3200" dirty="0"/>
              <a:t>What undoes multiplication?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76185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BC1F08-7EC3-415E-B689-0754EC02E888}"/>
              </a:ext>
            </a:extLst>
          </p:cNvPr>
          <p:cNvSpPr txBox="1"/>
          <p:nvPr/>
        </p:nvSpPr>
        <p:spPr>
          <a:xfrm>
            <a:off x="-3501736" y="111793"/>
            <a:ext cx="10120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Pairs Practice!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9DF64A-E949-4C24-8DB2-AB9D985843D5}"/>
              </a:ext>
            </a:extLst>
          </p:cNvPr>
          <p:cNvSpPr txBox="1"/>
          <p:nvPr/>
        </p:nvSpPr>
        <p:spPr>
          <a:xfrm>
            <a:off x="3013362" y="129553"/>
            <a:ext cx="8541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highlight>
                  <a:srgbClr val="FFFF00"/>
                </a:highlight>
              </a:rPr>
              <a:t>You will need: 1 dry erase marker, 15 counters, sticky notes and a tissue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E22FE5-826F-498A-81B7-429BD8C39791}"/>
              </a:ext>
            </a:extLst>
          </p:cNvPr>
          <p:cNvSpPr/>
          <p:nvPr/>
        </p:nvSpPr>
        <p:spPr>
          <a:xfrm>
            <a:off x="904009" y="2514600"/>
            <a:ext cx="4634345" cy="33147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4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FF2646-33A6-4C94-963C-E685F0C48C68}"/>
              </a:ext>
            </a:extLst>
          </p:cNvPr>
          <p:cNvSpPr/>
          <p:nvPr/>
        </p:nvSpPr>
        <p:spPr>
          <a:xfrm>
            <a:off x="6180848" y="2514600"/>
            <a:ext cx="4634345" cy="33147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14075-3BC5-4C16-A89A-2AD8B244E3B3}"/>
              </a:ext>
            </a:extLst>
          </p:cNvPr>
          <p:cNvSpPr txBox="1"/>
          <p:nvPr/>
        </p:nvSpPr>
        <p:spPr>
          <a:xfrm>
            <a:off x="3751117" y="595355"/>
            <a:ext cx="4426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what you will be doing on your desks!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E19EF8-D91C-4605-B568-CEAC2E620963}"/>
              </a:ext>
            </a:extLst>
          </p:cNvPr>
          <p:cNvSpPr txBox="1"/>
          <p:nvPr/>
        </p:nvSpPr>
        <p:spPr>
          <a:xfrm>
            <a:off x="5517573" y="3382241"/>
            <a:ext cx="20158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0" dirty="0"/>
              <a:t>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EA4586-321B-4E38-A8B4-7BA88DFF7731}"/>
              </a:ext>
            </a:extLst>
          </p:cNvPr>
          <p:cNvSpPr txBox="1"/>
          <p:nvPr/>
        </p:nvSpPr>
        <p:spPr>
          <a:xfrm>
            <a:off x="1433945" y="1101436"/>
            <a:ext cx="3252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FF0000"/>
                </a:solidFill>
              </a:rPr>
              <a:t>3x=9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6B7A316-C49F-4355-AEEF-069420FE3CA1}"/>
              </a:ext>
            </a:extLst>
          </p:cNvPr>
          <p:cNvSpPr/>
          <p:nvPr/>
        </p:nvSpPr>
        <p:spPr>
          <a:xfrm>
            <a:off x="1858669" y="3000909"/>
            <a:ext cx="914400" cy="893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/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C00580-9CC0-4EF3-9CD2-973219387A1C}"/>
              </a:ext>
            </a:extLst>
          </p:cNvPr>
          <p:cNvSpPr/>
          <p:nvPr/>
        </p:nvSpPr>
        <p:spPr>
          <a:xfrm>
            <a:off x="7128163" y="2884977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C75E0A-D4A5-441A-977B-B58BE4B48624}"/>
              </a:ext>
            </a:extLst>
          </p:cNvPr>
          <p:cNvSpPr/>
          <p:nvPr/>
        </p:nvSpPr>
        <p:spPr>
          <a:xfrm>
            <a:off x="7642513" y="2892224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904580-C619-467B-878C-53DAEB334C67}"/>
              </a:ext>
            </a:extLst>
          </p:cNvPr>
          <p:cNvSpPr/>
          <p:nvPr/>
        </p:nvSpPr>
        <p:spPr>
          <a:xfrm>
            <a:off x="7116257" y="3447718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A42CF1-BCA1-464F-A3A7-3A009617B4E7}"/>
              </a:ext>
            </a:extLst>
          </p:cNvPr>
          <p:cNvSpPr/>
          <p:nvPr/>
        </p:nvSpPr>
        <p:spPr>
          <a:xfrm>
            <a:off x="7642513" y="3447718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F2FCC5-BED6-48AB-AD45-739DF18E8FE3}"/>
              </a:ext>
            </a:extLst>
          </p:cNvPr>
          <p:cNvSpPr/>
          <p:nvPr/>
        </p:nvSpPr>
        <p:spPr>
          <a:xfrm>
            <a:off x="9598170" y="3172778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A77125-6D02-4CC8-B6E2-C4489601C739}"/>
              </a:ext>
            </a:extLst>
          </p:cNvPr>
          <p:cNvSpPr/>
          <p:nvPr/>
        </p:nvSpPr>
        <p:spPr>
          <a:xfrm>
            <a:off x="8252982" y="3431506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4961D4-D182-4DEC-97DE-866F60E03763}"/>
              </a:ext>
            </a:extLst>
          </p:cNvPr>
          <p:cNvSpPr/>
          <p:nvPr/>
        </p:nvSpPr>
        <p:spPr>
          <a:xfrm>
            <a:off x="8914534" y="3425533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7D0A76-FBD3-471E-82DF-FA05D8D597B1}"/>
              </a:ext>
            </a:extLst>
          </p:cNvPr>
          <p:cNvSpPr/>
          <p:nvPr/>
        </p:nvSpPr>
        <p:spPr>
          <a:xfrm>
            <a:off x="8899813" y="2892224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0A86B8-B219-45B7-B07D-60B0EBBD5BEE}"/>
              </a:ext>
            </a:extLst>
          </p:cNvPr>
          <p:cNvSpPr/>
          <p:nvPr/>
        </p:nvSpPr>
        <p:spPr>
          <a:xfrm>
            <a:off x="8245186" y="2890098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1E7979-2DEE-467B-978A-12E9B30A56B7}"/>
              </a:ext>
            </a:extLst>
          </p:cNvPr>
          <p:cNvSpPr txBox="1"/>
          <p:nvPr/>
        </p:nvSpPr>
        <p:spPr>
          <a:xfrm>
            <a:off x="9598170" y="1920359"/>
            <a:ext cx="2276695" cy="9233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We have to share the 9 cubes between the 3 x’s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AB32752-9288-45DD-979E-E00D6A5F40C0}"/>
              </a:ext>
            </a:extLst>
          </p:cNvPr>
          <p:cNvSpPr/>
          <p:nvPr/>
        </p:nvSpPr>
        <p:spPr>
          <a:xfrm>
            <a:off x="3132855" y="3000909"/>
            <a:ext cx="914400" cy="893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/>
              <a:t>X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6FA8EC5-CC90-44FA-889F-F0AE8E9BB487}"/>
              </a:ext>
            </a:extLst>
          </p:cNvPr>
          <p:cNvSpPr/>
          <p:nvPr/>
        </p:nvSpPr>
        <p:spPr>
          <a:xfrm>
            <a:off x="4293175" y="3000909"/>
            <a:ext cx="914400" cy="893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736512-2B7E-4F0C-A1AF-9F645BF451F2}"/>
              </a:ext>
            </a:extLst>
          </p:cNvPr>
          <p:cNvSpPr txBox="1"/>
          <p:nvPr/>
        </p:nvSpPr>
        <p:spPr>
          <a:xfrm>
            <a:off x="8759536" y="964687"/>
            <a:ext cx="324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operation is </a:t>
            </a:r>
            <a:r>
              <a:rPr lang="en-AU" b="1" dirty="0"/>
              <a:t>sharing</a:t>
            </a:r>
            <a:r>
              <a:rPr lang="en-AU" dirty="0"/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9CA4CD-2914-40D3-B4E0-0DE46F7FD91F}"/>
              </a:ext>
            </a:extLst>
          </p:cNvPr>
          <p:cNvSpPr txBox="1"/>
          <p:nvPr/>
        </p:nvSpPr>
        <p:spPr>
          <a:xfrm>
            <a:off x="11481410" y="778270"/>
            <a:ext cx="769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÷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69A4D5-7009-454F-8EA9-90C44DB3ED49}"/>
              </a:ext>
            </a:extLst>
          </p:cNvPr>
          <p:cNvSpPr txBox="1"/>
          <p:nvPr/>
        </p:nvSpPr>
        <p:spPr>
          <a:xfrm>
            <a:off x="9598170" y="4043960"/>
            <a:ext cx="1138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÷ 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062643-84B5-4CAD-B05D-5003BEF77D4A}"/>
              </a:ext>
            </a:extLst>
          </p:cNvPr>
          <p:cNvSpPr txBox="1"/>
          <p:nvPr/>
        </p:nvSpPr>
        <p:spPr>
          <a:xfrm>
            <a:off x="1190077" y="4011504"/>
            <a:ext cx="1138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÷ 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85AED6A-EC0D-4058-8D4A-EAFE8CC8BF67}"/>
              </a:ext>
            </a:extLst>
          </p:cNvPr>
          <p:cNvSpPr/>
          <p:nvPr/>
        </p:nvSpPr>
        <p:spPr>
          <a:xfrm>
            <a:off x="4151596" y="4722916"/>
            <a:ext cx="914400" cy="893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/>
              <a:t>X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298292F-A93B-4EC3-825E-62B5C1C72969}"/>
              </a:ext>
            </a:extLst>
          </p:cNvPr>
          <p:cNvSpPr/>
          <p:nvPr/>
        </p:nvSpPr>
        <p:spPr>
          <a:xfrm>
            <a:off x="6602567" y="5046546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F1316BC-80EA-4BE8-8D81-820EFCD749A1}"/>
              </a:ext>
            </a:extLst>
          </p:cNvPr>
          <p:cNvSpPr/>
          <p:nvPr/>
        </p:nvSpPr>
        <p:spPr>
          <a:xfrm>
            <a:off x="7181418" y="5040507"/>
            <a:ext cx="368876" cy="344864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35EB293-870F-420D-B2C3-74863EB849D9}"/>
              </a:ext>
            </a:extLst>
          </p:cNvPr>
          <p:cNvSpPr/>
          <p:nvPr/>
        </p:nvSpPr>
        <p:spPr>
          <a:xfrm>
            <a:off x="7711254" y="5040507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2204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 animBg="1"/>
      <p:bldP spid="29" grpId="0" animBg="1"/>
      <p:bldP spid="36" grpId="0" animBg="1"/>
      <p:bldP spid="37" grpId="0" animBg="1"/>
      <p:bldP spid="9" grpId="0"/>
      <p:bldP spid="11" grpId="0"/>
      <p:bldP spid="3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BC1F08-7EC3-415E-B689-0754EC02E888}"/>
              </a:ext>
            </a:extLst>
          </p:cNvPr>
          <p:cNvSpPr txBox="1"/>
          <p:nvPr/>
        </p:nvSpPr>
        <p:spPr>
          <a:xfrm>
            <a:off x="-3501736" y="111793"/>
            <a:ext cx="10120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Pairs Practice!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9DF64A-E949-4C24-8DB2-AB9D985843D5}"/>
              </a:ext>
            </a:extLst>
          </p:cNvPr>
          <p:cNvSpPr txBox="1"/>
          <p:nvPr/>
        </p:nvSpPr>
        <p:spPr>
          <a:xfrm>
            <a:off x="3013362" y="129553"/>
            <a:ext cx="8541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highlight>
                  <a:srgbClr val="FFFF00"/>
                </a:highlight>
              </a:rPr>
              <a:t>You will need: 1 dry erase marker, 15 counters, sticky notes and a tissue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E22FE5-826F-498A-81B7-429BD8C39791}"/>
              </a:ext>
            </a:extLst>
          </p:cNvPr>
          <p:cNvSpPr/>
          <p:nvPr/>
        </p:nvSpPr>
        <p:spPr>
          <a:xfrm>
            <a:off x="904009" y="2514600"/>
            <a:ext cx="4634345" cy="33147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4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FF2646-33A6-4C94-963C-E685F0C48C68}"/>
              </a:ext>
            </a:extLst>
          </p:cNvPr>
          <p:cNvSpPr/>
          <p:nvPr/>
        </p:nvSpPr>
        <p:spPr>
          <a:xfrm>
            <a:off x="6180848" y="2514600"/>
            <a:ext cx="4634345" cy="33147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14075-3BC5-4C16-A89A-2AD8B244E3B3}"/>
              </a:ext>
            </a:extLst>
          </p:cNvPr>
          <p:cNvSpPr txBox="1"/>
          <p:nvPr/>
        </p:nvSpPr>
        <p:spPr>
          <a:xfrm>
            <a:off x="3751117" y="595355"/>
            <a:ext cx="4426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what you will be doing on your desks!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E19EF8-D91C-4605-B568-CEAC2E620963}"/>
              </a:ext>
            </a:extLst>
          </p:cNvPr>
          <p:cNvSpPr txBox="1"/>
          <p:nvPr/>
        </p:nvSpPr>
        <p:spPr>
          <a:xfrm>
            <a:off x="5517573" y="3382241"/>
            <a:ext cx="20158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0" dirty="0"/>
              <a:t>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EA4586-321B-4E38-A8B4-7BA88DFF7731}"/>
              </a:ext>
            </a:extLst>
          </p:cNvPr>
          <p:cNvSpPr txBox="1"/>
          <p:nvPr/>
        </p:nvSpPr>
        <p:spPr>
          <a:xfrm>
            <a:off x="1433945" y="1101436"/>
            <a:ext cx="3252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FF0000"/>
                </a:solidFill>
              </a:rPr>
              <a:t>3x=9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6B7A316-C49F-4355-AEEF-069420FE3CA1}"/>
              </a:ext>
            </a:extLst>
          </p:cNvPr>
          <p:cNvSpPr/>
          <p:nvPr/>
        </p:nvSpPr>
        <p:spPr>
          <a:xfrm>
            <a:off x="1858669" y="3000909"/>
            <a:ext cx="914400" cy="893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/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C00580-9CC0-4EF3-9CD2-973219387A1C}"/>
              </a:ext>
            </a:extLst>
          </p:cNvPr>
          <p:cNvSpPr/>
          <p:nvPr/>
        </p:nvSpPr>
        <p:spPr>
          <a:xfrm>
            <a:off x="7128163" y="2884977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C75E0A-D4A5-441A-977B-B58BE4B48624}"/>
              </a:ext>
            </a:extLst>
          </p:cNvPr>
          <p:cNvSpPr/>
          <p:nvPr/>
        </p:nvSpPr>
        <p:spPr>
          <a:xfrm>
            <a:off x="7642513" y="2892224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904580-C619-467B-878C-53DAEB334C67}"/>
              </a:ext>
            </a:extLst>
          </p:cNvPr>
          <p:cNvSpPr/>
          <p:nvPr/>
        </p:nvSpPr>
        <p:spPr>
          <a:xfrm>
            <a:off x="7116257" y="3447718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A42CF1-BCA1-464F-A3A7-3A009617B4E7}"/>
              </a:ext>
            </a:extLst>
          </p:cNvPr>
          <p:cNvSpPr/>
          <p:nvPr/>
        </p:nvSpPr>
        <p:spPr>
          <a:xfrm>
            <a:off x="7642513" y="3447718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F2FCC5-BED6-48AB-AD45-739DF18E8FE3}"/>
              </a:ext>
            </a:extLst>
          </p:cNvPr>
          <p:cNvSpPr/>
          <p:nvPr/>
        </p:nvSpPr>
        <p:spPr>
          <a:xfrm>
            <a:off x="9598170" y="3172778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A77125-6D02-4CC8-B6E2-C4489601C739}"/>
              </a:ext>
            </a:extLst>
          </p:cNvPr>
          <p:cNvSpPr/>
          <p:nvPr/>
        </p:nvSpPr>
        <p:spPr>
          <a:xfrm>
            <a:off x="8252982" y="3431506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4961D4-D182-4DEC-97DE-866F60E03763}"/>
              </a:ext>
            </a:extLst>
          </p:cNvPr>
          <p:cNvSpPr/>
          <p:nvPr/>
        </p:nvSpPr>
        <p:spPr>
          <a:xfrm>
            <a:off x="8914534" y="3425533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7D0A76-FBD3-471E-82DF-FA05D8D597B1}"/>
              </a:ext>
            </a:extLst>
          </p:cNvPr>
          <p:cNvSpPr/>
          <p:nvPr/>
        </p:nvSpPr>
        <p:spPr>
          <a:xfrm>
            <a:off x="8899813" y="2892224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0A86B8-B219-45B7-B07D-60B0EBBD5BEE}"/>
              </a:ext>
            </a:extLst>
          </p:cNvPr>
          <p:cNvSpPr/>
          <p:nvPr/>
        </p:nvSpPr>
        <p:spPr>
          <a:xfrm>
            <a:off x="8245186" y="2890098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1E7979-2DEE-467B-978A-12E9B30A56B7}"/>
              </a:ext>
            </a:extLst>
          </p:cNvPr>
          <p:cNvSpPr txBox="1"/>
          <p:nvPr/>
        </p:nvSpPr>
        <p:spPr>
          <a:xfrm>
            <a:off x="9598170" y="1920359"/>
            <a:ext cx="2276695" cy="9233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We have to share the 9 cubes between the 3 x’s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AB32752-9288-45DD-979E-E00D6A5F40C0}"/>
              </a:ext>
            </a:extLst>
          </p:cNvPr>
          <p:cNvSpPr/>
          <p:nvPr/>
        </p:nvSpPr>
        <p:spPr>
          <a:xfrm>
            <a:off x="3132855" y="3000909"/>
            <a:ext cx="914400" cy="893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/>
              <a:t>X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6FA8EC5-CC90-44FA-889F-F0AE8E9BB487}"/>
              </a:ext>
            </a:extLst>
          </p:cNvPr>
          <p:cNvSpPr/>
          <p:nvPr/>
        </p:nvSpPr>
        <p:spPr>
          <a:xfrm>
            <a:off x="4293175" y="3000909"/>
            <a:ext cx="914400" cy="893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736512-2B7E-4F0C-A1AF-9F645BF451F2}"/>
              </a:ext>
            </a:extLst>
          </p:cNvPr>
          <p:cNvSpPr txBox="1"/>
          <p:nvPr/>
        </p:nvSpPr>
        <p:spPr>
          <a:xfrm>
            <a:off x="8759536" y="964687"/>
            <a:ext cx="324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operation is </a:t>
            </a:r>
            <a:r>
              <a:rPr lang="en-AU" b="1" dirty="0"/>
              <a:t>sharing</a:t>
            </a:r>
            <a:r>
              <a:rPr lang="en-AU" dirty="0"/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9CA4CD-2914-40D3-B4E0-0DE46F7FD91F}"/>
              </a:ext>
            </a:extLst>
          </p:cNvPr>
          <p:cNvSpPr txBox="1"/>
          <p:nvPr/>
        </p:nvSpPr>
        <p:spPr>
          <a:xfrm>
            <a:off x="11481410" y="778270"/>
            <a:ext cx="769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÷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69A4D5-7009-454F-8EA9-90C44DB3ED49}"/>
              </a:ext>
            </a:extLst>
          </p:cNvPr>
          <p:cNvSpPr txBox="1"/>
          <p:nvPr/>
        </p:nvSpPr>
        <p:spPr>
          <a:xfrm>
            <a:off x="9598170" y="4043960"/>
            <a:ext cx="1138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÷ 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062643-84B5-4CAD-B05D-5003BEF77D4A}"/>
              </a:ext>
            </a:extLst>
          </p:cNvPr>
          <p:cNvSpPr txBox="1"/>
          <p:nvPr/>
        </p:nvSpPr>
        <p:spPr>
          <a:xfrm>
            <a:off x="1190077" y="4011504"/>
            <a:ext cx="1138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÷ 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85AED6A-EC0D-4058-8D4A-EAFE8CC8BF67}"/>
              </a:ext>
            </a:extLst>
          </p:cNvPr>
          <p:cNvSpPr/>
          <p:nvPr/>
        </p:nvSpPr>
        <p:spPr>
          <a:xfrm>
            <a:off x="4151596" y="4722916"/>
            <a:ext cx="914400" cy="893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/>
              <a:t>X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298292F-A93B-4EC3-825E-62B5C1C72969}"/>
              </a:ext>
            </a:extLst>
          </p:cNvPr>
          <p:cNvSpPr/>
          <p:nvPr/>
        </p:nvSpPr>
        <p:spPr>
          <a:xfrm>
            <a:off x="6602567" y="5046546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F1316BC-80EA-4BE8-8D81-820EFCD749A1}"/>
              </a:ext>
            </a:extLst>
          </p:cNvPr>
          <p:cNvSpPr/>
          <p:nvPr/>
        </p:nvSpPr>
        <p:spPr>
          <a:xfrm>
            <a:off x="7181418" y="5040507"/>
            <a:ext cx="368876" cy="344864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35EB293-870F-420D-B2C3-74863EB849D9}"/>
              </a:ext>
            </a:extLst>
          </p:cNvPr>
          <p:cNvSpPr/>
          <p:nvPr/>
        </p:nvSpPr>
        <p:spPr>
          <a:xfrm>
            <a:off x="7711254" y="5040507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31E393-9208-405A-89F8-1FD4E160DFEE}"/>
              </a:ext>
            </a:extLst>
          </p:cNvPr>
          <p:cNvSpPr txBox="1"/>
          <p:nvPr/>
        </p:nvSpPr>
        <p:spPr>
          <a:xfrm>
            <a:off x="2913782" y="544488"/>
            <a:ext cx="5689889" cy="17543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numCol="2" rtlCol="0">
            <a:spAutoFit/>
          </a:bodyPr>
          <a:lstStyle/>
          <a:p>
            <a:r>
              <a:rPr lang="en-AU" dirty="0"/>
              <a:t>Try these : </a:t>
            </a:r>
          </a:p>
          <a:p>
            <a:pPr marL="342900" indent="-342900">
              <a:buAutoNum type="arabicPeriod"/>
            </a:pPr>
            <a:r>
              <a:rPr lang="en-AU" dirty="0"/>
              <a:t>4x = 12</a:t>
            </a:r>
          </a:p>
          <a:p>
            <a:pPr marL="342900" indent="-342900">
              <a:buAutoNum type="arabicPeriod"/>
            </a:pPr>
            <a:r>
              <a:rPr lang="en-AU" dirty="0"/>
              <a:t>3y = 15</a:t>
            </a:r>
          </a:p>
          <a:p>
            <a:pPr marL="342900" indent="-342900">
              <a:buAutoNum type="arabicPeriod"/>
            </a:pPr>
            <a:r>
              <a:rPr lang="en-AU" dirty="0"/>
              <a:t>2a = 14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dirty="0"/>
              <a:t>Extension: </a:t>
            </a:r>
          </a:p>
          <a:p>
            <a:r>
              <a:rPr lang="en-AU" dirty="0"/>
              <a:t>(you wont be able to do these with your counters)</a:t>
            </a:r>
          </a:p>
          <a:p>
            <a:r>
              <a:rPr lang="en-AU" dirty="0"/>
              <a:t> 8x = 20  </a:t>
            </a:r>
          </a:p>
          <a:p>
            <a:r>
              <a:rPr lang="en-AU" sz="1600" dirty="0"/>
              <a:t>4x = 24</a:t>
            </a:r>
          </a:p>
        </p:txBody>
      </p:sp>
    </p:spTree>
    <p:extLst>
      <p:ext uri="{BB962C8B-B14F-4D97-AF65-F5344CB8AC3E}">
        <p14:creationId xmlns:p14="http://schemas.microsoft.com/office/powerpoint/2010/main" val="1333409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 animBg="1"/>
      <p:bldP spid="29" grpId="0" animBg="1"/>
      <p:bldP spid="36" grpId="0" animBg="1"/>
      <p:bldP spid="37" grpId="0" animBg="1"/>
      <p:bldP spid="9" grpId="0"/>
      <p:bldP spid="11" grpId="0"/>
      <p:bldP spid="39" grpId="0" animBg="1"/>
      <p:bldP spid="40" grpId="0" animBg="1"/>
      <p:bldP spid="41" grpId="0" animBg="1"/>
      <p:bldP spid="42" grpId="0" animBg="1"/>
      <p:bldP spid="3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BC1F08-7EC3-415E-B689-0754EC02E888}"/>
              </a:ext>
            </a:extLst>
          </p:cNvPr>
          <p:cNvSpPr txBox="1"/>
          <p:nvPr/>
        </p:nvSpPr>
        <p:spPr>
          <a:xfrm>
            <a:off x="-3501736" y="111793"/>
            <a:ext cx="10120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Pairs Practice!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9DF64A-E949-4C24-8DB2-AB9D985843D5}"/>
              </a:ext>
            </a:extLst>
          </p:cNvPr>
          <p:cNvSpPr txBox="1"/>
          <p:nvPr/>
        </p:nvSpPr>
        <p:spPr>
          <a:xfrm>
            <a:off x="3013362" y="129553"/>
            <a:ext cx="8541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highlight>
                  <a:srgbClr val="FFFF00"/>
                </a:highlight>
              </a:rPr>
              <a:t>You will need: 1 dry erase marker, 15 counters, sticky notes and a tissue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E22FE5-826F-498A-81B7-429BD8C39791}"/>
              </a:ext>
            </a:extLst>
          </p:cNvPr>
          <p:cNvSpPr/>
          <p:nvPr/>
        </p:nvSpPr>
        <p:spPr>
          <a:xfrm>
            <a:off x="904009" y="2514600"/>
            <a:ext cx="4634345" cy="33147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4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FF2646-33A6-4C94-963C-E685F0C48C68}"/>
              </a:ext>
            </a:extLst>
          </p:cNvPr>
          <p:cNvSpPr/>
          <p:nvPr/>
        </p:nvSpPr>
        <p:spPr>
          <a:xfrm>
            <a:off x="6180848" y="2514600"/>
            <a:ext cx="4634345" cy="33147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14075-3BC5-4C16-A89A-2AD8B244E3B3}"/>
              </a:ext>
            </a:extLst>
          </p:cNvPr>
          <p:cNvSpPr txBox="1"/>
          <p:nvPr/>
        </p:nvSpPr>
        <p:spPr>
          <a:xfrm>
            <a:off x="3751117" y="595355"/>
            <a:ext cx="4426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what you will be doing on your desks!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E19EF8-D91C-4605-B568-CEAC2E620963}"/>
              </a:ext>
            </a:extLst>
          </p:cNvPr>
          <p:cNvSpPr txBox="1"/>
          <p:nvPr/>
        </p:nvSpPr>
        <p:spPr>
          <a:xfrm>
            <a:off x="5517573" y="3382241"/>
            <a:ext cx="20158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0" dirty="0"/>
              <a:t>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EA4586-321B-4E38-A8B4-7BA88DFF7731}"/>
              </a:ext>
            </a:extLst>
          </p:cNvPr>
          <p:cNvSpPr txBox="1"/>
          <p:nvPr/>
        </p:nvSpPr>
        <p:spPr>
          <a:xfrm>
            <a:off x="1433945" y="1101436"/>
            <a:ext cx="3252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FF0000"/>
                </a:solidFill>
              </a:rPr>
              <a:t>3x=9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6B7A316-C49F-4355-AEEF-069420FE3CA1}"/>
              </a:ext>
            </a:extLst>
          </p:cNvPr>
          <p:cNvSpPr/>
          <p:nvPr/>
        </p:nvSpPr>
        <p:spPr>
          <a:xfrm>
            <a:off x="1858669" y="3000909"/>
            <a:ext cx="914400" cy="893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/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C00580-9CC0-4EF3-9CD2-973219387A1C}"/>
              </a:ext>
            </a:extLst>
          </p:cNvPr>
          <p:cNvSpPr/>
          <p:nvPr/>
        </p:nvSpPr>
        <p:spPr>
          <a:xfrm>
            <a:off x="7128163" y="2884977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C75E0A-D4A5-441A-977B-B58BE4B48624}"/>
              </a:ext>
            </a:extLst>
          </p:cNvPr>
          <p:cNvSpPr/>
          <p:nvPr/>
        </p:nvSpPr>
        <p:spPr>
          <a:xfrm>
            <a:off x="7642513" y="2892224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904580-C619-467B-878C-53DAEB334C67}"/>
              </a:ext>
            </a:extLst>
          </p:cNvPr>
          <p:cNvSpPr/>
          <p:nvPr/>
        </p:nvSpPr>
        <p:spPr>
          <a:xfrm>
            <a:off x="7116257" y="3447718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A42CF1-BCA1-464F-A3A7-3A009617B4E7}"/>
              </a:ext>
            </a:extLst>
          </p:cNvPr>
          <p:cNvSpPr/>
          <p:nvPr/>
        </p:nvSpPr>
        <p:spPr>
          <a:xfrm>
            <a:off x="7642513" y="3447718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F2FCC5-BED6-48AB-AD45-739DF18E8FE3}"/>
              </a:ext>
            </a:extLst>
          </p:cNvPr>
          <p:cNvSpPr/>
          <p:nvPr/>
        </p:nvSpPr>
        <p:spPr>
          <a:xfrm>
            <a:off x="9598170" y="3172778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A77125-6D02-4CC8-B6E2-C4489601C739}"/>
              </a:ext>
            </a:extLst>
          </p:cNvPr>
          <p:cNvSpPr/>
          <p:nvPr/>
        </p:nvSpPr>
        <p:spPr>
          <a:xfrm>
            <a:off x="8252982" y="3431506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4961D4-D182-4DEC-97DE-866F60E03763}"/>
              </a:ext>
            </a:extLst>
          </p:cNvPr>
          <p:cNvSpPr/>
          <p:nvPr/>
        </p:nvSpPr>
        <p:spPr>
          <a:xfrm>
            <a:off x="8914534" y="3425533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7D0A76-FBD3-471E-82DF-FA05D8D597B1}"/>
              </a:ext>
            </a:extLst>
          </p:cNvPr>
          <p:cNvSpPr/>
          <p:nvPr/>
        </p:nvSpPr>
        <p:spPr>
          <a:xfrm>
            <a:off x="8899813" y="2892224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0A86B8-B219-45B7-B07D-60B0EBBD5BEE}"/>
              </a:ext>
            </a:extLst>
          </p:cNvPr>
          <p:cNvSpPr/>
          <p:nvPr/>
        </p:nvSpPr>
        <p:spPr>
          <a:xfrm>
            <a:off x="8245186" y="2890098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1E7979-2DEE-467B-978A-12E9B30A56B7}"/>
              </a:ext>
            </a:extLst>
          </p:cNvPr>
          <p:cNvSpPr txBox="1"/>
          <p:nvPr/>
        </p:nvSpPr>
        <p:spPr>
          <a:xfrm>
            <a:off x="9598170" y="1920359"/>
            <a:ext cx="2276695" cy="9233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We have to share the 9 cubes between the 3 x’s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AB32752-9288-45DD-979E-E00D6A5F40C0}"/>
              </a:ext>
            </a:extLst>
          </p:cNvPr>
          <p:cNvSpPr/>
          <p:nvPr/>
        </p:nvSpPr>
        <p:spPr>
          <a:xfrm>
            <a:off x="3132855" y="3000909"/>
            <a:ext cx="914400" cy="893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/>
              <a:t>X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6FA8EC5-CC90-44FA-889F-F0AE8E9BB487}"/>
              </a:ext>
            </a:extLst>
          </p:cNvPr>
          <p:cNvSpPr/>
          <p:nvPr/>
        </p:nvSpPr>
        <p:spPr>
          <a:xfrm>
            <a:off x="4293175" y="3000909"/>
            <a:ext cx="914400" cy="893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736512-2B7E-4F0C-A1AF-9F645BF451F2}"/>
              </a:ext>
            </a:extLst>
          </p:cNvPr>
          <p:cNvSpPr txBox="1"/>
          <p:nvPr/>
        </p:nvSpPr>
        <p:spPr>
          <a:xfrm>
            <a:off x="8759536" y="964687"/>
            <a:ext cx="324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operation is </a:t>
            </a:r>
            <a:r>
              <a:rPr lang="en-AU" b="1" dirty="0"/>
              <a:t>sharing</a:t>
            </a:r>
            <a:r>
              <a:rPr lang="en-AU" dirty="0"/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9CA4CD-2914-40D3-B4E0-0DE46F7FD91F}"/>
              </a:ext>
            </a:extLst>
          </p:cNvPr>
          <p:cNvSpPr txBox="1"/>
          <p:nvPr/>
        </p:nvSpPr>
        <p:spPr>
          <a:xfrm>
            <a:off x="11481410" y="778270"/>
            <a:ext cx="769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÷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69A4D5-7009-454F-8EA9-90C44DB3ED49}"/>
              </a:ext>
            </a:extLst>
          </p:cNvPr>
          <p:cNvSpPr txBox="1"/>
          <p:nvPr/>
        </p:nvSpPr>
        <p:spPr>
          <a:xfrm>
            <a:off x="9598170" y="4043960"/>
            <a:ext cx="1138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÷ 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062643-84B5-4CAD-B05D-5003BEF77D4A}"/>
              </a:ext>
            </a:extLst>
          </p:cNvPr>
          <p:cNvSpPr txBox="1"/>
          <p:nvPr/>
        </p:nvSpPr>
        <p:spPr>
          <a:xfrm>
            <a:off x="1190077" y="4011504"/>
            <a:ext cx="1138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÷ 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85AED6A-EC0D-4058-8D4A-EAFE8CC8BF67}"/>
              </a:ext>
            </a:extLst>
          </p:cNvPr>
          <p:cNvSpPr/>
          <p:nvPr/>
        </p:nvSpPr>
        <p:spPr>
          <a:xfrm>
            <a:off x="4151596" y="4722916"/>
            <a:ext cx="914400" cy="893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/>
              <a:t>X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298292F-A93B-4EC3-825E-62B5C1C72969}"/>
              </a:ext>
            </a:extLst>
          </p:cNvPr>
          <p:cNvSpPr/>
          <p:nvPr/>
        </p:nvSpPr>
        <p:spPr>
          <a:xfrm>
            <a:off x="6602567" y="5046546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F1316BC-80EA-4BE8-8D81-820EFCD749A1}"/>
              </a:ext>
            </a:extLst>
          </p:cNvPr>
          <p:cNvSpPr/>
          <p:nvPr/>
        </p:nvSpPr>
        <p:spPr>
          <a:xfrm>
            <a:off x="7181418" y="5040507"/>
            <a:ext cx="368876" cy="344864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35EB293-870F-420D-B2C3-74863EB849D9}"/>
              </a:ext>
            </a:extLst>
          </p:cNvPr>
          <p:cNvSpPr/>
          <p:nvPr/>
        </p:nvSpPr>
        <p:spPr>
          <a:xfrm>
            <a:off x="7711254" y="5040507"/>
            <a:ext cx="368876" cy="343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31E393-9208-405A-89F8-1FD4E160DFEE}"/>
              </a:ext>
            </a:extLst>
          </p:cNvPr>
          <p:cNvSpPr txBox="1"/>
          <p:nvPr/>
        </p:nvSpPr>
        <p:spPr>
          <a:xfrm>
            <a:off x="2965738" y="642553"/>
            <a:ext cx="5689889" cy="17543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numCol="2" rtlCol="0">
            <a:spAutoFit/>
          </a:bodyPr>
          <a:lstStyle/>
          <a:p>
            <a:r>
              <a:rPr lang="en-AU" dirty="0"/>
              <a:t>Try these : </a:t>
            </a:r>
          </a:p>
          <a:p>
            <a:pPr marL="342900" indent="-342900">
              <a:buAutoNum type="arabicPeriod"/>
            </a:pPr>
            <a:r>
              <a:rPr lang="en-AU" dirty="0"/>
              <a:t>4x = 12  </a:t>
            </a:r>
            <a:r>
              <a:rPr lang="en-AU" b="1" dirty="0">
                <a:solidFill>
                  <a:srgbClr val="FF0000"/>
                </a:solidFill>
              </a:rPr>
              <a:t>x = 3</a:t>
            </a:r>
          </a:p>
          <a:p>
            <a:pPr marL="342900" indent="-342900">
              <a:buAutoNum type="arabicPeriod"/>
            </a:pPr>
            <a:r>
              <a:rPr lang="en-AU" dirty="0"/>
              <a:t>3y = 15   </a:t>
            </a:r>
            <a:r>
              <a:rPr lang="en-AU" b="1" dirty="0">
                <a:solidFill>
                  <a:srgbClr val="FF0000"/>
                </a:solidFill>
              </a:rPr>
              <a:t>y = 5</a:t>
            </a:r>
          </a:p>
          <a:p>
            <a:pPr marL="342900" indent="-342900">
              <a:buAutoNum type="arabicPeriod"/>
            </a:pPr>
            <a:r>
              <a:rPr lang="en-AU" dirty="0"/>
              <a:t>2a = 14   </a:t>
            </a:r>
            <a:r>
              <a:rPr lang="en-AU" b="1" dirty="0">
                <a:solidFill>
                  <a:srgbClr val="FF0000"/>
                </a:solidFill>
              </a:rPr>
              <a:t>a = 7 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dirty="0"/>
              <a:t>Extension: </a:t>
            </a:r>
          </a:p>
          <a:p>
            <a:r>
              <a:rPr lang="en-AU" dirty="0"/>
              <a:t>(you wont be able to do these with your counters)</a:t>
            </a:r>
          </a:p>
          <a:p>
            <a:r>
              <a:rPr lang="en-AU" dirty="0"/>
              <a:t> 8x = 20  </a:t>
            </a:r>
          </a:p>
          <a:p>
            <a:r>
              <a:rPr lang="en-AU" dirty="0"/>
              <a:t>4x = 24</a:t>
            </a:r>
          </a:p>
        </p:txBody>
      </p:sp>
    </p:spTree>
    <p:extLst>
      <p:ext uri="{BB962C8B-B14F-4D97-AF65-F5344CB8AC3E}">
        <p14:creationId xmlns:p14="http://schemas.microsoft.com/office/powerpoint/2010/main" val="234490973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2715</TotalTime>
  <Words>663</Words>
  <Application>Microsoft Office PowerPoint</Application>
  <PresentationFormat>Widescreen</PresentationFormat>
  <Paragraphs>155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Calibri Light</vt:lpstr>
      <vt:lpstr>Retrospect</vt:lpstr>
      <vt:lpstr>Warm Up</vt:lpstr>
      <vt:lpstr>Balancing Equations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Adding and Subtracting Integers</dc:title>
  <dc:creator>E4092707</dc:creator>
  <cp:lastModifiedBy>E4092707</cp:lastModifiedBy>
  <cp:revision>21</cp:revision>
  <dcterms:created xsi:type="dcterms:W3CDTF">2017-07-19T07:13:19Z</dcterms:created>
  <dcterms:modified xsi:type="dcterms:W3CDTF">2017-09-10T23:25:04Z</dcterms:modified>
</cp:coreProperties>
</file>
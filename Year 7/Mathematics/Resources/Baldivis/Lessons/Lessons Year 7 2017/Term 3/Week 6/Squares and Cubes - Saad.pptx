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50" r:id="rId2"/>
    <p:sldId id="260" r:id="rId3"/>
    <p:sldId id="259" r:id="rId4"/>
    <p:sldId id="345" r:id="rId5"/>
    <p:sldId id="303" r:id="rId6"/>
    <p:sldId id="343" r:id="rId7"/>
    <p:sldId id="336" r:id="rId8"/>
    <p:sldId id="338" r:id="rId9"/>
    <p:sldId id="339" r:id="rId10"/>
    <p:sldId id="347" r:id="rId11"/>
    <p:sldId id="346" r:id="rId12"/>
    <p:sldId id="335" r:id="rId13"/>
    <p:sldId id="348" r:id="rId14"/>
    <p:sldId id="349" r:id="rId15"/>
    <p:sldId id="344" r:id="rId16"/>
    <p:sldId id="29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10A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3" d="100"/>
          <a:sy n="63" d="100"/>
        </p:scale>
        <p:origin x="150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</a:t>
            </a:r>
            <a:r>
              <a:rPr lang="en-AU" baseline="0" dirty="0"/>
              <a:t> students do they know what 2^2 and 4^3 is called?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4174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117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Explain</a:t>
            </a:r>
            <a:r>
              <a:rPr lang="en-AU" baseline="0" dirty="0"/>
              <a:t> to students why it is called a square number. 2 squared is creating a square which is 2 unit squares in length. How many unit squares do I have in hear.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4678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Handout square</a:t>
            </a:r>
            <a:r>
              <a:rPr lang="en-AU" baseline="0" dirty="0"/>
              <a:t> graph paper to students to solve this. Ask students to do this without the calculator.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3627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Handout square</a:t>
            </a:r>
            <a:r>
              <a:rPr lang="en-AU" baseline="0" dirty="0"/>
              <a:t> graph paper to students to solve this. Ask students to do this without the calculator.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6DE00-3598-450D-9FD4-B3F4D33F029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061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Explain</a:t>
            </a:r>
            <a:r>
              <a:rPr lang="en-AU" baseline="0" dirty="0"/>
              <a:t> to students why it is called a square number. 2 squared is creating a square which is 2 unit squares in length. How many unit squares do I have in hear.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6DE00-3598-450D-9FD4-B3F4D33F029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883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Handout square</a:t>
            </a:r>
            <a:r>
              <a:rPr lang="en-AU" baseline="0" dirty="0"/>
              <a:t> graph paper to students to solve this. Ask students to do this without the calculator.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6DE00-3598-450D-9FD4-B3F4D33F029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3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18/08/2017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 Now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this numbers in expanded form and </a:t>
            </a:r>
            <a:r>
              <a:rPr lang="en-AU" i="1" dirty="0"/>
              <a:t>evaluate</a:t>
            </a:r>
          </a:p>
          <a:p>
            <a:pPr marL="0" indent="0">
              <a:buNone/>
            </a:pPr>
            <a:r>
              <a:rPr lang="en-AU" dirty="0"/>
              <a:t>2</a:t>
            </a:r>
            <a:r>
              <a:rPr lang="en-AU" baseline="30000" dirty="0"/>
              <a:t>2</a:t>
            </a:r>
          </a:p>
          <a:p>
            <a:pPr marL="0" indent="0">
              <a:buNone/>
            </a:pPr>
            <a:r>
              <a:rPr lang="en-AU" dirty="0"/>
              <a:t>3</a:t>
            </a:r>
            <a:r>
              <a:rPr lang="en-AU" baseline="30000" dirty="0"/>
              <a:t>5</a:t>
            </a:r>
          </a:p>
          <a:p>
            <a:pPr marL="0" indent="0">
              <a:buNone/>
            </a:pPr>
            <a:r>
              <a:rPr lang="en-AU" dirty="0"/>
              <a:t>5</a:t>
            </a:r>
            <a:r>
              <a:rPr lang="en-AU" baseline="30000" dirty="0"/>
              <a:t>4</a:t>
            </a:r>
          </a:p>
          <a:p>
            <a:pPr marL="0" indent="0">
              <a:buNone/>
            </a:pPr>
            <a:r>
              <a:rPr lang="en-AU" dirty="0"/>
              <a:t>4</a:t>
            </a:r>
            <a:r>
              <a:rPr lang="en-AU" baseline="30000" dirty="0"/>
              <a:t>3</a:t>
            </a:r>
          </a:p>
          <a:p>
            <a:pPr marL="0" indent="0">
              <a:buNone/>
            </a:pPr>
            <a:r>
              <a:rPr lang="en-AU" dirty="0"/>
              <a:t>1</a:t>
            </a:r>
            <a:r>
              <a:rPr lang="en-AU" baseline="30000" dirty="0"/>
              <a:t>6</a:t>
            </a:r>
            <a:endParaRPr lang="en-A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1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Number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Tasks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3378" y="946268"/>
            <a:ext cx="38164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 the following tasks on this side (left) of your page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Have YOU been doing your summaries?</a:t>
            </a: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Your book, your responsibility!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sp>
        <p:nvSpPr>
          <p:cNvPr id="21" name="Right Arrow 20"/>
          <p:cNvSpPr/>
          <p:nvPr/>
        </p:nvSpPr>
        <p:spPr>
          <a:xfrm rot="13196492">
            <a:off x="4569761" y="536610"/>
            <a:ext cx="2290349" cy="1304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05190" y="1785590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should be ticking these off!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054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1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relationship between squaring  a number and finding the square root?  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4118" y="2019994"/>
            <a:ext cx="2929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square number?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5726408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value when a number is multiplied by itself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a:rPr kumimoji="0" lang="en-A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= 2× 2 = </m:t>
                      </m:r>
                      <m:r>
                        <a:rPr kumimoji="0" lang="en-A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</m:t>
                      </m:r>
                      <m:r>
                        <a:rPr kumimoji="0" lang="en-A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4 is a square number</a:t>
                </a: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5726408" cy="1169551"/>
              </a:xfrm>
              <a:prstGeom prst="rect">
                <a:avLst/>
              </a:prstGeom>
              <a:blipFill>
                <a:blip r:embed="rId3"/>
                <a:stretch>
                  <a:fillRect l="-1065" t="-2604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</a:t>
            </a:r>
            <a:r>
              <a:rPr kumimoji="0" lang="en-AU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squared and cubed numbers.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clrChange>
              <a:clrFrom>
                <a:srgbClr val="DCE9D6"/>
              </a:clrFrom>
              <a:clrTo>
                <a:srgbClr val="DCE9D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74280" y="2963953"/>
            <a:ext cx="4570709" cy="176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36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Calculate the following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9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Calculate the following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04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Calculate the following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×7=49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×8=64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=9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×9=81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=10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×10=100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×11=121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×12=144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698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Calculate the following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6995120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3×4=12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𝐴𝑛𝑠𝑤𝑒𝑟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=1225 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6995120" cy="45259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88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4118" y="2019994"/>
            <a:ext cx="2929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square number?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5726408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value when a number is multiplied by itself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a:rPr kumimoji="0" lang="en-A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= 2× 2 = </m:t>
                      </m:r>
                      <m:r>
                        <a:rPr kumimoji="0" lang="en-A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</m:t>
                      </m:r>
                      <m:r>
                        <a:rPr kumimoji="0" lang="en-A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4 is a square number</a:t>
                </a: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5726408" cy="1169551"/>
              </a:xfrm>
              <a:prstGeom prst="rect">
                <a:avLst/>
              </a:prstGeom>
              <a:blipFill>
                <a:blip r:embed="rId3"/>
                <a:stretch>
                  <a:fillRect l="-1065" t="-2604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are squared and cubed numbers.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clrChange>
              <a:clrFrom>
                <a:srgbClr val="DCE9D6"/>
              </a:clrFrom>
              <a:clrTo>
                <a:srgbClr val="DCE9D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74280" y="2963953"/>
            <a:ext cx="4570709" cy="17611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93631" y="4479675"/>
            <a:ext cx="6029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To square any two digit number ending in 5:</a:t>
            </a:r>
          </a:p>
          <a:p>
            <a:r>
              <a:rPr lang="en-AU" sz="2000" i="1" dirty="0"/>
              <a:t>First digit × (first digit + 1) then attach 25 to the answer.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48152" y="5244305"/>
                <a:ext cx="60297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For</a:t>
                </a:r>
                <a:r>
                  <a:rPr kumimoji="0" lang="en-AU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example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baseline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AU" sz="2400" i="1" baseline="3000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AU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1×</m:t>
                          </m:r>
                          <m:r>
                            <a:rPr lang="en-AU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2=2</m:t>
                          </m:r>
                        </m:e>
                      </m:d>
                      <m:r>
                        <a:rPr lang="en-AU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𝐴𝑛𝑠𝑤𝑒𝑟</m:t>
                      </m:r>
                      <m:r>
                        <a:rPr lang="en-AU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=225</m:t>
                      </m:r>
                    </m:oMath>
                  </m:oMathPara>
                </a14:m>
                <a:endParaRPr lang="en-AU" sz="2400" b="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  <m:sup>
                          <m:r>
                            <a:rPr lang="en-AU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AU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2×3=6</m:t>
                          </m:r>
                        </m:e>
                      </m:d>
                      <m:r>
                        <a:rPr lang="en-AU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𝐴𝑛𝑠𝑤𝑒𝑟</m:t>
                      </m:r>
                      <m:r>
                        <a:rPr lang="en-AU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=625  </m:t>
                      </m:r>
                    </m:oMath>
                  </m:oMathPara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152" y="5244305"/>
                <a:ext cx="6029720" cy="1200329"/>
              </a:xfrm>
              <a:prstGeom prst="rect">
                <a:avLst/>
              </a:prstGeom>
              <a:blipFill>
                <a:blip r:embed="rId5"/>
                <a:stretch>
                  <a:fillRect l="-1517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0" y="4525089"/>
            <a:ext cx="2929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Squaring Number ending with 5</a:t>
            </a:r>
          </a:p>
        </p:txBody>
      </p:sp>
    </p:spTree>
    <p:extLst>
      <p:ext uri="{BB962C8B-B14F-4D97-AF65-F5344CB8AC3E}">
        <p14:creationId xmlns:p14="http://schemas.microsoft.com/office/powerpoint/2010/main" val="3923013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4118" y="2019994"/>
            <a:ext cx="2929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3.2</a:t>
            </a:r>
            <a:r>
              <a:rPr lang="en-AU" sz="2000" baseline="30000" dirty="0"/>
              <a:t>2</a:t>
            </a:r>
            <a:r>
              <a:rPr lang="en-AU" sz="2000" dirty="0"/>
              <a:t> is between which two squares?</a:t>
            </a: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relationship between squaring  a number and finding the square root? 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clrChange>
              <a:clrFrom>
                <a:srgbClr val="D4EFFC"/>
              </a:clrFrom>
              <a:clrTo>
                <a:srgbClr val="D4EF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58170" y="2019994"/>
            <a:ext cx="3975159" cy="168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55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do these together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3.7</a:t>
            </a:r>
            <a:r>
              <a:rPr lang="en-AU" baseline="30000" dirty="0"/>
              <a:t>2</a:t>
            </a:r>
            <a:r>
              <a:rPr lang="en-AU" dirty="0"/>
              <a:t> is between which two squares?</a:t>
            </a:r>
          </a:p>
          <a:p>
            <a:endParaRPr lang="en-AU" dirty="0"/>
          </a:p>
          <a:p>
            <a:r>
              <a:rPr lang="en-AU" dirty="0"/>
              <a:t>4.5</a:t>
            </a:r>
            <a:r>
              <a:rPr lang="en-AU" baseline="30000" dirty="0"/>
              <a:t>2</a:t>
            </a:r>
            <a:r>
              <a:rPr lang="en-AU" dirty="0"/>
              <a:t> is between which two squares?</a:t>
            </a:r>
          </a:p>
          <a:p>
            <a:endParaRPr lang="en-AU" dirty="0"/>
          </a:p>
          <a:p>
            <a:r>
              <a:rPr lang="en-AU" dirty="0"/>
              <a:t>6.5</a:t>
            </a:r>
            <a:r>
              <a:rPr lang="en-AU" baseline="30000" dirty="0"/>
              <a:t>2 </a:t>
            </a:r>
            <a:r>
              <a:rPr lang="en-AU" dirty="0"/>
              <a:t>is between which two squares?</a:t>
            </a:r>
          </a:p>
          <a:p>
            <a:endParaRPr lang="en-AU" dirty="0"/>
          </a:p>
          <a:p>
            <a:r>
              <a:rPr lang="en-AU" dirty="0"/>
              <a:t>7.4</a:t>
            </a:r>
            <a:r>
              <a:rPr lang="en-AU" baseline="30000" dirty="0"/>
              <a:t>2</a:t>
            </a:r>
            <a:r>
              <a:rPr lang="en-AU" dirty="0"/>
              <a:t> is between which two squares?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563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4118" y="2019994"/>
            <a:ext cx="2929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3.2</a:t>
            </a:r>
            <a:r>
              <a:rPr kumimoji="0" lang="en-AU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between which two squares?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-2638" y="4407291"/>
            <a:ext cx="2779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cube number?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15816" y="4407291"/>
                <a:ext cx="639840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value when a number is multiplied by itself three times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a:rPr kumimoji="0" lang="en-AU" sz="20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p>
                      <m:r>
                        <a:rPr kumimoji="0" lang="en-AU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=2×2×2 =8 </m:t>
                      </m:r>
                    </m:oMath>
                  </m:oMathPara>
                </a14:m>
                <a:endPara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8 is a cube number</a:t>
                </a: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4407291"/>
                <a:ext cx="6398407" cy="1015663"/>
              </a:xfrm>
              <a:prstGeom prst="rect">
                <a:avLst/>
              </a:prstGeom>
              <a:blipFill>
                <a:blip r:embed="rId2"/>
                <a:stretch>
                  <a:fillRect l="-952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Describe the relationship between squaring  a number and finding the square root? 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clrChange>
              <a:clrFrom>
                <a:srgbClr val="DCE9D6"/>
              </a:clrFrom>
              <a:clrTo>
                <a:srgbClr val="DCE9D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95984" y="4915122"/>
            <a:ext cx="4248472" cy="197540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clrChange>
              <a:clrFrom>
                <a:srgbClr val="D4EFFC"/>
              </a:clrFrom>
              <a:clrTo>
                <a:srgbClr val="D4EF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58170" y="2019994"/>
            <a:ext cx="3975159" cy="168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6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Calculate the following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1×1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14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891</Words>
  <Application>Microsoft Office PowerPoint</Application>
  <PresentationFormat>On-screen Show (4:3)</PresentationFormat>
  <Paragraphs>190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 Math</vt:lpstr>
      <vt:lpstr>Office Theme</vt:lpstr>
      <vt:lpstr>Do Now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Calculate the following</vt:lpstr>
      <vt:lpstr>Calculate the following</vt:lpstr>
      <vt:lpstr>Calculate the following</vt:lpstr>
      <vt:lpstr>Calculate the following</vt:lpstr>
      <vt:lpstr>PowerPoint Presentation</vt:lpstr>
      <vt:lpstr>PowerPoint Presentation</vt:lpstr>
      <vt:lpstr>Let’s do these together</vt:lpstr>
      <vt:lpstr>PowerPoint Presentation</vt:lpstr>
      <vt:lpstr>Calculate the following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Saad Parekh</cp:lastModifiedBy>
  <cp:revision>87</cp:revision>
  <dcterms:created xsi:type="dcterms:W3CDTF">2014-05-14T02:58:57Z</dcterms:created>
  <dcterms:modified xsi:type="dcterms:W3CDTF">2017-08-18T08:42:42Z</dcterms:modified>
</cp:coreProperties>
</file>
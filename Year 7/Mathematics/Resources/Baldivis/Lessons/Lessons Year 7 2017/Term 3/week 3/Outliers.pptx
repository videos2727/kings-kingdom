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png&amp;ehk=pmNaYLPnd4RFLEo18CjPQw&amp;r=0&amp;pid=OfficeInsert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67" r:id="rId4"/>
    <p:sldId id="268" r:id="rId5"/>
    <p:sldId id="269" r:id="rId6"/>
    <p:sldId id="256" r:id="rId7"/>
    <p:sldId id="259" r:id="rId8"/>
    <p:sldId id="260" r:id="rId9"/>
    <p:sldId id="261" r:id="rId10"/>
    <p:sldId id="257" r:id="rId11"/>
    <p:sldId id="262" r:id="rId12"/>
    <p:sldId id="263" r:id="rId13"/>
    <p:sldId id="264" r:id="rId1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>
        <p:scale>
          <a:sx n="100" d="100"/>
          <a:sy n="100" d="100"/>
        </p:scale>
        <p:origin x="926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7/08/2017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&amp;ehk=pmNaYLPnd4RFLEo18CjPQw&amp;r=0&amp;pid=OfficeInsert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503068" y="267646"/>
            <a:ext cx="5380685" cy="4913953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F55D56-FD9C-434D-B9BC-71FB1A59EA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2" r="25771" b="4"/>
          <a:stretch/>
        </p:blipFill>
        <p:spPr>
          <a:xfrm>
            <a:off x="252663" y="267646"/>
            <a:ext cx="1283243" cy="16280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9FB919-2ED4-4C1B-A132-0297576222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29" r="18081" b="-3"/>
          <a:stretch/>
        </p:blipFill>
        <p:spPr>
          <a:xfrm>
            <a:off x="252662" y="2914185"/>
            <a:ext cx="2323353" cy="22773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0E38AD-1B6D-49D6-B258-2B97E7A2A3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12" r="25771" b="4"/>
          <a:stretch/>
        </p:blipFill>
        <p:spPr>
          <a:xfrm>
            <a:off x="1535906" y="267646"/>
            <a:ext cx="1283244" cy="1628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841CD4-337F-4676-85E1-C98A6FAEB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352" y="5062654"/>
            <a:ext cx="720591" cy="4779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CF633C-8D69-4127-B6E1-DA0FFAD810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752" y="5215054"/>
            <a:ext cx="720591" cy="4779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846416-7C11-4586-ABE8-CA1386A9E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26" y="1668932"/>
            <a:ext cx="3870794" cy="1120813"/>
          </a:xfrm>
        </p:spPr>
        <p:txBody>
          <a:bodyPr>
            <a:normAutofit/>
          </a:bodyPr>
          <a:lstStyle/>
          <a:p>
            <a:r>
              <a:rPr lang="en-AU" sz="2400" dirty="0">
                <a:latin typeface="Arial Black" panose="020B0A04020102020204" pitchFamily="34" charset="0"/>
              </a:rPr>
              <a:t>25 Cent Pyramid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EB254-2897-48C5-B79E-873230DC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203" y="396240"/>
            <a:ext cx="4662844" cy="4687206"/>
          </a:xfrm>
        </p:spPr>
        <p:txBody>
          <a:bodyPr>
            <a:normAutofit lnSpcReduction="10000"/>
          </a:bodyPr>
          <a:lstStyle/>
          <a:p>
            <a:pPr marL="457200" indent="-457200">
              <a:buAutoNum type="arabicPeriod"/>
            </a:pPr>
            <a:r>
              <a:rPr lang="en-AU" sz="1800" dirty="0"/>
              <a:t>Find a partner </a:t>
            </a:r>
          </a:p>
          <a:p>
            <a:pPr marL="457200" indent="-457200">
              <a:buAutoNum type="arabicPeriod"/>
            </a:pPr>
            <a:endParaRPr lang="en-AU" sz="1800" dirty="0"/>
          </a:p>
          <a:p>
            <a:pPr marL="457200" indent="-457200">
              <a:buAutoNum type="arabicPeriod"/>
            </a:pPr>
            <a:r>
              <a:rPr lang="en-AU" sz="1800" dirty="0"/>
              <a:t>Decide who is partner A and who is partner B</a:t>
            </a:r>
          </a:p>
          <a:p>
            <a:pPr marL="457200" indent="-457200">
              <a:buAutoNum type="arabicPeriod"/>
            </a:pPr>
            <a:endParaRPr lang="en-AU" sz="1800" dirty="0"/>
          </a:p>
          <a:p>
            <a:pPr marL="457200" indent="-457200">
              <a:buAutoNum type="arabicPeriod"/>
            </a:pPr>
            <a:r>
              <a:rPr lang="en-AU" sz="1800" dirty="0"/>
              <a:t>Partner A will turn their back to the board</a:t>
            </a:r>
          </a:p>
          <a:p>
            <a:pPr marL="457200" indent="-457200">
              <a:buAutoNum type="arabicPeriod"/>
            </a:pPr>
            <a:endParaRPr lang="en-AU" sz="1800" dirty="0"/>
          </a:p>
          <a:p>
            <a:pPr marL="457200" indent="-457200">
              <a:buAutoNum type="arabicPeriod"/>
            </a:pPr>
            <a:r>
              <a:rPr lang="en-AU" sz="1800" dirty="0"/>
              <a:t>A key word will show up on the board</a:t>
            </a:r>
          </a:p>
          <a:p>
            <a:pPr marL="457200" indent="-457200">
              <a:buAutoNum type="arabicPeriod"/>
            </a:pPr>
            <a:endParaRPr lang="en-AU" sz="1800" dirty="0"/>
          </a:p>
          <a:p>
            <a:pPr marL="457200" indent="-457200">
              <a:buAutoNum type="arabicPeriod"/>
            </a:pPr>
            <a:r>
              <a:rPr lang="en-AU" sz="1800" dirty="0"/>
              <a:t>Partner B will use strategies to try to get Partner A to guess the correct word on the board (without saying the word!)</a:t>
            </a:r>
          </a:p>
          <a:p>
            <a:pPr marL="457200" indent="-457200">
              <a:buAutoNum type="arabicPeriod"/>
            </a:pPr>
            <a:endParaRPr lang="en-AU" sz="1800" dirty="0"/>
          </a:p>
          <a:p>
            <a:pPr marL="457200" indent="-457200">
              <a:buAutoNum type="arabicPeriod"/>
            </a:pPr>
            <a:r>
              <a:rPr lang="en-AU" sz="1800" dirty="0"/>
              <a:t>Each round will have three words and then the partners will switch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C15333-3F74-4B0B-841F-1DF48BE3F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8352" y="5824654"/>
            <a:ext cx="720591" cy="47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66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01363-4A1D-413F-8F76-5EA65F603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7E2E5-6789-4700-85A4-30015EEA5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sz="4400" dirty="0"/>
              <a:t>Round 1</a:t>
            </a:r>
            <a:r>
              <a:rPr lang="en-AU" dirty="0"/>
              <a:t>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/>
              <a:t>(no saying the key word but can use any other words)</a:t>
            </a:r>
          </a:p>
          <a:p>
            <a:pPr marL="0" indent="0" algn="ctr">
              <a:buNone/>
            </a:pPr>
            <a:r>
              <a:rPr lang="en-AU" dirty="0"/>
              <a:t>And no writing!!</a:t>
            </a:r>
          </a:p>
          <a:p>
            <a:pPr marL="0" indent="0" algn="ctr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sz="5400" b="1" dirty="0">
                <a:solidFill>
                  <a:srgbClr val="7030A0"/>
                </a:solidFill>
              </a:rPr>
              <a:t>Good luck!</a:t>
            </a:r>
          </a:p>
        </p:txBody>
      </p:sp>
    </p:spTree>
    <p:extLst>
      <p:ext uri="{BB962C8B-B14F-4D97-AF65-F5344CB8AC3E}">
        <p14:creationId xmlns:p14="http://schemas.microsoft.com/office/powerpoint/2010/main" val="318807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303E0-8765-43BA-ABF1-6E6A7CFF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736494"/>
            <a:ext cx="7886700" cy="3626115"/>
          </a:xfrm>
        </p:spPr>
        <p:txBody>
          <a:bodyPr>
            <a:normAutofit fontScale="92500" lnSpcReduction="10000"/>
          </a:bodyPr>
          <a:lstStyle/>
          <a:p>
            <a:pPr marL="914400" indent="-914400">
              <a:buAutoNum type="arabicPeriod"/>
            </a:pPr>
            <a:r>
              <a:rPr lang="en-AU" sz="5400" dirty="0"/>
              <a:t>Integer</a:t>
            </a:r>
          </a:p>
          <a:p>
            <a:pPr marL="914400" indent="-914400">
              <a:buAutoNum type="arabicPeriod"/>
            </a:pPr>
            <a:endParaRPr lang="en-AU" sz="5400" dirty="0"/>
          </a:p>
          <a:p>
            <a:pPr marL="914400" indent="-914400">
              <a:buAutoNum type="arabicPeriod"/>
            </a:pPr>
            <a:r>
              <a:rPr lang="en-AU" sz="5400" dirty="0"/>
              <a:t>Median</a:t>
            </a:r>
          </a:p>
          <a:p>
            <a:pPr marL="914400" indent="-914400">
              <a:buAutoNum type="arabicPeriod"/>
            </a:pPr>
            <a:endParaRPr lang="en-AU" sz="5400" dirty="0"/>
          </a:p>
          <a:p>
            <a:pPr marL="914400" indent="-914400">
              <a:buAutoNum type="arabicPeriod"/>
            </a:pPr>
            <a:r>
              <a:rPr lang="en-AU" sz="5400" dirty="0"/>
              <a:t>Mode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313EB-8AAA-4AA8-A819-FB0ED6CC777D}"/>
              </a:ext>
            </a:extLst>
          </p:cNvPr>
          <p:cNvSpPr txBox="1"/>
          <p:nvPr/>
        </p:nvSpPr>
        <p:spPr>
          <a:xfrm>
            <a:off x="4739640" y="1478280"/>
            <a:ext cx="3985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How many did your team get right?</a:t>
            </a:r>
          </a:p>
        </p:txBody>
      </p:sp>
    </p:spTree>
    <p:extLst>
      <p:ext uri="{BB962C8B-B14F-4D97-AF65-F5344CB8AC3E}">
        <p14:creationId xmlns:p14="http://schemas.microsoft.com/office/powerpoint/2010/main" val="106870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9467-3881-4E5F-BE47-7244E70B4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573D4-79C6-444B-9A3D-FB9006543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dirty="0"/>
              <a:t>Switch!</a:t>
            </a:r>
          </a:p>
          <a:p>
            <a:pPr marL="0" indent="0" algn="ctr">
              <a:buNone/>
            </a:pPr>
            <a:endParaRPr lang="en-AU" sz="2800" dirty="0"/>
          </a:p>
          <a:p>
            <a:pPr marL="0" indent="0" algn="ctr">
              <a:buNone/>
            </a:pPr>
            <a:endParaRPr lang="en-AU" sz="2800" dirty="0"/>
          </a:p>
          <a:p>
            <a:pPr marL="0" indent="0" algn="ctr">
              <a:buNone/>
            </a:pPr>
            <a:r>
              <a:rPr lang="en-AU" sz="4000" b="1" dirty="0">
                <a:solidFill>
                  <a:srgbClr val="7030A0"/>
                </a:solidFill>
              </a:rPr>
              <a:t>Round 2</a:t>
            </a:r>
          </a:p>
          <a:p>
            <a:pPr marL="0" indent="0" algn="ctr">
              <a:buNone/>
            </a:pPr>
            <a:endParaRPr lang="en-AU" sz="2800" dirty="0"/>
          </a:p>
          <a:p>
            <a:pPr marL="0" indent="0" algn="ctr">
              <a:buNone/>
            </a:pPr>
            <a:r>
              <a:rPr lang="en-AU" sz="2800" dirty="0"/>
              <a:t>Partner B will now guess and Partner A will describe!</a:t>
            </a:r>
          </a:p>
        </p:txBody>
      </p:sp>
    </p:spTree>
    <p:extLst>
      <p:ext uri="{BB962C8B-B14F-4D97-AF65-F5344CB8AC3E}">
        <p14:creationId xmlns:p14="http://schemas.microsoft.com/office/powerpoint/2010/main" val="2023807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303E0-8765-43BA-ABF1-6E6A7CFF0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50" y="736494"/>
            <a:ext cx="7886700" cy="3626115"/>
          </a:xfrm>
        </p:spPr>
        <p:txBody>
          <a:bodyPr>
            <a:normAutofit fontScale="92500" lnSpcReduction="10000"/>
          </a:bodyPr>
          <a:lstStyle/>
          <a:p>
            <a:pPr marL="914400" indent="-914400">
              <a:buAutoNum type="arabicPeriod"/>
            </a:pPr>
            <a:r>
              <a:rPr lang="en-AU" sz="5400" dirty="0"/>
              <a:t>Range</a:t>
            </a:r>
          </a:p>
          <a:p>
            <a:pPr marL="914400" indent="-914400">
              <a:buAutoNum type="arabicPeriod"/>
            </a:pPr>
            <a:endParaRPr lang="en-AU" sz="5400" dirty="0"/>
          </a:p>
          <a:p>
            <a:pPr marL="914400" indent="-914400">
              <a:buAutoNum type="arabicPeriod"/>
            </a:pPr>
            <a:r>
              <a:rPr lang="en-AU" sz="5400" dirty="0"/>
              <a:t>Mean</a:t>
            </a:r>
          </a:p>
          <a:p>
            <a:pPr marL="914400" indent="-914400">
              <a:buAutoNum type="arabicPeriod"/>
            </a:pPr>
            <a:endParaRPr lang="en-AU" sz="5400" dirty="0"/>
          </a:p>
          <a:p>
            <a:pPr marL="914400" indent="-914400">
              <a:buAutoNum type="arabicPeriod"/>
            </a:pPr>
            <a:r>
              <a:rPr lang="en-AU" sz="5400" dirty="0"/>
              <a:t>Max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1313EB-8AAA-4AA8-A819-FB0ED6CC777D}"/>
              </a:ext>
            </a:extLst>
          </p:cNvPr>
          <p:cNvSpPr txBox="1"/>
          <p:nvPr/>
        </p:nvSpPr>
        <p:spPr>
          <a:xfrm>
            <a:off x="4739640" y="1478280"/>
            <a:ext cx="3985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How many did your team get right?</a:t>
            </a:r>
          </a:p>
        </p:txBody>
      </p:sp>
    </p:spTree>
    <p:extLst>
      <p:ext uri="{BB962C8B-B14F-4D97-AF65-F5344CB8AC3E}">
        <p14:creationId xmlns:p14="http://schemas.microsoft.com/office/powerpoint/2010/main" val="584868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7691" y="438803"/>
            <a:ext cx="7833575" cy="1379802"/>
          </a:xfrm>
        </p:spPr>
        <p:txBody>
          <a:bodyPr>
            <a:normAutofit fontScale="85000" lnSpcReduction="20000"/>
          </a:bodyPr>
          <a:lstStyle/>
          <a:p>
            <a:r>
              <a:rPr lang="en-AU" sz="3800" b="1" u="sng" dirty="0">
                <a:solidFill>
                  <a:srgbClr val="7030A0"/>
                </a:solidFill>
              </a:rPr>
              <a:t>Warmup!</a:t>
            </a:r>
          </a:p>
          <a:p>
            <a:endParaRPr lang="en-AU" sz="2400" dirty="0"/>
          </a:p>
          <a:p>
            <a:r>
              <a:rPr lang="en-AU" sz="2400" dirty="0"/>
              <a:t>Find the mean, mode, median and range of the following</a:t>
            </a:r>
          </a:p>
          <a:p>
            <a:r>
              <a:rPr lang="en-AU" sz="2400" dirty="0"/>
              <a:t>13, 13, 16, 19, 24</a:t>
            </a:r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144" y="374408"/>
            <a:ext cx="7833575" cy="4685272"/>
          </a:xfrm>
        </p:spPr>
        <p:txBody>
          <a:bodyPr>
            <a:normAutofit lnSpcReduction="10000"/>
          </a:bodyPr>
          <a:lstStyle/>
          <a:p>
            <a:r>
              <a:rPr lang="en-AU" sz="2400" dirty="0"/>
              <a:t>Find the mean, mode, median and range of the following</a:t>
            </a:r>
          </a:p>
          <a:p>
            <a:r>
              <a:rPr lang="en-AU" sz="2400" dirty="0"/>
              <a:t>13, 13, 16, 19, 24</a:t>
            </a:r>
          </a:p>
          <a:p>
            <a:endParaRPr lang="en-AU" sz="2400" dirty="0"/>
          </a:p>
          <a:p>
            <a:endParaRPr lang="en-AU" sz="2400" dirty="0"/>
          </a:p>
          <a:p>
            <a:pPr algn="l"/>
            <a:r>
              <a:rPr lang="en-AU" sz="2400" dirty="0"/>
              <a:t>Mean = (13+13+16+19+24) ÷ 5</a:t>
            </a:r>
          </a:p>
          <a:p>
            <a:pPr algn="l"/>
            <a:r>
              <a:rPr lang="en-AU" sz="2400" dirty="0"/>
              <a:t>           = 85 ÷ 5</a:t>
            </a:r>
          </a:p>
          <a:p>
            <a:pPr algn="l"/>
            <a:r>
              <a:rPr lang="en-AU" sz="2400" dirty="0"/>
              <a:t>           = 17</a:t>
            </a:r>
          </a:p>
          <a:p>
            <a:pPr algn="l"/>
            <a:endParaRPr lang="en-AU" sz="2400" dirty="0"/>
          </a:p>
          <a:p>
            <a:pPr algn="l"/>
            <a:r>
              <a:rPr lang="en-AU" sz="2400" dirty="0"/>
              <a:t>Mode = 13</a:t>
            </a:r>
          </a:p>
          <a:p>
            <a:pPr algn="l"/>
            <a:r>
              <a:rPr lang="en-AU" sz="2400" dirty="0"/>
              <a:t>Median =16</a:t>
            </a:r>
          </a:p>
          <a:p>
            <a:pPr algn="l"/>
            <a:r>
              <a:rPr lang="en-AU" sz="2400" dirty="0"/>
              <a:t>Range = 11</a:t>
            </a:r>
          </a:p>
        </p:txBody>
      </p:sp>
    </p:spTree>
    <p:extLst>
      <p:ext uri="{BB962C8B-B14F-4D97-AF65-F5344CB8AC3E}">
        <p14:creationId xmlns:p14="http://schemas.microsoft.com/office/powerpoint/2010/main" val="3990940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446" y="194104"/>
            <a:ext cx="7833575" cy="3618042"/>
          </a:xfrm>
        </p:spPr>
        <p:txBody>
          <a:bodyPr>
            <a:normAutofit fontScale="92500" lnSpcReduction="20000"/>
          </a:bodyPr>
          <a:lstStyle/>
          <a:p>
            <a:r>
              <a:rPr lang="en-AU" sz="2400" dirty="0"/>
              <a:t>Find the mean, mode, median and range of the following</a:t>
            </a:r>
          </a:p>
          <a:p>
            <a:r>
              <a:rPr lang="en-AU" sz="2400" dirty="0"/>
              <a:t>13, 13, 16, 19, 24</a:t>
            </a:r>
          </a:p>
          <a:p>
            <a:endParaRPr lang="en-AU" sz="2400" dirty="0"/>
          </a:p>
          <a:p>
            <a:endParaRPr lang="en-AU" sz="2400" dirty="0"/>
          </a:p>
          <a:p>
            <a:pPr algn="l"/>
            <a:r>
              <a:rPr lang="en-AU" sz="2400" dirty="0"/>
              <a:t>Mean = (13+13+16+19+24) ÷ 5</a:t>
            </a:r>
          </a:p>
          <a:p>
            <a:pPr algn="l"/>
            <a:r>
              <a:rPr lang="en-AU" sz="2400" dirty="0"/>
              <a:t>           = 85 ÷ 5</a:t>
            </a:r>
          </a:p>
          <a:p>
            <a:pPr algn="l"/>
            <a:r>
              <a:rPr lang="en-AU" sz="2400" dirty="0"/>
              <a:t>           = 17</a:t>
            </a:r>
          </a:p>
          <a:p>
            <a:pPr algn="l"/>
            <a:r>
              <a:rPr lang="en-AU" sz="2400" dirty="0"/>
              <a:t>Mode = 13</a:t>
            </a:r>
          </a:p>
          <a:p>
            <a:pPr algn="l"/>
            <a:r>
              <a:rPr lang="en-AU" sz="2400" dirty="0"/>
              <a:t>Median =16</a:t>
            </a:r>
          </a:p>
          <a:p>
            <a:pPr algn="l"/>
            <a:r>
              <a:rPr lang="en-AU" sz="2400" dirty="0"/>
              <a:t>Range = 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1261A3-AB53-468F-B74B-CBB27DE01D92}"/>
              </a:ext>
            </a:extLst>
          </p:cNvPr>
          <p:cNvSpPr txBox="1"/>
          <p:nvPr/>
        </p:nvSpPr>
        <p:spPr>
          <a:xfrm>
            <a:off x="4649274" y="1430704"/>
            <a:ext cx="4171997" cy="2677656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2400" dirty="0"/>
              <a:t>Now let’s add another number!</a:t>
            </a:r>
          </a:p>
          <a:p>
            <a:r>
              <a:rPr lang="en-AU" sz="2400" dirty="0"/>
              <a:t>13, 13, 16, 19, 24, </a:t>
            </a:r>
            <a:r>
              <a:rPr lang="en-AU" sz="2400" dirty="0">
                <a:solidFill>
                  <a:srgbClr val="FF0000"/>
                </a:solidFill>
              </a:rPr>
              <a:t>101</a:t>
            </a:r>
          </a:p>
          <a:p>
            <a:r>
              <a:rPr lang="en-AU" sz="2400" dirty="0"/>
              <a:t>What is our result now?</a:t>
            </a:r>
          </a:p>
          <a:p>
            <a:endParaRPr lang="en-AU" sz="2400" dirty="0">
              <a:solidFill>
                <a:srgbClr val="FF0000"/>
              </a:solidFill>
            </a:endParaRPr>
          </a:p>
          <a:p>
            <a:endParaRPr lang="en-AU" sz="2400" dirty="0">
              <a:solidFill>
                <a:srgbClr val="FF0000"/>
              </a:solidFill>
            </a:endParaRPr>
          </a:p>
          <a:p>
            <a:endParaRPr lang="en-AU" sz="2400" dirty="0"/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35816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961" y="181225"/>
            <a:ext cx="7833575" cy="3618042"/>
          </a:xfrm>
        </p:spPr>
        <p:txBody>
          <a:bodyPr>
            <a:normAutofit fontScale="92500" lnSpcReduction="20000"/>
          </a:bodyPr>
          <a:lstStyle/>
          <a:p>
            <a:r>
              <a:rPr lang="en-AU" sz="2400" dirty="0"/>
              <a:t>Find the mean, mode, median and range of the following</a:t>
            </a:r>
          </a:p>
          <a:p>
            <a:r>
              <a:rPr lang="en-AU" sz="2400" dirty="0"/>
              <a:t>13, 13, 16, 19, 24</a:t>
            </a:r>
          </a:p>
          <a:p>
            <a:endParaRPr lang="en-AU" sz="2400" dirty="0"/>
          </a:p>
          <a:p>
            <a:endParaRPr lang="en-AU" sz="2400" dirty="0"/>
          </a:p>
          <a:p>
            <a:pPr algn="l"/>
            <a:r>
              <a:rPr lang="en-AU" sz="2400" dirty="0"/>
              <a:t>Mean = (13+13+16+19+24) ÷ 5</a:t>
            </a:r>
          </a:p>
          <a:p>
            <a:pPr algn="l"/>
            <a:r>
              <a:rPr lang="en-AU" sz="2400" dirty="0"/>
              <a:t>           = 85 ÷ 5</a:t>
            </a:r>
          </a:p>
          <a:p>
            <a:pPr algn="l"/>
            <a:r>
              <a:rPr lang="en-AU" sz="2400" dirty="0"/>
              <a:t>           = 17</a:t>
            </a:r>
          </a:p>
          <a:p>
            <a:pPr algn="l"/>
            <a:r>
              <a:rPr lang="en-AU" sz="2400" dirty="0"/>
              <a:t>Mode = 13</a:t>
            </a:r>
          </a:p>
          <a:p>
            <a:pPr algn="l"/>
            <a:r>
              <a:rPr lang="en-AU" sz="2400" dirty="0"/>
              <a:t>Median =16</a:t>
            </a:r>
          </a:p>
          <a:p>
            <a:pPr algn="l"/>
            <a:r>
              <a:rPr lang="en-AU" sz="2400" dirty="0"/>
              <a:t>Range = 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1261A3-AB53-468F-B74B-CBB27DE01D92}"/>
              </a:ext>
            </a:extLst>
          </p:cNvPr>
          <p:cNvSpPr txBox="1"/>
          <p:nvPr/>
        </p:nvSpPr>
        <p:spPr>
          <a:xfrm>
            <a:off x="4468969" y="1353430"/>
            <a:ext cx="46750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Now let’s add another number!</a:t>
            </a:r>
          </a:p>
          <a:p>
            <a:r>
              <a:rPr lang="en-AU" sz="2400" dirty="0"/>
              <a:t>13, 13, 16, 19, 24, </a:t>
            </a:r>
            <a:r>
              <a:rPr lang="en-AU" sz="2400" dirty="0">
                <a:solidFill>
                  <a:srgbClr val="FF0000"/>
                </a:solidFill>
              </a:rPr>
              <a:t>101</a:t>
            </a:r>
          </a:p>
          <a:p>
            <a:r>
              <a:rPr lang="en-AU" sz="2400" dirty="0"/>
              <a:t>What is our result now?</a:t>
            </a:r>
          </a:p>
          <a:p>
            <a:endParaRPr lang="en-AU" sz="2400" dirty="0"/>
          </a:p>
          <a:p>
            <a:r>
              <a:rPr lang="en-AU" sz="2400" dirty="0"/>
              <a:t>Mean = (13+13+16+19+24+</a:t>
            </a:r>
            <a:r>
              <a:rPr lang="en-AU" sz="2400" dirty="0">
                <a:solidFill>
                  <a:srgbClr val="FF0000"/>
                </a:solidFill>
              </a:rPr>
              <a:t>101</a:t>
            </a:r>
            <a:r>
              <a:rPr lang="en-AU" sz="2400" dirty="0"/>
              <a:t>) ÷ 6</a:t>
            </a:r>
          </a:p>
          <a:p>
            <a:r>
              <a:rPr lang="en-AU" sz="2400" dirty="0"/>
              <a:t>           = 186 ÷ 6</a:t>
            </a:r>
          </a:p>
          <a:p>
            <a:r>
              <a:rPr lang="en-AU" sz="2400" dirty="0"/>
              <a:t>           = 31</a:t>
            </a:r>
          </a:p>
          <a:p>
            <a:r>
              <a:rPr lang="en-AU" sz="2400" dirty="0"/>
              <a:t>Mode = 13</a:t>
            </a:r>
          </a:p>
          <a:p>
            <a:r>
              <a:rPr lang="en-AU" sz="2400" dirty="0"/>
              <a:t>Median =17.5</a:t>
            </a:r>
          </a:p>
          <a:p>
            <a:r>
              <a:rPr lang="en-AU" sz="2400" dirty="0"/>
              <a:t>Range = 88</a:t>
            </a:r>
          </a:p>
          <a:p>
            <a:endParaRPr lang="en-AU" sz="2400" dirty="0"/>
          </a:p>
          <a:p>
            <a:endParaRPr lang="en-AU" sz="2400" dirty="0">
              <a:solidFill>
                <a:srgbClr val="FF0000"/>
              </a:solidFill>
            </a:endParaRPr>
          </a:p>
          <a:p>
            <a:endParaRPr lang="en-AU" sz="2400" dirty="0">
              <a:solidFill>
                <a:srgbClr val="FF0000"/>
              </a:solidFill>
            </a:endParaRPr>
          </a:p>
          <a:p>
            <a:endParaRPr lang="en-AU" sz="2400" dirty="0"/>
          </a:p>
          <a:p>
            <a:endParaRPr lang="en-AU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C5909-610B-4D4A-A9AD-16900206BFBB}"/>
              </a:ext>
            </a:extLst>
          </p:cNvPr>
          <p:cNvSpPr txBox="1"/>
          <p:nvPr/>
        </p:nvSpPr>
        <p:spPr>
          <a:xfrm>
            <a:off x="2756201" y="5207838"/>
            <a:ext cx="4050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4">
                    <a:lumMod val="40000"/>
                    <a:lumOff val="60000"/>
                  </a:schemeClr>
                </a:solidFill>
                <a:highlight>
                  <a:srgbClr val="FF0000"/>
                </a:highlight>
              </a:rPr>
              <a:t>So what has changed and by how much?</a:t>
            </a:r>
          </a:p>
        </p:txBody>
      </p:sp>
    </p:spTree>
    <p:extLst>
      <p:ext uri="{BB962C8B-B14F-4D97-AF65-F5344CB8AC3E}">
        <p14:creationId xmlns:p14="http://schemas.microsoft.com/office/powerpoint/2010/main" val="171944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Outliers	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85278" y="1362095"/>
            <a:ext cx="6858000" cy="402127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sz="2800" dirty="0"/>
              <a:t>An outlier is a piece of data that is a long way from the other data.</a:t>
            </a:r>
          </a:p>
          <a:p>
            <a:pPr algn="l"/>
            <a:endParaRPr lang="en-AU" sz="2800" dirty="0"/>
          </a:p>
          <a:p>
            <a:pPr algn="l"/>
            <a:r>
              <a:rPr lang="en-AU" sz="2800" dirty="0"/>
              <a:t>Outliers can be correct pieces of data or they could be mistakes, so it can be hard to decide if you should include the data.</a:t>
            </a:r>
          </a:p>
          <a:p>
            <a:pPr algn="l"/>
            <a:endParaRPr lang="en-AU" sz="2800" dirty="0"/>
          </a:p>
          <a:p>
            <a:pPr algn="l"/>
            <a:r>
              <a:rPr lang="en-AU" sz="2800" dirty="0"/>
              <a:t>Outliers generally only have small affect on the median and no effect on the mode. Outliers do have large affects on the mean and the range.</a:t>
            </a:r>
          </a:p>
          <a:p>
            <a:pPr algn="l"/>
            <a:endParaRPr lang="en-AU" sz="2800" dirty="0"/>
          </a:p>
          <a:p>
            <a:pPr algn="l"/>
            <a:r>
              <a:rPr lang="en-AU" sz="2800" dirty="0"/>
              <a:t>The mean shifts a long way toward the outlier on a number line. The median shifts only a little.  The range becomes much larger.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deal with Outliers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7E7E7-6422-4874-99C1-FC31615F02E6}"/>
              </a:ext>
            </a:extLst>
          </p:cNvPr>
          <p:cNvSpPr txBox="1"/>
          <p:nvPr/>
        </p:nvSpPr>
        <p:spPr>
          <a:xfrm>
            <a:off x="228415" y="1305079"/>
            <a:ext cx="1455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an outlier?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866A08-6BDA-44A9-ADB6-09BE48C425CD}"/>
              </a:ext>
            </a:extLst>
          </p:cNvPr>
          <p:cNvSpPr txBox="1"/>
          <p:nvPr/>
        </p:nvSpPr>
        <p:spPr>
          <a:xfrm>
            <a:off x="331554" y="3212176"/>
            <a:ext cx="1455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an outlier do?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205B0-C9C3-43C3-B2C6-9CAD0EAD8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216" y="385482"/>
            <a:ext cx="7886700" cy="5074024"/>
          </a:xfrm>
        </p:spPr>
        <p:txBody>
          <a:bodyPr>
            <a:normAutofit/>
          </a:bodyPr>
          <a:lstStyle/>
          <a:p>
            <a:r>
              <a:rPr lang="en-AU" dirty="0"/>
              <a:t>What are the outliers for:</a:t>
            </a:r>
            <a:br>
              <a:rPr lang="en-AU" dirty="0"/>
            </a:br>
            <a:r>
              <a:rPr lang="en-AU" dirty="0"/>
              <a:t>111, 21, 29, 19, 121, 25, 29, 27, 17</a:t>
            </a:r>
          </a:p>
          <a:p>
            <a:pPr marL="685800" lvl="2" indent="0">
              <a:buNone/>
            </a:pPr>
            <a:r>
              <a:rPr lang="en-AU" dirty="0">
                <a:solidFill>
                  <a:srgbClr val="FF0000"/>
                </a:solidFill>
              </a:rPr>
              <a:t>Organise the list  17, 19, 21, 25, 27, 29, 29, 111, 121 </a:t>
            </a:r>
          </a:p>
          <a:p>
            <a:r>
              <a:rPr lang="en-AU" dirty="0"/>
              <a:t>What is the mean, mode and median with the outlier?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Mean =  (17 + 19 + 21 + 25 + 27 + 29 + 29 + 111 + 121) </a:t>
            </a:r>
            <a:r>
              <a:rPr lang="ja-JP" altLang="en-US" dirty="0">
                <a:solidFill>
                  <a:srgbClr val="FF0000"/>
                </a:solidFill>
              </a:rPr>
              <a:t>÷</a:t>
            </a:r>
            <a:r>
              <a:rPr lang="en-AU" altLang="ja-JP" dirty="0">
                <a:solidFill>
                  <a:srgbClr val="FF0000"/>
                </a:solidFill>
              </a:rPr>
              <a:t> 9</a:t>
            </a:r>
          </a:p>
          <a:p>
            <a:pPr marL="0" indent="0">
              <a:buNone/>
            </a:pPr>
            <a:r>
              <a:rPr lang="en-AU" altLang="ja-JP" dirty="0">
                <a:solidFill>
                  <a:srgbClr val="FF0000"/>
                </a:solidFill>
              </a:rPr>
              <a:t>	= 399 ÷ 9 = 44.33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Mode = 29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Median = 27</a:t>
            </a:r>
          </a:p>
          <a:p>
            <a:r>
              <a:rPr lang="en-AU" dirty="0"/>
              <a:t>What is the mean mode and median without the outlier?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Mean =  (17 + 19 + 21 + 25 + 27 + 29 + 29) </a:t>
            </a:r>
            <a:r>
              <a:rPr lang="ja-JP" altLang="en-US" dirty="0">
                <a:solidFill>
                  <a:srgbClr val="FF0000"/>
                </a:solidFill>
              </a:rPr>
              <a:t>÷</a:t>
            </a:r>
            <a:r>
              <a:rPr lang="en-AU" altLang="ja-JP" dirty="0">
                <a:solidFill>
                  <a:srgbClr val="FF0000"/>
                </a:solidFill>
              </a:rPr>
              <a:t> 7</a:t>
            </a:r>
          </a:p>
          <a:p>
            <a:pPr marL="0" indent="0">
              <a:buNone/>
            </a:pPr>
            <a:r>
              <a:rPr lang="en-AU" altLang="ja-JP" dirty="0">
                <a:solidFill>
                  <a:srgbClr val="FF0000"/>
                </a:solidFill>
              </a:rPr>
              <a:t>	= 167 ÷ 7 = 23.86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Mode = 29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Median = 25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5843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953FE-B5C5-47D6-8321-7BED7DAB2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861" y="375134"/>
            <a:ext cx="7886700" cy="4967831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What are the outliers for:</a:t>
            </a:r>
            <a:br>
              <a:rPr lang="en-AU" dirty="0"/>
            </a:br>
            <a:r>
              <a:rPr lang="en-AU" dirty="0"/>
              <a:t>72, 3, 79, 59, 52, 55, 69, 67, 57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	Organise the data 3, 52, 55, 57, 59, 67, 69, 72, 79 </a:t>
            </a:r>
            <a:endParaRPr lang="en-AU" dirty="0"/>
          </a:p>
          <a:p>
            <a:r>
              <a:rPr lang="en-AU" dirty="0"/>
              <a:t>What is the mean, mode and median with the outlier?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	Mean = (3, 52, 55, 57, 59, 67, 69, 72, 79) ÷ 9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		= 513 ÷ 9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                 = 57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	mode = no mode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	median = 59</a:t>
            </a:r>
          </a:p>
          <a:p>
            <a:r>
              <a:rPr lang="en-AU" dirty="0"/>
              <a:t>What is the mean mode and median without the outlier?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	Mean = (52, 55, 57, 59, 67, 69, 72, 79) ÷ 8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		= 510 ÷ 8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                       	= 63.75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	mode = no mode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	median = (59 + 67) ÷ 2 = 63</a:t>
            </a:r>
          </a:p>
          <a:p>
            <a:pPr lvl="1"/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03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7ED422-91DB-4359-8193-41AE8DA8E96F}"/>
              </a:ext>
            </a:extLst>
          </p:cNvPr>
          <p:cNvSpPr txBox="1"/>
          <p:nvPr/>
        </p:nvSpPr>
        <p:spPr>
          <a:xfrm>
            <a:off x="2106706" y="1317813"/>
            <a:ext cx="5979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Complete the Worksheet on outliers</a:t>
            </a:r>
          </a:p>
        </p:txBody>
      </p:sp>
    </p:spTree>
    <p:extLst>
      <p:ext uri="{BB962C8B-B14F-4D97-AF65-F5344CB8AC3E}">
        <p14:creationId xmlns:p14="http://schemas.microsoft.com/office/powerpoint/2010/main" val="569042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916</TotalTime>
  <Words>509</Words>
  <Application>Microsoft Office PowerPoint</Application>
  <PresentationFormat>On-screen Show (16:10)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游ゴシック</vt:lpstr>
      <vt:lpstr>Arial</vt:lpstr>
      <vt:lpstr>Arial Black</vt:lpstr>
      <vt:lpstr>Calibri</vt:lpstr>
      <vt:lpstr>Calibri Light</vt:lpstr>
      <vt:lpstr>Office Theme</vt:lpstr>
      <vt:lpstr>25 Cent Pyramid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: Outliers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E4092707</cp:lastModifiedBy>
  <cp:revision>10</cp:revision>
  <dcterms:created xsi:type="dcterms:W3CDTF">2017-08-06T13:58:25Z</dcterms:created>
  <dcterms:modified xsi:type="dcterms:W3CDTF">2017-08-07T08:42:02Z</dcterms:modified>
</cp:coreProperties>
</file>
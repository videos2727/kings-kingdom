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269" r:id="rId3"/>
    <p:sldId id="257" r:id="rId4"/>
    <p:sldId id="260" r:id="rId5"/>
    <p:sldId id="266" r:id="rId6"/>
    <p:sldId id="264" r:id="rId7"/>
    <p:sldId id="268" r:id="rId8"/>
    <p:sldId id="262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9800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Non</a:t>
            </a:r>
            <a:r>
              <a:rPr lang="en-AU" baseline="0" dirty="0" smtClean="0"/>
              <a:t> ordered data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4086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27/07/2017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Data Collection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 err="1" smtClean="0"/>
              <a:t>Quickwrite</a:t>
            </a:r>
            <a:r>
              <a:rPr lang="en-AU" b="1" dirty="0" smtClean="0"/>
              <a:t>:</a:t>
            </a:r>
          </a:p>
          <a:p>
            <a:pPr marL="0" indent="0">
              <a:buNone/>
            </a:pPr>
            <a:r>
              <a:rPr lang="en-AU" dirty="0" smtClean="0"/>
              <a:t>What are the different ways we can measure someone’s height and how can we display this data?</a:t>
            </a:r>
          </a:p>
          <a:p>
            <a:pPr marL="0" indent="0">
              <a:buNone/>
            </a:pPr>
            <a:endParaRPr lang="en-AU" dirty="0" smtClean="0"/>
          </a:p>
        </p:txBody>
      </p:sp>
      <p:pic>
        <p:nvPicPr>
          <p:cNvPr id="4098" name="Picture 2" descr="C:\Users\e4075868\AppData\Local\Microsoft\Windows\Temporary Internet Files\Content.IE5\RP2BT71J\floral-152207_640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156" y="3899164"/>
            <a:ext cx="2450543" cy="2975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Collecting Heights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 smtClean="0"/>
              <a:t>Measure your heights</a:t>
            </a:r>
          </a:p>
          <a:p>
            <a:pPr marL="0" indent="0" algn="ctr">
              <a:buNone/>
            </a:pPr>
            <a:r>
              <a:rPr lang="en-AU" dirty="0" smtClean="0"/>
              <a:t>Record them on the board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 smtClean="0"/>
              <a:t>We will use this data later in the lesson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02172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 smtClean="0"/>
              <a:t>Display data in a stem and leaf plot</a:t>
            </a:r>
          </a:p>
          <a:p>
            <a:pPr marL="0" indent="0">
              <a:buNone/>
            </a:pPr>
            <a:r>
              <a:rPr lang="en-AU" dirty="0" smtClean="0"/>
              <a:t>- Read information from stem and leaf plots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07704" y="1700808"/>
            <a:ext cx="0" cy="53285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102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Stem and Leaf Plot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EQ- How </a:t>
            </a:r>
            <a:r>
              <a:rPr lang="en-AU" sz="2400" dirty="0"/>
              <a:t>can I represent data in a stem and leaf plot</a:t>
            </a:r>
            <a:endParaRPr lang="en-AU" sz="240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3405886" y="3241739"/>
            <a:ext cx="0" cy="20887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777585" y="3674352"/>
            <a:ext cx="3265828" cy="6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57228" y="1848637"/>
            <a:ext cx="45874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Put the following data into a stem and leaf plot</a:t>
            </a:r>
          </a:p>
          <a:p>
            <a:r>
              <a:rPr lang="en-AU" dirty="0" smtClean="0"/>
              <a:t>5, 6, 7, 8, 8, 10, 11, 11, 12, 15, 16, 17, 21, 23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2980021" y="3680745"/>
            <a:ext cx="301686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 smtClean="0"/>
              <a:t>0</a:t>
            </a:r>
          </a:p>
          <a:p>
            <a:pPr>
              <a:lnSpc>
                <a:spcPct val="150000"/>
              </a:lnSpc>
            </a:pPr>
            <a:r>
              <a:rPr lang="en-AU" dirty="0" smtClean="0"/>
              <a:t>1</a:t>
            </a:r>
          </a:p>
          <a:p>
            <a:pPr>
              <a:lnSpc>
                <a:spcPct val="150000"/>
              </a:lnSpc>
            </a:pPr>
            <a:r>
              <a:rPr lang="en-AU" dirty="0"/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1324" y="3638203"/>
            <a:ext cx="2273379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 smtClean="0"/>
              <a:t>5    6    7    8    8</a:t>
            </a:r>
            <a:br>
              <a:rPr lang="en-AU" dirty="0" smtClean="0"/>
            </a:br>
            <a:r>
              <a:rPr lang="en-AU" dirty="0" smtClean="0"/>
              <a:t>0    1    1    2    5    6    7</a:t>
            </a:r>
          </a:p>
          <a:p>
            <a:pPr>
              <a:lnSpc>
                <a:spcPct val="150000"/>
              </a:lnSpc>
            </a:pPr>
            <a:r>
              <a:rPr lang="en-AU" dirty="0" smtClean="0"/>
              <a:t>1    3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4614047" y="3268871"/>
            <a:ext cx="1429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Key: 2|3 = 23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549901" y="3311413"/>
            <a:ext cx="811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Leaves</a:t>
            </a:r>
            <a:endParaRPr lang="en-AU" dirty="0">
              <a:solidFill>
                <a:schemeClr val="tx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84622" y="3311413"/>
            <a:ext cx="664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tx2"/>
                </a:solidFill>
              </a:rPr>
              <a:t>Stem</a:t>
            </a:r>
            <a:endParaRPr lang="en-AU" dirty="0">
              <a:solidFill>
                <a:schemeClr val="tx2"/>
              </a:solidFill>
            </a:endParaRPr>
          </a:p>
        </p:txBody>
      </p:sp>
      <p:pic>
        <p:nvPicPr>
          <p:cNvPr id="1026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324" y="3690043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174" y="3703542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068" y="370738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5221" y="370738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031" y="3674352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040" y="4144013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603" y="4147859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331" y="4564739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603" y="4550612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20" y="4101471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910" y="4119439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100" y="4128997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3981" y="4147859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C:\Users\e4075868\AppData\Local\Microsoft\Windows\Temporary Internet Files\Content.IE5\4JPRA91W\Leaf_icon_15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386" y="4132938"/>
            <a:ext cx="361758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e4075868\AppData\Local\Microsoft\Windows\Temporary Internet Files\Content.IE5\JODDZX2B\dove-branch[1]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578277">
            <a:off x="1974213" y="4212339"/>
            <a:ext cx="1984803" cy="926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e4075868\AppData\Local\Microsoft\Windows\Temporary Internet Files\Content.IE5\JODDZX2B\Golden_key_icon.svg[1]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047" y="2778881"/>
            <a:ext cx="1709939" cy="1264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3281707" y="2945033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3648" y="404664"/>
            <a:ext cx="62646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/>
              <a:t>What does the circled numbers represent?</a:t>
            </a:r>
            <a:endParaRPr lang="en-AU" sz="40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720641"/>
            <a:ext cx="5456642" cy="3523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131840" y="5445224"/>
            <a:ext cx="3775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100                         68</a:t>
            </a:r>
            <a:endParaRPr lang="en-AU" sz="24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8257" y="1746185"/>
            <a:ext cx="133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Key: 5|2=52</a:t>
            </a:r>
            <a:endParaRPr lang="en-A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1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Stem and Leaf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I represent data in a stem and leaf plot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568670" y="2204864"/>
            <a:ext cx="624433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Putting data into a Stem and Leaf Plot</a:t>
            </a:r>
          </a:p>
          <a:p>
            <a:endParaRPr lang="en-AU" dirty="0" smtClean="0"/>
          </a:p>
          <a:p>
            <a:r>
              <a:rPr lang="en-AU" dirty="0" smtClean="0"/>
              <a:t>Step 1: Create your key and draw up your stem and leaf plot</a:t>
            </a:r>
          </a:p>
          <a:p>
            <a:endParaRPr lang="en-AU" dirty="0"/>
          </a:p>
          <a:p>
            <a:r>
              <a:rPr lang="en-AU" dirty="0" smtClean="0"/>
              <a:t>Step 2: Put the data into the stem and leaf plot</a:t>
            </a:r>
          </a:p>
          <a:p>
            <a:endParaRPr lang="en-AU" dirty="0"/>
          </a:p>
          <a:p>
            <a:r>
              <a:rPr lang="en-AU" dirty="0" smtClean="0"/>
              <a:t>Step 3: Rewrite the stem and leaf plot with the numbers in order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503094"/>
            <a:ext cx="70167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Put the following data into a stem and leaf plot</a:t>
            </a: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843808" y="1246262"/>
            <a:ext cx="2767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5, 12, 35, 23, 22, 26, 32, 18 </a:t>
            </a:r>
            <a:endParaRPr lang="en-AU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1835696" y="2204864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5616" y="2708920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96821" y="2721496"/>
            <a:ext cx="3016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0</a:t>
            </a:r>
          </a:p>
          <a:p>
            <a:endParaRPr lang="en-AU" dirty="0"/>
          </a:p>
          <a:p>
            <a:r>
              <a:rPr lang="en-AU" dirty="0" smtClean="0"/>
              <a:t>1</a:t>
            </a:r>
          </a:p>
          <a:p>
            <a:endParaRPr lang="en-AU" dirty="0"/>
          </a:p>
          <a:p>
            <a:r>
              <a:rPr lang="en-AU" dirty="0" smtClean="0"/>
              <a:t>2</a:t>
            </a:r>
          </a:p>
          <a:p>
            <a:endParaRPr lang="en-AU" dirty="0"/>
          </a:p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44377" y="2302567"/>
            <a:ext cx="1323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Key: 1|2=12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773132" y="1876182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Data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1979711" y="2740278"/>
            <a:ext cx="139974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5</a:t>
            </a:r>
          </a:p>
          <a:p>
            <a:endParaRPr lang="en-AU" dirty="0"/>
          </a:p>
          <a:p>
            <a:r>
              <a:rPr lang="en-AU" dirty="0" smtClean="0"/>
              <a:t>2     8   </a:t>
            </a:r>
          </a:p>
          <a:p>
            <a:endParaRPr lang="en-AU" dirty="0"/>
          </a:p>
          <a:p>
            <a:pPr marL="342900" indent="-342900">
              <a:buAutoNum type="arabicPlain" startAt="3"/>
            </a:pPr>
            <a:r>
              <a:rPr lang="en-AU" dirty="0" smtClean="0"/>
              <a:t>2      6      </a:t>
            </a:r>
          </a:p>
          <a:p>
            <a:pPr marL="342900" indent="-342900">
              <a:buAutoNum type="arabicPlain" startAt="3"/>
            </a:pPr>
            <a:endParaRPr lang="en-AU" dirty="0"/>
          </a:p>
          <a:p>
            <a:r>
              <a:rPr lang="en-AU" dirty="0" smtClean="0"/>
              <a:t>5     2</a:t>
            </a:r>
            <a:endParaRPr lang="en-AU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6006165" y="2374429"/>
            <a:ext cx="0" cy="273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286085" y="2878485"/>
            <a:ext cx="29523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67290" y="2891061"/>
            <a:ext cx="3016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0</a:t>
            </a:r>
          </a:p>
          <a:p>
            <a:endParaRPr lang="en-AU" dirty="0"/>
          </a:p>
          <a:p>
            <a:r>
              <a:rPr lang="en-AU" dirty="0" smtClean="0"/>
              <a:t>1</a:t>
            </a:r>
          </a:p>
          <a:p>
            <a:endParaRPr lang="en-AU" dirty="0"/>
          </a:p>
          <a:p>
            <a:r>
              <a:rPr lang="en-AU" dirty="0" smtClean="0"/>
              <a:t>2</a:t>
            </a:r>
          </a:p>
          <a:p>
            <a:endParaRPr lang="en-AU" dirty="0"/>
          </a:p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914846" y="2472132"/>
            <a:ext cx="1323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Key: 1|2=12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5943601" y="2045747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Data</a:t>
            </a:r>
            <a:endParaRPr lang="en-AU" dirty="0"/>
          </a:p>
        </p:txBody>
      </p:sp>
      <p:sp>
        <p:nvSpPr>
          <p:cNvPr id="23" name="TextBox 22"/>
          <p:cNvSpPr txBox="1"/>
          <p:nvPr/>
        </p:nvSpPr>
        <p:spPr>
          <a:xfrm>
            <a:off x="6150180" y="2909843"/>
            <a:ext cx="148790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5</a:t>
            </a:r>
          </a:p>
          <a:p>
            <a:endParaRPr lang="en-AU" dirty="0"/>
          </a:p>
          <a:p>
            <a:r>
              <a:rPr lang="en-AU" dirty="0" smtClean="0"/>
              <a:t>2     8   </a:t>
            </a:r>
          </a:p>
          <a:p>
            <a:endParaRPr lang="en-AU" dirty="0" smtClean="0"/>
          </a:p>
          <a:p>
            <a:r>
              <a:rPr lang="en-AU" dirty="0" smtClean="0"/>
              <a:t>2      3      6      </a:t>
            </a:r>
          </a:p>
          <a:p>
            <a:pPr marL="342900" indent="-342900">
              <a:buAutoNum type="arabicPlain" startAt="3"/>
            </a:pPr>
            <a:endParaRPr lang="en-AU" dirty="0"/>
          </a:p>
          <a:p>
            <a:r>
              <a:rPr lang="en-AU" dirty="0" smtClean="0"/>
              <a:t>2      5</a:t>
            </a:r>
            <a:endParaRPr lang="en-AU" dirty="0"/>
          </a:p>
        </p:txBody>
      </p:sp>
      <p:sp>
        <p:nvSpPr>
          <p:cNvPr id="24" name="Rectangle 23"/>
          <p:cNvSpPr/>
          <p:nvPr/>
        </p:nvSpPr>
        <p:spPr>
          <a:xfrm>
            <a:off x="2686541" y="5409162"/>
            <a:ext cx="2519448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The data has to be in ascending order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8858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20" grpId="0"/>
      <p:bldP spid="21" grpId="0"/>
      <p:bldP spid="22" grpId="0"/>
      <p:bldP spid="23" grpId="0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Practice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b="1" dirty="0" err="1" smtClean="0"/>
              <a:t>Pg</a:t>
            </a:r>
            <a:r>
              <a:rPr lang="en-AU" b="1" dirty="0" smtClean="0"/>
              <a:t> 195 in the Dwyer 7</a:t>
            </a:r>
            <a:r>
              <a:rPr lang="en-AU" b="1" dirty="0"/>
              <a:t> </a:t>
            </a:r>
            <a:endParaRPr lang="en-AU" b="1" dirty="0" smtClean="0"/>
          </a:p>
          <a:p>
            <a:pPr marL="0" indent="0" algn="ctr">
              <a:buNone/>
            </a:pPr>
            <a:r>
              <a:rPr lang="en-AU" b="1" dirty="0" smtClean="0"/>
              <a:t>Exercise 14.6</a:t>
            </a:r>
            <a:endParaRPr lang="en-AU" b="1" dirty="0" smtClean="0"/>
          </a:p>
        </p:txBody>
      </p:sp>
      <p:pic>
        <p:nvPicPr>
          <p:cNvPr id="3074" name="Picture 2" descr="C:\Users\e4075868\AppData\Local\Microsoft\Windows\Temporary Internet Files\Content.IE5\RP2BT71J\floral-152207_640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225824"/>
            <a:ext cx="3814307" cy="4632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e4075868\AppData\Local\Microsoft\Windows\Temporary Internet Files\Content.IE5\RP2BT71J\floral-152207_640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939882">
            <a:off x="-319924" y="1245490"/>
            <a:ext cx="5019675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Heights into stem and leaf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The heights recorded at the start of the lesson, put them into a stem and leaf plot.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This is your exit pass!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4733</TotalTime>
  <Words>359</Words>
  <Application>Microsoft Office PowerPoint</Application>
  <PresentationFormat>On-screen Show (4:3)</PresentationFormat>
  <Paragraphs>107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Data Collection</vt:lpstr>
      <vt:lpstr>Collecting Heights</vt:lpstr>
      <vt:lpstr>Lesson objective</vt:lpstr>
      <vt:lpstr>PowerPoint Presentation</vt:lpstr>
      <vt:lpstr>PowerPoint Presentation</vt:lpstr>
      <vt:lpstr>PowerPoint Presentation</vt:lpstr>
      <vt:lpstr>PowerPoint Presentation</vt:lpstr>
      <vt:lpstr>Practice</vt:lpstr>
      <vt:lpstr>Heights into stem and leaf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16</cp:revision>
  <dcterms:created xsi:type="dcterms:W3CDTF">2016-10-20T03:14:06Z</dcterms:created>
  <dcterms:modified xsi:type="dcterms:W3CDTF">2017-07-30T12:48:16Z</dcterms:modified>
</cp:coreProperties>
</file>
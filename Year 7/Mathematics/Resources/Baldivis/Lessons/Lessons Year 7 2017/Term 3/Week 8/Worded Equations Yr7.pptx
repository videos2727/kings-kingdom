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notesMasterIdLst>
    <p:notesMasterId r:id="rId23"/>
  </p:notesMasterIdLst>
  <p:sldIdLst>
    <p:sldId id="264" r:id="rId2"/>
    <p:sldId id="257" r:id="rId3"/>
    <p:sldId id="258" r:id="rId4"/>
    <p:sldId id="259" r:id="rId5"/>
    <p:sldId id="260" r:id="rId6"/>
    <p:sldId id="261" r:id="rId7"/>
    <p:sldId id="262" r:id="rId8"/>
    <p:sldId id="269" r:id="rId9"/>
    <p:sldId id="265" r:id="rId10"/>
    <p:sldId id="270" r:id="rId11"/>
    <p:sldId id="268" r:id="rId12"/>
    <p:sldId id="271" r:id="rId13"/>
    <p:sldId id="267" r:id="rId14"/>
    <p:sldId id="272" r:id="rId15"/>
    <p:sldId id="273" r:id="rId16"/>
    <p:sldId id="274" r:id="rId17"/>
    <p:sldId id="275" r:id="rId18"/>
    <p:sldId id="278" r:id="rId19"/>
    <p:sldId id="280" r:id="rId20"/>
    <p:sldId id="279" r:id="rId21"/>
    <p:sldId id="281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034" autoAdjust="0"/>
    <p:restoredTop sz="94660"/>
  </p:normalViewPr>
  <p:slideViewPr>
    <p:cSldViewPr snapToGrid="0">
      <p:cViewPr varScale="1">
        <p:scale>
          <a:sx n="66" d="100"/>
          <a:sy n="66" d="100"/>
        </p:scale>
        <p:origin x="18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45BDED-D2A5-48DA-AF19-052DE302E96A}" type="datetimeFigureOut">
              <a:rPr lang="en-AU" smtClean="0"/>
              <a:t>5/09/2017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623375-3DDF-4597-8D86-AADD2B16C1A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84942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80889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99960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88266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Guide students through the question.</a:t>
            </a:r>
          </a:p>
          <a:p>
            <a:r>
              <a:rPr lang="en-AU" dirty="0"/>
              <a:t>Option</a:t>
            </a:r>
            <a:r>
              <a:rPr lang="en-AU" baseline="0" dirty="0"/>
              <a:t> 2: Dot plots handout (Scaffolded for kids who may need </a:t>
            </a:r>
            <a:r>
              <a:rPr lang="en-AU" baseline="0"/>
              <a:t>extra help)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33801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Guide students through the question.</a:t>
            </a:r>
          </a:p>
          <a:p>
            <a:r>
              <a:rPr lang="en-AU" dirty="0"/>
              <a:t>Option</a:t>
            </a:r>
            <a:r>
              <a:rPr lang="en-AU" baseline="0" dirty="0"/>
              <a:t> 2: Dot plots handout (Scaffolded for kids who may need </a:t>
            </a:r>
            <a:r>
              <a:rPr lang="en-AU" baseline="0"/>
              <a:t>extra help)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888952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Guide students through the question.</a:t>
            </a:r>
          </a:p>
          <a:p>
            <a:r>
              <a:rPr lang="en-AU" dirty="0"/>
              <a:t>Option</a:t>
            </a:r>
            <a:r>
              <a:rPr lang="en-AU" baseline="0" dirty="0"/>
              <a:t> 2: Dot plots handout (Scaffolded for kids who may need </a:t>
            </a:r>
            <a:r>
              <a:rPr lang="en-AU" baseline="0"/>
              <a:t>extra help)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814016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Guide students through the question.</a:t>
            </a:r>
          </a:p>
          <a:p>
            <a:r>
              <a:rPr lang="en-AU" dirty="0"/>
              <a:t>Option</a:t>
            </a:r>
            <a:r>
              <a:rPr lang="en-AU" baseline="0" dirty="0"/>
              <a:t> 2: Dot plots handout (Scaffolded for kids who may need </a:t>
            </a:r>
            <a:r>
              <a:rPr lang="en-AU" baseline="0"/>
              <a:t>extra help)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855218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Guide students through the question.</a:t>
            </a:r>
          </a:p>
          <a:p>
            <a:r>
              <a:rPr lang="en-AU" dirty="0"/>
              <a:t>Option</a:t>
            </a:r>
            <a:r>
              <a:rPr lang="en-AU" baseline="0" dirty="0"/>
              <a:t> 2: Dot plots handout (Scaffolded for kids who may need </a:t>
            </a:r>
            <a:r>
              <a:rPr lang="en-AU" baseline="0"/>
              <a:t>extra help)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730586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Guide students through the question.</a:t>
            </a:r>
          </a:p>
          <a:p>
            <a:r>
              <a:rPr lang="en-AU" dirty="0"/>
              <a:t>Option</a:t>
            </a:r>
            <a:r>
              <a:rPr lang="en-AU" baseline="0" dirty="0"/>
              <a:t> 2: Dot plots handout (Scaffolded for kids who may need </a:t>
            </a:r>
            <a:r>
              <a:rPr lang="en-AU" baseline="0"/>
              <a:t>extra help)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779108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Guide students through the question.</a:t>
            </a:r>
          </a:p>
          <a:p>
            <a:r>
              <a:rPr lang="en-AU" dirty="0"/>
              <a:t>Option</a:t>
            </a:r>
            <a:r>
              <a:rPr lang="en-AU" baseline="0" dirty="0"/>
              <a:t> 2: Dot plots handout (Scaffolded for kids who may need </a:t>
            </a:r>
            <a:r>
              <a:rPr lang="en-AU" baseline="0"/>
              <a:t>extra help)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084349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131501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do with the students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623375-3DDF-4597-8D86-AADD2B16C1A3}" type="slidenum">
              <a:rPr lang="en-AU" smtClean="0"/>
              <a:t>20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012621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623375-3DDF-4597-8D86-AADD2B16C1A3}" type="slidenum">
              <a:rPr lang="en-AU" smtClean="0"/>
              <a:t>21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401598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112F0168-41A8-4250-9BBC-847EB5FF4DC4}" type="datetimeFigureOut">
              <a:rPr lang="en-AU" smtClean="0"/>
              <a:t>5/09/2017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ABC63F7A-ED20-41A6-BACD-09260F534C8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405203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2F0168-41A8-4250-9BBC-847EB5FF4DC4}" type="datetimeFigureOut">
              <a:rPr lang="en-AU" smtClean="0"/>
              <a:t>5/09/2017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C63F7A-ED20-41A6-BACD-09260F534C8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129219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112F0168-41A8-4250-9BBC-847EB5FF4DC4}" type="datetimeFigureOut">
              <a:rPr lang="en-AU" smtClean="0"/>
              <a:t>5/09/2017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ABC63F7A-ED20-41A6-BACD-09260F534C8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310357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2F0168-41A8-4250-9BBC-847EB5FF4DC4}" type="datetimeFigureOut">
              <a:rPr lang="en-AU" smtClean="0"/>
              <a:t>5/09/2017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C63F7A-ED20-41A6-BACD-09260F534C8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881599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2F0168-41A8-4250-9BBC-847EB5FF4DC4}" type="datetimeFigureOut">
              <a:rPr lang="en-AU" smtClean="0"/>
              <a:t>5/09/2017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C63F7A-ED20-41A6-BACD-09260F534C8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064716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2F0168-41A8-4250-9BBC-847EB5FF4DC4}" type="datetimeFigureOut">
              <a:rPr lang="en-AU" smtClean="0"/>
              <a:t>5/09/2017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C63F7A-ED20-41A6-BACD-09260F534C8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478108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2F0168-41A8-4250-9BBC-847EB5FF4DC4}" type="datetimeFigureOut">
              <a:rPr lang="en-AU" smtClean="0"/>
              <a:t>5/09/2017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C63F7A-ED20-41A6-BACD-09260F534C8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283089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2F0168-41A8-4250-9BBC-847EB5FF4DC4}" type="datetimeFigureOut">
              <a:rPr lang="en-AU" smtClean="0"/>
              <a:t>5/09/2017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C63F7A-ED20-41A6-BACD-09260F534C8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241932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2F0168-41A8-4250-9BBC-847EB5FF4DC4}" type="datetimeFigureOut">
              <a:rPr lang="en-AU" smtClean="0"/>
              <a:t>5/09/2017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C63F7A-ED20-41A6-BACD-09260F534C8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730384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2F0168-41A8-4250-9BBC-847EB5FF4DC4}" type="datetimeFigureOut">
              <a:rPr lang="en-AU" smtClean="0"/>
              <a:t>5/09/2017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C63F7A-ED20-41A6-BACD-09260F534C8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08468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112F0168-41A8-4250-9BBC-847EB5FF4DC4}" type="datetimeFigureOut">
              <a:rPr lang="en-AU" smtClean="0"/>
              <a:t>5/09/2017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ABC63F7A-ED20-41A6-BACD-09260F534C8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629015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112F0168-41A8-4250-9BBC-847EB5FF4DC4}" type="datetimeFigureOut">
              <a:rPr lang="en-AU" smtClean="0"/>
              <a:t>5/09/2017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ABC63F7A-ED20-41A6-BACD-09260F534C8B}" type="slidenum">
              <a:rPr lang="en-AU" smtClean="0"/>
              <a:t>‹#›</a:t>
            </a:fld>
            <a:endParaRPr lang="en-AU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2019833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112F0168-41A8-4250-9BBC-847EB5FF4DC4}" type="datetimeFigureOut">
              <a:rPr lang="en-AU" smtClean="0"/>
              <a:t>5/09/2017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ABC63F7A-ED20-41A6-BACD-09260F534C8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3092204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2F0168-41A8-4250-9BBC-847EB5FF4DC4}" type="datetimeFigureOut">
              <a:rPr lang="en-AU" smtClean="0"/>
              <a:t>5/09/2017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C63F7A-ED20-41A6-BACD-09260F534C8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0363737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2F0168-41A8-4250-9BBC-847EB5FF4DC4}" type="datetimeFigureOut">
              <a:rPr lang="en-AU" smtClean="0"/>
              <a:t>5/09/2017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C63F7A-ED20-41A6-BACD-09260F534C8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65143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2F0168-41A8-4250-9BBC-847EB5FF4DC4}" type="datetimeFigureOut">
              <a:rPr lang="en-AU" smtClean="0"/>
              <a:t>5/09/2017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C63F7A-ED20-41A6-BACD-09260F534C8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767050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112F0168-41A8-4250-9BBC-847EB5FF4DC4}" type="datetimeFigureOut">
              <a:rPr lang="en-AU" smtClean="0"/>
              <a:t>5/09/2017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ABC63F7A-ED20-41A6-BACD-09260F534C8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066025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2F0168-41A8-4250-9BBC-847EB5FF4DC4}" type="datetimeFigureOut">
              <a:rPr lang="en-AU" smtClean="0"/>
              <a:t>5/09/2017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C63F7A-ED20-41A6-BACD-09260F534C8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93760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gif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92261" y="343956"/>
            <a:ext cx="9840130" cy="2014214"/>
          </a:xfrm>
        </p:spPr>
        <p:txBody>
          <a:bodyPr>
            <a:normAutofit/>
          </a:bodyPr>
          <a:lstStyle/>
          <a:p>
            <a:r>
              <a:rPr lang="en-AU" b="1" dirty="0">
                <a:solidFill>
                  <a:srgbClr val="7030A0"/>
                </a:solidFill>
              </a:rPr>
              <a:t>Linear Equations Interactive notebook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25032" y="4920734"/>
            <a:ext cx="8532178" cy="1752600"/>
          </a:xfrm>
        </p:spPr>
        <p:txBody>
          <a:bodyPr>
            <a:normAutofit/>
          </a:bodyPr>
          <a:lstStyle/>
          <a:p>
            <a:pPr algn="l"/>
            <a:r>
              <a:rPr lang="en-AU" dirty="0"/>
              <a:t>Name </a:t>
            </a:r>
          </a:p>
          <a:p>
            <a:pPr algn="l"/>
            <a:r>
              <a:rPr lang="en-AU" dirty="0"/>
              <a:t>Class </a:t>
            </a:r>
          </a:p>
          <a:p>
            <a:pPr algn="l"/>
            <a:r>
              <a:rPr lang="en-AU" dirty="0"/>
              <a:t>Teacher </a:t>
            </a:r>
          </a:p>
          <a:p>
            <a:pPr algn="l"/>
            <a:r>
              <a:rPr lang="en-AU" dirty="0"/>
              <a:t>Term 3 Semester 2</a:t>
            </a:r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05FDDB09-0AC6-416C-A331-000E8D3195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97492" y="2547629"/>
            <a:ext cx="2867333" cy="3278848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122529B4-C749-4522-A710-B56703228B6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7773" y="2419619"/>
            <a:ext cx="3739023" cy="3943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50627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  <a:latin typeface="Kiwi School Handwriting" panose="00000500000000000000" pitchFamily="2" charset="0"/>
              </a:rPr>
              <a:t>Word equations</a:t>
            </a:r>
            <a:endParaRPr lang="en-US" b="1" dirty="0">
              <a:solidFill>
                <a:srgbClr val="0070C0"/>
              </a:solidFill>
              <a:latin typeface="DJB Fancy Nancy" panose="02000500000000000000" pitchFamily="2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67875" y="3628501"/>
            <a:ext cx="9446339" cy="1384675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chemeClr val="accent2">
                    <a:lumMod val="75000"/>
                  </a:schemeClr>
                </a:solidFill>
                <a:latin typeface="Kiwi School Handwriting" panose="00000500000000000000" pitchFamily="2" charset="0"/>
              </a:rPr>
              <a:t>Miss L</a:t>
            </a:r>
          </a:p>
          <a:p>
            <a:r>
              <a:rPr lang="en-US" sz="3200" b="1" dirty="0">
                <a:solidFill>
                  <a:schemeClr val="accent2">
                    <a:lumMod val="75000"/>
                  </a:schemeClr>
                </a:solidFill>
                <a:latin typeface="Kiwi School Handwriting" panose="00000500000000000000" pitchFamily="2" charset="0"/>
              </a:rPr>
              <a:t>Year 7</a:t>
            </a:r>
          </a:p>
        </p:txBody>
      </p:sp>
    </p:spTree>
    <p:extLst>
      <p:ext uri="{BB962C8B-B14F-4D97-AF65-F5344CB8AC3E}">
        <p14:creationId xmlns:p14="http://schemas.microsoft.com/office/powerpoint/2010/main" val="5067614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b="1" dirty="0">
                <a:solidFill>
                  <a:schemeClr val="accent2">
                    <a:lumMod val="75000"/>
                  </a:schemeClr>
                </a:solidFill>
                <a:latin typeface="Kiwi School Handwriting" panose="00000500000000000000" pitchFamily="2" charset="0"/>
              </a:rPr>
              <a:t>Learning Intentions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>
          <a:xfrm>
            <a:off x="685800" y="2533773"/>
            <a:ext cx="10820400" cy="402412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sz="4400" dirty="0">
                <a:latin typeface="Kiwi School Handwriting" panose="00000500000000000000" pitchFamily="2" charset="0"/>
              </a:rPr>
              <a:t>Students will be able to</a:t>
            </a:r>
          </a:p>
          <a:p>
            <a:r>
              <a:rPr lang="en-AU" sz="3600" dirty="0"/>
              <a:t>Write mathematical equations </a:t>
            </a:r>
          </a:p>
          <a:p>
            <a:r>
              <a:rPr lang="en-AU" sz="3600" dirty="0"/>
              <a:t>Introduction to </a:t>
            </a:r>
            <a:r>
              <a:rPr lang="en-AU" sz="3600" dirty="0" err="1"/>
              <a:t>Agebra</a:t>
            </a:r>
            <a:endParaRPr lang="en-AU" sz="3600" dirty="0"/>
          </a:p>
        </p:txBody>
      </p:sp>
    </p:spTree>
    <p:extLst>
      <p:ext uri="{BB962C8B-B14F-4D97-AF65-F5344CB8AC3E}">
        <p14:creationId xmlns:p14="http://schemas.microsoft.com/office/powerpoint/2010/main" val="17204263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31838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Word Equations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36360" y="204438"/>
            <a:ext cx="2160240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0" y="2027660"/>
            <a:ext cx="1847528" cy="830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What is an equation?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How do we correctly write mathematical equations? 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076703" y="1738377"/>
            <a:ext cx="9544926" cy="830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</a:rPr>
              <a:t>An equation is a mathematical sentence in which two expressions are </a:t>
            </a:r>
            <a:r>
              <a:rPr lang="en-AU" sz="2399" b="1" dirty="0">
                <a:solidFill>
                  <a:prstClr val="black"/>
                </a:solidFill>
              </a:rPr>
              <a:t>equal</a:t>
            </a:r>
            <a:endParaRPr lang="en-US" sz="2399" b="1" dirty="0">
              <a:solidFill>
                <a:prstClr val="black"/>
              </a:solidFill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55EF1211-4FF2-466E-AE1E-940554813AB9}"/>
              </a:ext>
            </a:extLst>
          </p:cNvPr>
          <p:cNvSpPr txBox="1"/>
          <p:nvPr/>
        </p:nvSpPr>
        <p:spPr>
          <a:xfrm>
            <a:off x="0" y="4244834"/>
            <a:ext cx="1847528" cy="830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What is an expression?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5410BDD-80B2-4390-8069-972102B88C57}"/>
              </a:ext>
            </a:extLst>
          </p:cNvPr>
          <p:cNvSpPr/>
          <p:nvPr/>
        </p:nvSpPr>
        <p:spPr>
          <a:xfrm>
            <a:off x="2184763" y="3829335"/>
            <a:ext cx="572618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400" dirty="0"/>
              <a:t>Numbers, symbols and operators (such as + and ×) grouped together that show the value of something.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5DBC07D-F4FA-48A4-800A-D0CE7E03D5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4248" y="4014232"/>
            <a:ext cx="3762901" cy="2830501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D596B7FF-1926-4F65-B4C2-005811D458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7464" y="2220070"/>
            <a:ext cx="2577224" cy="1533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3366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14" grpId="0"/>
      <p:bldP spid="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69074D7-7189-401B-B22C-96E7385E16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1910" y="7988"/>
            <a:ext cx="5298884" cy="6850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42578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99656" y="404664"/>
            <a:ext cx="8608358" cy="1293028"/>
          </a:xfrm>
        </p:spPr>
        <p:txBody>
          <a:bodyPr>
            <a:normAutofit/>
          </a:bodyPr>
          <a:lstStyle/>
          <a:p>
            <a:r>
              <a:rPr lang="en-AU" sz="5400" b="1" dirty="0">
                <a:solidFill>
                  <a:schemeClr val="accent1">
                    <a:lumMod val="50000"/>
                  </a:schemeClr>
                </a:solidFill>
                <a:latin typeface="Kiwi School Handwriting" panose="00000500000000000000" pitchFamily="2" charset="0"/>
              </a:rPr>
              <a:t>Power-Write</a:t>
            </a:r>
            <a:endParaRPr lang="en-US" sz="5400" b="1" dirty="0">
              <a:solidFill>
                <a:schemeClr val="accent1">
                  <a:lumMod val="50000"/>
                </a:schemeClr>
              </a:solidFill>
              <a:latin typeface="Kiwi School Handwriting" panose="00000500000000000000" pitchFamily="2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AFF9EF6-86A2-42A5-AE9A-3FB82E18F8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1531" y="404664"/>
            <a:ext cx="7311091" cy="307361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sz="2800" dirty="0"/>
              <a:t>What do you think Algebra means?</a:t>
            </a:r>
          </a:p>
          <a:p>
            <a:pPr marL="0" indent="0">
              <a:buNone/>
            </a:pPr>
            <a:endParaRPr lang="en-AU" sz="2800" dirty="0"/>
          </a:p>
          <a:p>
            <a:pPr marL="0" indent="0">
              <a:buNone/>
            </a:pPr>
            <a:r>
              <a:rPr lang="en-AU" sz="2800" dirty="0"/>
              <a:t>How do Mathematicians use Algebra?</a:t>
            </a:r>
          </a:p>
          <a:p>
            <a:pPr marL="0" indent="0">
              <a:buNone/>
            </a:pPr>
            <a:endParaRPr lang="en-AU" sz="2800" dirty="0"/>
          </a:p>
          <a:p>
            <a:pPr marL="0" indent="0">
              <a:buNone/>
            </a:pPr>
            <a:r>
              <a:rPr lang="en-AU" sz="2800" dirty="0"/>
              <a:t>Can we use Algebra in everyday life?</a:t>
            </a:r>
          </a:p>
          <a:p>
            <a:pPr marL="0" indent="0">
              <a:buNone/>
            </a:pPr>
            <a:endParaRPr lang="en-AU" sz="2800" b="1" dirty="0"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US" sz="3200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D6DC287-07C5-42BE-9082-4283A3778A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6139" y="3719627"/>
            <a:ext cx="4421875" cy="254271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09546A1-3657-4F56-999E-120D79871F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7104" y="3111668"/>
            <a:ext cx="5286837" cy="3581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83040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68146" y="229929"/>
            <a:ext cx="8608358" cy="1293028"/>
          </a:xfrm>
        </p:spPr>
        <p:txBody>
          <a:bodyPr>
            <a:normAutofit/>
          </a:bodyPr>
          <a:lstStyle/>
          <a:p>
            <a:r>
              <a:rPr lang="en-AU" sz="5400" b="1" dirty="0">
                <a:solidFill>
                  <a:schemeClr val="accent1">
                    <a:lumMod val="50000"/>
                  </a:schemeClr>
                </a:solidFill>
                <a:latin typeface="Kiwi School Handwriting" panose="00000500000000000000" pitchFamily="2" charset="0"/>
              </a:rPr>
              <a:t>Box demonstration</a:t>
            </a:r>
            <a:endParaRPr lang="en-US" sz="5400" b="1" dirty="0">
              <a:solidFill>
                <a:schemeClr val="accent1">
                  <a:lumMod val="50000"/>
                </a:schemeClr>
              </a:solidFill>
              <a:latin typeface="Kiwi School Handwriting" panose="00000500000000000000" pitchFamily="2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AFF9EF6-86A2-42A5-AE9A-3FB82E18F8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95332" y="1660666"/>
            <a:ext cx="6801134" cy="5191742"/>
          </a:xfrm>
        </p:spPr>
        <p:txBody>
          <a:bodyPr>
            <a:normAutofit/>
          </a:bodyPr>
          <a:lstStyle/>
          <a:p>
            <a:pPr marL="457200" indent="-457200">
              <a:buAutoNum type="arabicPeriod"/>
            </a:pPr>
            <a:r>
              <a:rPr lang="en-AU" sz="3200" dirty="0"/>
              <a:t>How many blocks are there in the box?</a:t>
            </a:r>
          </a:p>
          <a:p>
            <a:pPr lvl="2"/>
            <a:r>
              <a:rPr lang="en-AU" sz="2800" dirty="0">
                <a:solidFill>
                  <a:srgbClr val="0070C0"/>
                </a:solidFill>
              </a:rPr>
              <a:t>We don’t know……..</a:t>
            </a:r>
            <a:endParaRPr lang="en-AU" sz="3200" dirty="0"/>
          </a:p>
          <a:p>
            <a:pPr marL="457200" indent="-457200">
              <a:buAutoNum type="arabicPeriod"/>
            </a:pPr>
            <a:r>
              <a:rPr lang="en-AU" sz="3200" dirty="0"/>
              <a:t>Lets label the with box with a variable to tell us how many blocks are in the box…… </a:t>
            </a:r>
            <a:r>
              <a:rPr lang="en-AU" sz="3600" b="1" dirty="0"/>
              <a:t>m</a:t>
            </a:r>
          </a:p>
          <a:p>
            <a:pPr marL="914400" lvl="2" indent="0">
              <a:buNone/>
            </a:pPr>
            <a:r>
              <a:rPr lang="en-AU" sz="2800" b="1" dirty="0">
                <a:solidFill>
                  <a:schemeClr val="accent2">
                    <a:lumMod val="50000"/>
                  </a:schemeClr>
                </a:solidFill>
              </a:rPr>
              <a:t>m </a:t>
            </a:r>
            <a:r>
              <a:rPr lang="en-AU" sz="2800" dirty="0">
                <a:solidFill>
                  <a:schemeClr val="accent2">
                    <a:lumMod val="50000"/>
                  </a:schemeClr>
                </a:solidFill>
              </a:rPr>
              <a:t>= number of blocks in the box</a:t>
            </a:r>
          </a:p>
          <a:p>
            <a:pPr marL="0" indent="0">
              <a:buNone/>
            </a:pPr>
            <a:endParaRPr lang="en-US" sz="36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2E35F49-69E7-486B-B86E-637EE0CEAD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491" y="1671079"/>
            <a:ext cx="4653602" cy="489549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3B40EE3-778B-4D59-B663-6FF1F69D272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5292" y="3440551"/>
            <a:ext cx="1568640" cy="1568640"/>
          </a:xfrm>
          <a:prstGeom prst="rect">
            <a:avLst/>
          </a:prstGeom>
        </p:spPr>
      </p:pic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597E1F32-70F9-4EC8-8E5C-9157420003CC}"/>
              </a:ext>
            </a:extLst>
          </p:cNvPr>
          <p:cNvSpPr txBox="1">
            <a:spLocks/>
          </p:cNvSpPr>
          <p:nvPr/>
        </p:nvSpPr>
        <p:spPr>
          <a:xfrm>
            <a:off x="3131454" y="3812854"/>
            <a:ext cx="1050024" cy="8240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AU" sz="4800" b="1" dirty="0"/>
              <a:t>m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AU" sz="4400" b="1" dirty="0">
              <a:cs typeface="Calibri" panose="020F050202020403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4800" b="1" dirty="0"/>
          </a:p>
        </p:txBody>
      </p:sp>
    </p:spTree>
    <p:extLst>
      <p:ext uri="{BB962C8B-B14F-4D97-AF65-F5344CB8AC3E}">
        <p14:creationId xmlns:p14="http://schemas.microsoft.com/office/powerpoint/2010/main" val="7442821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4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4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4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4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69074D7-7189-401B-B22C-96E7385E16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1910" y="7988"/>
            <a:ext cx="5298884" cy="6850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04954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68146" y="229929"/>
            <a:ext cx="8608358" cy="1293028"/>
          </a:xfrm>
        </p:spPr>
        <p:txBody>
          <a:bodyPr>
            <a:normAutofit/>
          </a:bodyPr>
          <a:lstStyle/>
          <a:p>
            <a:r>
              <a:rPr lang="en-AU" sz="5400" b="1" dirty="0">
                <a:solidFill>
                  <a:schemeClr val="accent1">
                    <a:lumMod val="50000"/>
                  </a:schemeClr>
                </a:solidFill>
                <a:latin typeface="Kiwi School Handwriting" panose="00000500000000000000" pitchFamily="2" charset="0"/>
              </a:rPr>
              <a:t>Box demonstration</a:t>
            </a:r>
            <a:endParaRPr lang="en-US" sz="5400" b="1" dirty="0">
              <a:solidFill>
                <a:schemeClr val="accent1">
                  <a:lumMod val="50000"/>
                </a:schemeClr>
              </a:solidFill>
              <a:latin typeface="Kiwi School Handwriting" panose="00000500000000000000" pitchFamily="2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AFF9EF6-86A2-42A5-AE9A-3FB82E18F8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75370" y="1262090"/>
            <a:ext cx="6801134" cy="5493551"/>
          </a:xfrm>
        </p:spPr>
        <p:txBody>
          <a:bodyPr>
            <a:normAutofit/>
          </a:bodyPr>
          <a:lstStyle/>
          <a:p>
            <a:pPr marL="457200" indent="-457200">
              <a:buAutoNum type="arabicPeriod"/>
            </a:pPr>
            <a:r>
              <a:rPr lang="en-AU" sz="3200" dirty="0"/>
              <a:t>Lets say we add 2 more blocks into the box</a:t>
            </a:r>
          </a:p>
          <a:p>
            <a:pPr marL="457200" indent="-457200">
              <a:buAutoNum type="arabicPeriod"/>
            </a:pPr>
            <a:r>
              <a:rPr lang="en-AU" sz="3200" dirty="0">
                <a:cs typeface="Calibri" panose="020F0502020204030204" pitchFamily="34" charset="0"/>
              </a:rPr>
              <a:t>How would a mathematician write that down?</a:t>
            </a:r>
          </a:p>
          <a:p>
            <a:pPr marL="914400" lvl="2" indent="0">
              <a:buNone/>
            </a:pPr>
            <a:r>
              <a:rPr lang="en-AU" sz="3200" b="1" dirty="0">
                <a:solidFill>
                  <a:srgbClr val="0070C0"/>
                </a:solidFill>
                <a:cs typeface="Calibri" panose="020F0502020204030204" pitchFamily="34" charset="0"/>
              </a:rPr>
              <a:t>m + 2 = number of blocks in the box</a:t>
            </a:r>
          </a:p>
          <a:p>
            <a:pPr marL="514350" indent="-514350">
              <a:buFont typeface="+mj-lt"/>
              <a:buAutoNum type="arabicPeriod"/>
            </a:pPr>
            <a:endParaRPr lang="en-AU" sz="3200" dirty="0"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sz="2800" dirty="0"/>
              <a:t>m + 2 is the </a:t>
            </a:r>
            <a:r>
              <a:rPr lang="en-US" sz="2800" b="1" dirty="0"/>
              <a:t>expression</a:t>
            </a:r>
          </a:p>
          <a:p>
            <a:pPr marL="0" indent="0">
              <a:buNone/>
            </a:pPr>
            <a:endParaRPr lang="en-US" sz="2800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68494C8-B6D6-4427-8AE6-C64B378978F8}"/>
              </a:ext>
            </a:extLst>
          </p:cNvPr>
          <p:cNvGrpSpPr/>
          <p:nvPr/>
        </p:nvGrpSpPr>
        <p:grpSpPr>
          <a:xfrm>
            <a:off x="450378" y="1754969"/>
            <a:ext cx="4121622" cy="3588717"/>
            <a:chOff x="368491" y="1671079"/>
            <a:chExt cx="4653602" cy="4895497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F2E35F49-69E7-486B-B86E-637EE0CEAD2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68491" y="1671079"/>
              <a:ext cx="4653602" cy="4895497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F3B40EE3-778B-4D59-B663-6FF1F69D272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95292" y="3314696"/>
              <a:ext cx="1568640" cy="1568640"/>
            </a:xfrm>
            <a:prstGeom prst="rect">
              <a:avLst/>
            </a:prstGeom>
          </p:spPr>
        </p:pic>
        <p:sp>
          <p:nvSpPr>
            <p:cNvPr id="11" name="Content Placeholder 2">
              <a:extLst>
                <a:ext uri="{FF2B5EF4-FFF2-40B4-BE49-F238E27FC236}">
                  <a16:creationId xmlns:a16="http://schemas.microsoft.com/office/drawing/2014/main" id="{597E1F32-70F9-4EC8-8E5C-9157420003CC}"/>
                </a:ext>
              </a:extLst>
            </p:cNvPr>
            <p:cNvSpPr txBox="1">
              <a:spLocks/>
            </p:cNvSpPr>
            <p:nvPr/>
          </p:nvSpPr>
          <p:spPr>
            <a:xfrm>
              <a:off x="3131454" y="3812854"/>
              <a:ext cx="1050024" cy="824033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 fontScale="92500" lnSpcReduction="20000"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AU" sz="4800" b="1" dirty="0"/>
                <a:t>m</a:t>
              </a:r>
            </a:p>
            <a:p>
              <a:pPr marL="0" indent="0">
                <a:buFont typeface="Arial" panose="020B0604020202020204" pitchFamily="34" charset="0"/>
                <a:buNone/>
              </a:pPr>
              <a:endParaRPr lang="en-AU" sz="4400" b="1" dirty="0">
                <a:cs typeface="Calibri" panose="020F0502020204030204" pitchFamily="34" charset="0"/>
              </a:endParaRPr>
            </a:p>
            <a:p>
              <a:pPr marL="0" indent="0">
                <a:buFont typeface="Arial" panose="020B0604020202020204" pitchFamily="34" charset="0"/>
                <a:buNone/>
              </a:pPr>
              <a:endParaRPr lang="en-US" sz="48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11287027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3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4" dur="4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5" dur="4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6" dur="4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7" dur="4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69074D7-7189-401B-B22C-96E7385E16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1910" y="7988"/>
            <a:ext cx="5298884" cy="6850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51754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68146" y="229929"/>
            <a:ext cx="8608358" cy="1293028"/>
          </a:xfrm>
        </p:spPr>
        <p:txBody>
          <a:bodyPr>
            <a:normAutofit/>
          </a:bodyPr>
          <a:lstStyle/>
          <a:p>
            <a:r>
              <a:rPr lang="en-AU" sz="5400" b="1" dirty="0">
                <a:solidFill>
                  <a:schemeClr val="accent1">
                    <a:lumMod val="50000"/>
                  </a:schemeClr>
                </a:solidFill>
                <a:latin typeface="Kiwi School Handwriting" panose="00000500000000000000" pitchFamily="2" charset="0"/>
              </a:rPr>
              <a:t>Box demonstration</a:t>
            </a:r>
            <a:endParaRPr lang="en-US" sz="5400" b="1" dirty="0">
              <a:solidFill>
                <a:schemeClr val="accent1">
                  <a:lumMod val="50000"/>
                </a:schemeClr>
              </a:solidFill>
              <a:latin typeface="Kiwi School Handwriting" panose="00000500000000000000" pitchFamily="2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AFF9EF6-86A2-42A5-AE9A-3FB82E18F8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75370" y="1333228"/>
            <a:ext cx="6801134" cy="5524772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AU" sz="3200" dirty="0">
                <a:cs typeface="Calibri" panose="020F0502020204030204" pitchFamily="34" charset="0"/>
              </a:rPr>
              <a:t>Lets go back to just </a:t>
            </a:r>
            <a:r>
              <a:rPr lang="en-AU" sz="3200" b="1" dirty="0">
                <a:cs typeface="Calibri" panose="020F0502020204030204" pitchFamily="34" charset="0"/>
              </a:rPr>
              <a:t>m</a:t>
            </a:r>
            <a:r>
              <a:rPr lang="en-AU" sz="3200" dirty="0">
                <a:cs typeface="Calibri" panose="020F0502020204030204" pitchFamily="34" charset="0"/>
              </a:rPr>
              <a:t> number of blocks</a:t>
            </a:r>
          </a:p>
          <a:p>
            <a:pPr marL="514350" indent="-514350">
              <a:buFont typeface="+mj-lt"/>
              <a:buAutoNum type="arabicPeriod"/>
            </a:pPr>
            <a:r>
              <a:rPr lang="en-AU" sz="3200" dirty="0">
                <a:cs typeface="Calibri" panose="020F0502020204030204" pitchFamily="34" charset="0"/>
              </a:rPr>
              <a:t>What happens if I take 6 blocks out of the box?</a:t>
            </a:r>
          </a:p>
          <a:p>
            <a:pPr marL="514350" indent="-514350">
              <a:buFont typeface="+mj-lt"/>
              <a:buAutoNum type="arabicPeriod"/>
            </a:pPr>
            <a:r>
              <a:rPr lang="en-AU" sz="3200" dirty="0">
                <a:cs typeface="Calibri" panose="020F0502020204030204" pitchFamily="34" charset="0"/>
              </a:rPr>
              <a:t>How would a mathematician write that down?</a:t>
            </a:r>
          </a:p>
          <a:p>
            <a:pPr marL="914400" lvl="2" indent="0">
              <a:buNone/>
            </a:pPr>
            <a:r>
              <a:rPr lang="en-AU" sz="3200" b="1" dirty="0">
                <a:solidFill>
                  <a:srgbClr val="0070C0"/>
                </a:solidFill>
                <a:cs typeface="Calibri" panose="020F0502020204030204" pitchFamily="34" charset="0"/>
              </a:rPr>
              <a:t>m – 6 = number of blocks in the box</a:t>
            </a:r>
          </a:p>
          <a:p>
            <a:pPr marL="914400" lvl="2" indent="0">
              <a:buNone/>
            </a:pPr>
            <a:endParaRPr lang="en-AU" sz="3200" b="1" dirty="0">
              <a:solidFill>
                <a:srgbClr val="0070C0"/>
              </a:solidFill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AU" sz="3200" dirty="0">
                <a:cs typeface="Calibri" panose="020F0502020204030204" pitchFamily="34" charset="0"/>
              </a:rPr>
              <a:t>m – 6 is the </a:t>
            </a:r>
            <a:r>
              <a:rPr lang="en-AU" sz="3200" b="1" dirty="0">
                <a:cs typeface="Calibri" panose="020F0502020204030204" pitchFamily="34" charset="0"/>
              </a:rPr>
              <a:t>expression</a:t>
            </a:r>
          </a:p>
          <a:p>
            <a:pPr marL="0" indent="0">
              <a:buNone/>
            </a:pPr>
            <a:endParaRPr lang="en-AU" sz="3200" b="1" dirty="0"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US" sz="3600" b="1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68494C8-B6D6-4427-8AE6-C64B378978F8}"/>
              </a:ext>
            </a:extLst>
          </p:cNvPr>
          <p:cNvGrpSpPr/>
          <p:nvPr/>
        </p:nvGrpSpPr>
        <p:grpSpPr>
          <a:xfrm>
            <a:off x="450378" y="1754969"/>
            <a:ext cx="4121622" cy="3588717"/>
            <a:chOff x="368491" y="1671079"/>
            <a:chExt cx="4653602" cy="4895497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F2E35F49-69E7-486B-B86E-637EE0CEAD2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68491" y="1671079"/>
              <a:ext cx="4653602" cy="4895497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F3B40EE3-778B-4D59-B663-6FF1F69D272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95292" y="3314696"/>
              <a:ext cx="1568640" cy="1568640"/>
            </a:xfrm>
            <a:prstGeom prst="rect">
              <a:avLst/>
            </a:prstGeom>
          </p:spPr>
        </p:pic>
        <p:sp>
          <p:nvSpPr>
            <p:cNvPr id="11" name="Content Placeholder 2">
              <a:extLst>
                <a:ext uri="{FF2B5EF4-FFF2-40B4-BE49-F238E27FC236}">
                  <a16:creationId xmlns:a16="http://schemas.microsoft.com/office/drawing/2014/main" id="{597E1F32-70F9-4EC8-8E5C-9157420003CC}"/>
                </a:ext>
              </a:extLst>
            </p:cNvPr>
            <p:cNvSpPr txBox="1">
              <a:spLocks/>
            </p:cNvSpPr>
            <p:nvPr/>
          </p:nvSpPr>
          <p:spPr>
            <a:xfrm>
              <a:off x="3131454" y="3812854"/>
              <a:ext cx="1050024" cy="824033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 fontScale="92500" lnSpcReduction="20000"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AU" sz="4800" b="1" dirty="0"/>
                <a:t>m</a:t>
              </a:r>
            </a:p>
            <a:p>
              <a:pPr marL="0" indent="0">
                <a:buFont typeface="Arial" panose="020B0604020202020204" pitchFamily="34" charset="0"/>
                <a:buNone/>
              </a:pPr>
              <a:endParaRPr lang="en-AU" sz="4400" b="1" dirty="0">
                <a:cs typeface="Calibri" panose="020F0502020204030204" pitchFamily="34" charset="0"/>
              </a:endParaRPr>
            </a:p>
            <a:p>
              <a:pPr marL="0" indent="0">
                <a:buFont typeface="Arial" panose="020B0604020202020204" pitchFamily="34" charset="0"/>
                <a:buNone/>
              </a:pPr>
              <a:endParaRPr lang="en-US" sz="48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18926886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69074D7-7189-401B-B22C-96E7385E16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1910" y="7988"/>
            <a:ext cx="5298884" cy="6850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88339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68146" y="229929"/>
            <a:ext cx="8608358" cy="1293028"/>
          </a:xfrm>
        </p:spPr>
        <p:txBody>
          <a:bodyPr>
            <a:normAutofit/>
          </a:bodyPr>
          <a:lstStyle/>
          <a:p>
            <a:r>
              <a:rPr lang="en-AU" sz="5400" b="1" dirty="0">
                <a:solidFill>
                  <a:schemeClr val="accent1">
                    <a:lumMod val="50000"/>
                  </a:schemeClr>
                </a:solidFill>
                <a:latin typeface="Kiwi School Handwriting" panose="00000500000000000000" pitchFamily="2" charset="0"/>
              </a:rPr>
              <a:t>Box demonstration</a:t>
            </a:r>
            <a:endParaRPr lang="en-US" sz="5400" b="1" dirty="0">
              <a:solidFill>
                <a:schemeClr val="accent1">
                  <a:lumMod val="50000"/>
                </a:schemeClr>
              </a:solidFill>
              <a:latin typeface="Kiwi School Handwriting" panose="00000500000000000000" pitchFamily="2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AFF9EF6-86A2-42A5-AE9A-3FB82E18F8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2582" y="1281795"/>
            <a:ext cx="6801134" cy="5544775"/>
          </a:xfrm>
        </p:spPr>
        <p:txBody>
          <a:bodyPr>
            <a:normAutofit fontScale="92500" lnSpcReduction="20000"/>
          </a:bodyPr>
          <a:lstStyle/>
          <a:p>
            <a:pPr marL="457200" indent="-457200">
              <a:buAutoNum type="arabicPeriod"/>
            </a:pPr>
            <a:r>
              <a:rPr lang="en-AU" sz="3200" dirty="0"/>
              <a:t>What happens if I get another box…..</a:t>
            </a:r>
          </a:p>
          <a:p>
            <a:pPr marL="457200" indent="-457200">
              <a:buAutoNum type="arabicPeriod"/>
            </a:pPr>
            <a:r>
              <a:rPr lang="en-AU" sz="3200" dirty="0">
                <a:cs typeface="Calibri" panose="020F0502020204030204" pitchFamily="34" charset="0"/>
              </a:rPr>
              <a:t>How many boxes do I have then? </a:t>
            </a:r>
          </a:p>
          <a:p>
            <a:pPr marL="457200" indent="-457200">
              <a:buAutoNum type="arabicPeriod"/>
            </a:pPr>
            <a:r>
              <a:rPr lang="en-AU" sz="3200" dirty="0">
                <a:cs typeface="Calibri" panose="020F0502020204030204" pitchFamily="34" charset="0"/>
              </a:rPr>
              <a:t>How would a mathematician write that down?</a:t>
            </a:r>
          </a:p>
          <a:p>
            <a:pPr marL="914400" lvl="2" indent="0">
              <a:buNone/>
            </a:pPr>
            <a:r>
              <a:rPr lang="en-AU" sz="2800" b="1" dirty="0">
                <a:solidFill>
                  <a:srgbClr val="0070C0"/>
                </a:solidFill>
                <a:cs typeface="Calibri" panose="020F0502020204030204" pitchFamily="34" charset="0"/>
              </a:rPr>
              <a:t>m + m = number of blocks in the boxes</a:t>
            </a:r>
          </a:p>
          <a:p>
            <a:pPr marL="514350" indent="-514350">
              <a:buFont typeface="+mj-lt"/>
              <a:buAutoNum type="arabicPeriod"/>
            </a:pPr>
            <a:r>
              <a:rPr lang="en-AU" sz="3200" dirty="0">
                <a:cs typeface="Calibri" panose="020F0502020204030204" pitchFamily="34" charset="0"/>
              </a:rPr>
              <a:t>How else can a mathematician write it down?</a:t>
            </a:r>
          </a:p>
          <a:p>
            <a:pPr marL="914400" lvl="2" indent="0">
              <a:buNone/>
            </a:pPr>
            <a:r>
              <a:rPr lang="en-AU" sz="2800" b="1" dirty="0">
                <a:solidFill>
                  <a:srgbClr val="0070C0"/>
                </a:solidFill>
                <a:cs typeface="Calibri" panose="020F0502020204030204" pitchFamily="34" charset="0"/>
              </a:rPr>
              <a:t>2 x m = number of blocks in the boxes</a:t>
            </a:r>
          </a:p>
          <a:p>
            <a:pPr marL="914400" lvl="2" indent="0">
              <a:buNone/>
            </a:pPr>
            <a:r>
              <a:rPr lang="en-AU" sz="2800" dirty="0">
                <a:cs typeface="Calibri" panose="020F0502020204030204" pitchFamily="34" charset="0"/>
              </a:rPr>
              <a:t>Or </a:t>
            </a:r>
          </a:p>
          <a:p>
            <a:pPr marL="914400" lvl="2" indent="0">
              <a:buNone/>
            </a:pPr>
            <a:r>
              <a:rPr lang="en-AU" sz="2800" b="1" dirty="0">
                <a:solidFill>
                  <a:srgbClr val="0070C0"/>
                </a:solidFill>
                <a:cs typeface="Calibri" panose="020F0502020204030204" pitchFamily="34" charset="0"/>
              </a:rPr>
              <a:t>2m = number of blocks in the boxes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68494C8-B6D6-4427-8AE6-C64B378978F8}"/>
              </a:ext>
            </a:extLst>
          </p:cNvPr>
          <p:cNvGrpSpPr/>
          <p:nvPr/>
        </p:nvGrpSpPr>
        <p:grpSpPr>
          <a:xfrm>
            <a:off x="310432" y="229929"/>
            <a:ext cx="3606475" cy="3032980"/>
            <a:chOff x="368491" y="1671079"/>
            <a:chExt cx="4653602" cy="4895497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F2E35F49-69E7-486B-B86E-637EE0CEAD2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68491" y="1671079"/>
              <a:ext cx="4653602" cy="4895497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F3B40EE3-778B-4D59-B663-6FF1F69D272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95292" y="3314696"/>
              <a:ext cx="1568640" cy="1568640"/>
            </a:xfrm>
            <a:prstGeom prst="rect">
              <a:avLst/>
            </a:prstGeom>
          </p:spPr>
        </p:pic>
        <p:sp>
          <p:nvSpPr>
            <p:cNvPr id="11" name="Content Placeholder 2">
              <a:extLst>
                <a:ext uri="{FF2B5EF4-FFF2-40B4-BE49-F238E27FC236}">
                  <a16:creationId xmlns:a16="http://schemas.microsoft.com/office/drawing/2014/main" id="{597E1F32-70F9-4EC8-8E5C-9157420003CC}"/>
                </a:ext>
              </a:extLst>
            </p:cNvPr>
            <p:cNvSpPr txBox="1">
              <a:spLocks/>
            </p:cNvSpPr>
            <p:nvPr/>
          </p:nvSpPr>
          <p:spPr>
            <a:xfrm>
              <a:off x="3131454" y="3812854"/>
              <a:ext cx="1050024" cy="824033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 fontScale="77500" lnSpcReduction="20000"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AU" sz="4800" b="1" dirty="0"/>
                <a:t>m</a:t>
              </a:r>
            </a:p>
            <a:p>
              <a:pPr marL="0" indent="0">
                <a:buFont typeface="Arial" panose="020B0604020202020204" pitchFamily="34" charset="0"/>
                <a:buNone/>
              </a:pPr>
              <a:endParaRPr lang="en-AU" sz="4400" b="1" dirty="0">
                <a:cs typeface="Calibri" panose="020F0502020204030204" pitchFamily="34" charset="0"/>
              </a:endParaRPr>
            </a:p>
            <a:p>
              <a:pPr marL="0" indent="0">
                <a:buFont typeface="Arial" panose="020B0604020202020204" pitchFamily="34" charset="0"/>
                <a:buNone/>
              </a:pPr>
              <a:endParaRPr lang="en-US" sz="4800" b="1" dirty="0"/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95788124-CF5C-458A-868B-ECE6CEB034CA}"/>
              </a:ext>
            </a:extLst>
          </p:cNvPr>
          <p:cNvGrpSpPr/>
          <p:nvPr/>
        </p:nvGrpSpPr>
        <p:grpSpPr>
          <a:xfrm>
            <a:off x="368651" y="3571541"/>
            <a:ext cx="3383208" cy="3181091"/>
            <a:chOff x="368491" y="1671079"/>
            <a:chExt cx="4653602" cy="4895497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995DEBD7-4B9D-4215-A312-5F2424501AC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68491" y="1671079"/>
              <a:ext cx="4653602" cy="4895497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1A0478AF-58F7-4185-8A46-44E255FC85C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95292" y="3314696"/>
              <a:ext cx="1568640" cy="1568640"/>
            </a:xfrm>
            <a:prstGeom prst="rect">
              <a:avLst/>
            </a:prstGeom>
          </p:spPr>
        </p:pic>
        <p:sp>
          <p:nvSpPr>
            <p:cNvPr id="13" name="Content Placeholder 2">
              <a:extLst>
                <a:ext uri="{FF2B5EF4-FFF2-40B4-BE49-F238E27FC236}">
                  <a16:creationId xmlns:a16="http://schemas.microsoft.com/office/drawing/2014/main" id="{B5CDB6D3-CC69-49D4-8032-F67EC69F19E4}"/>
                </a:ext>
              </a:extLst>
            </p:cNvPr>
            <p:cNvSpPr txBox="1">
              <a:spLocks/>
            </p:cNvSpPr>
            <p:nvPr/>
          </p:nvSpPr>
          <p:spPr>
            <a:xfrm>
              <a:off x="3067978" y="3875863"/>
              <a:ext cx="1050024" cy="824033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 fontScale="85000" lnSpcReduction="20000"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AU" sz="4800" b="1" dirty="0"/>
                <a:t>m</a:t>
              </a:r>
            </a:p>
            <a:p>
              <a:pPr marL="0" indent="0">
                <a:buFont typeface="Arial" panose="020B0604020202020204" pitchFamily="34" charset="0"/>
                <a:buNone/>
              </a:pPr>
              <a:endParaRPr lang="en-AU" sz="4400" b="1" dirty="0">
                <a:cs typeface="Calibri" panose="020F0502020204030204" pitchFamily="34" charset="0"/>
              </a:endParaRPr>
            </a:p>
            <a:p>
              <a:pPr marL="0" indent="0">
                <a:buFont typeface="Arial" panose="020B0604020202020204" pitchFamily="34" charset="0"/>
                <a:buNone/>
              </a:pPr>
              <a:endParaRPr lang="en-US" sz="48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17140486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0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1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3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5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6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7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7201670" cy="1293028"/>
          </a:xfrm>
        </p:spPr>
        <p:txBody>
          <a:bodyPr>
            <a:normAutofit/>
          </a:bodyPr>
          <a:lstStyle/>
          <a:p>
            <a:r>
              <a:rPr lang="en-AU" sz="5400" b="1" dirty="0">
                <a:solidFill>
                  <a:schemeClr val="accent1">
                    <a:lumMod val="50000"/>
                  </a:schemeClr>
                </a:solidFill>
                <a:latin typeface="Kiwi School Handwriting" panose="00000500000000000000" pitchFamily="2" charset="0"/>
              </a:rPr>
              <a:t>Box demonstration</a:t>
            </a:r>
            <a:endParaRPr lang="en-US" sz="5400" b="1" dirty="0">
              <a:solidFill>
                <a:schemeClr val="accent1">
                  <a:lumMod val="50000"/>
                </a:schemeClr>
              </a:solidFill>
              <a:latin typeface="Kiwi School Handwriting" panose="00000500000000000000" pitchFamily="2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AFF9EF6-86A2-42A5-AE9A-3FB82E18F8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58302" y="864678"/>
            <a:ext cx="7018202" cy="5524772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AU" sz="3200" dirty="0">
                <a:cs typeface="Calibri" panose="020F0502020204030204" pitchFamily="34" charset="0"/>
              </a:rPr>
              <a:t>Lets go back to just </a:t>
            </a:r>
            <a:r>
              <a:rPr lang="en-AU" sz="3200" b="1" dirty="0">
                <a:cs typeface="Calibri" panose="020F0502020204030204" pitchFamily="34" charset="0"/>
              </a:rPr>
              <a:t>m</a:t>
            </a:r>
            <a:r>
              <a:rPr lang="en-AU" sz="3200" dirty="0">
                <a:cs typeface="Calibri" panose="020F0502020204030204" pitchFamily="34" charset="0"/>
              </a:rPr>
              <a:t> number of blocks</a:t>
            </a:r>
          </a:p>
          <a:p>
            <a:pPr marL="514350" indent="-514350">
              <a:buFont typeface="+mj-lt"/>
              <a:buAutoNum type="arabicPeriod"/>
            </a:pPr>
            <a:r>
              <a:rPr lang="en-AU" sz="3200" dirty="0">
                <a:cs typeface="Calibri" panose="020F0502020204030204" pitchFamily="34" charset="0"/>
              </a:rPr>
              <a:t>I add 3 blocks to the box.</a:t>
            </a:r>
          </a:p>
          <a:p>
            <a:pPr marL="514350" indent="-514350">
              <a:buFont typeface="+mj-lt"/>
              <a:buAutoNum type="arabicPeriod"/>
            </a:pPr>
            <a:r>
              <a:rPr lang="en-AU" sz="3200" dirty="0">
                <a:cs typeface="Calibri" panose="020F0502020204030204" pitchFamily="34" charset="0"/>
              </a:rPr>
              <a:t>How would a mathematician write that down?</a:t>
            </a:r>
          </a:p>
          <a:p>
            <a:pPr marL="914400" lvl="2" indent="0">
              <a:buNone/>
            </a:pPr>
            <a:r>
              <a:rPr lang="en-AU" sz="2800" b="1" dirty="0">
                <a:solidFill>
                  <a:schemeClr val="accent5">
                    <a:lumMod val="50000"/>
                  </a:schemeClr>
                </a:solidFill>
                <a:cs typeface="Calibri" panose="020F0502020204030204" pitchFamily="34" charset="0"/>
              </a:rPr>
              <a:t>m + 3</a:t>
            </a:r>
          </a:p>
          <a:p>
            <a:pPr marL="514350" indent="-514350">
              <a:buFont typeface="+mj-lt"/>
              <a:buAutoNum type="arabicPeriod"/>
            </a:pPr>
            <a:r>
              <a:rPr lang="en-AU" sz="3200" dirty="0">
                <a:cs typeface="Calibri" panose="020F0502020204030204" pitchFamily="34" charset="0"/>
              </a:rPr>
              <a:t>What if I told you there is a total of 10 blocks in the box.</a:t>
            </a:r>
          </a:p>
          <a:p>
            <a:pPr marL="514350" indent="-514350">
              <a:buFont typeface="+mj-lt"/>
              <a:buAutoNum type="arabicPeriod"/>
            </a:pPr>
            <a:r>
              <a:rPr lang="en-AU" sz="3200" dirty="0">
                <a:cs typeface="Calibri" panose="020F0502020204030204" pitchFamily="34" charset="0"/>
              </a:rPr>
              <a:t>How would a mathematician write that down?</a:t>
            </a:r>
          </a:p>
          <a:p>
            <a:pPr marL="914400" lvl="2" indent="0">
              <a:buNone/>
            </a:pPr>
            <a:r>
              <a:rPr lang="en-AU" sz="2800" b="1" dirty="0">
                <a:solidFill>
                  <a:schemeClr val="accent5">
                    <a:lumMod val="50000"/>
                  </a:schemeClr>
                </a:solidFill>
                <a:cs typeface="Calibri" panose="020F0502020204030204" pitchFamily="34" charset="0"/>
              </a:rPr>
              <a:t>m + 3 = 10</a:t>
            </a:r>
          </a:p>
          <a:p>
            <a:pPr marL="514350" indent="-514350">
              <a:buFont typeface="+mj-lt"/>
              <a:buAutoNum type="arabicPeriod"/>
            </a:pPr>
            <a:endParaRPr lang="en-AU" sz="3200" dirty="0"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US" sz="3600" b="1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68494C8-B6D6-4427-8AE6-C64B378978F8}"/>
              </a:ext>
            </a:extLst>
          </p:cNvPr>
          <p:cNvGrpSpPr/>
          <p:nvPr/>
        </p:nvGrpSpPr>
        <p:grpSpPr>
          <a:xfrm>
            <a:off x="450378" y="1754969"/>
            <a:ext cx="4121622" cy="3588717"/>
            <a:chOff x="368491" y="1671079"/>
            <a:chExt cx="4653602" cy="4895497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F2E35F49-69E7-486B-B86E-637EE0CEAD2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68491" y="1671079"/>
              <a:ext cx="4653602" cy="4895497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F3B40EE3-778B-4D59-B663-6FF1F69D272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95292" y="3314696"/>
              <a:ext cx="1568640" cy="1568640"/>
            </a:xfrm>
            <a:prstGeom prst="rect">
              <a:avLst/>
            </a:prstGeom>
          </p:spPr>
        </p:pic>
        <p:sp>
          <p:nvSpPr>
            <p:cNvPr id="11" name="Content Placeholder 2">
              <a:extLst>
                <a:ext uri="{FF2B5EF4-FFF2-40B4-BE49-F238E27FC236}">
                  <a16:creationId xmlns:a16="http://schemas.microsoft.com/office/drawing/2014/main" id="{597E1F32-70F9-4EC8-8E5C-9157420003CC}"/>
                </a:ext>
              </a:extLst>
            </p:cNvPr>
            <p:cNvSpPr txBox="1">
              <a:spLocks/>
            </p:cNvSpPr>
            <p:nvPr/>
          </p:nvSpPr>
          <p:spPr>
            <a:xfrm>
              <a:off x="3131454" y="3812854"/>
              <a:ext cx="1050024" cy="824033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 fontScale="92500" lnSpcReduction="20000"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AU" sz="4800" b="1" dirty="0"/>
                <a:t>m</a:t>
              </a:r>
            </a:p>
            <a:p>
              <a:pPr marL="0" indent="0">
                <a:buFont typeface="Arial" panose="020B0604020202020204" pitchFamily="34" charset="0"/>
                <a:buNone/>
              </a:pPr>
              <a:endParaRPr lang="en-AU" sz="4400" b="1" dirty="0">
                <a:cs typeface="Calibri" panose="020F0502020204030204" pitchFamily="34" charset="0"/>
              </a:endParaRPr>
            </a:p>
            <a:p>
              <a:pPr marL="0" indent="0">
                <a:buFont typeface="Arial" panose="020B0604020202020204" pitchFamily="34" charset="0"/>
                <a:buNone/>
              </a:pPr>
              <a:endParaRPr lang="en-US" sz="48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36488605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69074D7-7189-401B-B22C-96E7385E16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1910" y="7988"/>
            <a:ext cx="5298884" cy="6850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4087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7201670" cy="1293028"/>
          </a:xfrm>
        </p:spPr>
        <p:txBody>
          <a:bodyPr>
            <a:normAutofit/>
          </a:bodyPr>
          <a:lstStyle/>
          <a:p>
            <a:r>
              <a:rPr lang="en-AU" sz="5400" b="1" dirty="0">
                <a:solidFill>
                  <a:schemeClr val="accent1">
                    <a:lumMod val="50000"/>
                  </a:schemeClr>
                </a:solidFill>
                <a:latin typeface="Kiwi School Handwriting" panose="00000500000000000000" pitchFamily="2" charset="0"/>
              </a:rPr>
              <a:t>Box demonstration</a:t>
            </a:r>
            <a:endParaRPr lang="en-US" sz="5400" b="1" dirty="0">
              <a:solidFill>
                <a:schemeClr val="accent1">
                  <a:lumMod val="50000"/>
                </a:schemeClr>
              </a:solidFill>
              <a:latin typeface="Kiwi School Handwriting" panose="00000500000000000000" pitchFamily="2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AFF9EF6-86A2-42A5-AE9A-3FB82E18F8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58302" y="1392072"/>
            <a:ext cx="7018202" cy="4997378"/>
          </a:xfrm>
        </p:spPr>
        <p:txBody>
          <a:bodyPr>
            <a:normAutofit/>
          </a:bodyPr>
          <a:lstStyle/>
          <a:p>
            <a:pPr marL="914400" lvl="2" indent="0">
              <a:buNone/>
            </a:pPr>
            <a:r>
              <a:rPr lang="en-AU" sz="3600" b="1" dirty="0">
                <a:solidFill>
                  <a:schemeClr val="accent5">
                    <a:lumMod val="50000"/>
                  </a:schemeClr>
                </a:solidFill>
                <a:cs typeface="Calibri" panose="020F0502020204030204" pitchFamily="34" charset="0"/>
              </a:rPr>
              <a:t>m + 3 = 10</a:t>
            </a:r>
          </a:p>
          <a:p>
            <a:pPr marL="0" indent="0">
              <a:buNone/>
            </a:pPr>
            <a:endParaRPr lang="en-AU" sz="3600" b="1" dirty="0">
              <a:solidFill>
                <a:schemeClr val="accent5">
                  <a:lumMod val="50000"/>
                </a:schemeClr>
              </a:solidFill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AU" sz="3200" dirty="0">
                <a:cs typeface="Calibri" panose="020F0502020204030204" pitchFamily="34" charset="0"/>
              </a:rPr>
              <a:t>m + 3 and 10 are the expressions</a:t>
            </a:r>
          </a:p>
          <a:p>
            <a:pPr marL="0" indent="0">
              <a:buNone/>
            </a:pPr>
            <a:endParaRPr lang="en-AU" sz="3200" dirty="0"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AU" sz="3200" dirty="0">
                <a:cs typeface="Calibri" panose="020F0502020204030204" pitchFamily="34" charset="0"/>
              </a:rPr>
              <a:t>m + 3 = 10 is the equation</a:t>
            </a:r>
          </a:p>
          <a:p>
            <a:pPr marL="0" indent="0">
              <a:buNone/>
            </a:pPr>
            <a:endParaRPr lang="en-US" sz="3600" b="1" dirty="0"/>
          </a:p>
          <a:p>
            <a:pPr marL="0" indent="0">
              <a:buNone/>
            </a:pPr>
            <a:r>
              <a:rPr lang="en-US" sz="3200" dirty="0">
                <a:solidFill>
                  <a:srgbClr val="FF0000"/>
                </a:solidFill>
              </a:rPr>
              <a:t>How would we work out what </a:t>
            </a:r>
            <a:r>
              <a:rPr lang="en-US" sz="3200" b="1" dirty="0">
                <a:solidFill>
                  <a:srgbClr val="FF0000"/>
                </a:solidFill>
              </a:rPr>
              <a:t>m</a:t>
            </a:r>
            <a:r>
              <a:rPr lang="en-US" sz="3200" dirty="0">
                <a:solidFill>
                  <a:srgbClr val="FF0000"/>
                </a:solidFill>
              </a:rPr>
              <a:t> is?</a:t>
            </a:r>
          </a:p>
          <a:p>
            <a:pPr marL="0" indent="0">
              <a:buNone/>
            </a:pPr>
            <a:endParaRPr lang="en-US" sz="3600" b="1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68494C8-B6D6-4427-8AE6-C64B378978F8}"/>
              </a:ext>
            </a:extLst>
          </p:cNvPr>
          <p:cNvGrpSpPr/>
          <p:nvPr/>
        </p:nvGrpSpPr>
        <p:grpSpPr>
          <a:xfrm>
            <a:off x="450378" y="1754969"/>
            <a:ext cx="4121622" cy="3588717"/>
            <a:chOff x="368491" y="1671079"/>
            <a:chExt cx="4653602" cy="4895497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F2E35F49-69E7-486B-B86E-637EE0CEAD2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68491" y="1671079"/>
              <a:ext cx="4653602" cy="4895497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F3B40EE3-778B-4D59-B663-6FF1F69D272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95292" y="3314696"/>
              <a:ext cx="1568640" cy="1568640"/>
            </a:xfrm>
            <a:prstGeom prst="rect">
              <a:avLst/>
            </a:prstGeom>
          </p:spPr>
        </p:pic>
        <p:sp>
          <p:nvSpPr>
            <p:cNvPr id="11" name="Content Placeholder 2">
              <a:extLst>
                <a:ext uri="{FF2B5EF4-FFF2-40B4-BE49-F238E27FC236}">
                  <a16:creationId xmlns:a16="http://schemas.microsoft.com/office/drawing/2014/main" id="{597E1F32-70F9-4EC8-8E5C-9157420003CC}"/>
                </a:ext>
              </a:extLst>
            </p:cNvPr>
            <p:cNvSpPr txBox="1">
              <a:spLocks/>
            </p:cNvSpPr>
            <p:nvPr/>
          </p:nvSpPr>
          <p:spPr>
            <a:xfrm>
              <a:off x="3131454" y="3812854"/>
              <a:ext cx="1050024" cy="824033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 fontScale="92500" lnSpcReduction="20000"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AU" sz="4800" b="1" dirty="0"/>
                <a:t>m</a:t>
              </a:r>
            </a:p>
            <a:p>
              <a:pPr marL="0" indent="0">
                <a:buFont typeface="Arial" panose="020B0604020202020204" pitchFamily="34" charset="0"/>
                <a:buNone/>
              </a:pPr>
              <a:endParaRPr lang="en-AU" sz="4400" b="1" dirty="0">
                <a:cs typeface="Calibri" panose="020F0502020204030204" pitchFamily="34" charset="0"/>
              </a:endParaRPr>
            </a:p>
            <a:p>
              <a:pPr marL="0" indent="0">
                <a:buFont typeface="Arial" panose="020B0604020202020204" pitchFamily="34" charset="0"/>
                <a:buNone/>
              </a:pPr>
              <a:endParaRPr lang="en-US" sz="48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15789854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3F0FC07-8402-4E80-BC34-C424B24830A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776" y="498477"/>
            <a:ext cx="7609517" cy="6156489"/>
          </a:xfr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7C23801-CF96-40F3-932D-E6A223D9636C}"/>
              </a:ext>
            </a:extLst>
          </p:cNvPr>
          <p:cNvSpPr txBox="1">
            <a:spLocks/>
          </p:cNvSpPr>
          <p:nvPr/>
        </p:nvSpPr>
        <p:spPr>
          <a:xfrm>
            <a:off x="806895" y="4907372"/>
            <a:ext cx="1683608" cy="71617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8100">
            <a:solidFill>
              <a:schemeClr val="accent1">
                <a:lumMod val="50000"/>
              </a:schemeClr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AU" sz="4000" b="1" dirty="0">
                <a:solidFill>
                  <a:schemeClr val="accent5">
                    <a:lumMod val="50000"/>
                  </a:schemeClr>
                </a:solidFill>
                <a:cs typeface="Calibri" panose="020F0502020204030204" pitchFamily="34" charset="0"/>
              </a:rPr>
              <a:t>m + 3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F85D072-9E95-4E93-AC9B-857A87AD7BA3}"/>
              </a:ext>
            </a:extLst>
          </p:cNvPr>
          <p:cNvSpPr txBox="1">
            <a:spLocks/>
          </p:cNvSpPr>
          <p:nvPr/>
        </p:nvSpPr>
        <p:spPr>
          <a:xfrm>
            <a:off x="6071828" y="4968454"/>
            <a:ext cx="1448089" cy="65509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8100">
            <a:solidFill>
              <a:schemeClr val="accent1">
                <a:lumMod val="50000"/>
              </a:schemeClr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AU" sz="4000" b="1" dirty="0">
                <a:solidFill>
                  <a:schemeClr val="accent5">
                    <a:lumMod val="50000"/>
                  </a:schemeClr>
                </a:solidFill>
                <a:cs typeface="Calibri" panose="020F0502020204030204" pitchFamily="34" charset="0"/>
              </a:rPr>
              <a:t>10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677C101-C9B6-463F-A75C-278319F53386}"/>
              </a:ext>
            </a:extLst>
          </p:cNvPr>
          <p:cNvSpPr txBox="1">
            <a:spLocks/>
          </p:cNvSpPr>
          <p:nvPr/>
        </p:nvSpPr>
        <p:spPr>
          <a:xfrm>
            <a:off x="7315200" y="166718"/>
            <a:ext cx="4681182" cy="185315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8100">
            <a:solidFill>
              <a:schemeClr val="accent1">
                <a:lumMod val="50000"/>
              </a:schemeClr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AU" sz="4000" b="1" dirty="0">
                <a:solidFill>
                  <a:schemeClr val="accent5">
                    <a:lumMod val="50000"/>
                  </a:schemeClr>
                </a:solidFill>
                <a:cs typeface="Calibri" panose="020F0502020204030204" pitchFamily="34" charset="0"/>
              </a:rPr>
              <a:t>Your equation has to be balanced on each side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5A314DB4-22C7-4730-A6F6-CA6D59C6CCDA}"/>
              </a:ext>
            </a:extLst>
          </p:cNvPr>
          <p:cNvSpPr txBox="1">
            <a:spLocks/>
          </p:cNvSpPr>
          <p:nvPr/>
        </p:nvSpPr>
        <p:spPr>
          <a:xfrm>
            <a:off x="7970293" y="2909788"/>
            <a:ext cx="3807725" cy="66693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8100">
            <a:solidFill>
              <a:schemeClr val="accent1">
                <a:lumMod val="50000"/>
              </a:schemeClr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AU" sz="4000" b="1" dirty="0">
                <a:solidFill>
                  <a:schemeClr val="accent5">
                    <a:lumMod val="50000"/>
                  </a:schemeClr>
                </a:solidFill>
                <a:cs typeface="Calibri" panose="020F0502020204030204" pitchFamily="34" charset="0"/>
              </a:rPr>
              <a:t>So m is = 7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95CEBA4E-9689-4A3B-940F-549055FEB58A}"/>
              </a:ext>
            </a:extLst>
          </p:cNvPr>
          <p:cNvSpPr txBox="1">
            <a:spLocks/>
          </p:cNvSpPr>
          <p:nvPr/>
        </p:nvSpPr>
        <p:spPr>
          <a:xfrm>
            <a:off x="806895" y="4968454"/>
            <a:ext cx="1683608" cy="71617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8100">
            <a:solidFill>
              <a:schemeClr val="accent1">
                <a:lumMod val="50000"/>
              </a:schemeClr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AU" sz="4000" b="1" dirty="0">
                <a:solidFill>
                  <a:schemeClr val="accent5">
                    <a:lumMod val="50000"/>
                  </a:schemeClr>
                </a:solidFill>
                <a:cs typeface="Calibri" panose="020F0502020204030204" pitchFamily="34" charset="0"/>
              </a:rPr>
              <a:t>7 + 3</a:t>
            </a:r>
          </a:p>
        </p:txBody>
      </p:sp>
    </p:spTree>
    <p:extLst>
      <p:ext uri="{BB962C8B-B14F-4D97-AF65-F5344CB8AC3E}">
        <p14:creationId xmlns:p14="http://schemas.microsoft.com/office/powerpoint/2010/main" val="9616309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31838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Word Equations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36360" y="204438"/>
            <a:ext cx="2160240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0" y="1631668"/>
            <a:ext cx="1847528" cy="11999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How to write an equation?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How do we correctly write mathematical equations? 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51674" y="1588900"/>
            <a:ext cx="9962822" cy="48919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</a:rPr>
              <a:t>1 . What is the worded equation?</a:t>
            </a:r>
          </a:p>
          <a:p>
            <a:pPr defTabSz="914126"/>
            <a:endParaRPr lang="en-AU" sz="2399" i="1" dirty="0">
              <a:solidFill>
                <a:prstClr val="black"/>
              </a:solidFill>
            </a:endParaRPr>
          </a:p>
          <a:p>
            <a:pPr defTabSz="914126"/>
            <a:r>
              <a:rPr lang="en-AU" sz="2399" i="1" dirty="0">
                <a:solidFill>
                  <a:prstClr val="black"/>
                </a:solidFill>
                <a:highlight>
                  <a:srgbClr val="C0C0C0"/>
                </a:highlight>
              </a:rPr>
              <a:t>When a number is added to five the answer is 9</a:t>
            </a:r>
          </a:p>
          <a:p>
            <a:pPr defTabSz="914126"/>
            <a:endParaRPr lang="en-AU" sz="2399" i="1" dirty="0">
              <a:solidFill>
                <a:prstClr val="black"/>
              </a:solidFill>
              <a:highlight>
                <a:srgbClr val="C0C0C0"/>
              </a:highlight>
            </a:endParaRPr>
          </a:p>
          <a:p>
            <a:pPr defTabSz="914126"/>
            <a:r>
              <a:rPr lang="en-US" sz="2399" dirty="0">
                <a:solidFill>
                  <a:prstClr val="black"/>
                </a:solidFill>
              </a:rPr>
              <a:t>2. How would a mathematician write that down?</a:t>
            </a:r>
          </a:p>
          <a:p>
            <a:pPr defTabSz="914126"/>
            <a:r>
              <a:rPr lang="en-US" sz="2399" dirty="0">
                <a:solidFill>
                  <a:prstClr val="black"/>
                </a:solidFill>
              </a:rPr>
              <a:t>number = x                                 </a:t>
            </a:r>
            <a:r>
              <a:rPr lang="en-US" sz="2399" dirty="0">
                <a:solidFill>
                  <a:prstClr val="black"/>
                </a:solidFill>
                <a:highlight>
                  <a:srgbClr val="C0C0C0"/>
                </a:highlight>
              </a:rPr>
              <a:t>x + 5 = 9</a:t>
            </a:r>
          </a:p>
          <a:p>
            <a:pPr defTabSz="914126"/>
            <a:endParaRPr lang="en-US" sz="2399" dirty="0">
              <a:solidFill>
                <a:prstClr val="black"/>
              </a:solidFill>
              <a:highlight>
                <a:srgbClr val="C0C0C0"/>
              </a:highlight>
            </a:endParaRPr>
          </a:p>
          <a:p>
            <a:pPr defTabSz="914126"/>
            <a:r>
              <a:rPr lang="en-US" sz="2399" dirty="0">
                <a:solidFill>
                  <a:prstClr val="black"/>
                </a:solidFill>
              </a:rPr>
              <a:t>3. The two expressions has to be </a:t>
            </a:r>
          </a:p>
          <a:p>
            <a:pPr defTabSz="914126"/>
            <a:r>
              <a:rPr lang="en-US" sz="2399" dirty="0">
                <a:solidFill>
                  <a:prstClr val="black"/>
                </a:solidFill>
              </a:rPr>
              <a:t>balanced so what does x equal?</a:t>
            </a:r>
          </a:p>
          <a:p>
            <a:pPr defTabSz="914126"/>
            <a:endParaRPr lang="en-US" sz="2399" dirty="0">
              <a:solidFill>
                <a:prstClr val="black"/>
              </a:solidFill>
            </a:endParaRPr>
          </a:p>
          <a:p>
            <a:pPr defTabSz="914126"/>
            <a:r>
              <a:rPr lang="en-US" sz="2399" dirty="0">
                <a:solidFill>
                  <a:prstClr val="black"/>
                </a:solidFill>
              </a:rPr>
              <a:t> x = 4</a:t>
            </a:r>
          </a:p>
          <a:p>
            <a:pPr defTabSz="914126"/>
            <a:endParaRPr lang="en-US" sz="2399" dirty="0">
              <a:solidFill>
                <a:prstClr val="black"/>
              </a:solidFill>
            </a:endParaRPr>
          </a:p>
          <a:p>
            <a:pPr defTabSz="914126"/>
            <a:r>
              <a:rPr lang="en-US" sz="2399" b="1" dirty="0">
                <a:solidFill>
                  <a:srgbClr val="FF0000"/>
                </a:solidFill>
              </a:rPr>
              <a:t>4 + 5 = 9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5B6094D3-B8F6-4EC0-B72A-C2BABBDC25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15200" y="4244834"/>
            <a:ext cx="3581400" cy="2009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81731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3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3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69074D7-7189-401B-B22C-96E7385E16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1910" y="7988"/>
            <a:ext cx="5298884" cy="6850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157604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8F3B9E-67B8-42B7-B71F-D57DC4765FAB}"/>
              </a:ext>
            </a:extLst>
          </p:cNvPr>
          <p:cNvSpPr txBox="1">
            <a:spLocks/>
          </p:cNvSpPr>
          <p:nvPr/>
        </p:nvSpPr>
        <p:spPr>
          <a:xfrm>
            <a:off x="3409089" y="693953"/>
            <a:ext cx="8608358" cy="1293028"/>
          </a:xfrm>
          <a:prstGeom prst="rect">
            <a:avLst/>
          </a:prstGeom>
        </p:spPr>
        <p:txBody>
          <a:bodyPr>
            <a:norm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AU" sz="5400" b="1" dirty="0">
                <a:solidFill>
                  <a:schemeClr val="accent1">
                    <a:lumMod val="50000"/>
                  </a:schemeClr>
                </a:solidFill>
                <a:latin typeface="Kiwi School Handwriting" panose="00000500000000000000" pitchFamily="2" charset="0"/>
              </a:rPr>
              <a:t>Practice</a:t>
            </a:r>
            <a:endParaRPr lang="en-US" sz="5400" b="1" dirty="0">
              <a:solidFill>
                <a:schemeClr val="accent1">
                  <a:lumMod val="50000"/>
                </a:schemeClr>
              </a:solidFill>
              <a:latin typeface="Kiwi School Handwriting" panose="00000500000000000000" pitchFamily="2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4444D18-B07E-4572-A66C-5758428480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786" y="1472347"/>
            <a:ext cx="9105088" cy="64305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6EFE39D-6EE3-4610-8685-81488ACF4F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9787" y="3803459"/>
            <a:ext cx="9426978" cy="548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98940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8F3B9E-67B8-42B7-B71F-D57DC4765FAB}"/>
              </a:ext>
            </a:extLst>
          </p:cNvPr>
          <p:cNvSpPr txBox="1">
            <a:spLocks/>
          </p:cNvSpPr>
          <p:nvPr/>
        </p:nvSpPr>
        <p:spPr>
          <a:xfrm>
            <a:off x="3409089" y="693953"/>
            <a:ext cx="8608358" cy="1293028"/>
          </a:xfrm>
          <a:prstGeom prst="rect">
            <a:avLst/>
          </a:prstGeom>
        </p:spPr>
        <p:txBody>
          <a:bodyPr>
            <a:norm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AU" sz="5400" b="1" dirty="0">
                <a:solidFill>
                  <a:schemeClr val="accent1">
                    <a:lumMod val="50000"/>
                  </a:schemeClr>
                </a:solidFill>
                <a:latin typeface="Kiwi School Handwriting" panose="00000500000000000000" pitchFamily="2" charset="0"/>
              </a:rPr>
              <a:t>Task</a:t>
            </a:r>
            <a:endParaRPr lang="en-US" sz="5400" b="1" dirty="0">
              <a:solidFill>
                <a:schemeClr val="accent1">
                  <a:lumMod val="50000"/>
                </a:schemeClr>
              </a:solidFill>
              <a:latin typeface="Kiwi School Handwriting" panose="00000500000000000000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F37BEBC-2A50-47A3-B82C-2E39FD0C5C72}"/>
              </a:ext>
            </a:extLst>
          </p:cNvPr>
          <p:cNvSpPr txBox="1"/>
          <p:nvPr/>
        </p:nvSpPr>
        <p:spPr>
          <a:xfrm>
            <a:off x="5036069" y="509727"/>
            <a:ext cx="4899502" cy="830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</a:rPr>
              <a:t>Complete the following:</a:t>
            </a:r>
          </a:p>
          <a:p>
            <a:pPr defTabSz="914126"/>
            <a:r>
              <a:rPr lang="en-AU" sz="2399" b="1" i="1" dirty="0">
                <a:solidFill>
                  <a:prstClr val="black"/>
                </a:solidFill>
              </a:rPr>
              <a:t>Don’t forget your summery!!</a:t>
            </a:r>
            <a:endParaRPr lang="en-US" sz="2399" b="1" i="1" dirty="0">
              <a:solidFill>
                <a:srgbClr val="FF0000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D786FC0-6182-4F87-A9F7-9DAF5A5976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282" y="2167008"/>
            <a:ext cx="9583289" cy="184244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D1AFAF4-9AD4-4D35-BA4D-3E33C09625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1595" y="4655970"/>
            <a:ext cx="10126971" cy="1035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4474322"/>
      </p:ext>
    </p:extLst>
  </p:cSld>
  <p:clrMapOvr>
    <a:masterClrMapping/>
  </p:clrMapOvr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E5224E"/>
      </a:accent1>
      <a:accent2>
        <a:srgbClr val="9D074E"/>
      </a:accent2>
      <a:accent3>
        <a:srgbClr val="7F2294"/>
      </a:accent3>
      <a:accent4>
        <a:srgbClr val="8D65EA"/>
      </a:accent4>
      <a:accent5>
        <a:srgbClr val="588FE2"/>
      </a:accent5>
      <a:accent6>
        <a:srgbClr val="127CA4"/>
      </a:accent6>
      <a:hlink>
        <a:srgbClr val="FB4AB6"/>
      </a:hlink>
      <a:folHlink>
        <a:srgbClr val="F98FE9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6DB8EB18-3657-4051-A897-2ED38832359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Vapor Trail</Template>
  <TotalTime>278</TotalTime>
  <Words>686</Words>
  <Application>Microsoft Office PowerPoint</Application>
  <PresentationFormat>Widescreen</PresentationFormat>
  <Paragraphs>135</Paragraphs>
  <Slides>21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Arial</vt:lpstr>
      <vt:lpstr>Calibri</vt:lpstr>
      <vt:lpstr>Century Gothic</vt:lpstr>
      <vt:lpstr>DJB Fancy Nancy</vt:lpstr>
      <vt:lpstr>Kiwi School Handwriting</vt:lpstr>
      <vt:lpstr>Vapor Trail</vt:lpstr>
      <vt:lpstr>Linear Equations Interactive notebook</vt:lpstr>
      <vt:lpstr>Word equations</vt:lpstr>
      <vt:lpstr>Learning Intentions</vt:lpstr>
      <vt:lpstr>PowerPoint Presentation</vt:lpstr>
      <vt:lpstr>PowerPoint Presentation</vt:lpstr>
      <vt:lpstr>Power-Write</vt:lpstr>
      <vt:lpstr>Box demonstration</vt:lpstr>
      <vt:lpstr>PowerPoint Presentation</vt:lpstr>
      <vt:lpstr>Box demonstration</vt:lpstr>
      <vt:lpstr>PowerPoint Presentation</vt:lpstr>
      <vt:lpstr>Box demonstration</vt:lpstr>
      <vt:lpstr>PowerPoint Presentation</vt:lpstr>
      <vt:lpstr>Box demonstration</vt:lpstr>
      <vt:lpstr>Box demonstration</vt:lpstr>
      <vt:lpstr>PowerPoint Presentation</vt:lpstr>
      <vt:lpstr>Box demonstration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Linear Equations Interactive notebook</dc:title>
  <dc:creator>Nine Labuschagne</dc:creator>
  <cp:lastModifiedBy>Nine Labuschagne</cp:lastModifiedBy>
  <cp:revision>29</cp:revision>
  <dcterms:created xsi:type="dcterms:W3CDTF">2017-09-05T02:44:38Z</dcterms:created>
  <dcterms:modified xsi:type="dcterms:W3CDTF">2017-09-05T07:23:49Z</dcterms:modified>
</cp:coreProperties>
</file>
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64" r:id="rId4"/>
    <p:sldId id="316" r:id="rId5"/>
    <p:sldId id="343" r:id="rId6"/>
    <p:sldId id="311" r:id="rId7"/>
    <p:sldId id="336" r:id="rId8"/>
    <p:sldId id="338" r:id="rId9"/>
    <p:sldId id="339" r:id="rId10"/>
    <p:sldId id="345" r:id="rId11"/>
    <p:sldId id="341" r:id="rId12"/>
    <p:sldId id="342" r:id="rId13"/>
    <p:sldId id="29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3" autoAdjust="0"/>
    <p:restoredTop sz="94660"/>
  </p:normalViewPr>
  <p:slideViewPr>
    <p:cSldViewPr snapToGrid="0">
      <p:cViewPr varScale="1">
        <p:scale>
          <a:sx n="93" d="100"/>
          <a:sy n="93" d="100"/>
        </p:scale>
        <p:origin x="72" y="3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858F09-EBB8-4BB3-9B27-AD3478AF7D8B}" type="datetimeFigureOut">
              <a:rPr lang="en-AU" smtClean="0"/>
              <a:t>16/11/2021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6C9F9F-E2D5-48B4-A49D-4F9DF06CEA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8464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AU" dirty="0"/>
                  <a:t>Answers</a:t>
                </a:r>
              </a:p>
              <a:p>
                <a:pPr marL="228600" indent="-228600">
                  <a:buAutoNum type="arabicPeriod"/>
                </a:pPr>
                <a:r>
                  <a:rPr lang="en-AU" dirty="0"/>
                  <a:t>43</a:t>
                </a:r>
              </a:p>
              <a:p>
                <a:pPr marL="228600" indent="-228600"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AU" dirty="0"/>
              </a:p>
              <a:p>
                <a:pPr marL="228600" indent="-228600">
                  <a:buAutoNum type="arabicPeriod"/>
                </a:pPr>
                <a:r>
                  <a:rPr lang="en-AU" dirty="0"/>
                  <a:t>-23</a:t>
                </a:r>
              </a:p>
              <a:p>
                <a:pPr marL="228600" indent="-228600">
                  <a:buAutoNum type="arabicPeriod"/>
                </a:pPr>
                <a:r>
                  <a:rPr lang="en-AU" dirty="0"/>
                  <a:t>16</a:t>
                </a:r>
              </a:p>
              <a:p>
                <a:pPr marL="228600" indent="-228600">
                  <a:buAutoNum type="arabicPeriod"/>
                </a:pPr>
                <a:r>
                  <a:rPr lang="en-AU"/>
                  <a:t>D) 6000</a:t>
                </a:r>
                <a:endParaRPr lang="en-AU" dirty="0"/>
              </a:p>
              <a:p>
                <a:pPr marL="228600" indent="-228600">
                  <a:buAutoNum type="arabicPeriod"/>
                </a:pPr>
                <a:endParaRPr lang="en-AU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r>
                  <a:rPr lang="en-AU" dirty="0"/>
                  <a:t>105.43</a:t>
                </a:r>
              </a:p>
              <a:p>
                <a:pPr marL="228600" indent="-228600">
                  <a:buAutoNum type="arabicPeriod"/>
                </a:pPr>
                <a:r>
                  <a:rPr lang="en-AU" dirty="0"/>
                  <a:t>e</a:t>
                </a:r>
              </a:p>
              <a:p>
                <a:pPr marL="228600" indent="-228600">
                  <a:buAutoNum type="arabicPeriod"/>
                </a:pPr>
                <a:r>
                  <a:rPr lang="en-AU" dirty="0"/>
                  <a:t>0.5</a:t>
                </a:r>
              </a:p>
              <a:p>
                <a:pPr marL="228600" indent="-228600">
                  <a:buAutoNum type="arabicPeriod"/>
                </a:pPr>
                <a:r>
                  <a:rPr lang="en-AU" b="0" i="0">
                    <a:latin typeface="Cambria Math" panose="02040503050406030204" pitchFamily="18" charset="0"/>
                  </a:rPr>
                  <a:t>1/5</a:t>
                </a:r>
                <a:endParaRPr lang="en-AU" dirty="0"/>
              </a:p>
              <a:p>
                <a:pPr marL="228600" indent="-228600">
                  <a:buAutoNum type="arabicPeriod"/>
                </a:pPr>
                <a:r>
                  <a:rPr lang="en-AU" dirty="0"/>
                  <a:t>Amelia took 250 seconds to finish the race.</a:t>
                </a:r>
              </a:p>
              <a:p>
                <a:pPr marL="228600" indent="-228600">
                  <a:buAutoNum type="arabicPeriod"/>
                </a:pPr>
                <a:endParaRPr lang="en-AU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92F62-36E4-4495-8B54-FAECD2DEF7D2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17269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02755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2502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EE0BA-05EC-4397-BCE7-82D7E49565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10DD06-9DCE-4861-91F8-EC4410CC39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23787-50AD-4D08-AA79-B8015523A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7D6AC-B36A-4C0B-9906-F54C359C5411}" type="datetimeFigureOut">
              <a:rPr lang="en-AU" smtClean="0"/>
              <a:t>16/11/2021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3A927-71B9-40BB-B185-9662C6C94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3F5DD-942D-41E5-9949-98A8E4699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9A384-944F-4503-9F49-6564E711E3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3204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2A257-ED78-48B4-A575-D9DF62F4C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AC750-4A33-42A1-8102-CE3B30593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73DE6-01A7-43B9-A546-6DF2C20C1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7D6AC-B36A-4C0B-9906-F54C359C5411}" type="datetimeFigureOut">
              <a:rPr lang="en-AU" smtClean="0"/>
              <a:t>16/11/2021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4F072-6DBA-4854-9473-837796496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A65A5-D0F7-42B3-8FDB-B5DA64ED9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9A384-944F-4503-9F49-6564E711E3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0284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042FA-0893-4D71-BA50-9365AB98E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626ECD-F1AF-4670-BDD5-EC797DE10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77F5D-E3BD-4BDF-AB4A-2F119AB55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7D6AC-B36A-4C0B-9906-F54C359C5411}" type="datetimeFigureOut">
              <a:rPr lang="en-AU" smtClean="0"/>
              <a:t>16/11/2021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CAA45-1FCE-4561-BCD5-2C0EEB306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06356-DF3C-45D6-8D0B-139543CD6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9A384-944F-4503-9F49-6564E711E3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3271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814DE-5078-4FBE-AA28-A43921E22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A9DD6-157F-4432-B9D2-61E4612C4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33C03B-EA2D-4CCB-89F3-794F31D412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20AFE6-F3B2-4CDD-BF78-730D3B75E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7D6AC-B36A-4C0B-9906-F54C359C5411}" type="datetimeFigureOut">
              <a:rPr lang="en-AU" smtClean="0"/>
              <a:t>16/11/2021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1EA2E9-052B-4F70-900F-8A245DA38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AE6B98-476B-4B28-8D58-706556445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9A384-944F-4503-9F49-6564E711E3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6068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8B378-375A-450F-A81D-332E47B42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3C59C4-F08F-41D2-B71B-5438C47E0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07E5F1-6CB9-40A2-BB3E-6F30A85CB4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FAF46-E1D8-45A4-BC63-5F8709B79C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320089-1D27-4999-9697-28AA99FDBE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80F168-1005-422B-B283-53D3234C5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7D6AC-B36A-4C0B-9906-F54C359C5411}" type="datetimeFigureOut">
              <a:rPr lang="en-AU" smtClean="0"/>
              <a:t>16/11/2021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7767C2-A13F-4F38-8AC4-0650DC0A9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3D6278-2735-47F4-B642-FA43E869F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9A384-944F-4503-9F49-6564E711E3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1009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20DC1-8DFF-4B4B-B001-74ABB3B6F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C14185-C9F0-4FB1-B76E-BA416E29D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7D6AC-B36A-4C0B-9906-F54C359C5411}" type="datetimeFigureOut">
              <a:rPr lang="en-AU" smtClean="0"/>
              <a:t>16/11/2021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6DB1B2-CA66-4AC9-8877-4F699412C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170306-8F5D-4B34-8BB0-0DF12ED53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9A384-944F-4503-9F49-6564E711E3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856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0EEDA2-3779-464C-94E1-7C20AF0B3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7D6AC-B36A-4C0B-9906-F54C359C5411}" type="datetimeFigureOut">
              <a:rPr lang="en-AU" smtClean="0"/>
              <a:t>16/11/2021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F95E91-E8AE-4C86-9385-48FD0C5F0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4F129D-8118-435F-862B-A869236E8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9A384-944F-4503-9F49-6564E711E3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5740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29088-18E2-4E82-A435-6DBF68357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B18D1-AA2F-4A84-9A78-4AB22EB2F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63BA02-AC49-496D-949E-A8BB9F3946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D6862A-E087-49DC-90E7-C006B341B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7D6AC-B36A-4C0B-9906-F54C359C5411}" type="datetimeFigureOut">
              <a:rPr lang="en-AU" smtClean="0"/>
              <a:t>16/11/2021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151958-EBB7-4D15-93ED-4E6A2CFDA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4A7EB6-7C65-43B9-81AA-01556C2C6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9A384-944F-4503-9F49-6564E711E3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5288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9ED71-51E9-49DD-B535-761CD4013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D45907-8D83-423B-939F-8051F2A45F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3FFE28-F8A4-4679-B9F2-21EBCFDA20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0B4A82-EA1B-41A9-A799-4E3672E4A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7D6AC-B36A-4C0B-9906-F54C359C5411}" type="datetimeFigureOut">
              <a:rPr lang="en-AU" smtClean="0"/>
              <a:t>16/11/2021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E5356C-3D5F-4EA0-8A02-4820ADEA7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0433CA-E232-4FFE-BA4F-795DEA6AF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9A384-944F-4503-9F49-6564E711E3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8802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5E3E0-E9DD-48F0-82AD-F0D763DF6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5A9BEC-BD6A-4ADA-89BA-B59DE026E0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39102-FDBD-4177-BC49-976C992D5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7D6AC-B36A-4C0B-9906-F54C359C5411}" type="datetimeFigureOut">
              <a:rPr lang="en-AU" smtClean="0"/>
              <a:t>16/11/2021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9A194-4FF8-4948-B6E6-ABC89A22A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D5F76-ADDD-4E2B-ACC3-A2BF1E7D8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9A384-944F-4503-9F49-6564E711E3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4099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CE0B54-C499-48B2-94AD-EDCC3B8B14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F0A069-0A51-4C05-ABB4-6A8036D407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AF9FE-F795-4F68-A170-EB50C0EA9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7D6AC-B36A-4C0B-9906-F54C359C5411}" type="datetimeFigureOut">
              <a:rPr lang="en-AU" smtClean="0"/>
              <a:t>16/11/2021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E57A4-AEDC-445C-A207-276B557A5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DBC57-FCBE-433A-8BF5-B9B67716E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9A384-944F-4503-9F49-6564E711E3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7262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1EB0D9-4319-43CE-816D-A5F7605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E47DA0-FECE-45EC-A30B-871E27009D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BE61D-934E-40C6-A3CD-5D90EECFE2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47D6AC-B36A-4C0B-9906-F54C359C5411}" type="datetimeFigureOut">
              <a:rPr lang="en-AU" smtClean="0"/>
              <a:t>16/11/2021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FCE375-A126-4072-A5FD-DFFCB4A93D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82FA8-EFFE-4B0A-BB58-48A6CA66A5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9A384-944F-4503-9F49-6564E711E3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052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licenses/by-nd/3.0/" TargetMode="External"/><Relationship Id="rId5" Type="http://schemas.openxmlformats.org/officeDocument/2006/relationships/image" Target="../media/image3.png"/><Relationship Id="rId4" Type="http://schemas.openxmlformats.org/officeDocument/2006/relationships/hyperlink" Target="http://theconversation.com/make-maths-mandatory-and-well-improve-our-international-education-rankings-11663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uzzlewocky.com/math-fun/graeco-latin-squares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sa/3.0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67443-25D2-44EB-AFEF-1E571AE1AE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AU" sz="3200" dirty="0"/>
              <a:t>TOPIC: Order of Operations</a:t>
            </a:r>
            <a:br>
              <a:rPr lang="en-AU" sz="3200" dirty="0"/>
            </a:br>
            <a:r>
              <a:rPr lang="en-AU" sz="3200" dirty="0"/>
              <a:t>EQ: What is the relationship between the squared number and finding the square root?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AE1401-3F98-411B-98D0-0F6B82B55C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7 Mathematics</a:t>
            </a:r>
          </a:p>
        </p:txBody>
      </p:sp>
    </p:spTree>
    <p:extLst>
      <p:ext uri="{BB962C8B-B14F-4D97-AF65-F5344CB8AC3E}">
        <p14:creationId xmlns:p14="http://schemas.microsoft.com/office/powerpoint/2010/main" val="2100913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Things Required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46C1-2EC7-446D-84C7-06B86F228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AU" dirty="0"/>
              <a:t> Interactive Notebook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/>
              <a:t> Ruler, Red Pen, Pencil, Pens, Scientific Calculator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/>
              <a:t> Growth mindset</a:t>
            </a:r>
          </a:p>
        </p:txBody>
      </p:sp>
    </p:spTree>
    <p:extLst>
      <p:ext uri="{BB962C8B-B14F-4D97-AF65-F5344CB8AC3E}">
        <p14:creationId xmlns:p14="http://schemas.microsoft.com/office/powerpoint/2010/main" val="2390803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4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V="1">
            <a:off x="6024081" y="615122"/>
            <a:ext cx="6167919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cxnSpLocks/>
          </p:cNvCxnSpPr>
          <p:nvPr/>
        </p:nvCxnSpPr>
        <p:spPr>
          <a:xfrm>
            <a:off x="6024082" y="1196752"/>
            <a:ext cx="616791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6096089" y="5373216"/>
            <a:ext cx="609591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91751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57262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0338" y="601549"/>
            <a:ext cx="23535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1751" y="1196752"/>
            <a:ext cx="7665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21238" y="1196753"/>
            <a:ext cx="13704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89" y="5373217"/>
            <a:ext cx="11224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5246" y="142494"/>
            <a:ext cx="909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Tasks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A3DEE0-B061-4B2A-86FB-FAA1342E38A6}"/>
              </a:ext>
            </a:extLst>
          </p:cNvPr>
          <p:cNvSpPr txBox="1"/>
          <p:nvPr/>
        </p:nvSpPr>
        <p:spPr>
          <a:xfrm>
            <a:off x="6340505" y="103287"/>
            <a:ext cx="8044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544530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6867255D-7C72-44F0-A93A-6AC47D66BF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5054" b="458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116FF4-D232-42D9-8C68-8C0C50FAA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AU">
                <a:solidFill>
                  <a:schemeClr val="tx1"/>
                </a:solidFill>
              </a:rPr>
              <a:t>Five Questions (LHS)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5FED35-8289-4A6B-85E0-D8BA5A06CE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1843889"/>
                <a:ext cx="10970958" cy="4522940"/>
              </a:xfrm>
            </p:spPr>
            <p:txBody>
              <a:bodyPr>
                <a:no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Without using a calculator, evaluate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3+5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2+6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</m:oMath>
                </a14:m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Murray has 36 red plums and 18 purple plums. What fraction of the plums are red?</a:t>
                </a:r>
                <a:b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	b)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	c)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	d)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3</m:t>
                        </m:r>
                      </m:den>
                    </m:f>
                  </m:oMath>
                </a14:m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Evaluate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27−50</m:t>
                    </m:r>
                  </m:oMath>
                </a14:m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Solve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4×4=</m:t>
                    </m:r>
                  </m:oMath>
                </a14:m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 soccer match attracted a crowd of 17 221 people.</a:t>
                </a:r>
                <a:b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One third of the people at the match supported the away team.</a:t>
                </a:r>
                <a:b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Which of these is the closest to the number of people at the match who supported the away team?</a:t>
                </a:r>
                <a:b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a) 500	b) 600		c) 5000 	d) 6000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5FED35-8289-4A6B-85E0-D8BA5A06CE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843889"/>
                <a:ext cx="10970958" cy="4522940"/>
              </a:xfrm>
              <a:blipFill>
                <a:blip r:embed="rId5"/>
                <a:stretch>
                  <a:fillRect l="-1278" t="-2022" r="-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5BB39B19-FCB7-4218-82B7-A29298A568C7}"/>
              </a:ext>
            </a:extLst>
          </p:cNvPr>
          <p:cNvSpPr txBox="1">
            <a:spLocks/>
          </p:cNvSpPr>
          <p:nvPr/>
        </p:nvSpPr>
        <p:spPr>
          <a:xfrm>
            <a:off x="5061098" y="14747"/>
            <a:ext cx="7130903" cy="10588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AU" sz="2800" cap="none" dirty="0">
                <a:latin typeface="Calibri" panose="020F0502020204030204" pitchFamily="34" charset="0"/>
                <a:cs typeface="Calibri" panose="020F0502020204030204" pitchFamily="34" charset="0"/>
              </a:rPr>
              <a:t>Topic: Order of Operations</a:t>
            </a:r>
            <a:br>
              <a:rPr lang="en-AU" sz="2800" cap="non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AU" sz="2800" cap="none" dirty="0">
                <a:latin typeface="Calibri" panose="020F0502020204030204" pitchFamily="34" charset="0"/>
                <a:cs typeface="Calibri" panose="020F0502020204030204" pitchFamily="34" charset="0"/>
              </a:rPr>
              <a:t>EQ: What is the relationship between the square number and finding the square root?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963987-0A73-44C8-9CA8-7D0ABD6CBAB7}"/>
              </a:ext>
            </a:extLst>
          </p:cNvPr>
          <p:cNvSpPr txBox="1"/>
          <p:nvPr/>
        </p:nvSpPr>
        <p:spPr>
          <a:xfrm>
            <a:off x="8836318" y="1029553"/>
            <a:ext cx="2896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68A107-49FC-48AC-9462-9485034B4498}"/>
              </a:ext>
            </a:extLst>
          </p:cNvPr>
          <p:cNvSpPr txBox="1"/>
          <p:nvPr/>
        </p:nvSpPr>
        <p:spPr>
          <a:xfrm>
            <a:off x="9928240" y="6657945"/>
            <a:ext cx="2263760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AU" sz="700" dirty="0">
                <a:solidFill>
                  <a:srgbClr val="FFFFFF"/>
                </a:solidFill>
                <a:hlinkClick r:id="rId4" tooltip="http://theconversation.com/make-maths-mandatory-and-well-improve-our-international-education-rankings-1166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AU" sz="700" dirty="0">
                <a:solidFill>
                  <a:srgbClr val="FFFFFF"/>
                </a:solidFill>
              </a:rPr>
              <a:t> by Unknown Author is licensed </a:t>
            </a:r>
            <a:r>
              <a:rPr lang="en-AU" sz="700" dirty="0" err="1">
                <a:solidFill>
                  <a:srgbClr val="FFFFFF"/>
                </a:solidFill>
              </a:rPr>
              <a:t>uder</a:t>
            </a:r>
            <a:r>
              <a:rPr lang="en-AU" sz="700" dirty="0">
                <a:solidFill>
                  <a:srgbClr val="FFFFFF"/>
                </a:solidFill>
              </a:rPr>
              <a:t> </a:t>
            </a:r>
            <a:r>
              <a:rPr lang="en-AU" sz="700" dirty="0">
                <a:solidFill>
                  <a:srgbClr val="FFFFFF"/>
                </a:solidFill>
                <a:hlinkClick r:id="rId6" tooltip="https://creativecommons.org/licenses/by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BY-ND</a:t>
            </a:r>
            <a:endParaRPr lang="en-AU" sz="7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8853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6" y="4767072"/>
            <a:ext cx="6594189" cy="1625210"/>
          </a:xfrm>
        </p:spPr>
        <p:txBody>
          <a:bodyPr>
            <a:normAutofit/>
          </a:bodyPr>
          <a:lstStyle/>
          <a:p>
            <a:pPr algn="r"/>
            <a:r>
              <a:rPr lang="en-AU">
                <a:solidFill>
                  <a:srgbClr val="FFFFFF"/>
                </a:solidFill>
              </a:rPr>
              <a:t>Starter activity </a:t>
            </a:r>
          </a:p>
        </p:txBody>
      </p:sp>
      <p:pic>
        <p:nvPicPr>
          <p:cNvPr id="5" name="Picture 4" descr="A picture containing transport, aircraft, balloon, checker&#10;&#10;Description automatically generated">
            <a:extLst>
              <a:ext uri="{FF2B5EF4-FFF2-40B4-BE49-F238E27FC236}">
                <a16:creationId xmlns:a16="http://schemas.microsoft.com/office/drawing/2014/main" id="{9053E5D2-CE2A-40BF-9CBF-AADB4C127C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20811" r="1" b="20997"/>
          <a:stretch/>
        </p:blipFill>
        <p:spPr>
          <a:xfrm>
            <a:off x="327547" y="321733"/>
            <a:ext cx="7058306" cy="410739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29319" y="917725"/>
            <a:ext cx="3424739" cy="4852362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Draw a square on the grid with and area of 9 squares.</a:t>
            </a:r>
          </a:p>
          <a:p>
            <a:pPr marL="0" indent="0">
              <a:buNone/>
            </a:pPr>
            <a:r>
              <a:rPr lang="en-AU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What is the side length of this square?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AU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Draw a square on the grid with and area of 25 squares.</a:t>
            </a:r>
          </a:p>
          <a:p>
            <a:pPr marL="0" indent="0">
              <a:buNone/>
            </a:pPr>
            <a:r>
              <a:rPr lang="en-AU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What is the side length of this square?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46F4B3-2521-4CE9-B801-FE9FD92C8DE3}"/>
              </a:ext>
            </a:extLst>
          </p:cNvPr>
          <p:cNvSpPr txBox="1"/>
          <p:nvPr/>
        </p:nvSpPr>
        <p:spPr>
          <a:xfrm>
            <a:off x="4992249" y="4229070"/>
            <a:ext cx="2393604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AU" sz="700">
                <a:solidFill>
                  <a:srgbClr val="FFFFFF"/>
                </a:solidFill>
                <a:hlinkClick r:id="rId3" tooltip="https://puzzlewocky.com/math-fun/graeco-latin-squares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AU" sz="700">
                <a:solidFill>
                  <a:srgbClr val="FFFFFF"/>
                </a:solidFill>
              </a:rPr>
              <a:t> by Unknown Author is licensed under </a:t>
            </a:r>
            <a:r>
              <a:rPr lang="en-AU" sz="700">
                <a:solidFill>
                  <a:srgbClr val="FFFFFF"/>
                </a:solidFill>
                <a:hlinkClick r:id="rId4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lang="en-AU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771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40404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Order of Operations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197990" y="768151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What is the relationship between a square number and finding the square root?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0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0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0DFE82-329E-4213-9CF8-A8FD3DCF967B}"/>
              </a:ext>
            </a:extLst>
          </p:cNvPr>
          <p:cNvSpPr txBox="1"/>
          <p:nvPr/>
        </p:nvSpPr>
        <p:spPr>
          <a:xfrm>
            <a:off x="9568370" y="196208"/>
            <a:ext cx="2546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0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D1DB7C6-2588-4501-8165-16C49DDDD774}"/>
              </a:ext>
            </a:extLst>
          </p:cNvPr>
          <p:cNvSpPr txBox="1"/>
          <p:nvPr/>
        </p:nvSpPr>
        <p:spPr>
          <a:xfrm>
            <a:off x="70606" y="1338237"/>
            <a:ext cx="20819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What is a 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square number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EA9801A-928F-4CF6-A783-25B1F48AB9DA}"/>
                  </a:ext>
                </a:extLst>
              </p:cNvPr>
              <p:cNvSpPr txBox="1"/>
              <p:nvPr/>
            </p:nvSpPr>
            <p:spPr>
              <a:xfrm>
                <a:off x="2464467" y="1317090"/>
                <a:ext cx="678585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value when a number is multiplied by itself.</a:t>
                </a:r>
              </a:p>
              <a:p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5</m:t>
                    </m:r>
                    <m:r>
                      <a:rPr lang="en-AU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×5=25</m:t>
                    </m:r>
                  </m:oMath>
                </a14:m>
                <a:r>
                  <a:rPr lang="en-AU" sz="2400" dirty="0">
                    <a:solidFill>
                      <a:schemeClr val="accent2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25 is a square number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EA9801A-928F-4CF6-A783-25B1F48AB9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4467" y="1317090"/>
                <a:ext cx="6785854" cy="1200329"/>
              </a:xfrm>
              <a:prstGeom prst="rect">
                <a:avLst/>
              </a:prstGeom>
              <a:blipFill>
                <a:blip r:embed="rId3"/>
                <a:stretch>
                  <a:fillRect l="-1348" t="-4061" b="-106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36B8D165-3A4E-45AC-BF8E-0690CB07D25D}"/>
              </a:ext>
            </a:extLst>
          </p:cNvPr>
          <p:cNvGraphicFramePr>
            <a:graphicFrameLocks noGrp="1"/>
          </p:cNvGraphicFramePr>
          <p:nvPr/>
        </p:nvGraphicFramePr>
        <p:xfrm>
          <a:off x="8350221" y="1320829"/>
          <a:ext cx="1800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9942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942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942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942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942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1683D3C-C306-4FD8-88D6-D985AC680382}"/>
                  </a:ext>
                </a:extLst>
              </p:cNvPr>
              <p:cNvSpPr txBox="1"/>
              <p:nvPr/>
            </p:nvSpPr>
            <p:spPr>
              <a:xfrm>
                <a:off x="2475608" y="3250760"/>
                <a:ext cx="933953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There is another way to write </a:t>
                </a:r>
                <a14:m>
                  <m:oMath xmlns:m="http://schemas.openxmlformats.org/officeDocument/2006/math">
                    <m:r>
                      <a:rPr lang="en-AU" sz="2400" b="0" i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5</m:t>
                    </m:r>
                    <m:r>
                      <a:rPr lang="en-AU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×</m:t>
                    </m:r>
                    <m:r>
                      <a:rPr lang="en-AU" sz="2400" b="0" i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5</m:t>
                    </m:r>
                    <m:r>
                      <a:rPr lang="en-AU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=25</m:t>
                    </m:r>
                  </m:oMath>
                </a14:m>
                <a:r>
                  <a:rPr lang="en-AU" sz="2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and that is by using index notation so we have </a:t>
                </a:r>
                <a14:m>
                  <m:oMath xmlns:m="http://schemas.openxmlformats.org/officeDocument/2006/math">
                    <m:r>
                      <a:rPr lang="en-AU" sz="2400" b="0" i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5</m:t>
                    </m:r>
                    <m:r>
                      <a:rPr lang="en-AU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×5=</m:t>
                    </m:r>
                    <m:sSup>
                      <m:sSupPr>
                        <m:ctrlPr>
                          <a:rPr lang="en-AU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AU" sz="240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5</m:t>
                        </m:r>
                      </m:e>
                      <m:sup>
                        <m:r>
                          <a:rPr lang="en-AU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en-AU" sz="2400" b="0" dirty="0">
                  <a:solidFill>
                    <a:srgbClr val="FF0000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endParaRPr lang="en-GB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GB" sz="2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Index notation </a:t>
                </a:r>
                <a:r>
                  <a:rPr lang="en-GB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is a convenient way to describe repeated multiplication.</a:t>
                </a:r>
                <a:endParaRPr lang="en-GB" sz="2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1683D3C-C306-4FD8-88D6-D985AC6803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608" y="3250760"/>
                <a:ext cx="9339530" cy="1569660"/>
              </a:xfrm>
              <a:prstGeom prst="rect">
                <a:avLst/>
              </a:prstGeom>
              <a:blipFill>
                <a:blip r:embed="rId4"/>
                <a:stretch>
                  <a:fillRect l="-979" t="-3101" b="-77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7BED169-3975-4203-8B51-B566FD6299A4}"/>
                  </a:ext>
                </a:extLst>
              </p:cNvPr>
              <p:cNvSpPr txBox="1"/>
              <p:nvPr/>
            </p:nvSpPr>
            <p:spPr>
              <a:xfrm>
                <a:off x="4846675" y="4960667"/>
                <a:ext cx="3352799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4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7BED169-3975-4203-8B51-B566FD6299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6675" y="4960667"/>
                <a:ext cx="3352799" cy="11079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3CDB0AF1-DCE3-4FE1-867E-FFBAC4743CC2}"/>
              </a:ext>
            </a:extLst>
          </p:cNvPr>
          <p:cNvSpPr txBox="1"/>
          <p:nvPr/>
        </p:nvSpPr>
        <p:spPr>
          <a:xfrm>
            <a:off x="7360907" y="4820420"/>
            <a:ext cx="14894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Exponent or index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7506AE-EEA1-4919-85B7-8A616B9BE451}"/>
              </a:ext>
            </a:extLst>
          </p:cNvPr>
          <p:cNvSpPr txBox="1"/>
          <p:nvPr/>
        </p:nvSpPr>
        <p:spPr>
          <a:xfrm>
            <a:off x="3822182" y="5695483"/>
            <a:ext cx="14894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Base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BC93C3B-D6DC-42DD-8A8C-A63B74E84DB5}"/>
              </a:ext>
            </a:extLst>
          </p:cNvPr>
          <p:cNvCxnSpPr/>
          <p:nvPr/>
        </p:nvCxnSpPr>
        <p:spPr>
          <a:xfrm flipV="1">
            <a:off x="4983133" y="5557087"/>
            <a:ext cx="1150189" cy="391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C0EFCA9-1DE2-476D-9970-14D9543191CC}"/>
              </a:ext>
            </a:extLst>
          </p:cNvPr>
          <p:cNvCxnSpPr/>
          <p:nvPr/>
        </p:nvCxnSpPr>
        <p:spPr>
          <a:xfrm flipH="1">
            <a:off x="6898082" y="5063112"/>
            <a:ext cx="494581" cy="157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66255E1-7270-4F62-BDA1-FD0F3C965DFD}"/>
              </a:ext>
            </a:extLst>
          </p:cNvPr>
          <p:cNvSpPr txBox="1"/>
          <p:nvPr/>
        </p:nvSpPr>
        <p:spPr>
          <a:xfrm>
            <a:off x="89038" y="3250760"/>
            <a:ext cx="20987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What is 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index notation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2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Task: Calculate the following (LHS)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i="1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</m:t>
                    </m:r>
                    <m:r>
                      <a:rPr lang="en-AU" sz="2800" b="0" i="0" smtClean="0">
                        <a:latin typeface="Cambria Math"/>
                      </a:rPr>
                      <m:t>1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×1=1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4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6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7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8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9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i="1">
                            <a:latin typeface="Cambria Math"/>
                          </a:rPr>
                          <m:t>1</m:t>
                        </m:r>
                        <m:r>
                          <a:rPr lang="en-AU" sz="2800" b="0" i="1" smtClean="0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i="1">
                            <a:latin typeface="Cambria Math"/>
                          </a:rPr>
                          <m:t>1</m:t>
                        </m:r>
                        <m:r>
                          <a:rPr lang="en-AU" sz="2800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6397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i="1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</m:t>
                    </m:r>
                    <m:r>
                      <a:rPr lang="en-AU" sz="2800" b="0" i="0" smtClean="0">
                        <a:latin typeface="Cambria Math"/>
                      </a:rPr>
                      <m:t>1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×1=1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=2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×2=4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=3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×3=9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4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=4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×4=16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=5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×5=25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6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=6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×6=36</m:t>
                    </m:r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7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8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9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i="1">
                            <a:latin typeface="Cambria Math"/>
                          </a:rPr>
                          <m:t>1</m:t>
                        </m:r>
                        <m:r>
                          <a:rPr lang="en-AU" sz="2800" b="0" i="1" smtClean="0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i="1">
                            <a:latin typeface="Cambria Math"/>
                          </a:rPr>
                          <m:t>1</m:t>
                        </m:r>
                        <m:r>
                          <a:rPr lang="en-AU" sz="2800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CC8824CD-1BA8-46C6-8216-F81ECDC34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Task: Calculate the following (LHS)</a:t>
            </a:r>
          </a:p>
        </p:txBody>
      </p:sp>
    </p:spTree>
    <p:extLst>
      <p:ext uri="{BB962C8B-B14F-4D97-AF65-F5344CB8AC3E}">
        <p14:creationId xmlns:p14="http://schemas.microsoft.com/office/powerpoint/2010/main" val="4182044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Task: Calculate the following (LHS)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i="1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</m:t>
                    </m:r>
                    <m:r>
                      <a:rPr lang="en-AU" sz="2800" b="0" i="0" smtClean="0">
                        <a:latin typeface="Cambria Math"/>
                      </a:rPr>
                      <m:t>1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×1=1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=2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×2=4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=3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×3=9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4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=4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×4=16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=5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×5=25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6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=6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×6=36</m:t>
                    </m:r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7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=7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×7=49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8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=8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×8=64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9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=9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×9=81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=10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×10=100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i="1">
                            <a:latin typeface="Cambria Math"/>
                          </a:rPr>
                          <m:t>1</m:t>
                        </m:r>
                        <m:r>
                          <a:rPr lang="en-AU" sz="2800" b="0" i="1" smtClean="0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=11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×11=121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i="1">
                            <a:latin typeface="Cambria Math"/>
                          </a:rPr>
                          <m:t>1</m:t>
                        </m:r>
                        <m:r>
                          <a:rPr lang="en-AU" sz="2800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=12</m:t>
                    </m:r>
                    <m:r>
                      <a:rPr lang="en-AU" sz="2800" b="0" i="1" smtClean="0">
                        <a:latin typeface="Cambria Math"/>
                        <a:ea typeface="Cambria Math"/>
                      </a:rPr>
                      <m:t>×12=144</m:t>
                    </m:r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2698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40404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Order of Operations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197990" y="766764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What is the relationship between a square number and finding the square root?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0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0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0DFE82-329E-4213-9CF8-A8FD3DCF967B}"/>
              </a:ext>
            </a:extLst>
          </p:cNvPr>
          <p:cNvSpPr txBox="1"/>
          <p:nvPr/>
        </p:nvSpPr>
        <p:spPr>
          <a:xfrm>
            <a:off x="9568370" y="196208"/>
            <a:ext cx="2546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0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30F3A9A-FE65-4558-9E83-17FA5CB7E0F4}"/>
              </a:ext>
            </a:extLst>
          </p:cNvPr>
          <p:cNvSpPr txBox="1"/>
          <p:nvPr/>
        </p:nvSpPr>
        <p:spPr>
          <a:xfrm>
            <a:off x="197990" y="1361910"/>
            <a:ext cx="19739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What the 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square root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C44BB63-2033-4075-85DA-0DC0CB184868}"/>
                  </a:ext>
                </a:extLst>
              </p:cNvPr>
              <p:cNvSpPr txBox="1"/>
              <p:nvPr/>
            </p:nvSpPr>
            <p:spPr>
              <a:xfrm>
                <a:off x="2483848" y="1348352"/>
                <a:ext cx="8357525" cy="19900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Since a square with an area of 25 squares has a side length of 5. </a:t>
                </a:r>
              </a:p>
              <a:p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5 is the square root of 25.</a:t>
                </a:r>
                <a:b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inverse operation to squaring is to find the square root.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25</m:t>
                          </m:r>
                        </m:e>
                      </m:rad>
                      <m:r>
                        <a:rPr lang="en-AU" sz="2400" i="1">
                          <a:solidFill>
                            <a:srgbClr val="00B050"/>
                          </a:solidFill>
                          <a:latin typeface="Cambria Math"/>
                        </a:rPr>
                        <m:t>=5</m:t>
                      </m:r>
                    </m:oMath>
                  </m:oMathPara>
                </a14:m>
                <a:endParaRPr lang="en-AU" sz="2400" dirty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C44BB63-2033-4075-85DA-0DC0CB1848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848" y="1348352"/>
                <a:ext cx="8357525" cy="1990032"/>
              </a:xfrm>
              <a:prstGeom prst="rect">
                <a:avLst/>
              </a:prstGeom>
              <a:blipFill>
                <a:blip r:embed="rId3"/>
                <a:stretch>
                  <a:fillRect l="-1094" t="-24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7599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Task: Calculate the following (LHS)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sz="half" idx="1"/>
              </p:nvPr>
            </p:nvSpPr>
            <p:spPr>
              <a:xfrm>
                <a:off x="1024128" y="1945757"/>
                <a:ext cx="4754880" cy="4710223"/>
              </a:xfr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=1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4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9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sz="2800" b="0" dirty="0"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6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25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sz="2800" b="0" i="1" dirty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36</m:t>
                        </m:r>
                      </m:e>
                    </m:rad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sz="2800" dirty="0"/>
              </a:p>
              <a:p>
                <a:pPr marL="0" indent="0">
                  <a:buNone/>
                </a:pPr>
                <a:r>
                  <a:rPr lang="en-AU" sz="2800" dirty="0"/>
                  <a:t>Extension</a:t>
                </a:r>
              </a:p>
              <a:p>
                <a:pPr>
                  <a:buFont typeface="Wingdings" pitchFamily="2" charset="2"/>
                  <a:buChar char="v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400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024128" y="1945757"/>
                <a:ext cx="4754880" cy="4710223"/>
              </a:xfrm>
              <a:blipFill>
                <a:blip r:embed="rId2"/>
                <a:stretch>
                  <a:fillRect l="-3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>
              <a:xfrm>
                <a:off x="6096000" y="1945756"/>
                <a:ext cx="4754880" cy="4710223"/>
              </a:xfr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49</m:t>
                        </m:r>
                      </m:e>
                    </m:rad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64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81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00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sz="2800" b="0" i="1" dirty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21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sz="2800" i="1" dirty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44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sz="2800" dirty="0"/>
              </a:p>
              <a:p>
                <a:endParaRPr lang="en-AU" sz="2800" dirty="0"/>
              </a:p>
              <a:p>
                <a:pPr>
                  <a:buFont typeface="Wingdings" pitchFamily="2" charset="2"/>
                  <a:buChar char="v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2500</m:t>
                        </m:r>
                      </m:e>
                    </m:rad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096000" y="1945756"/>
                <a:ext cx="4754880" cy="4710223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2322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Task: Calculate the following (LHS)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sz="half" idx="1"/>
              </p:nvPr>
            </p:nvSpPr>
            <p:spPr>
              <a:xfrm>
                <a:off x="1024128" y="1903227"/>
                <a:ext cx="4754880" cy="4710223"/>
              </a:xfr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=1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4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=2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9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=3</m:t>
                    </m:r>
                  </m:oMath>
                </a14:m>
                <a:endParaRPr lang="en-AU" sz="2800" b="0" dirty="0"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6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AU" sz="2800" b="0" i="0" smtClean="0">
                        <a:latin typeface="Cambria Math"/>
                        <a:ea typeface="Cambria Math"/>
                      </a:rPr>
                      <m:t>4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25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=5</m:t>
                    </m:r>
                  </m:oMath>
                </a14:m>
                <a:endParaRPr lang="en-AU" sz="2800" b="0" i="1" dirty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36</m:t>
                        </m:r>
                      </m:e>
                    </m:rad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=6</m:t>
                    </m:r>
                  </m:oMath>
                </a14:m>
                <a:endParaRPr lang="en-AU" sz="2800" dirty="0"/>
              </a:p>
              <a:p>
                <a:pPr marL="0" indent="0">
                  <a:buNone/>
                </a:pPr>
                <a:r>
                  <a:rPr lang="en-AU" sz="2800" dirty="0"/>
                  <a:t>Extension</a:t>
                </a:r>
              </a:p>
              <a:p>
                <a:pPr>
                  <a:buFont typeface="Wingdings" pitchFamily="2" charset="2"/>
                  <a:buChar char="v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400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=20</m:t>
                    </m:r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024128" y="1903227"/>
                <a:ext cx="4754880" cy="4710223"/>
              </a:xfrm>
              <a:blipFill>
                <a:blip r:embed="rId2"/>
                <a:stretch>
                  <a:fillRect l="-3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>
              <a:xfrm>
                <a:off x="5989320" y="1903227"/>
                <a:ext cx="4754880" cy="4710222"/>
              </a:xfr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49</m:t>
                        </m:r>
                      </m:e>
                    </m:rad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=7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64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=8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81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=9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00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=10</m:t>
                    </m:r>
                  </m:oMath>
                </a14:m>
                <a:endParaRPr lang="en-AU" sz="2800" b="0" i="1" dirty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21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=11</m:t>
                    </m:r>
                  </m:oMath>
                </a14:m>
                <a:endParaRPr lang="en-AU" sz="2800" i="1" dirty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44</m:t>
                        </m:r>
                      </m:e>
                    </m:rad>
                    <m:r>
                      <a:rPr lang="en-AU" sz="2800" b="0" i="1" smtClean="0">
                        <a:latin typeface="Cambria Math"/>
                        <a:ea typeface="Cambria Math"/>
                      </a:rPr>
                      <m:t>=12</m:t>
                    </m:r>
                  </m:oMath>
                </a14:m>
                <a:endParaRPr lang="en-AU" sz="2800" dirty="0"/>
              </a:p>
              <a:p>
                <a:pPr marL="0" indent="0">
                  <a:buNone/>
                </a:pPr>
                <a:endParaRPr lang="en-AU" sz="2800" dirty="0"/>
              </a:p>
              <a:p>
                <a:pPr>
                  <a:buFont typeface="Wingdings" pitchFamily="2" charset="2"/>
                  <a:buChar char="v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sz="2800" b="0" i="1" smtClean="0">
                            <a:latin typeface="Cambria Math"/>
                            <a:ea typeface="Cambria Math"/>
                          </a:rPr>
                          <m:t>2500</m:t>
                        </m:r>
                      </m:e>
                    </m:rad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=50</m:t>
                    </m:r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989320" y="1903227"/>
                <a:ext cx="4754880" cy="4710222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8450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850065"/>
            <a:ext cx="9720073" cy="4459295"/>
          </a:xfrm>
        </p:spPr>
        <p:txBody>
          <a:bodyPr>
            <a:norm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24, 7 ,30</a:t>
            </a:r>
          </a:p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</a:t>
            </a:r>
          </a:p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Title</a:t>
            </a:r>
          </a:p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Essential question</a:t>
            </a:r>
          </a:p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Notes complete </a:t>
            </a:r>
          </a:p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Notes complete with colour and diagrams</a:t>
            </a:r>
          </a:p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Questions completed</a:t>
            </a:r>
          </a:p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Contents page filed in</a:t>
            </a:r>
          </a:p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Formula page filled in</a:t>
            </a:r>
          </a:p>
          <a:p>
            <a:pPr marL="0" indent="0">
              <a:buNone/>
            </a:pPr>
            <a:endParaRPr lang="en-A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CF8E2C319B6C45A88B154FA9F297AF" ma:contentTypeVersion="2" ma:contentTypeDescription="Create a new document." ma:contentTypeScope="" ma:versionID="cece90b1e3ba9401ed65010376c85243">
  <xsd:schema xmlns:xsd="http://www.w3.org/2001/XMLSchema" xmlns:xs="http://www.w3.org/2001/XMLSchema" xmlns:p="http://schemas.microsoft.com/office/2006/metadata/properties" xmlns:ns2="085a5620-d469-4ad1-879c-377e76877e52" targetNamespace="http://schemas.microsoft.com/office/2006/metadata/properties" ma:root="true" ma:fieldsID="aaced6032bce772337dffe1272a07452" ns2:_="">
    <xsd:import namespace="085a5620-d469-4ad1-879c-377e76877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5a5620-d469-4ad1-879c-377e76877e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7A43323-8F8B-483B-A54A-32405F7818D6}"/>
</file>

<file path=customXml/itemProps2.xml><?xml version="1.0" encoding="utf-8"?>
<ds:datastoreItem xmlns:ds="http://schemas.openxmlformats.org/officeDocument/2006/customXml" ds:itemID="{5F51F1E9-361B-44F8-B594-7498CC0C7A32}"/>
</file>

<file path=customXml/itemProps3.xml><?xml version="1.0" encoding="utf-8"?>
<ds:datastoreItem xmlns:ds="http://schemas.openxmlformats.org/officeDocument/2006/customXml" ds:itemID="{601E1C14-99C6-49CE-94AE-25A7094F161D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675</Words>
  <Application>Microsoft Office PowerPoint</Application>
  <PresentationFormat>Widescreen</PresentationFormat>
  <Paragraphs>155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Wingdings</vt:lpstr>
      <vt:lpstr>Office Theme</vt:lpstr>
      <vt:lpstr>TOPIC: Order of Operations EQ: What is the relationship between the squared number and finding the square root?</vt:lpstr>
      <vt:lpstr>Things Required For This Lesson</vt:lpstr>
      <vt:lpstr>PowerPoint Presentation</vt:lpstr>
      <vt:lpstr>Five Questions (LHS)</vt:lpstr>
      <vt:lpstr>Starter activity </vt:lpstr>
      <vt:lpstr>PowerPoint Presentation</vt:lpstr>
      <vt:lpstr>Task: Calculate the following (LHS)</vt:lpstr>
      <vt:lpstr>Task: Calculate the following (LHS)</vt:lpstr>
      <vt:lpstr>Task: Calculate the following (LHS)</vt:lpstr>
      <vt:lpstr>PowerPoint Presentation</vt:lpstr>
      <vt:lpstr>Task: Calculate the following (LHS)</vt:lpstr>
      <vt:lpstr>Task: Calculate the following (LHS)</vt:lpstr>
      <vt:lpstr>Notes Review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Order of Operations EQ: What is the relationship between the squared number and finding the square root?</dc:title>
  <dc:creator>JAMES Sarah [Baldivis Secondary College]</dc:creator>
  <cp:lastModifiedBy>JAMES Sarah [Baldivis Secondary College]</cp:lastModifiedBy>
  <cp:revision>1</cp:revision>
  <dcterms:created xsi:type="dcterms:W3CDTF">2021-11-16T00:55:44Z</dcterms:created>
  <dcterms:modified xsi:type="dcterms:W3CDTF">2021-11-16T00:56:35Z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0x010100E3CF8E2C319B6C45A88B154FA9F297AF</vt:lpwstr>
  </property>
</Properties>
</file>
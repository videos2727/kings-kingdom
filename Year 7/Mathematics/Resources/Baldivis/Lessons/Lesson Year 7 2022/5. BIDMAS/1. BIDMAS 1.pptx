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323" r:id="rId4"/>
    <p:sldId id="264" r:id="rId5"/>
    <p:sldId id="316" r:id="rId6"/>
    <p:sldId id="311" r:id="rId7"/>
    <p:sldId id="320" r:id="rId8"/>
    <p:sldId id="319" r:id="rId9"/>
    <p:sldId id="317" r:id="rId10"/>
    <p:sldId id="275" r:id="rId11"/>
    <p:sldId id="259" r:id="rId12"/>
    <p:sldId id="260" r:id="rId13"/>
    <p:sldId id="261" r:id="rId14"/>
    <p:sldId id="262" r:id="rId15"/>
    <p:sldId id="263" r:id="rId16"/>
    <p:sldId id="321" r:id="rId17"/>
    <p:sldId id="322" r:id="rId18"/>
    <p:sldId id="284" r:id="rId19"/>
    <p:sldId id="285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BFB00B-41EB-4FB2-BBD1-069420AC2AD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B91680C-7102-4E09-BC8E-5D8F97A00A70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Next will be some examples of how to use BIMDAS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833764B-3014-440B-9485-D43179EB890F}" type="parTrans" cxnId="{DF54784E-D59B-4C77-8459-F2812B68D59F}">
      <dgm:prSet/>
      <dgm:spPr/>
      <dgm:t>
        <a:bodyPr/>
        <a:lstStyle/>
        <a:p>
          <a:endParaRPr lang="en-US"/>
        </a:p>
      </dgm:t>
    </dgm:pt>
    <dgm:pt modelId="{3CDE818B-0938-4184-9011-2E74F706F30D}" type="sibTrans" cxnId="{DF54784E-D59B-4C77-8459-F2812B68D59F}">
      <dgm:prSet/>
      <dgm:spPr/>
      <dgm:t>
        <a:bodyPr/>
        <a:lstStyle/>
        <a:p>
          <a:endParaRPr lang="en-US"/>
        </a:p>
      </dgm:t>
    </dgm:pt>
    <dgm:pt modelId="{7E0262AF-257E-4794-88B0-53EDB52F7B7E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A good tip is to underline the part you are going to do, then write the answer under your line, along with the rest of the sum.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3DB0B55-7F9C-4971-99D7-CBAC6D641474}" type="parTrans" cxnId="{EA102784-1BDD-4C73-8D09-2361FE009FB7}">
      <dgm:prSet/>
      <dgm:spPr/>
      <dgm:t>
        <a:bodyPr/>
        <a:lstStyle/>
        <a:p>
          <a:endParaRPr lang="en-US"/>
        </a:p>
      </dgm:t>
    </dgm:pt>
    <dgm:pt modelId="{F4721348-0DD8-46CA-9087-4C11A674E837}" type="sibTrans" cxnId="{EA102784-1BDD-4C73-8D09-2361FE009FB7}">
      <dgm:prSet/>
      <dgm:spPr/>
      <dgm:t>
        <a:bodyPr/>
        <a:lstStyle/>
        <a:p>
          <a:endParaRPr lang="en-US"/>
        </a:p>
      </dgm:t>
    </dgm:pt>
    <dgm:pt modelId="{3F241D53-471B-4C6C-AF6F-0F629A64F503}" type="pres">
      <dgm:prSet presAssocID="{09BFB00B-41EB-4FB2-BBD1-069420AC2A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9602D7-2857-4B08-B583-20B886B95C6F}" type="pres">
      <dgm:prSet presAssocID="{3B91680C-7102-4E09-BC8E-5D8F97A00A70}" presName="hierRoot1" presStyleCnt="0"/>
      <dgm:spPr/>
    </dgm:pt>
    <dgm:pt modelId="{93BA84A9-FF1C-462E-A7E0-3056E6F5BB8F}" type="pres">
      <dgm:prSet presAssocID="{3B91680C-7102-4E09-BC8E-5D8F97A00A70}" presName="composite" presStyleCnt="0"/>
      <dgm:spPr/>
    </dgm:pt>
    <dgm:pt modelId="{5BCB5E5F-3EE8-4A14-910A-777478C2960E}" type="pres">
      <dgm:prSet presAssocID="{3B91680C-7102-4E09-BC8E-5D8F97A00A70}" presName="background" presStyleLbl="node0" presStyleIdx="0" presStyleCnt="2"/>
      <dgm:spPr/>
    </dgm:pt>
    <dgm:pt modelId="{72B7B52E-EF55-44E1-996B-3431F27947CA}" type="pres">
      <dgm:prSet presAssocID="{3B91680C-7102-4E09-BC8E-5D8F97A00A70}" presName="text" presStyleLbl="fgAcc0" presStyleIdx="0" presStyleCnt="2">
        <dgm:presLayoutVars>
          <dgm:chPref val="3"/>
        </dgm:presLayoutVars>
      </dgm:prSet>
      <dgm:spPr/>
    </dgm:pt>
    <dgm:pt modelId="{7CCB89CA-2FCE-4260-8F1B-E4184B02BA4D}" type="pres">
      <dgm:prSet presAssocID="{3B91680C-7102-4E09-BC8E-5D8F97A00A70}" presName="hierChild2" presStyleCnt="0"/>
      <dgm:spPr/>
    </dgm:pt>
    <dgm:pt modelId="{B26D277B-EFEC-4D82-9DAD-03824B2A09F2}" type="pres">
      <dgm:prSet presAssocID="{7E0262AF-257E-4794-88B0-53EDB52F7B7E}" presName="hierRoot1" presStyleCnt="0"/>
      <dgm:spPr/>
    </dgm:pt>
    <dgm:pt modelId="{CEECD1A9-5B18-4F52-80BC-223407CE194F}" type="pres">
      <dgm:prSet presAssocID="{7E0262AF-257E-4794-88B0-53EDB52F7B7E}" presName="composite" presStyleCnt="0"/>
      <dgm:spPr/>
    </dgm:pt>
    <dgm:pt modelId="{403253DA-63D7-443E-8992-400DC85B2F44}" type="pres">
      <dgm:prSet presAssocID="{7E0262AF-257E-4794-88B0-53EDB52F7B7E}" presName="background" presStyleLbl="node0" presStyleIdx="1" presStyleCnt="2"/>
      <dgm:spPr/>
    </dgm:pt>
    <dgm:pt modelId="{1418A74D-3B73-4BF7-BC5C-FB4FE80B8B10}" type="pres">
      <dgm:prSet presAssocID="{7E0262AF-257E-4794-88B0-53EDB52F7B7E}" presName="text" presStyleLbl="fgAcc0" presStyleIdx="1" presStyleCnt="2">
        <dgm:presLayoutVars>
          <dgm:chPref val="3"/>
        </dgm:presLayoutVars>
      </dgm:prSet>
      <dgm:spPr/>
    </dgm:pt>
    <dgm:pt modelId="{86C67237-628F-4D3C-B6FD-A3A2C9A26BE6}" type="pres">
      <dgm:prSet presAssocID="{7E0262AF-257E-4794-88B0-53EDB52F7B7E}" presName="hierChild2" presStyleCnt="0"/>
      <dgm:spPr/>
    </dgm:pt>
  </dgm:ptLst>
  <dgm:cxnLst>
    <dgm:cxn modelId="{4F2AA039-FB98-42D4-9A80-BB985EEFE263}" type="presOf" srcId="{7E0262AF-257E-4794-88B0-53EDB52F7B7E}" destId="{1418A74D-3B73-4BF7-BC5C-FB4FE80B8B10}" srcOrd="0" destOrd="0" presId="urn:microsoft.com/office/officeart/2005/8/layout/hierarchy1"/>
    <dgm:cxn modelId="{DF54784E-D59B-4C77-8459-F2812B68D59F}" srcId="{09BFB00B-41EB-4FB2-BBD1-069420AC2AD5}" destId="{3B91680C-7102-4E09-BC8E-5D8F97A00A70}" srcOrd="0" destOrd="0" parTransId="{8833764B-3014-440B-9485-D43179EB890F}" sibTransId="{3CDE818B-0938-4184-9011-2E74F706F30D}"/>
    <dgm:cxn modelId="{EA102784-1BDD-4C73-8D09-2361FE009FB7}" srcId="{09BFB00B-41EB-4FB2-BBD1-069420AC2AD5}" destId="{7E0262AF-257E-4794-88B0-53EDB52F7B7E}" srcOrd="1" destOrd="0" parTransId="{13DB0B55-7F9C-4971-99D7-CBAC6D641474}" sibTransId="{F4721348-0DD8-46CA-9087-4C11A674E837}"/>
    <dgm:cxn modelId="{4A34ED9B-B357-4558-BEAF-E66F1B335B31}" type="presOf" srcId="{3B91680C-7102-4E09-BC8E-5D8F97A00A70}" destId="{72B7B52E-EF55-44E1-996B-3431F27947CA}" srcOrd="0" destOrd="0" presId="urn:microsoft.com/office/officeart/2005/8/layout/hierarchy1"/>
    <dgm:cxn modelId="{97358DF4-5062-4559-9EEB-1329968B15E7}" type="presOf" srcId="{09BFB00B-41EB-4FB2-BBD1-069420AC2AD5}" destId="{3F241D53-471B-4C6C-AF6F-0F629A64F503}" srcOrd="0" destOrd="0" presId="urn:microsoft.com/office/officeart/2005/8/layout/hierarchy1"/>
    <dgm:cxn modelId="{41E9D2A6-C508-43F4-83A1-11619764AB2B}" type="presParOf" srcId="{3F241D53-471B-4C6C-AF6F-0F629A64F503}" destId="{6D9602D7-2857-4B08-B583-20B886B95C6F}" srcOrd="0" destOrd="0" presId="urn:microsoft.com/office/officeart/2005/8/layout/hierarchy1"/>
    <dgm:cxn modelId="{6CA9C849-DFD7-4543-87C5-A0E39EACA5CB}" type="presParOf" srcId="{6D9602D7-2857-4B08-B583-20B886B95C6F}" destId="{93BA84A9-FF1C-462E-A7E0-3056E6F5BB8F}" srcOrd="0" destOrd="0" presId="urn:microsoft.com/office/officeart/2005/8/layout/hierarchy1"/>
    <dgm:cxn modelId="{97AD3FC1-2CFA-486C-BD50-F60C60EE053F}" type="presParOf" srcId="{93BA84A9-FF1C-462E-A7E0-3056E6F5BB8F}" destId="{5BCB5E5F-3EE8-4A14-910A-777478C2960E}" srcOrd="0" destOrd="0" presId="urn:microsoft.com/office/officeart/2005/8/layout/hierarchy1"/>
    <dgm:cxn modelId="{03CF3B84-BFA3-457A-B452-D0EC550DE80E}" type="presParOf" srcId="{93BA84A9-FF1C-462E-A7E0-3056E6F5BB8F}" destId="{72B7B52E-EF55-44E1-996B-3431F27947CA}" srcOrd="1" destOrd="0" presId="urn:microsoft.com/office/officeart/2005/8/layout/hierarchy1"/>
    <dgm:cxn modelId="{5C562660-3F5A-4BE6-9F4F-C8B441684C83}" type="presParOf" srcId="{6D9602D7-2857-4B08-B583-20B886B95C6F}" destId="{7CCB89CA-2FCE-4260-8F1B-E4184B02BA4D}" srcOrd="1" destOrd="0" presId="urn:microsoft.com/office/officeart/2005/8/layout/hierarchy1"/>
    <dgm:cxn modelId="{FF04605B-4EBD-4877-A653-5C2C679D4C5B}" type="presParOf" srcId="{3F241D53-471B-4C6C-AF6F-0F629A64F503}" destId="{B26D277B-EFEC-4D82-9DAD-03824B2A09F2}" srcOrd="1" destOrd="0" presId="urn:microsoft.com/office/officeart/2005/8/layout/hierarchy1"/>
    <dgm:cxn modelId="{65F9BE84-5B11-4988-80A2-1CD709FFCCCE}" type="presParOf" srcId="{B26D277B-EFEC-4D82-9DAD-03824B2A09F2}" destId="{CEECD1A9-5B18-4F52-80BC-223407CE194F}" srcOrd="0" destOrd="0" presId="urn:microsoft.com/office/officeart/2005/8/layout/hierarchy1"/>
    <dgm:cxn modelId="{B4C75351-ABF4-4E83-8835-BB5206FBED8D}" type="presParOf" srcId="{CEECD1A9-5B18-4F52-80BC-223407CE194F}" destId="{403253DA-63D7-443E-8992-400DC85B2F44}" srcOrd="0" destOrd="0" presId="urn:microsoft.com/office/officeart/2005/8/layout/hierarchy1"/>
    <dgm:cxn modelId="{1A082854-D426-4C2D-A2C7-A41B6E89E2E2}" type="presParOf" srcId="{CEECD1A9-5B18-4F52-80BC-223407CE194F}" destId="{1418A74D-3B73-4BF7-BC5C-FB4FE80B8B10}" srcOrd="1" destOrd="0" presId="urn:microsoft.com/office/officeart/2005/8/layout/hierarchy1"/>
    <dgm:cxn modelId="{94E537E1-DAD6-41EC-A0CF-F8593978DCD3}" type="presParOf" srcId="{B26D277B-EFEC-4D82-9DAD-03824B2A09F2}" destId="{86C67237-628F-4D3C-B6FD-A3A2C9A26BE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B5E5F-3EE8-4A14-910A-777478C2960E}">
      <dsp:nvSpPr>
        <dsp:cNvPr id="0" name=""/>
        <dsp:cNvSpPr/>
      </dsp:nvSpPr>
      <dsp:spPr>
        <a:xfrm>
          <a:off x="1186" y="469226"/>
          <a:ext cx="4164809" cy="264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7B52E-EF55-44E1-996B-3431F27947CA}">
      <dsp:nvSpPr>
        <dsp:cNvPr id="0" name=""/>
        <dsp:cNvSpPr/>
      </dsp:nvSpPr>
      <dsp:spPr>
        <a:xfrm>
          <a:off x="463943" y="908844"/>
          <a:ext cx="4164809" cy="26446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Calibri" panose="020F0502020204030204" pitchFamily="34" charset="0"/>
              <a:cs typeface="Calibri" panose="020F0502020204030204" pitchFamily="34" charset="0"/>
            </a:rPr>
            <a:t>Next will be some examples of how to use BIMDAS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1402" y="986303"/>
        <a:ext cx="4009891" cy="2489736"/>
      </dsp:txXfrm>
    </dsp:sp>
    <dsp:sp modelId="{403253DA-63D7-443E-8992-400DC85B2F44}">
      <dsp:nvSpPr>
        <dsp:cNvPr id="0" name=""/>
        <dsp:cNvSpPr/>
      </dsp:nvSpPr>
      <dsp:spPr>
        <a:xfrm>
          <a:off x="5091509" y="469226"/>
          <a:ext cx="4164809" cy="264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8A74D-3B73-4BF7-BC5C-FB4FE80B8B10}">
      <dsp:nvSpPr>
        <dsp:cNvPr id="0" name=""/>
        <dsp:cNvSpPr/>
      </dsp:nvSpPr>
      <dsp:spPr>
        <a:xfrm>
          <a:off x="5554265" y="908844"/>
          <a:ext cx="4164809" cy="26446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Calibri" panose="020F0502020204030204" pitchFamily="34" charset="0"/>
              <a:cs typeface="Calibri" panose="020F0502020204030204" pitchFamily="34" charset="0"/>
            </a:rPr>
            <a:t>A good tip is to underline the part you are going to do, then write the answer under your line, along with the rest of the sum.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31724" y="986303"/>
        <a:ext cx="4009891" cy="2489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EC037-B171-4FAC-9278-EA99C35F1229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7FD29-9840-4554-AE2A-951F17B81C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972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Answers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$6.00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280 cm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13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Fourth circle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Class Discussion on why BIMDAS matters.</a:t>
            </a:r>
          </a:p>
          <a:p>
            <a:pPr marL="171450" indent="-171450">
              <a:buFontTx/>
              <a:buChar char="-"/>
            </a:pPr>
            <a:r>
              <a:rPr lang="en-AU" dirty="0"/>
              <a:t>Standardised method of calculation so everyone arrives at the same answer</a:t>
            </a:r>
          </a:p>
          <a:p>
            <a:pPr marL="171450" indent="-171450">
              <a:buFontTx/>
              <a:buChar char="-"/>
            </a:pPr>
            <a:r>
              <a:rPr lang="en-AU" dirty="0"/>
              <a:t>Real life examples where BIMDAS could apply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Medicine, (medication, x-rays, MRIs, etc)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Engineering (construction, electronics)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Chemistry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Architecture</a:t>
            </a:r>
          </a:p>
          <a:p>
            <a:pPr marL="628650" lvl="1" indent="-171450">
              <a:buFontTx/>
              <a:buChar char="-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61EA-ED97-4E1D-81AF-4ED4BFC385A3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8672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Answer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2+2</m:t>
                          </m:r>
                        </m:e>
                      </m:d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÷2×4</m:t>
                      </m:r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AU" sz="1200" b="0" dirty="0"/>
              </a:p>
              <a:p>
                <a:r>
                  <a:rPr lang="en-AU" sz="1200" b="0" dirty="0"/>
                  <a:t>Role model working out and discuss the importance of working down the page when solving mathematical equations. This is the standard working out in Mathematics.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Answer</a:t>
                </a: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8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÷2(2+2)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=8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÷2(4)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=8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÷2×4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=4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×4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=16</a:t>
                </a:r>
                <a:endParaRPr lang="en-AU" sz="1200" b="0" dirty="0"/>
              </a:p>
              <a:p>
                <a:r>
                  <a:rPr lang="en-AU" sz="1200" b="0" dirty="0"/>
                  <a:t>Role model working out and discuss the importance of working down the page when solving mathematical equations. This is the standard working out in Mathematics.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61EA-ED97-4E1D-81AF-4ED4BFC385A3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509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059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740025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1122292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13262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408517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61EA-ED97-4E1D-81AF-4ED4BFC385A3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293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3189BA-831A-4251-9ABD-872F56C8978C}" type="slidenum">
              <a:rPr lang="en-GB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GB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dirty="0"/>
              <a:t>Start with the box marked start.  </a:t>
            </a:r>
          </a:p>
          <a:p>
            <a:pPr>
              <a:spcBef>
                <a:spcPct val="0"/>
              </a:spcBef>
            </a:pPr>
            <a:r>
              <a:rPr lang="en-GB" dirty="0"/>
              <a:t>Find the answer to the problem, go to the box with this answer.  </a:t>
            </a:r>
          </a:p>
          <a:p>
            <a:pPr>
              <a:spcBef>
                <a:spcPct val="0"/>
              </a:spcBef>
            </a:pPr>
            <a:r>
              <a:rPr lang="en-GB" dirty="0"/>
              <a:t>Write down the letter in this box.  Etc until you get back to start.</a:t>
            </a:r>
          </a:p>
          <a:p>
            <a:pPr>
              <a:spcBef>
                <a:spcPct val="0"/>
              </a:spcBef>
            </a:pPr>
            <a:r>
              <a:rPr lang="en-GB" dirty="0"/>
              <a:t>What is the secret message?</a:t>
            </a:r>
          </a:p>
          <a:p>
            <a:pPr>
              <a:spcBef>
                <a:spcPct val="0"/>
              </a:spcBef>
            </a:pPr>
            <a:r>
              <a:rPr lang="en-GB" dirty="0"/>
              <a:t>THE ORDER MATTERS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091405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E553-A491-49BB-928C-F8DC4A2E7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071B5-2855-4668-BFBD-AE58BC25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928D2-37C3-4281-9200-1995729D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575C6-B3FB-4B4F-B7ED-C62DD7EA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3064-2504-4590-B8E5-A93BE0BA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852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2F6C-892D-4DB1-956E-F2C483F2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83CC0-D8AC-4C09-BACF-4B2CCAFF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16582-2A9C-4DB7-978E-3B35CD6E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468D6-61AE-4FB4-A95D-36AA877D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C062-E9A3-4EBE-AE89-C6400561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148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2958A-9122-4718-93B4-10BC23183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A217B-7300-4371-9AAE-513BA82AD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E9E15-698E-4F72-8EAF-5461BF72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E57F2-3F72-4518-965C-9FEF4CDD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1793-9DFB-470C-8F0E-9FA4A0CF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9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BF52-A9D1-4949-81BE-32754419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5583F-D52C-4E54-A032-B754F3693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BAE79-B720-462A-98C2-558C6868F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50A03-F84A-41A1-8912-62FA486F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C205E-CD57-41FD-951F-88EE48D0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BB372-B7D0-4044-B471-7AB9FADC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245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E678-4F14-4D95-B58E-2DA9C8A2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D49F5-CF7A-487C-B54E-095A59FF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63FC9-A22E-4CD4-AF7C-B7FD4751C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97862-E82D-4F81-89E1-C894AD1C2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99553-D5EA-4CF6-B214-56D316299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13949-1E84-4A6D-8069-DE27A6FF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65A95-179B-418B-9CCF-C281330B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A75F-ECFB-40ED-9A32-EFDEA0BB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07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133A-2595-48A3-9EB8-2DC8125B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EBE2D-B687-435B-9F5C-92A16C9A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3496C-E242-411F-9BE0-6A729902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9F6D3-E90F-4F05-BEF5-17BBB9E6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72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18C66-538F-4F77-A594-FF602184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36A31-E85B-494A-97E1-C1970E49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9FDA7-1062-4B20-9DCB-50D144E6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55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50AB-9454-422B-9FD3-790B4EB2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FB1A2-DF09-4445-9E7F-3D8C58313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256C7-CB52-4A12-A4F1-7B193B28B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4E62A-7407-49C0-9522-35FB311CF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5B3F5-4946-41A0-8C4D-F1998B19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E9386-6787-4A13-BC59-3BFA471E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34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F821-84A8-420D-9B30-05849557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1784C-22EA-463C-955D-79FDF14E2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70938-04FE-459F-94FC-8C60340C2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138C9-5594-4607-AEB6-735D3F24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2BE83-C198-41BF-8EDB-E40ACEDE0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AD42D-08FA-4347-B59B-F643710B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05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5130-E0E9-4024-AE01-5DBA02B4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5647D-4F7A-4C5F-94D5-7AA47F7C7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999F8-5615-464C-B158-3E044BBD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962D-0AF5-4565-B1C8-2F39C78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330CD-570C-498C-A927-CD04378F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18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D5407-BED6-437D-AC5E-A2E4DB8B5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48207-4944-4980-9EAD-C6B16F7D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E7B10-EF3F-48F7-A114-F0CCB1D3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D3102-C0CD-4725-9EB7-7FB9FD6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5155-A444-4950-8955-18DC88F6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99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B24E60-0841-437A-AA4D-99EE2977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5CD65-866A-4256-BF78-119B91AEE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7F9F9-A62F-444B-B379-D7C546A79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3212-361E-4E3C-9B7C-CB9D68FB413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3ED02-3BFA-40E6-BCB5-91C2DCEE1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0F50-2AA5-4F5D-98AE-9DDA3D0B6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0CB70-902A-4787-A296-EFF3878D70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42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d/3.0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theconversation.com/make-maths-mandatory-and-well-improve-our-international-education-rankings-1166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iantietze.de/posts/2013/12/useful-daily-writing-practice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7443-25D2-44EB-AFEF-1E571AE1A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Order of Operations</a:t>
            </a:r>
            <a:br>
              <a:rPr lang="en-AU" dirty="0"/>
            </a:br>
            <a:r>
              <a:rPr lang="en-AU" dirty="0"/>
              <a:t>EQ: How do I use the Order of Operations in Mathematics?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E1401-3F98-411B-98D0-0F6B82B55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23036"/>
          </a:xfrm>
        </p:spPr>
        <p:txBody>
          <a:bodyPr/>
          <a:lstStyle/>
          <a:p>
            <a:r>
              <a:rPr lang="en-AU" dirty="0"/>
              <a:t>Year 7 Mathematics</a:t>
            </a:r>
          </a:p>
        </p:txBody>
      </p:sp>
    </p:spTree>
    <p:extLst>
      <p:ext uri="{BB962C8B-B14F-4D97-AF65-F5344CB8AC3E}">
        <p14:creationId xmlns:p14="http://schemas.microsoft.com/office/powerpoint/2010/main" val="21009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Growth mindset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A new Contents and Glossary section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4435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97463" y="-77978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330" y="306895"/>
            <a:ext cx="2430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529" y="20651"/>
            <a:ext cx="3461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8116844" y="628749"/>
            <a:ext cx="0" cy="62292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5143606" y="3399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562946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4643275" y="282134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5158041" y="290991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7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5667472" y="297522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30</a:t>
            </a:r>
            <a:endParaRPr lang="en-GB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4654164" y="355478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6209428" y="339977"/>
            <a:ext cx="1594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8724038" y="355478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238" y="1196753"/>
            <a:ext cx="137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67255D-7C72-44F0-A93A-6AC47D66B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54" b="45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7414" y="1612004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20% of $30 correct to two decimal places?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 a certain night, half the moon is black,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grey and the rest of the moon is lit up brightly. What fraction of the moon is lit up brightly?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Round 280.3 cm to the nearest centimetre.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3+2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×5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without a calculator.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Which circle has one third shaded?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7414" y="1612004"/>
                <a:ext cx="10970958" cy="4522940"/>
              </a:xfrm>
              <a:blipFill>
                <a:blip r:embed="rId5"/>
                <a:stretch>
                  <a:fillRect l="-1278" t="-20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6930189" y="14747"/>
            <a:ext cx="5261811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How do I use the Order of Operations in mathematics?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8836318" y="1029553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8A107-49FC-48AC-9462-9485034B4498}"/>
              </a:ext>
            </a:extLst>
          </p:cNvPr>
          <p:cNvSpPr txBox="1"/>
          <p:nvPr/>
        </p:nvSpPr>
        <p:spPr>
          <a:xfrm>
            <a:off x="9928240" y="6657945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 dirty="0">
                <a:solidFill>
                  <a:srgbClr val="FFFFFF"/>
                </a:solidFill>
                <a:hlinkClick r:id="rId4" tooltip="http://theconversation.com/make-maths-mandatory-and-well-improve-our-international-education-rankings-116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 dirty="0">
                <a:solidFill>
                  <a:srgbClr val="FFFFFF"/>
                </a:solidFill>
              </a:rPr>
              <a:t> by Unknown Author is licensed </a:t>
            </a:r>
            <a:r>
              <a:rPr lang="en-AU" sz="700" dirty="0" err="1">
                <a:solidFill>
                  <a:srgbClr val="FFFFFF"/>
                </a:solidFill>
              </a:rPr>
              <a:t>uder</a:t>
            </a:r>
            <a:r>
              <a:rPr lang="en-AU" sz="700" dirty="0">
                <a:solidFill>
                  <a:srgbClr val="FFFFFF"/>
                </a:solidFill>
              </a:rPr>
              <a:t> </a:t>
            </a:r>
            <a:r>
              <a:rPr lang="en-AU" sz="700" dirty="0">
                <a:solidFill>
                  <a:srgbClr val="FFFFFF"/>
                </a:solidFill>
                <a:hlinkClick r:id="rId6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AU" sz="700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0CF938-C71C-4659-9504-DDA1C54665C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623" b="19146"/>
          <a:stretch/>
        </p:blipFill>
        <p:spPr>
          <a:xfrm>
            <a:off x="2655256" y="4973333"/>
            <a:ext cx="7335274" cy="168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use the Order of Operations in mathematics?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1F187C8-D008-4FB9-8857-D5C44C66DD7E}"/>
              </a:ext>
            </a:extLst>
          </p:cNvPr>
          <p:cNvSpPr txBox="1"/>
          <p:nvPr/>
        </p:nvSpPr>
        <p:spPr>
          <a:xfrm>
            <a:off x="2558577" y="2494058"/>
            <a:ext cx="756360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Order of Operations / </a:t>
            </a:r>
            <a:r>
              <a:rPr lang="en-AU" sz="2000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BIMDAS</a:t>
            </a: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rackets First</a:t>
            </a: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AU" sz="2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A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ndicies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ultiply and/or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ivide </a:t>
            </a: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(from left to right)</a:t>
            </a:r>
          </a:p>
          <a:p>
            <a:endParaRPr lang="en-AU" sz="2000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dd or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ubtract </a:t>
            </a: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(from left to right)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8B78C7-A3FF-43D5-9773-DE0817AA32A9}"/>
              </a:ext>
            </a:extLst>
          </p:cNvPr>
          <p:cNvSpPr txBox="1"/>
          <p:nvPr/>
        </p:nvSpPr>
        <p:spPr>
          <a:xfrm>
            <a:off x="271907" y="2422899"/>
            <a:ext cx="1543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BIMDAS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0170EA-779B-4440-85FF-C44405C220BB}"/>
              </a:ext>
            </a:extLst>
          </p:cNvPr>
          <p:cNvSpPr txBox="1"/>
          <p:nvPr/>
        </p:nvSpPr>
        <p:spPr>
          <a:xfrm>
            <a:off x="271907" y="1304751"/>
            <a:ext cx="19344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of Operations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30215B-4D27-487E-9B72-E7B4ABC0A975}"/>
              </a:ext>
            </a:extLst>
          </p:cNvPr>
          <p:cNvSpPr txBox="1"/>
          <p:nvPr/>
        </p:nvSpPr>
        <p:spPr>
          <a:xfrm>
            <a:off x="2436247" y="1264201"/>
            <a:ext cx="95998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Order of Operations is the correct order of steps for evaluating a mathematical equation. It is also known as </a:t>
            </a:r>
            <a:r>
              <a:rPr lang="en-GB" sz="2000" b="0" i="0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BIMDAS</a:t>
            </a:r>
            <a:r>
              <a:rPr lang="en-GB" sz="20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B1123-6476-4A86-9D06-DBD3B98F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does it </a:t>
            </a:r>
            <a:r>
              <a:rPr lang="en-AU" dirty="0" err="1"/>
              <a:t>MatTER</a:t>
            </a:r>
            <a:r>
              <a:rPr lang="en-AU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03DBAA-B632-4A17-BFD8-AB15C30FF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8074" y="1574092"/>
            <a:ext cx="10666794" cy="5195780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6352F5E-67FA-4CEB-B78C-3FFD8B5228AC}"/>
              </a:ext>
            </a:extLst>
          </p:cNvPr>
          <p:cNvSpPr/>
          <p:nvPr/>
        </p:nvSpPr>
        <p:spPr>
          <a:xfrm>
            <a:off x="9536688" y="3347657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E1846B-1337-4106-A79F-0B950DBC7E76}"/>
              </a:ext>
            </a:extLst>
          </p:cNvPr>
          <p:cNvSpPr/>
          <p:nvPr/>
        </p:nvSpPr>
        <p:spPr>
          <a:xfrm>
            <a:off x="9536688" y="3735669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32AE2E-1D18-4BA8-A5AF-D1589B95CDD0}"/>
              </a:ext>
            </a:extLst>
          </p:cNvPr>
          <p:cNvSpPr/>
          <p:nvPr/>
        </p:nvSpPr>
        <p:spPr>
          <a:xfrm>
            <a:off x="9536688" y="4610482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1EE6B3-27F4-4584-BC52-A37113AF5F6C}"/>
              </a:ext>
            </a:extLst>
          </p:cNvPr>
          <p:cNvSpPr/>
          <p:nvPr/>
        </p:nvSpPr>
        <p:spPr>
          <a:xfrm>
            <a:off x="9536688" y="5020317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C22F91-06CF-4ED0-BB79-E5D60A380AA5}"/>
              </a:ext>
            </a:extLst>
          </p:cNvPr>
          <p:cNvSpPr/>
          <p:nvPr/>
        </p:nvSpPr>
        <p:spPr>
          <a:xfrm>
            <a:off x="9536688" y="5430152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75CCF5-DDA8-4B0C-9919-4E5C85294C94}"/>
              </a:ext>
            </a:extLst>
          </p:cNvPr>
          <p:cNvSpPr/>
          <p:nvPr/>
        </p:nvSpPr>
        <p:spPr>
          <a:xfrm>
            <a:off x="9536688" y="5839987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7B6AD-0F18-445E-AFCF-D01A0B5BD9DA}"/>
              </a:ext>
            </a:extLst>
          </p:cNvPr>
          <p:cNvSpPr/>
          <p:nvPr/>
        </p:nvSpPr>
        <p:spPr>
          <a:xfrm>
            <a:off x="9817178" y="3377501"/>
            <a:ext cx="527323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EC83A1-F9C9-48B6-A705-41A8D4245BA1}"/>
              </a:ext>
            </a:extLst>
          </p:cNvPr>
          <p:cNvSpPr/>
          <p:nvPr/>
        </p:nvSpPr>
        <p:spPr>
          <a:xfrm>
            <a:off x="9817178" y="3781444"/>
            <a:ext cx="740496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C06B1F-0475-41FE-9013-9C7046C74A9B}"/>
              </a:ext>
            </a:extLst>
          </p:cNvPr>
          <p:cNvSpPr/>
          <p:nvPr/>
        </p:nvSpPr>
        <p:spPr>
          <a:xfrm>
            <a:off x="9817179" y="4656257"/>
            <a:ext cx="359028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903009-EE10-4725-8694-3E48C54BD07E}"/>
              </a:ext>
            </a:extLst>
          </p:cNvPr>
          <p:cNvSpPr/>
          <p:nvPr/>
        </p:nvSpPr>
        <p:spPr>
          <a:xfrm>
            <a:off x="9817178" y="5047391"/>
            <a:ext cx="701227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450246-65E2-4617-8BE3-A4D88D7788EE}"/>
              </a:ext>
            </a:extLst>
          </p:cNvPr>
          <p:cNvSpPr/>
          <p:nvPr/>
        </p:nvSpPr>
        <p:spPr>
          <a:xfrm>
            <a:off x="9817178" y="5436095"/>
            <a:ext cx="633909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A3EE34-2117-4ED8-A3D1-C495E7397BA4}"/>
              </a:ext>
            </a:extLst>
          </p:cNvPr>
          <p:cNvSpPr/>
          <p:nvPr/>
        </p:nvSpPr>
        <p:spPr>
          <a:xfrm>
            <a:off x="9817178" y="5861143"/>
            <a:ext cx="527323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96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33EF2825-EBF6-49B9-A2E1-BE504451E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177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9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use the Order of Operations in mathematics?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09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631A68-763C-48D0-B02C-BCD00B7A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 dirty="0"/>
              <a:t>Practice (LHS)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035A365-4BF0-4263-9A11-EA757F4D2E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8903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7568" y="2492896"/>
            <a:ext cx="14847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(3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21" y="2564904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0957" y="275164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8710" y="289464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978" y="275164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2265" y="275164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5800" y="2420888"/>
            <a:ext cx="14847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2683" y="4062556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936" y="2492896"/>
            <a:ext cx="22365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8547" y="4033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206" y="5242799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9584" y="5235577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14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855640" y="3933056"/>
            <a:ext cx="230425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201947" y="5234992"/>
            <a:ext cx="367240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22878" y="2499060"/>
            <a:ext cx="22365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2</a:t>
            </a:r>
          </a:p>
        </p:txBody>
      </p:sp>
      <p:pic>
        <p:nvPicPr>
          <p:cNvPr id="31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93661" y="620688"/>
            <a:ext cx="657572" cy="6892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36 -0.04328 L -0.13099 0.2097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1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48148E-6 L 0.08868 -0.0048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-25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448 -0.00208 L 0.18672 -0.0030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-46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72 -0.00301 L 0.27735 0.00185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231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644 -0.00208 L 0.52605 0.01898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4" y="1042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6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1625" y="2420888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21" y="2564904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5148" y="237325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8444" y="249466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978" y="275164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2265" y="275164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8916" y="2456015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6886" y="3935513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936" y="2492896"/>
            <a:ext cx="22365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6662" y="394757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6886" y="5369806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5480" y="5330141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11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4511824" y="3933056"/>
            <a:ext cx="316835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855640" y="5373216"/>
            <a:ext cx="460851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22067" y="240651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6444" y="2564904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84232" y="548680"/>
            <a:ext cx="657572" cy="6892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0.08777 -0.0020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-11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77 -0.00208 L 0.18165 -0.0046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-13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65 -0.00463 L 0.28477 -0.00463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56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22222E-6 L -0.00091 0.23194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1597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27168E-6 L -0.00052 0.2108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477 -0.00463 L 0.52605 0.01898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57" y="169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6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5761" y="243540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842" y="223356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0420" y="223356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978" y="275164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2265" y="275164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7903" y="4022037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7889" y="2492896"/>
            <a:ext cx="27847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3</a:t>
            </a:r>
            <a:r>
              <a:rPr lang="en-GB" sz="9600" baseline="300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6742" y="394757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0539" y="5288340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9439" y="5295562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36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6168008" y="3933056"/>
            <a:ext cx="1512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863752" y="5373216"/>
            <a:ext cx="36004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35761" y="2420888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84232" y="548680"/>
            <a:ext cx="657572" cy="689262"/>
          </a:xfrm>
          <a:prstGeom prst="rect">
            <a:avLst/>
          </a:prstGeom>
          <a:noFill/>
        </p:spPr>
      </p:pic>
      <p:sp>
        <p:nvSpPr>
          <p:cNvPr id="38" name="TextBox 37"/>
          <p:cNvSpPr txBox="1"/>
          <p:nvPr/>
        </p:nvSpPr>
        <p:spPr>
          <a:xfrm>
            <a:off x="5102879" y="250741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0.08777 -0.0020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-0.00091 0.2319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1597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8.09249E-7 L -0.00087 0.23191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11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77 -0.00208 L 0.18581 -0.00208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96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581 -0.00208 L 0.27644 -0.00208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639 -0.00209 L 0.52605 0.0189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1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6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1585" y="2060849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5681" y="2204865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490" y="268451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9884" y="234515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1804" y="253461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2474" y="234515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5761" y="2060849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7117" y="3479664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841" y="2087887"/>
            <a:ext cx="17235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2196" y="3452808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7117" y="4700568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1624" y="474876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3935760" y="3140968"/>
            <a:ext cx="237626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711624" y="4509120"/>
            <a:ext cx="518457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62308" y="2060849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6404" y="2204865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32169" y="693660"/>
            <a:ext cx="657572" cy="689262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6528048" y="206084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048" y="207583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0.09024 -0.0048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255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24 -0.00486 L 0.18191 -0.0048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91 -0.00486 L 0.2823 0.0004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3" y="25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0495 0.2011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10046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4104E-6 L 0.00139 0.20393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02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22222E-6 L 0.00664 0.18634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342 0.00463 L 0.52605 0.01898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718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29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19" y="-5011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150932" y="-107608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3344" y="1272702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3424" y="1272702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0141" y="-107608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7774" y="-150038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696" y="-121876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261" y="-107608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548" y="-107608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0621" y="1272702"/>
            <a:ext cx="11592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(5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3471" y="2727852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8979" y="1299740"/>
            <a:ext cx="17748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485" y="2664661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93471" y="5585298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2519" y="562021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10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587519" y="2352821"/>
            <a:ext cx="237626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379607" y="3648965"/>
            <a:ext cx="100811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14067" y="1272702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3424" y="1284461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94947" y="237916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03059" y="237916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7195" y="237916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79323" y="165908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07515" y="165908"/>
            <a:ext cx="657572" cy="689262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8539847" y="1272702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9847" y="1287692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5791" y="127270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1616" y="3648966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219367" y="4729085"/>
            <a:ext cx="295232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227479" y="4657078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12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5431455" y="5665189"/>
            <a:ext cx="295232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996121" y="2664660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8347" y="2659010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64235" y="2685824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711" y="3600765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35791" y="127270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C6478-DD09-4BA3-A55A-589F45A8948A}"/>
              </a:ext>
            </a:extLst>
          </p:cNvPr>
          <p:cNvSpPr txBox="1"/>
          <p:nvPr/>
        </p:nvSpPr>
        <p:spPr>
          <a:xfrm>
            <a:off x="3213879" y="3928181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85185E-6 L 0.00221 0.216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2" y="979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00144 0.2039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1018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48148E-6 L -0.00521 0.18519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1006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2.96296E-6 L -0.08268 0.2051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41" y="1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08789 -0.0048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4 0.20394 L -0.10026 0.33403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91" y="6505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0.18519 L 0.06992 0.34167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0" y="706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2169 L 0.04479 0.3460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750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89 -0.00486 L 0.18698 -0.00393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46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98 -0.00393 L 0.28204 -0.01713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3" y="-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268 0.32986 L -0.16406 0.48727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" y="787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204 -0.01713 L 0.4211 -0.01412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53" y="139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9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27" grpId="1"/>
      <p:bldP spid="29" grpId="0"/>
      <p:bldP spid="29" grpId="1"/>
      <p:bldP spid="37" grpId="0"/>
      <p:bldP spid="37" grpId="1"/>
      <p:bldP spid="37" grpId="2"/>
      <p:bldP spid="31" grpId="0"/>
      <p:bldP spid="39" grpId="0"/>
      <p:bldP spid="45" grpId="0"/>
      <p:bldP spid="47" grpId="0"/>
      <p:bldP spid="48" grpId="0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1840D8A-F69C-4A53-853C-D127B11FFCA0}"/>
              </a:ext>
            </a:extLst>
          </p:cNvPr>
          <p:cNvSpPr txBox="1">
            <a:spLocks noChangeArrowheads="1"/>
          </p:cNvSpPr>
          <p:nvPr/>
        </p:nvSpPr>
        <p:spPr>
          <a:xfrm>
            <a:off x="684211" y="583792"/>
            <a:ext cx="11096661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cap="none" dirty="0">
                <a:latin typeface="Calibri" panose="020F0502020204030204" pitchFamily="34" charset="0"/>
                <a:cs typeface="Calibri" panose="020F0502020204030204" pitchFamily="34" charset="0"/>
              </a:rPr>
              <a:t>TASK: (LHS) Match each of these calculations with one that gives the same answer.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AD1C7-A6FE-45E1-BE4D-8492D4D7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8" t="55902" r="16780" b="12587"/>
          <a:stretch>
            <a:fillRect/>
          </a:stretch>
        </p:blipFill>
        <p:spPr bwMode="auto">
          <a:xfrm>
            <a:off x="2816056" y="2384906"/>
            <a:ext cx="6832969" cy="260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C81D2F3F-7B34-4806-8FFF-D585F5DC0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961" y="5444869"/>
            <a:ext cx="651515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Hint: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work all of them out and then match them up</a:t>
            </a:r>
          </a:p>
        </p:txBody>
      </p:sp>
    </p:spTree>
    <p:extLst>
      <p:ext uri="{BB962C8B-B14F-4D97-AF65-F5344CB8AC3E}">
        <p14:creationId xmlns:p14="http://schemas.microsoft.com/office/powerpoint/2010/main" val="521877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871A-FD9D-4FA6-AA4B-527652C1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Write Your Summary</a:t>
            </a:r>
          </a:p>
        </p:txBody>
      </p:sp>
      <p:pic>
        <p:nvPicPr>
          <p:cNvPr id="5" name="Picture 4" descr="A child writing on a piece of paper&#10;&#10;Description automatically generated with medium confidence">
            <a:extLst>
              <a:ext uri="{FF2B5EF4-FFF2-40B4-BE49-F238E27FC236}">
                <a16:creationId xmlns:a16="http://schemas.microsoft.com/office/drawing/2014/main" id="{4722B32D-F7B6-4789-A21C-5F4FD4C11E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12822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0EC8-9C72-4646-B6B1-79626135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Write a summary that answers the Essential Question: How do I use the Order of Operations in Mathematics?. </a:t>
            </a:r>
            <a:br>
              <a:rPr lang="en-AU" dirty="0">
                <a:solidFill>
                  <a:srgbClr val="FFFFFF"/>
                </a:solidFill>
              </a:rPr>
            </a:br>
            <a:br>
              <a:rPr lang="en-AU" dirty="0">
                <a:solidFill>
                  <a:srgbClr val="FFFFFF"/>
                </a:solidFill>
              </a:rPr>
            </a:br>
            <a:r>
              <a:rPr lang="en-AU" dirty="0">
                <a:solidFill>
                  <a:srgbClr val="FFFFFF"/>
                </a:solidFill>
              </a:rPr>
              <a:t>Include an example in your answer.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48ABC-2D56-4A8E-8190-C522659A86AC}"/>
              </a:ext>
            </a:extLst>
          </p:cNvPr>
          <p:cNvSpPr txBox="1"/>
          <p:nvPr/>
        </p:nvSpPr>
        <p:spPr>
          <a:xfrm>
            <a:off x="5136519" y="4229070"/>
            <a:ext cx="224933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3" tooltip="https://christiantietze.de/posts/2013/12/useful-daily-writing-practic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9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ud 8"/>
          <p:cNvSpPr/>
          <p:nvPr/>
        </p:nvSpPr>
        <p:spPr>
          <a:xfrm>
            <a:off x="3309918" y="3643314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7</a:t>
            </a:r>
            <a:r>
              <a:rPr lang="en-GB" baseline="30000" dirty="0"/>
              <a:t>2</a:t>
            </a:r>
            <a:r>
              <a:rPr lang="en-GB" dirty="0"/>
              <a:t> + (4 – 9)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(9 ÷ 3) x 4</a:t>
            </a:r>
            <a:r>
              <a:rPr lang="en-GB" baseline="30000" dirty="0"/>
              <a:t>2</a:t>
            </a:r>
            <a:endParaRPr lang="en-GB" dirty="0"/>
          </a:p>
        </p:txBody>
      </p:sp>
      <p:sp>
        <p:nvSpPr>
          <p:cNvPr id="8" name="Cloud 7"/>
          <p:cNvSpPr/>
          <p:nvPr/>
        </p:nvSpPr>
        <p:spPr>
          <a:xfrm>
            <a:off x="6024530" y="928670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Put the brackets in for the following to work:</a:t>
            </a:r>
          </a:p>
          <a:p>
            <a:pPr marL="342900" indent="-342900" algn="ctr">
              <a:buAutoNum type="arabicParenR"/>
            </a:pPr>
            <a:r>
              <a:rPr lang="en-GB" dirty="0"/>
              <a:t>36 ÷ 4 + 5 = 4</a:t>
            </a:r>
          </a:p>
          <a:p>
            <a:pPr marL="342900" indent="-342900" algn="ctr">
              <a:buAutoNum type="arabicParenR"/>
            </a:pPr>
            <a:r>
              <a:rPr lang="en-GB" dirty="0"/>
              <a:t>3 + 4 x 7 – 5 = 14</a:t>
            </a:r>
          </a:p>
        </p:txBody>
      </p:sp>
      <p:sp>
        <p:nvSpPr>
          <p:cNvPr id="7" name="Cloud 6"/>
          <p:cNvSpPr/>
          <p:nvPr/>
        </p:nvSpPr>
        <p:spPr>
          <a:xfrm>
            <a:off x="1523968" y="285728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5 x 3 – 4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50 ÷ 5 x 3</a:t>
            </a:r>
          </a:p>
        </p:txBody>
      </p:sp>
      <p:pic>
        <p:nvPicPr>
          <p:cNvPr id="1029" name="Picture 5" descr="C:\Documents and Settings\freemah02\Local Settings\Temporary Internet Files\Content.IE5\C4948WN1\MC900364166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10612" y="3571877"/>
            <a:ext cx="1857388" cy="3596449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4254824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ud 8"/>
          <p:cNvSpPr/>
          <p:nvPr/>
        </p:nvSpPr>
        <p:spPr>
          <a:xfrm>
            <a:off x="3309918" y="3643314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7</a:t>
            </a:r>
            <a:r>
              <a:rPr lang="en-GB" baseline="30000" dirty="0"/>
              <a:t>2</a:t>
            </a:r>
            <a:r>
              <a:rPr lang="en-GB" dirty="0"/>
              <a:t> + (4 – 9) = 44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(9 ÷ 3) x 4</a:t>
            </a:r>
            <a:r>
              <a:rPr lang="en-GB" baseline="30000" dirty="0"/>
              <a:t>2</a:t>
            </a:r>
            <a:r>
              <a:rPr lang="en-GB" dirty="0"/>
              <a:t> = 48</a:t>
            </a:r>
          </a:p>
        </p:txBody>
      </p:sp>
      <p:sp>
        <p:nvSpPr>
          <p:cNvPr id="8" name="Cloud 7"/>
          <p:cNvSpPr/>
          <p:nvPr/>
        </p:nvSpPr>
        <p:spPr>
          <a:xfrm>
            <a:off x="6024530" y="928670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Put the brackets in for the following to work:</a:t>
            </a:r>
          </a:p>
          <a:p>
            <a:pPr marL="342900" indent="-342900" algn="ctr">
              <a:buAutoNum type="arabicParenR"/>
            </a:pPr>
            <a:r>
              <a:rPr lang="en-GB" dirty="0"/>
              <a:t>36 ÷ (4 + 5) = 4</a:t>
            </a:r>
          </a:p>
          <a:p>
            <a:pPr marL="342900" indent="-342900" algn="ctr">
              <a:buAutoNum type="arabicParenR"/>
            </a:pPr>
            <a:r>
              <a:rPr lang="en-GB" dirty="0"/>
              <a:t>(3 + 4) x (7 – 5) = 14</a:t>
            </a:r>
          </a:p>
        </p:txBody>
      </p:sp>
      <p:sp>
        <p:nvSpPr>
          <p:cNvPr id="7" name="Cloud 6"/>
          <p:cNvSpPr/>
          <p:nvPr/>
        </p:nvSpPr>
        <p:spPr>
          <a:xfrm>
            <a:off x="1523968" y="285728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5 x 3 – 4 = 11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50 ÷ 5 x 3 = 30</a:t>
            </a:r>
          </a:p>
        </p:txBody>
      </p:sp>
      <p:pic>
        <p:nvPicPr>
          <p:cNvPr id="1029" name="Picture 5" descr="C:\Documents and Settings\freemah02\Local Settings\Temporary Internet Files\Content.IE5\C4948WN1\MC900364166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10612" y="3571877"/>
            <a:ext cx="1857388" cy="3596449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3824620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 Malik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260350"/>
            <a:ext cx="10972800" cy="1143000"/>
          </a:xfrm>
        </p:spPr>
        <p:txBody>
          <a:bodyPr>
            <a:normAutofit/>
          </a:bodyPr>
          <a:lstStyle/>
          <a:p>
            <a:r>
              <a:rPr lang="en-GB">
                <a:latin typeface="Comic Sans MS" pitchFamily="66" charset="0"/>
              </a:rPr>
              <a:t>What is the secret message?</a:t>
            </a:r>
            <a:endParaRPr lang="en-US" dirty="0">
              <a:latin typeface="Comic Sans MS" pitchFamily="66" charset="0"/>
            </a:endParaRPr>
          </a:p>
        </p:txBody>
      </p:sp>
      <p:graphicFrame>
        <p:nvGraphicFramePr>
          <p:cNvPr id="7171" name="Group 3"/>
          <p:cNvGraphicFramePr>
            <a:graphicFrameLocks noGrp="1"/>
          </p:cNvGraphicFramePr>
          <p:nvPr>
            <p:ph idx="4294967295"/>
          </p:nvPr>
        </p:nvGraphicFramePr>
        <p:xfrm>
          <a:off x="1739106" y="1278140"/>
          <a:ext cx="8713788" cy="5256213"/>
        </p:xfrm>
        <a:graphic>
          <a:graphicData uri="http://schemas.openxmlformats.org/drawingml/2006/table">
            <a:tbl>
              <a:tblPr/>
              <a:tblGrid>
                <a:gridCol w="217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14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Start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 + 2 x 4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T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8 – 3 x 2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T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5x7+6x9 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O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5 x 2 + 7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R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37 – 4 x 8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D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(5 – 2) x 5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E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 x (9 – 7)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R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7 x 8 - 9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2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H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 x (4 + 5)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T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64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÷(5 + 3)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S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47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9 x (5 – 2)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M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(4 + 5) x 8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A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72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48 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÷ (6+2)</a:t>
                      </a: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E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89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4x(3+2)x3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R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3x4+2x7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E</a:t>
                      </a:r>
                      <a:r>
                        <a:rPr kumimoji="0" lang="en-GB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11x3-2x13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77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1F83FF-906F-4F83-840A-9400344EE526}"/>
</file>

<file path=customXml/itemProps2.xml><?xml version="1.0" encoding="utf-8"?>
<ds:datastoreItem xmlns:ds="http://schemas.openxmlformats.org/officeDocument/2006/customXml" ds:itemID="{4DE03587-8C9D-49F1-9D82-D8AF2FD3B33D}"/>
</file>

<file path=customXml/itemProps3.xml><?xml version="1.0" encoding="utf-8"?>
<ds:datastoreItem xmlns:ds="http://schemas.openxmlformats.org/officeDocument/2006/customXml" ds:itemID="{10994EF2-342C-440B-8277-CCB09AEFA9E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Office PowerPoint</Application>
  <PresentationFormat>Widescreen</PresentationFormat>
  <Paragraphs>259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Aharoni</vt:lpstr>
      <vt:lpstr>Arial</vt:lpstr>
      <vt:lpstr>Arial Black</vt:lpstr>
      <vt:lpstr>Calibri</vt:lpstr>
      <vt:lpstr>Calibri Light</vt:lpstr>
      <vt:lpstr>Cambria Math</vt:lpstr>
      <vt:lpstr>Comic Sans MS</vt:lpstr>
      <vt:lpstr>Wingdings</vt:lpstr>
      <vt:lpstr>Office Theme</vt:lpstr>
      <vt:lpstr>TOPIC: Order of Operations EQ: How do I use the Order of Operations in Mathematics?</vt:lpstr>
      <vt:lpstr>Things Required For This Lesson</vt:lpstr>
      <vt:lpstr>PowerPoint Presentation</vt:lpstr>
      <vt:lpstr>PowerPoint Presentation</vt:lpstr>
      <vt:lpstr>Five Questions (LHS)</vt:lpstr>
      <vt:lpstr>PowerPoint Presentation</vt:lpstr>
      <vt:lpstr>Why does it MatTER?</vt:lpstr>
      <vt:lpstr>PowerPoint Presentation</vt:lpstr>
      <vt:lpstr>PowerPoint Presentation</vt:lpstr>
      <vt:lpstr>Practice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 Your Summary</vt:lpstr>
      <vt:lpstr>PowerPoint Presentation</vt:lpstr>
      <vt:lpstr>PowerPoint Presentation</vt:lpstr>
      <vt:lpstr>What is the secret message?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Order of Operations EQ: How do I use the Order of Operations in Mathematics?</dc:title>
  <dc:creator>JAMES Sarah [Baldivis Secondary College]</dc:creator>
  <cp:lastModifiedBy>JAMES Sarah [Baldivis Secondary College]</cp:lastModifiedBy>
  <cp:revision>1</cp:revision>
  <dcterms:created xsi:type="dcterms:W3CDTF">2021-11-16T00:54:15Z</dcterms:created>
  <dcterms:modified xsi:type="dcterms:W3CDTF">2021-11-16T00:55:12Z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
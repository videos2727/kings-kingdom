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311" r:id="rId3"/>
    <p:sldId id="331" r:id="rId4"/>
    <p:sldId id="333" r:id="rId5"/>
    <p:sldId id="334" r:id="rId6"/>
    <p:sldId id="335" r:id="rId7"/>
    <p:sldId id="336" r:id="rId8"/>
    <p:sldId id="337" r:id="rId9"/>
    <p:sldId id="329" r:id="rId10"/>
    <p:sldId id="327" r:id="rId11"/>
  </p:sldIdLst>
  <p:sldSz cx="9144000" cy="5143500" type="screen16x9"/>
  <p:notesSz cx="6858000" cy="9144000"/>
  <p:embeddedFontLst>
    <p:embeddedFont>
      <p:font typeface="Abel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  <p:embeddedFont>
      <p:font typeface="Fredoka On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2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1" y="594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982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4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7471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92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827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110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5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789586" y="1080654"/>
            <a:ext cx="7281968" cy="2082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What is another way of adding and subtracting fractions with different denominators?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/>
              <p:nvPr/>
            </p:nvSpPr>
            <p:spPr>
              <a:xfrm>
                <a:off x="387928" y="1667368"/>
                <a:ext cx="7845287" cy="293413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800" b="1" dirty="0"/>
                  <a:t>Let’s get thinking!</a:t>
                </a:r>
              </a:p>
              <a:p>
                <a:endParaRPr lang="en-GB" sz="1800" b="1" dirty="0"/>
              </a:p>
              <a:p>
                <a:pPr algn="ctr"/>
                <a:r>
                  <a:rPr lang="en-AU" sz="2400" b="1" dirty="0">
                    <a:solidFill>
                      <a:srgbClr val="0070C0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24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2400" b="1" dirty="0"/>
              </a:p>
              <a:p>
                <a:endParaRPr lang="en-GB" b="1" dirty="0"/>
              </a:p>
              <a:p>
                <a:r>
                  <a:rPr lang="en-AU" sz="1800" dirty="0"/>
                  <a:t>How can we find the solution to this?  </a:t>
                </a:r>
              </a:p>
              <a:p>
                <a:r>
                  <a:rPr lang="en-AU" sz="1800" dirty="0"/>
                  <a:t>How would it look using our grid paper? (last lesson)</a:t>
                </a:r>
              </a:p>
              <a:p>
                <a:r>
                  <a:rPr lang="en-AU" sz="1800" dirty="0"/>
                  <a:t>Discuss it with your shoulder partner &amp; be prepared to share.</a:t>
                </a:r>
              </a:p>
              <a:p>
                <a:endParaRPr lang="en-AU" sz="18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8" y="1667368"/>
                <a:ext cx="7845287" cy="2934137"/>
              </a:xfrm>
              <a:prstGeom prst="rect">
                <a:avLst/>
              </a:prstGeom>
              <a:blipFill>
                <a:blip r:embed="rId3"/>
                <a:stretch>
                  <a:fillRect l="-621" t="-10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67FB06-1C91-4217-A76D-1902EB22BD4D}"/>
                  </a:ext>
                </a:extLst>
              </p:cNvPr>
              <p:cNvSpPr txBox="1"/>
              <p:nvPr/>
            </p:nvSpPr>
            <p:spPr>
              <a:xfrm>
                <a:off x="2255851" y="1072108"/>
                <a:ext cx="6567849" cy="303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Find the Lowest Common Denominator (LCD)</a:t>
                </a:r>
              </a:p>
              <a:p>
                <a:pPr algn="ctr" defTabSz="685595"/>
                <a:r>
                  <a:rPr lang="en-US" sz="2700" b="1" dirty="0">
                    <a:solidFill>
                      <a:srgbClr val="0070C0"/>
                    </a:solidFill>
                    <a:latin typeface="Calibri" panose="020F0502020204030204"/>
                  </a:rPr>
                  <a:t>12</a:t>
                </a:r>
              </a:p>
              <a:p>
                <a:pPr defTabSz="685595"/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67FB06-1C91-4217-A76D-1902EB22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851" y="1072108"/>
                <a:ext cx="6567849" cy="3037178"/>
              </a:xfrm>
              <a:prstGeom prst="rect">
                <a:avLst/>
              </a:prstGeom>
              <a:blipFill>
                <a:blip r:embed="rId3"/>
                <a:stretch>
                  <a:fillRect l="-1114" r="-279" b="-30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48B2031-6214-488B-8F63-95AEABF70DB0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13260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B2E3C9-6A3D-4F6D-BF2C-FC79C10E9AD9}"/>
                  </a:ext>
                </a:extLst>
              </p:cNvPr>
              <p:cNvSpPr txBox="1"/>
              <p:nvPr/>
            </p:nvSpPr>
            <p:spPr>
              <a:xfrm>
                <a:off x="2067791" y="1032369"/>
                <a:ext cx="6567849" cy="383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</a:t>
                </a:r>
              </a:p>
              <a:p>
                <a:pPr defTabSz="685595"/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685595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AU" sz="54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    </m:t>
                    </m:r>
                    <m:f>
                      <m:fPr>
                        <m:ctrlP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5400" dirty="0">
                    <a:solidFill>
                      <a:prstClr val="black"/>
                    </a:solidFill>
                    <a:latin typeface="Calibri" panose="020F0502020204030204"/>
                  </a:rPr>
                  <a:t>  </a:t>
                </a:r>
              </a:p>
              <a:p>
                <a:pPr algn="ctr" defTabSz="685595"/>
                <a:endParaRPr lang="en-US" sz="4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33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33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33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33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B2E3C9-6A3D-4F6D-BF2C-FC79C10E9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791" y="1032369"/>
                <a:ext cx="6567849" cy="3836115"/>
              </a:xfrm>
              <a:prstGeom prst="rect">
                <a:avLst/>
              </a:prstGeom>
              <a:blipFill>
                <a:blip r:embed="rId3"/>
                <a:stretch>
                  <a:fillRect l="-1113" t="-952" r="-1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91CC536-9B89-43E5-944C-2444FF57F5B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158443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In groups/pairs on a piece of paper: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57E32-D594-49EF-A558-F4314A8D4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862" y="923792"/>
            <a:ext cx="5858525" cy="40928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75571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3374" y="57326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83483-E983-401C-8989-F8DB157280AF}"/>
              </a:ext>
            </a:extLst>
          </p:cNvPr>
          <p:cNvSpPr txBox="1"/>
          <p:nvPr/>
        </p:nvSpPr>
        <p:spPr>
          <a:xfrm>
            <a:off x="170614" y="1344202"/>
            <a:ext cx="1384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Fractions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2D838-3278-4869-80E7-B0862C710E86}"/>
              </a:ext>
            </a:extLst>
          </p:cNvPr>
          <p:cNvSpPr txBox="1"/>
          <p:nvPr/>
        </p:nvSpPr>
        <p:spPr>
          <a:xfrm>
            <a:off x="1471547" y="126399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1: Convert to improper fractions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D7B74D-129A-474D-974B-1E61CD573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6" t="27537" r="83444" b="67455"/>
          <a:stretch/>
        </p:blipFill>
        <p:spPr>
          <a:xfrm>
            <a:off x="5802318" y="1073377"/>
            <a:ext cx="2607404" cy="8640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A3423B-C403-4C6E-B307-A49AC90E0B64}"/>
              </a:ext>
            </a:extLst>
          </p:cNvPr>
          <p:cNvSpPr txBox="1"/>
          <p:nvPr/>
        </p:nvSpPr>
        <p:spPr>
          <a:xfrm>
            <a:off x="1462993" y="2246411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2: Find the LCD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B03EE-321C-4B9A-96A3-26344BD23277}"/>
              </a:ext>
            </a:extLst>
          </p:cNvPr>
          <p:cNvSpPr txBox="1"/>
          <p:nvPr/>
        </p:nvSpPr>
        <p:spPr>
          <a:xfrm>
            <a:off x="4039296" y="2255420"/>
            <a:ext cx="53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solidFill>
                  <a:schemeClr val="accent6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89A1A-AE4A-4825-977A-02C697071271}"/>
              </a:ext>
            </a:extLst>
          </p:cNvPr>
          <p:cNvSpPr txBox="1"/>
          <p:nvPr/>
        </p:nvSpPr>
        <p:spPr>
          <a:xfrm>
            <a:off x="1437589" y="3247853"/>
            <a:ext cx="4557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3: Multiply the fractions so they each have the LCD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405748-FEBB-4DA5-B6A8-E7625F58DE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32067" r="83444" b="62789"/>
          <a:stretch/>
        </p:blipFill>
        <p:spPr>
          <a:xfrm>
            <a:off x="6468552" y="2948824"/>
            <a:ext cx="1304349" cy="7558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298926-828F-411B-885A-2C753AD952FB}"/>
              </a:ext>
            </a:extLst>
          </p:cNvPr>
          <p:cNvSpPr txBox="1"/>
          <p:nvPr/>
        </p:nvSpPr>
        <p:spPr>
          <a:xfrm>
            <a:off x="1437590" y="4230267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4: Subtract the numerators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0BA778-2D65-4445-A094-42F90A37F4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41798" r="83444" b="53151"/>
          <a:stretch/>
        </p:blipFill>
        <p:spPr>
          <a:xfrm>
            <a:off x="5175952" y="3981297"/>
            <a:ext cx="1250075" cy="71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We do: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FBBF47-E75F-434E-B3D4-8EF880239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971" y="1060682"/>
            <a:ext cx="1785029" cy="12468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ED1EE8-0110-4113-A997-0A2BECCF6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518" y="3160741"/>
            <a:ext cx="1755934" cy="10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6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8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85307" y="564813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In your pairs/group on a piece of a paper: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A887F9-81F3-4197-AA06-3EC82E945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42" y="845221"/>
            <a:ext cx="6751744" cy="2283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6C69D6-A59B-45E7-A20B-EDC29B9E0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42" y="2387909"/>
            <a:ext cx="1698273" cy="258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9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10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528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Write your summary in your interactive notebook.</a:t>
            </a:r>
          </a:p>
          <a:p>
            <a:r>
              <a:rPr lang="en-GB" sz="2400" b="1" dirty="0"/>
              <a:t>Discuss with your shoulder partner/table.</a:t>
            </a:r>
          </a:p>
          <a:p>
            <a:r>
              <a:rPr lang="en-GB" sz="2400" b="1" dirty="0"/>
              <a:t>Be prepared to share </a:t>
            </a:r>
            <a:r>
              <a:rPr lang="en-GB" sz="2400" b="1" dirty="0">
                <a:sym typeface="Wingdings" panose="05000000000000000000" pitchFamily="2" charset="2"/>
              </a:rPr>
              <a:t>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.</a:t>
            </a:r>
          </a:p>
          <a:p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82444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04BC3B-5E67-4D6D-8BF9-6684F360FF77}"/>
</file>

<file path=customXml/itemProps2.xml><?xml version="1.0" encoding="utf-8"?>
<ds:datastoreItem xmlns:ds="http://schemas.openxmlformats.org/officeDocument/2006/customXml" ds:itemID="{35C8DBB0-20AF-41B2-BC6E-5A2886326892}"/>
</file>

<file path=customXml/itemProps3.xml><?xml version="1.0" encoding="utf-8"?>
<ds:datastoreItem xmlns:ds="http://schemas.openxmlformats.org/officeDocument/2006/customXml" ds:itemID="{E54F67AD-6791-44AA-B4A1-3CC4C3787BD5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3824</TotalTime>
  <Words>387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Chalkboard</vt:lpstr>
      <vt:lpstr>Fredoka One</vt:lpstr>
      <vt:lpstr>Calibri</vt:lpstr>
      <vt:lpstr>Fragment Core</vt:lpstr>
      <vt:lpstr>Cambria Math</vt:lpstr>
      <vt:lpstr>Abel</vt:lpstr>
      <vt:lpstr>Rainbow Background by Slidesgo</vt:lpstr>
      <vt:lpstr>Topic: Fractions EQ: What is another way of adding and subtracting fractions with different denominators?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63</cp:revision>
  <dcterms:created xsi:type="dcterms:W3CDTF">2021-02-22T02:29:05Z</dcterms:created>
  <dcterms:modified xsi:type="dcterms:W3CDTF">2021-11-09T13:14:00Z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
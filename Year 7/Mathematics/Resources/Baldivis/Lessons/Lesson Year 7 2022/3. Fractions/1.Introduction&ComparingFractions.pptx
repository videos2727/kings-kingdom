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311" r:id="rId3"/>
    <p:sldId id="317" r:id="rId4"/>
    <p:sldId id="319" r:id="rId5"/>
    <p:sldId id="318" r:id="rId6"/>
    <p:sldId id="321" r:id="rId7"/>
    <p:sldId id="322" r:id="rId8"/>
    <p:sldId id="323" r:id="rId9"/>
    <p:sldId id="265" r:id="rId10"/>
    <p:sldId id="320" r:id="rId11"/>
  </p:sldIdLst>
  <p:sldSz cx="9144000" cy="5143500" type="screen16x9"/>
  <p:notesSz cx="6858000" cy="9144000"/>
  <p:embeddedFontLst>
    <p:embeddedFont>
      <p:font typeface="Abel" panose="020B0604020202020204" charset="0"/>
      <p:regular r:id="rId13"/>
    </p:embeddedFont>
    <p:embeddedFont>
      <p:font typeface="Cambria Math" panose="02040503050406030204" pitchFamily="18" charset="0"/>
      <p:regular r:id="rId14"/>
    </p:embeddedFont>
    <p:embeddedFont>
      <p:font typeface="Fredoka One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di wilding" initials="jw" lastIdx="1" clrIdx="0">
    <p:extLst>
      <p:ext uri="{19B8F6BF-5375-455C-9EA6-DF929625EA0E}">
        <p15:presenceInfo xmlns:p15="http://schemas.microsoft.com/office/powerpoint/2012/main" userId="d1b38b0166ae8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0" y="543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Doing improper and mixed fractions in next line – on slide just to see if they have any knowledge of them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787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41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 number line with numbers with same denominator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Depending on students can try different ones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62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617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029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109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867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03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09476" y="134126"/>
            <a:ext cx="8724927" cy="4875183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12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8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113887" y="2074350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Fractions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How do we compare fractions?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80B59-188A-4CC7-A1F0-4E7004D8F4A1}"/>
              </a:ext>
            </a:extLst>
          </p:cNvPr>
          <p:cNvSpPr txBox="1"/>
          <p:nvPr/>
        </p:nvSpPr>
        <p:spPr>
          <a:xfrm>
            <a:off x="387928" y="938018"/>
            <a:ext cx="7845287" cy="16004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Let’s do a </a:t>
            </a:r>
            <a:r>
              <a:rPr lang="en-GB" b="1" dirty="0" err="1"/>
              <a:t>Quickwrite</a:t>
            </a:r>
            <a:r>
              <a:rPr lang="en-GB" b="1" dirty="0"/>
              <a:t>!</a:t>
            </a:r>
          </a:p>
          <a:p>
            <a:endParaRPr lang="en-GB" b="1" dirty="0"/>
          </a:p>
          <a:p>
            <a:r>
              <a:rPr lang="en-GB" dirty="0">
                <a:solidFill>
                  <a:schemeClr val="tx1"/>
                </a:solidFill>
              </a:rPr>
              <a:t>In the LHS of your book you have 1 minute to write down everything you know about “</a:t>
            </a:r>
            <a:r>
              <a:rPr lang="en-GB" b="1" dirty="0">
                <a:solidFill>
                  <a:schemeClr val="tx1"/>
                </a:solidFill>
              </a:rPr>
              <a:t>Fractions</a:t>
            </a:r>
            <a:r>
              <a:rPr lang="en-GB" dirty="0">
                <a:solidFill>
                  <a:schemeClr val="tx1"/>
                </a:solidFill>
              </a:rPr>
              <a:t>”.</a:t>
            </a:r>
          </a:p>
          <a:p>
            <a:endParaRPr lang="en-GB" dirty="0"/>
          </a:p>
          <a:p>
            <a:r>
              <a:rPr lang="en-GB" dirty="0"/>
              <a:t>Be prepared to share with the class.</a:t>
            </a:r>
          </a:p>
          <a:p>
            <a:endParaRPr lang="en-GB" dirty="0"/>
          </a:p>
          <a:p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2931D-338F-496C-A535-A3EEF7F5B410}"/>
              </a:ext>
            </a:extLst>
          </p:cNvPr>
          <p:cNvSpPr txBox="1"/>
          <p:nvPr/>
        </p:nvSpPr>
        <p:spPr>
          <a:xfrm>
            <a:off x="387928" y="2888974"/>
            <a:ext cx="8368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whiteboards or paper have students to sketch a rectangle, with shading, to show these fractions: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C7132-3136-4D26-9A7C-1CA5D2DC3BA7}"/>
                  </a:ext>
                </a:extLst>
              </p:cNvPr>
              <p:cNvSpPr txBox="1"/>
              <p:nvPr/>
            </p:nvSpPr>
            <p:spPr>
              <a:xfrm>
                <a:off x="318042" y="3420012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C7132-3136-4D26-9A7C-1CA5D2DC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42" y="3420012"/>
                <a:ext cx="787601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15979E-E226-4E5B-AFFB-9C41FB3F8945}"/>
                  </a:ext>
                </a:extLst>
              </p:cNvPr>
              <p:cNvSpPr txBox="1"/>
              <p:nvPr/>
            </p:nvSpPr>
            <p:spPr>
              <a:xfrm>
                <a:off x="1295054" y="3474211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15979E-E226-4E5B-AFFB-9C41FB3F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054" y="3474211"/>
                <a:ext cx="787601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DF2C0C-1D78-4F6E-A652-099E6EF2193C}"/>
                  </a:ext>
                </a:extLst>
              </p:cNvPr>
              <p:cNvSpPr txBox="1"/>
              <p:nvPr/>
            </p:nvSpPr>
            <p:spPr>
              <a:xfrm>
                <a:off x="3124774" y="3480750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DF2C0C-1D78-4F6E-A652-099E6EF2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774" y="3480750"/>
                <a:ext cx="787601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279515-452F-4664-A9F2-9A9FEE0514E3}"/>
                  </a:ext>
                </a:extLst>
              </p:cNvPr>
              <p:cNvSpPr txBox="1"/>
              <p:nvPr/>
            </p:nvSpPr>
            <p:spPr>
              <a:xfrm>
                <a:off x="2187959" y="3436033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279515-452F-4664-A9F2-9A9FEE051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959" y="3436033"/>
                <a:ext cx="787601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3D839B-F220-4E61-8D87-A3DC924D5C80}"/>
                  </a:ext>
                </a:extLst>
              </p:cNvPr>
              <p:cNvSpPr txBox="1"/>
              <p:nvPr/>
            </p:nvSpPr>
            <p:spPr>
              <a:xfrm>
                <a:off x="3868465" y="3446756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3D839B-F220-4E61-8D87-A3DC924D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65" y="3446756"/>
                <a:ext cx="787601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C3ECD8-443C-4AB4-B60A-2E77771506DC}"/>
                  </a:ext>
                </a:extLst>
              </p:cNvPr>
              <p:cNvSpPr txBox="1"/>
              <p:nvPr/>
            </p:nvSpPr>
            <p:spPr>
              <a:xfrm>
                <a:off x="4624374" y="3465590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C3ECD8-443C-4AB4-B60A-2E7777150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74" y="3465590"/>
                <a:ext cx="787601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30676F-66CD-4422-B4DC-634A1F5919C7}"/>
                  </a:ext>
                </a:extLst>
              </p:cNvPr>
              <p:cNvSpPr txBox="1"/>
              <p:nvPr/>
            </p:nvSpPr>
            <p:spPr>
              <a:xfrm>
                <a:off x="5373292" y="3471838"/>
                <a:ext cx="787601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30676F-66CD-4422-B4DC-634A1F591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292" y="3471838"/>
                <a:ext cx="787601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D2979-B619-4C28-B183-7EC785F91289}"/>
                  </a:ext>
                </a:extLst>
              </p:cNvPr>
              <p:cNvSpPr txBox="1"/>
              <p:nvPr/>
            </p:nvSpPr>
            <p:spPr>
              <a:xfrm>
                <a:off x="6160893" y="3474211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D2979-B619-4C28-B183-7EC785F9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893" y="3474211"/>
                <a:ext cx="787601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095487-3B1C-4D47-8AC2-A2CE768355FF}"/>
                  </a:ext>
                </a:extLst>
              </p:cNvPr>
              <p:cNvSpPr txBox="1"/>
              <p:nvPr/>
            </p:nvSpPr>
            <p:spPr>
              <a:xfrm>
                <a:off x="7139608" y="3444383"/>
                <a:ext cx="787601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095487-3B1C-4D47-8AC2-A2CE76835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608" y="3444383"/>
                <a:ext cx="787601" cy="7861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/>
      <p:bldP spid="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0A80409-D90C-4421-B7CD-72F7CB305329}"/>
              </a:ext>
            </a:extLst>
          </p:cNvPr>
          <p:cNvSpPr txBox="1"/>
          <p:nvPr/>
        </p:nvSpPr>
        <p:spPr>
          <a:xfrm>
            <a:off x="435136" y="1039091"/>
            <a:ext cx="1670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a fraction?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0128B-1915-475C-86EA-D6698061B1AB}"/>
              </a:ext>
            </a:extLst>
          </p:cNvPr>
          <p:cNvSpPr txBox="1"/>
          <p:nvPr/>
        </p:nvSpPr>
        <p:spPr>
          <a:xfrm>
            <a:off x="2441864" y="1039091"/>
            <a:ext cx="4295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fraction is a part or portion of a whole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09155" y="1839191"/>
            <a:ext cx="1508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write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3146245" y="1556023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45" y="1556023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3B9EA86-A368-4169-9975-981A4E50F549}"/>
              </a:ext>
            </a:extLst>
          </p:cNvPr>
          <p:cNvSpPr txBox="1"/>
          <p:nvPr/>
        </p:nvSpPr>
        <p:spPr>
          <a:xfrm>
            <a:off x="4507347" y="1623747"/>
            <a:ext cx="4127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numerator – number of equal parts out of whole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Denominator – total number of parts in the whole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381A1-3D35-4B58-8E0D-F515EF42EDA4}"/>
              </a:ext>
            </a:extLst>
          </p:cNvPr>
          <p:cNvSpPr txBox="1"/>
          <p:nvPr/>
        </p:nvSpPr>
        <p:spPr>
          <a:xfrm>
            <a:off x="2441864" y="2694740"/>
            <a:ext cx="3511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 in the middle is the vinculum</a:t>
            </a:r>
            <a:endParaRPr lang="en-AU" dirty="0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85F3A6BE-5FAF-4459-A027-05209453C2B2}"/>
              </a:ext>
            </a:extLst>
          </p:cNvPr>
          <p:cNvSpPr/>
          <p:nvPr/>
        </p:nvSpPr>
        <p:spPr>
          <a:xfrm>
            <a:off x="3958936" y="1704109"/>
            <a:ext cx="548411" cy="13508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6C7D81-196C-4042-A782-A794CCDF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936" y="2367916"/>
            <a:ext cx="573074" cy="1585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42B1B0-4973-4E1B-B5F8-0FC2C4327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96" y="2790263"/>
            <a:ext cx="2153949" cy="22367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68B135-20D1-40D9-843D-C7B28AAEC830}"/>
                  </a:ext>
                </a:extLst>
              </p:cNvPr>
              <p:cNvSpPr txBox="1"/>
              <p:nvPr/>
            </p:nvSpPr>
            <p:spPr>
              <a:xfrm>
                <a:off x="2441864" y="3365209"/>
                <a:ext cx="3472653" cy="1585755"/>
              </a:xfrm>
              <a:prstGeom prst="rect">
                <a:avLst/>
              </a:prstGeom>
              <a:noFill/>
              <a:ln>
                <a:solidFill>
                  <a:srgbClr val="6B4A37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a pizza cut into 4 equal pieces, the denominator is 4.</a:t>
                </a:r>
              </a:p>
              <a:p>
                <a:endParaRPr lang="en-GB" dirty="0"/>
              </a:p>
              <a:p>
                <a:r>
                  <a:rPr lang="en-GB" dirty="0"/>
                  <a:t>If you eat one piece out the whole, the numerator is 1 and you have eaten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800" dirty="0"/>
                  <a:t>  </a:t>
                </a:r>
                <a:r>
                  <a:rPr lang="en-GB" dirty="0"/>
                  <a:t>of the pizza.</a:t>
                </a:r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68B135-20D1-40D9-843D-C7B28AAEC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864" y="3365209"/>
                <a:ext cx="3472653" cy="1585755"/>
              </a:xfrm>
              <a:prstGeom prst="rect">
                <a:avLst/>
              </a:prstGeom>
              <a:blipFill>
                <a:blip r:embed="rId6"/>
                <a:stretch>
                  <a:fillRect l="-350" t="-382" b="-1527"/>
                </a:stretch>
              </a:blipFill>
              <a:ln>
                <a:solidFill>
                  <a:srgbClr val="6B4A37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75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91953" y="1167840"/>
            <a:ext cx="15080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fraction of the shape is shaded?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5D0BD7-C266-4F24-AE22-C59BA54F5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93" y="980661"/>
            <a:ext cx="5236832" cy="38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2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91953" y="1167840"/>
            <a:ext cx="1508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type of fraction is this?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D5F82D-9204-4219-8158-AC5AE46EC521}"/>
              </a:ext>
            </a:extLst>
          </p:cNvPr>
          <p:cNvSpPr txBox="1"/>
          <p:nvPr/>
        </p:nvSpPr>
        <p:spPr>
          <a:xfrm>
            <a:off x="4083183" y="949574"/>
            <a:ext cx="322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Would the value of this be greater than or less than 1?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D1CD3-4662-459A-B56D-FE4ED4474378}"/>
              </a:ext>
            </a:extLst>
          </p:cNvPr>
          <p:cNvSpPr txBox="1"/>
          <p:nvPr/>
        </p:nvSpPr>
        <p:spPr>
          <a:xfrm>
            <a:off x="4045212" y="1543406"/>
            <a:ext cx="5355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It is less than 1!  </a:t>
            </a:r>
          </a:p>
          <a:p>
            <a:endParaRPr lang="en-GB" dirty="0"/>
          </a:p>
          <a:p>
            <a:r>
              <a:rPr lang="en-GB" dirty="0"/>
              <a:t>When the value is less than 1, it is called a </a:t>
            </a:r>
            <a:r>
              <a:rPr lang="en-GB" b="1" dirty="0"/>
              <a:t>proper fraction</a:t>
            </a:r>
            <a:r>
              <a:rPr lang="en-GB" dirty="0"/>
              <a:t>.</a:t>
            </a:r>
          </a:p>
          <a:p>
            <a:r>
              <a:rPr lang="en-GB" dirty="0"/>
              <a:t>The numerator is smaller than the denominator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CD14E6-34B1-41DD-99BA-DFC0B47137FA}"/>
              </a:ext>
            </a:extLst>
          </p:cNvPr>
          <p:cNvCxnSpPr/>
          <p:nvPr/>
        </p:nvCxnSpPr>
        <p:spPr>
          <a:xfrm>
            <a:off x="2359066" y="3747341"/>
            <a:ext cx="6397006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7B2994-BB0F-4F7C-85EB-16B971CA0948}"/>
              </a:ext>
            </a:extLst>
          </p:cNvPr>
          <p:cNvSpPr txBox="1"/>
          <p:nvPr/>
        </p:nvSpPr>
        <p:spPr>
          <a:xfrm>
            <a:off x="2590847" y="3814600"/>
            <a:ext cx="569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C9556E-A21B-4F75-9ACF-1EF6F7579C52}"/>
              </a:ext>
            </a:extLst>
          </p:cNvPr>
          <p:cNvSpPr txBox="1"/>
          <p:nvPr/>
        </p:nvSpPr>
        <p:spPr>
          <a:xfrm>
            <a:off x="8178912" y="3797219"/>
            <a:ext cx="45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</a:t>
            </a:r>
            <a:endParaRPr lang="en-A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ED7771-A578-47A4-88DA-1DAFE831465F}"/>
              </a:ext>
            </a:extLst>
          </p:cNvPr>
          <p:cNvSpPr txBox="1"/>
          <p:nvPr/>
        </p:nvSpPr>
        <p:spPr>
          <a:xfrm>
            <a:off x="387929" y="3366052"/>
            <a:ext cx="1845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Have students place 1/5, 2/5, 3/5, 4/5 on the number 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031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15950" y="1167840"/>
            <a:ext cx="1584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compare the size of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D46FB-7CD0-475C-B7B7-D509D399CECB}"/>
              </a:ext>
            </a:extLst>
          </p:cNvPr>
          <p:cNvSpPr txBox="1"/>
          <p:nvPr/>
        </p:nvSpPr>
        <p:spPr>
          <a:xfrm>
            <a:off x="2508935" y="2305364"/>
            <a:ext cx="5783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With your shoulder partner discuss</a:t>
            </a:r>
            <a:r>
              <a:rPr lang="en-GB" sz="2000" dirty="0"/>
              <a:t>:</a:t>
            </a:r>
          </a:p>
          <a:p>
            <a:endParaRPr lang="en-GB" sz="2000" dirty="0"/>
          </a:p>
          <a:p>
            <a:r>
              <a:rPr lang="en-GB" sz="2000" dirty="0"/>
              <a:t>Which fraction is bigger and </a:t>
            </a:r>
            <a:r>
              <a:rPr lang="en-GB" sz="2000" b="1" dirty="0"/>
              <a:t>why</a:t>
            </a:r>
            <a:r>
              <a:rPr lang="en-GB" sz="2000" dirty="0"/>
              <a:t>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/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0463922-DF6A-43C4-9584-C73A7A02C13F}"/>
              </a:ext>
            </a:extLst>
          </p:cNvPr>
          <p:cNvSpPr txBox="1"/>
          <p:nvPr/>
        </p:nvSpPr>
        <p:spPr>
          <a:xfrm>
            <a:off x="2359066" y="3594026"/>
            <a:ext cx="611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When the denominator is the same, then the fraction with the largest numerator is the biggest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78683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15950" y="1167840"/>
            <a:ext cx="1584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compare the size of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D46FB-7CD0-475C-B7B7-D509D399CECB}"/>
              </a:ext>
            </a:extLst>
          </p:cNvPr>
          <p:cNvSpPr txBox="1"/>
          <p:nvPr/>
        </p:nvSpPr>
        <p:spPr>
          <a:xfrm>
            <a:off x="2508935" y="2305364"/>
            <a:ext cx="5783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With your shoulder partner discuss</a:t>
            </a:r>
            <a:r>
              <a:rPr lang="en-GB" sz="2000" dirty="0"/>
              <a:t>:</a:t>
            </a:r>
          </a:p>
          <a:p>
            <a:endParaRPr lang="en-GB" sz="2000" dirty="0"/>
          </a:p>
          <a:p>
            <a:r>
              <a:rPr lang="en-GB" sz="2000" dirty="0"/>
              <a:t>Which fraction is bigger and </a:t>
            </a:r>
            <a:r>
              <a:rPr lang="en-GB" sz="2000" b="1" dirty="0"/>
              <a:t>why</a:t>
            </a:r>
            <a:r>
              <a:rPr lang="en-GB" sz="2000" dirty="0"/>
              <a:t>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/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0463922-DF6A-43C4-9584-C73A7A02C13F}"/>
              </a:ext>
            </a:extLst>
          </p:cNvPr>
          <p:cNvSpPr txBox="1"/>
          <p:nvPr/>
        </p:nvSpPr>
        <p:spPr>
          <a:xfrm>
            <a:off x="2359066" y="3594026"/>
            <a:ext cx="6119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When the numerator is the same, then the fraction with the smallest denominator is the biggest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75080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8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15950" y="1167840"/>
            <a:ext cx="1584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compare the size of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D46FB-7CD0-475C-B7B7-D509D399CECB}"/>
              </a:ext>
            </a:extLst>
          </p:cNvPr>
          <p:cNvSpPr txBox="1"/>
          <p:nvPr/>
        </p:nvSpPr>
        <p:spPr>
          <a:xfrm>
            <a:off x="2508935" y="2305364"/>
            <a:ext cx="5783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With your shoulder partner discuss</a:t>
            </a:r>
            <a:r>
              <a:rPr lang="en-GB" sz="2000" dirty="0"/>
              <a:t>:</a:t>
            </a:r>
          </a:p>
          <a:p>
            <a:endParaRPr lang="en-GB" sz="2000" dirty="0"/>
          </a:p>
          <a:p>
            <a:r>
              <a:rPr lang="en-GB" sz="2000" dirty="0"/>
              <a:t>Which fraction is bigger and </a:t>
            </a:r>
            <a:r>
              <a:rPr lang="en-GB" sz="2000" b="1" dirty="0"/>
              <a:t>why</a:t>
            </a:r>
            <a:r>
              <a:rPr lang="en-GB" sz="2000" dirty="0"/>
              <a:t>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/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0463922-DF6A-43C4-9584-C73A7A02C13F}"/>
              </a:ext>
            </a:extLst>
          </p:cNvPr>
          <p:cNvSpPr txBox="1"/>
          <p:nvPr/>
        </p:nvSpPr>
        <p:spPr>
          <a:xfrm>
            <a:off x="2359066" y="3594026"/>
            <a:ext cx="611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We can compare each fraction to a half to find the biggest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9479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10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33B84-4070-4DE4-8C73-57458A3B066B}"/>
              </a:ext>
            </a:extLst>
          </p:cNvPr>
          <p:cNvSpPr txBox="1"/>
          <p:nvPr/>
        </p:nvSpPr>
        <p:spPr>
          <a:xfrm>
            <a:off x="980662" y="1590261"/>
            <a:ext cx="7142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Complete the Comparing Fractions worksheet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6871B-9B13-443A-8FC0-4390D275976F}"/>
              </a:ext>
            </a:extLst>
          </p:cNvPr>
          <p:cNvSpPr txBox="1"/>
          <p:nvPr/>
        </p:nvSpPr>
        <p:spPr>
          <a:xfrm>
            <a:off x="1004607" y="2690190"/>
            <a:ext cx="7005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Write your summary for the lesson in your book.</a:t>
            </a:r>
          </a:p>
          <a:p>
            <a:r>
              <a:rPr lang="en-GB" sz="1800" b="1" dirty="0"/>
              <a:t>Share with your table one new thing that you learnt today</a:t>
            </a:r>
            <a:r>
              <a:rPr lang="en-GB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4289371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473559-10C1-4F3C-8FEF-8FFC598CBBE3}"/>
</file>

<file path=customXml/itemProps2.xml><?xml version="1.0" encoding="utf-8"?>
<ds:datastoreItem xmlns:ds="http://schemas.openxmlformats.org/officeDocument/2006/customXml" ds:itemID="{FAC64595-DDC7-4C50-ACB0-CD08C8D0F77D}"/>
</file>

<file path=customXml/itemProps3.xml><?xml version="1.0" encoding="utf-8"?>
<ds:datastoreItem xmlns:ds="http://schemas.openxmlformats.org/officeDocument/2006/customXml" ds:itemID="{D988CE81-CF87-4885-954F-B8ADAB77AF52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883</TotalTime>
  <Words>540</Words>
  <Application>Microsoft Office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Fredoka One</vt:lpstr>
      <vt:lpstr>Chalkboard</vt:lpstr>
      <vt:lpstr>Cambria Math</vt:lpstr>
      <vt:lpstr>Abel</vt:lpstr>
      <vt:lpstr>Rainbow Background by Slidesgo</vt:lpstr>
      <vt:lpstr>Topic: Fractions EQ: How do we compare fractions?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35</cp:revision>
  <dcterms:created xsi:type="dcterms:W3CDTF">2021-02-22T02:29:05Z</dcterms:created>
  <dcterms:modified xsi:type="dcterms:W3CDTF">2021-11-09T13:04:25Z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
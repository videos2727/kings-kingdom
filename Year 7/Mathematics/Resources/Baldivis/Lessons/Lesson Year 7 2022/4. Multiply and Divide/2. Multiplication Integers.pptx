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323" r:id="rId3"/>
    <p:sldId id="264" r:id="rId4"/>
    <p:sldId id="316" r:id="rId5"/>
    <p:sldId id="351" r:id="rId6"/>
    <p:sldId id="353" r:id="rId7"/>
    <p:sldId id="359" r:id="rId8"/>
    <p:sldId id="360" r:id="rId9"/>
    <p:sldId id="361" r:id="rId10"/>
    <p:sldId id="354" r:id="rId11"/>
    <p:sldId id="355" r:id="rId12"/>
    <p:sldId id="356" r:id="rId13"/>
    <p:sldId id="357" r:id="rId14"/>
    <p:sldId id="32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2135" autoAdjust="0"/>
  </p:normalViewPr>
  <p:slideViewPr>
    <p:cSldViewPr snapToGrid="0">
      <p:cViewPr varScale="1">
        <p:scale>
          <a:sx n="76" d="100"/>
          <a:sy n="76" d="100"/>
        </p:scale>
        <p:origin x="82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2EA83FFE-CC0E-4AAB-A73A-74D13E06073C}"/>
    <pc:docChg chg="modSld">
      <pc:chgData name="Sarah James" userId="e5e3e68366f0feb3" providerId="LiveId" clId="{2EA83FFE-CC0E-4AAB-A73A-74D13E06073C}" dt="2021-11-09T14:10:14.999" v="22"/>
      <pc:docMkLst>
        <pc:docMk/>
      </pc:docMkLst>
      <pc:sldChg chg="modSp mod">
        <pc:chgData name="Sarah James" userId="e5e3e68366f0feb3" providerId="LiveId" clId="{2EA83FFE-CC0E-4AAB-A73A-74D13E06073C}" dt="2021-11-09T14:09:54.982" v="18" actId="20577"/>
        <pc:sldMkLst>
          <pc:docMk/>
          <pc:sldMk cId="3616403418" sldId="256"/>
        </pc:sldMkLst>
        <pc:spChg chg="mod">
          <ac:chgData name="Sarah James" userId="e5e3e68366f0feb3" providerId="LiveId" clId="{2EA83FFE-CC0E-4AAB-A73A-74D13E06073C}" dt="2021-11-09T14:09:54.982" v="18" actId="20577"/>
          <ac:spMkLst>
            <pc:docMk/>
            <pc:sldMk cId="3616403418" sldId="256"/>
            <ac:spMk id="2" creationId="{BC2D717D-C4C0-4C1B-B75F-92E83ED6C21E}"/>
          </ac:spMkLst>
        </pc:spChg>
      </pc:sldChg>
      <pc:sldChg chg="modSp mod">
        <pc:chgData name="Sarah James" userId="e5e3e68366f0feb3" providerId="LiveId" clId="{2EA83FFE-CC0E-4AAB-A73A-74D13E06073C}" dt="2021-11-09T14:09:59.943" v="19"/>
        <pc:sldMkLst>
          <pc:docMk/>
          <pc:sldMk cId="1610783442" sldId="351"/>
        </pc:sldMkLst>
        <pc:spChg chg="mod">
          <ac:chgData name="Sarah James" userId="e5e3e68366f0feb3" providerId="LiveId" clId="{2EA83FFE-CC0E-4AAB-A73A-74D13E06073C}" dt="2021-11-09T14:09:59.943" v="19"/>
          <ac:spMkLst>
            <pc:docMk/>
            <pc:sldMk cId="1610783442" sldId="351"/>
            <ac:spMk id="17" creationId="{EC05745E-D2A7-4A30-B812-5738EFA91614}"/>
          </ac:spMkLst>
        </pc:spChg>
      </pc:sldChg>
      <pc:sldChg chg="modSp mod">
        <pc:chgData name="Sarah James" userId="e5e3e68366f0feb3" providerId="LiveId" clId="{2EA83FFE-CC0E-4AAB-A73A-74D13E06073C}" dt="2021-11-09T14:10:10.467" v="21"/>
        <pc:sldMkLst>
          <pc:docMk/>
          <pc:sldMk cId="764854118" sldId="354"/>
        </pc:sldMkLst>
        <pc:spChg chg="mod">
          <ac:chgData name="Sarah James" userId="e5e3e68366f0feb3" providerId="LiveId" clId="{2EA83FFE-CC0E-4AAB-A73A-74D13E06073C}" dt="2021-11-09T14:10:10.467" v="21"/>
          <ac:spMkLst>
            <pc:docMk/>
            <pc:sldMk cId="764854118" sldId="354"/>
            <ac:spMk id="17" creationId="{EC05745E-D2A7-4A30-B812-5738EFA91614}"/>
          </ac:spMkLst>
        </pc:spChg>
      </pc:sldChg>
      <pc:sldChg chg="modSp mod">
        <pc:chgData name="Sarah James" userId="e5e3e68366f0feb3" providerId="LiveId" clId="{2EA83FFE-CC0E-4AAB-A73A-74D13E06073C}" dt="2021-11-09T14:10:14.999" v="22"/>
        <pc:sldMkLst>
          <pc:docMk/>
          <pc:sldMk cId="3580173705" sldId="355"/>
        </pc:sldMkLst>
        <pc:spChg chg="mod">
          <ac:chgData name="Sarah James" userId="e5e3e68366f0feb3" providerId="LiveId" clId="{2EA83FFE-CC0E-4AAB-A73A-74D13E06073C}" dt="2021-11-09T14:10:14.999" v="22"/>
          <ac:spMkLst>
            <pc:docMk/>
            <pc:sldMk cId="3580173705" sldId="355"/>
            <ac:spMk id="17" creationId="{EC05745E-D2A7-4A30-B812-5738EFA91614}"/>
          </ac:spMkLst>
        </pc:spChg>
      </pc:sldChg>
      <pc:sldChg chg="modSp mod">
        <pc:chgData name="Sarah James" userId="e5e3e68366f0feb3" providerId="LiveId" clId="{2EA83FFE-CC0E-4AAB-A73A-74D13E06073C}" dt="2021-11-09T14:10:05.953" v="20"/>
        <pc:sldMkLst>
          <pc:docMk/>
          <pc:sldMk cId="2427223225" sldId="361"/>
        </pc:sldMkLst>
        <pc:spChg chg="mod">
          <ac:chgData name="Sarah James" userId="e5e3e68366f0feb3" providerId="LiveId" clId="{2EA83FFE-CC0E-4AAB-A73A-74D13E06073C}" dt="2021-11-09T14:10:05.953" v="20"/>
          <ac:spMkLst>
            <pc:docMk/>
            <pc:sldMk cId="2427223225" sldId="361"/>
            <ac:spMk id="17" creationId="{EC05745E-D2A7-4A30-B812-5738EFA916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557C8-4120-416E-B6CD-62106F505DA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C554D-9AE3-4087-846E-3A6CBAFBEC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685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AU" dirty="0"/>
                  <a:t>105.43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e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0.5</a:t>
                </a: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Amelia took 250 seconds to finish the race.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AU" dirty="0"/>
                  <a:t>105.43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e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0.5</a:t>
                </a:r>
              </a:p>
              <a:p>
                <a:pPr marL="228600" indent="-228600">
                  <a:buAutoNum type="arabicPeriod"/>
                </a:pPr>
                <a:r>
                  <a:rPr lang="en-AU" b="0" i="0">
                    <a:latin typeface="Cambria Math" panose="02040503050406030204" pitchFamily="18" charset="0"/>
                  </a:rPr>
                  <a:t>1/5</a:t>
                </a:r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Amelia took 250 seconds to finish the race.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92F62-36E4-4495-8B54-FAECD2DEF7D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2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423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423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7518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006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11/9/2021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d/3.0/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://theconversation.com/make-maths-mandatory-and-well-improve-our-international-education-rankings-1166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190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11" Type="http://schemas.openxmlformats.org/officeDocument/2006/relationships/image" Target="../media/image23.png"/><Relationship Id="rId5" Type="http://schemas.openxmlformats.org/officeDocument/2006/relationships/image" Target="../media/image170.png"/><Relationship Id="rId10" Type="http://schemas.openxmlformats.org/officeDocument/2006/relationships/image" Target="../media/image22.png"/><Relationship Id="rId4" Type="http://schemas.openxmlformats.org/officeDocument/2006/relationships/image" Target="../media/image160.png"/><Relationship Id="rId9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iantietze.de/posts/2013/12/useful-daily-writing-practice/" TargetMode="Externa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D717D-C4C0-4C1B-B75F-92E83ED6C2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Multiply and divide</a:t>
            </a:r>
            <a:br>
              <a:rPr lang="en-AU" dirty="0"/>
            </a:br>
            <a:r>
              <a:rPr lang="en-AU" dirty="0"/>
              <a:t>EQ: What are Strategies I can Use to Multiply Integers?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62E36-F17B-40E1-A4CC-8E18AFE78C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7 Mathematics</a:t>
            </a:r>
          </a:p>
          <a:p>
            <a:r>
              <a:rPr lang="en-AU" dirty="0"/>
              <a:t>Mrs Parlevliet</a:t>
            </a:r>
          </a:p>
        </p:txBody>
      </p:sp>
    </p:spTree>
    <p:extLst>
      <p:ext uri="{BB962C8B-B14F-4D97-AF65-F5344CB8AC3E}">
        <p14:creationId xmlns:p14="http://schemas.microsoft.com/office/powerpoint/2010/main" val="361640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14435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66994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97463" y="-77978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89719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2330" y="306895"/>
            <a:ext cx="2430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1529" y="20651"/>
            <a:ext cx="3461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8116844" y="628749"/>
            <a:ext cx="0" cy="62292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5143606" y="339977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562946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4643275" y="282134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24</a:t>
            </a:r>
            <a:endParaRPr lang="en-GB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5158041" y="290991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7</a:t>
            </a:r>
            <a:endParaRPr lang="en-GB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5667472" y="297522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30</a:t>
            </a:r>
            <a:endParaRPr lang="en-GB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4654164" y="355478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6209428" y="339977"/>
            <a:ext cx="1594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8724038" y="355478"/>
            <a:ext cx="1939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1238" y="1196753"/>
            <a:ext cx="1370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6340505" y="103287"/>
            <a:ext cx="804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867255D-7C72-44F0-A93A-6AC47D66B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054" b="458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116FF4-D232-42D9-8C68-8C0C50FA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tx1"/>
                </a:solidFill>
              </a:rPr>
              <a:t>Five Questions (LHS)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899894"/>
                <a:ext cx="10970958" cy="4522940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9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a mixed number.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6−10=</m:t>
                    </m:r>
                  </m:oMath>
                </a14:m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List in </a:t>
                </a:r>
                <a:r>
                  <a:rPr lang="en-US" sz="2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descending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order: 5, 7, -9, 11, -4, 3, -8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×4</m:t>
                    </m:r>
                  </m:oMath>
                </a14:m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Mathspace fruit question…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AU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899894"/>
                <a:ext cx="10970958" cy="4522940"/>
              </a:xfrm>
              <a:blipFill>
                <a:blip r:embed="rId5"/>
                <a:stretch>
                  <a:fillRect l="-1556" t="-5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BB39B19-FCB7-4218-82B7-A29298A568C7}"/>
              </a:ext>
            </a:extLst>
          </p:cNvPr>
          <p:cNvSpPr txBox="1">
            <a:spLocks/>
          </p:cNvSpPr>
          <p:nvPr/>
        </p:nvSpPr>
        <p:spPr>
          <a:xfrm>
            <a:off x="6448926" y="14747"/>
            <a:ext cx="5743074" cy="1058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Topic: Multiplication</a:t>
            </a:r>
            <a:b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EQ: What are strategies I can use to multiply integers?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63987-0A73-44C8-9CA8-7D0ABD6CBAB7}"/>
              </a:ext>
            </a:extLst>
          </p:cNvPr>
          <p:cNvSpPr txBox="1"/>
          <p:nvPr/>
        </p:nvSpPr>
        <p:spPr>
          <a:xfrm>
            <a:off x="8750969" y="949333"/>
            <a:ext cx="28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24/03/2021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8A107-49FC-48AC-9462-9485034B4498}"/>
              </a:ext>
            </a:extLst>
          </p:cNvPr>
          <p:cNvSpPr txBox="1"/>
          <p:nvPr/>
        </p:nvSpPr>
        <p:spPr>
          <a:xfrm>
            <a:off x="9928240" y="6657945"/>
            <a:ext cx="22637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 dirty="0">
                <a:solidFill>
                  <a:srgbClr val="FFFFFF"/>
                </a:solidFill>
                <a:hlinkClick r:id="rId4" tooltip="http://theconversation.com/make-maths-mandatory-and-well-improve-our-international-education-rankings-1166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 dirty="0">
                <a:solidFill>
                  <a:srgbClr val="FFFFFF"/>
                </a:solidFill>
              </a:rPr>
              <a:t> by Unknown Author is licensed </a:t>
            </a:r>
            <a:r>
              <a:rPr lang="en-AU" sz="700" dirty="0" err="1">
                <a:solidFill>
                  <a:srgbClr val="FFFFFF"/>
                </a:solidFill>
              </a:rPr>
              <a:t>uder</a:t>
            </a:r>
            <a:r>
              <a:rPr lang="en-AU" sz="700" dirty="0">
                <a:solidFill>
                  <a:srgbClr val="FFFFFF"/>
                </a:solidFill>
              </a:rPr>
              <a:t> </a:t>
            </a:r>
            <a:r>
              <a:rPr lang="en-AU" sz="700" dirty="0">
                <a:solidFill>
                  <a:srgbClr val="FFFFFF"/>
                </a:solidFill>
                <a:hlinkClick r:id="rId6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lang="en-AU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85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58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Multiply and Divide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strategies I can use to multiply integers?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24/03/2021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38E4F-5AC2-4C30-BFD4-582762F643F1}"/>
              </a:ext>
            </a:extLst>
          </p:cNvPr>
          <p:cNvSpPr txBox="1"/>
          <p:nvPr/>
        </p:nvSpPr>
        <p:spPr>
          <a:xfrm>
            <a:off x="74644" y="1267077"/>
            <a:ext cx="21953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is an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integer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0A0D11-B4AE-46CC-8E43-3005B949E300}"/>
              </a:ext>
            </a:extLst>
          </p:cNvPr>
          <p:cNvSpPr txBox="1"/>
          <p:nvPr/>
        </p:nvSpPr>
        <p:spPr>
          <a:xfrm>
            <a:off x="2463383" y="1251003"/>
            <a:ext cx="9571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Integers are like whole numbers, but they 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also include negative numbers.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DB8A3-5D4B-4A0A-8DDD-D8BAC9563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364" y="1651112"/>
            <a:ext cx="6634506" cy="6441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420FC4-0BDD-45CF-8B8F-0E74E7556937}"/>
              </a:ext>
            </a:extLst>
          </p:cNvPr>
          <p:cNvSpPr txBox="1"/>
          <p:nvPr/>
        </p:nvSpPr>
        <p:spPr>
          <a:xfrm>
            <a:off x="74644" y="2544045"/>
            <a:ext cx="21953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strategies can be used to multiply integers?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4934DD-213C-4A98-B2EA-54067EA20DEB}"/>
              </a:ext>
            </a:extLst>
          </p:cNvPr>
          <p:cNvSpPr txBox="1"/>
          <p:nvPr/>
        </p:nvSpPr>
        <p:spPr>
          <a:xfrm>
            <a:off x="2457102" y="2368091"/>
            <a:ext cx="9571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The two strategies that we learned yesterday, the array strategy and the area model strategy can be used to multiply integers.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F6B26E-DFBF-40AB-9EF5-E7B4ECB64A11}"/>
              </a:ext>
            </a:extLst>
          </p:cNvPr>
          <p:cNvSpPr txBox="1"/>
          <p:nvPr/>
        </p:nvSpPr>
        <p:spPr>
          <a:xfrm>
            <a:off x="2457101" y="3012218"/>
            <a:ext cx="9571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However before we dive into using the array strategy or area model strategy we need to know what happens to the product when we multiply with negative factors.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604A7A-569C-4B4F-94C0-F9A51300AB5D}"/>
              </a:ext>
            </a:extLst>
          </p:cNvPr>
          <p:cNvSpPr txBox="1"/>
          <p:nvPr/>
        </p:nvSpPr>
        <p:spPr>
          <a:xfrm>
            <a:off x="74643" y="3916214"/>
            <a:ext cx="21952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are the rules for multiplying negative values?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7EF6DF-D7F7-4186-9663-8788A4A24A95}"/>
              </a:ext>
            </a:extLst>
          </p:cNvPr>
          <p:cNvSpPr txBox="1"/>
          <p:nvPr/>
        </p:nvSpPr>
        <p:spPr>
          <a:xfrm>
            <a:off x="2457102" y="3962853"/>
            <a:ext cx="9083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If we multiply an 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even number of negative values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, the product will be 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positive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F23A3C-BB3D-4313-B7DE-B14DEE7B0FDF}"/>
              </a:ext>
            </a:extLst>
          </p:cNvPr>
          <p:cNvSpPr txBox="1"/>
          <p:nvPr/>
        </p:nvSpPr>
        <p:spPr>
          <a:xfrm>
            <a:off x="2457101" y="5238215"/>
            <a:ext cx="84581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If we multiply an 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odd number of negative values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, the product will be 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negative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C69D28-D4C2-4AF7-ACE6-B7481CB4B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888" y="4421937"/>
            <a:ext cx="2257740" cy="72400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B887BB0-B9C6-479C-B398-AE73FA3FF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910" y="5730602"/>
            <a:ext cx="1924319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8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3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6" grpId="0"/>
      <p:bldP spid="16" grpId="0"/>
      <p:bldP spid="18" grpId="0"/>
      <p:bldP spid="19" grpId="0"/>
      <p:bldP spid="20" grpId="0"/>
      <p:bldP spid="7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lication&#10;&#10;Description automatically generated with low confidence">
            <a:extLst>
              <a:ext uri="{FF2B5EF4-FFF2-40B4-BE49-F238E27FC236}">
                <a16:creationId xmlns:a16="http://schemas.microsoft.com/office/drawing/2014/main" id="{C1BF7050-2980-4451-8BDD-A73D4CC0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846" y="135761"/>
            <a:ext cx="4120308" cy="65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84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A9EF3-5B19-4FE5-A3B2-98657F47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(LHS)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2162B9-DDF8-48ED-A52C-7AEB38B37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745" y="1742076"/>
            <a:ext cx="9720262" cy="69237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A55C65-3EC3-4731-8EB3-34B79FFC3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45" y="2842781"/>
            <a:ext cx="9720072" cy="3556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70E5C2-7C28-44B6-8B6B-6FB62BCDA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45" y="3689885"/>
            <a:ext cx="9720071" cy="388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7E44ED-2CC3-4DB2-B104-03D603709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10" y="4423548"/>
            <a:ext cx="10868154" cy="36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62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lication&#10;&#10;Description automatically generated with low confidence">
            <a:extLst>
              <a:ext uri="{FF2B5EF4-FFF2-40B4-BE49-F238E27FC236}">
                <a16:creationId xmlns:a16="http://schemas.microsoft.com/office/drawing/2014/main" id="{C1BF7050-2980-4451-8BDD-A73D4CC0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846" y="135761"/>
            <a:ext cx="4120308" cy="65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97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58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Multiply and Divide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strategies I can use to multiply integers?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24/03/2021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727DE1-E5E9-412E-A75B-A5217172B802}"/>
              </a:ext>
            </a:extLst>
          </p:cNvPr>
          <p:cNvSpPr txBox="1"/>
          <p:nvPr/>
        </p:nvSpPr>
        <p:spPr>
          <a:xfrm flipH="1">
            <a:off x="40766" y="1300850"/>
            <a:ext cx="21952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array strategy</a:t>
            </a: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multiply integers.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35E4EF2A-2EF1-4A6A-932A-DCD801AF5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47864"/>
              </p:ext>
            </p:extLst>
          </p:nvPr>
        </p:nvGraphicFramePr>
        <p:xfrm>
          <a:off x="5073616" y="2862973"/>
          <a:ext cx="2278744" cy="131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686">
                  <a:extLst>
                    <a:ext uri="{9D8B030D-6E8A-4147-A177-3AD203B41FA5}">
                      <a16:colId xmlns:a16="http://schemas.microsoft.com/office/drawing/2014/main" val="2482040577"/>
                    </a:ext>
                  </a:extLst>
                </a:gridCol>
                <a:gridCol w="569686">
                  <a:extLst>
                    <a:ext uri="{9D8B030D-6E8A-4147-A177-3AD203B41FA5}">
                      <a16:colId xmlns:a16="http://schemas.microsoft.com/office/drawing/2014/main" val="3011385991"/>
                    </a:ext>
                  </a:extLst>
                </a:gridCol>
                <a:gridCol w="569686">
                  <a:extLst>
                    <a:ext uri="{9D8B030D-6E8A-4147-A177-3AD203B41FA5}">
                      <a16:colId xmlns:a16="http://schemas.microsoft.com/office/drawing/2014/main" val="2841733529"/>
                    </a:ext>
                  </a:extLst>
                </a:gridCol>
                <a:gridCol w="569686">
                  <a:extLst>
                    <a:ext uri="{9D8B030D-6E8A-4147-A177-3AD203B41FA5}">
                      <a16:colId xmlns:a16="http://schemas.microsoft.com/office/drawing/2014/main" val="1277057128"/>
                    </a:ext>
                  </a:extLst>
                </a:gridCol>
              </a:tblGrid>
              <a:tr h="43966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153763"/>
                  </a:ext>
                </a:extLst>
              </a:tr>
              <a:tr h="43966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54408"/>
                  </a:ext>
                </a:extLst>
              </a:tr>
              <a:tr h="43966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750912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B2EAA75C-DBEB-412A-8E8F-718D616EFD6F}"/>
              </a:ext>
            </a:extLst>
          </p:cNvPr>
          <p:cNvSpPr txBox="1"/>
          <p:nvPr/>
        </p:nvSpPr>
        <p:spPr>
          <a:xfrm>
            <a:off x="2382459" y="1265032"/>
            <a:ext cx="9571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0" u="sng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 1</a:t>
            </a:r>
            <a:endParaRPr lang="en-AU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AC0D737-1286-4E3B-9CC5-7855596CF068}"/>
                  </a:ext>
                </a:extLst>
              </p:cNvPr>
              <p:cNvSpPr txBox="1"/>
              <p:nvPr/>
            </p:nvSpPr>
            <p:spPr>
              <a:xfrm>
                <a:off x="2382459" y="1633365"/>
                <a:ext cx="957185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×−4=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can be solved by drawing an array with 3 rows of 4 squares.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AC0D737-1286-4E3B-9CC5-7855596CF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459" y="1633365"/>
                <a:ext cx="9571855" cy="400110"/>
              </a:xfrm>
              <a:prstGeom prst="rect">
                <a:avLst/>
              </a:prstGeom>
              <a:blipFill>
                <a:blip r:embed="rId3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E8A38C1F-B186-4B80-8E29-5CA87EB51510}"/>
              </a:ext>
            </a:extLst>
          </p:cNvPr>
          <p:cNvSpPr txBox="1"/>
          <p:nvPr/>
        </p:nvSpPr>
        <p:spPr>
          <a:xfrm>
            <a:off x="6042947" y="2462863"/>
            <a:ext cx="4074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-4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F42BBD-05AF-44A5-8FF8-AAC86379CBAE}"/>
              </a:ext>
            </a:extLst>
          </p:cNvPr>
          <p:cNvSpPr txBox="1"/>
          <p:nvPr/>
        </p:nvSpPr>
        <p:spPr>
          <a:xfrm>
            <a:off x="4693285" y="3277972"/>
            <a:ext cx="3424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293D19-FEFC-420B-B54F-A736270C08A7}"/>
              </a:ext>
            </a:extLst>
          </p:cNvPr>
          <p:cNvSpPr txBox="1"/>
          <p:nvPr/>
        </p:nvSpPr>
        <p:spPr>
          <a:xfrm>
            <a:off x="2646322" y="2401808"/>
            <a:ext cx="2101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Factors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, numbers being multiplied</a:t>
            </a:r>
            <a:endParaRPr lang="en-AU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E9B4CCE-461C-480B-AF6C-14BB69F6AB37}"/>
                  </a:ext>
                </a:extLst>
              </p:cNvPr>
              <p:cNvSpPr txBox="1"/>
              <p:nvPr/>
            </p:nvSpPr>
            <p:spPr>
              <a:xfrm>
                <a:off x="7819162" y="2816307"/>
                <a:ext cx="3028509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 total number of squares which is the area of the rectangle is the answer to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AU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×−4=−12</m:t>
                    </m:r>
                  </m:oMath>
                </a14:m>
                <a:endParaRPr lang="en-AU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E9B4CCE-461C-480B-AF6C-14BB69F6A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162" y="2816307"/>
                <a:ext cx="3028509" cy="1323439"/>
              </a:xfrm>
              <a:prstGeom prst="rect">
                <a:avLst/>
              </a:prstGeom>
              <a:blipFill>
                <a:blip r:embed="rId4"/>
                <a:stretch>
                  <a:fillRect l="-2218" t="-2765" b="-73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7238957-75BD-40A5-8924-E491D520048D}"/>
                  </a:ext>
                </a:extLst>
              </p:cNvPr>
              <p:cNvSpPr txBox="1"/>
              <p:nvPr/>
            </p:nvSpPr>
            <p:spPr>
              <a:xfrm>
                <a:off x="5206870" y="4546026"/>
                <a:ext cx="199247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3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×−4=</m:t>
                      </m:r>
                      <m:r>
                        <a:rPr lang="en-AU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−12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7238957-75BD-40A5-8924-E491D5200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870" y="4546026"/>
                <a:ext cx="199247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B354899-5714-4EEE-A55C-6D06F6EBE12D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596166" y="2662918"/>
            <a:ext cx="144678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39D29FB-C452-4591-8720-8E2D97213075}"/>
              </a:ext>
            </a:extLst>
          </p:cNvPr>
          <p:cNvCxnSpPr>
            <a:cxnSpLocks/>
          </p:cNvCxnSpPr>
          <p:nvPr/>
        </p:nvCxnSpPr>
        <p:spPr>
          <a:xfrm>
            <a:off x="4490113" y="2862973"/>
            <a:ext cx="291751" cy="5078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F8822A8-3791-44F0-AF9B-C6AA46743AFC}"/>
              </a:ext>
            </a:extLst>
          </p:cNvPr>
          <p:cNvCxnSpPr>
            <a:cxnSpLocks/>
          </p:cNvCxnSpPr>
          <p:nvPr/>
        </p:nvCxnSpPr>
        <p:spPr>
          <a:xfrm>
            <a:off x="3405039" y="3055134"/>
            <a:ext cx="2182527" cy="14908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DC08473-6E85-471B-8CB1-EF24B0585756}"/>
              </a:ext>
            </a:extLst>
          </p:cNvPr>
          <p:cNvSpPr txBox="1"/>
          <p:nvPr/>
        </p:nvSpPr>
        <p:spPr>
          <a:xfrm>
            <a:off x="7992823" y="4358037"/>
            <a:ext cx="271603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Product, 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the answer to a multiplication, is negative because we have an odd number of negative values</a:t>
            </a:r>
            <a:endParaRPr lang="en-AU" sz="20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B31C8D0-546A-4D5C-8BFB-AE5C6E1C6718}"/>
              </a:ext>
            </a:extLst>
          </p:cNvPr>
          <p:cNvCxnSpPr>
            <a:cxnSpLocks/>
          </p:cNvCxnSpPr>
          <p:nvPr/>
        </p:nvCxnSpPr>
        <p:spPr>
          <a:xfrm flipH="1">
            <a:off x="7063602" y="4766159"/>
            <a:ext cx="79272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2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5" grpId="0"/>
      <p:bldP spid="36" grpId="0"/>
      <p:bldP spid="38" grpId="0"/>
      <p:bldP spid="39" grpId="0"/>
      <p:bldP spid="41" grpId="0"/>
      <p:bldP spid="42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9986" y="1224621"/>
            <a:ext cx="12473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58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Multiply and Divide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strategies I can use to multiply integers?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24/03/2021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52CF44-418A-4D26-A2C1-AB7D3AB56463}"/>
              </a:ext>
            </a:extLst>
          </p:cNvPr>
          <p:cNvSpPr txBox="1"/>
          <p:nvPr/>
        </p:nvSpPr>
        <p:spPr>
          <a:xfrm flipH="1">
            <a:off x="93585" y="1326036"/>
            <a:ext cx="2195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area model strategy</a:t>
            </a: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D601C782-968A-403B-B69F-E72828C4B89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96192311"/>
                  </p:ext>
                </p:extLst>
              </p:nvPr>
            </p:nvGraphicFramePr>
            <p:xfrm>
              <a:off x="4714420" y="3064140"/>
              <a:ext cx="2763159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1053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921053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921053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449466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256838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D601C782-968A-403B-B69F-E72828C4B89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96192311"/>
                  </p:ext>
                </p:extLst>
              </p:nvPr>
            </p:nvGraphicFramePr>
            <p:xfrm>
              <a:off x="4714420" y="3064140"/>
              <a:ext cx="2763159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1053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921053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921053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9342" r="-100658" b="-58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662" r="-1325" b="-584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76667" r="-201987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F6FE938-8042-45C1-B45E-60DAF404F319}"/>
              </a:ext>
            </a:extLst>
          </p:cNvPr>
          <p:cNvSpPr txBox="1"/>
          <p:nvPr/>
        </p:nvSpPr>
        <p:spPr>
          <a:xfrm>
            <a:off x="2518789" y="1317090"/>
            <a:ext cx="8133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The product of two numbers can be found by using the distributive law.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B5FF2-EEAB-4400-8AF1-39A970C4E770}"/>
              </a:ext>
            </a:extLst>
          </p:cNvPr>
          <p:cNvSpPr txBox="1"/>
          <p:nvPr/>
        </p:nvSpPr>
        <p:spPr>
          <a:xfrm>
            <a:off x="2518789" y="1717200"/>
            <a:ext cx="1569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1894B4-2355-45D6-9D3A-96C13A68C79C}"/>
                  </a:ext>
                </a:extLst>
              </p:cNvPr>
              <p:cNvSpPr txBox="1"/>
              <p:nvPr/>
            </p:nvSpPr>
            <p:spPr>
              <a:xfrm>
                <a:off x="2518789" y="2046379"/>
                <a:ext cx="12707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8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×−14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1894B4-2355-45D6-9D3A-96C13A68C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89" y="2046379"/>
                <a:ext cx="127071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82AD4A7-E8FC-46C6-BC10-8A5B75413C15}"/>
                  </a:ext>
                </a:extLst>
              </p:cNvPr>
              <p:cNvSpPr txBox="1"/>
              <p:nvPr/>
            </p:nvSpPr>
            <p:spPr>
              <a:xfrm>
                <a:off x="2518788" y="2364470"/>
                <a:ext cx="74569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 We can write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×−14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×(−10−4)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because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14=−10−4</m:t>
                    </m:r>
                  </m:oMath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82AD4A7-E8FC-46C6-BC10-8A5B75413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88" y="2364470"/>
                <a:ext cx="7456914" cy="400110"/>
              </a:xfrm>
              <a:prstGeom prst="rect">
                <a:avLst/>
              </a:prstGeom>
              <a:blipFill>
                <a:blip r:embed="rId5"/>
                <a:stretch>
                  <a:fillRect l="-818" t="-9091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71D6EB0-B5DE-4929-ABF9-712A59D912A6}"/>
              </a:ext>
            </a:extLst>
          </p:cNvPr>
          <p:cNvSpPr txBox="1"/>
          <p:nvPr/>
        </p:nvSpPr>
        <p:spPr>
          <a:xfrm>
            <a:off x="2518788" y="2664674"/>
            <a:ext cx="7290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2. We then set up rectangles to work out the area of them like this.</a:t>
            </a:r>
            <a:r>
              <a:rPr lang="en-AU" sz="20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ECC412-157B-487D-A5D9-167CCC1A1769}"/>
              </a:ext>
            </a:extLst>
          </p:cNvPr>
          <p:cNvSpPr txBox="1"/>
          <p:nvPr/>
        </p:nvSpPr>
        <p:spPr>
          <a:xfrm>
            <a:off x="2518788" y="4078093"/>
            <a:ext cx="9189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0" dirty="0">
                <a:latin typeface="Calibri" panose="020F0502020204030204" pitchFamily="34" charset="0"/>
                <a:cs typeface="Calibri" panose="020F0502020204030204" pitchFamily="34" charset="0"/>
              </a:rPr>
              <a:t>3. We work out the area of the rectangles by multiplying the lengths with the height.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Content Placeholder 3">
                <a:extLst>
                  <a:ext uri="{FF2B5EF4-FFF2-40B4-BE49-F238E27FC236}">
                    <a16:creationId xmlns:a16="http://schemas.microsoft.com/office/drawing/2014/main" id="{FA1E0784-5B86-443D-A55F-96DB9FABC57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54083162"/>
                  </p:ext>
                </p:extLst>
              </p:nvPr>
            </p:nvGraphicFramePr>
            <p:xfrm>
              <a:off x="4368694" y="4443840"/>
              <a:ext cx="4910061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6687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636687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636687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505892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28908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Content Placeholder 3">
                <a:extLst>
                  <a:ext uri="{FF2B5EF4-FFF2-40B4-BE49-F238E27FC236}">
                    <a16:creationId xmlns:a16="http://schemas.microsoft.com/office/drawing/2014/main" id="{FA1E0784-5B86-443D-A55F-96DB9FABC57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54083162"/>
                  </p:ext>
                </p:extLst>
              </p:nvPr>
            </p:nvGraphicFramePr>
            <p:xfrm>
              <a:off x="4368694" y="4443840"/>
              <a:ext cx="4910061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6687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636687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636687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r="-100743" b="-59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0000" r="-743" b="-59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76667" r="-200743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315003-E58B-4257-9EA2-924B94AFEB9D}"/>
                  </a:ext>
                </a:extLst>
              </p:cNvPr>
              <p:cNvSpPr txBox="1"/>
              <p:nvPr/>
            </p:nvSpPr>
            <p:spPr>
              <a:xfrm>
                <a:off x="5933443" y="5083289"/>
                <a:ext cx="17805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8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×−10=−80</m:t>
                      </m:r>
                    </m:oMath>
                  </m:oMathPara>
                </a14:m>
                <a:endParaRPr lang="en-A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315003-E58B-4257-9EA2-924B94AFE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443" y="5083289"/>
                <a:ext cx="178056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DB7171-9526-44A6-86CB-B7B3E9954C07}"/>
                  </a:ext>
                </a:extLst>
              </p:cNvPr>
              <p:cNvSpPr txBox="1"/>
              <p:nvPr/>
            </p:nvSpPr>
            <p:spPr>
              <a:xfrm>
                <a:off x="7620749" y="5064103"/>
                <a:ext cx="16580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8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×−4=−32</m:t>
                      </m:r>
                    </m:oMath>
                  </m:oMathPara>
                </a14:m>
                <a:endParaRPr lang="en-A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CDB7171-9526-44A6-86CB-B7B3E9954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749" y="5064103"/>
                <a:ext cx="16580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80EA14-C86A-4F05-83C9-5BA8A2988507}"/>
                  </a:ext>
                </a:extLst>
              </p:cNvPr>
              <p:cNvSpPr txBox="1"/>
              <p:nvPr/>
            </p:nvSpPr>
            <p:spPr>
              <a:xfrm>
                <a:off x="2518787" y="5787816"/>
                <a:ext cx="952398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r>
                  <a:rPr lang="en-AU" sz="20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Evaluate the sum of the area of the rectangles,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80+−32=−112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b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This means that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×−14=−132</m:t>
                    </m:r>
                  </m:oMath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80EA14-C86A-4F05-83C9-5BA8A2988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87" y="5787816"/>
                <a:ext cx="9523989" cy="707886"/>
              </a:xfrm>
              <a:prstGeom prst="rect">
                <a:avLst/>
              </a:prstGeom>
              <a:blipFill>
                <a:blip r:embed="rId9"/>
                <a:stretch>
                  <a:fillRect l="-640" t="-4274" b="-136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85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4" grpId="0"/>
      <p:bldP spid="19" grpId="0"/>
      <p:bldP spid="20" grpId="0"/>
      <p:bldP spid="21" grpId="0"/>
      <p:bldP spid="24" grpId="0"/>
      <p:bldP spid="27" grpId="0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958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Multiply and Divide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are strategies I can use to multiply whole numbers?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22/03/2021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52CF44-418A-4D26-A2C1-AB7D3AB56463}"/>
              </a:ext>
            </a:extLst>
          </p:cNvPr>
          <p:cNvSpPr txBox="1"/>
          <p:nvPr/>
        </p:nvSpPr>
        <p:spPr>
          <a:xfrm flipH="1">
            <a:off x="93585" y="1326036"/>
            <a:ext cx="21952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the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area model strategy</a:t>
            </a:r>
            <a:r>
              <a:rPr lang="en-AU" sz="20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multiply integers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D601C782-968A-403B-B69F-E72828C4B89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90738356"/>
                  </p:ext>
                </p:extLst>
              </p:nvPr>
            </p:nvGraphicFramePr>
            <p:xfrm>
              <a:off x="4107297" y="2828121"/>
              <a:ext cx="4574687" cy="1546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8405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43245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463037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48906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Content Placeholder 3">
                <a:extLst>
                  <a:ext uri="{FF2B5EF4-FFF2-40B4-BE49-F238E27FC236}">
                    <a16:creationId xmlns:a16="http://schemas.microsoft.com/office/drawing/2014/main" id="{D601C782-968A-403B-B69F-E72828C4B89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90738356"/>
                  </p:ext>
                </p:extLst>
              </p:nvPr>
            </p:nvGraphicFramePr>
            <p:xfrm>
              <a:off x="4107297" y="2828121"/>
              <a:ext cx="4574687" cy="15461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8405">
                      <a:extLst>
                        <a:ext uri="{9D8B030D-6E8A-4147-A177-3AD203B41FA5}">
                          <a16:colId xmlns:a16="http://schemas.microsoft.com/office/drawing/2014/main" val="839121566"/>
                        </a:ext>
                      </a:extLst>
                    </a:gridCol>
                    <a:gridCol w="1743245">
                      <a:extLst>
                        <a:ext uri="{9D8B030D-6E8A-4147-A177-3AD203B41FA5}">
                          <a16:colId xmlns:a16="http://schemas.microsoft.com/office/drawing/2014/main" val="3613736940"/>
                        </a:ext>
                      </a:extLst>
                    </a:gridCol>
                    <a:gridCol w="1463037">
                      <a:extLst>
                        <a:ext uri="{9D8B030D-6E8A-4147-A177-3AD203B41FA5}">
                          <a16:colId xmlns:a16="http://schemas.microsoft.com/office/drawing/2014/main" val="267972667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8397" r="-84321" b="-1424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13333" r="-833" b="-1424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215320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43243" r="-235111" b="-10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3512877"/>
                      </a:ext>
                    </a:extLst>
                  </a:tr>
                  <a:tr h="4530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40000" r="-235111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1467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F6FE938-8042-45C1-B45E-60DAF404F319}"/>
              </a:ext>
            </a:extLst>
          </p:cNvPr>
          <p:cNvSpPr txBox="1"/>
          <p:nvPr/>
        </p:nvSpPr>
        <p:spPr>
          <a:xfrm>
            <a:off x="2518790" y="1317091"/>
            <a:ext cx="1321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E524A3-5B03-4674-9359-92FFC2F2AE9E}"/>
                  </a:ext>
                </a:extLst>
              </p:cNvPr>
              <p:cNvSpPr txBox="1"/>
              <p:nvPr/>
            </p:nvSpPr>
            <p:spPr>
              <a:xfrm>
                <a:off x="2518789" y="1646994"/>
                <a:ext cx="10714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×23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E524A3-5B03-4674-9359-92FFC2F2A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89" y="1646994"/>
                <a:ext cx="107143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3872C5-EE86-4B27-9A7A-1722EF79A754}"/>
                  </a:ext>
                </a:extLst>
              </p:cNvPr>
              <p:cNvSpPr txBox="1"/>
              <p:nvPr/>
            </p:nvSpPr>
            <p:spPr>
              <a:xfrm>
                <a:off x="2518787" y="2069365"/>
                <a:ext cx="13216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×23</m:t>
                    </m:r>
                  </m:oMath>
                </a14:m>
                <a:r>
                  <a:rPr lang="en-AU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53872C5-EE86-4B27-9A7A-1722EF79A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87" y="2069365"/>
                <a:ext cx="1321689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FA2895-1718-4810-85E5-BC9DE109EEC8}"/>
                  </a:ext>
                </a:extLst>
              </p:cNvPr>
              <p:cNvSpPr txBox="1"/>
              <p:nvPr/>
            </p:nvSpPr>
            <p:spPr>
              <a:xfrm>
                <a:off x="3551318" y="2056355"/>
                <a:ext cx="24272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n-AU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10+5)</m:t>
                      </m:r>
                      <m:r>
                        <a:rPr lang="en-AU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</m:t>
                      </m:r>
                      <m:r>
                        <a:rPr lang="en-AU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(20+3)</m:t>
                      </m:r>
                    </m:oMath>
                  </m:oMathPara>
                </a14:m>
                <a:endParaRPr lang="en-AU" sz="2000" dirty="0">
                  <a:solidFill>
                    <a:schemeClr val="accent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FA2895-1718-4810-85E5-BC9DE109E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318" y="2056355"/>
                <a:ext cx="2427202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12189699-8559-48D6-8252-CCF6143DCE7D}"/>
              </a:ext>
            </a:extLst>
          </p:cNvPr>
          <p:cNvSpPr/>
          <p:nvPr/>
        </p:nvSpPr>
        <p:spPr>
          <a:xfrm>
            <a:off x="4764919" y="3428015"/>
            <a:ext cx="323850" cy="911593"/>
          </a:xfrm>
          <a:prstGeom prst="leftBrace">
            <a:avLst>
              <a:gd name="adj1" fmla="val 8333"/>
              <a:gd name="adj2" fmla="val 48955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D77D8D-EBCE-4DED-A9DE-50E6C5B1EDCE}"/>
              </a:ext>
            </a:extLst>
          </p:cNvPr>
          <p:cNvCxnSpPr>
            <a:cxnSpLocks/>
          </p:cNvCxnSpPr>
          <p:nvPr/>
        </p:nvCxnSpPr>
        <p:spPr>
          <a:xfrm>
            <a:off x="4243840" y="2381295"/>
            <a:ext cx="629167" cy="1278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Left Brace 21">
            <a:extLst>
              <a:ext uri="{FF2B5EF4-FFF2-40B4-BE49-F238E27FC236}">
                <a16:creationId xmlns:a16="http://schemas.microsoft.com/office/drawing/2014/main" id="{D38FCAFB-F44B-4650-826D-96F037AF55C2}"/>
              </a:ext>
            </a:extLst>
          </p:cNvPr>
          <p:cNvSpPr/>
          <p:nvPr/>
        </p:nvSpPr>
        <p:spPr>
          <a:xfrm rot="5400000">
            <a:off x="6946687" y="1731825"/>
            <a:ext cx="264231" cy="2609601"/>
          </a:xfrm>
          <a:prstGeom prst="leftBrace">
            <a:avLst>
              <a:gd name="adj1" fmla="val 8333"/>
              <a:gd name="adj2" fmla="val 48955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50583E-19DF-4800-A795-AC14CFA9B802}"/>
              </a:ext>
            </a:extLst>
          </p:cNvPr>
          <p:cNvCxnSpPr>
            <a:cxnSpLocks/>
          </p:cNvCxnSpPr>
          <p:nvPr/>
        </p:nvCxnSpPr>
        <p:spPr>
          <a:xfrm>
            <a:off x="5428648" y="2381295"/>
            <a:ext cx="1020278" cy="6334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1DEAFD-FD85-43EE-B189-19B62ED07F1E}"/>
                  </a:ext>
                </a:extLst>
              </p:cNvPr>
              <p:cNvSpPr txBox="1"/>
              <p:nvPr/>
            </p:nvSpPr>
            <p:spPr>
              <a:xfrm>
                <a:off x="5419022" y="3489205"/>
                <a:ext cx="18796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0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×20=200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1DEAFD-FD85-43EE-B189-19B62ED07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022" y="3489205"/>
                <a:ext cx="187965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FB9BCE-174C-4A02-91C1-B2764B68D9CE}"/>
                  </a:ext>
                </a:extLst>
              </p:cNvPr>
              <p:cNvSpPr txBox="1"/>
              <p:nvPr/>
            </p:nvSpPr>
            <p:spPr>
              <a:xfrm>
                <a:off x="5428648" y="3943979"/>
                <a:ext cx="18796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×20=100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FB9BCE-174C-4A02-91C1-B2764B68D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648" y="3943979"/>
                <a:ext cx="187965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06E0620-D958-4715-BB72-0489EB6070AD}"/>
                  </a:ext>
                </a:extLst>
              </p:cNvPr>
              <p:cNvSpPr txBox="1"/>
              <p:nvPr/>
            </p:nvSpPr>
            <p:spPr>
              <a:xfrm>
                <a:off x="7141942" y="3489205"/>
                <a:ext cx="15400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0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×3=30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06E0620-D958-4715-BB72-0489EB607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942" y="3489205"/>
                <a:ext cx="154004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199459F-E6DF-4CFE-9CE6-22A7A6EE8E4D}"/>
                  </a:ext>
                </a:extLst>
              </p:cNvPr>
              <p:cNvSpPr txBox="1"/>
              <p:nvPr/>
            </p:nvSpPr>
            <p:spPr>
              <a:xfrm>
                <a:off x="7178227" y="3943979"/>
                <a:ext cx="15400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5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×3=15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199459F-E6DF-4CFE-9CE6-22A7A6EE8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227" y="3943979"/>
                <a:ext cx="154004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5817922-3F96-45D9-BAAD-3A9AC5F37D27}"/>
                  </a:ext>
                </a:extLst>
              </p:cNvPr>
              <p:cNvSpPr txBox="1"/>
              <p:nvPr/>
            </p:nvSpPr>
            <p:spPr>
              <a:xfrm>
                <a:off x="5235142" y="4544069"/>
                <a:ext cx="34468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200+100+30+15</m:t>
                      </m:r>
                      <m:r>
                        <a:rPr lang="en-AU" sz="2000" b="0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=345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5817922-3F96-45D9-BAAD-3A9AC5F37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142" y="4544069"/>
                <a:ext cx="344684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15B3537-FBD4-4527-9C1F-23ECA3BE4E5E}"/>
                  </a:ext>
                </a:extLst>
              </p:cNvPr>
              <p:cNvSpPr txBox="1"/>
              <p:nvPr/>
            </p:nvSpPr>
            <p:spPr>
              <a:xfrm>
                <a:off x="5271427" y="4879189"/>
                <a:ext cx="34468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1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5</m:t>
                      </m:r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×2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3=345</m:t>
                      </m:r>
                    </m:oMath>
                  </m:oMathPara>
                </a14:m>
                <a:endParaRPr lang="en-AU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15B3537-FBD4-4527-9C1F-23ECA3BE4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427" y="4879189"/>
                <a:ext cx="3446842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017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0" grpId="0"/>
      <p:bldP spid="21" grpId="0"/>
      <p:bldP spid="4" grpId="0" animBg="1"/>
      <p:bldP spid="22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pplication&#10;&#10;Description automatically generated with low confidence">
            <a:extLst>
              <a:ext uri="{FF2B5EF4-FFF2-40B4-BE49-F238E27FC236}">
                <a16:creationId xmlns:a16="http://schemas.microsoft.com/office/drawing/2014/main" id="{C1BF7050-2980-4451-8BDD-A73D4CC0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846" y="135761"/>
            <a:ext cx="4120308" cy="65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70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E86D-E98C-4D0A-9BDF-DAD016B16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(LHS)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5E4A4-E0D0-4947-8923-99AEF89A1C01}"/>
              </a:ext>
            </a:extLst>
          </p:cNvPr>
          <p:cNvSpPr txBox="1"/>
          <p:nvPr/>
        </p:nvSpPr>
        <p:spPr>
          <a:xfrm>
            <a:off x="731624" y="1566634"/>
            <a:ext cx="95718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Read the following information before the questions.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4A1E7-77CF-4AFD-9292-A748675BE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3970420"/>
            <a:ext cx="9659005" cy="233893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br>
              <a:rPr lang="en-AU" dirty="0"/>
            </a:br>
            <a:endParaRPr lang="en-AU" dirty="0"/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2AFC3C-FB83-4FDB-A9CB-BDD32B07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81" y="2044728"/>
            <a:ext cx="8516539" cy="18290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4AF81B-98D7-4279-85D9-AFF891354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867" y="3976054"/>
            <a:ext cx="10074181" cy="159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6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3349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C871A-FD9D-4FA6-AA4B-527652C1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Write Your Summary</a:t>
            </a:r>
          </a:p>
        </p:txBody>
      </p:sp>
      <p:pic>
        <p:nvPicPr>
          <p:cNvPr id="5" name="Picture 4" descr="A child writing on a piece of paper&#10;&#10;Description automatically generated with medium confidence">
            <a:extLst>
              <a:ext uri="{FF2B5EF4-FFF2-40B4-BE49-F238E27FC236}">
                <a16:creationId xmlns:a16="http://schemas.microsoft.com/office/drawing/2014/main" id="{4722B32D-F7B6-4789-A21C-5F4FD4C11E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" b="12822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10EC8-9C72-4646-B6B1-79626135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Write a summary that answers the Essential Question: What are strategies that I can use to </a:t>
            </a:r>
            <a:r>
              <a:rPr lang="en-AU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multiply whole numbers?</a:t>
            </a:r>
            <a:b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Include an example in your answer.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48ABC-2D56-4A8E-8190-C522659A86AC}"/>
              </a:ext>
            </a:extLst>
          </p:cNvPr>
          <p:cNvSpPr txBox="1"/>
          <p:nvPr/>
        </p:nvSpPr>
        <p:spPr>
          <a:xfrm>
            <a:off x="5136519" y="4229070"/>
            <a:ext cx="224933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>
                <a:solidFill>
                  <a:srgbClr val="FFFFFF"/>
                </a:solidFill>
                <a:hlinkClick r:id="rId3" tooltip="https://christiantietze.de/posts/2013/12/useful-daily-writing-practic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>
                <a:solidFill>
                  <a:srgbClr val="FFFFFF"/>
                </a:solidFill>
              </a:rPr>
              <a:t> by Unknown Author is licensed under </a:t>
            </a:r>
            <a:r>
              <a:rPr lang="en-AU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AU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09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5FEC6D-2CDB-41EF-BC97-6BD28D5432AE}"/>
</file>

<file path=customXml/itemProps2.xml><?xml version="1.0" encoding="utf-8"?>
<ds:datastoreItem xmlns:ds="http://schemas.openxmlformats.org/officeDocument/2006/customXml" ds:itemID="{D361F02B-ACC5-4B52-9083-C2AD8E7A5E3A}"/>
</file>

<file path=customXml/itemProps3.xml><?xml version="1.0" encoding="utf-8"?>
<ds:datastoreItem xmlns:ds="http://schemas.openxmlformats.org/officeDocument/2006/customXml" ds:itemID="{966B77B7-35FC-46BB-827A-CBE5435CD5F4}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377</TotalTime>
  <Words>679</Words>
  <Application>Microsoft Office PowerPoint</Application>
  <PresentationFormat>Widescreen</PresentationFormat>
  <Paragraphs>133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Cambria Math</vt:lpstr>
      <vt:lpstr>Tw Cen MT</vt:lpstr>
      <vt:lpstr>Tw Cen MT Condensed</vt:lpstr>
      <vt:lpstr>Wingdings 3</vt:lpstr>
      <vt:lpstr>Integral</vt:lpstr>
      <vt:lpstr>Topic: Multiply and divide EQ: What are Strategies I can Use to Multiply Integers?</vt:lpstr>
      <vt:lpstr>PowerPoint Presentation</vt:lpstr>
      <vt:lpstr>PowerPoint Presentation</vt:lpstr>
      <vt:lpstr>Five Questions (LHS)</vt:lpstr>
      <vt:lpstr>PowerPoint Presentation</vt:lpstr>
      <vt:lpstr>PowerPoint Presentation</vt:lpstr>
      <vt:lpstr>Task (LHS)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(LHS)</vt:lpstr>
      <vt:lpstr>Write Your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Multiplication of Integers EQ: How do we Multiply Integers?</dc:title>
  <dc:creator>Magdeline Lum</dc:creator>
  <cp:lastModifiedBy>JAMES Sarah [Baldivis Secondary College]</cp:lastModifiedBy>
  <cp:revision>26</cp:revision>
  <dcterms:created xsi:type="dcterms:W3CDTF">2021-03-19T08:52:00Z</dcterms:created>
  <dcterms:modified xsi:type="dcterms:W3CDTF">2021-11-09T14:10:20Z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
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9" r:id="rId3"/>
    <p:sldId id="273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78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506" autoAdjust="0"/>
  </p:normalViewPr>
  <p:slideViewPr>
    <p:cSldViewPr>
      <p:cViewPr varScale="1">
        <p:scale>
          <a:sx n="93" d="100"/>
          <a:sy n="93" d="100"/>
        </p:scale>
        <p:origin x="207" y="54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7B835412-D555-496C-A21B-29D790D6B8FA}"/>
    <pc:docChg chg="modSld">
      <pc:chgData name="Sarah James" userId="e5e3e68366f0feb3" providerId="LiveId" clId="{7B835412-D555-496C-A21B-29D790D6B8FA}" dt="2021-11-09T14:13:10.990" v="44"/>
      <pc:docMkLst>
        <pc:docMk/>
      </pc:docMkLst>
      <pc:sldChg chg="modSp mod">
        <pc:chgData name="Sarah James" userId="e5e3e68366f0feb3" providerId="LiveId" clId="{7B835412-D555-496C-A21B-29D790D6B8FA}" dt="2021-11-09T14:12:41.828" v="18" actId="20577"/>
        <pc:sldMkLst>
          <pc:docMk/>
          <pc:sldMk cId="456561043" sldId="257"/>
        </pc:sldMkLst>
        <pc:spChg chg="mod">
          <ac:chgData name="Sarah James" userId="e5e3e68366f0feb3" providerId="LiveId" clId="{7B835412-D555-496C-A21B-29D790D6B8FA}" dt="2021-11-09T14:12:41.828" v="18" actId="20577"/>
          <ac:spMkLst>
            <pc:docMk/>
            <pc:sldMk cId="456561043" sldId="257"/>
            <ac:spMk id="2" creationId="{00000000-0000-0000-0000-000000000000}"/>
          </ac:spMkLst>
        </pc:spChg>
      </pc:sldChg>
      <pc:sldChg chg="modSp mod">
        <pc:chgData name="Sarah James" userId="e5e3e68366f0feb3" providerId="LiveId" clId="{7B835412-D555-496C-A21B-29D790D6B8FA}" dt="2021-11-09T14:12:54.352" v="41" actId="20577"/>
        <pc:sldMkLst>
          <pc:docMk/>
          <pc:sldMk cId="533970288" sldId="273"/>
        </pc:sldMkLst>
        <pc:spChg chg="mod">
          <ac:chgData name="Sarah James" userId="e5e3e68366f0feb3" providerId="LiveId" clId="{7B835412-D555-496C-A21B-29D790D6B8FA}" dt="2021-11-09T14:12:54.352" v="41" actId="20577"/>
          <ac:spMkLst>
            <pc:docMk/>
            <pc:sldMk cId="533970288" sldId="273"/>
            <ac:spMk id="2" creationId="{00000000-0000-0000-0000-000000000000}"/>
          </ac:spMkLst>
        </pc:spChg>
      </pc:sldChg>
      <pc:sldChg chg="modSp mod">
        <pc:chgData name="Sarah James" userId="e5e3e68366f0feb3" providerId="LiveId" clId="{7B835412-D555-496C-A21B-29D790D6B8FA}" dt="2021-11-09T14:13:00.868" v="42"/>
        <pc:sldMkLst>
          <pc:docMk/>
          <pc:sldMk cId="3212947955" sldId="280"/>
        </pc:sldMkLst>
        <pc:spChg chg="mod">
          <ac:chgData name="Sarah James" userId="e5e3e68366f0feb3" providerId="LiveId" clId="{7B835412-D555-496C-A21B-29D790D6B8FA}" dt="2021-11-09T14:13:00.868" v="42"/>
          <ac:spMkLst>
            <pc:docMk/>
            <pc:sldMk cId="3212947955" sldId="280"/>
            <ac:spMk id="2" creationId="{00000000-0000-0000-0000-000000000000}"/>
          </ac:spMkLst>
        </pc:spChg>
      </pc:sldChg>
      <pc:sldChg chg="modSp mod">
        <pc:chgData name="Sarah James" userId="e5e3e68366f0feb3" providerId="LiveId" clId="{7B835412-D555-496C-A21B-29D790D6B8FA}" dt="2021-11-09T14:13:05.336" v="43"/>
        <pc:sldMkLst>
          <pc:docMk/>
          <pc:sldMk cId="1547538168" sldId="283"/>
        </pc:sldMkLst>
        <pc:spChg chg="mod">
          <ac:chgData name="Sarah James" userId="e5e3e68366f0feb3" providerId="LiveId" clId="{7B835412-D555-496C-A21B-29D790D6B8FA}" dt="2021-11-09T14:13:05.336" v="43"/>
          <ac:spMkLst>
            <pc:docMk/>
            <pc:sldMk cId="1547538168" sldId="283"/>
            <ac:spMk id="2" creationId="{00000000-0000-0000-0000-000000000000}"/>
          </ac:spMkLst>
        </pc:spChg>
      </pc:sldChg>
      <pc:sldChg chg="modSp mod">
        <pc:chgData name="Sarah James" userId="e5e3e68366f0feb3" providerId="LiveId" clId="{7B835412-D555-496C-A21B-29D790D6B8FA}" dt="2021-11-09T14:13:10.990" v="44"/>
        <pc:sldMkLst>
          <pc:docMk/>
          <pc:sldMk cId="3065057490" sldId="284"/>
        </pc:sldMkLst>
        <pc:spChg chg="mod">
          <ac:chgData name="Sarah James" userId="e5e3e68366f0feb3" providerId="LiveId" clId="{7B835412-D555-496C-A21B-29D790D6B8FA}" dt="2021-11-09T14:13:10.990" v="44"/>
          <ac:spMkLst>
            <pc:docMk/>
            <pc:sldMk cId="3065057490" sldId="284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11/9/2021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9-04T03:48:14.2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14838 15378 1238 0,'-97'0'27'0,"63"6"5"0,5-1 2 0,1 0 2 0,-12 5-36 0,0-5 0 0,6 5 0 0,0-5 0 16,5 5 48-16,1-5 4 0,5 0 0 0,0 5 0 15,12-5-22-15,-6-5-4 0,11 6-1 0,6-6 0 16,0 0-9-16,0 0-1 0,0 0-1 0,11 10 0 16,1 0 8-16,11-5 2 0,5 0 0 0,-5-5 0 15,5 5 6-15,7 0 2 0,4-5 0 0,7 5 0 16,0-5-8-16,-1-5 0 0,-11 5-1 0,6 0 0 15,11 0-7-15,-11 5 0 0,-17-5-1 0,5 0 0 16,1 5-2-16,-6 0 0 0,-23-5 0 0,11 10 0 0,1 6 7 16,-7-6 0-16,7 10 1 0,-24 0 0 0,-16 11-10 15,11-1-3-15,0 0 0 0,-12 6 0 0,-22 9-8 0,5-4 0 16,1 10 0-16,-1-6 0 0,1 1 9 0,-1-1 0 16,0-4 0-16,1-1 0 0,11 1 2 0,5-11 0 15,1 1 0-15,5-11 0 0,12 0-3 0,-1-5-8 16,7-5 12-16,5-10-4 0,11 11 1 0,6-6 0 15,6-5 0-15,5-11 0 0,-5 6 8 0,11-5 2 16,17-5 0-16,1 0 0 0,-1-5-6 0,0 4-1 16,-5-4 0-16,-1 5 0 0,7 0-3 0,-7 0-1 15,-22 4 0-15,5 6 0 0,1 0 2 0,-18 5 0 16,-11 0 0-16,0 0 0 0,-11 10 2 0,-18 11 1 0,7-1 0 16,-18 10 0-16,-23 6-13 0,0-1 0 0,12 1 8 0,-11 9-8 15,-1-4 0-15,0 9 9 16,1-4-9-16,-1 5 8 0,6-6 7 0,6 1 1 0,5-1 0 0,12-9 0 15,6-1-16-15,10 1 0 0,1-11 0 0,17 0-10 16,6-4 10-16,17-1 0 0,5 0 8 0,1-10-8 16,11 0 0-16,17-5 0 0,5-5-12 0,1-5 4 15,0 0 8-15,5 0 9 0,12 5-1 0,-6 0-8 16,-17 0 13-16,-6 5-4 0,-6 5-1 0,7 1 0 16,-12 4-8-16,-12 0 10 0,-11 5-10 0,0 1 10 15,0 4-1-15,-5 5 0 0,-18 1 0 0,0-1 0 16,-5 5-9-16,0-4 0 0,-1 4 9 0,-5 1-9 15,-11-6 0-15,5 6-16 0,11-6 2 0,7-15-1119 16</inkml:trace>
  <inkml:trace contextRef="#ctx0" brushRef="#br0" timeOffset="631.59">17708 14928 1474 0,'0'0'41'0,"0"0"11"0,0 0-42 0,0 0-10 16,0 0 0-16,0 0 0 0,0 0 80 0,0 0 15 16,0 0 2-16,0 0 1 0,0 0-42 0,0 0-9 15,0 0-2-15,0 0 0 0,0 0-19 0,17 20-4 16,-5-5-1-16,-1 5 0 0,-5 1 2 0,0 4 0 16,-1 5 0-16,-5 6 0 0,6 4-3 0,-6 1 0 15,-6-1 0-15,1 1 0 0,5-1-6 0,0-4-2 16,-6-1 0-16,0 1 0 0,6-6-12 0,0 6 8 0,0-11-8 15,6-5 0-15,0 0 0 0,-1-4 0 0,1-11 0 16,-6-5-652-16,17 5-137 16</inkml:trace>
  <inkml:trace contextRef="#ctx0" brushRef="#br0" timeOffset="921.73">18677 15044 1688 0,'0'0'37'16,"0"0"8"-16,0 0 2 0,5-10 0 0,1 5-38 0,0-5-9 0,-6 0 0 0,5 0 0 16,-5 10 56-16,0 0 8 0,0 0 3 0,0 0 0 15,0 0-6-15,-5 20-1 0,-1-5 0 0,-5 10 0 16,5 1-10-16,-11 4-2 0,0 1-1 0,-6 4 0 0,0 5-7 0,-11 1 0 16,0 5-1-16,0-1 0 0,-1 1-6 0,-10 4-1 15,-1 1 0-15,-5 5 0 0,0 15 14 16,0 0 2-16,-1 10 1 0,1 0 0 0,0 0-20 15,-1-5-4-15,1-6-1 0,6-4 0 0,-7-10-12 0,7 0-4 16,-1-11 0-16,6 1 0 0,1-1-8 0,4 1-11 16,1-11 3-16,6 1 0 0,11-11 16 0,0 1 3 15,5-11 1-15,6 0 0 16,6-15-123-16,0 0-24 0,0 0-5 0</inkml:trace>
  <inkml:trace contextRef="#ctx0" brushRef="#br0" timeOffset="1453.88">19229 15738 1778 0,'0'0'39'0,"0"0"8"0,-6-10 1 0,1 0 3 0,5 10-41 0,-6-5-10 0,-5 0 0 0,5 5 0 16,-6 5 80-16,1 0 13 0,-6 5 3 0,0-5 1 15,0 5-43-15,0 0-9 0,-6 5-1 0,-11 6-1 16,5-1-19-16,6-5-3 0,-11 10-1 0,12-4 0 15,-7 4-6-15,6 0-2 0,0 1 0 0,1-1 0 16,5 0-4-16,5 1-8 0,1-1 11 0,5 0-11 16,6-5 19-16,0 1-3 0,6 4-1 0,5 0 0 15,6 1 4-15,0-1 1 0,6 5 0 0,0-4 0 16,11 4-4-16,-5 1-1 0,5-6 0 0,0 5 0 16,0 1-3-16,-5-6-1 0,5 5 0 0,0-4 0 15,-6 4 9-15,-5-10 1 0,0 1 1 16,-12 4 0-16,6 0-22 0,1 0-15 0,-13 1 3 0,7-1 0 0,-12 0 12 0,0 1 13 15,-12 4-2-15,7 1-1 0,-13-6 16 0,1 5 3 16,-5 1 1-16,-18-1 0 0,6 0-11 16,-1-9-3-16,1-1 0 0,-6-10 0 0,6-5-4 0,0-10-2 15,6 5 0-15,-1-10 0 0,1-5-10 0,5-6 12 16,0 1-12-16,6 0 12 0,6-10-12 0,5-1 8 16,0 1-8-16,12-1 8 0,0-4-8 0,11-1 0 15,5 1 0-15,7 0 0 0,-1-1 0 0,7-4-12 16,4-1 2-16,7 1 1 0,5-1 9 0,6-10 12 15,0-4-2-15,6-1-1 0,-6 0-9 0,5 1 0 16,-5-6 0-16,0 10 0 0,-11-4 0 0,-6 9 0 0,0 0 0 16,-12 16 0-16,-5-5 12 0,-12 9 0 0,-5 11 0 0,-6 15 0 15,0 0-3-15,-17-5 0 0,-6 5 0 0,-11 5 0 16,-12 5-9-16,-11 0 12 0,-11 5-12 0,5 1 12 16,-5-1-12-16,-23 5-14 0,11 0 3 0,0 1-885 15,6-1-178-15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11/9/2021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1/4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2/4=2/8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7920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6706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502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510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11/9/2021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11/9/2021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11/9/2021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11/9/2021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11/9/2021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11/9/2021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11/9/2021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11/9/2021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11/9/2021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11/9/2021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11/9/2021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achiras21.blogspot.com/2012_07_01_archive.html" TargetMode="Externa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cachiras21.blogspot.com/2012_07_01_archive.html" TargetMode="Externa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4ghdMifXuFE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469" y="2376538"/>
            <a:ext cx="10955886" cy="2104923"/>
          </a:xfrm>
        </p:spPr>
        <p:txBody>
          <a:bodyPr/>
          <a:lstStyle/>
          <a:p>
            <a:r>
              <a:rPr lang="en-US" sz="6000" dirty="0"/>
              <a:t>Topic: Multiply and Divide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7828" y="4725144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multiply </a:t>
            </a:r>
            <a:r>
              <a:rPr lang="en-US" dirty="0"/>
              <a:t>fractions?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16C4-86C1-41E5-A8ED-04F9E5B30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Warm Up Questions: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1C3C8-7EEF-4D92-A6BE-59E34F44F2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>
                  <a:buAutoNum type="arabicPeriod"/>
                </a:pPr>
                <a:r>
                  <a:rPr lang="en-AU" sz="3200" dirty="0"/>
                  <a:t>Convert </a:t>
                </a:r>
                <a14:m>
                  <m:oMath xmlns:m="http://schemas.openxmlformats.org/officeDocument/2006/math">
                    <m:r>
                      <a:rPr lang="en-AU" sz="3200" b="0" i="0" smtClean="0"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3200" dirty="0"/>
                  <a:t>to an improper fraction</a:t>
                </a:r>
              </a:p>
              <a:p>
                <a:pPr marL="457200" indent="-457200">
                  <a:buFont typeface="Arial" pitchFamily="34" charset="0"/>
                  <a:buAutoNum type="arabicPeriod"/>
                </a:pPr>
                <a:r>
                  <a:rPr lang="en-AU" sz="3200" dirty="0"/>
                  <a:t>Convert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3200" dirty="0"/>
                  <a:t>to a mixed number</a:t>
                </a:r>
              </a:p>
              <a:p>
                <a:pPr marL="457200" indent="-457200">
                  <a:buFont typeface="Arial" pitchFamily="34" charset="0"/>
                  <a:buAutoNum type="arabicPeriod"/>
                </a:pPr>
                <a:r>
                  <a:rPr lang="en-AU" sz="3200" dirty="0"/>
                  <a:t>Three friends share a pizza. Kate eats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3200" dirty="0"/>
                  <a:t> of the pizza, Archie eats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3200" dirty="0"/>
                  <a:t> of the remainder and Luke eats the rest. What fraction does Luke eat?</a:t>
                </a:r>
              </a:p>
              <a:p>
                <a:pPr marL="457200" indent="-457200">
                  <a:buFont typeface="Arial" pitchFamily="34" charset="0"/>
                  <a:buAutoNum type="arabicPeriod"/>
                </a:pPr>
                <a:endParaRPr lang="en-AU" sz="2800" dirty="0"/>
              </a:p>
              <a:p>
                <a:pPr marL="457200" indent="-457200">
                  <a:buFont typeface="Arial" pitchFamily="34" charset="0"/>
                  <a:buAutoNum type="arabicPeriod"/>
                </a:pPr>
                <a:endParaRPr lang="en-AU" sz="2800" dirty="0"/>
              </a:p>
              <a:p>
                <a:pPr marL="457200" indent="-457200">
                  <a:buFont typeface="Arial" pitchFamily="34" charset="0"/>
                  <a:buAutoNum type="arabicPeriod"/>
                </a:pPr>
                <a:endParaRPr lang="en-AU" sz="2800" dirty="0"/>
              </a:p>
              <a:p>
                <a:pPr marL="457200" indent="-457200">
                  <a:buAutoNum type="arabicPeriod"/>
                </a:pPr>
                <a:endParaRPr lang="en-AU" sz="2800" dirty="0"/>
              </a:p>
              <a:p>
                <a:pPr marL="457200" indent="-457200">
                  <a:buAutoNum type="arabicPeriod"/>
                </a:pPr>
                <a:endParaRPr lang="en-AU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1C3C8-7EEF-4D92-A6BE-59E34F44F2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68" t="-20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79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 and Divide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35394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sz="2800" dirty="0"/>
          </a:p>
          <a:p>
            <a:r>
              <a:rPr lang="en-AU" sz="2800" dirty="0"/>
              <a:t>The Strip Method</a:t>
            </a:r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/>
              <p:nvPr/>
            </p:nvSpPr>
            <p:spPr>
              <a:xfrm>
                <a:off x="2061963" y="1318106"/>
                <a:ext cx="9793087" cy="1134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>
                    <a:solidFill>
                      <a:srgbClr val="FF0000"/>
                    </a:solidFill>
                  </a:rPr>
                  <a:t>If you had a strip of paper and you shaded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srgbClr val="FF0000"/>
                    </a:solidFill>
                  </a:rPr>
                  <a:t> of the strip </a:t>
                </a:r>
              </a:p>
              <a:p>
                <a:endParaRPr lang="en-AU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963" y="1318106"/>
                <a:ext cx="9793087" cy="1134670"/>
              </a:xfrm>
              <a:prstGeom prst="rect">
                <a:avLst/>
              </a:prstGeom>
              <a:blipFill>
                <a:blip r:embed="rId3"/>
                <a:stretch>
                  <a:fillRect l="-12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20F1F17-51BB-4C22-B892-61724953978F}"/>
              </a:ext>
            </a:extLst>
          </p:cNvPr>
          <p:cNvSpPr/>
          <p:nvPr/>
        </p:nvSpPr>
        <p:spPr>
          <a:xfrm>
            <a:off x="4438229" y="2208932"/>
            <a:ext cx="6552724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1D282F-01C6-4D9D-8003-54FE54907B94}"/>
              </a:ext>
            </a:extLst>
          </p:cNvPr>
          <p:cNvSpPr/>
          <p:nvPr/>
        </p:nvSpPr>
        <p:spPr>
          <a:xfrm>
            <a:off x="4438229" y="2208932"/>
            <a:ext cx="2160232" cy="14401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855F8B-5E80-4DE6-B1D3-BED40E9AA1F6}"/>
              </a:ext>
            </a:extLst>
          </p:cNvPr>
          <p:cNvSpPr/>
          <p:nvPr/>
        </p:nvSpPr>
        <p:spPr>
          <a:xfrm>
            <a:off x="6598461" y="2208931"/>
            <a:ext cx="2160232" cy="144016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BB8704-D5EC-4A85-A6CE-70FB89D97340}"/>
                  </a:ext>
                </a:extLst>
              </p:cNvPr>
              <p:cNvSpPr txBox="1"/>
              <p:nvPr/>
            </p:nvSpPr>
            <p:spPr>
              <a:xfrm>
                <a:off x="2205978" y="3790921"/>
                <a:ext cx="9649069" cy="1355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Now you are told to shade in a darker colour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of your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strip</a:t>
                </a:r>
              </a:p>
              <a:p>
                <a:endParaRPr lang="en-AU" sz="2400" dirty="0">
                  <a:solidFill>
                    <a:srgbClr val="FF0000"/>
                  </a:solidFill>
                </a:endParaRPr>
              </a:p>
              <a:p>
                <a:r>
                  <a:rPr lang="en-AU" sz="2400" dirty="0">
                    <a:solidFill>
                      <a:srgbClr val="FF0000"/>
                    </a:solidFill>
                  </a:rPr>
                  <a:t>The final shaded amount is your answer  - What do you think it is?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BB8704-D5EC-4A85-A6CE-70FB89D97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978" y="3790921"/>
                <a:ext cx="9649069" cy="1355179"/>
              </a:xfrm>
              <a:prstGeom prst="rect">
                <a:avLst/>
              </a:prstGeom>
              <a:blipFill>
                <a:blip r:embed="rId4"/>
                <a:stretch>
                  <a:fillRect l="-1011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74C1287-C9DE-4347-B1D7-2CE3BEEEB355}"/>
              </a:ext>
            </a:extLst>
          </p:cNvPr>
          <p:cNvSpPr/>
          <p:nvPr/>
        </p:nvSpPr>
        <p:spPr>
          <a:xfrm>
            <a:off x="4438229" y="3225621"/>
            <a:ext cx="4320455" cy="4194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8AFAF1-D8D6-4F36-BB45-AB8872DB0F26}"/>
              </a:ext>
            </a:extLst>
          </p:cNvPr>
          <p:cNvGrpSpPr/>
          <p:nvPr/>
        </p:nvGrpSpPr>
        <p:grpSpPr>
          <a:xfrm>
            <a:off x="4438229" y="2708920"/>
            <a:ext cx="4320464" cy="936102"/>
            <a:chOff x="4438229" y="2708920"/>
            <a:chExt cx="4320464" cy="93610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13C129E-7D45-4B1D-8EDD-642AFA7FD802}"/>
                </a:ext>
              </a:extLst>
            </p:cNvPr>
            <p:cNvCxnSpPr/>
            <p:nvPr/>
          </p:nvCxnSpPr>
          <p:spPr>
            <a:xfrm>
              <a:off x="4438229" y="3212976"/>
              <a:ext cx="432046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624F7C1-B6DD-4445-AF59-9B3C94B9B6BC}"/>
                </a:ext>
              </a:extLst>
            </p:cNvPr>
            <p:cNvCxnSpPr/>
            <p:nvPr/>
          </p:nvCxnSpPr>
          <p:spPr>
            <a:xfrm>
              <a:off x="4438229" y="2708920"/>
              <a:ext cx="432046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F645BF-4BA1-47F6-AA9D-4F8610488332}"/>
                </a:ext>
              </a:extLst>
            </p:cNvPr>
            <p:cNvCxnSpPr>
              <a:stCxn id="12" idx="0"/>
              <a:endCxn id="12" idx="2"/>
            </p:cNvCxnSpPr>
            <p:nvPr/>
          </p:nvCxnSpPr>
          <p:spPr>
            <a:xfrm>
              <a:off x="6598457" y="3225621"/>
              <a:ext cx="0" cy="41940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905EC8-7D39-4A9F-8CE7-5716D925821E}"/>
              </a:ext>
            </a:extLst>
          </p:cNvPr>
          <p:cNvCxnSpPr/>
          <p:nvPr/>
        </p:nvCxnSpPr>
        <p:spPr>
          <a:xfrm>
            <a:off x="8758684" y="2708920"/>
            <a:ext cx="2232269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EAEB21-C9C1-4BFC-91B0-051F41945CD8}"/>
              </a:ext>
            </a:extLst>
          </p:cNvPr>
          <p:cNvCxnSpPr/>
          <p:nvPr/>
        </p:nvCxnSpPr>
        <p:spPr>
          <a:xfrm>
            <a:off x="8758684" y="3191341"/>
            <a:ext cx="2232269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5962BF-3B3C-4094-A81B-AC20DF8A014C}"/>
                  </a:ext>
                </a:extLst>
              </p:cNvPr>
              <p:cNvSpPr txBox="1"/>
              <p:nvPr/>
            </p:nvSpPr>
            <p:spPr>
              <a:xfrm>
                <a:off x="6186735" y="5539894"/>
                <a:ext cx="1584173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5962BF-3B3C-4094-A81B-AC20DF8A0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735" y="5539894"/>
                <a:ext cx="1584173" cy="6705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5" grpId="0" animBg="1"/>
      <p:bldP spid="6" grpId="0" animBg="1"/>
      <p:bldP spid="15" grpId="0" animBg="1"/>
      <p:bldP spid="12" grpId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 and Divide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34163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sz="2400" dirty="0"/>
          </a:p>
          <a:p>
            <a:r>
              <a:rPr lang="en-AU" sz="2400" dirty="0"/>
              <a:t>The Shading method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/>
              <p:nvPr/>
            </p:nvSpPr>
            <p:spPr>
              <a:xfrm>
                <a:off x="2463857" y="1395501"/>
                <a:ext cx="8784976" cy="1016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Consider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of a square multiplied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857" y="1395501"/>
                <a:ext cx="8784976" cy="1016689"/>
              </a:xfrm>
              <a:prstGeom prst="rect">
                <a:avLst/>
              </a:prstGeom>
              <a:blipFill>
                <a:blip r:embed="rId3"/>
                <a:stretch>
                  <a:fillRect l="-10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D218F6D0-3822-4EF9-9630-ABF3154E9C26}"/>
              </a:ext>
            </a:extLst>
          </p:cNvPr>
          <p:cNvSpPr/>
          <p:nvPr/>
        </p:nvSpPr>
        <p:spPr>
          <a:xfrm>
            <a:off x="3004204" y="2462012"/>
            <a:ext cx="432048" cy="1712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14E4CE-1DBD-454E-AFF3-38104EA78D89}"/>
                  </a:ext>
                </a:extLst>
              </p:cNvPr>
              <p:cNvSpPr txBox="1"/>
              <p:nvPr/>
            </p:nvSpPr>
            <p:spPr>
              <a:xfrm>
                <a:off x="5086300" y="3028455"/>
                <a:ext cx="2228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14E4CE-1DBD-454E-AFF3-38104EA78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300" y="3028455"/>
                <a:ext cx="222818" cy="276999"/>
              </a:xfrm>
              <a:prstGeom prst="rect">
                <a:avLst/>
              </a:prstGeom>
              <a:blipFill>
                <a:blip r:embed="rId4"/>
                <a:stretch>
                  <a:fillRect l="-16216" r="-16216" b="-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3BE8D0-913A-49BC-B2DD-70E1E6F8742E}"/>
                  </a:ext>
                </a:extLst>
              </p:cNvPr>
              <p:cNvSpPr txBox="1"/>
              <p:nvPr/>
            </p:nvSpPr>
            <p:spPr>
              <a:xfrm>
                <a:off x="7545761" y="3028455"/>
                <a:ext cx="2308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3BE8D0-913A-49BC-B2DD-70E1E6F87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761" y="3028455"/>
                <a:ext cx="230832" cy="276999"/>
              </a:xfrm>
              <a:prstGeom prst="rect">
                <a:avLst/>
              </a:prstGeom>
              <a:blipFill>
                <a:blip r:embed="rId5"/>
                <a:stretch>
                  <a:fillRect l="-10526" r="-78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631D4D79-2BF9-4D75-8BDE-074854E247E0}"/>
              </a:ext>
            </a:extLst>
          </p:cNvPr>
          <p:cNvGrpSpPr/>
          <p:nvPr/>
        </p:nvGrpSpPr>
        <p:grpSpPr>
          <a:xfrm>
            <a:off x="3004204" y="2455084"/>
            <a:ext cx="1872206" cy="1746940"/>
            <a:chOff x="3214092" y="2494930"/>
            <a:chExt cx="1872206" cy="174694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B504F5-FD90-457A-8826-C4108749979E}"/>
                </a:ext>
              </a:extLst>
            </p:cNvPr>
            <p:cNvSpPr/>
            <p:nvPr/>
          </p:nvSpPr>
          <p:spPr>
            <a:xfrm>
              <a:off x="3214092" y="2494930"/>
              <a:ext cx="1872206" cy="1726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067B756-8BE2-41D9-8AD1-42DCAA7CCD1F}"/>
                </a:ext>
              </a:extLst>
            </p:cNvPr>
            <p:cNvCxnSpPr/>
            <p:nvPr/>
          </p:nvCxnSpPr>
          <p:spPr>
            <a:xfrm>
              <a:off x="3646140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91952BC-4AF9-42D9-A8D1-3971D326DB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2924944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B4CFA9B-9810-4E02-B964-92490A9715BB}"/>
                </a:ext>
              </a:extLst>
            </p:cNvPr>
            <p:cNvCxnSpPr/>
            <p:nvPr/>
          </p:nvCxnSpPr>
          <p:spPr>
            <a:xfrm>
              <a:off x="4078188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FDFE741-9553-4EDC-A40B-CB9104A03B56}"/>
                </a:ext>
              </a:extLst>
            </p:cNvPr>
            <p:cNvCxnSpPr/>
            <p:nvPr/>
          </p:nvCxnSpPr>
          <p:spPr>
            <a:xfrm>
              <a:off x="4582244" y="2501857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780E47A-C411-45FC-BBE3-34DB9AB083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358009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CC4B17E-7DA0-4473-98F5-D148CBC983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789040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8558E7C-E5D1-4380-A256-9C468ADEB540}"/>
              </a:ext>
            </a:extLst>
          </p:cNvPr>
          <p:cNvGrpSpPr/>
          <p:nvPr/>
        </p:nvGrpSpPr>
        <p:grpSpPr>
          <a:xfrm>
            <a:off x="5426955" y="2436090"/>
            <a:ext cx="1879408" cy="876010"/>
            <a:chOff x="5426955" y="2436090"/>
            <a:chExt cx="1879408" cy="87601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FF69CD6-8595-4DC5-8F4B-0170CD153F6B}"/>
                </a:ext>
              </a:extLst>
            </p:cNvPr>
            <p:cNvSpPr/>
            <p:nvPr/>
          </p:nvSpPr>
          <p:spPr>
            <a:xfrm rot="5400000">
              <a:off x="6142017" y="1721028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E808559-F1B2-4052-9ED4-8BBD03C6FD71}"/>
                </a:ext>
              </a:extLst>
            </p:cNvPr>
            <p:cNvSpPr/>
            <p:nvPr/>
          </p:nvSpPr>
          <p:spPr>
            <a:xfrm rot="5400000">
              <a:off x="6149219" y="2154957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B5C0829-FE2B-425D-891A-C0622E925EDC}"/>
              </a:ext>
            </a:extLst>
          </p:cNvPr>
          <p:cNvGrpSpPr/>
          <p:nvPr/>
        </p:nvGrpSpPr>
        <p:grpSpPr>
          <a:xfrm>
            <a:off x="7902588" y="2422471"/>
            <a:ext cx="1879408" cy="876010"/>
            <a:chOff x="5426955" y="2436090"/>
            <a:chExt cx="1879408" cy="876010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E7B0691-C797-458E-933A-16619D490DE2}"/>
                </a:ext>
              </a:extLst>
            </p:cNvPr>
            <p:cNvSpPr/>
            <p:nvPr/>
          </p:nvSpPr>
          <p:spPr>
            <a:xfrm rot="5400000">
              <a:off x="6142017" y="1721028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250482B-A978-49CB-A40D-6874626BA532}"/>
                </a:ext>
              </a:extLst>
            </p:cNvPr>
            <p:cNvSpPr/>
            <p:nvPr/>
          </p:nvSpPr>
          <p:spPr>
            <a:xfrm rot="5400000">
              <a:off x="6149219" y="2154957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8C06EF2A-ACDC-477F-ADED-E83EE1BCED90}"/>
              </a:ext>
            </a:extLst>
          </p:cNvPr>
          <p:cNvSpPr/>
          <p:nvPr/>
        </p:nvSpPr>
        <p:spPr>
          <a:xfrm>
            <a:off x="7909789" y="2452769"/>
            <a:ext cx="432048" cy="1712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A03BE51-A548-4BDF-A87B-92E863C7AB38}"/>
              </a:ext>
            </a:extLst>
          </p:cNvPr>
          <p:cNvGrpSpPr/>
          <p:nvPr/>
        </p:nvGrpSpPr>
        <p:grpSpPr>
          <a:xfrm>
            <a:off x="5434157" y="2448157"/>
            <a:ext cx="1872206" cy="1746940"/>
            <a:chOff x="3214092" y="2494930"/>
            <a:chExt cx="1872206" cy="174694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A067E09-482B-4FB1-AFC4-66B996EA613C}"/>
                </a:ext>
              </a:extLst>
            </p:cNvPr>
            <p:cNvSpPr/>
            <p:nvPr/>
          </p:nvSpPr>
          <p:spPr>
            <a:xfrm>
              <a:off x="3214092" y="2494930"/>
              <a:ext cx="1872206" cy="1726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F705132-45DC-4B61-B176-9753C7822C0D}"/>
                </a:ext>
              </a:extLst>
            </p:cNvPr>
            <p:cNvCxnSpPr/>
            <p:nvPr/>
          </p:nvCxnSpPr>
          <p:spPr>
            <a:xfrm>
              <a:off x="3646140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A6B46BE-4D1E-4275-8B94-42F2ACEC53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2924944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EE770B6-4335-4156-A064-97067AED7F68}"/>
                </a:ext>
              </a:extLst>
            </p:cNvPr>
            <p:cNvCxnSpPr/>
            <p:nvPr/>
          </p:nvCxnSpPr>
          <p:spPr>
            <a:xfrm>
              <a:off x="4078188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BC6C3B8-F163-443E-A2C6-450CAFE45410}"/>
                </a:ext>
              </a:extLst>
            </p:cNvPr>
            <p:cNvCxnSpPr/>
            <p:nvPr/>
          </p:nvCxnSpPr>
          <p:spPr>
            <a:xfrm>
              <a:off x="4582244" y="2501857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AC327EB-1305-40EC-9481-879959D05A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358009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BC927AC-FAE2-4244-848D-76D9091912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789040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7F73DDC-308D-4A99-952E-008027C3311D}"/>
              </a:ext>
            </a:extLst>
          </p:cNvPr>
          <p:cNvGrpSpPr/>
          <p:nvPr/>
        </p:nvGrpSpPr>
        <p:grpSpPr>
          <a:xfrm>
            <a:off x="7894612" y="2431984"/>
            <a:ext cx="1872206" cy="1746940"/>
            <a:chOff x="3214092" y="2494930"/>
            <a:chExt cx="1872206" cy="174694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B894F8D-730D-4BB9-B3B4-75F0F9A1B0ED}"/>
                </a:ext>
              </a:extLst>
            </p:cNvPr>
            <p:cNvSpPr/>
            <p:nvPr/>
          </p:nvSpPr>
          <p:spPr>
            <a:xfrm>
              <a:off x="3214092" y="2494930"/>
              <a:ext cx="1872206" cy="1726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10B5BFD-0889-4299-803A-584DE3CBFAAE}"/>
                </a:ext>
              </a:extLst>
            </p:cNvPr>
            <p:cNvCxnSpPr/>
            <p:nvPr/>
          </p:nvCxnSpPr>
          <p:spPr>
            <a:xfrm>
              <a:off x="3646140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D4634A8-7C17-46E2-B9EE-88D16BE1D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2924944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4973B1E-D7B7-4D3D-BE85-76658D6C08DB}"/>
                </a:ext>
              </a:extLst>
            </p:cNvPr>
            <p:cNvCxnSpPr/>
            <p:nvPr/>
          </p:nvCxnSpPr>
          <p:spPr>
            <a:xfrm>
              <a:off x="4078188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4551207-CE62-4635-9D75-B31CFDCCBF07}"/>
                </a:ext>
              </a:extLst>
            </p:cNvPr>
            <p:cNvCxnSpPr/>
            <p:nvPr/>
          </p:nvCxnSpPr>
          <p:spPr>
            <a:xfrm>
              <a:off x="4582244" y="2501857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DC81D67-EFBF-48C7-8F68-3205462615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358009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B077655-007E-4E90-9DC0-5C3DC04363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789040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4D2787FB-6DB4-4546-B511-302AB5A4F907}"/>
              </a:ext>
            </a:extLst>
          </p:cNvPr>
          <p:cNvSpPr/>
          <p:nvPr/>
        </p:nvSpPr>
        <p:spPr>
          <a:xfrm>
            <a:off x="7894612" y="2436090"/>
            <a:ext cx="432037" cy="8589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B4EB16-DF03-42C5-B536-12379FDDE763}"/>
              </a:ext>
            </a:extLst>
          </p:cNvPr>
          <p:cNvSpPr txBox="1"/>
          <p:nvPr/>
        </p:nvSpPr>
        <p:spPr>
          <a:xfrm>
            <a:off x="2782044" y="4725144"/>
            <a:ext cx="7704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overlap area is the answer – what is the value?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DCB8F9C-17C8-4197-A6E6-96ECB8798DE2}"/>
                  </a:ext>
                </a:extLst>
              </p:cNvPr>
              <p:cNvSpPr txBox="1"/>
              <p:nvPr/>
            </p:nvSpPr>
            <p:spPr>
              <a:xfrm>
                <a:off x="4510236" y="5445224"/>
                <a:ext cx="158417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DCB8F9C-17C8-4197-A6E6-96ECB8798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236" y="5445224"/>
                <a:ext cx="1584175" cy="7861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DE78B16-82BC-4DE2-9AB2-146A8BF4369C}"/>
                  </a:ext>
                </a:extLst>
              </p14:cNvPr>
              <p14:cNvContentPartPr/>
              <p14:nvPr/>
            </p14:nvContentPartPr>
            <p14:xfrm>
              <a:off x="5101560" y="5374080"/>
              <a:ext cx="1983240" cy="864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DE78B16-82BC-4DE2-9AB2-146A8BF4369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92200" y="5364720"/>
                <a:ext cx="2001960" cy="88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294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62" grpId="0" animBg="1"/>
      <p:bldP spid="13" grpId="0"/>
      <p:bldP spid="25" grpId="0"/>
      <p:bldP spid="69" grpId="0" animBg="1"/>
      <p:bldP spid="70" grpId="0" animBg="1"/>
      <p:bldP spid="71" grpId="0"/>
      <p:bldP spid="7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235545" y="2826687"/>
            <a:ext cx="1745771" cy="2369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The rule method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887A1D-4093-4EFF-A6B2-A6A98153A613}"/>
              </a:ext>
            </a:extLst>
          </p:cNvPr>
          <p:cNvSpPr txBox="1"/>
          <p:nvPr/>
        </p:nvSpPr>
        <p:spPr>
          <a:xfrm>
            <a:off x="2463857" y="1395501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Are there any patterns between the fractions being multiplied and the answer fraction?</a:t>
            </a:r>
          </a:p>
          <a:p>
            <a:endParaRPr lang="en-AU" sz="24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46938F-10F6-47AE-89F8-376AD9A89EC1}"/>
              </a:ext>
            </a:extLst>
          </p:cNvPr>
          <p:cNvSpPr txBox="1"/>
          <p:nvPr/>
        </p:nvSpPr>
        <p:spPr>
          <a:xfrm>
            <a:off x="1998593" y="2317592"/>
            <a:ext cx="99234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Multiply the numerator together and multiply the denominators together</a:t>
            </a:r>
          </a:p>
          <a:p>
            <a:endParaRPr lang="en-AU" sz="2400" dirty="0"/>
          </a:p>
          <a:p>
            <a:r>
              <a:rPr lang="en-AU" sz="2400" dirty="0"/>
              <a:t>Then simplify if you can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/>
              <p:nvPr/>
            </p:nvSpPr>
            <p:spPr>
              <a:xfrm>
                <a:off x="4349014" y="4149080"/>
                <a:ext cx="3048912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5×3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014" y="4149080"/>
                <a:ext cx="3048912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A08C94F-4677-4037-B19F-36E874E22004}"/>
                  </a:ext>
                </a:extLst>
              </p:cNvPr>
              <p:cNvSpPr txBox="1"/>
              <p:nvPr/>
            </p:nvSpPr>
            <p:spPr>
              <a:xfrm>
                <a:off x="4349014" y="5317472"/>
                <a:ext cx="399224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4×5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A08C94F-4677-4037-B19F-36E874E22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014" y="5317472"/>
                <a:ext cx="3992247" cy="809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60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948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90556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DAEC8-F728-48BB-8A6D-1191340104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74382" y="116632"/>
            <a:ext cx="1661326" cy="236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4353150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4353150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264" r="-100441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264" r="-589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100529" r="-100441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100529" r="-589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1566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 and Divide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244183" y="2153902"/>
            <a:ext cx="1745771" cy="2369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Improper fractions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887A1D-4093-4EFF-A6B2-A6A98153A613}"/>
              </a:ext>
            </a:extLst>
          </p:cNvPr>
          <p:cNvSpPr txBox="1"/>
          <p:nvPr/>
        </p:nvSpPr>
        <p:spPr>
          <a:xfrm>
            <a:off x="2463857" y="1395501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What about whole numbers, improper fractions, and mixed fractions?</a:t>
            </a:r>
          </a:p>
          <a:p>
            <a:endParaRPr lang="en-AU" sz="24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46938F-10F6-47AE-89F8-376AD9A89EC1}"/>
              </a:ext>
            </a:extLst>
          </p:cNvPr>
          <p:cNvSpPr txBox="1"/>
          <p:nvPr/>
        </p:nvSpPr>
        <p:spPr>
          <a:xfrm>
            <a:off x="2147664" y="2466505"/>
            <a:ext cx="992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Same rule! Just more simplifying at the end!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/>
              <p:nvPr/>
            </p:nvSpPr>
            <p:spPr>
              <a:xfrm>
                <a:off x="4076774" y="3024274"/>
                <a:ext cx="3048912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9×1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774" y="3024274"/>
                <a:ext cx="3048912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/>
              <p:nvPr/>
            </p:nvSpPr>
            <p:spPr>
              <a:xfrm>
                <a:off x="8951538" y="2959552"/>
                <a:ext cx="1175322" cy="8757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  <a:r>
                  <a:rPr lang="en-AU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538" y="2959552"/>
                <a:ext cx="1175322" cy="875753"/>
              </a:xfrm>
              <a:prstGeom prst="rect">
                <a:avLst/>
              </a:prstGeom>
              <a:blipFill>
                <a:blip r:embed="rId4"/>
                <a:stretch>
                  <a:fillRect b="-131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C422CB1-1268-4159-AB99-F843EDFD9511}"/>
              </a:ext>
            </a:extLst>
          </p:cNvPr>
          <p:cNvGrpSpPr/>
          <p:nvPr/>
        </p:nvGrpSpPr>
        <p:grpSpPr>
          <a:xfrm>
            <a:off x="7293472" y="3001764"/>
            <a:ext cx="1512168" cy="469448"/>
            <a:chOff x="7246540" y="2959552"/>
            <a:chExt cx="1512168" cy="46944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68E8610-B41C-4F5C-A98E-A9AA534837F3}"/>
                </a:ext>
              </a:extLst>
            </p:cNvPr>
            <p:cNvCxnSpPr/>
            <p:nvPr/>
          </p:nvCxnSpPr>
          <p:spPr>
            <a:xfrm>
              <a:off x="7246540" y="3429000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3DE55A-575A-405D-95E0-F57993812186}"/>
                </a:ext>
              </a:extLst>
            </p:cNvPr>
            <p:cNvSpPr txBox="1"/>
            <p:nvPr/>
          </p:nvSpPr>
          <p:spPr>
            <a:xfrm>
              <a:off x="7246540" y="2959552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simplified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FA39135-5A56-4AEA-9BAA-18785CB3A39E}"/>
              </a:ext>
            </a:extLst>
          </p:cNvPr>
          <p:cNvSpPr txBox="1"/>
          <p:nvPr/>
        </p:nvSpPr>
        <p:spPr>
          <a:xfrm>
            <a:off x="390081" y="3825097"/>
            <a:ext cx="1745771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mixed fractions</a:t>
            </a:r>
            <a:endParaRPr lang="en-AU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23ED3-7FBF-4E8D-9F52-21A0344E945E}"/>
              </a:ext>
            </a:extLst>
          </p:cNvPr>
          <p:cNvSpPr txBox="1"/>
          <p:nvPr/>
        </p:nvSpPr>
        <p:spPr>
          <a:xfrm>
            <a:off x="2266450" y="4208404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Convert to improper fraction and follow the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/>
              <p:nvPr/>
            </p:nvSpPr>
            <p:spPr>
              <a:xfrm>
                <a:off x="3753003" y="4682255"/>
                <a:ext cx="116192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003" y="4682255"/>
                <a:ext cx="1161921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/>
              <p:nvPr/>
            </p:nvSpPr>
            <p:spPr>
              <a:xfrm>
                <a:off x="7460787" y="4671034"/>
                <a:ext cx="4728038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787" y="4671034"/>
                <a:ext cx="4728038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90450A5-2BB7-48AF-BCB3-9A708503D249}"/>
              </a:ext>
            </a:extLst>
          </p:cNvPr>
          <p:cNvGrpSpPr/>
          <p:nvPr/>
        </p:nvGrpSpPr>
        <p:grpSpPr>
          <a:xfrm>
            <a:off x="5124239" y="4671034"/>
            <a:ext cx="1762261" cy="451029"/>
            <a:chOff x="5124239" y="4671034"/>
            <a:chExt cx="1762261" cy="451029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A085AF1-6238-4C2F-AC56-7E68594D7D83}"/>
                </a:ext>
              </a:extLst>
            </p:cNvPr>
            <p:cNvCxnSpPr/>
            <p:nvPr/>
          </p:nvCxnSpPr>
          <p:spPr>
            <a:xfrm>
              <a:off x="5124239" y="5122063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8F5AFA1-27FA-4659-88B3-FB8C6E6FC4CD}"/>
                </a:ext>
              </a:extLst>
            </p:cNvPr>
            <p:cNvSpPr txBox="1"/>
            <p:nvPr/>
          </p:nvSpPr>
          <p:spPr>
            <a:xfrm>
              <a:off x="5374332" y="4671034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convert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/>
              <p:nvPr/>
            </p:nvSpPr>
            <p:spPr>
              <a:xfrm>
                <a:off x="6894246" y="4712885"/>
                <a:ext cx="90332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246" y="4712885"/>
                <a:ext cx="903324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753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5" grpId="0"/>
      <p:bldP spid="6" grpId="0"/>
      <p:bldP spid="7" grpId="0"/>
      <p:bldP spid="17" grpId="0" animBg="1"/>
      <p:bldP spid="14" grpId="0"/>
      <p:bldP spid="19" grpId="0"/>
      <p:bldP spid="15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 and Divide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348864" y="1168676"/>
            <a:ext cx="1745771" cy="2369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Improper fractions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46938F-10F6-47AE-89F8-376AD9A89EC1}"/>
              </a:ext>
            </a:extLst>
          </p:cNvPr>
          <p:cNvSpPr txBox="1"/>
          <p:nvPr/>
        </p:nvSpPr>
        <p:spPr>
          <a:xfrm>
            <a:off x="2101471" y="1201126"/>
            <a:ext cx="992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Same rule! Just more simplifying at the end!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/>
              <p:nvPr/>
            </p:nvSpPr>
            <p:spPr>
              <a:xfrm>
                <a:off x="2809507" y="1740837"/>
                <a:ext cx="3048912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9×1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507" y="1740837"/>
                <a:ext cx="3048912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/>
              <p:nvPr/>
            </p:nvSpPr>
            <p:spPr>
              <a:xfrm>
                <a:off x="8203996" y="1822505"/>
                <a:ext cx="1175322" cy="8757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  <a:r>
                  <a:rPr lang="en-AU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996" y="1822505"/>
                <a:ext cx="1175322" cy="875753"/>
              </a:xfrm>
              <a:prstGeom prst="rect">
                <a:avLst/>
              </a:prstGeom>
              <a:blipFill>
                <a:blip r:embed="rId4"/>
                <a:stretch>
                  <a:fillRect b="-131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C422CB1-1268-4159-AB99-F843EDFD9511}"/>
              </a:ext>
            </a:extLst>
          </p:cNvPr>
          <p:cNvGrpSpPr/>
          <p:nvPr/>
        </p:nvGrpSpPr>
        <p:grpSpPr>
          <a:xfrm>
            <a:off x="6130416" y="1830156"/>
            <a:ext cx="1512168" cy="469448"/>
            <a:chOff x="7246540" y="2959552"/>
            <a:chExt cx="1512168" cy="46944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68E8610-B41C-4F5C-A98E-A9AA534837F3}"/>
                </a:ext>
              </a:extLst>
            </p:cNvPr>
            <p:cNvCxnSpPr/>
            <p:nvPr/>
          </p:nvCxnSpPr>
          <p:spPr>
            <a:xfrm>
              <a:off x="7246540" y="3429000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3DE55A-575A-405D-95E0-F57993812186}"/>
                </a:ext>
              </a:extLst>
            </p:cNvPr>
            <p:cNvSpPr txBox="1"/>
            <p:nvPr/>
          </p:nvSpPr>
          <p:spPr>
            <a:xfrm>
              <a:off x="7246540" y="2959552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simplified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FA39135-5A56-4AEA-9BAA-18785CB3A39E}"/>
              </a:ext>
            </a:extLst>
          </p:cNvPr>
          <p:cNvSpPr txBox="1"/>
          <p:nvPr/>
        </p:nvSpPr>
        <p:spPr>
          <a:xfrm>
            <a:off x="248003" y="2555617"/>
            <a:ext cx="1381913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Mixed fractions</a:t>
            </a:r>
            <a:endParaRPr lang="en-AU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23ED3-7FBF-4E8D-9F52-21A0344E945E}"/>
              </a:ext>
            </a:extLst>
          </p:cNvPr>
          <p:cNvSpPr txBox="1"/>
          <p:nvPr/>
        </p:nvSpPr>
        <p:spPr>
          <a:xfrm>
            <a:off x="2195496" y="2883429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Convert to improper fraction and follow the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/>
              <p:nvPr/>
            </p:nvSpPr>
            <p:spPr>
              <a:xfrm>
                <a:off x="2573804" y="3467074"/>
                <a:ext cx="116192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804" y="3467074"/>
                <a:ext cx="1161921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/>
              <p:nvPr/>
            </p:nvSpPr>
            <p:spPr>
              <a:xfrm>
                <a:off x="6255674" y="3404112"/>
                <a:ext cx="4728038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674" y="3404112"/>
                <a:ext cx="4728038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90450A5-2BB7-48AF-BCB3-9A708503D249}"/>
              </a:ext>
            </a:extLst>
          </p:cNvPr>
          <p:cNvGrpSpPr/>
          <p:nvPr/>
        </p:nvGrpSpPr>
        <p:grpSpPr>
          <a:xfrm>
            <a:off x="4045660" y="3485673"/>
            <a:ext cx="1762261" cy="451029"/>
            <a:chOff x="5124239" y="4671034"/>
            <a:chExt cx="1762261" cy="451029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A085AF1-6238-4C2F-AC56-7E68594D7D83}"/>
                </a:ext>
              </a:extLst>
            </p:cNvPr>
            <p:cNvCxnSpPr/>
            <p:nvPr/>
          </p:nvCxnSpPr>
          <p:spPr>
            <a:xfrm>
              <a:off x="5124239" y="5122063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8F5AFA1-27FA-4659-88B3-FB8C6E6FC4CD}"/>
                </a:ext>
              </a:extLst>
            </p:cNvPr>
            <p:cNvSpPr txBox="1"/>
            <p:nvPr/>
          </p:nvSpPr>
          <p:spPr>
            <a:xfrm>
              <a:off x="5374332" y="4671034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convert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/>
              <p:nvPr/>
            </p:nvSpPr>
            <p:spPr>
              <a:xfrm>
                <a:off x="5798784" y="3481681"/>
                <a:ext cx="90332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784" y="3481681"/>
                <a:ext cx="903324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11A508A-9AFA-40BC-B045-AEBC967E7D99}"/>
              </a:ext>
            </a:extLst>
          </p:cNvPr>
          <p:cNvSpPr txBox="1"/>
          <p:nvPr/>
        </p:nvSpPr>
        <p:spPr>
          <a:xfrm>
            <a:off x="234110" y="4232121"/>
            <a:ext cx="1381913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Whole numbers</a:t>
            </a:r>
            <a:endParaRPr lang="en-AU" dirty="0"/>
          </a:p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FC1F16-B469-460B-A787-BA89A52560DB}"/>
              </a:ext>
            </a:extLst>
          </p:cNvPr>
          <p:cNvSpPr txBox="1"/>
          <p:nvPr/>
        </p:nvSpPr>
        <p:spPr>
          <a:xfrm>
            <a:off x="2349996" y="4509120"/>
            <a:ext cx="8633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Whole numbers can be written with a denominator of 1. (this is because anything divided by 1 is itself)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4744D5-828A-4459-8484-651D1C34E378}"/>
                  </a:ext>
                </a:extLst>
              </p:cNvPr>
              <p:cNvSpPr txBox="1"/>
              <p:nvPr/>
            </p:nvSpPr>
            <p:spPr>
              <a:xfrm>
                <a:off x="2676152" y="5343993"/>
                <a:ext cx="903324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4744D5-828A-4459-8484-651D1C34E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152" y="5343993"/>
                <a:ext cx="903324" cy="8066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1487283F-8CB2-498B-8CEF-9DF832D9B0E6}"/>
              </a:ext>
            </a:extLst>
          </p:cNvPr>
          <p:cNvGrpSpPr/>
          <p:nvPr/>
        </p:nvGrpSpPr>
        <p:grpSpPr>
          <a:xfrm>
            <a:off x="3920613" y="5436356"/>
            <a:ext cx="1762261" cy="451029"/>
            <a:chOff x="5124239" y="4671034"/>
            <a:chExt cx="1762261" cy="451029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E7D6EA2-5CFA-4DC8-B2C5-1C6C62278A89}"/>
                </a:ext>
              </a:extLst>
            </p:cNvPr>
            <p:cNvCxnSpPr/>
            <p:nvPr/>
          </p:nvCxnSpPr>
          <p:spPr>
            <a:xfrm>
              <a:off x="5124239" y="5122063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23D2501-C857-4A19-91A1-F9AC36A554DD}"/>
                </a:ext>
              </a:extLst>
            </p:cNvPr>
            <p:cNvSpPr txBox="1"/>
            <p:nvPr/>
          </p:nvSpPr>
          <p:spPr>
            <a:xfrm>
              <a:off x="5374332" y="4671034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convert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409744-D0C5-4F5A-9F9F-1F14BDDE323F}"/>
                  </a:ext>
                </a:extLst>
              </p:cNvPr>
              <p:cNvSpPr txBox="1"/>
              <p:nvPr/>
            </p:nvSpPr>
            <p:spPr>
              <a:xfrm>
                <a:off x="5594124" y="5357162"/>
                <a:ext cx="903324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409744-D0C5-4F5A-9F9F-1F14BDDE3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124" y="5357162"/>
                <a:ext cx="903324" cy="806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EC82B3B-4C58-414A-B7D4-22C80A561D2C}"/>
                  </a:ext>
                </a:extLst>
              </p:cNvPr>
              <p:cNvSpPr/>
              <p:nvPr/>
            </p:nvSpPr>
            <p:spPr>
              <a:xfrm>
                <a:off x="6163318" y="5354795"/>
                <a:ext cx="4728038" cy="89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EC82B3B-4C58-414A-B7D4-22C80A561D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318" y="5354795"/>
                <a:ext cx="4728038" cy="8989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05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17" grpId="0" animBg="1"/>
      <p:bldP spid="14" grpId="0"/>
      <p:bldP spid="19" grpId="0"/>
      <p:bldP spid="15" grpId="0"/>
      <p:bldP spid="24" grpId="0"/>
      <p:bldP spid="25" grpId="0" animBg="1"/>
      <p:bldP spid="10" grpId="0"/>
      <p:bldP spid="26" grpId="0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948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90556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DAEC8-F728-48BB-8A6D-1191340104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74382" y="116632"/>
            <a:ext cx="1661326" cy="236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569914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569914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264" r="-100441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264" r="-589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100529" r="-100441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100529" r="-589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8022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529A8E-3990-4D9B-B02C-4639E4037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61964" y="1412776"/>
            <a:ext cx="6876254" cy="3352800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hlinkClick r:id="rId2"/>
              </a:rPr>
              <a:t>https://youtu.be/4ghdMifXuFE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84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797" y="239688"/>
            <a:ext cx="4645152" cy="762000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F3E1-D301-4296-9EE4-088E1ACB1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788" y="1643844"/>
            <a:ext cx="11639028" cy="357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To multiply fractions we need to first _______________________, then we need to ________________________. The final step would be to ______________________.</a:t>
            </a:r>
          </a:p>
        </p:txBody>
      </p:sp>
    </p:spTree>
    <p:extLst>
      <p:ext uri="{BB962C8B-B14F-4D97-AF65-F5344CB8AC3E}">
        <p14:creationId xmlns:p14="http://schemas.microsoft.com/office/powerpoint/2010/main" val="28638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0" ma:contentTypeDescription="Create a new document." ma:contentTypeScope="" ma:versionID="73d7ff28815366d7d4e36dfe6af656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413257cd9829394d17656a545d5fa4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8A5205-42AD-445C-B11E-990D454935A2}"/>
</file>

<file path=customXml/itemProps2.xml><?xml version="1.0" encoding="utf-8"?>
<ds:datastoreItem xmlns:ds="http://schemas.openxmlformats.org/officeDocument/2006/customXml" ds:itemID="{0B1867AB-AB14-49DA-8593-0ED52891F579}"/>
</file>

<file path=customXml/itemProps3.xml><?xml version="1.0" encoding="utf-8"?>
<ds:datastoreItem xmlns:ds="http://schemas.openxmlformats.org/officeDocument/2006/customXml" ds:itemID="{70E6E210-CAB8-411F-8603-51E41666BF30}"/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7558</TotalTime>
  <Words>535</Words>
  <Application>Microsoft Office PowerPoint</Application>
  <PresentationFormat>Custom</PresentationFormat>
  <Paragraphs>116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Cambria Math</vt:lpstr>
      <vt:lpstr>Palatino Linotype</vt:lpstr>
      <vt:lpstr>Watercolor_16x9</vt:lpstr>
      <vt:lpstr>Topic: Multiply and Divide</vt:lpstr>
      <vt:lpstr>Warm Up Questions:</vt:lpstr>
      <vt:lpstr>Topic: Multiply and Divide</vt:lpstr>
      <vt:lpstr>Topic: Multiply and Divide</vt:lpstr>
      <vt:lpstr>Topic: Multiplying Fractions</vt:lpstr>
      <vt:lpstr>Practice Time! </vt:lpstr>
      <vt:lpstr>Topic: Multiply and Divide</vt:lpstr>
      <vt:lpstr>Topic: Multiply and Divide</vt:lpstr>
      <vt:lpstr>Practice Time!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JAMES Sarah [Baldivis Secondary College]</cp:lastModifiedBy>
  <cp:revision>47</cp:revision>
  <dcterms:created xsi:type="dcterms:W3CDTF">2018-07-29T09:37:46Z</dcterms:created>
  <dcterms:modified xsi:type="dcterms:W3CDTF">2021-11-09T14:13:17Z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
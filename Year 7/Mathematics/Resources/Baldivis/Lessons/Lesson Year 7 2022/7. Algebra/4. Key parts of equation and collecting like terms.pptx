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310" r:id="rId3"/>
    <p:sldId id="311" r:id="rId4"/>
    <p:sldId id="307" r:id="rId5"/>
    <p:sldId id="312" r:id="rId6"/>
    <p:sldId id="262" r:id="rId7"/>
    <p:sldId id="313" r:id="rId8"/>
    <p:sldId id="31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3" autoAdjust="0"/>
    <p:restoredTop sz="94660"/>
  </p:normalViewPr>
  <p:slideViewPr>
    <p:cSldViewPr snapToGrid="0">
      <p:cViewPr varScale="1">
        <p:scale>
          <a:sx n="93" d="100"/>
          <a:sy n="93" d="100"/>
        </p:scale>
        <p:origin x="111" y="2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7078B1-51A8-423E-BD4C-C6FBA42333E6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AC7957-2953-42B4-9121-C06B527F2D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5268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615da441d6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615da441d6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028237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615da441d6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615da441d6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883395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62418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250853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615da441d6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615da441d6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615da441d6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615da441d6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566513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615da441d6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615da441d6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/>
              <a:t>Little bit</a:t>
            </a:r>
            <a:r>
              <a:rPr lang="en-AU" baseline="0" dirty="0"/>
              <a:t> of substitution here – will be doing this next lesson though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6195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86CDF-2DB4-457A-9413-5EFA2C73B7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31CD0B-4DD9-413F-AFE4-C0C76F77D2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2C773-24AD-4F60-8CA8-7E7824944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AA640-CDC1-4678-9EE1-710C5673F7CE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61ABE-6E0E-4D15-BC8A-CD5B7DCFE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6CB51-B500-4312-BE68-66E65B3DD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B7A4-C844-4FAA-95D1-CFBE3BA273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5057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2C254-200F-4A31-A2BB-7BB39C32B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99D21-A2A8-4441-8CC4-63F94AA67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63699-35D2-4F9A-BA2B-56B5B6038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AA640-CDC1-4678-9EE1-710C5673F7CE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CDB9E-261A-4F8E-A7D6-04D99F0AD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57F7B-BC65-42BC-B6C2-447796C0D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B7A4-C844-4FAA-95D1-CFBE3BA273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400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47E96-FF5E-4DC5-A693-04E511FF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5AF7DE-0DD2-4179-BEAA-3248D199E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73010-8E45-4B96-AEE4-A841E40A3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AA640-CDC1-4678-9EE1-710C5673F7CE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797FA-054E-425A-993C-403B4E2D3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6C420-A5A9-4A32-8936-7598DF107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B7A4-C844-4FAA-95D1-CFBE3BA273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6444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164FB-AA9A-4167-A9AF-A4E3CBC20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B6789-27E0-4D44-B1E6-2B43B5090D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78AB7B-EC98-4158-AD7D-9E9582F46F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97F7CF-F8BF-4019-83F8-D6BC36FF1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AA640-CDC1-4678-9EE1-710C5673F7CE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845CEF-649D-4DBE-BBE0-251F5A5DF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65D40D-7477-4062-9AEB-D43366EFD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B7A4-C844-4FAA-95D1-CFBE3BA273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6502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6D648-C8A4-48C0-8580-D64D92609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C761D7-D24D-478C-A3E3-6FB446F770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B55DD6-69BD-49A7-A9AD-9981E038BE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056EAF-8044-4FC9-A66C-A6DB15BE60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CD5862-23E5-483F-9436-B5E61929B6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57FE2C-CA60-4C19-951C-FD6A67993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AA640-CDC1-4678-9EE1-710C5673F7CE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CD2CA0-3F03-40A4-A562-DBCD91D8B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E6FF19-7086-4CB6-9106-434E34D8F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B7A4-C844-4FAA-95D1-CFBE3BA273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2721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5138D-6061-4178-BCD7-23E2BDD98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A0AE56-97DF-4F35-BEDB-1E405CF95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AA640-CDC1-4678-9EE1-710C5673F7CE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F0190-D4CD-434A-B57A-718B0ACED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F68A1A-50B0-40C9-9BF6-09E185B62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B7A4-C844-4FAA-95D1-CFBE3BA273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1377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91CEFC-FBBA-4E6E-B129-6980D33DE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AA640-CDC1-4678-9EE1-710C5673F7CE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89B74B-41A6-4B68-90CC-8260BC443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19D6D-8E67-4FB2-AADE-44D8BFF57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B7A4-C844-4FAA-95D1-CFBE3BA273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731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CD531-8572-44B7-B749-71BE7C397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BB2D5-5E21-438A-B7A7-7850A474F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8E70FD-8133-4B95-B848-A06E2CC218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BE27E8-E855-4A25-9B76-DE8F28F40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AA640-CDC1-4678-9EE1-710C5673F7CE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9BFF4-CEF0-48E8-9A1F-5CE79A4D6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0B401-F17F-481D-BE09-850486E04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B7A4-C844-4FAA-95D1-CFBE3BA273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0640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BAC32-6F2D-4668-8756-450826358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3D4772-6A69-4E35-AE1B-3B3646EFEF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3DD0F6-4F2A-44A5-B1DE-4474A861A8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AF4831-28B9-480B-8BF5-4E2AEC841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AA640-CDC1-4678-9EE1-710C5673F7CE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C19099-F722-46D8-8A22-3FAC83EDE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594366-5205-4437-93D4-C7D6BF857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B7A4-C844-4FAA-95D1-CFBE3BA273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107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25E29-5287-4569-9809-75F874855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FB8A54-86B3-4237-98E6-078C37887B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47D82-01CD-4665-9FE9-9A1C85434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AA640-CDC1-4678-9EE1-710C5673F7CE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2C9C6-27C5-446E-964C-4501FA576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C0FF18-4361-4DD2-AD62-BAEA63E09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B7A4-C844-4FAA-95D1-CFBE3BA273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6734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2ED69A-A6E0-40F2-A747-0CE7E1E2CC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D905E6-39B8-4D89-B762-F5E8C2C301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D8837-4727-4052-B7D1-D9B512D44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AA640-CDC1-4678-9EE1-710C5673F7CE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14D71-AC9C-40E3-ABBC-358991BDC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F6412-DDB8-415B-840D-86D73B3E0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B7A4-C844-4FAA-95D1-CFBE3BA273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45313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>
  <p:cSld name="TITLE + BULLET POINT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8269067" y="5136367"/>
            <a:ext cx="874400" cy="8744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9" name="Google Shape;79;p8"/>
          <p:cNvSpPr/>
          <p:nvPr/>
        </p:nvSpPr>
        <p:spPr>
          <a:xfrm>
            <a:off x="373733" y="746733"/>
            <a:ext cx="2378800" cy="2378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0" name="Google Shape;80;p8"/>
          <p:cNvSpPr/>
          <p:nvPr/>
        </p:nvSpPr>
        <p:spPr>
          <a:xfrm>
            <a:off x="9791467" y="4718333"/>
            <a:ext cx="524800" cy="52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1" name="Google Shape;81;p8"/>
          <p:cNvSpPr txBox="1">
            <a:spLocks noGrp="1"/>
          </p:cNvSpPr>
          <p:nvPr>
            <p:ph type="title"/>
          </p:nvPr>
        </p:nvSpPr>
        <p:spPr>
          <a:xfrm>
            <a:off x="1089967" y="931433"/>
            <a:ext cx="5918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8"/>
          <p:cNvSpPr txBox="1">
            <a:spLocks noGrp="1"/>
          </p:cNvSpPr>
          <p:nvPr>
            <p:ph type="body" idx="1"/>
          </p:nvPr>
        </p:nvSpPr>
        <p:spPr>
          <a:xfrm>
            <a:off x="1089967" y="2531981"/>
            <a:ext cx="5918000" cy="29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9792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467">
                <a:solidFill>
                  <a:schemeClr val="lt1"/>
                </a:solidFill>
              </a:defRPr>
            </a:lvl1pPr>
            <a:lvl2pPr marL="1219170" lvl="1" indent="-397923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467">
                <a:solidFill>
                  <a:schemeClr val="lt1"/>
                </a:solidFill>
              </a:defRPr>
            </a:lvl2pPr>
            <a:lvl3pPr marL="1828754" lvl="2" indent="-397923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467">
                <a:solidFill>
                  <a:schemeClr val="lt1"/>
                </a:solidFill>
              </a:defRPr>
            </a:lvl3pPr>
            <a:lvl4pPr marL="2438339" lvl="3" indent="-397923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467">
                <a:solidFill>
                  <a:schemeClr val="lt1"/>
                </a:solidFill>
              </a:defRPr>
            </a:lvl4pPr>
            <a:lvl5pPr marL="3047924" lvl="4" indent="-397923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467">
                <a:solidFill>
                  <a:schemeClr val="lt1"/>
                </a:solidFill>
              </a:defRPr>
            </a:lvl5pPr>
            <a:lvl6pPr marL="3657509" lvl="5" indent="-397923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467">
                <a:solidFill>
                  <a:schemeClr val="lt1"/>
                </a:solidFill>
              </a:defRPr>
            </a:lvl6pPr>
            <a:lvl7pPr marL="4267093" lvl="6" indent="-397923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467">
                <a:solidFill>
                  <a:schemeClr val="lt1"/>
                </a:solidFill>
              </a:defRPr>
            </a:lvl7pPr>
            <a:lvl8pPr marL="4876678" lvl="7" indent="-397923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467">
                <a:solidFill>
                  <a:schemeClr val="lt1"/>
                </a:solidFill>
              </a:defRPr>
            </a:lvl8pPr>
            <a:lvl9pPr marL="5486263" lvl="8" indent="-397923" rtl="0">
              <a:spcBef>
                <a:spcPts val="2133"/>
              </a:spcBef>
              <a:spcAft>
                <a:spcPts val="2133"/>
              </a:spcAft>
              <a:buClr>
                <a:schemeClr val="lt1"/>
              </a:buClr>
              <a:buSzPts val="1100"/>
              <a:buChar char="■"/>
              <a:defRPr sz="14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8"/>
          <p:cNvSpPr txBox="1">
            <a:spLocks noGrp="1"/>
          </p:cNvSpPr>
          <p:nvPr>
            <p:ph type="sldNum" idx="12"/>
          </p:nvPr>
        </p:nvSpPr>
        <p:spPr>
          <a:xfrm>
            <a:off x="5730212" y="62316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733">
                <a:latin typeface="Abel"/>
                <a:ea typeface="Abel"/>
                <a:cs typeface="Abel"/>
                <a:sym typeface="Abel"/>
              </a:defRPr>
            </a:lvl1pPr>
            <a:lvl2pPr lvl="1" algn="ctr" rtl="0">
              <a:buNone/>
              <a:defRPr sz="1733">
                <a:latin typeface="Abel"/>
                <a:ea typeface="Abel"/>
                <a:cs typeface="Abel"/>
                <a:sym typeface="Abel"/>
              </a:defRPr>
            </a:lvl2pPr>
            <a:lvl3pPr lvl="2" algn="ctr" rtl="0">
              <a:buNone/>
              <a:defRPr sz="1733">
                <a:latin typeface="Abel"/>
                <a:ea typeface="Abel"/>
                <a:cs typeface="Abel"/>
                <a:sym typeface="Abel"/>
              </a:defRPr>
            </a:lvl3pPr>
            <a:lvl4pPr lvl="3" algn="ctr" rtl="0">
              <a:buNone/>
              <a:defRPr sz="1733">
                <a:latin typeface="Abel"/>
                <a:ea typeface="Abel"/>
                <a:cs typeface="Abel"/>
                <a:sym typeface="Abel"/>
              </a:defRPr>
            </a:lvl4pPr>
            <a:lvl5pPr lvl="4" algn="ctr" rtl="0">
              <a:buNone/>
              <a:defRPr sz="1733">
                <a:latin typeface="Abel"/>
                <a:ea typeface="Abel"/>
                <a:cs typeface="Abel"/>
                <a:sym typeface="Abel"/>
              </a:defRPr>
            </a:lvl5pPr>
            <a:lvl6pPr lvl="5" algn="ctr" rtl="0">
              <a:buNone/>
              <a:defRPr sz="1733">
                <a:latin typeface="Abel"/>
                <a:ea typeface="Abel"/>
                <a:cs typeface="Abel"/>
                <a:sym typeface="Abel"/>
              </a:defRPr>
            </a:lvl6pPr>
            <a:lvl7pPr lvl="6" algn="ctr" rtl="0">
              <a:buNone/>
              <a:defRPr sz="1733">
                <a:latin typeface="Abel"/>
                <a:ea typeface="Abel"/>
                <a:cs typeface="Abel"/>
                <a:sym typeface="Abel"/>
              </a:defRPr>
            </a:lvl7pPr>
            <a:lvl8pPr lvl="7" algn="ctr" rtl="0">
              <a:buNone/>
              <a:defRPr sz="1733">
                <a:latin typeface="Abel"/>
                <a:ea typeface="Abel"/>
                <a:cs typeface="Abel"/>
                <a:sym typeface="Abel"/>
              </a:defRPr>
            </a:lvl8pPr>
            <a:lvl9pPr lvl="8" algn="ctr" rtl="0">
              <a:buNone/>
              <a:defRPr sz="1733">
                <a:latin typeface="Abel"/>
                <a:ea typeface="Abel"/>
                <a:cs typeface="Abel"/>
                <a:sym typeface="Abe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cxnSp>
        <p:nvCxnSpPr>
          <p:cNvPr id="84" name="Google Shape;84;p8"/>
          <p:cNvCxnSpPr/>
          <p:nvPr/>
        </p:nvCxnSpPr>
        <p:spPr>
          <a:xfrm>
            <a:off x="4739011" y="6491201"/>
            <a:ext cx="991200" cy="56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" name="Google Shape;85;p8"/>
          <p:cNvCxnSpPr/>
          <p:nvPr/>
        </p:nvCxnSpPr>
        <p:spPr>
          <a:xfrm>
            <a:off x="6461811" y="6491201"/>
            <a:ext cx="991200" cy="56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1483598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ctrTitle"/>
          </p:nvPr>
        </p:nvSpPr>
        <p:spPr>
          <a:xfrm>
            <a:off x="3221800" y="3969140"/>
            <a:ext cx="5748400" cy="4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None/>
              <a:defRPr sz="1467" b="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69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1"/>
          </p:nvPr>
        </p:nvSpPr>
        <p:spPr>
          <a:xfrm>
            <a:off x="3061800" y="2466867"/>
            <a:ext cx="6068400" cy="42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3733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3733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3733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3733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3733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3733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3733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37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5730212" y="6225668"/>
            <a:ext cx="731600" cy="52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algn="ctr"/>
            <a:fld id="{00000000-1234-1234-1234-123412341234}" type="slidenum">
              <a:rPr lang="en" smtClean="0"/>
              <a:pPr algn="ctr"/>
              <a:t>‹#›</a:t>
            </a:fld>
            <a:endParaRPr lang="en"/>
          </a:p>
        </p:txBody>
      </p:sp>
      <p:cxnSp>
        <p:nvCxnSpPr>
          <p:cNvPr id="40" name="Google Shape;40;p5"/>
          <p:cNvCxnSpPr/>
          <p:nvPr/>
        </p:nvCxnSpPr>
        <p:spPr>
          <a:xfrm>
            <a:off x="4739011" y="6491201"/>
            <a:ext cx="991200" cy="56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" name="Google Shape;41;p5"/>
          <p:cNvCxnSpPr/>
          <p:nvPr/>
        </p:nvCxnSpPr>
        <p:spPr>
          <a:xfrm>
            <a:off x="6461811" y="6491201"/>
            <a:ext cx="991200" cy="56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Google Shape;42;p5"/>
          <p:cNvSpPr/>
          <p:nvPr/>
        </p:nvSpPr>
        <p:spPr>
          <a:xfrm>
            <a:off x="828933" y="1034000"/>
            <a:ext cx="874400" cy="8744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" name="Google Shape;43;p5"/>
          <p:cNvSpPr/>
          <p:nvPr/>
        </p:nvSpPr>
        <p:spPr>
          <a:xfrm>
            <a:off x="3283933" y="4743167"/>
            <a:ext cx="874400" cy="8744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" name="Google Shape;44;p5"/>
          <p:cNvSpPr/>
          <p:nvPr/>
        </p:nvSpPr>
        <p:spPr>
          <a:xfrm>
            <a:off x="7547067" y="260100"/>
            <a:ext cx="524800" cy="52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390650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AE52FD-F10E-401D-9A40-02AC46895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019F1B-52F4-4725-8E8E-73B55C9C6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43763-3C0F-457E-8C7B-EA7F928E55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AA640-CDC1-4678-9EE1-710C5673F7CE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82583-0712-413B-80B2-5C1BB948A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AFA64-E1DF-4810-A22C-C1C8F1DAE8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ADB7A4-C844-4FAA-95D1-CFBE3BA273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2924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7"/>
          <p:cNvSpPr txBox="1">
            <a:spLocks noGrp="1"/>
          </p:cNvSpPr>
          <p:nvPr>
            <p:ph type="ctrTitle"/>
          </p:nvPr>
        </p:nvSpPr>
        <p:spPr>
          <a:xfrm>
            <a:off x="1851891" y="465972"/>
            <a:ext cx="7887855" cy="1301184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dirty="0"/>
              <a:t>Topic: </a:t>
            </a:r>
            <a:r>
              <a:rPr lang="en-AU" dirty="0"/>
              <a:t>Algebra</a:t>
            </a:r>
            <a:br>
              <a:rPr lang="en" dirty="0"/>
            </a:br>
            <a:r>
              <a:rPr lang="en" sz="2667" dirty="0"/>
              <a:t>EQ: How can I build a formula from a table?</a:t>
            </a:r>
            <a:endParaRPr sz="2667" dirty="0"/>
          </a:p>
        </p:txBody>
      </p:sp>
      <p:sp>
        <p:nvSpPr>
          <p:cNvPr id="353" name="Google Shape;353;p37"/>
          <p:cNvSpPr txBox="1">
            <a:spLocks noGrp="1"/>
          </p:cNvSpPr>
          <p:nvPr>
            <p:ph type="subTitle" idx="1"/>
          </p:nvPr>
        </p:nvSpPr>
        <p:spPr>
          <a:xfrm>
            <a:off x="-1821419" y="6334915"/>
            <a:ext cx="5748400" cy="422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AU" dirty="0">
                <a:solidFill>
                  <a:srgbClr val="FFFFFF"/>
                </a:solidFill>
              </a:rPr>
              <a:t>Mrs. McLeod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61410" t="21741" r="22821" b="29814"/>
          <a:stretch/>
        </p:blipFill>
        <p:spPr>
          <a:xfrm>
            <a:off x="10196946" y="3596640"/>
            <a:ext cx="1781477" cy="3078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3"/>
          <p:cNvSpPr txBox="1">
            <a:spLocks noGrp="1"/>
          </p:cNvSpPr>
          <p:nvPr>
            <p:ph type="sldNum" idx="12"/>
          </p:nvPr>
        </p:nvSpPr>
        <p:spPr>
          <a:xfrm>
            <a:off x="5730212" y="6231601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2</a:t>
            </a:fld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C63FC52-4AA4-4D61-88C8-BA9698E9C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71" y="0"/>
            <a:ext cx="7640507" cy="681375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93FDD1E-3364-4D68-98D6-A778B3672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1763" y="1309835"/>
            <a:ext cx="5840237" cy="3224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268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3"/>
          <p:cNvSpPr txBox="1">
            <a:spLocks noGrp="1"/>
          </p:cNvSpPr>
          <p:nvPr>
            <p:ph type="sldNum" idx="12"/>
          </p:nvPr>
        </p:nvSpPr>
        <p:spPr>
          <a:xfrm>
            <a:off x="5730212" y="6231601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3</a:t>
            </a:fld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47025" y="2531981"/>
            <a:ext cx="11094735" cy="3856627"/>
          </a:xfrm>
          <a:solidFill>
            <a:schemeClr val="bg1"/>
          </a:solidFill>
        </p:spPr>
        <p:txBody>
          <a:bodyPr/>
          <a:lstStyle/>
          <a:p>
            <a:endParaRPr lang="en-AU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447244" y="375027"/>
            <a:ext cx="10029137" cy="763600"/>
          </a:xfrm>
        </p:spPr>
        <p:txBody>
          <a:bodyPr/>
          <a:lstStyle/>
          <a:p>
            <a:r>
              <a:rPr lang="en-AU" dirty="0"/>
              <a:t>How would a mathematician write this?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75A0FE-5E57-41FA-956D-96CB56A12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25" y="1629053"/>
            <a:ext cx="11094735" cy="1052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694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57532" y="76683"/>
            <a:ext cx="11600872" cy="67011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5730212" y="6225668"/>
            <a:ext cx="731600" cy="524800"/>
          </a:xfrm>
          <a:prstGeom prst="rect">
            <a:avLst/>
          </a:prstGeom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fld id="{00000000-1234-1234-1234-123412341234}" type="slidenum">
              <a:rPr lang="en">
                <a:solidFill>
                  <a:srgbClr val="FFFFFF"/>
                </a:solidFill>
              </a:rPr>
              <a:pPr algn="ctr"/>
              <a:t>4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437796" y="611696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474191" y="1091336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93965" y="49281"/>
            <a:ext cx="64654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47414" y="80379"/>
            <a:ext cx="8343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598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7796" y="49601"/>
            <a:ext cx="998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</a:t>
            </a:r>
            <a:endParaRPr lang="en-AU" sz="2400" dirty="0">
              <a:latin typeface="Chalkboard"/>
              <a:cs typeface="Chalkboard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2670741" y="1091336"/>
            <a:ext cx="22100" cy="5563464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670741" y="221674"/>
            <a:ext cx="5004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A</a:t>
            </a:r>
            <a:r>
              <a:rPr lang="en-AU" sz="2400" dirty="0" err="1"/>
              <a:t>lgebra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2303407" y="648194"/>
            <a:ext cx="51061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How can I build a formula from a table?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510" y="2764327"/>
            <a:ext cx="17725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How to find the rule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060174" y="1468556"/>
          <a:ext cx="6290861" cy="988906"/>
        </p:xfrm>
        <a:graphic>
          <a:graphicData uri="http://schemas.openxmlformats.org/drawingml/2006/table">
            <a:tbl>
              <a:tblPr firstRow="1" bandRow="1"/>
              <a:tblGrid>
                <a:gridCol w="1625600">
                  <a:extLst>
                    <a:ext uri="{9D8B030D-6E8A-4147-A177-3AD203B41FA5}">
                      <a16:colId xmlns:a16="http://schemas.microsoft.com/office/drawing/2014/main" val="622223616"/>
                    </a:ext>
                  </a:extLst>
                </a:gridCol>
                <a:gridCol w="1042167">
                  <a:extLst>
                    <a:ext uri="{9D8B030D-6E8A-4147-A177-3AD203B41FA5}">
                      <a16:colId xmlns:a16="http://schemas.microsoft.com/office/drawing/2014/main" val="2302812295"/>
                    </a:ext>
                  </a:extLst>
                </a:gridCol>
                <a:gridCol w="1265207">
                  <a:extLst>
                    <a:ext uri="{9D8B030D-6E8A-4147-A177-3AD203B41FA5}">
                      <a16:colId xmlns:a16="http://schemas.microsoft.com/office/drawing/2014/main" val="1939180800"/>
                    </a:ext>
                  </a:extLst>
                </a:gridCol>
                <a:gridCol w="1115684">
                  <a:extLst>
                    <a:ext uri="{9D8B030D-6E8A-4147-A177-3AD203B41FA5}">
                      <a16:colId xmlns:a16="http://schemas.microsoft.com/office/drawing/2014/main" val="1138188876"/>
                    </a:ext>
                  </a:extLst>
                </a:gridCol>
                <a:gridCol w="1242203">
                  <a:extLst>
                    <a:ext uri="{9D8B030D-6E8A-4147-A177-3AD203B41FA5}">
                      <a16:colId xmlns:a16="http://schemas.microsoft.com/office/drawing/2014/main" val="4135619815"/>
                    </a:ext>
                  </a:extLst>
                </a:gridCol>
              </a:tblGrid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X (input)</a:t>
                      </a:r>
                    </a:p>
                  </a:txBody>
                  <a:tcPr marL="121920" marR="121920" marT="60960" marB="6096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L="121920" marR="121920" marT="60960" marB="6096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marL="121920" marR="121920" marT="60960" marB="6096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 marL="121920" marR="121920" marT="60960" marB="6096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marL="121920" marR="121920" marT="60960" marB="6096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848819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Y (output)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5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10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15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20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3789156650"/>
                  </a:ext>
                </a:extLst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43730" y="2891701"/>
            <a:ext cx="40019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Find the difference for each step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56384" y="3319069"/>
            <a:ext cx="78007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If the difference is the same for each step then it is the same as multiplying by that number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27563" y="2474462"/>
            <a:ext cx="891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+5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10876" y="2481330"/>
            <a:ext cx="891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+5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31155" y="2492782"/>
            <a:ext cx="891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+5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11919" y="5046291"/>
            <a:ext cx="52651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(output) = (input) × 5 </a:t>
            </a:r>
          </a:p>
          <a:p>
            <a:r>
              <a:rPr lang="en-AU" sz="2400" dirty="0"/>
              <a:t>but since we are calling (input) x and (output) y we can write the formula as</a:t>
            </a:r>
          </a:p>
          <a:p>
            <a:r>
              <a:rPr lang="en-AU" sz="2400" dirty="0"/>
              <a:t>y = x × 5       or     y = 5x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8228" y="5265770"/>
            <a:ext cx="17725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Writing the formula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56408" y="4061405"/>
            <a:ext cx="17725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 </a:t>
            </a:r>
            <a:r>
              <a:rPr lang="en-AU" sz="2400" dirty="0">
                <a:solidFill>
                  <a:srgbClr val="FF0000"/>
                </a:solidFill>
              </a:rPr>
              <a:t>1 </a:t>
            </a:r>
            <a:r>
              <a:rPr lang="en-AU" sz="2400" dirty="0"/>
              <a:t>× 5 = 5 </a:t>
            </a:r>
          </a:p>
          <a:p>
            <a:r>
              <a:rPr lang="en-AU" sz="2400" dirty="0"/>
              <a:t> </a:t>
            </a:r>
            <a:r>
              <a:rPr lang="en-AU" sz="2400" dirty="0">
                <a:solidFill>
                  <a:srgbClr val="FF0000"/>
                </a:solidFill>
              </a:rPr>
              <a:t>2</a:t>
            </a:r>
            <a:r>
              <a:rPr lang="en-AU" sz="2400" dirty="0"/>
              <a:t> × 5 = 10</a:t>
            </a:r>
          </a:p>
          <a:p>
            <a:r>
              <a:rPr lang="en-AU" sz="2400" dirty="0">
                <a:solidFill>
                  <a:srgbClr val="FF0000"/>
                </a:solidFill>
              </a:rPr>
              <a:t> 3 </a:t>
            </a:r>
            <a:r>
              <a:rPr lang="en-AU" sz="2400" dirty="0"/>
              <a:t>× 5 = 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0510" y="4106569"/>
            <a:ext cx="17725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Check 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7957" y="1570975"/>
            <a:ext cx="17725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Example 1</a:t>
            </a:r>
          </a:p>
        </p:txBody>
      </p:sp>
    </p:spTree>
    <p:extLst>
      <p:ext uri="{BB962C8B-B14F-4D97-AF65-F5344CB8AC3E}">
        <p14:creationId xmlns:p14="http://schemas.microsoft.com/office/powerpoint/2010/main" val="38935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2" grpId="0"/>
      <p:bldP spid="33" grpId="0"/>
      <p:bldP spid="31" grpId="0"/>
      <p:bldP spid="35" grpId="0"/>
      <p:bldP spid="36" grpId="0"/>
      <p:bldP spid="38" grpId="0"/>
      <p:bldP spid="4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57532" y="76683"/>
            <a:ext cx="11600872" cy="67011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5730212" y="6225668"/>
            <a:ext cx="731600" cy="524800"/>
          </a:xfrm>
          <a:prstGeom prst="rect">
            <a:avLst/>
          </a:prstGeom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ctr"/>
            <a:fld id="{00000000-1234-1234-1234-123412341234}" type="slidenum">
              <a:rPr lang="en">
                <a:solidFill>
                  <a:srgbClr val="FFFFFF"/>
                </a:solidFill>
              </a:rPr>
              <a:pPr algn="ctr"/>
              <a:t>5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437796" y="611696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474191" y="1091336"/>
            <a:ext cx="9144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93965" y="49281"/>
            <a:ext cx="64654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47414" y="80379"/>
            <a:ext cx="8343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598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7796" y="49601"/>
            <a:ext cx="998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</a:t>
            </a:r>
            <a:endParaRPr lang="en-AU" sz="2400" dirty="0">
              <a:latin typeface="Chalkboard"/>
              <a:cs typeface="Chalkboard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2670741" y="1091336"/>
            <a:ext cx="22100" cy="5563464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670741" y="221674"/>
            <a:ext cx="5004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Algebra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03407" y="648194"/>
            <a:ext cx="51061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How can I build a formula from a table?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510" y="2764327"/>
            <a:ext cx="17725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How to find the rule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060174" y="1468556"/>
          <a:ext cx="6290861" cy="988906"/>
        </p:xfrm>
        <a:graphic>
          <a:graphicData uri="http://schemas.openxmlformats.org/drawingml/2006/table">
            <a:tbl>
              <a:tblPr firstRow="1" bandRow="1"/>
              <a:tblGrid>
                <a:gridCol w="1625600">
                  <a:extLst>
                    <a:ext uri="{9D8B030D-6E8A-4147-A177-3AD203B41FA5}">
                      <a16:colId xmlns:a16="http://schemas.microsoft.com/office/drawing/2014/main" val="622223616"/>
                    </a:ext>
                  </a:extLst>
                </a:gridCol>
                <a:gridCol w="1042167">
                  <a:extLst>
                    <a:ext uri="{9D8B030D-6E8A-4147-A177-3AD203B41FA5}">
                      <a16:colId xmlns:a16="http://schemas.microsoft.com/office/drawing/2014/main" val="2302812295"/>
                    </a:ext>
                  </a:extLst>
                </a:gridCol>
                <a:gridCol w="1265207">
                  <a:extLst>
                    <a:ext uri="{9D8B030D-6E8A-4147-A177-3AD203B41FA5}">
                      <a16:colId xmlns:a16="http://schemas.microsoft.com/office/drawing/2014/main" val="1939180800"/>
                    </a:ext>
                  </a:extLst>
                </a:gridCol>
                <a:gridCol w="1115684">
                  <a:extLst>
                    <a:ext uri="{9D8B030D-6E8A-4147-A177-3AD203B41FA5}">
                      <a16:colId xmlns:a16="http://schemas.microsoft.com/office/drawing/2014/main" val="1138188876"/>
                    </a:ext>
                  </a:extLst>
                </a:gridCol>
                <a:gridCol w="1242203">
                  <a:extLst>
                    <a:ext uri="{9D8B030D-6E8A-4147-A177-3AD203B41FA5}">
                      <a16:colId xmlns:a16="http://schemas.microsoft.com/office/drawing/2014/main" val="4135619815"/>
                    </a:ext>
                  </a:extLst>
                </a:gridCol>
              </a:tblGrid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X (input)</a:t>
                      </a:r>
                    </a:p>
                  </a:txBody>
                  <a:tcPr marL="121920" marR="121920" marT="60960" marB="6096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L="121920" marR="121920" marT="60960" marB="6096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marL="121920" marR="121920" marT="60960" marB="6096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 marL="121920" marR="121920" marT="60960" marB="6096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marL="121920" marR="121920" marT="60960" marB="6096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848819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Y (output)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7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12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17</a:t>
                      </a:r>
                    </a:p>
                  </a:txBody>
                  <a:tcPr marL="121920" marR="121920" marT="60960" marB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/>
                        <a:t>22</a:t>
                      </a:r>
                    </a:p>
                  </a:txBody>
                  <a:tcPr marL="121920" marR="121920" marT="60960" marB="60960" anchor="ctr"/>
                </a:tc>
                <a:extLst>
                  <a:ext uri="{0D108BD9-81ED-4DB2-BD59-A6C34878D82A}">
                    <a16:rowId xmlns:a16="http://schemas.microsoft.com/office/drawing/2014/main" val="3789156650"/>
                  </a:ext>
                </a:extLst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43730" y="2891700"/>
            <a:ext cx="40019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srgbClr val="002060"/>
                </a:solidFill>
              </a:rPr>
              <a:t>Find the difference for each step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56384" y="3178958"/>
            <a:ext cx="78007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srgbClr val="002060"/>
                </a:solidFill>
              </a:rPr>
              <a:t>If the difference is the same for each step then it is the same as multiplying by that number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27563" y="2474462"/>
            <a:ext cx="891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+5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10876" y="2481330"/>
            <a:ext cx="891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+5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31155" y="2492782"/>
            <a:ext cx="891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+5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256" y="5426463"/>
            <a:ext cx="52651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(output) = (input) × 5 + 2</a:t>
            </a:r>
          </a:p>
          <a:p>
            <a:r>
              <a:rPr lang="en-AU" sz="2400" dirty="0"/>
              <a:t>but since we are calling (input) x and (output) y we can write the formula as</a:t>
            </a:r>
          </a:p>
          <a:p>
            <a:r>
              <a:rPr lang="en-AU" sz="2400" dirty="0"/>
              <a:t>y = x × 5 + 2      or     y = 5x+2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8228" y="5426463"/>
            <a:ext cx="17725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Writing the formula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6257" y="3787798"/>
            <a:ext cx="576647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 </a:t>
            </a:r>
            <a:r>
              <a:rPr lang="en-AU" sz="2400" dirty="0">
                <a:solidFill>
                  <a:srgbClr val="FF0000"/>
                </a:solidFill>
              </a:rPr>
              <a:t>1</a:t>
            </a:r>
            <a:r>
              <a:rPr lang="en-AU" sz="2400" dirty="0"/>
              <a:t> × 5 = 5   this doesn’t equal 7  </a:t>
            </a:r>
          </a:p>
          <a:p>
            <a:r>
              <a:rPr lang="en-AU" sz="2400" dirty="0"/>
              <a:t>What do we need to do to 5 to get to 7?       +2</a:t>
            </a:r>
          </a:p>
          <a:p>
            <a:r>
              <a:rPr lang="en-AU" sz="2400" dirty="0">
                <a:solidFill>
                  <a:srgbClr val="FF0000"/>
                </a:solidFill>
              </a:rPr>
              <a:t>2</a:t>
            </a:r>
            <a:r>
              <a:rPr lang="en-AU" sz="2400" dirty="0"/>
              <a:t> × 5 + 2 = 12</a:t>
            </a:r>
          </a:p>
          <a:p>
            <a:r>
              <a:rPr lang="en-AU" sz="2400" dirty="0">
                <a:solidFill>
                  <a:srgbClr val="FF0000"/>
                </a:solidFill>
              </a:rPr>
              <a:t>3</a:t>
            </a:r>
            <a:r>
              <a:rPr lang="en-AU" sz="2400" dirty="0"/>
              <a:t> × 5 + 2 = 17</a:t>
            </a:r>
          </a:p>
          <a:p>
            <a:r>
              <a:rPr lang="en-AU" sz="2400" dirty="0">
                <a:solidFill>
                  <a:srgbClr val="FF0000"/>
                </a:solidFill>
              </a:rPr>
              <a:t>4</a:t>
            </a:r>
            <a:r>
              <a:rPr lang="en-AU" sz="2400" dirty="0"/>
              <a:t> × 5 + 2 = 22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9369" y="3746208"/>
            <a:ext cx="17725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Check 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7957" y="1570975"/>
            <a:ext cx="17725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Example 2</a:t>
            </a:r>
          </a:p>
        </p:txBody>
      </p:sp>
    </p:spTree>
    <p:extLst>
      <p:ext uri="{BB962C8B-B14F-4D97-AF65-F5344CB8AC3E}">
        <p14:creationId xmlns:p14="http://schemas.microsoft.com/office/powerpoint/2010/main" val="1680239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2" grpId="0"/>
      <p:bldP spid="33" grpId="0"/>
      <p:bldP spid="31" grpId="0"/>
      <p:bldP spid="35" grpId="0"/>
      <p:bldP spid="36" grpId="0"/>
      <p:bldP spid="38" grpId="0"/>
      <p:bldP spid="4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3"/>
          <p:cNvSpPr txBox="1">
            <a:spLocks noGrp="1"/>
          </p:cNvSpPr>
          <p:nvPr>
            <p:ph type="sldNum" idx="12"/>
          </p:nvPr>
        </p:nvSpPr>
        <p:spPr>
          <a:xfrm>
            <a:off x="5730212" y="6231601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6</a:t>
            </a:fld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22F3F5-75A9-4562-A219-0D27E159A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705" y="587599"/>
            <a:ext cx="11266452" cy="1190763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451417" y="1778361"/>
            <a:ext cx="11266452" cy="2946000"/>
          </a:xfrm>
          <a:solidFill>
            <a:schemeClr val="bg1"/>
          </a:solidFill>
        </p:spPr>
        <p:txBody>
          <a:bodyPr/>
          <a:lstStyle/>
          <a:p>
            <a:endParaRPr lang="en-A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3"/>
          <p:cNvSpPr txBox="1">
            <a:spLocks noGrp="1"/>
          </p:cNvSpPr>
          <p:nvPr>
            <p:ph type="sldNum" idx="12"/>
          </p:nvPr>
        </p:nvSpPr>
        <p:spPr>
          <a:xfrm>
            <a:off x="5730212" y="6231601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7</a:t>
            </a:fld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2F85DDD-26C0-4EE7-A88C-0F2AAE5723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7260" b="25401"/>
          <a:stretch/>
        </p:blipFill>
        <p:spPr>
          <a:xfrm>
            <a:off x="3217482" y="534009"/>
            <a:ext cx="5025461" cy="1244352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451417" y="1778362"/>
            <a:ext cx="11266452" cy="4204749"/>
          </a:xfrm>
          <a:solidFill>
            <a:schemeClr val="bg1"/>
          </a:solidFill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9548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3"/>
          <p:cNvSpPr txBox="1">
            <a:spLocks noGrp="1"/>
          </p:cNvSpPr>
          <p:nvPr>
            <p:ph type="sldNum" idx="12"/>
          </p:nvPr>
        </p:nvSpPr>
        <p:spPr>
          <a:xfrm>
            <a:off x="5730212" y="6231601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8</a:t>
            </a:fld>
            <a:endParaRPr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451416" y="243841"/>
            <a:ext cx="11374824" cy="5987761"/>
          </a:xfrm>
          <a:solidFill>
            <a:schemeClr val="bg1"/>
          </a:solidFill>
        </p:spPr>
        <p:txBody>
          <a:bodyPr/>
          <a:lstStyle/>
          <a:p>
            <a:endParaRPr lang="en-AU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28167" t="16852" r="30750" b="38407"/>
          <a:stretch/>
        </p:blipFill>
        <p:spPr>
          <a:xfrm>
            <a:off x="451416" y="243841"/>
            <a:ext cx="7437120" cy="4555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292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349</Words>
  <Application>Microsoft Office PowerPoint</Application>
  <PresentationFormat>Widescreen</PresentationFormat>
  <Paragraphs>79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Abel</vt:lpstr>
      <vt:lpstr>Arial</vt:lpstr>
      <vt:lpstr>Calibri</vt:lpstr>
      <vt:lpstr>Calibri Light</vt:lpstr>
      <vt:lpstr>Chalkboard</vt:lpstr>
      <vt:lpstr>Fredoka One</vt:lpstr>
      <vt:lpstr>Office Theme</vt:lpstr>
      <vt:lpstr>Topic: Algebra EQ: How can I build a formula from a table?</vt:lpstr>
      <vt:lpstr>PowerPoint Presentation</vt:lpstr>
      <vt:lpstr>How would a mathematician write this?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Algebra EQ: How can I build a formula from a table?</dc:title>
  <dc:creator>JAMES Sarah [Baldivis Secondary College]</dc:creator>
  <cp:lastModifiedBy>JAMES Sarah [Baldivis Secondary College]</cp:lastModifiedBy>
  <cp:revision>1</cp:revision>
  <dcterms:created xsi:type="dcterms:W3CDTF">2021-11-30T00:48:59Z</dcterms:created>
  <dcterms:modified xsi:type="dcterms:W3CDTF">2021-11-30T01:05:49Z</dcterms:modified>
</cp:coreProperties>
</file>
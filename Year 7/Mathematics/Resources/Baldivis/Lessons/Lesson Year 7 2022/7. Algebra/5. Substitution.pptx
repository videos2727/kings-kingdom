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0"/>
  </p:notesMasterIdLst>
  <p:handoutMasterIdLst>
    <p:handoutMasterId r:id="rId11"/>
  </p:handoutMasterIdLst>
  <p:sldIdLst>
    <p:sldId id="256" r:id="rId2"/>
    <p:sldId id="315" r:id="rId3"/>
    <p:sldId id="316" r:id="rId4"/>
    <p:sldId id="319" r:id="rId5"/>
    <p:sldId id="311" r:id="rId6"/>
    <p:sldId id="314" r:id="rId7"/>
    <p:sldId id="317" r:id="rId8"/>
    <p:sldId id="318" r:id="rId9"/>
  </p:sldIdLst>
  <p:sldSz cx="9144000" cy="5143500" type="screen16x9"/>
  <p:notesSz cx="6797675" cy="9926638"/>
  <p:embeddedFontLst>
    <p:embeddedFont>
      <p:font typeface="Abel" panose="020B0604020202020204" charset="0"/>
      <p:regular r:id="rId12"/>
    </p:embeddedFont>
    <p:embeddedFont>
      <p:font typeface="Cambria Math" panose="02040503050406030204" pitchFamily="18" charset="0"/>
      <p:regular r:id="rId13"/>
    </p:embeddedFont>
    <p:embeddedFont>
      <p:font typeface="Fredoka One" panose="020B0604020202020204" charset="0"/>
      <p:regular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68">
          <p15:clr>
            <a:srgbClr val="9AA0A6"/>
          </p15:clr>
        </p15:guide>
        <p15:guide id="2" pos="2880">
          <p15:clr>
            <a:srgbClr val="9AA0A6"/>
          </p15:clr>
        </p15:guide>
        <p15:guide id="3" orient="horz" pos="253">
          <p15:clr>
            <a:srgbClr val="9AA0A6"/>
          </p15:clr>
        </p15:guide>
        <p15:guide id="4" orient="horz" pos="841">
          <p15:clr>
            <a:srgbClr val="9AA0A6"/>
          </p15:clr>
        </p15:guide>
        <p15:guide id="5" pos="576">
          <p15:clr>
            <a:srgbClr val="9AA0A6"/>
          </p15:clr>
        </p15:guide>
        <p15:guide id="6" orient="horz" pos="547">
          <p15:clr>
            <a:srgbClr val="9AA0A6"/>
          </p15:clr>
        </p15:guide>
        <p15:guide id="7" orient="horz" pos="216">
          <p15:clr>
            <a:srgbClr val="9AA0A6"/>
          </p15:clr>
        </p15:guide>
        <p15:guide id="8" pos="4787">
          <p15:clr>
            <a:srgbClr val="9AA0A6"/>
          </p15:clr>
        </p15:guide>
        <p15:guide id="9" pos="3942">
          <p15:clr>
            <a:srgbClr val="9AA0A6"/>
          </p15:clr>
        </p15:guide>
        <p15:guide id="10" pos="1293">
          <p15:clr>
            <a:srgbClr val="9AA0A6"/>
          </p15:clr>
        </p15:guide>
        <p15:guide id="11" orient="horz" pos="120">
          <p15:clr>
            <a:srgbClr val="9AA0A6"/>
          </p15:clr>
        </p15:guide>
        <p15:guide id="12" orient="horz" pos="144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CA31A5-7132-4A5F-A072-0CB39D90A84B}">
  <a:tblStyle styleId="{42CA31A5-7132-4A5F-A072-0CB39D90A8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170" autoAdjust="0"/>
  </p:normalViewPr>
  <p:slideViewPr>
    <p:cSldViewPr snapToGrid="0">
      <p:cViewPr varScale="1">
        <p:scale>
          <a:sx n="114" d="100"/>
          <a:sy n="114" d="100"/>
        </p:scale>
        <p:origin x="468" y="51"/>
      </p:cViewPr>
      <p:guideLst>
        <p:guide orient="horz" pos="3068"/>
        <p:guide pos="2880"/>
        <p:guide orient="horz" pos="253"/>
        <p:guide orient="horz" pos="841"/>
        <p:guide pos="576"/>
        <p:guide orient="horz" pos="547"/>
        <p:guide orient="horz" pos="216"/>
        <p:guide pos="4787"/>
        <p:guide pos="3942"/>
        <p:guide pos="1293"/>
        <p:guide orient="horz" pos="120"/>
        <p:guide orient="horz" pos="14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6CBF1E-6298-44ED-91E6-BEE8ADD817AF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7888E-5A11-4FDD-8457-27D5FC58EC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89596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p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 = 7f-5</a:t>
            </a:r>
          </a:p>
          <a:p>
            <a:r>
              <a:rPr lang="en-AU" dirty="0"/>
              <a:t>P = -4m+ 103</a:t>
            </a:r>
          </a:p>
        </p:txBody>
      </p:sp>
    </p:spTree>
    <p:extLst>
      <p:ext uri="{BB962C8B-B14F-4D97-AF65-F5344CB8AC3E}">
        <p14:creationId xmlns:p14="http://schemas.microsoft.com/office/powerpoint/2010/main" val="2785383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3838" y="808038"/>
            <a:ext cx="7185026" cy="4041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73788" y="5118725"/>
            <a:ext cx="5390305" cy="48493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365943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3838" y="808038"/>
            <a:ext cx="7185026" cy="4041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73788" y="5118725"/>
            <a:ext cx="5390305" cy="48493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09602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615da441d6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615da441d6_2_7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83395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615da441d6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615da441d6_2_7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lphaLcParenR"/>
            </a:pPr>
            <a:r>
              <a:rPr lang="en-AU" dirty="0"/>
              <a:t>9, 11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lphaLcParenR"/>
            </a:pPr>
            <a:r>
              <a:rPr lang="en-AU" dirty="0"/>
              <a:t>P= 2t +1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lphaLcParenR"/>
            </a:pPr>
            <a:r>
              <a:rPr lang="en-AU" dirty="0"/>
              <a:t>P= 2x 203 +1 = 407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61952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3838" y="808038"/>
            <a:ext cx="7185026" cy="4041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73788" y="5118725"/>
            <a:ext cx="5390305" cy="48493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79463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Take a poll on the board</a:t>
            </a:r>
            <a:r>
              <a:rPr lang="en-AU" baseline="0" dirty="0"/>
              <a:t> for the guesses and turn into fractions and percentages of the class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80422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96875" y="623625"/>
            <a:ext cx="1663500" cy="16635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63225" y="2799325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812375" y="3945250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807175" y="345622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151375" y="-150575"/>
            <a:ext cx="1094100" cy="10941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45150" y="789414"/>
            <a:ext cx="3501300" cy="3501300"/>
          </a:xfrm>
          <a:prstGeom prst="donut">
            <a:avLst>
              <a:gd name="adj" fmla="val 1554"/>
            </a:avLst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2416350" y="1897688"/>
            <a:ext cx="4311300" cy="9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16350" y="2929313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ctrTitle"/>
          </p:nvPr>
        </p:nvSpPr>
        <p:spPr>
          <a:xfrm>
            <a:off x="2416350" y="2976855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None/>
              <a:defRPr sz="1100" b="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2296350" y="1850150"/>
            <a:ext cx="455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0" name="Google Shape;40;p5"/>
          <p:cNvCxnSpPr/>
          <p:nvPr/>
        </p:nvCxnSpPr>
        <p:spPr>
          <a:xfrm>
            <a:off x="35542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5"/>
          <p:cNvCxnSpPr/>
          <p:nvPr/>
        </p:nvCxnSpPr>
        <p:spPr>
          <a:xfrm>
            <a:off x="48463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5"/>
          <p:cNvSpPr/>
          <p:nvPr/>
        </p:nvSpPr>
        <p:spPr>
          <a:xfrm>
            <a:off x="621700" y="775500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2462950" y="355737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5660300" y="195075"/>
            <a:ext cx="393600" cy="3936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TITLE_AND_BOD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6201800" y="385227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>
            <a:off x="280300" y="560050"/>
            <a:ext cx="1784100" cy="17841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8"/>
          <p:cNvSpPr/>
          <p:nvPr/>
        </p:nvSpPr>
        <p:spPr>
          <a:xfrm>
            <a:off x="7343600" y="3538750"/>
            <a:ext cx="393600" cy="3936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8"/>
          <p:cNvSpPr txBox="1">
            <a:spLocks noGrp="1"/>
          </p:cNvSpPr>
          <p:nvPr>
            <p:ph type="title"/>
          </p:nvPr>
        </p:nvSpPr>
        <p:spPr>
          <a:xfrm>
            <a:off x="817475" y="698575"/>
            <a:ext cx="443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8"/>
          <p:cNvSpPr txBox="1">
            <a:spLocks noGrp="1"/>
          </p:cNvSpPr>
          <p:nvPr>
            <p:ph type="body" idx="1"/>
          </p:nvPr>
        </p:nvSpPr>
        <p:spPr>
          <a:xfrm>
            <a:off x="817475" y="1898986"/>
            <a:ext cx="4438500" cy="22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8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2pPr>
            <a:lvl3pPr lvl="2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3pPr>
            <a:lvl4pPr lvl="3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4pPr>
            <a:lvl5pPr lvl="4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5pPr>
            <a:lvl6pPr lvl="5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6pPr>
            <a:lvl7pPr lvl="6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7pPr>
            <a:lvl8pPr lvl="7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8pPr>
            <a:lvl9pPr lvl="8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4" name="Google Shape;84;p8"/>
          <p:cNvCxnSpPr/>
          <p:nvPr/>
        </p:nvCxnSpPr>
        <p:spPr>
          <a:xfrm>
            <a:off x="35542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" name="Google Shape;85;p8"/>
          <p:cNvCxnSpPr/>
          <p:nvPr/>
        </p:nvCxnSpPr>
        <p:spPr>
          <a:xfrm>
            <a:off x="48463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 b="1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84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el"/>
              <a:buChar char="●"/>
              <a:defRPr sz="1800"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4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7"/>
          <p:cNvSpPr txBox="1">
            <a:spLocks noGrp="1"/>
          </p:cNvSpPr>
          <p:nvPr>
            <p:ph type="ctrTitle"/>
          </p:nvPr>
        </p:nvSpPr>
        <p:spPr>
          <a:xfrm>
            <a:off x="1731818" y="1690255"/>
            <a:ext cx="5915891" cy="163483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</a:rPr>
              <a:t>Topic: </a:t>
            </a:r>
            <a:r>
              <a:rPr lang="en-AU" dirty="0">
                <a:solidFill>
                  <a:srgbClr val="FFFFFF"/>
                </a:solidFill>
              </a:rPr>
              <a:t>Algebra</a:t>
            </a:r>
            <a:br>
              <a:rPr lang="en" dirty="0">
                <a:solidFill>
                  <a:srgbClr val="FFFFFF"/>
                </a:solidFill>
              </a:rPr>
            </a:br>
            <a:r>
              <a:rPr lang="en" sz="2000" dirty="0">
                <a:solidFill>
                  <a:srgbClr val="FFFFFF"/>
                </a:solidFill>
              </a:rPr>
              <a:t>EQ: How do we substitue into a formula?</a:t>
            </a:r>
            <a:endParaRPr sz="2000" dirty="0">
              <a:solidFill>
                <a:srgbClr val="FFFFFF"/>
              </a:solidFill>
            </a:endParaRPr>
          </a:p>
        </p:txBody>
      </p:sp>
      <p:sp>
        <p:nvSpPr>
          <p:cNvPr id="353" name="Google Shape;353;p37"/>
          <p:cNvSpPr txBox="1">
            <a:spLocks noGrp="1"/>
          </p:cNvSpPr>
          <p:nvPr>
            <p:ph type="subTitle" idx="1"/>
          </p:nvPr>
        </p:nvSpPr>
        <p:spPr>
          <a:xfrm>
            <a:off x="-1366064" y="4751186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>
                <a:solidFill>
                  <a:srgbClr val="FFFFFF"/>
                </a:solidFill>
              </a:rPr>
              <a:t>Mrs. McLeod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19379" y="1039945"/>
            <a:ext cx="8191884" cy="37076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700" y="437910"/>
            <a:ext cx="4551300" cy="316500"/>
          </a:xfrm>
        </p:spPr>
        <p:txBody>
          <a:bodyPr/>
          <a:lstStyle/>
          <a:p>
            <a:r>
              <a:rPr lang="en-AU" dirty="0"/>
              <a:t>Warm 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sp>
        <p:nvSpPr>
          <p:cNvPr id="6" name="Google Shape;352;p37"/>
          <p:cNvSpPr txBox="1">
            <a:spLocks/>
          </p:cNvSpPr>
          <p:nvPr/>
        </p:nvSpPr>
        <p:spPr>
          <a:xfrm>
            <a:off x="4399259" y="-594891"/>
            <a:ext cx="5387936" cy="1634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None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AU" sz="2400" dirty="0">
                <a:solidFill>
                  <a:srgbClr val="FFFFFF"/>
                </a:solidFill>
              </a:rPr>
              <a:t>Topic: Algebra</a:t>
            </a:r>
            <a:br>
              <a:rPr lang="en-AU" sz="1600" dirty="0">
                <a:solidFill>
                  <a:srgbClr val="FFFFFF"/>
                </a:solidFill>
              </a:rPr>
            </a:br>
            <a:r>
              <a:rPr lang="en-AU" sz="2000" dirty="0">
                <a:solidFill>
                  <a:srgbClr val="FFFFFF"/>
                </a:solidFill>
              </a:rPr>
              <a:t>EQ: How do we substitute into a formula?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15641" t="20213" r="25256" b="48561"/>
          <a:stretch/>
        </p:blipFill>
        <p:spPr>
          <a:xfrm>
            <a:off x="419379" y="1039945"/>
            <a:ext cx="6538011" cy="184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175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69230" y="36430"/>
            <a:ext cx="8700654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</a:t>
            </a:r>
            <a:endParaRPr lang="en-AU" sz="1800" dirty="0">
              <a:latin typeface="Chalkboard"/>
              <a:cs typeface="Chalkboard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73287" y="1097287"/>
            <a:ext cx="1385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What is substitution?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284" y="1013677"/>
            <a:ext cx="70301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We can think of variables as letters that are “holding the place” for a number</a:t>
            </a:r>
          </a:p>
          <a:p>
            <a:endParaRPr lang="en-AU" sz="1600" dirty="0"/>
          </a:p>
          <a:p>
            <a:r>
              <a:rPr lang="en-AU" sz="1600" dirty="0"/>
              <a:t>With substitution we can evaluate the expression and work out 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830" y="886691"/>
            <a:ext cx="49134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003055" y="166255"/>
            <a:ext cx="3753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Algebra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7555" y="486145"/>
            <a:ext cx="31694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dirty="0">
                <a:solidFill>
                  <a:schemeClr val="tx1"/>
                </a:solidFill>
              </a:rPr>
              <a:t>How do we substitute into a formula? 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61340" y="2546217"/>
            <a:ext cx="63310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Step 1: We replace the variable (letter) with the number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52408" y="2535855"/>
            <a:ext cx="1497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2a+3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325" y="3996992"/>
            <a:ext cx="702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 1.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21763" y="4515362"/>
            <a:ext cx="702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 2.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58622" y="3326462"/>
            <a:ext cx="2035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Multiplication first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0858" y="3449551"/>
            <a:ext cx="2035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= 23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03821" y="3459913"/>
            <a:ext cx="2035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20 + 3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62084" y="4482353"/>
            <a:ext cx="2634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/>
              <a:t>Evaluate    3a – 3    if </a:t>
            </a:r>
            <a:r>
              <a:rPr lang="en-AU" b="1" i="1" dirty="0">
                <a:solidFill>
                  <a:srgbClr val="7030A0"/>
                </a:solidFill>
              </a:rPr>
              <a:t>a=5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94883" y="4048807"/>
            <a:ext cx="1497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+ </a:t>
            </a:r>
            <a:r>
              <a:rPr lang="en-AU" sz="1600" b="1" dirty="0">
                <a:solidFill>
                  <a:srgbClr val="7030A0"/>
                </a:solidFill>
              </a:rPr>
              <a:t>8</a:t>
            </a:r>
            <a:r>
              <a:rPr lang="en-AU" dirty="0"/>
              <a:t>     =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6741" y="4510855"/>
            <a:ext cx="2035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15 – 3 =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518" y="2280841"/>
            <a:ext cx="1385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How do we substitute?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84284" y="3009386"/>
            <a:ext cx="49578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Step 2: We follow BIMDAS steps to get a solution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61340" y="2188608"/>
            <a:ext cx="47529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i="1" dirty="0"/>
              <a:t>Evaluate    2a+3      if </a:t>
            </a:r>
            <a:r>
              <a:rPr lang="en-AU" sz="1600" b="1" i="1" dirty="0">
                <a:solidFill>
                  <a:srgbClr val="7030A0"/>
                </a:solidFill>
              </a:rPr>
              <a:t>a=10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7936347" y="2527846"/>
            <a:ext cx="1789799" cy="338554"/>
            <a:chOff x="7936347" y="2527846"/>
            <a:chExt cx="1789799" cy="338554"/>
          </a:xfrm>
        </p:grpSpPr>
        <p:sp>
          <p:nvSpPr>
            <p:cNvPr id="49" name="TextBox 48"/>
            <p:cNvSpPr txBox="1"/>
            <p:nvPr/>
          </p:nvSpPr>
          <p:spPr>
            <a:xfrm>
              <a:off x="8228962" y="2527846"/>
              <a:ext cx="14971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600" dirty="0"/>
                <a:t>2×</a:t>
              </a:r>
              <a:r>
                <a:rPr lang="en-AU" sz="1600" b="1" dirty="0">
                  <a:solidFill>
                    <a:srgbClr val="7030A0"/>
                  </a:solidFill>
                </a:rPr>
                <a:t>10</a:t>
              </a:r>
              <a:r>
                <a:rPr lang="en-AU" sz="1600" dirty="0"/>
                <a:t>+3</a:t>
              </a: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>
              <a:off x="7936347" y="2708803"/>
              <a:ext cx="240479" cy="0"/>
            </a:xfrm>
            <a:prstGeom prst="straightConnector1">
              <a:avLst/>
            </a:prstGeom>
            <a:ln w="571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49"/>
          <p:cNvSpPr txBox="1"/>
          <p:nvPr/>
        </p:nvSpPr>
        <p:spPr>
          <a:xfrm>
            <a:off x="7354529" y="2997884"/>
            <a:ext cx="1497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2×10+3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54978" y="4019184"/>
            <a:ext cx="2436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/>
              <a:t>Evaluate     5 + m    if </a:t>
            </a:r>
            <a:r>
              <a:rPr lang="en-AU" b="1" i="1" dirty="0">
                <a:solidFill>
                  <a:srgbClr val="7030A0"/>
                </a:solidFill>
              </a:rPr>
              <a:t>m=8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89168" y="4466964"/>
            <a:ext cx="1497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3×</a:t>
            </a:r>
            <a:r>
              <a:rPr lang="en-AU" sz="1600" b="1" dirty="0">
                <a:solidFill>
                  <a:srgbClr val="7030A0"/>
                </a:solidFill>
              </a:rPr>
              <a:t>5</a:t>
            </a:r>
            <a:r>
              <a:rPr lang="en-AU" dirty="0"/>
              <a:t> - 3     =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10093" y="4069119"/>
            <a:ext cx="5762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78548" y="4521195"/>
            <a:ext cx="2035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12</a:t>
            </a:r>
          </a:p>
        </p:txBody>
      </p:sp>
      <p:sp>
        <p:nvSpPr>
          <p:cNvPr id="16" name="Curved Down Arrow 15"/>
          <p:cNvSpPr/>
          <p:nvPr/>
        </p:nvSpPr>
        <p:spPr>
          <a:xfrm>
            <a:off x="3653455" y="3767690"/>
            <a:ext cx="1987126" cy="30142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55" name="Curved Down Arrow 54"/>
          <p:cNvSpPr/>
          <p:nvPr/>
        </p:nvSpPr>
        <p:spPr>
          <a:xfrm>
            <a:off x="3379397" y="4304769"/>
            <a:ext cx="2227081" cy="23465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208185" y="3524106"/>
            <a:ext cx="1280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replaced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88038" y="4262756"/>
            <a:ext cx="1280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replaced</a:t>
            </a:r>
          </a:p>
        </p:txBody>
      </p:sp>
    </p:spTree>
    <p:extLst>
      <p:ext uri="{BB962C8B-B14F-4D97-AF65-F5344CB8AC3E}">
        <p14:creationId xmlns:p14="http://schemas.microsoft.com/office/powerpoint/2010/main" val="1654482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2" grpId="0"/>
      <p:bldP spid="37" grpId="0"/>
      <p:bldP spid="38" grpId="0"/>
      <p:bldP spid="39" grpId="0"/>
      <p:bldP spid="42" grpId="0"/>
      <p:bldP spid="43" grpId="0"/>
      <p:bldP spid="44" grpId="0"/>
      <p:bldP spid="46" grpId="0"/>
      <p:bldP spid="47" grpId="0"/>
      <p:bldP spid="41" grpId="0"/>
      <p:bldP spid="48" grpId="0"/>
      <p:bldP spid="50" grpId="0"/>
      <p:bldP spid="51" grpId="0"/>
      <p:bldP spid="52" grpId="0"/>
      <p:bldP spid="53" grpId="0"/>
      <p:bldP spid="54" grpId="0"/>
      <p:bldP spid="16" grpId="0" animBg="1"/>
      <p:bldP spid="55" grpId="0" animBg="1"/>
      <p:bldP spid="20" grpId="0"/>
      <p:bldP spid="5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69230" y="36430"/>
            <a:ext cx="8700654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</a:t>
            </a:r>
            <a:endParaRPr lang="en-AU" sz="1800" dirty="0">
              <a:latin typeface="Chalkboard"/>
              <a:cs typeface="Chalkboard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73287" y="1097287"/>
            <a:ext cx="1385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What is _________?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284" y="1013677"/>
            <a:ext cx="70301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We can think of variables as _______ that are “holding the place” for a __________.</a:t>
            </a:r>
          </a:p>
          <a:p>
            <a:endParaRPr lang="en-AU" sz="1600" dirty="0"/>
          </a:p>
          <a:p>
            <a:r>
              <a:rPr lang="en-AU" sz="1600" dirty="0"/>
              <a:t>With _________ we can ________ the expression and work out 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830" y="886691"/>
            <a:ext cx="49134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003055" y="166255"/>
            <a:ext cx="3753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Algebra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7555" y="486145"/>
            <a:ext cx="31694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dirty="0">
                <a:solidFill>
                  <a:schemeClr val="tx1"/>
                </a:solidFill>
              </a:rPr>
              <a:t>How do we substitute into a formula? 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61340" y="2546217"/>
            <a:ext cx="63310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Step 1: We _______ the variable (letter) with the number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52408" y="2535855"/>
            <a:ext cx="1497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2a+3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325" y="3996992"/>
            <a:ext cx="702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 1.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21763" y="4515362"/>
            <a:ext cx="702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 2.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58622" y="3326462"/>
            <a:ext cx="2035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Multiplication first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0858" y="3449551"/>
            <a:ext cx="2035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= 23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03821" y="3459913"/>
            <a:ext cx="2035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___ + 3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62084" y="4482353"/>
            <a:ext cx="2634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/>
              <a:t>Evaluate    3a – 3    if </a:t>
            </a:r>
            <a:r>
              <a:rPr lang="en-AU" b="1" i="1" dirty="0">
                <a:solidFill>
                  <a:srgbClr val="7030A0"/>
                </a:solidFill>
              </a:rPr>
              <a:t>a=5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94883" y="4048807"/>
            <a:ext cx="1497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+ </a:t>
            </a:r>
            <a:r>
              <a:rPr lang="en-AU" sz="1600" b="1" dirty="0">
                <a:solidFill>
                  <a:srgbClr val="7030A0"/>
                </a:solidFill>
              </a:rPr>
              <a:t>__</a:t>
            </a:r>
            <a:r>
              <a:rPr lang="en-AU" dirty="0"/>
              <a:t>     =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6741" y="4510855"/>
            <a:ext cx="2035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15 – __ =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518" y="2280841"/>
            <a:ext cx="1385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How do we substitute?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84284" y="3009386"/>
            <a:ext cx="49578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Step 2: We follow _________ steps to get a solution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61340" y="2188608"/>
            <a:ext cx="47529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i="1" dirty="0"/>
              <a:t>Evaluate    2a+3      if </a:t>
            </a:r>
            <a:r>
              <a:rPr lang="en-AU" sz="1600" b="1" i="1" dirty="0">
                <a:solidFill>
                  <a:srgbClr val="7030A0"/>
                </a:solidFill>
              </a:rPr>
              <a:t>a=10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7936347" y="2527846"/>
            <a:ext cx="1789799" cy="338554"/>
            <a:chOff x="7936347" y="2527846"/>
            <a:chExt cx="1789799" cy="338554"/>
          </a:xfrm>
        </p:grpSpPr>
        <p:sp>
          <p:nvSpPr>
            <p:cNvPr id="49" name="TextBox 48"/>
            <p:cNvSpPr txBox="1"/>
            <p:nvPr/>
          </p:nvSpPr>
          <p:spPr>
            <a:xfrm>
              <a:off x="8228962" y="2527846"/>
              <a:ext cx="14971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600" dirty="0"/>
                <a:t>2×</a:t>
              </a:r>
              <a:r>
                <a:rPr lang="en-AU" sz="1600" b="1" dirty="0">
                  <a:solidFill>
                    <a:srgbClr val="7030A0"/>
                  </a:solidFill>
                </a:rPr>
                <a:t>__</a:t>
              </a:r>
              <a:r>
                <a:rPr lang="en-AU" sz="1600" dirty="0"/>
                <a:t>+3</a:t>
              </a: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>
              <a:off x="7936347" y="2708803"/>
              <a:ext cx="240479" cy="0"/>
            </a:xfrm>
            <a:prstGeom prst="straightConnector1">
              <a:avLst/>
            </a:prstGeom>
            <a:ln w="571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49"/>
          <p:cNvSpPr txBox="1"/>
          <p:nvPr/>
        </p:nvSpPr>
        <p:spPr>
          <a:xfrm>
            <a:off x="7354529" y="2997884"/>
            <a:ext cx="1497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2×10+3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54978" y="4019184"/>
            <a:ext cx="2436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/>
              <a:t>Evaluate     5 + m    if </a:t>
            </a:r>
            <a:r>
              <a:rPr lang="en-AU" b="1" i="1" dirty="0">
                <a:solidFill>
                  <a:srgbClr val="7030A0"/>
                </a:solidFill>
              </a:rPr>
              <a:t>m=8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89168" y="4466964"/>
            <a:ext cx="1497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3×</a:t>
            </a:r>
            <a:r>
              <a:rPr lang="en-AU" sz="1600" b="1" dirty="0">
                <a:solidFill>
                  <a:srgbClr val="7030A0"/>
                </a:solidFill>
              </a:rPr>
              <a:t>__</a:t>
            </a:r>
            <a:r>
              <a:rPr lang="en-AU" dirty="0"/>
              <a:t> - 3     =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10093" y="4069119"/>
            <a:ext cx="5762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78548" y="4521195"/>
            <a:ext cx="2035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____</a:t>
            </a:r>
          </a:p>
        </p:txBody>
      </p:sp>
      <p:sp>
        <p:nvSpPr>
          <p:cNvPr id="16" name="Curved Down Arrow 15"/>
          <p:cNvSpPr/>
          <p:nvPr/>
        </p:nvSpPr>
        <p:spPr>
          <a:xfrm>
            <a:off x="3653455" y="3767690"/>
            <a:ext cx="1987126" cy="30142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55" name="Curved Down Arrow 54"/>
          <p:cNvSpPr/>
          <p:nvPr/>
        </p:nvSpPr>
        <p:spPr>
          <a:xfrm>
            <a:off x="3379397" y="4304769"/>
            <a:ext cx="2227081" cy="23465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208185" y="3524106"/>
            <a:ext cx="1280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replaced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88038" y="4262756"/>
            <a:ext cx="1280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replaced</a:t>
            </a:r>
          </a:p>
        </p:txBody>
      </p:sp>
    </p:spTree>
    <p:extLst>
      <p:ext uri="{BB962C8B-B14F-4D97-AF65-F5344CB8AC3E}">
        <p14:creationId xmlns:p14="http://schemas.microsoft.com/office/powerpoint/2010/main" val="3788262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2" grpId="0"/>
      <p:bldP spid="37" grpId="0"/>
      <p:bldP spid="38" grpId="0"/>
      <p:bldP spid="39" grpId="0"/>
      <p:bldP spid="42" grpId="0"/>
      <p:bldP spid="43" grpId="0"/>
      <p:bldP spid="44" grpId="0"/>
      <p:bldP spid="46" grpId="0"/>
      <p:bldP spid="47" grpId="0"/>
      <p:bldP spid="41" grpId="0"/>
      <p:bldP spid="48" grpId="0"/>
      <p:bldP spid="50" grpId="0"/>
      <p:bldP spid="51" grpId="0"/>
      <p:bldP spid="52" grpId="0"/>
      <p:bldP spid="53" grpId="0"/>
      <p:bldP spid="54" grpId="0"/>
      <p:bldP spid="16" grpId="0" animBg="1"/>
      <p:bldP spid="55" grpId="0" animBg="1"/>
      <p:bldP spid="20" grpId="0"/>
      <p:bldP spid="5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3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35268" y="1898986"/>
            <a:ext cx="8321051" cy="2892470"/>
          </a:xfrm>
          <a:solidFill>
            <a:schemeClr val="bg1"/>
          </a:solidFill>
        </p:spPr>
        <p:txBody>
          <a:bodyPr/>
          <a:lstStyle/>
          <a:p>
            <a:pPr marL="158750" indent="0">
              <a:buNone/>
            </a:pPr>
            <a:endParaRPr lang="en-AU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82466" y="0"/>
            <a:ext cx="8209850" cy="572700"/>
          </a:xfrm>
        </p:spPr>
        <p:txBody>
          <a:bodyPr/>
          <a:lstStyle/>
          <a:p>
            <a:r>
              <a:rPr lang="en-AU" dirty="0"/>
              <a:t>I Do            		 We Do			You Do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l="22949" t="30014" r="29231" b="41268"/>
          <a:stretch/>
        </p:blipFill>
        <p:spPr>
          <a:xfrm>
            <a:off x="335268" y="497615"/>
            <a:ext cx="8321051" cy="281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694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3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38562" y="182880"/>
            <a:ext cx="8531118" cy="4490821"/>
          </a:xfrm>
          <a:solidFill>
            <a:schemeClr val="bg1"/>
          </a:solidFill>
        </p:spPr>
        <p:txBody>
          <a:bodyPr/>
          <a:lstStyle/>
          <a:p>
            <a:endParaRPr lang="en-AU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l="28167" t="16852" r="30750" b="38407"/>
          <a:stretch/>
        </p:blipFill>
        <p:spPr>
          <a:xfrm>
            <a:off x="338562" y="182880"/>
            <a:ext cx="5577840" cy="341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292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60284"/>
            <a:ext cx="8700654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</a:t>
            </a:r>
            <a:endParaRPr lang="en-AU" sz="1800" dirty="0">
              <a:latin typeface="Chalkboard"/>
              <a:cs typeface="Chalkboard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73287" y="1097287"/>
            <a:ext cx="13852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When can we use this in real life?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92550" y="876139"/>
            <a:ext cx="2533436" cy="33855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AU" sz="1600" dirty="0"/>
              <a:t>Quick Write – 60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830" y="886691"/>
            <a:ext cx="49134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003055" y="166255"/>
            <a:ext cx="3753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Algebra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7555" y="486145"/>
            <a:ext cx="31694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dirty="0">
                <a:solidFill>
                  <a:schemeClr val="tx1"/>
                </a:solidFill>
              </a:rPr>
              <a:t>How do we substitute into a formula? 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70333" y="1473705"/>
            <a:ext cx="63310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Calculating costs and wages is the most common everyday uses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90246" y="2185827"/>
            <a:ext cx="60107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Calculating time it takes to arrive somewhere based on speed, or calculating the speed you need to travel to get somewhere by a certain amount of time</a:t>
            </a:r>
          </a:p>
          <a:p>
            <a:endParaRPr lang="en-AU" sz="1600" dirty="0"/>
          </a:p>
          <a:p>
            <a:endParaRPr lang="en-AU" sz="1600" dirty="0"/>
          </a:p>
          <a:p>
            <a:endParaRPr lang="en-AU" sz="1600" dirty="0"/>
          </a:p>
          <a:p>
            <a:endParaRPr lang="en-AU" sz="1600" dirty="0"/>
          </a:p>
          <a:p>
            <a:endParaRPr lang="en-AU" sz="1600" dirty="0"/>
          </a:p>
          <a:p>
            <a:r>
              <a:rPr lang="en-AU" sz="1600" dirty="0"/>
              <a:t>Paying off loans or paying rent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7042" y="3339989"/>
            <a:ext cx="578104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Comparing prices of items of different amounts to calculate total cost to make a recipe</a:t>
            </a:r>
          </a:p>
          <a:p>
            <a:endParaRPr lang="en-AU" dirty="0"/>
          </a:p>
        </p:txBody>
      </p:sp>
      <p:pic>
        <p:nvPicPr>
          <p:cNvPr id="19" name="Picture 18" descr="Coins on calculator free image downloa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7326" y="3740430"/>
            <a:ext cx="1876005" cy="125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45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4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99" y="639192"/>
            <a:ext cx="8321761" cy="41868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3440" y="863600"/>
            <a:ext cx="796072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Hannah has two different job offers and she is trying to decide which one will get her the most money each week. Hannah is available to work 8 hours every Monday – Friday.</a:t>
            </a:r>
          </a:p>
          <a:p>
            <a:endParaRPr lang="en-AU" dirty="0"/>
          </a:p>
          <a:p>
            <a:r>
              <a:rPr lang="en-AU" dirty="0"/>
              <a:t>Job A: earns $20 p/h and a daily bonus of $10 </a:t>
            </a:r>
          </a:p>
          <a:p>
            <a:r>
              <a:rPr lang="en-AU" dirty="0"/>
              <a:t>Job B: earns $22 p/h but she has no daily bonus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0240" y="2166650"/>
            <a:ext cx="6797040" cy="30777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AU" dirty="0"/>
              <a:t>Quickly take a guess which one do you think will be the best option for Hannah?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645920" y="2540635"/>
                <a:ext cx="50817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Formula: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×8+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×5=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𝑡𝑜𝑡𝑎𝑙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𝑒𝑎𝑟𝑛𝑖𝑛𝑔𝑠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𝑓𝑜𝑟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𝑡h𝑒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𝑤𝑒𝑒𝑘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920" y="2540635"/>
                <a:ext cx="5081730" cy="307777"/>
              </a:xfrm>
              <a:prstGeom prst="rect">
                <a:avLst/>
              </a:prstGeom>
              <a:blipFill>
                <a:blip r:embed="rId4"/>
                <a:stretch>
                  <a:fillRect l="-360" t="-4000" b="-2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558799" y="3020497"/>
            <a:ext cx="42875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Job A :  e = _______     b = 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6241" y="3531648"/>
            <a:ext cx="42875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Job B :  e = _______     b = 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399" y="4450376"/>
            <a:ext cx="7792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Job A has now told Hannah she will instead earn $21 per hour. Should she take that job now?</a:t>
            </a:r>
          </a:p>
        </p:txBody>
      </p:sp>
    </p:spTree>
    <p:extLst>
      <p:ext uri="{BB962C8B-B14F-4D97-AF65-F5344CB8AC3E}">
        <p14:creationId xmlns:p14="http://schemas.microsoft.com/office/powerpoint/2010/main" val="2230035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theme/theme1.xml><?xml version="1.0" encoding="utf-8"?>
<a:theme xmlns:a="http://schemas.openxmlformats.org/drawingml/2006/main" name="Rainbow Background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4ADBD"/>
      </a:accent1>
      <a:accent2>
        <a:srgbClr val="A2D242"/>
      </a:accent2>
      <a:accent3>
        <a:srgbClr val="FCE243"/>
      </a:accent3>
      <a:accent4>
        <a:srgbClr val="EF6B20"/>
      </a:accent4>
      <a:accent5>
        <a:srgbClr val="AD242B"/>
      </a:accent5>
      <a:accent6>
        <a:srgbClr val="AE2D5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inbow Background by Slidesgo" id="{46D7DCF1-5261-4805-AE31-BEDD5E59F30E}" vid="{99090F41-B61B-4833-A699-F16AB6F86A0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4305</TotalTime>
  <Words>594</Words>
  <Application>Microsoft Office PowerPoint</Application>
  <PresentationFormat>On-screen Show (16:9)</PresentationFormat>
  <Paragraphs>109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Fredoka One</vt:lpstr>
      <vt:lpstr>Cambria Math</vt:lpstr>
      <vt:lpstr>Chalkboard</vt:lpstr>
      <vt:lpstr>Abel</vt:lpstr>
      <vt:lpstr>Arial</vt:lpstr>
      <vt:lpstr>Rainbow Background by Slidesgo</vt:lpstr>
      <vt:lpstr>Topic: Algebra EQ: How do we substitue into a formula?</vt:lpstr>
      <vt:lpstr>PowerPoint Presentation</vt:lpstr>
      <vt:lpstr>PowerPoint Presentation</vt:lpstr>
      <vt:lpstr>PowerPoint Presentation</vt:lpstr>
      <vt:lpstr>I Do               We Do   You Do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Rainbow Background</dc:title>
  <dc:creator>MCLEOD Alexandria</dc:creator>
  <cp:lastModifiedBy>Sarah James</cp:lastModifiedBy>
  <cp:revision>31</cp:revision>
  <cp:lastPrinted>2021-08-11T22:04:24Z</cp:lastPrinted>
  <dcterms:modified xsi:type="dcterms:W3CDTF">2021-11-30T01:08:27Z</dcterms:modified>
</cp:coreProperties>
</file>
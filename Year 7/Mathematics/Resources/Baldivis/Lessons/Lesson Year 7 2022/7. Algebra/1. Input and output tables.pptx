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77" r:id="rId5"/>
    <p:sldId id="262" r:id="rId6"/>
    <p:sldId id="272" r:id="rId7"/>
    <p:sldId id="264" r:id="rId8"/>
    <p:sldId id="263" r:id="rId9"/>
    <p:sldId id="273" r:id="rId10"/>
    <p:sldId id="278" r:id="rId11"/>
    <p:sldId id="279" r:id="rId12"/>
    <p:sldId id="280" r:id="rId13"/>
    <p:sldId id="275" r:id="rId14"/>
    <p:sldId id="276" r:id="rId15"/>
    <p:sldId id="281" r:id="rId16"/>
    <p:sldId id="26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3" autoAdjust="0"/>
    <p:restoredTop sz="94660"/>
  </p:normalViewPr>
  <p:slideViewPr>
    <p:cSldViewPr snapToGrid="0">
      <p:cViewPr>
        <p:scale>
          <a:sx n="93" d="100"/>
          <a:sy n="93" d="100"/>
        </p:scale>
        <p:origin x="72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845633-5575-43E0-A09A-F03881A5088F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1B6915-95D6-494D-98EA-69E1B9047BE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222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5933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3307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4993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62933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02238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5443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7891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Multiply by 2 subtract</a:t>
            </a:r>
            <a:r>
              <a:rPr lang="en-AU" baseline="0" dirty="0"/>
              <a:t> 1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7827E9-E448-4956-899E-2EE1DBEB759B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60488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7827E9-E448-4956-899E-2EE1DBEB759B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48751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3482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Pattern</a:t>
            </a:r>
            <a:r>
              <a:rPr lang="en-AU" baseline="0" dirty="0"/>
              <a:t> sleuthing WS is page 6 on the “unit Patterns teacher resource” PDF on connect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7827E9-E448-4956-899E-2EE1DBEB759B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12653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642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D4442-E2ED-4E5C-B042-F3B11A25F8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33921D-D42D-4CF9-BC64-336FE0935B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4A5F9-865B-4F08-BD10-65052F2C0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2DA78-564F-4F7D-B430-2F141BD4A202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9083D-D8FB-4EC0-8B3A-9CC82A0E9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334BE-A4C7-463D-AA9F-F5C97CA10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547B9-7628-41E0-BA62-E214E86A8F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6310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6F04E-B5E7-43C5-B64C-2721B5C2D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8117D-F8F0-4072-B696-B86135C37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D41D4-F88D-4837-8986-7B46763E2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2DA78-564F-4F7D-B430-2F141BD4A202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8AAEF-250D-4FDF-88D4-45581888D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1958D-9FA2-42BA-BA3F-51FD1047A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547B9-7628-41E0-BA62-E214E86A8F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472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5BD39-3E19-46F0-855F-4A87C78BC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ADFC8C-3691-4B23-849E-B2E73230F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AD316-FEB3-4C3B-99FD-F6F2F38C5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2DA78-564F-4F7D-B430-2F141BD4A202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06E7A1-6D3B-4C09-AAA8-0739ACDA3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9129B-77A4-4D3A-B907-106C09C82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547B9-7628-41E0-BA62-E214E86A8F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6820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7910A-F39D-455C-9E35-F9F07D4A8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16E3F-4DBA-49C4-A360-0C218704F1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4D6FF1-1C1B-4F67-B93E-2FA3C9F849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68C1B-8B8F-43E7-AAE5-5F4C71660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2DA78-564F-4F7D-B430-2F141BD4A202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3EC8D4-F9F9-4CAC-BC8F-648C31C71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5732B9-CE0E-49C9-B324-2FDADEB7F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547B9-7628-41E0-BA62-E214E86A8F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4577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70731-66BC-4986-9936-B583C64AF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366265-D87C-409C-AE58-B65D9C6EDE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69C57-CB26-486E-8662-42546F529B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7A1D63-B8B5-45B3-BFE0-51BECC47DD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FF5995-F2A9-46AD-9D23-5D0BAD78FE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D77926-4825-4FEE-8FD2-CEC853D78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2DA78-564F-4F7D-B430-2F141BD4A202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AEAE0B-35D4-47C7-8A2C-5BD863567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47EF5D-A356-4A8E-9876-7EAADFBCC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547B9-7628-41E0-BA62-E214E86A8F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2064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94CE4-600A-488B-89FD-83AD1DD88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0DB4B4-E940-4B4E-9B0D-EAD9CF5FF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2DA78-564F-4F7D-B430-2F141BD4A202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FBC30D-7038-4D32-B4DB-E98A7788D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9D9C04-125F-4A1A-913C-0691990AC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547B9-7628-41E0-BA62-E214E86A8F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4043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EA5CD4-41D9-4A26-B901-F1A907F11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2DA78-564F-4F7D-B430-2F141BD4A202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DD2F7-E10D-4EE1-A2D7-A0AFB5F70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07A13-90A0-48EB-85EA-5D5ACED4B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547B9-7628-41E0-BA62-E214E86A8F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17786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8705F-1204-4DCC-A7FF-91A8CDEF3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0E85A-321A-450E-982F-24BE830D8D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1FAB06-2E1C-40ED-A21D-5D4E0DCB14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ED89E2-78EB-4010-A969-C742E99CB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2DA78-564F-4F7D-B430-2F141BD4A202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8C00E0-B72D-45D4-9E4A-3583CA2D0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9E1500-6320-438A-945F-9D71F888E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547B9-7628-41E0-BA62-E214E86A8F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5277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6CB56-E360-47AB-ADBB-AA17AE9A4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428148-3DB4-4823-8FE5-5AA029578A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F50C6D-BAEB-42CB-B084-C51600864D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03C6D0-752C-4EA0-A23A-16E745371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2DA78-564F-4F7D-B430-2F141BD4A202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E46DC1-A0A7-4505-BA5D-10A33D0F8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C87C2-6621-4D90-96D3-945F27E98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547B9-7628-41E0-BA62-E214E86A8F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9349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97898-48DD-4013-A2BF-0E411E13E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291FC7-FA8D-4236-9CBD-AEC16D5CF0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55CB1-7D2B-463D-A15B-A2608128A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2DA78-564F-4F7D-B430-2F141BD4A202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943B8-9E41-43F8-B82C-2C67416AE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6F835-B700-4F22-BD07-45F428847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547B9-7628-41E0-BA62-E214E86A8F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2378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8C087A-5B0B-4969-B8AA-8766991261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CDCA47-FA92-4DBB-A878-ECB7455116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4754A-0EAA-433E-BFB4-22D46F09D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2DA78-564F-4F7D-B430-2F141BD4A202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D1C8C-E064-4656-AF60-0465BE785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3FC50-31DC-4288-B5CA-33C79BF61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547B9-7628-41E0-BA62-E214E86A8F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91724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9050919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9403998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53857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687CA2-A3E3-4819-A947-36F182BC2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E2139-3F63-413B-9AA2-BC42BADFA4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776B4-1ED5-4DCC-A8AD-A05705061D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2DA78-564F-4F7D-B430-2F141BD4A202}" type="datetimeFigureOut">
              <a:rPr lang="en-AU" smtClean="0"/>
              <a:t>30/11/2021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6A295-E7EA-408B-9165-0B4F34F51A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9656E-D9D4-4208-AE8A-A8803876A2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A547B9-7628-41E0-BA62-E214E86A8F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7467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945E9-8BD8-4079-9DCE-8EA186422D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NEW TOPIC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0E85C0-0656-4A56-BFB8-1D2E86C020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Algebra</a:t>
            </a:r>
          </a:p>
        </p:txBody>
      </p:sp>
    </p:spTree>
    <p:extLst>
      <p:ext uri="{BB962C8B-B14F-4D97-AF65-F5344CB8AC3E}">
        <p14:creationId xmlns:p14="http://schemas.microsoft.com/office/powerpoint/2010/main" val="3472631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>
            <a:off x="6024081" y="0"/>
            <a:ext cx="0" cy="684399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-1" y="841913"/>
            <a:ext cx="6024082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1194274" y="495010"/>
            <a:ext cx="0" cy="6348989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479064" y="100023"/>
            <a:ext cx="1036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704" y="423829"/>
            <a:ext cx="631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Page</a:t>
            </a:r>
          </a:p>
        </p:txBody>
      </p:sp>
      <p:cxnSp>
        <p:nvCxnSpPr>
          <p:cNvPr id="16" name="Straight Connector 15"/>
          <p:cNvCxnSpPr>
            <a:cxnSpLocks/>
          </p:cNvCxnSpPr>
          <p:nvPr/>
        </p:nvCxnSpPr>
        <p:spPr>
          <a:xfrm>
            <a:off x="2927646" y="513634"/>
            <a:ext cx="0" cy="633036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805725" y="423829"/>
            <a:ext cx="625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3724" y="423829"/>
            <a:ext cx="139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6792" y="126304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Glossary or Formula Page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BB7B08-4440-4D2D-BEB5-0FCF84FF1817}"/>
              </a:ext>
            </a:extLst>
          </p:cNvPr>
          <p:cNvCxnSpPr>
            <a:cxnSpLocks/>
          </p:cNvCxnSpPr>
          <p:nvPr/>
        </p:nvCxnSpPr>
        <p:spPr>
          <a:xfrm>
            <a:off x="6065355" y="841913"/>
            <a:ext cx="6126645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B009663-A17A-419F-A984-AD0140476DA4}"/>
              </a:ext>
            </a:extLst>
          </p:cNvPr>
          <p:cNvCxnSpPr>
            <a:cxnSpLocks/>
          </p:cNvCxnSpPr>
          <p:nvPr/>
        </p:nvCxnSpPr>
        <p:spPr>
          <a:xfrm>
            <a:off x="7259630" y="495010"/>
            <a:ext cx="0" cy="6348989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0818468-9124-4B90-B3CB-D7E5860EA908}"/>
              </a:ext>
            </a:extLst>
          </p:cNvPr>
          <p:cNvSpPr txBox="1"/>
          <p:nvPr/>
        </p:nvSpPr>
        <p:spPr>
          <a:xfrm>
            <a:off x="6241706" y="423829"/>
            <a:ext cx="928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Word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40C921-A454-4175-9605-5FE38A08D796}"/>
              </a:ext>
            </a:extLst>
          </p:cNvPr>
          <p:cNvSpPr txBox="1"/>
          <p:nvPr/>
        </p:nvSpPr>
        <p:spPr>
          <a:xfrm>
            <a:off x="7647597" y="423829"/>
            <a:ext cx="1538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>
            <a:off x="5947484" y="0"/>
            <a:ext cx="0" cy="685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4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6024082" y="620688"/>
            <a:ext cx="6167918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/>
        </p:nvCxnSpPr>
        <p:spPr>
          <a:xfrm>
            <a:off x="6024082" y="1196752"/>
            <a:ext cx="6167918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6057262" y="5680798"/>
            <a:ext cx="6095911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7392144" y="1196752"/>
            <a:ext cx="0" cy="4484046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05746" y="-8452"/>
            <a:ext cx="431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3241" y="749956"/>
            <a:ext cx="15323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44734" y="1280374"/>
            <a:ext cx="13665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7262" y="1253432"/>
            <a:ext cx="9200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1726" y="5795386"/>
            <a:ext cx="8780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30653" y="128245"/>
            <a:ext cx="7296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Tasks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0549AA-3BC3-4787-9316-32BE6C85A247}"/>
              </a:ext>
            </a:extLst>
          </p:cNvPr>
          <p:cNvSpPr txBox="1"/>
          <p:nvPr/>
        </p:nvSpPr>
        <p:spPr>
          <a:xfrm>
            <a:off x="6757892" y="312911"/>
            <a:ext cx="563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91" y="86310"/>
            <a:ext cx="8531316" cy="31097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4137" y="2682241"/>
            <a:ext cx="849956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u="sng" dirty="0"/>
              <a:t>Warm Up</a:t>
            </a:r>
          </a:p>
          <a:p>
            <a:r>
              <a:rPr lang="en-AU" dirty="0"/>
              <a:t>Each of these squares is made of matchsticks.</a:t>
            </a:r>
          </a:p>
          <a:p>
            <a:pPr marL="342900" indent="-342900">
              <a:buAutoNum type="arabicPeriod"/>
            </a:pPr>
            <a:r>
              <a:rPr lang="en-AU" dirty="0"/>
              <a:t>Draw the image on your page</a:t>
            </a:r>
          </a:p>
          <a:p>
            <a:pPr marL="342900" indent="-342900">
              <a:buAutoNum type="arabicPeriod"/>
            </a:pPr>
            <a:r>
              <a:rPr lang="en-AU" dirty="0"/>
              <a:t>Count the number of smaller squares and number of matchsticks in each image</a:t>
            </a:r>
          </a:p>
          <a:p>
            <a:pPr marL="342900" indent="-342900">
              <a:buAutoNum type="arabicPeriod"/>
            </a:pPr>
            <a:r>
              <a:rPr lang="en-AU" dirty="0"/>
              <a:t>Draw what you think the next image would look like</a:t>
            </a:r>
          </a:p>
          <a:p>
            <a:pPr lvl="2"/>
            <a:r>
              <a:rPr lang="en-AU" dirty="0"/>
              <a:t>How many smaller squares are in it?</a:t>
            </a:r>
          </a:p>
          <a:p>
            <a:pPr lvl="2"/>
            <a:r>
              <a:rPr lang="en-AU" dirty="0"/>
              <a:t>How many matchsticks are in it?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504" y="4561927"/>
            <a:ext cx="5900646" cy="20081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851764" y="6244908"/>
            <a:ext cx="4598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Extension: Try the same thing with this image</a:t>
            </a:r>
          </a:p>
        </p:txBody>
      </p:sp>
    </p:spTree>
    <p:extLst>
      <p:ext uri="{BB962C8B-B14F-4D97-AF65-F5344CB8AC3E}">
        <p14:creationId xmlns:p14="http://schemas.microsoft.com/office/powerpoint/2010/main" val="1255156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18189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Algebra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Using rules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to find a rule from a number pattern?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5" y="1580871"/>
            <a:ext cx="9544926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Math can be used to describe relationships in the word around us.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F9B8031-BEBE-4272-A1FC-DC4B67934F40}"/>
              </a:ext>
            </a:extLst>
          </p:cNvPr>
          <p:cNvSpPr txBox="1"/>
          <p:nvPr/>
        </p:nvSpPr>
        <p:spPr>
          <a:xfrm>
            <a:off x="0" y="2499446"/>
            <a:ext cx="1845938" cy="267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Sequence</a:t>
            </a:r>
          </a:p>
          <a:p>
            <a:pPr algn="ctr" defTabSz="914126"/>
            <a:endParaRPr lang="en-US" sz="2399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endParaRPr lang="en-US" sz="2399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Term</a:t>
            </a:r>
          </a:p>
          <a:p>
            <a:pPr algn="ctr" defTabSz="914126"/>
            <a:endParaRPr lang="en-US" sz="2399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endParaRPr lang="en-US" sz="2399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Rule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75F6CE-28AB-4606-8A31-F8BFE1BE4A19}"/>
              </a:ext>
            </a:extLst>
          </p:cNvPr>
          <p:cNvSpPr txBox="1"/>
          <p:nvPr/>
        </p:nvSpPr>
        <p:spPr>
          <a:xfrm>
            <a:off x="2087662" y="2499446"/>
            <a:ext cx="9544926" cy="267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A number pattern can be called a </a:t>
            </a:r>
            <a:r>
              <a:rPr lang="en-AU" sz="2399" b="1" dirty="0">
                <a:solidFill>
                  <a:srgbClr val="7030A0"/>
                </a:solidFill>
                <a:latin typeface="Calibri" panose="020F0502020204030204"/>
              </a:rPr>
              <a:t>sequence</a:t>
            </a:r>
          </a:p>
          <a:p>
            <a:pPr defTabSz="914126"/>
            <a:endParaRPr lang="en-AU" sz="2399" b="1" dirty="0">
              <a:solidFill>
                <a:srgbClr val="7030A0"/>
              </a:solidFill>
              <a:latin typeface="Calibri" panose="020F0502020204030204"/>
            </a:endParaRPr>
          </a:p>
          <a:p>
            <a:pPr defTabSz="914126"/>
            <a:endParaRPr lang="en-AU" sz="2399" b="1" dirty="0">
              <a:solidFill>
                <a:srgbClr val="7030A0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latin typeface="Calibri" panose="020F0502020204030204"/>
              </a:rPr>
              <a:t>Each number in the sequence is called a </a:t>
            </a:r>
            <a:r>
              <a:rPr lang="en-AU" sz="2399" b="1" dirty="0">
                <a:solidFill>
                  <a:srgbClr val="00B050"/>
                </a:solidFill>
                <a:latin typeface="Calibri" panose="020F0502020204030204"/>
              </a:rPr>
              <a:t>term</a:t>
            </a:r>
          </a:p>
          <a:p>
            <a:pPr defTabSz="914126"/>
            <a:endParaRPr lang="en-AU" sz="2399" dirty="0">
              <a:latin typeface="Calibri" panose="020F0502020204030204"/>
            </a:endParaRPr>
          </a:p>
          <a:p>
            <a:pPr defTabSz="914126"/>
            <a:endParaRPr lang="en-AU" sz="2399" dirty="0">
              <a:latin typeface="Calibri" panose="020F0502020204030204"/>
            </a:endParaRPr>
          </a:p>
          <a:p>
            <a:pPr defTabSz="914126"/>
            <a:r>
              <a:rPr lang="en-US" sz="2399" dirty="0">
                <a:latin typeface="Calibri" panose="020F0502020204030204"/>
              </a:rPr>
              <a:t>A sequence has a </a:t>
            </a:r>
            <a:r>
              <a:rPr lang="en-US" sz="2399" b="1" dirty="0">
                <a:solidFill>
                  <a:srgbClr val="FFC000"/>
                </a:solidFill>
                <a:latin typeface="Calibri" panose="020F0502020204030204"/>
              </a:rPr>
              <a:t>rule</a:t>
            </a:r>
            <a:r>
              <a:rPr lang="en-US" sz="2399" dirty="0">
                <a:latin typeface="Calibri" panose="020F0502020204030204"/>
              </a:rPr>
              <a:t> that describes the pattern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E970A8-6C4E-4AED-B1E4-0793FADD1828}"/>
              </a:ext>
            </a:extLst>
          </p:cNvPr>
          <p:cNvSpPr/>
          <p:nvPr/>
        </p:nvSpPr>
        <p:spPr>
          <a:xfrm>
            <a:off x="5195737" y="5126149"/>
            <a:ext cx="63610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4400" b="1" dirty="0"/>
              <a:t>0, 1, 1, 2, 3, 5, 8, 13, 21, 34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035449-1289-474B-8965-2393599BD117}"/>
              </a:ext>
            </a:extLst>
          </p:cNvPr>
          <p:cNvSpPr/>
          <p:nvPr/>
        </p:nvSpPr>
        <p:spPr>
          <a:xfrm>
            <a:off x="5209804" y="5895590"/>
            <a:ext cx="64227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There are some famous rules! Anyone know the name of this one?</a:t>
            </a:r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5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18189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Algebra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to find a rule from a number pattern?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8106D046-CDDB-4206-9E55-8BA860F8C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" y="1485640"/>
            <a:ext cx="12192000" cy="399611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70C2D23-7BE1-4CDA-91A0-26BE55E2C2B2}"/>
              </a:ext>
            </a:extLst>
          </p:cNvPr>
          <p:cNvSpPr/>
          <p:nvPr/>
        </p:nvSpPr>
        <p:spPr>
          <a:xfrm>
            <a:off x="289545" y="3551411"/>
            <a:ext cx="6536009" cy="11975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CE8165-A8B3-404D-A706-A78E0FB6B257}"/>
              </a:ext>
            </a:extLst>
          </p:cNvPr>
          <p:cNvSpPr/>
          <p:nvPr/>
        </p:nvSpPr>
        <p:spPr>
          <a:xfrm>
            <a:off x="7008434" y="3551412"/>
            <a:ext cx="5022732" cy="7374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CA3D4B-2F91-4032-AC28-33F7F52B3A77}"/>
              </a:ext>
            </a:extLst>
          </p:cNvPr>
          <p:cNvSpPr/>
          <p:nvPr/>
        </p:nvSpPr>
        <p:spPr>
          <a:xfrm>
            <a:off x="234990" y="4713047"/>
            <a:ext cx="5286805" cy="5550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93B75C-6F8B-4380-BCC4-4C866494E30C}"/>
              </a:ext>
            </a:extLst>
          </p:cNvPr>
          <p:cNvSpPr/>
          <p:nvPr/>
        </p:nvSpPr>
        <p:spPr>
          <a:xfrm>
            <a:off x="6695014" y="4748980"/>
            <a:ext cx="5286805" cy="5550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3256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12F244-AE21-43A3-A983-C47711E30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39788"/>
            <a:ext cx="12192000" cy="1289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18189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Algebra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Input and Output Tables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to find a rule from a number pattern?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ED3B19D7-6175-47BF-A1F6-5757F1D17B2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294" t="16144" r="3663"/>
          <a:stretch/>
        </p:blipFill>
        <p:spPr>
          <a:xfrm>
            <a:off x="1939805" y="1423915"/>
            <a:ext cx="10190333" cy="396219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ED6BFB4-F03D-4425-AC62-E3685B0953E4}"/>
              </a:ext>
            </a:extLst>
          </p:cNvPr>
          <p:cNvSpPr/>
          <p:nvPr/>
        </p:nvSpPr>
        <p:spPr>
          <a:xfrm>
            <a:off x="1938208" y="1951558"/>
            <a:ext cx="10161363" cy="23184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393B72-26A5-4146-8D85-80149F007B17}"/>
              </a:ext>
            </a:extLst>
          </p:cNvPr>
          <p:cNvSpPr/>
          <p:nvPr/>
        </p:nvSpPr>
        <p:spPr>
          <a:xfrm>
            <a:off x="1938214" y="4349827"/>
            <a:ext cx="10161353" cy="12250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2196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18189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Algebra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to find a rule from a number pattern?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670C2D23-7BE1-4CDA-91A0-26BE55E2C2B2}"/>
              </a:ext>
            </a:extLst>
          </p:cNvPr>
          <p:cNvSpPr/>
          <p:nvPr/>
        </p:nvSpPr>
        <p:spPr>
          <a:xfrm>
            <a:off x="77168" y="2489528"/>
            <a:ext cx="5202755" cy="3893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0" y="1596572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Finding a rule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8107" y="1458194"/>
            <a:ext cx="6190154" cy="21066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-100728" y="4882287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Building a table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927741" y="4952032"/>
          <a:ext cx="710385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2847">
                  <a:extLst>
                    <a:ext uri="{9D8B030D-6E8A-4147-A177-3AD203B41FA5}">
                      <a16:colId xmlns:a16="http://schemas.microsoft.com/office/drawing/2014/main" val="2755340605"/>
                    </a:ext>
                  </a:extLst>
                </a:gridCol>
                <a:gridCol w="1123406">
                  <a:extLst>
                    <a:ext uri="{9D8B030D-6E8A-4147-A177-3AD203B41FA5}">
                      <a16:colId xmlns:a16="http://schemas.microsoft.com/office/drawing/2014/main" val="2525304060"/>
                    </a:ext>
                  </a:extLst>
                </a:gridCol>
                <a:gridCol w="1384663">
                  <a:extLst>
                    <a:ext uri="{9D8B030D-6E8A-4147-A177-3AD203B41FA5}">
                      <a16:colId xmlns:a16="http://schemas.microsoft.com/office/drawing/2014/main" val="485954607"/>
                    </a:ext>
                  </a:extLst>
                </a:gridCol>
                <a:gridCol w="1254034">
                  <a:extLst>
                    <a:ext uri="{9D8B030D-6E8A-4147-A177-3AD203B41FA5}">
                      <a16:colId xmlns:a16="http://schemas.microsoft.com/office/drawing/2014/main" val="655471768"/>
                    </a:ext>
                  </a:extLst>
                </a:gridCol>
                <a:gridCol w="1198900">
                  <a:extLst>
                    <a:ext uri="{9D8B030D-6E8A-4147-A177-3AD203B41FA5}">
                      <a16:colId xmlns:a16="http://schemas.microsoft.com/office/drawing/2014/main" val="3841615138"/>
                    </a:ext>
                  </a:extLst>
                </a:gridCol>
              </a:tblGrid>
              <a:tr h="432772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Input </a:t>
                      </a:r>
                    </a:p>
                    <a:p>
                      <a:pPr algn="ctr"/>
                      <a:r>
                        <a:rPr lang="en-AU" sz="1600" b="0" dirty="0"/>
                        <a:t>(image number)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3857851"/>
                  </a:ext>
                </a:extLst>
              </a:tr>
              <a:tr h="432772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Output </a:t>
                      </a:r>
                    </a:p>
                    <a:p>
                      <a:pPr algn="ctr"/>
                      <a:r>
                        <a:rPr lang="en-AU" sz="1400" dirty="0"/>
                        <a:t>(number</a:t>
                      </a:r>
                      <a:r>
                        <a:rPr lang="en-AU" sz="1400" baseline="0" dirty="0"/>
                        <a:t> of triangles)</a:t>
                      </a:r>
                      <a:endParaRPr lang="en-A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3976425"/>
                  </a:ext>
                </a:extLst>
              </a:tr>
            </a:tbl>
          </a:graphicData>
        </a:graphic>
      </p:graphicFrame>
      <p:grpSp>
        <p:nvGrpSpPr>
          <p:cNvPr id="25" name="Group 24"/>
          <p:cNvGrpSpPr/>
          <p:nvPr/>
        </p:nvGrpSpPr>
        <p:grpSpPr>
          <a:xfrm>
            <a:off x="-78622" y="3466524"/>
            <a:ext cx="11840169" cy="1415763"/>
            <a:chOff x="-22638" y="3847562"/>
            <a:chExt cx="11840169" cy="1415763"/>
          </a:xfrm>
        </p:grpSpPr>
        <p:sp>
          <p:nvSpPr>
            <p:cNvPr id="19" name="TextBox 18"/>
            <p:cNvSpPr txBox="1"/>
            <p:nvPr/>
          </p:nvSpPr>
          <p:spPr>
            <a:xfrm>
              <a:off x="1920240" y="3964349"/>
              <a:ext cx="1845938" cy="4615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126"/>
              <a:r>
                <a:rPr lang="en-US" sz="2399" b="1" dirty="0">
                  <a:solidFill>
                    <a:prstClr val="black"/>
                  </a:solidFill>
                  <a:latin typeface="Fragment Core" panose="02000504040000020003" pitchFamily="50" charset="0"/>
                </a:rPr>
                <a:t>Picture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571161" y="3897808"/>
              <a:ext cx="1845938" cy="4615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126"/>
              <a:r>
                <a:rPr lang="en-US" sz="2399" b="1" dirty="0">
                  <a:solidFill>
                    <a:prstClr val="black"/>
                  </a:solidFill>
                  <a:latin typeface="Fragment Core" panose="02000504040000020003" pitchFamily="50" charset="0"/>
                </a:rPr>
                <a:t>Table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474007" y="3847562"/>
              <a:ext cx="1845938" cy="4615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126"/>
              <a:r>
                <a:rPr lang="en-US" sz="2399" b="1" dirty="0">
                  <a:solidFill>
                    <a:prstClr val="black"/>
                  </a:solidFill>
                  <a:latin typeface="Fragment Core" panose="02000504040000020003" pitchFamily="50" charset="0"/>
                </a:rPr>
                <a:t>Rule</a:t>
              </a:r>
            </a:p>
          </p:txBody>
        </p:sp>
        <p:cxnSp>
          <p:nvCxnSpPr>
            <p:cNvPr id="9" name="Straight Arrow Connector 8"/>
            <p:cNvCxnSpPr/>
            <p:nvPr/>
          </p:nvCxnSpPr>
          <p:spPr>
            <a:xfrm>
              <a:off x="3977148" y="4188340"/>
              <a:ext cx="489597" cy="14258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7621570" y="4110853"/>
              <a:ext cx="489597" cy="14258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-22638" y="3910220"/>
              <a:ext cx="1845938" cy="4615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126"/>
              <a:r>
                <a:rPr lang="en-US" sz="2399" b="1" dirty="0">
                  <a:solidFill>
                    <a:prstClr val="black"/>
                  </a:solidFill>
                  <a:latin typeface="Fragment Core" panose="02000504040000020003" pitchFamily="50" charset="0"/>
                </a:rPr>
                <a:t>Steps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801194" y="4339995"/>
              <a:ext cx="347872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126"/>
              <a:r>
                <a:rPr lang="en-US" b="1" dirty="0">
                  <a:solidFill>
                    <a:prstClr val="black"/>
                  </a:solidFill>
                  <a:latin typeface="Fragment Core" panose="02000504040000020003" pitchFamily="50" charset="0"/>
                </a:rPr>
                <a:t>Determine from the picture what you will be counting (smaller triangles or matchsticks in this case)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633621" y="4383592"/>
              <a:ext cx="192912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126"/>
              <a:r>
                <a:rPr lang="en-US" b="1" dirty="0">
                  <a:solidFill>
                    <a:prstClr val="black"/>
                  </a:solidFill>
                  <a:latin typeface="Fragment Core" panose="02000504040000020003" pitchFamily="50" charset="0"/>
                </a:rPr>
                <a:t>Fill out your input output table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9263037" y="4339995"/>
              <a:ext cx="25544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126"/>
              <a:r>
                <a:rPr lang="en-US" b="1" dirty="0">
                  <a:solidFill>
                    <a:prstClr val="black"/>
                  </a:solidFill>
                  <a:latin typeface="Fragment Core" panose="02000504040000020003" pitchFamily="50" charset="0"/>
                </a:rPr>
                <a:t>What is the relationship between the numbers? </a:t>
              </a: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7162112" y="4365749"/>
            <a:ext cx="253523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US" b="1" dirty="0">
                <a:solidFill>
                  <a:prstClr val="black"/>
                </a:solidFill>
                <a:latin typeface="Fragment Core" panose="02000504040000020003" pitchFamily="50" charset="0"/>
              </a:rPr>
              <a:t>Can you use this to guess the next image?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06758" y="5598363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11874" y="5021053"/>
            <a:ext cx="255449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US" b="1" dirty="0">
                <a:solidFill>
                  <a:prstClr val="black"/>
                </a:solidFill>
                <a:latin typeface="Fragment Core" panose="02000504040000020003" pitchFamily="50" charset="0"/>
              </a:rPr>
              <a:t>THINK PAIR SHARE</a:t>
            </a:r>
          </a:p>
          <a:p>
            <a:pPr algn="ctr" defTabSz="914126"/>
            <a:r>
              <a:rPr lang="en-US" b="1" dirty="0">
                <a:solidFill>
                  <a:prstClr val="black"/>
                </a:solidFill>
                <a:latin typeface="Fragment Core" panose="02000504040000020003" pitchFamily="50" charset="0"/>
              </a:rPr>
              <a:t>Can you find a relationship between the input numbers and output numbers?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-78622" y="6143058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Rule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44949" y="6225215"/>
            <a:ext cx="999701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Each input number is multiplied by itself (squared) to get to the output number</a:t>
            </a:r>
          </a:p>
        </p:txBody>
      </p:sp>
    </p:spTree>
    <p:extLst>
      <p:ext uri="{BB962C8B-B14F-4D97-AF65-F5344CB8AC3E}">
        <p14:creationId xmlns:p14="http://schemas.microsoft.com/office/powerpoint/2010/main" val="2816617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1" grpId="0"/>
      <p:bldP spid="35" grpId="0"/>
      <p:bldP spid="36" grpId="0" animBg="1"/>
      <p:bldP spid="37" grpId="0"/>
      <p:bldP spid="3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995474" y="4094077"/>
          <a:ext cx="710385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2847">
                  <a:extLst>
                    <a:ext uri="{9D8B030D-6E8A-4147-A177-3AD203B41FA5}">
                      <a16:colId xmlns:a16="http://schemas.microsoft.com/office/drawing/2014/main" val="2755340605"/>
                    </a:ext>
                  </a:extLst>
                </a:gridCol>
                <a:gridCol w="1123406">
                  <a:extLst>
                    <a:ext uri="{9D8B030D-6E8A-4147-A177-3AD203B41FA5}">
                      <a16:colId xmlns:a16="http://schemas.microsoft.com/office/drawing/2014/main" val="2525304060"/>
                    </a:ext>
                  </a:extLst>
                </a:gridCol>
                <a:gridCol w="1384663">
                  <a:extLst>
                    <a:ext uri="{9D8B030D-6E8A-4147-A177-3AD203B41FA5}">
                      <a16:colId xmlns:a16="http://schemas.microsoft.com/office/drawing/2014/main" val="485954607"/>
                    </a:ext>
                  </a:extLst>
                </a:gridCol>
                <a:gridCol w="1254034">
                  <a:extLst>
                    <a:ext uri="{9D8B030D-6E8A-4147-A177-3AD203B41FA5}">
                      <a16:colId xmlns:a16="http://schemas.microsoft.com/office/drawing/2014/main" val="655471768"/>
                    </a:ext>
                  </a:extLst>
                </a:gridCol>
                <a:gridCol w="1198900">
                  <a:extLst>
                    <a:ext uri="{9D8B030D-6E8A-4147-A177-3AD203B41FA5}">
                      <a16:colId xmlns:a16="http://schemas.microsoft.com/office/drawing/2014/main" val="3841615138"/>
                    </a:ext>
                  </a:extLst>
                </a:gridCol>
              </a:tblGrid>
              <a:tr h="432772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Input </a:t>
                      </a:r>
                    </a:p>
                    <a:p>
                      <a:pPr algn="ctr"/>
                      <a:r>
                        <a:rPr lang="en-AU" sz="1600" b="0" dirty="0"/>
                        <a:t>(image number)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3857851"/>
                  </a:ext>
                </a:extLst>
              </a:tr>
              <a:tr h="432772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Output </a:t>
                      </a:r>
                    </a:p>
                    <a:p>
                      <a:pPr algn="ctr"/>
                      <a:r>
                        <a:rPr lang="en-AU" sz="1400" dirty="0"/>
                        <a:t>(number</a:t>
                      </a:r>
                      <a:r>
                        <a:rPr lang="en-AU" sz="1400" baseline="0" dirty="0"/>
                        <a:t> of cubes)</a:t>
                      </a:r>
                      <a:endParaRPr lang="en-A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3976425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135" y="788322"/>
            <a:ext cx="10058400" cy="27097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0267" y="1185333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135" y="4100514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135" y="5700526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44735" y="5779911"/>
            <a:ext cx="10398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The input number is ______________ by _______ then _______________ to get to the output number.</a:t>
            </a:r>
          </a:p>
        </p:txBody>
      </p:sp>
    </p:spTree>
    <p:extLst>
      <p:ext uri="{BB962C8B-B14F-4D97-AF65-F5344CB8AC3E}">
        <p14:creationId xmlns:p14="http://schemas.microsoft.com/office/powerpoint/2010/main" val="4164901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995474" y="4094077"/>
          <a:ext cx="710385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2847">
                  <a:extLst>
                    <a:ext uri="{9D8B030D-6E8A-4147-A177-3AD203B41FA5}">
                      <a16:colId xmlns:a16="http://schemas.microsoft.com/office/drawing/2014/main" val="2755340605"/>
                    </a:ext>
                  </a:extLst>
                </a:gridCol>
                <a:gridCol w="1123406">
                  <a:extLst>
                    <a:ext uri="{9D8B030D-6E8A-4147-A177-3AD203B41FA5}">
                      <a16:colId xmlns:a16="http://schemas.microsoft.com/office/drawing/2014/main" val="2525304060"/>
                    </a:ext>
                  </a:extLst>
                </a:gridCol>
                <a:gridCol w="1384663">
                  <a:extLst>
                    <a:ext uri="{9D8B030D-6E8A-4147-A177-3AD203B41FA5}">
                      <a16:colId xmlns:a16="http://schemas.microsoft.com/office/drawing/2014/main" val="485954607"/>
                    </a:ext>
                  </a:extLst>
                </a:gridCol>
                <a:gridCol w="1254034">
                  <a:extLst>
                    <a:ext uri="{9D8B030D-6E8A-4147-A177-3AD203B41FA5}">
                      <a16:colId xmlns:a16="http://schemas.microsoft.com/office/drawing/2014/main" val="655471768"/>
                    </a:ext>
                  </a:extLst>
                </a:gridCol>
                <a:gridCol w="1198900">
                  <a:extLst>
                    <a:ext uri="{9D8B030D-6E8A-4147-A177-3AD203B41FA5}">
                      <a16:colId xmlns:a16="http://schemas.microsoft.com/office/drawing/2014/main" val="3841615138"/>
                    </a:ext>
                  </a:extLst>
                </a:gridCol>
              </a:tblGrid>
              <a:tr h="432772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Input </a:t>
                      </a:r>
                    </a:p>
                    <a:p>
                      <a:pPr algn="ctr"/>
                      <a:r>
                        <a:rPr lang="en-AU" sz="1600" b="0" dirty="0"/>
                        <a:t>(image number)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3857851"/>
                  </a:ext>
                </a:extLst>
              </a:tr>
              <a:tr h="432772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Output </a:t>
                      </a:r>
                    </a:p>
                    <a:p>
                      <a:pPr algn="ctr"/>
                      <a:r>
                        <a:rPr lang="en-AU" sz="1400" dirty="0"/>
                        <a:t>(number</a:t>
                      </a:r>
                      <a:r>
                        <a:rPr lang="en-AU" sz="1400" baseline="0" dirty="0"/>
                        <a:t> of footballs)</a:t>
                      </a:r>
                      <a:endParaRPr lang="en-A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397642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40267" y="1185333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135" y="4100514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1135" y="5700526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Rule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989" y="254215"/>
            <a:ext cx="8919144" cy="357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828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3E0D10-BBEF-44E1-AF63-9CA0E3601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" y="1423916"/>
            <a:ext cx="12192000" cy="5309616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18189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Algebra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to find a rule from a number pattern?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670C2D23-7BE1-4CDA-91A0-26BE55E2C2B2}"/>
              </a:ext>
            </a:extLst>
          </p:cNvPr>
          <p:cNvSpPr/>
          <p:nvPr/>
        </p:nvSpPr>
        <p:spPr>
          <a:xfrm>
            <a:off x="77168" y="2489528"/>
            <a:ext cx="5202755" cy="3893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F4E661-C636-4838-A036-036F3041502C}"/>
              </a:ext>
            </a:extLst>
          </p:cNvPr>
          <p:cNvSpPr/>
          <p:nvPr/>
        </p:nvSpPr>
        <p:spPr>
          <a:xfrm>
            <a:off x="1588" y="3597623"/>
            <a:ext cx="8245710" cy="856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17597E-21FF-4E65-A12B-59925C21D59B}"/>
              </a:ext>
            </a:extLst>
          </p:cNvPr>
          <p:cNvSpPr/>
          <p:nvPr/>
        </p:nvSpPr>
        <p:spPr>
          <a:xfrm>
            <a:off x="360465" y="4454012"/>
            <a:ext cx="8352882" cy="10087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7C9A07-6C60-4F1C-98B7-02C9CF25DC09}"/>
              </a:ext>
            </a:extLst>
          </p:cNvPr>
          <p:cNvSpPr/>
          <p:nvPr/>
        </p:nvSpPr>
        <p:spPr>
          <a:xfrm>
            <a:off x="418476" y="5579714"/>
            <a:ext cx="11771938" cy="10924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5366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8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7B4332-46EE-4E8F-BA3E-DB560852A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8564"/>
            <a:ext cx="12192000" cy="329637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437EFBC-8ED6-43F3-90F0-2F022CCD5340}"/>
              </a:ext>
            </a:extLst>
          </p:cNvPr>
          <p:cNvSpPr/>
          <p:nvPr/>
        </p:nvSpPr>
        <p:spPr>
          <a:xfrm>
            <a:off x="90077" y="2187677"/>
            <a:ext cx="10157101" cy="14404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FED232-49EB-4D5A-BAD8-862F98761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85763"/>
            <a:ext cx="12192000" cy="222666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15EED34-7A37-4CBC-BC24-A791160F1F43}"/>
              </a:ext>
            </a:extLst>
          </p:cNvPr>
          <p:cNvSpPr/>
          <p:nvPr/>
        </p:nvSpPr>
        <p:spPr>
          <a:xfrm>
            <a:off x="90076" y="4185762"/>
            <a:ext cx="10670347" cy="1088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052E8A-DA54-4BFE-91E0-4D138B3C14A6}"/>
              </a:ext>
            </a:extLst>
          </p:cNvPr>
          <p:cNvSpPr/>
          <p:nvPr/>
        </p:nvSpPr>
        <p:spPr>
          <a:xfrm>
            <a:off x="90075" y="5273927"/>
            <a:ext cx="11980005" cy="1088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2717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86578" y="1467556"/>
            <a:ext cx="3725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Pattern Sleuthing WS</a:t>
            </a:r>
          </a:p>
        </p:txBody>
      </p:sp>
      <p:pic>
        <p:nvPicPr>
          <p:cNvPr id="3" name="Picture 2" descr="Agri 007: Seed police on the prowl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9021" y="3849920"/>
            <a:ext cx="3322003" cy="270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48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E644B1-C790-4116-B200-5EF58D5B5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43350"/>
            <a:ext cx="6235455" cy="41811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C508AC-7226-485E-BB5A-0A9AB1E65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0810" y="1"/>
            <a:ext cx="6021189" cy="442451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8381F1F-54B1-4C8E-A01E-4FE5B1BCA46C}"/>
              </a:ext>
            </a:extLst>
          </p:cNvPr>
          <p:cNvSpPr/>
          <p:nvPr/>
        </p:nvSpPr>
        <p:spPr>
          <a:xfrm>
            <a:off x="1718549" y="5633337"/>
            <a:ext cx="86519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3600" b="1" dirty="0">
                <a:solidFill>
                  <a:srgbClr val="00B050"/>
                </a:solidFill>
              </a:rPr>
              <a:t>Complete Summary and Exit Pass once done</a:t>
            </a:r>
          </a:p>
        </p:txBody>
      </p:sp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456</Words>
  <Application>Microsoft Office PowerPoint</Application>
  <PresentationFormat>Widescreen</PresentationFormat>
  <Paragraphs>143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Fragment Core</vt:lpstr>
      <vt:lpstr>Office Theme</vt:lpstr>
      <vt:lpstr>NEW TOPIC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TOPIC</dc:title>
  <dc:creator>JAMES Sarah [Baldivis Secondary College]</dc:creator>
  <cp:lastModifiedBy>JAMES Sarah [Baldivis Secondary College]</cp:lastModifiedBy>
  <cp:revision>1</cp:revision>
  <dcterms:created xsi:type="dcterms:W3CDTF">2021-11-30T00:11:54Z</dcterms:created>
  <dcterms:modified xsi:type="dcterms:W3CDTF">2021-11-30T00:36:55Z</dcterms:modified>
</cp:coreProperties>
</file>
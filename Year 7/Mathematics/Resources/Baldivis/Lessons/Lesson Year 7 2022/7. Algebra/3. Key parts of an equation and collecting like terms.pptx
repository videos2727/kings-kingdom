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309" r:id="rId3"/>
    <p:sldId id="307" r:id="rId4"/>
    <p:sldId id="259" r:id="rId5"/>
    <p:sldId id="262" r:id="rId6"/>
    <p:sldId id="30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1" y="2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4F171-321C-4EFD-877A-C7013BA1C28A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7D16BE-4266-4E43-A6CF-E71E35C995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0097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Could print out</a:t>
            </a:r>
            <a:r>
              <a:rPr lang="en-AU" baseline="0" dirty="0"/>
              <a:t> the fill in the blank graphic organizer for them to glue in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241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Worksheet</a:t>
            </a:r>
            <a:r>
              <a:rPr lang="en-AU" baseline="0" dirty="0"/>
              <a:t> – Collecting Like Terms 2 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Have Sum Fun – 100 Why Shouldn’t you tell riddles while ice skating?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Go through the first 4 questions together then let</a:t>
            </a:r>
            <a:r>
              <a:rPr lang="en-AU" baseline="0" dirty="0"/>
              <a:t> them work independently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6700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ECE3A-C52C-41E8-9DD5-4BEF5E358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D89B6-A61B-4D99-B425-312755513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E9255-EC6B-467A-BC82-3682D6BEF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136C-9E05-4C93-B600-CEBA49DE74A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38947-3896-40E8-AC10-7702AA8D9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0D499-1AB9-4676-ADD3-5928722BB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0AE3-FD3B-4165-A5A6-38E5B0AF32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270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01149-1A3C-4647-99AE-BDD3F9005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64055-7A59-4367-B704-EA38891D3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4E314-3485-4E06-AFCE-29D277DF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136C-9E05-4C93-B600-CEBA49DE74A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C515A-52C3-4C18-8754-E2F016B20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78726-F4E8-489C-A63E-45FBEAA8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0AE3-FD3B-4165-A5A6-38E5B0AF32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595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5FCAF-84B5-4838-9901-DD72A98E9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1F5A4-9A4D-417B-8516-B831D3B3F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57C3C-833B-4DFD-9D70-BF4CB594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136C-9E05-4C93-B600-CEBA49DE74A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ECBB-08FE-4B4C-941B-1657DDE87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D59EC-621E-46AC-BBED-CCEC6702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0AE3-FD3B-4165-A5A6-38E5B0AF32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6819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13363-0AEC-4CCA-968B-CB31E53A1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A0F83-B428-4738-A331-447EF825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66332-72D8-4544-9B64-9B4377A03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264AA-2DAE-4D4C-B176-215ED4D0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136C-9E05-4C93-B600-CEBA49DE74A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6A032-A620-4F3F-86F6-9091ED2E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88DE7-6473-4053-88F4-89CC551A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0AE3-FD3B-4165-A5A6-38E5B0AF32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383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98B4A-938B-4CBD-B3F4-C56B4F5E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6386F-03D2-41D3-A589-9ED5E6794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10DC7-399C-46BC-B531-6C64F3FC7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705E8E-6A54-4C5E-9DE8-467D22E76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DB4645-5E80-44BB-A5AF-621046659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E79DE-B2B5-4F3F-9611-167D17059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136C-9E05-4C93-B600-CEBA49DE74A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DF9197-B80F-4789-AF2C-768E1DFC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F4851B-6C3E-46A0-B669-D27C1E80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0AE3-FD3B-4165-A5A6-38E5B0AF32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335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390D-0BB2-4E17-9492-EB6E96FCA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B2E4C0-343A-47FA-B577-E7B4CF9E8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136C-9E05-4C93-B600-CEBA49DE74A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AD5A5A-5BB3-45BD-A12D-5C91CF887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3A3CF-3D8E-446C-9DC1-5832529B4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0AE3-FD3B-4165-A5A6-38E5B0AF32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3167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30FAAE-C90C-46E4-B5C8-5074E544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136C-9E05-4C93-B600-CEBA49DE74A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CEABFE-28AD-494A-A48C-64AD3063B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2C363-7F05-4246-958C-3B8D068BF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0AE3-FD3B-4165-A5A6-38E5B0AF32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6455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F0CC2-3B3F-4180-804C-61BF510F8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5FB23-171D-4DD7-A873-ADFA3EDC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D1CA8-DBFE-4472-B5E4-86B709790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AAA86-76F1-4FF4-942B-498286E24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136C-9E05-4C93-B600-CEBA49DE74A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EACD1-1420-47F0-99F9-D332F698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63A88-735C-4D3E-A855-374137BE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0AE3-FD3B-4165-A5A6-38E5B0AF32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0268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2AA1C-0514-4D3F-BC08-D09F732AC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EA54AF-1E13-421F-8CF4-5959A106B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D3E2D-587F-4F0E-9FD8-C92D00218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C5BEB-DE98-4C1C-BDDD-A73BEE737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136C-9E05-4C93-B600-CEBA49DE74A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B0B4F-C874-4595-96B5-974EDB73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2E1C5-D153-4835-BBA0-78DBC83F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0AE3-FD3B-4165-A5A6-38E5B0AF32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3061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EDB4C-1166-4F96-8BA5-E65AF9B5A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62B811-E4EE-40D3-9D84-F39B4FA3E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8D9DE-7DAA-49A0-BD6F-FE74C2444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136C-9E05-4C93-B600-CEBA49DE74A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E1FEF-AC4F-4500-B15D-920CE24E2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4F76C-2AC5-4BD0-95C3-32E1EC8ED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0AE3-FD3B-4165-A5A6-38E5B0AF32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347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D3F966-EAC2-44D0-99B8-D502B3B305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B5F61-4D8B-48D3-9F79-3F2805F40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FD8A3-D5FA-4DAA-99E8-0DC3E3DBD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136C-9E05-4C93-B600-CEBA49DE74A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7E126-60AB-4696-9BAF-1869CFAD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9CCB9-1C83-4DC5-A017-7650459EF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0AE3-FD3B-4165-A5A6-38E5B0AF32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656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3221800" y="3969140"/>
            <a:ext cx="5748400" cy="4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467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3061800" y="2466867"/>
            <a:ext cx="6068400" cy="4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5730212" y="6225668"/>
            <a:ext cx="731600" cy="52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ctr"/>
            <a:fld id="{00000000-1234-1234-1234-123412341234}" type="slidenum">
              <a:rPr lang="en" smtClean="0"/>
              <a:pPr algn="ctr"/>
              <a:t>‹#›</a:t>
            </a:fld>
            <a:endParaRPr lang="en"/>
          </a:p>
        </p:txBody>
      </p:sp>
      <p:cxnSp>
        <p:nvCxnSpPr>
          <p:cNvPr id="40" name="Google Shape;40;p5"/>
          <p:cNvCxnSpPr/>
          <p:nvPr/>
        </p:nvCxnSpPr>
        <p:spPr>
          <a:xfrm>
            <a:off x="4739011" y="6491201"/>
            <a:ext cx="991200" cy="56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6461811" y="6491201"/>
            <a:ext cx="991200" cy="56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828933" y="1034000"/>
            <a:ext cx="874400" cy="8744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" name="Google Shape;43;p5"/>
          <p:cNvSpPr/>
          <p:nvPr/>
        </p:nvSpPr>
        <p:spPr>
          <a:xfrm>
            <a:off x="3283933" y="4743167"/>
            <a:ext cx="874400" cy="8744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" name="Google Shape;44;p5"/>
          <p:cNvSpPr/>
          <p:nvPr/>
        </p:nvSpPr>
        <p:spPr>
          <a:xfrm>
            <a:off x="7547067" y="260100"/>
            <a:ext cx="524800" cy="52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23059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 + BULLET POIN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8269067" y="5136367"/>
            <a:ext cx="874400" cy="8744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8"/>
          <p:cNvSpPr/>
          <p:nvPr/>
        </p:nvSpPr>
        <p:spPr>
          <a:xfrm>
            <a:off x="373733" y="746733"/>
            <a:ext cx="2378800" cy="2378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" name="Google Shape;80;p8"/>
          <p:cNvSpPr/>
          <p:nvPr/>
        </p:nvSpPr>
        <p:spPr>
          <a:xfrm>
            <a:off x="9791467" y="4718333"/>
            <a:ext cx="524800" cy="52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1089967" y="931433"/>
            <a:ext cx="591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1089967" y="2531981"/>
            <a:ext cx="5918000" cy="29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467">
                <a:solidFill>
                  <a:schemeClr val="lt1"/>
                </a:solidFill>
              </a:defRPr>
            </a:lvl1pPr>
            <a:lvl2pPr marL="1219170" lvl="1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467">
                <a:solidFill>
                  <a:schemeClr val="lt1"/>
                </a:solidFill>
              </a:defRPr>
            </a:lvl2pPr>
            <a:lvl3pPr marL="1828754" lvl="2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467">
                <a:solidFill>
                  <a:schemeClr val="lt1"/>
                </a:solidFill>
              </a:defRPr>
            </a:lvl3pPr>
            <a:lvl4pPr marL="2438339" lvl="3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467">
                <a:solidFill>
                  <a:schemeClr val="lt1"/>
                </a:solidFill>
              </a:defRPr>
            </a:lvl4pPr>
            <a:lvl5pPr marL="3047924" lvl="4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467">
                <a:solidFill>
                  <a:schemeClr val="lt1"/>
                </a:solidFill>
              </a:defRPr>
            </a:lvl5pPr>
            <a:lvl6pPr marL="3657509" lvl="5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467">
                <a:solidFill>
                  <a:schemeClr val="lt1"/>
                </a:solidFill>
              </a:defRPr>
            </a:lvl6pPr>
            <a:lvl7pPr marL="4267093" lvl="6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467">
                <a:solidFill>
                  <a:schemeClr val="lt1"/>
                </a:solidFill>
              </a:defRPr>
            </a:lvl7pPr>
            <a:lvl8pPr marL="4876678" lvl="7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467">
                <a:solidFill>
                  <a:schemeClr val="lt1"/>
                </a:solidFill>
              </a:defRPr>
            </a:lvl8pPr>
            <a:lvl9pPr marL="5486263" lvl="8" indent="-397923" rtl="0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100"/>
              <a:buChar char="■"/>
              <a:defRPr sz="14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sldNum" idx="12"/>
          </p:nvPr>
        </p:nvSpPr>
        <p:spPr>
          <a:xfrm>
            <a:off x="5730212" y="62316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84" name="Google Shape;84;p8"/>
          <p:cNvCxnSpPr/>
          <p:nvPr/>
        </p:nvCxnSpPr>
        <p:spPr>
          <a:xfrm>
            <a:off x="4739011" y="6491201"/>
            <a:ext cx="991200" cy="56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8"/>
          <p:cNvCxnSpPr/>
          <p:nvPr/>
        </p:nvCxnSpPr>
        <p:spPr>
          <a:xfrm>
            <a:off x="6461811" y="6491201"/>
            <a:ext cx="991200" cy="56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30003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4C488-2697-406C-88A7-9E8039EBE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2AC11-FA7B-41B0-8909-21AF27294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9BB-6C8F-4EF8-ACB0-A4017D19C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1136C-9E05-4C93-B600-CEBA49DE74A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E6D78-5D10-4491-973F-F74CBBC29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DB8F5-B308-4D08-B9CA-8296DACD8F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40AE3-FD3B-4165-A5A6-38E5B0AF32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211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2309091" y="2253674"/>
            <a:ext cx="7887855" cy="217978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/>
              <a:t>Topic: </a:t>
            </a:r>
            <a:r>
              <a:rPr lang="en-GB" dirty="0"/>
              <a:t>Algebra</a:t>
            </a:r>
            <a:br>
              <a:rPr lang="en" dirty="0"/>
            </a:br>
            <a:r>
              <a:rPr lang="en" sz="2667" dirty="0"/>
              <a:t>EQ: What are the key parts of an equation and how do we collect like terms?</a:t>
            </a:r>
            <a:endParaRPr sz="2667" dirty="0"/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821419" y="6334915"/>
            <a:ext cx="5748400" cy="42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AU" dirty="0">
                <a:solidFill>
                  <a:srgbClr val="FFFFFF"/>
                </a:solidFill>
              </a:rPr>
              <a:t>Mrs. McLeod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2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3000" t="73000" r="24750" b="9222"/>
          <a:stretch/>
        </p:blipFill>
        <p:spPr>
          <a:xfrm>
            <a:off x="944880" y="679095"/>
            <a:ext cx="10302240" cy="243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4750" t="19815" r="24167" b="56037"/>
          <a:stretch/>
        </p:blipFill>
        <p:spPr>
          <a:xfrm>
            <a:off x="944880" y="3070799"/>
            <a:ext cx="10302240" cy="273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70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18857" y="49281"/>
            <a:ext cx="11600872" cy="67011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5730212" y="6225668"/>
            <a:ext cx="731600" cy="524800"/>
          </a:xfrm>
          <a:prstGeom prst="rect">
            <a:avLst/>
          </a:prstGeom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fld id="{00000000-1234-1234-1234-123412341234}" type="slidenum">
              <a:rPr lang="en">
                <a:solidFill>
                  <a:srgbClr val="FFFFFF"/>
                </a:solidFill>
              </a:rPr>
              <a:pPr algn="ctr"/>
              <a:t>3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437796" y="611696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474191" y="1091336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3965" y="49281"/>
            <a:ext cx="6465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47414" y="80379"/>
            <a:ext cx="834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598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7796" y="49601"/>
            <a:ext cx="998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</a:t>
            </a:r>
            <a:endParaRPr lang="en-AU" sz="24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670741" y="1091336"/>
            <a:ext cx="22100" cy="5563464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70741" y="221674"/>
            <a:ext cx="5004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Algebra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3407" y="648194"/>
            <a:ext cx="9057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400" dirty="0"/>
              <a:t>What are the key parts of a equation and how do we collect like terms?</a:t>
            </a:r>
            <a:endParaRPr lang="en-AU" sz="24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/>
          <a:srcRect l="13590" t="33393" r="29615" b="5256"/>
          <a:stretch/>
        </p:blipFill>
        <p:spPr>
          <a:xfrm>
            <a:off x="2736714" y="1332855"/>
            <a:ext cx="7228317" cy="4392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08904" y="1332855"/>
            <a:ext cx="2023077" cy="341632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Add to glossary: </a:t>
            </a:r>
          </a:p>
          <a:p>
            <a:r>
              <a:rPr lang="en-AU" sz="2400" dirty="0"/>
              <a:t>Coefficient</a:t>
            </a:r>
          </a:p>
          <a:p>
            <a:r>
              <a:rPr lang="en-AU" sz="2400" dirty="0"/>
              <a:t>Variable</a:t>
            </a:r>
          </a:p>
          <a:p>
            <a:r>
              <a:rPr lang="en-AU" sz="2400" dirty="0"/>
              <a:t>Operation</a:t>
            </a:r>
          </a:p>
          <a:p>
            <a:r>
              <a:rPr lang="en-AU" sz="2400" dirty="0"/>
              <a:t>Constant</a:t>
            </a:r>
          </a:p>
          <a:p>
            <a:r>
              <a:rPr lang="en-AU" sz="2400" dirty="0"/>
              <a:t>Term</a:t>
            </a:r>
          </a:p>
          <a:p>
            <a:r>
              <a:rPr lang="en-AU" sz="2400" dirty="0"/>
              <a:t>Expression</a:t>
            </a:r>
          </a:p>
          <a:p>
            <a:r>
              <a:rPr lang="en-AU" sz="2400" dirty="0"/>
              <a:t>Equation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214" y="2543443"/>
            <a:ext cx="14051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Parts of an Equation</a:t>
            </a:r>
          </a:p>
        </p:txBody>
      </p:sp>
    </p:spTree>
    <p:extLst>
      <p:ext uri="{BB962C8B-B14F-4D97-AF65-F5344CB8AC3E}">
        <p14:creationId xmlns:p14="http://schemas.microsoft.com/office/powerpoint/2010/main" val="38935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10769" y="67240"/>
            <a:ext cx="11600872" cy="67011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5730212" y="6225668"/>
            <a:ext cx="731600" cy="524800"/>
          </a:xfrm>
          <a:prstGeom prst="rect">
            <a:avLst/>
          </a:prstGeom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fld id="{00000000-1234-1234-1234-123412341234}" type="slidenum">
              <a:rPr lang="en">
                <a:solidFill>
                  <a:srgbClr val="FFFFFF"/>
                </a:solidFill>
              </a:rPr>
              <a:pPr algn="ctr"/>
              <a:t>4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437796" y="611696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474191" y="1091336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3965" y="49281"/>
            <a:ext cx="6465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47414" y="80379"/>
            <a:ext cx="834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598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7796" y="49601"/>
            <a:ext cx="998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</a:t>
            </a:r>
            <a:endParaRPr lang="en-AU" sz="24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670741" y="1091336"/>
            <a:ext cx="22100" cy="5563464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11474" y="1693473"/>
            <a:ext cx="1525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a like term?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5108" y="1182256"/>
            <a:ext cx="6551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997638" y="1212529"/>
            <a:ext cx="6912980" cy="830997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sz="2400" dirty="0" err="1">
                <a:solidFill>
                  <a:srgbClr val="002060"/>
                </a:solidFill>
              </a:rPr>
              <a:t>QuickWrite</a:t>
            </a:r>
            <a:r>
              <a:rPr lang="en-AU" sz="2400" dirty="0">
                <a:solidFill>
                  <a:srgbClr val="002060"/>
                </a:solidFill>
              </a:rPr>
              <a:t>! 60 seconds what do you think this could mean?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2839" y="1693473"/>
            <a:ext cx="78889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Terms that have the same variables to the same powers (we will not be working with powers in year 7 though)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741" y="221674"/>
            <a:ext cx="5004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Algebra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3407" y="648194"/>
            <a:ext cx="9219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400" dirty="0"/>
              <a:t>What are the key parts of an equation and how do we collect like terms?</a:t>
            </a:r>
            <a:endParaRPr lang="en-AU" sz="24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2769653" y="3551785"/>
            <a:ext cx="2165489" cy="1856024"/>
            <a:chOff x="368491" y="1671079"/>
            <a:chExt cx="4653602" cy="4895497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440551"/>
              <a:ext cx="1568640" cy="1568640"/>
            </a:xfrm>
            <a:prstGeom prst="rect">
              <a:avLst/>
            </a:prstGeom>
          </p:spPr>
        </p:pic>
        <p:sp>
          <p:nvSpPr>
            <p:cNvPr id="23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2811049" y="3812853"/>
              <a:ext cx="1103671" cy="1196340"/>
            </a:xfrm>
            <a:prstGeom prst="rect">
              <a:avLst/>
            </a:prstGeom>
          </p:spPr>
          <p:txBody>
            <a:bodyPr vert="horz" lIns="121920" tIns="60960" rIns="121920" bIns="60960" rtlCol="0">
              <a:normAutofit fontScale="47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6400" b="1" dirty="0"/>
                <a:t>m</a:t>
              </a:r>
            </a:p>
            <a:p>
              <a:pPr marL="0" indent="0">
                <a:buNone/>
              </a:pPr>
              <a:endParaRPr lang="en-AU" sz="5867" b="1" dirty="0">
                <a:cs typeface="Calibri" panose="020F0502020204030204" pitchFamily="34" charset="0"/>
              </a:endParaRPr>
            </a:p>
            <a:p>
              <a:pPr marL="0" indent="0">
                <a:buNone/>
              </a:pPr>
              <a:endParaRPr lang="en-US" sz="6400" b="1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223622" y="3590004"/>
            <a:ext cx="2199847" cy="1814280"/>
            <a:chOff x="368491" y="1671079"/>
            <a:chExt cx="4653602" cy="4895497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440551"/>
              <a:ext cx="1568640" cy="1568640"/>
            </a:xfrm>
            <a:prstGeom prst="rect">
              <a:avLst/>
            </a:prstGeom>
          </p:spPr>
        </p:pic>
        <p:sp>
          <p:nvSpPr>
            <p:cNvPr id="27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2811049" y="3812853"/>
              <a:ext cx="1103671" cy="1196340"/>
            </a:xfrm>
            <a:prstGeom prst="rect">
              <a:avLst/>
            </a:prstGeom>
          </p:spPr>
          <p:txBody>
            <a:bodyPr vert="horz" lIns="121920" tIns="60960" rIns="121920" bIns="60960" rtlCol="0">
              <a:normAutofit fontScale="47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6400" b="1" dirty="0"/>
                <a:t>m</a:t>
              </a:r>
            </a:p>
            <a:p>
              <a:pPr marL="0" indent="0">
                <a:buNone/>
              </a:pPr>
              <a:endParaRPr lang="en-AU" sz="5867" b="1" dirty="0">
                <a:cs typeface="Calibri" panose="020F0502020204030204" pitchFamily="34" charset="0"/>
              </a:endParaRPr>
            </a:p>
            <a:p>
              <a:pPr marL="0" indent="0">
                <a:buNone/>
              </a:pPr>
              <a:endParaRPr lang="en-US" sz="6400" b="1" dirty="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530442" y="3301983"/>
            <a:ext cx="463506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We’ve got 2 lots of “m” number of blocks</a:t>
            </a:r>
          </a:p>
          <a:p>
            <a:endParaRPr lang="en-AU" sz="2400" dirty="0"/>
          </a:p>
          <a:p>
            <a:r>
              <a:rPr lang="en-AU" sz="2400" dirty="0"/>
              <a:t> </a:t>
            </a:r>
            <a:r>
              <a:rPr lang="en-AU" sz="2400" dirty="0" err="1"/>
              <a:t>m+m</a:t>
            </a:r>
            <a:r>
              <a:rPr lang="en-AU" sz="2400" dirty="0"/>
              <a:t> is one way we could write this </a:t>
            </a:r>
          </a:p>
          <a:p>
            <a:endParaRPr lang="en-AU" sz="2400" dirty="0"/>
          </a:p>
          <a:p>
            <a:r>
              <a:rPr lang="en-AU" sz="2400" dirty="0"/>
              <a:t>But these are LIKE TERMS so we can combine with a coefficient of 2</a:t>
            </a:r>
          </a:p>
          <a:p>
            <a:endParaRPr lang="en-AU" sz="2400" dirty="0"/>
          </a:p>
          <a:p>
            <a:r>
              <a:rPr lang="en-AU" sz="2400" dirty="0"/>
              <a:t>2m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9235" y="2496367"/>
            <a:ext cx="78889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Like terms can be simplified by collecting them together and writing the variable and a coefficient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 txBox="1">
            <a:spLocks noGrp="1"/>
          </p:cNvSpPr>
          <p:nvPr>
            <p:ph type="title"/>
          </p:nvPr>
        </p:nvSpPr>
        <p:spPr>
          <a:xfrm>
            <a:off x="68164" y="177492"/>
            <a:ext cx="8994264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>
                <a:solidFill>
                  <a:srgbClr val="FFFFFF"/>
                </a:solidFill>
              </a:rPr>
              <a:t>Collecting Like Terms Practice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11" name="Google Shape;411;p43"/>
          <p:cNvSpPr txBox="1">
            <a:spLocks noGrp="1"/>
          </p:cNvSpPr>
          <p:nvPr>
            <p:ph type="body" idx="1"/>
          </p:nvPr>
        </p:nvSpPr>
        <p:spPr>
          <a:xfrm>
            <a:off x="613787" y="1162378"/>
            <a:ext cx="2805275" cy="51667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AU" sz="3733" dirty="0">
                <a:solidFill>
                  <a:schemeClr val="tx1"/>
                </a:solidFill>
              </a:rPr>
              <a:t>I do </a:t>
            </a:r>
          </a:p>
          <a:p>
            <a:pPr marL="0" indent="0">
              <a:buNone/>
            </a:pPr>
            <a:endParaRPr lang="en-AU" sz="3733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AU" sz="3733" dirty="0">
                <a:solidFill>
                  <a:schemeClr val="tx1"/>
                </a:solidFill>
              </a:rPr>
              <a:t>1) </a:t>
            </a:r>
            <a:r>
              <a:rPr lang="en-AU" sz="3733" dirty="0" err="1">
                <a:solidFill>
                  <a:schemeClr val="tx1"/>
                </a:solidFill>
              </a:rPr>
              <a:t>b+b+b</a:t>
            </a:r>
            <a:endParaRPr lang="en-AU" sz="3733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AU" sz="3733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AU" sz="3733" dirty="0">
                <a:solidFill>
                  <a:schemeClr val="tx1"/>
                </a:solidFill>
              </a:rPr>
              <a:t>2) 2a + 4a</a:t>
            </a:r>
          </a:p>
          <a:p>
            <a:pPr marL="0" indent="0">
              <a:buNone/>
            </a:pPr>
            <a:endParaRPr lang="en-AU" sz="3733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AU" sz="3733" dirty="0">
                <a:solidFill>
                  <a:schemeClr val="tx1"/>
                </a:solidFill>
              </a:rPr>
              <a:t>3) 10c-4c -2e</a:t>
            </a:r>
          </a:p>
          <a:p>
            <a:pPr marL="0" indent="0">
              <a:buNone/>
            </a:pPr>
            <a:endParaRPr sz="3733" dirty="0">
              <a:solidFill>
                <a:srgbClr val="FFFFFF"/>
              </a:solidFill>
            </a:endParaRPr>
          </a:p>
        </p:txBody>
      </p:sp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5730212" y="6231601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/>
          </a:p>
        </p:txBody>
      </p:sp>
      <p:sp>
        <p:nvSpPr>
          <p:cNvPr id="5" name="Google Shape;411;p43"/>
          <p:cNvSpPr txBox="1">
            <a:spLocks/>
          </p:cNvSpPr>
          <p:nvPr/>
        </p:nvSpPr>
        <p:spPr>
          <a:xfrm>
            <a:off x="4327575" y="1162380"/>
            <a:ext cx="3225267" cy="51667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●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○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■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●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○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■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●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○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Abel"/>
              <a:buChar char="■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>
              <a:buNone/>
            </a:pPr>
            <a:r>
              <a:rPr lang="en-AU" sz="3733" dirty="0">
                <a:solidFill>
                  <a:schemeClr val="tx1"/>
                </a:solidFill>
              </a:rPr>
              <a:t>We </a:t>
            </a:r>
            <a:r>
              <a:rPr lang="pl-PL" sz="3733" dirty="0">
                <a:solidFill>
                  <a:schemeClr val="tx1"/>
                </a:solidFill>
              </a:rPr>
              <a:t>do </a:t>
            </a:r>
          </a:p>
          <a:p>
            <a:pPr marL="0" indent="0">
              <a:buNone/>
            </a:pPr>
            <a:endParaRPr lang="pl-PL" sz="3733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l-PL" sz="3733" dirty="0">
                <a:solidFill>
                  <a:schemeClr val="tx1"/>
                </a:solidFill>
              </a:rPr>
              <a:t>1)</a:t>
            </a:r>
            <a:r>
              <a:rPr lang="en-AU" sz="3733" dirty="0">
                <a:solidFill>
                  <a:schemeClr val="tx1"/>
                </a:solidFill>
              </a:rPr>
              <a:t> </a:t>
            </a:r>
            <a:r>
              <a:rPr lang="en-AU" sz="3733" dirty="0" err="1">
                <a:solidFill>
                  <a:schemeClr val="tx1"/>
                </a:solidFill>
              </a:rPr>
              <a:t>c+c+c+c+c</a:t>
            </a:r>
            <a:endParaRPr lang="en-AU" sz="3733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pl-PL" sz="3733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l-PL" sz="3733" dirty="0">
                <a:solidFill>
                  <a:schemeClr val="tx1"/>
                </a:solidFill>
              </a:rPr>
              <a:t>2)</a:t>
            </a:r>
            <a:r>
              <a:rPr lang="en-AU" sz="3733" dirty="0">
                <a:solidFill>
                  <a:schemeClr val="tx1"/>
                </a:solidFill>
              </a:rPr>
              <a:t> e + 4e</a:t>
            </a:r>
          </a:p>
          <a:p>
            <a:pPr marL="0" indent="0">
              <a:buNone/>
            </a:pPr>
            <a:endParaRPr lang="pl-PL" sz="3733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l-PL" sz="3733" dirty="0">
                <a:solidFill>
                  <a:schemeClr val="tx1"/>
                </a:solidFill>
              </a:rPr>
              <a:t>3)</a:t>
            </a:r>
            <a:r>
              <a:rPr lang="en-AU" sz="3733" dirty="0">
                <a:solidFill>
                  <a:schemeClr val="tx1"/>
                </a:solidFill>
              </a:rPr>
              <a:t> 2a+a+b</a:t>
            </a:r>
            <a:endParaRPr lang="pl-PL" sz="3733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pl-PL" sz="3733" dirty="0">
              <a:solidFill>
                <a:srgbClr val="FFFFFF"/>
              </a:solidFill>
            </a:endParaRPr>
          </a:p>
        </p:txBody>
      </p:sp>
      <p:sp>
        <p:nvSpPr>
          <p:cNvPr id="6" name="Google Shape;411;p43"/>
          <p:cNvSpPr txBox="1">
            <a:spLocks/>
          </p:cNvSpPr>
          <p:nvPr/>
        </p:nvSpPr>
        <p:spPr>
          <a:xfrm>
            <a:off x="8319067" y="1162377"/>
            <a:ext cx="3645349" cy="51667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●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○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■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●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○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■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●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○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Abel"/>
              <a:buChar char="■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>
              <a:buNone/>
            </a:pPr>
            <a:r>
              <a:rPr lang="en-AU" sz="3733" dirty="0">
                <a:solidFill>
                  <a:schemeClr val="tx1"/>
                </a:solidFill>
              </a:rPr>
              <a:t>You</a:t>
            </a:r>
            <a:r>
              <a:rPr lang="pl-PL" sz="3733" dirty="0">
                <a:solidFill>
                  <a:schemeClr val="tx1"/>
                </a:solidFill>
              </a:rPr>
              <a:t> do </a:t>
            </a:r>
          </a:p>
          <a:p>
            <a:pPr marL="0" indent="0">
              <a:buNone/>
            </a:pPr>
            <a:endParaRPr lang="pl-PL" sz="3733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l-PL" sz="3733" dirty="0">
                <a:solidFill>
                  <a:schemeClr val="tx1"/>
                </a:solidFill>
              </a:rPr>
              <a:t>1)</a:t>
            </a:r>
            <a:r>
              <a:rPr lang="en-AU" sz="3733" dirty="0">
                <a:solidFill>
                  <a:schemeClr val="tx1"/>
                </a:solidFill>
              </a:rPr>
              <a:t>5f + 2f</a:t>
            </a:r>
          </a:p>
          <a:p>
            <a:pPr marL="0" indent="0">
              <a:buNone/>
            </a:pPr>
            <a:endParaRPr lang="pl-PL" sz="3733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l-PL" sz="3733" dirty="0">
                <a:solidFill>
                  <a:schemeClr val="tx1"/>
                </a:solidFill>
              </a:rPr>
              <a:t>2)</a:t>
            </a:r>
            <a:r>
              <a:rPr lang="en-AU" sz="3733" dirty="0">
                <a:solidFill>
                  <a:schemeClr val="tx1"/>
                </a:solidFill>
              </a:rPr>
              <a:t> 3a – a</a:t>
            </a:r>
          </a:p>
          <a:p>
            <a:pPr marL="0" indent="0">
              <a:buNone/>
            </a:pPr>
            <a:endParaRPr lang="pl-PL" sz="3733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l-PL" sz="3733" dirty="0">
                <a:solidFill>
                  <a:schemeClr val="tx1"/>
                </a:solidFill>
              </a:rPr>
              <a:t>3)</a:t>
            </a:r>
            <a:r>
              <a:rPr lang="en-AU" sz="3733" dirty="0">
                <a:solidFill>
                  <a:schemeClr val="tx1"/>
                </a:solidFill>
              </a:rPr>
              <a:t> 6h + 2h +4r</a:t>
            </a:r>
            <a:endParaRPr lang="pl-PL" sz="3733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pl-PL" sz="3733" dirty="0">
              <a:solidFill>
                <a:srgbClr val="FFFFFF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52842" y="79920"/>
            <a:ext cx="4411575" cy="156966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Ask yourself:</a:t>
            </a:r>
          </a:p>
          <a:p>
            <a:r>
              <a:rPr lang="en-AU" sz="2400" dirty="0"/>
              <a:t>Are they like terms?</a:t>
            </a:r>
          </a:p>
          <a:p>
            <a:r>
              <a:rPr lang="en-AU" sz="2400" dirty="0"/>
              <a:t>Do they have the exact same variable?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983" y="6407589"/>
            <a:ext cx="50317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1"/>
                </a:solidFill>
              </a:rPr>
              <a:t>Worksheet – Collecting Like Terms 2 </a:t>
            </a:r>
          </a:p>
          <a:p>
            <a:endParaRPr lang="en-AU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17237" y="49281"/>
            <a:ext cx="11600872" cy="67011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5730212" y="6225668"/>
            <a:ext cx="731600" cy="524800"/>
          </a:xfrm>
          <a:prstGeom prst="rect">
            <a:avLst/>
          </a:prstGeom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fld id="{00000000-1234-1234-1234-123412341234}" type="slidenum">
              <a:rPr lang="en">
                <a:solidFill>
                  <a:srgbClr val="FFFFFF"/>
                </a:solidFill>
              </a:rPr>
              <a:pPr algn="ctr"/>
              <a:t>6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437796" y="611696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474191" y="1091336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3965" y="49281"/>
            <a:ext cx="6465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47414" y="80379"/>
            <a:ext cx="834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598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7796" y="49601"/>
            <a:ext cx="998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</a:t>
            </a:r>
            <a:endParaRPr lang="en-AU" sz="24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670741" y="1091336"/>
            <a:ext cx="22100" cy="5563464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11473" y="1693472"/>
            <a:ext cx="1847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do we simplify with multiplication or division?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79045" y="1488289"/>
            <a:ext cx="8109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Mathematicians simplify without multiplication symbols AND write variables in alphabetical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5108" y="1182256"/>
            <a:ext cx="6551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2670741" y="221674"/>
            <a:ext cx="5004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Algebra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3407" y="648194"/>
            <a:ext cx="9219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400" dirty="0"/>
              <a:t>What are the key parts of an equation and how do we collect like terms?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2999615" y="2370181"/>
            <a:ext cx="1760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 × a × 2     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044" y="3029079"/>
            <a:ext cx="8441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can combine the numbers (by multiplying or dividing) to make one coefficient in front of the variable, then list the variables in alphabetical order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3" y="2370181"/>
            <a:ext cx="1922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 × 2 × a      =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80545" y="2370181"/>
            <a:ext cx="1494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6 × a      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3289" y="2366225"/>
            <a:ext cx="1288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6a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6112" y="3865949"/>
            <a:ext cx="1996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 × f × 4 × t    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3079" y="3866090"/>
            <a:ext cx="1922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 × 4 × f × t 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6542" y="3864503"/>
            <a:ext cx="1846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8 × f × t     =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03289" y="3864504"/>
            <a:ext cx="1288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8ft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1767" y="3864503"/>
            <a:ext cx="936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Ex 1.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15319" y="4652857"/>
            <a:ext cx="936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Ex 2.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15319" y="5496477"/>
            <a:ext cx="936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Ex 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04067" y="4754494"/>
            <a:ext cx="271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5 × 10 × b × 2 × c    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40925" y="4741282"/>
            <a:ext cx="271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5 × 10 × 2 × b × c    =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0062" y="4759320"/>
            <a:ext cx="271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100 × b × c    =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9731" y="4728173"/>
            <a:ext cx="271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100bc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3604" y="5496477"/>
            <a:ext cx="1996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8 × m ÷ 2      =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8163" y="5464939"/>
            <a:ext cx="1996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8 ÷ 2 × m     =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97887" y="5464938"/>
            <a:ext cx="1996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 × m     =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1870" y="5433941"/>
            <a:ext cx="271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4m</a:t>
            </a:r>
          </a:p>
        </p:txBody>
      </p:sp>
    </p:spTree>
    <p:extLst>
      <p:ext uri="{BB962C8B-B14F-4D97-AF65-F5344CB8AC3E}">
        <p14:creationId xmlns:p14="http://schemas.microsoft.com/office/powerpoint/2010/main" val="306145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19" grpId="0"/>
      <p:bldP spid="37" grpId="0"/>
      <p:bldP spid="38" grpId="0"/>
      <p:bldP spid="39" grpId="0"/>
      <p:bldP spid="40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492</Words>
  <Application>Microsoft Office PowerPoint</Application>
  <PresentationFormat>Widescreen</PresentationFormat>
  <Paragraphs>105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Abel</vt:lpstr>
      <vt:lpstr>Arial</vt:lpstr>
      <vt:lpstr>Calibri</vt:lpstr>
      <vt:lpstr>Calibri Light</vt:lpstr>
      <vt:lpstr>Chalkboard</vt:lpstr>
      <vt:lpstr>Fredoka One</vt:lpstr>
      <vt:lpstr>Office Theme</vt:lpstr>
      <vt:lpstr>Topic: Algebra EQ: What are the key parts of an equation and how do we collect like terms?</vt:lpstr>
      <vt:lpstr>PowerPoint Presentation</vt:lpstr>
      <vt:lpstr>PowerPoint Presentation</vt:lpstr>
      <vt:lpstr>PowerPoint Presentation</vt:lpstr>
      <vt:lpstr>Collecting Like Terms Practice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Algebra EQ: What are the key parts of an equation and how do we collect like terms?</dc:title>
  <dc:creator>JAMES Sarah [Baldivis Secondary College]</dc:creator>
  <cp:lastModifiedBy>JAMES Sarah [Baldivis Secondary College]</cp:lastModifiedBy>
  <cp:revision>1</cp:revision>
  <dcterms:created xsi:type="dcterms:W3CDTF">2021-11-30T00:44:41Z</dcterms:created>
  <dcterms:modified xsi:type="dcterms:W3CDTF">2021-11-30T00:47:21Z</dcterms:modified>
</cp:coreProperties>
</file>
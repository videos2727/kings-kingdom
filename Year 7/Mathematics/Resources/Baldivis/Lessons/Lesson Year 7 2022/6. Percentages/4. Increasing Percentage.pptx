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fntdata" ContentType="application/x-fontdata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revisionInfo.xml" ContentType="application/vnd.ms-powerpoint.revisioninfo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  <p:sldMasterId id="2147483684" r:id="rId2"/>
  </p:sldMasterIdLst>
  <p:notesMasterIdLst>
    <p:notesMasterId r:id="rId20"/>
  </p:notesMasterIdLst>
  <p:sldIdLst>
    <p:sldId id="258" r:id="rId3"/>
    <p:sldId id="323" r:id="rId4"/>
    <p:sldId id="324" r:id="rId5"/>
    <p:sldId id="256" r:id="rId6"/>
    <p:sldId id="263" r:id="rId7"/>
    <p:sldId id="264" r:id="rId8"/>
    <p:sldId id="262" r:id="rId9"/>
    <p:sldId id="269" r:id="rId10"/>
    <p:sldId id="270" r:id="rId11"/>
    <p:sldId id="259" r:id="rId12"/>
    <p:sldId id="268" r:id="rId13"/>
    <p:sldId id="266" r:id="rId14"/>
    <p:sldId id="272" r:id="rId15"/>
    <p:sldId id="282" r:id="rId16"/>
    <p:sldId id="283" r:id="rId17"/>
    <p:sldId id="284" r:id="rId18"/>
    <p:sldId id="285" r:id="rId19"/>
  </p:sldIdLst>
  <p:sldSz cx="9144000" cy="5143500" type="screen16x9"/>
  <p:notesSz cx="6858000" cy="9144000"/>
  <p:embeddedFontLst>
    <p:embeddedFont>
      <p:font typeface="Abel" panose="020B0604020202020204" charset="0"/>
      <p:regular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omic Sans MS" panose="030F0702030302020204" pitchFamily="66" charset="0"/>
      <p:regular r:id="rId26"/>
      <p:bold r:id="rId27"/>
      <p:italic r:id="rId28"/>
      <p:boldItalic r:id="rId29"/>
    </p:embeddedFont>
    <p:embeddedFont>
      <p:font typeface="Fredoka One" panose="020B0604020202020204" charset="0"/>
      <p:regular r:id="rId30"/>
    </p:embeddedFont>
    <p:embeddedFont>
      <p:font typeface="Lucida Handwriting" panose="03010101010101010101" pitchFamily="66" charset="0"/>
      <p:regular r:id="rId31"/>
    </p:embeddedFont>
    <p:embeddedFont>
      <p:font typeface="Trebuchet MS" panose="020B0603020202020204" pitchFamily="34" charset="0"/>
      <p:regular r:id="rId32"/>
      <p:bold r:id="rId33"/>
      <p:italic r:id="rId34"/>
      <p:boldItalic r:id="rId35"/>
    </p:embeddedFont>
    <p:embeddedFont>
      <p:font typeface="Tw Cen MT" panose="020B0602020104020603" pitchFamily="34" charset="0"/>
      <p:regular r:id="rId36"/>
      <p:bold r:id="rId37"/>
      <p:italic r:id="rId38"/>
      <p:boldItalic r:id="rId39"/>
    </p:embeddedFont>
    <p:embeddedFont>
      <p:font typeface="Tw Cen MT Condensed" panose="020B0606020104020203" pitchFamily="34" charset="0"/>
      <p:regular r:id="rId40"/>
      <p:bold r:id="rId41"/>
    </p:embeddedFont>
    <p:embeddedFont>
      <p:font typeface="Verdana" panose="020B0604030504040204" pitchFamily="34" charset="0"/>
      <p:regular r:id="rId42"/>
      <p:bold r:id="rId43"/>
      <p:italic r:id="rId44"/>
      <p:boldItalic r:id="rId45"/>
    </p:embeddedFont>
    <p:embeddedFont>
      <p:font typeface="Wingdings 3" panose="05040102010807070707" pitchFamily="18" charset="2"/>
      <p:regular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68">
          <p15:clr>
            <a:srgbClr val="9AA0A6"/>
          </p15:clr>
        </p15:guide>
        <p15:guide id="2" pos="2880">
          <p15:clr>
            <a:srgbClr val="9AA0A6"/>
          </p15:clr>
        </p15:guide>
        <p15:guide id="3" orient="horz" pos="253">
          <p15:clr>
            <a:srgbClr val="9AA0A6"/>
          </p15:clr>
        </p15:guide>
        <p15:guide id="4" orient="horz" pos="841">
          <p15:clr>
            <a:srgbClr val="9AA0A6"/>
          </p15:clr>
        </p15:guide>
        <p15:guide id="5" pos="576">
          <p15:clr>
            <a:srgbClr val="9AA0A6"/>
          </p15:clr>
        </p15:guide>
        <p15:guide id="6" orient="horz" pos="547">
          <p15:clr>
            <a:srgbClr val="9AA0A6"/>
          </p15:clr>
        </p15:guide>
        <p15:guide id="7" orient="horz" pos="216">
          <p15:clr>
            <a:srgbClr val="9AA0A6"/>
          </p15:clr>
        </p15:guide>
        <p15:guide id="8" pos="4787">
          <p15:clr>
            <a:srgbClr val="9AA0A6"/>
          </p15:clr>
        </p15:guide>
        <p15:guide id="9" pos="3942">
          <p15:clr>
            <a:srgbClr val="9AA0A6"/>
          </p15:clr>
        </p15:guide>
        <p15:guide id="10" pos="1293">
          <p15:clr>
            <a:srgbClr val="9AA0A6"/>
          </p15:clr>
        </p15:guide>
        <p15:guide id="11" orient="horz" pos="120">
          <p15:clr>
            <a:srgbClr val="9AA0A6"/>
          </p15:clr>
        </p15:guide>
        <p15:guide id="12" orient="horz" pos="14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6A43"/>
    <a:srgbClr val="6B4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14B324-7719-42BA-8B34-186F0C5A7228}" v="35" dt="2021-03-28T11:05:42.025"/>
  </p1510:revLst>
</p1510:revInfo>
</file>

<file path=ppt/tableStyles.xml><?xml version="1.0" encoding="utf-8"?>
<a:tblStyleLst xmlns:a="http://schemas.openxmlformats.org/drawingml/2006/main" def="{42CA31A5-7132-4A5F-A072-0CB39D90A84B}">
  <a:tblStyle styleId="{42CA31A5-7132-4A5F-A072-0CB39D90A8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398" autoAdjust="0"/>
    <p:restoredTop sz="94660"/>
  </p:normalViewPr>
  <p:slideViewPr>
    <p:cSldViewPr snapToGrid="0">
      <p:cViewPr varScale="1">
        <p:scale>
          <a:sx n="86" d="100"/>
          <a:sy n="86" d="100"/>
        </p:scale>
        <p:origin x="80" y="120"/>
      </p:cViewPr>
      <p:guideLst>
        <p:guide orient="horz" pos="3068"/>
        <p:guide pos="2880"/>
        <p:guide orient="horz" pos="253"/>
        <p:guide orient="horz" pos="841"/>
        <p:guide pos="576"/>
        <p:guide orient="horz" pos="547"/>
        <p:guide orient="horz" pos="216"/>
        <p:guide pos="4787"/>
        <p:guide pos="3942"/>
        <p:guide pos="1293"/>
        <p:guide orient="horz" pos="120"/>
        <p:guide orient="horz" pos="14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font" Target="fonts/font22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9.fntdata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45" Type="http://schemas.openxmlformats.org/officeDocument/2006/relationships/font" Target="fonts/font25.fntdata"/><Relationship Id="rId53" Type="http://schemas.openxmlformats.org/officeDocument/2006/relationships/customXml" Target="../customXml/item2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1.fntdata"/><Relationship Id="rId44" Type="http://schemas.openxmlformats.org/officeDocument/2006/relationships/font" Target="fonts/font24.fntdata"/><Relationship Id="rId52" Type="http://schemas.openxmlformats.org/officeDocument/2006/relationships/customXml" Target="../customXml/item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font" Target="fonts/font23.fntdata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microsoft.com/office/2015/10/relationships/revisionInfo" Target="revisionInfo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46" Type="http://schemas.openxmlformats.org/officeDocument/2006/relationships/font" Target="fonts/font26.fntdata"/><Relationship Id="rId20" Type="http://schemas.openxmlformats.org/officeDocument/2006/relationships/notesMaster" Target="notesMasters/notesMaster1.xml"/><Relationship Id="rId41" Type="http://schemas.openxmlformats.org/officeDocument/2006/relationships/font" Target="fonts/font21.fntdata"/><Relationship Id="rId54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4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If right go onto C&amp;R.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915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Go</a:t>
            </a:r>
            <a:r>
              <a:rPr lang="en-GB" baseline="0" dirty="0"/>
              <a:t> through in real time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304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If have higher and all correct</a:t>
            </a:r>
            <a:r>
              <a:rPr lang="en-GB" baseline="0" dirty="0"/>
              <a:t> ignore F&amp;U and go onto C&amp;R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499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759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1292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 txBox="1">
            <a:spLocks noGrp="1" noChangeArrowheads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DF585D09-A48D-4F6F-B6DC-A55B5FD0111E}" type="slidenum">
              <a:rPr lang="en-US" altLang="en-US" sz="1200">
                <a:solidFill>
                  <a:srgbClr val="000000"/>
                </a:solidFill>
              </a:rPr>
              <a:pPr algn="r" eaLnBrk="1" hangingPunct="1"/>
              <a:t>13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286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 txBox="1">
            <a:spLocks noGrp="1" noChangeArrowheads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DF585D09-A48D-4F6F-B6DC-A55B5FD0111E}" type="slidenum">
              <a:rPr lang="en-US" altLang="en-US" sz="1200">
                <a:solidFill>
                  <a:srgbClr val="000000"/>
                </a:solidFill>
              </a:rPr>
              <a:pPr algn="r" eaLnBrk="1" hangingPunct="1"/>
              <a:t>14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4603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 txBox="1">
            <a:spLocks noGrp="1" noChangeArrowheads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DF585D09-A48D-4F6F-B6DC-A55B5FD0111E}" type="slidenum">
              <a:rPr lang="en-US" altLang="en-US" sz="1200">
                <a:solidFill>
                  <a:srgbClr val="000000"/>
                </a:solidFill>
              </a:rPr>
              <a:pPr algn="r" eaLnBrk="1" hangingPunct="1"/>
              <a:t>15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705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 txBox="1">
            <a:spLocks noGrp="1" noChangeArrowheads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DF585D09-A48D-4F6F-B6DC-A55B5FD0111E}" type="slidenum">
              <a:rPr lang="en-US" altLang="en-US" sz="1200">
                <a:solidFill>
                  <a:srgbClr val="000000"/>
                </a:solidFill>
              </a:rPr>
              <a:pPr algn="r" eaLnBrk="1" hangingPunct="1"/>
              <a:t>16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0423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 txBox="1">
            <a:spLocks noGrp="1" noChangeArrowheads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DF585D09-A48D-4F6F-B6DC-A55B5FD0111E}" type="slidenum">
              <a:rPr lang="en-US" altLang="en-US" sz="1200">
                <a:solidFill>
                  <a:srgbClr val="000000"/>
                </a:solidFill>
              </a:rPr>
              <a:pPr algn="r" eaLnBrk="1" hangingPunct="1"/>
              <a:t>17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944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96875" y="623625"/>
            <a:ext cx="1663500" cy="16635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63225" y="2799325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812375" y="3945250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807175" y="345622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151375" y="-150575"/>
            <a:ext cx="1094100" cy="109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45150" y="789414"/>
            <a:ext cx="3501300" cy="3501300"/>
          </a:xfrm>
          <a:prstGeom prst="donut">
            <a:avLst>
              <a:gd name="adj" fmla="val 1554"/>
            </a:avLst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416350" y="1897688"/>
            <a:ext cx="4311300" cy="9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16350" y="2929313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0ABE5-B060-4754-B67C-80B2236D15A0}" type="datetimeFigureOut">
              <a:rPr lang="en-GB" smtClean="0"/>
              <a:t>30/04/2021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6531D-EC83-43EA-997B-EB86FD0C3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000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4/30/2021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058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4/30/2021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283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4/30/2021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277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5" y="1714500"/>
            <a:ext cx="356616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1714500"/>
            <a:ext cx="356616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4/30/2021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60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225841"/>
            <a:ext cx="3566160" cy="25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316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3166" y="2225841"/>
            <a:ext cx="3566160" cy="25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4/30/2021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047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4/30/2021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303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4/30/2021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521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353632"/>
            <a:ext cx="3291840" cy="130302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617220"/>
            <a:ext cx="4258818" cy="388848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1693129"/>
            <a:ext cx="3291840" cy="282172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4/30/2021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508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4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3429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3720104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4/30/2021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624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4/30/2021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852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71500"/>
            <a:ext cx="1971675" cy="405765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571500"/>
            <a:ext cx="5686425" cy="40576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4/30/2021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44447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508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 b="1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84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●"/>
              <a:defRPr sz="1800"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83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714500"/>
            <a:ext cx="7290055" cy="30175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4853028"/>
            <a:ext cx="1615607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4/30/2021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4853028"/>
            <a:ext cx="4426094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4853028"/>
            <a:ext cx="730250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751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2114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8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87078" y="2158470"/>
            <a:ext cx="6684986" cy="2846132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 rot="10800000">
            <a:off x="5905060" y="150214"/>
            <a:ext cx="1865688" cy="121574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 rot="10800000">
            <a:off x="3223245" y="145529"/>
            <a:ext cx="2590824" cy="1235327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 rot="10800000">
            <a:off x="1266559" y="150208"/>
            <a:ext cx="1865688" cy="1262738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28807" y="145529"/>
            <a:ext cx="1134722" cy="12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14350">
              <a:defRPr/>
            </a:pPr>
            <a:r>
              <a:rPr lang="en-GB" sz="1013" b="1" u="sng" dirty="0">
                <a:solidFill>
                  <a:prstClr val="black"/>
                </a:solidFill>
                <a:latin typeface="Calibri"/>
              </a:rPr>
              <a:t>Keywords</a:t>
            </a:r>
          </a:p>
          <a:p>
            <a:pPr algn="ctr" defTabSz="514350">
              <a:defRPr/>
            </a:pPr>
            <a:r>
              <a:rPr lang="en-GB" sz="1013" dirty="0">
                <a:solidFill>
                  <a:prstClr val="black"/>
                </a:solidFill>
                <a:latin typeface="Calibri"/>
              </a:rPr>
              <a:t>Decrease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Percent (%)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Fractions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Hundred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Parts</a:t>
            </a:r>
          </a:p>
          <a:p>
            <a:pPr algn="ctr" defTabSz="514350">
              <a:defRPr/>
            </a:pPr>
            <a:endParaRPr lang="en-GB" sz="1013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05050" y="74611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t="28077" b="33885"/>
          <a:stretch/>
        </p:blipFill>
        <p:spPr>
          <a:xfrm>
            <a:off x="4725110" y="2263937"/>
            <a:ext cx="2011109" cy="38248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auto">
          <a:xfrm>
            <a:off x="4217353" y="2619106"/>
            <a:ext cx="3654712" cy="2385495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lgDashDot"/>
            <a:round/>
            <a:headEnd type="none" w="med" len="med"/>
            <a:tailEnd type="none" w="med" len="med"/>
          </a:ln>
          <a:effectLst/>
        </p:spPr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r" defTabSz="5143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 sz="105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74201" y="1510038"/>
            <a:ext cx="5125121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514350">
              <a:defRPr/>
            </a:pPr>
            <a:r>
              <a:rPr lang="en-GB" sz="4500" u="sng" dirty="0">
                <a:solidFill>
                  <a:prstClr val="black"/>
                </a:solidFill>
                <a:latin typeface="Calibri"/>
              </a:rPr>
              <a:t>Percentage Decrease</a:t>
            </a:r>
          </a:p>
        </p:txBody>
      </p:sp>
      <p:pic>
        <p:nvPicPr>
          <p:cNvPr id="18" name="Picture 2" descr="http://content.mycutegraphics.com/graphics/health/cartoon-eye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363" y="1748583"/>
            <a:ext cx="698237" cy="409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615" y="1035323"/>
            <a:ext cx="295751" cy="38576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Rounded Rectangle 23"/>
          <p:cNvSpPr/>
          <p:nvPr/>
        </p:nvSpPr>
        <p:spPr>
          <a:xfrm>
            <a:off x="1266559" y="2303659"/>
            <a:ext cx="662745" cy="194615"/>
          </a:xfrm>
          <a:prstGeom prst="roundRect">
            <a:avLst>
              <a:gd name="adj" fmla="val 21100"/>
            </a:avLst>
          </a:prstGeom>
          <a:solidFill>
            <a:srgbClr val="8ED05F"/>
          </a:solidFill>
          <a:ln w="9525" cap="flat" cmpd="sng" algn="ctr">
            <a:solidFill>
              <a:srgbClr val="008000"/>
            </a:solidFill>
            <a:prstDash val="solid"/>
          </a:ln>
          <a:effectLst/>
        </p:spPr>
        <p:txBody>
          <a:bodyPr lIns="38522" tIns="19262" rIns="38522" bIns="19262" rtlCol="0" anchor="ctr"/>
          <a:lstStyle/>
          <a:p>
            <a:pPr algn="ctr" defTabSz="514350">
              <a:defRPr/>
            </a:pPr>
            <a:r>
              <a:rPr lang="en-US" sz="1181" b="1" dirty="0">
                <a:solidFill>
                  <a:prstClr val="white"/>
                </a:solidFill>
                <a:latin typeface="Calibri"/>
              </a:rPr>
              <a:t>STARTER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934168" y="107127"/>
            <a:ext cx="68607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13" dirty="0"/>
              <a:t>DATE</a:t>
            </a:r>
          </a:p>
        </p:txBody>
      </p:sp>
      <p:pic>
        <p:nvPicPr>
          <p:cNvPr id="22" name="Picture 2" descr="http://thumbs.dreamstime.com/x/3d-cartoon-man-percent-symbol-10572526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27"/>
          <a:stretch/>
        </p:blipFill>
        <p:spPr bwMode="auto">
          <a:xfrm>
            <a:off x="5923264" y="299395"/>
            <a:ext cx="1948679" cy="1309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ounded Rectangle 22"/>
          <p:cNvSpPr/>
          <p:nvPr/>
        </p:nvSpPr>
        <p:spPr>
          <a:xfrm>
            <a:off x="1311547" y="3632098"/>
            <a:ext cx="926065" cy="253427"/>
          </a:xfrm>
          <a:prstGeom prst="roundRect">
            <a:avLst>
              <a:gd name="adj" fmla="val 21100"/>
            </a:avLst>
          </a:prstGeom>
          <a:solidFill>
            <a:srgbClr val="8ED05F"/>
          </a:solidFill>
          <a:ln w="9525" cap="flat" cmpd="sng" algn="ctr">
            <a:solidFill>
              <a:srgbClr val="008000"/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800" b="1" dirty="0">
                <a:solidFill>
                  <a:prstClr val="white"/>
                </a:solidFill>
                <a:latin typeface="Calibri"/>
              </a:rPr>
              <a:t>Depth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350150" y="2563683"/>
            <a:ext cx="2704132" cy="1000057"/>
            <a:chOff x="260321" y="3467966"/>
            <a:chExt cx="2788468" cy="1068309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72" t="23192" r="52849" b="39919"/>
            <a:stretch/>
          </p:blipFill>
          <p:spPr>
            <a:xfrm>
              <a:off x="260321" y="3467966"/>
              <a:ext cx="2788468" cy="1068309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27" t="75399" r="57069" b="15163"/>
            <a:stretch/>
          </p:blipFill>
          <p:spPr>
            <a:xfrm>
              <a:off x="539109" y="4244366"/>
              <a:ext cx="2230891" cy="273313"/>
            </a:xfrm>
            <a:prstGeom prst="rect">
              <a:avLst/>
            </a:prstGeom>
          </p:spPr>
        </p:pic>
      </p:grpSp>
      <p:grpSp>
        <p:nvGrpSpPr>
          <p:cNvPr id="28" name="Group 27"/>
          <p:cNvGrpSpPr/>
          <p:nvPr/>
        </p:nvGrpSpPr>
        <p:grpSpPr>
          <a:xfrm>
            <a:off x="1350149" y="3922550"/>
            <a:ext cx="2423321" cy="760534"/>
            <a:chOff x="462720" y="5250953"/>
            <a:chExt cx="2298587" cy="697174"/>
          </a:xfrm>
        </p:grpSpPr>
        <p:pic>
          <p:nvPicPr>
            <p:cNvPr id="26" name="Picture 25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639" t="61644" r="9488" b="14282"/>
            <a:stretch/>
          </p:blipFill>
          <p:spPr>
            <a:xfrm>
              <a:off x="462720" y="5250953"/>
              <a:ext cx="2298587" cy="697174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309" t="36578" r="11630" b="52793"/>
            <a:stretch/>
          </p:blipFill>
          <p:spPr>
            <a:xfrm>
              <a:off x="708467" y="5632093"/>
              <a:ext cx="1892174" cy="307817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2558754" y="5657562"/>
              <a:ext cx="190646" cy="2616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/>
            </a:p>
          </p:txBody>
        </p:sp>
      </p:grpSp>
      <p:pic>
        <p:nvPicPr>
          <p:cNvPr id="31" name="Picture 3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925" y="2880211"/>
            <a:ext cx="3406576" cy="153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661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4518061" y="0"/>
            <a:ext cx="10826" cy="51435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455122"/>
            <a:ext cx="4518062" cy="103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575246" y="2444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498098" y="-58483"/>
            <a:ext cx="700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AU" sz="120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80" y="206404"/>
            <a:ext cx="4961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AU" sz="120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1422899" y="2444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9734" y="211601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AU" sz="120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1748" y="230172"/>
            <a:ext cx="182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>
              <a:buClrTx/>
            </a:pPr>
            <a:r>
              <a:rPr lang="en-AU" sz="120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Essential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1147" y="15489"/>
            <a:ext cx="259631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>
              <a:buClrTx/>
            </a:pPr>
            <a:r>
              <a:rPr lang="en-AU" sz="150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Glossary or Formula Page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518061" y="471562"/>
            <a:ext cx="4518062" cy="103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9E3AC1-1E77-4710-9BC0-DFB1F88244CA}"/>
              </a:ext>
            </a:extLst>
          </p:cNvPr>
          <p:cNvCxnSpPr>
            <a:cxnSpLocks/>
          </p:cNvCxnSpPr>
          <p:nvPr/>
        </p:nvCxnSpPr>
        <p:spPr>
          <a:xfrm>
            <a:off x="6087633" y="471562"/>
            <a:ext cx="0" cy="46719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4F7D26-2225-40DE-95E8-82C9E31AF559}"/>
              </a:ext>
            </a:extLst>
          </p:cNvPr>
          <p:cNvCxnSpPr>
            <a:cxnSpLocks/>
          </p:cNvCxnSpPr>
          <p:nvPr/>
        </p:nvCxnSpPr>
        <p:spPr>
          <a:xfrm>
            <a:off x="3857705" y="2549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280076-6BD0-4CE8-8378-8CDB7ED81C35}"/>
              </a:ext>
            </a:extLst>
          </p:cNvPr>
          <p:cNvCxnSpPr>
            <a:cxnSpLocks/>
          </p:cNvCxnSpPr>
          <p:nvPr/>
        </p:nvCxnSpPr>
        <p:spPr>
          <a:xfrm>
            <a:off x="4222102" y="2444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D18CDD-8FC0-4BF8-A2BD-51188B343F59}"/>
              </a:ext>
            </a:extLst>
          </p:cNvPr>
          <p:cNvSpPr txBox="1"/>
          <p:nvPr/>
        </p:nvSpPr>
        <p:spPr>
          <a:xfrm>
            <a:off x="3482456" y="211601"/>
            <a:ext cx="3174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>
              <a:buClrTx/>
            </a:pPr>
            <a:r>
              <a:rPr lang="en-AU" sz="105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24</a:t>
            </a:r>
            <a:endParaRPr lang="en-GB" sz="1050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E4DBC0-DF48-437A-8D31-681D0EB65B05}"/>
              </a:ext>
            </a:extLst>
          </p:cNvPr>
          <p:cNvSpPr txBox="1"/>
          <p:nvPr/>
        </p:nvSpPr>
        <p:spPr>
          <a:xfrm>
            <a:off x="3868531" y="218243"/>
            <a:ext cx="31748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>
              <a:buClrTx/>
            </a:pPr>
            <a:r>
              <a:rPr lang="en-AU" sz="105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7</a:t>
            </a:r>
            <a:endParaRPr lang="en-GB" sz="1050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37B4A3-3DD6-4CE8-92D3-38B8736F8134}"/>
              </a:ext>
            </a:extLst>
          </p:cNvPr>
          <p:cNvSpPr txBox="1"/>
          <p:nvPr/>
        </p:nvSpPr>
        <p:spPr>
          <a:xfrm>
            <a:off x="4250604" y="223142"/>
            <a:ext cx="3174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>
              <a:buClrTx/>
            </a:pPr>
            <a:r>
              <a:rPr lang="en-AU" sz="105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30</a:t>
            </a:r>
            <a:endParaRPr lang="en-GB" sz="1050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9E8EEF-EB99-4808-BA30-3C2CE48BA253}"/>
              </a:ext>
            </a:extLst>
          </p:cNvPr>
          <p:cNvCxnSpPr>
            <a:cxnSpLocks/>
          </p:cNvCxnSpPr>
          <p:nvPr/>
        </p:nvCxnSpPr>
        <p:spPr>
          <a:xfrm>
            <a:off x="3490623" y="266609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2E36C9B-3AE2-4453-AF72-8509F3DE2C72}"/>
              </a:ext>
            </a:extLst>
          </p:cNvPr>
          <p:cNvSpPr txBox="1"/>
          <p:nvPr/>
        </p:nvSpPr>
        <p:spPr>
          <a:xfrm>
            <a:off x="4657072" y="254983"/>
            <a:ext cx="12398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AU" sz="120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Word or Formula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AA26F2-9378-4BAE-ABC7-B71F270EE045}"/>
              </a:ext>
            </a:extLst>
          </p:cNvPr>
          <p:cNvSpPr txBox="1"/>
          <p:nvPr/>
        </p:nvSpPr>
        <p:spPr>
          <a:xfrm>
            <a:off x="6543029" y="266609"/>
            <a:ext cx="1499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AU" sz="120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Definition or Example</a:t>
            </a:r>
          </a:p>
        </p:txBody>
      </p:sp>
    </p:spTree>
    <p:extLst>
      <p:ext uri="{BB962C8B-B14F-4D97-AF65-F5344CB8AC3E}">
        <p14:creationId xmlns:p14="http://schemas.microsoft.com/office/powerpoint/2010/main" val="361459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18061" y="0"/>
            <a:ext cx="54006" cy="52180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43302" y="4856000"/>
            <a:ext cx="2808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AU" sz="135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04349" y="4894146"/>
            <a:ext cx="41233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>
              <a:buClrTx/>
            </a:pPr>
            <a:r>
              <a:rPr lang="en-AU" sz="135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2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4518061" y="461342"/>
            <a:ext cx="462593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4518061" y="897564"/>
            <a:ext cx="46259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4572067" y="4029912"/>
            <a:ext cx="457193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543813" y="897564"/>
            <a:ext cx="0" cy="313234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42947" y="50017"/>
            <a:ext cx="323969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>
              <a:buClrTx/>
            </a:pPr>
            <a:r>
              <a:rPr lang="en-AU" sz="75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24</a:t>
            </a:r>
          </a:p>
          <a:p>
            <a:pPr defTabSz="342900">
              <a:buClrTx/>
            </a:pPr>
            <a:r>
              <a:rPr lang="en-AU" sz="75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7</a:t>
            </a:r>
          </a:p>
          <a:p>
            <a:pPr defTabSz="342900">
              <a:buClrTx/>
            </a:pPr>
            <a:r>
              <a:rPr lang="en-AU" sz="75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7754" y="451162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AU" sz="180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43813" y="897564"/>
            <a:ext cx="62228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AU" sz="150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5929" y="897565"/>
            <a:ext cx="102787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>
              <a:buClrTx/>
            </a:pPr>
            <a:r>
              <a:rPr lang="en-AU" sz="150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67" y="4029913"/>
            <a:ext cx="88838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AU" sz="150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6434" y="106870"/>
            <a:ext cx="72898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AU" sz="210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Tasks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A3DEE0-B061-4B2A-86FB-FAA1342E38A6}"/>
              </a:ext>
            </a:extLst>
          </p:cNvPr>
          <p:cNvSpPr txBox="1"/>
          <p:nvPr/>
        </p:nvSpPr>
        <p:spPr>
          <a:xfrm>
            <a:off x="4755379" y="77465"/>
            <a:ext cx="64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AU" sz="180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54453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Understanding</a:t>
            </a:r>
          </a:p>
        </p:txBody>
      </p:sp>
      <p:sp>
        <p:nvSpPr>
          <p:cNvPr id="22" name="Text Box 6"/>
          <p:cNvSpPr txBox="1">
            <a:spLocks noChangeArrowheads="1"/>
          </p:cNvSpPr>
          <p:nvPr/>
        </p:nvSpPr>
        <p:spPr bwMode="auto">
          <a:xfrm>
            <a:off x="1346656" y="1331998"/>
            <a:ext cx="409515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GB" sz="1050" dirty="0"/>
              <a:t>Let’s look at a percentage decrease using bars.</a:t>
            </a:r>
          </a:p>
          <a:p>
            <a:pPr eaLnBrk="0" hangingPunct="0"/>
            <a:r>
              <a:rPr lang="en-GB" sz="1050" dirty="0"/>
              <a:t>The original whole amount, 100% looks like this:</a:t>
            </a:r>
          </a:p>
        </p:txBody>
      </p:sp>
      <p:sp>
        <p:nvSpPr>
          <p:cNvPr id="23" name="Rectangle 7"/>
          <p:cNvSpPr>
            <a:spLocks noChangeArrowheads="1"/>
          </p:cNvSpPr>
          <p:nvPr/>
        </p:nvSpPr>
        <p:spPr bwMode="auto">
          <a:xfrm>
            <a:off x="1419282" y="1796544"/>
            <a:ext cx="3348372" cy="432048"/>
          </a:xfrm>
          <a:prstGeom prst="rect">
            <a:avLst/>
          </a:prstGeom>
          <a:solidFill>
            <a:srgbClr val="F8AB3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GB" sz="1050"/>
              <a:t>100%</a:t>
            </a:r>
          </a:p>
        </p:txBody>
      </p:sp>
      <p:sp>
        <p:nvSpPr>
          <p:cNvPr id="24" name="Text Box 8"/>
          <p:cNvSpPr txBox="1">
            <a:spLocks noChangeArrowheads="1"/>
          </p:cNvSpPr>
          <p:nvPr/>
        </p:nvSpPr>
        <p:spPr bwMode="auto">
          <a:xfrm>
            <a:off x="1346657" y="2836541"/>
            <a:ext cx="4248279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70% is 30% smaller as we have subtracted 30% from the 100% bar.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2175366" y="3123178"/>
            <a:ext cx="2214246" cy="809183"/>
            <a:chOff x="1403648" y="5033369"/>
            <a:chExt cx="2952328" cy="1078911"/>
          </a:xfrm>
        </p:grpSpPr>
        <p:sp>
          <p:nvSpPr>
            <p:cNvPr id="26" name="Oval 25"/>
            <p:cNvSpPr/>
            <p:nvPr/>
          </p:nvSpPr>
          <p:spPr bwMode="auto">
            <a:xfrm>
              <a:off x="1403648" y="5033369"/>
              <a:ext cx="2952328" cy="1078911"/>
            </a:xfrm>
            <a:prstGeom prst="ellipse">
              <a:avLst/>
            </a:prstGeom>
            <a:solidFill>
              <a:srgbClr val="F8AB3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GB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7" name="Text Box 8"/>
            <p:cNvSpPr txBox="1">
              <a:spLocks noChangeArrowheads="1"/>
            </p:cNvSpPr>
            <p:nvPr/>
          </p:nvSpPr>
          <p:spPr bwMode="auto">
            <a:xfrm>
              <a:off x="1822925" y="5249660"/>
              <a:ext cx="2411760" cy="5539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GB" sz="1050" dirty="0"/>
                <a:t>This would be called “a 30% decrease”</a:t>
              </a:r>
            </a:p>
          </p:txBody>
        </p:sp>
      </p:grpSp>
      <p:sp>
        <p:nvSpPr>
          <p:cNvPr id="28" name="Rectangle 7"/>
          <p:cNvSpPr>
            <a:spLocks noChangeArrowheads="1"/>
          </p:cNvSpPr>
          <p:nvPr/>
        </p:nvSpPr>
        <p:spPr bwMode="auto">
          <a:xfrm>
            <a:off x="1419282" y="2284716"/>
            <a:ext cx="2376264" cy="460454"/>
          </a:xfrm>
          <a:prstGeom prst="rect">
            <a:avLst/>
          </a:prstGeom>
          <a:solidFill>
            <a:srgbClr val="F8AB3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GB" sz="1050" dirty="0"/>
              <a:t>70%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422" y="3204911"/>
            <a:ext cx="2057400" cy="670412"/>
          </a:xfrm>
          <a:prstGeom prst="rect">
            <a:avLst/>
          </a:prstGeom>
          <a:solidFill>
            <a:srgbClr val="F8AB3F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r>
              <a:rPr lang="en-GB" sz="1050" dirty="0">
                <a:solidFill>
                  <a:srgbClr val="7030A0"/>
                </a:solidFill>
              </a:rPr>
              <a:t>A 30% decrease makes the item 30% smaller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7BC87F-ECAA-4930-A2A7-81E81BEC4BFE}"/>
              </a:ext>
            </a:extLst>
          </p:cNvPr>
          <p:cNvSpPr/>
          <p:nvPr/>
        </p:nvSpPr>
        <p:spPr>
          <a:xfrm>
            <a:off x="3274967" y="66932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</p:spTree>
    <p:extLst>
      <p:ext uri="{BB962C8B-B14F-4D97-AF65-F5344CB8AC3E}">
        <p14:creationId xmlns:p14="http://schemas.microsoft.com/office/powerpoint/2010/main" val="1460060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  <p:bldP spid="23" grpId="0" animBg="1" autoUpdateAnimBg="0"/>
      <p:bldP spid="24" grpId="0" autoUpdateAnimBg="0"/>
      <p:bldP spid="28" grpId="0" animBg="1" autoUpdateAnimBg="0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Example</a:t>
            </a:r>
          </a:p>
        </p:txBody>
      </p:sp>
      <p:sp>
        <p:nvSpPr>
          <p:cNvPr id="22" name="Text Box 12"/>
          <p:cNvSpPr txBox="1">
            <a:spLocks noChangeArrowheads="1"/>
          </p:cNvSpPr>
          <p:nvPr/>
        </p:nvSpPr>
        <p:spPr bwMode="auto">
          <a:xfrm>
            <a:off x="1592222" y="3756570"/>
            <a:ext cx="2591990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050" dirty="0"/>
          </a:p>
        </p:txBody>
      </p:sp>
      <p:pic>
        <p:nvPicPr>
          <p:cNvPr id="23" name="Picture 2" descr="http://www.guidance-center.org/Adult%20&amp;%20Family%20Services/images/happy-man-in-sui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27433" y="1626314"/>
            <a:ext cx="1873285" cy="1313871"/>
          </a:xfrm>
          <a:prstGeom prst="rect">
            <a:avLst/>
          </a:prstGeom>
          <a:noFill/>
        </p:spPr>
      </p:pic>
      <p:sp>
        <p:nvSpPr>
          <p:cNvPr id="24" name="TextBox 23"/>
          <p:cNvSpPr txBox="1"/>
          <p:nvPr/>
        </p:nvSpPr>
        <p:spPr>
          <a:xfrm>
            <a:off x="1321615" y="1050381"/>
            <a:ext cx="507656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Harry, brought a new car for $17,500. As soon as Harry drove off in it the car’s value decreased by 7%. What is Harry’s car worth now?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4617" y="1535129"/>
            <a:ext cx="15582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itchFamily="66" charset="0"/>
              </a:rPr>
              <a:t>STEP 1: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4595" y="1876145"/>
            <a:ext cx="32800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Without a calculator work out what 7% of $17,500 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9552" y="2144750"/>
            <a:ext cx="142378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7% = 5% + 1% + 1%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6017" y="2460035"/>
            <a:ext cx="14782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7% = 875+ 175 + 175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2138" y="2892083"/>
            <a:ext cx="87075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7% = 1,225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27172" y="3270125"/>
            <a:ext cx="70724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itchFamily="66" charset="0"/>
              </a:rPr>
              <a:t>STEP 2: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111" y="3650842"/>
            <a:ext cx="28520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SUBTRACT this from Harry’s purchase price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4617" y="4031605"/>
            <a:ext cx="139974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$17,500 - $1,225 </a:t>
            </a:r>
            <a:r>
              <a:rPr lang="en-GB" sz="2100" dirty="0"/>
              <a:t>=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40246" y="4089313"/>
            <a:ext cx="88197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b="1" dirty="0">
                <a:solidFill>
                  <a:srgbClr val="FF0000"/>
                </a:solidFill>
              </a:rPr>
              <a:t>$16,275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72065" y="3308954"/>
            <a:ext cx="2384022" cy="1116747"/>
          </a:xfrm>
          <a:prstGeom prst="rect">
            <a:avLst/>
          </a:prstGeom>
          <a:solidFill>
            <a:srgbClr val="F8AB3F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b="1" dirty="0">
                <a:solidFill>
                  <a:schemeClr val="tx1"/>
                </a:solidFill>
              </a:rPr>
              <a:t>Depth: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Think about…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How would you calculate 93% using a calculator?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And why I put 93%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1200D19-5154-4E12-984A-8AB3DACF79F3}"/>
              </a:ext>
            </a:extLst>
          </p:cNvPr>
          <p:cNvSpPr/>
          <p:nvPr/>
        </p:nvSpPr>
        <p:spPr>
          <a:xfrm>
            <a:off x="3221284" y="98758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</p:spTree>
    <p:extLst>
      <p:ext uri="{BB962C8B-B14F-4D97-AF65-F5344CB8AC3E}">
        <p14:creationId xmlns:p14="http://schemas.microsoft.com/office/powerpoint/2010/main" val="238974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Hinge Question</a:t>
            </a:r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1479499" y="3487228"/>
            <a:ext cx="2591990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050" dirty="0"/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1370911" y="1299467"/>
            <a:ext cx="4373909" cy="54006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062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062">
                <a:solidFill>
                  <a:schemeClr val="tx2"/>
                </a:solidFill>
                <a:latin typeface="Times New Roman" pitchFamily="-96" charset="0"/>
                <a:ea typeface="ＭＳ Ｐゴシック" charset="0"/>
                <a:cs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062">
                <a:solidFill>
                  <a:schemeClr val="tx2"/>
                </a:solidFill>
                <a:latin typeface="Times New Roman" pitchFamily="-96" charset="0"/>
                <a:ea typeface="ＭＳ Ｐゴシック" charset="0"/>
                <a:cs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062">
                <a:solidFill>
                  <a:schemeClr val="tx2"/>
                </a:solidFill>
                <a:latin typeface="Times New Roman" pitchFamily="-96" charset="0"/>
                <a:ea typeface="ＭＳ Ｐゴシック" charset="0"/>
                <a:cs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062">
                <a:solidFill>
                  <a:schemeClr val="tx2"/>
                </a:solidFill>
                <a:latin typeface="Times New Roman" pitchFamily="-96" charset="0"/>
                <a:ea typeface="ＭＳ Ｐゴシック" charset="0"/>
                <a:cs typeface="ＭＳ Ｐゴシック" charset="0"/>
              </a:defRPr>
            </a:lvl5pPr>
            <a:lvl6pPr marL="422041" algn="ctr" rtl="0" eaLnBrk="1" fontAlgn="base" hangingPunct="1">
              <a:spcBef>
                <a:spcPct val="0"/>
              </a:spcBef>
              <a:spcAft>
                <a:spcPct val="0"/>
              </a:spcAft>
              <a:defRPr sz="4062">
                <a:solidFill>
                  <a:schemeClr val="tx2"/>
                </a:solidFill>
                <a:latin typeface="Times New Roman" pitchFamily="-96" charset="0"/>
              </a:defRPr>
            </a:lvl6pPr>
            <a:lvl7pPr marL="844083" algn="ctr" rtl="0" eaLnBrk="1" fontAlgn="base" hangingPunct="1">
              <a:spcBef>
                <a:spcPct val="0"/>
              </a:spcBef>
              <a:spcAft>
                <a:spcPct val="0"/>
              </a:spcAft>
              <a:defRPr sz="4062">
                <a:solidFill>
                  <a:schemeClr val="tx2"/>
                </a:solidFill>
                <a:latin typeface="Times New Roman" pitchFamily="-96" charset="0"/>
              </a:defRPr>
            </a:lvl7pPr>
            <a:lvl8pPr marL="1266124" algn="ctr" rtl="0" eaLnBrk="1" fontAlgn="base" hangingPunct="1">
              <a:spcBef>
                <a:spcPct val="0"/>
              </a:spcBef>
              <a:spcAft>
                <a:spcPct val="0"/>
              </a:spcAft>
              <a:defRPr sz="4062">
                <a:solidFill>
                  <a:schemeClr val="tx2"/>
                </a:solidFill>
                <a:latin typeface="Times New Roman" pitchFamily="-96" charset="0"/>
              </a:defRPr>
            </a:lvl8pPr>
            <a:lvl9pPr marL="1688165" algn="ctr" rtl="0" eaLnBrk="1" fontAlgn="base" hangingPunct="1">
              <a:spcBef>
                <a:spcPct val="0"/>
              </a:spcBef>
              <a:spcAft>
                <a:spcPct val="0"/>
              </a:spcAft>
              <a:defRPr sz="4062">
                <a:solidFill>
                  <a:schemeClr val="tx2"/>
                </a:solidFill>
                <a:latin typeface="Times New Roman" pitchFamily="-96" charset="0"/>
              </a:defRPr>
            </a:lvl9pPr>
          </a:lstStyle>
          <a:p>
            <a:r>
              <a:rPr lang="en-GB" sz="3000" dirty="0">
                <a:latin typeface="+mn-lt"/>
              </a:rPr>
              <a:t>Reduce the $125 suit by 20%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79499" y="2190693"/>
            <a:ext cx="341952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000" dirty="0"/>
              <a:t>20% of $125 = $25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02251" y="3342804"/>
            <a:ext cx="320472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000" dirty="0"/>
              <a:t>$125 - $25= $100</a:t>
            </a:r>
          </a:p>
        </p:txBody>
      </p:sp>
      <p:sp>
        <p:nvSpPr>
          <p:cNvPr id="20" name="Rectangle 19"/>
          <p:cNvSpPr/>
          <p:nvPr/>
        </p:nvSpPr>
        <p:spPr>
          <a:xfrm rot="19328273">
            <a:off x="4650231" y="3096035"/>
            <a:ext cx="3290570" cy="99257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6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20% off</a:t>
            </a:r>
          </a:p>
        </p:txBody>
      </p:sp>
      <p:pic>
        <p:nvPicPr>
          <p:cNvPr id="21" name="Picture 2" descr="http://www.suitsmen.co.uk/suit-images/normal-size/brook-taverner-classic-suit-jacket-1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03373" y="870650"/>
            <a:ext cx="2033736" cy="1755807"/>
          </a:xfrm>
          <a:prstGeom prst="rect">
            <a:avLst/>
          </a:prstGeom>
          <a:noFill/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C4BA89A-5C0C-4353-98B5-DAAA4D19E4F8}"/>
              </a:ext>
            </a:extLst>
          </p:cNvPr>
          <p:cNvSpPr/>
          <p:nvPr/>
        </p:nvSpPr>
        <p:spPr>
          <a:xfrm>
            <a:off x="3205050" y="74611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</p:spTree>
    <p:extLst>
      <p:ext uri="{BB962C8B-B14F-4D97-AF65-F5344CB8AC3E}">
        <p14:creationId xmlns:p14="http://schemas.microsoft.com/office/powerpoint/2010/main" val="3301561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r>
              <a:rPr lang="en-GB" sz="1350" kern="1200" dirty="0">
                <a:solidFill>
                  <a:prstClr val="white"/>
                </a:solidFill>
                <a:latin typeface="Calibri"/>
              </a:rPr>
              <a:t>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2" y="497447"/>
            <a:ext cx="4374705" cy="384659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Fluency and Understanding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5050" y="74611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LO: Percentage Decrease</a:t>
            </a:r>
          </a:p>
        </p:txBody>
      </p:sp>
      <p:sp>
        <p:nvSpPr>
          <p:cNvPr id="21" name="Text Box 12"/>
          <p:cNvSpPr txBox="1">
            <a:spLocks noChangeArrowheads="1"/>
          </p:cNvSpPr>
          <p:nvPr/>
        </p:nvSpPr>
        <p:spPr bwMode="auto">
          <a:xfrm>
            <a:off x="1681756" y="3715035"/>
            <a:ext cx="2591990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050" dirty="0"/>
          </a:p>
        </p:txBody>
      </p:sp>
      <p:sp>
        <p:nvSpPr>
          <p:cNvPr id="22" name="TextBox 21"/>
          <p:cNvSpPr txBox="1"/>
          <p:nvPr/>
        </p:nvSpPr>
        <p:spPr>
          <a:xfrm>
            <a:off x="1483778" y="1727681"/>
            <a:ext cx="15582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itchFamily="66" charset="0"/>
              </a:rPr>
              <a:t>STEP 1: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6706" y="3228590"/>
            <a:ext cx="70724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itchFamily="66" charset="0"/>
              </a:rPr>
              <a:t>STEP 2: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758" y="1284375"/>
            <a:ext cx="597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In a sale, all normal prices are reduced by 12%</a:t>
            </a:r>
          </a:p>
          <a:p>
            <a:r>
              <a:rPr lang="en-GB" sz="1200" dirty="0"/>
              <a:t>The normal price of a suit is $125.Work out the sale price of the suit</a:t>
            </a:r>
          </a:p>
        </p:txBody>
      </p:sp>
      <p:pic>
        <p:nvPicPr>
          <p:cNvPr id="25" name="Picture 2" descr="http://www.suitsmen.co.uk/suit-images/normal-size/brook-taverner-classic-suit-jacket-1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005629" y="1098458"/>
            <a:ext cx="2033736" cy="1755807"/>
          </a:xfrm>
          <a:prstGeom prst="rect">
            <a:avLst/>
          </a:prstGeom>
          <a:noFill/>
        </p:spPr>
      </p:pic>
      <p:sp>
        <p:nvSpPr>
          <p:cNvPr id="26" name="Rectangle 25"/>
          <p:cNvSpPr/>
          <p:nvPr/>
        </p:nvSpPr>
        <p:spPr>
          <a:xfrm>
            <a:off x="5402420" y="3101610"/>
            <a:ext cx="2057400" cy="1116747"/>
          </a:xfrm>
          <a:prstGeom prst="rect">
            <a:avLst/>
          </a:prstGeom>
          <a:solidFill>
            <a:srgbClr val="FFFF00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b="1" dirty="0">
                <a:solidFill>
                  <a:schemeClr val="tx1"/>
                </a:solidFill>
              </a:rPr>
              <a:t>QUESTION:</a:t>
            </a:r>
          </a:p>
          <a:p>
            <a:pPr algn="ctr"/>
            <a:endParaRPr lang="en-GB" sz="105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How would you calculate 12% using a calculator?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4597" y="2028514"/>
            <a:ext cx="22060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Work out what 12% of $125</a:t>
            </a:r>
            <a:r>
              <a:rPr lang="en-GB" sz="1050" dirty="0"/>
              <a:t> 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45546" y="2257850"/>
            <a:ext cx="15744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12% = 10% + 1% + 1%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62579" y="2501720"/>
            <a:ext cx="17764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12% = 12.50 + 1.25 + 1.25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9116" y="2778719"/>
            <a:ext cx="7585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12% = 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6705" y="3521484"/>
            <a:ext cx="280878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Subtract this discount from the original price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7797" y="3991751"/>
            <a:ext cx="94609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$125 - $15 =</a:t>
            </a:r>
            <a:endParaRPr lang="en-GB" sz="2100" dirty="0"/>
          </a:p>
        </p:txBody>
      </p:sp>
      <p:sp>
        <p:nvSpPr>
          <p:cNvPr id="33" name="TextBox 32"/>
          <p:cNvSpPr txBox="1"/>
          <p:nvPr/>
        </p:nvSpPr>
        <p:spPr>
          <a:xfrm>
            <a:off x="2744870" y="3991751"/>
            <a:ext cx="4860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b="1" dirty="0">
                <a:solidFill>
                  <a:srgbClr val="FF0000"/>
                </a:solidFill>
              </a:rPr>
              <a:t>$110</a:t>
            </a:r>
          </a:p>
        </p:txBody>
      </p:sp>
    </p:spTree>
    <p:extLst>
      <p:ext uri="{BB962C8B-B14F-4D97-AF65-F5344CB8AC3E}">
        <p14:creationId xmlns:p14="http://schemas.microsoft.com/office/powerpoint/2010/main" val="201927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6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Hinge Questions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2240318" y="1459137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40% =</a:t>
            </a:r>
          </a:p>
        </p:txBody>
      </p:sp>
      <p:sp>
        <p:nvSpPr>
          <p:cNvPr id="25" name="TextBox 7"/>
          <p:cNvSpPr txBox="1">
            <a:spLocks noChangeArrowheads="1"/>
          </p:cNvSpPr>
          <p:nvPr/>
        </p:nvSpPr>
        <p:spPr bwMode="auto">
          <a:xfrm>
            <a:off x="1143000" y="975744"/>
            <a:ext cx="428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FF0000"/>
                </a:solidFill>
              </a:rPr>
              <a:t>(a)</a:t>
            </a:r>
          </a:p>
        </p:txBody>
      </p:sp>
      <p:sp>
        <p:nvSpPr>
          <p:cNvPr id="27" name="TextBox 7"/>
          <p:cNvSpPr txBox="1">
            <a:spLocks noChangeArrowheads="1"/>
          </p:cNvSpPr>
          <p:nvPr/>
        </p:nvSpPr>
        <p:spPr bwMode="auto">
          <a:xfrm>
            <a:off x="4769795" y="1010404"/>
            <a:ext cx="428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FF0000"/>
                </a:solidFill>
              </a:rPr>
              <a:t>(b)</a:t>
            </a:r>
          </a:p>
        </p:txBody>
      </p:sp>
      <p:sp>
        <p:nvSpPr>
          <p:cNvPr id="28" name="TextBox 178"/>
          <p:cNvSpPr txBox="1">
            <a:spLocks noChangeArrowheads="1"/>
          </p:cNvSpPr>
          <p:nvPr/>
        </p:nvSpPr>
        <p:spPr bwMode="auto">
          <a:xfrm>
            <a:off x="5078768" y="1018870"/>
            <a:ext cx="307895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/>
              <a:t>80minutes is decreased by 35%</a:t>
            </a:r>
          </a:p>
        </p:txBody>
      </p:sp>
      <p:sp>
        <p:nvSpPr>
          <p:cNvPr id="30" name="TextBox 180"/>
          <p:cNvSpPr txBox="1">
            <a:spLocks noChangeArrowheads="1"/>
          </p:cNvSpPr>
          <p:nvPr/>
        </p:nvSpPr>
        <p:spPr bwMode="auto">
          <a:xfrm>
            <a:off x="1418786" y="975744"/>
            <a:ext cx="276701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dirty="0"/>
              <a:t>20 miles is decreased by 40%</a:t>
            </a:r>
          </a:p>
        </p:txBody>
      </p:sp>
      <p:grpSp>
        <p:nvGrpSpPr>
          <p:cNvPr id="40" name="Group 39"/>
          <p:cNvGrpSpPr>
            <a:grpSpLocks/>
          </p:cNvGrpSpPr>
          <p:nvPr/>
        </p:nvGrpSpPr>
        <p:grpSpPr bwMode="auto">
          <a:xfrm>
            <a:off x="2115302" y="1347219"/>
            <a:ext cx="1589484" cy="334565"/>
            <a:chOff x="278265" y="3501008"/>
            <a:chExt cx="2166605" cy="445704"/>
          </a:xfrm>
        </p:grpSpPr>
        <p:sp>
          <p:nvSpPr>
            <p:cNvPr id="41" name="Curved Right Arrow 40"/>
            <p:cNvSpPr/>
            <p:nvPr/>
          </p:nvSpPr>
          <p:spPr>
            <a:xfrm>
              <a:off x="278265" y="3501008"/>
              <a:ext cx="172030" cy="431429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  <p:sp>
          <p:nvSpPr>
            <p:cNvPr id="42" name="Curved Left Arrow 41"/>
            <p:cNvSpPr/>
            <p:nvPr/>
          </p:nvSpPr>
          <p:spPr>
            <a:xfrm>
              <a:off x="2272840" y="3515283"/>
              <a:ext cx="172030" cy="431429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</p:grp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3669068" y="1367459"/>
            <a:ext cx="38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x4</a:t>
            </a:r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1840268" y="1369840"/>
            <a:ext cx="35480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x4</a:t>
            </a: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2241509" y="1238871"/>
            <a:ext cx="1390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10% = 2miles</a:t>
            </a:r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2801103" y="1455565"/>
            <a:ext cx="8370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 8miles</a:t>
            </a:r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1827172" y="1724646"/>
            <a:ext cx="20585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200" b="1">
                <a:solidFill>
                  <a:srgbClr val="00B050"/>
                </a:solidFill>
              </a:rPr>
              <a:t>We now need to decrease 20miles by 8miles</a:t>
            </a:r>
          </a:p>
        </p:txBody>
      </p:sp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1521181" y="2179465"/>
            <a:ext cx="232767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20miles - 8miles =</a:t>
            </a: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3159480" y="2142556"/>
            <a:ext cx="11727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>
                <a:solidFill>
                  <a:srgbClr val="FF0000"/>
                </a:solidFill>
              </a:rPr>
              <a:t>12miles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5210927" y="1349864"/>
            <a:ext cx="353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x3</a:t>
            </a:r>
          </a:p>
        </p:txBody>
      </p: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5681224" y="1221276"/>
            <a:ext cx="132516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10% = 8mins</a:t>
            </a:r>
          </a:p>
        </p:txBody>
      </p: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5680033" y="1440351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30% =</a:t>
            </a:r>
          </a:p>
        </p:txBody>
      </p:sp>
      <p:grpSp>
        <p:nvGrpSpPr>
          <p:cNvPr id="53" name="Group 52"/>
          <p:cNvGrpSpPr>
            <a:grpSpLocks/>
          </p:cNvGrpSpPr>
          <p:nvPr/>
        </p:nvGrpSpPr>
        <p:grpSpPr bwMode="auto">
          <a:xfrm>
            <a:off x="5488343" y="1329623"/>
            <a:ext cx="1743075" cy="323850"/>
            <a:chOff x="278265" y="3501008"/>
            <a:chExt cx="1746364" cy="432048"/>
          </a:xfrm>
        </p:grpSpPr>
        <p:sp>
          <p:nvSpPr>
            <p:cNvPr id="54" name="Curved Right Arrow 53"/>
            <p:cNvSpPr/>
            <p:nvPr/>
          </p:nvSpPr>
          <p:spPr>
            <a:xfrm>
              <a:off x="278265" y="3501008"/>
              <a:ext cx="171774" cy="43204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  <p:sp>
          <p:nvSpPr>
            <p:cNvPr id="55" name="Curved Left Arrow 54"/>
            <p:cNvSpPr/>
            <p:nvPr/>
          </p:nvSpPr>
          <p:spPr>
            <a:xfrm>
              <a:off x="1852855" y="3501008"/>
              <a:ext cx="171774" cy="432048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</p:grpSp>
      <p:sp>
        <p:nvSpPr>
          <p:cNvPr id="56" name="TextBox 55"/>
          <p:cNvSpPr txBox="1">
            <a:spLocks noChangeArrowheads="1"/>
          </p:cNvSpPr>
          <p:nvPr/>
        </p:nvSpPr>
        <p:spPr bwMode="auto">
          <a:xfrm>
            <a:off x="7240943" y="1343911"/>
            <a:ext cx="38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x3</a:t>
            </a:r>
          </a:p>
        </p:txBody>
      </p:sp>
      <p:sp>
        <p:nvSpPr>
          <p:cNvPr id="57" name="Rectangle 56"/>
          <p:cNvSpPr>
            <a:spLocks noChangeArrowheads="1"/>
          </p:cNvSpPr>
          <p:nvPr/>
        </p:nvSpPr>
        <p:spPr bwMode="auto">
          <a:xfrm>
            <a:off x="6240818" y="1457020"/>
            <a:ext cx="84830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24mins</a:t>
            </a:r>
          </a:p>
        </p:txBody>
      </p:sp>
      <p:sp>
        <p:nvSpPr>
          <p:cNvPr id="58" name="TextBox 57"/>
          <p:cNvSpPr txBox="1">
            <a:spLocks noChangeArrowheads="1"/>
          </p:cNvSpPr>
          <p:nvPr/>
        </p:nvSpPr>
        <p:spPr bwMode="auto">
          <a:xfrm>
            <a:off x="5689558" y="1640376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  5% =</a:t>
            </a:r>
          </a:p>
        </p:txBody>
      </p:sp>
      <p:sp>
        <p:nvSpPr>
          <p:cNvPr id="59" name="Rectangle 58"/>
          <p:cNvSpPr>
            <a:spLocks noChangeArrowheads="1"/>
          </p:cNvSpPr>
          <p:nvPr/>
        </p:nvSpPr>
        <p:spPr bwMode="auto">
          <a:xfrm>
            <a:off x="6270583" y="1640376"/>
            <a:ext cx="74090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4mins</a:t>
            </a:r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5587164" y="1842783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  35% =</a:t>
            </a:r>
          </a:p>
        </p:txBody>
      </p:sp>
      <p:sp>
        <p:nvSpPr>
          <p:cNvPr id="61" name="Rectangle 60"/>
          <p:cNvSpPr>
            <a:spLocks noChangeArrowheads="1"/>
          </p:cNvSpPr>
          <p:nvPr/>
        </p:nvSpPr>
        <p:spPr bwMode="auto">
          <a:xfrm>
            <a:off x="6264630" y="1832067"/>
            <a:ext cx="84296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28mins</a:t>
            </a: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5359755" y="2051142"/>
            <a:ext cx="20847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200" b="1">
                <a:solidFill>
                  <a:srgbClr val="00B050"/>
                </a:solidFill>
              </a:rPr>
              <a:t>We now need to decrease 80mins by 28mins</a:t>
            </a:r>
          </a:p>
        </p:txBody>
      </p:sp>
      <p:sp>
        <p:nvSpPr>
          <p:cNvPr id="63" name="TextBox 62"/>
          <p:cNvSpPr txBox="1">
            <a:spLocks noChangeArrowheads="1"/>
          </p:cNvSpPr>
          <p:nvPr/>
        </p:nvSpPr>
        <p:spPr bwMode="auto">
          <a:xfrm>
            <a:off x="5151395" y="2422617"/>
            <a:ext cx="193357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80mins - 28mins =</a:t>
            </a:r>
          </a:p>
        </p:txBody>
      </p:sp>
      <p:sp>
        <p:nvSpPr>
          <p:cNvPr id="64" name="TextBox 63"/>
          <p:cNvSpPr txBox="1">
            <a:spLocks noChangeArrowheads="1"/>
          </p:cNvSpPr>
          <p:nvPr/>
        </p:nvSpPr>
        <p:spPr bwMode="auto">
          <a:xfrm>
            <a:off x="6869468" y="2398804"/>
            <a:ext cx="109180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>
                <a:solidFill>
                  <a:srgbClr val="FF0000"/>
                </a:solidFill>
              </a:rPr>
              <a:t>52mins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5B0DA59-9E97-4213-ABC5-B1109BD2FE0A}"/>
              </a:ext>
            </a:extLst>
          </p:cNvPr>
          <p:cNvSpPr/>
          <p:nvPr/>
        </p:nvSpPr>
        <p:spPr>
          <a:xfrm>
            <a:off x="3205050" y="74611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</p:spTree>
    <p:extLst>
      <p:ext uri="{BB962C8B-B14F-4D97-AF65-F5344CB8AC3E}">
        <p14:creationId xmlns:p14="http://schemas.microsoft.com/office/powerpoint/2010/main" val="3658222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Fluency and Understanding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4523658" y="1385643"/>
            <a:ext cx="1390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10% = $9</a:t>
            </a:r>
          </a:p>
        </p:txBody>
      </p:sp>
      <p:sp>
        <p:nvSpPr>
          <p:cNvPr id="22" name="TextBox 1"/>
          <p:cNvSpPr txBox="1">
            <a:spLocks noChangeArrowheads="1"/>
          </p:cNvSpPr>
          <p:nvPr/>
        </p:nvSpPr>
        <p:spPr bwMode="auto">
          <a:xfrm>
            <a:off x="1207410" y="800832"/>
            <a:ext cx="369570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dirty="0"/>
              <a:t>Work out the final amount when:</a:t>
            </a:r>
          </a:p>
        </p:txBody>
      </p:sp>
      <p:sp>
        <p:nvSpPr>
          <p:cNvPr id="24" name="TextBox 7"/>
          <p:cNvSpPr txBox="1">
            <a:spLocks noChangeArrowheads="1"/>
          </p:cNvSpPr>
          <p:nvPr/>
        </p:nvSpPr>
        <p:spPr bwMode="auto">
          <a:xfrm>
            <a:off x="1334807" y="1171117"/>
            <a:ext cx="428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FF0000"/>
                </a:solidFill>
              </a:rPr>
              <a:t>(a)</a:t>
            </a:r>
          </a:p>
        </p:txBody>
      </p:sp>
      <p:sp>
        <p:nvSpPr>
          <p:cNvPr id="25" name="TextBox 67"/>
          <p:cNvSpPr txBox="1">
            <a:spLocks noChangeArrowheads="1"/>
          </p:cNvSpPr>
          <p:nvPr/>
        </p:nvSpPr>
        <p:spPr bwMode="auto">
          <a:xfrm>
            <a:off x="1589601" y="1200882"/>
            <a:ext cx="232291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350" b="1" dirty="0">
                <a:solidFill>
                  <a:srgbClr val="7030A0"/>
                </a:solidFill>
              </a:rPr>
              <a:t>$ </a:t>
            </a:r>
            <a:r>
              <a:rPr lang="en-GB" altLang="en-US" sz="1050" dirty="0"/>
              <a:t>68 is decreased by 10%</a:t>
            </a:r>
          </a:p>
        </p:txBody>
      </p:sp>
      <p:sp>
        <p:nvSpPr>
          <p:cNvPr id="28" name="TextBox 7"/>
          <p:cNvSpPr txBox="1">
            <a:spLocks noChangeArrowheads="1"/>
          </p:cNvSpPr>
          <p:nvPr/>
        </p:nvSpPr>
        <p:spPr bwMode="auto">
          <a:xfrm>
            <a:off x="3878339" y="1107037"/>
            <a:ext cx="42862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FF0000"/>
                </a:solidFill>
              </a:rPr>
              <a:t>(b)</a:t>
            </a:r>
          </a:p>
        </p:txBody>
      </p:sp>
      <p:sp>
        <p:nvSpPr>
          <p:cNvPr id="29" name="TextBox 73"/>
          <p:cNvSpPr txBox="1">
            <a:spLocks noChangeArrowheads="1"/>
          </p:cNvSpPr>
          <p:nvPr/>
        </p:nvSpPr>
        <p:spPr bwMode="auto">
          <a:xfrm>
            <a:off x="4143849" y="1137993"/>
            <a:ext cx="232291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350" b="1" dirty="0">
                <a:solidFill>
                  <a:srgbClr val="7030A0"/>
                </a:solidFill>
              </a:rPr>
              <a:t>$ </a:t>
            </a:r>
            <a:r>
              <a:rPr lang="en-GB" altLang="en-US" sz="1050" dirty="0"/>
              <a:t>90 is decreased by 30%</a:t>
            </a:r>
          </a:p>
        </p:txBody>
      </p:sp>
      <p:sp>
        <p:nvSpPr>
          <p:cNvPr id="30" name="TextBox 7"/>
          <p:cNvSpPr txBox="1">
            <a:spLocks noChangeArrowheads="1"/>
          </p:cNvSpPr>
          <p:nvPr/>
        </p:nvSpPr>
        <p:spPr bwMode="auto">
          <a:xfrm>
            <a:off x="1444939" y="2292472"/>
            <a:ext cx="428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FF0000"/>
                </a:solidFill>
              </a:rPr>
              <a:t>(c)</a:t>
            </a:r>
          </a:p>
        </p:txBody>
      </p:sp>
      <p:sp>
        <p:nvSpPr>
          <p:cNvPr id="31" name="TextBox 75"/>
          <p:cNvSpPr txBox="1">
            <a:spLocks noChangeArrowheads="1"/>
          </p:cNvSpPr>
          <p:nvPr/>
        </p:nvSpPr>
        <p:spPr bwMode="auto">
          <a:xfrm>
            <a:off x="1700924" y="2323428"/>
            <a:ext cx="2321719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350" b="1" dirty="0">
                <a:solidFill>
                  <a:srgbClr val="7030A0"/>
                </a:solidFill>
              </a:rPr>
              <a:t>$ </a:t>
            </a:r>
            <a:r>
              <a:rPr lang="en-GB" altLang="en-US" sz="1050" dirty="0"/>
              <a:t>65 is decreased by 40%</a:t>
            </a:r>
          </a:p>
        </p:txBody>
      </p:sp>
      <p:sp>
        <p:nvSpPr>
          <p:cNvPr id="32" name="TextBox 7"/>
          <p:cNvSpPr txBox="1">
            <a:spLocks noChangeArrowheads="1"/>
          </p:cNvSpPr>
          <p:nvPr/>
        </p:nvSpPr>
        <p:spPr bwMode="auto">
          <a:xfrm>
            <a:off x="3770230" y="2300806"/>
            <a:ext cx="428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FF0000"/>
                </a:solidFill>
              </a:rPr>
              <a:t>(d)</a:t>
            </a:r>
          </a:p>
        </p:txBody>
      </p:sp>
      <p:sp>
        <p:nvSpPr>
          <p:cNvPr id="33" name="TextBox 77"/>
          <p:cNvSpPr txBox="1">
            <a:spLocks noChangeArrowheads="1"/>
          </p:cNvSpPr>
          <p:nvPr/>
        </p:nvSpPr>
        <p:spPr bwMode="auto">
          <a:xfrm>
            <a:off x="3985733" y="2322237"/>
            <a:ext cx="232291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350" b="1" dirty="0">
                <a:solidFill>
                  <a:srgbClr val="7030A0"/>
                </a:solidFill>
              </a:rPr>
              <a:t>  $ </a:t>
            </a:r>
            <a:r>
              <a:rPr lang="en-GB" altLang="en-US" sz="1050" dirty="0"/>
              <a:t>110 is decreased by 70%</a:t>
            </a:r>
          </a:p>
        </p:txBody>
      </p:sp>
      <p:sp>
        <p:nvSpPr>
          <p:cNvPr id="36" name="TextBox 7"/>
          <p:cNvSpPr txBox="1">
            <a:spLocks noChangeArrowheads="1"/>
          </p:cNvSpPr>
          <p:nvPr/>
        </p:nvSpPr>
        <p:spPr bwMode="auto">
          <a:xfrm>
            <a:off x="1444939" y="3455285"/>
            <a:ext cx="428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FF0000"/>
                </a:solidFill>
              </a:rPr>
              <a:t>(e)</a:t>
            </a:r>
          </a:p>
        </p:txBody>
      </p:sp>
      <p:sp>
        <p:nvSpPr>
          <p:cNvPr id="37" name="TextBox 81"/>
          <p:cNvSpPr txBox="1">
            <a:spLocks noChangeArrowheads="1"/>
          </p:cNvSpPr>
          <p:nvPr/>
        </p:nvSpPr>
        <p:spPr bwMode="auto">
          <a:xfrm>
            <a:off x="1699733" y="3486241"/>
            <a:ext cx="232291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350" b="1" dirty="0">
                <a:solidFill>
                  <a:srgbClr val="7030A0"/>
                </a:solidFill>
              </a:rPr>
              <a:t>$ </a:t>
            </a:r>
            <a:r>
              <a:rPr lang="en-GB" altLang="en-US" sz="1050" dirty="0"/>
              <a:t>300 is decreased by 55%</a:t>
            </a:r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2015845" y="1396145"/>
            <a:ext cx="132635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10% = $6.80</a:t>
            </a:r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1658657" y="1636651"/>
            <a:ext cx="1390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$68 - $6.80 =</a:t>
            </a: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2843328" y="1609436"/>
            <a:ext cx="9977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 dirty="0">
                <a:solidFill>
                  <a:srgbClr val="FF0000"/>
                </a:solidFill>
              </a:rPr>
              <a:t>$61.20</a:t>
            </a:r>
          </a:p>
        </p:txBody>
      </p:sp>
      <p:grpSp>
        <p:nvGrpSpPr>
          <p:cNvPr id="56" name="Group 55"/>
          <p:cNvGrpSpPr>
            <a:grpSpLocks/>
          </p:cNvGrpSpPr>
          <p:nvPr/>
        </p:nvGrpSpPr>
        <p:grpSpPr bwMode="auto">
          <a:xfrm>
            <a:off x="4397452" y="1493990"/>
            <a:ext cx="1281113" cy="323850"/>
            <a:chOff x="278265" y="3501008"/>
            <a:chExt cx="1746364" cy="432048"/>
          </a:xfrm>
        </p:grpSpPr>
        <p:sp>
          <p:nvSpPr>
            <p:cNvPr id="57" name="Curved Right Arrow 56"/>
            <p:cNvSpPr/>
            <p:nvPr/>
          </p:nvSpPr>
          <p:spPr>
            <a:xfrm>
              <a:off x="278265" y="3501008"/>
              <a:ext cx="172040" cy="43204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  <p:sp>
          <p:nvSpPr>
            <p:cNvPr id="58" name="Curved Left Arrow 57"/>
            <p:cNvSpPr/>
            <p:nvPr/>
          </p:nvSpPr>
          <p:spPr>
            <a:xfrm>
              <a:off x="1852589" y="3501008"/>
              <a:ext cx="172040" cy="432048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</p:grpSp>
      <p:sp>
        <p:nvSpPr>
          <p:cNvPr id="59" name="TextBox 58"/>
          <p:cNvSpPr txBox="1">
            <a:spLocks noChangeArrowheads="1"/>
          </p:cNvSpPr>
          <p:nvPr/>
        </p:nvSpPr>
        <p:spPr bwMode="auto">
          <a:xfrm>
            <a:off x="5658324" y="1504706"/>
            <a:ext cx="38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x3</a:t>
            </a:r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4122418" y="1517803"/>
            <a:ext cx="35480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x3</a:t>
            </a:r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4522467" y="1605909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30% =</a:t>
            </a:r>
          </a:p>
        </p:txBody>
      </p:sp>
      <p:sp>
        <p:nvSpPr>
          <p:cNvPr id="62" name="Rectangle 61"/>
          <p:cNvSpPr>
            <a:spLocks noChangeArrowheads="1"/>
          </p:cNvSpPr>
          <p:nvPr/>
        </p:nvSpPr>
        <p:spPr bwMode="auto">
          <a:xfrm>
            <a:off x="5083252" y="1602337"/>
            <a:ext cx="50687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$27</a:t>
            </a:r>
          </a:p>
        </p:txBody>
      </p:sp>
      <p:sp>
        <p:nvSpPr>
          <p:cNvPr id="63" name="TextBox 62"/>
          <p:cNvSpPr txBox="1">
            <a:spLocks noChangeArrowheads="1"/>
          </p:cNvSpPr>
          <p:nvPr/>
        </p:nvSpPr>
        <p:spPr bwMode="auto">
          <a:xfrm>
            <a:off x="4302202" y="1872609"/>
            <a:ext cx="1390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$ 90 - $ 27 =</a:t>
            </a:r>
          </a:p>
        </p:txBody>
      </p:sp>
      <p:sp>
        <p:nvSpPr>
          <p:cNvPr id="64" name="TextBox 63"/>
          <p:cNvSpPr txBox="1">
            <a:spLocks noChangeArrowheads="1"/>
          </p:cNvSpPr>
          <p:nvPr/>
        </p:nvSpPr>
        <p:spPr bwMode="auto">
          <a:xfrm>
            <a:off x="5437078" y="1923140"/>
            <a:ext cx="6854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 dirty="0">
                <a:solidFill>
                  <a:srgbClr val="FF0000"/>
                </a:solidFill>
              </a:rPr>
              <a:t>$63</a:t>
            </a:r>
          </a:p>
        </p:txBody>
      </p:sp>
      <p:sp>
        <p:nvSpPr>
          <p:cNvPr id="65" name="TextBox 64"/>
          <p:cNvSpPr txBox="1">
            <a:spLocks noChangeArrowheads="1"/>
          </p:cNvSpPr>
          <p:nvPr/>
        </p:nvSpPr>
        <p:spPr bwMode="auto">
          <a:xfrm>
            <a:off x="2084305" y="2636562"/>
            <a:ext cx="1390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10% = $ 6.50</a:t>
            </a:r>
          </a:p>
        </p:txBody>
      </p:sp>
      <p:grpSp>
        <p:nvGrpSpPr>
          <p:cNvPr id="66" name="Group 65"/>
          <p:cNvGrpSpPr>
            <a:grpSpLocks/>
          </p:cNvGrpSpPr>
          <p:nvPr/>
        </p:nvGrpSpPr>
        <p:grpSpPr bwMode="auto">
          <a:xfrm>
            <a:off x="1919999" y="2744909"/>
            <a:ext cx="1550194" cy="323850"/>
            <a:chOff x="278265" y="3501008"/>
            <a:chExt cx="1746364" cy="432048"/>
          </a:xfrm>
        </p:grpSpPr>
        <p:sp>
          <p:nvSpPr>
            <p:cNvPr id="67" name="Curved Right Arrow 66"/>
            <p:cNvSpPr/>
            <p:nvPr/>
          </p:nvSpPr>
          <p:spPr>
            <a:xfrm>
              <a:off x="278265" y="3501008"/>
              <a:ext cx="171686" cy="43204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  <p:sp>
          <p:nvSpPr>
            <p:cNvPr id="68" name="Curved Left Arrow 67"/>
            <p:cNvSpPr/>
            <p:nvPr/>
          </p:nvSpPr>
          <p:spPr>
            <a:xfrm>
              <a:off x="1852943" y="3501008"/>
              <a:ext cx="171686" cy="432048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</p:grpSp>
      <p:sp>
        <p:nvSpPr>
          <p:cNvPr id="69" name="TextBox 68"/>
          <p:cNvSpPr txBox="1">
            <a:spLocks noChangeArrowheads="1"/>
          </p:cNvSpPr>
          <p:nvPr/>
        </p:nvSpPr>
        <p:spPr bwMode="auto">
          <a:xfrm>
            <a:off x="3433283" y="2758006"/>
            <a:ext cx="38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x4</a:t>
            </a:r>
          </a:p>
        </p:txBody>
      </p:sp>
      <p:sp>
        <p:nvSpPr>
          <p:cNvPr id="70" name="TextBox 69"/>
          <p:cNvSpPr txBox="1">
            <a:spLocks noChangeArrowheads="1"/>
          </p:cNvSpPr>
          <p:nvPr/>
        </p:nvSpPr>
        <p:spPr bwMode="auto">
          <a:xfrm>
            <a:off x="1640202" y="2766341"/>
            <a:ext cx="35480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x4</a:t>
            </a:r>
          </a:p>
        </p:txBody>
      </p:sp>
      <p:sp>
        <p:nvSpPr>
          <p:cNvPr id="71" name="TextBox 70"/>
          <p:cNvSpPr txBox="1">
            <a:spLocks noChangeArrowheads="1"/>
          </p:cNvSpPr>
          <p:nvPr/>
        </p:nvSpPr>
        <p:spPr bwMode="auto">
          <a:xfrm>
            <a:off x="2083114" y="2856828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40% =</a:t>
            </a:r>
          </a:p>
        </p:txBody>
      </p:sp>
      <p:sp>
        <p:nvSpPr>
          <p:cNvPr id="72" name="Rectangle 71"/>
          <p:cNvSpPr>
            <a:spLocks noChangeArrowheads="1"/>
          </p:cNvSpPr>
          <p:nvPr/>
        </p:nvSpPr>
        <p:spPr bwMode="auto">
          <a:xfrm>
            <a:off x="2674855" y="2862781"/>
            <a:ext cx="5597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$ 26</a:t>
            </a:r>
          </a:p>
        </p:txBody>
      </p:sp>
      <p:sp>
        <p:nvSpPr>
          <p:cNvPr id="73" name="TextBox 72"/>
          <p:cNvSpPr txBox="1">
            <a:spLocks noChangeArrowheads="1"/>
          </p:cNvSpPr>
          <p:nvPr/>
        </p:nvSpPr>
        <p:spPr bwMode="auto">
          <a:xfrm>
            <a:off x="1962861" y="3123528"/>
            <a:ext cx="1390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$ 65 - $ 26 =</a:t>
            </a:r>
          </a:p>
        </p:txBody>
      </p:sp>
      <p:sp>
        <p:nvSpPr>
          <p:cNvPr id="74" name="TextBox 73"/>
          <p:cNvSpPr txBox="1">
            <a:spLocks noChangeArrowheads="1"/>
          </p:cNvSpPr>
          <p:nvPr/>
        </p:nvSpPr>
        <p:spPr bwMode="auto">
          <a:xfrm>
            <a:off x="3140985" y="3077728"/>
            <a:ext cx="7000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 dirty="0">
                <a:solidFill>
                  <a:srgbClr val="FF0000"/>
                </a:solidFill>
              </a:rPr>
              <a:t>$39</a:t>
            </a:r>
          </a:p>
        </p:txBody>
      </p:sp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4589380" y="2646087"/>
            <a:ext cx="1390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10% = $ 11</a:t>
            </a:r>
          </a:p>
        </p:txBody>
      </p:sp>
      <p:grpSp>
        <p:nvGrpSpPr>
          <p:cNvPr id="76" name="Group 75"/>
          <p:cNvGrpSpPr>
            <a:grpSpLocks/>
          </p:cNvGrpSpPr>
          <p:nvPr/>
        </p:nvGrpSpPr>
        <p:grpSpPr bwMode="auto">
          <a:xfrm>
            <a:off x="4473889" y="2754434"/>
            <a:ext cx="1281113" cy="323850"/>
            <a:chOff x="278265" y="3501008"/>
            <a:chExt cx="1746364" cy="432048"/>
          </a:xfrm>
        </p:grpSpPr>
        <p:sp>
          <p:nvSpPr>
            <p:cNvPr id="77" name="Curved Right Arrow 76"/>
            <p:cNvSpPr/>
            <p:nvPr/>
          </p:nvSpPr>
          <p:spPr>
            <a:xfrm>
              <a:off x="278265" y="3501008"/>
              <a:ext cx="172040" cy="43204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  <p:sp>
          <p:nvSpPr>
            <p:cNvPr id="78" name="Curved Left Arrow 77"/>
            <p:cNvSpPr/>
            <p:nvPr/>
          </p:nvSpPr>
          <p:spPr>
            <a:xfrm>
              <a:off x="1852589" y="3501008"/>
              <a:ext cx="172040" cy="432048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</p:grpSp>
      <p:sp>
        <p:nvSpPr>
          <p:cNvPr id="79" name="TextBox 78"/>
          <p:cNvSpPr txBox="1">
            <a:spLocks noChangeArrowheads="1"/>
          </p:cNvSpPr>
          <p:nvPr/>
        </p:nvSpPr>
        <p:spPr bwMode="auto">
          <a:xfrm>
            <a:off x="5734761" y="2765150"/>
            <a:ext cx="38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x7</a:t>
            </a:r>
          </a:p>
        </p:txBody>
      </p:sp>
      <p:sp>
        <p:nvSpPr>
          <p:cNvPr id="80" name="TextBox 79"/>
          <p:cNvSpPr txBox="1">
            <a:spLocks noChangeArrowheads="1"/>
          </p:cNvSpPr>
          <p:nvPr/>
        </p:nvSpPr>
        <p:spPr bwMode="auto">
          <a:xfrm>
            <a:off x="4198855" y="2778247"/>
            <a:ext cx="35480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x7</a:t>
            </a:r>
          </a:p>
        </p:txBody>
      </p:sp>
      <p:sp>
        <p:nvSpPr>
          <p:cNvPr id="81" name="TextBox 80"/>
          <p:cNvSpPr txBox="1">
            <a:spLocks noChangeArrowheads="1"/>
          </p:cNvSpPr>
          <p:nvPr/>
        </p:nvSpPr>
        <p:spPr bwMode="auto">
          <a:xfrm>
            <a:off x="4598905" y="2866353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70% =</a:t>
            </a:r>
          </a:p>
        </p:txBody>
      </p:sp>
      <p:sp>
        <p:nvSpPr>
          <p:cNvPr id="82" name="Rectangle 81"/>
          <p:cNvSpPr>
            <a:spLocks noChangeArrowheads="1"/>
          </p:cNvSpPr>
          <p:nvPr/>
        </p:nvSpPr>
        <p:spPr bwMode="auto">
          <a:xfrm>
            <a:off x="5159689" y="2862781"/>
            <a:ext cx="5597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$ 77</a:t>
            </a:r>
          </a:p>
        </p:txBody>
      </p:sp>
      <p:sp>
        <p:nvSpPr>
          <p:cNvPr id="83" name="TextBox 82"/>
          <p:cNvSpPr txBox="1">
            <a:spLocks noChangeArrowheads="1"/>
          </p:cNvSpPr>
          <p:nvPr/>
        </p:nvSpPr>
        <p:spPr bwMode="auto">
          <a:xfrm>
            <a:off x="4339349" y="3133053"/>
            <a:ext cx="1390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$ 110 - $ 77 =</a:t>
            </a:r>
          </a:p>
        </p:txBody>
      </p:sp>
      <p:sp>
        <p:nvSpPr>
          <p:cNvPr id="84" name="TextBox 83"/>
          <p:cNvSpPr txBox="1">
            <a:spLocks noChangeArrowheads="1"/>
          </p:cNvSpPr>
          <p:nvPr/>
        </p:nvSpPr>
        <p:spPr bwMode="auto">
          <a:xfrm>
            <a:off x="5606379" y="3286938"/>
            <a:ext cx="7022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 dirty="0">
                <a:solidFill>
                  <a:srgbClr val="FF0000"/>
                </a:solidFill>
              </a:rPr>
              <a:t>$33</a:t>
            </a:r>
          </a:p>
        </p:txBody>
      </p:sp>
      <p:sp>
        <p:nvSpPr>
          <p:cNvPr id="99" name="TextBox 98"/>
          <p:cNvSpPr txBox="1">
            <a:spLocks noChangeArrowheads="1"/>
          </p:cNvSpPr>
          <p:nvPr/>
        </p:nvSpPr>
        <p:spPr bwMode="auto">
          <a:xfrm>
            <a:off x="1864039" y="3851764"/>
            <a:ext cx="353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x5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auto">
          <a:xfrm>
            <a:off x="2300999" y="3723176"/>
            <a:ext cx="132516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10% = $30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auto">
          <a:xfrm>
            <a:off x="2299808" y="3942251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50% =</a:t>
            </a:r>
          </a:p>
        </p:txBody>
      </p:sp>
      <p:grpSp>
        <p:nvGrpSpPr>
          <p:cNvPr id="102" name="Group 101"/>
          <p:cNvGrpSpPr>
            <a:grpSpLocks/>
          </p:cNvGrpSpPr>
          <p:nvPr/>
        </p:nvGrpSpPr>
        <p:grpSpPr bwMode="auto">
          <a:xfrm>
            <a:off x="2133121" y="3831522"/>
            <a:ext cx="1440656" cy="323850"/>
            <a:chOff x="278265" y="3501008"/>
            <a:chExt cx="1746364" cy="432048"/>
          </a:xfrm>
        </p:grpSpPr>
        <p:sp>
          <p:nvSpPr>
            <p:cNvPr id="103" name="Curved Right Arrow 102"/>
            <p:cNvSpPr/>
            <p:nvPr/>
          </p:nvSpPr>
          <p:spPr>
            <a:xfrm>
              <a:off x="278265" y="3501008"/>
              <a:ext cx="171750" cy="43204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  <p:sp>
          <p:nvSpPr>
            <p:cNvPr id="104" name="Curved Left Arrow 103"/>
            <p:cNvSpPr/>
            <p:nvPr/>
          </p:nvSpPr>
          <p:spPr>
            <a:xfrm>
              <a:off x="1852880" y="3501008"/>
              <a:ext cx="171749" cy="432048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</p:grpSp>
      <p:sp>
        <p:nvSpPr>
          <p:cNvPr id="105" name="TextBox 104"/>
          <p:cNvSpPr txBox="1">
            <a:spLocks noChangeArrowheads="1"/>
          </p:cNvSpPr>
          <p:nvPr/>
        </p:nvSpPr>
        <p:spPr bwMode="auto">
          <a:xfrm>
            <a:off x="3529724" y="3855335"/>
            <a:ext cx="38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x5</a:t>
            </a:r>
          </a:p>
        </p:txBody>
      </p:sp>
      <p:sp>
        <p:nvSpPr>
          <p:cNvPr id="106" name="Rectangle 105"/>
          <p:cNvSpPr>
            <a:spLocks noChangeArrowheads="1"/>
          </p:cNvSpPr>
          <p:nvPr/>
        </p:nvSpPr>
        <p:spPr bwMode="auto">
          <a:xfrm>
            <a:off x="2860592" y="3958920"/>
            <a:ext cx="66717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$ 150</a:t>
            </a:r>
          </a:p>
        </p:txBody>
      </p:sp>
      <p:sp>
        <p:nvSpPr>
          <p:cNvPr id="107" name="TextBox 106"/>
          <p:cNvSpPr txBox="1">
            <a:spLocks noChangeArrowheads="1"/>
          </p:cNvSpPr>
          <p:nvPr/>
        </p:nvSpPr>
        <p:spPr bwMode="auto">
          <a:xfrm>
            <a:off x="2309333" y="4142276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  5% =</a:t>
            </a:r>
          </a:p>
        </p:txBody>
      </p:sp>
      <p:sp>
        <p:nvSpPr>
          <p:cNvPr id="108" name="Rectangle 107"/>
          <p:cNvSpPr>
            <a:spLocks noChangeArrowheads="1"/>
          </p:cNvSpPr>
          <p:nvPr/>
        </p:nvSpPr>
        <p:spPr bwMode="auto">
          <a:xfrm>
            <a:off x="2890358" y="4142276"/>
            <a:ext cx="5597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$ 15</a:t>
            </a:r>
          </a:p>
        </p:txBody>
      </p:sp>
      <p:sp>
        <p:nvSpPr>
          <p:cNvPr id="109" name="TextBox 108"/>
          <p:cNvSpPr txBox="1">
            <a:spLocks noChangeArrowheads="1"/>
          </p:cNvSpPr>
          <p:nvPr/>
        </p:nvSpPr>
        <p:spPr bwMode="auto">
          <a:xfrm>
            <a:off x="2206939" y="4344682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  55% =</a:t>
            </a:r>
          </a:p>
        </p:txBody>
      </p:sp>
      <p:sp>
        <p:nvSpPr>
          <p:cNvPr id="110" name="Rectangle 109"/>
          <p:cNvSpPr>
            <a:spLocks noChangeArrowheads="1"/>
          </p:cNvSpPr>
          <p:nvPr/>
        </p:nvSpPr>
        <p:spPr bwMode="auto">
          <a:xfrm>
            <a:off x="2884405" y="4333966"/>
            <a:ext cx="84415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$ 165</a:t>
            </a:r>
          </a:p>
        </p:txBody>
      </p:sp>
      <p:sp>
        <p:nvSpPr>
          <p:cNvPr id="111" name="TextBox 110"/>
          <p:cNvSpPr txBox="1">
            <a:spLocks noChangeArrowheads="1"/>
          </p:cNvSpPr>
          <p:nvPr/>
        </p:nvSpPr>
        <p:spPr bwMode="auto">
          <a:xfrm>
            <a:off x="1928332" y="4654245"/>
            <a:ext cx="139541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$ 300 - $ 165 =</a:t>
            </a:r>
          </a:p>
        </p:txBody>
      </p:sp>
      <p:sp>
        <p:nvSpPr>
          <p:cNvPr id="112" name="TextBox 111"/>
          <p:cNvSpPr txBox="1">
            <a:spLocks noChangeArrowheads="1"/>
          </p:cNvSpPr>
          <p:nvPr/>
        </p:nvSpPr>
        <p:spPr bwMode="auto">
          <a:xfrm>
            <a:off x="3155867" y="4618526"/>
            <a:ext cx="8036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 dirty="0">
                <a:solidFill>
                  <a:srgbClr val="FF0000"/>
                </a:solidFill>
              </a:rPr>
              <a:t>$135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5CC211B-C7FF-4FE1-A793-A99AD899ADE1}"/>
              </a:ext>
            </a:extLst>
          </p:cNvPr>
          <p:cNvSpPr/>
          <p:nvPr/>
        </p:nvSpPr>
        <p:spPr>
          <a:xfrm>
            <a:off x="3205050" y="74611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</p:spTree>
    <p:extLst>
      <p:ext uri="{BB962C8B-B14F-4D97-AF65-F5344CB8AC3E}">
        <p14:creationId xmlns:p14="http://schemas.microsoft.com/office/powerpoint/2010/main" val="3241578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3" grpId="0"/>
      <p:bldP spid="44" grpId="0"/>
      <p:bldP spid="45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9" grpId="0"/>
      <p:bldP spid="80" grpId="0"/>
      <p:bldP spid="81" grpId="0"/>
      <p:bldP spid="82" grpId="0"/>
      <p:bldP spid="83" grpId="0"/>
      <p:bldP spid="84" grpId="0"/>
      <p:bldP spid="99" grpId="0"/>
      <p:bldP spid="100" grpId="0"/>
      <p:bldP spid="101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1188214" y="397988"/>
            <a:ext cx="6254577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100" b="1" dirty="0">
                <a:solidFill>
                  <a:prstClr val="white"/>
                </a:solidFill>
              </a:rPr>
              <a:t>Fluency and Understanding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2197" y="748394"/>
            <a:ext cx="3352200" cy="9694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Reduce prices by 10% </a:t>
            </a:r>
          </a:p>
          <a:p>
            <a:endParaRPr lang="en-GB" sz="3300" dirty="0"/>
          </a:p>
        </p:txBody>
      </p:sp>
      <p:grpSp>
        <p:nvGrpSpPr>
          <p:cNvPr id="2" name="Group 1"/>
          <p:cNvGrpSpPr/>
          <p:nvPr/>
        </p:nvGrpSpPr>
        <p:grpSpPr>
          <a:xfrm>
            <a:off x="2021452" y="1244501"/>
            <a:ext cx="4435877" cy="1812997"/>
            <a:chOff x="410779" y="1988840"/>
            <a:chExt cx="5914502" cy="2417330"/>
          </a:xfrm>
        </p:grpSpPr>
        <p:sp>
          <p:nvSpPr>
            <p:cNvPr id="17" name="Rounded Rectangle 16"/>
            <p:cNvSpPr/>
            <p:nvPr/>
          </p:nvSpPr>
          <p:spPr>
            <a:xfrm>
              <a:off x="410779" y="1988840"/>
              <a:ext cx="1309380" cy="1858883"/>
            </a:xfrm>
            <a:prstGeom prst="roundRect">
              <a:avLst>
                <a:gd name="adj" fmla="val 2110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solidFill>
                <a:srgbClr val="008000"/>
              </a:solidFill>
              <a:prstDash val="solid"/>
            </a:ln>
            <a:effectLst/>
          </p:spPr>
          <p:txBody>
            <a:bodyPr lIns="68483" tIns="34244" rIns="68483" bIns="34244" rtlCol="0" anchor="ctr"/>
            <a:lstStyle/>
            <a:p>
              <a:pPr algn="ctr">
                <a:defRPr/>
              </a:pPr>
              <a:endParaRPr lang="en-US" sz="5400" b="1" dirty="0">
                <a:latin typeface="Calibri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54906" y="1988840"/>
              <a:ext cx="5670375" cy="2417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en-GB" altLang="en-US" sz="1500" b="1" dirty="0">
                  <a:solidFill>
                    <a:srgbClr val="7030A0"/>
                  </a:solidFill>
                </a:rPr>
                <a:t>$ </a:t>
              </a:r>
              <a:r>
                <a:rPr lang="en-GB" sz="1500" dirty="0">
                  <a:latin typeface="Comic Sans MS" panose="030F0702030302020204" pitchFamily="66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200</a:t>
              </a:r>
              <a:endParaRPr lang="en-GB" sz="15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</a:pPr>
              <a:r>
                <a:rPr lang="en-GB" altLang="en-US" sz="1500" b="1" dirty="0">
                  <a:solidFill>
                    <a:srgbClr val="7030A0"/>
                  </a:solidFill>
                </a:rPr>
                <a:t>$ </a:t>
              </a:r>
              <a:r>
                <a:rPr lang="en-GB" sz="1500" dirty="0">
                  <a:latin typeface="Comic Sans MS" panose="030F0702030302020204" pitchFamily="66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350</a:t>
              </a:r>
              <a:endParaRPr lang="en-GB" sz="15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</a:pPr>
              <a:r>
                <a:rPr lang="en-GB" altLang="en-US" sz="1500" b="1" dirty="0">
                  <a:solidFill>
                    <a:srgbClr val="7030A0"/>
                  </a:solidFill>
                </a:rPr>
                <a:t>$ </a:t>
              </a:r>
              <a:r>
                <a:rPr lang="en-GB" sz="1500" dirty="0">
                  <a:latin typeface="Comic Sans MS" panose="030F0702030302020204" pitchFamily="66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480</a:t>
              </a:r>
            </a:p>
            <a:p>
              <a:pPr>
                <a:lnSpc>
                  <a:spcPct val="115000"/>
                </a:lnSpc>
              </a:pPr>
              <a:r>
                <a:rPr lang="en-GB" altLang="en-US" sz="1500" b="1" dirty="0">
                  <a:solidFill>
                    <a:srgbClr val="7030A0"/>
                  </a:solidFill>
                </a:rPr>
                <a:t>$ </a:t>
              </a:r>
              <a:r>
                <a:rPr lang="en-GB" sz="1500" dirty="0">
                  <a:latin typeface="Comic Sans MS" panose="030F0702030302020204" pitchFamily="66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72</a:t>
              </a:r>
            </a:p>
            <a:p>
              <a:pPr>
                <a:lnSpc>
                  <a:spcPct val="115000"/>
                </a:lnSpc>
              </a:pPr>
              <a:r>
                <a:rPr lang="en-GB" altLang="en-US" sz="1500" b="1" dirty="0">
                  <a:solidFill>
                    <a:srgbClr val="7030A0"/>
                  </a:solidFill>
                </a:rPr>
                <a:t>$ </a:t>
              </a:r>
              <a:r>
                <a:rPr lang="en-GB" sz="1500" dirty="0">
                  <a:latin typeface="Comic Sans MS" panose="030F0702030302020204" pitchFamily="66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GB" sz="15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</a:pPr>
              <a:endParaRPr lang="en-GB" sz="788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br>
                <a:rPr lang="en-GB" sz="825" dirty="0">
                  <a:latin typeface="Comic Sans MS" panose="030F0702030302020204" pitchFamily="66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endParaRPr lang="en-GB" sz="825" dirty="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174929" y="3278903"/>
            <a:ext cx="3529277" cy="1401538"/>
            <a:chOff x="4798337" y="2541813"/>
            <a:chExt cx="4705703" cy="1868718"/>
          </a:xfrm>
        </p:grpSpPr>
        <p:sp>
          <p:nvSpPr>
            <p:cNvPr id="16" name="Rounded Rectangle 15"/>
            <p:cNvSpPr/>
            <p:nvPr/>
          </p:nvSpPr>
          <p:spPr>
            <a:xfrm>
              <a:off x="4798337" y="2541813"/>
              <a:ext cx="1198957" cy="1837939"/>
            </a:xfrm>
            <a:prstGeom prst="roundRect">
              <a:avLst>
                <a:gd name="adj" fmla="val 21100"/>
              </a:avLst>
            </a:prstGeom>
            <a:solidFill>
              <a:srgbClr val="FF66FF"/>
            </a:solidFill>
            <a:ln w="9525" cap="flat" cmpd="sng" algn="ctr">
              <a:solidFill>
                <a:srgbClr val="008000"/>
              </a:solidFill>
              <a:prstDash val="solid"/>
            </a:ln>
            <a:effectLst/>
          </p:spPr>
          <p:txBody>
            <a:bodyPr lIns="68483" tIns="34244" rIns="68483" bIns="34244" rtlCol="0" anchor="ctr"/>
            <a:lstStyle/>
            <a:p>
              <a:pPr algn="ctr">
                <a:defRPr/>
              </a:pPr>
              <a:endParaRPr lang="en-US" sz="2700" b="1" dirty="0">
                <a:latin typeface="Calibri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932040" y="2541813"/>
              <a:ext cx="4572000" cy="186871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en-GB" altLang="en-US" sz="1500" b="1" dirty="0">
                  <a:solidFill>
                    <a:srgbClr val="7030A0"/>
                  </a:solidFill>
                </a:rPr>
                <a:t>$ </a:t>
              </a:r>
              <a:r>
                <a:rPr lang="en-GB" sz="1500" dirty="0">
                  <a:latin typeface="Comic Sans MS" panose="030F0702030302020204" pitchFamily="66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300</a:t>
              </a:r>
              <a:endParaRPr lang="en-GB" sz="15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</a:pPr>
              <a:r>
                <a:rPr lang="en-GB" altLang="en-US" sz="1500" b="1" dirty="0">
                  <a:solidFill>
                    <a:srgbClr val="7030A0"/>
                  </a:solidFill>
                </a:rPr>
                <a:t>$ </a:t>
              </a:r>
              <a:r>
                <a:rPr lang="en-GB" sz="1500" dirty="0">
                  <a:latin typeface="Comic Sans MS" panose="030F0702030302020204" pitchFamily="66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700</a:t>
              </a:r>
              <a:endParaRPr lang="en-GB" sz="15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</a:pPr>
              <a:r>
                <a:rPr lang="en-GB" altLang="en-US" sz="1500" b="1" dirty="0">
                  <a:solidFill>
                    <a:srgbClr val="7030A0"/>
                  </a:solidFill>
                </a:rPr>
                <a:t>$ </a:t>
              </a:r>
              <a:r>
                <a:rPr lang="en-GB" sz="1500" dirty="0">
                  <a:latin typeface="Comic Sans MS" panose="030F0702030302020204" pitchFamily="66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1200</a:t>
              </a:r>
              <a:endParaRPr lang="en-GB" sz="15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</a:pPr>
              <a:r>
                <a:rPr lang="en-GB" altLang="en-US" sz="1500" b="1" dirty="0">
                  <a:solidFill>
                    <a:srgbClr val="7030A0"/>
                  </a:solidFill>
                </a:rPr>
                <a:t>$ </a:t>
              </a:r>
              <a:r>
                <a:rPr lang="en-GB" sz="1500" dirty="0">
                  <a:latin typeface="Comic Sans MS" panose="030F0702030302020204" pitchFamily="66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  <a:p>
              <a:pPr>
                <a:lnSpc>
                  <a:spcPct val="115000"/>
                </a:lnSpc>
                <a:spcAft>
                  <a:spcPts val="750"/>
                </a:spcAft>
              </a:pPr>
              <a:r>
                <a:rPr lang="en-GB" sz="1500" dirty="0">
                  <a:latin typeface="Comic Sans MS" panose="030F0702030302020204" pitchFamily="66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80c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1222632" y="2431887"/>
            <a:ext cx="291713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Reduce prices by 35% </a:t>
            </a:r>
          </a:p>
          <a:p>
            <a:endParaRPr lang="en-GB" sz="3300" dirty="0"/>
          </a:p>
        </p:txBody>
      </p:sp>
      <p:sp>
        <p:nvSpPr>
          <p:cNvPr id="22" name="Rounded Rectangle 21"/>
          <p:cNvSpPr/>
          <p:nvPr/>
        </p:nvSpPr>
        <p:spPr>
          <a:xfrm>
            <a:off x="4089072" y="1714964"/>
            <a:ext cx="1899535" cy="1106613"/>
          </a:xfrm>
          <a:prstGeom prst="roundRect">
            <a:avLst>
              <a:gd name="adj" fmla="val 21100"/>
            </a:avLst>
          </a:prstGeom>
          <a:solidFill>
            <a:srgbClr val="F8AB3F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68483" tIns="34244" rIns="68483" bIns="34244" rtlCol="0" anchor="ctr"/>
          <a:lstStyle/>
          <a:p>
            <a:pPr algn="ctr" defTabSz="684877">
              <a:defRPr/>
            </a:pPr>
            <a:r>
              <a:rPr lang="en-GB" altLang="en-US" sz="2400" b="1" dirty="0">
                <a:solidFill>
                  <a:srgbClr val="7030A0"/>
                </a:solidFill>
              </a:rPr>
              <a:t>$ </a:t>
            </a:r>
            <a:r>
              <a:rPr lang="en-US" sz="2400" b="1" dirty="0">
                <a:latin typeface="Calibri"/>
              </a:rPr>
              <a:t>30 increased by 20%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26181" y="988675"/>
            <a:ext cx="3786375" cy="708019"/>
          </a:xfrm>
          <a:prstGeom prst="roundRect">
            <a:avLst>
              <a:gd name="adj" fmla="val 21100"/>
            </a:avLst>
          </a:prstGeom>
          <a:solidFill>
            <a:srgbClr val="F8AB3F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68483" tIns="34244" rIns="68483" bIns="34244" rtlCol="0" anchor="ctr"/>
          <a:lstStyle/>
          <a:p>
            <a:pPr algn="ctr" defTabSz="684877">
              <a:defRPr/>
            </a:pPr>
            <a:r>
              <a:rPr lang="en-US" sz="2700" b="1" dirty="0">
                <a:solidFill>
                  <a:prstClr val="white"/>
                </a:solidFill>
                <a:latin typeface="Calibri"/>
              </a:rPr>
              <a:t>Connections and Reasoning </a:t>
            </a:r>
            <a:r>
              <a:rPr lang="en-US" sz="1500" b="1" dirty="0">
                <a:solidFill>
                  <a:prstClr val="white"/>
                </a:solidFill>
                <a:latin typeface="Calibri"/>
              </a:rPr>
              <a:t>Find the Odd One Out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2993" y="2880545"/>
            <a:ext cx="1899535" cy="1106613"/>
          </a:xfrm>
          <a:prstGeom prst="roundRect">
            <a:avLst>
              <a:gd name="adj" fmla="val 21100"/>
            </a:avLst>
          </a:prstGeom>
          <a:solidFill>
            <a:srgbClr val="F8AB3F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68483" tIns="34244" rIns="68483" bIns="34244" rtlCol="0" anchor="ctr"/>
          <a:lstStyle/>
          <a:p>
            <a:pPr algn="ctr" defTabSz="684877">
              <a:defRPr/>
            </a:pPr>
            <a:r>
              <a:rPr lang="en-GB" altLang="en-US" sz="2700" b="1" dirty="0">
                <a:solidFill>
                  <a:srgbClr val="7030A0"/>
                </a:solidFill>
              </a:rPr>
              <a:t>$ </a:t>
            </a:r>
            <a:r>
              <a:rPr lang="en-US" sz="2700" b="1" dirty="0">
                <a:latin typeface="Calibri"/>
              </a:rPr>
              <a:t>60 decreased by 40%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01466" y="1709162"/>
            <a:ext cx="1899535" cy="1106613"/>
          </a:xfrm>
          <a:prstGeom prst="roundRect">
            <a:avLst>
              <a:gd name="adj" fmla="val 21100"/>
            </a:avLst>
          </a:prstGeom>
          <a:solidFill>
            <a:srgbClr val="F8AB3F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68483" tIns="34244" rIns="68483" bIns="34244" rtlCol="0" anchor="ctr"/>
          <a:lstStyle/>
          <a:p>
            <a:pPr algn="ctr" defTabSz="684877">
              <a:defRPr/>
            </a:pPr>
            <a:r>
              <a:rPr lang="en-GB" altLang="en-US" sz="2700" b="1" dirty="0">
                <a:solidFill>
                  <a:srgbClr val="7030A0"/>
                </a:solidFill>
              </a:rPr>
              <a:t>$ </a:t>
            </a:r>
            <a:r>
              <a:rPr lang="en-US" sz="2700" b="1" dirty="0">
                <a:latin typeface="Calibri"/>
              </a:rPr>
              <a:t>40 reduced by 10%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75385" y="2885051"/>
            <a:ext cx="1899535" cy="1106613"/>
          </a:xfrm>
          <a:prstGeom prst="roundRect">
            <a:avLst>
              <a:gd name="adj" fmla="val 21100"/>
            </a:avLst>
          </a:prstGeom>
          <a:solidFill>
            <a:srgbClr val="F8AB3F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68483" tIns="34244" rIns="68483" bIns="34244" rtlCol="0" anchor="ctr"/>
          <a:lstStyle/>
          <a:p>
            <a:pPr algn="ctr" defTabSz="684877">
              <a:defRPr/>
            </a:pPr>
            <a:r>
              <a:rPr lang="en-GB" altLang="en-US" sz="2700" b="1" dirty="0">
                <a:solidFill>
                  <a:srgbClr val="7030A0"/>
                </a:solidFill>
              </a:rPr>
              <a:t>$ </a:t>
            </a:r>
            <a:r>
              <a:rPr lang="en-US" sz="2700" b="1" dirty="0">
                <a:latin typeface="Calibri"/>
              </a:rPr>
              <a:t>50 reduced by 30%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AB707F-52A7-479A-9F7B-55A5F93D1878}"/>
              </a:ext>
            </a:extLst>
          </p:cNvPr>
          <p:cNvSpPr/>
          <p:nvPr/>
        </p:nvSpPr>
        <p:spPr>
          <a:xfrm>
            <a:off x="3378413" y="109650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</p:spTree>
    <p:extLst>
      <p:ext uri="{BB962C8B-B14F-4D97-AF65-F5344CB8AC3E}">
        <p14:creationId xmlns:p14="http://schemas.microsoft.com/office/powerpoint/2010/main" val="14635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100709" y="530683"/>
            <a:ext cx="4942581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Connections and Reasoning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0" t="28955" r="3005" b="55327"/>
          <a:stretch/>
        </p:blipFill>
        <p:spPr>
          <a:xfrm>
            <a:off x="2200756" y="1249207"/>
            <a:ext cx="5178009" cy="930244"/>
          </a:xfrm>
          <a:prstGeom prst="rect">
            <a:avLst/>
          </a:prstGeom>
        </p:spPr>
      </p:pic>
      <p:sp>
        <p:nvSpPr>
          <p:cNvPr id="14" name="TextBox 7"/>
          <p:cNvSpPr txBox="1">
            <a:spLocks noChangeArrowheads="1"/>
          </p:cNvSpPr>
          <p:nvPr/>
        </p:nvSpPr>
        <p:spPr bwMode="auto">
          <a:xfrm>
            <a:off x="1772131" y="1334006"/>
            <a:ext cx="428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FF0000"/>
                </a:solidFill>
              </a:rPr>
              <a:t>(1)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7" t="47771" r="2768" b="32223"/>
          <a:stretch/>
        </p:blipFill>
        <p:spPr>
          <a:xfrm>
            <a:off x="2130839" y="2468055"/>
            <a:ext cx="5178009" cy="1184000"/>
          </a:xfrm>
          <a:prstGeom prst="rect">
            <a:avLst/>
          </a:prstGeom>
        </p:spPr>
      </p:pic>
      <p:sp>
        <p:nvSpPr>
          <p:cNvPr id="17" name="TextBox 7"/>
          <p:cNvSpPr txBox="1">
            <a:spLocks noChangeArrowheads="1"/>
          </p:cNvSpPr>
          <p:nvPr/>
        </p:nvSpPr>
        <p:spPr bwMode="auto">
          <a:xfrm>
            <a:off x="1772131" y="2446437"/>
            <a:ext cx="428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4502" y="1937076"/>
            <a:ext cx="31098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FF0000"/>
                </a:solidFill>
              </a:rPr>
              <a:t>True because 40 + 60 = 100 and percentages are out of 100.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5850" y="3409744"/>
            <a:ext cx="31098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FF0000"/>
                </a:solidFill>
              </a:rPr>
              <a:t>False because 25 + 25 = 50 and percentages are out of 100. David should have calculated 75% as this does add up to 100.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07D5F-6F40-4E88-BEBC-20C186EC4542}"/>
              </a:ext>
            </a:extLst>
          </p:cNvPr>
          <p:cNvSpPr/>
          <p:nvPr/>
        </p:nvSpPr>
        <p:spPr>
          <a:xfrm>
            <a:off x="3205050" y="74611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</p:spTree>
    <p:extLst>
      <p:ext uri="{BB962C8B-B14F-4D97-AF65-F5344CB8AC3E}">
        <p14:creationId xmlns:p14="http://schemas.microsoft.com/office/powerpoint/2010/main" val="158657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Problem Solving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713" y="1163503"/>
            <a:ext cx="5932225" cy="112852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33710" y="2220363"/>
            <a:ext cx="16024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700" dirty="0">
                <a:solidFill>
                  <a:srgbClr val="FF0000"/>
                </a:solidFill>
              </a:rPr>
              <a:t>10 years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75376" y="3012826"/>
            <a:ext cx="568656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100" dirty="0"/>
              <a:t>A car is valued at $10000 when it is brand new. However, every year the car loses 10% of its value. What is the value of the car after 3 years?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2265" y="3953233"/>
            <a:ext cx="16024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700" dirty="0">
                <a:solidFill>
                  <a:srgbClr val="FF0000"/>
                </a:solidFill>
              </a:rPr>
              <a:t>$7290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F80E6A-5C13-4E0F-9D89-F220E793FB24}"/>
              </a:ext>
            </a:extLst>
          </p:cNvPr>
          <p:cNvSpPr/>
          <p:nvPr/>
        </p:nvSpPr>
        <p:spPr>
          <a:xfrm>
            <a:off x="3205050" y="74611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</p:spTree>
    <p:extLst>
      <p:ext uri="{BB962C8B-B14F-4D97-AF65-F5344CB8AC3E}">
        <p14:creationId xmlns:p14="http://schemas.microsoft.com/office/powerpoint/2010/main" val="262998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1871700" y="3273897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FFC00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2000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71700" y="1815735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92D05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202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04048" y="3273897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0070C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220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4048" y="1815735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210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19245" y="847464"/>
            <a:ext cx="5891356" cy="78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GB" sz="4500" dirty="0">
                <a:solidFill>
                  <a:sysClr val="windowText" lastClr="000000"/>
                </a:solidFill>
                <a:latin typeface="Arial" charset="0"/>
                <a:cs typeface="Arial" charset="0"/>
              </a:rPr>
              <a:t>200 increased by 10%</a:t>
            </a:r>
          </a:p>
        </p:txBody>
      </p:sp>
      <p:sp>
        <p:nvSpPr>
          <p:cNvPr id="39" name="6-Point Star 38"/>
          <p:cNvSpPr/>
          <p:nvPr/>
        </p:nvSpPr>
        <p:spPr>
          <a:xfrm rot="20417179">
            <a:off x="4704955" y="2801972"/>
            <a:ext cx="1232513" cy="1404156"/>
          </a:xfrm>
          <a:prstGeom prst="star6">
            <a:avLst/>
          </a:prstGeom>
          <a:gradFill flip="none" rotWithShape="1">
            <a:gsLst>
              <a:gs pos="0">
                <a:srgbClr val="B13F9A">
                  <a:lumMod val="40000"/>
                  <a:lumOff val="60000"/>
                </a:srgbClr>
              </a:gs>
              <a:gs pos="35000">
                <a:srgbClr val="7030A0"/>
              </a:gs>
              <a:gs pos="100000">
                <a:srgbClr val="B13F9A">
                  <a:lumMod val="60000"/>
                  <a:lumOff val="40000"/>
                </a:srgbClr>
              </a:gs>
            </a:gsLst>
            <a:path path="circle">
              <a:fillToRect l="50000" t="50000" r="50000" b="50000"/>
            </a:path>
            <a:tileRect/>
          </a:gradFill>
          <a:ln w="11430" cap="flat" cmpd="sng" algn="ctr">
            <a:solidFill>
              <a:srgbClr val="B83D68"/>
            </a:solidFill>
            <a:prstDash val="solid"/>
          </a:ln>
          <a:effectLst>
            <a:outerShdw blurRad="50800" dist="25000" dir="5400000" rotWithShape="0">
              <a:srgbClr val="B83D68">
                <a:shade val="30000"/>
                <a:satMod val="150000"/>
                <a:alpha val="38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GB" sz="1500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stocrat SF" pitchFamily="2" charset="0"/>
                <a:cs typeface="+mn-cs"/>
              </a:rPr>
              <a:t>Correct!</a:t>
            </a:r>
          </a:p>
          <a:p>
            <a:pPr algn="ctr">
              <a:defRPr/>
            </a:pPr>
            <a:r>
              <a:rPr lang="en-GB" sz="1500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stocrat SF" pitchFamily="2" charset="0"/>
                <a:cs typeface="+mn-cs"/>
                <a:sym typeface="Wingdings" pitchFamily="2" charset="2"/>
              </a:rPr>
              <a:t></a:t>
            </a:r>
            <a:endParaRPr lang="en-GB" sz="1500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stocrat SF" pitchFamily="2" charset="0"/>
              <a:cs typeface="+mn-cs"/>
            </a:endParaRPr>
          </a:p>
        </p:txBody>
      </p:sp>
      <p:sp>
        <p:nvSpPr>
          <p:cNvPr id="16428" name="TextBox 12"/>
          <p:cNvSpPr txBox="1">
            <a:spLocks noChangeArrowheads="1"/>
          </p:cNvSpPr>
          <p:nvPr/>
        </p:nvSpPr>
        <p:spPr bwMode="auto">
          <a:xfrm>
            <a:off x="1290637" y="2067279"/>
            <a:ext cx="652463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A)</a:t>
            </a:r>
          </a:p>
        </p:txBody>
      </p:sp>
      <p:sp>
        <p:nvSpPr>
          <p:cNvPr id="16429" name="TextBox 41"/>
          <p:cNvSpPr txBox="1">
            <a:spLocks noChangeArrowheads="1"/>
          </p:cNvSpPr>
          <p:nvPr/>
        </p:nvSpPr>
        <p:spPr bwMode="auto">
          <a:xfrm>
            <a:off x="4399360" y="2067279"/>
            <a:ext cx="651272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B)</a:t>
            </a:r>
          </a:p>
        </p:txBody>
      </p:sp>
      <p:sp>
        <p:nvSpPr>
          <p:cNvPr id="16430" name="TextBox 42"/>
          <p:cNvSpPr txBox="1">
            <a:spLocks noChangeArrowheads="1"/>
          </p:cNvSpPr>
          <p:nvPr/>
        </p:nvSpPr>
        <p:spPr bwMode="auto">
          <a:xfrm>
            <a:off x="1331119" y="3549608"/>
            <a:ext cx="652463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C)</a:t>
            </a:r>
          </a:p>
        </p:txBody>
      </p:sp>
      <p:sp>
        <p:nvSpPr>
          <p:cNvPr id="16431" name="TextBox 43"/>
          <p:cNvSpPr txBox="1">
            <a:spLocks noChangeArrowheads="1"/>
          </p:cNvSpPr>
          <p:nvPr/>
        </p:nvSpPr>
        <p:spPr bwMode="auto">
          <a:xfrm>
            <a:off x="4439841" y="3549608"/>
            <a:ext cx="651272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31" name="Rectangle 30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40" name="Rounded Rectangle 39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Plenary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D39B3C-AAFD-4E6C-9614-0D2C52B8A42E}"/>
              </a:ext>
            </a:extLst>
          </p:cNvPr>
          <p:cNvSpPr/>
          <p:nvPr/>
        </p:nvSpPr>
        <p:spPr>
          <a:xfrm>
            <a:off x="3205050" y="74611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</p:spTree>
    <p:extLst>
      <p:ext uri="{BB962C8B-B14F-4D97-AF65-F5344CB8AC3E}">
        <p14:creationId xmlns:p14="http://schemas.microsoft.com/office/powerpoint/2010/main" val="83515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249" y="4522206"/>
            <a:ext cx="430807" cy="46547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31" name="Rectangle 30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40" name="Rounded Rectangle 39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Plenary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45657" y="3575048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FFC00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90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45657" y="2116886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92D05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88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32011" y="3575048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0070C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81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32011" y="2116886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810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0111" y="767146"/>
            <a:ext cx="5570756" cy="78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GB" sz="4500" dirty="0">
                <a:solidFill>
                  <a:sysClr val="windowText" lastClr="000000"/>
                </a:solidFill>
                <a:latin typeface="Arial" charset="0"/>
                <a:cs typeface="Arial" charset="0"/>
              </a:rPr>
              <a:t>80 increased by 10%</a:t>
            </a:r>
          </a:p>
        </p:txBody>
      </p:sp>
      <p:sp>
        <p:nvSpPr>
          <p:cNvPr id="43" name="6-Point Star 42"/>
          <p:cNvSpPr/>
          <p:nvPr/>
        </p:nvSpPr>
        <p:spPr>
          <a:xfrm rot="20417179">
            <a:off x="3215609" y="1648615"/>
            <a:ext cx="1232513" cy="1404156"/>
          </a:xfrm>
          <a:prstGeom prst="star6">
            <a:avLst/>
          </a:prstGeom>
          <a:gradFill flip="none" rotWithShape="1">
            <a:gsLst>
              <a:gs pos="0">
                <a:srgbClr val="B13F9A">
                  <a:lumMod val="40000"/>
                  <a:lumOff val="60000"/>
                </a:srgbClr>
              </a:gs>
              <a:gs pos="35000">
                <a:srgbClr val="7030A0"/>
              </a:gs>
              <a:gs pos="100000">
                <a:srgbClr val="B13F9A">
                  <a:lumMod val="60000"/>
                  <a:lumOff val="40000"/>
                </a:srgbClr>
              </a:gs>
            </a:gsLst>
            <a:path path="circle">
              <a:fillToRect l="50000" t="50000" r="50000" b="50000"/>
            </a:path>
            <a:tileRect/>
          </a:gradFill>
          <a:ln w="11430" cap="flat" cmpd="sng" algn="ctr">
            <a:solidFill>
              <a:srgbClr val="B83D68"/>
            </a:solidFill>
            <a:prstDash val="solid"/>
          </a:ln>
          <a:effectLst>
            <a:outerShdw blurRad="50800" dist="25000" dir="5400000" rotWithShape="0">
              <a:srgbClr val="B83D68">
                <a:shade val="30000"/>
                <a:satMod val="150000"/>
                <a:alpha val="38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GB" sz="1500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stocrat SF" pitchFamily="2" charset="0"/>
                <a:cs typeface="+mn-cs"/>
              </a:rPr>
              <a:t>Correct!</a:t>
            </a:r>
          </a:p>
          <a:p>
            <a:pPr algn="ctr">
              <a:defRPr/>
            </a:pPr>
            <a:r>
              <a:rPr lang="en-GB" sz="1500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stocrat SF" pitchFamily="2" charset="0"/>
                <a:cs typeface="+mn-cs"/>
                <a:sym typeface="Wingdings" pitchFamily="2" charset="2"/>
              </a:rPr>
              <a:t></a:t>
            </a:r>
            <a:endParaRPr lang="en-GB" sz="1500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stocrat SF" pitchFamily="2" charset="0"/>
              <a:cs typeface="+mn-cs"/>
            </a:endParaRPr>
          </a:p>
        </p:txBody>
      </p:sp>
      <p:sp>
        <p:nvSpPr>
          <p:cNvPr id="44" name="TextBox 23"/>
          <p:cNvSpPr txBox="1">
            <a:spLocks noChangeArrowheads="1"/>
          </p:cNvSpPr>
          <p:nvPr/>
        </p:nvSpPr>
        <p:spPr bwMode="auto">
          <a:xfrm>
            <a:off x="1264594" y="2359011"/>
            <a:ext cx="652463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A)</a:t>
            </a:r>
          </a:p>
        </p:txBody>
      </p:sp>
      <p:sp>
        <p:nvSpPr>
          <p:cNvPr id="45" name="TextBox 24"/>
          <p:cNvSpPr txBox="1">
            <a:spLocks noChangeArrowheads="1"/>
          </p:cNvSpPr>
          <p:nvPr/>
        </p:nvSpPr>
        <p:spPr bwMode="auto">
          <a:xfrm>
            <a:off x="4373317" y="2359011"/>
            <a:ext cx="651272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B)</a:t>
            </a:r>
          </a:p>
        </p:txBody>
      </p:sp>
      <p:sp>
        <p:nvSpPr>
          <p:cNvPr id="46" name="TextBox 25"/>
          <p:cNvSpPr txBox="1">
            <a:spLocks noChangeArrowheads="1"/>
          </p:cNvSpPr>
          <p:nvPr/>
        </p:nvSpPr>
        <p:spPr bwMode="auto">
          <a:xfrm>
            <a:off x="1305076" y="3841340"/>
            <a:ext cx="652463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C)</a:t>
            </a:r>
          </a:p>
        </p:txBody>
      </p:sp>
      <p:sp>
        <p:nvSpPr>
          <p:cNvPr id="47" name="TextBox 26"/>
          <p:cNvSpPr txBox="1">
            <a:spLocks noChangeArrowheads="1"/>
          </p:cNvSpPr>
          <p:nvPr/>
        </p:nvSpPr>
        <p:spPr bwMode="auto">
          <a:xfrm>
            <a:off x="4413798" y="3841340"/>
            <a:ext cx="651272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D)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E058366-9595-4D18-9691-9B627B24728D}"/>
              </a:ext>
            </a:extLst>
          </p:cNvPr>
          <p:cNvSpPr/>
          <p:nvPr/>
        </p:nvSpPr>
        <p:spPr>
          <a:xfrm>
            <a:off x="3205050" y="74611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</p:spTree>
    <p:extLst>
      <p:ext uri="{BB962C8B-B14F-4D97-AF65-F5344CB8AC3E}">
        <p14:creationId xmlns:p14="http://schemas.microsoft.com/office/powerpoint/2010/main" val="153510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31" name="Rectangle 30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40" name="Rounded Rectangle 39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Plenary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74321" y="3629541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FFC00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306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74321" y="2171379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92D05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320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83973" y="3629541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0070C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312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83973" y="2171379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360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3753" y="845965"/>
            <a:ext cx="5891356" cy="78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GB" sz="4500" dirty="0">
                <a:solidFill>
                  <a:sysClr val="windowText" lastClr="000000"/>
                </a:solidFill>
                <a:latin typeface="Arial" charset="0"/>
                <a:cs typeface="Arial" charset="0"/>
              </a:rPr>
              <a:t>300 increased by 20%</a:t>
            </a:r>
          </a:p>
        </p:txBody>
      </p:sp>
      <p:sp>
        <p:nvSpPr>
          <p:cNvPr id="39" name="6-Point Star 38"/>
          <p:cNvSpPr/>
          <p:nvPr/>
        </p:nvSpPr>
        <p:spPr>
          <a:xfrm rot="20417179">
            <a:off x="4621321" y="1543250"/>
            <a:ext cx="1232513" cy="1404156"/>
          </a:xfrm>
          <a:prstGeom prst="star6">
            <a:avLst/>
          </a:prstGeom>
          <a:gradFill flip="none" rotWithShape="1">
            <a:gsLst>
              <a:gs pos="0">
                <a:srgbClr val="B13F9A">
                  <a:lumMod val="40000"/>
                  <a:lumOff val="60000"/>
                </a:srgbClr>
              </a:gs>
              <a:gs pos="35000">
                <a:srgbClr val="7030A0"/>
              </a:gs>
              <a:gs pos="100000">
                <a:srgbClr val="B13F9A">
                  <a:lumMod val="60000"/>
                  <a:lumOff val="40000"/>
                </a:srgbClr>
              </a:gs>
            </a:gsLst>
            <a:path path="circle">
              <a:fillToRect l="50000" t="50000" r="50000" b="50000"/>
            </a:path>
            <a:tileRect/>
          </a:gradFill>
          <a:ln w="11430" cap="flat" cmpd="sng" algn="ctr">
            <a:solidFill>
              <a:srgbClr val="B83D68"/>
            </a:solidFill>
            <a:prstDash val="solid"/>
          </a:ln>
          <a:effectLst>
            <a:outerShdw blurRad="50800" dist="25000" dir="5400000" rotWithShape="0">
              <a:srgbClr val="B83D68">
                <a:shade val="30000"/>
                <a:satMod val="150000"/>
                <a:alpha val="38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GB" sz="1500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stocrat SF" pitchFamily="2" charset="0"/>
                <a:cs typeface="+mn-cs"/>
              </a:rPr>
              <a:t>Correct!</a:t>
            </a:r>
          </a:p>
          <a:p>
            <a:pPr algn="ctr">
              <a:defRPr/>
            </a:pPr>
            <a:r>
              <a:rPr lang="en-GB" sz="1500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stocrat SF" pitchFamily="2" charset="0"/>
                <a:cs typeface="+mn-cs"/>
                <a:sym typeface="Wingdings" pitchFamily="2" charset="2"/>
              </a:rPr>
              <a:t></a:t>
            </a:r>
            <a:endParaRPr lang="en-GB" sz="1500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stocrat SF" pitchFamily="2" charset="0"/>
              <a:cs typeface="+mn-cs"/>
            </a:endParaRPr>
          </a:p>
        </p:txBody>
      </p:sp>
      <p:sp>
        <p:nvSpPr>
          <p:cNvPr id="48" name="TextBox 23"/>
          <p:cNvSpPr txBox="1">
            <a:spLocks noChangeArrowheads="1"/>
          </p:cNvSpPr>
          <p:nvPr/>
        </p:nvSpPr>
        <p:spPr bwMode="auto">
          <a:xfrm>
            <a:off x="1139252" y="2390206"/>
            <a:ext cx="652463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A)</a:t>
            </a:r>
          </a:p>
        </p:txBody>
      </p:sp>
      <p:sp>
        <p:nvSpPr>
          <p:cNvPr id="49" name="TextBox 24"/>
          <p:cNvSpPr txBox="1">
            <a:spLocks noChangeArrowheads="1"/>
          </p:cNvSpPr>
          <p:nvPr/>
        </p:nvSpPr>
        <p:spPr bwMode="auto">
          <a:xfrm>
            <a:off x="4247974" y="2390206"/>
            <a:ext cx="651272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B)</a:t>
            </a:r>
          </a:p>
        </p:txBody>
      </p:sp>
      <p:sp>
        <p:nvSpPr>
          <p:cNvPr id="50" name="TextBox 25"/>
          <p:cNvSpPr txBox="1">
            <a:spLocks noChangeArrowheads="1"/>
          </p:cNvSpPr>
          <p:nvPr/>
        </p:nvSpPr>
        <p:spPr bwMode="auto">
          <a:xfrm>
            <a:off x="1179733" y="3872534"/>
            <a:ext cx="652463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C)</a:t>
            </a:r>
          </a:p>
        </p:txBody>
      </p:sp>
      <p:sp>
        <p:nvSpPr>
          <p:cNvPr id="51" name="TextBox 26"/>
          <p:cNvSpPr txBox="1">
            <a:spLocks noChangeArrowheads="1"/>
          </p:cNvSpPr>
          <p:nvPr/>
        </p:nvSpPr>
        <p:spPr bwMode="auto">
          <a:xfrm>
            <a:off x="4288456" y="3872534"/>
            <a:ext cx="651272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D)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EE5FAF-6522-44A8-8E10-339139EA3BAF}"/>
              </a:ext>
            </a:extLst>
          </p:cNvPr>
          <p:cNvSpPr/>
          <p:nvPr/>
        </p:nvSpPr>
        <p:spPr>
          <a:xfrm>
            <a:off x="3205050" y="74611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</p:spTree>
    <p:extLst>
      <p:ext uri="{BB962C8B-B14F-4D97-AF65-F5344CB8AC3E}">
        <p14:creationId xmlns:p14="http://schemas.microsoft.com/office/powerpoint/2010/main" val="1698277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31" name="Rectangle 30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40" name="Rounded Rectangle 39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Plenary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6984" y="3600290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FFC00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125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6984" y="2142128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92D05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150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69568" y="3600290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0070C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145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69568" y="2142128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160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24727" y="845965"/>
            <a:ext cx="5891356" cy="78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GB" sz="4500" dirty="0">
                <a:solidFill>
                  <a:sysClr val="windowText" lastClr="000000"/>
                </a:solidFill>
                <a:latin typeface="Arial" charset="0"/>
                <a:cs typeface="Arial" charset="0"/>
              </a:rPr>
              <a:t>120 increased by 25%</a:t>
            </a:r>
          </a:p>
        </p:txBody>
      </p:sp>
      <p:sp>
        <p:nvSpPr>
          <p:cNvPr id="43" name="6-Point Star 42"/>
          <p:cNvSpPr/>
          <p:nvPr/>
        </p:nvSpPr>
        <p:spPr>
          <a:xfrm rot="20417179">
            <a:off x="1541636" y="1606778"/>
            <a:ext cx="1232513" cy="1404156"/>
          </a:xfrm>
          <a:prstGeom prst="star6">
            <a:avLst/>
          </a:prstGeom>
          <a:gradFill flip="none" rotWithShape="1">
            <a:gsLst>
              <a:gs pos="0">
                <a:srgbClr val="B13F9A">
                  <a:lumMod val="40000"/>
                  <a:lumOff val="60000"/>
                </a:srgbClr>
              </a:gs>
              <a:gs pos="35000">
                <a:srgbClr val="7030A0"/>
              </a:gs>
              <a:gs pos="100000">
                <a:srgbClr val="B13F9A">
                  <a:lumMod val="60000"/>
                  <a:lumOff val="40000"/>
                </a:srgbClr>
              </a:gs>
            </a:gsLst>
            <a:path path="circle">
              <a:fillToRect l="50000" t="50000" r="50000" b="50000"/>
            </a:path>
            <a:tileRect/>
          </a:gradFill>
          <a:ln w="11430" cap="flat" cmpd="sng" algn="ctr">
            <a:solidFill>
              <a:srgbClr val="B83D68"/>
            </a:solidFill>
            <a:prstDash val="solid"/>
          </a:ln>
          <a:effectLst>
            <a:outerShdw blurRad="50800" dist="25000" dir="5400000" rotWithShape="0">
              <a:srgbClr val="B83D68">
                <a:shade val="30000"/>
                <a:satMod val="150000"/>
                <a:alpha val="38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GB" sz="1500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stocrat SF" pitchFamily="2" charset="0"/>
                <a:cs typeface="+mn-cs"/>
              </a:rPr>
              <a:t>Correct!</a:t>
            </a:r>
          </a:p>
          <a:p>
            <a:pPr algn="ctr">
              <a:defRPr/>
            </a:pPr>
            <a:r>
              <a:rPr lang="en-GB" sz="1500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stocrat SF" pitchFamily="2" charset="0"/>
                <a:cs typeface="+mn-cs"/>
                <a:sym typeface="Wingdings" pitchFamily="2" charset="2"/>
              </a:rPr>
              <a:t></a:t>
            </a:r>
            <a:endParaRPr lang="en-GB" sz="1500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stocrat SF" pitchFamily="2" charset="0"/>
              <a:cs typeface="+mn-cs"/>
            </a:endParaRPr>
          </a:p>
        </p:txBody>
      </p:sp>
      <p:sp>
        <p:nvSpPr>
          <p:cNvPr id="44" name="TextBox 29"/>
          <p:cNvSpPr txBox="1">
            <a:spLocks noChangeArrowheads="1"/>
          </p:cNvSpPr>
          <p:nvPr/>
        </p:nvSpPr>
        <p:spPr bwMode="auto">
          <a:xfrm>
            <a:off x="1202151" y="2384253"/>
            <a:ext cx="652463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A)</a:t>
            </a:r>
          </a:p>
        </p:txBody>
      </p:sp>
      <p:sp>
        <p:nvSpPr>
          <p:cNvPr id="45" name="TextBox 30"/>
          <p:cNvSpPr txBox="1">
            <a:spLocks noChangeArrowheads="1"/>
          </p:cNvSpPr>
          <p:nvPr/>
        </p:nvSpPr>
        <p:spPr bwMode="auto">
          <a:xfrm>
            <a:off x="4310873" y="2384253"/>
            <a:ext cx="651272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B)</a:t>
            </a:r>
          </a:p>
        </p:txBody>
      </p:sp>
      <p:sp>
        <p:nvSpPr>
          <p:cNvPr id="46" name="TextBox 31"/>
          <p:cNvSpPr txBox="1">
            <a:spLocks noChangeArrowheads="1"/>
          </p:cNvSpPr>
          <p:nvPr/>
        </p:nvSpPr>
        <p:spPr bwMode="auto">
          <a:xfrm>
            <a:off x="1242632" y="3866582"/>
            <a:ext cx="652463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C)</a:t>
            </a:r>
          </a:p>
        </p:txBody>
      </p:sp>
      <p:sp>
        <p:nvSpPr>
          <p:cNvPr id="47" name="TextBox 32"/>
          <p:cNvSpPr txBox="1">
            <a:spLocks noChangeArrowheads="1"/>
          </p:cNvSpPr>
          <p:nvPr/>
        </p:nvSpPr>
        <p:spPr bwMode="auto">
          <a:xfrm>
            <a:off x="4351354" y="3866582"/>
            <a:ext cx="651272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D)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1AB562-D0C4-4D97-AD5F-A8087BFEE8E0}"/>
              </a:ext>
            </a:extLst>
          </p:cNvPr>
          <p:cNvSpPr/>
          <p:nvPr/>
        </p:nvSpPr>
        <p:spPr>
          <a:xfrm>
            <a:off x="3205050" y="74611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</p:spTree>
    <p:extLst>
      <p:ext uri="{BB962C8B-B14F-4D97-AF65-F5344CB8AC3E}">
        <p14:creationId xmlns:p14="http://schemas.microsoft.com/office/powerpoint/2010/main" val="3346949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31" name="Rectangle 30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40" name="Rounded Rectangle 39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Plenary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04177" y="3669416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FFC00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450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04177" y="2211254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92D05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550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03593" y="3669416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0070C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400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3593" y="2211254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490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496" y="914983"/>
            <a:ext cx="6083718" cy="78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GB" sz="4500" dirty="0">
                <a:solidFill>
                  <a:sysClr val="windowText" lastClr="000000"/>
                </a:solidFill>
                <a:latin typeface="Arial" charset="0"/>
                <a:cs typeface="Arial" charset="0"/>
              </a:rPr>
              <a:t>500 decreased by 10%</a:t>
            </a:r>
          </a:p>
        </p:txBody>
      </p:sp>
      <p:sp>
        <p:nvSpPr>
          <p:cNvPr id="39" name="6-Point Star 38"/>
          <p:cNvSpPr/>
          <p:nvPr/>
        </p:nvSpPr>
        <p:spPr>
          <a:xfrm rot="20417179">
            <a:off x="1639904" y="3188070"/>
            <a:ext cx="1232513" cy="1404156"/>
          </a:xfrm>
          <a:prstGeom prst="star6">
            <a:avLst/>
          </a:prstGeom>
          <a:gradFill flip="none" rotWithShape="1">
            <a:gsLst>
              <a:gs pos="0">
                <a:srgbClr val="B13F9A">
                  <a:lumMod val="40000"/>
                  <a:lumOff val="60000"/>
                </a:srgbClr>
              </a:gs>
              <a:gs pos="35000">
                <a:srgbClr val="7030A0"/>
              </a:gs>
              <a:gs pos="100000">
                <a:srgbClr val="B13F9A">
                  <a:lumMod val="60000"/>
                  <a:lumOff val="40000"/>
                </a:srgbClr>
              </a:gs>
            </a:gsLst>
            <a:path path="circle">
              <a:fillToRect l="50000" t="50000" r="50000" b="50000"/>
            </a:path>
            <a:tileRect/>
          </a:gradFill>
          <a:ln w="11430" cap="flat" cmpd="sng" algn="ctr">
            <a:solidFill>
              <a:srgbClr val="B83D68"/>
            </a:solidFill>
            <a:prstDash val="solid"/>
          </a:ln>
          <a:effectLst>
            <a:outerShdw blurRad="50800" dist="25000" dir="5400000" rotWithShape="0">
              <a:srgbClr val="B83D68">
                <a:shade val="30000"/>
                <a:satMod val="150000"/>
                <a:alpha val="38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GB" sz="1500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stocrat SF" pitchFamily="2" charset="0"/>
                <a:cs typeface="+mn-cs"/>
              </a:rPr>
              <a:t>Correct!</a:t>
            </a:r>
          </a:p>
          <a:p>
            <a:pPr algn="ctr">
              <a:defRPr/>
            </a:pPr>
            <a:r>
              <a:rPr lang="en-GB" sz="1500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stocrat SF" pitchFamily="2" charset="0"/>
                <a:cs typeface="+mn-cs"/>
                <a:sym typeface="Wingdings" pitchFamily="2" charset="2"/>
              </a:rPr>
              <a:t></a:t>
            </a:r>
            <a:endParaRPr lang="en-GB" sz="1500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stocrat SF" pitchFamily="2" charset="0"/>
              <a:cs typeface="+mn-cs"/>
            </a:endParaRPr>
          </a:p>
        </p:txBody>
      </p:sp>
      <p:sp>
        <p:nvSpPr>
          <p:cNvPr id="48" name="TextBox 29"/>
          <p:cNvSpPr txBox="1">
            <a:spLocks noChangeArrowheads="1"/>
          </p:cNvSpPr>
          <p:nvPr/>
        </p:nvSpPr>
        <p:spPr bwMode="auto">
          <a:xfrm>
            <a:off x="1236176" y="2462796"/>
            <a:ext cx="652463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A)</a:t>
            </a:r>
          </a:p>
        </p:txBody>
      </p:sp>
      <p:sp>
        <p:nvSpPr>
          <p:cNvPr id="49" name="TextBox 30"/>
          <p:cNvSpPr txBox="1">
            <a:spLocks noChangeArrowheads="1"/>
          </p:cNvSpPr>
          <p:nvPr/>
        </p:nvSpPr>
        <p:spPr bwMode="auto">
          <a:xfrm>
            <a:off x="4344898" y="2462796"/>
            <a:ext cx="651272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B)</a:t>
            </a:r>
          </a:p>
        </p:txBody>
      </p:sp>
      <p:sp>
        <p:nvSpPr>
          <p:cNvPr id="50" name="TextBox 31"/>
          <p:cNvSpPr txBox="1">
            <a:spLocks noChangeArrowheads="1"/>
          </p:cNvSpPr>
          <p:nvPr/>
        </p:nvSpPr>
        <p:spPr bwMode="auto">
          <a:xfrm>
            <a:off x="1276657" y="3945125"/>
            <a:ext cx="652463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C)</a:t>
            </a:r>
          </a:p>
        </p:txBody>
      </p:sp>
      <p:sp>
        <p:nvSpPr>
          <p:cNvPr id="51" name="TextBox 32"/>
          <p:cNvSpPr txBox="1">
            <a:spLocks noChangeArrowheads="1"/>
          </p:cNvSpPr>
          <p:nvPr/>
        </p:nvSpPr>
        <p:spPr bwMode="auto">
          <a:xfrm>
            <a:off x="4385380" y="3945125"/>
            <a:ext cx="651272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D)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B724E4-729E-4F95-B1BC-7DE2755E2273}"/>
              </a:ext>
            </a:extLst>
          </p:cNvPr>
          <p:cNvSpPr/>
          <p:nvPr/>
        </p:nvSpPr>
        <p:spPr>
          <a:xfrm>
            <a:off x="3205050" y="74611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</p:spTree>
    <p:extLst>
      <p:ext uri="{BB962C8B-B14F-4D97-AF65-F5344CB8AC3E}">
        <p14:creationId xmlns:p14="http://schemas.microsoft.com/office/powerpoint/2010/main" val="1381658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Rainbow Background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4ADBD"/>
      </a:accent1>
      <a:accent2>
        <a:srgbClr val="A2D242"/>
      </a:accent2>
      <a:accent3>
        <a:srgbClr val="FCE243"/>
      </a:accent3>
      <a:accent4>
        <a:srgbClr val="EF6B20"/>
      </a:accent4>
      <a:accent5>
        <a:srgbClr val="AD242B"/>
      </a:accent5>
      <a:accent6>
        <a:srgbClr val="AE2D5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inbow Background by Slidesgo" id="{46D7DCF1-5261-4805-AE31-BEDD5E59F30E}" vid="{99090F41-B61B-4833-A699-F16AB6F86A01}"/>
    </a:ext>
  </a:extLst>
</a:theme>
</file>

<file path=ppt/theme/theme2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CF8E2C319B6C45A88B154FA9F297AF" ma:contentTypeVersion="2" ma:contentTypeDescription="Create a new document." ma:contentTypeScope="" ma:versionID="cece90b1e3ba9401ed65010376c85243">
  <xsd:schema xmlns:xsd="http://www.w3.org/2001/XMLSchema" xmlns:xs="http://www.w3.org/2001/XMLSchema" xmlns:p="http://schemas.microsoft.com/office/2006/metadata/properties" xmlns:ns2="085a5620-d469-4ad1-879c-377e76877e52" targetNamespace="http://schemas.microsoft.com/office/2006/metadata/properties" ma:root="true" ma:fieldsID="aaced6032bce772337dffe1272a07452" ns2:_="">
    <xsd:import namespace="085a5620-d469-4ad1-879c-377e76877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5a5620-d469-4ad1-879c-377e76877e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5AF2733-7F37-45F3-A38E-BC6F05C4594B}"/>
</file>

<file path=customXml/itemProps2.xml><?xml version="1.0" encoding="utf-8"?>
<ds:datastoreItem xmlns:ds="http://schemas.openxmlformats.org/officeDocument/2006/customXml" ds:itemID="{E4FD85D1-93C3-4CF0-9BC5-25E75A8A2EEB}"/>
</file>

<file path=customXml/itemProps3.xml><?xml version="1.0" encoding="utf-8"?>
<ds:datastoreItem xmlns:ds="http://schemas.openxmlformats.org/officeDocument/2006/customXml" ds:itemID="{C72AAE01-82B7-41A6-B945-158140800A57}"/>
</file>

<file path=docProps/app.xml><?xml version="1.0" encoding="utf-8"?>
<Properties xmlns="http://schemas.openxmlformats.org/officeDocument/2006/extended-properties" xmlns:vt="http://schemas.openxmlformats.org/officeDocument/2006/docPropsVTypes">
  <Template>Cornell Notes</Template>
  <TotalTime>2210</TotalTime>
  <Words>991</Words>
  <Application>Microsoft Office PowerPoint</Application>
  <PresentationFormat>On-screen Show (16:9)</PresentationFormat>
  <Paragraphs>264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31" baseType="lpstr">
      <vt:lpstr>Lucida Handwriting</vt:lpstr>
      <vt:lpstr>Verdana</vt:lpstr>
      <vt:lpstr>Tw Cen MT Condensed</vt:lpstr>
      <vt:lpstr>Abel</vt:lpstr>
      <vt:lpstr>Calibri</vt:lpstr>
      <vt:lpstr>Arial</vt:lpstr>
      <vt:lpstr>Comic Sans MS</vt:lpstr>
      <vt:lpstr>Aristocrat SF</vt:lpstr>
      <vt:lpstr>Fredoka One</vt:lpstr>
      <vt:lpstr>Wingdings 3</vt:lpstr>
      <vt:lpstr>Tw Cen MT</vt:lpstr>
      <vt:lpstr>Trebuchet MS</vt:lpstr>
      <vt:lpstr>Rainbow Background by Slidesgo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Adding and Subtracting with negative numbers  EQ: How do we add and subtract with negatives?</dc:title>
  <dc:creator>MCLEOD Alexandria [Baldivis Secondary College]</dc:creator>
  <cp:lastModifiedBy>JAMES Sarah [Baldivis Secondary College]</cp:lastModifiedBy>
  <cp:revision>23</cp:revision>
  <dcterms:created xsi:type="dcterms:W3CDTF">2021-02-22T02:29:05Z</dcterms:created>
  <dcterms:modified xsi:type="dcterms:W3CDTF">2021-04-30T07:56:39Z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0x010100E3CF8E2C319B6C45A88B154FA9F297AF</vt:lpwstr>
  </property>
</Properties>
</file>
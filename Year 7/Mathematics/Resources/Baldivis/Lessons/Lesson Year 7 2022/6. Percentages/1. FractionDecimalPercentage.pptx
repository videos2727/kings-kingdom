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73" r:id="rId2"/>
    <p:sldId id="257" r:id="rId3"/>
    <p:sldId id="265" r:id="rId4"/>
    <p:sldId id="266" r:id="rId5"/>
    <p:sldId id="267" r:id="rId6"/>
    <p:sldId id="269" r:id="rId7"/>
    <p:sldId id="268" r:id="rId8"/>
    <p:sldId id="270" r:id="rId9"/>
    <p:sldId id="271" r:id="rId10"/>
    <p:sldId id="272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F96315-0B04-4D93-BE24-059881B3C94B}" type="datetimeFigureOut">
              <a:rPr lang="en-AU" smtClean="0"/>
              <a:t>21/04/2021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B3F56F-CF61-46A8-A12C-4C62029C2AB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52868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¼ = 0.25 = 25%</a:t>
            </a:r>
          </a:p>
          <a:p>
            <a:r>
              <a:rPr lang="en-AU" dirty="0"/>
              <a:t>7/8 = 0.875 = 87.5%</a:t>
            </a:r>
          </a:p>
          <a:p>
            <a:r>
              <a:rPr lang="en-AU" dirty="0"/>
              <a:t>2/3</a:t>
            </a:r>
            <a:r>
              <a:rPr lang="en-AU" baseline="0" dirty="0"/>
              <a:t> = 0.667 = 66.7%</a:t>
            </a:r>
          </a:p>
          <a:p>
            <a:r>
              <a:rPr lang="en-AU" baseline="0" dirty="0"/>
              <a:t>5/4 = 1.25 = 125%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8706C7-F2C3-48B6-8A22-C484D800B5D4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521504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We can simplify them</a:t>
            </a:r>
            <a:r>
              <a:rPr lang="en-AU" baseline="0" dirty="0"/>
              <a:t> to ½ and ¾ 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8706C7-F2C3-48B6-8A22-C484D800B5D4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772849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1a. 86%	1b.</a:t>
            </a:r>
            <a:r>
              <a:rPr lang="en-AU" baseline="0" dirty="0"/>
              <a:t> 20%	2a. 120/100=12/10=6/5=1 1/5           2b. 180/100=18/10=9/5=1 4/5             2c. 237/100=2 37/100 	2d. 401/100=4 1/100	2e. 175/100=35/20=7/4=1 ¾</a:t>
            </a:r>
          </a:p>
          <a:p>
            <a:r>
              <a:rPr lang="en-AU" baseline="0" dirty="0"/>
              <a:t>2f. 110/100=11/10=1 1/10	2g. 316/100=79/25=3 4/25	2h. 840/100=84/10=8 4/10=8 2/5</a:t>
            </a:r>
          </a:p>
          <a:p>
            <a:r>
              <a:rPr lang="en-AU" baseline="0" dirty="0"/>
              <a:t>3a. ¾	3b. 75%	3c. ¼	3d. 25%</a:t>
            </a:r>
          </a:p>
          <a:p>
            <a:r>
              <a:rPr lang="en-AU" baseline="0" dirty="0"/>
              <a:t>4. 12.5%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8706C7-F2C3-48B6-8A22-C484D800B5D4}" type="slidenum">
              <a:rPr lang="en-AU" smtClean="0"/>
              <a:t>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31669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8706C7-F2C3-48B6-8A22-C484D800B5D4}" type="slidenum">
              <a:rPr lang="en-AU" smtClean="0"/>
              <a:t>10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274160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8E631-2848-4194-B875-425852C7F7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B4C32A-54A0-4770-90B4-35725E8C90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BC9B5F-B7C7-48E3-972E-4F65C76591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E9E13-CD6C-4C4A-B6F7-06404D188BC2}" type="datetimeFigureOut">
              <a:rPr lang="en-AU" smtClean="0"/>
              <a:t>21/04/2021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809C7D-D546-4977-9B22-C89F78A72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281FFB-62EF-4EB1-BD33-43D143361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F1A3C-ED66-4D2A-9FA3-93DA10B6801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11174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E192D-DFB7-42D0-8231-1AB0B26FF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D1B1FA-736E-413F-BFE0-0195190249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68FA0D-1123-4E28-A82C-BEB0AB60C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E9E13-CD6C-4C4A-B6F7-06404D188BC2}" type="datetimeFigureOut">
              <a:rPr lang="en-AU" smtClean="0"/>
              <a:t>21/04/2021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1BB220-750C-42F1-B50C-A0B5F91FB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BB7530-941D-4467-A1F0-417ECABBD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F1A3C-ED66-4D2A-9FA3-93DA10B6801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916106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10AF1-899D-49F7-9B3C-980CB42D9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385BB3-08A5-406E-9517-7FBBBAA5F9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6F3E67-65FE-48F4-AD21-3B135EB308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E9E13-CD6C-4C4A-B6F7-06404D188BC2}" type="datetimeFigureOut">
              <a:rPr lang="en-AU" smtClean="0"/>
              <a:t>21/04/2021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2377CA-43F6-4933-955B-92F58A921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B2ABFA-2E87-4AFF-B4DE-7C42C9A6B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F1A3C-ED66-4D2A-9FA3-93DA10B6801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743788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C67A0-2DB1-49A5-9C91-B38735A8A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39FC16-9F29-427B-8D54-6FB8D9CCF9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B88762-37C5-4B6D-A1C5-B57E36D9C9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8A5672-67CC-486A-8B94-165B186E8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E9E13-CD6C-4C4A-B6F7-06404D188BC2}" type="datetimeFigureOut">
              <a:rPr lang="en-AU" smtClean="0"/>
              <a:t>21/04/2021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B361D3-428B-46A0-B250-73E0A1593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0949D5-D077-4C48-A228-1B3A3A80E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F1A3C-ED66-4D2A-9FA3-93DA10B6801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082216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E0472-98EB-4BF8-86AC-FABA04FEF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209909-5E8A-44C3-BA2E-B54EBE3F75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19318C-0385-4F24-AC32-19C6421CA2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B8A45B-6EB2-45D4-A564-32841B2541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D35F1F-3F51-4AFB-84DB-4BE33ED7C4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67602B-E148-49F3-92FF-96C01EE91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E9E13-CD6C-4C4A-B6F7-06404D188BC2}" type="datetimeFigureOut">
              <a:rPr lang="en-AU" smtClean="0"/>
              <a:t>21/04/2021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86D3FF-6B4D-4547-95E9-30AD7B1ED1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B218E5-C9B8-499B-B4D7-2AD57CE5B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F1A3C-ED66-4D2A-9FA3-93DA10B6801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327277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A6C78-F143-4218-856C-514BCC279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64224A-331F-4D75-ACF1-C7D77E924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E9E13-CD6C-4C4A-B6F7-06404D188BC2}" type="datetimeFigureOut">
              <a:rPr lang="en-AU" smtClean="0"/>
              <a:t>21/04/2021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53D0A9-6D5C-4164-8BCC-4BE58F71E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5E2AA0-C9E6-40A6-BCEB-B15DF4B39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F1A3C-ED66-4D2A-9FA3-93DA10B6801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32660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C267B0-DBA1-4028-8FC3-E29D57AE81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E9E13-CD6C-4C4A-B6F7-06404D188BC2}" type="datetimeFigureOut">
              <a:rPr lang="en-AU" smtClean="0"/>
              <a:t>21/04/2021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1A7325-3DAA-45E5-B440-61D80FB40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2790F6-E54D-46C1-8CE2-0467A9685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F1A3C-ED66-4D2A-9FA3-93DA10B6801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048095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08790-9B12-4D2B-9BF2-11438103DC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509EE5-7C77-45C8-B32E-2707EA3545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38C939-C536-4C33-961D-7A047FD5E1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D77D3C-70CF-4A3A-8A8D-7EF97209B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E9E13-CD6C-4C4A-B6F7-06404D188BC2}" type="datetimeFigureOut">
              <a:rPr lang="en-AU" smtClean="0"/>
              <a:t>21/04/2021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AFE476-8149-4D4B-9D92-E0071BEBC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7B5A3B-EEFB-487B-8849-B025A6929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F1A3C-ED66-4D2A-9FA3-93DA10B6801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53472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D8234-61C2-48D0-A8BC-09F14FE37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923C5A-BBFD-4556-9010-3097C4E881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39418A-C04E-4E40-A379-609DF09832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4C89FE-C113-4E0B-8014-EA3B245E3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E9E13-CD6C-4C4A-B6F7-06404D188BC2}" type="datetimeFigureOut">
              <a:rPr lang="en-AU" smtClean="0"/>
              <a:t>21/04/2021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C1D923-4B3D-42A9-9DB5-0F4E6A6DA0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161016-7D1A-4203-B11C-C10270A9F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F1A3C-ED66-4D2A-9FA3-93DA10B6801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76229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E499F-D60F-4DF9-8376-58881BCEB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1734D6-8388-464F-9027-4BAF12135B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6E6E43-C2D1-452F-A90A-54DB387ED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E9E13-CD6C-4C4A-B6F7-06404D188BC2}" type="datetimeFigureOut">
              <a:rPr lang="en-AU" smtClean="0"/>
              <a:t>21/04/2021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86378-5E05-49C3-B548-84442AB85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2E5A1E-F02B-4676-BB02-97E28A1A1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F1A3C-ED66-4D2A-9FA3-93DA10B6801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979174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0D18E5C-3B0C-4DB3-82FA-F235365F67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C5BC6B-322C-4A72-A420-1CF76A1CBC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FFCB40-5B00-42BD-A9D2-D84A0CA14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E9E13-CD6C-4C4A-B6F7-06404D188BC2}" type="datetimeFigureOut">
              <a:rPr lang="en-AU" smtClean="0"/>
              <a:t>21/04/2021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D996CC-59A3-4897-A225-40E982556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157F46-2966-461C-B8F2-0321A596B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F1A3C-ED66-4D2A-9FA3-93DA10B6801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178399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96D880-F714-44E0-ABF6-6002A8549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E812CE-E5E9-4EF3-B99A-0F78B6DD89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21065B-291A-4EC4-A0A6-D47E9C3B4B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8E9E13-CD6C-4C4A-B6F7-06404D188BC2}" type="datetimeFigureOut">
              <a:rPr lang="en-AU" smtClean="0"/>
              <a:t>21/04/2021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64DECE-92BA-432C-98E8-94E5D4CE82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F4AF84-6575-4490-B555-8A07400E0F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1F1A3C-ED66-4D2A-9FA3-93DA10B6801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243354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gif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EBD16-A8B7-4CAE-9E88-8AC39A1B1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200" dirty="0"/>
              <a:t>Topic: Percentages</a:t>
            </a:r>
            <a:br>
              <a:rPr lang="en-US" dirty="0"/>
            </a:br>
            <a:r>
              <a:rPr lang="en-US" sz="2200" dirty="0"/>
              <a:t>EQ: How do I convert between fractions, decimals and percentages?</a:t>
            </a:r>
            <a:endParaRPr lang="en-AU" sz="2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90F325-3D1D-4057-A0AF-C13C60F707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200" b="1" dirty="0"/>
              <a:t>Instructions:</a:t>
            </a:r>
            <a:br>
              <a:rPr lang="en-US" sz="2200" dirty="0"/>
            </a:br>
            <a:r>
              <a:rPr lang="en-US" sz="2200" dirty="0"/>
              <a:t>1. Read slide 2- add new topic to contents page and rule up 3-column notes ( see what I mean by viewing slide 3)</a:t>
            </a:r>
          </a:p>
          <a:p>
            <a:pPr marL="0" indent="0">
              <a:buNone/>
            </a:pPr>
            <a:r>
              <a:rPr lang="en-US" sz="2200" dirty="0"/>
              <a:t>2. Slides 3-5 are your notes, you will need to have the PowerPoint in slideshow mode and click through all of the notes on each slide</a:t>
            </a:r>
          </a:p>
          <a:p>
            <a:pPr marL="0" indent="0">
              <a:buNone/>
            </a:pPr>
            <a:r>
              <a:rPr lang="en-US" sz="2200" dirty="0"/>
              <a:t>3. Complete activity on slide 6. Put this in on your LHS of your interactive notebook. Hide the answers if you can and only check at the end.</a:t>
            </a:r>
          </a:p>
          <a:p>
            <a:pPr marL="0" indent="0">
              <a:buNone/>
            </a:pPr>
            <a:r>
              <a:rPr lang="en-US" sz="2200" dirty="0"/>
              <a:t>4. Write the notes that are on slide 7. This are important.</a:t>
            </a:r>
          </a:p>
          <a:p>
            <a:pPr marL="0" indent="0">
              <a:buNone/>
            </a:pPr>
            <a:r>
              <a:rPr lang="en-US" sz="2200" dirty="0"/>
              <a:t>5. Complete the activity on slide 8 Put this in on your LHS of your interactive notebook. Hide the answers if you can and only check at the end.</a:t>
            </a:r>
          </a:p>
          <a:p>
            <a:pPr marL="0" indent="0">
              <a:buNone/>
            </a:pPr>
            <a:r>
              <a:rPr lang="en-US" sz="2200" dirty="0"/>
              <a:t>6. Complete the activity on slide 9 Put this in on your LHS of your interactive notebook. Hide the answers if you can and only check at the end.</a:t>
            </a:r>
          </a:p>
          <a:p>
            <a:pPr marL="0" indent="0">
              <a:buNone/>
            </a:pPr>
            <a:r>
              <a:rPr lang="en-US" sz="2200" dirty="0"/>
              <a:t>7. Work through the activity on slide 10 and submit a photo of your INB into the submission folder</a:t>
            </a:r>
            <a:endParaRPr lang="en-US" dirty="0"/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028615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1276927" y="2809484"/>
            <a:ext cx="9601200" cy="1845643"/>
          </a:xfrm>
        </p:spPr>
        <p:txBody>
          <a:bodyPr>
            <a:noAutofit/>
          </a:bodyPr>
          <a:lstStyle/>
          <a:p>
            <a:r>
              <a:rPr lang="en-US" sz="3600" dirty="0"/>
              <a:t>Topic: Percentages</a:t>
            </a:r>
            <a:br>
              <a:rPr lang="en-US" sz="3600" dirty="0"/>
            </a:br>
            <a:br>
              <a:rPr lang="en-US" sz="3600" dirty="0"/>
            </a:br>
            <a:r>
              <a:rPr lang="en-US" sz="3600" dirty="0"/>
              <a:t>EQ: How do I convert between fractions, decimals and percentages?</a:t>
            </a:r>
          </a:p>
        </p:txBody>
      </p:sp>
      <p:sp>
        <p:nvSpPr>
          <p:cNvPr id="3" name="Explosion 2 2"/>
          <p:cNvSpPr/>
          <p:nvPr/>
        </p:nvSpPr>
        <p:spPr>
          <a:xfrm rot="966878">
            <a:off x="8118763" y="-350983"/>
            <a:ext cx="4784437" cy="3103418"/>
          </a:xfrm>
          <a:prstGeom prst="irregularSeal2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b="1" dirty="0"/>
              <a:t>Rule up for 3-column notes! </a:t>
            </a:r>
            <a:r>
              <a:rPr lang="en-AU" sz="2800" b="1" dirty="0">
                <a:sym typeface="Wingdings" panose="05000000000000000000" pitchFamily="2" charset="2"/>
              </a:rPr>
              <a:t></a:t>
            </a:r>
            <a:endParaRPr lang="en-AU" sz="2800" b="1" dirty="0"/>
          </a:p>
        </p:txBody>
      </p:sp>
      <p:sp>
        <p:nvSpPr>
          <p:cNvPr id="2" name="Arrow: Up 1">
            <a:extLst>
              <a:ext uri="{FF2B5EF4-FFF2-40B4-BE49-F238E27FC236}">
                <a16:creationId xmlns:a16="http://schemas.microsoft.com/office/drawing/2014/main" id="{557AFBEA-D3FA-459A-9721-4A4810194950}"/>
              </a:ext>
            </a:extLst>
          </p:cNvPr>
          <p:cNvSpPr/>
          <p:nvPr/>
        </p:nvSpPr>
        <p:spPr>
          <a:xfrm>
            <a:off x="6219825" y="1752600"/>
            <a:ext cx="152400" cy="809625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2EC9C7-F76A-4780-9B73-4D4C67062E20}"/>
              </a:ext>
            </a:extLst>
          </p:cNvPr>
          <p:cNvSpPr txBox="1"/>
          <p:nvPr/>
        </p:nvSpPr>
        <p:spPr>
          <a:xfrm>
            <a:off x="4962525" y="1023198"/>
            <a:ext cx="2667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is a new topic so add this to your contents page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998018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136996" y="347287"/>
            <a:ext cx="9918008" cy="1112058"/>
          </a:xfrm>
        </p:spPr>
        <p:txBody>
          <a:bodyPr>
            <a:noAutofit/>
          </a:bodyPr>
          <a:lstStyle/>
          <a:p>
            <a:r>
              <a:rPr lang="en-US" sz="2300" dirty="0">
                <a:solidFill>
                  <a:srgbClr val="0070C0"/>
                </a:solidFill>
              </a:rPr>
              <a:t>Topic: Percentages</a:t>
            </a:r>
            <a:br>
              <a:rPr lang="en-US" sz="2300" dirty="0">
                <a:solidFill>
                  <a:srgbClr val="0070C0"/>
                </a:solidFill>
              </a:rPr>
            </a:br>
            <a:r>
              <a:rPr lang="en-US" sz="2300" dirty="0">
                <a:solidFill>
                  <a:srgbClr val="0070C0"/>
                </a:solidFill>
              </a:rPr>
              <a:t>EQ: How do I convert between fractions, decimals and percentages?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3223529" y="2382781"/>
            <a:ext cx="3906943" cy="1423139"/>
          </a:xfrm>
        </p:spPr>
        <p:txBody>
          <a:bodyPr>
            <a:normAutofit fontScale="92500" lnSpcReduction="10000"/>
          </a:bodyPr>
          <a:lstStyle/>
          <a:p>
            <a:pPr marL="45720" indent="0">
              <a:buNone/>
            </a:pPr>
            <a:r>
              <a:rPr lang="en-US" b="1" dirty="0"/>
              <a:t>Divide the numerator </a:t>
            </a:r>
            <a:r>
              <a:rPr lang="en-US" dirty="0"/>
              <a:t>(the top number) </a:t>
            </a:r>
            <a:r>
              <a:rPr lang="en-US" b="1" dirty="0"/>
              <a:t>by the denominator </a:t>
            </a:r>
            <a:r>
              <a:rPr lang="en-US" dirty="0"/>
              <a:t>(the bottom number)</a:t>
            </a:r>
          </a:p>
        </p:txBody>
      </p:sp>
      <p:cxnSp>
        <p:nvCxnSpPr>
          <p:cNvPr id="3" name="Straight Connector 2"/>
          <p:cNvCxnSpPr/>
          <p:nvPr/>
        </p:nvCxnSpPr>
        <p:spPr>
          <a:xfrm>
            <a:off x="0" y="1560941"/>
            <a:ext cx="12192000" cy="0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3038764" y="1570182"/>
            <a:ext cx="36945" cy="5287818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7375256" y="1574806"/>
            <a:ext cx="36945" cy="5287818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53999" y="2382781"/>
            <a:ext cx="2401455" cy="1015663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AU" sz="2000" b="1" dirty="0"/>
              <a:t>How do I convert a fraction into a decimal?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3345" y="1662538"/>
            <a:ext cx="2022764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AU" dirty="0"/>
              <a:t>Question: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24056" y="1662538"/>
            <a:ext cx="2022764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AU" dirty="0"/>
              <a:t>Explanation: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2602" y="1662538"/>
            <a:ext cx="2022764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AU" dirty="0"/>
              <a:t>Example: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7799644" y="2393813"/>
                <a:ext cx="3148677" cy="700705"/>
              </a:xfrm>
              <a:prstGeom prst="rect">
                <a:avLst/>
              </a:prstGeom>
              <a:noFill/>
              <a:ln>
                <a:solidFill>
                  <a:schemeClr val="bg2"/>
                </a:solidFill>
              </a:ln>
            </p:spPr>
            <p:txBody>
              <a:bodyPr wrap="square" rtlCol="0" anchor="ctr" anchorCtr="1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AU" sz="2800" dirty="0"/>
                  <a:t> </a:t>
                </a:r>
                <a:r>
                  <a:rPr lang="en-AU" sz="2800" dirty="0">
                    <a:solidFill>
                      <a:srgbClr val="0070C0"/>
                    </a:solidFill>
                    <a:sym typeface="Wingdings" panose="05000000000000000000" pitchFamily="2" charset="2"/>
                  </a:rPr>
                  <a:t></a:t>
                </a:r>
                <a:r>
                  <a:rPr lang="en-AU" sz="2800" dirty="0">
                    <a:sym typeface="Wingdings" panose="05000000000000000000" pitchFamily="2" charset="2"/>
                  </a:rPr>
                  <a:t> </a:t>
                </a:r>
                <a:r>
                  <a:rPr lang="en-AU" dirty="0"/>
                  <a:t>1 ÷ 2 = 0.5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9644" y="2393813"/>
                <a:ext cx="3148677" cy="700705"/>
              </a:xfrm>
              <a:prstGeom prst="rect">
                <a:avLst/>
              </a:prstGeom>
              <a:blipFill>
                <a:blip r:embed="rId2"/>
                <a:stretch>
                  <a:fillRect b="-8547"/>
                </a:stretch>
              </a:blipFill>
              <a:ln>
                <a:solidFill>
                  <a:schemeClr val="bg2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7799644" y="3455677"/>
                <a:ext cx="3148677" cy="701602"/>
              </a:xfrm>
              <a:prstGeom prst="rect">
                <a:avLst/>
              </a:prstGeom>
              <a:noFill/>
              <a:ln>
                <a:solidFill>
                  <a:schemeClr val="bg2"/>
                </a:solidFill>
              </a:ln>
            </p:spPr>
            <p:txBody>
              <a:bodyPr wrap="square" rtlCol="0" anchor="ctr" anchorCtr="1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sz="28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AU" sz="2800" dirty="0"/>
                  <a:t> </a:t>
                </a:r>
                <a:r>
                  <a:rPr lang="en-AU" sz="2800" dirty="0">
                    <a:solidFill>
                      <a:srgbClr val="0070C0"/>
                    </a:solidFill>
                    <a:sym typeface="Wingdings" panose="05000000000000000000" pitchFamily="2" charset="2"/>
                  </a:rPr>
                  <a:t></a:t>
                </a:r>
                <a:r>
                  <a:rPr lang="en-AU" sz="2800" dirty="0">
                    <a:sym typeface="Wingdings" panose="05000000000000000000" pitchFamily="2" charset="2"/>
                  </a:rPr>
                  <a:t> </a:t>
                </a:r>
                <a:r>
                  <a:rPr lang="en-AU" dirty="0">
                    <a:sym typeface="Wingdings" panose="05000000000000000000" pitchFamily="2" charset="2"/>
                  </a:rPr>
                  <a:t>3</a:t>
                </a:r>
                <a:r>
                  <a:rPr lang="en-AU" dirty="0"/>
                  <a:t> ÷ 4 = 0.75</a:t>
                </a: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9644" y="3455677"/>
                <a:ext cx="3148677" cy="701602"/>
              </a:xfrm>
              <a:prstGeom prst="rect">
                <a:avLst/>
              </a:prstGeom>
              <a:blipFill>
                <a:blip r:embed="rId3"/>
                <a:stretch>
                  <a:fillRect b="-8547"/>
                </a:stretch>
              </a:blipFill>
              <a:ln>
                <a:solidFill>
                  <a:schemeClr val="bg2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7906327" y="4518606"/>
                <a:ext cx="3148677" cy="700705"/>
              </a:xfrm>
              <a:prstGeom prst="rect">
                <a:avLst/>
              </a:prstGeom>
              <a:noFill/>
              <a:ln>
                <a:solidFill>
                  <a:schemeClr val="bg2"/>
                </a:solidFill>
              </a:ln>
            </p:spPr>
            <p:txBody>
              <a:bodyPr wrap="square" rtlCol="0" anchor="ctr" anchorCtr="1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AU" sz="2800" dirty="0"/>
                  <a:t> </a:t>
                </a:r>
                <a:r>
                  <a:rPr lang="en-AU" sz="2800" dirty="0">
                    <a:solidFill>
                      <a:srgbClr val="0070C0"/>
                    </a:solidFill>
                    <a:sym typeface="Wingdings" panose="05000000000000000000" pitchFamily="2" charset="2"/>
                  </a:rPr>
                  <a:t></a:t>
                </a:r>
                <a:r>
                  <a:rPr lang="en-AU" sz="2800" dirty="0">
                    <a:sym typeface="Wingdings" panose="05000000000000000000" pitchFamily="2" charset="2"/>
                  </a:rPr>
                  <a:t> </a:t>
                </a:r>
                <a:r>
                  <a:rPr lang="en-AU" dirty="0"/>
                  <a:t>1 ÷ 3 = 0.33…</a:t>
                </a: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6327" y="4518606"/>
                <a:ext cx="3148677" cy="700705"/>
              </a:xfrm>
              <a:prstGeom prst="rect">
                <a:avLst/>
              </a:prstGeom>
              <a:blipFill>
                <a:blip r:embed="rId4"/>
                <a:stretch>
                  <a:fillRect b="-9402"/>
                </a:stretch>
              </a:blipFill>
              <a:ln>
                <a:solidFill>
                  <a:schemeClr val="bg2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309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uild="p"/>
      <p:bldP spid="9" grpId="0" animBg="1"/>
      <p:bldP spid="15" grpId="0" animBg="1"/>
      <p:bldP spid="1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Think-Pair-Share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341120" y="1901952"/>
                <a:ext cx="9509760" cy="4702048"/>
              </a:xfrm>
            </p:spPr>
            <p:txBody>
              <a:bodyPr/>
              <a:lstStyle/>
              <a:p>
                <a:r>
                  <a:rPr lang="en-AU" dirty="0"/>
                  <a:t>In Pairs try converting these 4 </a:t>
                </a:r>
                <a:r>
                  <a:rPr lang="en-AU" b="1" dirty="0"/>
                  <a:t>fractions into decimals</a:t>
                </a:r>
              </a:p>
              <a:p>
                <a:r>
                  <a:rPr lang="en-AU" dirty="0"/>
                  <a:t>Be ready to </a:t>
                </a:r>
                <a:r>
                  <a:rPr lang="en-AU" b="1" dirty="0"/>
                  <a:t>share</a:t>
                </a:r>
                <a:r>
                  <a:rPr lang="en-AU" dirty="0"/>
                  <a:t> your answers with the class!</a:t>
                </a:r>
              </a:p>
              <a:p>
                <a:endParaRPr lang="en-AU" dirty="0"/>
              </a:p>
              <a:p>
                <a:pPr marL="502920" indent="-457200">
                  <a:buFont typeface="+mj-lt"/>
                  <a:buAutoNum type="arabicPeriod"/>
                </a:pPr>
                <a:r>
                  <a:rPr lang="en-AU" sz="28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8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AU" sz="2800" b="0" dirty="0"/>
              </a:p>
              <a:p>
                <a:pPr marL="502920" indent="-457200">
                  <a:buFont typeface="+mj-lt"/>
                  <a:buAutoNum type="arabicPeriod"/>
                </a:pPr>
                <a:r>
                  <a:rPr lang="en-AU" sz="28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AU" sz="28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endParaRPr lang="en-AU" sz="2800" dirty="0"/>
              </a:p>
              <a:p>
                <a:pPr marL="502920" indent="-457200">
                  <a:buFont typeface="+mj-lt"/>
                  <a:buAutoNum type="arabicPeriod"/>
                </a:pPr>
                <a:endParaRPr lang="en-AU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41120" y="1901952"/>
                <a:ext cx="9509760" cy="4702048"/>
              </a:xfrm>
              <a:blipFill>
                <a:blip r:embed="rId3"/>
                <a:stretch>
                  <a:fillRect l="-321" t="-129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110185" y="3402685"/>
                <a:ext cx="3232727" cy="1442703"/>
              </a:xfrm>
              <a:prstGeom prst="rect">
                <a:avLst/>
              </a:prstGeom>
              <a:noFill/>
              <a:ln>
                <a:solidFill>
                  <a:schemeClr val="bg2"/>
                </a:solidFill>
              </a:ln>
            </p:spPr>
            <p:txBody>
              <a:bodyPr wrap="square" rtlCol="0" anchor="ctr" anchorCtr="1">
                <a:spAutoFit/>
              </a:bodyPr>
              <a:lstStyle/>
              <a:p>
                <a:pPr marL="560070" lvl="0" indent="-514350">
                  <a:lnSpc>
                    <a:spcPct val="90000"/>
                  </a:lnSpc>
                  <a:spcBef>
                    <a:spcPts val="1800"/>
                  </a:spcBef>
                  <a:buClr>
                    <a:srgbClr val="8784C7">
                      <a:lumMod val="75000"/>
                    </a:srgbClr>
                  </a:buClr>
                  <a:buSzPct val="80000"/>
                  <a:buFont typeface="+mj-lt"/>
                  <a:buAutoNum type="arabicPeriod" startAt="3"/>
                </a:pPr>
                <a:r>
                  <a:rPr lang="en-AU" sz="2800" dirty="0">
                    <a:solidFill>
                      <a:srgbClr val="373545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800" i="1">
                            <a:solidFill>
                              <a:srgbClr val="373545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i="1">
                            <a:solidFill>
                              <a:srgbClr val="373545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sz="2800" i="1">
                            <a:solidFill>
                              <a:srgbClr val="373545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AU" sz="2800" dirty="0">
                    <a:solidFill>
                      <a:srgbClr val="373545"/>
                    </a:solidFill>
                  </a:rPr>
                  <a:t> </a:t>
                </a:r>
              </a:p>
              <a:p>
                <a:pPr marL="502920" lvl="0" indent="-457200">
                  <a:lnSpc>
                    <a:spcPct val="90000"/>
                  </a:lnSpc>
                  <a:spcBef>
                    <a:spcPts val="1800"/>
                  </a:spcBef>
                  <a:buClr>
                    <a:srgbClr val="8784C7">
                      <a:lumMod val="75000"/>
                    </a:srgbClr>
                  </a:buClr>
                  <a:buSzPct val="80000"/>
                  <a:buFont typeface="+mj-lt"/>
                  <a:buAutoNum type="arabicPeriod" startAt="3"/>
                </a:pPr>
                <a:r>
                  <a:rPr lang="en-AU" sz="2800" dirty="0">
                    <a:solidFill>
                      <a:srgbClr val="373545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800" i="1">
                            <a:solidFill>
                              <a:srgbClr val="373545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i="1">
                            <a:solidFill>
                              <a:srgbClr val="373545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AU" sz="2800" i="1">
                            <a:solidFill>
                              <a:srgbClr val="373545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0185" y="3402685"/>
                <a:ext cx="3232727" cy="1442703"/>
              </a:xfrm>
              <a:prstGeom prst="rect">
                <a:avLst/>
              </a:prstGeom>
              <a:blipFill>
                <a:blip r:embed="rId4"/>
                <a:stretch>
                  <a:fillRect b="-418"/>
                </a:stretch>
              </a:blipFill>
              <a:ln>
                <a:solidFill>
                  <a:schemeClr val="bg2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/>
          <p:cNvSpPr/>
          <p:nvPr/>
        </p:nvSpPr>
        <p:spPr>
          <a:xfrm>
            <a:off x="8700393" y="2572141"/>
            <a:ext cx="2410691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#teamwork</a:t>
            </a:r>
          </a:p>
        </p:txBody>
      </p:sp>
    </p:spTree>
    <p:extLst>
      <p:ext uri="{BB962C8B-B14F-4D97-AF65-F5344CB8AC3E}">
        <p14:creationId xmlns:p14="http://schemas.microsoft.com/office/powerpoint/2010/main" val="81626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136996" y="347287"/>
            <a:ext cx="9918008" cy="1112058"/>
          </a:xfrm>
        </p:spPr>
        <p:txBody>
          <a:bodyPr>
            <a:noAutofit/>
          </a:bodyPr>
          <a:lstStyle/>
          <a:p>
            <a:r>
              <a:rPr lang="en-US" sz="2300" dirty="0">
                <a:solidFill>
                  <a:srgbClr val="0070C0"/>
                </a:solidFill>
              </a:rPr>
              <a:t>Topic: Percentages</a:t>
            </a:r>
            <a:br>
              <a:rPr lang="en-US" sz="2300" dirty="0">
                <a:solidFill>
                  <a:srgbClr val="0070C0"/>
                </a:solidFill>
              </a:rPr>
            </a:br>
            <a:r>
              <a:rPr lang="en-US" sz="2300" dirty="0">
                <a:solidFill>
                  <a:srgbClr val="0070C0"/>
                </a:solidFill>
              </a:rPr>
              <a:t>EQ: How do I convert between fractions, decimals and percentages?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3223529" y="2382781"/>
            <a:ext cx="3906943" cy="1423139"/>
          </a:xfrm>
        </p:spPr>
        <p:txBody>
          <a:bodyPr>
            <a:normAutofit fontScale="92500"/>
          </a:bodyPr>
          <a:lstStyle/>
          <a:p>
            <a:pPr marL="45720" indent="0">
              <a:buNone/>
            </a:pPr>
            <a:r>
              <a:rPr lang="en-US" b="1" dirty="0"/>
              <a:t>To convert a decimal into a percentage it needs to be multiplied by 100.</a:t>
            </a:r>
            <a:endParaRPr lang="en-US" dirty="0"/>
          </a:p>
        </p:txBody>
      </p:sp>
      <p:cxnSp>
        <p:nvCxnSpPr>
          <p:cNvPr id="3" name="Straight Connector 2"/>
          <p:cNvCxnSpPr/>
          <p:nvPr/>
        </p:nvCxnSpPr>
        <p:spPr>
          <a:xfrm>
            <a:off x="0" y="1560941"/>
            <a:ext cx="12192000" cy="0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3038764" y="1570182"/>
            <a:ext cx="36945" cy="5287818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7375256" y="1574806"/>
            <a:ext cx="36945" cy="5287818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53999" y="2228893"/>
            <a:ext cx="2401455" cy="1323439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AU" sz="2000" b="1" dirty="0"/>
              <a:t>Now I have a decimal how do I convert it into a percentage?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3345" y="1662538"/>
            <a:ext cx="2022764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AU" dirty="0"/>
              <a:t>Question: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24056" y="1662538"/>
            <a:ext cx="2022764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AU" dirty="0"/>
              <a:t>Explanation: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2602" y="1662538"/>
            <a:ext cx="2022764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AU" dirty="0"/>
              <a:t>Example: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06327" y="2490184"/>
            <a:ext cx="3148677" cy="52322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AU" sz="2400" dirty="0">
                <a:sym typeface="Wingdings" panose="05000000000000000000" pitchFamily="2" charset="2"/>
              </a:rPr>
              <a:t>0.5</a:t>
            </a:r>
            <a:r>
              <a:rPr lang="en-AU" sz="2800" dirty="0">
                <a:solidFill>
                  <a:srgbClr val="0070C0"/>
                </a:solidFill>
                <a:sym typeface="Wingdings" panose="05000000000000000000" pitchFamily="2" charset="2"/>
              </a:rPr>
              <a:t> </a:t>
            </a:r>
            <a:r>
              <a:rPr lang="en-AU" sz="2800" dirty="0">
                <a:sym typeface="Wingdings" panose="05000000000000000000" pitchFamily="2" charset="2"/>
              </a:rPr>
              <a:t> </a:t>
            </a:r>
            <a:r>
              <a:rPr lang="en-AU" dirty="0"/>
              <a:t>0.5 x 100 = </a:t>
            </a:r>
            <a:r>
              <a:rPr lang="en-AU" sz="2400" dirty="0"/>
              <a:t>50%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8119" y="3290722"/>
            <a:ext cx="3325091" cy="52322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AU" sz="2400" dirty="0">
                <a:sym typeface="Wingdings" panose="05000000000000000000" pitchFamily="2" charset="2"/>
              </a:rPr>
              <a:t>0.75</a:t>
            </a:r>
            <a:r>
              <a:rPr lang="en-AU" sz="2800" dirty="0">
                <a:solidFill>
                  <a:srgbClr val="0070C0"/>
                </a:solidFill>
                <a:sym typeface="Wingdings" panose="05000000000000000000" pitchFamily="2" charset="2"/>
              </a:rPr>
              <a:t> </a:t>
            </a:r>
            <a:r>
              <a:rPr lang="en-AU" sz="2800" dirty="0">
                <a:sym typeface="Wingdings" panose="05000000000000000000" pitchFamily="2" charset="2"/>
              </a:rPr>
              <a:t> </a:t>
            </a:r>
            <a:r>
              <a:rPr lang="en-AU" dirty="0"/>
              <a:t>0.75 x 100 = </a:t>
            </a:r>
            <a:r>
              <a:rPr lang="en-AU" sz="2400" dirty="0"/>
              <a:t>75%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12201" y="4091260"/>
            <a:ext cx="4373881" cy="52322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AU" sz="2400" dirty="0">
                <a:sym typeface="Wingdings" panose="05000000000000000000" pitchFamily="2" charset="2"/>
              </a:rPr>
              <a:t>0.33…</a:t>
            </a:r>
            <a:r>
              <a:rPr lang="en-AU" sz="2800" dirty="0">
                <a:solidFill>
                  <a:srgbClr val="0070C0"/>
                </a:solidFill>
                <a:sym typeface="Wingdings" panose="05000000000000000000" pitchFamily="2" charset="2"/>
              </a:rPr>
              <a:t> </a:t>
            </a:r>
            <a:r>
              <a:rPr lang="en-AU" sz="2800" dirty="0">
                <a:sym typeface="Wingdings" panose="05000000000000000000" pitchFamily="2" charset="2"/>
              </a:rPr>
              <a:t> </a:t>
            </a:r>
            <a:r>
              <a:rPr lang="en-AU" dirty="0"/>
              <a:t>0.33… x 100 = </a:t>
            </a:r>
            <a:r>
              <a:rPr lang="en-AU" sz="2400" dirty="0"/>
              <a:t>33.33%</a:t>
            </a:r>
          </a:p>
        </p:txBody>
      </p:sp>
    </p:spTree>
    <p:extLst>
      <p:ext uri="{BB962C8B-B14F-4D97-AF65-F5344CB8AC3E}">
        <p14:creationId xmlns:p14="http://schemas.microsoft.com/office/powerpoint/2010/main" val="41909523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uild="p"/>
      <p:bldP spid="9" grpId="0" animBg="1"/>
      <p:bldP spid="17" grpId="0" animBg="1"/>
      <p:bldP spid="1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Left-Hand-Side </a:t>
            </a:r>
            <a:r>
              <a:rPr lang="en-AU" dirty="0">
                <a:solidFill>
                  <a:srgbClr val="0070C0"/>
                </a:solidFill>
              </a:rPr>
              <a:t>Task 1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1120" y="2771053"/>
            <a:ext cx="7734300" cy="22764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41120" y="2124722"/>
            <a:ext cx="7734300" cy="646331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 anchorCtr="1">
            <a:spAutoFit/>
          </a:bodyPr>
          <a:lstStyle/>
          <a:p>
            <a:r>
              <a:rPr lang="en-AU" dirty="0"/>
              <a:t>Convert these fractions into percentages by first converting them into decimals:</a:t>
            </a:r>
          </a:p>
        </p:txBody>
      </p:sp>
      <p:sp>
        <p:nvSpPr>
          <p:cNvPr id="9" name="Vertical Scroll 8"/>
          <p:cNvSpPr/>
          <p:nvPr/>
        </p:nvSpPr>
        <p:spPr>
          <a:xfrm>
            <a:off x="8857673" y="147782"/>
            <a:ext cx="3251200" cy="6400800"/>
          </a:xfrm>
          <a:prstGeom prst="verticalScroll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b="1" dirty="0">
                <a:solidFill>
                  <a:srgbClr val="7030A0"/>
                </a:solidFill>
              </a:rPr>
              <a:t>Check your answers</a:t>
            </a:r>
          </a:p>
          <a:p>
            <a:pPr marL="342900" indent="-342900" algn="ctr">
              <a:buFont typeface="+mj-lt"/>
              <a:buAutoNum type="alphaLcPeriod"/>
            </a:pPr>
            <a:r>
              <a:rPr lang="en-AU" sz="2400" dirty="0"/>
              <a:t>8%</a:t>
            </a:r>
          </a:p>
          <a:p>
            <a:pPr marL="342900" indent="-342900" algn="ctr">
              <a:buFont typeface="+mj-lt"/>
              <a:buAutoNum type="alphaLcPeriod"/>
            </a:pPr>
            <a:r>
              <a:rPr lang="en-AU" sz="2400" dirty="0"/>
              <a:t>15%</a:t>
            </a:r>
          </a:p>
          <a:p>
            <a:pPr marL="342900" indent="-342900" algn="ctr">
              <a:buFont typeface="+mj-lt"/>
              <a:buAutoNum type="alphaLcPeriod"/>
            </a:pPr>
            <a:r>
              <a:rPr lang="en-AU" sz="2400" dirty="0"/>
              <a:t>97%</a:t>
            </a:r>
          </a:p>
          <a:p>
            <a:pPr marL="342900" indent="-342900" algn="ctr">
              <a:buFont typeface="+mj-lt"/>
              <a:buAutoNum type="alphaLcPeriod"/>
            </a:pPr>
            <a:r>
              <a:rPr lang="en-AU" sz="2400" dirty="0"/>
              <a:t>50%</a:t>
            </a:r>
          </a:p>
          <a:p>
            <a:pPr marL="342900" indent="-342900" algn="ctr">
              <a:buFont typeface="+mj-lt"/>
              <a:buAutoNum type="alphaLcPeriod"/>
            </a:pPr>
            <a:r>
              <a:rPr lang="en-AU" sz="2400" dirty="0"/>
              <a:t>35%</a:t>
            </a:r>
          </a:p>
          <a:p>
            <a:pPr marL="342900" indent="-342900" algn="ctr">
              <a:buFont typeface="+mj-lt"/>
              <a:buAutoNum type="alphaLcPeriod"/>
            </a:pPr>
            <a:r>
              <a:rPr lang="en-AU" sz="2400" dirty="0"/>
              <a:t>32%</a:t>
            </a:r>
          </a:p>
          <a:p>
            <a:pPr marL="342900" indent="-342900" algn="ctr">
              <a:buFont typeface="+mj-lt"/>
              <a:buAutoNum type="alphaLcPeriod"/>
            </a:pPr>
            <a:r>
              <a:rPr lang="en-AU" sz="2400" dirty="0"/>
              <a:t>86%</a:t>
            </a:r>
          </a:p>
          <a:p>
            <a:pPr marL="342900" indent="-342900" algn="ctr">
              <a:buFont typeface="+mj-lt"/>
              <a:buAutoNum type="alphaLcPeriod"/>
            </a:pPr>
            <a:r>
              <a:rPr lang="en-AU" sz="2400" dirty="0"/>
              <a:t>90%</a:t>
            </a:r>
          </a:p>
          <a:p>
            <a:pPr marL="342900" indent="-342900" algn="ctr">
              <a:buFont typeface="+mj-lt"/>
              <a:buAutoNum type="alphaLcPeriod"/>
            </a:pPr>
            <a:r>
              <a:rPr lang="en-AU" sz="2400" dirty="0"/>
              <a:t>112%</a:t>
            </a:r>
          </a:p>
          <a:p>
            <a:pPr marL="342900" indent="-342900" algn="ctr">
              <a:buFont typeface="+mj-lt"/>
              <a:buAutoNum type="alphaLcPeriod"/>
            </a:pPr>
            <a:r>
              <a:rPr lang="en-AU" sz="2400" dirty="0"/>
              <a:t>135%</a:t>
            </a:r>
          </a:p>
          <a:p>
            <a:pPr marL="342900" indent="-342900" algn="ctr">
              <a:buFont typeface="+mj-lt"/>
              <a:buAutoNum type="alphaLcPeriod"/>
            </a:pPr>
            <a:r>
              <a:rPr lang="en-AU" sz="2400" dirty="0"/>
              <a:t>400%</a:t>
            </a:r>
          </a:p>
          <a:p>
            <a:pPr marL="342900" indent="-342900" algn="ctr">
              <a:buFont typeface="+mj-lt"/>
              <a:buAutoNum type="alphaLcPeriod"/>
            </a:pPr>
            <a:r>
              <a:rPr lang="en-AU" sz="2400" dirty="0"/>
              <a:t>160%</a:t>
            </a:r>
          </a:p>
        </p:txBody>
      </p:sp>
    </p:spTree>
    <p:extLst>
      <p:ext uri="{BB962C8B-B14F-4D97-AF65-F5344CB8AC3E}">
        <p14:creationId xmlns:p14="http://schemas.microsoft.com/office/powerpoint/2010/main" val="941399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136996" y="347287"/>
            <a:ext cx="9918008" cy="1112058"/>
          </a:xfrm>
        </p:spPr>
        <p:txBody>
          <a:bodyPr>
            <a:noAutofit/>
          </a:bodyPr>
          <a:lstStyle/>
          <a:p>
            <a:r>
              <a:rPr lang="en-US" sz="2300" dirty="0">
                <a:solidFill>
                  <a:srgbClr val="0070C0"/>
                </a:solidFill>
              </a:rPr>
              <a:t>Topic: Percentages</a:t>
            </a:r>
            <a:br>
              <a:rPr lang="en-US" sz="2300" dirty="0">
                <a:solidFill>
                  <a:srgbClr val="0070C0"/>
                </a:solidFill>
              </a:rPr>
            </a:br>
            <a:r>
              <a:rPr lang="en-US" sz="2300" dirty="0">
                <a:solidFill>
                  <a:srgbClr val="0070C0"/>
                </a:solidFill>
              </a:rPr>
              <a:t>EQ: How do I convert between fractions, decimals and percentages?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3223529" y="2382781"/>
            <a:ext cx="3906943" cy="3048201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en-US" sz="1800" b="1" dirty="0"/>
              <a:t>The symbol, %, means ‘per cent’, which means “out of 100”. </a:t>
            </a:r>
          </a:p>
          <a:p>
            <a:pPr marL="45720" indent="0">
              <a:buNone/>
            </a:pPr>
            <a:r>
              <a:rPr lang="en-US" sz="1800" b="1" dirty="0"/>
              <a:t>Therefore, 75% means 75 out of 100.</a:t>
            </a:r>
          </a:p>
          <a:p>
            <a:pPr marL="45720" indent="0">
              <a:buNone/>
            </a:pPr>
            <a:r>
              <a:rPr lang="en-US" sz="1800" b="1" dirty="0"/>
              <a:t>We can write percentages as fractions by changing the % sign to a denominator of 100 (meaning out of 100)</a:t>
            </a:r>
            <a:endParaRPr lang="en-US" sz="1800" dirty="0"/>
          </a:p>
        </p:txBody>
      </p:sp>
      <p:cxnSp>
        <p:nvCxnSpPr>
          <p:cNvPr id="3" name="Straight Connector 2"/>
          <p:cNvCxnSpPr/>
          <p:nvPr/>
        </p:nvCxnSpPr>
        <p:spPr>
          <a:xfrm>
            <a:off x="0" y="1560941"/>
            <a:ext cx="12192000" cy="0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3038764" y="1570182"/>
            <a:ext cx="36945" cy="5287818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7375256" y="1574806"/>
            <a:ext cx="36945" cy="5287818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53999" y="2536669"/>
            <a:ext cx="2401455" cy="707886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AU" sz="2000" b="1" dirty="0"/>
              <a:t>What is a percentage?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3345" y="1662538"/>
            <a:ext cx="2022764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AU" dirty="0"/>
              <a:t>Question: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24056" y="1662538"/>
            <a:ext cx="2022764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AU" dirty="0"/>
              <a:t>Explanation: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2602" y="1662538"/>
            <a:ext cx="2022764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AU" dirty="0"/>
              <a:t>Example: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7393728" y="2523943"/>
                <a:ext cx="3805421" cy="710451"/>
              </a:xfrm>
              <a:prstGeom prst="rect">
                <a:avLst/>
              </a:prstGeom>
              <a:noFill/>
              <a:ln>
                <a:solidFill>
                  <a:schemeClr val="bg2"/>
                </a:solidFill>
              </a:ln>
            </p:spPr>
            <p:txBody>
              <a:bodyPr wrap="square" rtlCol="0" anchor="ctr" anchorCtr="1">
                <a:spAutoFit/>
              </a:bodyPr>
              <a:lstStyle/>
              <a:p>
                <a:r>
                  <a:rPr lang="en-AU" sz="2400" dirty="0">
                    <a:sym typeface="Wingdings" panose="05000000000000000000" pitchFamily="2" charset="2"/>
                  </a:rPr>
                  <a:t>50%</a:t>
                </a:r>
                <a:r>
                  <a:rPr lang="en-AU" sz="2800" dirty="0">
                    <a:solidFill>
                      <a:srgbClr val="0070C0"/>
                    </a:solidFill>
                    <a:sym typeface="Wingdings" panose="05000000000000000000" pitchFamily="2" charset="2"/>
                  </a:rPr>
                  <a:t> </a:t>
                </a:r>
                <a:r>
                  <a:rPr lang="en-AU" sz="2800" dirty="0">
                    <a:sym typeface="Wingdings" panose="05000000000000000000" pitchFamily="2" charset="2"/>
                  </a:rPr>
                  <a:t> </a:t>
                </a:r>
                <a:r>
                  <a:rPr lang="en-AU" dirty="0"/>
                  <a:t>50 out of 100 </a:t>
                </a:r>
                <a:r>
                  <a:rPr lang="en-AU" sz="2400" dirty="0">
                    <a:solidFill>
                      <a:srgbClr val="0070C0"/>
                    </a:solidFill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en-AU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50</m:t>
                        </m:r>
                      </m:num>
                      <m:den>
                        <m:r>
                          <a:rPr lang="en-AU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100</m:t>
                        </m:r>
                      </m:den>
                    </m:f>
                  </m:oMath>
                </a14:m>
                <a:r>
                  <a:rPr lang="en-AU" sz="2400" dirty="0">
                    <a:solidFill>
                      <a:srgbClr val="0070C0"/>
                    </a:solidFill>
                    <a:sym typeface="Wingdings" panose="05000000000000000000" pitchFamily="2" charset="2"/>
                  </a:rPr>
                  <a:t> </a:t>
                </a:r>
                <a:endParaRPr lang="en-AU" sz="24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3728" y="2523943"/>
                <a:ext cx="3805421" cy="710451"/>
              </a:xfrm>
              <a:prstGeom prst="rect">
                <a:avLst/>
              </a:prstGeom>
              <a:blipFill>
                <a:blip r:embed="rId3"/>
                <a:stretch>
                  <a:fillRect b="-8403"/>
                </a:stretch>
              </a:blipFill>
              <a:ln>
                <a:solidFill>
                  <a:schemeClr val="bg2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7375256" y="3551655"/>
                <a:ext cx="3805421" cy="710451"/>
              </a:xfrm>
              <a:prstGeom prst="rect">
                <a:avLst/>
              </a:prstGeom>
              <a:noFill/>
              <a:ln>
                <a:solidFill>
                  <a:schemeClr val="bg2"/>
                </a:solidFill>
              </a:ln>
            </p:spPr>
            <p:txBody>
              <a:bodyPr wrap="square" rtlCol="0" anchor="ctr" anchorCtr="1">
                <a:spAutoFit/>
              </a:bodyPr>
              <a:lstStyle/>
              <a:p>
                <a:r>
                  <a:rPr lang="en-AU" sz="2400" dirty="0">
                    <a:sym typeface="Wingdings" panose="05000000000000000000" pitchFamily="2" charset="2"/>
                  </a:rPr>
                  <a:t>75%</a:t>
                </a:r>
                <a:r>
                  <a:rPr lang="en-AU" sz="2800" dirty="0">
                    <a:solidFill>
                      <a:srgbClr val="0070C0"/>
                    </a:solidFill>
                    <a:sym typeface="Wingdings" panose="05000000000000000000" pitchFamily="2" charset="2"/>
                  </a:rPr>
                  <a:t> </a:t>
                </a:r>
                <a:r>
                  <a:rPr lang="en-AU" sz="2800" dirty="0">
                    <a:sym typeface="Wingdings" panose="05000000000000000000" pitchFamily="2" charset="2"/>
                  </a:rPr>
                  <a:t> </a:t>
                </a:r>
                <a:r>
                  <a:rPr lang="en-AU" dirty="0">
                    <a:sym typeface="Wingdings" panose="05000000000000000000" pitchFamily="2" charset="2"/>
                  </a:rPr>
                  <a:t>75</a:t>
                </a:r>
                <a:r>
                  <a:rPr lang="en-AU" dirty="0"/>
                  <a:t> out of 100 </a:t>
                </a:r>
                <a:r>
                  <a:rPr lang="en-AU" sz="2400" dirty="0">
                    <a:solidFill>
                      <a:srgbClr val="0070C0"/>
                    </a:solidFill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en-AU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75</m:t>
                        </m:r>
                      </m:num>
                      <m:den>
                        <m:r>
                          <a:rPr lang="en-AU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100</m:t>
                        </m:r>
                      </m:den>
                    </m:f>
                  </m:oMath>
                </a14:m>
                <a:r>
                  <a:rPr lang="en-AU" sz="2400" dirty="0">
                    <a:solidFill>
                      <a:srgbClr val="0070C0"/>
                    </a:solidFill>
                    <a:sym typeface="Wingdings" panose="05000000000000000000" pitchFamily="2" charset="2"/>
                  </a:rPr>
                  <a:t> </a:t>
                </a:r>
                <a:endParaRPr lang="en-AU" sz="2400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5256" y="3551655"/>
                <a:ext cx="3805421" cy="710451"/>
              </a:xfrm>
              <a:prstGeom prst="rect">
                <a:avLst/>
              </a:prstGeom>
              <a:blipFill>
                <a:blip r:embed="rId4"/>
                <a:stretch>
                  <a:fillRect b="-8475"/>
                </a:stretch>
              </a:blipFill>
              <a:ln>
                <a:solidFill>
                  <a:schemeClr val="bg2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Cloud Callout 1"/>
          <p:cNvSpPr/>
          <p:nvPr/>
        </p:nvSpPr>
        <p:spPr>
          <a:xfrm>
            <a:off x="9033201" y="5121563"/>
            <a:ext cx="3071111" cy="1616364"/>
          </a:xfrm>
          <a:prstGeom prst="cloudCallout">
            <a:avLst>
              <a:gd name="adj1" fmla="val -37975"/>
              <a:gd name="adj2" fmla="val -99214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Can we simplify these fractions?</a:t>
            </a:r>
          </a:p>
        </p:txBody>
      </p:sp>
    </p:spTree>
    <p:extLst>
      <p:ext uri="{BB962C8B-B14F-4D97-AF65-F5344CB8AC3E}">
        <p14:creationId xmlns:p14="http://schemas.microsoft.com/office/powerpoint/2010/main" val="3988594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uild="p"/>
      <p:bldP spid="9" grpId="0" animBg="1"/>
      <p:bldP spid="1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1120" y="2237507"/>
            <a:ext cx="7734300" cy="1243707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341120" y="467360"/>
            <a:ext cx="9509760" cy="1233424"/>
          </a:xfrm>
        </p:spPr>
        <p:txBody>
          <a:bodyPr/>
          <a:lstStyle/>
          <a:p>
            <a:r>
              <a:rPr lang="en-AU" dirty="0"/>
              <a:t>Left-Hand-Side </a:t>
            </a:r>
            <a:r>
              <a:rPr lang="en-AU" dirty="0">
                <a:solidFill>
                  <a:srgbClr val="0070C0"/>
                </a:solidFill>
              </a:rPr>
              <a:t>Task 2</a:t>
            </a:r>
          </a:p>
        </p:txBody>
      </p:sp>
      <p:sp>
        <p:nvSpPr>
          <p:cNvPr id="6" name="Horizontal Scroll 5"/>
          <p:cNvSpPr/>
          <p:nvPr/>
        </p:nvSpPr>
        <p:spPr>
          <a:xfrm>
            <a:off x="1407507" y="3731609"/>
            <a:ext cx="7601527" cy="2272146"/>
          </a:xfrm>
          <a:prstGeom prst="horizontalScroll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b="1" dirty="0">
                <a:solidFill>
                  <a:srgbClr val="0070C0"/>
                </a:solidFill>
              </a:rPr>
              <a:t>Check your answers!</a:t>
            </a:r>
          </a:p>
          <a:p>
            <a:pPr algn="ctr"/>
            <a:r>
              <a:rPr lang="en-AU" sz="2000" b="1" dirty="0"/>
              <a:t>a. 11/100 	b. 71/100	c. 43/100	d. 49/100      e. 1/4 		f. 3/10		g. 3/20		h. 22/25</a:t>
            </a:r>
          </a:p>
        </p:txBody>
      </p:sp>
    </p:spTree>
    <p:extLst>
      <p:ext uri="{BB962C8B-B14F-4D97-AF65-F5344CB8AC3E}">
        <p14:creationId xmlns:p14="http://schemas.microsoft.com/office/powerpoint/2010/main" val="3933127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341120" y="467360"/>
            <a:ext cx="9509760" cy="1233424"/>
          </a:xfrm>
        </p:spPr>
        <p:txBody>
          <a:bodyPr/>
          <a:lstStyle/>
          <a:p>
            <a:r>
              <a:rPr lang="en-AU" dirty="0"/>
              <a:t>Left-Hand-Side </a:t>
            </a:r>
            <a:r>
              <a:rPr lang="en-AU" dirty="0">
                <a:solidFill>
                  <a:srgbClr val="0070C0"/>
                </a:solidFill>
              </a:rPr>
              <a:t>Task 3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1120" y="1900088"/>
            <a:ext cx="8783866" cy="96204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1120" y="3125066"/>
            <a:ext cx="6817953" cy="102060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41120" y="4416721"/>
            <a:ext cx="8926081" cy="20663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4512" y="204424"/>
            <a:ext cx="2598237" cy="1107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0720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341120" y="467360"/>
            <a:ext cx="9509760" cy="1233424"/>
          </a:xfrm>
        </p:spPr>
        <p:txBody>
          <a:bodyPr/>
          <a:lstStyle/>
          <a:p>
            <a:r>
              <a:rPr lang="en-AU" dirty="0"/>
              <a:t>Worksheet </a:t>
            </a:r>
            <a:r>
              <a:rPr lang="en-AU" dirty="0">
                <a:solidFill>
                  <a:srgbClr val="0070C0"/>
                </a:solidFill>
              </a:rPr>
              <a:t>Task 4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4512" y="204424"/>
            <a:ext cx="2598237" cy="110707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0D68947-49C3-41DF-88B7-07160670A080}"/>
              </a:ext>
            </a:extLst>
          </p:cNvPr>
          <p:cNvSpPr txBox="1"/>
          <p:nvPr/>
        </p:nvSpPr>
        <p:spPr>
          <a:xfrm>
            <a:off x="796834" y="2076450"/>
            <a:ext cx="1123405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 Complete T1W9_Lesson 1_FractionsDecimalsPercentage worksheet</a:t>
            </a:r>
          </a:p>
          <a:p>
            <a:endParaRPr lang="en-US" dirty="0"/>
          </a:p>
          <a:p>
            <a:r>
              <a:rPr lang="en-US" dirty="0"/>
              <a:t>2. Check using T1W9_Lesson 1_FractionsDecimalsPercentage </a:t>
            </a:r>
            <a:r>
              <a:rPr lang="en-US" dirty="0" err="1"/>
              <a:t>worksheetANSWERS</a:t>
            </a:r>
            <a:endParaRPr lang="en-US" dirty="0"/>
          </a:p>
          <a:p>
            <a:r>
              <a:rPr lang="en-US" dirty="0"/>
              <a:t> </a:t>
            </a:r>
          </a:p>
          <a:p>
            <a:r>
              <a:rPr lang="en-US" dirty="0"/>
              <a:t>3. Take a photo of your INB and upload it to the submission folder, T1W9_Lesson 1_FractionsDecimalsPercentages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127521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3CF8E2C319B6C45A88B154FA9F297AF" ma:contentTypeVersion="2" ma:contentTypeDescription="Create a new document." ma:contentTypeScope="" ma:versionID="cece90b1e3ba9401ed65010376c85243">
  <xsd:schema xmlns:xsd="http://www.w3.org/2001/XMLSchema" xmlns:xs="http://www.w3.org/2001/XMLSchema" xmlns:p="http://schemas.microsoft.com/office/2006/metadata/properties" xmlns:ns2="085a5620-d469-4ad1-879c-377e76877e52" targetNamespace="http://schemas.microsoft.com/office/2006/metadata/properties" ma:root="true" ma:fieldsID="aaced6032bce772337dffe1272a07452" ns2:_="">
    <xsd:import namespace="085a5620-d469-4ad1-879c-377e76877e5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85a5620-d469-4ad1-879c-377e76877e5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ACFB23E-16C1-4FB2-81F0-A07298558978}"/>
</file>

<file path=customXml/itemProps2.xml><?xml version="1.0" encoding="utf-8"?>
<ds:datastoreItem xmlns:ds="http://schemas.openxmlformats.org/officeDocument/2006/customXml" ds:itemID="{CCC83585-3515-470A-ABAD-F9058C1D6818}"/>
</file>

<file path=customXml/itemProps3.xml><?xml version="1.0" encoding="utf-8"?>
<ds:datastoreItem xmlns:ds="http://schemas.openxmlformats.org/officeDocument/2006/customXml" ds:itemID="{43E9DFCA-3E26-4906-A5EA-7A24B14B7564}"/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757</Words>
  <Application>Microsoft Office PowerPoint</Application>
  <PresentationFormat>Widescreen</PresentationFormat>
  <Paragraphs>87</Paragraphs>
  <Slides>10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Cambria Math</vt:lpstr>
      <vt:lpstr>Office Theme</vt:lpstr>
      <vt:lpstr>Topic: Percentages EQ: How do I convert between fractions, decimals and percentages?</vt:lpstr>
      <vt:lpstr>Topic: Percentages  EQ: How do I convert between fractions, decimals and percentages?</vt:lpstr>
      <vt:lpstr>Topic: Percentages EQ: How do I convert between fractions, decimals and percentages?</vt:lpstr>
      <vt:lpstr>Think-Pair-Share</vt:lpstr>
      <vt:lpstr>Topic: Percentages EQ: How do I convert between fractions, decimals and percentages?</vt:lpstr>
      <vt:lpstr>Left-Hand-Side Task 1</vt:lpstr>
      <vt:lpstr>Topic: Percentages EQ: How do I convert between fractions, decimals and percentages?</vt:lpstr>
      <vt:lpstr>Left-Hand-Side Task 2</vt:lpstr>
      <vt:lpstr>Left-Hand-Side Task 3</vt:lpstr>
      <vt:lpstr>Worksheet Task 4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Percentages EQ: How do I convert between fractions, decimals and percentages?</dc:title>
  <dc:creator>JAMES Sarah [Baldivis Secondary College]</dc:creator>
  <cp:lastModifiedBy>JAMES Sarah [Baldivis Secondary College]</cp:lastModifiedBy>
  <cp:revision>1</cp:revision>
  <dcterms:created xsi:type="dcterms:W3CDTF">2021-04-21T11:45:37Z</dcterms:created>
  <dcterms:modified xsi:type="dcterms:W3CDTF">2021-04-21T11:47:10Z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0x010100E3CF8E2C319B6C45A88B154FA9F297AF</vt:lpwstr>
  </property>
</Properties>
</file>
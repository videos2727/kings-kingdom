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fntdata" ContentType="application/x-fontdata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3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revisionInfo.xml" ContentType="application/vnd.ms-powerpoint.revisioninfo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4"/>
  </p:notesMasterIdLst>
  <p:sldIdLst>
    <p:sldId id="257" r:id="rId2"/>
    <p:sldId id="323" r:id="rId3"/>
    <p:sldId id="324" r:id="rId4"/>
    <p:sldId id="256" r:id="rId5"/>
    <p:sldId id="263" r:id="rId6"/>
    <p:sldId id="258" r:id="rId7"/>
    <p:sldId id="262" r:id="rId8"/>
    <p:sldId id="274" r:id="rId9"/>
    <p:sldId id="273" r:id="rId10"/>
    <p:sldId id="264" r:id="rId11"/>
    <p:sldId id="269" r:id="rId12"/>
    <p:sldId id="267" r:id="rId13"/>
  </p:sldIdLst>
  <p:sldSz cx="9144000" cy="5143500" type="screen16x9"/>
  <p:notesSz cx="6858000" cy="9144000"/>
  <p:embeddedFontLst>
    <p:embeddedFont>
      <p:font typeface="Abel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Fredoka One" panose="020B0604020202020204" charset="0"/>
      <p:regular r:id="rId20"/>
    </p:embeddedFont>
    <p:embeddedFont>
      <p:font typeface="Lucida Handwriting" panose="03010101010101010101" pitchFamily="66" charset="0"/>
      <p:regular r:id="rId21"/>
    </p:embeddedFont>
    <p:embeddedFont>
      <p:font typeface="Verdana" panose="020B060403050404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68">
          <p15:clr>
            <a:srgbClr val="9AA0A6"/>
          </p15:clr>
        </p15:guide>
        <p15:guide id="2" pos="2880">
          <p15:clr>
            <a:srgbClr val="9AA0A6"/>
          </p15:clr>
        </p15:guide>
        <p15:guide id="3" orient="horz" pos="253">
          <p15:clr>
            <a:srgbClr val="9AA0A6"/>
          </p15:clr>
        </p15:guide>
        <p15:guide id="4" orient="horz" pos="841">
          <p15:clr>
            <a:srgbClr val="9AA0A6"/>
          </p15:clr>
        </p15:guide>
        <p15:guide id="5" pos="576">
          <p15:clr>
            <a:srgbClr val="9AA0A6"/>
          </p15:clr>
        </p15:guide>
        <p15:guide id="6" orient="horz" pos="547">
          <p15:clr>
            <a:srgbClr val="9AA0A6"/>
          </p15:clr>
        </p15:guide>
        <p15:guide id="7" orient="horz" pos="216">
          <p15:clr>
            <a:srgbClr val="9AA0A6"/>
          </p15:clr>
        </p15:guide>
        <p15:guide id="8" pos="4787">
          <p15:clr>
            <a:srgbClr val="9AA0A6"/>
          </p15:clr>
        </p15:guide>
        <p15:guide id="9" pos="3942">
          <p15:clr>
            <a:srgbClr val="9AA0A6"/>
          </p15:clr>
        </p15:guide>
        <p15:guide id="10" pos="1293">
          <p15:clr>
            <a:srgbClr val="9AA0A6"/>
          </p15:clr>
        </p15:guide>
        <p15:guide id="11" orient="horz" pos="120">
          <p15:clr>
            <a:srgbClr val="9AA0A6"/>
          </p15:clr>
        </p15:guide>
        <p15:guide id="12" orient="horz" pos="144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6A43"/>
    <a:srgbClr val="6B4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A9FD7A-2B97-4CEE-BE9E-3A87FBCE33DC}" v="32" dt="2021-03-28T11:06:11.483"/>
  </p1510:revLst>
</p1510:revInfo>
</file>

<file path=ppt/tableStyles.xml><?xml version="1.0" encoding="utf-8"?>
<a:tblStyleLst xmlns:a="http://schemas.openxmlformats.org/drawingml/2006/main" def="{42CA31A5-7132-4A5F-A072-0CB39D90A84B}">
  <a:tblStyle styleId="{42CA31A5-7132-4A5F-A072-0CB39D90A8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398" autoAdjust="0"/>
    <p:restoredTop sz="94660"/>
  </p:normalViewPr>
  <p:slideViewPr>
    <p:cSldViewPr snapToGrid="0">
      <p:cViewPr varScale="1">
        <p:scale>
          <a:sx n="86" d="100"/>
          <a:sy n="86" d="100"/>
        </p:scale>
        <p:origin x="80" y="120"/>
      </p:cViewPr>
      <p:guideLst>
        <p:guide orient="horz" pos="3068"/>
        <p:guide pos="2880"/>
        <p:guide orient="horz" pos="253"/>
        <p:guide orient="horz" pos="841"/>
        <p:guide pos="576"/>
        <p:guide orient="horz" pos="547"/>
        <p:guide orient="horz" pos="216"/>
        <p:guide pos="4787"/>
        <p:guide pos="3942"/>
        <p:guide pos="1293"/>
        <p:guide orient="horz" pos="120"/>
        <p:guide orient="horz" pos="14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Relationship Id="rId30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Go</a:t>
            </a:r>
            <a:r>
              <a:rPr lang="en-GB" baseline="0" dirty="0"/>
              <a:t> through in real time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915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Go</a:t>
            </a:r>
            <a:r>
              <a:rPr lang="en-GB" baseline="0" dirty="0"/>
              <a:t> through in real time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1304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If have higher and all correct</a:t>
            </a:r>
            <a:r>
              <a:rPr lang="en-GB" baseline="0" dirty="0"/>
              <a:t> ignore F&amp;U and go onto C&amp;R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843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0409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96875" y="623625"/>
            <a:ext cx="1663500" cy="16635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63225" y="2799325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812375" y="3945250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807175" y="345622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151375" y="-150575"/>
            <a:ext cx="1094100" cy="109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45150" y="789414"/>
            <a:ext cx="3501300" cy="3501300"/>
          </a:xfrm>
          <a:prstGeom prst="donut">
            <a:avLst>
              <a:gd name="adj" fmla="val 1554"/>
            </a:avLst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416350" y="1897688"/>
            <a:ext cx="4311300" cy="9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16350" y="2929313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0ABE5-B060-4754-B67C-80B2236D15A0}" type="datetimeFigureOut">
              <a:rPr lang="en-GB" smtClean="0"/>
              <a:t>30/04/2021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6531D-EC83-43EA-997B-EB86FD0C3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47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 b="1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84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el"/>
              <a:buChar char="●"/>
              <a:defRPr sz="1800"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83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87078" y="2158470"/>
            <a:ext cx="6684986" cy="2846132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 rot="10800000">
            <a:off x="5905060" y="150214"/>
            <a:ext cx="1865688" cy="121574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 rot="10800000">
            <a:off x="3223245" y="145529"/>
            <a:ext cx="2590824" cy="1235327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 rot="10800000">
            <a:off x="1266559" y="150208"/>
            <a:ext cx="1865688" cy="1262738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28807" y="145529"/>
            <a:ext cx="1134722" cy="12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14350">
              <a:defRPr/>
            </a:pPr>
            <a:r>
              <a:rPr lang="en-GB" sz="1013" b="1" u="sng" dirty="0">
                <a:solidFill>
                  <a:prstClr val="black"/>
                </a:solidFill>
                <a:latin typeface="Calibri"/>
              </a:rPr>
              <a:t>Keywords</a:t>
            </a:r>
          </a:p>
          <a:p>
            <a:pPr algn="ctr" defTabSz="514350">
              <a:defRPr/>
            </a:pPr>
            <a:r>
              <a:rPr lang="en-GB" sz="1013" dirty="0">
                <a:solidFill>
                  <a:prstClr val="black"/>
                </a:solidFill>
                <a:latin typeface="Calibri"/>
              </a:rPr>
              <a:t>Increase</a:t>
            </a:r>
          </a:p>
          <a:p>
            <a:pPr lvl="0" algn="ctr">
              <a:defRPr/>
            </a:pPr>
            <a:r>
              <a:rPr lang="en-GB" sz="1050" dirty="0">
                <a:solidFill>
                  <a:prstClr val="black"/>
                </a:solidFill>
              </a:rPr>
              <a:t>Percent (%)</a:t>
            </a:r>
          </a:p>
          <a:p>
            <a:pPr lvl="0" algn="ctr">
              <a:defRPr/>
            </a:pPr>
            <a:r>
              <a:rPr lang="en-GB" sz="1050" dirty="0">
                <a:solidFill>
                  <a:prstClr val="black"/>
                </a:solidFill>
              </a:rPr>
              <a:t>Fractions</a:t>
            </a:r>
          </a:p>
          <a:p>
            <a:pPr lvl="0" algn="ctr">
              <a:defRPr/>
            </a:pPr>
            <a:r>
              <a:rPr lang="en-GB" sz="1050" dirty="0">
                <a:solidFill>
                  <a:prstClr val="black"/>
                </a:solidFill>
              </a:rPr>
              <a:t>Hundred</a:t>
            </a:r>
          </a:p>
          <a:p>
            <a:pPr lvl="0" algn="ctr">
              <a:defRPr/>
            </a:pPr>
            <a:r>
              <a:rPr lang="en-GB" sz="1050" dirty="0">
                <a:solidFill>
                  <a:prstClr val="black"/>
                </a:solidFill>
              </a:rPr>
              <a:t>Parts</a:t>
            </a:r>
          </a:p>
          <a:p>
            <a:pPr algn="ctr" defTabSz="514350">
              <a:defRPr/>
            </a:pPr>
            <a:endParaRPr lang="en-GB" sz="1013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05050" y="74611"/>
            <a:ext cx="2627216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increase a percentage of an amount?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t="28077" b="33885"/>
          <a:stretch/>
        </p:blipFill>
        <p:spPr>
          <a:xfrm>
            <a:off x="4876790" y="2245302"/>
            <a:ext cx="2011109" cy="38248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auto">
          <a:xfrm>
            <a:off x="4876794" y="2619106"/>
            <a:ext cx="2995271" cy="2385495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lgDashDot"/>
            <a:round/>
            <a:headEnd type="none" w="med" len="med"/>
            <a:tailEnd type="none" w="med" len="med"/>
          </a:ln>
          <a:effectLst/>
        </p:spPr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r" defTabSz="5143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 sz="105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70381" y="1510038"/>
            <a:ext cx="4932762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514350">
              <a:defRPr/>
            </a:pPr>
            <a:r>
              <a:rPr lang="en-GB" sz="4500" u="sng" dirty="0">
                <a:solidFill>
                  <a:prstClr val="black"/>
                </a:solidFill>
                <a:latin typeface="Calibri"/>
              </a:rPr>
              <a:t>Percentage Increase</a:t>
            </a:r>
          </a:p>
        </p:txBody>
      </p:sp>
      <p:pic>
        <p:nvPicPr>
          <p:cNvPr id="18" name="Picture 2" descr="http://content.mycutegraphics.com/graphics/health/cartoon-eye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0864" y="1748584"/>
            <a:ext cx="698237" cy="409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615" y="1035323"/>
            <a:ext cx="295751" cy="385763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Rounded Rectangle 23"/>
          <p:cNvSpPr/>
          <p:nvPr/>
        </p:nvSpPr>
        <p:spPr>
          <a:xfrm>
            <a:off x="1266559" y="2183287"/>
            <a:ext cx="662745" cy="194615"/>
          </a:xfrm>
          <a:prstGeom prst="roundRect">
            <a:avLst>
              <a:gd name="adj" fmla="val 21100"/>
            </a:avLst>
          </a:prstGeom>
          <a:solidFill>
            <a:srgbClr val="8ED05F"/>
          </a:solidFill>
          <a:ln w="9525" cap="flat" cmpd="sng" algn="ctr">
            <a:solidFill>
              <a:srgbClr val="008000"/>
            </a:solidFill>
            <a:prstDash val="solid"/>
          </a:ln>
          <a:effectLst/>
        </p:spPr>
        <p:txBody>
          <a:bodyPr lIns="38522" tIns="19262" rIns="38522" bIns="19262" rtlCol="0" anchor="ctr"/>
          <a:lstStyle/>
          <a:p>
            <a:pPr algn="ctr" defTabSz="514350">
              <a:defRPr/>
            </a:pPr>
            <a:r>
              <a:rPr lang="en-US" sz="1181" b="1" dirty="0">
                <a:solidFill>
                  <a:prstClr val="white"/>
                </a:solidFill>
                <a:latin typeface="Calibri"/>
              </a:rPr>
              <a:t>STARTER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934168" y="107127"/>
            <a:ext cx="686075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13" dirty="0"/>
              <a:t>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1297" y="2436545"/>
            <a:ext cx="371277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15% of 300km</a:t>
            </a:r>
          </a:p>
          <a:p>
            <a:r>
              <a:rPr lang="en-GB" sz="2400" dirty="0"/>
              <a:t>5% of 700ml</a:t>
            </a:r>
          </a:p>
          <a:p>
            <a:r>
              <a:rPr lang="en-GB" sz="2400" dirty="0"/>
              <a:t>25% of 560kg</a:t>
            </a:r>
          </a:p>
          <a:p>
            <a:r>
              <a:rPr lang="en-GB" sz="2400" dirty="0"/>
              <a:t>95% of £8</a:t>
            </a:r>
          </a:p>
          <a:p>
            <a:pPr marL="257175" indent="-257175">
              <a:buFont typeface="+mj-lt"/>
              <a:buAutoNum type="arabicPeriod"/>
            </a:pPr>
            <a:endParaRPr lang="en-GB" sz="1050" dirty="0"/>
          </a:p>
          <a:p>
            <a:pPr marL="257175" indent="-257175">
              <a:buFont typeface="+mj-lt"/>
              <a:buAutoNum type="arabicPeriod"/>
            </a:pPr>
            <a:endParaRPr lang="en-GB" sz="1050" dirty="0"/>
          </a:p>
          <a:p>
            <a:pPr marL="257175" indent="-257175">
              <a:buFont typeface="+mj-lt"/>
              <a:buAutoNum type="arabicPeriod"/>
            </a:pPr>
            <a:endParaRPr lang="en-GB" sz="1050" dirty="0"/>
          </a:p>
          <a:p>
            <a:pPr marL="257175" indent="-257175">
              <a:buFont typeface="+mj-lt"/>
              <a:buAutoNum type="arabicPeriod"/>
            </a:pPr>
            <a:endParaRPr lang="en-GB" sz="1050" dirty="0"/>
          </a:p>
        </p:txBody>
      </p:sp>
      <p:sp>
        <p:nvSpPr>
          <p:cNvPr id="21" name="TextBox 20"/>
          <p:cNvSpPr txBox="1"/>
          <p:nvPr/>
        </p:nvSpPr>
        <p:spPr>
          <a:xfrm>
            <a:off x="1395358" y="4527901"/>
            <a:ext cx="3564396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/>
              <a:t>How can you find 35% of  £2.50?</a:t>
            </a:r>
          </a:p>
          <a:p>
            <a:endParaRPr lang="en-GB" sz="1050" dirty="0"/>
          </a:p>
        </p:txBody>
      </p:sp>
      <p:pic>
        <p:nvPicPr>
          <p:cNvPr id="22" name="Picture 2" descr="http://thumbs.dreamstime.com/x/3d-cartoon-man-percent-symbol-10572526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27"/>
          <a:stretch/>
        </p:blipFill>
        <p:spPr bwMode="auto">
          <a:xfrm>
            <a:off x="5923264" y="299395"/>
            <a:ext cx="1948679" cy="1309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ounded Rectangle 22"/>
          <p:cNvSpPr/>
          <p:nvPr/>
        </p:nvSpPr>
        <p:spPr>
          <a:xfrm>
            <a:off x="1349663" y="4209146"/>
            <a:ext cx="1567104" cy="253427"/>
          </a:xfrm>
          <a:prstGeom prst="roundRect">
            <a:avLst>
              <a:gd name="adj" fmla="val 21100"/>
            </a:avLst>
          </a:prstGeom>
          <a:solidFill>
            <a:srgbClr val="8ED05F"/>
          </a:solidFill>
          <a:ln w="9525" cap="flat" cmpd="sng" algn="ctr">
            <a:solidFill>
              <a:srgbClr val="008000"/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800" b="1" dirty="0">
                <a:solidFill>
                  <a:prstClr val="white"/>
                </a:solidFill>
                <a:latin typeface="Calibri"/>
              </a:rPr>
              <a:t>Depth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6"/>
          <a:srcRect l="20836" t="27519" r="52925" b="26759"/>
          <a:stretch/>
        </p:blipFill>
        <p:spPr>
          <a:xfrm>
            <a:off x="5110785" y="3001591"/>
            <a:ext cx="2559050" cy="1504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562948" y="2688728"/>
            <a:ext cx="157607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050" b="1" dirty="0">
                <a:solidFill>
                  <a:prstClr val="white"/>
                </a:solidFill>
              </a:rPr>
              <a:t>Find the Odd One Out</a:t>
            </a:r>
          </a:p>
        </p:txBody>
      </p:sp>
    </p:spTree>
    <p:extLst>
      <p:ext uri="{BB962C8B-B14F-4D97-AF65-F5344CB8AC3E}">
        <p14:creationId xmlns:p14="http://schemas.microsoft.com/office/powerpoint/2010/main" val="498338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4518061" y="0"/>
            <a:ext cx="10826" cy="51435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455122"/>
            <a:ext cx="4518062" cy="1039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575246" y="2444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498098" y="-58483"/>
            <a:ext cx="798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80" y="206404"/>
            <a:ext cx="5421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Page</a:t>
            </a: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1422899" y="2444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9734" y="211601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1748" y="230172"/>
            <a:ext cx="182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Essential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1147" y="15489"/>
            <a:ext cx="259631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Glossary or Formula Page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518061" y="471562"/>
            <a:ext cx="4518062" cy="1039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9E3AC1-1E77-4710-9BC0-DFB1F88244CA}"/>
              </a:ext>
            </a:extLst>
          </p:cNvPr>
          <p:cNvCxnSpPr>
            <a:cxnSpLocks/>
          </p:cNvCxnSpPr>
          <p:nvPr/>
        </p:nvCxnSpPr>
        <p:spPr>
          <a:xfrm>
            <a:off x="6087633" y="471562"/>
            <a:ext cx="0" cy="46719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4F7D26-2225-40DE-95E8-82C9E31AF559}"/>
              </a:ext>
            </a:extLst>
          </p:cNvPr>
          <p:cNvCxnSpPr>
            <a:cxnSpLocks/>
          </p:cNvCxnSpPr>
          <p:nvPr/>
        </p:nvCxnSpPr>
        <p:spPr>
          <a:xfrm>
            <a:off x="3857705" y="2549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280076-6BD0-4CE8-8378-8CDB7ED81C35}"/>
              </a:ext>
            </a:extLst>
          </p:cNvPr>
          <p:cNvCxnSpPr>
            <a:cxnSpLocks/>
          </p:cNvCxnSpPr>
          <p:nvPr/>
        </p:nvCxnSpPr>
        <p:spPr>
          <a:xfrm>
            <a:off x="4222102" y="2444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D18CDD-8FC0-4BF8-A2BD-51188B343F59}"/>
              </a:ext>
            </a:extLst>
          </p:cNvPr>
          <p:cNvSpPr txBox="1"/>
          <p:nvPr/>
        </p:nvSpPr>
        <p:spPr>
          <a:xfrm>
            <a:off x="3482456" y="211601"/>
            <a:ext cx="3174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24</a:t>
            </a:r>
            <a:endParaRPr lang="en-GB" sz="10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E4DBC0-DF48-437A-8D31-681D0EB65B05}"/>
              </a:ext>
            </a:extLst>
          </p:cNvPr>
          <p:cNvSpPr txBox="1"/>
          <p:nvPr/>
        </p:nvSpPr>
        <p:spPr>
          <a:xfrm>
            <a:off x="3868531" y="218243"/>
            <a:ext cx="31748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050" dirty="0"/>
              <a:t>7</a:t>
            </a:r>
            <a:endParaRPr lang="en-GB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37B4A3-3DD6-4CE8-92D3-38B8736F8134}"/>
              </a:ext>
            </a:extLst>
          </p:cNvPr>
          <p:cNvSpPr txBox="1"/>
          <p:nvPr/>
        </p:nvSpPr>
        <p:spPr>
          <a:xfrm>
            <a:off x="4250604" y="223142"/>
            <a:ext cx="3174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30</a:t>
            </a:r>
            <a:endParaRPr lang="en-GB" sz="105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9E8EEF-EB99-4808-BA30-3C2CE48BA253}"/>
              </a:ext>
            </a:extLst>
          </p:cNvPr>
          <p:cNvCxnSpPr>
            <a:cxnSpLocks/>
          </p:cNvCxnSpPr>
          <p:nvPr/>
        </p:nvCxnSpPr>
        <p:spPr>
          <a:xfrm>
            <a:off x="3490623" y="266609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2E36C9B-3AE2-4453-AF72-8509F3DE2C72}"/>
              </a:ext>
            </a:extLst>
          </p:cNvPr>
          <p:cNvSpPr txBox="1"/>
          <p:nvPr/>
        </p:nvSpPr>
        <p:spPr>
          <a:xfrm>
            <a:off x="4657071" y="254983"/>
            <a:ext cx="1337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Word or Formula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AA26F2-9378-4BAE-ABC7-B71F270EE045}"/>
              </a:ext>
            </a:extLst>
          </p:cNvPr>
          <p:cNvSpPr txBox="1"/>
          <p:nvPr/>
        </p:nvSpPr>
        <p:spPr>
          <a:xfrm>
            <a:off x="6543029" y="266609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Definition or Example</a:t>
            </a:r>
          </a:p>
        </p:txBody>
      </p:sp>
    </p:spTree>
    <p:extLst>
      <p:ext uri="{BB962C8B-B14F-4D97-AF65-F5344CB8AC3E}">
        <p14:creationId xmlns:p14="http://schemas.microsoft.com/office/powerpoint/2010/main" val="3614595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18061" y="0"/>
            <a:ext cx="54006" cy="52180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43302" y="4856000"/>
            <a:ext cx="26000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50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04349" y="4894146"/>
            <a:ext cx="41233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2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4518061" y="461342"/>
            <a:ext cx="4625939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4518061" y="897564"/>
            <a:ext cx="462593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4572067" y="4029912"/>
            <a:ext cx="457193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543813" y="897564"/>
            <a:ext cx="0" cy="313234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42947" y="50017"/>
            <a:ext cx="323969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750" dirty="0"/>
              <a:t>24</a:t>
            </a:r>
          </a:p>
          <a:p>
            <a:r>
              <a:rPr lang="en-AU" sz="750" dirty="0"/>
              <a:t>7</a:t>
            </a:r>
          </a:p>
          <a:p>
            <a:r>
              <a:rPr lang="en-AU" sz="75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7754" y="451162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43814" y="897564"/>
            <a:ext cx="68800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5929" y="897565"/>
            <a:ext cx="10278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67" y="4029913"/>
            <a:ext cx="100860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6435" y="106870"/>
            <a:ext cx="90281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100" dirty="0"/>
              <a:t>Tasks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A3DEE0-B061-4B2A-86FB-FAA1342E38A6}"/>
              </a:ext>
            </a:extLst>
          </p:cNvPr>
          <p:cNvSpPr txBox="1"/>
          <p:nvPr/>
        </p:nvSpPr>
        <p:spPr>
          <a:xfrm>
            <a:off x="4755379" y="77465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54453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Understanding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5050" y="74611"/>
            <a:ext cx="2627216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increase a percentage of an amount?</a:t>
            </a:r>
            <a:endParaRPr lang="en-GB" sz="1013" dirty="0">
              <a:solidFill>
                <a:srgbClr val="FFC000">
                  <a:lumMod val="50000"/>
                </a:srgbClr>
              </a:solidFill>
              <a:latin typeface="Calibri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1424710" y="1379095"/>
            <a:ext cx="409515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GB" sz="1050" dirty="0"/>
              <a:t>We can represent percentage change using bars.</a:t>
            </a:r>
          </a:p>
          <a:p>
            <a:pPr eaLnBrk="0" hangingPunct="0"/>
            <a:r>
              <a:rPr lang="en-GB" sz="1050" dirty="0"/>
              <a:t>The original whole amount, 100% looks like this:</a:t>
            </a: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1497336" y="1843642"/>
            <a:ext cx="3348372" cy="432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GB" sz="1050"/>
              <a:t>100%</a:t>
            </a:r>
          </a:p>
        </p:txBody>
      </p:sp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1424710" y="2883638"/>
            <a:ext cx="3547766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120% is 20% longer as we have added 20% on to 100%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2253420" y="3170276"/>
            <a:ext cx="2214246" cy="809183"/>
            <a:chOff x="1403648" y="5033369"/>
            <a:chExt cx="2952328" cy="1078911"/>
          </a:xfrm>
        </p:grpSpPr>
        <p:sp>
          <p:nvSpPr>
            <p:cNvPr id="18" name="Oval 17"/>
            <p:cNvSpPr/>
            <p:nvPr/>
          </p:nvSpPr>
          <p:spPr bwMode="auto">
            <a:xfrm>
              <a:off x="1403648" y="5033369"/>
              <a:ext cx="2952328" cy="1078911"/>
            </a:xfrm>
            <a:prstGeom prst="ellipse">
              <a:avLst/>
            </a:prstGeom>
            <a:solidFill>
              <a:srgbClr val="F8AB3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GB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9" name="Text Box 8"/>
            <p:cNvSpPr txBox="1">
              <a:spLocks noChangeArrowheads="1"/>
            </p:cNvSpPr>
            <p:nvPr/>
          </p:nvSpPr>
          <p:spPr bwMode="auto">
            <a:xfrm>
              <a:off x="1822925" y="5249660"/>
              <a:ext cx="2411760" cy="5539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GB" sz="1050" dirty="0"/>
                <a:t>This would be called “a 20% increase”</a:t>
              </a:r>
            </a:p>
          </p:txBody>
        </p:sp>
      </p:grp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1497336" y="2295895"/>
            <a:ext cx="4022529" cy="4604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GB" sz="1050" dirty="0"/>
              <a:t>120%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29691" y="3170131"/>
            <a:ext cx="2057400" cy="670412"/>
          </a:xfrm>
          <a:prstGeom prst="rect">
            <a:avLst/>
          </a:prstGeom>
          <a:solidFill>
            <a:srgbClr val="F8AB3F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r>
              <a:rPr lang="en-GB" sz="1050" dirty="0">
                <a:solidFill>
                  <a:srgbClr val="7030A0"/>
                </a:solidFill>
              </a:rPr>
              <a:t>A 20% increase makes the item 20% larger</a:t>
            </a:r>
          </a:p>
        </p:txBody>
      </p:sp>
    </p:spTree>
    <p:extLst>
      <p:ext uri="{BB962C8B-B14F-4D97-AF65-F5344CB8AC3E}">
        <p14:creationId xmlns:p14="http://schemas.microsoft.com/office/powerpoint/2010/main" val="1460060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  <p:bldP spid="15" grpId="0" animBg="1" autoUpdateAnimBg="0"/>
      <p:bldP spid="16" grpId="0" autoUpdateAnimBg="0"/>
      <p:bldP spid="20" grpId="0" animBg="1" autoUpdateAnimBg="0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Example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5050" y="74611"/>
            <a:ext cx="2627216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increase a percentage of an amount?</a:t>
            </a:r>
            <a:endParaRPr lang="en-GB" sz="1013" dirty="0">
              <a:solidFill>
                <a:srgbClr val="FFC000">
                  <a:lumMod val="50000"/>
                </a:srgbClr>
              </a:solidFill>
              <a:latin typeface="Calibri"/>
            </a:endParaRPr>
          </a:p>
        </p:txBody>
      </p:sp>
      <p:sp>
        <p:nvSpPr>
          <p:cNvPr id="22" name="Text Box 12"/>
          <p:cNvSpPr txBox="1">
            <a:spLocks noChangeArrowheads="1"/>
          </p:cNvSpPr>
          <p:nvPr/>
        </p:nvSpPr>
        <p:spPr bwMode="auto">
          <a:xfrm>
            <a:off x="1592222" y="3756570"/>
            <a:ext cx="2591990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1050" dirty="0"/>
          </a:p>
        </p:txBody>
      </p:sp>
      <p:pic>
        <p:nvPicPr>
          <p:cNvPr id="23" name="Picture 2" descr="http://www.guidance-center.org/Adult%20&amp;%20Family%20Services/images/happy-man-in-sui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27433" y="1626314"/>
            <a:ext cx="1873285" cy="1313871"/>
          </a:xfrm>
          <a:prstGeom prst="rect">
            <a:avLst/>
          </a:prstGeom>
          <a:noFill/>
        </p:spPr>
      </p:pic>
      <p:sp>
        <p:nvSpPr>
          <p:cNvPr id="24" name="TextBox 23"/>
          <p:cNvSpPr txBox="1"/>
          <p:nvPr/>
        </p:nvSpPr>
        <p:spPr>
          <a:xfrm>
            <a:off x="1321615" y="1050381"/>
            <a:ext cx="507656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Steve, who was on a salary of $20,000 per year,</a:t>
            </a:r>
            <a:br>
              <a:rPr lang="en-GB" sz="1050" dirty="0"/>
            </a:br>
            <a:r>
              <a:rPr lang="en-GB" sz="1050" dirty="0"/>
              <a:t>was given a pay rise of 7%. What is Steve’s new salary?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4617" y="1535129"/>
            <a:ext cx="15582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itchFamily="66" charset="0"/>
              </a:rPr>
              <a:t>STEP 1: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4595" y="1876145"/>
            <a:ext cx="32800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Without a calculator work out what 7% of $20,000 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9552" y="2144750"/>
            <a:ext cx="142378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7% = 5% + 1% + 1%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6018" y="2460035"/>
            <a:ext cx="162736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7% = 1,000 + 200 + 200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2138" y="2892083"/>
            <a:ext cx="87075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7% = 1,400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27172" y="3270125"/>
            <a:ext cx="70724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itchFamily="66" charset="0"/>
              </a:rPr>
              <a:t>STEP 2: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110" y="3650842"/>
            <a:ext cx="217239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Add this to Steve’s original salary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4617" y="4031605"/>
            <a:ext cx="143340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$20,000 + $1,400 </a:t>
            </a:r>
            <a:r>
              <a:rPr lang="en-GB" sz="2100" dirty="0"/>
              <a:t>=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96226" y="4089313"/>
            <a:ext cx="67358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b="1" dirty="0">
                <a:solidFill>
                  <a:srgbClr val="FF0000"/>
                </a:solidFill>
              </a:rPr>
              <a:t>$21,400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72065" y="3308954"/>
            <a:ext cx="2384022" cy="1116747"/>
          </a:xfrm>
          <a:prstGeom prst="rect">
            <a:avLst/>
          </a:prstGeom>
          <a:solidFill>
            <a:srgbClr val="F8AB3F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b="1" dirty="0">
                <a:solidFill>
                  <a:schemeClr val="tx1"/>
                </a:solidFill>
              </a:rPr>
              <a:t>Depth: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Think about…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How would you calculate 7% using a calculator?</a:t>
            </a:r>
          </a:p>
        </p:txBody>
      </p:sp>
    </p:spTree>
    <p:extLst>
      <p:ext uri="{BB962C8B-B14F-4D97-AF65-F5344CB8AC3E}">
        <p14:creationId xmlns:p14="http://schemas.microsoft.com/office/powerpoint/2010/main" val="238974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4593390" cy="501466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Fluency and Understanding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5050" y="74611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LO: Percentage increases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1257300" y="1028701"/>
            <a:ext cx="6743700" cy="3394472"/>
          </a:xfrm>
          <a:prstGeom prst="rect">
            <a:avLst/>
          </a:prstGeom>
        </p:spPr>
        <p:txBody>
          <a:bodyPr/>
          <a:lstStyle>
            <a:lvl1pPr marL="316531" indent="-316531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954" b="1">
                <a:solidFill>
                  <a:srgbClr val="406609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5817" indent="-26377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585">
                <a:solidFill>
                  <a:schemeClr val="tx1"/>
                </a:solidFill>
                <a:latin typeface="+mj-lt"/>
                <a:ea typeface="ＭＳ Ｐゴシック" charset="0"/>
              </a:defRPr>
            </a:lvl2pPr>
            <a:lvl3pPr marL="1055103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15">
                <a:solidFill>
                  <a:schemeClr val="tx1"/>
                </a:solidFill>
                <a:latin typeface="+mj-lt"/>
                <a:ea typeface="ＭＳ Ｐゴシック" charset="0"/>
              </a:defRPr>
            </a:lvl3pPr>
            <a:lvl4pPr marL="1477145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46">
                <a:solidFill>
                  <a:schemeClr val="tx1"/>
                </a:solidFill>
                <a:latin typeface="+mj-lt"/>
                <a:ea typeface="ＭＳ Ｐゴシック" charset="0"/>
              </a:defRPr>
            </a:lvl4pPr>
            <a:lvl5pPr marL="1899186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+mj-lt"/>
                <a:ea typeface="ＭＳ Ｐゴシック" charset="0"/>
              </a:defRPr>
            </a:lvl5pPr>
            <a:lvl6pPr marL="2321227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+mj-lt"/>
              </a:defRPr>
            </a:lvl6pPr>
            <a:lvl7pPr marL="2743269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+mj-lt"/>
              </a:defRPr>
            </a:lvl7pPr>
            <a:lvl8pPr marL="3165310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+mj-lt"/>
              </a:defRPr>
            </a:lvl8pPr>
            <a:lvl9pPr marL="3587351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+mj-lt"/>
              </a:defRPr>
            </a:lvl9pPr>
          </a:lstStyle>
          <a:p>
            <a:pPr marL="0" indent="0">
              <a:buNone/>
            </a:pPr>
            <a:r>
              <a:rPr lang="en-GB" sz="1800" b="0" dirty="0">
                <a:solidFill>
                  <a:schemeClr val="tx1"/>
                </a:solidFill>
              </a:rPr>
              <a:t>A chair costs $20.00 excluding GST. How much will it cost including GST which is 10%?</a:t>
            </a:r>
          </a:p>
          <a:p>
            <a:pPr marL="0" indent="0">
              <a:buNone/>
            </a:pPr>
            <a:r>
              <a:rPr lang="en-GB" sz="1800" b="0" dirty="0">
                <a:solidFill>
                  <a:schemeClr val="tx1"/>
                </a:solidFill>
              </a:rPr>
              <a:t>100% = $20.00</a:t>
            </a:r>
          </a:p>
          <a:p>
            <a:pPr marL="0" indent="0">
              <a:buNone/>
            </a:pPr>
            <a:endParaRPr lang="en-GB" sz="1800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1800" b="0" dirty="0">
                <a:solidFill>
                  <a:schemeClr val="tx1"/>
                </a:solidFill>
              </a:rPr>
              <a:t>10% = $2</a:t>
            </a:r>
          </a:p>
          <a:p>
            <a:pPr marL="0" indent="0">
              <a:buNone/>
            </a:pPr>
            <a:endParaRPr lang="en-GB" sz="1800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1800" b="0" dirty="0">
                <a:solidFill>
                  <a:schemeClr val="tx1"/>
                </a:solidFill>
              </a:rPr>
              <a:t>100% + 10% = $20.00 + $2</a:t>
            </a:r>
          </a:p>
          <a:p>
            <a:pPr marL="0" indent="0">
              <a:buNone/>
            </a:pPr>
            <a:r>
              <a:rPr lang="en-GB" sz="1800" b="0" dirty="0">
                <a:solidFill>
                  <a:schemeClr val="tx1"/>
                </a:solidFill>
              </a:rPr>
              <a:t>	           = $22.</a:t>
            </a:r>
          </a:p>
        </p:txBody>
      </p:sp>
      <p:pic>
        <p:nvPicPr>
          <p:cNvPr id="15" name="Picture 3" descr="C:\Users\Jennie\AppData\Local\Microsoft\Windows\Temporary Internet Files\Content.IE5\JSNFEMI4\MC900383832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4951" y="1595004"/>
            <a:ext cx="2493818" cy="2380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561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4385546" cy="449226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Fluency and Understanding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5050" y="74611"/>
            <a:ext cx="2627216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increase a percentage of an amount?</a:t>
            </a:r>
            <a:endParaRPr lang="en-GB" sz="1013" dirty="0">
              <a:solidFill>
                <a:srgbClr val="FFC000">
                  <a:lumMod val="50000"/>
                </a:srgbClr>
              </a:solidFill>
              <a:latin typeface="Calibri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1494235" y="3274219"/>
            <a:ext cx="2591990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1050" dirty="0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1264595" y="946674"/>
            <a:ext cx="6372708" cy="857250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dirty="0"/>
              <a:t>A 140g chocolate bar is increased by 15% calculate its new weight</a:t>
            </a:r>
          </a:p>
        </p:txBody>
      </p:sp>
      <p:pic>
        <p:nvPicPr>
          <p:cNvPr id="16" name="Picture 2" descr="C:\Documents and Settings\jorme\Local Settings\Temporary Internet Files\Content.IE5\PFWPD3J6\MC900112660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4078" y="1834773"/>
            <a:ext cx="2592288" cy="1739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/>
        </p:nvSpPr>
        <p:spPr>
          <a:xfrm rot="19894475">
            <a:off x="4435750" y="2308052"/>
            <a:ext cx="3658694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4050" b="1" dirty="0">
                <a:ln w="31550" cmpd="sng">
                  <a:solidFill>
                    <a:schemeClr val="tx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15% extra free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31640" y="1984995"/>
            <a:ext cx="331212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000" dirty="0"/>
              <a:t>15% of 140g= 21g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42460" y="2997220"/>
            <a:ext cx="3300904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000" dirty="0"/>
              <a:t>140g + 21g= 161g</a:t>
            </a:r>
          </a:p>
        </p:txBody>
      </p:sp>
    </p:spTree>
    <p:extLst>
      <p:ext uri="{BB962C8B-B14F-4D97-AF65-F5344CB8AC3E}">
        <p14:creationId xmlns:p14="http://schemas.microsoft.com/office/powerpoint/2010/main" val="201927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Hinge Questions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5050" y="74611"/>
            <a:ext cx="2627216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increase a percentage of an amount?</a:t>
            </a:r>
            <a:endParaRPr lang="en-GB" sz="1013" dirty="0">
              <a:solidFill>
                <a:srgbClr val="FFC000">
                  <a:lumMod val="50000"/>
                </a:srgbClr>
              </a:solidFill>
              <a:latin typeface="Calibri"/>
            </a:endParaRPr>
          </a:p>
        </p:txBody>
      </p:sp>
      <p:grpSp>
        <p:nvGrpSpPr>
          <p:cNvPr id="21" name="Group 20"/>
          <p:cNvGrpSpPr>
            <a:grpSpLocks/>
          </p:cNvGrpSpPr>
          <p:nvPr/>
        </p:nvGrpSpPr>
        <p:grpSpPr bwMode="auto">
          <a:xfrm>
            <a:off x="1926582" y="1415216"/>
            <a:ext cx="1282304" cy="323850"/>
            <a:chOff x="278265" y="3501008"/>
            <a:chExt cx="1746364" cy="432048"/>
          </a:xfrm>
        </p:grpSpPr>
        <p:sp>
          <p:nvSpPr>
            <p:cNvPr id="22" name="Curved Right Arrow 21"/>
            <p:cNvSpPr/>
            <p:nvPr/>
          </p:nvSpPr>
          <p:spPr>
            <a:xfrm>
              <a:off x="278265" y="3501008"/>
              <a:ext cx="171880" cy="432048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  <p:sp>
          <p:nvSpPr>
            <p:cNvPr id="23" name="Curved Left Arrow 22"/>
            <p:cNvSpPr/>
            <p:nvPr/>
          </p:nvSpPr>
          <p:spPr>
            <a:xfrm>
              <a:off x="1852749" y="3501008"/>
              <a:ext cx="171880" cy="432048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</p:grp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3187455" y="1424742"/>
            <a:ext cx="3881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x2</a:t>
            </a:r>
          </a:p>
        </p:txBody>
      </p:sp>
      <p:sp>
        <p:nvSpPr>
          <p:cNvPr id="25" name="TextBox 7"/>
          <p:cNvSpPr txBox="1">
            <a:spLocks noChangeArrowheads="1"/>
          </p:cNvSpPr>
          <p:nvPr/>
        </p:nvSpPr>
        <p:spPr bwMode="auto">
          <a:xfrm>
            <a:off x="1284836" y="1024279"/>
            <a:ext cx="428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FF0000"/>
                </a:solidFill>
              </a:rPr>
              <a:t>(a)</a:t>
            </a:r>
          </a:p>
        </p:txBody>
      </p:sp>
      <p:sp>
        <p:nvSpPr>
          <p:cNvPr id="26" name="TextBox 6"/>
          <p:cNvSpPr txBox="1">
            <a:spLocks noChangeArrowheads="1"/>
          </p:cNvSpPr>
          <p:nvPr/>
        </p:nvSpPr>
        <p:spPr bwMode="auto">
          <a:xfrm>
            <a:off x="1555107" y="1043742"/>
            <a:ext cx="258008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/>
              <a:t>£60 is increased by 20%</a:t>
            </a:r>
          </a:p>
        </p:txBody>
      </p:sp>
      <p:sp>
        <p:nvSpPr>
          <p:cNvPr id="27" name="TextBox 7"/>
          <p:cNvSpPr txBox="1">
            <a:spLocks noChangeArrowheads="1"/>
          </p:cNvSpPr>
          <p:nvPr/>
        </p:nvSpPr>
        <p:spPr bwMode="auto">
          <a:xfrm>
            <a:off x="4769795" y="1010404"/>
            <a:ext cx="428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FF0000"/>
                </a:solidFill>
              </a:rPr>
              <a:t>(b)</a:t>
            </a:r>
          </a:p>
        </p:txBody>
      </p:sp>
      <p:sp>
        <p:nvSpPr>
          <p:cNvPr id="32" name="TextBox 182"/>
          <p:cNvSpPr txBox="1">
            <a:spLocks noChangeArrowheads="1"/>
          </p:cNvSpPr>
          <p:nvPr/>
        </p:nvSpPr>
        <p:spPr bwMode="auto">
          <a:xfrm>
            <a:off x="5107444" y="1031505"/>
            <a:ext cx="258008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/>
              <a:t>120kg is increased by 17.5%</a:t>
            </a:r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1652739" y="1437839"/>
            <a:ext cx="35480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x2</a:t>
            </a: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2052788" y="1306870"/>
            <a:ext cx="13906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10% = £6</a:t>
            </a: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2051598" y="1527135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20% =</a:t>
            </a:r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2612382" y="1523564"/>
            <a:ext cx="50687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£12</a:t>
            </a: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1639642" y="1792645"/>
            <a:ext cx="18347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200" b="1">
                <a:solidFill>
                  <a:srgbClr val="00B050"/>
                </a:solidFill>
              </a:rPr>
              <a:t>We now need to increase £60 by £12</a:t>
            </a: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1788470" y="2224842"/>
            <a:ext cx="13906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£60 + £12 =</a:t>
            </a:r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2843363" y="2190314"/>
            <a:ext cx="59174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>
                <a:solidFill>
                  <a:srgbClr val="FF0000"/>
                </a:solidFill>
              </a:rPr>
              <a:t>£72</a:t>
            </a:r>
          </a:p>
        </p:txBody>
      </p:sp>
      <p:sp>
        <p:nvSpPr>
          <p:cNvPr id="65" name="TextBox 64"/>
          <p:cNvSpPr txBox="1">
            <a:spLocks noChangeArrowheads="1"/>
          </p:cNvSpPr>
          <p:nvPr/>
        </p:nvSpPr>
        <p:spPr bwMode="auto">
          <a:xfrm>
            <a:off x="5567026" y="1355355"/>
            <a:ext cx="35361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÷2</a:t>
            </a:r>
          </a:p>
        </p:txBody>
      </p:sp>
      <p:sp>
        <p:nvSpPr>
          <p:cNvPr id="66" name="TextBox 65"/>
          <p:cNvSpPr txBox="1">
            <a:spLocks noChangeArrowheads="1"/>
          </p:cNvSpPr>
          <p:nvPr/>
        </p:nvSpPr>
        <p:spPr bwMode="auto">
          <a:xfrm>
            <a:off x="5952788" y="1237483"/>
            <a:ext cx="135374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10% = 12kg</a:t>
            </a:r>
          </a:p>
        </p:txBody>
      </p:sp>
      <p:sp>
        <p:nvSpPr>
          <p:cNvPr id="67" name="TextBox 66"/>
          <p:cNvSpPr txBox="1">
            <a:spLocks noChangeArrowheads="1"/>
          </p:cNvSpPr>
          <p:nvPr/>
        </p:nvSpPr>
        <p:spPr bwMode="auto">
          <a:xfrm>
            <a:off x="5951597" y="1456558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  5% =</a:t>
            </a:r>
          </a:p>
        </p:txBody>
      </p:sp>
      <p:grpSp>
        <p:nvGrpSpPr>
          <p:cNvPr id="68" name="Group 67"/>
          <p:cNvGrpSpPr>
            <a:grpSpLocks/>
          </p:cNvGrpSpPr>
          <p:nvPr/>
        </p:nvGrpSpPr>
        <p:grpSpPr bwMode="auto">
          <a:xfrm>
            <a:off x="5826582" y="1345829"/>
            <a:ext cx="1440656" cy="323850"/>
            <a:chOff x="278265" y="3501008"/>
            <a:chExt cx="1746364" cy="432048"/>
          </a:xfrm>
        </p:grpSpPr>
        <p:sp>
          <p:nvSpPr>
            <p:cNvPr id="69" name="Curved Right Arrow 68"/>
            <p:cNvSpPr/>
            <p:nvPr/>
          </p:nvSpPr>
          <p:spPr>
            <a:xfrm>
              <a:off x="278265" y="3501008"/>
              <a:ext cx="171749" cy="432048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  <p:sp>
          <p:nvSpPr>
            <p:cNvPr id="70" name="Curved Left Arrow 69"/>
            <p:cNvSpPr/>
            <p:nvPr/>
          </p:nvSpPr>
          <p:spPr>
            <a:xfrm>
              <a:off x="1852879" y="3501008"/>
              <a:ext cx="171750" cy="432048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</p:grpSp>
      <p:sp>
        <p:nvSpPr>
          <p:cNvPr id="71" name="TextBox 70"/>
          <p:cNvSpPr txBox="1">
            <a:spLocks noChangeArrowheads="1"/>
          </p:cNvSpPr>
          <p:nvPr/>
        </p:nvSpPr>
        <p:spPr bwMode="auto">
          <a:xfrm>
            <a:off x="7393444" y="1351783"/>
            <a:ext cx="3881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÷2</a:t>
            </a:r>
          </a:p>
        </p:txBody>
      </p:sp>
      <p:sp>
        <p:nvSpPr>
          <p:cNvPr id="72" name="Rectangle 71"/>
          <p:cNvSpPr>
            <a:spLocks noChangeArrowheads="1"/>
          </p:cNvSpPr>
          <p:nvPr/>
        </p:nvSpPr>
        <p:spPr bwMode="auto">
          <a:xfrm>
            <a:off x="6540956" y="1460130"/>
            <a:ext cx="51648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6kg</a:t>
            </a:r>
          </a:p>
        </p:txBody>
      </p:sp>
      <p:grpSp>
        <p:nvGrpSpPr>
          <p:cNvPr id="73" name="Group 72"/>
          <p:cNvGrpSpPr>
            <a:grpSpLocks/>
          </p:cNvGrpSpPr>
          <p:nvPr/>
        </p:nvGrpSpPr>
        <p:grpSpPr bwMode="auto">
          <a:xfrm>
            <a:off x="5553928" y="1561333"/>
            <a:ext cx="2112169" cy="340363"/>
            <a:chOff x="6824391" y="5949280"/>
            <a:chExt cx="2560517" cy="454078"/>
          </a:xfrm>
        </p:grpSpPr>
        <p:grpSp>
          <p:nvGrpSpPr>
            <p:cNvPr id="74" name="Group 290"/>
            <p:cNvGrpSpPr>
              <a:grpSpLocks/>
            </p:cNvGrpSpPr>
            <p:nvPr/>
          </p:nvGrpSpPr>
          <p:grpSpPr bwMode="auto">
            <a:xfrm>
              <a:off x="7164288" y="5949280"/>
              <a:ext cx="1746364" cy="432048"/>
              <a:chOff x="278265" y="3501008"/>
              <a:chExt cx="1746364" cy="432048"/>
            </a:xfrm>
          </p:grpSpPr>
          <p:sp>
            <p:nvSpPr>
              <p:cNvPr id="77" name="Curved Right Arrow 76"/>
              <p:cNvSpPr/>
              <p:nvPr/>
            </p:nvSpPr>
            <p:spPr>
              <a:xfrm>
                <a:off x="277558" y="3501008"/>
                <a:ext cx="171759" cy="432048"/>
              </a:xfrm>
              <a:prstGeom prst="curved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Curved Left Arrow 77"/>
              <p:cNvSpPr/>
              <p:nvPr/>
            </p:nvSpPr>
            <p:spPr>
              <a:xfrm>
                <a:off x="1852261" y="3501008"/>
                <a:ext cx="171760" cy="432048"/>
              </a:xfrm>
              <a:prstGeom prst="curvedLef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0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5" name="TextBox 293"/>
            <p:cNvSpPr txBox="1">
              <a:spLocks noChangeArrowheads="1"/>
            </p:cNvSpPr>
            <p:nvPr/>
          </p:nvSpPr>
          <p:spPr bwMode="auto">
            <a:xfrm>
              <a:off x="6824391" y="6012328"/>
              <a:ext cx="472455" cy="369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sz="1200" b="1"/>
                <a:t>÷2</a:t>
              </a:r>
            </a:p>
          </p:txBody>
        </p:sp>
        <p:sp>
          <p:nvSpPr>
            <p:cNvPr id="76" name="TextBox 294"/>
            <p:cNvSpPr txBox="1">
              <a:spLocks noChangeArrowheads="1"/>
            </p:cNvSpPr>
            <p:nvPr/>
          </p:nvSpPr>
          <p:spPr bwMode="auto">
            <a:xfrm>
              <a:off x="8867741" y="6033814"/>
              <a:ext cx="517167" cy="369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sz="1200" b="1"/>
                <a:t>÷2</a:t>
              </a:r>
            </a:p>
          </p:txBody>
        </p:sp>
      </p:grpSp>
      <p:sp>
        <p:nvSpPr>
          <p:cNvPr id="79" name="TextBox 78"/>
          <p:cNvSpPr txBox="1">
            <a:spLocks noChangeArrowheads="1"/>
          </p:cNvSpPr>
          <p:nvPr/>
        </p:nvSpPr>
        <p:spPr bwMode="auto">
          <a:xfrm>
            <a:off x="5955169" y="1669680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2.5% =</a:t>
            </a:r>
          </a:p>
        </p:txBody>
      </p:sp>
      <p:sp>
        <p:nvSpPr>
          <p:cNvPr id="80" name="Rectangle 79"/>
          <p:cNvSpPr>
            <a:spLocks noChangeArrowheads="1"/>
          </p:cNvSpPr>
          <p:nvPr/>
        </p:nvSpPr>
        <p:spPr bwMode="auto">
          <a:xfrm>
            <a:off x="6544528" y="1673252"/>
            <a:ext cx="56938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 3kg</a:t>
            </a:r>
          </a:p>
        </p:txBody>
      </p:sp>
      <p:sp>
        <p:nvSpPr>
          <p:cNvPr id="81" name="TextBox 80"/>
          <p:cNvSpPr txBox="1">
            <a:spLocks noChangeArrowheads="1"/>
          </p:cNvSpPr>
          <p:nvPr/>
        </p:nvSpPr>
        <p:spPr bwMode="auto">
          <a:xfrm>
            <a:off x="5812294" y="1906614"/>
            <a:ext cx="1319213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17.5% =</a:t>
            </a:r>
          </a:p>
        </p:txBody>
      </p:sp>
      <p:sp>
        <p:nvSpPr>
          <p:cNvPr id="82" name="Rectangle 81"/>
          <p:cNvSpPr>
            <a:spLocks noChangeArrowheads="1"/>
          </p:cNvSpPr>
          <p:nvPr/>
        </p:nvSpPr>
        <p:spPr bwMode="auto">
          <a:xfrm>
            <a:off x="6520715" y="1908996"/>
            <a:ext cx="67678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 21kg</a:t>
            </a:r>
          </a:p>
        </p:txBody>
      </p:sp>
      <p:sp>
        <p:nvSpPr>
          <p:cNvPr id="83" name="TextBox 82"/>
          <p:cNvSpPr txBox="1">
            <a:spLocks noChangeArrowheads="1"/>
          </p:cNvSpPr>
          <p:nvPr/>
        </p:nvSpPr>
        <p:spPr bwMode="auto">
          <a:xfrm>
            <a:off x="5611078" y="2154264"/>
            <a:ext cx="19764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200" b="1">
                <a:solidFill>
                  <a:srgbClr val="00B050"/>
                </a:solidFill>
              </a:rPr>
              <a:t>We now need to increase 120kg by 21kg</a:t>
            </a:r>
          </a:p>
        </p:txBody>
      </p:sp>
      <p:sp>
        <p:nvSpPr>
          <p:cNvPr id="84" name="TextBox 83"/>
          <p:cNvSpPr txBox="1">
            <a:spLocks noChangeArrowheads="1"/>
          </p:cNvSpPr>
          <p:nvPr/>
        </p:nvSpPr>
        <p:spPr bwMode="auto">
          <a:xfrm>
            <a:off x="5536069" y="2492402"/>
            <a:ext cx="159305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120kg + 21kg =</a:t>
            </a:r>
          </a:p>
        </p:txBody>
      </p:sp>
      <p:sp>
        <p:nvSpPr>
          <p:cNvPr id="85" name="TextBox 84"/>
          <p:cNvSpPr txBox="1">
            <a:spLocks noChangeArrowheads="1"/>
          </p:cNvSpPr>
          <p:nvPr/>
        </p:nvSpPr>
        <p:spPr bwMode="auto">
          <a:xfrm>
            <a:off x="6945769" y="2479304"/>
            <a:ext cx="9667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>
                <a:solidFill>
                  <a:srgbClr val="FF0000"/>
                </a:solidFill>
              </a:rPr>
              <a:t>141kg</a:t>
            </a:r>
          </a:p>
        </p:txBody>
      </p:sp>
    </p:spTree>
    <p:extLst>
      <p:ext uri="{BB962C8B-B14F-4D97-AF65-F5344CB8AC3E}">
        <p14:creationId xmlns:p14="http://schemas.microsoft.com/office/powerpoint/2010/main" val="4013542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65" grpId="0"/>
      <p:bldP spid="66" grpId="0"/>
      <p:bldP spid="67" grpId="0"/>
      <p:bldP spid="71" grpId="0"/>
      <p:bldP spid="72" grpId="0"/>
      <p:bldP spid="79" grpId="0"/>
      <p:bldP spid="80" grpId="0"/>
      <p:bldP spid="81" grpId="0"/>
      <p:bldP spid="82" grpId="0"/>
      <p:bldP spid="83" grpId="0"/>
      <p:bldP spid="84" grpId="0"/>
      <p:bldP spid="8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2" y="497448"/>
            <a:ext cx="4276561" cy="543990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Fluency and Understanding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5050" y="74611"/>
            <a:ext cx="2627216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increase a percentage of an amount?</a:t>
            </a:r>
            <a:endParaRPr lang="en-GB" sz="1013" dirty="0">
              <a:solidFill>
                <a:srgbClr val="FFC000">
                  <a:lumMod val="50000"/>
                </a:srgbClr>
              </a:solidFill>
              <a:latin typeface="Calibri"/>
            </a:endParaRPr>
          </a:p>
        </p:txBody>
      </p:sp>
      <p:sp>
        <p:nvSpPr>
          <p:cNvPr id="21" name="TextBox 7"/>
          <p:cNvSpPr txBox="1">
            <a:spLocks noChangeArrowheads="1"/>
          </p:cNvSpPr>
          <p:nvPr/>
        </p:nvSpPr>
        <p:spPr bwMode="auto">
          <a:xfrm>
            <a:off x="1379455" y="1194117"/>
            <a:ext cx="428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FF0000"/>
                </a:solidFill>
              </a:rPr>
              <a:t>(a)</a:t>
            </a:r>
          </a:p>
        </p:txBody>
      </p:sp>
      <p:sp>
        <p:nvSpPr>
          <p:cNvPr id="22" name="TextBox 1"/>
          <p:cNvSpPr txBox="1">
            <a:spLocks noChangeArrowheads="1"/>
          </p:cNvSpPr>
          <p:nvPr/>
        </p:nvSpPr>
        <p:spPr bwMode="auto">
          <a:xfrm>
            <a:off x="1284800" y="916701"/>
            <a:ext cx="369570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dirty="0"/>
              <a:t>Work out the final amount when:</a:t>
            </a:r>
          </a:p>
        </p:txBody>
      </p:sp>
      <p:sp>
        <p:nvSpPr>
          <p:cNvPr id="23" name="TextBox 62"/>
          <p:cNvSpPr txBox="1">
            <a:spLocks noChangeArrowheads="1"/>
          </p:cNvSpPr>
          <p:nvPr/>
        </p:nvSpPr>
        <p:spPr bwMode="auto">
          <a:xfrm>
            <a:off x="1634249" y="1225073"/>
            <a:ext cx="2322910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050" dirty="0"/>
              <a:t>$40 is increased by 10%</a:t>
            </a:r>
          </a:p>
        </p:txBody>
      </p:sp>
      <p:sp>
        <p:nvSpPr>
          <p:cNvPr id="26" name="TextBox 7"/>
          <p:cNvSpPr txBox="1">
            <a:spLocks noChangeArrowheads="1"/>
          </p:cNvSpPr>
          <p:nvPr/>
        </p:nvSpPr>
        <p:spPr bwMode="auto">
          <a:xfrm>
            <a:off x="4325062" y="1215984"/>
            <a:ext cx="428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FF0000"/>
                </a:solidFill>
              </a:rPr>
              <a:t>(b)</a:t>
            </a:r>
          </a:p>
        </p:txBody>
      </p:sp>
      <p:sp>
        <p:nvSpPr>
          <p:cNvPr id="27" name="TextBox 71"/>
          <p:cNvSpPr txBox="1">
            <a:spLocks noChangeArrowheads="1"/>
          </p:cNvSpPr>
          <p:nvPr/>
        </p:nvSpPr>
        <p:spPr bwMode="auto">
          <a:xfrm>
            <a:off x="4579856" y="1245749"/>
            <a:ext cx="2322909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050"/>
              <a:t>£120 is increased by 20%</a:t>
            </a:r>
          </a:p>
        </p:txBody>
      </p:sp>
      <p:sp>
        <p:nvSpPr>
          <p:cNvPr id="34" name="TextBox 7"/>
          <p:cNvSpPr txBox="1">
            <a:spLocks noChangeArrowheads="1"/>
          </p:cNvSpPr>
          <p:nvPr/>
        </p:nvSpPr>
        <p:spPr bwMode="auto">
          <a:xfrm>
            <a:off x="1379455" y="2472877"/>
            <a:ext cx="42862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FF0000"/>
                </a:solidFill>
              </a:rPr>
              <a:t>(c)</a:t>
            </a:r>
          </a:p>
        </p:txBody>
      </p:sp>
      <p:sp>
        <p:nvSpPr>
          <p:cNvPr id="35" name="TextBox 79"/>
          <p:cNvSpPr txBox="1">
            <a:spLocks noChangeArrowheads="1"/>
          </p:cNvSpPr>
          <p:nvPr/>
        </p:nvSpPr>
        <p:spPr bwMode="auto">
          <a:xfrm>
            <a:off x="1634249" y="2503833"/>
            <a:ext cx="2322909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050" dirty="0"/>
              <a:t>$240 is increased by 35%</a:t>
            </a:r>
          </a:p>
        </p:txBody>
      </p:sp>
      <p:sp>
        <p:nvSpPr>
          <p:cNvPr id="38" name="TextBox 7"/>
          <p:cNvSpPr txBox="1">
            <a:spLocks noChangeArrowheads="1"/>
          </p:cNvSpPr>
          <p:nvPr/>
        </p:nvSpPr>
        <p:spPr bwMode="auto">
          <a:xfrm>
            <a:off x="4235683" y="2469622"/>
            <a:ext cx="4143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FF0000"/>
                </a:solidFill>
              </a:rPr>
              <a:t>(d)</a:t>
            </a:r>
          </a:p>
        </p:txBody>
      </p:sp>
      <p:sp>
        <p:nvSpPr>
          <p:cNvPr id="39" name="TextBox 83"/>
          <p:cNvSpPr txBox="1">
            <a:spLocks noChangeArrowheads="1"/>
          </p:cNvSpPr>
          <p:nvPr/>
        </p:nvSpPr>
        <p:spPr bwMode="auto">
          <a:xfrm>
            <a:off x="4494041" y="2510676"/>
            <a:ext cx="2425303" cy="288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75"/>
              <a:t>£6.80 is increased by 17.5%</a:t>
            </a:r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2020011" y="1407239"/>
            <a:ext cx="9477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10% = $4</a:t>
            </a: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1790221" y="1648935"/>
            <a:ext cx="13906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$40 + $4 =</a:t>
            </a:r>
          </a:p>
        </p:txBody>
      </p:sp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2754628" y="1614407"/>
            <a:ext cx="59174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 dirty="0">
                <a:solidFill>
                  <a:srgbClr val="FF0000"/>
                </a:solidFill>
              </a:rPr>
              <a:t>$44</a:t>
            </a:r>
          </a:p>
        </p:txBody>
      </p:sp>
      <p:grpSp>
        <p:nvGrpSpPr>
          <p:cNvPr id="46" name="Group 45"/>
          <p:cNvGrpSpPr>
            <a:grpSpLocks/>
          </p:cNvGrpSpPr>
          <p:nvPr/>
        </p:nvGrpSpPr>
        <p:grpSpPr bwMode="auto">
          <a:xfrm>
            <a:off x="4981096" y="1550549"/>
            <a:ext cx="1281113" cy="323850"/>
            <a:chOff x="278265" y="3501008"/>
            <a:chExt cx="1746364" cy="432048"/>
          </a:xfrm>
        </p:grpSpPr>
        <p:sp>
          <p:nvSpPr>
            <p:cNvPr id="47" name="Curved Right Arrow 46"/>
            <p:cNvSpPr/>
            <p:nvPr/>
          </p:nvSpPr>
          <p:spPr>
            <a:xfrm>
              <a:off x="278265" y="3501008"/>
              <a:ext cx="172040" cy="432048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  <p:sp>
          <p:nvSpPr>
            <p:cNvPr id="48" name="Curved Left Arrow 47"/>
            <p:cNvSpPr/>
            <p:nvPr/>
          </p:nvSpPr>
          <p:spPr>
            <a:xfrm>
              <a:off x="1852589" y="3501008"/>
              <a:ext cx="172040" cy="432048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</p:grp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6241968" y="1560075"/>
            <a:ext cx="3881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x2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4706062" y="1573171"/>
            <a:ext cx="35480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x2</a:t>
            </a:r>
          </a:p>
        </p:txBody>
      </p: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5107302" y="1442202"/>
            <a:ext cx="13906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10% = $12</a:t>
            </a:r>
          </a:p>
        </p:txBody>
      </p: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5106112" y="1662468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20% =</a:t>
            </a:r>
          </a:p>
        </p:txBody>
      </p:sp>
      <p:sp>
        <p:nvSpPr>
          <p:cNvPr id="53" name="Rectangle 52"/>
          <p:cNvSpPr>
            <a:spLocks noChangeArrowheads="1"/>
          </p:cNvSpPr>
          <p:nvPr/>
        </p:nvSpPr>
        <p:spPr bwMode="auto">
          <a:xfrm>
            <a:off x="5696662" y="1657706"/>
            <a:ext cx="50687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$24</a:t>
            </a:r>
          </a:p>
        </p:txBody>
      </p: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4719158" y="1929168"/>
            <a:ext cx="13906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$120 + $24 =</a:t>
            </a:r>
          </a:p>
        </p:txBody>
      </p:sp>
      <p:sp>
        <p:nvSpPr>
          <p:cNvPr id="55" name="TextBox 54"/>
          <p:cNvSpPr txBox="1">
            <a:spLocks noChangeArrowheads="1"/>
          </p:cNvSpPr>
          <p:nvPr/>
        </p:nvSpPr>
        <p:spPr bwMode="auto">
          <a:xfrm>
            <a:off x="5896687" y="1883924"/>
            <a:ext cx="739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 dirty="0">
                <a:solidFill>
                  <a:srgbClr val="FF0000"/>
                </a:solidFill>
              </a:rPr>
              <a:t>$144</a:t>
            </a:r>
          </a:p>
        </p:txBody>
      </p:sp>
      <p:sp>
        <p:nvSpPr>
          <p:cNvPr id="85" name="TextBox 84"/>
          <p:cNvSpPr txBox="1">
            <a:spLocks noChangeArrowheads="1"/>
          </p:cNvSpPr>
          <p:nvPr/>
        </p:nvSpPr>
        <p:spPr bwMode="auto">
          <a:xfrm>
            <a:off x="1683065" y="2859831"/>
            <a:ext cx="353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x3</a:t>
            </a:r>
          </a:p>
        </p:txBody>
      </p:sp>
      <p:sp>
        <p:nvSpPr>
          <p:cNvPr id="86" name="TextBox 85"/>
          <p:cNvSpPr txBox="1">
            <a:spLocks noChangeArrowheads="1"/>
          </p:cNvSpPr>
          <p:nvPr/>
        </p:nvSpPr>
        <p:spPr bwMode="auto">
          <a:xfrm>
            <a:off x="2073590" y="2731243"/>
            <a:ext cx="132635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10% = $24</a:t>
            </a:r>
          </a:p>
        </p:txBody>
      </p:sp>
      <p:sp>
        <p:nvSpPr>
          <p:cNvPr id="87" name="TextBox 86"/>
          <p:cNvSpPr txBox="1">
            <a:spLocks noChangeArrowheads="1"/>
          </p:cNvSpPr>
          <p:nvPr/>
        </p:nvSpPr>
        <p:spPr bwMode="auto">
          <a:xfrm>
            <a:off x="2072399" y="2950318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30% =</a:t>
            </a:r>
          </a:p>
        </p:txBody>
      </p:sp>
      <p:grpSp>
        <p:nvGrpSpPr>
          <p:cNvPr id="88" name="Group 87"/>
          <p:cNvGrpSpPr>
            <a:grpSpLocks/>
          </p:cNvGrpSpPr>
          <p:nvPr/>
        </p:nvGrpSpPr>
        <p:grpSpPr bwMode="auto">
          <a:xfrm>
            <a:off x="1953337" y="2839589"/>
            <a:ext cx="1309688" cy="323850"/>
            <a:chOff x="278265" y="3501008"/>
            <a:chExt cx="1746364" cy="432048"/>
          </a:xfrm>
        </p:grpSpPr>
        <p:sp>
          <p:nvSpPr>
            <p:cNvPr id="89" name="Curved Right Arrow 88"/>
            <p:cNvSpPr/>
            <p:nvPr/>
          </p:nvSpPr>
          <p:spPr>
            <a:xfrm>
              <a:off x="278265" y="3501008"/>
              <a:ext cx="171461" cy="432048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  <p:sp>
          <p:nvSpPr>
            <p:cNvPr id="90" name="Curved Left Arrow 89"/>
            <p:cNvSpPr/>
            <p:nvPr/>
          </p:nvSpPr>
          <p:spPr>
            <a:xfrm>
              <a:off x="1853168" y="3501008"/>
              <a:ext cx="171461" cy="432048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</p:grpSp>
      <p:sp>
        <p:nvSpPr>
          <p:cNvPr id="91" name="TextBox 90"/>
          <p:cNvSpPr txBox="1">
            <a:spLocks noChangeArrowheads="1"/>
          </p:cNvSpPr>
          <p:nvPr/>
        </p:nvSpPr>
        <p:spPr bwMode="auto">
          <a:xfrm>
            <a:off x="3218971" y="2853877"/>
            <a:ext cx="3881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x3</a:t>
            </a:r>
          </a:p>
        </p:txBody>
      </p:sp>
      <p:sp>
        <p:nvSpPr>
          <p:cNvPr id="92" name="Rectangle 91"/>
          <p:cNvSpPr>
            <a:spLocks noChangeArrowheads="1"/>
          </p:cNvSpPr>
          <p:nvPr/>
        </p:nvSpPr>
        <p:spPr bwMode="auto">
          <a:xfrm>
            <a:off x="2633183" y="2966987"/>
            <a:ext cx="50687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$72</a:t>
            </a:r>
          </a:p>
        </p:txBody>
      </p:sp>
      <p:sp>
        <p:nvSpPr>
          <p:cNvPr id="93" name="TextBox 92"/>
          <p:cNvSpPr txBox="1">
            <a:spLocks noChangeArrowheads="1"/>
          </p:cNvSpPr>
          <p:nvPr/>
        </p:nvSpPr>
        <p:spPr bwMode="auto">
          <a:xfrm>
            <a:off x="2081924" y="3150343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  5% =</a:t>
            </a:r>
          </a:p>
        </p:txBody>
      </p:sp>
      <p:sp>
        <p:nvSpPr>
          <p:cNvPr id="94" name="Rectangle 93"/>
          <p:cNvSpPr>
            <a:spLocks noChangeArrowheads="1"/>
          </p:cNvSpPr>
          <p:nvPr/>
        </p:nvSpPr>
        <p:spPr bwMode="auto">
          <a:xfrm>
            <a:off x="2662949" y="3150343"/>
            <a:ext cx="50687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$12</a:t>
            </a:r>
          </a:p>
        </p:txBody>
      </p:sp>
      <p:sp>
        <p:nvSpPr>
          <p:cNvPr id="95" name="TextBox 94"/>
          <p:cNvSpPr txBox="1">
            <a:spLocks noChangeArrowheads="1"/>
          </p:cNvSpPr>
          <p:nvPr/>
        </p:nvSpPr>
        <p:spPr bwMode="auto">
          <a:xfrm>
            <a:off x="1979531" y="3352749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  35% =</a:t>
            </a:r>
          </a:p>
        </p:txBody>
      </p:sp>
      <p:sp>
        <p:nvSpPr>
          <p:cNvPr id="96" name="Rectangle 95"/>
          <p:cNvSpPr>
            <a:spLocks noChangeArrowheads="1"/>
          </p:cNvSpPr>
          <p:nvPr/>
        </p:nvSpPr>
        <p:spPr bwMode="auto">
          <a:xfrm>
            <a:off x="2656996" y="3342033"/>
            <a:ext cx="84415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$84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auto">
          <a:xfrm>
            <a:off x="1769981" y="3662312"/>
            <a:ext cx="193476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$240 + $84 =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auto">
          <a:xfrm>
            <a:off x="2948609" y="3632128"/>
            <a:ext cx="8036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 dirty="0">
                <a:solidFill>
                  <a:srgbClr val="FF0000"/>
                </a:solidFill>
              </a:rPr>
              <a:t>$324</a:t>
            </a:r>
          </a:p>
        </p:txBody>
      </p:sp>
      <p:sp>
        <p:nvSpPr>
          <p:cNvPr id="113" name="TextBox 112"/>
          <p:cNvSpPr txBox="1">
            <a:spLocks noChangeArrowheads="1"/>
          </p:cNvSpPr>
          <p:nvPr/>
        </p:nvSpPr>
        <p:spPr bwMode="auto">
          <a:xfrm>
            <a:off x="4517854" y="2832145"/>
            <a:ext cx="35361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÷2</a:t>
            </a:r>
          </a:p>
        </p:txBody>
      </p:sp>
      <p:sp>
        <p:nvSpPr>
          <p:cNvPr id="114" name="TextBox 113"/>
          <p:cNvSpPr txBox="1">
            <a:spLocks noChangeArrowheads="1"/>
          </p:cNvSpPr>
          <p:nvPr/>
        </p:nvSpPr>
        <p:spPr bwMode="auto">
          <a:xfrm>
            <a:off x="4872660" y="2714274"/>
            <a:ext cx="135374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10% = $0.68</a:t>
            </a:r>
          </a:p>
        </p:txBody>
      </p:sp>
      <p:sp>
        <p:nvSpPr>
          <p:cNvPr id="115" name="TextBox 114"/>
          <p:cNvSpPr txBox="1">
            <a:spLocks noChangeArrowheads="1"/>
          </p:cNvSpPr>
          <p:nvPr/>
        </p:nvSpPr>
        <p:spPr bwMode="auto">
          <a:xfrm>
            <a:off x="4871468" y="2933349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  5% =</a:t>
            </a:r>
          </a:p>
        </p:txBody>
      </p:sp>
      <p:grpSp>
        <p:nvGrpSpPr>
          <p:cNvPr id="116" name="Group 115"/>
          <p:cNvGrpSpPr>
            <a:grpSpLocks/>
          </p:cNvGrpSpPr>
          <p:nvPr/>
        </p:nvGrpSpPr>
        <p:grpSpPr bwMode="auto">
          <a:xfrm>
            <a:off x="4773837" y="2822620"/>
            <a:ext cx="1599010" cy="323850"/>
            <a:chOff x="278265" y="3501008"/>
            <a:chExt cx="1746364" cy="432048"/>
          </a:xfrm>
        </p:grpSpPr>
        <p:sp>
          <p:nvSpPr>
            <p:cNvPr id="117" name="Curved Right Arrow 116"/>
            <p:cNvSpPr/>
            <p:nvPr/>
          </p:nvSpPr>
          <p:spPr>
            <a:xfrm>
              <a:off x="278265" y="3501008"/>
              <a:ext cx="171646" cy="432048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  <p:sp>
          <p:nvSpPr>
            <p:cNvPr id="118" name="Curved Left Arrow 117"/>
            <p:cNvSpPr/>
            <p:nvPr/>
          </p:nvSpPr>
          <p:spPr>
            <a:xfrm>
              <a:off x="1852983" y="3501008"/>
              <a:ext cx="171646" cy="432048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</p:grpSp>
      <p:sp>
        <p:nvSpPr>
          <p:cNvPr id="119" name="TextBox 118"/>
          <p:cNvSpPr txBox="1">
            <a:spLocks noChangeArrowheads="1"/>
          </p:cNvSpPr>
          <p:nvPr/>
        </p:nvSpPr>
        <p:spPr bwMode="auto">
          <a:xfrm>
            <a:off x="6319269" y="2823811"/>
            <a:ext cx="3881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÷2</a:t>
            </a:r>
          </a:p>
        </p:txBody>
      </p:sp>
      <p:sp>
        <p:nvSpPr>
          <p:cNvPr id="120" name="Rectangle 119"/>
          <p:cNvSpPr>
            <a:spLocks noChangeArrowheads="1"/>
          </p:cNvSpPr>
          <p:nvPr/>
        </p:nvSpPr>
        <p:spPr bwMode="auto">
          <a:xfrm>
            <a:off x="5460828" y="2936920"/>
            <a:ext cx="66717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$0.34</a:t>
            </a:r>
          </a:p>
        </p:txBody>
      </p:sp>
      <p:grpSp>
        <p:nvGrpSpPr>
          <p:cNvPr id="121" name="Group 120"/>
          <p:cNvGrpSpPr>
            <a:grpSpLocks/>
          </p:cNvGrpSpPr>
          <p:nvPr/>
        </p:nvGrpSpPr>
        <p:grpSpPr bwMode="auto">
          <a:xfrm>
            <a:off x="4411887" y="3113131"/>
            <a:ext cx="2511029" cy="285344"/>
            <a:chOff x="6888159" y="5949280"/>
            <a:chExt cx="2490927" cy="462251"/>
          </a:xfrm>
        </p:grpSpPr>
        <p:grpSp>
          <p:nvGrpSpPr>
            <p:cNvPr id="122" name="Group 290"/>
            <p:cNvGrpSpPr>
              <a:grpSpLocks/>
            </p:cNvGrpSpPr>
            <p:nvPr/>
          </p:nvGrpSpPr>
          <p:grpSpPr bwMode="auto">
            <a:xfrm>
              <a:off x="7164288" y="5949280"/>
              <a:ext cx="1746364" cy="432048"/>
              <a:chOff x="278265" y="3501008"/>
              <a:chExt cx="1746364" cy="432048"/>
            </a:xfrm>
          </p:grpSpPr>
          <p:sp>
            <p:nvSpPr>
              <p:cNvPr id="125" name="Curved Right Arrow 124"/>
              <p:cNvSpPr/>
              <p:nvPr/>
            </p:nvSpPr>
            <p:spPr>
              <a:xfrm>
                <a:off x="278512" y="3501008"/>
                <a:ext cx="171259" cy="432048"/>
              </a:xfrm>
              <a:prstGeom prst="curved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Curved Left Arrow 125"/>
              <p:cNvSpPr/>
              <p:nvPr/>
            </p:nvSpPr>
            <p:spPr>
              <a:xfrm>
                <a:off x="1852910" y="3501008"/>
                <a:ext cx="171258" cy="432048"/>
              </a:xfrm>
              <a:prstGeom prst="curvedLef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0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3" name="TextBox 293"/>
            <p:cNvSpPr txBox="1">
              <a:spLocks noChangeArrowheads="1"/>
            </p:cNvSpPr>
            <p:nvPr/>
          </p:nvSpPr>
          <p:spPr bwMode="auto">
            <a:xfrm>
              <a:off x="6888159" y="5962799"/>
              <a:ext cx="472455" cy="4487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sz="1200" b="1"/>
                <a:t>÷2</a:t>
              </a:r>
            </a:p>
          </p:txBody>
        </p:sp>
        <p:sp>
          <p:nvSpPr>
            <p:cNvPr id="124" name="TextBox 294"/>
            <p:cNvSpPr txBox="1">
              <a:spLocks noChangeArrowheads="1"/>
            </p:cNvSpPr>
            <p:nvPr/>
          </p:nvSpPr>
          <p:spPr bwMode="auto">
            <a:xfrm>
              <a:off x="8861919" y="5958196"/>
              <a:ext cx="517167" cy="4487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sz="1200" b="1"/>
                <a:t>÷2</a:t>
              </a:r>
            </a:p>
          </p:txBody>
        </p:sp>
      </p:grpSp>
      <p:sp>
        <p:nvSpPr>
          <p:cNvPr id="127" name="TextBox 126"/>
          <p:cNvSpPr txBox="1">
            <a:spLocks noChangeArrowheads="1"/>
          </p:cNvSpPr>
          <p:nvPr/>
        </p:nvSpPr>
        <p:spPr bwMode="auto">
          <a:xfrm>
            <a:off x="4875041" y="3146470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2.5% =</a:t>
            </a:r>
          </a:p>
        </p:txBody>
      </p:sp>
      <p:sp>
        <p:nvSpPr>
          <p:cNvPr id="128" name="Rectangle 127"/>
          <p:cNvSpPr>
            <a:spLocks noChangeArrowheads="1"/>
          </p:cNvSpPr>
          <p:nvPr/>
        </p:nvSpPr>
        <p:spPr bwMode="auto">
          <a:xfrm>
            <a:off x="5464400" y="3150042"/>
            <a:ext cx="7200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 $0.17</a:t>
            </a:r>
          </a:p>
        </p:txBody>
      </p:sp>
      <p:sp>
        <p:nvSpPr>
          <p:cNvPr id="129" name="TextBox 128"/>
          <p:cNvSpPr txBox="1">
            <a:spLocks noChangeArrowheads="1"/>
          </p:cNvSpPr>
          <p:nvPr/>
        </p:nvSpPr>
        <p:spPr bwMode="auto">
          <a:xfrm>
            <a:off x="4758359" y="3383405"/>
            <a:ext cx="1319213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17.5% =</a:t>
            </a:r>
          </a:p>
        </p:txBody>
      </p:sp>
      <p:sp>
        <p:nvSpPr>
          <p:cNvPr id="130" name="Rectangle 129"/>
          <p:cNvSpPr>
            <a:spLocks noChangeArrowheads="1"/>
          </p:cNvSpPr>
          <p:nvPr/>
        </p:nvSpPr>
        <p:spPr bwMode="auto">
          <a:xfrm>
            <a:off x="5487022" y="3375070"/>
            <a:ext cx="66717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$1.19</a:t>
            </a:r>
          </a:p>
        </p:txBody>
      </p:sp>
      <p:sp>
        <p:nvSpPr>
          <p:cNvPr id="131" name="TextBox 130"/>
          <p:cNvSpPr txBox="1">
            <a:spLocks noChangeArrowheads="1"/>
          </p:cNvSpPr>
          <p:nvPr/>
        </p:nvSpPr>
        <p:spPr bwMode="auto">
          <a:xfrm>
            <a:off x="4603578" y="3671536"/>
            <a:ext cx="153114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$6.80 + $1.19=</a:t>
            </a:r>
          </a:p>
        </p:txBody>
      </p:sp>
      <p:sp>
        <p:nvSpPr>
          <p:cNvPr id="132" name="TextBox 131"/>
          <p:cNvSpPr txBox="1">
            <a:spLocks noChangeArrowheads="1"/>
          </p:cNvSpPr>
          <p:nvPr/>
        </p:nvSpPr>
        <p:spPr bwMode="auto">
          <a:xfrm>
            <a:off x="5966844" y="3635817"/>
            <a:ext cx="8036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 dirty="0">
                <a:solidFill>
                  <a:srgbClr val="FF0000"/>
                </a:solidFill>
              </a:rPr>
              <a:t>$7.99</a:t>
            </a:r>
          </a:p>
        </p:txBody>
      </p:sp>
    </p:spTree>
    <p:extLst>
      <p:ext uri="{BB962C8B-B14F-4D97-AF65-F5344CB8AC3E}">
        <p14:creationId xmlns:p14="http://schemas.microsoft.com/office/powerpoint/2010/main" val="1965551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85" grpId="0"/>
      <p:bldP spid="86" grpId="0"/>
      <p:bldP spid="87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113" grpId="0"/>
      <p:bldP spid="114" grpId="0"/>
      <p:bldP spid="115" grpId="0"/>
      <p:bldP spid="119" grpId="0"/>
      <p:bldP spid="120" grpId="0"/>
      <p:bldP spid="127" grpId="0"/>
      <p:bldP spid="128" grpId="0"/>
      <p:bldP spid="129" grpId="0"/>
      <p:bldP spid="130" grpId="0"/>
      <p:bldP spid="131" grpId="0"/>
      <p:bldP spid="1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4478040" cy="605652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Connections and Reasoning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5050" y="74611"/>
            <a:ext cx="2627216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increase a percentage of an amount?</a:t>
            </a:r>
            <a:endParaRPr lang="en-GB" sz="1013" dirty="0">
              <a:solidFill>
                <a:srgbClr val="FFC000">
                  <a:lumMod val="50000"/>
                </a:srgbClr>
              </a:solidFill>
              <a:latin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56326" y="1280199"/>
            <a:ext cx="506449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100" dirty="0"/>
              <a:t>A teacher’s starting salary for is $21500. This increases by 2% every year. What will the teacher’s wage be after 3 years?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11505" y="2519127"/>
            <a:ext cx="1724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$22,815.97</a:t>
            </a:r>
          </a:p>
        </p:txBody>
      </p:sp>
    </p:spTree>
    <p:extLst>
      <p:ext uri="{BB962C8B-B14F-4D97-AF65-F5344CB8AC3E}">
        <p14:creationId xmlns:p14="http://schemas.microsoft.com/office/powerpoint/2010/main" val="2657585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2" y="497448"/>
            <a:ext cx="4797923" cy="483192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Connections and Reasoning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5050" y="74611"/>
            <a:ext cx="2627216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increase a percentage of an amount?</a:t>
            </a:r>
            <a:endParaRPr lang="en-GB" sz="1013" dirty="0">
              <a:solidFill>
                <a:srgbClr val="FFC000">
                  <a:lumMod val="50000"/>
                </a:srgbClr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530133" y="1152383"/>
            <a:ext cx="6211943" cy="21605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GB" sz="2100" dirty="0"/>
              <a:t>A 900ml bottle of </a:t>
            </a:r>
            <a:r>
              <a:rPr lang="en-GB" sz="2100" dirty="0" err="1"/>
              <a:t>Tres</a:t>
            </a:r>
            <a:r>
              <a:rPr lang="en-GB" sz="2100" dirty="0"/>
              <a:t>-Foamy shampoo increases by 20% in size. Harry’s shampoo company increases its 1000ml bottles by 7%. </a:t>
            </a:r>
          </a:p>
          <a:p>
            <a:pPr lvl="0">
              <a:spcBef>
                <a:spcPct val="20000"/>
              </a:spcBef>
              <a:defRPr/>
            </a:pPr>
            <a:r>
              <a:rPr lang="en-GB" sz="2100" dirty="0"/>
              <a:t>Which company’s shampoo bottle is now largest?</a:t>
            </a:r>
          </a:p>
          <a:p>
            <a:pPr lvl="0">
              <a:spcBef>
                <a:spcPct val="20000"/>
              </a:spcBef>
              <a:defRPr/>
            </a:pPr>
            <a:r>
              <a:rPr lang="en-GB" sz="2100" dirty="0"/>
              <a:t>Your communication with be taken into consideration.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0133" y="3082989"/>
            <a:ext cx="17246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>
                <a:solidFill>
                  <a:srgbClr val="FF0000"/>
                </a:solidFill>
              </a:rPr>
              <a:t>Tres</a:t>
            </a:r>
            <a:r>
              <a:rPr lang="en-GB" sz="2400" dirty="0">
                <a:solidFill>
                  <a:srgbClr val="FF0000"/>
                </a:solidFill>
              </a:rPr>
              <a:t> – 1080ml</a:t>
            </a:r>
          </a:p>
          <a:p>
            <a:r>
              <a:rPr lang="en-GB" sz="2400" dirty="0">
                <a:solidFill>
                  <a:srgbClr val="FF0000"/>
                </a:solidFill>
              </a:rPr>
              <a:t>Harry – 1070ml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8396" y="3082989"/>
            <a:ext cx="31773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Therefore, </a:t>
            </a:r>
            <a:r>
              <a:rPr lang="en-GB" sz="2400" dirty="0" err="1">
                <a:solidFill>
                  <a:srgbClr val="FF0000"/>
                </a:solidFill>
              </a:rPr>
              <a:t>Tres</a:t>
            </a:r>
            <a:r>
              <a:rPr lang="en-GB" sz="2400" dirty="0">
                <a:solidFill>
                  <a:srgbClr val="FF0000"/>
                </a:solidFill>
              </a:rPr>
              <a:t>-Foamy now has the larger bottle as it holds 10ml more than Harry’s</a:t>
            </a:r>
          </a:p>
        </p:txBody>
      </p:sp>
    </p:spTree>
    <p:extLst>
      <p:ext uri="{BB962C8B-B14F-4D97-AF65-F5344CB8AC3E}">
        <p14:creationId xmlns:p14="http://schemas.microsoft.com/office/powerpoint/2010/main" val="4000562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Reasoning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5050" y="74611"/>
            <a:ext cx="2627216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increase a percentage of an amount?</a:t>
            </a:r>
            <a:endParaRPr lang="en-GB" sz="1013" dirty="0">
              <a:solidFill>
                <a:srgbClr val="FFC000">
                  <a:lumMod val="50000"/>
                </a:srgbClr>
              </a:solidFill>
              <a:latin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5" t="7016" r="4766" b="73880"/>
          <a:stretch/>
        </p:blipFill>
        <p:spPr>
          <a:xfrm>
            <a:off x="1654481" y="1233713"/>
            <a:ext cx="5945484" cy="131936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910426" y="2777435"/>
            <a:ext cx="49498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Jolene found 8% she forgot that when increasing it had to be added back onto the original amount.</a:t>
            </a:r>
          </a:p>
        </p:txBody>
      </p:sp>
    </p:spTree>
    <p:extLst>
      <p:ext uri="{BB962C8B-B14F-4D97-AF65-F5344CB8AC3E}">
        <p14:creationId xmlns:p14="http://schemas.microsoft.com/office/powerpoint/2010/main" val="1883704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theme/theme1.xml><?xml version="1.0" encoding="utf-8"?>
<a:theme xmlns:a="http://schemas.openxmlformats.org/drawingml/2006/main" name="Rainbow Background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4ADBD"/>
      </a:accent1>
      <a:accent2>
        <a:srgbClr val="A2D242"/>
      </a:accent2>
      <a:accent3>
        <a:srgbClr val="FCE243"/>
      </a:accent3>
      <a:accent4>
        <a:srgbClr val="EF6B20"/>
      </a:accent4>
      <a:accent5>
        <a:srgbClr val="AD242B"/>
      </a:accent5>
      <a:accent6>
        <a:srgbClr val="AE2D5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inbow Background by Slidesgo" id="{46D7DCF1-5261-4805-AE31-BEDD5E59F30E}" vid="{99090F41-B61B-4833-A699-F16AB6F86A0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CF8E2C319B6C45A88B154FA9F297AF" ma:contentTypeVersion="2" ma:contentTypeDescription="Create a new document." ma:contentTypeScope="" ma:versionID="cece90b1e3ba9401ed65010376c85243">
  <xsd:schema xmlns:xsd="http://www.w3.org/2001/XMLSchema" xmlns:xs="http://www.w3.org/2001/XMLSchema" xmlns:p="http://schemas.microsoft.com/office/2006/metadata/properties" xmlns:ns2="085a5620-d469-4ad1-879c-377e76877e52" targetNamespace="http://schemas.microsoft.com/office/2006/metadata/properties" ma:root="true" ma:fieldsID="aaced6032bce772337dffe1272a07452" ns2:_="">
    <xsd:import namespace="085a5620-d469-4ad1-879c-377e76877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5a5620-d469-4ad1-879c-377e76877e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B77709F-C862-4164-B118-A898CAB0D0CE}"/>
</file>

<file path=customXml/itemProps2.xml><?xml version="1.0" encoding="utf-8"?>
<ds:datastoreItem xmlns:ds="http://schemas.openxmlformats.org/officeDocument/2006/customXml" ds:itemID="{8357AE40-10A2-4CB3-B610-C2924EF02109}"/>
</file>

<file path=customXml/itemProps3.xml><?xml version="1.0" encoding="utf-8"?>
<ds:datastoreItem xmlns:ds="http://schemas.openxmlformats.org/officeDocument/2006/customXml" ds:itemID="{3BF3C1B4-6B64-456C-85BC-6B1ACECA815F}"/>
</file>

<file path=docProps/app.xml><?xml version="1.0" encoding="utf-8"?>
<Properties xmlns="http://schemas.openxmlformats.org/officeDocument/2006/extended-properties" xmlns:vt="http://schemas.openxmlformats.org/officeDocument/2006/docPropsVTypes">
  <Template>Cornell Notes</Template>
  <TotalTime>1150</TotalTime>
  <Words>815</Words>
  <Application>Microsoft Office PowerPoint</Application>
  <PresentationFormat>On-screen Show (16:9)</PresentationFormat>
  <Paragraphs>174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Abel</vt:lpstr>
      <vt:lpstr>Arial</vt:lpstr>
      <vt:lpstr>Fredoka One</vt:lpstr>
      <vt:lpstr>Lucida Handwriting</vt:lpstr>
      <vt:lpstr>Calibri</vt:lpstr>
      <vt:lpstr>Verdana</vt:lpstr>
      <vt:lpstr>Rainbow Background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Adding and Subtracting with negative numbers  EQ: How do we add and subtract with negatives?</dc:title>
  <dc:creator>MCLEOD Alexandria [Baldivis Secondary College]</dc:creator>
  <cp:lastModifiedBy>JAMES Sarah [Baldivis Secondary College]</cp:lastModifiedBy>
  <cp:revision>22</cp:revision>
  <dcterms:created xsi:type="dcterms:W3CDTF">2021-02-22T02:29:05Z</dcterms:created>
  <dcterms:modified xsi:type="dcterms:W3CDTF">2021-04-30T07:55:23Z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0x010100E3CF8E2C319B6C45A88B154FA9F297AF</vt:lpwstr>
  </property>
</Properties>
</file>
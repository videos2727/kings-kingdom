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328" r:id="rId3"/>
    <p:sldId id="258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64470" autoAdjust="0"/>
  </p:normalViewPr>
  <p:slideViewPr>
    <p:cSldViewPr snapToGrid="0">
      <p:cViewPr>
        <p:scale>
          <a:sx n="68" d="100"/>
          <a:sy n="68" d="100"/>
        </p:scale>
        <p:origin x="10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E53F9-2C9E-4866-9655-3A5EA4442B05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D5F35-81C4-4A4D-891C-553A01D795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21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-1+-13= -14/2=-7</a:t>
            </a:r>
          </a:p>
          <a:p>
            <a:endParaRPr lang="en-US" dirty="0"/>
          </a:p>
          <a:p>
            <a:r>
              <a:rPr lang="en-US" dirty="0"/>
              <a:t>7+-19= -12/2=-6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28BFF-4426-49DB-B8CB-D6FEC99F371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284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78BE-18C1-4F7F-B493-449AA4CB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E641A-AA3C-4754-9A36-92039C113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23CE4-851F-45CB-ACB4-38434296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E2528-DB3B-41B9-8B4B-845E8920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7F70A-A2EB-4736-AEC8-BA10AB60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0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AA1B-B65A-44F5-914E-C52768D7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2E90-F582-4A3B-9DE3-C9411ED74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9E793-D38E-4A5D-A636-6301FB5F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CEF0-973B-420B-B337-882BF1AC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A6A2F-C6EF-484E-ADD9-A57EED18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058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BEDC-2737-448A-80B2-DE70A568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8611-173D-4063-8A94-3ADCCB940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C60A-32DE-498B-993A-55572822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30079-828A-4177-B1AD-F57959C3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96CAC-6AFA-4701-A05F-9BC472D1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61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16B9-FA4A-490F-945C-1D07353E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85953-D301-49C8-8446-DFBDEB9BC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26E2A-7E9B-4054-A9F8-B3AFB96A1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D730A-A67A-471E-BEF8-460883DE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0200-5657-405D-9DAD-B3A2E51A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84BD9-0BBE-4572-A47C-98E1DEBA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74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5D08-A0F0-4F01-B9AC-FAA2E0C5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79202-CEE8-4A2F-A0EE-BC267A0D1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C88D7-6559-4F19-9C10-8DEE2E312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94400-16FD-4CDF-98BA-E799A7E4D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C76-59D8-4713-A38C-D7BA3929B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8A28B-41A6-45E9-A5BE-C97A4509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43EA6-481D-42D1-A3F5-077AAADD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3075E-BC8F-4B61-82BD-8E2D5E6F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95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5DD4-FC5C-48D9-8144-23052A77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46BE0-EF37-42F7-B19F-039763740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C8F5F-BADF-45C6-8F47-49BC5FB3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B216E-CCB7-4C5D-9171-54478C25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19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E6981-1B4F-4A90-B00B-8FD0AB4D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26D60-EE22-4664-AA4A-9B15B22B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F7EEA-0A4F-422A-91DF-DD51C9C3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683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B40F-C8DD-4737-BF82-614967A4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39AB3-076A-4CDC-9135-5565F8862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EA612-B849-4BBB-A3CD-1E4B31608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5E102-3C6E-406B-B538-008258F96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74C29-5614-46A8-8907-206C5CE08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CC36B-D43D-4DE3-B065-44F3C8E6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956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2CA3-58FE-47DC-AD97-626A0055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62154-5C03-4A7D-9EFC-38BD7FC97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0CE54-6027-4925-8DA0-E424F7C19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271CE-53F8-419D-AEE0-5A0966DC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53B53-FEB0-4E5A-ACC7-BA7F7F19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1A36A-4FB1-4212-B1C1-15F616CC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87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DEAE-0D18-4792-B478-BFBB593C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B9633-9FE1-4649-9729-22E10F55F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2C73-1649-4B73-80C8-70CCDD14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653D-5716-4665-9FAF-552232E8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4840F-9641-4A9A-A9AF-CAE82B00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37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23694D-D6CE-4FED-A109-AC5857FDC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054AE-91A2-43A3-A34F-0FD30BFEA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8F412-3E05-49D7-9BD2-0DEDE908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A3F0F-E2DF-486A-B699-E1DF1E8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EE76D-F487-40AA-9F94-A45E2F63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540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0B03D-8C4D-4CC1-BBAB-F469759C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DABBB-411F-47A7-A4E7-E5C26239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4D90-2233-45BF-B369-E8E6F39BD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E653E-18C0-4863-97F4-9857C3C08E6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AE0D-E049-4CE7-A170-441263384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E3A5D-7E36-4C33-AEB6-3AE68A9AC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315ED-DC14-4B80-B9A3-980E93DC26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585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Place Value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use patterns of tens in a numbers chart?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Complete on working out side: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1. What number is halfway between -1 and -13</a:t>
            </a:r>
          </a:p>
          <a:p>
            <a:pPr marL="285750" indent="-285750">
              <a:buFontTx/>
              <a:buChar char="-"/>
            </a:pPr>
            <a:r>
              <a:rPr lang="en-US" dirty="0"/>
              <a:t>2. What number is halfway between 7 and -19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</a:t>
            </a:r>
            <a:r>
              <a:rPr lang="en-US" sz="2400"/>
              <a:t>tens in </a:t>
            </a:r>
            <a:r>
              <a:rPr lang="en-US" sz="2400" dirty="0"/>
              <a:t>a numbers chart?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Our number system is “base ten” which means that we work in multiples of ten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7CC44-059E-4E25-9685-D13D4DD42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615" y="2645450"/>
            <a:ext cx="3566508" cy="421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668" y="0"/>
            <a:ext cx="11822806" cy="63094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28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US" sz="28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Vocabulary</a:t>
            </a:r>
          </a:p>
          <a:p>
            <a:pPr algn="ctr"/>
            <a:endParaRPr lang="en-US" sz="28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endParaRPr lang="en-US" sz="28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Place Value – The value a digit has because of its position in a number</a:t>
            </a: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Digit – Any of the numerals from 0 to 9 used to form numbers</a:t>
            </a: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Partition – Divide into parts</a:t>
            </a: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Place holder – A significant zero in the place value of a number</a:t>
            </a: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36" y="1737508"/>
            <a:ext cx="11631937" cy="208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91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65" y="1402658"/>
            <a:ext cx="11631937" cy="2512520"/>
          </a:xfrm>
          <a:prstGeom prst="rect">
            <a:avLst/>
          </a:prstGeom>
        </p:spPr>
      </p:pic>
      <p:sp>
        <p:nvSpPr>
          <p:cNvPr id="5" name="Speech Bubble: Rectangle with Corners Rounded 15"/>
          <p:cNvSpPr/>
          <p:nvPr/>
        </p:nvSpPr>
        <p:spPr>
          <a:xfrm>
            <a:off x="231821" y="5177307"/>
            <a:ext cx="3593203" cy="1249099"/>
          </a:xfrm>
          <a:prstGeom prst="wedgeRoundRectCallout">
            <a:avLst>
              <a:gd name="adj1" fmla="val -42613"/>
              <a:gd name="adj2" fmla="val 68937"/>
              <a:gd name="adj3" fmla="val 16667"/>
            </a:avLst>
          </a:prstGeom>
          <a:solidFill>
            <a:srgbClr val="FDCFD7"/>
          </a:solidFill>
          <a:ln w="38100"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>
                <a:solidFill>
                  <a:schemeClr val="tx1"/>
                </a:solidFill>
                <a:latin typeface="SassoonPrimaryInfant" pitchFamily="2" charset="0"/>
              </a:rPr>
              <a:t>Use a place value grid to support you and remember place holders</a:t>
            </a:r>
            <a:endParaRPr lang="en-GB" dirty="0">
              <a:solidFill>
                <a:schemeClr val="tx1"/>
              </a:solidFill>
              <a:latin typeface="SassoonPrimaryInfant" pitchFamily="2" charset="0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7551312" y="4886287"/>
            <a:ext cx="4258615" cy="1749214"/>
          </a:xfrm>
          <a:prstGeom prst="wedgeEllipseCallout">
            <a:avLst>
              <a:gd name="adj1" fmla="val 51152"/>
              <a:gd name="adj2" fmla="val 4656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What mistake are people most likely to make? Why?</a:t>
            </a:r>
          </a:p>
        </p:txBody>
      </p:sp>
      <p:sp>
        <p:nvSpPr>
          <p:cNvPr id="2" name="Oval 1"/>
          <p:cNvSpPr/>
          <p:nvPr/>
        </p:nvSpPr>
        <p:spPr>
          <a:xfrm>
            <a:off x="5640947" y="265891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6166833" y="267179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640947" y="3150911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6166833" y="3163790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428186" y="265891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954072" y="267179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428186" y="3150911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7001320" y="267439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31821" y="393884"/>
            <a:ext cx="1157810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What number is represented below? Write it in figures and words</a:t>
            </a:r>
          </a:p>
        </p:txBody>
      </p:sp>
    </p:spTree>
    <p:extLst>
      <p:ext uri="{BB962C8B-B14F-4D97-AF65-F5344CB8AC3E}">
        <p14:creationId xmlns:p14="http://schemas.microsoft.com/office/powerpoint/2010/main" val="76661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65" y="1402658"/>
            <a:ext cx="11631937" cy="2512520"/>
          </a:xfrm>
          <a:prstGeom prst="rect">
            <a:avLst/>
          </a:prstGeom>
        </p:spPr>
      </p:pic>
      <p:sp>
        <p:nvSpPr>
          <p:cNvPr id="5" name="Speech Bubble: Rectangle with Corners Rounded 15"/>
          <p:cNvSpPr/>
          <p:nvPr/>
        </p:nvSpPr>
        <p:spPr>
          <a:xfrm>
            <a:off x="231821" y="5184317"/>
            <a:ext cx="3593203" cy="1242089"/>
          </a:xfrm>
          <a:prstGeom prst="wedgeRoundRectCallout">
            <a:avLst>
              <a:gd name="adj1" fmla="val -42613"/>
              <a:gd name="adj2" fmla="val 68937"/>
              <a:gd name="adj3" fmla="val 16667"/>
            </a:avLst>
          </a:prstGeom>
          <a:solidFill>
            <a:srgbClr val="FDCFD7"/>
          </a:solidFill>
          <a:ln w="38100"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>
                <a:solidFill>
                  <a:schemeClr val="tx1"/>
                </a:solidFill>
                <a:latin typeface="SassoonPrimaryInfant" pitchFamily="2" charset="0"/>
              </a:rPr>
              <a:t>Use a place value grid to support you and remember place holders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7551312" y="4886287"/>
            <a:ext cx="4258615" cy="1749214"/>
          </a:xfrm>
          <a:prstGeom prst="wedgeEllipseCallout">
            <a:avLst>
              <a:gd name="adj1" fmla="val 51152"/>
              <a:gd name="adj2" fmla="val 4656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Why is the zero in a number important when representing larger numbers?</a:t>
            </a:r>
          </a:p>
        </p:txBody>
      </p:sp>
      <p:sp>
        <p:nvSpPr>
          <p:cNvPr id="2" name="Oval 1"/>
          <p:cNvSpPr/>
          <p:nvPr/>
        </p:nvSpPr>
        <p:spPr>
          <a:xfrm>
            <a:off x="7001320" y="329478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840357" y="262874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7551312" y="267179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0870429" y="263609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428186" y="265891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9563059" y="263770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255688" y="2625812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7001320" y="267439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31821" y="393884"/>
            <a:ext cx="1157810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What number is represented below? Write it in figures and words</a:t>
            </a:r>
          </a:p>
        </p:txBody>
      </p:sp>
    </p:spTree>
    <p:extLst>
      <p:ext uri="{BB962C8B-B14F-4D97-AF65-F5344CB8AC3E}">
        <p14:creationId xmlns:p14="http://schemas.microsoft.com/office/powerpoint/2010/main" val="55075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65" y="1402658"/>
            <a:ext cx="11631937" cy="2512520"/>
          </a:xfrm>
          <a:prstGeom prst="rect">
            <a:avLst/>
          </a:prstGeom>
        </p:spPr>
      </p:pic>
      <p:sp>
        <p:nvSpPr>
          <p:cNvPr id="5" name="Speech Bubble: Rectangle with Corners Rounded 15"/>
          <p:cNvSpPr/>
          <p:nvPr/>
        </p:nvSpPr>
        <p:spPr>
          <a:xfrm>
            <a:off x="231821" y="5184317"/>
            <a:ext cx="3593203" cy="1242089"/>
          </a:xfrm>
          <a:prstGeom prst="wedgeRoundRectCallout">
            <a:avLst>
              <a:gd name="adj1" fmla="val -42613"/>
              <a:gd name="adj2" fmla="val 68937"/>
              <a:gd name="adj3" fmla="val 16667"/>
            </a:avLst>
          </a:prstGeom>
          <a:solidFill>
            <a:srgbClr val="FDCFD7"/>
          </a:solidFill>
          <a:ln w="38100"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>
                <a:solidFill>
                  <a:schemeClr val="tx1"/>
                </a:solidFill>
                <a:latin typeface="SassoonPrimaryInfant" pitchFamily="2" charset="0"/>
              </a:rPr>
              <a:t>Use a place value grid to support you and remember place holders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7551312" y="4886287"/>
            <a:ext cx="4258615" cy="1749214"/>
          </a:xfrm>
          <a:prstGeom prst="wedgeEllipseCallout">
            <a:avLst>
              <a:gd name="adj1" fmla="val 51152"/>
              <a:gd name="adj2" fmla="val 4656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How else could the same number be represented?</a:t>
            </a:r>
          </a:p>
        </p:txBody>
      </p:sp>
      <p:sp>
        <p:nvSpPr>
          <p:cNvPr id="2" name="Oval 1"/>
          <p:cNvSpPr/>
          <p:nvPr/>
        </p:nvSpPr>
        <p:spPr>
          <a:xfrm>
            <a:off x="6948318" y="310001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840357" y="262874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6232546" y="265891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0870429" y="263609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428186" y="265891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6948318" y="263609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255688" y="2625812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682554" y="266151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31821" y="393884"/>
            <a:ext cx="1157810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What number is represented below? Write it in figures and words</a:t>
            </a:r>
          </a:p>
        </p:txBody>
      </p:sp>
      <p:sp>
        <p:nvSpPr>
          <p:cNvPr id="15" name="Oval 14"/>
          <p:cNvSpPr/>
          <p:nvPr/>
        </p:nvSpPr>
        <p:spPr>
          <a:xfrm>
            <a:off x="4428186" y="360448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4984622" y="267678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984622" y="3167530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428186" y="3167332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434578" y="2625811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8840357" y="3120350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8255688" y="311741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8840357" y="360742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5688" y="360448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11426615" y="263609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67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77780" y="3469611"/>
            <a:ext cx="1157810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523,602 = 500,000 + 20,000 + 3,000 + 600 + 2</a:t>
            </a:r>
          </a:p>
        </p:txBody>
      </p:sp>
      <p:pic>
        <p:nvPicPr>
          <p:cNvPr id="25" name="Picture 24" descr="Screen Clipping">
            <a:extLst>
              <a:ext uri="{FF2B5EF4-FFF2-40B4-BE49-F238E27FC236}">
                <a16:creationId xmlns:a16="http://schemas.microsoft.com/office/drawing/2014/main" id="{7E6528EE-86DB-D04C-9B36-58CFF9747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49" y="179648"/>
            <a:ext cx="11631937" cy="251252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4AAE1BA7-3777-2248-879D-D1B8359E7A2D}"/>
              </a:ext>
            </a:extLst>
          </p:cNvPr>
          <p:cNvSpPr/>
          <p:nvPr/>
        </p:nvSpPr>
        <p:spPr>
          <a:xfrm>
            <a:off x="6921402" y="187700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801666-98CC-B644-B722-47656EE8AA62}"/>
              </a:ext>
            </a:extLst>
          </p:cNvPr>
          <p:cNvSpPr/>
          <p:nvPr/>
        </p:nvSpPr>
        <p:spPr>
          <a:xfrm>
            <a:off x="8813441" y="140573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98E58D-A936-7847-B39C-622AAD577CA0}"/>
              </a:ext>
            </a:extLst>
          </p:cNvPr>
          <p:cNvSpPr/>
          <p:nvPr/>
        </p:nvSpPr>
        <p:spPr>
          <a:xfrm>
            <a:off x="6205630" y="143590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2E68A3-7162-1842-9F04-31BDF9BA0EE3}"/>
              </a:ext>
            </a:extLst>
          </p:cNvPr>
          <p:cNvSpPr/>
          <p:nvPr/>
        </p:nvSpPr>
        <p:spPr>
          <a:xfrm>
            <a:off x="10843513" y="141308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BC0524-27C6-2A47-AB70-AF9A58B3ADE0}"/>
              </a:ext>
            </a:extLst>
          </p:cNvPr>
          <p:cNvSpPr/>
          <p:nvPr/>
        </p:nvSpPr>
        <p:spPr>
          <a:xfrm>
            <a:off x="4401270" y="143590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05960EE-3ED9-D94E-B193-CD6ACC9FC0FC}"/>
              </a:ext>
            </a:extLst>
          </p:cNvPr>
          <p:cNvSpPr/>
          <p:nvPr/>
        </p:nvSpPr>
        <p:spPr>
          <a:xfrm>
            <a:off x="6921402" y="141308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6396673-A74C-2044-916E-43C43C90EB24}"/>
              </a:ext>
            </a:extLst>
          </p:cNvPr>
          <p:cNvSpPr/>
          <p:nvPr/>
        </p:nvSpPr>
        <p:spPr>
          <a:xfrm>
            <a:off x="8228772" y="1402802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4E30030-EE1B-BF41-8B8B-1EC545664954}"/>
              </a:ext>
            </a:extLst>
          </p:cNvPr>
          <p:cNvSpPr/>
          <p:nvPr/>
        </p:nvSpPr>
        <p:spPr>
          <a:xfrm>
            <a:off x="5655638" y="143850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EFFBEE-49D9-0F43-AB63-D7597C730FB7}"/>
              </a:ext>
            </a:extLst>
          </p:cNvPr>
          <p:cNvSpPr/>
          <p:nvPr/>
        </p:nvSpPr>
        <p:spPr>
          <a:xfrm>
            <a:off x="4401270" y="238147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FBB5F4D-D6F4-7845-AB14-20DD8219C867}"/>
              </a:ext>
            </a:extLst>
          </p:cNvPr>
          <p:cNvSpPr/>
          <p:nvPr/>
        </p:nvSpPr>
        <p:spPr>
          <a:xfrm>
            <a:off x="4957706" y="145377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C3EC2CC-E4D8-E348-959E-CD688CA6A1F4}"/>
              </a:ext>
            </a:extLst>
          </p:cNvPr>
          <p:cNvSpPr/>
          <p:nvPr/>
        </p:nvSpPr>
        <p:spPr>
          <a:xfrm>
            <a:off x="4957706" y="1944520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BBC708-DF5B-A942-A23A-2AD1D525F7D1}"/>
              </a:ext>
            </a:extLst>
          </p:cNvPr>
          <p:cNvSpPr/>
          <p:nvPr/>
        </p:nvSpPr>
        <p:spPr>
          <a:xfrm>
            <a:off x="4401270" y="1944322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A15C85A-E00B-1946-9E93-E2B9B3615744}"/>
              </a:ext>
            </a:extLst>
          </p:cNvPr>
          <p:cNvSpPr/>
          <p:nvPr/>
        </p:nvSpPr>
        <p:spPr>
          <a:xfrm>
            <a:off x="7407662" y="1402801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B764DE0-079F-2E43-9272-1D19FEEFA4B7}"/>
              </a:ext>
            </a:extLst>
          </p:cNvPr>
          <p:cNvSpPr/>
          <p:nvPr/>
        </p:nvSpPr>
        <p:spPr>
          <a:xfrm>
            <a:off x="8813441" y="1897340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42A05FB-C246-7A4A-AD6E-8D1B9444EC2E}"/>
              </a:ext>
            </a:extLst>
          </p:cNvPr>
          <p:cNvSpPr/>
          <p:nvPr/>
        </p:nvSpPr>
        <p:spPr>
          <a:xfrm>
            <a:off x="8228772" y="189440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82B9582-D83A-7546-B017-27B943B55DE6}"/>
              </a:ext>
            </a:extLst>
          </p:cNvPr>
          <p:cNvSpPr/>
          <p:nvPr/>
        </p:nvSpPr>
        <p:spPr>
          <a:xfrm>
            <a:off x="8813441" y="238441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2654646-F38D-2948-AEE8-8250E63AC377}"/>
              </a:ext>
            </a:extLst>
          </p:cNvPr>
          <p:cNvSpPr/>
          <p:nvPr/>
        </p:nvSpPr>
        <p:spPr>
          <a:xfrm>
            <a:off x="8228772" y="238147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EEFB5D-09E9-C146-B421-4049B50A412A}"/>
              </a:ext>
            </a:extLst>
          </p:cNvPr>
          <p:cNvSpPr/>
          <p:nvPr/>
        </p:nvSpPr>
        <p:spPr>
          <a:xfrm>
            <a:off x="11399699" y="141308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56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02" y="514015"/>
            <a:ext cx="11631937" cy="2512520"/>
          </a:xfrm>
          <a:prstGeom prst="rect">
            <a:avLst/>
          </a:prstGeom>
        </p:spPr>
      </p:pic>
      <p:sp>
        <p:nvSpPr>
          <p:cNvPr id="5" name="Speech Bubble: Rectangle with Corners Rounded 15"/>
          <p:cNvSpPr/>
          <p:nvPr/>
        </p:nvSpPr>
        <p:spPr>
          <a:xfrm>
            <a:off x="270458" y="5122308"/>
            <a:ext cx="3593203" cy="1249099"/>
          </a:xfrm>
          <a:prstGeom prst="wedgeRoundRectCallout">
            <a:avLst>
              <a:gd name="adj1" fmla="val -42613"/>
              <a:gd name="adj2" fmla="val 68937"/>
              <a:gd name="adj3" fmla="val 16667"/>
            </a:avLst>
          </a:prstGeom>
          <a:solidFill>
            <a:srgbClr val="FDCFD7"/>
          </a:solidFill>
          <a:ln w="38100"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>
                <a:solidFill>
                  <a:schemeClr val="tx1"/>
                </a:solidFill>
                <a:latin typeface="SassoonPrimaryInfant" pitchFamily="2" charset="0"/>
              </a:rPr>
              <a:t>Use a place value grid to support you and remember place holders</a:t>
            </a:r>
            <a:endParaRPr lang="en-GB" dirty="0">
              <a:solidFill>
                <a:schemeClr val="tx1"/>
              </a:solidFill>
              <a:latin typeface="SassoonPrimaryInfant" pitchFamily="2" charset="0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7654344" y="4731740"/>
            <a:ext cx="4258615" cy="1749214"/>
          </a:xfrm>
          <a:prstGeom prst="wedgeEllipseCallout">
            <a:avLst>
              <a:gd name="adj1" fmla="val 51152"/>
              <a:gd name="adj2" fmla="val 4656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Why is it important to be able to partition numbers?</a:t>
            </a:r>
          </a:p>
        </p:txBody>
      </p:sp>
      <p:sp>
        <p:nvSpPr>
          <p:cNvPr id="7" name="Oval 6"/>
          <p:cNvSpPr/>
          <p:nvPr/>
        </p:nvSpPr>
        <p:spPr>
          <a:xfrm>
            <a:off x="5679584" y="177027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6205470" y="178315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679584" y="226226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205470" y="2275147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466823" y="1770275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992709" y="178315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466823" y="226226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7039957" y="1785750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1090823" y="3355516"/>
            <a:ext cx="1022929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341,000 =   _________ + 40,000 + _________ </a:t>
            </a:r>
          </a:p>
        </p:txBody>
      </p:sp>
    </p:spTree>
    <p:extLst>
      <p:ext uri="{BB962C8B-B14F-4D97-AF65-F5344CB8AC3E}">
        <p14:creationId xmlns:p14="http://schemas.microsoft.com/office/powerpoint/2010/main" val="198676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65" y="307954"/>
            <a:ext cx="11631937" cy="2512520"/>
          </a:xfrm>
          <a:prstGeom prst="rect">
            <a:avLst/>
          </a:prstGeom>
        </p:spPr>
      </p:pic>
      <p:sp>
        <p:nvSpPr>
          <p:cNvPr id="5" name="Speech Bubble: Rectangle with Corners Rounded 15"/>
          <p:cNvSpPr/>
          <p:nvPr/>
        </p:nvSpPr>
        <p:spPr>
          <a:xfrm>
            <a:off x="231821" y="5184317"/>
            <a:ext cx="3593203" cy="1242089"/>
          </a:xfrm>
          <a:prstGeom prst="wedgeRoundRectCallout">
            <a:avLst>
              <a:gd name="adj1" fmla="val -42613"/>
              <a:gd name="adj2" fmla="val 68937"/>
              <a:gd name="adj3" fmla="val 16667"/>
            </a:avLst>
          </a:prstGeom>
          <a:solidFill>
            <a:srgbClr val="FDCFD7"/>
          </a:solidFill>
          <a:ln w="38100"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>
                <a:solidFill>
                  <a:schemeClr val="tx1"/>
                </a:solidFill>
                <a:latin typeface="SassoonPrimaryInfant" pitchFamily="2" charset="0"/>
              </a:rPr>
              <a:t>Use a place value grid to support you and remember place holders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7551312" y="4886287"/>
            <a:ext cx="4258615" cy="1749214"/>
          </a:xfrm>
          <a:prstGeom prst="wedgeEllipseCallout">
            <a:avLst>
              <a:gd name="adj1" fmla="val 51152"/>
              <a:gd name="adj2" fmla="val 4656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Why don’t we include the ‘empty’ place values?</a:t>
            </a:r>
          </a:p>
        </p:txBody>
      </p:sp>
      <p:sp>
        <p:nvSpPr>
          <p:cNvPr id="2" name="Oval 1"/>
          <p:cNvSpPr/>
          <p:nvPr/>
        </p:nvSpPr>
        <p:spPr>
          <a:xfrm>
            <a:off x="7001320" y="2200081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840357" y="153404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7551312" y="157709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0870429" y="1541391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428186" y="1564214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965137" y="1577093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255688" y="1531108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7001320" y="1579689"/>
            <a:ext cx="334850" cy="328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975985" y="3217565"/>
            <a:ext cx="10229294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203,201 =   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_________ + _________ + _________ + _________ </a:t>
            </a:r>
          </a:p>
          <a:p>
            <a:pPr algn="ctr"/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+ _________ 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696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942" y="187822"/>
            <a:ext cx="1157810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Identify the value of 9 in each of the numbers below:</a:t>
            </a:r>
          </a:p>
          <a:p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514350" indent="-514350">
              <a:buAutoNum type="arabicParenR"/>
            </a:pP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679,372</a:t>
            </a:r>
          </a:p>
          <a:p>
            <a:pPr marL="514350" indent="-514350">
              <a:buAutoNum type="arabicParenR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514350" indent="-514350">
              <a:buAutoNum type="arabicParenR"/>
            </a:pP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984,748</a:t>
            </a:r>
          </a:p>
          <a:p>
            <a:pPr marL="514350" indent="-514350">
              <a:buAutoNum type="arabicParenR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514350" indent="-514350">
              <a:buAutoNum type="arabicParenR"/>
            </a:pP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867,892</a:t>
            </a:r>
          </a:p>
          <a:p>
            <a:pPr marL="514350" indent="-514350">
              <a:buAutoNum type="arabicParenR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514350" indent="-514350">
              <a:buAutoNum type="arabicParenR"/>
            </a:pP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297,453</a:t>
            </a:r>
          </a:p>
          <a:p>
            <a:pPr marL="514350" indent="-514350">
              <a:buAutoNum type="arabicParenR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514350" indent="-514350">
              <a:buAutoNum type="arabicParenR"/>
            </a:pP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676,329</a:t>
            </a:r>
          </a:p>
        </p:txBody>
      </p:sp>
      <p:sp>
        <p:nvSpPr>
          <p:cNvPr id="5" name="Speech Bubble: Rectangle with Corners Rounded 15"/>
          <p:cNvSpPr/>
          <p:nvPr/>
        </p:nvSpPr>
        <p:spPr>
          <a:xfrm>
            <a:off x="502277" y="5206663"/>
            <a:ext cx="3593203" cy="1242089"/>
          </a:xfrm>
          <a:prstGeom prst="wedgeRoundRectCallout">
            <a:avLst>
              <a:gd name="adj1" fmla="val -42613"/>
              <a:gd name="adj2" fmla="val 68937"/>
              <a:gd name="adj3" fmla="val 16667"/>
            </a:avLst>
          </a:prstGeom>
          <a:solidFill>
            <a:srgbClr val="FDCFD7"/>
          </a:solidFill>
          <a:ln w="38100"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>
                <a:solidFill>
                  <a:schemeClr val="tx1"/>
                </a:solidFill>
                <a:latin typeface="SassoonPrimaryInfant" pitchFamily="2" charset="0"/>
              </a:rPr>
              <a:t>Use a place value grid to support you and remember place holders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7551312" y="4886287"/>
            <a:ext cx="4258615" cy="1749214"/>
          </a:xfrm>
          <a:prstGeom prst="wedgeEllipseCallout">
            <a:avLst>
              <a:gd name="adj1" fmla="val 51152"/>
              <a:gd name="adj2" fmla="val 4656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How is the same digit worth different values?</a:t>
            </a:r>
          </a:p>
        </p:txBody>
      </p:sp>
    </p:spTree>
    <p:extLst>
      <p:ext uri="{BB962C8B-B14F-4D97-AF65-F5344CB8AC3E}">
        <p14:creationId xmlns:p14="http://schemas.microsoft.com/office/powerpoint/2010/main" val="372064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942" y="187822"/>
            <a:ext cx="1157810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87334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C51FEE-4264-4322-866D-C16B9298A88D}"/>
</file>

<file path=customXml/itemProps2.xml><?xml version="1.0" encoding="utf-8"?>
<ds:datastoreItem xmlns:ds="http://schemas.openxmlformats.org/officeDocument/2006/customXml" ds:itemID="{86C5F80F-6F5F-43ED-8C2B-4425FD590117}"/>
</file>

<file path=customXml/itemProps3.xml><?xml version="1.0" encoding="utf-8"?>
<ds:datastoreItem xmlns:ds="http://schemas.openxmlformats.org/officeDocument/2006/customXml" ds:itemID="{0E690CF9-D009-4918-B547-9809AC2BE2F0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381</Words>
  <Application>Microsoft Office PowerPoint</Application>
  <PresentationFormat>Widescreen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SassoonPrimaryInfant</vt:lpstr>
      <vt:lpstr>Times New Roman</vt:lpstr>
      <vt:lpstr>Office Theme</vt:lpstr>
      <vt:lpstr>Topic: Place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Place Value</dc:title>
  <dc:creator>JAMES Sarah [Baldivis Secondary College]</dc:creator>
  <cp:lastModifiedBy>JAMES Sarah [Baldivis Secondary College]</cp:lastModifiedBy>
  <cp:revision>1</cp:revision>
  <dcterms:created xsi:type="dcterms:W3CDTF">2021-11-09T11:17:22Z</dcterms:created>
  <dcterms:modified xsi:type="dcterms:W3CDTF">2021-11-09T11:25:28Z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
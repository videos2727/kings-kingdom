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m4a" ContentType="audio/mp4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68" r:id="rId5"/>
    <p:sldId id="269" r:id="rId6"/>
    <p:sldId id="280" r:id="rId7"/>
    <p:sldId id="282" r:id="rId8"/>
    <p:sldId id="281" r:id="rId9"/>
    <p:sldId id="283" r:id="rId10"/>
    <p:sldId id="284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3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2602-CB9B-47CF-8ED4-519577B0E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652C1-9D6F-4696-BA95-5C48E05C7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E8D3A-94BC-4F7B-918D-96072177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5BD07-1E94-4A0C-ABBE-C27BB8C0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EC006-F688-4921-BF30-A478D665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536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2F4F3-66F2-462B-A2CF-FFB5289DB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FD0C8-E548-4DD9-A8DD-34AB82DE0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F6A78-DD03-4AF7-A145-08F75C883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FA00F-C348-4A42-A3A7-46FF398ED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1320D-9549-447E-8E9E-8114E3C3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975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749D-008B-4883-8CAA-7D0C08D1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88ADD-28C8-4045-970B-CBF6B59B9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80D05-4C58-423E-AD76-6EB514E5D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DF571-9463-453C-90C5-1689FF06C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3D255-08A0-45C5-965F-EA31A858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9560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1217-E420-472B-9930-526BEEB01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78A2D-78B7-40B7-9C28-1A5882A34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E90AE-F367-4840-B0CA-C5B0E7371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65845-68AE-4B03-B796-A3057BB5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145E9-58A3-4BBE-ABB4-67D3E8AE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E414E-A81D-4BC5-9CBB-3BC35234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700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F55F-C363-44F1-B059-2F3022A3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59A41-6917-4FE1-8859-C11CBFA41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9D496-099B-4EB9-A4CA-E032B5B23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4CE345-D8A2-4EE5-A9B0-D4E883A95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AE92A2-0ED6-4F67-82A0-6FE3DD8F4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C6C697-A075-4506-8B20-49057C0D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F5E3C-0011-4B9D-90ED-39FB638A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43011-63A6-44CB-996E-6FDCDD06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05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E8131-A378-4EC4-9286-65E303E16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3BAACB-044D-4B3D-BB7E-ABE982AD3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894DB-ED74-41BE-BE89-83FDC516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50C52-B40C-4EC2-A9E3-62BF3841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0311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F23BD-8F5C-43A7-9E57-D87B2781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8CFA13-EA78-4BCF-8623-0BD96DE9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B3E23-7109-4F0F-B93A-A03D1C44E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574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BCEE-41D1-4B56-8E98-58F444FFE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2E156-9AC6-4A1D-B955-55B532417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726D7-4001-44BB-A07C-ACF0F296B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55A90-B1A6-4B3A-B2E9-2AAD3A7C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B4FFB-0A37-44F3-8FD0-25CE856F5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03B2D-B78F-41E6-BF97-20081CB9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2986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E341-0320-4D24-8DB3-2245730AE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339E4-E190-4C52-A095-D8E1B737D3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6761C-28FD-45D9-BA9C-46B7D3580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57DBF-046F-46A8-8A70-C56A0D68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ADB7C-DB2C-4660-9FBD-EBDC47B2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EC6E4-58E0-4551-A859-243B81EE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887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D184-58D4-4C06-A870-34B854FF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A3616-951D-4F28-A8E4-CBD0E02F4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77C15-8296-443B-A956-662A5946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8C05A-5BD0-42C7-B800-E4A11CEFB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45B30-81E7-40E8-990E-F83A7886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0186F0-4BCD-4FE9-9499-767B4C45C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776596-52DD-428A-84F5-28370B7B2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44F2D-0FF2-4987-AF3F-8F159980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BA5B3-DBCE-41C1-B46A-AC50C6C3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15262-25DB-410A-8E33-BB82955A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573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1F1D32-224E-448C-BFA4-7CEA66AA5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250A1-C33A-45FC-87D2-E883FC81B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A091D-85F1-4666-8C6B-35746FC73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FE29F-082F-4001-9E7A-FE17454E3518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24988-4E4B-4E6A-B8AF-7F4655AD7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E0899-400D-4071-A9B3-8855BC117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A99F5-590A-4550-A071-3464D551D3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825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5" Type="http://schemas.openxmlformats.org/officeDocument/2006/relationships/image" Target="../media/image6.emf"/><Relationship Id="rId10" Type="http://schemas.openxmlformats.org/officeDocument/2006/relationships/image" Target="../media/image11.emf"/><Relationship Id="rId4" Type="http://schemas.openxmlformats.org/officeDocument/2006/relationships/image" Target="../media/image5.emf"/><Relationship Id="rId9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53FC-DE44-499A-8375-B8DFC3B11C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Place Value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08297-4D31-497C-AD52-E8D77E792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10366"/>
          </a:xfrm>
        </p:spPr>
        <p:txBody>
          <a:bodyPr/>
          <a:lstStyle/>
          <a:p>
            <a:r>
              <a:rPr lang="en-AU" sz="2400" kern="0" dirty="0"/>
              <a:t>EQ – How to estimate using lead digit rounding?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1391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86397"/>
            <a:ext cx="7772400" cy="6858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dirty="0"/>
              <a:t>What Goes In The Box ?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752600" y="1143000"/>
            <a:ext cx="6324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Round the following to the nearest whole number: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828800" y="228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(1) 4.8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828800" y="3048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(2) 7.4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1631504" y="1752601"/>
            <a:ext cx="903649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NB: always round 0.5 up . I.e.  12.5 ≈ 13 (to the nearest whole number).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1828800" y="38862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(3) 44.6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1828800" y="4724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(4) 87.5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1905000" y="5486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(5) 56.3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5029200" y="2438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(6) 287.6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4953000" y="3276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(7) 9.8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5029200" y="4038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(8) 49.6</a:t>
            </a: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5029200" y="4800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(9) 99.7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4876800" y="55626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(10) 399.5</a:t>
            </a:r>
          </a:p>
        </p:txBody>
      </p:sp>
      <p:sp>
        <p:nvSpPr>
          <p:cNvPr id="5136" name="Rectangle 16"/>
          <p:cNvSpPr>
            <a:spLocks noChangeArrowheads="1"/>
          </p:cNvSpPr>
          <p:nvPr/>
        </p:nvSpPr>
        <p:spPr bwMode="auto">
          <a:xfrm>
            <a:off x="3048000" y="22860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3048000" y="31242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5138" name="Rectangle 18"/>
          <p:cNvSpPr>
            <a:spLocks noChangeArrowheads="1"/>
          </p:cNvSpPr>
          <p:nvPr/>
        </p:nvSpPr>
        <p:spPr bwMode="auto">
          <a:xfrm>
            <a:off x="3048000" y="38862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9" name="Rectangle 19"/>
          <p:cNvSpPr>
            <a:spLocks noChangeArrowheads="1"/>
          </p:cNvSpPr>
          <p:nvPr/>
        </p:nvSpPr>
        <p:spPr bwMode="auto">
          <a:xfrm>
            <a:off x="3048000" y="4724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0" name="Rectangle 20"/>
          <p:cNvSpPr>
            <a:spLocks noChangeArrowheads="1"/>
          </p:cNvSpPr>
          <p:nvPr/>
        </p:nvSpPr>
        <p:spPr bwMode="auto">
          <a:xfrm>
            <a:off x="3048000" y="5486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1" name="Rectangle 21"/>
          <p:cNvSpPr>
            <a:spLocks noChangeArrowheads="1"/>
          </p:cNvSpPr>
          <p:nvPr/>
        </p:nvSpPr>
        <p:spPr bwMode="auto">
          <a:xfrm>
            <a:off x="6477000" y="23622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2" name="Rectangle 22"/>
          <p:cNvSpPr>
            <a:spLocks noChangeArrowheads="1"/>
          </p:cNvSpPr>
          <p:nvPr/>
        </p:nvSpPr>
        <p:spPr bwMode="auto">
          <a:xfrm>
            <a:off x="6477000" y="3200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3" name="Rectangle 23"/>
          <p:cNvSpPr>
            <a:spLocks noChangeArrowheads="1"/>
          </p:cNvSpPr>
          <p:nvPr/>
        </p:nvSpPr>
        <p:spPr bwMode="auto">
          <a:xfrm>
            <a:off x="6477000" y="3962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4" name="Rectangle 24"/>
          <p:cNvSpPr>
            <a:spLocks noChangeArrowheads="1"/>
          </p:cNvSpPr>
          <p:nvPr/>
        </p:nvSpPr>
        <p:spPr bwMode="auto">
          <a:xfrm>
            <a:off x="6477000" y="48006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5" name="Rectangle 25"/>
          <p:cNvSpPr>
            <a:spLocks noChangeArrowheads="1"/>
          </p:cNvSpPr>
          <p:nvPr/>
        </p:nvSpPr>
        <p:spPr bwMode="auto">
          <a:xfrm>
            <a:off x="6477000" y="55626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6" name="Text Box 26"/>
          <p:cNvSpPr txBox="1">
            <a:spLocks noChangeArrowheads="1"/>
          </p:cNvSpPr>
          <p:nvPr/>
        </p:nvSpPr>
        <p:spPr bwMode="auto">
          <a:xfrm>
            <a:off x="3200400" y="2362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147" name="Text Box 27"/>
          <p:cNvSpPr txBox="1">
            <a:spLocks noChangeArrowheads="1"/>
          </p:cNvSpPr>
          <p:nvPr/>
        </p:nvSpPr>
        <p:spPr bwMode="auto">
          <a:xfrm>
            <a:off x="3200400" y="3200400"/>
            <a:ext cx="685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148" name="Text Box 28"/>
          <p:cNvSpPr txBox="1">
            <a:spLocks noChangeArrowheads="1"/>
          </p:cNvSpPr>
          <p:nvPr/>
        </p:nvSpPr>
        <p:spPr bwMode="auto">
          <a:xfrm>
            <a:off x="3200400" y="3933056"/>
            <a:ext cx="685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5149" name="Text Box 29"/>
          <p:cNvSpPr txBox="1">
            <a:spLocks noChangeArrowheads="1"/>
          </p:cNvSpPr>
          <p:nvPr/>
        </p:nvSpPr>
        <p:spPr bwMode="auto">
          <a:xfrm>
            <a:off x="3124200" y="480060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88</a:t>
            </a:r>
          </a:p>
        </p:txBody>
      </p:sp>
      <p:sp>
        <p:nvSpPr>
          <p:cNvPr id="5150" name="Text Box 30"/>
          <p:cNvSpPr txBox="1">
            <a:spLocks noChangeArrowheads="1"/>
          </p:cNvSpPr>
          <p:nvPr/>
        </p:nvSpPr>
        <p:spPr bwMode="auto">
          <a:xfrm>
            <a:off x="3200400" y="5562600"/>
            <a:ext cx="838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5151" name="Text Box 31"/>
          <p:cNvSpPr txBox="1">
            <a:spLocks noChangeArrowheads="1"/>
          </p:cNvSpPr>
          <p:nvPr/>
        </p:nvSpPr>
        <p:spPr bwMode="auto">
          <a:xfrm>
            <a:off x="6553200" y="2438400"/>
            <a:ext cx="838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288</a:t>
            </a:r>
          </a:p>
        </p:txBody>
      </p:sp>
      <p:sp>
        <p:nvSpPr>
          <p:cNvPr id="5152" name="Text Box 32"/>
          <p:cNvSpPr txBox="1">
            <a:spLocks noChangeArrowheads="1"/>
          </p:cNvSpPr>
          <p:nvPr/>
        </p:nvSpPr>
        <p:spPr bwMode="auto">
          <a:xfrm>
            <a:off x="6553200" y="3276600"/>
            <a:ext cx="762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5153" name="Text Box 33"/>
          <p:cNvSpPr txBox="1">
            <a:spLocks noChangeArrowheads="1"/>
          </p:cNvSpPr>
          <p:nvPr/>
        </p:nvSpPr>
        <p:spPr bwMode="auto">
          <a:xfrm>
            <a:off x="6629400" y="4038600"/>
            <a:ext cx="762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5154" name="Text Box 34"/>
          <p:cNvSpPr txBox="1">
            <a:spLocks noChangeArrowheads="1"/>
          </p:cNvSpPr>
          <p:nvPr/>
        </p:nvSpPr>
        <p:spPr bwMode="auto">
          <a:xfrm>
            <a:off x="6553200" y="4800600"/>
            <a:ext cx="838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100</a:t>
            </a:r>
          </a:p>
        </p:txBody>
      </p:sp>
      <p:sp>
        <p:nvSpPr>
          <p:cNvPr id="5155" name="Text Box 35"/>
          <p:cNvSpPr txBox="1">
            <a:spLocks noChangeArrowheads="1"/>
          </p:cNvSpPr>
          <p:nvPr/>
        </p:nvSpPr>
        <p:spPr bwMode="auto">
          <a:xfrm>
            <a:off x="6553200" y="563880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400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6" grpId="0" autoUpdateAnimBg="0"/>
      <p:bldP spid="5147" grpId="0" animBg="1" autoUpdateAnimBg="0"/>
      <p:bldP spid="5148" grpId="0" animBg="1" autoUpdateAnimBg="0"/>
      <p:bldP spid="5149" grpId="0" animBg="1" autoUpdateAnimBg="0"/>
      <p:bldP spid="5150" grpId="0" animBg="1" autoUpdateAnimBg="0"/>
      <p:bldP spid="5151" grpId="0" animBg="1" autoUpdateAnimBg="0"/>
      <p:bldP spid="5152" grpId="0" animBg="1" autoUpdateAnimBg="0"/>
      <p:bldP spid="5153" grpId="0" animBg="1" autoUpdateAnimBg="0"/>
      <p:bldP spid="5154" grpId="0" animBg="1" autoUpdateAnimBg="0"/>
      <p:bldP spid="5155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1143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GB" altLang="en-US" dirty="0"/>
              <a:t>Rounding To The Nearest 10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981200" y="1698674"/>
            <a:ext cx="3962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Round 467 to the nearest ten.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1905000" y="2590800"/>
            <a:ext cx="45720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Which number is the tens number ?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3124200" y="2133600"/>
            <a:ext cx="4076700" cy="914400"/>
            <a:chOff x="1008" y="1344"/>
            <a:chExt cx="2568" cy="576"/>
          </a:xfrm>
        </p:grpSpPr>
        <p:sp>
          <p:nvSpPr>
            <p:cNvPr id="24605" name="Text Box 5"/>
            <p:cNvSpPr txBox="1">
              <a:spLocks noChangeArrowheads="1"/>
            </p:cNvSpPr>
            <p:nvPr/>
          </p:nvSpPr>
          <p:spPr bwMode="auto">
            <a:xfrm>
              <a:off x="3240" y="1632"/>
              <a:ext cx="336" cy="2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24606" name="Line 7"/>
            <p:cNvSpPr>
              <a:spLocks noChangeShapeType="1"/>
            </p:cNvSpPr>
            <p:nvPr/>
          </p:nvSpPr>
          <p:spPr bwMode="auto">
            <a:xfrm>
              <a:off x="1008" y="1344"/>
              <a:ext cx="96" cy="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1905000" y="3352800"/>
            <a:ext cx="6705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Is the number after the 6 greater or smaller than 5 ?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8832304" y="333756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7 &gt; 5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7353300" y="3903662"/>
            <a:ext cx="29718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u="sng" dirty="0"/>
              <a:t>Rule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i="1" dirty="0"/>
              <a:t>If the number is greater than or equal to 5 then round up.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1905000" y="4191000"/>
            <a:ext cx="4343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Now round 467 to the nearest ten.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1905000" y="5029200"/>
            <a:ext cx="4114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467 ≈ 470 (to the nearest ten).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1905000" y="5746576"/>
            <a:ext cx="6781800" cy="1066800"/>
            <a:chOff x="240" y="3552"/>
            <a:chExt cx="4272" cy="672"/>
          </a:xfrm>
        </p:grpSpPr>
        <p:grpSp>
          <p:nvGrpSpPr>
            <p:cNvPr id="24587" name="Group 15"/>
            <p:cNvGrpSpPr>
              <a:grpSpLocks/>
            </p:cNvGrpSpPr>
            <p:nvPr/>
          </p:nvGrpSpPr>
          <p:grpSpPr bwMode="auto">
            <a:xfrm>
              <a:off x="240" y="3552"/>
              <a:ext cx="4272" cy="624"/>
              <a:chOff x="192" y="1536"/>
              <a:chExt cx="4272" cy="624"/>
            </a:xfrm>
          </p:grpSpPr>
          <p:grpSp>
            <p:nvGrpSpPr>
              <p:cNvPr id="24590" name="Group 16"/>
              <p:cNvGrpSpPr>
                <a:grpSpLocks/>
              </p:cNvGrpSpPr>
              <p:nvPr/>
            </p:nvGrpSpPr>
            <p:grpSpPr bwMode="auto">
              <a:xfrm>
                <a:off x="288" y="1536"/>
                <a:ext cx="4080" cy="336"/>
                <a:chOff x="336" y="2016"/>
                <a:chExt cx="4080" cy="336"/>
              </a:xfrm>
            </p:grpSpPr>
            <p:sp>
              <p:nvSpPr>
                <p:cNvPr id="24593" name="Line 17"/>
                <p:cNvSpPr>
                  <a:spLocks noChangeShapeType="1"/>
                </p:cNvSpPr>
                <p:nvPr/>
              </p:nvSpPr>
              <p:spPr bwMode="auto">
                <a:xfrm>
                  <a:off x="336" y="2016"/>
                  <a:ext cx="408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4" name="Line 18"/>
                <p:cNvSpPr>
                  <a:spLocks noChangeShapeType="1"/>
                </p:cNvSpPr>
                <p:nvPr/>
              </p:nvSpPr>
              <p:spPr bwMode="auto">
                <a:xfrm>
                  <a:off x="336" y="2016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5" name="Line 19"/>
                <p:cNvSpPr>
                  <a:spLocks noChangeShapeType="1"/>
                </p:cNvSpPr>
                <p:nvPr/>
              </p:nvSpPr>
              <p:spPr bwMode="auto">
                <a:xfrm>
                  <a:off x="720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6" name="Line 20"/>
                <p:cNvSpPr>
                  <a:spLocks noChangeShapeType="1"/>
                </p:cNvSpPr>
                <p:nvPr/>
              </p:nvSpPr>
              <p:spPr bwMode="auto">
                <a:xfrm>
                  <a:off x="1104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7" name="Line 21"/>
                <p:cNvSpPr>
                  <a:spLocks noChangeShapeType="1"/>
                </p:cNvSpPr>
                <p:nvPr/>
              </p:nvSpPr>
              <p:spPr bwMode="auto">
                <a:xfrm>
                  <a:off x="1488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8" name="Line 22"/>
                <p:cNvSpPr>
                  <a:spLocks noChangeShapeType="1"/>
                </p:cNvSpPr>
                <p:nvPr/>
              </p:nvSpPr>
              <p:spPr bwMode="auto">
                <a:xfrm>
                  <a:off x="1872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9" name="Line 23"/>
                <p:cNvSpPr>
                  <a:spLocks noChangeShapeType="1"/>
                </p:cNvSpPr>
                <p:nvPr/>
              </p:nvSpPr>
              <p:spPr bwMode="auto">
                <a:xfrm>
                  <a:off x="2256" y="2016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0" name="Line 24"/>
                <p:cNvSpPr>
                  <a:spLocks noChangeShapeType="1"/>
                </p:cNvSpPr>
                <p:nvPr/>
              </p:nvSpPr>
              <p:spPr bwMode="auto">
                <a:xfrm>
                  <a:off x="2640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1" name="Line 25"/>
                <p:cNvSpPr>
                  <a:spLocks noChangeShapeType="1"/>
                </p:cNvSpPr>
                <p:nvPr/>
              </p:nvSpPr>
              <p:spPr bwMode="auto">
                <a:xfrm>
                  <a:off x="3024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2" name="Line 26"/>
                <p:cNvSpPr>
                  <a:spLocks noChangeShapeType="1"/>
                </p:cNvSpPr>
                <p:nvPr/>
              </p:nvSpPr>
              <p:spPr bwMode="auto">
                <a:xfrm>
                  <a:off x="3408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3" name="Line 27"/>
                <p:cNvSpPr>
                  <a:spLocks noChangeShapeType="1"/>
                </p:cNvSpPr>
                <p:nvPr/>
              </p:nvSpPr>
              <p:spPr bwMode="auto">
                <a:xfrm>
                  <a:off x="3792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4" name="Line 28"/>
                <p:cNvSpPr>
                  <a:spLocks noChangeShapeType="1"/>
                </p:cNvSpPr>
                <p:nvPr/>
              </p:nvSpPr>
              <p:spPr bwMode="auto">
                <a:xfrm>
                  <a:off x="4176" y="2016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4591" name="Text Box 29"/>
              <p:cNvSpPr txBox="1">
                <a:spLocks noChangeArrowheads="1"/>
              </p:cNvSpPr>
              <p:nvPr/>
            </p:nvSpPr>
            <p:spPr bwMode="auto">
              <a:xfrm>
                <a:off x="192" y="1872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460</a:t>
                </a:r>
              </a:p>
            </p:txBody>
          </p:sp>
          <p:sp>
            <p:nvSpPr>
              <p:cNvPr id="24592" name="Text Box 30"/>
              <p:cNvSpPr txBox="1">
                <a:spLocks noChangeArrowheads="1"/>
              </p:cNvSpPr>
              <p:nvPr/>
            </p:nvSpPr>
            <p:spPr bwMode="auto">
              <a:xfrm>
                <a:off x="4032" y="18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470</a:t>
                </a:r>
              </a:p>
            </p:txBody>
          </p:sp>
        </p:grpSp>
        <p:sp>
          <p:nvSpPr>
            <p:cNvPr id="24588" name="Text Box 31"/>
            <p:cNvSpPr txBox="1">
              <a:spLocks noChangeArrowheads="1"/>
            </p:cNvSpPr>
            <p:nvPr/>
          </p:nvSpPr>
          <p:spPr bwMode="auto">
            <a:xfrm>
              <a:off x="2784" y="3936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467</a:t>
              </a:r>
            </a:p>
          </p:txBody>
        </p:sp>
        <p:sp>
          <p:nvSpPr>
            <p:cNvPr id="24589" name="Line 32"/>
            <p:cNvSpPr>
              <a:spLocks noChangeShapeType="1"/>
            </p:cNvSpPr>
            <p:nvPr/>
          </p:nvSpPr>
          <p:spPr bwMode="auto">
            <a:xfrm flipV="1">
              <a:off x="3024" y="374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0" grpId="0" animBg="1" autoUpdateAnimBg="0"/>
      <p:bldP spid="13321" grpId="0" animBg="1" autoUpdateAnimBg="0"/>
      <p:bldP spid="13323" grpId="0" animBg="1" autoUpdateAnimBg="0"/>
      <p:bldP spid="13324" grpId="0" animBg="1" autoUpdateAnimBg="0"/>
      <p:bldP spid="13325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752600" y="304800"/>
            <a:ext cx="5105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Round 23 438 to the nearest hundred.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828800" y="1219200"/>
            <a:ext cx="5181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Which number is the hundreds number ?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3124200" y="671733"/>
            <a:ext cx="4572000" cy="990600"/>
            <a:chOff x="1008" y="432"/>
            <a:chExt cx="2880" cy="624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5627" name="Text Box 6"/>
            <p:cNvSpPr txBox="1">
              <a:spLocks noChangeArrowheads="1"/>
            </p:cNvSpPr>
            <p:nvPr/>
          </p:nvSpPr>
          <p:spPr bwMode="auto">
            <a:xfrm>
              <a:off x="3552" y="768"/>
              <a:ext cx="336" cy="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5628" name="Line 7"/>
            <p:cNvSpPr>
              <a:spLocks noChangeShapeType="1"/>
            </p:cNvSpPr>
            <p:nvPr/>
          </p:nvSpPr>
          <p:spPr bwMode="auto">
            <a:xfrm>
              <a:off x="1008" y="432"/>
              <a:ext cx="96" cy="0"/>
            </a:xfrm>
            <a:prstGeom prst="line">
              <a:avLst/>
            </a:prstGeom>
            <a:grpFill/>
            <a:ln w="57150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1828800" y="1981200"/>
            <a:ext cx="6705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Is the number after the 4 greater or smaller than 5 ?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8760296" y="198884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3 &lt; 5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7391400" y="3429000"/>
            <a:ext cx="29718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u="sng">
                <a:solidFill>
                  <a:schemeClr val="bg1"/>
                </a:solidFill>
              </a:rPr>
              <a:t>Rule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i="1">
                <a:solidFill>
                  <a:schemeClr val="bg1"/>
                </a:solidFill>
              </a:rPr>
              <a:t>If the number is greater than or equal to 5 then round up.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1828800" y="2819400"/>
            <a:ext cx="5562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Now round 23 438 to the nearest hundred.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1828800" y="3657600"/>
            <a:ext cx="5334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23 438= 23 400 (to the nearest hundred).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1905000" y="5410200"/>
            <a:ext cx="7391400" cy="1219200"/>
            <a:chOff x="240" y="3408"/>
            <a:chExt cx="4656" cy="768"/>
          </a:xfrm>
        </p:grpSpPr>
        <p:grpSp>
          <p:nvGrpSpPr>
            <p:cNvPr id="25610" name="Group 16"/>
            <p:cNvGrpSpPr>
              <a:grpSpLocks/>
            </p:cNvGrpSpPr>
            <p:nvPr/>
          </p:nvGrpSpPr>
          <p:grpSpPr bwMode="auto">
            <a:xfrm>
              <a:off x="336" y="3408"/>
              <a:ext cx="4080" cy="336"/>
              <a:chOff x="336" y="2016"/>
              <a:chExt cx="4080" cy="336"/>
            </a:xfrm>
          </p:grpSpPr>
          <p:sp>
            <p:nvSpPr>
              <p:cNvPr id="25615" name="Line 17"/>
              <p:cNvSpPr>
                <a:spLocks noChangeShapeType="1"/>
              </p:cNvSpPr>
              <p:nvPr/>
            </p:nvSpPr>
            <p:spPr bwMode="auto">
              <a:xfrm>
                <a:off x="336" y="2016"/>
                <a:ext cx="40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6" name="Line 18"/>
              <p:cNvSpPr>
                <a:spLocks noChangeShapeType="1"/>
              </p:cNvSpPr>
              <p:nvPr/>
            </p:nvSpPr>
            <p:spPr bwMode="auto">
              <a:xfrm>
                <a:off x="336" y="2016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7" name="Line 19"/>
              <p:cNvSpPr>
                <a:spLocks noChangeShapeType="1"/>
              </p:cNvSpPr>
              <p:nvPr/>
            </p:nvSpPr>
            <p:spPr bwMode="auto">
              <a:xfrm>
                <a:off x="720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8" name="Line 20"/>
              <p:cNvSpPr>
                <a:spLocks noChangeShapeType="1"/>
              </p:cNvSpPr>
              <p:nvPr/>
            </p:nvSpPr>
            <p:spPr bwMode="auto">
              <a:xfrm>
                <a:off x="1104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9" name="Line 21"/>
              <p:cNvSpPr>
                <a:spLocks noChangeShapeType="1"/>
              </p:cNvSpPr>
              <p:nvPr/>
            </p:nvSpPr>
            <p:spPr bwMode="auto">
              <a:xfrm>
                <a:off x="1488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0" name="Line 22"/>
              <p:cNvSpPr>
                <a:spLocks noChangeShapeType="1"/>
              </p:cNvSpPr>
              <p:nvPr/>
            </p:nvSpPr>
            <p:spPr bwMode="auto">
              <a:xfrm>
                <a:off x="1872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1" name="Line 23"/>
              <p:cNvSpPr>
                <a:spLocks noChangeShapeType="1"/>
              </p:cNvSpPr>
              <p:nvPr/>
            </p:nvSpPr>
            <p:spPr bwMode="auto">
              <a:xfrm>
                <a:off x="2256" y="2016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2" name="Line 24"/>
              <p:cNvSpPr>
                <a:spLocks noChangeShapeType="1"/>
              </p:cNvSpPr>
              <p:nvPr/>
            </p:nvSpPr>
            <p:spPr bwMode="auto">
              <a:xfrm>
                <a:off x="2640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3" name="Line 25"/>
              <p:cNvSpPr>
                <a:spLocks noChangeShapeType="1"/>
              </p:cNvSpPr>
              <p:nvPr/>
            </p:nvSpPr>
            <p:spPr bwMode="auto">
              <a:xfrm>
                <a:off x="3024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4" name="Line 26"/>
              <p:cNvSpPr>
                <a:spLocks noChangeShapeType="1"/>
              </p:cNvSpPr>
              <p:nvPr/>
            </p:nvSpPr>
            <p:spPr bwMode="auto">
              <a:xfrm>
                <a:off x="3408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5" name="Line 27"/>
              <p:cNvSpPr>
                <a:spLocks noChangeShapeType="1"/>
              </p:cNvSpPr>
              <p:nvPr/>
            </p:nvSpPr>
            <p:spPr bwMode="auto">
              <a:xfrm>
                <a:off x="3792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6" name="Line 28"/>
              <p:cNvSpPr>
                <a:spLocks noChangeShapeType="1"/>
              </p:cNvSpPr>
              <p:nvPr/>
            </p:nvSpPr>
            <p:spPr bwMode="auto">
              <a:xfrm>
                <a:off x="4176" y="2016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11" name="Text Box 29"/>
            <p:cNvSpPr txBox="1">
              <a:spLocks noChangeArrowheads="1"/>
            </p:cNvSpPr>
            <p:nvPr/>
          </p:nvSpPr>
          <p:spPr bwMode="auto">
            <a:xfrm>
              <a:off x="240" y="3744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23 400</a:t>
              </a:r>
            </a:p>
          </p:txBody>
        </p:sp>
        <p:sp>
          <p:nvSpPr>
            <p:cNvPr id="25612" name="Text Box 30"/>
            <p:cNvSpPr txBox="1">
              <a:spLocks noChangeArrowheads="1"/>
            </p:cNvSpPr>
            <p:nvPr/>
          </p:nvSpPr>
          <p:spPr bwMode="auto">
            <a:xfrm>
              <a:off x="4080" y="3744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23 500</a:t>
              </a:r>
            </a:p>
          </p:txBody>
        </p:sp>
        <p:sp>
          <p:nvSpPr>
            <p:cNvPr id="25613" name="Text Box 31"/>
            <p:cNvSpPr txBox="1">
              <a:spLocks noChangeArrowheads="1"/>
            </p:cNvSpPr>
            <p:nvPr/>
          </p:nvSpPr>
          <p:spPr bwMode="auto">
            <a:xfrm>
              <a:off x="1488" y="3888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23 438</a:t>
              </a:r>
            </a:p>
          </p:txBody>
        </p:sp>
        <p:sp>
          <p:nvSpPr>
            <p:cNvPr id="25614" name="Line 32"/>
            <p:cNvSpPr>
              <a:spLocks noChangeShapeType="1"/>
            </p:cNvSpPr>
            <p:nvPr/>
          </p:nvSpPr>
          <p:spPr bwMode="auto">
            <a:xfrm flipV="1">
              <a:off x="1776" y="355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animBg="1" autoUpdateAnimBg="0"/>
      <p:bldP spid="14345" grpId="0" animBg="1" autoUpdateAnimBg="0"/>
      <p:bldP spid="14346" grpId="0" animBg="1" autoUpdateAnimBg="0"/>
      <p:bldP spid="14347" grpId="0" animBg="1" autoUpdateAnimBg="0"/>
      <p:bldP spid="14348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62597"/>
            <a:ext cx="7772400" cy="762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GB" altLang="en-US" dirty="0"/>
              <a:t>What Goes In The Box ? 2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905000" y="1371600"/>
            <a:ext cx="5943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Round the numbers below to the required unit: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828800" y="220980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(1) 67 to the nearest ten = 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1752600" y="30480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(2) 943 to the nearest hundred = 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752600" y="40386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(3) 518 to the nearest ten = 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1828800" y="4876800"/>
            <a:ext cx="533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(4) 5 218 to the nearest hundred = 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6744072" y="2095128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6781800" y="2971800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6781800" y="3886200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7086600" y="4800600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6934200" y="2252003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70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6934200" y="30480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900</a:t>
            </a: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6858000" y="39624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520</a:t>
            </a:r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7239000" y="4876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5 200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2" grpId="0" autoUpdateAnimBg="0"/>
      <p:bldP spid="15373" grpId="0" autoUpdateAnimBg="0"/>
      <p:bldP spid="15374" grpId="0" autoUpdateAnimBg="0"/>
      <p:bldP spid="1537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kern="0" dirty="0">
                <a:solidFill>
                  <a:sysClr val="windowText" lastClr="000000"/>
                </a:solidFill>
              </a:rPr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43515" y="4043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sz="1600" kern="0" dirty="0"/>
              <a:t>24</a:t>
            </a:r>
          </a:p>
          <a:p>
            <a:pPr defTabSz="914377">
              <a:defRPr/>
            </a:pPr>
            <a:r>
              <a:rPr lang="en-AU" sz="1600" kern="0" dirty="0"/>
              <a:t>7</a:t>
            </a:r>
          </a:p>
          <a:p>
            <a:pPr defTabSz="914377">
              <a:defRPr/>
            </a:pPr>
            <a:r>
              <a:rPr lang="en-AU" sz="1600" kern="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896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93082" y="1671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sz="2400" kern="0" dirty="0"/>
              <a:t>Date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6" y="859985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sz="2400" kern="0" dirty="0"/>
              <a:t>EQ – How to estimate using lead digit rounding?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466" y="1545253"/>
            <a:ext cx="212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kern="0" dirty="0"/>
              <a:t>How do we estimate?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593" y="226280"/>
            <a:ext cx="1859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>
              <a:defRPr/>
            </a:pPr>
            <a:r>
              <a:rPr lang="en-AU" sz="2800" kern="0" dirty="0"/>
              <a:t>Place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22982" y="1569924"/>
            <a:ext cx="656550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sz="2000" kern="0" dirty="0"/>
              <a:t>It is not always possible or convenient to work out or give exact answer to a problem. </a:t>
            </a:r>
          </a:p>
          <a:p>
            <a:pPr>
              <a:spcBef>
                <a:spcPts val="600"/>
              </a:spcBef>
              <a:defRPr/>
            </a:pPr>
            <a:r>
              <a:rPr lang="en-US" sz="2000" kern="0" dirty="0"/>
              <a:t>It is not a guess, but a quick approximation of an answer.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09121" y="2867775"/>
            <a:ext cx="6263347" cy="109260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sz="2000" kern="0" dirty="0"/>
              <a:t>Method : Round to the first digit and carry out the operation. </a:t>
            </a:r>
          </a:p>
          <a:p>
            <a:pPr>
              <a:spcBef>
                <a:spcPts val="600"/>
              </a:spcBef>
              <a:defRPr/>
            </a:pPr>
            <a:r>
              <a:rPr lang="en-US" sz="2000" kern="0" dirty="0"/>
              <a:t>≈ symbol is used to indicate approximation</a:t>
            </a:r>
          </a:p>
        </p:txBody>
      </p:sp>
    </p:spTree>
    <p:extLst>
      <p:ext uri="{BB962C8B-B14F-4D97-AF65-F5344CB8AC3E}">
        <p14:creationId xmlns:p14="http://schemas.microsoft.com/office/powerpoint/2010/main" val="2876816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kern="0" dirty="0">
                <a:solidFill>
                  <a:sysClr val="windowText" lastClr="000000"/>
                </a:solidFill>
              </a:rPr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43515" y="4043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sz="1600" kern="0" dirty="0"/>
              <a:t>24</a:t>
            </a:r>
          </a:p>
          <a:p>
            <a:pPr defTabSz="914377">
              <a:defRPr/>
            </a:pPr>
            <a:r>
              <a:rPr lang="en-AU" sz="1600" kern="0" dirty="0"/>
              <a:t>7</a:t>
            </a:r>
          </a:p>
          <a:p>
            <a:pPr defTabSz="914377">
              <a:defRPr/>
            </a:pPr>
            <a:r>
              <a:rPr lang="en-AU" sz="1600" kern="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896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93082" y="1671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sz="2400" kern="0" dirty="0"/>
              <a:t>Date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6" y="859985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sz="2400" kern="0" dirty="0"/>
              <a:t>EQ – How to estimate using lead digit rounding?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466" y="1545253"/>
            <a:ext cx="212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kern="0" dirty="0"/>
              <a:t>How do we estimate?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593" y="226280"/>
            <a:ext cx="1859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>
              <a:defRPr/>
            </a:pPr>
            <a:r>
              <a:rPr lang="en-AU" sz="2800" kern="0" dirty="0"/>
              <a:t>Place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22982" y="1569924"/>
            <a:ext cx="656550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sz="2000" kern="0" dirty="0"/>
              <a:t>It is not always possible or convenient to work out or give exact answer to a problem. </a:t>
            </a:r>
          </a:p>
          <a:p>
            <a:pPr>
              <a:spcBef>
                <a:spcPts val="600"/>
              </a:spcBef>
              <a:defRPr/>
            </a:pPr>
            <a:r>
              <a:rPr lang="en-US" sz="2000" kern="0" dirty="0"/>
              <a:t>It is not a guess, but a quick approximation of an answer.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4020770" y="4366222"/>
                <a:ext cx="6254818" cy="2354491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defRPr/>
                </a:pPr>
                <a:r>
                  <a:rPr lang="en-US" sz="2400" i="1" kern="0" dirty="0">
                    <a:latin typeface="Cambria Math" panose="02040503050406030204" pitchFamily="18" charset="0"/>
                  </a:rPr>
                  <a:t>Example 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kern="0">
                        <a:latin typeface="Cambria Math" panose="02040503050406030204" pitchFamily="18" charset="0"/>
                      </a:rPr>
                      <m:t>.36+3.78</m:t>
                    </m:r>
                  </m:oMath>
                </a14:m>
                <a:endParaRPr lang="en-US" sz="2400" kern="0" dirty="0"/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i="1" kern="0">
                        <a:latin typeface="Cambria Math" panose="02040503050406030204" pitchFamily="18" charset="0"/>
                      </a:rPr>
                      <m:t>2.1×3.72</m:t>
                    </m:r>
                  </m:oMath>
                </a14:m>
                <a:endParaRPr lang="en-US" sz="2400" i="1" kern="0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896÷3.12</m:t>
                    </m:r>
                  </m:oMath>
                </a14:m>
                <a:endParaRPr lang="en-US" sz="2400" kern="0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770" y="4366222"/>
                <a:ext cx="6254818" cy="2354491"/>
              </a:xfrm>
              <a:prstGeom prst="rect">
                <a:avLst/>
              </a:prstGeom>
              <a:blipFill>
                <a:blip r:embed="rId2"/>
                <a:stretch>
                  <a:fillRect l="-1559" t="-2073" b="-20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4009121" y="2779505"/>
            <a:ext cx="6263347" cy="127727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sz="2400" kern="0" dirty="0"/>
              <a:t>Method : Round to the first digit and carry out the operation. </a:t>
            </a:r>
          </a:p>
          <a:p>
            <a:pPr>
              <a:spcBef>
                <a:spcPts val="600"/>
              </a:spcBef>
              <a:defRPr/>
            </a:pPr>
            <a:r>
              <a:rPr lang="en-US" sz="2400" kern="0" dirty="0"/>
              <a:t>≈ symbol is used to indicate approximation</a:t>
            </a:r>
          </a:p>
        </p:txBody>
      </p:sp>
    </p:spTree>
    <p:extLst>
      <p:ext uri="{BB962C8B-B14F-4D97-AF65-F5344CB8AC3E}">
        <p14:creationId xmlns:p14="http://schemas.microsoft.com/office/powerpoint/2010/main" val="3871554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kern="0" dirty="0">
                <a:solidFill>
                  <a:sysClr val="windowText" lastClr="000000"/>
                </a:solidFill>
              </a:rPr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43515" y="4043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sz="1600" kern="0" dirty="0"/>
              <a:t>24</a:t>
            </a:r>
          </a:p>
          <a:p>
            <a:pPr defTabSz="914377">
              <a:defRPr/>
            </a:pPr>
            <a:r>
              <a:rPr lang="en-AU" sz="1600" kern="0" dirty="0"/>
              <a:t>7</a:t>
            </a:r>
          </a:p>
          <a:p>
            <a:pPr defTabSz="914377">
              <a:defRPr/>
            </a:pPr>
            <a:r>
              <a:rPr lang="en-AU" sz="1600" kern="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896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93082" y="16718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sz="2400" kern="0" dirty="0"/>
              <a:t>Date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6" y="859985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AU" sz="2400" kern="0" dirty="0"/>
              <a:t>EQ – How to estimate using lead digit rounding?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466" y="1545253"/>
            <a:ext cx="212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kern="0" dirty="0"/>
              <a:t>How do we estimate?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593" y="226280"/>
            <a:ext cx="1859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>
              <a:defRPr/>
            </a:pPr>
            <a:r>
              <a:rPr lang="en-AU" sz="2800" kern="0" dirty="0"/>
              <a:t>Place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22982" y="1569924"/>
            <a:ext cx="656550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sz="2000" kern="0" dirty="0"/>
              <a:t>It is not always possible or convenient to work out or give exact answer to a problem. </a:t>
            </a:r>
          </a:p>
          <a:p>
            <a:pPr>
              <a:spcBef>
                <a:spcPts val="600"/>
              </a:spcBef>
              <a:defRPr/>
            </a:pPr>
            <a:r>
              <a:rPr lang="en-US" sz="2000" kern="0" dirty="0"/>
              <a:t>It is not a guess, but a quick approximation of an answer.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4020770" y="4366222"/>
                <a:ext cx="6254818" cy="2289473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defRPr/>
                </a:pPr>
                <a:r>
                  <a:rPr lang="en-US" sz="2400" i="1" kern="0" dirty="0">
                    <a:latin typeface="Cambria Math" panose="02040503050406030204" pitchFamily="18" charset="0"/>
                  </a:rPr>
                  <a:t>Example 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kern="0">
                        <a:latin typeface="Cambria Math" panose="02040503050406030204" pitchFamily="18" charset="0"/>
                      </a:rPr>
                      <m:t>.36+3.78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4+4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2400" kern="0" dirty="0"/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i="1" kern="0">
                        <a:latin typeface="Cambria Math" panose="02040503050406030204" pitchFamily="18" charset="0"/>
                      </a:rPr>
                      <m:t>2.1×3.72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60×4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240</m:t>
                    </m:r>
                  </m:oMath>
                </a14:m>
                <a:endParaRPr lang="en-US" sz="2400" i="1" kern="0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896÷3.12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900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</m:t>
                    </m:r>
                  </m:oMath>
                </a14:m>
                <a:endParaRPr lang="en-US" sz="2400" kern="0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770" y="4366222"/>
                <a:ext cx="6254818" cy="2289473"/>
              </a:xfrm>
              <a:prstGeom prst="rect">
                <a:avLst/>
              </a:prstGeom>
              <a:blipFill>
                <a:blip r:embed="rId2"/>
                <a:stretch>
                  <a:fillRect l="-1559" t="-2128" b="-47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4009121" y="2779505"/>
            <a:ext cx="6263347" cy="127727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sz="2400" kern="0" dirty="0"/>
              <a:t>Method : Round to the first digit and carry out the operation. </a:t>
            </a:r>
          </a:p>
          <a:p>
            <a:pPr>
              <a:spcBef>
                <a:spcPts val="600"/>
              </a:spcBef>
              <a:defRPr/>
            </a:pPr>
            <a:r>
              <a:rPr lang="en-US" sz="2400" kern="0" dirty="0"/>
              <a:t>≈ symbol is used to indicate approximation</a:t>
            </a:r>
          </a:p>
        </p:txBody>
      </p:sp>
    </p:spTree>
    <p:extLst>
      <p:ext uri="{BB962C8B-B14F-4D97-AF65-F5344CB8AC3E}">
        <p14:creationId xmlns:p14="http://schemas.microsoft.com/office/powerpoint/2010/main" val="1154596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Tasks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207567" y="1937676"/>
            <a:ext cx="2259013" cy="3579556"/>
            <a:chOff x="683566" y="1937676"/>
            <a:chExt cx="2259013" cy="357955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346" y="1937676"/>
              <a:ext cx="286735" cy="26718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568" y="2193137"/>
              <a:ext cx="322577" cy="293906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4"/>
            <a:srcRect t="18004" b="-1"/>
            <a:stretch/>
          </p:blipFill>
          <p:spPr>
            <a:xfrm>
              <a:off x="683567" y="2460325"/>
              <a:ext cx="322577" cy="3943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5"/>
            <a:srcRect l="11269" t="25632" r="42368" b="-1369"/>
            <a:stretch/>
          </p:blipFill>
          <p:spPr>
            <a:xfrm>
              <a:off x="683566" y="2854674"/>
              <a:ext cx="216025" cy="51264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6"/>
            <a:srcRect t="3451" b="5205"/>
            <a:stretch/>
          </p:blipFill>
          <p:spPr>
            <a:xfrm>
              <a:off x="899592" y="1937676"/>
              <a:ext cx="2042987" cy="3579556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3566" y="3353392"/>
              <a:ext cx="286735" cy="507656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3566" y="3829676"/>
              <a:ext cx="286735" cy="365156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9"/>
            <a:srcRect l="1" r="18182" b="-6935"/>
            <a:stretch/>
          </p:blipFill>
          <p:spPr>
            <a:xfrm>
              <a:off x="683569" y="4194832"/>
              <a:ext cx="322576" cy="31428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10"/>
            <a:srcRect r="38462"/>
            <a:stretch/>
          </p:blipFill>
          <p:spPr>
            <a:xfrm>
              <a:off x="683566" y="4433856"/>
              <a:ext cx="286735" cy="64125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 rotWithShape="1">
            <a:blip r:embed="rId11"/>
            <a:srcRect l="2" t="1" r="20000" b="3671"/>
            <a:stretch/>
          </p:blipFill>
          <p:spPr>
            <a:xfrm>
              <a:off x="683567" y="5051247"/>
              <a:ext cx="286734" cy="465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7212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0016" y="587500"/>
            <a:ext cx="4240486" cy="132933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AU" sz="2600" dirty="0">
                <a:latin typeface="Comic Sans MS" panose="030F0702030302020204" pitchFamily="66" charset="0"/>
              </a:rPr>
              <a:t>I'm </a:t>
            </a:r>
            <a:r>
              <a:rPr lang="en-AU" sz="2600" dirty="0" err="1">
                <a:latin typeface="Comic Sans MS" panose="030F0702030302020204" pitchFamily="66" charset="0"/>
              </a:rPr>
              <a:t>gonna</a:t>
            </a:r>
            <a:r>
              <a:rPr lang="en-AU" sz="2600" dirty="0">
                <a:latin typeface="Comic Sans MS" panose="030F0702030302020204" pitchFamily="66" charset="0"/>
              </a:rPr>
              <a:t> pop some tags</a:t>
            </a:r>
            <a:br>
              <a:rPr lang="en-AU" sz="2600" dirty="0">
                <a:latin typeface="Comic Sans MS" panose="030F0702030302020204" pitchFamily="66" charset="0"/>
              </a:rPr>
            </a:br>
            <a:r>
              <a:rPr lang="en-AU" sz="2600" dirty="0">
                <a:latin typeface="Comic Sans MS" panose="030F0702030302020204" pitchFamily="66" charset="0"/>
              </a:rPr>
              <a:t>Only got twenty dollars in my pocket</a:t>
            </a:r>
            <a:endParaRPr lang="en-US" sz="2600" dirty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2" y="587501"/>
            <a:ext cx="4176464" cy="5905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79577" y="1997330"/>
            <a:ext cx="3528995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Lucida Handwriting" panose="03010101010101010101" pitchFamily="66" charset="0"/>
              </a:rPr>
              <a:t>2 x Milk (2L)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Lucida Handwriting" panose="03010101010101010101" pitchFamily="66" charset="0"/>
              </a:rPr>
              <a:t>1 x Nutella 750 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Lucida Handwriting" panose="03010101010101010101" pitchFamily="66" charset="0"/>
              </a:rPr>
              <a:t>2 x Avocado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Lucida Handwriting" panose="03010101010101010101" pitchFamily="66" charset="0"/>
              </a:rPr>
              <a:t>1 x Marshmallows Ba</a:t>
            </a: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0016" y="4267593"/>
          <a:ext cx="42404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243">
                  <a:extLst>
                    <a:ext uri="{9D8B030D-6E8A-4147-A177-3AD203B41FA5}">
                      <a16:colId xmlns:a16="http://schemas.microsoft.com/office/drawing/2014/main" val="3543554502"/>
                    </a:ext>
                  </a:extLst>
                </a:gridCol>
                <a:gridCol w="2120243">
                  <a:extLst>
                    <a:ext uri="{9D8B030D-6E8A-4147-A177-3AD203B41FA5}">
                      <a16:colId xmlns:a16="http://schemas.microsoft.com/office/drawing/2014/main" val="1546808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1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Milk</a:t>
                      </a:r>
                      <a:r>
                        <a:rPr lang="en-US" baseline="0" dirty="0"/>
                        <a:t> (2 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373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Nutella (750 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357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Avocado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09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Marshmallows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64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178742"/>
                  </a:ext>
                </a:extLst>
              </a:tr>
            </a:tbl>
          </a:graphicData>
        </a:graphic>
      </p:graphicFrame>
      <p:pic>
        <p:nvPicPr>
          <p:cNvPr id="7" name="Picture 6" descr="Mary Reibey &lt;strong&gt;Australian&lt;/strong&gt; $&lt;strong&gt;20&lt;/strong&gt; note (front) | Mary Reibey Convi ...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93" y="4393226"/>
            <a:ext cx="3603209" cy="15358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40016" y="2204864"/>
            <a:ext cx="42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Can I buy the products in the shopping list with $20?</a:t>
            </a:r>
          </a:p>
        </p:txBody>
      </p:sp>
      <p:pic>
        <p:nvPicPr>
          <p:cNvPr id="10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696400" y="320078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7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24878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036EB1-A1BB-4965-A889-FD7401B632FA}"/>
</file>

<file path=customXml/itemProps2.xml><?xml version="1.0" encoding="utf-8"?>
<ds:datastoreItem xmlns:ds="http://schemas.openxmlformats.org/officeDocument/2006/customXml" ds:itemID="{EC282999-DF33-403A-A0DA-21394384B10C}"/>
</file>

<file path=customXml/itemProps3.xml><?xml version="1.0" encoding="utf-8"?>
<ds:datastoreItem xmlns:ds="http://schemas.openxmlformats.org/officeDocument/2006/customXml" ds:itemID="{B8EB43D0-0DE3-4A81-9660-6C54D5E048E2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613</Words>
  <Application>Microsoft Office PowerPoint</Application>
  <PresentationFormat>Widescreen</PresentationFormat>
  <Paragraphs>122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Comic Sans MS</vt:lpstr>
      <vt:lpstr>Lucida Handwriting</vt:lpstr>
      <vt:lpstr>Times New Roman</vt:lpstr>
      <vt:lpstr>Office Theme</vt:lpstr>
      <vt:lpstr>Topic: Place Value</vt:lpstr>
      <vt:lpstr>What Goes In The Box ?</vt:lpstr>
      <vt:lpstr>Rounding To The Nearest 10</vt:lpstr>
      <vt:lpstr>PowerPoint Presentation</vt:lpstr>
      <vt:lpstr>What Goes In The Box ? 2</vt:lpstr>
      <vt:lpstr>PowerPoint Presentation</vt:lpstr>
      <vt:lpstr>PowerPoint Presentation</vt:lpstr>
      <vt:lpstr>PowerPoint Presentation</vt:lpstr>
      <vt:lpstr>Tasks</vt:lpstr>
      <vt:lpstr>I'm gonna pop some tags Only got twenty dollars in my pocket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Place Value</dc:title>
  <dc:creator>JAMES Sarah [Baldivis Secondary College]</dc:creator>
  <cp:lastModifiedBy>JAMES Sarah [Baldivis Secondary College]</cp:lastModifiedBy>
  <cp:revision>1</cp:revision>
  <dcterms:created xsi:type="dcterms:W3CDTF">2021-11-09T12:44:17Z</dcterms:created>
  <dcterms:modified xsi:type="dcterms:W3CDTF">2021-11-09T12:47:53Z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